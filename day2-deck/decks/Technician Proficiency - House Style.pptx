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with the store call-outs (off the slide): 20 of 33 stores at or above the 85% target and 12 above 100%. Group 94.7%, led by Honda Henderson at 118.5%; Acura lowest at 67.4%.Source: ADP worked hours (regular + overtime) and Qlik - Closed Repair Orders sold hours, all pay types, matched by tech number. Dec 25, 2025 - Oct 9, 2026 (shown as Jan-Sep). Same-store, INEOS excluded (opened 2026). Service, express, team-leader and shop-foreman titles only; body shop, detail and tint excluded. Outliers dropped: shop foremen at or below 30% (workbook uses 20%; under 30% a foreman is mainly dispatching), team leaders at or below 20%, service and express technicians at or below 10% (workbook uses 2%; under 10% a tech is not working as a line tech). Unassigned codes (MULT, 999, 77777) excluded. Role changes: ADP shows one current title with worked hours for the whole period, so when a tech's worked hours exceed 125% of full time over the months they actually flagged, worked hours are scaled to that span (56 techs). 45 keying-error lines removed from sold hours (5,399 hrs: single lines of 20+ hours with under $25 labor sale per hour, e.g. 940.58 hrs for $0 at Hyundai St George, RO 177970). Proficiency = sold hours / worked hours, from store totals. Green at or above 85%, red below. Bars start at 40%.ACURA: 67.4% (11,339 sold / 16,815 worked, 11 techs: 0 above, 0 on, 11 under)
AUDI HENDERSON: 91.0% (33,481 sold / 36,766 worked, 23 techs: 6 above, 4 on, 13 under)
AUDI RENO: 117.1% (15,985 sold / 13,640 worked, 10 techs: 6 above, 0 on, 4 under)
CADILLAC: 87.7% (42,358 sold / 48,277 worked, 29 techs: 8 above, 5 on, 16 under)
CDJR POST FALLS: 71.2% (14,538 sold / 20,418 worked, 14 techs: 4 above, 1 on, 9 under)
CHEVY GMC BULLHEAD: 68.4% (19,904 sold / 29,093 worked, 20 techs: 2 above, 2 on, 16 under)
CHEVY LV: 103.4% (81,675 sold / 78,983 worked, 51 techs: 21 above, 14 on, 16 under)
GMC PRESCOTT: 73.6% (10,985 sold / 14,924 worked, 12 techs: 1 above, 4 on, 7 under)
HONDA FLAGSTAFF: 78.5% (7,653 sold / 9,743 worked, 6 techs: 2 above, 0 on, 4 under)
HONDA HENDERSON: 118.5% (61,099 sold / 51,555 worked, 28 techs: 16 above, 7 on, 5 under)
HONDA NORTH: 109.3% (39,419 sold / 36,062 worked, 22 techs: 10 above, 8 on, 4 under)
HONDA SPOKANE: 109.0% (17,638 sold / 16,169 worked, 15 techs: 10 above, 3 on, 2 under)
HYUNDAI PRESCOTT: 78.8% (9,116 sold / 11,564 worked, 9 techs: 1 above, 2 on, 6 under)
HYUNDAI ST GEORGE: 69.0% (9,329 sold / 13,515 worked, 11 techs: 3 above, 0 on, 8 under)
KIA LV: 76.8% (20,682 sold / 26,909 worked, 20 techs: 2 above, 2 on, 16 under)
KIA ST GEORGE: 67.5% (11,981 sold / 17,746 worked, 12 techs: 1 above, 2 on, 9 under)
LEXUS: 104.7% (16,940 sold / 16,175 worked, 11 techs: 4 above, 1 on, 6 under)
LINCOLN: 94.9% (15,983 sold / 16,836 worked, 11 techs: 4 above, 2 on, 5 under)
LR HENDERSON: 106.0% (11,497 sold / 10,838 worked, 7 techs: 3 above, 1 on, 3 under)
LR LV: 91.2% (20,301 sold / 22,258 worked, 16 techs: 5 above, 3 on, 8 under)
LR RENO: 81.4% (7,559 sold / 9,283 worked, 6 techs: 1 above, 3 on, 2 under)
MAZDA: 101.6% (14,560 sold / 14,322 worked, 11 techs: 5 above, 2 on, 4 under)
NISSAN: 91.1% (24,792 sold / 27,197 worked, 17 techs: 3 above, 6 on, 8 under)
SUBARU LV: 96.9% (41,501 sold / 42,797 worked, 27 techs: 9 above, 7 on, 11 under)
SUBARU PRESCOTT: 98.4% (17,475 sold / 17,747 worked, 12 techs: 6 above, 0 on, 6 under)
SUBARU ST GEORGE: 109.7% (20,954 sold / 19,086 worked, 12 techs: 9 above, 0 on, 3 under)
TOYOTA FLAGSTAFF: 102.4% (31,978 sold / 31,216 worked, 18 techs: 7 above, 5 on, 6 under)
TOYOTA HENDERSON: 104.3% (104,465 sold / 100,080 worked, 59 techs: 22 above, 17 on, 20 under)
TOYOTA PRESCOTT: 83.6% (29,341 sold / 35,081 worked, 22 techs: 6 above, 5 on, 11 under)
TOYOTA SPOKANE: 108.0% (35,947 sold / 33,274 worked, 28 techs: 15 above, 9 on, 4 under)
VOLVO: 72.3% (10,479 sold / 14,475 worked, 9 techs: 0 above, 1 on, 8 under)
VW HENDERSON: 92.2% (25,394 sold / 27,527 worked, 19 techs: 6 above, 7 on, 6 under)
VW ST GEORGE: 70.0% (5,375 sold / 7,674 worked, 5 techs: 0 above, 0 on, 5 under)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ADP worked hours (regular + overtime) and Qlik - Closed Repair Orders sold hours, all pay types, matched by tech number. Dec 25, 2025 - Oct 9, 2026 (shown as Jan-Sep). Same-store, INEOS excluded (opened 2026). Service, express, team-leader and shop-foreman titles only; body shop, detail and tint excluded. Outliers dropped: shop foremen at or below 30% (workbook uses 20%; under 30% a foreman is mainly dispatching), team leaders at or below 20%, service and express technicians at or below 10% (workbook uses 2%; under 10% a tech is not working as a line tech). Unassigned codes (MULT, 999, 77777) excluded. Role changes: ADP shows one current title with worked hours for the whole period, so when a tech's worked hours exceed 125% of full time over the months they actually flagged, worked hours are scaled to that span (56 techs). 45 keying-error lines removed from sold hours (5,399 hrs: single lines of 20+ hours with under $25 labor sale per hour, e.g. 940.58 hrs for $0 at Hyundai St George, RO 177970). Share of each store's technicians by proficiency band (workbook status: Above Target, On Target, Under Target), most above first.ACURA: 67.4% (11,339 sold / 16,815 worked, 11 techs: 0 above, 0 on, 11 under)
AUDI HENDERSON: 91.0% (33,481 sold / 36,766 worked, 23 techs: 6 above, 4 on, 13 under)
AUDI RENO: 117.1% (15,985 sold / 13,640 worked, 10 techs: 6 above, 0 on, 4 under)
CADILLAC: 87.7% (42,358 sold / 48,277 worked, 29 techs: 8 above, 5 on, 16 under)
CDJR POST FALLS: 71.2% (14,538 sold / 20,418 worked, 14 techs: 4 above, 1 on, 9 under)
CHEVY GMC BULLHEAD: 68.4% (19,904 sold / 29,093 worked, 20 techs: 2 above, 2 on, 16 under)
CHEVY LV: 103.4% (81,675 sold / 78,983 worked, 51 techs: 21 above, 14 on, 16 under)
GMC PRESCOTT: 73.6% (10,985 sold / 14,924 worked, 12 techs: 1 above, 4 on, 7 under)
HONDA FLAGSTAFF: 78.5% (7,653 sold / 9,743 worked, 6 techs: 2 above, 0 on, 4 under)
HONDA HENDERSON: 118.5% (61,099 sold / 51,555 worked, 28 techs: 16 above, 7 on, 5 under)
HONDA NORTH: 109.3% (39,419 sold / 36,062 worked, 22 techs: 10 above, 8 on, 4 under)
HONDA SPOKANE: 109.0% (17,638 sold / 16,169 worked, 15 techs: 10 above, 3 on, 2 under)
HYUNDAI PRESCOTT: 78.8% (9,116 sold / 11,564 worked, 9 techs: 1 above, 2 on, 6 under)
HYUNDAI ST GEORGE: 69.0% (9,329 sold / 13,515 worked, 11 techs: 3 above, 0 on, 8 under)
KIA LV: 76.8% (20,682 sold / 26,909 worked, 20 techs: 2 above, 2 on, 16 under)
KIA ST GEORGE: 67.5% (11,981 sold / 17,746 worked, 12 techs: 1 above, 2 on, 9 under)
LEXUS: 104.7% (16,940 sold / 16,175 worked, 11 techs: 4 above, 1 on, 6 under)
LINCOLN: 94.9% (15,983 sold / 16,836 worked, 11 techs: 4 above, 2 on, 5 under)
LR HENDERSON: 106.0% (11,497 sold / 10,838 worked, 7 techs: 3 above, 1 on, 3 under)
LR LV: 91.2% (20,301 sold / 22,258 worked, 16 techs: 5 above, 3 on, 8 under)
LR RENO: 81.4% (7,559 sold / 9,283 worked, 6 techs: 1 above, 3 on, 2 under)
MAZDA: 101.6% (14,560 sold / 14,322 worked, 11 techs: 5 above, 2 on, 4 under)
NISSAN: 91.1% (24,792 sold / 27,197 worked, 17 techs: 3 above, 6 on, 8 under)
SUBARU LV: 96.9% (41,501 sold / 42,797 worked, 27 techs: 9 above, 7 on, 11 under)
SUBARU PRESCOTT: 98.4% (17,475 sold / 17,747 worked, 12 techs: 6 above, 0 on, 6 under)
SUBARU ST GEORGE: 109.7% (20,954 sold / 19,086 worked, 12 techs: 9 above, 0 on, 3 under)
TOYOTA FLAGSTAFF: 102.4% (31,978 sold / 31,216 worked, 18 techs: 7 above, 5 on, 6 under)
TOYOTA HENDERSON: 104.3% (104,465 sold / 100,080 worked, 59 techs: 22 above, 17 on, 20 under)
TOYOTA PRESCOTT: 83.6% (29,341 sold / 35,081 worked, 22 techs: 6 above, 5 on, 11 under)
TOYOTA SPOKANE: 108.0% (35,947 sold / 33,274 worked, 28 techs: 15 above, 9 on, 4 under)
VOLVO: 72.3% (10,479 sold / 14,475 worked, 9 techs: 0 above, 1 on, 8 under)
VW HENDERSON: 92.2% (25,394 sold / 27,527 worked, 19 techs: 6 above, 7 on, 6 under)
VW ST GEORGE: 70.0% (5,375 sold / 7,674 worked, 5 techs: 0 above, 0 on, 5 under)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Each technician under 85% lifted to 85% of their own worked hours; techs at or above 85% count as zero, so no store offsets one tech with another. Gap hours valued at what the store's own technicians (counted titles) earn per sold hour in labor gross and parts gross, all pay types, Qlik - Closed Repair Orders, same dates; tech pay at their labor cost per sold hour. Store-wide averages are not used because they carry detail, rental and recon sale booked with no hours. Per month = period total / 9.49 months (Dec 25, 2025 - Oct 9, 2026). Parts assumes the extra hours carry the store's average parts per hour. Population as on the proficiency slides.ACURA: 67.4%; 11 of 11 under 85%; gap 2,954 hrs; labor $50K/mo + parts $26K/mo; tech pay $14K/mo; 25.4% of $299K/mo RO gross; top quarter 74% (3 techs); 3.46 ROs/tech day; 1.75 hrs/RO
AUDI HENDERSON: 91.0%; 13 of 23 under 85%; gap 3,426 hrs; labor $81K/mo + parts $20K/mo; tech pay $14K/mo; 8.3% of $1.23M/mo RO gross; top quarter 135% (6 techs); 2.77 ROs/tech day; 3.23 hrs/RO
AUDI RENO: 117.1%; 4 of 10 under 85%; gap 826 hrs; labor $14K/mo + parts $6K/mo; tech pay $4K/mo; 4.0% of $504K/mo RO gross; top quarter 194% (2 techs); 4.08 ROs/tech day; 2.88 hrs/RO
CADILLAC: 87.7%; 16 of 29 under 85%; gap 6,705 hrs; labor $108K/mo + parts $49K/mo; tech pay $24K/mo; 13.6% of $1.16M/mo RO gross; top quarter 143% (7 techs); 2.48 ROs/tech day; 3.41 hrs/RO
CDJR POST FALLS: 71.2%; 9 of 14 under 85%; gap 5,005 hrs; labor $68K/mo + parts $32K/mo; tech pay $18K/mo; 24.6% of $408K/mo RO gross; top quarter 129% (4 techs); 3.77 ROs/tech day; 2.25 hrs/RO
CHEVY GMC BULLHEAD: 68.4%; 16 of 20 under 85%; gap 5,809 hrs; labor $73K/mo + parts $39K/mo; tech pay $20K/mo; 23.2% of $483K/mo RO gross; top quarter 96% (5 techs); 3.06 ROs/tech day; 2.19 hrs/RO
CHEVY LV: 103.4%; 16 of 51 under 85%; gap 5,102 hrs; labor $62K/mo + parts $25K/mo; tech pay $17K/mo; 5.2% of $1.69M/mo RO gross; top quarter 164% (13 techs); 3.95 ROs/tech day; 2.69 hrs/RO
GMC PRESCOTT: 73.6%; 7 of 12 under 85%; gap 2,741 hrs; labor $31K/mo + parts $17K/mo; tech pay $12K/mo; 14.4% of $333K/mo RO gross; top quarter 104% (3 techs); 3.59 ROs/tech day; 4.21 hrs/RO
HONDA FLAGSTAFF: 78.5%; 4 of 6 under 85%; gap 2,217 hrs; labor $28K/mo + parts $12K/mo; tech pay $8K/mo; 19.6% of $202K/mo RO gross; top quarter 131% (2 techs); 5.23 ROs/tech day; 1.85 hrs/RO
HONDA HENDERSON: 118.5%; 5 of 28 under 85%; gap 669 hrs; labor $9K/mo + parts $4K/mo; tech pay $2K/mo; 0.8% of $1.54M/mo RO gross; top quarter 172% (7 techs); 6.04 ROs/tech day; 2.11 hrs/RO
HONDA NORTH: 109.3%; 4 of 22 under 85%; gap 764 hrs; labor $9K/mo + parts $4K/mo; tech pay $2K/mo; 1.4% of $949K/mo RO gross; top quarter 152% (6 techs); 6.08 ROs/tech day; 2.29 hrs/RO
HONDA SPOKANE: 109.0%; 2 of 15 under 85%; gap 57 hrs; labor $1K/mo + parts $0K/mo; tech pay $0K/mo; 0.2% of $453K/mo RO gross; top quarter 130% (4 techs); 6.24 ROs/tech day; 2.14 hrs/RO
HYUNDAI PRESCOTT: 78.8%; 6 of 9 under 85%; gap 1,873 hrs; labor $23K/mo + parts $11K/mo; tech pay $8K/mo; 18.5% of $185K/mo RO gross; top quarter 113% (2 techs); 3.75 ROs/tech day; 1.78 hrs/RO
HYUNDAI ST GEORGE: 69.0%; 8 of 11 under 85%; gap 3,952 hrs; labor $58K/mo + parts $30K/mo; tech pay $13K/mo; 31.9% of $277K/mo RO gross; top quarter 122% (3 techs); 4.23 ROs/tech day; 1.45 hrs/RO
KIA LV: 76.8%; 16 of 20 under 85%; gap 3,389 hrs; labor $51K/mo + parts $23K/mo; tech pay $12K/mo; 11.6% of $643K/mo RO gross; top quarter 101% (5 techs); 5.22 ROs/tech day; 1.70 hrs/RO
KIA ST GEORGE: 67.5%; 9 of 12 under 85%; gap 3,713 hrs; labor $48K/mo + parts $29K/mo; tech pay $11K/mo; 29.7% of $258K/mo RO gross; top quarter 98% (3 techs); 4.25 ROs/tech day; 1.31 hrs/RO
LEXUS: 104.7%; 6 of 11 under 85%; gap 1,451 hrs; labor $24K/mo + parts $7K/mo; tech pay $5K/mo; 7.9% of $400K/mo RO gross; top quarter 178% (3 techs); 4.01 ROs/tech day; 2.44 hrs/RO
LINCOLN: 94.9%; 5 of 11 under 85%; gap 1,236 hrs; labor $17K/mo + parts $7K/mo; tech pay $4K/mo; 7.6% of $312K/mo RO gross; top quarter 125% (3 techs); 3.24 ROs/tech day; 2.35 hrs/RO
LR HENDERSON: 106.0%; 3 of 7 under 85%; gap 567 hrs; labor $9K/mo + parts $5K/mo; tech pay $2K/mo; 4.2% of $357K/mo RO gross; top quarter 145% (2 techs); 2.94 ROs/tech day; 3.68 hrs/RO
LR LV: 91.2%; 8 of 16 under 85%; gap 2,154 hrs; labor $42K/mo + parts $21K/mo; tech pay $9K/mo; 9.0% of $702K/mo RO gross; top quarter 131% (4 techs); 2.41 ROs/tech day; 3.54 hrs/RO
LR RENO: 81.4%; 2 of 6 under 85%; gap 724 hrs; labor $14K/mo + parts $7K/mo; tech pay $3K/mo; 8.0% of $257K/mo RO gross; top quarter 96% (2 techs); 2.36 ROs/tech day; 3.20 hrs/RO
MAZDA: 101.6%; 4 of 11 under 85%; gap 415 hrs; labor $6K/mo + parts $3K/mo; tech pay $1K/mo; 2.7% of $322K/mo RO gross; top quarter 123% (3 techs); 5.78 ROs/tech day; 1.54 hrs/RO
NISSAN: 91.1%; 8 of 17 under 85%; gap 2,291 hrs; labor $30K/mo + parts $13K/mo; tech pay $9K/mo; 8.0% of $532K/mo RO gross; top quarter 132% (4 techs); 4.08 ROs/tech day; 2.29 hrs/RO
SUBARU LV: 96.9%; 11 of 27 under 85%; gap 2,050 hrs; labor $29K/mo + parts $15K/mo; tech pay $5K/mo; 4.1% of $1.07M/mo RO gross; top quarter 132% (7 techs); 4.64 ROs/tech day; 2.07 hrs/RO
SUBARU PRESCOTT: 98.4%; 6 of 12 under 85%; gap 3,523 hrs; labor $37K/mo + parts $21K/mo; tech pay $13K/mo; 20.0% of $288K/mo RO gross; top quarter 179% (3 techs); 4.73 ROs/tech day; 1.68 hrs/RO
SUBARU ST GEORGE: 109.7%; 3 of 12 under 85%; gap 1,248 hrs; labor $14K/mo + parts $8K/mo; tech pay $5K/mo; 5.8% of $382K/mo RO gross; top quarter 146% (3 techs); 4.11 ROs/tech day; 2.20 hrs/RO
TOYOTA FLAGSTAFF: 102.4%; 6 of 18 under 85%; gap 662 hrs; labor $8K/mo + parts $3K/mo; tech pay $2K/mo; 1.9% of $542K/mo RO gross; top quarter 151% (4 techs); 4.96 ROs/tech day; 1.84 hrs/RO
TOYOTA HENDERSON: 104.3%; 20 of 59 under 85%; gap 4,057 hrs; labor $51K/mo + parts $19K/mo; tech pay $14K/mo; 2.9% of $2.44M/mo RO gross; top quarter 153% (15 techs); 6.41 ROs/tech day; 1.88 hrs/RO
TOYOTA PRESCOTT: 83.6%; 11 of 22 under 85%; gap 4,174 hrs; labor $57K/mo + parts $20K/mo; tech pay $16K/mo; 13.5% of $573K/mo RO gross; top quarter 118% (6 techs); 4.22 ROs/tech day; 1.72 hrs/RO
TOYOTA SPOKANE: 108.0%; 4 of 28 under 85%; gap 745 hrs; labor $8K/mo + parts $4K/mo; tech pay $3K/mo; 1.9% of $609K/mo RO gross; top quarter 134% (7 techs); 5.36 ROs/tech day; 1.81 hrs/RO
VOLVO: 72.3%; 8 of 9 under 85%; gap 1,963 hrs; labor $40K/mo + parts $22K/mo; tech pay $5K/mo; 14.8% of $417K/mo RO gross; top quarter 89% (2 techs); 3.81 ROs/tech day; 1.92 hrs/RO
VW HENDERSON: 92.2%; 6 of 19 under 85%; gap 1,416 hrs; labor $19K/mo + parts $5K/mo; tech pay $4K/mo; 4.8% of $516K/mo RO gross; top quarter 115% (5 techs); 3.77 ROs/tech day; 2.28 hrs/RO
VW ST GEORGE: 70.0%; 5 of 5 under 85%; gap 1,149 hrs; labor $13K/mo + parts $7K/mo; tech pay $3K/mo; 19.0% of $109K/mo RO gross; top quarter 76% (1 techs); 3.81 ROs/tech day; 1.65 hrs/RO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with the store call-outs (off the slide): Six stores hold $647K a month, led by Cadillac at $158K. 20 stores at or above 85% still leave $818K a month.Source: Each technician under 85% lifted to 85% of their own worked hours; techs at or above 85% count as zero, so no store offsets one tech with another. Gap hours valued at what the store's own technicians (counted titles) earn per sold hour in labor gross and parts gross, all pay types, Qlik - Closed Repair Orders, same dates; tech pay at their labor cost per sold hour. Store-wide averages are not used because they carry detail, rental and recon sale booked with no hours. Per month = period total / 9.49 months (Dec 25, 2025 - Oct 9, 2026). Parts assumes the extra hours carry the store's average parts per hour. Population as on the proficiency slides. Per mo = labor + parts gross. Under 85% = technicians under 85% of all counted. Store = store proficiency.ACURA: 67.4%; 11 of 11 under 85%; gap 2,954 hrs; labor $50K/mo + parts $26K/mo; tech pay $14K/mo; 25.4% of $299K/mo RO gross; top quarter 74% (3 techs); 3.46 ROs/tech day; 1.75 hrs/RO
AUDI HENDERSON: 91.0%; 13 of 23 under 85%; gap 3,426 hrs; labor $81K/mo + parts $20K/mo; tech pay $14K/mo; 8.3% of $1.23M/mo RO gross; top quarter 135% (6 techs); 2.77 ROs/tech day; 3.23 hrs/RO
AUDI RENO: 117.1%; 4 of 10 under 85%; gap 826 hrs; labor $14K/mo + parts $6K/mo; tech pay $4K/mo; 4.0% of $504K/mo RO gross; top quarter 194% (2 techs); 4.08 ROs/tech day; 2.88 hrs/RO
CADILLAC: 87.7%; 16 of 29 under 85%; gap 6,705 hrs; labor $108K/mo + parts $49K/mo; tech pay $24K/mo; 13.6% of $1.16M/mo RO gross; top quarter 143% (7 techs); 2.48 ROs/tech day; 3.41 hrs/RO
CDJR POST FALLS: 71.2%; 9 of 14 under 85%; gap 5,005 hrs; labor $68K/mo + parts $32K/mo; tech pay $18K/mo; 24.6% of $408K/mo RO gross; top quarter 129% (4 techs); 3.77 ROs/tech day; 2.25 hrs/RO
CHEVY GMC BULLHEAD: 68.4%; 16 of 20 under 85%; gap 5,809 hrs; labor $73K/mo + parts $39K/mo; tech pay $20K/mo; 23.2% of $483K/mo RO gross; top quarter 96% (5 techs); 3.06 ROs/tech day; 2.19 hrs/RO
CHEVY LV: 103.4%; 16 of 51 under 85%; gap 5,102 hrs; labor $62K/mo + parts $25K/mo; tech pay $17K/mo; 5.2% of $1.69M/mo RO gross; top quarter 164% (13 techs); 3.95 ROs/tech day; 2.69 hrs/RO
GMC PRESCOTT: 73.6%; 7 of 12 under 85%; gap 2,741 hrs; labor $31K/mo + parts $17K/mo; tech pay $12K/mo; 14.4% of $333K/mo RO gross; top quarter 104% (3 techs); 3.59 ROs/tech day; 4.21 hrs/RO
HONDA FLAGSTAFF: 78.5%; 4 of 6 under 85%; gap 2,217 hrs; labor $28K/mo + parts $12K/mo; tech pay $8K/mo; 19.6% of $202K/mo RO gross; top quarter 131% (2 techs); 5.23 ROs/tech day; 1.85 hrs/RO
HONDA HENDERSON: 118.5%; 5 of 28 under 85%; gap 669 hrs; labor $9K/mo + parts $4K/mo; tech pay $2K/mo; 0.8% of $1.54M/mo RO gross; top quarter 172% (7 techs); 6.04 ROs/tech day; 2.11 hrs/RO
HONDA NORTH: 109.3%; 4 of 22 under 85%; gap 764 hrs; labor $9K/mo + parts $4K/mo; tech pay $2K/mo; 1.4% of $949K/mo RO gross; top quarter 152% (6 techs); 6.08 ROs/tech day; 2.29 hrs/RO
HONDA SPOKANE: 109.0%; 2 of 15 under 85%; gap 57 hrs; labor $1K/mo + parts $0K/mo; tech pay $0K/mo; 0.2% of $453K/mo RO gross; top quarter 130% (4 techs); 6.24 ROs/tech day; 2.14 hrs/RO
HYUNDAI PRESCOTT: 78.8%; 6 of 9 under 85%; gap 1,873 hrs; labor $23K/mo + parts $11K/mo; tech pay $8K/mo; 18.5% of $185K/mo RO gross; top quarter 113% (2 techs); 3.75 ROs/tech day; 1.78 hrs/RO
HYUNDAI ST GEORGE: 69.0%; 8 of 11 under 85%; gap 3,952 hrs; labor $58K/mo + parts $30K/mo; tech pay $13K/mo; 31.9% of $277K/mo RO gross; top quarter 122% (3 techs); 4.23 ROs/tech day; 1.45 hrs/RO
KIA LV: 76.8%; 16 of 20 under 85%; gap 3,389 hrs; labor $51K/mo + parts $23K/mo; tech pay $12K/mo; 11.6% of $643K/mo RO gross; top quarter 101% (5 techs); 5.22 ROs/tech day; 1.70 hrs/RO
KIA ST GEORGE: 67.5%; 9 of 12 under 85%; gap 3,713 hrs; labor $48K/mo + parts $29K/mo; tech pay $11K/mo; 29.7% of $258K/mo RO gross; top quarter 98% (3 techs); 4.25 ROs/tech day; 1.31 hrs/RO
LEXUS: 104.7%; 6 of 11 under 85%; gap 1,451 hrs; labor $24K/mo + parts $7K/mo; tech pay $5K/mo; 7.9% of $400K/mo RO gross; top quarter 178% (3 techs); 4.01 ROs/tech day; 2.44 hrs/RO
LINCOLN: 94.9%; 5 of 11 under 85%; gap 1,236 hrs; labor $17K/mo + parts $7K/mo; tech pay $4K/mo; 7.6% of $312K/mo RO gross; top quarter 125% (3 techs); 3.24 ROs/tech day; 2.35 hrs/RO
LR HENDERSON: 106.0%; 3 of 7 under 85%; gap 567 hrs; labor $9K/mo + parts $5K/mo; tech pay $2K/mo; 4.2% of $357K/mo RO gross; top quarter 145% (2 techs); 2.94 ROs/tech day; 3.68 hrs/RO
LR LV: 91.2%; 8 of 16 under 85%; gap 2,154 hrs; labor $42K/mo + parts $21K/mo; tech pay $9K/mo; 9.0% of $702K/mo RO gross; top quarter 131% (4 techs); 2.41 ROs/tech day; 3.54 hrs/RO
LR RENO: 81.4%; 2 of 6 under 85%; gap 724 hrs; labor $14K/mo + parts $7K/mo; tech pay $3K/mo; 8.0% of $257K/mo RO gross; top quarter 96% (2 techs); 2.36 ROs/tech day; 3.20 hrs/RO
MAZDA: 101.6%; 4 of 11 under 85%; gap 415 hrs; labor $6K/mo + parts $3K/mo; tech pay $1K/mo; 2.7% of $322K/mo RO gross; top quarter 123% (3 techs); 5.78 ROs/tech day; 1.54 hrs/RO
NISSAN: 91.1%; 8 of 17 under 85%; gap 2,291 hrs; labor $30K/mo + parts $13K/mo; tech pay $9K/mo; 8.0% of $532K/mo RO gross; top quarter 132% (4 techs); 4.08 ROs/tech day; 2.29 hrs/RO
SUBARU LV: 96.9%; 11 of 27 under 85%; gap 2,050 hrs; labor $29K/mo + parts $15K/mo; tech pay $5K/mo; 4.1% of $1.07M/mo RO gross; top quarter 132% (7 techs); 4.64 ROs/tech day; 2.07 hrs/RO
SUBARU PRESCOTT: 98.4%; 6 of 12 under 85%; gap 3,523 hrs; labor $37K/mo + parts $21K/mo; tech pay $13K/mo; 20.0% of $288K/mo RO gross; top quarter 179% (3 techs); 4.73 ROs/tech day; 1.68 hrs/RO
SUBARU ST GEORGE: 109.7%; 3 of 12 under 85%; gap 1,248 hrs; labor $14K/mo + parts $8K/mo; tech pay $5K/mo; 5.8% of $382K/mo RO gross; top quarter 146% (3 techs); 4.11 ROs/tech day; 2.20 hrs/RO
TOYOTA FLAGSTAFF: 102.4%; 6 of 18 under 85%; gap 662 hrs; labor $8K/mo + parts $3K/mo; tech pay $2K/mo; 1.9% of $542K/mo RO gross; top quarter 151% (4 techs); 4.96 ROs/tech day; 1.84 hrs/RO
TOYOTA HENDERSON: 104.3%; 20 of 59 under 85%; gap 4,057 hrs; labor $51K/mo + parts $19K/mo; tech pay $14K/mo; 2.9% of $2.44M/mo RO gross; top quarter 153% (15 techs); 6.41 ROs/tech day; 1.88 hrs/RO
TOYOTA PRESCOTT: 83.6%; 11 of 22 under 85%; gap 4,174 hrs; labor $57K/mo + parts $20K/mo; tech pay $16K/mo; 13.5% of $573K/mo RO gross; top quarter 118% (6 techs); 4.22 ROs/tech day; 1.72 hrs/RO
TOYOTA SPOKANE: 108.0%; 4 of 28 under 85%; gap 745 hrs; labor $8K/mo + parts $4K/mo; tech pay $3K/mo; 1.9% of $609K/mo RO gross; top quarter 134% (7 techs); 5.36 ROs/tech day; 1.81 hrs/RO
VOLVO: 72.3%; 8 of 9 under 85%; gap 1,963 hrs; labor $40K/mo + parts $22K/mo; tech pay $5K/mo; 14.8% of $417K/mo RO gross; top quarter 89% (2 techs); 3.81 ROs/tech day; 1.92 hrs/RO
VW HENDERSON: 92.2%; 6 of 19 under 85%; gap 1,416 hrs; labor $19K/mo + parts $5K/mo; tech pay $4K/mo; 4.8% of $516K/mo RO gross; top quarter 115% (5 techs); 3.77 ROs/tech day; 2.28 hrs/RO
VW ST GEORGE: 70.0%; 5 of 5 under 85%; gap 1,149 hrs; labor $13K/mo + parts $7K/mo; tech pay $3K/mo; 19.0% of $109K/mo RO gross; top quarter 76% (1 techs); 3.81 ROs/tech day; 1.65 hrs/RO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with the store call-outs (off the slide): Group-wide the gap is 8.1% of RO gross. 5 stores are missing a fifth or more, led by Hyundai St George at 32% ($88K of $277K a month).Source: Each technician under 85% lifted to 85% of their own worked hours; techs at or above 85% count as zero, so no store offsets one tech with another. Gap hours valued at what the store's own technicians (counted titles) earn per sold hour in labor gross and parts gross, all pay types, Qlik - Closed Repair Orders, same dates; tech pay at their labor cost per sold hour. Store-wide averages are not used because they carry detail, rental and recon sale booked with no hours. Per month = period total / 9.49 months (Dec 25, 2025 - Oct 9, 2026). Parts assumes the extra hours carry the store's average parts per hour. Population as on the proficiency slides. Missed and Gross are per month. Share = missed labor + parts gross / labor + parts gross on the store's closed ROs, all pay types, same dates (includes work on shared tech codes). Not P&amp;L gross: counter and wholesale parts are excluded because techs do not produce them.ACURA: 67.4%; 11 of 11 under 85%; gap 2,954 hrs; labor $50K/mo + parts $26K/mo; tech pay $14K/mo; 25.4% of $299K/mo RO gross; top quarter 74% (3 techs); 3.46 ROs/tech day; 1.75 hrs/RO
AUDI HENDERSON: 91.0%; 13 of 23 under 85%; gap 3,426 hrs; labor $81K/mo + parts $20K/mo; tech pay $14K/mo; 8.3% of $1.23M/mo RO gross; top quarter 135% (6 techs); 2.77 ROs/tech day; 3.23 hrs/RO
AUDI RENO: 117.1%; 4 of 10 under 85%; gap 826 hrs; labor $14K/mo + parts $6K/mo; tech pay $4K/mo; 4.0% of $504K/mo RO gross; top quarter 194% (2 techs); 4.08 ROs/tech day; 2.88 hrs/RO
CADILLAC: 87.7%; 16 of 29 under 85%; gap 6,705 hrs; labor $108K/mo + parts $49K/mo; tech pay $24K/mo; 13.6% of $1.16M/mo RO gross; top quarter 143% (7 techs); 2.48 ROs/tech day; 3.41 hrs/RO
CDJR POST FALLS: 71.2%; 9 of 14 under 85%; gap 5,005 hrs; labor $68K/mo + parts $32K/mo; tech pay $18K/mo; 24.6% of $408K/mo RO gross; top quarter 129% (4 techs); 3.77 ROs/tech day; 2.25 hrs/RO
CHEVY GMC BULLHEAD: 68.4%; 16 of 20 under 85%; gap 5,809 hrs; labor $73K/mo + parts $39K/mo; tech pay $20K/mo; 23.2% of $483K/mo RO gross; top quarter 96% (5 techs); 3.06 ROs/tech day; 2.19 hrs/RO
CHEVY LV: 103.4%; 16 of 51 under 85%; gap 5,102 hrs; labor $62K/mo + parts $25K/mo; tech pay $17K/mo; 5.2% of $1.69M/mo RO gross; top quarter 164% (13 techs); 3.95 ROs/tech day; 2.69 hrs/RO
GMC PRESCOTT: 73.6%; 7 of 12 under 85%; gap 2,741 hrs; labor $31K/mo + parts $17K/mo; tech pay $12K/mo; 14.4% of $333K/mo RO gross; top quarter 104% (3 techs); 3.59 ROs/tech day; 4.21 hrs/RO
HONDA FLAGSTAFF: 78.5%; 4 of 6 under 85%; gap 2,217 hrs; labor $28K/mo + parts $12K/mo; tech pay $8K/mo; 19.6% of $202K/mo RO gross; top quarter 131% (2 techs); 5.23 ROs/tech day; 1.85 hrs/RO
HONDA HENDERSON: 118.5%; 5 of 28 under 85%; gap 669 hrs; labor $9K/mo + parts $4K/mo; tech pay $2K/mo; 0.8% of $1.54M/mo RO gross; top quarter 172% (7 techs); 6.04 ROs/tech day; 2.11 hrs/RO
HONDA NORTH: 109.3%; 4 of 22 under 85%; gap 764 hrs; labor $9K/mo + parts $4K/mo; tech pay $2K/mo; 1.4% of $949K/mo RO gross; top quarter 152% (6 techs); 6.08 ROs/tech day; 2.29 hrs/RO
HONDA SPOKANE: 109.0%; 2 of 15 under 85%; gap 57 hrs; labor $1K/mo + parts $0K/mo; tech pay $0K/mo; 0.2% of $453K/mo RO gross; top quarter 130% (4 techs); 6.24 ROs/tech day; 2.14 hrs/RO
HYUNDAI PRESCOTT: 78.8%; 6 of 9 under 85%; gap 1,873 hrs; labor $23K/mo + parts $11K/mo; tech pay $8K/mo; 18.5% of $185K/mo RO gross; top quarter 113% (2 techs); 3.75 ROs/tech day; 1.78 hrs/RO
HYUNDAI ST GEORGE: 69.0%; 8 of 11 under 85%; gap 3,952 hrs; labor $58K/mo + parts $30K/mo; tech pay $13K/mo; 31.9% of $277K/mo RO gross; top quarter 122% (3 techs); 4.23 ROs/tech day; 1.45 hrs/RO
KIA LV: 76.8%; 16 of 20 under 85%; gap 3,389 hrs; labor $51K/mo + parts $23K/mo; tech pay $12K/mo; 11.6% of $643K/mo RO gross; top quarter 101% (5 techs); 5.22 ROs/tech day; 1.70 hrs/RO
KIA ST GEORGE: 67.5%; 9 of 12 under 85%; gap 3,713 hrs; labor $48K/mo + parts $29K/mo; tech pay $11K/mo; 29.7% of $258K/mo RO gross; top quarter 98% (3 techs); 4.25 ROs/tech day; 1.31 hrs/RO
LEXUS: 104.7%; 6 of 11 under 85%; gap 1,451 hrs; labor $24K/mo + parts $7K/mo; tech pay $5K/mo; 7.9% of $400K/mo RO gross; top quarter 178% (3 techs); 4.01 ROs/tech day; 2.44 hrs/RO
LINCOLN: 94.9%; 5 of 11 under 85%; gap 1,236 hrs; labor $17K/mo + parts $7K/mo; tech pay $4K/mo; 7.6% of $312K/mo RO gross; top quarter 125% (3 techs); 3.24 ROs/tech day; 2.35 hrs/RO
LR HENDERSON: 106.0%; 3 of 7 under 85%; gap 567 hrs; labor $9K/mo + parts $5K/mo; tech pay $2K/mo; 4.2% of $357K/mo RO gross; top quarter 145% (2 techs); 2.94 ROs/tech day; 3.68 hrs/RO
LR LV: 91.2%; 8 of 16 under 85%; gap 2,154 hrs; labor $42K/mo + parts $21K/mo; tech pay $9K/mo; 9.0% of $702K/mo RO gross; top quarter 131% (4 techs); 2.41 ROs/tech day; 3.54 hrs/RO
LR RENO: 81.4%; 2 of 6 under 85%; gap 724 hrs; labor $14K/mo + parts $7K/mo; tech pay $3K/mo; 8.0% of $257K/mo RO gross; top quarter 96% (2 techs); 2.36 ROs/tech day; 3.20 hrs/RO
MAZDA: 101.6%; 4 of 11 under 85%; gap 415 hrs; labor $6K/mo + parts $3K/mo; tech pay $1K/mo; 2.7% of $322K/mo RO gross; top quarter 123% (3 techs); 5.78 ROs/tech day; 1.54 hrs/RO
NISSAN: 91.1%; 8 of 17 under 85%; gap 2,291 hrs; labor $30K/mo + parts $13K/mo; tech pay $9K/mo; 8.0% of $532K/mo RO gross; top quarter 132% (4 techs); 4.08 ROs/tech day; 2.29 hrs/RO
SUBARU LV: 96.9%; 11 of 27 under 85%; gap 2,050 hrs; labor $29K/mo + parts $15K/mo; tech pay $5K/mo; 4.1% of $1.07M/mo RO gross; top quarter 132% (7 techs); 4.64 ROs/tech day; 2.07 hrs/RO
SUBARU PRESCOTT: 98.4%; 6 of 12 under 85%; gap 3,523 hrs; labor $37K/mo + parts $21K/mo; tech pay $13K/mo; 20.0% of $288K/mo RO gross; top quarter 179% (3 techs); 4.73 ROs/tech day; 1.68 hrs/RO
SUBARU ST GEORGE: 109.7%; 3 of 12 under 85%; gap 1,248 hrs; labor $14K/mo + parts $8K/mo; tech pay $5K/mo; 5.8% of $382K/mo RO gross; top quarter 146% (3 techs); 4.11 ROs/tech day; 2.20 hrs/RO
TOYOTA FLAGSTAFF: 102.4%; 6 of 18 under 85%; gap 662 hrs; labor $8K/mo + parts $3K/mo; tech pay $2K/mo; 1.9% of $542K/mo RO gross; top quarter 151% (4 techs); 4.96 ROs/tech day; 1.84 hrs/RO
TOYOTA HENDERSON: 104.3%; 20 of 59 under 85%; gap 4,057 hrs; labor $51K/mo + parts $19K/mo; tech pay $14K/mo; 2.9% of $2.44M/mo RO gross; top quarter 153% (15 techs); 6.41 ROs/tech day; 1.88 hrs/RO
TOYOTA PRESCOTT: 83.6%; 11 of 22 under 85%; gap 4,174 hrs; labor $57K/mo + parts $20K/mo; tech pay $16K/mo; 13.5% of $573K/mo RO gross; top quarter 118% (6 techs); 4.22 ROs/tech day; 1.72 hrs/RO
TOYOTA SPOKANE: 108.0%; 4 of 28 under 85%; gap 745 hrs; labor $8K/mo + parts $4K/mo; tech pay $3K/mo; 1.9% of $609K/mo RO gross; top quarter 134% (7 techs); 5.36 ROs/tech day; 1.81 hrs/RO
VOLVO: 72.3%; 8 of 9 under 85%; gap 1,963 hrs; labor $40K/mo + parts $22K/mo; tech pay $5K/mo; 14.8% of $417K/mo RO gross; top quarter 89% (2 techs); 3.81 ROs/tech day; 1.92 hrs/RO
VW HENDERSON: 92.2%; 6 of 19 under 85%; gap 1,416 hrs; labor $19K/mo + parts $5K/mo; tech pay $4K/mo; 4.8% of $516K/mo RO gross; top quarter 115% (5 techs); 3.77 ROs/tech day; 2.28 hrs/RO
VW ST GEORGE: 70.0%; 5 of 5 under 85%; gap 1,149 hrs; labor $13K/mo + parts $7K/mo; tech pay $3K/mo; 19.0% of $109K/mo RO gross; top quarter 76% (1 techs); 3.81 ROs/tech day; 1.65 hrs/RO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ADP worked hours (regular + overtime) and Qlik - Closed Repair Orders sold hours, all pay types, matched by tech number. Dec 25, 2025 - Oct 9, 2026 (shown as Jan-Sep). Same-store, INEOS excluded (opened 2026). Service, express, team-leader and shop-foreman titles only; body shop, detail and tint excluded. Outliers dropped: shop foremen at or below 30% (workbook uses 20%; under 30% a foreman is mainly dispatching), team leaders at or below 20%, service and express technicians at or below 10% (workbook uses 2%; under 10% a tech is not working as a line tech). Unassigned codes (MULT, 999, 77777) excluded. Role changes: ADP shows one current title with worked hours for the whole period, so when a tech's worked hours exceed 125% of full time over the months they actually flagged, worked hours are scaled to that span (56 techs). 45 keying-error lines removed from sold hours (5,399 hrs: single lines of 20+ hours with under $25 labor sale per hour, e.g. 940.58 hrs for $0 at Hyundai St George, RO 177970). Top quarter = the store's most proficient quarter of counted technicians (at least one), sold / worked hours combined. Bars capped at 190%.ACURA: 67.4%; 11 of 11 under 85%; gap 2,954 hrs; labor $50K/mo + parts $26K/mo; tech pay $14K/mo; 25.4% of $299K/mo RO gross; top quarter 74% (3 techs); 3.46 ROs/tech day; 1.75 hrs/RO
AUDI HENDERSON: 91.0%; 13 of 23 under 85%; gap 3,426 hrs; labor $81K/mo + parts $20K/mo; tech pay $14K/mo; 8.3% of $1.23M/mo RO gross; top quarter 135% (6 techs); 2.77 ROs/tech day; 3.23 hrs/RO
AUDI RENO: 117.1%; 4 of 10 under 85%; gap 826 hrs; labor $14K/mo + parts $6K/mo; tech pay $4K/mo; 4.0% of $504K/mo RO gross; top quarter 194% (2 techs); 4.08 ROs/tech day; 2.88 hrs/RO
CADILLAC: 87.7%; 16 of 29 under 85%; gap 6,705 hrs; labor $108K/mo + parts $49K/mo; tech pay $24K/mo; 13.6% of $1.16M/mo RO gross; top quarter 143% (7 techs); 2.48 ROs/tech day; 3.41 hrs/RO
CDJR POST FALLS: 71.2%; 9 of 14 under 85%; gap 5,005 hrs; labor $68K/mo + parts $32K/mo; tech pay $18K/mo; 24.6% of $408K/mo RO gross; top quarter 129% (4 techs); 3.77 ROs/tech day; 2.25 hrs/RO
CHEVY GMC BULLHEAD: 68.4%; 16 of 20 under 85%; gap 5,809 hrs; labor $73K/mo + parts $39K/mo; tech pay $20K/mo; 23.2% of $483K/mo RO gross; top quarter 96% (5 techs); 3.06 ROs/tech day; 2.19 hrs/RO
CHEVY LV: 103.4%; 16 of 51 under 85%; gap 5,102 hrs; labor $62K/mo + parts $25K/mo; tech pay $17K/mo; 5.2% of $1.69M/mo RO gross; top quarter 164% (13 techs); 3.95 ROs/tech day; 2.69 hrs/RO
GMC PRESCOTT: 73.6%; 7 of 12 under 85%; gap 2,741 hrs; labor $31K/mo + parts $17K/mo; tech pay $12K/mo; 14.4% of $333K/mo RO gross; top quarter 104% (3 techs); 3.59 ROs/tech day; 4.21 hrs/RO
HONDA FLAGSTAFF: 78.5%; 4 of 6 under 85%; gap 2,217 hrs; labor $28K/mo + parts $12K/mo; tech pay $8K/mo; 19.6% of $202K/mo RO gross; top quarter 131% (2 techs); 5.23 ROs/tech day; 1.85 hrs/RO
HONDA HENDERSON: 118.5%; 5 of 28 under 85%; gap 669 hrs; labor $9K/mo + parts $4K/mo; tech pay $2K/mo; 0.8% of $1.54M/mo RO gross; top quarter 172% (7 techs); 6.04 ROs/tech day; 2.11 hrs/RO
HONDA NORTH: 109.3%; 4 of 22 under 85%; gap 764 hrs; labor $9K/mo + parts $4K/mo; tech pay $2K/mo; 1.4% of $949K/mo RO gross; top quarter 152% (6 techs); 6.08 ROs/tech day; 2.29 hrs/RO
HONDA SPOKANE: 109.0%; 2 of 15 under 85%; gap 57 hrs; labor $1K/mo + parts $0K/mo; tech pay $0K/mo; 0.2% of $453K/mo RO gross; top quarter 130% (4 techs); 6.24 ROs/tech day; 2.14 hrs/RO
HYUNDAI PRESCOTT: 78.8%; 6 of 9 under 85%; gap 1,873 hrs; labor $23K/mo + parts $11K/mo; tech pay $8K/mo; 18.5% of $185K/mo RO gross; top quarter 113% (2 techs); 3.75 ROs/tech day; 1.78 hrs/RO
HYUNDAI ST GEORGE: 69.0%; 8 of 11 under 85%; gap 3,952 hrs; labor $58K/mo + parts $30K/mo; tech pay $13K/mo; 31.9% of $277K/mo RO gross; top quarter 122% (3 techs); 4.23 ROs/tech day; 1.45 hrs/RO
KIA LV: 76.8%; 16 of 20 under 85%; gap 3,389 hrs; labor $51K/mo + parts $23K/mo; tech pay $12K/mo; 11.6% of $643K/mo RO gross; top quarter 101% (5 techs); 5.22 ROs/tech day; 1.70 hrs/RO
KIA ST GEORGE: 67.5%; 9 of 12 under 85%; gap 3,713 hrs; labor $48K/mo + parts $29K/mo; tech pay $11K/mo; 29.7% of $258K/mo RO gross; top quarter 98% (3 techs); 4.25 ROs/tech day; 1.31 hrs/RO
LEXUS: 104.7%; 6 of 11 under 85%; gap 1,451 hrs; labor $24K/mo + parts $7K/mo; tech pay $5K/mo; 7.9% of $400K/mo RO gross; top quarter 178% (3 techs); 4.01 ROs/tech day; 2.44 hrs/RO
LINCOLN: 94.9%; 5 of 11 under 85%; gap 1,236 hrs; labor $17K/mo + parts $7K/mo; tech pay $4K/mo; 7.6% of $312K/mo RO gross; top quarter 125% (3 techs); 3.24 ROs/tech day; 2.35 hrs/RO
LR HENDERSON: 106.0%; 3 of 7 under 85%; gap 567 hrs; labor $9K/mo + parts $5K/mo; tech pay $2K/mo; 4.2% of $357K/mo RO gross; top quarter 145% (2 techs); 2.94 ROs/tech day; 3.68 hrs/RO
LR LV: 91.2%; 8 of 16 under 85%; gap 2,154 hrs; labor $42K/mo + parts $21K/mo; tech pay $9K/mo; 9.0% of $702K/mo RO gross; top quarter 131% (4 techs); 2.41 ROs/tech day; 3.54 hrs/RO
LR RENO: 81.4%; 2 of 6 under 85%; gap 724 hrs; labor $14K/mo + parts $7K/mo; tech pay $3K/mo; 8.0% of $257K/mo RO gross; top quarter 96% (2 techs); 2.36 ROs/tech day; 3.20 hrs/RO
MAZDA: 101.6%; 4 of 11 under 85%; gap 415 hrs; labor $6K/mo + parts $3K/mo; tech pay $1K/mo; 2.7% of $322K/mo RO gross; top quarter 123% (3 techs); 5.78 ROs/tech day; 1.54 hrs/RO
NISSAN: 91.1%; 8 of 17 under 85%; gap 2,291 hrs; labor $30K/mo + parts $13K/mo; tech pay $9K/mo; 8.0% of $532K/mo RO gross; top quarter 132% (4 techs); 4.08 ROs/tech day; 2.29 hrs/RO
SUBARU LV: 96.9%; 11 of 27 under 85%; gap 2,050 hrs; labor $29K/mo + parts $15K/mo; tech pay $5K/mo; 4.1% of $1.07M/mo RO gross; top quarter 132% (7 techs); 4.64 ROs/tech day; 2.07 hrs/RO
SUBARU PRESCOTT: 98.4%; 6 of 12 under 85%; gap 3,523 hrs; labor $37K/mo + parts $21K/mo; tech pay $13K/mo; 20.0% of $288K/mo RO gross; top quarter 179% (3 techs); 4.73 ROs/tech day; 1.68 hrs/RO
SUBARU ST GEORGE: 109.7%; 3 of 12 under 85%; gap 1,248 hrs; labor $14K/mo + parts $8K/mo; tech pay $5K/mo; 5.8% of $382K/mo RO gross; top quarter 146% (3 techs); 4.11 ROs/tech day; 2.20 hrs/RO
TOYOTA FLAGSTAFF: 102.4%; 6 of 18 under 85%; gap 662 hrs; labor $8K/mo + parts $3K/mo; tech pay $2K/mo; 1.9% of $542K/mo RO gross; top quarter 151% (4 techs); 4.96 ROs/tech day; 1.84 hrs/RO
TOYOTA HENDERSON: 104.3%; 20 of 59 under 85%; gap 4,057 hrs; labor $51K/mo + parts $19K/mo; tech pay $14K/mo; 2.9% of $2.44M/mo RO gross; top quarter 153% (15 techs); 6.41 ROs/tech day; 1.88 hrs/RO
TOYOTA PRESCOTT: 83.6%; 11 of 22 under 85%; gap 4,174 hrs; labor $57K/mo + parts $20K/mo; tech pay $16K/mo; 13.5% of $573K/mo RO gross; top quarter 118% (6 techs); 4.22 ROs/tech day; 1.72 hrs/RO
TOYOTA SPOKANE: 108.0%; 4 of 28 under 85%; gap 745 hrs; labor $8K/mo + parts $4K/mo; tech pay $3K/mo; 1.9% of $609K/mo RO gross; top quarter 134% (7 techs); 5.36 ROs/tech day; 1.81 hrs/RO
VOLVO: 72.3%; 8 of 9 under 85%; gap 1,963 hrs; labor $40K/mo + parts $22K/mo; tech pay $5K/mo; 14.8% of $417K/mo RO gross; top quarter 89% (2 techs); 3.81 ROs/tech day; 1.92 hrs/RO
VW HENDERSON: 92.2%; 6 of 19 under 85%; gap 1,416 hrs; labor $19K/mo + parts $5K/mo; tech pay $4K/mo; 4.8% of $516K/mo RO gross; top quarter 115% (5 techs); 3.77 ROs/tech day; 2.28 hrs/RO
VW ST GEORGE: 70.0%; 5 of 5 under 85%; gap 1,149 hrs; labor $13K/mo + parts $7K/mo; tech pay $3K/mo; 19.0% of $109K/mo RO gross; top quarter 76% (1 techs); 3.81 ROs/tech day; 1.65 hrs/RO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with the store call-outs (off the slide): 10 of the 13 stores under 85% also see fewer ROs per tech than their segment: check car count and staffing first. At Honda Flagstaff, Kia LV, Volvo the work is there.Source: ADP worked hours (regular + overtime) and Qlik - Closed Repair Orders sold hours, all pay types, matched by tech number. Dec 25, 2025 - Oct 9, 2026 (shown as Jan-Sep). Same-store, INEOS excluded (opened 2026). Service, express, team-leader and shop-foreman titles only; body shop, detail and tint excluded. Outliers dropped: shop foremen at or below 30% (workbook uses 20%; under 30% a foreman is mainly dispatching), team leaders at or below 20%, service and express technicians at or below 10% (workbook uses 2%; under 10% a tech is not working as a line tech). Unassigned codes (MULT, 999, 77777) excluded. Role changes: ADP shows one current title with worked hours for the whole period, so when a tech's worked hours exceed 125% of full time over the months they actually flagged, worked hours are scaled to that span (56 techs). 45 keying-error lines removed from sold hours (5,399 hrs: single lines of 20+ hours with under $25 labor sale per hour, e.g. 940.58 hrs for $0 at Hyundai St George, RO 177970). Stores under 85% only. ROs/day = distinct ROs, all pay types, per counted tech per 8 worked hours. Seg avg = luxury 3.0, non-luxury 4.9 (luxury = Lexus, Lincoln, Cadillac, Volvo, Audi Reno, Audi Henderson, LR Reno, LR LV, LR Henderson). Fewer ROs per tech can mean too few cars for the staff or slow techs turning work away; it starts the conversation rather than settling it.ACURA: 67.4%; 11 of 11 under 85%; gap 2,954 hrs; labor $50K/mo + parts $26K/mo; tech pay $14K/mo; 25.4% of $299K/mo RO gross; top quarter 74% (3 techs); 3.46 ROs/tech day; 1.75 hrs/RO
AUDI HENDERSON: 91.0%; 13 of 23 under 85%; gap 3,426 hrs; labor $81K/mo + parts $20K/mo; tech pay $14K/mo; 8.3% of $1.23M/mo RO gross; top quarter 135% (6 techs); 2.77 ROs/tech day; 3.23 hrs/RO
AUDI RENO: 117.1%; 4 of 10 under 85%; gap 826 hrs; labor $14K/mo + parts $6K/mo; tech pay $4K/mo; 4.0% of $504K/mo RO gross; top quarter 194% (2 techs); 4.08 ROs/tech day; 2.88 hrs/RO
CADILLAC: 87.7%; 16 of 29 under 85%; gap 6,705 hrs; labor $108K/mo + parts $49K/mo; tech pay $24K/mo; 13.6% of $1.16M/mo RO gross; top quarter 143% (7 techs); 2.48 ROs/tech day; 3.41 hrs/RO
CDJR POST FALLS: 71.2%; 9 of 14 under 85%; gap 5,005 hrs; labor $68K/mo + parts $32K/mo; tech pay $18K/mo; 24.6% of $408K/mo RO gross; top quarter 129% (4 techs); 3.77 ROs/tech day; 2.25 hrs/RO
CHEVY GMC BULLHEAD: 68.4%; 16 of 20 under 85%; gap 5,809 hrs; labor $73K/mo + parts $39K/mo; tech pay $20K/mo; 23.2% of $483K/mo RO gross; top quarter 96% (5 techs); 3.06 ROs/tech day; 2.19 hrs/RO
CHEVY LV: 103.4%; 16 of 51 under 85%; gap 5,102 hrs; labor $62K/mo + parts $25K/mo; tech pay $17K/mo; 5.2% of $1.69M/mo RO gross; top quarter 164% (13 techs); 3.95 ROs/tech day; 2.69 hrs/RO
GMC PRESCOTT: 73.6%; 7 of 12 under 85%; gap 2,741 hrs; labor $31K/mo + parts $17K/mo; tech pay $12K/mo; 14.4% of $333K/mo RO gross; top quarter 104% (3 techs); 3.59 ROs/tech day; 4.21 hrs/RO
HONDA FLAGSTAFF: 78.5%; 4 of 6 under 85%; gap 2,217 hrs; labor $28K/mo + parts $12K/mo; tech pay $8K/mo; 19.6% of $202K/mo RO gross; top quarter 131% (2 techs); 5.23 ROs/tech day; 1.85 hrs/RO
HONDA HENDERSON: 118.5%; 5 of 28 under 85%; gap 669 hrs; labor $9K/mo + parts $4K/mo; tech pay $2K/mo; 0.8% of $1.54M/mo RO gross; top quarter 172% (7 techs); 6.04 ROs/tech day; 2.11 hrs/RO
HONDA NORTH: 109.3%; 4 of 22 under 85%; gap 764 hrs; labor $9K/mo + parts $4K/mo; tech pay $2K/mo; 1.4% of $949K/mo RO gross; top quarter 152% (6 techs); 6.08 ROs/tech day; 2.29 hrs/RO
HONDA SPOKANE: 109.0%; 2 of 15 under 85%; gap 57 hrs; labor $1K/mo + parts $0K/mo; tech pay $0K/mo; 0.2% of $453K/mo RO gross; top quarter 130% (4 techs); 6.24 ROs/tech day; 2.14 hrs/RO
HYUNDAI PRESCOTT: 78.8%; 6 of 9 under 85%; gap 1,873 hrs; labor $23K/mo + parts $11K/mo; tech pay $8K/mo; 18.5% of $185K/mo RO gross; top quarter 113% (2 techs); 3.75 ROs/tech day; 1.78 hrs/RO
HYUNDAI ST GEORGE: 69.0%; 8 of 11 under 85%; gap 3,952 hrs; labor $58K/mo + parts $30K/mo; tech pay $13K/mo; 31.9% of $277K/mo RO gross; top quarter 122% (3 techs); 4.23 ROs/tech day; 1.45 hrs/RO
KIA LV: 76.8%; 16 of 20 under 85%; gap 3,389 hrs; labor $51K/mo + parts $23K/mo; tech pay $12K/mo; 11.6% of $643K/mo RO gross; top quarter 101% (5 techs); 5.22 ROs/tech day; 1.70 hrs/RO
KIA ST GEORGE: 67.5%; 9 of 12 under 85%; gap 3,713 hrs; labor $48K/mo + parts $29K/mo; tech pay $11K/mo; 29.7% of $258K/mo RO gross; top quarter 98% (3 techs); 4.25 ROs/tech day; 1.31 hrs/RO
LEXUS: 104.7%; 6 of 11 under 85%; gap 1,451 hrs; labor $24K/mo + parts $7K/mo; tech pay $5K/mo; 7.9% of $400K/mo RO gross; top quarter 178% (3 techs); 4.01 ROs/tech day; 2.44 hrs/RO
LINCOLN: 94.9%; 5 of 11 under 85%; gap 1,236 hrs; labor $17K/mo + parts $7K/mo; tech pay $4K/mo; 7.6% of $312K/mo RO gross; top quarter 125% (3 techs); 3.24 ROs/tech day; 2.35 hrs/RO
LR HENDERSON: 106.0%; 3 of 7 under 85%; gap 567 hrs; labor $9K/mo + parts $5K/mo; tech pay $2K/mo; 4.2% of $357K/mo RO gross; top quarter 145% (2 techs); 2.94 ROs/tech day; 3.68 hrs/RO
LR LV: 91.2%; 8 of 16 under 85%; gap 2,154 hrs; labor $42K/mo + parts $21K/mo; tech pay $9K/mo; 9.0% of $702K/mo RO gross; top quarter 131% (4 techs); 2.41 ROs/tech day; 3.54 hrs/RO
LR RENO: 81.4%; 2 of 6 under 85%; gap 724 hrs; labor $14K/mo + parts $7K/mo; tech pay $3K/mo; 8.0% of $257K/mo RO gross; top quarter 96% (2 techs); 2.36 ROs/tech day; 3.20 hrs/RO
MAZDA: 101.6%; 4 of 11 under 85%; gap 415 hrs; labor $6K/mo + parts $3K/mo; tech pay $1K/mo; 2.7% of $322K/mo RO gross; top quarter 123% (3 techs); 5.78 ROs/tech day; 1.54 hrs/RO
NISSAN: 91.1%; 8 of 17 under 85%; gap 2,291 hrs; labor $30K/mo + parts $13K/mo; tech pay $9K/mo; 8.0% of $532K/mo RO gross; top quarter 132% (4 techs); 4.08 ROs/tech day; 2.29 hrs/RO
SUBARU LV: 96.9%; 11 of 27 under 85%; gap 2,050 hrs; labor $29K/mo + parts $15K/mo; tech pay $5K/mo; 4.1% of $1.07M/mo RO gross; top quarter 132% (7 techs); 4.64 ROs/tech day; 2.07 hrs/RO
SUBARU PRESCOTT: 98.4%; 6 of 12 under 85%; gap 3,523 hrs; labor $37K/mo + parts $21K/mo; tech pay $13K/mo; 20.0% of $288K/mo RO gross; top quarter 179% (3 techs); 4.73 ROs/tech day; 1.68 hrs/RO
SUBARU ST GEORGE: 109.7%; 3 of 12 under 85%; gap 1,248 hrs; labor $14K/mo + parts $8K/mo; tech pay $5K/mo; 5.8% of $382K/mo RO gross; top quarter 146% (3 techs); 4.11 ROs/tech day; 2.20 hrs/RO
TOYOTA FLAGSTAFF: 102.4%; 6 of 18 under 85%; gap 662 hrs; labor $8K/mo + parts $3K/mo; tech pay $2K/mo; 1.9% of $542K/mo RO gross; top quarter 151% (4 techs); 4.96 ROs/tech day; 1.84 hrs/RO
TOYOTA HENDERSON: 104.3%; 20 of 59 under 85%; gap 4,057 hrs; labor $51K/mo + parts $19K/mo; tech pay $14K/mo; 2.9% of $2.44M/mo RO gross; top quarter 153% (15 techs); 6.41 ROs/tech day; 1.88 hrs/RO
TOYOTA PRESCOTT: 83.6%; 11 of 22 under 85%; gap 4,174 hrs; labor $57K/mo + parts $20K/mo; tech pay $16K/mo; 13.5% of $573K/mo RO gross; top quarter 118% (6 techs); 4.22 ROs/tech day; 1.72 hrs/RO
TOYOTA SPOKANE: 108.0%; 4 of 28 under 85%; gap 745 hrs; labor $8K/mo + parts $4K/mo; tech pay $3K/mo; 1.9% of $609K/mo RO gross; top quarter 134% (7 techs); 5.36 ROs/tech day; 1.81 hrs/RO
VOLVO: 72.3%; 8 of 9 under 85%; gap 1,963 hrs; labor $40K/mo + parts $22K/mo; tech pay $5K/mo; 14.8% of $417K/mo RO gross; top quarter 89% (2 techs); 3.81 ROs/tech day; 1.92 hrs/RO
VW HENDERSON: 92.2%; 6 of 19 under 85%; gap 1,416 hrs; labor $19K/mo + parts $5K/mo; tech pay $4K/mo; 4.8% of $516K/mo RO gross; top quarter 115% (5 techs); 3.77 ROs/tech day; 2.28 hrs/RO
VW ST GEORGE: 70.0%; 5 of 5 under 85%; gap 1,149 hrs; labor $13K/mo + parts $7K/mo; tech pay $3K/mo; 19.0% of $109K/mo RO gross; top quarter 76% (1 techs); 3.81 ROs/tech day; 1.65 hrs/RO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13232" y="2121408"/>
            <a:ext cx="9144000" cy="365760"/>
          </a:xfrm>
          <a:prstGeom prst="rect">
            <a:avLst/>
          </a:prstGeom>
          <a:noFill/>
          <a:ln/>
        </p:spPr>
        <p:txBody>
          <a:bodyPr wrap="square" lIns="0" tIns="0" rIns="0" bIns="0" rtlCol="0" anchor="ctr"/>
          <a:lstStyle/>
          <a:p>
            <a:pPr indent="0" marL="0">
              <a:buNone/>
            </a:pPr>
            <a:r>
              <a:rPr lang="en-US" sz="2000" b="1" spc="260" kern="0" dirty="0">
                <a:solidFill>
                  <a:srgbClr val="2587C5"/>
                </a:solidFill>
                <a:latin typeface="Inter" pitchFamily="34" charset="0"/>
                <a:ea typeface="Inter" pitchFamily="34" charset="-122"/>
                <a:cs typeface="Inter" pitchFamily="34" charset="-120"/>
              </a:rPr>
              <a:t>FIXED OPS</a:t>
            </a:r>
            <a:endParaRPr lang="en-US" sz="2000" dirty="0"/>
          </a:p>
        </p:txBody>
      </p:sp>
      <p:sp>
        <p:nvSpPr>
          <p:cNvPr id="3" name="Text 1"/>
          <p:cNvSpPr txBox="1"/>
          <p:nvPr/>
        </p:nvSpPr>
        <p:spPr>
          <a:xfrm>
            <a:off x="667512" y="2487168"/>
            <a:ext cx="10789920" cy="1188720"/>
          </a:xfrm>
          <a:prstGeom prst="rect">
            <a:avLst/>
          </a:prstGeom>
          <a:noFill/>
          <a:ln/>
        </p:spPr>
        <p:txBody>
          <a:bodyPr wrap="none" lIns="0" tIns="0" rIns="0" bIns="0" rtlCol="0" anchor="ctr"/>
          <a:lstStyle/>
          <a:p>
            <a:pPr indent="0" marL="0">
              <a:buNone/>
            </a:pPr>
            <a:r>
              <a:rPr lang="en-US" sz="6200" b="1" dirty="0">
                <a:solidFill>
                  <a:srgbClr val="1A1A1A"/>
                </a:solidFill>
                <a:latin typeface="Inter" pitchFamily="34" charset="0"/>
                <a:ea typeface="Inter" pitchFamily="34" charset="-122"/>
                <a:cs typeface="Inter" pitchFamily="34" charset="-120"/>
              </a:rPr>
              <a:t>Technician Proficiency</a:t>
            </a:r>
            <a:endParaRPr lang="en-US" sz="6200" dirty="0"/>
          </a:p>
        </p:txBody>
      </p:sp>
      <p:sp>
        <p:nvSpPr>
          <p:cNvPr id="4" name="Text 2"/>
          <p:cNvSpPr txBox="1"/>
          <p:nvPr/>
        </p:nvSpPr>
        <p:spPr>
          <a:xfrm>
            <a:off x="694944" y="3767328"/>
            <a:ext cx="10789920" cy="411480"/>
          </a:xfrm>
          <a:prstGeom prst="rect">
            <a:avLst/>
          </a:prstGeom>
          <a:noFill/>
          <a:ln/>
        </p:spPr>
        <p:txBody>
          <a:bodyPr wrap="square" lIns="0" tIns="0" rIns="0" bIns="0" rtlCol="0" anchor="ctr"/>
          <a:lstStyle/>
          <a:p>
            <a:pPr indent="0" marL="0">
              <a:buNone/>
            </a:pPr>
            <a:r>
              <a:rPr lang="en-US" sz="2200" dirty="0">
                <a:solidFill>
                  <a:srgbClr val="595959"/>
                </a:solidFill>
                <a:latin typeface="Inter" pitchFamily="34" charset="0"/>
                <a:ea typeface="Inter" pitchFamily="34" charset="-122"/>
                <a:cs typeface="Inter" pitchFamily="34" charset="-120"/>
              </a:rPr>
              <a:t>Store proficiency   ·   Technician status   ·   The opportunity   ·   Work or workers</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PRODUCTIVITY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Technician Proficiency</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73558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TECHNICIAN PROFICIENCY</a:t>
            </a:r>
            <a:endParaRPr lang="en-US" sz="1500" dirty="0"/>
          </a:p>
        </p:txBody>
      </p:sp>
      <p:sp>
        <p:nvSpPr>
          <p:cNvPr id="9" name="Text 7"/>
          <p:cNvSpPr txBox="1"/>
          <p:nvPr/>
        </p:nvSpPr>
        <p:spPr>
          <a:xfrm>
            <a:off x="3649980" y="1335024"/>
            <a:ext cx="4396740" cy="42062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BENCHMARK 85.0%</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2C4A"/>
                </a:solidFill>
                <a:latin typeface="Inter" pitchFamily="34" charset="0"/>
                <a:ea typeface="Inter" pitchFamily="34" charset="-122"/>
                <a:cs typeface="Inter" pitchFamily="34" charset="-120"/>
              </a:rPr>
              <a:t>94.7%</a:t>
            </a:r>
            <a:endParaRPr lang="en-US" sz="2000" dirty="0"/>
          </a:p>
        </p:txBody>
      </p:sp>
      <p:sp>
        <p:nvSpPr>
          <p:cNvPr id="11" name="Text 9"/>
          <p:cNvSpPr txBox="1"/>
          <p:nvPr/>
        </p:nvSpPr>
        <p:spPr>
          <a:xfrm>
            <a:off x="658368"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2" name="Text 10"/>
          <p:cNvSpPr txBox="1"/>
          <p:nvPr/>
        </p:nvSpPr>
        <p:spPr>
          <a:xfrm>
            <a:off x="1014984"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HENDERSON</a:t>
            </a:r>
            <a:endParaRPr lang="en-US" sz="1200" dirty="0"/>
          </a:p>
        </p:txBody>
      </p:sp>
      <p:sp>
        <p:nvSpPr>
          <p:cNvPr id="13" name="Shape 11"/>
          <p:cNvSpPr/>
          <p:nvPr/>
        </p:nvSpPr>
        <p:spPr>
          <a:xfrm>
            <a:off x="3008376" y="1907062"/>
            <a:ext cx="1691640" cy="119948"/>
          </a:xfrm>
          <a:prstGeom prst="rect">
            <a:avLst/>
          </a:prstGeom>
          <a:solidFill>
            <a:srgbClr val="12A566"/>
          </a:solidFill>
          <a:ln/>
        </p:spPr>
      </p:sp>
      <p:sp>
        <p:nvSpPr>
          <p:cNvPr id="14" name="Text 12"/>
          <p:cNvSpPr txBox="1"/>
          <p:nvPr/>
        </p:nvSpPr>
        <p:spPr>
          <a:xfrm>
            <a:off x="4754880" y="1847088"/>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118.5%</a:t>
            </a:r>
            <a:endParaRPr lang="en-US" sz="1200" dirty="0"/>
          </a:p>
        </p:txBody>
      </p:sp>
      <p:sp>
        <p:nvSpPr>
          <p:cNvPr id="15" name="Text 13"/>
          <p:cNvSpPr txBox="1"/>
          <p:nvPr/>
        </p:nvSpPr>
        <p:spPr>
          <a:xfrm>
            <a:off x="658368"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16" name="Text 14"/>
          <p:cNvSpPr txBox="1"/>
          <p:nvPr/>
        </p:nvSpPr>
        <p:spPr>
          <a:xfrm>
            <a:off x="1014984"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RENO</a:t>
            </a:r>
            <a:endParaRPr lang="en-US" sz="1200" dirty="0"/>
          </a:p>
        </p:txBody>
      </p:sp>
      <p:sp>
        <p:nvSpPr>
          <p:cNvPr id="17" name="Shape 15"/>
          <p:cNvSpPr/>
          <p:nvPr/>
        </p:nvSpPr>
        <p:spPr>
          <a:xfrm>
            <a:off x="3008376" y="2146957"/>
            <a:ext cx="1663031" cy="119948"/>
          </a:xfrm>
          <a:prstGeom prst="rect">
            <a:avLst/>
          </a:prstGeom>
          <a:solidFill>
            <a:srgbClr val="12A566"/>
          </a:solidFill>
          <a:ln/>
        </p:spPr>
      </p:sp>
      <p:sp>
        <p:nvSpPr>
          <p:cNvPr id="18" name="Text 16"/>
          <p:cNvSpPr txBox="1"/>
          <p:nvPr/>
        </p:nvSpPr>
        <p:spPr>
          <a:xfrm>
            <a:off x="4754880" y="2086984"/>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117.1%</a:t>
            </a:r>
            <a:endParaRPr lang="en-US" sz="1200" dirty="0"/>
          </a:p>
        </p:txBody>
      </p:sp>
      <p:sp>
        <p:nvSpPr>
          <p:cNvPr id="19" name="Text 17"/>
          <p:cNvSpPr txBox="1"/>
          <p:nvPr/>
        </p:nvSpPr>
        <p:spPr>
          <a:xfrm>
            <a:off x="658368"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0" name="Text 18"/>
          <p:cNvSpPr txBox="1"/>
          <p:nvPr/>
        </p:nvSpPr>
        <p:spPr>
          <a:xfrm>
            <a:off x="1014984"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ST GEORGE</a:t>
            </a:r>
            <a:endParaRPr lang="en-US" sz="1200" dirty="0"/>
          </a:p>
        </p:txBody>
      </p:sp>
      <p:sp>
        <p:nvSpPr>
          <p:cNvPr id="21" name="Shape 19"/>
          <p:cNvSpPr/>
          <p:nvPr/>
        </p:nvSpPr>
        <p:spPr>
          <a:xfrm>
            <a:off x="3008376" y="2386853"/>
            <a:ext cx="1503694" cy="119948"/>
          </a:xfrm>
          <a:prstGeom prst="rect">
            <a:avLst/>
          </a:prstGeom>
          <a:solidFill>
            <a:srgbClr val="12A566"/>
          </a:solidFill>
          <a:ln/>
        </p:spPr>
      </p:sp>
      <p:sp>
        <p:nvSpPr>
          <p:cNvPr id="22" name="Text 20"/>
          <p:cNvSpPr txBox="1"/>
          <p:nvPr/>
        </p:nvSpPr>
        <p:spPr>
          <a:xfrm>
            <a:off x="4754880" y="2326879"/>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109.7%</a:t>
            </a:r>
            <a:endParaRPr lang="en-US" sz="1200" dirty="0"/>
          </a:p>
        </p:txBody>
      </p:sp>
      <p:sp>
        <p:nvSpPr>
          <p:cNvPr id="23" name="Text 21"/>
          <p:cNvSpPr txBox="1"/>
          <p:nvPr/>
        </p:nvSpPr>
        <p:spPr>
          <a:xfrm>
            <a:off x="658368"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24" name="Text 22"/>
          <p:cNvSpPr txBox="1"/>
          <p:nvPr/>
        </p:nvSpPr>
        <p:spPr>
          <a:xfrm>
            <a:off x="1014984"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NORTH</a:t>
            </a:r>
            <a:endParaRPr lang="en-US" sz="1200" dirty="0"/>
          </a:p>
        </p:txBody>
      </p:sp>
      <p:sp>
        <p:nvSpPr>
          <p:cNvPr id="25" name="Shape 23"/>
          <p:cNvSpPr/>
          <p:nvPr/>
        </p:nvSpPr>
        <p:spPr>
          <a:xfrm>
            <a:off x="3008376" y="2626748"/>
            <a:ext cx="1493335" cy="119948"/>
          </a:xfrm>
          <a:prstGeom prst="rect">
            <a:avLst/>
          </a:prstGeom>
          <a:solidFill>
            <a:srgbClr val="12A566"/>
          </a:solidFill>
          <a:ln/>
        </p:spPr>
      </p:sp>
      <p:sp>
        <p:nvSpPr>
          <p:cNvPr id="26" name="Text 24"/>
          <p:cNvSpPr txBox="1"/>
          <p:nvPr/>
        </p:nvSpPr>
        <p:spPr>
          <a:xfrm>
            <a:off x="4754880" y="2566775"/>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109.3%</a:t>
            </a:r>
            <a:endParaRPr lang="en-US" sz="1200" dirty="0"/>
          </a:p>
        </p:txBody>
      </p:sp>
      <p:sp>
        <p:nvSpPr>
          <p:cNvPr id="27" name="Text 25"/>
          <p:cNvSpPr txBox="1"/>
          <p:nvPr/>
        </p:nvSpPr>
        <p:spPr>
          <a:xfrm>
            <a:off x="658368"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28" name="Text 26"/>
          <p:cNvSpPr txBox="1"/>
          <p:nvPr/>
        </p:nvSpPr>
        <p:spPr>
          <a:xfrm>
            <a:off x="1014984"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SPOKANE</a:t>
            </a:r>
            <a:endParaRPr lang="en-US" sz="1200" dirty="0"/>
          </a:p>
        </p:txBody>
      </p:sp>
      <p:sp>
        <p:nvSpPr>
          <p:cNvPr id="29" name="Shape 27"/>
          <p:cNvSpPr/>
          <p:nvPr/>
        </p:nvSpPr>
        <p:spPr>
          <a:xfrm>
            <a:off x="3008376" y="2866644"/>
            <a:ext cx="1488550" cy="119948"/>
          </a:xfrm>
          <a:prstGeom prst="rect">
            <a:avLst/>
          </a:prstGeom>
          <a:solidFill>
            <a:srgbClr val="12A566"/>
          </a:solidFill>
          <a:ln/>
        </p:spPr>
      </p:sp>
      <p:sp>
        <p:nvSpPr>
          <p:cNvPr id="30" name="Text 28"/>
          <p:cNvSpPr txBox="1"/>
          <p:nvPr/>
        </p:nvSpPr>
        <p:spPr>
          <a:xfrm>
            <a:off x="4754880" y="2806670"/>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109.0%</a:t>
            </a:r>
            <a:endParaRPr lang="en-US" sz="1200" dirty="0"/>
          </a:p>
        </p:txBody>
      </p:sp>
      <p:sp>
        <p:nvSpPr>
          <p:cNvPr id="31" name="Text 29"/>
          <p:cNvSpPr txBox="1"/>
          <p:nvPr/>
        </p:nvSpPr>
        <p:spPr>
          <a:xfrm>
            <a:off x="658368"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32" name="Text 30"/>
          <p:cNvSpPr txBox="1"/>
          <p:nvPr/>
        </p:nvSpPr>
        <p:spPr>
          <a:xfrm>
            <a:off x="1014984"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SPOKANE</a:t>
            </a:r>
            <a:endParaRPr lang="en-US" sz="1200" dirty="0"/>
          </a:p>
        </p:txBody>
      </p:sp>
      <p:sp>
        <p:nvSpPr>
          <p:cNvPr id="33" name="Shape 31"/>
          <p:cNvSpPr/>
          <p:nvPr/>
        </p:nvSpPr>
        <p:spPr>
          <a:xfrm>
            <a:off x="3008376" y="3106540"/>
            <a:ext cx="1465805" cy="119948"/>
          </a:xfrm>
          <a:prstGeom prst="rect">
            <a:avLst/>
          </a:prstGeom>
          <a:solidFill>
            <a:srgbClr val="12A566"/>
          </a:solidFill>
          <a:ln/>
        </p:spPr>
      </p:sp>
      <p:sp>
        <p:nvSpPr>
          <p:cNvPr id="34" name="Text 32"/>
          <p:cNvSpPr txBox="1"/>
          <p:nvPr/>
        </p:nvSpPr>
        <p:spPr>
          <a:xfrm>
            <a:off x="4754880" y="3046566"/>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108.0%</a:t>
            </a:r>
            <a:endParaRPr lang="en-US" sz="1200" dirty="0"/>
          </a:p>
        </p:txBody>
      </p:sp>
      <p:sp>
        <p:nvSpPr>
          <p:cNvPr id="35" name="Text 33"/>
          <p:cNvSpPr txBox="1"/>
          <p:nvPr/>
        </p:nvSpPr>
        <p:spPr>
          <a:xfrm>
            <a:off x="658368"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36" name="Text 34"/>
          <p:cNvSpPr txBox="1"/>
          <p:nvPr/>
        </p:nvSpPr>
        <p:spPr>
          <a:xfrm>
            <a:off x="1014984"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HENDERSON</a:t>
            </a:r>
            <a:endParaRPr lang="en-US" sz="1200" dirty="0"/>
          </a:p>
        </p:txBody>
      </p:sp>
      <p:sp>
        <p:nvSpPr>
          <p:cNvPr id="37" name="Shape 35"/>
          <p:cNvSpPr/>
          <p:nvPr/>
        </p:nvSpPr>
        <p:spPr>
          <a:xfrm>
            <a:off x="3008376" y="3346435"/>
            <a:ext cx="1423787" cy="119948"/>
          </a:xfrm>
          <a:prstGeom prst="rect">
            <a:avLst/>
          </a:prstGeom>
          <a:solidFill>
            <a:srgbClr val="12A566"/>
          </a:solidFill>
          <a:ln/>
        </p:spPr>
      </p:sp>
      <p:sp>
        <p:nvSpPr>
          <p:cNvPr id="38" name="Text 36"/>
          <p:cNvSpPr txBox="1"/>
          <p:nvPr/>
        </p:nvSpPr>
        <p:spPr>
          <a:xfrm>
            <a:off x="4754880" y="3286461"/>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106.0%</a:t>
            </a:r>
            <a:endParaRPr lang="en-US" sz="1200" dirty="0"/>
          </a:p>
        </p:txBody>
      </p:sp>
      <p:sp>
        <p:nvSpPr>
          <p:cNvPr id="39" name="Text 37"/>
          <p:cNvSpPr txBox="1"/>
          <p:nvPr/>
        </p:nvSpPr>
        <p:spPr>
          <a:xfrm>
            <a:off x="658368"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40" name="Text 38"/>
          <p:cNvSpPr txBox="1"/>
          <p:nvPr/>
        </p:nvSpPr>
        <p:spPr>
          <a:xfrm>
            <a:off x="1014984"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LEXUS</a:t>
            </a:r>
            <a:endParaRPr lang="en-US" sz="1200" dirty="0"/>
          </a:p>
        </p:txBody>
      </p:sp>
      <p:sp>
        <p:nvSpPr>
          <p:cNvPr id="41" name="Shape 39"/>
          <p:cNvSpPr/>
          <p:nvPr/>
        </p:nvSpPr>
        <p:spPr>
          <a:xfrm>
            <a:off x="3008376" y="3586331"/>
            <a:ext cx="1394590" cy="119948"/>
          </a:xfrm>
          <a:prstGeom prst="rect">
            <a:avLst/>
          </a:prstGeom>
          <a:solidFill>
            <a:srgbClr val="12A566"/>
          </a:solidFill>
          <a:ln/>
        </p:spPr>
      </p:sp>
      <p:sp>
        <p:nvSpPr>
          <p:cNvPr id="42" name="Text 40"/>
          <p:cNvSpPr txBox="1"/>
          <p:nvPr/>
        </p:nvSpPr>
        <p:spPr>
          <a:xfrm>
            <a:off x="4754880" y="3526357"/>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104.7%</a:t>
            </a:r>
            <a:endParaRPr lang="en-US" sz="1200" dirty="0"/>
          </a:p>
        </p:txBody>
      </p:sp>
      <p:sp>
        <p:nvSpPr>
          <p:cNvPr id="43" name="Text 41"/>
          <p:cNvSpPr txBox="1"/>
          <p:nvPr/>
        </p:nvSpPr>
        <p:spPr>
          <a:xfrm>
            <a:off x="658368"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44" name="Text 42"/>
          <p:cNvSpPr txBox="1"/>
          <p:nvPr/>
        </p:nvSpPr>
        <p:spPr>
          <a:xfrm>
            <a:off x="1014984"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HENDERSON</a:t>
            </a:r>
            <a:endParaRPr lang="en-US" sz="1200" dirty="0"/>
          </a:p>
        </p:txBody>
      </p:sp>
      <p:sp>
        <p:nvSpPr>
          <p:cNvPr id="45" name="Shape 43"/>
          <p:cNvSpPr/>
          <p:nvPr/>
        </p:nvSpPr>
        <p:spPr>
          <a:xfrm>
            <a:off x="3008376" y="3826226"/>
            <a:ext cx="1387136" cy="119948"/>
          </a:xfrm>
          <a:prstGeom prst="rect">
            <a:avLst/>
          </a:prstGeom>
          <a:solidFill>
            <a:srgbClr val="12A566"/>
          </a:solidFill>
          <a:ln/>
        </p:spPr>
      </p:sp>
      <p:sp>
        <p:nvSpPr>
          <p:cNvPr id="46" name="Text 44"/>
          <p:cNvSpPr txBox="1"/>
          <p:nvPr/>
        </p:nvSpPr>
        <p:spPr>
          <a:xfrm>
            <a:off x="4754880" y="3766252"/>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104.3%</a:t>
            </a:r>
            <a:endParaRPr lang="en-US" sz="1200" dirty="0"/>
          </a:p>
        </p:txBody>
      </p:sp>
      <p:sp>
        <p:nvSpPr>
          <p:cNvPr id="47" name="Text 45"/>
          <p:cNvSpPr txBox="1"/>
          <p:nvPr/>
        </p:nvSpPr>
        <p:spPr>
          <a:xfrm>
            <a:off x="658368"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48" name="Text 46"/>
          <p:cNvSpPr txBox="1"/>
          <p:nvPr/>
        </p:nvSpPr>
        <p:spPr>
          <a:xfrm>
            <a:off x="1014984"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LV</a:t>
            </a:r>
            <a:endParaRPr lang="en-US" sz="1200" dirty="0"/>
          </a:p>
        </p:txBody>
      </p:sp>
      <p:sp>
        <p:nvSpPr>
          <p:cNvPr id="49" name="Shape 47"/>
          <p:cNvSpPr/>
          <p:nvPr/>
        </p:nvSpPr>
        <p:spPr>
          <a:xfrm>
            <a:off x="3008376" y="4066122"/>
            <a:ext cx="1366169" cy="119948"/>
          </a:xfrm>
          <a:prstGeom prst="rect">
            <a:avLst/>
          </a:prstGeom>
          <a:solidFill>
            <a:srgbClr val="12A566"/>
          </a:solidFill>
          <a:ln/>
        </p:spPr>
      </p:sp>
      <p:sp>
        <p:nvSpPr>
          <p:cNvPr id="50" name="Text 48"/>
          <p:cNvSpPr txBox="1"/>
          <p:nvPr/>
        </p:nvSpPr>
        <p:spPr>
          <a:xfrm>
            <a:off x="4754880" y="4006148"/>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103.4%</a:t>
            </a:r>
            <a:endParaRPr lang="en-US" sz="1200" dirty="0"/>
          </a:p>
        </p:txBody>
      </p:sp>
      <p:sp>
        <p:nvSpPr>
          <p:cNvPr id="51" name="Text 49"/>
          <p:cNvSpPr txBox="1"/>
          <p:nvPr/>
        </p:nvSpPr>
        <p:spPr>
          <a:xfrm>
            <a:off x="658368"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52" name="Text 50"/>
          <p:cNvSpPr txBox="1"/>
          <p:nvPr/>
        </p:nvSpPr>
        <p:spPr>
          <a:xfrm>
            <a:off x="1014984"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FLAGSTAFF</a:t>
            </a:r>
            <a:endParaRPr lang="en-US" sz="1200" dirty="0"/>
          </a:p>
        </p:txBody>
      </p:sp>
      <p:sp>
        <p:nvSpPr>
          <p:cNvPr id="53" name="Shape 51"/>
          <p:cNvSpPr/>
          <p:nvPr/>
        </p:nvSpPr>
        <p:spPr>
          <a:xfrm>
            <a:off x="3008376" y="4306017"/>
            <a:ext cx="1345338" cy="119948"/>
          </a:xfrm>
          <a:prstGeom prst="rect">
            <a:avLst/>
          </a:prstGeom>
          <a:solidFill>
            <a:srgbClr val="12A566"/>
          </a:solidFill>
          <a:ln/>
        </p:spPr>
      </p:sp>
      <p:sp>
        <p:nvSpPr>
          <p:cNvPr id="54" name="Text 52"/>
          <p:cNvSpPr txBox="1"/>
          <p:nvPr/>
        </p:nvSpPr>
        <p:spPr>
          <a:xfrm>
            <a:off x="4754880" y="4246043"/>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102.4%</a:t>
            </a:r>
            <a:endParaRPr lang="en-US" sz="1200" dirty="0"/>
          </a:p>
        </p:txBody>
      </p:sp>
      <p:sp>
        <p:nvSpPr>
          <p:cNvPr id="55" name="Text 53"/>
          <p:cNvSpPr txBox="1"/>
          <p:nvPr/>
        </p:nvSpPr>
        <p:spPr>
          <a:xfrm>
            <a:off x="658368"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56" name="Text 54"/>
          <p:cNvSpPr txBox="1"/>
          <p:nvPr/>
        </p:nvSpPr>
        <p:spPr>
          <a:xfrm>
            <a:off x="1014984"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MAZDA</a:t>
            </a:r>
            <a:endParaRPr lang="en-US" sz="1200" dirty="0"/>
          </a:p>
        </p:txBody>
      </p:sp>
      <p:sp>
        <p:nvSpPr>
          <p:cNvPr id="57" name="Shape 55"/>
          <p:cNvSpPr/>
          <p:nvPr/>
        </p:nvSpPr>
        <p:spPr>
          <a:xfrm>
            <a:off x="3008376" y="4545913"/>
            <a:ext cx="1328569" cy="119948"/>
          </a:xfrm>
          <a:prstGeom prst="rect">
            <a:avLst/>
          </a:prstGeom>
          <a:solidFill>
            <a:srgbClr val="12A566"/>
          </a:solidFill>
          <a:ln/>
        </p:spPr>
      </p:sp>
      <p:sp>
        <p:nvSpPr>
          <p:cNvPr id="58" name="Text 56"/>
          <p:cNvSpPr txBox="1"/>
          <p:nvPr/>
        </p:nvSpPr>
        <p:spPr>
          <a:xfrm>
            <a:off x="4754880" y="4485939"/>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101.6%</a:t>
            </a:r>
            <a:endParaRPr lang="en-US" sz="1200" dirty="0"/>
          </a:p>
        </p:txBody>
      </p:sp>
      <p:sp>
        <p:nvSpPr>
          <p:cNvPr id="59" name="Text 57"/>
          <p:cNvSpPr txBox="1"/>
          <p:nvPr/>
        </p:nvSpPr>
        <p:spPr>
          <a:xfrm>
            <a:off x="658368"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60" name="Text 58"/>
          <p:cNvSpPr txBox="1"/>
          <p:nvPr/>
        </p:nvSpPr>
        <p:spPr>
          <a:xfrm>
            <a:off x="1014984"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PRESCOTT</a:t>
            </a:r>
            <a:endParaRPr lang="en-US" sz="1200" dirty="0"/>
          </a:p>
        </p:txBody>
      </p:sp>
      <p:sp>
        <p:nvSpPr>
          <p:cNvPr id="61" name="Shape 59"/>
          <p:cNvSpPr/>
          <p:nvPr/>
        </p:nvSpPr>
        <p:spPr>
          <a:xfrm>
            <a:off x="3008376" y="4785808"/>
            <a:ext cx="1259696" cy="119948"/>
          </a:xfrm>
          <a:prstGeom prst="rect">
            <a:avLst/>
          </a:prstGeom>
          <a:solidFill>
            <a:srgbClr val="12A566"/>
          </a:solidFill>
          <a:ln/>
        </p:spPr>
      </p:sp>
      <p:sp>
        <p:nvSpPr>
          <p:cNvPr id="62" name="Text 60"/>
          <p:cNvSpPr txBox="1"/>
          <p:nvPr/>
        </p:nvSpPr>
        <p:spPr>
          <a:xfrm>
            <a:off x="4754880" y="4725834"/>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98.4%</a:t>
            </a:r>
            <a:endParaRPr lang="en-US" sz="1200" dirty="0"/>
          </a:p>
        </p:txBody>
      </p:sp>
      <p:sp>
        <p:nvSpPr>
          <p:cNvPr id="63" name="Text 61"/>
          <p:cNvSpPr txBox="1"/>
          <p:nvPr/>
        </p:nvSpPr>
        <p:spPr>
          <a:xfrm>
            <a:off x="658368"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64" name="Text 62"/>
          <p:cNvSpPr txBox="1"/>
          <p:nvPr/>
        </p:nvSpPr>
        <p:spPr>
          <a:xfrm>
            <a:off x="1014984"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LV</a:t>
            </a:r>
            <a:endParaRPr lang="en-US" sz="1200" dirty="0"/>
          </a:p>
        </p:txBody>
      </p:sp>
      <p:sp>
        <p:nvSpPr>
          <p:cNvPr id="65" name="Shape 63"/>
          <p:cNvSpPr/>
          <p:nvPr/>
        </p:nvSpPr>
        <p:spPr>
          <a:xfrm>
            <a:off x="3008376" y="5025704"/>
            <a:ext cx="1227504" cy="119948"/>
          </a:xfrm>
          <a:prstGeom prst="rect">
            <a:avLst/>
          </a:prstGeom>
          <a:solidFill>
            <a:srgbClr val="12A566"/>
          </a:solidFill>
          <a:ln/>
        </p:spPr>
      </p:sp>
      <p:sp>
        <p:nvSpPr>
          <p:cNvPr id="66" name="Text 64"/>
          <p:cNvSpPr txBox="1"/>
          <p:nvPr/>
        </p:nvSpPr>
        <p:spPr>
          <a:xfrm>
            <a:off x="4754880" y="4965730"/>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96.9%</a:t>
            </a:r>
            <a:endParaRPr lang="en-US" sz="1200" dirty="0"/>
          </a:p>
        </p:txBody>
      </p:sp>
      <p:sp>
        <p:nvSpPr>
          <p:cNvPr id="67" name="Text 65"/>
          <p:cNvSpPr txBox="1"/>
          <p:nvPr/>
        </p:nvSpPr>
        <p:spPr>
          <a:xfrm>
            <a:off x="658368"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68" name="Text 66"/>
          <p:cNvSpPr txBox="1"/>
          <p:nvPr/>
        </p:nvSpPr>
        <p:spPr>
          <a:xfrm>
            <a:off x="1014984"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LINCOLN</a:t>
            </a:r>
            <a:endParaRPr lang="en-US" sz="1200" dirty="0"/>
          </a:p>
        </p:txBody>
      </p:sp>
      <p:sp>
        <p:nvSpPr>
          <p:cNvPr id="69" name="Shape 67"/>
          <p:cNvSpPr/>
          <p:nvPr/>
        </p:nvSpPr>
        <p:spPr>
          <a:xfrm>
            <a:off x="3008376" y="5265599"/>
            <a:ext cx="1183546" cy="119948"/>
          </a:xfrm>
          <a:prstGeom prst="rect">
            <a:avLst/>
          </a:prstGeom>
          <a:solidFill>
            <a:srgbClr val="12A566"/>
          </a:solidFill>
          <a:ln/>
        </p:spPr>
      </p:sp>
      <p:sp>
        <p:nvSpPr>
          <p:cNvPr id="70" name="Text 68"/>
          <p:cNvSpPr txBox="1"/>
          <p:nvPr/>
        </p:nvSpPr>
        <p:spPr>
          <a:xfrm>
            <a:off x="4754880" y="5205625"/>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94.9%</a:t>
            </a:r>
            <a:endParaRPr lang="en-US" sz="1200" dirty="0"/>
          </a:p>
        </p:txBody>
      </p:sp>
      <p:sp>
        <p:nvSpPr>
          <p:cNvPr id="71" name="Text 69"/>
          <p:cNvSpPr txBox="1"/>
          <p:nvPr/>
        </p:nvSpPr>
        <p:spPr>
          <a:xfrm>
            <a:off x="658368"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72" name="Text 70"/>
          <p:cNvSpPr txBox="1"/>
          <p:nvPr/>
        </p:nvSpPr>
        <p:spPr>
          <a:xfrm>
            <a:off x="1014984"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HENDERSON</a:t>
            </a:r>
            <a:endParaRPr lang="en-US" sz="1200" dirty="0"/>
          </a:p>
        </p:txBody>
      </p:sp>
      <p:sp>
        <p:nvSpPr>
          <p:cNvPr id="73" name="Shape 71"/>
          <p:cNvSpPr/>
          <p:nvPr/>
        </p:nvSpPr>
        <p:spPr>
          <a:xfrm>
            <a:off x="3008376" y="5505495"/>
            <a:ext cx="1125838" cy="119948"/>
          </a:xfrm>
          <a:prstGeom prst="rect">
            <a:avLst/>
          </a:prstGeom>
          <a:solidFill>
            <a:srgbClr val="12A566"/>
          </a:solidFill>
          <a:ln/>
        </p:spPr>
      </p:sp>
      <p:sp>
        <p:nvSpPr>
          <p:cNvPr id="74" name="Text 72"/>
          <p:cNvSpPr txBox="1"/>
          <p:nvPr/>
        </p:nvSpPr>
        <p:spPr>
          <a:xfrm>
            <a:off x="4754880" y="5445521"/>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92.2%</a:t>
            </a:r>
            <a:endParaRPr lang="en-US" sz="1200" dirty="0"/>
          </a:p>
        </p:txBody>
      </p:sp>
      <p:sp>
        <p:nvSpPr>
          <p:cNvPr id="75" name="Text 73"/>
          <p:cNvSpPr txBox="1"/>
          <p:nvPr/>
        </p:nvSpPr>
        <p:spPr>
          <a:xfrm>
            <a:off x="658368" y="568541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76" name="Text 74"/>
          <p:cNvSpPr txBox="1"/>
          <p:nvPr/>
        </p:nvSpPr>
        <p:spPr>
          <a:xfrm>
            <a:off x="1014984" y="568541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LV</a:t>
            </a:r>
            <a:endParaRPr lang="en-US" sz="1200" dirty="0"/>
          </a:p>
        </p:txBody>
      </p:sp>
      <p:sp>
        <p:nvSpPr>
          <p:cNvPr id="77" name="Shape 75"/>
          <p:cNvSpPr/>
          <p:nvPr/>
        </p:nvSpPr>
        <p:spPr>
          <a:xfrm>
            <a:off x="3008376" y="5745390"/>
            <a:ext cx="1103246" cy="119948"/>
          </a:xfrm>
          <a:prstGeom prst="rect">
            <a:avLst/>
          </a:prstGeom>
          <a:solidFill>
            <a:srgbClr val="12A566"/>
          </a:solidFill>
          <a:ln/>
        </p:spPr>
      </p:sp>
      <p:sp>
        <p:nvSpPr>
          <p:cNvPr id="78" name="Text 76"/>
          <p:cNvSpPr txBox="1"/>
          <p:nvPr/>
        </p:nvSpPr>
        <p:spPr>
          <a:xfrm>
            <a:off x="4754880" y="5685416"/>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91.2%</a:t>
            </a:r>
            <a:endParaRPr lang="en-US" sz="1200" dirty="0"/>
          </a:p>
        </p:txBody>
      </p:sp>
      <p:sp>
        <p:nvSpPr>
          <p:cNvPr id="79" name="Text 77"/>
          <p:cNvSpPr txBox="1"/>
          <p:nvPr/>
        </p:nvSpPr>
        <p:spPr>
          <a:xfrm>
            <a:off x="6208776"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80" name="Text 78"/>
          <p:cNvSpPr txBox="1"/>
          <p:nvPr/>
        </p:nvSpPr>
        <p:spPr>
          <a:xfrm>
            <a:off x="6565392"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NISSAN</a:t>
            </a:r>
            <a:endParaRPr lang="en-US" sz="1200" dirty="0"/>
          </a:p>
        </p:txBody>
      </p:sp>
      <p:sp>
        <p:nvSpPr>
          <p:cNvPr id="81" name="Shape 79"/>
          <p:cNvSpPr/>
          <p:nvPr/>
        </p:nvSpPr>
        <p:spPr>
          <a:xfrm>
            <a:off x="8558784" y="1907062"/>
            <a:ext cx="1102256" cy="119948"/>
          </a:xfrm>
          <a:prstGeom prst="rect">
            <a:avLst/>
          </a:prstGeom>
          <a:solidFill>
            <a:srgbClr val="12A566"/>
          </a:solidFill>
          <a:ln/>
        </p:spPr>
      </p:sp>
      <p:sp>
        <p:nvSpPr>
          <p:cNvPr id="82" name="Text 80"/>
          <p:cNvSpPr txBox="1"/>
          <p:nvPr/>
        </p:nvSpPr>
        <p:spPr>
          <a:xfrm>
            <a:off x="10305288" y="1847088"/>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91.1%</a:t>
            </a:r>
            <a:endParaRPr lang="en-US" sz="1200" dirty="0"/>
          </a:p>
        </p:txBody>
      </p:sp>
      <p:sp>
        <p:nvSpPr>
          <p:cNvPr id="83" name="Text 81"/>
          <p:cNvSpPr txBox="1"/>
          <p:nvPr/>
        </p:nvSpPr>
        <p:spPr>
          <a:xfrm>
            <a:off x="6208776"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84" name="Text 82"/>
          <p:cNvSpPr txBox="1"/>
          <p:nvPr/>
        </p:nvSpPr>
        <p:spPr>
          <a:xfrm>
            <a:off x="6565392"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HENDERSON</a:t>
            </a:r>
            <a:endParaRPr lang="en-US" sz="1200" dirty="0"/>
          </a:p>
        </p:txBody>
      </p:sp>
      <p:sp>
        <p:nvSpPr>
          <p:cNvPr id="85" name="Shape 83"/>
          <p:cNvSpPr/>
          <p:nvPr/>
        </p:nvSpPr>
        <p:spPr>
          <a:xfrm>
            <a:off x="8558784" y="2146957"/>
            <a:ext cx="1100233" cy="119948"/>
          </a:xfrm>
          <a:prstGeom prst="rect">
            <a:avLst/>
          </a:prstGeom>
          <a:solidFill>
            <a:srgbClr val="12A566"/>
          </a:solidFill>
          <a:ln/>
        </p:spPr>
      </p:sp>
      <p:sp>
        <p:nvSpPr>
          <p:cNvPr id="86" name="Text 84"/>
          <p:cNvSpPr txBox="1"/>
          <p:nvPr/>
        </p:nvSpPr>
        <p:spPr>
          <a:xfrm>
            <a:off x="10305288" y="2086984"/>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91.0%</a:t>
            </a:r>
            <a:endParaRPr lang="en-US" sz="1200" dirty="0"/>
          </a:p>
        </p:txBody>
      </p:sp>
      <p:sp>
        <p:nvSpPr>
          <p:cNvPr id="87" name="Text 85"/>
          <p:cNvSpPr txBox="1"/>
          <p:nvPr/>
        </p:nvSpPr>
        <p:spPr>
          <a:xfrm>
            <a:off x="6208776"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88" name="Text 86"/>
          <p:cNvSpPr txBox="1"/>
          <p:nvPr/>
        </p:nvSpPr>
        <p:spPr>
          <a:xfrm>
            <a:off x="6565392"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CADILLAC</a:t>
            </a:r>
            <a:endParaRPr lang="en-US" sz="1200" dirty="0"/>
          </a:p>
        </p:txBody>
      </p:sp>
      <p:sp>
        <p:nvSpPr>
          <p:cNvPr id="89" name="Shape 87"/>
          <p:cNvSpPr/>
          <p:nvPr/>
        </p:nvSpPr>
        <p:spPr>
          <a:xfrm>
            <a:off x="8558784" y="2386853"/>
            <a:ext cx="1028587" cy="119948"/>
          </a:xfrm>
          <a:prstGeom prst="rect">
            <a:avLst/>
          </a:prstGeom>
          <a:solidFill>
            <a:srgbClr val="12A566"/>
          </a:solidFill>
          <a:ln/>
        </p:spPr>
      </p:sp>
      <p:sp>
        <p:nvSpPr>
          <p:cNvPr id="90" name="Text 88"/>
          <p:cNvSpPr txBox="1"/>
          <p:nvPr/>
        </p:nvSpPr>
        <p:spPr>
          <a:xfrm>
            <a:off x="10305288" y="2326879"/>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87.7%</a:t>
            </a:r>
            <a:endParaRPr lang="en-US" sz="1200" dirty="0"/>
          </a:p>
        </p:txBody>
      </p:sp>
      <p:sp>
        <p:nvSpPr>
          <p:cNvPr id="91" name="Text 89"/>
          <p:cNvSpPr txBox="1"/>
          <p:nvPr/>
        </p:nvSpPr>
        <p:spPr>
          <a:xfrm>
            <a:off x="6208776"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92" name="Text 90"/>
          <p:cNvSpPr txBox="1"/>
          <p:nvPr/>
        </p:nvSpPr>
        <p:spPr>
          <a:xfrm>
            <a:off x="6565392"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PRESCOTT</a:t>
            </a:r>
            <a:endParaRPr lang="en-US" sz="1200" dirty="0"/>
          </a:p>
        </p:txBody>
      </p:sp>
      <p:sp>
        <p:nvSpPr>
          <p:cNvPr id="93" name="Shape 91"/>
          <p:cNvSpPr/>
          <p:nvPr/>
        </p:nvSpPr>
        <p:spPr>
          <a:xfrm>
            <a:off x="8558784" y="2626748"/>
            <a:ext cx="940185" cy="119948"/>
          </a:xfrm>
          <a:prstGeom prst="rect">
            <a:avLst/>
          </a:prstGeom>
          <a:solidFill>
            <a:srgbClr val="C2352F"/>
          </a:solidFill>
          <a:ln/>
        </p:spPr>
      </p:sp>
      <p:sp>
        <p:nvSpPr>
          <p:cNvPr id="94" name="Text 92"/>
          <p:cNvSpPr txBox="1"/>
          <p:nvPr/>
        </p:nvSpPr>
        <p:spPr>
          <a:xfrm>
            <a:off x="10305288" y="2566775"/>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83.6%</a:t>
            </a:r>
            <a:endParaRPr lang="en-US" sz="1200" dirty="0"/>
          </a:p>
        </p:txBody>
      </p:sp>
      <p:sp>
        <p:nvSpPr>
          <p:cNvPr id="95" name="Text 93"/>
          <p:cNvSpPr txBox="1"/>
          <p:nvPr/>
        </p:nvSpPr>
        <p:spPr>
          <a:xfrm>
            <a:off x="6208776"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96" name="Text 94"/>
          <p:cNvSpPr txBox="1"/>
          <p:nvPr/>
        </p:nvSpPr>
        <p:spPr>
          <a:xfrm>
            <a:off x="6565392"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RENO</a:t>
            </a:r>
            <a:endParaRPr lang="en-US" sz="1200" dirty="0"/>
          </a:p>
        </p:txBody>
      </p:sp>
      <p:sp>
        <p:nvSpPr>
          <p:cNvPr id="97" name="Shape 95"/>
          <p:cNvSpPr/>
          <p:nvPr/>
        </p:nvSpPr>
        <p:spPr>
          <a:xfrm>
            <a:off x="8558784" y="2866644"/>
            <a:ext cx="892570" cy="119948"/>
          </a:xfrm>
          <a:prstGeom prst="rect">
            <a:avLst/>
          </a:prstGeom>
          <a:solidFill>
            <a:srgbClr val="C2352F"/>
          </a:solidFill>
          <a:ln/>
        </p:spPr>
      </p:sp>
      <p:sp>
        <p:nvSpPr>
          <p:cNvPr id="98" name="Text 96"/>
          <p:cNvSpPr txBox="1"/>
          <p:nvPr/>
        </p:nvSpPr>
        <p:spPr>
          <a:xfrm>
            <a:off x="10305288" y="2806670"/>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81.4%</a:t>
            </a:r>
            <a:endParaRPr lang="en-US" sz="1200" dirty="0"/>
          </a:p>
        </p:txBody>
      </p:sp>
      <p:sp>
        <p:nvSpPr>
          <p:cNvPr id="99" name="Text 97"/>
          <p:cNvSpPr txBox="1"/>
          <p:nvPr/>
        </p:nvSpPr>
        <p:spPr>
          <a:xfrm>
            <a:off x="6208776"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00" name="Text 98"/>
          <p:cNvSpPr txBox="1"/>
          <p:nvPr/>
        </p:nvSpPr>
        <p:spPr>
          <a:xfrm>
            <a:off x="6565392"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PRESCOTT</a:t>
            </a:r>
            <a:endParaRPr lang="en-US" sz="1200" dirty="0"/>
          </a:p>
        </p:txBody>
      </p:sp>
      <p:sp>
        <p:nvSpPr>
          <p:cNvPr id="101" name="Shape 99"/>
          <p:cNvSpPr/>
          <p:nvPr/>
        </p:nvSpPr>
        <p:spPr>
          <a:xfrm>
            <a:off x="8558784" y="3106540"/>
            <a:ext cx="836550" cy="119948"/>
          </a:xfrm>
          <a:prstGeom prst="rect">
            <a:avLst/>
          </a:prstGeom>
          <a:solidFill>
            <a:srgbClr val="C2352F"/>
          </a:solidFill>
          <a:ln/>
        </p:spPr>
      </p:sp>
      <p:sp>
        <p:nvSpPr>
          <p:cNvPr id="102" name="Text 100"/>
          <p:cNvSpPr txBox="1"/>
          <p:nvPr/>
        </p:nvSpPr>
        <p:spPr>
          <a:xfrm>
            <a:off x="10305288" y="3046566"/>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78.8%</a:t>
            </a:r>
            <a:endParaRPr lang="en-US" sz="1200" dirty="0"/>
          </a:p>
        </p:txBody>
      </p:sp>
      <p:sp>
        <p:nvSpPr>
          <p:cNvPr id="103" name="Text 101"/>
          <p:cNvSpPr txBox="1"/>
          <p:nvPr/>
        </p:nvSpPr>
        <p:spPr>
          <a:xfrm>
            <a:off x="6208776"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04" name="Text 102"/>
          <p:cNvSpPr txBox="1"/>
          <p:nvPr/>
        </p:nvSpPr>
        <p:spPr>
          <a:xfrm>
            <a:off x="6565392"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FLAGSTAFF</a:t>
            </a:r>
            <a:endParaRPr lang="en-US" sz="1200" dirty="0"/>
          </a:p>
        </p:txBody>
      </p:sp>
      <p:sp>
        <p:nvSpPr>
          <p:cNvPr id="105" name="Shape 103"/>
          <p:cNvSpPr/>
          <p:nvPr/>
        </p:nvSpPr>
        <p:spPr>
          <a:xfrm>
            <a:off x="8558784" y="3346435"/>
            <a:ext cx="830598" cy="119948"/>
          </a:xfrm>
          <a:prstGeom prst="rect">
            <a:avLst/>
          </a:prstGeom>
          <a:solidFill>
            <a:srgbClr val="C2352F"/>
          </a:solidFill>
          <a:ln/>
        </p:spPr>
      </p:sp>
      <p:sp>
        <p:nvSpPr>
          <p:cNvPr id="106" name="Text 104"/>
          <p:cNvSpPr txBox="1"/>
          <p:nvPr/>
        </p:nvSpPr>
        <p:spPr>
          <a:xfrm>
            <a:off x="10305288" y="3286461"/>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78.5%</a:t>
            </a:r>
            <a:endParaRPr lang="en-US" sz="1200" dirty="0"/>
          </a:p>
        </p:txBody>
      </p:sp>
      <p:sp>
        <p:nvSpPr>
          <p:cNvPr id="107" name="Text 105"/>
          <p:cNvSpPr txBox="1"/>
          <p:nvPr/>
        </p:nvSpPr>
        <p:spPr>
          <a:xfrm>
            <a:off x="6208776"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25</a:t>
            </a:r>
            <a:endParaRPr lang="en-US" sz="1200" dirty="0"/>
          </a:p>
        </p:txBody>
      </p:sp>
      <p:sp>
        <p:nvSpPr>
          <p:cNvPr id="108" name="Text 106"/>
          <p:cNvSpPr txBox="1"/>
          <p:nvPr/>
        </p:nvSpPr>
        <p:spPr>
          <a:xfrm>
            <a:off x="6565392"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LV</a:t>
            </a:r>
            <a:endParaRPr lang="en-US" sz="1200" dirty="0"/>
          </a:p>
        </p:txBody>
      </p:sp>
      <p:sp>
        <p:nvSpPr>
          <p:cNvPr id="109" name="Shape 107"/>
          <p:cNvSpPr/>
          <p:nvPr/>
        </p:nvSpPr>
        <p:spPr>
          <a:xfrm>
            <a:off x="8558784" y="3586331"/>
            <a:ext cx="794181" cy="119948"/>
          </a:xfrm>
          <a:prstGeom prst="rect">
            <a:avLst/>
          </a:prstGeom>
          <a:solidFill>
            <a:srgbClr val="C2352F"/>
          </a:solidFill>
          <a:ln/>
        </p:spPr>
      </p:sp>
      <p:sp>
        <p:nvSpPr>
          <p:cNvPr id="110" name="Text 108"/>
          <p:cNvSpPr txBox="1"/>
          <p:nvPr/>
        </p:nvSpPr>
        <p:spPr>
          <a:xfrm>
            <a:off x="10305288" y="3526357"/>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76.8%</a:t>
            </a:r>
            <a:endParaRPr lang="en-US" sz="1200" dirty="0"/>
          </a:p>
        </p:txBody>
      </p:sp>
      <p:sp>
        <p:nvSpPr>
          <p:cNvPr id="111" name="Text 109"/>
          <p:cNvSpPr txBox="1"/>
          <p:nvPr/>
        </p:nvSpPr>
        <p:spPr>
          <a:xfrm>
            <a:off x="6208776"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26</a:t>
            </a:r>
            <a:endParaRPr lang="en-US" sz="1200" dirty="0"/>
          </a:p>
        </p:txBody>
      </p:sp>
      <p:sp>
        <p:nvSpPr>
          <p:cNvPr id="112" name="Text 110"/>
          <p:cNvSpPr txBox="1"/>
          <p:nvPr/>
        </p:nvSpPr>
        <p:spPr>
          <a:xfrm>
            <a:off x="6565392"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GMC PRESCOTT</a:t>
            </a:r>
            <a:endParaRPr lang="en-US" sz="1200" dirty="0"/>
          </a:p>
        </p:txBody>
      </p:sp>
      <p:sp>
        <p:nvSpPr>
          <p:cNvPr id="113" name="Shape 111"/>
          <p:cNvSpPr/>
          <p:nvPr/>
        </p:nvSpPr>
        <p:spPr>
          <a:xfrm>
            <a:off x="8558784" y="3826226"/>
            <a:ext cx="724094" cy="119948"/>
          </a:xfrm>
          <a:prstGeom prst="rect">
            <a:avLst/>
          </a:prstGeom>
          <a:solidFill>
            <a:srgbClr val="C2352F"/>
          </a:solidFill>
          <a:ln/>
        </p:spPr>
      </p:sp>
      <p:sp>
        <p:nvSpPr>
          <p:cNvPr id="114" name="Text 112"/>
          <p:cNvSpPr txBox="1"/>
          <p:nvPr/>
        </p:nvSpPr>
        <p:spPr>
          <a:xfrm>
            <a:off x="10305288" y="3766252"/>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73.6%</a:t>
            </a:r>
            <a:endParaRPr lang="en-US" sz="1200" dirty="0"/>
          </a:p>
        </p:txBody>
      </p:sp>
      <p:sp>
        <p:nvSpPr>
          <p:cNvPr id="115" name="Text 113"/>
          <p:cNvSpPr txBox="1"/>
          <p:nvPr/>
        </p:nvSpPr>
        <p:spPr>
          <a:xfrm>
            <a:off x="6208776"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27</a:t>
            </a:r>
            <a:endParaRPr lang="en-US" sz="1200" dirty="0"/>
          </a:p>
        </p:txBody>
      </p:sp>
      <p:sp>
        <p:nvSpPr>
          <p:cNvPr id="116" name="Text 114"/>
          <p:cNvSpPr txBox="1"/>
          <p:nvPr/>
        </p:nvSpPr>
        <p:spPr>
          <a:xfrm>
            <a:off x="6565392"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VOLVO</a:t>
            </a:r>
            <a:endParaRPr lang="en-US" sz="1200" dirty="0"/>
          </a:p>
        </p:txBody>
      </p:sp>
      <p:sp>
        <p:nvSpPr>
          <p:cNvPr id="117" name="Shape 115"/>
          <p:cNvSpPr/>
          <p:nvPr/>
        </p:nvSpPr>
        <p:spPr>
          <a:xfrm>
            <a:off x="8558784" y="4066122"/>
            <a:ext cx="697908" cy="119948"/>
          </a:xfrm>
          <a:prstGeom prst="rect">
            <a:avLst/>
          </a:prstGeom>
          <a:solidFill>
            <a:srgbClr val="C2352F"/>
          </a:solidFill>
          <a:ln/>
        </p:spPr>
      </p:sp>
      <p:sp>
        <p:nvSpPr>
          <p:cNvPr id="118" name="Text 116"/>
          <p:cNvSpPr txBox="1"/>
          <p:nvPr/>
        </p:nvSpPr>
        <p:spPr>
          <a:xfrm>
            <a:off x="10305288" y="4006148"/>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72.3%</a:t>
            </a:r>
            <a:endParaRPr lang="en-US" sz="1200" dirty="0"/>
          </a:p>
        </p:txBody>
      </p:sp>
      <p:sp>
        <p:nvSpPr>
          <p:cNvPr id="119" name="Text 117"/>
          <p:cNvSpPr txBox="1"/>
          <p:nvPr/>
        </p:nvSpPr>
        <p:spPr>
          <a:xfrm>
            <a:off x="6208776"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28</a:t>
            </a:r>
            <a:endParaRPr lang="en-US" sz="1200" dirty="0"/>
          </a:p>
        </p:txBody>
      </p:sp>
      <p:sp>
        <p:nvSpPr>
          <p:cNvPr id="120" name="Text 118"/>
          <p:cNvSpPr txBox="1"/>
          <p:nvPr/>
        </p:nvSpPr>
        <p:spPr>
          <a:xfrm>
            <a:off x="6565392"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CDJR POST FALLS</a:t>
            </a:r>
            <a:endParaRPr lang="en-US" sz="1200" dirty="0"/>
          </a:p>
        </p:txBody>
      </p:sp>
      <p:sp>
        <p:nvSpPr>
          <p:cNvPr id="121" name="Shape 119"/>
          <p:cNvSpPr/>
          <p:nvPr/>
        </p:nvSpPr>
        <p:spPr>
          <a:xfrm>
            <a:off x="8558784" y="4306017"/>
            <a:ext cx="672256" cy="119948"/>
          </a:xfrm>
          <a:prstGeom prst="rect">
            <a:avLst/>
          </a:prstGeom>
          <a:solidFill>
            <a:srgbClr val="C2352F"/>
          </a:solidFill>
          <a:ln/>
        </p:spPr>
      </p:sp>
      <p:sp>
        <p:nvSpPr>
          <p:cNvPr id="122" name="Text 120"/>
          <p:cNvSpPr txBox="1"/>
          <p:nvPr/>
        </p:nvSpPr>
        <p:spPr>
          <a:xfrm>
            <a:off x="10305288" y="4246043"/>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71.2%</a:t>
            </a:r>
            <a:endParaRPr lang="en-US" sz="1200" dirty="0"/>
          </a:p>
        </p:txBody>
      </p:sp>
      <p:sp>
        <p:nvSpPr>
          <p:cNvPr id="123" name="Text 121"/>
          <p:cNvSpPr txBox="1"/>
          <p:nvPr/>
        </p:nvSpPr>
        <p:spPr>
          <a:xfrm>
            <a:off x="6208776"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29</a:t>
            </a:r>
            <a:endParaRPr lang="en-US" sz="1200" dirty="0"/>
          </a:p>
        </p:txBody>
      </p:sp>
      <p:sp>
        <p:nvSpPr>
          <p:cNvPr id="124" name="Text 122"/>
          <p:cNvSpPr txBox="1"/>
          <p:nvPr/>
        </p:nvSpPr>
        <p:spPr>
          <a:xfrm>
            <a:off x="6565392"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ST GEORGE</a:t>
            </a:r>
            <a:endParaRPr lang="en-US" sz="1200" dirty="0"/>
          </a:p>
        </p:txBody>
      </p:sp>
      <p:sp>
        <p:nvSpPr>
          <p:cNvPr id="125" name="Shape 123"/>
          <p:cNvSpPr/>
          <p:nvPr/>
        </p:nvSpPr>
        <p:spPr>
          <a:xfrm>
            <a:off x="8558784" y="4545913"/>
            <a:ext cx="647056" cy="119948"/>
          </a:xfrm>
          <a:prstGeom prst="rect">
            <a:avLst/>
          </a:prstGeom>
          <a:solidFill>
            <a:srgbClr val="C2352F"/>
          </a:solidFill>
          <a:ln/>
        </p:spPr>
      </p:sp>
      <p:sp>
        <p:nvSpPr>
          <p:cNvPr id="126" name="Text 124"/>
          <p:cNvSpPr txBox="1"/>
          <p:nvPr/>
        </p:nvSpPr>
        <p:spPr>
          <a:xfrm>
            <a:off x="10305288" y="4485939"/>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70.0%</a:t>
            </a:r>
            <a:endParaRPr lang="en-US" sz="1200" dirty="0"/>
          </a:p>
        </p:txBody>
      </p:sp>
      <p:sp>
        <p:nvSpPr>
          <p:cNvPr id="127" name="Text 125"/>
          <p:cNvSpPr txBox="1"/>
          <p:nvPr/>
        </p:nvSpPr>
        <p:spPr>
          <a:xfrm>
            <a:off x="6208776"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30</a:t>
            </a:r>
            <a:endParaRPr lang="en-US" sz="1200" dirty="0"/>
          </a:p>
        </p:txBody>
      </p:sp>
      <p:sp>
        <p:nvSpPr>
          <p:cNvPr id="128" name="Text 126"/>
          <p:cNvSpPr txBox="1"/>
          <p:nvPr/>
        </p:nvSpPr>
        <p:spPr>
          <a:xfrm>
            <a:off x="6565392"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ST GEORGE</a:t>
            </a:r>
            <a:endParaRPr lang="en-US" sz="1200" dirty="0"/>
          </a:p>
        </p:txBody>
      </p:sp>
      <p:sp>
        <p:nvSpPr>
          <p:cNvPr id="129" name="Shape 127"/>
          <p:cNvSpPr/>
          <p:nvPr/>
        </p:nvSpPr>
        <p:spPr>
          <a:xfrm>
            <a:off x="8558784" y="4785808"/>
            <a:ext cx="625345" cy="119948"/>
          </a:xfrm>
          <a:prstGeom prst="rect">
            <a:avLst/>
          </a:prstGeom>
          <a:solidFill>
            <a:srgbClr val="C2352F"/>
          </a:solidFill>
          <a:ln/>
        </p:spPr>
      </p:sp>
      <p:sp>
        <p:nvSpPr>
          <p:cNvPr id="130" name="Text 128"/>
          <p:cNvSpPr txBox="1"/>
          <p:nvPr/>
        </p:nvSpPr>
        <p:spPr>
          <a:xfrm>
            <a:off x="10305288" y="4725834"/>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69.0%</a:t>
            </a:r>
            <a:endParaRPr lang="en-US" sz="1200" dirty="0"/>
          </a:p>
        </p:txBody>
      </p:sp>
      <p:sp>
        <p:nvSpPr>
          <p:cNvPr id="131" name="Text 129"/>
          <p:cNvSpPr txBox="1"/>
          <p:nvPr/>
        </p:nvSpPr>
        <p:spPr>
          <a:xfrm>
            <a:off x="6208776"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31</a:t>
            </a:r>
            <a:endParaRPr lang="en-US" sz="1200" dirty="0"/>
          </a:p>
        </p:txBody>
      </p:sp>
      <p:sp>
        <p:nvSpPr>
          <p:cNvPr id="132" name="Text 130"/>
          <p:cNvSpPr txBox="1"/>
          <p:nvPr/>
        </p:nvSpPr>
        <p:spPr>
          <a:xfrm>
            <a:off x="6565392"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GMC BULLHEAD</a:t>
            </a:r>
            <a:endParaRPr lang="en-US" sz="1200" dirty="0"/>
          </a:p>
        </p:txBody>
      </p:sp>
      <p:sp>
        <p:nvSpPr>
          <p:cNvPr id="133" name="Shape 131"/>
          <p:cNvSpPr/>
          <p:nvPr/>
        </p:nvSpPr>
        <p:spPr>
          <a:xfrm>
            <a:off x="8558784" y="5025704"/>
            <a:ext cx="612255" cy="119948"/>
          </a:xfrm>
          <a:prstGeom prst="rect">
            <a:avLst/>
          </a:prstGeom>
          <a:solidFill>
            <a:srgbClr val="C2352F"/>
          </a:solidFill>
          <a:ln/>
        </p:spPr>
      </p:sp>
      <p:sp>
        <p:nvSpPr>
          <p:cNvPr id="134" name="Text 132"/>
          <p:cNvSpPr txBox="1"/>
          <p:nvPr/>
        </p:nvSpPr>
        <p:spPr>
          <a:xfrm>
            <a:off x="10305288" y="4965730"/>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68.4%</a:t>
            </a:r>
            <a:endParaRPr lang="en-US" sz="1200" dirty="0"/>
          </a:p>
        </p:txBody>
      </p:sp>
      <p:sp>
        <p:nvSpPr>
          <p:cNvPr id="135" name="Text 133"/>
          <p:cNvSpPr txBox="1"/>
          <p:nvPr/>
        </p:nvSpPr>
        <p:spPr>
          <a:xfrm>
            <a:off x="6208776"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32</a:t>
            </a:r>
            <a:endParaRPr lang="en-US" sz="1200" dirty="0"/>
          </a:p>
        </p:txBody>
      </p:sp>
      <p:sp>
        <p:nvSpPr>
          <p:cNvPr id="136" name="Text 134"/>
          <p:cNvSpPr txBox="1"/>
          <p:nvPr/>
        </p:nvSpPr>
        <p:spPr>
          <a:xfrm>
            <a:off x="6565392"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ST GEORGE</a:t>
            </a:r>
            <a:endParaRPr lang="en-US" sz="1200" dirty="0"/>
          </a:p>
        </p:txBody>
      </p:sp>
      <p:sp>
        <p:nvSpPr>
          <p:cNvPr id="137" name="Shape 135"/>
          <p:cNvSpPr/>
          <p:nvPr/>
        </p:nvSpPr>
        <p:spPr>
          <a:xfrm>
            <a:off x="8558784" y="5265599"/>
            <a:ext cx="592803" cy="119948"/>
          </a:xfrm>
          <a:prstGeom prst="rect">
            <a:avLst/>
          </a:prstGeom>
          <a:solidFill>
            <a:srgbClr val="C2352F"/>
          </a:solidFill>
          <a:ln/>
        </p:spPr>
      </p:sp>
      <p:sp>
        <p:nvSpPr>
          <p:cNvPr id="138" name="Text 136"/>
          <p:cNvSpPr txBox="1"/>
          <p:nvPr/>
        </p:nvSpPr>
        <p:spPr>
          <a:xfrm>
            <a:off x="10305288" y="5205625"/>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67.5%</a:t>
            </a:r>
            <a:endParaRPr lang="en-US" sz="1200" dirty="0"/>
          </a:p>
        </p:txBody>
      </p:sp>
      <p:sp>
        <p:nvSpPr>
          <p:cNvPr id="139" name="Text 137"/>
          <p:cNvSpPr txBox="1"/>
          <p:nvPr/>
        </p:nvSpPr>
        <p:spPr>
          <a:xfrm>
            <a:off x="6208776"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33</a:t>
            </a:r>
            <a:endParaRPr lang="en-US" sz="1200" dirty="0"/>
          </a:p>
        </p:txBody>
      </p:sp>
      <p:sp>
        <p:nvSpPr>
          <p:cNvPr id="140" name="Text 138"/>
          <p:cNvSpPr txBox="1"/>
          <p:nvPr/>
        </p:nvSpPr>
        <p:spPr>
          <a:xfrm>
            <a:off x="6565392"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ACURA</a:t>
            </a:r>
            <a:endParaRPr lang="en-US" sz="1200" dirty="0"/>
          </a:p>
        </p:txBody>
      </p:sp>
      <p:sp>
        <p:nvSpPr>
          <p:cNvPr id="141" name="Shape 139"/>
          <p:cNvSpPr/>
          <p:nvPr/>
        </p:nvSpPr>
        <p:spPr>
          <a:xfrm>
            <a:off x="8558784" y="5505495"/>
            <a:ext cx="591028" cy="119948"/>
          </a:xfrm>
          <a:prstGeom prst="rect">
            <a:avLst/>
          </a:prstGeom>
          <a:solidFill>
            <a:srgbClr val="C2352F"/>
          </a:solidFill>
          <a:ln/>
        </p:spPr>
      </p:sp>
      <p:sp>
        <p:nvSpPr>
          <p:cNvPr id="142" name="Text 140"/>
          <p:cNvSpPr txBox="1"/>
          <p:nvPr/>
        </p:nvSpPr>
        <p:spPr>
          <a:xfrm>
            <a:off x="10305288" y="5445521"/>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67.4%</a:t>
            </a:r>
            <a:endParaRPr lang="en-US" sz="1200" dirty="0"/>
          </a:p>
        </p:txBody>
      </p:sp>
      <p:sp>
        <p:nvSpPr>
          <p:cNvPr id="143" name="Shape 141"/>
          <p:cNvSpPr/>
          <p:nvPr/>
        </p:nvSpPr>
        <p:spPr>
          <a:xfrm>
            <a:off x="3970620" y="1847088"/>
            <a:ext cx="14630" cy="4078224"/>
          </a:xfrm>
          <a:prstGeom prst="rect">
            <a:avLst/>
          </a:prstGeom>
          <a:solidFill>
            <a:srgbClr val="0B2C4A"/>
          </a:solidFill>
          <a:ln/>
        </p:spPr>
      </p:sp>
      <p:sp>
        <p:nvSpPr>
          <p:cNvPr id="144" name="Shape 142"/>
          <p:cNvSpPr/>
          <p:nvPr/>
        </p:nvSpPr>
        <p:spPr>
          <a:xfrm>
            <a:off x="9521028" y="1847088"/>
            <a:ext cx="14630" cy="4078224"/>
          </a:xfrm>
          <a:prstGeom prst="rect">
            <a:avLst/>
          </a:prstGeom>
          <a:solidFill>
            <a:srgbClr val="0B2C4A"/>
          </a:solidFill>
          <a:ln/>
        </p:spPr>
      </p:sp>
      <p:sp>
        <p:nvSpPr>
          <p:cNvPr id="145" name="Shape 143"/>
          <p:cNvSpPr/>
          <p:nvPr/>
        </p:nvSpPr>
        <p:spPr>
          <a:xfrm>
            <a:off x="6085332" y="1847088"/>
            <a:ext cx="10973" cy="4078224"/>
          </a:xfrm>
          <a:prstGeom prst="rect">
            <a:avLst/>
          </a:prstGeom>
          <a:solidFill>
            <a:srgbClr val="D9D9D9"/>
          </a:solidFill>
          <a:ln/>
        </p:spPr>
      </p:sp>
      <p:sp>
        <p:nvSpPr>
          <p:cNvPr id="147" name="Shape 144"/>
          <p:cNvSpPr/>
          <p:nvPr/>
        </p:nvSpPr>
        <p:spPr>
          <a:xfrm>
            <a:off x="457200" y="6126480"/>
            <a:ext cx="11274552" cy="371856"/>
          </a:xfrm>
          <a:prstGeom prst="rect">
            <a:avLst/>
          </a:prstGeom>
          <a:solidFill>
            <a:srgbClr val="EDF4FA"/>
          </a:solidFill>
          <a:ln/>
        </p:spPr>
      </p:sp>
      <p:sp>
        <p:nvSpPr>
          <p:cNvPr id="148" name="Text 145"/>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20 of 33 stores at or above the 85% target and 12 above 100%. Group 94.7%.</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PRODUCTIVITY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Technician Proficiency Status</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Shape 4"/>
          <p:cNvSpPr/>
          <p:nvPr/>
        </p:nvSpPr>
        <p:spPr>
          <a:xfrm>
            <a:off x="658368" y="1371600"/>
            <a:ext cx="201168" cy="201168"/>
          </a:xfrm>
          <a:prstGeom prst="rect">
            <a:avLst/>
          </a:prstGeom>
          <a:solidFill>
            <a:srgbClr val="12A566"/>
          </a:solidFill>
          <a:ln/>
        </p:spPr>
      </p:sp>
      <p:sp>
        <p:nvSpPr>
          <p:cNvPr id="7" name="Text 5"/>
          <p:cNvSpPr txBox="1"/>
          <p:nvPr/>
        </p:nvSpPr>
        <p:spPr>
          <a:xfrm>
            <a:off x="932688" y="1298448"/>
            <a:ext cx="1691640" cy="347472"/>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Above 100 %</a:t>
            </a:r>
            <a:endParaRPr lang="en-US" sz="1400" dirty="0"/>
          </a:p>
        </p:txBody>
      </p:sp>
      <p:sp>
        <p:nvSpPr>
          <p:cNvPr id="8" name="Shape 6"/>
          <p:cNvSpPr/>
          <p:nvPr/>
        </p:nvSpPr>
        <p:spPr>
          <a:xfrm>
            <a:off x="2624328" y="1371600"/>
            <a:ext cx="201168" cy="201168"/>
          </a:xfrm>
          <a:prstGeom prst="rect">
            <a:avLst/>
          </a:prstGeom>
          <a:solidFill>
            <a:srgbClr val="5B9BD5"/>
          </a:solidFill>
          <a:ln/>
        </p:spPr>
      </p:sp>
      <p:sp>
        <p:nvSpPr>
          <p:cNvPr id="9" name="Text 7"/>
          <p:cNvSpPr txBox="1"/>
          <p:nvPr/>
        </p:nvSpPr>
        <p:spPr>
          <a:xfrm>
            <a:off x="2898648" y="1298448"/>
            <a:ext cx="1691640" cy="347472"/>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85 to 99.9 %</a:t>
            </a:r>
            <a:endParaRPr lang="en-US" sz="1400" dirty="0"/>
          </a:p>
        </p:txBody>
      </p:sp>
      <p:sp>
        <p:nvSpPr>
          <p:cNvPr id="10" name="Shape 8"/>
          <p:cNvSpPr/>
          <p:nvPr/>
        </p:nvSpPr>
        <p:spPr>
          <a:xfrm>
            <a:off x="4590288" y="1371600"/>
            <a:ext cx="201168" cy="201168"/>
          </a:xfrm>
          <a:prstGeom prst="rect">
            <a:avLst/>
          </a:prstGeom>
          <a:solidFill>
            <a:srgbClr val="C2352F"/>
          </a:solidFill>
          <a:ln/>
        </p:spPr>
      </p:sp>
      <p:sp>
        <p:nvSpPr>
          <p:cNvPr id="11" name="Text 9"/>
          <p:cNvSpPr txBox="1"/>
          <p:nvPr/>
        </p:nvSpPr>
        <p:spPr>
          <a:xfrm>
            <a:off x="4864608" y="1298448"/>
            <a:ext cx="1691640" cy="347472"/>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Under 85 %</a:t>
            </a:r>
            <a:endParaRPr lang="en-US" sz="1400" dirty="0"/>
          </a:p>
        </p:txBody>
      </p:sp>
      <p:sp>
        <p:nvSpPr>
          <p:cNvPr id="12" name="Shape 10"/>
          <p:cNvSpPr/>
          <p:nvPr/>
        </p:nvSpPr>
        <p:spPr>
          <a:xfrm>
            <a:off x="6675120" y="1298448"/>
            <a:ext cx="4855464" cy="384048"/>
          </a:xfrm>
          <a:prstGeom prst="rect">
            <a:avLst/>
          </a:prstGeom>
          <a:solidFill>
            <a:srgbClr val="EDF4FA"/>
          </a:solidFill>
          <a:ln/>
        </p:spPr>
      </p:sp>
      <p:sp>
        <p:nvSpPr>
          <p:cNvPr id="13" name="Text 11"/>
          <p:cNvSpPr txBox="1"/>
          <p:nvPr/>
        </p:nvSpPr>
        <p:spPr>
          <a:xfrm>
            <a:off x="6766560" y="1298448"/>
            <a:ext cx="914400" cy="38404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GROUP</a:t>
            </a:r>
            <a:endParaRPr lang="en-US" sz="1500" dirty="0"/>
          </a:p>
        </p:txBody>
      </p:sp>
      <p:sp>
        <p:nvSpPr>
          <p:cNvPr id="14" name="Shape 12"/>
          <p:cNvSpPr/>
          <p:nvPr/>
        </p:nvSpPr>
        <p:spPr>
          <a:xfrm>
            <a:off x="7726680" y="1344168"/>
            <a:ext cx="1260837" cy="292608"/>
          </a:xfrm>
          <a:prstGeom prst="rect">
            <a:avLst/>
          </a:prstGeom>
          <a:solidFill>
            <a:srgbClr val="12A566"/>
          </a:solidFill>
          <a:ln w="6350">
            <a:solidFill>
              <a:srgbClr val="FFFFFF"/>
            </a:solidFill>
            <a:prstDash val="solid"/>
          </a:ln>
        </p:spPr>
      </p:sp>
      <p:sp>
        <p:nvSpPr>
          <p:cNvPr id="15" name="Text 13"/>
          <p:cNvSpPr txBox="1"/>
          <p:nvPr/>
        </p:nvSpPr>
        <p:spPr>
          <a:xfrm>
            <a:off x="7726680" y="1344168"/>
            <a:ext cx="1260837" cy="292608"/>
          </a:xfrm>
          <a:prstGeom prst="rect">
            <a:avLst/>
          </a:prstGeom>
          <a:noFill/>
          <a:ln/>
        </p:spPr>
        <p:txBody>
          <a:bodyPr wrap="non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34</a:t>
            </a:r>
            <a:endParaRPr lang="en-US" sz="1400" dirty="0"/>
          </a:p>
        </p:txBody>
      </p:sp>
      <p:sp>
        <p:nvSpPr>
          <p:cNvPr id="16" name="Shape 14"/>
          <p:cNvSpPr/>
          <p:nvPr/>
        </p:nvSpPr>
        <p:spPr>
          <a:xfrm>
            <a:off x="8987517" y="1344168"/>
            <a:ext cx="783247" cy="292608"/>
          </a:xfrm>
          <a:prstGeom prst="rect">
            <a:avLst/>
          </a:prstGeom>
          <a:solidFill>
            <a:srgbClr val="5B9BD5"/>
          </a:solidFill>
          <a:ln w="6350">
            <a:solidFill>
              <a:srgbClr val="FFFFFF"/>
            </a:solidFill>
            <a:prstDash val="solid"/>
          </a:ln>
        </p:spPr>
      </p:sp>
      <p:sp>
        <p:nvSpPr>
          <p:cNvPr id="17" name="Text 15"/>
          <p:cNvSpPr txBox="1"/>
          <p:nvPr/>
        </p:nvSpPr>
        <p:spPr>
          <a:xfrm>
            <a:off x="8987517" y="1344168"/>
            <a:ext cx="783247" cy="292608"/>
          </a:xfrm>
          <a:prstGeom prst="rect">
            <a:avLst/>
          </a:prstGeom>
          <a:noFill/>
          <a:ln/>
        </p:spPr>
        <p:txBody>
          <a:bodyPr wrap="non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21</a:t>
            </a:r>
            <a:endParaRPr lang="en-US" sz="1400" dirty="0"/>
          </a:p>
        </p:txBody>
      </p:sp>
      <p:sp>
        <p:nvSpPr>
          <p:cNvPr id="18" name="Shape 16"/>
          <p:cNvSpPr/>
          <p:nvPr/>
        </p:nvSpPr>
        <p:spPr>
          <a:xfrm>
            <a:off x="9770764" y="1344168"/>
            <a:ext cx="1668380" cy="292608"/>
          </a:xfrm>
          <a:prstGeom prst="rect">
            <a:avLst/>
          </a:prstGeom>
          <a:solidFill>
            <a:srgbClr val="C2352F"/>
          </a:solidFill>
          <a:ln w="6350">
            <a:solidFill>
              <a:srgbClr val="FFFFFF"/>
            </a:solidFill>
            <a:prstDash val="solid"/>
          </a:ln>
        </p:spPr>
      </p:sp>
      <p:sp>
        <p:nvSpPr>
          <p:cNvPr id="19" name="Text 17"/>
          <p:cNvSpPr txBox="1"/>
          <p:nvPr/>
        </p:nvSpPr>
        <p:spPr>
          <a:xfrm>
            <a:off x="9770764" y="1344168"/>
            <a:ext cx="1668380" cy="292608"/>
          </a:xfrm>
          <a:prstGeom prst="rect">
            <a:avLst/>
          </a:prstGeom>
          <a:noFill/>
          <a:ln/>
        </p:spPr>
        <p:txBody>
          <a:bodyPr wrap="non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45</a:t>
            </a:r>
            <a:endParaRPr lang="en-US" sz="1400" dirty="0"/>
          </a:p>
        </p:txBody>
      </p:sp>
      <p:sp>
        <p:nvSpPr>
          <p:cNvPr id="20" name="Text 18"/>
          <p:cNvSpPr txBox="1"/>
          <p:nvPr/>
        </p:nvSpPr>
        <p:spPr>
          <a:xfrm>
            <a:off x="658368" y="1828800"/>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21" name="Shape 19"/>
          <p:cNvSpPr/>
          <p:nvPr/>
        </p:nvSpPr>
        <p:spPr>
          <a:xfrm>
            <a:off x="2807208" y="1857717"/>
            <a:ext cx="2366010" cy="183138"/>
          </a:xfrm>
          <a:prstGeom prst="rect">
            <a:avLst/>
          </a:prstGeom>
          <a:solidFill>
            <a:srgbClr val="12A566"/>
          </a:solidFill>
          <a:ln w="6350">
            <a:solidFill>
              <a:srgbClr val="FFFFFF"/>
            </a:solidFill>
            <a:prstDash val="solid"/>
          </a:ln>
        </p:spPr>
      </p:sp>
      <p:sp>
        <p:nvSpPr>
          <p:cNvPr id="22" name="Text 20"/>
          <p:cNvSpPr txBox="1"/>
          <p:nvPr/>
        </p:nvSpPr>
        <p:spPr>
          <a:xfrm>
            <a:off x="2807208" y="1857717"/>
            <a:ext cx="2366010"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75</a:t>
            </a:r>
            <a:endParaRPr lang="en-US" sz="1300" dirty="0"/>
          </a:p>
        </p:txBody>
      </p:sp>
      <p:sp>
        <p:nvSpPr>
          <p:cNvPr id="23" name="Shape 21"/>
          <p:cNvSpPr/>
          <p:nvPr/>
        </p:nvSpPr>
        <p:spPr>
          <a:xfrm>
            <a:off x="5173218" y="1857717"/>
            <a:ext cx="914" cy="183138"/>
          </a:xfrm>
          <a:prstGeom prst="rect">
            <a:avLst/>
          </a:prstGeom>
          <a:solidFill>
            <a:srgbClr val="5B9BD5"/>
          </a:solidFill>
          <a:ln w="6350">
            <a:solidFill>
              <a:srgbClr val="FFFFFF"/>
            </a:solidFill>
            <a:prstDash val="solid"/>
          </a:ln>
        </p:spPr>
      </p:sp>
      <p:sp>
        <p:nvSpPr>
          <p:cNvPr id="24" name="Shape 22"/>
          <p:cNvSpPr/>
          <p:nvPr/>
        </p:nvSpPr>
        <p:spPr>
          <a:xfrm>
            <a:off x="5173218" y="1857717"/>
            <a:ext cx="788670" cy="183138"/>
          </a:xfrm>
          <a:prstGeom prst="rect">
            <a:avLst/>
          </a:prstGeom>
          <a:solidFill>
            <a:srgbClr val="C2352F"/>
          </a:solidFill>
          <a:ln w="6350">
            <a:solidFill>
              <a:srgbClr val="FFFFFF"/>
            </a:solidFill>
            <a:prstDash val="solid"/>
          </a:ln>
        </p:spPr>
      </p:sp>
      <p:sp>
        <p:nvSpPr>
          <p:cNvPr id="25" name="Text 23"/>
          <p:cNvSpPr txBox="1"/>
          <p:nvPr/>
        </p:nvSpPr>
        <p:spPr>
          <a:xfrm>
            <a:off x="5173218" y="1857717"/>
            <a:ext cx="788670"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25</a:t>
            </a:r>
            <a:endParaRPr lang="en-US" sz="1300" dirty="0"/>
          </a:p>
        </p:txBody>
      </p:sp>
      <p:sp>
        <p:nvSpPr>
          <p:cNvPr id="26" name="Text 24"/>
          <p:cNvSpPr txBox="1"/>
          <p:nvPr/>
        </p:nvSpPr>
        <p:spPr>
          <a:xfrm>
            <a:off x="658368" y="2069771"/>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27" name="Shape 25"/>
          <p:cNvSpPr/>
          <p:nvPr/>
        </p:nvSpPr>
        <p:spPr>
          <a:xfrm>
            <a:off x="2807208" y="2098688"/>
            <a:ext cx="2103120" cy="183138"/>
          </a:xfrm>
          <a:prstGeom prst="rect">
            <a:avLst/>
          </a:prstGeom>
          <a:solidFill>
            <a:srgbClr val="12A566"/>
          </a:solidFill>
          <a:ln w="6350">
            <a:solidFill>
              <a:srgbClr val="FFFFFF"/>
            </a:solidFill>
            <a:prstDash val="solid"/>
          </a:ln>
        </p:spPr>
      </p:sp>
      <p:sp>
        <p:nvSpPr>
          <p:cNvPr id="28" name="Text 26"/>
          <p:cNvSpPr txBox="1"/>
          <p:nvPr/>
        </p:nvSpPr>
        <p:spPr>
          <a:xfrm>
            <a:off x="2807208" y="2098688"/>
            <a:ext cx="2103120"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67</a:t>
            </a:r>
            <a:endParaRPr lang="en-US" sz="1300" dirty="0"/>
          </a:p>
        </p:txBody>
      </p:sp>
      <p:sp>
        <p:nvSpPr>
          <p:cNvPr id="29" name="Shape 27"/>
          <p:cNvSpPr/>
          <p:nvPr/>
        </p:nvSpPr>
        <p:spPr>
          <a:xfrm>
            <a:off x="4910328" y="2098688"/>
            <a:ext cx="630936" cy="183138"/>
          </a:xfrm>
          <a:prstGeom prst="rect">
            <a:avLst/>
          </a:prstGeom>
          <a:solidFill>
            <a:srgbClr val="5B9BD5"/>
          </a:solidFill>
          <a:ln w="6350">
            <a:solidFill>
              <a:srgbClr val="FFFFFF"/>
            </a:solidFill>
            <a:prstDash val="solid"/>
          </a:ln>
        </p:spPr>
      </p:sp>
      <p:sp>
        <p:nvSpPr>
          <p:cNvPr id="30" name="Text 28"/>
          <p:cNvSpPr txBox="1"/>
          <p:nvPr/>
        </p:nvSpPr>
        <p:spPr>
          <a:xfrm>
            <a:off x="4910328" y="2098688"/>
            <a:ext cx="630936"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20</a:t>
            </a:r>
            <a:endParaRPr lang="en-US" sz="1300" dirty="0"/>
          </a:p>
        </p:txBody>
      </p:sp>
      <p:sp>
        <p:nvSpPr>
          <p:cNvPr id="31" name="Shape 29"/>
          <p:cNvSpPr/>
          <p:nvPr/>
        </p:nvSpPr>
        <p:spPr>
          <a:xfrm>
            <a:off x="5541264" y="2098688"/>
            <a:ext cx="420624" cy="183138"/>
          </a:xfrm>
          <a:prstGeom prst="rect">
            <a:avLst/>
          </a:prstGeom>
          <a:solidFill>
            <a:srgbClr val="C2352F"/>
          </a:solidFill>
          <a:ln w="6350">
            <a:solidFill>
              <a:srgbClr val="FFFFFF"/>
            </a:solidFill>
            <a:prstDash val="solid"/>
          </a:ln>
        </p:spPr>
      </p:sp>
      <p:sp>
        <p:nvSpPr>
          <p:cNvPr id="32" name="Text 30"/>
          <p:cNvSpPr txBox="1"/>
          <p:nvPr/>
        </p:nvSpPr>
        <p:spPr>
          <a:xfrm>
            <a:off x="5541264" y="2098688"/>
            <a:ext cx="420624"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13</a:t>
            </a:r>
            <a:endParaRPr lang="en-US" sz="1300" dirty="0"/>
          </a:p>
        </p:txBody>
      </p:sp>
      <p:sp>
        <p:nvSpPr>
          <p:cNvPr id="33" name="Text 31"/>
          <p:cNvSpPr txBox="1"/>
          <p:nvPr/>
        </p:nvSpPr>
        <p:spPr>
          <a:xfrm>
            <a:off x="658368" y="2310743"/>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34" name="Shape 32"/>
          <p:cNvSpPr/>
          <p:nvPr/>
        </p:nvSpPr>
        <p:spPr>
          <a:xfrm>
            <a:off x="2807208" y="2339659"/>
            <a:ext cx="1892808" cy="183138"/>
          </a:xfrm>
          <a:prstGeom prst="rect">
            <a:avLst/>
          </a:prstGeom>
          <a:solidFill>
            <a:srgbClr val="12A566"/>
          </a:solidFill>
          <a:ln w="6350">
            <a:solidFill>
              <a:srgbClr val="FFFFFF"/>
            </a:solidFill>
            <a:prstDash val="solid"/>
          </a:ln>
        </p:spPr>
      </p:sp>
      <p:sp>
        <p:nvSpPr>
          <p:cNvPr id="35" name="Text 33"/>
          <p:cNvSpPr txBox="1"/>
          <p:nvPr/>
        </p:nvSpPr>
        <p:spPr>
          <a:xfrm>
            <a:off x="2807208" y="2339659"/>
            <a:ext cx="1892808"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60</a:t>
            </a:r>
            <a:endParaRPr lang="en-US" sz="1300" dirty="0"/>
          </a:p>
        </p:txBody>
      </p:sp>
      <p:sp>
        <p:nvSpPr>
          <p:cNvPr id="36" name="Shape 34"/>
          <p:cNvSpPr/>
          <p:nvPr/>
        </p:nvSpPr>
        <p:spPr>
          <a:xfrm>
            <a:off x="4700016" y="2339659"/>
            <a:ext cx="914" cy="183138"/>
          </a:xfrm>
          <a:prstGeom prst="rect">
            <a:avLst/>
          </a:prstGeom>
          <a:solidFill>
            <a:srgbClr val="5B9BD5"/>
          </a:solidFill>
          <a:ln w="6350">
            <a:solidFill>
              <a:srgbClr val="FFFFFF"/>
            </a:solidFill>
            <a:prstDash val="solid"/>
          </a:ln>
        </p:spPr>
      </p:sp>
      <p:sp>
        <p:nvSpPr>
          <p:cNvPr id="37" name="Shape 35"/>
          <p:cNvSpPr/>
          <p:nvPr/>
        </p:nvSpPr>
        <p:spPr>
          <a:xfrm>
            <a:off x="4700016" y="2339659"/>
            <a:ext cx="1261872" cy="183138"/>
          </a:xfrm>
          <a:prstGeom prst="rect">
            <a:avLst/>
          </a:prstGeom>
          <a:solidFill>
            <a:srgbClr val="C2352F"/>
          </a:solidFill>
          <a:ln w="6350">
            <a:solidFill>
              <a:srgbClr val="FFFFFF"/>
            </a:solidFill>
            <a:prstDash val="solid"/>
          </a:ln>
        </p:spPr>
      </p:sp>
      <p:sp>
        <p:nvSpPr>
          <p:cNvPr id="38" name="Text 36"/>
          <p:cNvSpPr txBox="1"/>
          <p:nvPr/>
        </p:nvSpPr>
        <p:spPr>
          <a:xfrm>
            <a:off x="4700016" y="2339659"/>
            <a:ext cx="1261872"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40</a:t>
            </a:r>
            <a:endParaRPr lang="en-US" sz="1300" dirty="0"/>
          </a:p>
        </p:txBody>
      </p:sp>
      <p:sp>
        <p:nvSpPr>
          <p:cNvPr id="39" name="Text 37"/>
          <p:cNvSpPr txBox="1"/>
          <p:nvPr/>
        </p:nvSpPr>
        <p:spPr>
          <a:xfrm>
            <a:off x="658368" y="2551714"/>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40" name="Shape 38"/>
          <p:cNvSpPr/>
          <p:nvPr/>
        </p:nvSpPr>
        <p:spPr>
          <a:xfrm>
            <a:off x="2807208" y="2580630"/>
            <a:ext cx="1802674" cy="183138"/>
          </a:xfrm>
          <a:prstGeom prst="rect">
            <a:avLst/>
          </a:prstGeom>
          <a:solidFill>
            <a:srgbClr val="12A566"/>
          </a:solidFill>
          <a:ln w="6350">
            <a:solidFill>
              <a:srgbClr val="FFFFFF"/>
            </a:solidFill>
            <a:prstDash val="solid"/>
          </a:ln>
        </p:spPr>
      </p:sp>
      <p:sp>
        <p:nvSpPr>
          <p:cNvPr id="41" name="Text 39"/>
          <p:cNvSpPr txBox="1"/>
          <p:nvPr/>
        </p:nvSpPr>
        <p:spPr>
          <a:xfrm>
            <a:off x="2807208" y="2580630"/>
            <a:ext cx="1802674"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57</a:t>
            </a:r>
            <a:endParaRPr lang="en-US" sz="1300" dirty="0"/>
          </a:p>
        </p:txBody>
      </p:sp>
      <p:sp>
        <p:nvSpPr>
          <p:cNvPr id="42" name="Shape 40"/>
          <p:cNvSpPr/>
          <p:nvPr/>
        </p:nvSpPr>
        <p:spPr>
          <a:xfrm>
            <a:off x="4609882" y="2580630"/>
            <a:ext cx="788670" cy="183138"/>
          </a:xfrm>
          <a:prstGeom prst="rect">
            <a:avLst/>
          </a:prstGeom>
          <a:solidFill>
            <a:srgbClr val="5B9BD5"/>
          </a:solidFill>
          <a:ln w="6350">
            <a:solidFill>
              <a:srgbClr val="FFFFFF"/>
            </a:solidFill>
            <a:prstDash val="solid"/>
          </a:ln>
        </p:spPr>
      </p:sp>
      <p:sp>
        <p:nvSpPr>
          <p:cNvPr id="43" name="Text 41"/>
          <p:cNvSpPr txBox="1"/>
          <p:nvPr/>
        </p:nvSpPr>
        <p:spPr>
          <a:xfrm>
            <a:off x="4609882" y="2580630"/>
            <a:ext cx="788670"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25</a:t>
            </a:r>
            <a:endParaRPr lang="en-US" sz="1300" dirty="0"/>
          </a:p>
        </p:txBody>
      </p:sp>
      <p:sp>
        <p:nvSpPr>
          <p:cNvPr id="44" name="Shape 42"/>
          <p:cNvSpPr/>
          <p:nvPr/>
        </p:nvSpPr>
        <p:spPr>
          <a:xfrm>
            <a:off x="5398552" y="2580630"/>
            <a:ext cx="563336" cy="183138"/>
          </a:xfrm>
          <a:prstGeom prst="rect">
            <a:avLst/>
          </a:prstGeom>
          <a:solidFill>
            <a:srgbClr val="C2352F"/>
          </a:solidFill>
          <a:ln w="6350">
            <a:solidFill>
              <a:srgbClr val="FFFFFF"/>
            </a:solidFill>
            <a:prstDash val="solid"/>
          </a:ln>
        </p:spPr>
      </p:sp>
      <p:sp>
        <p:nvSpPr>
          <p:cNvPr id="45" name="Text 43"/>
          <p:cNvSpPr txBox="1"/>
          <p:nvPr/>
        </p:nvSpPr>
        <p:spPr>
          <a:xfrm>
            <a:off x="5398552" y="2580630"/>
            <a:ext cx="563336"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18</a:t>
            </a:r>
            <a:endParaRPr lang="en-US" sz="1300" dirty="0"/>
          </a:p>
        </p:txBody>
      </p:sp>
      <p:sp>
        <p:nvSpPr>
          <p:cNvPr id="46" name="Text 44"/>
          <p:cNvSpPr txBox="1"/>
          <p:nvPr/>
        </p:nvSpPr>
        <p:spPr>
          <a:xfrm>
            <a:off x="658368" y="2792685"/>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47" name="Shape 45"/>
          <p:cNvSpPr/>
          <p:nvPr/>
        </p:nvSpPr>
        <p:spPr>
          <a:xfrm>
            <a:off x="2807208" y="2821602"/>
            <a:ext cx="1690007" cy="183138"/>
          </a:xfrm>
          <a:prstGeom prst="rect">
            <a:avLst/>
          </a:prstGeom>
          <a:solidFill>
            <a:srgbClr val="12A566"/>
          </a:solidFill>
          <a:ln w="6350">
            <a:solidFill>
              <a:srgbClr val="FFFFFF"/>
            </a:solidFill>
            <a:prstDash val="solid"/>
          </a:ln>
        </p:spPr>
      </p:sp>
      <p:sp>
        <p:nvSpPr>
          <p:cNvPr id="48" name="Text 46"/>
          <p:cNvSpPr txBox="1"/>
          <p:nvPr/>
        </p:nvSpPr>
        <p:spPr>
          <a:xfrm>
            <a:off x="2807208" y="2821602"/>
            <a:ext cx="1690007"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54</a:t>
            </a:r>
            <a:endParaRPr lang="en-US" sz="1300" dirty="0"/>
          </a:p>
        </p:txBody>
      </p:sp>
      <p:sp>
        <p:nvSpPr>
          <p:cNvPr id="49" name="Shape 47"/>
          <p:cNvSpPr/>
          <p:nvPr/>
        </p:nvSpPr>
        <p:spPr>
          <a:xfrm>
            <a:off x="4497215" y="2821602"/>
            <a:ext cx="1014004" cy="183138"/>
          </a:xfrm>
          <a:prstGeom prst="rect">
            <a:avLst/>
          </a:prstGeom>
          <a:solidFill>
            <a:srgbClr val="5B9BD5"/>
          </a:solidFill>
          <a:ln w="6350">
            <a:solidFill>
              <a:srgbClr val="FFFFFF"/>
            </a:solidFill>
            <a:prstDash val="solid"/>
          </a:ln>
        </p:spPr>
      </p:sp>
      <p:sp>
        <p:nvSpPr>
          <p:cNvPr id="50" name="Text 48"/>
          <p:cNvSpPr txBox="1"/>
          <p:nvPr/>
        </p:nvSpPr>
        <p:spPr>
          <a:xfrm>
            <a:off x="4497215" y="2821602"/>
            <a:ext cx="1014004"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32</a:t>
            </a:r>
            <a:endParaRPr lang="en-US" sz="1300" dirty="0"/>
          </a:p>
        </p:txBody>
      </p:sp>
      <p:sp>
        <p:nvSpPr>
          <p:cNvPr id="51" name="Shape 49"/>
          <p:cNvSpPr/>
          <p:nvPr/>
        </p:nvSpPr>
        <p:spPr>
          <a:xfrm>
            <a:off x="5511219" y="2821602"/>
            <a:ext cx="450669" cy="183138"/>
          </a:xfrm>
          <a:prstGeom prst="rect">
            <a:avLst/>
          </a:prstGeom>
          <a:solidFill>
            <a:srgbClr val="C2352F"/>
          </a:solidFill>
          <a:ln w="6350">
            <a:solidFill>
              <a:srgbClr val="FFFFFF"/>
            </a:solidFill>
            <a:prstDash val="solid"/>
          </a:ln>
        </p:spPr>
      </p:sp>
      <p:sp>
        <p:nvSpPr>
          <p:cNvPr id="52" name="Text 50"/>
          <p:cNvSpPr txBox="1"/>
          <p:nvPr/>
        </p:nvSpPr>
        <p:spPr>
          <a:xfrm>
            <a:off x="5511219" y="2821602"/>
            <a:ext cx="450669"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14</a:t>
            </a:r>
            <a:endParaRPr lang="en-US" sz="1300" dirty="0"/>
          </a:p>
        </p:txBody>
      </p:sp>
      <p:sp>
        <p:nvSpPr>
          <p:cNvPr id="53" name="Text 51"/>
          <p:cNvSpPr txBox="1"/>
          <p:nvPr/>
        </p:nvSpPr>
        <p:spPr>
          <a:xfrm>
            <a:off x="658368" y="3033656"/>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54" name="Shape 52"/>
          <p:cNvSpPr/>
          <p:nvPr/>
        </p:nvSpPr>
        <p:spPr>
          <a:xfrm>
            <a:off x="2807208" y="3062573"/>
            <a:ext cx="1577340" cy="183138"/>
          </a:xfrm>
          <a:prstGeom prst="rect">
            <a:avLst/>
          </a:prstGeom>
          <a:solidFill>
            <a:srgbClr val="12A566"/>
          </a:solidFill>
          <a:ln w="6350">
            <a:solidFill>
              <a:srgbClr val="FFFFFF"/>
            </a:solidFill>
            <a:prstDash val="solid"/>
          </a:ln>
        </p:spPr>
      </p:sp>
      <p:sp>
        <p:nvSpPr>
          <p:cNvPr id="55" name="Text 53"/>
          <p:cNvSpPr txBox="1"/>
          <p:nvPr/>
        </p:nvSpPr>
        <p:spPr>
          <a:xfrm>
            <a:off x="2807208" y="3062573"/>
            <a:ext cx="1577340"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50</a:t>
            </a:r>
            <a:endParaRPr lang="en-US" sz="1300" dirty="0"/>
          </a:p>
        </p:txBody>
      </p:sp>
      <p:sp>
        <p:nvSpPr>
          <p:cNvPr id="56" name="Shape 54"/>
          <p:cNvSpPr/>
          <p:nvPr/>
        </p:nvSpPr>
        <p:spPr>
          <a:xfrm>
            <a:off x="4384548" y="3062573"/>
            <a:ext cx="914" cy="183138"/>
          </a:xfrm>
          <a:prstGeom prst="rect">
            <a:avLst/>
          </a:prstGeom>
          <a:solidFill>
            <a:srgbClr val="5B9BD5"/>
          </a:solidFill>
          <a:ln w="6350">
            <a:solidFill>
              <a:srgbClr val="FFFFFF"/>
            </a:solidFill>
            <a:prstDash val="solid"/>
          </a:ln>
        </p:spPr>
      </p:sp>
      <p:sp>
        <p:nvSpPr>
          <p:cNvPr id="57" name="Shape 55"/>
          <p:cNvSpPr/>
          <p:nvPr/>
        </p:nvSpPr>
        <p:spPr>
          <a:xfrm>
            <a:off x="4384548" y="3062573"/>
            <a:ext cx="1577340" cy="183138"/>
          </a:xfrm>
          <a:prstGeom prst="rect">
            <a:avLst/>
          </a:prstGeom>
          <a:solidFill>
            <a:srgbClr val="C2352F"/>
          </a:solidFill>
          <a:ln w="6350">
            <a:solidFill>
              <a:srgbClr val="FFFFFF"/>
            </a:solidFill>
            <a:prstDash val="solid"/>
          </a:ln>
        </p:spPr>
      </p:sp>
      <p:sp>
        <p:nvSpPr>
          <p:cNvPr id="58" name="Text 56"/>
          <p:cNvSpPr txBox="1"/>
          <p:nvPr/>
        </p:nvSpPr>
        <p:spPr>
          <a:xfrm>
            <a:off x="4384548" y="3062573"/>
            <a:ext cx="1577340"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50</a:t>
            </a:r>
            <a:endParaRPr lang="en-US" sz="1300" dirty="0"/>
          </a:p>
        </p:txBody>
      </p:sp>
      <p:sp>
        <p:nvSpPr>
          <p:cNvPr id="59" name="Text 57"/>
          <p:cNvSpPr txBox="1"/>
          <p:nvPr/>
        </p:nvSpPr>
        <p:spPr>
          <a:xfrm>
            <a:off x="658368" y="3274628"/>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60" name="Shape 58"/>
          <p:cNvSpPr/>
          <p:nvPr/>
        </p:nvSpPr>
        <p:spPr>
          <a:xfrm>
            <a:off x="2807208" y="3303544"/>
            <a:ext cx="1433945" cy="183138"/>
          </a:xfrm>
          <a:prstGeom prst="rect">
            <a:avLst/>
          </a:prstGeom>
          <a:solidFill>
            <a:srgbClr val="12A566"/>
          </a:solidFill>
          <a:ln w="6350">
            <a:solidFill>
              <a:srgbClr val="FFFFFF"/>
            </a:solidFill>
            <a:prstDash val="solid"/>
          </a:ln>
        </p:spPr>
      </p:sp>
      <p:sp>
        <p:nvSpPr>
          <p:cNvPr id="61" name="Text 59"/>
          <p:cNvSpPr txBox="1"/>
          <p:nvPr/>
        </p:nvSpPr>
        <p:spPr>
          <a:xfrm>
            <a:off x="2807208" y="3303544"/>
            <a:ext cx="1433945"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45</a:t>
            </a:r>
            <a:endParaRPr lang="en-US" sz="1300" dirty="0"/>
          </a:p>
        </p:txBody>
      </p:sp>
      <p:sp>
        <p:nvSpPr>
          <p:cNvPr id="62" name="Shape 60"/>
          <p:cNvSpPr/>
          <p:nvPr/>
        </p:nvSpPr>
        <p:spPr>
          <a:xfrm>
            <a:off x="4241153" y="3303544"/>
            <a:ext cx="1147156" cy="183138"/>
          </a:xfrm>
          <a:prstGeom prst="rect">
            <a:avLst/>
          </a:prstGeom>
          <a:solidFill>
            <a:srgbClr val="5B9BD5"/>
          </a:solidFill>
          <a:ln w="6350">
            <a:solidFill>
              <a:srgbClr val="FFFFFF"/>
            </a:solidFill>
            <a:prstDash val="solid"/>
          </a:ln>
        </p:spPr>
      </p:sp>
      <p:sp>
        <p:nvSpPr>
          <p:cNvPr id="63" name="Text 61"/>
          <p:cNvSpPr txBox="1"/>
          <p:nvPr/>
        </p:nvSpPr>
        <p:spPr>
          <a:xfrm>
            <a:off x="4241153" y="3303544"/>
            <a:ext cx="1147156"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36</a:t>
            </a:r>
            <a:endParaRPr lang="en-US" sz="1300" dirty="0"/>
          </a:p>
        </p:txBody>
      </p:sp>
      <p:sp>
        <p:nvSpPr>
          <p:cNvPr id="64" name="Shape 62"/>
          <p:cNvSpPr/>
          <p:nvPr/>
        </p:nvSpPr>
        <p:spPr>
          <a:xfrm>
            <a:off x="5388310" y="3303544"/>
            <a:ext cx="573578" cy="183138"/>
          </a:xfrm>
          <a:prstGeom prst="rect">
            <a:avLst/>
          </a:prstGeom>
          <a:solidFill>
            <a:srgbClr val="C2352F"/>
          </a:solidFill>
          <a:ln w="6350">
            <a:solidFill>
              <a:srgbClr val="FFFFFF"/>
            </a:solidFill>
            <a:prstDash val="solid"/>
          </a:ln>
        </p:spPr>
      </p:sp>
      <p:sp>
        <p:nvSpPr>
          <p:cNvPr id="65" name="Text 63"/>
          <p:cNvSpPr txBox="1"/>
          <p:nvPr/>
        </p:nvSpPr>
        <p:spPr>
          <a:xfrm>
            <a:off x="5388310" y="3303544"/>
            <a:ext cx="573578"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18</a:t>
            </a:r>
            <a:endParaRPr lang="en-US" sz="1300" dirty="0"/>
          </a:p>
        </p:txBody>
      </p:sp>
      <p:sp>
        <p:nvSpPr>
          <p:cNvPr id="66" name="Text 64"/>
          <p:cNvSpPr txBox="1"/>
          <p:nvPr/>
        </p:nvSpPr>
        <p:spPr>
          <a:xfrm>
            <a:off x="658368" y="3515599"/>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67" name="Shape 65"/>
          <p:cNvSpPr/>
          <p:nvPr/>
        </p:nvSpPr>
        <p:spPr>
          <a:xfrm>
            <a:off x="2807208" y="3544516"/>
            <a:ext cx="1433945" cy="183138"/>
          </a:xfrm>
          <a:prstGeom prst="rect">
            <a:avLst/>
          </a:prstGeom>
          <a:solidFill>
            <a:srgbClr val="12A566"/>
          </a:solidFill>
          <a:ln w="6350">
            <a:solidFill>
              <a:srgbClr val="FFFFFF"/>
            </a:solidFill>
            <a:prstDash val="solid"/>
          </a:ln>
        </p:spPr>
      </p:sp>
      <p:sp>
        <p:nvSpPr>
          <p:cNvPr id="68" name="Text 66"/>
          <p:cNvSpPr txBox="1"/>
          <p:nvPr/>
        </p:nvSpPr>
        <p:spPr>
          <a:xfrm>
            <a:off x="2807208" y="3544516"/>
            <a:ext cx="1433945"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45</a:t>
            </a:r>
            <a:endParaRPr lang="en-US" sz="1300" dirty="0"/>
          </a:p>
        </p:txBody>
      </p:sp>
      <p:sp>
        <p:nvSpPr>
          <p:cNvPr id="69" name="Shape 67"/>
          <p:cNvSpPr/>
          <p:nvPr/>
        </p:nvSpPr>
        <p:spPr>
          <a:xfrm>
            <a:off x="4241153" y="3544516"/>
            <a:ext cx="573578" cy="183138"/>
          </a:xfrm>
          <a:prstGeom prst="rect">
            <a:avLst/>
          </a:prstGeom>
          <a:solidFill>
            <a:srgbClr val="5B9BD5"/>
          </a:solidFill>
          <a:ln w="6350">
            <a:solidFill>
              <a:srgbClr val="FFFFFF"/>
            </a:solidFill>
            <a:prstDash val="solid"/>
          </a:ln>
        </p:spPr>
      </p:sp>
      <p:sp>
        <p:nvSpPr>
          <p:cNvPr id="70" name="Text 68"/>
          <p:cNvSpPr txBox="1"/>
          <p:nvPr/>
        </p:nvSpPr>
        <p:spPr>
          <a:xfrm>
            <a:off x="4241153" y="3544516"/>
            <a:ext cx="573578"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18</a:t>
            </a:r>
            <a:endParaRPr lang="en-US" sz="1300" dirty="0"/>
          </a:p>
        </p:txBody>
      </p:sp>
      <p:sp>
        <p:nvSpPr>
          <p:cNvPr id="71" name="Shape 69"/>
          <p:cNvSpPr/>
          <p:nvPr/>
        </p:nvSpPr>
        <p:spPr>
          <a:xfrm>
            <a:off x="4814732" y="3544516"/>
            <a:ext cx="1147156" cy="183138"/>
          </a:xfrm>
          <a:prstGeom prst="rect">
            <a:avLst/>
          </a:prstGeom>
          <a:solidFill>
            <a:srgbClr val="C2352F"/>
          </a:solidFill>
          <a:ln w="6350">
            <a:solidFill>
              <a:srgbClr val="FFFFFF"/>
            </a:solidFill>
            <a:prstDash val="solid"/>
          </a:ln>
        </p:spPr>
      </p:sp>
      <p:sp>
        <p:nvSpPr>
          <p:cNvPr id="72" name="Text 70"/>
          <p:cNvSpPr txBox="1"/>
          <p:nvPr/>
        </p:nvSpPr>
        <p:spPr>
          <a:xfrm>
            <a:off x="4814732" y="3544516"/>
            <a:ext cx="1147156"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36</a:t>
            </a:r>
            <a:endParaRPr lang="en-US" sz="1300" dirty="0"/>
          </a:p>
        </p:txBody>
      </p:sp>
      <p:sp>
        <p:nvSpPr>
          <p:cNvPr id="73" name="Text 71"/>
          <p:cNvSpPr txBox="1"/>
          <p:nvPr/>
        </p:nvSpPr>
        <p:spPr>
          <a:xfrm>
            <a:off x="658368" y="3756570"/>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74" name="Shape 72"/>
          <p:cNvSpPr/>
          <p:nvPr/>
        </p:nvSpPr>
        <p:spPr>
          <a:xfrm>
            <a:off x="2807208" y="3785487"/>
            <a:ext cx="1352006" cy="183138"/>
          </a:xfrm>
          <a:prstGeom prst="rect">
            <a:avLst/>
          </a:prstGeom>
          <a:solidFill>
            <a:srgbClr val="12A566"/>
          </a:solidFill>
          <a:ln w="6350">
            <a:solidFill>
              <a:srgbClr val="FFFFFF"/>
            </a:solidFill>
            <a:prstDash val="solid"/>
          </a:ln>
        </p:spPr>
      </p:sp>
      <p:sp>
        <p:nvSpPr>
          <p:cNvPr id="75" name="Text 73"/>
          <p:cNvSpPr txBox="1"/>
          <p:nvPr/>
        </p:nvSpPr>
        <p:spPr>
          <a:xfrm>
            <a:off x="2807208" y="3785487"/>
            <a:ext cx="1352006"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43</a:t>
            </a:r>
            <a:endParaRPr lang="en-US" sz="1300" dirty="0"/>
          </a:p>
        </p:txBody>
      </p:sp>
      <p:sp>
        <p:nvSpPr>
          <p:cNvPr id="76" name="Shape 74"/>
          <p:cNvSpPr/>
          <p:nvPr/>
        </p:nvSpPr>
        <p:spPr>
          <a:xfrm>
            <a:off x="4159214" y="3785487"/>
            <a:ext cx="450669" cy="183138"/>
          </a:xfrm>
          <a:prstGeom prst="rect">
            <a:avLst/>
          </a:prstGeom>
          <a:solidFill>
            <a:srgbClr val="5B9BD5"/>
          </a:solidFill>
          <a:ln w="6350">
            <a:solidFill>
              <a:srgbClr val="FFFFFF"/>
            </a:solidFill>
            <a:prstDash val="solid"/>
          </a:ln>
        </p:spPr>
      </p:sp>
      <p:sp>
        <p:nvSpPr>
          <p:cNvPr id="77" name="Text 75"/>
          <p:cNvSpPr txBox="1"/>
          <p:nvPr/>
        </p:nvSpPr>
        <p:spPr>
          <a:xfrm>
            <a:off x="4159214" y="3785487"/>
            <a:ext cx="450669"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14</a:t>
            </a:r>
            <a:endParaRPr lang="en-US" sz="1300" dirty="0"/>
          </a:p>
        </p:txBody>
      </p:sp>
      <p:sp>
        <p:nvSpPr>
          <p:cNvPr id="78" name="Shape 76"/>
          <p:cNvSpPr/>
          <p:nvPr/>
        </p:nvSpPr>
        <p:spPr>
          <a:xfrm>
            <a:off x="4609882" y="3785487"/>
            <a:ext cx="1352006" cy="183138"/>
          </a:xfrm>
          <a:prstGeom prst="rect">
            <a:avLst/>
          </a:prstGeom>
          <a:solidFill>
            <a:srgbClr val="C2352F"/>
          </a:solidFill>
          <a:ln w="6350">
            <a:solidFill>
              <a:srgbClr val="FFFFFF"/>
            </a:solidFill>
            <a:prstDash val="solid"/>
          </a:ln>
        </p:spPr>
      </p:sp>
      <p:sp>
        <p:nvSpPr>
          <p:cNvPr id="79" name="Text 77"/>
          <p:cNvSpPr txBox="1"/>
          <p:nvPr/>
        </p:nvSpPr>
        <p:spPr>
          <a:xfrm>
            <a:off x="4609882" y="3785487"/>
            <a:ext cx="1352006"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43</a:t>
            </a:r>
            <a:endParaRPr lang="en-US" sz="1300" dirty="0"/>
          </a:p>
        </p:txBody>
      </p:sp>
      <p:sp>
        <p:nvSpPr>
          <p:cNvPr id="80" name="Text 78"/>
          <p:cNvSpPr txBox="1"/>
          <p:nvPr/>
        </p:nvSpPr>
        <p:spPr>
          <a:xfrm>
            <a:off x="658368" y="3997542"/>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81" name="Shape 79"/>
          <p:cNvSpPr/>
          <p:nvPr/>
        </p:nvSpPr>
        <p:spPr>
          <a:xfrm>
            <a:off x="2807208" y="4026458"/>
            <a:ext cx="1298986" cy="183138"/>
          </a:xfrm>
          <a:prstGeom prst="rect">
            <a:avLst/>
          </a:prstGeom>
          <a:solidFill>
            <a:srgbClr val="12A566"/>
          </a:solidFill>
          <a:ln w="6350">
            <a:solidFill>
              <a:srgbClr val="FFFFFF"/>
            </a:solidFill>
            <a:prstDash val="solid"/>
          </a:ln>
        </p:spPr>
      </p:sp>
      <p:sp>
        <p:nvSpPr>
          <p:cNvPr id="82" name="Text 80"/>
          <p:cNvSpPr txBox="1"/>
          <p:nvPr/>
        </p:nvSpPr>
        <p:spPr>
          <a:xfrm>
            <a:off x="2807208" y="4026458"/>
            <a:ext cx="1298986"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41</a:t>
            </a:r>
            <a:endParaRPr lang="en-US" sz="1300" dirty="0"/>
          </a:p>
        </p:txBody>
      </p:sp>
      <p:sp>
        <p:nvSpPr>
          <p:cNvPr id="83" name="Shape 81"/>
          <p:cNvSpPr/>
          <p:nvPr/>
        </p:nvSpPr>
        <p:spPr>
          <a:xfrm>
            <a:off x="4106194" y="4026458"/>
            <a:ext cx="865991" cy="183138"/>
          </a:xfrm>
          <a:prstGeom prst="rect">
            <a:avLst/>
          </a:prstGeom>
          <a:solidFill>
            <a:srgbClr val="5B9BD5"/>
          </a:solidFill>
          <a:ln w="6350">
            <a:solidFill>
              <a:srgbClr val="FFFFFF"/>
            </a:solidFill>
            <a:prstDash val="solid"/>
          </a:ln>
        </p:spPr>
      </p:sp>
      <p:sp>
        <p:nvSpPr>
          <p:cNvPr id="84" name="Text 82"/>
          <p:cNvSpPr txBox="1"/>
          <p:nvPr/>
        </p:nvSpPr>
        <p:spPr>
          <a:xfrm>
            <a:off x="4106194" y="4026458"/>
            <a:ext cx="865991"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27</a:t>
            </a:r>
            <a:endParaRPr lang="en-US" sz="1300" dirty="0"/>
          </a:p>
        </p:txBody>
      </p:sp>
      <p:sp>
        <p:nvSpPr>
          <p:cNvPr id="85" name="Shape 83"/>
          <p:cNvSpPr/>
          <p:nvPr/>
        </p:nvSpPr>
        <p:spPr>
          <a:xfrm>
            <a:off x="4972184" y="4026458"/>
            <a:ext cx="989704" cy="183138"/>
          </a:xfrm>
          <a:prstGeom prst="rect">
            <a:avLst/>
          </a:prstGeom>
          <a:solidFill>
            <a:srgbClr val="C2352F"/>
          </a:solidFill>
          <a:ln w="6350">
            <a:solidFill>
              <a:srgbClr val="FFFFFF"/>
            </a:solidFill>
            <a:prstDash val="solid"/>
          </a:ln>
        </p:spPr>
      </p:sp>
      <p:sp>
        <p:nvSpPr>
          <p:cNvPr id="86" name="Text 84"/>
          <p:cNvSpPr txBox="1"/>
          <p:nvPr/>
        </p:nvSpPr>
        <p:spPr>
          <a:xfrm>
            <a:off x="4972184" y="4026458"/>
            <a:ext cx="989704"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31</a:t>
            </a:r>
            <a:endParaRPr lang="en-US" sz="1300" dirty="0"/>
          </a:p>
        </p:txBody>
      </p:sp>
      <p:sp>
        <p:nvSpPr>
          <p:cNvPr id="87" name="Text 85"/>
          <p:cNvSpPr txBox="1"/>
          <p:nvPr/>
        </p:nvSpPr>
        <p:spPr>
          <a:xfrm>
            <a:off x="658368" y="4238513"/>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88" name="Shape 86"/>
          <p:cNvSpPr/>
          <p:nvPr/>
        </p:nvSpPr>
        <p:spPr>
          <a:xfrm>
            <a:off x="2807208" y="4267429"/>
            <a:ext cx="1226820" cy="183138"/>
          </a:xfrm>
          <a:prstGeom prst="rect">
            <a:avLst/>
          </a:prstGeom>
          <a:solidFill>
            <a:srgbClr val="12A566"/>
          </a:solidFill>
          <a:ln w="6350">
            <a:solidFill>
              <a:srgbClr val="FFFFFF"/>
            </a:solidFill>
            <a:prstDash val="solid"/>
          </a:ln>
        </p:spPr>
      </p:sp>
      <p:sp>
        <p:nvSpPr>
          <p:cNvPr id="89" name="Text 87"/>
          <p:cNvSpPr txBox="1"/>
          <p:nvPr/>
        </p:nvSpPr>
        <p:spPr>
          <a:xfrm>
            <a:off x="2807208" y="4267429"/>
            <a:ext cx="1226820"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39</a:t>
            </a:r>
            <a:endParaRPr lang="en-US" sz="1300" dirty="0"/>
          </a:p>
        </p:txBody>
      </p:sp>
      <p:sp>
        <p:nvSpPr>
          <p:cNvPr id="90" name="Shape 88"/>
          <p:cNvSpPr/>
          <p:nvPr/>
        </p:nvSpPr>
        <p:spPr>
          <a:xfrm>
            <a:off x="4034028" y="4267429"/>
            <a:ext cx="876300" cy="183138"/>
          </a:xfrm>
          <a:prstGeom prst="rect">
            <a:avLst/>
          </a:prstGeom>
          <a:solidFill>
            <a:srgbClr val="5B9BD5"/>
          </a:solidFill>
          <a:ln w="6350">
            <a:solidFill>
              <a:srgbClr val="FFFFFF"/>
            </a:solidFill>
            <a:prstDash val="solid"/>
          </a:ln>
        </p:spPr>
      </p:sp>
      <p:sp>
        <p:nvSpPr>
          <p:cNvPr id="91" name="Text 89"/>
          <p:cNvSpPr txBox="1"/>
          <p:nvPr/>
        </p:nvSpPr>
        <p:spPr>
          <a:xfrm>
            <a:off x="4034028" y="4267429"/>
            <a:ext cx="876300"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28</a:t>
            </a:r>
            <a:endParaRPr lang="en-US" sz="1300" dirty="0"/>
          </a:p>
        </p:txBody>
      </p:sp>
      <p:sp>
        <p:nvSpPr>
          <p:cNvPr id="92" name="Shape 90"/>
          <p:cNvSpPr/>
          <p:nvPr/>
        </p:nvSpPr>
        <p:spPr>
          <a:xfrm>
            <a:off x="4910328" y="4267429"/>
            <a:ext cx="1051560" cy="183138"/>
          </a:xfrm>
          <a:prstGeom prst="rect">
            <a:avLst/>
          </a:prstGeom>
          <a:solidFill>
            <a:srgbClr val="C2352F"/>
          </a:solidFill>
          <a:ln w="6350">
            <a:solidFill>
              <a:srgbClr val="FFFFFF"/>
            </a:solidFill>
            <a:prstDash val="solid"/>
          </a:ln>
        </p:spPr>
      </p:sp>
      <p:sp>
        <p:nvSpPr>
          <p:cNvPr id="93" name="Text 91"/>
          <p:cNvSpPr txBox="1"/>
          <p:nvPr/>
        </p:nvSpPr>
        <p:spPr>
          <a:xfrm>
            <a:off x="4910328" y="4267429"/>
            <a:ext cx="1051560"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33</a:t>
            </a:r>
            <a:endParaRPr lang="en-US" sz="1300" dirty="0"/>
          </a:p>
        </p:txBody>
      </p:sp>
      <p:sp>
        <p:nvSpPr>
          <p:cNvPr id="94" name="Text 92"/>
          <p:cNvSpPr txBox="1"/>
          <p:nvPr/>
        </p:nvSpPr>
        <p:spPr>
          <a:xfrm>
            <a:off x="658368" y="4479484"/>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95" name="Shape 93"/>
          <p:cNvSpPr/>
          <p:nvPr/>
        </p:nvSpPr>
        <p:spPr>
          <a:xfrm>
            <a:off x="2807208" y="4508401"/>
            <a:ext cx="1176321" cy="183138"/>
          </a:xfrm>
          <a:prstGeom prst="rect">
            <a:avLst/>
          </a:prstGeom>
          <a:solidFill>
            <a:srgbClr val="12A566"/>
          </a:solidFill>
          <a:ln w="6350">
            <a:solidFill>
              <a:srgbClr val="FFFFFF"/>
            </a:solidFill>
            <a:prstDash val="solid"/>
          </a:ln>
        </p:spPr>
      </p:sp>
      <p:sp>
        <p:nvSpPr>
          <p:cNvPr id="96" name="Text 94"/>
          <p:cNvSpPr txBox="1"/>
          <p:nvPr/>
        </p:nvSpPr>
        <p:spPr>
          <a:xfrm>
            <a:off x="2807208" y="4508401"/>
            <a:ext cx="1176321"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37</a:t>
            </a:r>
            <a:endParaRPr lang="en-US" sz="1300" dirty="0"/>
          </a:p>
        </p:txBody>
      </p:sp>
      <p:sp>
        <p:nvSpPr>
          <p:cNvPr id="97" name="Shape 95"/>
          <p:cNvSpPr/>
          <p:nvPr/>
        </p:nvSpPr>
        <p:spPr>
          <a:xfrm>
            <a:off x="3983529" y="4508401"/>
            <a:ext cx="908976" cy="183138"/>
          </a:xfrm>
          <a:prstGeom prst="rect">
            <a:avLst/>
          </a:prstGeom>
          <a:solidFill>
            <a:srgbClr val="5B9BD5"/>
          </a:solidFill>
          <a:ln w="6350">
            <a:solidFill>
              <a:srgbClr val="FFFFFF"/>
            </a:solidFill>
            <a:prstDash val="solid"/>
          </a:ln>
        </p:spPr>
      </p:sp>
      <p:sp>
        <p:nvSpPr>
          <p:cNvPr id="98" name="Text 96"/>
          <p:cNvSpPr txBox="1"/>
          <p:nvPr/>
        </p:nvSpPr>
        <p:spPr>
          <a:xfrm>
            <a:off x="3983529" y="4508401"/>
            <a:ext cx="908976"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29</a:t>
            </a:r>
            <a:endParaRPr lang="en-US" sz="1300" dirty="0"/>
          </a:p>
        </p:txBody>
      </p:sp>
      <p:sp>
        <p:nvSpPr>
          <p:cNvPr id="99" name="Shape 97"/>
          <p:cNvSpPr/>
          <p:nvPr/>
        </p:nvSpPr>
        <p:spPr>
          <a:xfrm>
            <a:off x="4892505" y="4508401"/>
            <a:ext cx="1069383" cy="183138"/>
          </a:xfrm>
          <a:prstGeom prst="rect">
            <a:avLst/>
          </a:prstGeom>
          <a:solidFill>
            <a:srgbClr val="C2352F"/>
          </a:solidFill>
          <a:ln w="6350">
            <a:solidFill>
              <a:srgbClr val="FFFFFF"/>
            </a:solidFill>
            <a:prstDash val="solid"/>
          </a:ln>
        </p:spPr>
      </p:sp>
      <p:sp>
        <p:nvSpPr>
          <p:cNvPr id="100" name="Text 98"/>
          <p:cNvSpPr txBox="1"/>
          <p:nvPr/>
        </p:nvSpPr>
        <p:spPr>
          <a:xfrm>
            <a:off x="4892505" y="4508401"/>
            <a:ext cx="1069383"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34</a:t>
            </a:r>
            <a:endParaRPr lang="en-US" sz="1300" dirty="0"/>
          </a:p>
        </p:txBody>
      </p:sp>
      <p:sp>
        <p:nvSpPr>
          <p:cNvPr id="101" name="Text 99"/>
          <p:cNvSpPr txBox="1"/>
          <p:nvPr/>
        </p:nvSpPr>
        <p:spPr>
          <a:xfrm>
            <a:off x="658368" y="4720456"/>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102" name="Shape 100"/>
          <p:cNvSpPr/>
          <p:nvPr/>
        </p:nvSpPr>
        <p:spPr>
          <a:xfrm>
            <a:off x="2807208" y="4749372"/>
            <a:ext cx="1147156" cy="183138"/>
          </a:xfrm>
          <a:prstGeom prst="rect">
            <a:avLst/>
          </a:prstGeom>
          <a:solidFill>
            <a:srgbClr val="12A566"/>
          </a:solidFill>
          <a:ln w="6350">
            <a:solidFill>
              <a:srgbClr val="FFFFFF"/>
            </a:solidFill>
            <a:prstDash val="solid"/>
          </a:ln>
        </p:spPr>
      </p:sp>
      <p:sp>
        <p:nvSpPr>
          <p:cNvPr id="103" name="Text 101"/>
          <p:cNvSpPr txBox="1"/>
          <p:nvPr/>
        </p:nvSpPr>
        <p:spPr>
          <a:xfrm>
            <a:off x="2807208" y="4749372"/>
            <a:ext cx="1147156"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36</a:t>
            </a:r>
            <a:endParaRPr lang="en-US" sz="1300" dirty="0"/>
          </a:p>
        </p:txBody>
      </p:sp>
      <p:sp>
        <p:nvSpPr>
          <p:cNvPr id="104" name="Shape 102"/>
          <p:cNvSpPr/>
          <p:nvPr/>
        </p:nvSpPr>
        <p:spPr>
          <a:xfrm>
            <a:off x="3954364" y="4749372"/>
            <a:ext cx="286789" cy="183138"/>
          </a:xfrm>
          <a:prstGeom prst="rect">
            <a:avLst/>
          </a:prstGeom>
          <a:solidFill>
            <a:srgbClr val="5B9BD5"/>
          </a:solidFill>
          <a:ln w="6350">
            <a:solidFill>
              <a:srgbClr val="FFFFFF"/>
            </a:solidFill>
            <a:prstDash val="solid"/>
          </a:ln>
        </p:spPr>
      </p:sp>
      <p:sp>
        <p:nvSpPr>
          <p:cNvPr id="105" name="Text 103"/>
          <p:cNvSpPr txBox="1"/>
          <p:nvPr/>
        </p:nvSpPr>
        <p:spPr>
          <a:xfrm>
            <a:off x="3954364" y="4749372"/>
            <a:ext cx="286789"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9</a:t>
            </a:r>
            <a:endParaRPr lang="en-US" sz="1300" dirty="0"/>
          </a:p>
        </p:txBody>
      </p:sp>
      <p:sp>
        <p:nvSpPr>
          <p:cNvPr id="106" name="Shape 104"/>
          <p:cNvSpPr/>
          <p:nvPr/>
        </p:nvSpPr>
        <p:spPr>
          <a:xfrm>
            <a:off x="4241153" y="4749372"/>
            <a:ext cx="1720735" cy="183138"/>
          </a:xfrm>
          <a:prstGeom prst="rect">
            <a:avLst/>
          </a:prstGeom>
          <a:solidFill>
            <a:srgbClr val="C2352F"/>
          </a:solidFill>
          <a:ln w="6350">
            <a:solidFill>
              <a:srgbClr val="FFFFFF"/>
            </a:solidFill>
            <a:prstDash val="solid"/>
          </a:ln>
        </p:spPr>
      </p:sp>
      <p:sp>
        <p:nvSpPr>
          <p:cNvPr id="107" name="Text 105"/>
          <p:cNvSpPr txBox="1"/>
          <p:nvPr/>
        </p:nvSpPr>
        <p:spPr>
          <a:xfrm>
            <a:off x="4241153" y="4749372"/>
            <a:ext cx="1720735"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55</a:t>
            </a:r>
            <a:endParaRPr lang="en-US" sz="1300" dirty="0"/>
          </a:p>
        </p:txBody>
      </p:sp>
      <p:sp>
        <p:nvSpPr>
          <p:cNvPr id="108" name="Text 106"/>
          <p:cNvSpPr txBox="1"/>
          <p:nvPr/>
        </p:nvSpPr>
        <p:spPr>
          <a:xfrm>
            <a:off x="658368" y="4961427"/>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109" name="Shape 107"/>
          <p:cNvSpPr/>
          <p:nvPr/>
        </p:nvSpPr>
        <p:spPr>
          <a:xfrm>
            <a:off x="2807208" y="4990343"/>
            <a:ext cx="1147156" cy="183138"/>
          </a:xfrm>
          <a:prstGeom prst="rect">
            <a:avLst/>
          </a:prstGeom>
          <a:solidFill>
            <a:srgbClr val="12A566"/>
          </a:solidFill>
          <a:ln w="6350">
            <a:solidFill>
              <a:srgbClr val="FFFFFF"/>
            </a:solidFill>
            <a:prstDash val="solid"/>
          </a:ln>
        </p:spPr>
      </p:sp>
      <p:sp>
        <p:nvSpPr>
          <p:cNvPr id="110" name="Text 108"/>
          <p:cNvSpPr txBox="1"/>
          <p:nvPr/>
        </p:nvSpPr>
        <p:spPr>
          <a:xfrm>
            <a:off x="2807208" y="4990343"/>
            <a:ext cx="1147156"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36</a:t>
            </a:r>
            <a:endParaRPr lang="en-US" sz="1300" dirty="0"/>
          </a:p>
        </p:txBody>
      </p:sp>
      <p:sp>
        <p:nvSpPr>
          <p:cNvPr id="111" name="Shape 109"/>
          <p:cNvSpPr/>
          <p:nvPr/>
        </p:nvSpPr>
        <p:spPr>
          <a:xfrm>
            <a:off x="3954364" y="4990343"/>
            <a:ext cx="573578" cy="183138"/>
          </a:xfrm>
          <a:prstGeom prst="rect">
            <a:avLst/>
          </a:prstGeom>
          <a:solidFill>
            <a:srgbClr val="5B9BD5"/>
          </a:solidFill>
          <a:ln w="6350">
            <a:solidFill>
              <a:srgbClr val="FFFFFF"/>
            </a:solidFill>
            <a:prstDash val="solid"/>
          </a:ln>
        </p:spPr>
      </p:sp>
      <p:sp>
        <p:nvSpPr>
          <p:cNvPr id="112" name="Text 110"/>
          <p:cNvSpPr txBox="1"/>
          <p:nvPr/>
        </p:nvSpPr>
        <p:spPr>
          <a:xfrm>
            <a:off x="3954364" y="4990343"/>
            <a:ext cx="573578"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18</a:t>
            </a:r>
            <a:endParaRPr lang="en-US" sz="1300" dirty="0"/>
          </a:p>
        </p:txBody>
      </p:sp>
      <p:sp>
        <p:nvSpPr>
          <p:cNvPr id="113" name="Shape 111"/>
          <p:cNvSpPr/>
          <p:nvPr/>
        </p:nvSpPr>
        <p:spPr>
          <a:xfrm>
            <a:off x="4527943" y="4990343"/>
            <a:ext cx="1433945" cy="183138"/>
          </a:xfrm>
          <a:prstGeom prst="rect">
            <a:avLst/>
          </a:prstGeom>
          <a:solidFill>
            <a:srgbClr val="C2352F"/>
          </a:solidFill>
          <a:ln w="6350">
            <a:solidFill>
              <a:srgbClr val="FFFFFF"/>
            </a:solidFill>
            <a:prstDash val="solid"/>
          </a:ln>
        </p:spPr>
      </p:sp>
      <p:sp>
        <p:nvSpPr>
          <p:cNvPr id="114" name="Text 112"/>
          <p:cNvSpPr txBox="1"/>
          <p:nvPr/>
        </p:nvSpPr>
        <p:spPr>
          <a:xfrm>
            <a:off x="4527943" y="4990343"/>
            <a:ext cx="1433945"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45</a:t>
            </a:r>
            <a:endParaRPr lang="en-US" sz="1300" dirty="0"/>
          </a:p>
        </p:txBody>
      </p:sp>
      <p:sp>
        <p:nvSpPr>
          <p:cNvPr id="115" name="Text 113"/>
          <p:cNvSpPr txBox="1"/>
          <p:nvPr/>
        </p:nvSpPr>
        <p:spPr>
          <a:xfrm>
            <a:off x="658368" y="5202398"/>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116" name="Shape 114"/>
          <p:cNvSpPr/>
          <p:nvPr/>
        </p:nvSpPr>
        <p:spPr>
          <a:xfrm>
            <a:off x="2807208" y="5231315"/>
            <a:ext cx="1051560" cy="183138"/>
          </a:xfrm>
          <a:prstGeom prst="rect">
            <a:avLst/>
          </a:prstGeom>
          <a:solidFill>
            <a:srgbClr val="12A566"/>
          </a:solidFill>
          <a:ln w="6350">
            <a:solidFill>
              <a:srgbClr val="FFFFFF"/>
            </a:solidFill>
            <a:prstDash val="solid"/>
          </a:ln>
        </p:spPr>
      </p:sp>
      <p:sp>
        <p:nvSpPr>
          <p:cNvPr id="117" name="Text 115"/>
          <p:cNvSpPr txBox="1"/>
          <p:nvPr/>
        </p:nvSpPr>
        <p:spPr>
          <a:xfrm>
            <a:off x="2807208" y="5231315"/>
            <a:ext cx="1051560"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33</a:t>
            </a:r>
            <a:endParaRPr lang="en-US" sz="1300" dirty="0"/>
          </a:p>
        </p:txBody>
      </p:sp>
      <p:sp>
        <p:nvSpPr>
          <p:cNvPr id="118" name="Shape 116"/>
          <p:cNvSpPr/>
          <p:nvPr/>
        </p:nvSpPr>
        <p:spPr>
          <a:xfrm>
            <a:off x="3858768" y="5231315"/>
            <a:ext cx="914" cy="183138"/>
          </a:xfrm>
          <a:prstGeom prst="rect">
            <a:avLst/>
          </a:prstGeom>
          <a:solidFill>
            <a:srgbClr val="5B9BD5"/>
          </a:solidFill>
          <a:ln w="6350">
            <a:solidFill>
              <a:srgbClr val="FFFFFF"/>
            </a:solidFill>
            <a:prstDash val="solid"/>
          </a:ln>
        </p:spPr>
      </p:sp>
      <p:sp>
        <p:nvSpPr>
          <p:cNvPr id="119" name="Shape 117"/>
          <p:cNvSpPr/>
          <p:nvPr/>
        </p:nvSpPr>
        <p:spPr>
          <a:xfrm>
            <a:off x="3858768" y="5231315"/>
            <a:ext cx="2103120" cy="183138"/>
          </a:xfrm>
          <a:prstGeom prst="rect">
            <a:avLst/>
          </a:prstGeom>
          <a:solidFill>
            <a:srgbClr val="C2352F"/>
          </a:solidFill>
          <a:ln w="6350">
            <a:solidFill>
              <a:srgbClr val="FFFFFF"/>
            </a:solidFill>
            <a:prstDash val="solid"/>
          </a:ln>
        </p:spPr>
      </p:sp>
      <p:sp>
        <p:nvSpPr>
          <p:cNvPr id="120" name="Text 118"/>
          <p:cNvSpPr txBox="1"/>
          <p:nvPr/>
        </p:nvSpPr>
        <p:spPr>
          <a:xfrm>
            <a:off x="3858768" y="5231315"/>
            <a:ext cx="2103120"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67</a:t>
            </a:r>
            <a:endParaRPr lang="en-US" sz="1300" dirty="0"/>
          </a:p>
        </p:txBody>
      </p:sp>
      <p:sp>
        <p:nvSpPr>
          <p:cNvPr id="121" name="Text 119"/>
          <p:cNvSpPr txBox="1"/>
          <p:nvPr/>
        </p:nvSpPr>
        <p:spPr>
          <a:xfrm>
            <a:off x="658368" y="5443369"/>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122" name="Shape 120"/>
          <p:cNvSpPr/>
          <p:nvPr/>
        </p:nvSpPr>
        <p:spPr>
          <a:xfrm>
            <a:off x="2807208" y="5472286"/>
            <a:ext cx="1051560" cy="183138"/>
          </a:xfrm>
          <a:prstGeom prst="rect">
            <a:avLst/>
          </a:prstGeom>
          <a:solidFill>
            <a:srgbClr val="12A566"/>
          </a:solidFill>
          <a:ln w="6350">
            <a:solidFill>
              <a:srgbClr val="FFFFFF"/>
            </a:solidFill>
            <a:prstDash val="solid"/>
          </a:ln>
        </p:spPr>
      </p:sp>
      <p:sp>
        <p:nvSpPr>
          <p:cNvPr id="123" name="Text 121"/>
          <p:cNvSpPr txBox="1"/>
          <p:nvPr/>
        </p:nvSpPr>
        <p:spPr>
          <a:xfrm>
            <a:off x="2807208" y="5472286"/>
            <a:ext cx="1051560"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33</a:t>
            </a:r>
            <a:endParaRPr lang="en-US" sz="1300" dirty="0"/>
          </a:p>
        </p:txBody>
      </p:sp>
      <p:sp>
        <p:nvSpPr>
          <p:cNvPr id="124" name="Shape 122"/>
          <p:cNvSpPr/>
          <p:nvPr/>
        </p:nvSpPr>
        <p:spPr>
          <a:xfrm>
            <a:off x="3858768" y="5472286"/>
            <a:ext cx="817880" cy="183138"/>
          </a:xfrm>
          <a:prstGeom prst="rect">
            <a:avLst/>
          </a:prstGeom>
          <a:solidFill>
            <a:srgbClr val="5B9BD5"/>
          </a:solidFill>
          <a:ln w="6350">
            <a:solidFill>
              <a:srgbClr val="FFFFFF"/>
            </a:solidFill>
            <a:prstDash val="solid"/>
          </a:ln>
        </p:spPr>
      </p:sp>
      <p:sp>
        <p:nvSpPr>
          <p:cNvPr id="125" name="Text 123"/>
          <p:cNvSpPr txBox="1"/>
          <p:nvPr/>
        </p:nvSpPr>
        <p:spPr>
          <a:xfrm>
            <a:off x="3858768" y="5472286"/>
            <a:ext cx="817880"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26</a:t>
            </a:r>
            <a:endParaRPr lang="en-US" sz="1300" dirty="0"/>
          </a:p>
        </p:txBody>
      </p:sp>
      <p:sp>
        <p:nvSpPr>
          <p:cNvPr id="126" name="Shape 124"/>
          <p:cNvSpPr/>
          <p:nvPr/>
        </p:nvSpPr>
        <p:spPr>
          <a:xfrm>
            <a:off x="4676648" y="5472286"/>
            <a:ext cx="1285240" cy="183138"/>
          </a:xfrm>
          <a:prstGeom prst="rect">
            <a:avLst/>
          </a:prstGeom>
          <a:solidFill>
            <a:srgbClr val="C2352F"/>
          </a:solidFill>
          <a:ln w="6350">
            <a:solidFill>
              <a:srgbClr val="FFFFFF"/>
            </a:solidFill>
            <a:prstDash val="solid"/>
          </a:ln>
        </p:spPr>
      </p:sp>
      <p:sp>
        <p:nvSpPr>
          <p:cNvPr id="127" name="Text 125"/>
          <p:cNvSpPr txBox="1"/>
          <p:nvPr/>
        </p:nvSpPr>
        <p:spPr>
          <a:xfrm>
            <a:off x="4676648" y="5472286"/>
            <a:ext cx="1285240"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41</a:t>
            </a:r>
            <a:endParaRPr lang="en-US" sz="1300" dirty="0"/>
          </a:p>
        </p:txBody>
      </p:sp>
      <p:sp>
        <p:nvSpPr>
          <p:cNvPr id="128" name="Text 126"/>
          <p:cNvSpPr txBox="1"/>
          <p:nvPr/>
        </p:nvSpPr>
        <p:spPr>
          <a:xfrm>
            <a:off x="658368" y="5684341"/>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129" name="Shape 127"/>
          <p:cNvSpPr/>
          <p:nvPr/>
        </p:nvSpPr>
        <p:spPr>
          <a:xfrm>
            <a:off x="2807208" y="5713257"/>
            <a:ext cx="996215" cy="183138"/>
          </a:xfrm>
          <a:prstGeom prst="rect">
            <a:avLst/>
          </a:prstGeom>
          <a:solidFill>
            <a:srgbClr val="12A566"/>
          </a:solidFill>
          <a:ln w="6350">
            <a:solidFill>
              <a:srgbClr val="FFFFFF"/>
            </a:solidFill>
            <a:prstDash val="solid"/>
          </a:ln>
        </p:spPr>
      </p:sp>
      <p:sp>
        <p:nvSpPr>
          <p:cNvPr id="130" name="Text 128"/>
          <p:cNvSpPr txBox="1"/>
          <p:nvPr/>
        </p:nvSpPr>
        <p:spPr>
          <a:xfrm>
            <a:off x="2807208" y="5713257"/>
            <a:ext cx="996215"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32</a:t>
            </a:r>
            <a:endParaRPr lang="en-US" sz="1300" dirty="0"/>
          </a:p>
        </p:txBody>
      </p:sp>
      <p:sp>
        <p:nvSpPr>
          <p:cNvPr id="131" name="Shape 129"/>
          <p:cNvSpPr/>
          <p:nvPr/>
        </p:nvSpPr>
        <p:spPr>
          <a:xfrm>
            <a:off x="3803423" y="5713257"/>
            <a:ext cx="1162251" cy="183138"/>
          </a:xfrm>
          <a:prstGeom prst="rect">
            <a:avLst/>
          </a:prstGeom>
          <a:solidFill>
            <a:srgbClr val="5B9BD5"/>
          </a:solidFill>
          <a:ln w="6350">
            <a:solidFill>
              <a:srgbClr val="FFFFFF"/>
            </a:solidFill>
            <a:prstDash val="solid"/>
          </a:ln>
        </p:spPr>
      </p:sp>
      <p:sp>
        <p:nvSpPr>
          <p:cNvPr id="132" name="Text 130"/>
          <p:cNvSpPr txBox="1"/>
          <p:nvPr/>
        </p:nvSpPr>
        <p:spPr>
          <a:xfrm>
            <a:off x="3803423" y="5713257"/>
            <a:ext cx="1162251"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37</a:t>
            </a:r>
            <a:endParaRPr lang="en-US" sz="1300" dirty="0"/>
          </a:p>
        </p:txBody>
      </p:sp>
      <p:sp>
        <p:nvSpPr>
          <p:cNvPr id="133" name="Shape 131"/>
          <p:cNvSpPr/>
          <p:nvPr/>
        </p:nvSpPr>
        <p:spPr>
          <a:xfrm>
            <a:off x="4965673" y="5713257"/>
            <a:ext cx="996215" cy="183138"/>
          </a:xfrm>
          <a:prstGeom prst="rect">
            <a:avLst/>
          </a:prstGeom>
          <a:solidFill>
            <a:srgbClr val="C2352F"/>
          </a:solidFill>
          <a:ln w="6350">
            <a:solidFill>
              <a:srgbClr val="FFFFFF"/>
            </a:solidFill>
            <a:prstDash val="solid"/>
          </a:ln>
        </p:spPr>
      </p:sp>
      <p:sp>
        <p:nvSpPr>
          <p:cNvPr id="134" name="Text 132"/>
          <p:cNvSpPr txBox="1"/>
          <p:nvPr/>
        </p:nvSpPr>
        <p:spPr>
          <a:xfrm>
            <a:off x="4965673" y="5713257"/>
            <a:ext cx="996215"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32</a:t>
            </a:r>
            <a:endParaRPr lang="en-US" sz="1300" dirty="0"/>
          </a:p>
        </p:txBody>
      </p:sp>
      <p:sp>
        <p:nvSpPr>
          <p:cNvPr id="135" name="Text 133"/>
          <p:cNvSpPr txBox="1"/>
          <p:nvPr/>
        </p:nvSpPr>
        <p:spPr>
          <a:xfrm>
            <a:off x="6208776" y="1828800"/>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136" name="Shape 134"/>
          <p:cNvSpPr/>
          <p:nvPr/>
        </p:nvSpPr>
        <p:spPr>
          <a:xfrm>
            <a:off x="8357616" y="1857717"/>
            <a:ext cx="985838" cy="183138"/>
          </a:xfrm>
          <a:prstGeom prst="rect">
            <a:avLst/>
          </a:prstGeom>
          <a:solidFill>
            <a:srgbClr val="12A566"/>
          </a:solidFill>
          <a:ln w="6350">
            <a:solidFill>
              <a:srgbClr val="FFFFFF"/>
            </a:solidFill>
            <a:prstDash val="solid"/>
          </a:ln>
        </p:spPr>
      </p:sp>
      <p:sp>
        <p:nvSpPr>
          <p:cNvPr id="137" name="Text 135"/>
          <p:cNvSpPr txBox="1"/>
          <p:nvPr/>
        </p:nvSpPr>
        <p:spPr>
          <a:xfrm>
            <a:off x="8357616" y="1857717"/>
            <a:ext cx="985838"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31</a:t>
            </a:r>
            <a:endParaRPr lang="en-US" sz="1300" dirty="0"/>
          </a:p>
        </p:txBody>
      </p:sp>
      <p:sp>
        <p:nvSpPr>
          <p:cNvPr id="138" name="Shape 136"/>
          <p:cNvSpPr/>
          <p:nvPr/>
        </p:nvSpPr>
        <p:spPr>
          <a:xfrm>
            <a:off x="9343454" y="1857717"/>
            <a:ext cx="591503" cy="183138"/>
          </a:xfrm>
          <a:prstGeom prst="rect">
            <a:avLst/>
          </a:prstGeom>
          <a:solidFill>
            <a:srgbClr val="5B9BD5"/>
          </a:solidFill>
          <a:ln w="6350">
            <a:solidFill>
              <a:srgbClr val="FFFFFF"/>
            </a:solidFill>
            <a:prstDash val="solid"/>
          </a:ln>
        </p:spPr>
      </p:sp>
      <p:sp>
        <p:nvSpPr>
          <p:cNvPr id="139" name="Text 137"/>
          <p:cNvSpPr txBox="1"/>
          <p:nvPr/>
        </p:nvSpPr>
        <p:spPr>
          <a:xfrm>
            <a:off x="9343454" y="1857717"/>
            <a:ext cx="591503"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19</a:t>
            </a:r>
            <a:endParaRPr lang="en-US" sz="1300" dirty="0"/>
          </a:p>
        </p:txBody>
      </p:sp>
      <p:sp>
        <p:nvSpPr>
          <p:cNvPr id="140" name="Shape 138"/>
          <p:cNvSpPr/>
          <p:nvPr/>
        </p:nvSpPr>
        <p:spPr>
          <a:xfrm>
            <a:off x="9934956" y="1857717"/>
            <a:ext cx="1577340" cy="183138"/>
          </a:xfrm>
          <a:prstGeom prst="rect">
            <a:avLst/>
          </a:prstGeom>
          <a:solidFill>
            <a:srgbClr val="C2352F"/>
          </a:solidFill>
          <a:ln w="6350">
            <a:solidFill>
              <a:srgbClr val="FFFFFF"/>
            </a:solidFill>
            <a:prstDash val="solid"/>
          </a:ln>
        </p:spPr>
      </p:sp>
      <p:sp>
        <p:nvSpPr>
          <p:cNvPr id="141" name="Text 139"/>
          <p:cNvSpPr txBox="1"/>
          <p:nvPr/>
        </p:nvSpPr>
        <p:spPr>
          <a:xfrm>
            <a:off x="9934956" y="1857717"/>
            <a:ext cx="1577340"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50</a:t>
            </a:r>
            <a:endParaRPr lang="en-US" sz="1300" dirty="0"/>
          </a:p>
        </p:txBody>
      </p:sp>
      <p:sp>
        <p:nvSpPr>
          <p:cNvPr id="142" name="Text 140"/>
          <p:cNvSpPr txBox="1"/>
          <p:nvPr/>
        </p:nvSpPr>
        <p:spPr>
          <a:xfrm>
            <a:off x="6208776" y="2069771"/>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143" name="Shape 141"/>
          <p:cNvSpPr/>
          <p:nvPr/>
        </p:nvSpPr>
        <p:spPr>
          <a:xfrm>
            <a:off x="8357616" y="2098688"/>
            <a:ext cx="901337" cy="183138"/>
          </a:xfrm>
          <a:prstGeom prst="rect">
            <a:avLst/>
          </a:prstGeom>
          <a:solidFill>
            <a:srgbClr val="12A566"/>
          </a:solidFill>
          <a:ln w="6350">
            <a:solidFill>
              <a:srgbClr val="FFFFFF"/>
            </a:solidFill>
            <a:prstDash val="solid"/>
          </a:ln>
        </p:spPr>
      </p:sp>
      <p:sp>
        <p:nvSpPr>
          <p:cNvPr id="144" name="Text 142"/>
          <p:cNvSpPr txBox="1"/>
          <p:nvPr/>
        </p:nvSpPr>
        <p:spPr>
          <a:xfrm>
            <a:off x="8357616" y="2098688"/>
            <a:ext cx="901337"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29</a:t>
            </a:r>
            <a:endParaRPr lang="en-US" sz="1300" dirty="0"/>
          </a:p>
        </p:txBody>
      </p:sp>
      <p:sp>
        <p:nvSpPr>
          <p:cNvPr id="145" name="Shape 143"/>
          <p:cNvSpPr/>
          <p:nvPr/>
        </p:nvSpPr>
        <p:spPr>
          <a:xfrm>
            <a:off x="9258953" y="2098688"/>
            <a:ext cx="225334" cy="183138"/>
          </a:xfrm>
          <a:prstGeom prst="rect">
            <a:avLst/>
          </a:prstGeom>
          <a:solidFill>
            <a:srgbClr val="5B9BD5"/>
          </a:solidFill>
          <a:ln w="6350">
            <a:solidFill>
              <a:srgbClr val="FFFFFF"/>
            </a:solidFill>
            <a:prstDash val="solid"/>
          </a:ln>
        </p:spPr>
      </p:sp>
      <p:sp>
        <p:nvSpPr>
          <p:cNvPr id="146" name="Text 144"/>
          <p:cNvSpPr txBox="1"/>
          <p:nvPr/>
        </p:nvSpPr>
        <p:spPr>
          <a:xfrm>
            <a:off x="9258953" y="2098688"/>
            <a:ext cx="225334"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7</a:t>
            </a:r>
            <a:endParaRPr lang="en-US" sz="1300" dirty="0"/>
          </a:p>
        </p:txBody>
      </p:sp>
      <p:sp>
        <p:nvSpPr>
          <p:cNvPr id="147" name="Shape 145"/>
          <p:cNvSpPr/>
          <p:nvPr/>
        </p:nvSpPr>
        <p:spPr>
          <a:xfrm>
            <a:off x="9484287" y="2098688"/>
            <a:ext cx="2028009" cy="183138"/>
          </a:xfrm>
          <a:prstGeom prst="rect">
            <a:avLst/>
          </a:prstGeom>
          <a:solidFill>
            <a:srgbClr val="C2352F"/>
          </a:solidFill>
          <a:ln w="6350">
            <a:solidFill>
              <a:srgbClr val="FFFFFF"/>
            </a:solidFill>
            <a:prstDash val="solid"/>
          </a:ln>
        </p:spPr>
      </p:sp>
      <p:sp>
        <p:nvSpPr>
          <p:cNvPr id="148" name="Text 146"/>
          <p:cNvSpPr txBox="1"/>
          <p:nvPr/>
        </p:nvSpPr>
        <p:spPr>
          <a:xfrm>
            <a:off x="9484287" y="2098688"/>
            <a:ext cx="2028009"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64</a:t>
            </a:r>
            <a:endParaRPr lang="en-US" sz="1300" dirty="0"/>
          </a:p>
        </p:txBody>
      </p:sp>
      <p:sp>
        <p:nvSpPr>
          <p:cNvPr id="149" name="Text 147"/>
          <p:cNvSpPr txBox="1"/>
          <p:nvPr/>
        </p:nvSpPr>
        <p:spPr>
          <a:xfrm>
            <a:off x="6208776" y="2310743"/>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150" name="Shape 148"/>
          <p:cNvSpPr/>
          <p:nvPr/>
        </p:nvSpPr>
        <p:spPr>
          <a:xfrm>
            <a:off x="8357616" y="2339659"/>
            <a:ext cx="870257" cy="183138"/>
          </a:xfrm>
          <a:prstGeom prst="rect">
            <a:avLst/>
          </a:prstGeom>
          <a:solidFill>
            <a:srgbClr val="12A566"/>
          </a:solidFill>
          <a:ln w="6350">
            <a:solidFill>
              <a:srgbClr val="FFFFFF"/>
            </a:solidFill>
            <a:prstDash val="solid"/>
          </a:ln>
        </p:spPr>
      </p:sp>
      <p:sp>
        <p:nvSpPr>
          <p:cNvPr id="151" name="Text 149"/>
          <p:cNvSpPr txBox="1"/>
          <p:nvPr/>
        </p:nvSpPr>
        <p:spPr>
          <a:xfrm>
            <a:off x="8357616" y="2339659"/>
            <a:ext cx="870257"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28</a:t>
            </a:r>
            <a:endParaRPr lang="en-US" sz="1300" dirty="0"/>
          </a:p>
        </p:txBody>
      </p:sp>
      <p:sp>
        <p:nvSpPr>
          <p:cNvPr id="152" name="Shape 150"/>
          <p:cNvSpPr/>
          <p:nvPr/>
        </p:nvSpPr>
        <p:spPr>
          <a:xfrm>
            <a:off x="9227873" y="2339659"/>
            <a:ext cx="543910" cy="183138"/>
          </a:xfrm>
          <a:prstGeom prst="rect">
            <a:avLst/>
          </a:prstGeom>
          <a:solidFill>
            <a:srgbClr val="5B9BD5"/>
          </a:solidFill>
          <a:ln w="6350">
            <a:solidFill>
              <a:srgbClr val="FFFFFF"/>
            </a:solidFill>
            <a:prstDash val="solid"/>
          </a:ln>
        </p:spPr>
      </p:sp>
      <p:sp>
        <p:nvSpPr>
          <p:cNvPr id="153" name="Text 151"/>
          <p:cNvSpPr txBox="1"/>
          <p:nvPr/>
        </p:nvSpPr>
        <p:spPr>
          <a:xfrm>
            <a:off x="9227873" y="2339659"/>
            <a:ext cx="543910"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17</a:t>
            </a:r>
            <a:endParaRPr lang="en-US" sz="1300" dirty="0"/>
          </a:p>
        </p:txBody>
      </p:sp>
      <p:sp>
        <p:nvSpPr>
          <p:cNvPr id="154" name="Shape 152"/>
          <p:cNvSpPr/>
          <p:nvPr/>
        </p:nvSpPr>
        <p:spPr>
          <a:xfrm>
            <a:off x="9771783" y="2339659"/>
            <a:ext cx="1740513" cy="183138"/>
          </a:xfrm>
          <a:prstGeom prst="rect">
            <a:avLst/>
          </a:prstGeom>
          <a:solidFill>
            <a:srgbClr val="C2352F"/>
          </a:solidFill>
          <a:ln w="6350">
            <a:solidFill>
              <a:srgbClr val="FFFFFF"/>
            </a:solidFill>
            <a:prstDash val="solid"/>
          </a:ln>
        </p:spPr>
      </p:sp>
      <p:sp>
        <p:nvSpPr>
          <p:cNvPr id="155" name="Text 153"/>
          <p:cNvSpPr txBox="1"/>
          <p:nvPr/>
        </p:nvSpPr>
        <p:spPr>
          <a:xfrm>
            <a:off x="9771783" y="2339659"/>
            <a:ext cx="1740513"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55</a:t>
            </a:r>
            <a:endParaRPr lang="en-US" sz="1300" dirty="0"/>
          </a:p>
        </p:txBody>
      </p:sp>
      <p:sp>
        <p:nvSpPr>
          <p:cNvPr id="156" name="Text 154"/>
          <p:cNvSpPr txBox="1"/>
          <p:nvPr/>
        </p:nvSpPr>
        <p:spPr>
          <a:xfrm>
            <a:off x="6208776" y="2551714"/>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157" name="Shape 155"/>
          <p:cNvSpPr/>
          <p:nvPr/>
        </p:nvSpPr>
        <p:spPr>
          <a:xfrm>
            <a:off x="8357616" y="2580630"/>
            <a:ext cx="860367" cy="183138"/>
          </a:xfrm>
          <a:prstGeom prst="rect">
            <a:avLst/>
          </a:prstGeom>
          <a:solidFill>
            <a:srgbClr val="12A566"/>
          </a:solidFill>
          <a:ln w="6350">
            <a:solidFill>
              <a:srgbClr val="FFFFFF"/>
            </a:solidFill>
            <a:prstDash val="solid"/>
          </a:ln>
        </p:spPr>
      </p:sp>
      <p:sp>
        <p:nvSpPr>
          <p:cNvPr id="158" name="Text 156"/>
          <p:cNvSpPr txBox="1"/>
          <p:nvPr/>
        </p:nvSpPr>
        <p:spPr>
          <a:xfrm>
            <a:off x="8357616" y="2580630"/>
            <a:ext cx="860367"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27</a:t>
            </a:r>
            <a:endParaRPr lang="en-US" sz="1300" dirty="0"/>
          </a:p>
        </p:txBody>
      </p:sp>
      <p:sp>
        <p:nvSpPr>
          <p:cNvPr id="159" name="Shape 157"/>
          <p:cNvSpPr/>
          <p:nvPr/>
        </p:nvSpPr>
        <p:spPr>
          <a:xfrm>
            <a:off x="9217983" y="2580630"/>
            <a:ext cx="914" cy="183138"/>
          </a:xfrm>
          <a:prstGeom prst="rect">
            <a:avLst/>
          </a:prstGeom>
          <a:solidFill>
            <a:srgbClr val="5B9BD5"/>
          </a:solidFill>
          <a:ln w="6350">
            <a:solidFill>
              <a:srgbClr val="FFFFFF"/>
            </a:solidFill>
            <a:prstDash val="solid"/>
          </a:ln>
        </p:spPr>
      </p:sp>
      <p:sp>
        <p:nvSpPr>
          <p:cNvPr id="160" name="Shape 158"/>
          <p:cNvSpPr/>
          <p:nvPr/>
        </p:nvSpPr>
        <p:spPr>
          <a:xfrm>
            <a:off x="9217983" y="2580630"/>
            <a:ext cx="2294313" cy="183138"/>
          </a:xfrm>
          <a:prstGeom prst="rect">
            <a:avLst/>
          </a:prstGeom>
          <a:solidFill>
            <a:srgbClr val="C2352F"/>
          </a:solidFill>
          <a:ln w="6350">
            <a:solidFill>
              <a:srgbClr val="FFFFFF"/>
            </a:solidFill>
            <a:prstDash val="solid"/>
          </a:ln>
        </p:spPr>
      </p:sp>
      <p:sp>
        <p:nvSpPr>
          <p:cNvPr id="161" name="Text 159"/>
          <p:cNvSpPr txBox="1"/>
          <p:nvPr/>
        </p:nvSpPr>
        <p:spPr>
          <a:xfrm>
            <a:off x="9217983" y="2580630"/>
            <a:ext cx="2294313"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73</a:t>
            </a:r>
            <a:endParaRPr lang="en-US" sz="1300" dirty="0"/>
          </a:p>
        </p:txBody>
      </p:sp>
      <p:sp>
        <p:nvSpPr>
          <p:cNvPr id="162" name="Text 160"/>
          <p:cNvSpPr txBox="1"/>
          <p:nvPr/>
        </p:nvSpPr>
        <p:spPr>
          <a:xfrm>
            <a:off x="6208776" y="2792685"/>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163" name="Shape 161"/>
          <p:cNvSpPr/>
          <p:nvPr/>
        </p:nvSpPr>
        <p:spPr>
          <a:xfrm>
            <a:off x="8357616" y="2821602"/>
            <a:ext cx="860367" cy="183138"/>
          </a:xfrm>
          <a:prstGeom prst="rect">
            <a:avLst/>
          </a:prstGeom>
          <a:solidFill>
            <a:srgbClr val="12A566"/>
          </a:solidFill>
          <a:ln w="6350">
            <a:solidFill>
              <a:srgbClr val="FFFFFF"/>
            </a:solidFill>
            <a:prstDash val="solid"/>
          </a:ln>
        </p:spPr>
      </p:sp>
      <p:sp>
        <p:nvSpPr>
          <p:cNvPr id="164" name="Text 162"/>
          <p:cNvSpPr txBox="1"/>
          <p:nvPr/>
        </p:nvSpPr>
        <p:spPr>
          <a:xfrm>
            <a:off x="8357616" y="2821602"/>
            <a:ext cx="860367"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27</a:t>
            </a:r>
            <a:endParaRPr lang="en-US" sz="1300" dirty="0"/>
          </a:p>
        </p:txBody>
      </p:sp>
      <p:sp>
        <p:nvSpPr>
          <p:cNvPr id="165" name="Shape 163"/>
          <p:cNvSpPr/>
          <p:nvPr/>
        </p:nvSpPr>
        <p:spPr>
          <a:xfrm>
            <a:off x="9217983" y="2821602"/>
            <a:ext cx="716973" cy="183138"/>
          </a:xfrm>
          <a:prstGeom prst="rect">
            <a:avLst/>
          </a:prstGeom>
          <a:solidFill>
            <a:srgbClr val="5B9BD5"/>
          </a:solidFill>
          <a:ln w="6350">
            <a:solidFill>
              <a:srgbClr val="FFFFFF"/>
            </a:solidFill>
            <a:prstDash val="solid"/>
          </a:ln>
        </p:spPr>
      </p:sp>
      <p:sp>
        <p:nvSpPr>
          <p:cNvPr id="166" name="Text 164"/>
          <p:cNvSpPr txBox="1"/>
          <p:nvPr/>
        </p:nvSpPr>
        <p:spPr>
          <a:xfrm>
            <a:off x="9217983" y="2821602"/>
            <a:ext cx="716973"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23</a:t>
            </a:r>
            <a:endParaRPr lang="en-US" sz="1300" dirty="0"/>
          </a:p>
        </p:txBody>
      </p:sp>
      <p:sp>
        <p:nvSpPr>
          <p:cNvPr id="167" name="Shape 165"/>
          <p:cNvSpPr/>
          <p:nvPr/>
        </p:nvSpPr>
        <p:spPr>
          <a:xfrm>
            <a:off x="9934956" y="2821602"/>
            <a:ext cx="1577340" cy="183138"/>
          </a:xfrm>
          <a:prstGeom prst="rect">
            <a:avLst/>
          </a:prstGeom>
          <a:solidFill>
            <a:srgbClr val="C2352F"/>
          </a:solidFill>
          <a:ln w="6350">
            <a:solidFill>
              <a:srgbClr val="FFFFFF"/>
            </a:solidFill>
            <a:prstDash val="solid"/>
          </a:ln>
        </p:spPr>
      </p:sp>
      <p:sp>
        <p:nvSpPr>
          <p:cNvPr id="168" name="Text 166"/>
          <p:cNvSpPr txBox="1"/>
          <p:nvPr/>
        </p:nvSpPr>
        <p:spPr>
          <a:xfrm>
            <a:off x="9934956" y="2821602"/>
            <a:ext cx="1577340"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50</a:t>
            </a:r>
            <a:endParaRPr lang="en-US" sz="1300" dirty="0"/>
          </a:p>
        </p:txBody>
      </p:sp>
      <p:sp>
        <p:nvSpPr>
          <p:cNvPr id="169" name="Text 167"/>
          <p:cNvSpPr txBox="1"/>
          <p:nvPr/>
        </p:nvSpPr>
        <p:spPr>
          <a:xfrm>
            <a:off x="6208776" y="3033656"/>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170" name="Shape 168"/>
          <p:cNvSpPr/>
          <p:nvPr/>
        </p:nvSpPr>
        <p:spPr>
          <a:xfrm>
            <a:off x="8357616" y="3062573"/>
            <a:ext cx="822960" cy="183138"/>
          </a:xfrm>
          <a:prstGeom prst="rect">
            <a:avLst/>
          </a:prstGeom>
          <a:solidFill>
            <a:srgbClr val="12A566"/>
          </a:solidFill>
          <a:ln w="6350">
            <a:solidFill>
              <a:srgbClr val="FFFFFF"/>
            </a:solidFill>
            <a:prstDash val="solid"/>
          </a:ln>
        </p:spPr>
      </p:sp>
      <p:sp>
        <p:nvSpPr>
          <p:cNvPr id="171" name="Text 169"/>
          <p:cNvSpPr txBox="1"/>
          <p:nvPr/>
        </p:nvSpPr>
        <p:spPr>
          <a:xfrm>
            <a:off x="8357616" y="3062573"/>
            <a:ext cx="822960"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26</a:t>
            </a:r>
            <a:endParaRPr lang="en-US" sz="1300" dirty="0"/>
          </a:p>
        </p:txBody>
      </p:sp>
      <p:sp>
        <p:nvSpPr>
          <p:cNvPr id="172" name="Shape 170"/>
          <p:cNvSpPr/>
          <p:nvPr/>
        </p:nvSpPr>
        <p:spPr>
          <a:xfrm>
            <a:off x="9180576" y="3062573"/>
            <a:ext cx="548640" cy="183138"/>
          </a:xfrm>
          <a:prstGeom prst="rect">
            <a:avLst/>
          </a:prstGeom>
          <a:solidFill>
            <a:srgbClr val="5B9BD5"/>
          </a:solidFill>
          <a:ln w="6350">
            <a:solidFill>
              <a:srgbClr val="FFFFFF"/>
            </a:solidFill>
            <a:prstDash val="solid"/>
          </a:ln>
        </p:spPr>
      </p:sp>
      <p:sp>
        <p:nvSpPr>
          <p:cNvPr id="173" name="Text 171"/>
          <p:cNvSpPr txBox="1"/>
          <p:nvPr/>
        </p:nvSpPr>
        <p:spPr>
          <a:xfrm>
            <a:off x="9180576" y="3062573"/>
            <a:ext cx="548640"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17</a:t>
            </a:r>
            <a:endParaRPr lang="en-US" sz="1300" dirty="0"/>
          </a:p>
        </p:txBody>
      </p:sp>
      <p:sp>
        <p:nvSpPr>
          <p:cNvPr id="174" name="Shape 172"/>
          <p:cNvSpPr/>
          <p:nvPr/>
        </p:nvSpPr>
        <p:spPr>
          <a:xfrm>
            <a:off x="9729216" y="3062573"/>
            <a:ext cx="1783080" cy="183138"/>
          </a:xfrm>
          <a:prstGeom prst="rect">
            <a:avLst/>
          </a:prstGeom>
          <a:solidFill>
            <a:srgbClr val="C2352F"/>
          </a:solidFill>
          <a:ln w="6350">
            <a:solidFill>
              <a:srgbClr val="FFFFFF"/>
            </a:solidFill>
            <a:prstDash val="solid"/>
          </a:ln>
        </p:spPr>
      </p:sp>
      <p:sp>
        <p:nvSpPr>
          <p:cNvPr id="175" name="Text 173"/>
          <p:cNvSpPr txBox="1"/>
          <p:nvPr/>
        </p:nvSpPr>
        <p:spPr>
          <a:xfrm>
            <a:off x="9729216" y="3062573"/>
            <a:ext cx="1783080"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57</a:t>
            </a:r>
            <a:endParaRPr lang="en-US" sz="1300" dirty="0"/>
          </a:p>
        </p:txBody>
      </p:sp>
      <p:sp>
        <p:nvSpPr>
          <p:cNvPr id="176" name="Text 174"/>
          <p:cNvSpPr txBox="1"/>
          <p:nvPr/>
        </p:nvSpPr>
        <p:spPr>
          <a:xfrm>
            <a:off x="6208776" y="3274628"/>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177" name="Shape 175"/>
          <p:cNvSpPr/>
          <p:nvPr/>
        </p:nvSpPr>
        <p:spPr>
          <a:xfrm>
            <a:off x="8357616" y="3303544"/>
            <a:ext cx="556708" cy="183138"/>
          </a:xfrm>
          <a:prstGeom prst="rect">
            <a:avLst/>
          </a:prstGeom>
          <a:solidFill>
            <a:srgbClr val="12A566"/>
          </a:solidFill>
          <a:ln w="6350">
            <a:solidFill>
              <a:srgbClr val="FFFFFF"/>
            </a:solidFill>
            <a:prstDash val="solid"/>
          </a:ln>
        </p:spPr>
      </p:sp>
      <p:sp>
        <p:nvSpPr>
          <p:cNvPr id="178" name="Text 176"/>
          <p:cNvSpPr txBox="1"/>
          <p:nvPr/>
        </p:nvSpPr>
        <p:spPr>
          <a:xfrm>
            <a:off x="8357616" y="3303544"/>
            <a:ext cx="556708"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18</a:t>
            </a:r>
            <a:endParaRPr lang="en-US" sz="1300" dirty="0"/>
          </a:p>
        </p:txBody>
      </p:sp>
      <p:sp>
        <p:nvSpPr>
          <p:cNvPr id="179" name="Shape 177"/>
          <p:cNvSpPr/>
          <p:nvPr/>
        </p:nvSpPr>
        <p:spPr>
          <a:xfrm>
            <a:off x="8914324" y="3303544"/>
            <a:ext cx="1113416" cy="183138"/>
          </a:xfrm>
          <a:prstGeom prst="rect">
            <a:avLst/>
          </a:prstGeom>
          <a:solidFill>
            <a:srgbClr val="5B9BD5"/>
          </a:solidFill>
          <a:ln w="6350">
            <a:solidFill>
              <a:srgbClr val="FFFFFF"/>
            </a:solidFill>
            <a:prstDash val="solid"/>
          </a:ln>
        </p:spPr>
      </p:sp>
      <p:sp>
        <p:nvSpPr>
          <p:cNvPr id="180" name="Text 178"/>
          <p:cNvSpPr txBox="1"/>
          <p:nvPr/>
        </p:nvSpPr>
        <p:spPr>
          <a:xfrm>
            <a:off x="8914324" y="3303544"/>
            <a:ext cx="1113416"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35</a:t>
            </a:r>
            <a:endParaRPr lang="en-US" sz="1300" dirty="0"/>
          </a:p>
        </p:txBody>
      </p:sp>
      <p:sp>
        <p:nvSpPr>
          <p:cNvPr id="181" name="Shape 179"/>
          <p:cNvSpPr/>
          <p:nvPr/>
        </p:nvSpPr>
        <p:spPr>
          <a:xfrm>
            <a:off x="10027741" y="3303544"/>
            <a:ext cx="1484555" cy="183138"/>
          </a:xfrm>
          <a:prstGeom prst="rect">
            <a:avLst/>
          </a:prstGeom>
          <a:solidFill>
            <a:srgbClr val="C2352F"/>
          </a:solidFill>
          <a:ln w="6350">
            <a:solidFill>
              <a:srgbClr val="FFFFFF"/>
            </a:solidFill>
            <a:prstDash val="solid"/>
          </a:ln>
        </p:spPr>
      </p:sp>
      <p:sp>
        <p:nvSpPr>
          <p:cNvPr id="182" name="Text 180"/>
          <p:cNvSpPr txBox="1"/>
          <p:nvPr/>
        </p:nvSpPr>
        <p:spPr>
          <a:xfrm>
            <a:off x="10027741" y="3303544"/>
            <a:ext cx="1484555"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47</a:t>
            </a:r>
            <a:endParaRPr lang="en-US" sz="1300" dirty="0"/>
          </a:p>
        </p:txBody>
      </p:sp>
      <p:sp>
        <p:nvSpPr>
          <p:cNvPr id="183" name="Text 181"/>
          <p:cNvSpPr txBox="1"/>
          <p:nvPr/>
        </p:nvSpPr>
        <p:spPr>
          <a:xfrm>
            <a:off x="6208776" y="3515599"/>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184" name="Shape 182"/>
          <p:cNvSpPr/>
          <p:nvPr/>
        </p:nvSpPr>
        <p:spPr>
          <a:xfrm>
            <a:off x="8357616" y="3544516"/>
            <a:ext cx="525780" cy="183138"/>
          </a:xfrm>
          <a:prstGeom prst="rect">
            <a:avLst/>
          </a:prstGeom>
          <a:solidFill>
            <a:srgbClr val="12A566"/>
          </a:solidFill>
          <a:ln w="6350">
            <a:solidFill>
              <a:srgbClr val="FFFFFF"/>
            </a:solidFill>
            <a:prstDash val="solid"/>
          </a:ln>
        </p:spPr>
      </p:sp>
      <p:sp>
        <p:nvSpPr>
          <p:cNvPr id="185" name="Text 183"/>
          <p:cNvSpPr txBox="1"/>
          <p:nvPr/>
        </p:nvSpPr>
        <p:spPr>
          <a:xfrm>
            <a:off x="8357616" y="3544516"/>
            <a:ext cx="525780"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17</a:t>
            </a:r>
            <a:endParaRPr lang="en-US" sz="1300" dirty="0"/>
          </a:p>
        </p:txBody>
      </p:sp>
      <p:sp>
        <p:nvSpPr>
          <p:cNvPr id="186" name="Shape 184"/>
          <p:cNvSpPr/>
          <p:nvPr/>
        </p:nvSpPr>
        <p:spPr>
          <a:xfrm>
            <a:off x="8883396" y="3544516"/>
            <a:ext cx="1577340" cy="183138"/>
          </a:xfrm>
          <a:prstGeom prst="rect">
            <a:avLst/>
          </a:prstGeom>
          <a:solidFill>
            <a:srgbClr val="5B9BD5"/>
          </a:solidFill>
          <a:ln w="6350">
            <a:solidFill>
              <a:srgbClr val="FFFFFF"/>
            </a:solidFill>
            <a:prstDash val="solid"/>
          </a:ln>
        </p:spPr>
      </p:sp>
      <p:sp>
        <p:nvSpPr>
          <p:cNvPr id="187" name="Text 185"/>
          <p:cNvSpPr txBox="1"/>
          <p:nvPr/>
        </p:nvSpPr>
        <p:spPr>
          <a:xfrm>
            <a:off x="8883396" y="3544516"/>
            <a:ext cx="1577340"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50</a:t>
            </a:r>
            <a:endParaRPr lang="en-US" sz="1300" dirty="0"/>
          </a:p>
        </p:txBody>
      </p:sp>
      <p:sp>
        <p:nvSpPr>
          <p:cNvPr id="188" name="Shape 186"/>
          <p:cNvSpPr/>
          <p:nvPr/>
        </p:nvSpPr>
        <p:spPr>
          <a:xfrm>
            <a:off x="10460736" y="3544516"/>
            <a:ext cx="1051560" cy="183138"/>
          </a:xfrm>
          <a:prstGeom prst="rect">
            <a:avLst/>
          </a:prstGeom>
          <a:solidFill>
            <a:srgbClr val="C2352F"/>
          </a:solidFill>
          <a:ln w="6350">
            <a:solidFill>
              <a:srgbClr val="FFFFFF"/>
            </a:solidFill>
            <a:prstDash val="solid"/>
          </a:ln>
        </p:spPr>
      </p:sp>
      <p:sp>
        <p:nvSpPr>
          <p:cNvPr id="189" name="Text 187"/>
          <p:cNvSpPr txBox="1"/>
          <p:nvPr/>
        </p:nvSpPr>
        <p:spPr>
          <a:xfrm>
            <a:off x="10460736" y="3544516"/>
            <a:ext cx="1051560"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33</a:t>
            </a:r>
            <a:endParaRPr lang="en-US" sz="1300" dirty="0"/>
          </a:p>
        </p:txBody>
      </p:sp>
      <p:sp>
        <p:nvSpPr>
          <p:cNvPr id="190" name="Text 188"/>
          <p:cNvSpPr txBox="1"/>
          <p:nvPr/>
        </p:nvSpPr>
        <p:spPr>
          <a:xfrm>
            <a:off x="6208776" y="3756570"/>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191" name="Shape 189"/>
          <p:cNvSpPr/>
          <p:nvPr/>
        </p:nvSpPr>
        <p:spPr>
          <a:xfrm>
            <a:off x="8357616" y="3785487"/>
            <a:ext cx="350520" cy="183138"/>
          </a:xfrm>
          <a:prstGeom prst="rect">
            <a:avLst/>
          </a:prstGeom>
          <a:solidFill>
            <a:srgbClr val="12A566"/>
          </a:solidFill>
          <a:ln w="6350">
            <a:solidFill>
              <a:srgbClr val="FFFFFF"/>
            </a:solidFill>
            <a:prstDash val="solid"/>
          </a:ln>
        </p:spPr>
      </p:sp>
      <p:sp>
        <p:nvSpPr>
          <p:cNvPr id="192" name="Text 190"/>
          <p:cNvSpPr txBox="1"/>
          <p:nvPr/>
        </p:nvSpPr>
        <p:spPr>
          <a:xfrm>
            <a:off x="8357616" y="3785487"/>
            <a:ext cx="350520"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11</a:t>
            </a:r>
            <a:endParaRPr lang="en-US" sz="1300" dirty="0"/>
          </a:p>
        </p:txBody>
      </p:sp>
      <p:sp>
        <p:nvSpPr>
          <p:cNvPr id="193" name="Shape 191"/>
          <p:cNvSpPr/>
          <p:nvPr/>
        </p:nvSpPr>
        <p:spPr>
          <a:xfrm>
            <a:off x="8708136" y="3785487"/>
            <a:ext cx="701040" cy="183138"/>
          </a:xfrm>
          <a:prstGeom prst="rect">
            <a:avLst/>
          </a:prstGeom>
          <a:solidFill>
            <a:srgbClr val="5B9BD5"/>
          </a:solidFill>
          <a:ln w="6350">
            <a:solidFill>
              <a:srgbClr val="FFFFFF"/>
            </a:solidFill>
            <a:prstDash val="solid"/>
          </a:ln>
        </p:spPr>
      </p:sp>
      <p:sp>
        <p:nvSpPr>
          <p:cNvPr id="194" name="Text 192"/>
          <p:cNvSpPr txBox="1"/>
          <p:nvPr/>
        </p:nvSpPr>
        <p:spPr>
          <a:xfrm>
            <a:off x="8708136" y="3785487"/>
            <a:ext cx="701040"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22</a:t>
            </a:r>
            <a:endParaRPr lang="en-US" sz="1300" dirty="0"/>
          </a:p>
        </p:txBody>
      </p:sp>
      <p:sp>
        <p:nvSpPr>
          <p:cNvPr id="195" name="Shape 193"/>
          <p:cNvSpPr/>
          <p:nvPr/>
        </p:nvSpPr>
        <p:spPr>
          <a:xfrm>
            <a:off x="9409176" y="3785487"/>
            <a:ext cx="2103120" cy="183138"/>
          </a:xfrm>
          <a:prstGeom prst="rect">
            <a:avLst/>
          </a:prstGeom>
          <a:solidFill>
            <a:srgbClr val="C2352F"/>
          </a:solidFill>
          <a:ln w="6350">
            <a:solidFill>
              <a:srgbClr val="FFFFFF"/>
            </a:solidFill>
            <a:prstDash val="solid"/>
          </a:ln>
        </p:spPr>
      </p:sp>
      <p:sp>
        <p:nvSpPr>
          <p:cNvPr id="196" name="Text 194"/>
          <p:cNvSpPr txBox="1"/>
          <p:nvPr/>
        </p:nvSpPr>
        <p:spPr>
          <a:xfrm>
            <a:off x="9409176" y="3785487"/>
            <a:ext cx="2103120"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67</a:t>
            </a:r>
            <a:endParaRPr lang="en-US" sz="1300" dirty="0"/>
          </a:p>
        </p:txBody>
      </p:sp>
      <p:sp>
        <p:nvSpPr>
          <p:cNvPr id="197" name="Text 195"/>
          <p:cNvSpPr txBox="1"/>
          <p:nvPr/>
        </p:nvSpPr>
        <p:spPr>
          <a:xfrm>
            <a:off x="6208776" y="3997542"/>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198" name="Shape 196"/>
          <p:cNvSpPr/>
          <p:nvPr/>
        </p:nvSpPr>
        <p:spPr>
          <a:xfrm>
            <a:off x="8357616" y="4026458"/>
            <a:ext cx="315468" cy="183138"/>
          </a:xfrm>
          <a:prstGeom prst="rect">
            <a:avLst/>
          </a:prstGeom>
          <a:solidFill>
            <a:srgbClr val="12A566"/>
          </a:solidFill>
          <a:ln w="6350">
            <a:solidFill>
              <a:srgbClr val="FFFFFF"/>
            </a:solidFill>
            <a:prstDash val="solid"/>
          </a:ln>
        </p:spPr>
      </p:sp>
      <p:sp>
        <p:nvSpPr>
          <p:cNvPr id="199" name="Text 197"/>
          <p:cNvSpPr txBox="1"/>
          <p:nvPr/>
        </p:nvSpPr>
        <p:spPr>
          <a:xfrm>
            <a:off x="8357616" y="4026458"/>
            <a:ext cx="315468"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10</a:t>
            </a:r>
            <a:endParaRPr lang="en-US" sz="1300" dirty="0"/>
          </a:p>
        </p:txBody>
      </p:sp>
      <p:sp>
        <p:nvSpPr>
          <p:cNvPr id="200" name="Shape 198"/>
          <p:cNvSpPr/>
          <p:nvPr/>
        </p:nvSpPr>
        <p:spPr>
          <a:xfrm>
            <a:off x="8673084" y="4026458"/>
            <a:ext cx="315468" cy="183138"/>
          </a:xfrm>
          <a:prstGeom prst="rect">
            <a:avLst/>
          </a:prstGeom>
          <a:solidFill>
            <a:srgbClr val="5B9BD5"/>
          </a:solidFill>
          <a:ln w="6350">
            <a:solidFill>
              <a:srgbClr val="FFFFFF"/>
            </a:solidFill>
            <a:prstDash val="solid"/>
          </a:ln>
        </p:spPr>
      </p:sp>
      <p:sp>
        <p:nvSpPr>
          <p:cNvPr id="201" name="Text 199"/>
          <p:cNvSpPr txBox="1"/>
          <p:nvPr/>
        </p:nvSpPr>
        <p:spPr>
          <a:xfrm>
            <a:off x="8673084" y="4026458"/>
            <a:ext cx="315468"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10</a:t>
            </a:r>
            <a:endParaRPr lang="en-US" sz="1300" dirty="0"/>
          </a:p>
        </p:txBody>
      </p:sp>
      <p:sp>
        <p:nvSpPr>
          <p:cNvPr id="202" name="Shape 200"/>
          <p:cNvSpPr/>
          <p:nvPr/>
        </p:nvSpPr>
        <p:spPr>
          <a:xfrm>
            <a:off x="8988552" y="4026458"/>
            <a:ext cx="2523744" cy="183138"/>
          </a:xfrm>
          <a:prstGeom prst="rect">
            <a:avLst/>
          </a:prstGeom>
          <a:solidFill>
            <a:srgbClr val="C2352F"/>
          </a:solidFill>
          <a:ln w="6350">
            <a:solidFill>
              <a:srgbClr val="FFFFFF"/>
            </a:solidFill>
            <a:prstDash val="solid"/>
          </a:ln>
        </p:spPr>
      </p:sp>
      <p:sp>
        <p:nvSpPr>
          <p:cNvPr id="203" name="Text 201"/>
          <p:cNvSpPr txBox="1"/>
          <p:nvPr/>
        </p:nvSpPr>
        <p:spPr>
          <a:xfrm>
            <a:off x="8988552" y="4026458"/>
            <a:ext cx="2523744"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80</a:t>
            </a:r>
            <a:endParaRPr lang="en-US" sz="1300" dirty="0"/>
          </a:p>
        </p:txBody>
      </p:sp>
      <p:sp>
        <p:nvSpPr>
          <p:cNvPr id="204" name="Text 202"/>
          <p:cNvSpPr txBox="1"/>
          <p:nvPr/>
        </p:nvSpPr>
        <p:spPr>
          <a:xfrm>
            <a:off x="6208776" y="4238513"/>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205" name="Shape 203"/>
          <p:cNvSpPr/>
          <p:nvPr/>
        </p:nvSpPr>
        <p:spPr>
          <a:xfrm>
            <a:off x="8357616" y="4267429"/>
            <a:ext cx="315468" cy="183138"/>
          </a:xfrm>
          <a:prstGeom prst="rect">
            <a:avLst/>
          </a:prstGeom>
          <a:solidFill>
            <a:srgbClr val="12A566"/>
          </a:solidFill>
          <a:ln w="6350">
            <a:solidFill>
              <a:srgbClr val="FFFFFF"/>
            </a:solidFill>
            <a:prstDash val="solid"/>
          </a:ln>
        </p:spPr>
      </p:sp>
      <p:sp>
        <p:nvSpPr>
          <p:cNvPr id="206" name="Text 204"/>
          <p:cNvSpPr txBox="1"/>
          <p:nvPr/>
        </p:nvSpPr>
        <p:spPr>
          <a:xfrm>
            <a:off x="8357616" y="4267429"/>
            <a:ext cx="315468"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10</a:t>
            </a:r>
            <a:endParaRPr lang="en-US" sz="1300" dirty="0"/>
          </a:p>
        </p:txBody>
      </p:sp>
      <p:sp>
        <p:nvSpPr>
          <p:cNvPr id="207" name="Shape 205"/>
          <p:cNvSpPr/>
          <p:nvPr/>
        </p:nvSpPr>
        <p:spPr>
          <a:xfrm>
            <a:off x="8673084" y="4267429"/>
            <a:ext cx="315468" cy="183138"/>
          </a:xfrm>
          <a:prstGeom prst="rect">
            <a:avLst/>
          </a:prstGeom>
          <a:solidFill>
            <a:srgbClr val="5B9BD5"/>
          </a:solidFill>
          <a:ln w="6350">
            <a:solidFill>
              <a:srgbClr val="FFFFFF"/>
            </a:solidFill>
            <a:prstDash val="solid"/>
          </a:ln>
        </p:spPr>
      </p:sp>
      <p:sp>
        <p:nvSpPr>
          <p:cNvPr id="208" name="Text 206"/>
          <p:cNvSpPr txBox="1"/>
          <p:nvPr/>
        </p:nvSpPr>
        <p:spPr>
          <a:xfrm>
            <a:off x="8673084" y="4267429"/>
            <a:ext cx="315468"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10</a:t>
            </a:r>
            <a:endParaRPr lang="en-US" sz="1300" dirty="0"/>
          </a:p>
        </p:txBody>
      </p:sp>
      <p:sp>
        <p:nvSpPr>
          <p:cNvPr id="209" name="Shape 207"/>
          <p:cNvSpPr/>
          <p:nvPr/>
        </p:nvSpPr>
        <p:spPr>
          <a:xfrm>
            <a:off x="8988552" y="4267429"/>
            <a:ext cx="2523744" cy="183138"/>
          </a:xfrm>
          <a:prstGeom prst="rect">
            <a:avLst/>
          </a:prstGeom>
          <a:solidFill>
            <a:srgbClr val="C2352F"/>
          </a:solidFill>
          <a:ln w="6350">
            <a:solidFill>
              <a:srgbClr val="FFFFFF"/>
            </a:solidFill>
            <a:prstDash val="solid"/>
          </a:ln>
        </p:spPr>
      </p:sp>
      <p:sp>
        <p:nvSpPr>
          <p:cNvPr id="210" name="Text 208"/>
          <p:cNvSpPr txBox="1"/>
          <p:nvPr/>
        </p:nvSpPr>
        <p:spPr>
          <a:xfrm>
            <a:off x="8988552" y="4267429"/>
            <a:ext cx="2523744"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80</a:t>
            </a:r>
            <a:endParaRPr lang="en-US" sz="1300" dirty="0"/>
          </a:p>
        </p:txBody>
      </p:sp>
      <p:sp>
        <p:nvSpPr>
          <p:cNvPr id="211" name="Text 209"/>
          <p:cNvSpPr txBox="1"/>
          <p:nvPr/>
        </p:nvSpPr>
        <p:spPr>
          <a:xfrm>
            <a:off x="6208776" y="4479484"/>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212" name="Shape 210"/>
          <p:cNvSpPr/>
          <p:nvPr/>
        </p:nvSpPr>
        <p:spPr>
          <a:xfrm>
            <a:off x="8357616" y="4508401"/>
            <a:ext cx="262890" cy="183138"/>
          </a:xfrm>
          <a:prstGeom prst="rect">
            <a:avLst/>
          </a:prstGeom>
          <a:solidFill>
            <a:srgbClr val="12A566"/>
          </a:solidFill>
          <a:ln w="6350">
            <a:solidFill>
              <a:srgbClr val="FFFFFF"/>
            </a:solidFill>
            <a:prstDash val="solid"/>
          </a:ln>
        </p:spPr>
      </p:sp>
      <p:sp>
        <p:nvSpPr>
          <p:cNvPr id="213" name="Text 211"/>
          <p:cNvSpPr txBox="1"/>
          <p:nvPr/>
        </p:nvSpPr>
        <p:spPr>
          <a:xfrm>
            <a:off x="8357616" y="4508401"/>
            <a:ext cx="262890"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8</a:t>
            </a:r>
            <a:endParaRPr lang="en-US" sz="1300" dirty="0"/>
          </a:p>
        </p:txBody>
      </p:sp>
      <p:sp>
        <p:nvSpPr>
          <p:cNvPr id="214" name="Shape 212"/>
          <p:cNvSpPr/>
          <p:nvPr/>
        </p:nvSpPr>
        <p:spPr>
          <a:xfrm>
            <a:off x="8620506" y="4508401"/>
            <a:ext cx="1051560" cy="183138"/>
          </a:xfrm>
          <a:prstGeom prst="rect">
            <a:avLst/>
          </a:prstGeom>
          <a:solidFill>
            <a:srgbClr val="5B9BD5"/>
          </a:solidFill>
          <a:ln w="6350">
            <a:solidFill>
              <a:srgbClr val="FFFFFF"/>
            </a:solidFill>
            <a:prstDash val="solid"/>
          </a:ln>
        </p:spPr>
      </p:sp>
      <p:sp>
        <p:nvSpPr>
          <p:cNvPr id="215" name="Text 213"/>
          <p:cNvSpPr txBox="1"/>
          <p:nvPr/>
        </p:nvSpPr>
        <p:spPr>
          <a:xfrm>
            <a:off x="8620506" y="4508401"/>
            <a:ext cx="1051560"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33</a:t>
            </a:r>
            <a:endParaRPr lang="en-US" sz="1300" dirty="0"/>
          </a:p>
        </p:txBody>
      </p:sp>
      <p:sp>
        <p:nvSpPr>
          <p:cNvPr id="216" name="Shape 214"/>
          <p:cNvSpPr/>
          <p:nvPr/>
        </p:nvSpPr>
        <p:spPr>
          <a:xfrm>
            <a:off x="9672066" y="4508401"/>
            <a:ext cx="1840230" cy="183138"/>
          </a:xfrm>
          <a:prstGeom prst="rect">
            <a:avLst/>
          </a:prstGeom>
          <a:solidFill>
            <a:srgbClr val="C2352F"/>
          </a:solidFill>
          <a:ln w="6350">
            <a:solidFill>
              <a:srgbClr val="FFFFFF"/>
            </a:solidFill>
            <a:prstDash val="solid"/>
          </a:ln>
        </p:spPr>
      </p:sp>
      <p:sp>
        <p:nvSpPr>
          <p:cNvPr id="217" name="Text 215"/>
          <p:cNvSpPr txBox="1"/>
          <p:nvPr/>
        </p:nvSpPr>
        <p:spPr>
          <a:xfrm>
            <a:off x="9672066" y="4508401"/>
            <a:ext cx="1840230"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58</a:t>
            </a:r>
            <a:endParaRPr lang="en-US" sz="1300" dirty="0"/>
          </a:p>
        </p:txBody>
      </p:sp>
      <p:sp>
        <p:nvSpPr>
          <p:cNvPr id="218" name="Text 216"/>
          <p:cNvSpPr txBox="1"/>
          <p:nvPr/>
        </p:nvSpPr>
        <p:spPr>
          <a:xfrm>
            <a:off x="6208776" y="4720456"/>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219" name="Shape 217"/>
          <p:cNvSpPr/>
          <p:nvPr/>
        </p:nvSpPr>
        <p:spPr>
          <a:xfrm>
            <a:off x="8357616" y="4749372"/>
            <a:ext cx="262890" cy="183138"/>
          </a:xfrm>
          <a:prstGeom prst="rect">
            <a:avLst/>
          </a:prstGeom>
          <a:solidFill>
            <a:srgbClr val="12A566"/>
          </a:solidFill>
          <a:ln w="6350">
            <a:solidFill>
              <a:srgbClr val="FFFFFF"/>
            </a:solidFill>
            <a:prstDash val="solid"/>
          </a:ln>
        </p:spPr>
      </p:sp>
      <p:sp>
        <p:nvSpPr>
          <p:cNvPr id="220" name="Text 218"/>
          <p:cNvSpPr txBox="1"/>
          <p:nvPr/>
        </p:nvSpPr>
        <p:spPr>
          <a:xfrm>
            <a:off x="8357616" y="4749372"/>
            <a:ext cx="262890"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8</a:t>
            </a:r>
            <a:endParaRPr lang="en-US" sz="1300" dirty="0"/>
          </a:p>
        </p:txBody>
      </p:sp>
      <p:sp>
        <p:nvSpPr>
          <p:cNvPr id="221" name="Shape 219"/>
          <p:cNvSpPr/>
          <p:nvPr/>
        </p:nvSpPr>
        <p:spPr>
          <a:xfrm>
            <a:off x="8620506" y="4749372"/>
            <a:ext cx="525780" cy="183138"/>
          </a:xfrm>
          <a:prstGeom prst="rect">
            <a:avLst/>
          </a:prstGeom>
          <a:solidFill>
            <a:srgbClr val="5B9BD5"/>
          </a:solidFill>
          <a:ln w="6350">
            <a:solidFill>
              <a:srgbClr val="FFFFFF"/>
            </a:solidFill>
            <a:prstDash val="solid"/>
          </a:ln>
        </p:spPr>
      </p:sp>
      <p:sp>
        <p:nvSpPr>
          <p:cNvPr id="222" name="Text 220"/>
          <p:cNvSpPr txBox="1"/>
          <p:nvPr/>
        </p:nvSpPr>
        <p:spPr>
          <a:xfrm>
            <a:off x="8620506" y="4749372"/>
            <a:ext cx="525780"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17</a:t>
            </a:r>
            <a:endParaRPr lang="en-US" sz="1300" dirty="0"/>
          </a:p>
        </p:txBody>
      </p:sp>
      <p:sp>
        <p:nvSpPr>
          <p:cNvPr id="223" name="Shape 221"/>
          <p:cNvSpPr/>
          <p:nvPr/>
        </p:nvSpPr>
        <p:spPr>
          <a:xfrm>
            <a:off x="9146286" y="4749372"/>
            <a:ext cx="2366010" cy="183138"/>
          </a:xfrm>
          <a:prstGeom prst="rect">
            <a:avLst/>
          </a:prstGeom>
          <a:solidFill>
            <a:srgbClr val="C2352F"/>
          </a:solidFill>
          <a:ln w="6350">
            <a:solidFill>
              <a:srgbClr val="FFFFFF"/>
            </a:solidFill>
            <a:prstDash val="solid"/>
          </a:ln>
        </p:spPr>
      </p:sp>
      <p:sp>
        <p:nvSpPr>
          <p:cNvPr id="224" name="Text 222"/>
          <p:cNvSpPr txBox="1"/>
          <p:nvPr/>
        </p:nvSpPr>
        <p:spPr>
          <a:xfrm>
            <a:off x="9146286" y="4749372"/>
            <a:ext cx="2366010"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75</a:t>
            </a:r>
            <a:endParaRPr lang="en-US" sz="1300" dirty="0"/>
          </a:p>
        </p:txBody>
      </p:sp>
      <p:sp>
        <p:nvSpPr>
          <p:cNvPr id="225" name="Text 223"/>
          <p:cNvSpPr txBox="1"/>
          <p:nvPr/>
        </p:nvSpPr>
        <p:spPr>
          <a:xfrm>
            <a:off x="6208776" y="4961427"/>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226" name="Shape 224"/>
          <p:cNvSpPr/>
          <p:nvPr/>
        </p:nvSpPr>
        <p:spPr>
          <a:xfrm>
            <a:off x="8357616" y="4990343"/>
            <a:ext cx="914" cy="183138"/>
          </a:xfrm>
          <a:prstGeom prst="rect">
            <a:avLst/>
          </a:prstGeom>
          <a:solidFill>
            <a:srgbClr val="12A566"/>
          </a:solidFill>
          <a:ln w="6350">
            <a:solidFill>
              <a:srgbClr val="FFFFFF"/>
            </a:solidFill>
            <a:prstDash val="solid"/>
          </a:ln>
        </p:spPr>
      </p:sp>
      <p:sp>
        <p:nvSpPr>
          <p:cNvPr id="227" name="Shape 225"/>
          <p:cNvSpPr/>
          <p:nvPr/>
        </p:nvSpPr>
        <p:spPr>
          <a:xfrm>
            <a:off x="8357616" y="4990343"/>
            <a:ext cx="914" cy="183138"/>
          </a:xfrm>
          <a:prstGeom prst="rect">
            <a:avLst/>
          </a:prstGeom>
          <a:solidFill>
            <a:srgbClr val="5B9BD5"/>
          </a:solidFill>
          <a:ln w="6350">
            <a:solidFill>
              <a:srgbClr val="FFFFFF"/>
            </a:solidFill>
            <a:prstDash val="solid"/>
          </a:ln>
        </p:spPr>
      </p:sp>
      <p:sp>
        <p:nvSpPr>
          <p:cNvPr id="228" name="Shape 226"/>
          <p:cNvSpPr/>
          <p:nvPr/>
        </p:nvSpPr>
        <p:spPr>
          <a:xfrm>
            <a:off x="8357616" y="4990343"/>
            <a:ext cx="3154680" cy="183138"/>
          </a:xfrm>
          <a:prstGeom prst="rect">
            <a:avLst/>
          </a:prstGeom>
          <a:solidFill>
            <a:srgbClr val="C2352F"/>
          </a:solidFill>
          <a:ln w="6350">
            <a:solidFill>
              <a:srgbClr val="FFFFFF"/>
            </a:solidFill>
            <a:prstDash val="solid"/>
          </a:ln>
        </p:spPr>
      </p:sp>
      <p:sp>
        <p:nvSpPr>
          <p:cNvPr id="229" name="Text 227"/>
          <p:cNvSpPr txBox="1"/>
          <p:nvPr/>
        </p:nvSpPr>
        <p:spPr>
          <a:xfrm>
            <a:off x="8357616" y="4990343"/>
            <a:ext cx="3154680"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100</a:t>
            </a:r>
            <a:endParaRPr lang="en-US" sz="1300" dirty="0"/>
          </a:p>
        </p:txBody>
      </p:sp>
      <p:sp>
        <p:nvSpPr>
          <p:cNvPr id="230" name="Text 228"/>
          <p:cNvSpPr txBox="1"/>
          <p:nvPr/>
        </p:nvSpPr>
        <p:spPr>
          <a:xfrm>
            <a:off x="6208776" y="5202398"/>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231" name="Shape 229"/>
          <p:cNvSpPr/>
          <p:nvPr/>
        </p:nvSpPr>
        <p:spPr>
          <a:xfrm>
            <a:off x="8357616" y="5231315"/>
            <a:ext cx="914" cy="183138"/>
          </a:xfrm>
          <a:prstGeom prst="rect">
            <a:avLst/>
          </a:prstGeom>
          <a:solidFill>
            <a:srgbClr val="12A566"/>
          </a:solidFill>
          <a:ln w="6350">
            <a:solidFill>
              <a:srgbClr val="FFFFFF"/>
            </a:solidFill>
            <a:prstDash val="solid"/>
          </a:ln>
        </p:spPr>
      </p:sp>
      <p:sp>
        <p:nvSpPr>
          <p:cNvPr id="232" name="Shape 230"/>
          <p:cNvSpPr/>
          <p:nvPr/>
        </p:nvSpPr>
        <p:spPr>
          <a:xfrm>
            <a:off x="8357616" y="5231315"/>
            <a:ext cx="350520" cy="183138"/>
          </a:xfrm>
          <a:prstGeom prst="rect">
            <a:avLst/>
          </a:prstGeom>
          <a:solidFill>
            <a:srgbClr val="5B9BD5"/>
          </a:solidFill>
          <a:ln w="6350">
            <a:solidFill>
              <a:srgbClr val="FFFFFF"/>
            </a:solidFill>
            <a:prstDash val="solid"/>
          </a:ln>
        </p:spPr>
      </p:sp>
      <p:sp>
        <p:nvSpPr>
          <p:cNvPr id="233" name="Text 231"/>
          <p:cNvSpPr txBox="1"/>
          <p:nvPr/>
        </p:nvSpPr>
        <p:spPr>
          <a:xfrm>
            <a:off x="8357616" y="5231315"/>
            <a:ext cx="350520"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11</a:t>
            </a:r>
            <a:endParaRPr lang="en-US" sz="1300" dirty="0"/>
          </a:p>
        </p:txBody>
      </p:sp>
      <p:sp>
        <p:nvSpPr>
          <p:cNvPr id="234" name="Shape 232"/>
          <p:cNvSpPr/>
          <p:nvPr/>
        </p:nvSpPr>
        <p:spPr>
          <a:xfrm>
            <a:off x="8708136" y="5231315"/>
            <a:ext cx="2804160" cy="183138"/>
          </a:xfrm>
          <a:prstGeom prst="rect">
            <a:avLst/>
          </a:prstGeom>
          <a:solidFill>
            <a:srgbClr val="C2352F"/>
          </a:solidFill>
          <a:ln w="6350">
            <a:solidFill>
              <a:srgbClr val="FFFFFF"/>
            </a:solidFill>
            <a:prstDash val="solid"/>
          </a:ln>
        </p:spPr>
      </p:sp>
      <p:sp>
        <p:nvSpPr>
          <p:cNvPr id="235" name="Text 233"/>
          <p:cNvSpPr txBox="1"/>
          <p:nvPr/>
        </p:nvSpPr>
        <p:spPr>
          <a:xfrm>
            <a:off x="8708136" y="5231315"/>
            <a:ext cx="2804160"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89</a:t>
            </a:r>
            <a:endParaRPr lang="en-US" sz="1300" dirty="0"/>
          </a:p>
        </p:txBody>
      </p:sp>
      <p:sp>
        <p:nvSpPr>
          <p:cNvPr id="236" name="Text 234"/>
          <p:cNvSpPr txBox="1"/>
          <p:nvPr/>
        </p:nvSpPr>
        <p:spPr>
          <a:xfrm>
            <a:off x="6208776" y="5443369"/>
            <a:ext cx="2103120" cy="240971"/>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237" name="Shape 235"/>
          <p:cNvSpPr/>
          <p:nvPr/>
        </p:nvSpPr>
        <p:spPr>
          <a:xfrm>
            <a:off x="8357616" y="5472286"/>
            <a:ext cx="914" cy="183138"/>
          </a:xfrm>
          <a:prstGeom prst="rect">
            <a:avLst/>
          </a:prstGeom>
          <a:solidFill>
            <a:srgbClr val="12A566"/>
          </a:solidFill>
          <a:ln w="6350">
            <a:solidFill>
              <a:srgbClr val="FFFFFF"/>
            </a:solidFill>
            <a:prstDash val="solid"/>
          </a:ln>
        </p:spPr>
      </p:sp>
      <p:sp>
        <p:nvSpPr>
          <p:cNvPr id="238" name="Shape 236"/>
          <p:cNvSpPr/>
          <p:nvPr/>
        </p:nvSpPr>
        <p:spPr>
          <a:xfrm>
            <a:off x="8357616" y="5472286"/>
            <a:ext cx="914" cy="183138"/>
          </a:xfrm>
          <a:prstGeom prst="rect">
            <a:avLst/>
          </a:prstGeom>
          <a:solidFill>
            <a:srgbClr val="5B9BD5"/>
          </a:solidFill>
          <a:ln w="6350">
            <a:solidFill>
              <a:srgbClr val="FFFFFF"/>
            </a:solidFill>
            <a:prstDash val="solid"/>
          </a:ln>
        </p:spPr>
      </p:sp>
      <p:sp>
        <p:nvSpPr>
          <p:cNvPr id="239" name="Shape 237"/>
          <p:cNvSpPr/>
          <p:nvPr/>
        </p:nvSpPr>
        <p:spPr>
          <a:xfrm>
            <a:off x="8357616" y="5472286"/>
            <a:ext cx="3154680" cy="183138"/>
          </a:xfrm>
          <a:prstGeom prst="rect">
            <a:avLst/>
          </a:prstGeom>
          <a:solidFill>
            <a:srgbClr val="C2352F"/>
          </a:solidFill>
          <a:ln w="6350">
            <a:solidFill>
              <a:srgbClr val="FFFFFF"/>
            </a:solidFill>
            <a:prstDash val="solid"/>
          </a:ln>
        </p:spPr>
      </p:sp>
      <p:sp>
        <p:nvSpPr>
          <p:cNvPr id="240" name="Text 238"/>
          <p:cNvSpPr txBox="1"/>
          <p:nvPr/>
        </p:nvSpPr>
        <p:spPr>
          <a:xfrm>
            <a:off x="8357616" y="5472286"/>
            <a:ext cx="3154680" cy="183138"/>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100</a:t>
            </a:r>
            <a:endParaRPr lang="en-US" sz="1300" dirty="0"/>
          </a:p>
        </p:txBody>
      </p:sp>
      <p:sp>
        <p:nvSpPr>
          <p:cNvPr id="241" name="Shape 239"/>
          <p:cNvSpPr/>
          <p:nvPr/>
        </p:nvSpPr>
        <p:spPr>
          <a:xfrm>
            <a:off x="457200" y="6126480"/>
            <a:ext cx="11274552" cy="615696"/>
          </a:xfrm>
          <a:prstGeom prst="rect">
            <a:avLst/>
          </a:prstGeom>
          <a:solidFill>
            <a:srgbClr val="EDF4FA"/>
          </a:solidFill>
          <a:ln/>
        </p:spPr>
      </p:sp>
      <p:sp>
        <p:nvSpPr>
          <p:cNvPr id="242" name="Text 240"/>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Of 583 technicians, 198 are above 100% and 262 (45%) are under 85%. 14 stores have more than half their technicians under target.</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PRODUCTIVITY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The Proficiency Opportunity</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Shape 4"/>
          <p:cNvSpPr/>
          <p:nvPr/>
        </p:nvSpPr>
        <p:spPr>
          <a:xfrm>
            <a:off x="713232" y="1481328"/>
            <a:ext cx="2539746" cy="3017520"/>
          </a:xfrm>
          <a:prstGeom prst="rect">
            <a:avLst/>
          </a:prstGeom>
          <a:solidFill>
            <a:srgbClr val="F7F7F7"/>
          </a:solidFill>
          <a:ln/>
        </p:spPr>
      </p:sp>
      <p:sp>
        <p:nvSpPr>
          <p:cNvPr id="7" name="Shape 5"/>
          <p:cNvSpPr/>
          <p:nvPr/>
        </p:nvSpPr>
        <p:spPr>
          <a:xfrm>
            <a:off x="713232" y="1481328"/>
            <a:ext cx="2539746" cy="64008"/>
          </a:xfrm>
          <a:prstGeom prst="rect">
            <a:avLst/>
          </a:prstGeom>
          <a:solidFill>
            <a:srgbClr val="C2352F"/>
          </a:solidFill>
          <a:ln/>
        </p:spPr>
      </p:sp>
      <p:sp>
        <p:nvSpPr>
          <p:cNvPr id="8" name="Text 6"/>
          <p:cNvSpPr txBox="1"/>
          <p:nvPr/>
        </p:nvSpPr>
        <p:spPr>
          <a:xfrm>
            <a:off x="896112" y="1691640"/>
            <a:ext cx="2173986" cy="566928"/>
          </a:xfrm>
          <a:prstGeom prst="rect">
            <a:avLst/>
          </a:prstGeom>
          <a:noFill/>
          <a:ln/>
        </p:spPr>
        <p:txBody>
          <a:bodyPr wrap="square" lIns="0" tIns="0" rIns="0" bIns="0" rtlCol="0" anchor="t"/>
          <a:lstStyle/>
          <a:p>
            <a:pPr indent="0" marL="0">
              <a:buNone/>
            </a:pPr>
            <a:r>
              <a:rPr lang="en-US" sz="1400" b="1" spc="80" kern="0" dirty="0">
                <a:solidFill>
                  <a:srgbClr val="595959"/>
                </a:solidFill>
                <a:latin typeface="Inter" pitchFamily="34" charset="0"/>
                <a:ea typeface="Inter" pitchFamily="34" charset="-122"/>
                <a:cs typeface="Inter" pitchFamily="34" charset="-120"/>
              </a:rPr>
              <a:t>GROSS MISSED A MONTH</a:t>
            </a:r>
            <a:endParaRPr lang="en-US" sz="1400" dirty="0"/>
          </a:p>
        </p:txBody>
      </p:sp>
      <p:sp>
        <p:nvSpPr>
          <p:cNvPr id="9" name="Text 7"/>
          <p:cNvSpPr txBox="1"/>
          <p:nvPr/>
        </p:nvSpPr>
        <p:spPr>
          <a:xfrm>
            <a:off x="896112" y="2286000"/>
            <a:ext cx="2173986" cy="868680"/>
          </a:xfrm>
          <a:prstGeom prst="rect">
            <a:avLst/>
          </a:prstGeom>
          <a:noFill/>
          <a:ln/>
        </p:spPr>
        <p:txBody>
          <a:bodyPr wrap="square" lIns="0" tIns="0" rIns="0" bIns="0" rtlCol="0" anchor="ctr">
            <a:normAutofit/>
          </a:bodyPr>
          <a:lstStyle/>
          <a:p>
            <a:pPr indent="0" marL="0">
              <a:buNone/>
            </a:pPr>
            <a:r>
              <a:rPr lang="en-US" sz="4000" b="1" dirty="0">
                <a:solidFill>
                  <a:srgbClr val="A82B26"/>
                </a:solidFill>
                <a:latin typeface="Inter" pitchFamily="34" charset="0"/>
                <a:ea typeface="Inter" pitchFamily="34" charset="-122"/>
                <a:cs typeface="Inter" pitchFamily="34" charset="-120"/>
              </a:rPr>
              <a:t>$1.65M</a:t>
            </a:r>
            <a:endParaRPr lang="en-US" sz="4000" dirty="0"/>
          </a:p>
        </p:txBody>
      </p:sp>
      <p:sp>
        <p:nvSpPr>
          <p:cNvPr id="10" name="Text 8"/>
          <p:cNvSpPr txBox="1"/>
          <p:nvPr/>
        </p:nvSpPr>
        <p:spPr>
          <a:xfrm>
            <a:off x="896112" y="3200400"/>
            <a:ext cx="2173986" cy="1188720"/>
          </a:xfrm>
          <a:prstGeom prst="rect">
            <a:avLst/>
          </a:prstGeom>
          <a:noFill/>
          <a:ln/>
        </p:spPr>
        <p:txBody>
          <a:bodyPr wrap="square" lIns="0" tIns="0" rIns="0" bIns="0" rtlCol="0" anchor="t"/>
          <a:lstStyle/>
          <a:p>
            <a:pPr indent="0" marL="0">
              <a:buNone/>
            </a:pPr>
            <a:r>
              <a:rPr lang="en-US" sz="1500" dirty="0">
                <a:solidFill>
                  <a:srgbClr val="1A1A1A"/>
                </a:solidFill>
                <a:latin typeface="Inter" pitchFamily="34" charset="0"/>
                <a:ea typeface="Inter" pitchFamily="34" charset="-122"/>
                <a:cs typeface="Inter" pitchFamily="34" charset="-120"/>
              </a:rPr>
              <a:t>Labor $1.13M + parts $514K: 8.1% of the $20.44M a month our ROs generate.</a:t>
            </a:r>
            <a:endParaRPr lang="en-US" sz="1500" dirty="0"/>
          </a:p>
        </p:txBody>
      </p:sp>
      <p:sp>
        <p:nvSpPr>
          <p:cNvPr id="11" name="Shape 9"/>
          <p:cNvSpPr/>
          <p:nvPr/>
        </p:nvSpPr>
        <p:spPr>
          <a:xfrm>
            <a:off x="3454146" y="1481328"/>
            <a:ext cx="2539746" cy="3017520"/>
          </a:xfrm>
          <a:prstGeom prst="rect">
            <a:avLst/>
          </a:prstGeom>
          <a:solidFill>
            <a:srgbClr val="F7F7F7"/>
          </a:solidFill>
          <a:ln/>
        </p:spPr>
      </p:sp>
      <p:sp>
        <p:nvSpPr>
          <p:cNvPr id="12" name="Shape 10"/>
          <p:cNvSpPr/>
          <p:nvPr/>
        </p:nvSpPr>
        <p:spPr>
          <a:xfrm>
            <a:off x="3454146" y="1481328"/>
            <a:ext cx="2539746" cy="64008"/>
          </a:xfrm>
          <a:prstGeom prst="rect">
            <a:avLst/>
          </a:prstGeom>
          <a:solidFill>
            <a:srgbClr val="C2352F"/>
          </a:solidFill>
          <a:ln/>
        </p:spPr>
      </p:sp>
      <p:sp>
        <p:nvSpPr>
          <p:cNvPr id="13" name="Text 11"/>
          <p:cNvSpPr txBox="1"/>
          <p:nvPr/>
        </p:nvSpPr>
        <p:spPr>
          <a:xfrm>
            <a:off x="3637026" y="1691640"/>
            <a:ext cx="2173986" cy="566928"/>
          </a:xfrm>
          <a:prstGeom prst="rect">
            <a:avLst/>
          </a:prstGeom>
          <a:noFill/>
          <a:ln/>
        </p:spPr>
        <p:txBody>
          <a:bodyPr wrap="square" lIns="0" tIns="0" rIns="0" bIns="0" rtlCol="0" anchor="t"/>
          <a:lstStyle/>
          <a:p>
            <a:pPr indent="0" marL="0">
              <a:buNone/>
            </a:pPr>
            <a:r>
              <a:rPr lang="en-US" sz="1400" b="1" spc="80" kern="0" dirty="0">
                <a:solidFill>
                  <a:srgbClr val="595959"/>
                </a:solidFill>
                <a:latin typeface="Inter" pitchFamily="34" charset="0"/>
                <a:ea typeface="Inter" pitchFamily="34" charset="-122"/>
                <a:cs typeface="Inter" pitchFamily="34" charset="-120"/>
              </a:rPr>
              <a:t>TECH PAY MISSED A MONTH</a:t>
            </a:r>
            <a:endParaRPr lang="en-US" sz="1400" dirty="0"/>
          </a:p>
        </p:txBody>
      </p:sp>
      <p:sp>
        <p:nvSpPr>
          <p:cNvPr id="14" name="Text 12"/>
          <p:cNvSpPr txBox="1"/>
          <p:nvPr/>
        </p:nvSpPr>
        <p:spPr>
          <a:xfrm>
            <a:off x="3637026" y="2286000"/>
            <a:ext cx="2173986" cy="868680"/>
          </a:xfrm>
          <a:prstGeom prst="rect">
            <a:avLst/>
          </a:prstGeom>
          <a:noFill/>
          <a:ln/>
        </p:spPr>
        <p:txBody>
          <a:bodyPr wrap="square" lIns="0" tIns="0" rIns="0" bIns="0" rtlCol="0" anchor="ctr">
            <a:normAutofit/>
          </a:bodyPr>
          <a:lstStyle/>
          <a:p>
            <a:pPr indent="0" marL="0">
              <a:buNone/>
            </a:pPr>
            <a:r>
              <a:rPr lang="en-US" sz="4000" b="1" dirty="0">
                <a:solidFill>
                  <a:srgbClr val="A82B26"/>
                </a:solidFill>
                <a:latin typeface="Inter" pitchFamily="34" charset="0"/>
                <a:ea typeface="Inter" pitchFamily="34" charset="-122"/>
                <a:cs typeface="Inter" pitchFamily="34" charset="-120"/>
              </a:rPr>
              <a:t>$282K</a:t>
            </a:r>
            <a:endParaRPr lang="en-US" sz="4000" dirty="0"/>
          </a:p>
        </p:txBody>
      </p:sp>
      <p:sp>
        <p:nvSpPr>
          <p:cNvPr id="15" name="Text 13"/>
          <p:cNvSpPr txBox="1"/>
          <p:nvPr/>
        </p:nvSpPr>
        <p:spPr>
          <a:xfrm>
            <a:off x="3637026" y="3200400"/>
            <a:ext cx="2173986" cy="1188720"/>
          </a:xfrm>
          <a:prstGeom prst="rect">
            <a:avLst/>
          </a:prstGeom>
          <a:noFill/>
          <a:ln/>
        </p:spPr>
        <p:txBody>
          <a:bodyPr wrap="square" lIns="0" tIns="0" rIns="0" bIns="0" rtlCol="0" anchor="t"/>
          <a:lstStyle/>
          <a:p>
            <a:pPr indent="0" marL="0">
              <a:buNone/>
            </a:pPr>
            <a:r>
              <a:rPr lang="en-US" sz="1500" dirty="0">
                <a:solidFill>
                  <a:srgbClr val="1A1A1A"/>
                </a:solidFill>
                <a:latin typeface="Inter" pitchFamily="34" charset="0"/>
                <a:ea typeface="Inter" pitchFamily="34" charset="-122"/>
                <a:cs typeface="Inter" pitchFamily="34" charset="-120"/>
              </a:rPr>
              <a:t>About $1,080 a month for each tech under 85%. Same hours, bigger checks.</a:t>
            </a:r>
            <a:endParaRPr lang="en-US" sz="1500" dirty="0"/>
          </a:p>
        </p:txBody>
      </p:sp>
      <p:sp>
        <p:nvSpPr>
          <p:cNvPr id="16" name="Shape 14"/>
          <p:cNvSpPr/>
          <p:nvPr/>
        </p:nvSpPr>
        <p:spPr>
          <a:xfrm>
            <a:off x="6195060" y="1481328"/>
            <a:ext cx="2539746" cy="3017520"/>
          </a:xfrm>
          <a:prstGeom prst="rect">
            <a:avLst/>
          </a:prstGeom>
          <a:solidFill>
            <a:srgbClr val="F7F7F7"/>
          </a:solidFill>
          <a:ln/>
        </p:spPr>
      </p:sp>
      <p:sp>
        <p:nvSpPr>
          <p:cNvPr id="17" name="Shape 15"/>
          <p:cNvSpPr/>
          <p:nvPr/>
        </p:nvSpPr>
        <p:spPr>
          <a:xfrm>
            <a:off x="6195060" y="1481328"/>
            <a:ext cx="2539746" cy="64008"/>
          </a:xfrm>
          <a:prstGeom prst="rect">
            <a:avLst/>
          </a:prstGeom>
          <a:solidFill>
            <a:srgbClr val="C2352F"/>
          </a:solidFill>
          <a:ln/>
        </p:spPr>
      </p:sp>
      <p:sp>
        <p:nvSpPr>
          <p:cNvPr id="18" name="Text 16"/>
          <p:cNvSpPr txBox="1"/>
          <p:nvPr/>
        </p:nvSpPr>
        <p:spPr>
          <a:xfrm>
            <a:off x="6377940" y="1691640"/>
            <a:ext cx="2173986" cy="566928"/>
          </a:xfrm>
          <a:prstGeom prst="rect">
            <a:avLst/>
          </a:prstGeom>
          <a:noFill/>
          <a:ln/>
        </p:spPr>
        <p:txBody>
          <a:bodyPr wrap="square" lIns="0" tIns="0" rIns="0" bIns="0" rtlCol="0" anchor="t"/>
          <a:lstStyle/>
          <a:p>
            <a:pPr indent="0" marL="0">
              <a:buNone/>
            </a:pPr>
            <a:r>
              <a:rPr lang="en-US" sz="1400" b="1" spc="80" kern="0" dirty="0">
                <a:solidFill>
                  <a:srgbClr val="595959"/>
                </a:solidFill>
                <a:latin typeface="Inter" pitchFamily="34" charset="0"/>
                <a:ea typeface="Inter" pitchFamily="34" charset="-122"/>
                <a:cs typeface="Inter" pitchFamily="34" charset="-120"/>
              </a:rPr>
              <a:t>HOURS NOT PRODUCED YTD</a:t>
            </a:r>
            <a:endParaRPr lang="en-US" sz="1400" dirty="0"/>
          </a:p>
        </p:txBody>
      </p:sp>
      <p:sp>
        <p:nvSpPr>
          <p:cNvPr id="19" name="Text 17"/>
          <p:cNvSpPr txBox="1"/>
          <p:nvPr/>
        </p:nvSpPr>
        <p:spPr>
          <a:xfrm>
            <a:off x="6377940" y="2286000"/>
            <a:ext cx="2173986" cy="868680"/>
          </a:xfrm>
          <a:prstGeom prst="rect">
            <a:avLst/>
          </a:prstGeom>
          <a:noFill/>
          <a:ln/>
        </p:spPr>
        <p:txBody>
          <a:bodyPr wrap="square" lIns="0" tIns="0" rIns="0" bIns="0" rtlCol="0" anchor="ctr">
            <a:normAutofit/>
          </a:bodyPr>
          <a:lstStyle/>
          <a:p>
            <a:pPr indent="0" marL="0">
              <a:buNone/>
            </a:pPr>
            <a:r>
              <a:rPr lang="en-US" sz="4000" b="1" dirty="0">
                <a:solidFill>
                  <a:srgbClr val="A82B26"/>
                </a:solidFill>
                <a:latin typeface="Inter" pitchFamily="34" charset="0"/>
                <a:ea typeface="Inter" pitchFamily="34" charset="-122"/>
                <a:cs typeface="Inter" pitchFamily="34" charset="-120"/>
              </a:rPr>
              <a:t>79K</a:t>
            </a:r>
            <a:endParaRPr lang="en-US" sz="4000" dirty="0"/>
          </a:p>
        </p:txBody>
      </p:sp>
      <p:sp>
        <p:nvSpPr>
          <p:cNvPr id="20" name="Text 18"/>
          <p:cNvSpPr txBox="1"/>
          <p:nvPr/>
        </p:nvSpPr>
        <p:spPr>
          <a:xfrm>
            <a:off x="6377940" y="3200400"/>
            <a:ext cx="2173986" cy="1188720"/>
          </a:xfrm>
          <a:prstGeom prst="rect">
            <a:avLst/>
          </a:prstGeom>
          <a:noFill/>
          <a:ln/>
        </p:spPr>
        <p:txBody>
          <a:bodyPr wrap="square" lIns="0" tIns="0" rIns="0" bIns="0" rtlCol="0" anchor="t"/>
          <a:lstStyle/>
          <a:p>
            <a:pPr indent="0" marL="0">
              <a:buNone/>
            </a:pPr>
            <a:r>
              <a:rPr lang="en-US" sz="1500" dirty="0">
                <a:solidFill>
                  <a:srgbClr val="1A1A1A"/>
                </a:solidFill>
                <a:latin typeface="Inter" pitchFamily="34" charset="0"/>
                <a:ea typeface="Inter" pitchFamily="34" charset="-122"/>
                <a:cs typeface="Inter" pitchFamily="34" charset="-120"/>
              </a:rPr>
              <a:t>About 8.3K hours a month on the clock and not flagged, below the 85% line alone. 48 full-time techs of capacity.</a:t>
            </a:r>
            <a:endParaRPr lang="en-US" sz="1500" dirty="0"/>
          </a:p>
        </p:txBody>
      </p:sp>
      <p:sp>
        <p:nvSpPr>
          <p:cNvPr id="21" name="Shape 19"/>
          <p:cNvSpPr/>
          <p:nvPr/>
        </p:nvSpPr>
        <p:spPr>
          <a:xfrm>
            <a:off x="8935974" y="1481328"/>
            <a:ext cx="2539746" cy="3017520"/>
          </a:xfrm>
          <a:prstGeom prst="rect">
            <a:avLst/>
          </a:prstGeom>
          <a:solidFill>
            <a:srgbClr val="F7F7F7"/>
          </a:solidFill>
          <a:ln/>
        </p:spPr>
      </p:sp>
      <p:sp>
        <p:nvSpPr>
          <p:cNvPr id="22" name="Shape 20"/>
          <p:cNvSpPr/>
          <p:nvPr/>
        </p:nvSpPr>
        <p:spPr>
          <a:xfrm>
            <a:off x="8935974" y="1481328"/>
            <a:ext cx="2539746" cy="64008"/>
          </a:xfrm>
          <a:prstGeom prst="rect">
            <a:avLst/>
          </a:prstGeom>
          <a:solidFill>
            <a:srgbClr val="2587C5"/>
          </a:solidFill>
          <a:ln/>
        </p:spPr>
      </p:sp>
      <p:sp>
        <p:nvSpPr>
          <p:cNvPr id="23" name="Text 21"/>
          <p:cNvSpPr txBox="1"/>
          <p:nvPr/>
        </p:nvSpPr>
        <p:spPr>
          <a:xfrm>
            <a:off x="9118854" y="1691640"/>
            <a:ext cx="2173986" cy="566928"/>
          </a:xfrm>
          <a:prstGeom prst="rect">
            <a:avLst/>
          </a:prstGeom>
          <a:noFill/>
          <a:ln/>
        </p:spPr>
        <p:txBody>
          <a:bodyPr wrap="square" lIns="0" tIns="0" rIns="0" bIns="0" rtlCol="0" anchor="t"/>
          <a:lstStyle/>
          <a:p>
            <a:pPr indent="0" marL="0">
              <a:buNone/>
            </a:pPr>
            <a:r>
              <a:rPr lang="en-US" sz="1400" b="1" spc="80" kern="0" dirty="0">
                <a:solidFill>
                  <a:srgbClr val="595959"/>
                </a:solidFill>
                <a:latin typeface="Inter" pitchFamily="34" charset="0"/>
                <a:ea typeface="Inter" pitchFamily="34" charset="-122"/>
                <a:cs typeface="Inter" pitchFamily="34" charset="-120"/>
              </a:rPr>
              <a:t>TECHS UNDER 85%</a:t>
            </a:r>
            <a:endParaRPr lang="en-US" sz="1400" dirty="0"/>
          </a:p>
        </p:txBody>
      </p:sp>
      <p:sp>
        <p:nvSpPr>
          <p:cNvPr id="24" name="Text 22"/>
          <p:cNvSpPr txBox="1"/>
          <p:nvPr/>
        </p:nvSpPr>
        <p:spPr>
          <a:xfrm>
            <a:off x="9118854" y="2286000"/>
            <a:ext cx="2173986" cy="868680"/>
          </a:xfrm>
          <a:prstGeom prst="rect">
            <a:avLst/>
          </a:prstGeom>
          <a:noFill/>
          <a:ln/>
        </p:spPr>
        <p:txBody>
          <a:bodyPr wrap="square" lIns="0" tIns="0" rIns="0" bIns="0" rtlCol="0" anchor="ctr">
            <a:normAutofit/>
          </a:bodyPr>
          <a:lstStyle/>
          <a:p>
            <a:pPr indent="0" marL="0">
              <a:buNone/>
            </a:pPr>
            <a:r>
              <a:rPr lang="en-US" sz="4000" b="1" dirty="0">
                <a:solidFill>
                  <a:srgbClr val="0B2C4A"/>
                </a:solidFill>
                <a:latin typeface="Inter" pitchFamily="34" charset="0"/>
                <a:ea typeface="Inter" pitchFamily="34" charset="-122"/>
                <a:cs typeface="Inter" pitchFamily="34" charset="-120"/>
              </a:rPr>
              <a:t>262</a:t>
            </a:r>
            <a:endParaRPr lang="en-US" sz="4000" dirty="0"/>
          </a:p>
        </p:txBody>
      </p:sp>
      <p:sp>
        <p:nvSpPr>
          <p:cNvPr id="25" name="Text 23"/>
          <p:cNvSpPr txBox="1"/>
          <p:nvPr/>
        </p:nvSpPr>
        <p:spPr>
          <a:xfrm>
            <a:off x="9118854" y="3200400"/>
            <a:ext cx="2173986" cy="1188720"/>
          </a:xfrm>
          <a:prstGeom prst="rect">
            <a:avLst/>
          </a:prstGeom>
          <a:noFill/>
          <a:ln/>
        </p:spPr>
        <p:txBody>
          <a:bodyPr wrap="square" lIns="0" tIns="0" rIns="0" bIns="0" rtlCol="0" anchor="t"/>
          <a:lstStyle/>
          <a:p>
            <a:pPr indent="0" marL="0">
              <a:buNone/>
            </a:pPr>
            <a:r>
              <a:rPr lang="en-US" sz="1500" dirty="0">
                <a:solidFill>
                  <a:srgbClr val="1A1A1A"/>
                </a:solidFill>
                <a:latin typeface="Inter" pitchFamily="34" charset="0"/>
                <a:ea typeface="Inter" pitchFamily="34" charset="-122"/>
                <a:cs typeface="Inter" pitchFamily="34" charset="-120"/>
              </a:rPr>
              <a:t>Of 583 technicians (45%). Every store has at least one.</a:t>
            </a:r>
            <a:endParaRPr lang="en-US" sz="1500" dirty="0"/>
          </a:p>
        </p:txBody>
      </p:sp>
      <p:sp>
        <p:nvSpPr>
          <p:cNvPr id="26" name="Text 24"/>
          <p:cNvSpPr txBox="1"/>
          <p:nvPr/>
        </p:nvSpPr>
        <p:spPr>
          <a:xfrm>
            <a:off x="713232" y="4709160"/>
            <a:ext cx="10762488" cy="914400"/>
          </a:xfrm>
          <a:prstGeom prst="rect">
            <a:avLst/>
          </a:prstGeom>
          <a:noFill/>
          <a:ln/>
        </p:spPr>
        <p:txBody>
          <a:bodyPr wrap="square" lIns="0" tIns="0" rIns="0" bIns="0" rtlCol="0" anchor="ctr"/>
          <a:lstStyle/>
          <a:p>
            <a:pPr indent="0" marL="0">
              <a:buNone/>
            </a:pPr>
            <a:r>
              <a:rPr lang="en-US" sz="1700" dirty="0">
                <a:solidFill>
                  <a:srgbClr val="1A1A1A"/>
                </a:solidFill>
                <a:latin typeface="Inter" pitchFamily="34" charset="0"/>
                <a:ea typeface="Inter" pitchFamily="34" charset="-122"/>
                <a:cs typeface="Inter" pitchFamily="34" charset="-120"/>
              </a:rPr>
              <a:t>No extra hours, no extra techs, no extra bays. The techs, bays and lifts are already here; the hour is spent whether it is flagged or not. An hour not produced today cannot be sold tomorrow.</a:t>
            </a:r>
            <a:endParaRPr lang="en-US" sz="1700" dirty="0"/>
          </a:p>
        </p:txBody>
      </p:sp>
      <p:sp>
        <p:nvSpPr>
          <p:cNvPr id="27" name="Shape 25"/>
          <p:cNvSpPr/>
          <p:nvPr/>
        </p:nvSpPr>
        <p:spPr>
          <a:xfrm>
            <a:off x="457200" y="6126480"/>
            <a:ext cx="11274552" cy="371856"/>
          </a:xfrm>
          <a:prstGeom prst="rect">
            <a:avLst/>
          </a:prstGeom>
          <a:solidFill>
            <a:srgbClr val="FBEBEA"/>
          </a:solidFill>
          <a:ln/>
        </p:spPr>
      </p:sp>
      <p:sp>
        <p:nvSpPr>
          <p:cNvPr id="28" name="Text 26"/>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Lifting each tech under 85% to 85% is worth $1.65M a month in gross and $282K a month in tech pay.</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PRODUCTIVITY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Proficiency Opportunity by Store</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Text 4"/>
          <p:cNvSpPr txBox="1"/>
          <p:nvPr/>
        </p:nvSpPr>
        <p:spPr>
          <a:xfrm>
            <a:off x="3520440" y="1316736"/>
            <a:ext cx="786384"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Per mo</a:t>
            </a:r>
            <a:endParaRPr lang="en-US" sz="1400" dirty="0"/>
          </a:p>
        </p:txBody>
      </p:sp>
      <p:sp>
        <p:nvSpPr>
          <p:cNvPr id="7" name="Text 5"/>
          <p:cNvSpPr txBox="1"/>
          <p:nvPr/>
        </p:nvSpPr>
        <p:spPr>
          <a:xfrm>
            <a:off x="4306824" y="1316736"/>
            <a:ext cx="93268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Under 85%</a:t>
            </a:r>
            <a:endParaRPr lang="en-US" sz="1400" dirty="0"/>
          </a:p>
        </p:txBody>
      </p:sp>
      <p:sp>
        <p:nvSpPr>
          <p:cNvPr id="8" name="Text 6"/>
          <p:cNvSpPr txBox="1"/>
          <p:nvPr/>
        </p:nvSpPr>
        <p:spPr>
          <a:xfrm>
            <a:off x="5239512" y="1316736"/>
            <a:ext cx="676656"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Store</a:t>
            </a:r>
            <a:endParaRPr lang="en-US" sz="1400" dirty="0"/>
          </a:p>
        </p:txBody>
      </p:sp>
      <p:sp>
        <p:nvSpPr>
          <p:cNvPr id="9" name="Text 7"/>
          <p:cNvSpPr txBox="1"/>
          <p:nvPr/>
        </p:nvSpPr>
        <p:spPr>
          <a:xfrm>
            <a:off x="9070848" y="1316736"/>
            <a:ext cx="786384"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Per mo</a:t>
            </a:r>
            <a:endParaRPr lang="en-US" sz="1400" dirty="0"/>
          </a:p>
        </p:txBody>
      </p:sp>
      <p:sp>
        <p:nvSpPr>
          <p:cNvPr id="10" name="Text 8"/>
          <p:cNvSpPr txBox="1"/>
          <p:nvPr/>
        </p:nvSpPr>
        <p:spPr>
          <a:xfrm>
            <a:off x="9857232" y="1316736"/>
            <a:ext cx="93268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Under 85%</a:t>
            </a:r>
            <a:endParaRPr lang="en-US" sz="1400" dirty="0"/>
          </a:p>
        </p:txBody>
      </p:sp>
      <p:sp>
        <p:nvSpPr>
          <p:cNvPr id="11" name="Text 9"/>
          <p:cNvSpPr txBox="1"/>
          <p:nvPr/>
        </p:nvSpPr>
        <p:spPr>
          <a:xfrm>
            <a:off x="10789920" y="1316736"/>
            <a:ext cx="676656"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Store</a:t>
            </a:r>
            <a:endParaRPr lang="en-US" sz="1400" dirty="0"/>
          </a:p>
        </p:txBody>
      </p:sp>
      <p:sp>
        <p:nvSpPr>
          <p:cNvPr id="12" name="Text 10"/>
          <p:cNvSpPr txBox="1"/>
          <p:nvPr/>
        </p:nvSpPr>
        <p:spPr>
          <a:xfrm>
            <a:off x="658368" y="170078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3" name="Text 11"/>
          <p:cNvSpPr txBox="1"/>
          <p:nvPr/>
        </p:nvSpPr>
        <p:spPr>
          <a:xfrm>
            <a:off x="1014984" y="1700784"/>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CADILLAC</a:t>
            </a:r>
            <a:endParaRPr lang="en-US" sz="1200" dirty="0"/>
          </a:p>
        </p:txBody>
      </p:sp>
      <p:sp>
        <p:nvSpPr>
          <p:cNvPr id="14" name="Shape 12"/>
          <p:cNvSpPr/>
          <p:nvPr/>
        </p:nvSpPr>
        <p:spPr>
          <a:xfrm>
            <a:off x="2871216" y="1756697"/>
            <a:ext cx="594360" cy="136676"/>
          </a:xfrm>
          <a:prstGeom prst="rect">
            <a:avLst/>
          </a:prstGeom>
          <a:solidFill>
            <a:srgbClr val="C2352F"/>
          </a:solidFill>
          <a:ln/>
        </p:spPr>
      </p:sp>
      <p:sp>
        <p:nvSpPr>
          <p:cNvPr id="15" name="Text 13"/>
          <p:cNvSpPr txBox="1"/>
          <p:nvPr/>
        </p:nvSpPr>
        <p:spPr>
          <a:xfrm>
            <a:off x="3520440" y="1700784"/>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$158K</a:t>
            </a:r>
            <a:endParaRPr lang="en-US" sz="1300" dirty="0"/>
          </a:p>
        </p:txBody>
      </p:sp>
      <p:sp>
        <p:nvSpPr>
          <p:cNvPr id="16" name="Text 14"/>
          <p:cNvSpPr txBox="1"/>
          <p:nvPr/>
        </p:nvSpPr>
        <p:spPr>
          <a:xfrm>
            <a:off x="4306824" y="1700784"/>
            <a:ext cx="93268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 of 29</a:t>
            </a:r>
            <a:endParaRPr lang="en-US" sz="1300" dirty="0"/>
          </a:p>
        </p:txBody>
      </p:sp>
      <p:sp>
        <p:nvSpPr>
          <p:cNvPr id="17" name="Text 15"/>
          <p:cNvSpPr txBox="1"/>
          <p:nvPr/>
        </p:nvSpPr>
        <p:spPr>
          <a:xfrm>
            <a:off x="5239512" y="1700784"/>
            <a:ext cx="676656"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87%</a:t>
            </a:r>
            <a:endParaRPr lang="en-US" sz="1300" dirty="0"/>
          </a:p>
        </p:txBody>
      </p:sp>
      <p:sp>
        <p:nvSpPr>
          <p:cNvPr id="18" name="Text 16"/>
          <p:cNvSpPr txBox="1"/>
          <p:nvPr/>
        </p:nvSpPr>
        <p:spPr>
          <a:xfrm>
            <a:off x="658368" y="194928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19" name="Text 17"/>
          <p:cNvSpPr txBox="1"/>
          <p:nvPr/>
        </p:nvSpPr>
        <p:spPr>
          <a:xfrm>
            <a:off x="1014984" y="1949286"/>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GMC BULLHEAD</a:t>
            </a:r>
            <a:endParaRPr lang="en-US" sz="1200" dirty="0"/>
          </a:p>
        </p:txBody>
      </p:sp>
      <p:sp>
        <p:nvSpPr>
          <p:cNvPr id="20" name="Shape 18"/>
          <p:cNvSpPr/>
          <p:nvPr/>
        </p:nvSpPr>
        <p:spPr>
          <a:xfrm>
            <a:off x="2871216" y="2005199"/>
            <a:ext cx="423252" cy="136676"/>
          </a:xfrm>
          <a:prstGeom prst="rect">
            <a:avLst/>
          </a:prstGeom>
          <a:solidFill>
            <a:srgbClr val="C2352F"/>
          </a:solidFill>
          <a:ln/>
        </p:spPr>
      </p:sp>
      <p:sp>
        <p:nvSpPr>
          <p:cNvPr id="21" name="Text 19"/>
          <p:cNvSpPr txBox="1"/>
          <p:nvPr/>
        </p:nvSpPr>
        <p:spPr>
          <a:xfrm>
            <a:off x="3520440" y="1949286"/>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$112K</a:t>
            </a:r>
            <a:endParaRPr lang="en-US" sz="1300" dirty="0"/>
          </a:p>
        </p:txBody>
      </p:sp>
      <p:sp>
        <p:nvSpPr>
          <p:cNvPr id="22" name="Text 20"/>
          <p:cNvSpPr txBox="1"/>
          <p:nvPr/>
        </p:nvSpPr>
        <p:spPr>
          <a:xfrm>
            <a:off x="4306824" y="1949286"/>
            <a:ext cx="93268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 of 20</a:t>
            </a:r>
            <a:endParaRPr lang="en-US" sz="1300" dirty="0"/>
          </a:p>
        </p:txBody>
      </p:sp>
      <p:sp>
        <p:nvSpPr>
          <p:cNvPr id="23" name="Text 21"/>
          <p:cNvSpPr txBox="1"/>
          <p:nvPr/>
        </p:nvSpPr>
        <p:spPr>
          <a:xfrm>
            <a:off x="5239512" y="1949286"/>
            <a:ext cx="676656"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68%</a:t>
            </a:r>
            <a:endParaRPr lang="en-US" sz="1300" dirty="0"/>
          </a:p>
        </p:txBody>
      </p:sp>
      <p:sp>
        <p:nvSpPr>
          <p:cNvPr id="24" name="Text 22"/>
          <p:cNvSpPr txBox="1"/>
          <p:nvPr/>
        </p:nvSpPr>
        <p:spPr>
          <a:xfrm>
            <a:off x="658368" y="219778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5" name="Text 23"/>
          <p:cNvSpPr txBox="1"/>
          <p:nvPr/>
        </p:nvSpPr>
        <p:spPr>
          <a:xfrm>
            <a:off x="1014984" y="2197787"/>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HENDERSON</a:t>
            </a:r>
            <a:endParaRPr lang="en-US" sz="1200" dirty="0"/>
          </a:p>
        </p:txBody>
      </p:sp>
      <p:sp>
        <p:nvSpPr>
          <p:cNvPr id="26" name="Shape 24"/>
          <p:cNvSpPr/>
          <p:nvPr/>
        </p:nvSpPr>
        <p:spPr>
          <a:xfrm>
            <a:off x="2871216" y="2253700"/>
            <a:ext cx="383101" cy="136676"/>
          </a:xfrm>
          <a:prstGeom prst="rect">
            <a:avLst/>
          </a:prstGeom>
          <a:solidFill>
            <a:srgbClr val="C2352F"/>
          </a:solidFill>
          <a:ln/>
        </p:spPr>
      </p:sp>
      <p:sp>
        <p:nvSpPr>
          <p:cNvPr id="27" name="Text 25"/>
          <p:cNvSpPr txBox="1"/>
          <p:nvPr/>
        </p:nvSpPr>
        <p:spPr>
          <a:xfrm>
            <a:off x="3520440" y="2197787"/>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$102K</a:t>
            </a:r>
            <a:endParaRPr lang="en-US" sz="1300" dirty="0"/>
          </a:p>
        </p:txBody>
      </p:sp>
      <p:sp>
        <p:nvSpPr>
          <p:cNvPr id="28" name="Text 26"/>
          <p:cNvSpPr txBox="1"/>
          <p:nvPr/>
        </p:nvSpPr>
        <p:spPr>
          <a:xfrm>
            <a:off x="4306824" y="2197787"/>
            <a:ext cx="93268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 of 23</a:t>
            </a:r>
            <a:endParaRPr lang="en-US" sz="1300" dirty="0"/>
          </a:p>
        </p:txBody>
      </p:sp>
      <p:sp>
        <p:nvSpPr>
          <p:cNvPr id="29" name="Text 27"/>
          <p:cNvSpPr txBox="1"/>
          <p:nvPr/>
        </p:nvSpPr>
        <p:spPr>
          <a:xfrm>
            <a:off x="5239512" y="2197787"/>
            <a:ext cx="676656"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91%</a:t>
            </a:r>
            <a:endParaRPr lang="en-US" sz="1300" dirty="0"/>
          </a:p>
        </p:txBody>
      </p:sp>
      <p:sp>
        <p:nvSpPr>
          <p:cNvPr id="30" name="Text 28"/>
          <p:cNvSpPr txBox="1"/>
          <p:nvPr/>
        </p:nvSpPr>
        <p:spPr>
          <a:xfrm>
            <a:off x="658368" y="244628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31" name="Text 29"/>
          <p:cNvSpPr txBox="1"/>
          <p:nvPr/>
        </p:nvSpPr>
        <p:spPr>
          <a:xfrm>
            <a:off x="1014984" y="2446289"/>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CDJR POST FALLS</a:t>
            </a:r>
            <a:endParaRPr lang="en-US" sz="1200" dirty="0"/>
          </a:p>
        </p:txBody>
      </p:sp>
      <p:sp>
        <p:nvSpPr>
          <p:cNvPr id="32" name="Shape 30"/>
          <p:cNvSpPr/>
          <p:nvPr/>
        </p:nvSpPr>
        <p:spPr>
          <a:xfrm>
            <a:off x="2871216" y="2502202"/>
            <a:ext cx="377643" cy="136676"/>
          </a:xfrm>
          <a:prstGeom prst="rect">
            <a:avLst/>
          </a:prstGeom>
          <a:solidFill>
            <a:srgbClr val="C2352F"/>
          </a:solidFill>
          <a:ln/>
        </p:spPr>
      </p:sp>
      <p:sp>
        <p:nvSpPr>
          <p:cNvPr id="33" name="Text 31"/>
          <p:cNvSpPr txBox="1"/>
          <p:nvPr/>
        </p:nvSpPr>
        <p:spPr>
          <a:xfrm>
            <a:off x="3520440" y="2446289"/>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$100K</a:t>
            </a:r>
            <a:endParaRPr lang="en-US" sz="1300" dirty="0"/>
          </a:p>
        </p:txBody>
      </p:sp>
      <p:sp>
        <p:nvSpPr>
          <p:cNvPr id="34" name="Text 32"/>
          <p:cNvSpPr txBox="1"/>
          <p:nvPr/>
        </p:nvSpPr>
        <p:spPr>
          <a:xfrm>
            <a:off x="4306824" y="2446289"/>
            <a:ext cx="93268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 of 14</a:t>
            </a:r>
            <a:endParaRPr lang="en-US" sz="1300" dirty="0"/>
          </a:p>
        </p:txBody>
      </p:sp>
      <p:sp>
        <p:nvSpPr>
          <p:cNvPr id="35" name="Text 33"/>
          <p:cNvSpPr txBox="1"/>
          <p:nvPr/>
        </p:nvSpPr>
        <p:spPr>
          <a:xfrm>
            <a:off x="5239512" y="2446289"/>
            <a:ext cx="676656"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71%</a:t>
            </a:r>
            <a:endParaRPr lang="en-US" sz="1300" dirty="0"/>
          </a:p>
        </p:txBody>
      </p:sp>
      <p:sp>
        <p:nvSpPr>
          <p:cNvPr id="36" name="Text 34"/>
          <p:cNvSpPr txBox="1"/>
          <p:nvPr/>
        </p:nvSpPr>
        <p:spPr>
          <a:xfrm>
            <a:off x="658368" y="2694791"/>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37" name="Text 35"/>
          <p:cNvSpPr txBox="1"/>
          <p:nvPr/>
        </p:nvSpPr>
        <p:spPr>
          <a:xfrm>
            <a:off x="1014984" y="2694791"/>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ST GEORGE</a:t>
            </a:r>
            <a:endParaRPr lang="en-US" sz="1200" dirty="0"/>
          </a:p>
        </p:txBody>
      </p:sp>
      <p:sp>
        <p:nvSpPr>
          <p:cNvPr id="38" name="Shape 36"/>
          <p:cNvSpPr/>
          <p:nvPr/>
        </p:nvSpPr>
        <p:spPr>
          <a:xfrm>
            <a:off x="2871216" y="2750703"/>
            <a:ext cx="332905" cy="136676"/>
          </a:xfrm>
          <a:prstGeom prst="rect">
            <a:avLst/>
          </a:prstGeom>
          <a:solidFill>
            <a:srgbClr val="C2352F"/>
          </a:solidFill>
          <a:ln/>
        </p:spPr>
      </p:sp>
      <p:sp>
        <p:nvSpPr>
          <p:cNvPr id="39" name="Text 37"/>
          <p:cNvSpPr txBox="1"/>
          <p:nvPr/>
        </p:nvSpPr>
        <p:spPr>
          <a:xfrm>
            <a:off x="3520440" y="2694791"/>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$88K</a:t>
            </a:r>
            <a:endParaRPr lang="en-US" sz="1300" dirty="0"/>
          </a:p>
        </p:txBody>
      </p:sp>
      <p:sp>
        <p:nvSpPr>
          <p:cNvPr id="40" name="Text 38"/>
          <p:cNvSpPr txBox="1"/>
          <p:nvPr/>
        </p:nvSpPr>
        <p:spPr>
          <a:xfrm>
            <a:off x="4306824" y="2694791"/>
            <a:ext cx="93268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 of 11</a:t>
            </a:r>
            <a:endParaRPr lang="en-US" sz="1300" dirty="0"/>
          </a:p>
        </p:txBody>
      </p:sp>
      <p:sp>
        <p:nvSpPr>
          <p:cNvPr id="41" name="Text 39"/>
          <p:cNvSpPr txBox="1"/>
          <p:nvPr/>
        </p:nvSpPr>
        <p:spPr>
          <a:xfrm>
            <a:off x="5239512" y="2694791"/>
            <a:ext cx="676656"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69%</a:t>
            </a:r>
            <a:endParaRPr lang="en-US" sz="1300" dirty="0"/>
          </a:p>
        </p:txBody>
      </p:sp>
      <p:sp>
        <p:nvSpPr>
          <p:cNvPr id="42" name="Text 40"/>
          <p:cNvSpPr txBox="1"/>
          <p:nvPr/>
        </p:nvSpPr>
        <p:spPr>
          <a:xfrm>
            <a:off x="658368" y="294329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43" name="Text 41"/>
          <p:cNvSpPr txBox="1"/>
          <p:nvPr/>
        </p:nvSpPr>
        <p:spPr>
          <a:xfrm>
            <a:off x="1014984" y="2943292"/>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LV</a:t>
            </a:r>
            <a:endParaRPr lang="en-US" sz="1200" dirty="0"/>
          </a:p>
        </p:txBody>
      </p:sp>
      <p:sp>
        <p:nvSpPr>
          <p:cNvPr id="44" name="Shape 42"/>
          <p:cNvSpPr/>
          <p:nvPr/>
        </p:nvSpPr>
        <p:spPr>
          <a:xfrm>
            <a:off x="2871216" y="2999205"/>
            <a:ext cx="329038" cy="136676"/>
          </a:xfrm>
          <a:prstGeom prst="rect">
            <a:avLst/>
          </a:prstGeom>
          <a:solidFill>
            <a:srgbClr val="C2352F"/>
          </a:solidFill>
          <a:ln/>
        </p:spPr>
      </p:sp>
      <p:sp>
        <p:nvSpPr>
          <p:cNvPr id="45" name="Text 43"/>
          <p:cNvSpPr txBox="1"/>
          <p:nvPr/>
        </p:nvSpPr>
        <p:spPr>
          <a:xfrm>
            <a:off x="3520440" y="2943292"/>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$87K</a:t>
            </a:r>
            <a:endParaRPr lang="en-US" sz="1300" dirty="0"/>
          </a:p>
        </p:txBody>
      </p:sp>
      <p:sp>
        <p:nvSpPr>
          <p:cNvPr id="46" name="Text 44"/>
          <p:cNvSpPr txBox="1"/>
          <p:nvPr/>
        </p:nvSpPr>
        <p:spPr>
          <a:xfrm>
            <a:off x="4306824" y="2943292"/>
            <a:ext cx="93268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 of 51</a:t>
            </a:r>
            <a:endParaRPr lang="en-US" sz="1300" dirty="0"/>
          </a:p>
        </p:txBody>
      </p:sp>
      <p:sp>
        <p:nvSpPr>
          <p:cNvPr id="47" name="Text 45"/>
          <p:cNvSpPr txBox="1"/>
          <p:nvPr/>
        </p:nvSpPr>
        <p:spPr>
          <a:xfrm>
            <a:off x="5239512" y="2943292"/>
            <a:ext cx="676656"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103%</a:t>
            </a:r>
            <a:endParaRPr lang="en-US" sz="1300" dirty="0"/>
          </a:p>
        </p:txBody>
      </p:sp>
      <p:sp>
        <p:nvSpPr>
          <p:cNvPr id="48" name="Text 46"/>
          <p:cNvSpPr txBox="1"/>
          <p:nvPr/>
        </p:nvSpPr>
        <p:spPr>
          <a:xfrm>
            <a:off x="658368" y="319179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49" name="Text 47"/>
          <p:cNvSpPr txBox="1"/>
          <p:nvPr/>
        </p:nvSpPr>
        <p:spPr>
          <a:xfrm>
            <a:off x="1014984" y="3191794"/>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PRESCOTT</a:t>
            </a:r>
            <a:endParaRPr lang="en-US" sz="1200" dirty="0"/>
          </a:p>
        </p:txBody>
      </p:sp>
      <p:sp>
        <p:nvSpPr>
          <p:cNvPr id="50" name="Shape 48"/>
          <p:cNvSpPr/>
          <p:nvPr/>
        </p:nvSpPr>
        <p:spPr>
          <a:xfrm>
            <a:off x="2871216" y="3247707"/>
            <a:ext cx="291475" cy="136676"/>
          </a:xfrm>
          <a:prstGeom prst="rect">
            <a:avLst/>
          </a:prstGeom>
          <a:solidFill>
            <a:srgbClr val="C2352F"/>
          </a:solidFill>
          <a:ln/>
        </p:spPr>
      </p:sp>
      <p:sp>
        <p:nvSpPr>
          <p:cNvPr id="51" name="Text 49"/>
          <p:cNvSpPr txBox="1"/>
          <p:nvPr/>
        </p:nvSpPr>
        <p:spPr>
          <a:xfrm>
            <a:off x="3520440" y="3191794"/>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$77K</a:t>
            </a:r>
            <a:endParaRPr lang="en-US" sz="1300" dirty="0"/>
          </a:p>
        </p:txBody>
      </p:sp>
      <p:sp>
        <p:nvSpPr>
          <p:cNvPr id="52" name="Text 50"/>
          <p:cNvSpPr txBox="1"/>
          <p:nvPr/>
        </p:nvSpPr>
        <p:spPr>
          <a:xfrm>
            <a:off x="4306824" y="3191794"/>
            <a:ext cx="93268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 of 22</a:t>
            </a:r>
            <a:endParaRPr lang="en-US" sz="1300" dirty="0"/>
          </a:p>
        </p:txBody>
      </p:sp>
      <p:sp>
        <p:nvSpPr>
          <p:cNvPr id="53" name="Text 51"/>
          <p:cNvSpPr txBox="1"/>
          <p:nvPr/>
        </p:nvSpPr>
        <p:spPr>
          <a:xfrm>
            <a:off x="5239512" y="3191794"/>
            <a:ext cx="676656"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83%</a:t>
            </a:r>
            <a:endParaRPr lang="en-US" sz="1300" dirty="0"/>
          </a:p>
        </p:txBody>
      </p:sp>
      <p:sp>
        <p:nvSpPr>
          <p:cNvPr id="54" name="Text 52"/>
          <p:cNvSpPr txBox="1"/>
          <p:nvPr/>
        </p:nvSpPr>
        <p:spPr>
          <a:xfrm>
            <a:off x="658368" y="344029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55" name="Text 53"/>
          <p:cNvSpPr txBox="1"/>
          <p:nvPr/>
        </p:nvSpPr>
        <p:spPr>
          <a:xfrm>
            <a:off x="1014984" y="3440296"/>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ST GEORGE</a:t>
            </a:r>
            <a:endParaRPr lang="en-US" sz="1200" dirty="0"/>
          </a:p>
        </p:txBody>
      </p:sp>
      <p:sp>
        <p:nvSpPr>
          <p:cNvPr id="56" name="Shape 54"/>
          <p:cNvSpPr/>
          <p:nvPr/>
        </p:nvSpPr>
        <p:spPr>
          <a:xfrm>
            <a:off x="2871216" y="3496208"/>
            <a:ext cx="288910" cy="136676"/>
          </a:xfrm>
          <a:prstGeom prst="rect">
            <a:avLst/>
          </a:prstGeom>
          <a:solidFill>
            <a:srgbClr val="C2352F"/>
          </a:solidFill>
          <a:ln/>
        </p:spPr>
      </p:sp>
      <p:sp>
        <p:nvSpPr>
          <p:cNvPr id="57" name="Text 55"/>
          <p:cNvSpPr txBox="1"/>
          <p:nvPr/>
        </p:nvSpPr>
        <p:spPr>
          <a:xfrm>
            <a:off x="3520440" y="3440296"/>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$77K</a:t>
            </a:r>
            <a:endParaRPr lang="en-US" sz="1300" dirty="0"/>
          </a:p>
        </p:txBody>
      </p:sp>
      <p:sp>
        <p:nvSpPr>
          <p:cNvPr id="58" name="Text 56"/>
          <p:cNvSpPr txBox="1"/>
          <p:nvPr/>
        </p:nvSpPr>
        <p:spPr>
          <a:xfrm>
            <a:off x="4306824" y="3440296"/>
            <a:ext cx="93268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 of 12</a:t>
            </a:r>
            <a:endParaRPr lang="en-US" sz="1300" dirty="0"/>
          </a:p>
        </p:txBody>
      </p:sp>
      <p:sp>
        <p:nvSpPr>
          <p:cNvPr id="59" name="Text 57"/>
          <p:cNvSpPr txBox="1"/>
          <p:nvPr/>
        </p:nvSpPr>
        <p:spPr>
          <a:xfrm>
            <a:off x="5239512" y="3440296"/>
            <a:ext cx="676656"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67%</a:t>
            </a:r>
            <a:endParaRPr lang="en-US" sz="1300" dirty="0"/>
          </a:p>
        </p:txBody>
      </p:sp>
      <p:sp>
        <p:nvSpPr>
          <p:cNvPr id="60" name="Text 58"/>
          <p:cNvSpPr txBox="1"/>
          <p:nvPr/>
        </p:nvSpPr>
        <p:spPr>
          <a:xfrm>
            <a:off x="658368" y="368879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61" name="Text 59"/>
          <p:cNvSpPr txBox="1"/>
          <p:nvPr/>
        </p:nvSpPr>
        <p:spPr>
          <a:xfrm>
            <a:off x="1014984" y="3688797"/>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ACURA</a:t>
            </a:r>
            <a:endParaRPr lang="en-US" sz="1200" dirty="0"/>
          </a:p>
        </p:txBody>
      </p:sp>
      <p:sp>
        <p:nvSpPr>
          <p:cNvPr id="62" name="Shape 60"/>
          <p:cNvSpPr/>
          <p:nvPr/>
        </p:nvSpPr>
        <p:spPr>
          <a:xfrm>
            <a:off x="2871216" y="3744710"/>
            <a:ext cx="286162" cy="136676"/>
          </a:xfrm>
          <a:prstGeom prst="rect">
            <a:avLst/>
          </a:prstGeom>
          <a:solidFill>
            <a:srgbClr val="C2352F"/>
          </a:solidFill>
          <a:ln/>
        </p:spPr>
      </p:sp>
      <p:sp>
        <p:nvSpPr>
          <p:cNvPr id="63" name="Text 61"/>
          <p:cNvSpPr txBox="1"/>
          <p:nvPr/>
        </p:nvSpPr>
        <p:spPr>
          <a:xfrm>
            <a:off x="3520440" y="3688797"/>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$76K</a:t>
            </a:r>
            <a:endParaRPr lang="en-US" sz="1300" dirty="0"/>
          </a:p>
        </p:txBody>
      </p:sp>
      <p:sp>
        <p:nvSpPr>
          <p:cNvPr id="64" name="Text 62"/>
          <p:cNvSpPr txBox="1"/>
          <p:nvPr/>
        </p:nvSpPr>
        <p:spPr>
          <a:xfrm>
            <a:off x="4306824" y="3688797"/>
            <a:ext cx="93268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 of 11</a:t>
            </a:r>
            <a:endParaRPr lang="en-US" sz="1300" dirty="0"/>
          </a:p>
        </p:txBody>
      </p:sp>
      <p:sp>
        <p:nvSpPr>
          <p:cNvPr id="65" name="Text 63"/>
          <p:cNvSpPr txBox="1"/>
          <p:nvPr/>
        </p:nvSpPr>
        <p:spPr>
          <a:xfrm>
            <a:off x="5239512" y="3688797"/>
            <a:ext cx="676656"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67%</a:t>
            </a:r>
            <a:endParaRPr lang="en-US" sz="1300" dirty="0"/>
          </a:p>
        </p:txBody>
      </p:sp>
      <p:sp>
        <p:nvSpPr>
          <p:cNvPr id="66" name="Text 64"/>
          <p:cNvSpPr txBox="1"/>
          <p:nvPr/>
        </p:nvSpPr>
        <p:spPr>
          <a:xfrm>
            <a:off x="658368" y="393729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67" name="Text 65"/>
          <p:cNvSpPr txBox="1"/>
          <p:nvPr/>
        </p:nvSpPr>
        <p:spPr>
          <a:xfrm>
            <a:off x="1014984" y="3937299"/>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LV</a:t>
            </a:r>
            <a:endParaRPr lang="en-US" sz="1200" dirty="0"/>
          </a:p>
        </p:txBody>
      </p:sp>
      <p:sp>
        <p:nvSpPr>
          <p:cNvPr id="68" name="Shape 66"/>
          <p:cNvSpPr/>
          <p:nvPr/>
        </p:nvSpPr>
        <p:spPr>
          <a:xfrm>
            <a:off x="2871216" y="3993212"/>
            <a:ext cx="280027" cy="136676"/>
          </a:xfrm>
          <a:prstGeom prst="rect">
            <a:avLst/>
          </a:prstGeom>
          <a:solidFill>
            <a:srgbClr val="C2352F"/>
          </a:solidFill>
          <a:ln/>
        </p:spPr>
      </p:sp>
      <p:sp>
        <p:nvSpPr>
          <p:cNvPr id="69" name="Text 67"/>
          <p:cNvSpPr txBox="1"/>
          <p:nvPr/>
        </p:nvSpPr>
        <p:spPr>
          <a:xfrm>
            <a:off x="3520440" y="3937299"/>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$74K</a:t>
            </a:r>
            <a:endParaRPr lang="en-US" sz="1300" dirty="0"/>
          </a:p>
        </p:txBody>
      </p:sp>
      <p:sp>
        <p:nvSpPr>
          <p:cNvPr id="70" name="Text 68"/>
          <p:cNvSpPr txBox="1"/>
          <p:nvPr/>
        </p:nvSpPr>
        <p:spPr>
          <a:xfrm>
            <a:off x="4306824" y="3937299"/>
            <a:ext cx="93268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 of 20</a:t>
            </a:r>
            <a:endParaRPr lang="en-US" sz="1300" dirty="0"/>
          </a:p>
        </p:txBody>
      </p:sp>
      <p:sp>
        <p:nvSpPr>
          <p:cNvPr id="71" name="Text 69"/>
          <p:cNvSpPr txBox="1"/>
          <p:nvPr/>
        </p:nvSpPr>
        <p:spPr>
          <a:xfrm>
            <a:off x="5239512" y="3937299"/>
            <a:ext cx="676656"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76%</a:t>
            </a:r>
            <a:endParaRPr lang="en-US" sz="1300" dirty="0"/>
          </a:p>
        </p:txBody>
      </p:sp>
      <p:sp>
        <p:nvSpPr>
          <p:cNvPr id="72" name="Text 70"/>
          <p:cNvSpPr txBox="1"/>
          <p:nvPr/>
        </p:nvSpPr>
        <p:spPr>
          <a:xfrm>
            <a:off x="658368" y="4185800"/>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73" name="Text 71"/>
          <p:cNvSpPr txBox="1"/>
          <p:nvPr/>
        </p:nvSpPr>
        <p:spPr>
          <a:xfrm>
            <a:off x="1014984" y="4185800"/>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HENDERSON</a:t>
            </a:r>
            <a:endParaRPr lang="en-US" sz="1200" dirty="0"/>
          </a:p>
        </p:txBody>
      </p:sp>
      <p:sp>
        <p:nvSpPr>
          <p:cNvPr id="74" name="Shape 72"/>
          <p:cNvSpPr/>
          <p:nvPr/>
        </p:nvSpPr>
        <p:spPr>
          <a:xfrm>
            <a:off x="2871216" y="4241713"/>
            <a:ext cx="264542" cy="136676"/>
          </a:xfrm>
          <a:prstGeom prst="rect">
            <a:avLst/>
          </a:prstGeom>
          <a:solidFill>
            <a:srgbClr val="C2352F"/>
          </a:solidFill>
          <a:ln/>
        </p:spPr>
      </p:sp>
      <p:sp>
        <p:nvSpPr>
          <p:cNvPr id="75" name="Text 73"/>
          <p:cNvSpPr txBox="1"/>
          <p:nvPr/>
        </p:nvSpPr>
        <p:spPr>
          <a:xfrm>
            <a:off x="3520440" y="4185800"/>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$70K</a:t>
            </a:r>
            <a:endParaRPr lang="en-US" sz="1300" dirty="0"/>
          </a:p>
        </p:txBody>
      </p:sp>
      <p:sp>
        <p:nvSpPr>
          <p:cNvPr id="76" name="Text 74"/>
          <p:cNvSpPr txBox="1"/>
          <p:nvPr/>
        </p:nvSpPr>
        <p:spPr>
          <a:xfrm>
            <a:off x="4306824" y="4185800"/>
            <a:ext cx="93268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20 of 59</a:t>
            </a:r>
            <a:endParaRPr lang="en-US" sz="1300" dirty="0"/>
          </a:p>
        </p:txBody>
      </p:sp>
      <p:sp>
        <p:nvSpPr>
          <p:cNvPr id="77" name="Text 75"/>
          <p:cNvSpPr txBox="1"/>
          <p:nvPr/>
        </p:nvSpPr>
        <p:spPr>
          <a:xfrm>
            <a:off x="5239512" y="4185800"/>
            <a:ext cx="676656"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104%</a:t>
            </a:r>
            <a:endParaRPr lang="en-US" sz="1300" dirty="0"/>
          </a:p>
        </p:txBody>
      </p:sp>
      <p:sp>
        <p:nvSpPr>
          <p:cNvPr id="78" name="Text 76"/>
          <p:cNvSpPr txBox="1"/>
          <p:nvPr/>
        </p:nvSpPr>
        <p:spPr>
          <a:xfrm>
            <a:off x="658368" y="443430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79" name="Text 77"/>
          <p:cNvSpPr txBox="1"/>
          <p:nvPr/>
        </p:nvSpPr>
        <p:spPr>
          <a:xfrm>
            <a:off x="1014984" y="4434302"/>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LV</a:t>
            </a:r>
            <a:endParaRPr lang="en-US" sz="1200" dirty="0"/>
          </a:p>
        </p:txBody>
      </p:sp>
      <p:sp>
        <p:nvSpPr>
          <p:cNvPr id="80" name="Shape 78"/>
          <p:cNvSpPr/>
          <p:nvPr/>
        </p:nvSpPr>
        <p:spPr>
          <a:xfrm>
            <a:off x="2871216" y="4490215"/>
            <a:ext cx="238147" cy="136676"/>
          </a:xfrm>
          <a:prstGeom prst="rect">
            <a:avLst/>
          </a:prstGeom>
          <a:solidFill>
            <a:srgbClr val="C2352F"/>
          </a:solidFill>
          <a:ln/>
        </p:spPr>
      </p:sp>
      <p:sp>
        <p:nvSpPr>
          <p:cNvPr id="81" name="Text 79"/>
          <p:cNvSpPr txBox="1"/>
          <p:nvPr/>
        </p:nvSpPr>
        <p:spPr>
          <a:xfrm>
            <a:off x="3520440" y="4434302"/>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$63K</a:t>
            </a:r>
            <a:endParaRPr lang="en-US" sz="1300" dirty="0"/>
          </a:p>
        </p:txBody>
      </p:sp>
      <p:sp>
        <p:nvSpPr>
          <p:cNvPr id="82" name="Text 80"/>
          <p:cNvSpPr txBox="1"/>
          <p:nvPr/>
        </p:nvSpPr>
        <p:spPr>
          <a:xfrm>
            <a:off x="4306824" y="4434302"/>
            <a:ext cx="93268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 of 16</a:t>
            </a:r>
            <a:endParaRPr lang="en-US" sz="1300" dirty="0"/>
          </a:p>
        </p:txBody>
      </p:sp>
      <p:sp>
        <p:nvSpPr>
          <p:cNvPr id="83" name="Text 81"/>
          <p:cNvSpPr txBox="1"/>
          <p:nvPr/>
        </p:nvSpPr>
        <p:spPr>
          <a:xfrm>
            <a:off x="5239512" y="4434302"/>
            <a:ext cx="676656"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91%</a:t>
            </a:r>
            <a:endParaRPr lang="en-US" sz="1300" dirty="0"/>
          </a:p>
        </p:txBody>
      </p:sp>
      <p:sp>
        <p:nvSpPr>
          <p:cNvPr id="84" name="Text 82"/>
          <p:cNvSpPr txBox="1"/>
          <p:nvPr/>
        </p:nvSpPr>
        <p:spPr>
          <a:xfrm>
            <a:off x="658368" y="468280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85" name="Text 83"/>
          <p:cNvSpPr txBox="1"/>
          <p:nvPr/>
        </p:nvSpPr>
        <p:spPr>
          <a:xfrm>
            <a:off x="1014984" y="4682804"/>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VOLVO</a:t>
            </a:r>
            <a:endParaRPr lang="en-US" sz="1200" dirty="0"/>
          </a:p>
        </p:txBody>
      </p:sp>
      <p:sp>
        <p:nvSpPr>
          <p:cNvPr id="86" name="Shape 84"/>
          <p:cNvSpPr/>
          <p:nvPr/>
        </p:nvSpPr>
        <p:spPr>
          <a:xfrm>
            <a:off x="2871216" y="4738717"/>
            <a:ext cx="233408" cy="136676"/>
          </a:xfrm>
          <a:prstGeom prst="rect">
            <a:avLst/>
          </a:prstGeom>
          <a:solidFill>
            <a:srgbClr val="C2352F"/>
          </a:solidFill>
          <a:ln/>
        </p:spPr>
      </p:sp>
      <p:sp>
        <p:nvSpPr>
          <p:cNvPr id="87" name="Text 85"/>
          <p:cNvSpPr txBox="1"/>
          <p:nvPr/>
        </p:nvSpPr>
        <p:spPr>
          <a:xfrm>
            <a:off x="3520440" y="4682804"/>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$62K</a:t>
            </a:r>
            <a:endParaRPr lang="en-US" sz="1300" dirty="0"/>
          </a:p>
        </p:txBody>
      </p:sp>
      <p:sp>
        <p:nvSpPr>
          <p:cNvPr id="88" name="Text 86"/>
          <p:cNvSpPr txBox="1"/>
          <p:nvPr/>
        </p:nvSpPr>
        <p:spPr>
          <a:xfrm>
            <a:off x="4306824" y="4682804"/>
            <a:ext cx="93268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 of 9</a:t>
            </a:r>
            <a:endParaRPr lang="en-US" sz="1300" dirty="0"/>
          </a:p>
        </p:txBody>
      </p:sp>
      <p:sp>
        <p:nvSpPr>
          <p:cNvPr id="89" name="Text 87"/>
          <p:cNvSpPr txBox="1"/>
          <p:nvPr/>
        </p:nvSpPr>
        <p:spPr>
          <a:xfrm>
            <a:off x="5239512" y="4682804"/>
            <a:ext cx="676656"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72%</a:t>
            </a:r>
            <a:endParaRPr lang="en-US" sz="1300" dirty="0"/>
          </a:p>
        </p:txBody>
      </p:sp>
      <p:sp>
        <p:nvSpPr>
          <p:cNvPr id="90" name="Text 88"/>
          <p:cNvSpPr txBox="1"/>
          <p:nvPr/>
        </p:nvSpPr>
        <p:spPr>
          <a:xfrm>
            <a:off x="658368" y="4931305"/>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91" name="Text 89"/>
          <p:cNvSpPr txBox="1"/>
          <p:nvPr/>
        </p:nvSpPr>
        <p:spPr>
          <a:xfrm>
            <a:off x="1014984" y="4931305"/>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PRESCOTT</a:t>
            </a:r>
            <a:endParaRPr lang="en-US" sz="1200" dirty="0"/>
          </a:p>
        </p:txBody>
      </p:sp>
      <p:sp>
        <p:nvSpPr>
          <p:cNvPr id="92" name="Shape 90"/>
          <p:cNvSpPr/>
          <p:nvPr/>
        </p:nvSpPr>
        <p:spPr>
          <a:xfrm>
            <a:off x="2871216" y="4987218"/>
            <a:ext cx="217057" cy="136676"/>
          </a:xfrm>
          <a:prstGeom prst="rect">
            <a:avLst/>
          </a:prstGeom>
          <a:solidFill>
            <a:srgbClr val="C2352F"/>
          </a:solidFill>
          <a:ln/>
        </p:spPr>
      </p:sp>
      <p:sp>
        <p:nvSpPr>
          <p:cNvPr id="93" name="Text 91"/>
          <p:cNvSpPr txBox="1"/>
          <p:nvPr/>
        </p:nvSpPr>
        <p:spPr>
          <a:xfrm>
            <a:off x="3520440" y="4931305"/>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$58K</a:t>
            </a:r>
            <a:endParaRPr lang="en-US" sz="1300" dirty="0"/>
          </a:p>
        </p:txBody>
      </p:sp>
      <p:sp>
        <p:nvSpPr>
          <p:cNvPr id="94" name="Text 92"/>
          <p:cNvSpPr txBox="1"/>
          <p:nvPr/>
        </p:nvSpPr>
        <p:spPr>
          <a:xfrm>
            <a:off x="4306824" y="4931305"/>
            <a:ext cx="93268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 of 12</a:t>
            </a:r>
            <a:endParaRPr lang="en-US" sz="1300" dirty="0"/>
          </a:p>
        </p:txBody>
      </p:sp>
      <p:sp>
        <p:nvSpPr>
          <p:cNvPr id="95" name="Text 93"/>
          <p:cNvSpPr txBox="1"/>
          <p:nvPr/>
        </p:nvSpPr>
        <p:spPr>
          <a:xfrm>
            <a:off x="5239512" y="4931305"/>
            <a:ext cx="676656"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98%</a:t>
            </a:r>
            <a:endParaRPr lang="en-US" sz="1300" dirty="0"/>
          </a:p>
        </p:txBody>
      </p:sp>
      <p:sp>
        <p:nvSpPr>
          <p:cNvPr id="96" name="Text 94"/>
          <p:cNvSpPr txBox="1"/>
          <p:nvPr/>
        </p:nvSpPr>
        <p:spPr>
          <a:xfrm>
            <a:off x="658368" y="517980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97" name="Text 95"/>
          <p:cNvSpPr txBox="1"/>
          <p:nvPr/>
        </p:nvSpPr>
        <p:spPr>
          <a:xfrm>
            <a:off x="1014984" y="5179807"/>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GMC PRESCOTT</a:t>
            </a:r>
            <a:endParaRPr lang="en-US" sz="1200" dirty="0"/>
          </a:p>
        </p:txBody>
      </p:sp>
      <p:sp>
        <p:nvSpPr>
          <p:cNvPr id="98" name="Shape 96"/>
          <p:cNvSpPr/>
          <p:nvPr/>
        </p:nvSpPr>
        <p:spPr>
          <a:xfrm>
            <a:off x="2871216" y="5235720"/>
            <a:ext cx="180426" cy="136676"/>
          </a:xfrm>
          <a:prstGeom prst="rect">
            <a:avLst/>
          </a:prstGeom>
          <a:solidFill>
            <a:srgbClr val="C2352F"/>
          </a:solidFill>
          <a:ln/>
        </p:spPr>
      </p:sp>
      <p:sp>
        <p:nvSpPr>
          <p:cNvPr id="99" name="Text 97"/>
          <p:cNvSpPr txBox="1"/>
          <p:nvPr/>
        </p:nvSpPr>
        <p:spPr>
          <a:xfrm>
            <a:off x="3520440" y="5179807"/>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$48K</a:t>
            </a:r>
            <a:endParaRPr lang="en-US" sz="1300" dirty="0"/>
          </a:p>
        </p:txBody>
      </p:sp>
      <p:sp>
        <p:nvSpPr>
          <p:cNvPr id="100" name="Text 98"/>
          <p:cNvSpPr txBox="1"/>
          <p:nvPr/>
        </p:nvSpPr>
        <p:spPr>
          <a:xfrm>
            <a:off x="4306824" y="5179807"/>
            <a:ext cx="93268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 of 12</a:t>
            </a:r>
            <a:endParaRPr lang="en-US" sz="1300" dirty="0"/>
          </a:p>
        </p:txBody>
      </p:sp>
      <p:sp>
        <p:nvSpPr>
          <p:cNvPr id="101" name="Text 99"/>
          <p:cNvSpPr txBox="1"/>
          <p:nvPr/>
        </p:nvSpPr>
        <p:spPr>
          <a:xfrm>
            <a:off x="5239512" y="5179807"/>
            <a:ext cx="676656"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73%</a:t>
            </a:r>
            <a:endParaRPr lang="en-US" sz="1300" dirty="0"/>
          </a:p>
        </p:txBody>
      </p:sp>
      <p:sp>
        <p:nvSpPr>
          <p:cNvPr id="102" name="Text 100"/>
          <p:cNvSpPr txBox="1"/>
          <p:nvPr/>
        </p:nvSpPr>
        <p:spPr>
          <a:xfrm>
            <a:off x="658368" y="542830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103" name="Text 101"/>
          <p:cNvSpPr txBox="1"/>
          <p:nvPr/>
        </p:nvSpPr>
        <p:spPr>
          <a:xfrm>
            <a:off x="1014984" y="5428309"/>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LV</a:t>
            </a:r>
            <a:endParaRPr lang="en-US" sz="1200" dirty="0"/>
          </a:p>
        </p:txBody>
      </p:sp>
      <p:sp>
        <p:nvSpPr>
          <p:cNvPr id="104" name="Shape 102"/>
          <p:cNvSpPr/>
          <p:nvPr/>
        </p:nvSpPr>
        <p:spPr>
          <a:xfrm>
            <a:off x="2871216" y="5484222"/>
            <a:ext cx="164601" cy="136676"/>
          </a:xfrm>
          <a:prstGeom prst="rect">
            <a:avLst/>
          </a:prstGeom>
          <a:solidFill>
            <a:srgbClr val="C2352F"/>
          </a:solidFill>
          <a:ln/>
        </p:spPr>
      </p:sp>
      <p:sp>
        <p:nvSpPr>
          <p:cNvPr id="105" name="Text 103"/>
          <p:cNvSpPr txBox="1"/>
          <p:nvPr/>
        </p:nvSpPr>
        <p:spPr>
          <a:xfrm>
            <a:off x="3520440" y="5428309"/>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$44K</a:t>
            </a:r>
            <a:endParaRPr lang="en-US" sz="1300" dirty="0"/>
          </a:p>
        </p:txBody>
      </p:sp>
      <p:sp>
        <p:nvSpPr>
          <p:cNvPr id="106" name="Text 104"/>
          <p:cNvSpPr txBox="1"/>
          <p:nvPr/>
        </p:nvSpPr>
        <p:spPr>
          <a:xfrm>
            <a:off x="4306824" y="5428309"/>
            <a:ext cx="93268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 of 27</a:t>
            </a:r>
            <a:endParaRPr lang="en-US" sz="1300" dirty="0"/>
          </a:p>
        </p:txBody>
      </p:sp>
      <p:sp>
        <p:nvSpPr>
          <p:cNvPr id="107" name="Text 105"/>
          <p:cNvSpPr txBox="1"/>
          <p:nvPr/>
        </p:nvSpPr>
        <p:spPr>
          <a:xfrm>
            <a:off x="5239512" y="5428309"/>
            <a:ext cx="676656"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96%</a:t>
            </a:r>
            <a:endParaRPr lang="en-US" sz="1300" dirty="0"/>
          </a:p>
        </p:txBody>
      </p:sp>
      <p:sp>
        <p:nvSpPr>
          <p:cNvPr id="108" name="Text 106"/>
          <p:cNvSpPr txBox="1"/>
          <p:nvPr/>
        </p:nvSpPr>
        <p:spPr>
          <a:xfrm>
            <a:off x="658368" y="5676810"/>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109" name="Text 107"/>
          <p:cNvSpPr txBox="1"/>
          <p:nvPr/>
        </p:nvSpPr>
        <p:spPr>
          <a:xfrm>
            <a:off x="1014984" y="5676810"/>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NISSAN</a:t>
            </a:r>
            <a:endParaRPr lang="en-US" sz="1200" dirty="0"/>
          </a:p>
        </p:txBody>
      </p:sp>
      <p:sp>
        <p:nvSpPr>
          <p:cNvPr id="110" name="Shape 108"/>
          <p:cNvSpPr/>
          <p:nvPr/>
        </p:nvSpPr>
        <p:spPr>
          <a:xfrm>
            <a:off x="2871216" y="5732723"/>
            <a:ext cx="159807" cy="136676"/>
          </a:xfrm>
          <a:prstGeom prst="rect">
            <a:avLst/>
          </a:prstGeom>
          <a:solidFill>
            <a:srgbClr val="C2352F"/>
          </a:solidFill>
          <a:ln/>
        </p:spPr>
      </p:sp>
      <p:sp>
        <p:nvSpPr>
          <p:cNvPr id="111" name="Text 109"/>
          <p:cNvSpPr txBox="1"/>
          <p:nvPr/>
        </p:nvSpPr>
        <p:spPr>
          <a:xfrm>
            <a:off x="3520440" y="5676810"/>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$42K</a:t>
            </a:r>
            <a:endParaRPr lang="en-US" sz="1300" dirty="0"/>
          </a:p>
        </p:txBody>
      </p:sp>
      <p:sp>
        <p:nvSpPr>
          <p:cNvPr id="112" name="Text 110"/>
          <p:cNvSpPr txBox="1"/>
          <p:nvPr/>
        </p:nvSpPr>
        <p:spPr>
          <a:xfrm>
            <a:off x="4306824" y="5676810"/>
            <a:ext cx="93268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 of 17</a:t>
            </a:r>
            <a:endParaRPr lang="en-US" sz="1300" dirty="0"/>
          </a:p>
        </p:txBody>
      </p:sp>
      <p:sp>
        <p:nvSpPr>
          <p:cNvPr id="113" name="Text 111"/>
          <p:cNvSpPr txBox="1"/>
          <p:nvPr/>
        </p:nvSpPr>
        <p:spPr>
          <a:xfrm>
            <a:off x="5239512" y="5676810"/>
            <a:ext cx="676656"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91%</a:t>
            </a:r>
            <a:endParaRPr lang="en-US" sz="1300" dirty="0"/>
          </a:p>
        </p:txBody>
      </p:sp>
      <p:sp>
        <p:nvSpPr>
          <p:cNvPr id="114" name="Text 112"/>
          <p:cNvSpPr txBox="1"/>
          <p:nvPr/>
        </p:nvSpPr>
        <p:spPr>
          <a:xfrm>
            <a:off x="6208776" y="170078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115" name="Text 113"/>
          <p:cNvSpPr txBox="1"/>
          <p:nvPr/>
        </p:nvSpPr>
        <p:spPr>
          <a:xfrm>
            <a:off x="6565392" y="1700784"/>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FLAGSTAFF</a:t>
            </a:r>
            <a:endParaRPr lang="en-US" sz="1200" dirty="0"/>
          </a:p>
        </p:txBody>
      </p:sp>
      <p:sp>
        <p:nvSpPr>
          <p:cNvPr id="116" name="Shape 114"/>
          <p:cNvSpPr/>
          <p:nvPr/>
        </p:nvSpPr>
        <p:spPr>
          <a:xfrm>
            <a:off x="8421624" y="1756697"/>
            <a:ext cx="148734" cy="136676"/>
          </a:xfrm>
          <a:prstGeom prst="rect">
            <a:avLst/>
          </a:prstGeom>
          <a:solidFill>
            <a:srgbClr val="C2352F"/>
          </a:solidFill>
          <a:ln/>
        </p:spPr>
      </p:sp>
      <p:sp>
        <p:nvSpPr>
          <p:cNvPr id="117" name="Text 115"/>
          <p:cNvSpPr txBox="1"/>
          <p:nvPr/>
        </p:nvSpPr>
        <p:spPr>
          <a:xfrm>
            <a:off x="9070848" y="1700784"/>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$39K</a:t>
            </a:r>
            <a:endParaRPr lang="en-US" sz="1300" dirty="0"/>
          </a:p>
        </p:txBody>
      </p:sp>
      <p:sp>
        <p:nvSpPr>
          <p:cNvPr id="118" name="Text 116"/>
          <p:cNvSpPr txBox="1"/>
          <p:nvPr/>
        </p:nvSpPr>
        <p:spPr>
          <a:xfrm>
            <a:off x="9857232" y="1700784"/>
            <a:ext cx="93268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 of 6</a:t>
            </a:r>
            <a:endParaRPr lang="en-US" sz="1300" dirty="0"/>
          </a:p>
        </p:txBody>
      </p:sp>
      <p:sp>
        <p:nvSpPr>
          <p:cNvPr id="119" name="Text 117"/>
          <p:cNvSpPr txBox="1"/>
          <p:nvPr/>
        </p:nvSpPr>
        <p:spPr>
          <a:xfrm>
            <a:off x="10789920" y="1700784"/>
            <a:ext cx="676656"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78%</a:t>
            </a:r>
            <a:endParaRPr lang="en-US" sz="1300" dirty="0"/>
          </a:p>
        </p:txBody>
      </p:sp>
      <p:sp>
        <p:nvSpPr>
          <p:cNvPr id="120" name="Text 118"/>
          <p:cNvSpPr txBox="1"/>
          <p:nvPr/>
        </p:nvSpPr>
        <p:spPr>
          <a:xfrm>
            <a:off x="6208776" y="194928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121" name="Text 119"/>
          <p:cNvSpPr txBox="1"/>
          <p:nvPr/>
        </p:nvSpPr>
        <p:spPr>
          <a:xfrm>
            <a:off x="6565392" y="1949286"/>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PRESCOTT</a:t>
            </a:r>
            <a:endParaRPr lang="en-US" sz="1200" dirty="0"/>
          </a:p>
        </p:txBody>
      </p:sp>
      <p:sp>
        <p:nvSpPr>
          <p:cNvPr id="122" name="Shape 120"/>
          <p:cNvSpPr/>
          <p:nvPr/>
        </p:nvSpPr>
        <p:spPr>
          <a:xfrm>
            <a:off x="8421624" y="2005199"/>
            <a:ext cx="129329" cy="136676"/>
          </a:xfrm>
          <a:prstGeom prst="rect">
            <a:avLst/>
          </a:prstGeom>
          <a:solidFill>
            <a:srgbClr val="C2352F"/>
          </a:solidFill>
          <a:ln/>
        </p:spPr>
      </p:sp>
      <p:sp>
        <p:nvSpPr>
          <p:cNvPr id="123" name="Text 121"/>
          <p:cNvSpPr txBox="1"/>
          <p:nvPr/>
        </p:nvSpPr>
        <p:spPr>
          <a:xfrm>
            <a:off x="9070848" y="1949286"/>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$34K</a:t>
            </a:r>
            <a:endParaRPr lang="en-US" sz="1300" dirty="0"/>
          </a:p>
        </p:txBody>
      </p:sp>
      <p:sp>
        <p:nvSpPr>
          <p:cNvPr id="124" name="Text 122"/>
          <p:cNvSpPr txBox="1"/>
          <p:nvPr/>
        </p:nvSpPr>
        <p:spPr>
          <a:xfrm>
            <a:off x="9857232" y="1949286"/>
            <a:ext cx="93268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 of 9</a:t>
            </a:r>
            <a:endParaRPr lang="en-US" sz="1300" dirty="0"/>
          </a:p>
        </p:txBody>
      </p:sp>
      <p:sp>
        <p:nvSpPr>
          <p:cNvPr id="125" name="Text 123"/>
          <p:cNvSpPr txBox="1"/>
          <p:nvPr/>
        </p:nvSpPr>
        <p:spPr>
          <a:xfrm>
            <a:off x="10789920" y="1949286"/>
            <a:ext cx="676656"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78%</a:t>
            </a:r>
            <a:endParaRPr lang="en-US" sz="1300" dirty="0"/>
          </a:p>
        </p:txBody>
      </p:sp>
      <p:sp>
        <p:nvSpPr>
          <p:cNvPr id="126" name="Text 124"/>
          <p:cNvSpPr txBox="1"/>
          <p:nvPr/>
        </p:nvSpPr>
        <p:spPr>
          <a:xfrm>
            <a:off x="6208776" y="219778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127" name="Text 125"/>
          <p:cNvSpPr txBox="1"/>
          <p:nvPr/>
        </p:nvSpPr>
        <p:spPr>
          <a:xfrm>
            <a:off x="6565392" y="2197787"/>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LEXUS</a:t>
            </a:r>
            <a:endParaRPr lang="en-US" sz="1200" dirty="0"/>
          </a:p>
        </p:txBody>
      </p:sp>
      <p:sp>
        <p:nvSpPr>
          <p:cNvPr id="128" name="Shape 126"/>
          <p:cNvSpPr/>
          <p:nvPr/>
        </p:nvSpPr>
        <p:spPr>
          <a:xfrm>
            <a:off x="8421624" y="2253700"/>
            <a:ext cx="119109" cy="136676"/>
          </a:xfrm>
          <a:prstGeom prst="rect">
            <a:avLst/>
          </a:prstGeom>
          <a:solidFill>
            <a:srgbClr val="C2352F"/>
          </a:solidFill>
          <a:ln/>
        </p:spPr>
      </p:sp>
      <p:sp>
        <p:nvSpPr>
          <p:cNvPr id="129" name="Text 127"/>
          <p:cNvSpPr txBox="1"/>
          <p:nvPr/>
        </p:nvSpPr>
        <p:spPr>
          <a:xfrm>
            <a:off x="9070848" y="2197787"/>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$32K</a:t>
            </a:r>
            <a:endParaRPr lang="en-US" sz="1300" dirty="0"/>
          </a:p>
        </p:txBody>
      </p:sp>
      <p:sp>
        <p:nvSpPr>
          <p:cNvPr id="130" name="Text 128"/>
          <p:cNvSpPr txBox="1"/>
          <p:nvPr/>
        </p:nvSpPr>
        <p:spPr>
          <a:xfrm>
            <a:off x="9857232" y="2197787"/>
            <a:ext cx="93268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 of 11</a:t>
            </a:r>
            <a:endParaRPr lang="en-US" sz="1300" dirty="0"/>
          </a:p>
        </p:txBody>
      </p:sp>
      <p:sp>
        <p:nvSpPr>
          <p:cNvPr id="131" name="Text 129"/>
          <p:cNvSpPr txBox="1"/>
          <p:nvPr/>
        </p:nvSpPr>
        <p:spPr>
          <a:xfrm>
            <a:off x="10789920" y="2197787"/>
            <a:ext cx="676656"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104%</a:t>
            </a:r>
            <a:endParaRPr lang="en-US" sz="1300" dirty="0"/>
          </a:p>
        </p:txBody>
      </p:sp>
      <p:sp>
        <p:nvSpPr>
          <p:cNvPr id="132" name="Text 130"/>
          <p:cNvSpPr txBox="1"/>
          <p:nvPr/>
        </p:nvSpPr>
        <p:spPr>
          <a:xfrm>
            <a:off x="6208776" y="244628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133" name="Text 131"/>
          <p:cNvSpPr txBox="1"/>
          <p:nvPr/>
        </p:nvSpPr>
        <p:spPr>
          <a:xfrm>
            <a:off x="6565392" y="2446289"/>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HENDERSON</a:t>
            </a:r>
            <a:endParaRPr lang="en-US" sz="1200" dirty="0"/>
          </a:p>
        </p:txBody>
      </p:sp>
      <p:sp>
        <p:nvSpPr>
          <p:cNvPr id="134" name="Shape 132"/>
          <p:cNvSpPr/>
          <p:nvPr/>
        </p:nvSpPr>
        <p:spPr>
          <a:xfrm>
            <a:off x="8421624" y="2502202"/>
            <a:ext cx="92701" cy="136676"/>
          </a:xfrm>
          <a:prstGeom prst="rect">
            <a:avLst/>
          </a:prstGeom>
          <a:solidFill>
            <a:srgbClr val="C2352F"/>
          </a:solidFill>
          <a:ln/>
        </p:spPr>
      </p:sp>
      <p:sp>
        <p:nvSpPr>
          <p:cNvPr id="135" name="Text 133"/>
          <p:cNvSpPr txBox="1"/>
          <p:nvPr/>
        </p:nvSpPr>
        <p:spPr>
          <a:xfrm>
            <a:off x="9070848" y="2446289"/>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$25K</a:t>
            </a:r>
            <a:endParaRPr lang="en-US" sz="1300" dirty="0"/>
          </a:p>
        </p:txBody>
      </p:sp>
      <p:sp>
        <p:nvSpPr>
          <p:cNvPr id="136" name="Text 134"/>
          <p:cNvSpPr txBox="1"/>
          <p:nvPr/>
        </p:nvSpPr>
        <p:spPr>
          <a:xfrm>
            <a:off x="9857232" y="2446289"/>
            <a:ext cx="93268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 of 19</a:t>
            </a:r>
            <a:endParaRPr lang="en-US" sz="1300" dirty="0"/>
          </a:p>
        </p:txBody>
      </p:sp>
      <p:sp>
        <p:nvSpPr>
          <p:cNvPr id="137" name="Text 135"/>
          <p:cNvSpPr txBox="1"/>
          <p:nvPr/>
        </p:nvSpPr>
        <p:spPr>
          <a:xfrm>
            <a:off x="10789920" y="2446289"/>
            <a:ext cx="676656"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92%</a:t>
            </a:r>
            <a:endParaRPr lang="en-US" sz="1300" dirty="0"/>
          </a:p>
        </p:txBody>
      </p:sp>
      <p:sp>
        <p:nvSpPr>
          <p:cNvPr id="138" name="Text 136"/>
          <p:cNvSpPr txBox="1"/>
          <p:nvPr/>
        </p:nvSpPr>
        <p:spPr>
          <a:xfrm>
            <a:off x="6208776" y="2694791"/>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139" name="Text 137"/>
          <p:cNvSpPr txBox="1"/>
          <p:nvPr/>
        </p:nvSpPr>
        <p:spPr>
          <a:xfrm>
            <a:off x="6565392" y="2694791"/>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LINCOLN</a:t>
            </a:r>
            <a:endParaRPr lang="en-US" sz="1200" dirty="0"/>
          </a:p>
        </p:txBody>
      </p:sp>
      <p:sp>
        <p:nvSpPr>
          <p:cNvPr id="140" name="Shape 138"/>
          <p:cNvSpPr/>
          <p:nvPr/>
        </p:nvSpPr>
        <p:spPr>
          <a:xfrm>
            <a:off x="8421624" y="2750703"/>
            <a:ext cx="89382" cy="136676"/>
          </a:xfrm>
          <a:prstGeom prst="rect">
            <a:avLst/>
          </a:prstGeom>
          <a:solidFill>
            <a:srgbClr val="C2352F"/>
          </a:solidFill>
          <a:ln/>
        </p:spPr>
      </p:sp>
      <p:sp>
        <p:nvSpPr>
          <p:cNvPr id="141" name="Text 139"/>
          <p:cNvSpPr txBox="1"/>
          <p:nvPr/>
        </p:nvSpPr>
        <p:spPr>
          <a:xfrm>
            <a:off x="9070848" y="2694791"/>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$24K</a:t>
            </a:r>
            <a:endParaRPr lang="en-US" sz="1300" dirty="0"/>
          </a:p>
        </p:txBody>
      </p:sp>
      <p:sp>
        <p:nvSpPr>
          <p:cNvPr id="142" name="Text 140"/>
          <p:cNvSpPr txBox="1"/>
          <p:nvPr/>
        </p:nvSpPr>
        <p:spPr>
          <a:xfrm>
            <a:off x="9857232" y="2694791"/>
            <a:ext cx="93268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 of 11</a:t>
            </a:r>
            <a:endParaRPr lang="en-US" sz="1300" dirty="0"/>
          </a:p>
        </p:txBody>
      </p:sp>
      <p:sp>
        <p:nvSpPr>
          <p:cNvPr id="143" name="Text 141"/>
          <p:cNvSpPr txBox="1"/>
          <p:nvPr/>
        </p:nvSpPr>
        <p:spPr>
          <a:xfrm>
            <a:off x="10789920" y="2694791"/>
            <a:ext cx="676656"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94%</a:t>
            </a:r>
            <a:endParaRPr lang="en-US" sz="1300" dirty="0"/>
          </a:p>
        </p:txBody>
      </p:sp>
      <p:sp>
        <p:nvSpPr>
          <p:cNvPr id="144" name="Text 142"/>
          <p:cNvSpPr txBox="1"/>
          <p:nvPr/>
        </p:nvSpPr>
        <p:spPr>
          <a:xfrm>
            <a:off x="6208776" y="294329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45" name="Text 143"/>
          <p:cNvSpPr txBox="1"/>
          <p:nvPr/>
        </p:nvSpPr>
        <p:spPr>
          <a:xfrm>
            <a:off x="6565392" y="2943292"/>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ST GEORGE</a:t>
            </a:r>
            <a:endParaRPr lang="en-US" sz="1200" dirty="0"/>
          </a:p>
        </p:txBody>
      </p:sp>
      <p:sp>
        <p:nvSpPr>
          <p:cNvPr id="146" name="Shape 144"/>
          <p:cNvSpPr/>
          <p:nvPr/>
        </p:nvSpPr>
        <p:spPr>
          <a:xfrm>
            <a:off x="8421624" y="2999205"/>
            <a:ext cx="83365" cy="136676"/>
          </a:xfrm>
          <a:prstGeom prst="rect">
            <a:avLst/>
          </a:prstGeom>
          <a:solidFill>
            <a:srgbClr val="C2352F"/>
          </a:solidFill>
          <a:ln/>
        </p:spPr>
      </p:sp>
      <p:sp>
        <p:nvSpPr>
          <p:cNvPr id="147" name="Text 145"/>
          <p:cNvSpPr txBox="1"/>
          <p:nvPr/>
        </p:nvSpPr>
        <p:spPr>
          <a:xfrm>
            <a:off x="9070848" y="2943292"/>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$22K</a:t>
            </a:r>
            <a:endParaRPr lang="en-US" sz="1300" dirty="0"/>
          </a:p>
        </p:txBody>
      </p:sp>
      <p:sp>
        <p:nvSpPr>
          <p:cNvPr id="148" name="Text 146"/>
          <p:cNvSpPr txBox="1"/>
          <p:nvPr/>
        </p:nvSpPr>
        <p:spPr>
          <a:xfrm>
            <a:off x="9857232" y="2943292"/>
            <a:ext cx="93268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 of 12</a:t>
            </a:r>
            <a:endParaRPr lang="en-US" sz="1300" dirty="0"/>
          </a:p>
        </p:txBody>
      </p:sp>
      <p:sp>
        <p:nvSpPr>
          <p:cNvPr id="149" name="Text 147"/>
          <p:cNvSpPr txBox="1"/>
          <p:nvPr/>
        </p:nvSpPr>
        <p:spPr>
          <a:xfrm>
            <a:off x="10789920" y="2943292"/>
            <a:ext cx="676656"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109%</a:t>
            </a:r>
            <a:endParaRPr lang="en-US" sz="1300" dirty="0"/>
          </a:p>
        </p:txBody>
      </p:sp>
      <p:sp>
        <p:nvSpPr>
          <p:cNvPr id="150" name="Text 148"/>
          <p:cNvSpPr txBox="1"/>
          <p:nvPr/>
        </p:nvSpPr>
        <p:spPr>
          <a:xfrm>
            <a:off x="6208776" y="319179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51" name="Text 149"/>
          <p:cNvSpPr txBox="1"/>
          <p:nvPr/>
        </p:nvSpPr>
        <p:spPr>
          <a:xfrm>
            <a:off x="6565392" y="3191794"/>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ST GEORGE</a:t>
            </a:r>
            <a:endParaRPr lang="en-US" sz="1200" dirty="0"/>
          </a:p>
        </p:txBody>
      </p:sp>
      <p:sp>
        <p:nvSpPr>
          <p:cNvPr id="152" name="Shape 150"/>
          <p:cNvSpPr/>
          <p:nvPr/>
        </p:nvSpPr>
        <p:spPr>
          <a:xfrm>
            <a:off x="8421624" y="3247707"/>
            <a:ext cx="78085" cy="136676"/>
          </a:xfrm>
          <a:prstGeom prst="rect">
            <a:avLst/>
          </a:prstGeom>
          <a:solidFill>
            <a:srgbClr val="C2352F"/>
          </a:solidFill>
          <a:ln/>
        </p:spPr>
      </p:sp>
      <p:sp>
        <p:nvSpPr>
          <p:cNvPr id="153" name="Text 151"/>
          <p:cNvSpPr txBox="1"/>
          <p:nvPr/>
        </p:nvSpPr>
        <p:spPr>
          <a:xfrm>
            <a:off x="9070848" y="3191794"/>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$21K</a:t>
            </a:r>
            <a:endParaRPr lang="en-US" sz="1300" dirty="0"/>
          </a:p>
        </p:txBody>
      </p:sp>
      <p:sp>
        <p:nvSpPr>
          <p:cNvPr id="154" name="Text 152"/>
          <p:cNvSpPr txBox="1"/>
          <p:nvPr/>
        </p:nvSpPr>
        <p:spPr>
          <a:xfrm>
            <a:off x="9857232" y="3191794"/>
            <a:ext cx="93268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 of 5</a:t>
            </a:r>
            <a:endParaRPr lang="en-US" sz="1300" dirty="0"/>
          </a:p>
        </p:txBody>
      </p:sp>
      <p:sp>
        <p:nvSpPr>
          <p:cNvPr id="155" name="Text 153"/>
          <p:cNvSpPr txBox="1"/>
          <p:nvPr/>
        </p:nvSpPr>
        <p:spPr>
          <a:xfrm>
            <a:off x="10789920" y="3191794"/>
            <a:ext cx="676656"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70%</a:t>
            </a:r>
            <a:endParaRPr lang="en-US" sz="1300" dirty="0"/>
          </a:p>
        </p:txBody>
      </p:sp>
      <p:sp>
        <p:nvSpPr>
          <p:cNvPr id="156" name="Text 154"/>
          <p:cNvSpPr txBox="1"/>
          <p:nvPr/>
        </p:nvSpPr>
        <p:spPr>
          <a:xfrm>
            <a:off x="6208776" y="344029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25</a:t>
            </a:r>
            <a:endParaRPr lang="en-US" sz="1200" dirty="0"/>
          </a:p>
        </p:txBody>
      </p:sp>
      <p:sp>
        <p:nvSpPr>
          <p:cNvPr id="157" name="Text 155"/>
          <p:cNvSpPr txBox="1"/>
          <p:nvPr/>
        </p:nvSpPr>
        <p:spPr>
          <a:xfrm>
            <a:off x="6565392" y="3440296"/>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RENO</a:t>
            </a:r>
            <a:endParaRPr lang="en-US" sz="1200" dirty="0"/>
          </a:p>
        </p:txBody>
      </p:sp>
      <p:sp>
        <p:nvSpPr>
          <p:cNvPr id="158" name="Shape 156"/>
          <p:cNvSpPr/>
          <p:nvPr/>
        </p:nvSpPr>
        <p:spPr>
          <a:xfrm>
            <a:off x="8421624" y="3496208"/>
            <a:ext cx="77498" cy="136676"/>
          </a:xfrm>
          <a:prstGeom prst="rect">
            <a:avLst/>
          </a:prstGeom>
          <a:solidFill>
            <a:srgbClr val="C2352F"/>
          </a:solidFill>
          <a:ln/>
        </p:spPr>
      </p:sp>
      <p:sp>
        <p:nvSpPr>
          <p:cNvPr id="159" name="Text 157"/>
          <p:cNvSpPr txBox="1"/>
          <p:nvPr/>
        </p:nvSpPr>
        <p:spPr>
          <a:xfrm>
            <a:off x="9070848" y="3440296"/>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$21K</a:t>
            </a:r>
            <a:endParaRPr lang="en-US" sz="1300" dirty="0"/>
          </a:p>
        </p:txBody>
      </p:sp>
      <p:sp>
        <p:nvSpPr>
          <p:cNvPr id="160" name="Text 158"/>
          <p:cNvSpPr txBox="1"/>
          <p:nvPr/>
        </p:nvSpPr>
        <p:spPr>
          <a:xfrm>
            <a:off x="9857232" y="3440296"/>
            <a:ext cx="93268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 of 6</a:t>
            </a:r>
            <a:endParaRPr lang="en-US" sz="1300" dirty="0"/>
          </a:p>
        </p:txBody>
      </p:sp>
      <p:sp>
        <p:nvSpPr>
          <p:cNvPr id="161" name="Text 159"/>
          <p:cNvSpPr txBox="1"/>
          <p:nvPr/>
        </p:nvSpPr>
        <p:spPr>
          <a:xfrm>
            <a:off x="10789920" y="3440296"/>
            <a:ext cx="676656"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81%</a:t>
            </a:r>
            <a:endParaRPr lang="en-US" sz="1300" dirty="0"/>
          </a:p>
        </p:txBody>
      </p:sp>
      <p:sp>
        <p:nvSpPr>
          <p:cNvPr id="162" name="Text 160"/>
          <p:cNvSpPr txBox="1"/>
          <p:nvPr/>
        </p:nvSpPr>
        <p:spPr>
          <a:xfrm>
            <a:off x="6208776" y="368879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26</a:t>
            </a:r>
            <a:endParaRPr lang="en-US" sz="1200" dirty="0"/>
          </a:p>
        </p:txBody>
      </p:sp>
      <p:sp>
        <p:nvSpPr>
          <p:cNvPr id="163" name="Text 161"/>
          <p:cNvSpPr txBox="1"/>
          <p:nvPr/>
        </p:nvSpPr>
        <p:spPr>
          <a:xfrm>
            <a:off x="6565392" y="3688797"/>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RENO</a:t>
            </a:r>
            <a:endParaRPr lang="en-US" sz="1200" dirty="0"/>
          </a:p>
        </p:txBody>
      </p:sp>
      <p:sp>
        <p:nvSpPr>
          <p:cNvPr id="164" name="Shape 162"/>
          <p:cNvSpPr/>
          <p:nvPr/>
        </p:nvSpPr>
        <p:spPr>
          <a:xfrm>
            <a:off x="8421624" y="3744710"/>
            <a:ext cx="75663" cy="136676"/>
          </a:xfrm>
          <a:prstGeom prst="rect">
            <a:avLst/>
          </a:prstGeom>
          <a:solidFill>
            <a:srgbClr val="C2352F"/>
          </a:solidFill>
          <a:ln/>
        </p:spPr>
      </p:sp>
      <p:sp>
        <p:nvSpPr>
          <p:cNvPr id="165" name="Text 163"/>
          <p:cNvSpPr txBox="1"/>
          <p:nvPr/>
        </p:nvSpPr>
        <p:spPr>
          <a:xfrm>
            <a:off x="9070848" y="3688797"/>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$20K</a:t>
            </a:r>
            <a:endParaRPr lang="en-US" sz="1300" dirty="0"/>
          </a:p>
        </p:txBody>
      </p:sp>
      <p:sp>
        <p:nvSpPr>
          <p:cNvPr id="166" name="Text 164"/>
          <p:cNvSpPr txBox="1"/>
          <p:nvPr/>
        </p:nvSpPr>
        <p:spPr>
          <a:xfrm>
            <a:off x="9857232" y="3688797"/>
            <a:ext cx="93268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 of 10</a:t>
            </a:r>
            <a:endParaRPr lang="en-US" sz="1300" dirty="0"/>
          </a:p>
        </p:txBody>
      </p:sp>
      <p:sp>
        <p:nvSpPr>
          <p:cNvPr id="167" name="Text 165"/>
          <p:cNvSpPr txBox="1"/>
          <p:nvPr/>
        </p:nvSpPr>
        <p:spPr>
          <a:xfrm>
            <a:off x="10789920" y="3688797"/>
            <a:ext cx="676656"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117%</a:t>
            </a:r>
            <a:endParaRPr lang="en-US" sz="1300" dirty="0"/>
          </a:p>
        </p:txBody>
      </p:sp>
      <p:sp>
        <p:nvSpPr>
          <p:cNvPr id="168" name="Text 166"/>
          <p:cNvSpPr txBox="1"/>
          <p:nvPr/>
        </p:nvSpPr>
        <p:spPr>
          <a:xfrm>
            <a:off x="6208776" y="393729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27</a:t>
            </a:r>
            <a:endParaRPr lang="en-US" sz="1200" dirty="0"/>
          </a:p>
        </p:txBody>
      </p:sp>
      <p:sp>
        <p:nvSpPr>
          <p:cNvPr id="169" name="Text 167"/>
          <p:cNvSpPr txBox="1"/>
          <p:nvPr/>
        </p:nvSpPr>
        <p:spPr>
          <a:xfrm>
            <a:off x="6565392" y="3937299"/>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HENDERSON</a:t>
            </a:r>
            <a:endParaRPr lang="en-US" sz="1200" dirty="0"/>
          </a:p>
        </p:txBody>
      </p:sp>
      <p:sp>
        <p:nvSpPr>
          <p:cNvPr id="170" name="Shape 168"/>
          <p:cNvSpPr/>
          <p:nvPr/>
        </p:nvSpPr>
        <p:spPr>
          <a:xfrm>
            <a:off x="8421624" y="3993212"/>
            <a:ext cx="56358" cy="136676"/>
          </a:xfrm>
          <a:prstGeom prst="rect">
            <a:avLst/>
          </a:prstGeom>
          <a:solidFill>
            <a:srgbClr val="C2352F"/>
          </a:solidFill>
          <a:ln/>
        </p:spPr>
      </p:sp>
      <p:sp>
        <p:nvSpPr>
          <p:cNvPr id="171" name="Text 169"/>
          <p:cNvSpPr txBox="1"/>
          <p:nvPr/>
        </p:nvSpPr>
        <p:spPr>
          <a:xfrm>
            <a:off x="9070848" y="3937299"/>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$15K</a:t>
            </a:r>
            <a:endParaRPr lang="en-US" sz="1300" dirty="0"/>
          </a:p>
        </p:txBody>
      </p:sp>
      <p:sp>
        <p:nvSpPr>
          <p:cNvPr id="172" name="Text 170"/>
          <p:cNvSpPr txBox="1"/>
          <p:nvPr/>
        </p:nvSpPr>
        <p:spPr>
          <a:xfrm>
            <a:off x="9857232" y="3937299"/>
            <a:ext cx="93268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 of 7</a:t>
            </a:r>
            <a:endParaRPr lang="en-US" sz="1300" dirty="0"/>
          </a:p>
        </p:txBody>
      </p:sp>
      <p:sp>
        <p:nvSpPr>
          <p:cNvPr id="173" name="Text 171"/>
          <p:cNvSpPr txBox="1"/>
          <p:nvPr/>
        </p:nvSpPr>
        <p:spPr>
          <a:xfrm>
            <a:off x="10789920" y="3937299"/>
            <a:ext cx="676656"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106%</a:t>
            </a:r>
            <a:endParaRPr lang="en-US" sz="1300" dirty="0"/>
          </a:p>
        </p:txBody>
      </p:sp>
      <p:sp>
        <p:nvSpPr>
          <p:cNvPr id="174" name="Text 172"/>
          <p:cNvSpPr txBox="1"/>
          <p:nvPr/>
        </p:nvSpPr>
        <p:spPr>
          <a:xfrm>
            <a:off x="6208776" y="4185800"/>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28</a:t>
            </a:r>
            <a:endParaRPr lang="en-US" sz="1200" dirty="0"/>
          </a:p>
        </p:txBody>
      </p:sp>
      <p:sp>
        <p:nvSpPr>
          <p:cNvPr id="175" name="Text 173"/>
          <p:cNvSpPr txBox="1"/>
          <p:nvPr/>
        </p:nvSpPr>
        <p:spPr>
          <a:xfrm>
            <a:off x="6565392" y="4185800"/>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HENDERSON</a:t>
            </a:r>
            <a:endParaRPr lang="en-US" sz="1200" dirty="0"/>
          </a:p>
        </p:txBody>
      </p:sp>
      <p:sp>
        <p:nvSpPr>
          <p:cNvPr id="176" name="Shape 174"/>
          <p:cNvSpPr/>
          <p:nvPr/>
        </p:nvSpPr>
        <p:spPr>
          <a:xfrm>
            <a:off x="8421624" y="4241713"/>
            <a:ext cx="48801" cy="136676"/>
          </a:xfrm>
          <a:prstGeom prst="rect">
            <a:avLst/>
          </a:prstGeom>
          <a:solidFill>
            <a:srgbClr val="C2352F"/>
          </a:solidFill>
          <a:ln/>
        </p:spPr>
      </p:sp>
      <p:sp>
        <p:nvSpPr>
          <p:cNvPr id="177" name="Text 175"/>
          <p:cNvSpPr txBox="1"/>
          <p:nvPr/>
        </p:nvSpPr>
        <p:spPr>
          <a:xfrm>
            <a:off x="9070848" y="4185800"/>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$13K</a:t>
            </a:r>
            <a:endParaRPr lang="en-US" sz="1300" dirty="0"/>
          </a:p>
        </p:txBody>
      </p:sp>
      <p:sp>
        <p:nvSpPr>
          <p:cNvPr id="178" name="Text 176"/>
          <p:cNvSpPr txBox="1"/>
          <p:nvPr/>
        </p:nvSpPr>
        <p:spPr>
          <a:xfrm>
            <a:off x="9857232" y="4185800"/>
            <a:ext cx="93268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 of 28</a:t>
            </a:r>
            <a:endParaRPr lang="en-US" sz="1300" dirty="0"/>
          </a:p>
        </p:txBody>
      </p:sp>
      <p:sp>
        <p:nvSpPr>
          <p:cNvPr id="179" name="Text 177"/>
          <p:cNvSpPr txBox="1"/>
          <p:nvPr/>
        </p:nvSpPr>
        <p:spPr>
          <a:xfrm>
            <a:off x="10789920" y="4185800"/>
            <a:ext cx="676656"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118%</a:t>
            </a:r>
            <a:endParaRPr lang="en-US" sz="1300" dirty="0"/>
          </a:p>
        </p:txBody>
      </p:sp>
      <p:sp>
        <p:nvSpPr>
          <p:cNvPr id="180" name="Text 178"/>
          <p:cNvSpPr txBox="1"/>
          <p:nvPr/>
        </p:nvSpPr>
        <p:spPr>
          <a:xfrm>
            <a:off x="6208776" y="443430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29</a:t>
            </a:r>
            <a:endParaRPr lang="en-US" sz="1200" dirty="0"/>
          </a:p>
        </p:txBody>
      </p:sp>
      <p:sp>
        <p:nvSpPr>
          <p:cNvPr id="181" name="Text 179"/>
          <p:cNvSpPr txBox="1"/>
          <p:nvPr/>
        </p:nvSpPr>
        <p:spPr>
          <a:xfrm>
            <a:off x="6565392" y="4434302"/>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NORTH</a:t>
            </a:r>
            <a:endParaRPr lang="en-US" sz="1200" dirty="0"/>
          </a:p>
        </p:txBody>
      </p:sp>
      <p:sp>
        <p:nvSpPr>
          <p:cNvPr id="182" name="Shape 180"/>
          <p:cNvSpPr/>
          <p:nvPr/>
        </p:nvSpPr>
        <p:spPr>
          <a:xfrm>
            <a:off x="8421624" y="4490215"/>
            <a:ext cx="48716" cy="136676"/>
          </a:xfrm>
          <a:prstGeom prst="rect">
            <a:avLst/>
          </a:prstGeom>
          <a:solidFill>
            <a:srgbClr val="C2352F"/>
          </a:solidFill>
          <a:ln/>
        </p:spPr>
      </p:sp>
      <p:sp>
        <p:nvSpPr>
          <p:cNvPr id="183" name="Text 181"/>
          <p:cNvSpPr txBox="1"/>
          <p:nvPr/>
        </p:nvSpPr>
        <p:spPr>
          <a:xfrm>
            <a:off x="9070848" y="4434302"/>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$13K</a:t>
            </a:r>
            <a:endParaRPr lang="en-US" sz="1300" dirty="0"/>
          </a:p>
        </p:txBody>
      </p:sp>
      <p:sp>
        <p:nvSpPr>
          <p:cNvPr id="184" name="Text 182"/>
          <p:cNvSpPr txBox="1"/>
          <p:nvPr/>
        </p:nvSpPr>
        <p:spPr>
          <a:xfrm>
            <a:off x="9857232" y="4434302"/>
            <a:ext cx="93268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 of 22</a:t>
            </a:r>
            <a:endParaRPr lang="en-US" sz="1300" dirty="0"/>
          </a:p>
        </p:txBody>
      </p:sp>
      <p:sp>
        <p:nvSpPr>
          <p:cNvPr id="185" name="Text 183"/>
          <p:cNvSpPr txBox="1"/>
          <p:nvPr/>
        </p:nvSpPr>
        <p:spPr>
          <a:xfrm>
            <a:off x="10789920" y="4434302"/>
            <a:ext cx="676656"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109%</a:t>
            </a:r>
            <a:endParaRPr lang="en-US" sz="1300" dirty="0"/>
          </a:p>
        </p:txBody>
      </p:sp>
      <p:sp>
        <p:nvSpPr>
          <p:cNvPr id="186" name="Text 184"/>
          <p:cNvSpPr txBox="1"/>
          <p:nvPr/>
        </p:nvSpPr>
        <p:spPr>
          <a:xfrm>
            <a:off x="6208776" y="468280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30</a:t>
            </a:r>
            <a:endParaRPr lang="en-US" sz="1200" dirty="0"/>
          </a:p>
        </p:txBody>
      </p:sp>
      <p:sp>
        <p:nvSpPr>
          <p:cNvPr id="187" name="Text 185"/>
          <p:cNvSpPr txBox="1"/>
          <p:nvPr/>
        </p:nvSpPr>
        <p:spPr>
          <a:xfrm>
            <a:off x="6565392" y="4682804"/>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SPOKANE</a:t>
            </a:r>
            <a:endParaRPr lang="en-US" sz="1200" dirty="0"/>
          </a:p>
        </p:txBody>
      </p:sp>
      <p:sp>
        <p:nvSpPr>
          <p:cNvPr id="188" name="Shape 186"/>
          <p:cNvSpPr/>
          <p:nvPr/>
        </p:nvSpPr>
        <p:spPr>
          <a:xfrm>
            <a:off x="8421624" y="4738717"/>
            <a:ext cx="42835" cy="136676"/>
          </a:xfrm>
          <a:prstGeom prst="rect">
            <a:avLst/>
          </a:prstGeom>
          <a:solidFill>
            <a:srgbClr val="C2352F"/>
          </a:solidFill>
          <a:ln/>
        </p:spPr>
      </p:sp>
      <p:sp>
        <p:nvSpPr>
          <p:cNvPr id="189" name="Text 187"/>
          <p:cNvSpPr txBox="1"/>
          <p:nvPr/>
        </p:nvSpPr>
        <p:spPr>
          <a:xfrm>
            <a:off x="9070848" y="4682804"/>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$11K</a:t>
            </a:r>
            <a:endParaRPr lang="en-US" sz="1300" dirty="0"/>
          </a:p>
        </p:txBody>
      </p:sp>
      <p:sp>
        <p:nvSpPr>
          <p:cNvPr id="190" name="Text 188"/>
          <p:cNvSpPr txBox="1"/>
          <p:nvPr/>
        </p:nvSpPr>
        <p:spPr>
          <a:xfrm>
            <a:off x="9857232" y="4682804"/>
            <a:ext cx="93268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 of 28</a:t>
            </a:r>
            <a:endParaRPr lang="en-US" sz="1300" dirty="0"/>
          </a:p>
        </p:txBody>
      </p:sp>
      <p:sp>
        <p:nvSpPr>
          <p:cNvPr id="191" name="Text 189"/>
          <p:cNvSpPr txBox="1"/>
          <p:nvPr/>
        </p:nvSpPr>
        <p:spPr>
          <a:xfrm>
            <a:off x="10789920" y="4682804"/>
            <a:ext cx="676656"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108%</a:t>
            </a:r>
            <a:endParaRPr lang="en-US" sz="1300" dirty="0"/>
          </a:p>
        </p:txBody>
      </p:sp>
      <p:sp>
        <p:nvSpPr>
          <p:cNvPr id="192" name="Text 190"/>
          <p:cNvSpPr txBox="1"/>
          <p:nvPr/>
        </p:nvSpPr>
        <p:spPr>
          <a:xfrm>
            <a:off x="6208776" y="4931305"/>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31</a:t>
            </a:r>
            <a:endParaRPr lang="en-US" sz="1200" dirty="0"/>
          </a:p>
        </p:txBody>
      </p:sp>
      <p:sp>
        <p:nvSpPr>
          <p:cNvPr id="193" name="Text 191"/>
          <p:cNvSpPr txBox="1"/>
          <p:nvPr/>
        </p:nvSpPr>
        <p:spPr>
          <a:xfrm>
            <a:off x="6565392" y="4931305"/>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FLAGSTAFF</a:t>
            </a:r>
            <a:endParaRPr lang="en-US" sz="1200" dirty="0"/>
          </a:p>
        </p:txBody>
      </p:sp>
      <p:sp>
        <p:nvSpPr>
          <p:cNvPr id="194" name="Shape 192"/>
          <p:cNvSpPr/>
          <p:nvPr/>
        </p:nvSpPr>
        <p:spPr>
          <a:xfrm>
            <a:off x="8421624" y="4987218"/>
            <a:ext cx="39448" cy="136676"/>
          </a:xfrm>
          <a:prstGeom prst="rect">
            <a:avLst/>
          </a:prstGeom>
          <a:solidFill>
            <a:srgbClr val="C2352F"/>
          </a:solidFill>
          <a:ln/>
        </p:spPr>
      </p:sp>
      <p:sp>
        <p:nvSpPr>
          <p:cNvPr id="195" name="Text 193"/>
          <p:cNvSpPr txBox="1"/>
          <p:nvPr/>
        </p:nvSpPr>
        <p:spPr>
          <a:xfrm>
            <a:off x="9070848" y="4931305"/>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$10K</a:t>
            </a:r>
            <a:endParaRPr lang="en-US" sz="1300" dirty="0"/>
          </a:p>
        </p:txBody>
      </p:sp>
      <p:sp>
        <p:nvSpPr>
          <p:cNvPr id="196" name="Text 194"/>
          <p:cNvSpPr txBox="1"/>
          <p:nvPr/>
        </p:nvSpPr>
        <p:spPr>
          <a:xfrm>
            <a:off x="9857232" y="4931305"/>
            <a:ext cx="93268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 of 18</a:t>
            </a:r>
            <a:endParaRPr lang="en-US" sz="1300" dirty="0"/>
          </a:p>
        </p:txBody>
      </p:sp>
      <p:sp>
        <p:nvSpPr>
          <p:cNvPr id="197" name="Text 195"/>
          <p:cNvSpPr txBox="1"/>
          <p:nvPr/>
        </p:nvSpPr>
        <p:spPr>
          <a:xfrm>
            <a:off x="10789920" y="4931305"/>
            <a:ext cx="676656"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102%</a:t>
            </a:r>
            <a:endParaRPr lang="en-US" sz="1300" dirty="0"/>
          </a:p>
        </p:txBody>
      </p:sp>
      <p:sp>
        <p:nvSpPr>
          <p:cNvPr id="198" name="Text 196"/>
          <p:cNvSpPr txBox="1"/>
          <p:nvPr/>
        </p:nvSpPr>
        <p:spPr>
          <a:xfrm>
            <a:off x="6208776" y="517980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32</a:t>
            </a:r>
            <a:endParaRPr lang="en-US" sz="1200" dirty="0"/>
          </a:p>
        </p:txBody>
      </p:sp>
      <p:sp>
        <p:nvSpPr>
          <p:cNvPr id="199" name="Text 197"/>
          <p:cNvSpPr txBox="1"/>
          <p:nvPr/>
        </p:nvSpPr>
        <p:spPr>
          <a:xfrm>
            <a:off x="6565392" y="5179807"/>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MAZDA</a:t>
            </a:r>
            <a:endParaRPr lang="en-US" sz="1200" dirty="0"/>
          </a:p>
        </p:txBody>
      </p:sp>
      <p:sp>
        <p:nvSpPr>
          <p:cNvPr id="200" name="Shape 198"/>
          <p:cNvSpPr/>
          <p:nvPr/>
        </p:nvSpPr>
        <p:spPr>
          <a:xfrm>
            <a:off x="8421624" y="5235720"/>
            <a:ext cx="32291" cy="136676"/>
          </a:xfrm>
          <a:prstGeom prst="rect">
            <a:avLst/>
          </a:prstGeom>
          <a:solidFill>
            <a:srgbClr val="C2352F"/>
          </a:solidFill>
          <a:ln/>
        </p:spPr>
      </p:sp>
      <p:sp>
        <p:nvSpPr>
          <p:cNvPr id="201" name="Text 199"/>
          <p:cNvSpPr txBox="1"/>
          <p:nvPr/>
        </p:nvSpPr>
        <p:spPr>
          <a:xfrm>
            <a:off x="9070848" y="5179807"/>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$9K</a:t>
            </a:r>
            <a:endParaRPr lang="en-US" sz="1300" dirty="0"/>
          </a:p>
        </p:txBody>
      </p:sp>
      <p:sp>
        <p:nvSpPr>
          <p:cNvPr id="202" name="Text 200"/>
          <p:cNvSpPr txBox="1"/>
          <p:nvPr/>
        </p:nvSpPr>
        <p:spPr>
          <a:xfrm>
            <a:off x="9857232" y="5179807"/>
            <a:ext cx="93268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 of 11</a:t>
            </a:r>
            <a:endParaRPr lang="en-US" sz="1300" dirty="0"/>
          </a:p>
        </p:txBody>
      </p:sp>
      <p:sp>
        <p:nvSpPr>
          <p:cNvPr id="203" name="Text 201"/>
          <p:cNvSpPr txBox="1"/>
          <p:nvPr/>
        </p:nvSpPr>
        <p:spPr>
          <a:xfrm>
            <a:off x="10789920" y="5179807"/>
            <a:ext cx="676656"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101%</a:t>
            </a:r>
            <a:endParaRPr lang="en-US" sz="1300" dirty="0"/>
          </a:p>
        </p:txBody>
      </p:sp>
      <p:sp>
        <p:nvSpPr>
          <p:cNvPr id="204" name="Text 202"/>
          <p:cNvSpPr txBox="1"/>
          <p:nvPr/>
        </p:nvSpPr>
        <p:spPr>
          <a:xfrm>
            <a:off x="6208776" y="542830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33</a:t>
            </a:r>
            <a:endParaRPr lang="en-US" sz="1200" dirty="0"/>
          </a:p>
        </p:txBody>
      </p:sp>
      <p:sp>
        <p:nvSpPr>
          <p:cNvPr id="205" name="Text 203"/>
          <p:cNvSpPr txBox="1"/>
          <p:nvPr/>
        </p:nvSpPr>
        <p:spPr>
          <a:xfrm>
            <a:off x="6565392" y="5428309"/>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SPOKANE</a:t>
            </a:r>
            <a:endParaRPr lang="en-US" sz="1200" dirty="0"/>
          </a:p>
        </p:txBody>
      </p:sp>
      <p:sp>
        <p:nvSpPr>
          <p:cNvPr id="206" name="Shape 204"/>
          <p:cNvSpPr/>
          <p:nvPr/>
        </p:nvSpPr>
        <p:spPr>
          <a:xfrm>
            <a:off x="8421624" y="5484222"/>
            <a:ext cx="18288" cy="136676"/>
          </a:xfrm>
          <a:prstGeom prst="rect">
            <a:avLst/>
          </a:prstGeom>
          <a:solidFill>
            <a:srgbClr val="C2352F"/>
          </a:solidFill>
          <a:ln/>
        </p:spPr>
      </p:sp>
      <p:sp>
        <p:nvSpPr>
          <p:cNvPr id="207" name="Text 205"/>
          <p:cNvSpPr txBox="1"/>
          <p:nvPr/>
        </p:nvSpPr>
        <p:spPr>
          <a:xfrm>
            <a:off x="9070848" y="5428309"/>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$1K</a:t>
            </a:r>
            <a:endParaRPr lang="en-US" sz="1300" dirty="0"/>
          </a:p>
        </p:txBody>
      </p:sp>
      <p:sp>
        <p:nvSpPr>
          <p:cNvPr id="208" name="Text 206"/>
          <p:cNvSpPr txBox="1"/>
          <p:nvPr/>
        </p:nvSpPr>
        <p:spPr>
          <a:xfrm>
            <a:off x="9857232" y="5428309"/>
            <a:ext cx="93268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 of 15</a:t>
            </a:r>
            <a:endParaRPr lang="en-US" sz="1300" dirty="0"/>
          </a:p>
        </p:txBody>
      </p:sp>
      <p:sp>
        <p:nvSpPr>
          <p:cNvPr id="209" name="Text 207"/>
          <p:cNvSpPr txBox="1"/>
          <p:nvPr/>
        </p:nvSpPr>
        <p:spPr>
          <a:xfrm>
            <a:off x="10789920" y="5428309"/>
            <a:ext cx="676656"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109%</a:t>
            </a:r>
            <a:endParaRPr lang="en-US" sz="1300" dirty="0"/>
          </a:p>
        </p:txBody>
      </p:sp>
      <p:sp>
        <p:nvSpPr>
          <p:cNvPr id="210" name="Shape 208"/>
          <p:cNvSpPr/>
          <p:nvPr/>
        </p:nvSpPr>
        <p:spPr>
          <a:xfrm>
            <a:off x="6085332" y="1700784"/>
            <a:ext cx="10973" cy="4224528"/>
          </a:xfrm>
          <a:prstGeom prst="rect">
            <a:avLst/>
          </a:prstGeom>
          <a:solidFill>
            <a:srgbClr val="D9D9D9"/>
          </a:solidFill>
          <a:ln/>
        </p:spPr>
      </p:sp>
      <p:sp>
        <p:nvSpPr>
          <p:cNvPr id="212" name="Shape 209"/>
          <p:cNvSpPr/>
          <p:nvPr/>
        </p:nvSpPr>
        <p:spPr>
          <a:xfrm>
            <a:off x="457200" y="6126480"/>
            <a:ext cx="11274552" cy="371856"/>
          </a:xfrm>
          <a:prstGeom prst="rect">
            <a:avLst/>
          </a:prstGeom>
          <a:solidFill>
            <a:srgbClr val="FBEBEA"/>
          </a:solidFill>
          <a:ln/>
        </p:spPr>
      </p:sp>
      <p:sp>
        <p:nvSpPr>
          <p:cNvPr id="213" name="Text 210"/>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Six stores hold $647K a month. 20 stores at or above 85% still leave $818K a month.</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PRODUCTIVITY · JAN–SEP 2026, MONTHLY AVERAGE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Opportunity as a Share of Gross</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Text 4"/>
          <p:cNvSpPr txBox="1"/>
          <p:nvPr/>
        </p:nvSpPr>
        <p:spPr>
          <a:xfrm>
            <a:off x="3392424" y="1316736"/>
            <a:ext cx="786384"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Share</a:t>
            </a:r>
            <a:endParaRPr lang="en-US" sz="1400" dirty="0"/>
          </a:p>
        </p:txBody>
      </p:sp>
      <p:sp>
        <p:nvSpPr>
          <p:cNvPr id="7" name="Text 5"/>
          <p:cNvSpPr txBox="1"/>
          <p:nvPr/>
        </p:nvSpPr>
        <p:spPr>
          <a:xfrm>
            <a:off x="4178808" y="1316736"/>
            <a:ext cx="86868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Missed</a:t>
            </a:r>
            <a:endParaRPr lang="en-US" sz="1400" dirty="0"/>
          </a:p>
        </p:txBody>
      </p:sp>
      <p:sp>
        <p:nvSpPr>
          <p:cNvPr id="8" name="Text 6"/>
          <p:cNvSpPr txBox="1"/>
          <p:nvPr/>
        </p:nvSpPr>
        <p:spPr>
          <a:xfrm>
            <a:off x="5047488" y="1316736"/>
            <a:ext cx="86868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Gross</a:t>
            </a:r>
            <a:endParaRPr lang="en-US" sz="1400" dirty="0"/>
          </a:p>
        </p:txBody>
      </p:sp>
      <p:sp>
        <p:nvSpPr>
          <p:cNvPr id="9" name="Text 7"/>
          <p:cNvSpPr txBox="1"/>
          <p:nvPr/>
        </p:nvSpPr>
        <p:spPr>
          <a:xfrm>
            <a:off x="8942832" y="1316736"/>
            <a:ext cx="786384"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Share</a:t>
            </a:r>
            <a:endParaRPr lang="en-US" sz="1400" dirty="0"/>
          </a:p>
        </p:txBody>
      </p:sp>
      <p:sp>
        <p:nvSpPr>
          <p:cNvPr id="10" name="Text 8"/>
          <p:cNvSpPr txBox="1"/>
          <p:nvPr/>
        </p:nvSpPr>
        <p:spPr>
          <a:xfrm>
            <a:off x="9729216" y="1316736"/>
            <a:ext cx="86868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Missed</a:t>
            </a:r>
            <a:endParaRPr lang="en-US" sz="1400" dirty="0"/>
          </a:p>
        </p:txBody>
      </p:sp>
      <p:sp>
        <p:nvSpPr>
          <p:cNvPr id="11" name="Text 9"/>
          <p:cNvSpPr txBox="1"/>
          <p:nvPr/>
        </p:nvSpPr>
        <p:spPr>
          <a:xfrm>
            <a:off x="10597896" y="1316736"/>
            <a:ext cx="86868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Gross</a:t>
            </a:r>
            <a:endParaRPr lang="en-US" sz="1400" dirty="0"/>
          </a:p>
        </p:txBody>
      </p:sp>
      <p:sp>
        <p:nvSpPr>
          <p:cNvPr id="12" name="Text 10"/>
          <p:cNvSpPr txBox="1"/>
          <p:nvPr/>
        </p:nvSpPr>
        <p:spPr>
          <a:xfrm>
            <a:off x="658368" y="170078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3" name="Text 11"/>
          <p:cNvSpPr txBox="1"/>
          <p:nvPr/>
        </p:nvSpPr>
        <p:spPr>
          <a:xfrm>
            <a:off x="1014984" y="1700784"/>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ST GEORGE</a:t>
            </a:r>
            <a:endParaRPr lang="en-US" sz="1200" dirty="0"/>
          </a:p>
        </p:txBody>
      </p:sp>
      <p:sp>
        <p:nvSpPr>
          <p:cNvPr id="14" name="Shape 12"/>
          <p:cNvSpPr/>
          <p:nvPr/>
        </p:nvSpPr>
        <p:spPr>
          <a:xfrm>
            <a:off x="2871216" y="1756697"/>
            <a:ext cx="466344" cy="136676"/>
          </a:xfrm>
          <a:prstGeom prst="rect">
            <a:avLst/>
          </a:prstGeom>
          <a:solidFill>
            <a:srgbClr val="C2352F"/>
          </a:solidFill>
          <a:ln/>
        </p:spPr>
      </p:sp>
      <p:sp>
        <p:nvSpPr>
          <p:cNvPr id="15" name="Text 13"/>
          <p:cNvSpPr txBox="1"/>
          <p:nvPr/>
        </p:nvSpPr>
        <p:spPr>
          <a:xfrm>
            <a:off x="3392424" y="1700784"/>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32%</a:t>
            </a:r>
            <a:endParaRPr lang="en-US" sz="1300" dirty="0"/>
          </a:p>
        </p:txBody>
      </p:sp>
      <p:sp>
        <p:nvSpPr>
          <p:cNvPr id="16" name="Text 14"/>
          <p:cNvSpPr txBox="1"/>
          <p:nvPr/>
        </p:nvSpPr>
        <p:spPr>
          <a:xfrm>
            <a:off x="4178808" y="170078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$88K</a:t>
            </a:r>
            <a:endParaRPr lang="en-US" sz="1300" dirty="0"/>
          </a:p>
        </p:txBody>
      </p:sp>
      <p:sp>
        <p:nvSpPr>
          <p:cNvPr id="17" name="Text 15"/>
          <p:cNvSpPr txBox="1"/>
          <p:nvPr/>
        </p:nvSpPr>
        <p:spPr>
          <a:xfrm>
            <a:off x="5047488" y="170078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$277K</a:t>
            </a:r>
            <a:endParaRPr lang="en-US" sz="1300" dirty="0"/>
          </a:p>
        </p:txBody>
      </p:sp>
      <p:sp>
        <p:nvSpPr>
          <p:cNvPr id="18" name="Text 16"/>
          <p:cNvSpPr txBox="1"/>
          <p:nvPr/>
        </p:nvSpPr>
        <p:spPr>
          <a:xfrm>
            <a:off x="658368" y="194928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19" name="Text 17"/>
          <p:cNvSpPr txBox="1"/>
          <p:nvPr/>
        </p:nvSpPr>
        <p:spPr>
          <a:xfrm>
            <a:off x="1014984" y="1949286"/>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ST GEORGE</a:t>
            </a:r>
            <a:endParaRPr lang="en-US" sz="1200" dirty="0"/>
          </a:p>
        </p:txBody>
      </p:sp>
      <p:sp>
        <p:nvSpPr>
          <p:cNvPr id="20" name="Shape 18"/>
          <p:cNvSpPr/>
          <p:nvPr/>
        </p:nvSpPr>
        <p:spPr>
          <a:xfrm>
            <a:off x="2871216" y="2005199"/>
            <a:ext cx="435113" cy="136676"/>
          </a:xfrm>
          <a:prstGeom prst="rect">
            <a:avLst/>
          </a:prstGeom>
          <a:solidFill>
            <a:srgbClr val="C2352F"/>
          </a:solidFill>
          <a:ln/>
        </p:spPr>
      </p:sp>
      <p:sp>
        <p:nvSpPr>
          <p:cNvPr id="21" name="Text 19"/>
          <p:cNvSpPr txBox="1"/>
          <p:nvPr/>
        </p:nvSpPr>
        <p:spPr>
          <a:xfrm>
            <a:off x="3392424" y="1949286"/>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30%</a:t>
            </a:r>
            <a:endParaRPr lang="en-US" sz="1300" dirty="0"/>
          </a:p>
        </p:txBody>
      </p:sp>
      <p:sp>
        <p:nvSpPr>
          <p:cNvPr id="22" name="Text 20"/>
          <p:cNvSpPr txBox="1"/>
          <p:nvPr/>
        </p:nvSpPr>
        <p:spPr>
          <a:xfrm>
            <a:off x="4178808" y="1949286"/>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$77K</a:t>
            </a:r>
            <a:endParaRPr lang="en-US" sz="1300" dirty="0"/>
          </a:p>
        </p:txBody>
      </p:sp>
      <p:sp>
        <p:nvSpPr>
          <p:cNvPr id="23" name="Text 21"/>
          <p:cNvSpPr txBox="1"/>
          <p:nvPr/>
        </p:nvSpPr>
        <p:spPr>
          <a:xfrm>
            <a:off x="5047488" y="1949286"/>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$258K</a:t>
            </a:r>
            <a:endParaRPr lang="en-US" sz="1300" dirty="0"/>
          </a:p>
        </p:txBody>
      </p:sp>
      <p:sp>
        <p:nvSpPr>
          <p:cNvPr id="24" name="Text 22"/>
          <p:cNvSpPr txBox="1"/>
          <p:nvPr/>
        </p:nvSpPr>
        <p:spPr>
          <a:xfrm>
            <a:off x="658368" y="219778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5" name="Text 23"/>
          <p:cNvSpPr txBox="1"/>
          <p:nvPr/>
        </p:nvSpPr>
        <p:spPr>
          <a:xfrm>
            <a:off x="1014984" y="2197787"/>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ACURA</a:t>
            </a:r>
            <a:endParaRPr lang="en-US" sz="1200" dirty="0"/>
          </a:p>
        </p:txBody>
      </p:sp>
      <p:sp>
        <p:nvSpPr>
          <p:cNvPr id="26" name="Shape 24"/>
          <p:cNvSpPr/>
          <p:nvPr/>
        </p:nvSpPr>
        <p:spPr>
          <a:xfrm>
            <a:off x="2871216" y="2253700"/>
            <a:ext cx="371948" cy="136676"/>
          </a:xfrm>
          <a:prstGeom prst="rect">
            <a:avLst/>
          </a:prstGeom>
          <a:solidFill>
            <a:srgbClr val="C2352F"/>
          </a:solidFill>
          <a:ln/>
        </p:spPr>
      </p:sp>
      <p:sp>
        <p:nvSpPr>
          <p:cNvPr id="27" name="Text 25"/>
          <p:cNvSpPr txBox="1"/>
          <p:nvPr/>
        </p:nvSpPr>
        <p:spPr>
          <a:xfrm>
            <a:off x="3392424" y="2197787"/>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25%</a:t>
            </a:r>
            <a:endParaRPr lang="en-US" sz="1300" dirty="0"/>
          </a:p>
        </p:txBody>
      </p:sp>
      <p:sp>
        <p:nvSpPr>
          <p:cNvPr id="28" name="Text 26"/>
          <p:cNvSpPr txBox="1"/>
          <p:nvPr/>
        </p:nvSpPr>
        <p:spPr>
          <a:xfrm>
            <a:off x="4178808" y="219778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$76K</a:t>
            </a:r>
            <a:endParaRPr lang="en-US" sz="1300" dirty="0"/>
          </a:p>
        </p:txBody>
      </p:sp>
      <p:sp>
        <p:nvSpPr>
          <p:cNvPr id="29" name="Text 27"/>
          <p:cNvSpPr txBox="1"/>
          <p:nvPr/>
        </p:nvSpPr>
        <p:spPr>
          <a:xfrm>
            <a:off x="5047488" y="219778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$299K</a:t>
            </a:r>
            <a:endParaRPr lang="en-US" sz="1300" dirty="0"/>
          </a:p>
        </p:txBody>
      </p:sp>
      <p:sp>
        <p:nvSpPr>
          <p:cNvPr id="30" name="Text 28"/>
          <p:cNvSpPr txBox="1"/>
          <p:nvPr/>
        </p:nvSpPr>
        <p:spPr>
          <a:xfrm>
            <a:off x="658368" y="244628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31" name="Text 29"/>
          <p:cNvSpPr txBox="1"/>
          <p:nvPr/>
        </p:nvSpPr>
        <p:spPr>
          <a:xfrm>
            <a:off x="1014984" y="2446289"/>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CDJR POST FALLS</a:t>
            </a:r>
            <a:endParaRPr lang="en-US" sz="1200" dirty="0"/>
          </a:p>
        </p:txBody>
      </p:sp>
      <p:sp>
        <p:nvSpPr>
          <p:cNvPr id="32" name="Shape 30"/>
          <p:cNvSpPr/>
          <p:nvPr/>
        </p:nvSpPr>
        <p:spPr>
          <a:xfrm>
            <a:off x="2871216" y="2502202"/>
            <a:ext cx="359385" cy="136676"/>
          </a:xfrm>
          <a:prstGeom prst="rect">
            <a:avLst/>
          </a:prstGeom>
          <a:solidFill>
            <a:srgbClr val="C2352F"/>
          </a:solidFill>
          <a:ln/>
        </p:spPr>
      </p:sp>
      <p:sp>
        <p:nvSpPr>
          <p:cNvPr id="33" name="Text 31"/>
          <p:cNvSpPr txBox="1"/>
          <p:nvPr/>
        </p:nvSpPr>
        <p:spPr>
          <a:xfrm>
            <a:off x="3392424" y="2446289"/>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25%</a:t>
            </a:r>
            <a:endParaRPr lang="en-US" sz="1300" dirty="0"/>
          </a:p>
        </p:txBody>
      </p:sp>
      <p:sp>
        <p:nvSpPr>
          <p:cNvPr id="34" name="Text 32"/>
          <p:cNvSpPr txBox="1"/>
          <p:nvPr/>
        </p:nvSpPr>
        <p:spPr>
          <a:xfrm>
            <a:off x="4178808" y="244628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$100K</a:t>
            </a:r>
            <a:endParaRPr lang="en-US" sz="1300" dirty="0"/>
          </a:p>
        </p:txBody>
      </p:sp>
      <p:sp>
        <p:nvSpPr>
          <p:cNvPr id="35" name="Text 33"/>
          <p:cNvSpPr txBox="1"/>
          <p:nvPr/>
        </p:nvSpPr>
        <p:spPr>
          <a:xfrm>
            <a:off x="5047488" y="244628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$408K</a:t>
            </a:r>
            <a:endParaRPr lang="en-US" sz="1300" dirty="0"/>
          </a:p>
        </p:txBody>
      </p:sp>
      <p:sp>
        <p:nvSpPr>
          <p:cNvPr id="36" name="Text 34"/>
          <p:cNvSpPr txBox="1"/>
          <p:nvPr/>
        </p:nvSpPr>
        <p:spPr>
          <a:xfrm>
            <a:off x="658368" y="2694791"/>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37" name="Text 35"/>
          <p:cNvSpPr txBox="1"/>
          <p:nvPr/>
        </p:nvSpPr>
        <p:spPr>
          <a:xfrm>
            <a:off x="1014984" y="2694791"/>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GMC BULLHEAD</a:t>
            </a:r>
            <a:endParaRPr lang="en-US" sz="1200" dirty="0"/>
          </a:p>
        </p:txBody>
      </p:sp>
      <p:sp>
        <p:nvSpPr>
          <p:cNvPr id="38" name="Shape 36"/>
          <p:cNvSpPr/>
          <p:nvPr/>
        </p:nvSpPr>
        <p:spPr>
          <a:xfrm>
            <a:off x="2871216" y="2750703"/>
            <a:ext cx="339754" cy="136676"/>
          </a:xfrm>
          <a:prstGeom prst="rect">
            <a:avLst/>
          </a:prstGeom>
          <a:solidFill>
            <a:srgbClr val="C2352F"/>
          </a:solidFill>
          <a:ln/>
        </p:spPr>
      </p:sp>
      <p:sp>
        <p:nvSpPr>
          <p:cNvPr id="39" name="Text 37"/>
          <p:cNvSpPr txBox="1"/>
          <p:nvPr/>
        </p:nvSpPr>
        <p:spPr>
          <a:xfrm>
            <a:off x="3392424" y="2694791"/>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23%</a:t>
            </a:r>
            <a:endParaRPr lang="en-US" sz="1300" dirty="0"/>
          </a:p>
        </p:txBody>
      </p:sp>
      <p:sp>
        <p:nvSpPr>
          <p:cNvPr id="40" name="Text 38"/>
          <p:cNvSpPr txBox="1"/>
          <p:nvPr/>
        </p:nvSpPr>
        <p:spPr>
          <a:xfrm>
            <a:off x="4178808" y="2694791"/>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$112K</a:t>
            </a:r>
            <a:endParaRPr lang="en-US" sz="1300" dirty="0"/>
          </a:p>
        </p:txBody>
      </p:sp>
      <p:sp>
        <p:nvSpPr>
          <p:cNvPr id="41" name="Text 39"/>
          <p:cNvSpPr txBox="1"/>
          <p:nvPr/>
        </p:nvSpPr>
        <p:spPr>
          <a:xfrm>
            <a:off x="5047488" y="2694791"/>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$483K</a:t>
            </a:r>
            <a:endParaRPr lang="en-US" sz="1300" dirty="0"/>
          </a:p>
        </p:txBody>
      </p:sp>
      <p:sp>
        <p:nvSpPr>
          <p:cNvPr id="42" name="Text 40"/>
          <p:cNvSpPr txBox="1"/>
          <p:nvPr/>
        </p:nvSpPr>
        <p:spPr>
          <a:xfrm>
            <a:off x="658368" y="294329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43" name="Text 41"/>
          <p:cNvSpPr txBox="1"/>
          <p:nvPr/>
        </p:nvSpPr>
        <p:spPr>
          <a:xfrm>
            <a:off x="1014984" y="2943292"/>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PRESCOTT</a:t>
            </a:r>
            <a:endParaRPr lang="en-US" sz="1200" dirty="0"/>
          </a:p>
        </p:txBody>
      </p:sp>
      <p:sp>
        <p:nvSpPr>
          <p:cNvPr id="44" name="Shape 42"/>
          <p:cNvSpPr/>
          <p:nvPr/>
        </p:nvSpPr>
        <p:spPr>
          <a:xfrm>
            <a:off x="2871216" y="2999205"/>
            <a:ext cx="292285" cy="136676"/>
          </a:xfrm>
          <a:prstGeom prst="rect">
            <a:avLst/>
          </a:prstGeom>
          <a:solidFill>
            <a:srgbClr val="C2352F"/>
          </a:solidFill>
          <a:ln/>
        </p:spPr>
      </p:sp>
      <p:sp>
        <p:nvSpPr>
          <p:cNvPr id="45" name="Text 43"/>
          <p:cNvSpPr txBox="1"/>
          <p:nvPr/>
        </p:nvSpPr>
        <p:spPr>
          <a:xfrm>
            <a:off x="3392424" y="2943292"/>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20%</a:t>
            </a:r>
            <a:endParaRPr lang="en-US" sz="1300" dirty="0"/>
          </a:p>
        </p:txBody>
      </p:sp>
      <p:sp>
        <p:nvSpPr>
          <p:cNvPr id="46" name="Text 44"/>
          <p:cNvSpPr txBox="1"/>
          <p:nvPr/>
        </p:nvSpPr>
        <p:spPr>
          <a:xfrm>
            <a:off x="4178808" y="2943292"/>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$58K</a:t>
            </a:r>
            <a:endParaRPr lang="en-US" sz="1300" dirty="0"/>
          </a:p>
        </p:txBody>
      </p:sp>
      <p:sp>
        <p:nvSpPr>
          <p:cNvPr id="47" name="Text 45"/>
          <p:cNvSpPr txBox="1"/>
          <p:nvPr/>
        </p:nvSpPr>
        <p:spPr>
          <a:xfrm>
            <a:off x="5047488" y="2943292"/>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$288K</a:t>
            </a:r>
            <a:endParaRPr lang="en-US" sz="1300" dirty="0"/>
          </a:p>
        </p:txBody>
      </p:sp>
      <p:sp>
        <p:nvSpPr>
          <p:cNvPr id="48" name="Text 46"/>
          <p:cNvSpPr txBox="1"/>
          <p:nvPr/>
        </p:nvSpPr>
        <p:spPr>
          <a:xfrm>
            <a:off x="658368" y="319179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49" name="Text 47"/>
          <p:cNvSpPr txBox="1"/>
          <p:nvPr/>
        </p:nvSpPr>
        <p:spPr>
          <a:xfrm>
            <a:off x="1014984" y="3191794"/>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FLAGSTAFF</a:t>
            </a:r>
            <a:endParaRPr lang="en-US" sz="1200" dirty="0"/>
          </a:p>
        </p:txBody>
      </p:sp>
      <p:sp>
        <p:nvSpPr>
          <p:cNvPr id="50" name="Shape 48"/>
          <p:cNvSpPr/>
          <p:nvPr/>
        </p:nvSpPr>
        <p:spPr>
          <a:xfrm>
            <a:off x="2871216" y="3247707"/>
            <a:ext cx="286413" cy="136676"/>
          </a:xfrm>
          <a:prstGeom prst="rect">
            <a:avLst/>
          </a:prstGeom>
          <a:solidFill>
            <a:srgbClr val="C2352F"/>
          </a:solidFill>
          <a:ln/>
        </p:spPr>
      </p:sp>
      <p:sp>
        <p:nvSpPr>
          <p:cNvPr id="51" name="Text 49"/>
          <p:cNvSpPr txBox="1"/>
          <p:nvPr/>
        </p:nvSpPr>
        <p:spPr>
          <a:xfrm>
            <a:off x="3392424" y="3191794"/>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20%</a:t>
            </a:r>
            <a:endParaRPr lang="en-US" sz="1300" dirty="0"/>
          </a:p>
        </p:txBody>
      </p:sp>
      <p:sp>
        <p:nvSpPr>
          <p:cNvPr id="52" name="Text 50"/>
          <p:cNvSpPr txBox="1"/>
          <p:nvPr/>
        </p:nvSpPr>
        <p:spPr>
          <a:xfrm>
            <a:off x="4178808" y="319179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$39K</a:t>
            </a:r>
            <a:endParaRPr lang="en-US" sz="1300" dirty="0"/>
          </a:p>
        </p:txBody>
      </p:sp>
      <p:sp>
        <p:nvSpPr>
          <p:cNvPr id="53" name="Text 51"/>
          <p:cNvSpPr txBox="1"/>
          <p:nvPr/>
        </p:nvSpPr>
        <p:spPr>
          <a:xfrm>
            <a:off x="5047488" y="319179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$202K</a:t>
            </a:r>
            <a:endParaRPr lang="en-US" sz="1300" dirty="0"/>
          </a:p>
        </p:txBody>
      </p:sp>
      <p:sp>
        <p:nvSpPr>
          <p:cNvPr id="54" name="Text 52"/>
          <p:cNvSpPr txBox="1"/>
          <p:nvPr/>
        </p:nvSpPr>
        <p:spPr>
          <a:xfrm>
            <a:off x="658368" y="344029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55" name="Text 53"/>
          <p:cNvSpPr txBox="1"/>
          <p:nvPr/>
        </p:nvSpPr>
        <p:spPr>
          <a:xfrm>
            <a:off x="1014984" y="3440296"/>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ST GEORGE</a:t>
            </a:r>
            <a:endParaRPr lang="en-US" sz="1200" dirty="0"/>
          </a:p>
        </p:txBody>
      </p:sp>
      <p:sp>
        <p:nvSpPr>
          <p:cNvPr id="56" name="Shape 54"/>
          <p:cNvSpPr/>
          <p:nvPr/>
        </p:nvSpPr>
        <p:spPr>
          <a:xfrm>
            <a:off x="2871216" y="3496208"/>
            <a:ext cx="277524" cy="136676"/>
          </a:xfrm>
          <a:prstGeom prst="rect">
            <a:avLst/>
          </a:prstGeom>
          <a:solidFill>
            <a:srgbClr val="C2352F"/>
          </a:solidFill>
          <a:ln/>
        </p:spPr>
      </p:sp>
      <p:sp>
        <p:nvSpPr>
          <p:cNvPr id="57" name="Text 55"/>
          <p:cNvSpPr txBox="1"/>
          <p:nvPr/>
        </p:nvSpPr>
        <p:spPr>
          <a:xfrm>
            <a:off x="3392424" y="3440296"/>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19%</a:t>
            </a:r>
            <a:endParaRPr lang="en-US" sz="1300" dirty="0"/>
          </a:p>
        </p:txBody>
      </p:sp>
      <p:sp>
        <p:nvSpPr>
          <p:cNvPr id="58" name="Text 56"/>
          <p:cNvSpPr txBox="1"/>
          <p:nvPr/>
        </p:nvSpPr>
        <p:spPr>
          <a:xfrm>
            <a:off x="4178808" y="3440296"/>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$21K</a:t>
            </a:r>
            <a:endParaRPr lang="en-US" sz="1300" dirty="0"/>
          </a:p>
        </p:txBody>
      </p:sp>
      <p:sp>
        <p:nvSpPr>
          <p:cNvPr id="59" name="Text 57"/>
          <p:cNvSpPr txBox="1"/>
          <p:nvPr/>
        </p:nvSpPr>
        <p:spPr>
          <a:xfrm>
            <a:off x="5047488" y="3440296"/>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$109K</a:t>
            </a:r>
            <a:endParaRPr lang="en-US" sz="1300" dirty="0"/>
          </a:p>
        </p:txBody>
      </p:sp>
      <p:sp>
        <p:nvSpPr>
          <p:cNvPr id="60" name="Text 58"/>
          <p:cNvSpPr txBox="1"/>
          <p:nvPr/>
        </p:nvSpPr>
        <p:spPr>
          <a:xfrm>
            <a:off x="658368" y="368879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61" name="Text 59"/>
          <p:cNvSpPr txBox="1"/>
          <p:nvPr/>
        </p:nvSpPr>
        <p:spPr>
          <a:xfrm>
            <a:off x="1014984" y="3688797"/>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PRESCOTT</a:t>
            </a:r>
            <a:endParaRPr lang="en-US" sz="1200" dirty="0"/>
          </a:p>
        </p:txBody>
      </p:sp>
      <p:sp>
        <p:nvSpPr>
          <p:cNvPr id="62" name="Shape 60"/>
          <p:cNvSpPr/>
          <p:nvPr/>
        </p:nvSpPr>
        <p:spPr>
          <a:xfrm>
            <a:off x="2871216" y="3744710"/>
            <a:ext cx="270873" cy="136676"/>
          </a:xfrm>
          <a:prstGeom prst="rect">
            <a:avLst/>
          </a:prstGeom>
          <a:solidFill>
            <a:srgbClr val="C2352F"/>
          </a:solidFill>
          <a:ln/>
        </p:spPr>
      </p:sp>
      <p:sp>
        <p:nvSpPr>
          <p:cNvPr id="63" name="Text 61"/>
          <p:cNvSpPr txBox="1"/>
          <p:nvPr/>
        </p:nvSpPr>
        <p:spPr>
          <a:xfrm>
            <a:off x="3392424" y="3688797"/>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19%</a:t>
            </a:r>
            <a:endParaRPr lang="en-US" sz="1300" dirty="0"/>
          </a:p>
        </p:txBody>
      </p:sp>
      <p:sp>
        <p:nvSpPr>
          <p:cNvPr id="64" name="Text 62"/>
          <p:cNvSpPr txBox="1"/>
          <p:nvPr/>
        </p:nvSpPr>
        <p:spPr>
          <a:xfrm>
            <a:off x="4178808" y="368879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$34K</a:t>
            </a:r>
            <a:endParaRPr lang="en-US" sz="1300" dirty="0"/>
          </a:p>
        </p:txBody>
      </p:sp>
      <p:sp>
        <p:nvSpPr>
          <p:cNvPr id="65" name="Text 63"/>
          <p:cNvSpPr txBox="1"/>
          <p:nvPr/>
        </p:nvSpPr>
        <p:spPr>
          <a:xfrm>
            <a:off x="5047488" y="368879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$185K</a:t>
            </a:r>
            <a:endParaRPr lang="en-US" sz="1300" dirty="0"/>
          </a:p>
        </p:txBody>
      </p:sp>
      <p:sp>
        <p:nvSpPr>
          <p:cNvPr id="66" name="Text 64"/>
          <p:cNvSpPr txBox="1"/>
          <p:nvPr/>
        </p:nvSpPr>
        <p:spPr>
          <a:xfrm>
            <a:off x="658368" y="393729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67" name="Text 65"/>
          <p:cNvSpPr txBox="1"/>
          <p:nvPr/>
        </p:nvSpPr>
        <p:spPr>
          <a:xfrm>
            <a:off x="1014984" y="3937299"/>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VOLVO</a:t>
            </a:r>
            <a:endParaRPr lang="en-US" sz="1200" dirty="0"/>
          </a:p>
        </p:txBody>
      </p:sp>
      <p:sp>
        <p:nvSpPr>
          <p:cNvPr id="68" name="Shape 66"/>
          <p:cNvSpPr/>
          <p:nvPr/>
        </p:nvSpPr>
        <p:spPr>
          <a:xfrm>
            <a:off x="2871216" y="3993212"/>
            <a:ext cx="217136" cy="136676"/>
          </a:xfrm>
          <a:prstGeom prst="rect">
            <a:avLst/>
          </a:prstGeom>
          <a:solidFill>
            <a:srgbClr val="C2352F"/>
          </a:solidFill>
          <a:ln/>
        </p:spPr>
      </p:sp>
      <p:sp>
        <p:nvSpPr>
          <p:cNvPr id="69" name="Text 67"/>
          <p:cNvSpPr txBox="1"/>
          <p:nvPr/>
        </p:nvSpPr>
        <p:spPr>
          <a:xfrm>
            <a:off x="3392424" y="3937299"/>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15%</a:t>
            </a:r>
            <a:endParaRPr lang="en-US" sz="1300" dirty="0"/>
          </a:p>
        </p:txBody>
      </p:sp>
      <p:sp>
        <p:nvSpPr>
          <p:cNvPr id="70" name="Text 68"/>
          <p:cNvSpPr txBox="1"/>
          <p:nvPr/>
        </p:nvSpPr>
        <p:spPr>
          <a:xfrm>
            <a:off x="4178808" y="393729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$62K</a:t>
            </a:r>
            <a:endParaRPr lang="en-US" sz="1300" dirty="0"/>
          </a:p>
        </p:txBody>
      </p:sp>
      <p:sp>
        <p:nvSpPr>
          <p:cNvPr id="71" name="Text 69"/>
          <p:cNvSpPr txBox="1"/>
          <p:nvPr/>
        </p:nvSpPr>
        <p:spPr>
          <a:xfrm>
            <a:off x="5047488" y="393729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$417K</a:t>
            </a:r>
            <a:endParaRPr lang="en-US" sz="1300" dirty="0"/>
          </a:p>
        </p:txBody>
      </p:sp>
      <p:sp>
        <p:nvSpPr>
          <p:cNvPr id="72" name="Text 70"/>
          <p:cNvSpPr txBox="1"/>
          <p:nvPr/>
        </p:nvSpPr>
        <p:spPr>
          <a:xfrm>
            <a:off x="658368" y="4185800"/>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73" name="Text 71"/>
          <p:cNvSpPr txBox="1"/>
          <p:nvPr/>
        </p:nvSpPr>
        <p:spPr>
          <a:xfrm>
            <a:off x="1014984" y="4185800"/>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GMC PRESCOTT</a:t>
            </a:r>
            <a:endParaRPr lang="en-US" sz="1200" dirty="0"/>
          </a:p>
        </p:txBody>
      </p:sp>
      <p:sp>
        <p:nvSpPr>
          <p:cNvPr id="74" name="Shape 72"/>
          <p:cNvSpPr/>
          <p:nvPr/>
        </p:nvSpPr>
        <p:spPr>
          <a:xfrm>
            <a:off x="2871216" y="4241713"/>
            <a:ext cx="210283" cy="136676"/>
          </a:xfrm>
          <a:prstGeom prst="rect">
            <a:avLst/>
          </a:prstGeom>
          <a:solidFill>
            <a:srgbClr val="C2352F"/>
          </a:solidFill>
          <a:ln/>
        </p:spPr>
      </p:sp>
      <p:sp>
        <p:nvSpPr>
          <p:cNvPr id="75" name="Text 73"/>
          <p:cNvSpPr txBox="1"/>
          <p:nvPr/>
        </p:nvSpPr>
        <p:spPr>
          <a:xfrm>
            <a:off x="3392424" y="4185800"/>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14%</a:t>
            </a:r>
            <a:endParaRPr lang="en-US" sz="1300" dirty="0"/>
          </a:p>
        </p:txBody>
      </p:sp>
      <p:sp>
        <p:nvSpPr>
          <p:cNvPr id="76" name="Text 74"/>
          <p:cNvSpPr txBox="1"/>
          <p:nvPr/>
        </p:nvSpPr>
        <p:spPr>
          <a:xfrm>
            <a:off x="4178808" y="4185800"/>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$48K</a:t>
            </a:r>
            <a:endParaRPr lang="en-US" sz="1300" dirty="0"/>
          </a:p>
        </p:txBody>
      </p:sp>
      <p:sp>
        <p:nvSpPr>
          <p:cNvPr id="77" name="Text 75"/>
          <p:cNvSpPr txBox="1"/>
          <p:nvPr/>
        </p:nvSpPr>
        <p:spPr>
          <a:xfrm>
            <a:off x="5047488" y="4185800"/>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$333K</a:t>
            </a:r>
            <a:endParaRPr lang="en-US" sz="1300" dirty="0"/>
          </a:p>
        </p:txBody>
      </p:sp>
      <p:sp>
        <p:nvSpPr>
          <p:cNvPr id="78" name="Text 76"/>
          <p:cNvSpPr txBox="1"/>
          <p:nvPr/>
        </p:nvSpPr>
        <p:spPr>
          <a:xfrm>
            <a:off x="658368" y="443430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79" name="Text 77"/>
          <p:cNvSpPr txBox="1"/>
          <p:nvPr/>
        </p:nvSpPr>
        <p:spPr>
          <a:xfrm>
            <a:off x="1014984" y="4434302"/>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CADILLAC</a:t>
            </a:r>
            <a:endParaRPr lang="en-US" sz="1200" dirty="0"/>
          </a:p>
        </p:txBody>
      </p:sp>
      <p:sp>
        <p:nvSpPr>
          <p:cNvPr id="80" name="Shape 78"/>
          <p:cNvSpPr/>
          <p:nvPr/>
        </p:nvSpPr>
        <p:spPr>
          <a:xfrm>
            <a:off x="2871216" y="4490215"/>
            <a:ext cx="199373" cy="136676"/>
          </a:xfrm>
          <a:prstGeom prst="rect">
            <a:avLst/>
          </a:prstGeom>
          <a:solidFill>
            <a:srgbClr val="C2352F"/>
          </a:solidFill>
          <a:ln/>
        </p:spPr>
      </p:sp>
      <p:sp>
        <p:nvSpPr>
          <p:cNvPr id="81" name="Text 79"/>
          <p:cNvSpPr txBox="1"/>
          <p:nvPr/>
        </p:nvSpPr>
        <p:spPr>
          <a:xfrm>
            <a:off x="3392424" y="4434302"/>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14%</a:t>
            </a:r>
            <a:endParaRPr lang="en-US" sz="1300" dirty="0"/>
          </a:p>
        </p:txBody>
      </p:sp>
      <p:sp>
        <p:nvSpPr>
          <p:cNvPr id="82" name="Text 80"/>
          <p:cNvSpPr txBox="1"/>
          <p:nvPr/>
        </p:nvSpPr>
        <p:spPr>
          <a:xfrm>
            <a:off x="4178808" y="4434302"/>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$158K</a:t>
            </a:r>
            <a:endParaRPr lang="en-US" sz="1300" dirty="0"/>
          </a:p>
        </p:txBody>
      </p:sp>
      <p:sp>
        <p:nvSpPr>
          <p:cNvPr id="83" name="Text 81"/>
          <p:cNvSpPr txBox="1"/>
          <p:nvPr/>
        </p:nvSpPr>
        <p:spPr>
          <a:xfrm>
            <a:off x="5047488" y="4434302"/>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$1.16M</a:t>
            </a:r>
            <a:endParaRPr lang="en-US" sz="1300" dirty="0"/>
          </a:p>
        </p:txBody>
      </p:sp>
      <p:sp>
        <p:nvSpPr>
          <p:cNvPr id="84" name="Text 82"/>
          <p:cNvSpPr txBox="1"/>
          <p:nvPr/>
        </p:nvSpPr>
        <p:spPr>
          <a:xfrm>
            <a:off x="658368" y="468280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85" name="Text 83"/>
          <p:cNvSpPr txBox="1"/>
          <p:nvPr/>
        </p:nvSpPr>
        <p:spPr>
          <a:xfrm>
            <a:off x="1014984" y="4682804"/>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PRESCOTT</a:t>
            </a:r>
            <a:endParaRPr lang="en-US" sz="1200" dirty="0"/>
          </a:p>
        </p:txBody>
      </p:sp>
      <p:sp>
        <p:nvSpPr>
          <p:cNvPr id="86" name="Shape 84"/>
          <p:cNvSpPr/>
          <p:nvPr/>
        </p:nvSpPr>
        <p:spPr>
          <a:xfrm>
            <a:off x="2871216" y="4738717"/>
            <a:ext cx="197385" cy="136676"/>
          </a:xfrm>
          <a:prstGeom prst="rect">
            <a:avLst/>
          </a:prstGeom>
          <a:solidFill>
            <a:srgbClr val="C2352F"/>
          </a:solidFill>
          <a:ln/>
        </p:spPr>
      </p:sp>
      <p:sp>
        <p:nvSpPr>
          <p:cNvPr id="87" name="Text 85"/>
          <p:cNvSpPr txBox="1"/>
          <p:nvPr/>
        </p:nvSpPr>
        <p:spPr>
          <a:xfrm>
            <a:off x="3392424" y="4682804"/>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13%</a:t>
            </a:r>
            <a:endParaRPr lang="en-US" sz="1300" dirty="0"/>
          </a:p>
        </p:txBody>
      </p:sp>
      <p:sp>
        <p:nvSpPr>
          <p:cNvPr id="88" name="Text 86"/>
          <p:cNvSpPr txBox="1"/>
          <p:nvPr/>
        </p:nvSpPr>
        <p:spPr>
          <a:xfrm>
            <a:off x="4178808" y="468280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$77K</a:t>
            </a:r>
            <a:endParaRPr lang="en-US" sz="1300" dirty="0"/>
          </a:p>
        </p:txBody>
      </p:sp>
      <p:sp>
        <p:nvSpPr>
          <p:cNvPr id="89" name="Text 87"/>
          <p:cNvSpPr txBox="1"/>
          <p:nvPr/>
        </p:nvSpPr>
        <p:spPr>
          <a:xfrm>
            <a:off x="5047488" y="468280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$573K</a:t>
            </a:r>
            <a:endParaRPr lang="en-US" sz="1300" dirty="0"/>
          </a:p>
        </p:txBody>
      </p:sp>
      <p:sp>
        <p:nvSpPr>
          <p:cNvPr id="90" name="Text 88"/>
          <p:cNvSpPr txBox="1"/>
          <p:nvPr/>
        </p:nvSpPr>
        <p:spPr>
          <a:xfrm>
            <a:off x="658368" y="4931305"/>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91" name="Text 89"/>
          <p:cNvSpPr txBox="1"/>
          <p:nvPr/>
        </p:nvSpPr>
        <p:spPr>
          <a:xfrm>
            <a:off x="1014984" y="4931305"/>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LV</a:t>
            </a:r>
            <a:endParaRPr lang="en-US" sz="1200" dirty="0"/>
          </a:p>
        </p:txBody>
      </p:sp>
      <p:sp>
        <p:nvSpPr>
          <p:cNvPr id="92" name="Shape 90"/>
          <p:cNvSpPr/>
          <p:nvPr/>
        </p:nvSpPr>
        <p:spPr>
          <a:xfrm>
            <a:off x="2871216" y="4987218"/>
            <a:ext cx="169024" cy="136676"/>
          </a:xfrm>
          <a:prstGeom prst="rect">
            <a:avLst/>
          </a:prstGeom>
          <a:solidFill>
            <a:srgbClr val="C2352F"/>
          </a:solidFill>
          <a:ln/>
        </p:spPr>
      </p:sp>
      <p:sp>
        <p:nvSpPr>
          <p:cNvPr id="93" name="Text 91"/>
          <p:cNvSpPr txBox="1"/>
          <p:nvPr/>
        </p:nvSpPr>
        <p:spPr>
          <a:xfrm>
            <a:off x="3392424" y="4931305"/>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12%</a:t>
            </a:r>
            <a:endParaRPr lang="en-US" sz="1300" dirty="0"/>
          </a:p>
        </p:txBody>
      </p:sp>
      <p:sp>
        <p:nvSpPr>
          <p:cNvPr id="94" name="Text 92"/>
          <p:cNvSpPr txBox="1"/>
          <p:nvPr/>
        </p:nvSpPr>
        <p:spPr>
          <a:xfrm>
            <a:off x="4178808" y="4931305"/>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$74K</a:t>
            </a:r>
            <a:endParaRPr lang="en-US" sz="1300" dirty="0"/>
          </a:p>
        </p:txBody>
      </p:sp>
      <p:sp>
        <p:nvSpPr>
          <p:cNvPr id="95" name="Text 93"/>
          <p:cNvSpPr txBox="1"/>
          <p:nvPr/>
        </p:nvSpPr>
        <p:spPr>
          <a:xfrm>
            <a:off x="5047488" y="4931305"/>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$643K</a:t>
            </a:r>
            <a:endParaRPr lang="en-US" sz="1300" dirty="0"/>
          </a:p>
        </p:txBody>
      </p:sp>
      <p:sp>
        <p:nvSpPr>
          <p:cNvPr id="96" name="Text 94"/>
          <p:cNvSpPr txBox="1"/>
          <p:nvPr/>
        </p:nvSpPr>
        <p:spPr>
          <a:xfrm>
            <a:off x="658368" y="517980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97" name="Text 95"/>
          <p:cNvSpPr txBox="1"/>
          <p:nvPr/>
        </p:nvSpPr>
        <p:spPr>
          <a:xfrm>
            <a:off x="1014984" y="5179807"/>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LV</a:t>
            </a:r>
            <a:endParaRPr lang="en-US" sz="1200" dirty="0"/>
          </a:p>
        </p:txBody>
      </p:sp>
      <p:sp>
        <p:nvSpPr>
          <p:cNvPr id="98" name="Shape 96"/>
          <p:cNvSpPr/>
          <p:nvPr/>
        </p:nvSpPr>
        <p:spPr>
          <a:xfrm>
            <a:off x="2871216" y="5235720"/>
            <a:ext cx="131586" cy="136676"/>
          </a:xfrm>
          <a:prstGeom prst="rect">
            <a:avLst/>
          </a:prstGeom>
          <a:solidFill>
            <a:srgbClr val="C2352F"/>
          </a:solidFill>
          <a:ln/>
        </p:spPr>
      </p:sp>
      <p:sp>
        <p:nvSpPr>
          <p:cNvPr id="99" name="Text 97"/>
          <p:cNvSpPr txBox="1"/>
          <p:nvPr/>
        </p:nvSpPr>
        <p:spPr>
          <a:xfrm>
            <a:off x="3392424" y="5179807"/>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9%</a:t>
            </a:r>
            <a:endParaRPr lang="en-US" sz="1300" dirty="0"/>
          </a:p>
        </p:txBody>
      </p:sp>
      <p:sp>
        <p:nvSpPr>
          <p:cNvPr id="100" name="Text 98"/>
          <p:cNvSpPr txBox="1"/>
          <p:nvPr/>
        </p:nvSpPr>
        <p:spPr>
          <a:xfrm>
            <a:off x="4178808" y="517980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$63K</a:t>
            </a:r>
            <a:endParaRPr lang="en-US" sz="1300" dirty="0"/>
          </a:p>
        </p:txBody>
      </p:sp>
      <p:sp>
        <p:nvSpPr>
          <p:cNvPr id="101" name="Text 99"/>
          <p:cNvSpPr txBox="1"/>
          <p:nvPr/>
        </p:nvSpPr>
        <p:spPr>
          <a:xfrm>
            <a:off x="5047488" y="517980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$702K</a:t>
            </a:r>
            <a:endParaRPr lang="en-US" sz="1300" dirty="0"/>
          </a:p>
        </p:txBody>
      </p:sp>
      <p:sp>
        <p:nvSpPr>
          <p:cNvPr id="102" name="Text 100"/>
          <p:cNvSpPr txBox="1"/>
          <p:nvPr/>
        </p:nvSpPr>
        <p:spPr>
          <a:xfrm>
            <a:off x="658368" y="542830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103" name="Text 101"/>
          <p:cNvSpPr txBox="1"/>
          <p:nvPr/>
        </p:nvSpPr>
        <p:spPr>
          <a:xfrm>
            <a:off x="1014984" y="5428309"/>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HENDERSON</a:t>
            </a:r>
            <a:endParaRPr lang="en-US" sz="1200" dirty="0"/>
          </a:p>
        </p:txBody>
      </p:sp>
      <p:sp>
        <p:nvSpPr>
          <p:cNvPr id="104" name="Shape 102"/>
          <p:cNvSpPr/>
          <p:nvPr/>
        </p:nvSpPr>
        <p:spPr>
          <a:xfrm>
            <a:off x="2871216" y="5484222"/>
            <a:ext cx="120839" cy="136676"/>
          </a:xfrm>
          <a:prstGeom prst="rect">
            <a:avLst/>
          </a:prstGeom>
          <a:solidFill>
            <a:srgbClr val="C2352F"/>
          </a:solidFill>
          <a:ln/>
        </p:spPr>
      </p:sp>
      <p:sp>
        <p:nvSpPr>
          <p:cNvPr id="105" name="Text 103"/>
          <p:cNvSpPr txBox="1"/>
          <p:nvPr/>
        </p:nvSpPr>
        <p:spPr>
          <a:xfrm>
            <a:off x="3392424" y="5428309"/>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8%</a:t>
            </a:r>
            <a:endParaRPr lang="en-US" sz="1300" dirty="0"/>
          </a:p>
        </p:txBody>
      </p:sp>
      <p:sp>
        <p:nvSpPr>
          <p:cNvPr id="106" name="Text 104"/>
          <p:cNvSpPr txBox="1"/>
          <p:nvPr/>
        </p:nvSpPr>
        <p:spPr>
          <a:xfrm>
            <a:off x="4178808" y="542830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$102K</a:t>
            </a:r>
            <a:endParaRPr lang="en-US" sz="1300" dirty="0"/>
          </a:p>
        </p:txBody>
      </p:sp>
      <p:sp>
        <p:nvSpPr>
          <p:cNvPr id="107" name="Text 105"/>
          <p:cNvSpPr txBox="1"/>
          <p:nvPr/>
        </p:nvSpPr>
        <p:spPr>
          <a:xfrm>
            <a:off x="5047488" y="542830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$1.23M</a:t>
            </a:r>
            <a:endParaRPr lang="en-US" sz="1300" dirty="0"/>
          </a:p>
        </p:txBody>
      </p:sp>
      <p:sp>
        <p:nvSpPr>
          <p:cNvPr id="108" name="Text 106"/>
          <p:cNvSpPr txBox="1"/>
          <p:nvPr/>
        </p:nvSpPr>
        <p:spPr>
          <a:xfrm>
            <a:off x="658368" y="5676810"/>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109" name="Text 107"/>
          <p:cNvSpPr txBox="1"/>
          <p:nvPr/>
        </p:nvSpPr>
        <p:spPr>
          <a:xfrm>
            <a:off x="1014984" y="5676810"/>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RENO</a:t>
            </a:r>
            <a:endParaRPr lang="en-US" sz="1200" dirty="0"/>
          </a:p>
        </p:txBody>
      </p:sp>
      <p:sp>
        <p:nvSpPr>
          <p:cNvPr id="110" name="Shape 108"/>
          <p:cNvSpPr/>
          <p:nvPr/>
        </p:nvSpPr>
        <p:spPr>
          <a:xfrm>
            <a:off x="2871216" y="5732723"/>
            <a:ext cx="116857" cy="136676"/>
          </a:xfrm>
          <a:prstGeom prst="rect">
            <a:avLst/>
          </a:prstGeom>
          <a:solidFill>
            <a:srgbClr val="C2352F"/>
          </a:solidFill>
          <a:ln/>
        </p:spPr>
      </p:sp>
      <p:sp>
        <p:nvSpPr>
          <p:cNvPr id="111" name="Text 109"/>
          <p:cNvSpPr txBox="1"/>
          <p:nvPr/>
        </p:nvSpPr>
        <p:spPr>
          <a:xfrm>
            <a:off x="3392424" y="5676810"/>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8%</a:t>
            </a:r>
            <a:endParaRPr lang="en-US" sz="1300" dirty="0"/>
          </a:p>
        </p:txBody>
      </p:sp>
      <p:sp>
        <p:nvSpPr>
          <p:cNvPr id="112" name="Text 110"/>
          <p:cNvSpPr txBox="1"/>
          <p:nvPr/>
        </p:nvSpPr>
        <p:spPr>
          <a:xfrm>
            <a:off x="4178808" y="5676810"/>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$21K</a:t>
            </a:r>
            <a:endParaRPr lang="en-US" sz="1300" dirty="0"/>
          </a:p>
        </p:txBody>
      </p:sp>
      <p:sp>
        <p:nvSpPr>
          <p:cNvPr id="113" name="Text 111"/>
          <p:cNvSpPr txBox="1"/>
          <p:nvPr/>
        </p:nvSpPr>
        <p:spPr>
          <a:xfrm>
            <a:off x="5047488" y="5676810"/>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$257K</a:t>
            </a:r>
            <a:endParaRPr lang="en-US" sz="1300" dirty="0"/>
          </a:p>
        </p:txBody>
      </p:sp>
      <p:sp>
        <p:nvSpPr>
          <p:cNvPr id="114" name="Text 112"/>
          <p:cNvSpPr txBox="1"/>
          <p:nvPr/>
        </p:nvSpPr>
        <p:spPr>
          <a:xfrm>
            <a:off x="6208776" y="170078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115" name="Text 113"/>
          <p:cNvSpPr txBox="1"/>
          <p:nvPr/>
        </p:nvSpPr>
        <p:spPr>
          <a:xfrm>
            <a:off x="6565392" y="1700784"/>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NISSAN</a:t>
            </a:r>
            <a:endParaRPr lang="en-US" sz="1200" dirty="0"/>
          </a:p>
        </p:txBody>
      </p:sp>
      <p:sp>
        <p:nvSpPr>
          <p:cNvPr id="116" name="Shape 114"/>
          <p:cNvSpPr/>
          <p:nvPr/>
        </p:nvSpPr>
        <p:spPr>
          <a:xfrm>
            <a:off x="8421624" y="1756697"/>
            <a:ext cx="116484" cy="136676"/>
          </a:xfrm>
          <a:prstGeom prst="rect">
            <a:avLst/>
          </a:prstGeom>
          <a:solidFill>
            <a:srgbClr val="C2352F"/>
          </a:solidFill>
          <a:ln/>
        </p:spPr>
      </p:sp>
      <p:sp>
        <p:nvSpPr>
          <p:cNvPr id="117" name="Text 115"/>
          <p:cNvSpPr txBox="1"/>
          <p:nvPr/>
        </p:nvSpPr>
        <p:spPr>
          <a:xfrm>
            <a:off x="8942832" y="1700784"/>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8%</a:t>
            </a:r>
            <a:endParaRPr lang="en-US" sz="1300" dirty="0"/>
          </a:p>
        </p:txBody>
      </p:sp>
      <p:sp>
        <p:nvSpPr>
          <p:cNvPr id="118" name="Text 116"/>
          <p:cNvSpPr txBox="1"/>
          <p:nvPr/>
        </p:nvSpPr>
        <p:spPr>
          <a:xfrm>
            <a:off x="9729216" y="170078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$42K</a:t>
            </a:r>
            <a:endParaRPr lang="en-US" sz="1300" dirty="0"/>
          </a:p>
        </p:txBody>
      </p:sp>
      <p:sp>
        <p:nvSpPr>
          <p:cNvPr id="119" name="Text 117"/>
          <p:cNvSpPr txBox="1"/>
          <p:nvPr/>
        </p:nvSpPr>
        <p:spPr>
          <a:xfrm>
            <a:off x="10597896" y="170078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$532K</a:t>
            </a:r>
            <a:endParaRPr lang="en-US" sz="1300" dirty="0"/>
          </a:p>
        </p:txBody>
      </p:sp>
      <p:sp>
        <p:nvSpPr>
          <p:cNvPr id="120" name="Text 118"/>
          <p:cNvSpPr txBox="1"/>
          <p:nvPr/>
        </p:nvSpPr>
        <p:spPr>
          <a:xfrm>
            <a:off x="6208776" y="194928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121" name="Text 119"/>
          <p:cNvSpPr txBox="1"/>
          <p:nvPr/>
        </p:nvSpPr>
        <p:spPr>
          <a:xfrm>
            <a:off x="6565392" y="1949286"/>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LEXUS</a:t>
            </a:r>
            <a:endParaRPr lang="en-US" sz="1200" dirty="0"/>
          </a:p>
        </p:txBody>
      </p:sp>
      <p:sp>
        <p:nvSpPr>
          <p:cNvPr id="122" name="Shape 120"/>
          <p:cNvSpPr/>
          <p:nvPr/>
        </p:nvSpPr>
        <p:spPr>
          <a:xfrm>
            <a:off x="8421624" y="2005199"/>
            <a:ext cx="115541" cy="136676"/>
          </a:xfrm>
          <a:prstGeom prst="rect">
            <a:avLst/>
          </a:prstGeom>
          <a:solidFill>
            <a:srgbClr val="C2352F"/>
          </a:solidFill>
          <a:ln/>
        </p:spPr>
      </p:sp>
      <p:sp>
        <p:nvSpPr>
          <p:cNvPr id="123" name="Text 121"/>
          <p:cNvSpPr txBox="1"/>
          <p:nvPr/>
        </p:nvSpPr>
        <p:spPr>
          <a:xfrm>
            <a:off x="8942832" y="1949286"/>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8%</a:t>
            </a:r>
            <a:endParaRPr lang="en-US" sz="1300" dirty="0"/>
          </a:p>
        </p:txBody>
      </p:sp>
      <p:sp>
        <p:nvSpPr>
          <p:cNvPr id="124" name="Text 122"/>
          <p:cNvSpPr txBox="1"/>
          <p:nvPr/>
        </p:nvSpPr>
        <p:spPr>
          <a:xfrm>
            <a:off x="9729216" y="1949286"/>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$32K</a:t>
            </a:r>
            <a:endParaRPr lang="en-US" sz="1300" dirty="0"/>
          </a:p>
        </p:txBody>
      </p:sp>
      <p:sp>
        <p:nvSpPr>
          <p:cNvPr id="125" name="Text 123"/>
          <p:cNvSpPr txBox="1"/>
          <p:nvPr/>
        </p:nvSpPr>
        <p:spPr>
          <a:xfrm>
            <a:off x="10597896" y="1949286"/>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$400K</a:t>
            </a:r>
            <a:endParaRPr lang="en-US" sz="1300" dirty="0"/>
          </a:p>
        </p:txBody>
      </p:sp>
      <p:sp>
        <p:nvSpPr>
          <p:cNvPr id="126" name="Text 124"/>
          <p:cNvSpPr txBox="1"/>
          <p:nvPr/>
        </p:nvSpPr>
        <p:spPr>
          <a:xfrm>
            <a:off x="6208776" y="219778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127" name="Text 125"/>
          <p:cNvSpPr txBox="1"/>
          <p:nvPr/>
        </p:nvSpPr>
        <p:spPr>
          <a:xfrm>
            <a:off x="6565392" y="2197787"/>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LINCOLN</a:t>
            </a:r>
            <a:endParaRPr lang="en-US" sz="1200" dirty="0"/>
          </a:p>
        </p:txBody>
      </p:sp>
      <p:sp>
        <p:nvSpPr>
          <p:cNvPr id="128" name="Shape 126"/>
          <p:cNvSpPr/>
          <p:nvPr/>
        </p:nvSpPr>
        <p:spPr>
          <a:xfrm>
            <a:off x="8421624" y="2253700"/>
            <a:ext cx="111161" cy="136676"/>
          </a:xfrm>
          <a:prstGeom prst="rect">
            <a:avLst/>
          </a:prstGeom>
          <a:solidFill>
            <a:srgbClr val="C2352F"/>
          </a:solidFill>
          <a:ln/>
        </p:spPr>
      </p:sp>
      <p:sp>
        <p:nvSpPr>
          <p:cNvPr id="129" name="Text 127"/>
          <p:cNvSpPr txBox="1"/>
          <p:nvPr/>
        </p:nvSpPr>
        <p:spPr>
          <a:xfrm>
            <a:off x="8942832" y="2197787"/>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8%</a:t>
            </a:r>
            <a:endParaRPr lang="en-US" sz="1300" dirty="0"/>
          </a:p>
        </p:txBody>
      </p:sp>
      <p:sp>
        <p:nvSpPr>
          <p:cNvPr id="130" name="Text 128"/>
          <p:cNvSpPr txBox="1"/>
          <p:nvPr/>
        </p:nvSpPr>
        <p:spPr>
          <a:xfrm>
            <a:off x="9729216" y="219778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$24K</a:t>
            </a:r>
            <a:endParaRPr lang="en-US" sz="1300" dirty="0"/>
          </a:p>
        </p:txBody>
      </p:sp>
      <p:sp>
        <p:nvSpPr>
          <p:cNvPr id="131" name="Text 129"/>
          <p:cNvSpPr txBox="1"/>
          <p:nvPr/>
        </p:nvSpPr>
        <p:spPr>
          <a:xfrm>
            <a:off x="10597896" y="219778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$312K</a:t>
            </a:r>
            <a:endParaRPr lang="en-US" sz="1300" dirty="0"/>
          </a:p>
        </p:txBody>
      </p:sp>
      <p:sp>
        <p:nvSpPr>
          <p:cNvPr id="132" name="Text 130"/>
          <p:cNvSpPr txBox="1"/>
          <p:nvPr/>
        </p:nvSpPr>
        <p:spPr>
          <a:xfrm>
            <a:off x="6208776" y="244628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133" name="Text 131"/>
          <p:cNvSpPr txBox="1"/>
          <p:nvPr/>
        </p:nvSpPr>
        <p:spPr>
          <a:xfrm>
            <a:off x="6565392" y="2446289"/>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ST GEORGE</a:t>
            </a:r>
            <a:endParaRPr lang="en-US" sz="1200" dirty="0"/>
          </a:p>
        </p:txBody>
      </p:sp>
      <p:sp>
        <p:nvSpPr>
          <p:cNvPr id="134" name="Shape 132"/>
          <p:cNvSpPr/>
          <p:nvPr/>
        </p:nvSpPr>
        <p:spPr>
          <a:xfrm>
            <a:off x="8421624" y="2502202"/>
            <a:ext cx="84754" cy="136676"/>
          </a:xfrm>
          <a:prstGeom prst="rect">
            <a:avLst/>
          </a:prstGeom>
          <a:solidFill>
            <a:srgbClr val="C2352F"/>
          </a:solidFill>
          <a:ln/>
        </p:spPr>
      </p:sp>
      <p:sp>
        <p:nvSpPr>
          <p:cNvPr id="135" name="Text 133"/>
          <p:cNvSpPr txBox="1"/>
          <p:nvPr/>
        </p:nvSpPr>
        <p:spPr>
          <a:xfrm>
            <a:off x="8942832" y="2446289"/>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6%</a:t>
            </a:r>
            <a:endParaRPr lang="en-US" sz="1300" dirty="0"/>
          </a:p>
        </p:txBody>
      </p:sp>
      <p:sp>
        <p:nvSpPr>
          <p:cNvPr id="136" name="Text 134"/>
          <p:cNvSpPr txBox="1"/>
          <p:nvPr/>
        </p:nvSpPr>
        <p:spPr>
          <a:xfrm>
            <a:off x="9729216" y="244628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$22K</a:t>
            </a:r>
            <a:endParaRPr lang="en-US" sz="1300" dirty="0"/>
          </a:p>
        </p:txBody>
      </p:sp>
      <p:sp>
        <p:nvSpPr>
          <p:cNvPr id="137" name="Text 135"/>
          <p:cNvSpPr txBox="1"/>
          <p:nvPr/>
        </p:nvSpPr>
        <p:spPr>
          <a:xfrm>
            <a:off x="10597896" y="244628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$382K</a:t>
            </a:r>
            <a:endParaRPr lang="en-US" sz="1300" dirty="0"/>
          </a:p>
        </p:txBody>
      </p:sp>
      <p:sp>
        <p:nvSpPr>
          <p:cNvPr id="138" name="Text 136"/>
          <p:cNvSpPr txBox="1"/>
          <p:nvPr/>
        </p:nvSpPr>
        <p:spPr>
          <a:xfrm>
            <a:off x="6208776" y="2694791"/>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139" name="Text 137"/>
          <p:cNvSpPr txBox="1"/>
          <p:nvPr/>
        </p:nvSpPr>
        <p:spPr>
          <a:xfrm>
            <a:off x="6565392" y="2694791"/>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LV</a:t>
            </a:r>
            <a:endParaRPr lang="en-US" sz="1200" dirty="0"/>
          </a:p>
        </p:txBody>
      </p:sp>
      <p:sp>
        <p:nvSpPr>
          <p:cNvPr id="140" name="Shape 138"/>
          <p:cNvSpPr/>
          <p:nvPr/>
        </p:nvSpPr>
        <p:spPr>
          <a:xfrm>
            <a:off x="8421624" y="2750703"/>
            <a:ext cx="75701" cy="136676"/>
          </a:xfrm>
          <a:prstGeom prst="rect">
            <a:avLst/>
          </a:prstGeom>
          <a:solidFill>
            <a:srgbClr val="C2352F"/>
          </a:solidFill>
          <a:ln/>
        </p:spPr>
      </p:sp>
      <p:sp>
        <p:nvSpPr>
          <p:cNvPr id="141" name="Text 139"/>
          <p:cNvSpPr txBox="1"/>
          <p:nvPr/>
        </p:nvSpPr>
        <p:spPr>
          <a:xfrm>
            <a:off x="8942832" y="2694791"/>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5%</a:t>
            </a:r>
            <a:endParaRPr lang="en-US" sz="1300" dirty="0"/>
          </a:p>
        </p:txBody>
      </p:sp>
      <p:sp>
        <p:nvSpPr>
          <p:cNvPr id="142" name="Text 140"/>
          <p:cNvSpPr txBox="1"/>
          <p:nvPr/>
        </p:nvSpPr>
        <p:spPr>
          <a:xfrm>
            <a:off x="9729216" y="2694791"/>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$87K</a:t>
            </a:r>
            <a:endParaRPr lang="en-US" sz="1300" dirty="0"/>
          </a:p>
        </p:txBody>
      </p:sp>
      <p:sp>
        <p:nvSpPr>
          <p:cNvPr id="143" name="Text 141"/>
          <p:cNvSpPr txBox="1"/>
          <p:nvPr/>
        </p:nvSpPr>
        <p:spPr>
          <a:xfrm>
            <a:off x="10597896" y="2694791"/>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$1.69M</a:t>
            </a:r>
            <a:endParaRPr lang="en-US" sz="1300" dirty="0"/>
          </a:p>
        </p:txBody>
      </p:sp>
      <p:sp>
        <p:nvSpPr>
          <p:cNvPr id="144" name="Text 142"/>
          <p:cNvSpPr txBox="1"/>
          <p:nvPr/>
        </p:nvSpPr>
        <p:spPr>
          <a:xfrm>
            <a:off x="6208776" y="294329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45" name="Text 143"/>
          <p:cNvSpPr txBox="1"/>
          <p:nvPr/>
        </p:nvSpPr>
        <p:spPr>
          <a:xfrm>
            <a:off x="6565392" y="2943292"/>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HENDERSON</a:t>
            </a:r>
            <a:endParaRPr lang="en-US" sz="1200" dirty="0"/>
          </a:p>
        </p:txBody>
      </p:sp>
      <p:sp>
        <p:nvSpPr>
          <p:cNvPr id="146" name="Shape 144"/>
          <p:cNvSpPr/>
          <p:nvPr/>
        </p:nvSpPr>
        <p:spPr>
          <a:xfrm>
            <a:off x="8421624" y="2999205"/>
            <a:ext cx="69750" cy="136676"/>
          </a:xfrm>
          <a:prstGeom prst="rect">
            <a:avLst/>
          </a:prstGeom>
          <a:solidFill>
            <a:srgbClr val="C2352F"/>
          </a:solidFill>
          <a:ln/>
        </p:spPr>
      </p:sp>
      <p:sp>
        <p:nvSpPr>
          <p:cNvPr id="147" name="Text 145"/>
          <p:cNvSpPr txBox="1"/>
          <p:nvPr/>
        </p:nvSpPr>
        <p:spPr>
          <a:xfrm>
            <a:off x="8942832" y="2943292"/>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5%</a:t>
            </a:r>
            <a:endParaRPr lang="en-US" sz="1300" dirty="0"/>
          </a:p>
        </p:txBody>
      </p:sp>
      <p:sp>
        <p:nvSpPr>
          <p:cNvPr id="148" name="Text 146"/>
          <p:cNvSpPr txBox="1"/>
          <p:nvPr/>
        </p:nvSpPr>
        <p:spPr>
          <a:xfrm>
            <a:off x="9729216" y="2943292"/>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$25K</a:t>
            </a:r>
            <a:endParaRPr lang="en-US" sz="1300" dirty="0"/>
          </a:p>
        </p:txBody>
      </p:sp>
      <p:sp>
        <p:nvSpPr>
          <p:cNvPr id="149" name="Text 147"/>
          <p:cNvSpPr txBox="1"/>
          <p:nvPr/>
        </p:nvSpPr>
        <p:spPr>
          <a:xfrm>
            <a:off x="10597896" y="2943292"/>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$516K</a:t>
            </a:r>
            <a:endParaRPr lang="en-US" sz="1300" dirty="0"/>
          </a:p>
        </p:txBody>
      </p:sp>
      <p:sp>
        <p:nvSpPr>
          <p:cNvPr id="150" name="Text 148"/>
          <p:cNvSpPr txBox="1"/>
          <p:nvPr/>
        </p:nvSpPr>
        <p:spPr>
          <a:xfrm>
            <a:off x="6208776" y="319179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51" name="Text 149"/>
          <p:cNvSpPr txBox="1"/>
          <p:nvPr/>
        </p:nvSpPr>
        <p:spPr>
          <a:xfrm>
            <a:off x="6565392" y="3191794"/>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HENDERSON</a:t>
            </a:r>
            <a:endParaRPr lang="en-US" sz="1200" dirty="0"/>
          </a:p>
        </p:txBody>
      </p:sp>
      <p:sp>
        <p:nvSpPr>
          <p:cNvPr id="152" name="Shape 150"/>
          <p:cNvSpPr/>
          <p:nvPr/>
        </p:nvSpPr>
        <p:spPr>
          <a:xfrm>
            <a:off x="8421624" y="3247707"/>
            <a:ext cx="61333" cy="136676"/>
          </a:xfrm>
          <a:prstGeom prst="rect">
            <a:avLst/>
          </a:prstGeom>
          <a:solidFill>
            <a:srgbClr val="C2352F"/>
          </a:solidFill>
          <a:ln/>
        </p:spPr>
      </p:sp>
      <p:sp>
        <p:nvSpPr>
          <p:cNvPr id="153" name="Text 151"/>
          <p:cNvSpPr txBox="1"/>
          <p:nvPr/>
        </p:nvSpPr>
        <p:spPr>
          <a:xfrm>
            <a:off x="8942832" y="3191794"/>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4%</a:t>
            </a:r>
            <a:endParaRPr lang="en-US" sz="1300" dirty="0"/>
          </a:p>
        </p:txBody>
      </p:sp>
      <p:sp>
        <p:nvSpPr>
          <p:cNvPr id="154" name="Text 152"/>
          <p:cNvSpPr txBox="1"/>
          <p:nvPr/>
        </p:nvSpPr>
        <p:spPr>
          <a:xfrm>
            <a:off x="9729216" y="319179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$15K</a:t>
            </a:r>
            <a:endParaRPr lang="en-US" sz="1300" dirty="0"/>
          </a:p>
        </p:txBody>
      </p:sp>
      <p:sp>
        <p:nvSpPr>
          <p:cNvPr id="155" name="Text 153"/>
          <p:cNvSpPr txBox="1"/>
          <p:nvPr/>
        </p:nvSpPr>
        <p:spPr>
          <a:xfrm>
            <a:off x="10597896" y="319179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$357K</a:t>
            </a:r>
            <a:endParaRPr lang="en-US" sz="1300" dirty="0"/>
          </a:p>
        </p:txBody>
      </p:sp>
      <p:sp>
        <p:nvSpPr>
          <p:cNvPr id="156" name="Text 154"/>
          <p:cNvSpPr txBox="1"/>
          <p:nvPr/>
        </p:nvSpPr>
        <p:spPr>
          <a:xfrm>
            <a:off x="6208776" y="344029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25</a:t>
            </a:r>
            <a:endParaRPr lang="en-US" sz="1200" dirty="0"/>
          </a:p>
        </p:txBody>
      </p:sp>
      <p:sp>
        <p:nvSpPr>
          <p:cNvPr id="157" name="Text 155"/>
          <p:cNvSpPr txBox="1"/>
          <p:nvPr/>
        </p:nvSpPr>
        <p:spPr>
          <a:xfrm>
            <a:off x="6565392" y="3440296"/>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LV</a:t>
            </a:r>
            <a:endParaRPr lang="en-US" sz="1200" dirty="0"/>
          </a:p>
        </p:txBody>
      </p:sp>
      <p:sp>
        <p:nvSpPr>
          <p:cNvPr id="158" name="Shape 156"/>
          <p:cNvSpPr/>
          <p:nvPr/>
        </p:nvSpPr>
        <p:spPr>
          <a:xfrm>
            <a:off x="8421624" y="3496208"/>
            <a:ext cx="59486" cy="136676"/>
          </a:xfrm>
          <a:prstGeom prst="rect">
            <a:avLst/>
          </a:prstGeom>
          <a:solidFill>
            <a:srgbClr val="C2352F"/>
          </a:solidFill>
          <a:ln/>
        </p:spPr>
      </p:sp>
      <p:sp>
        <p:nvSpPr>
          <p:cNvPr id="159" name="Text 157"/>
          <p:cNvSpPr txBox="1"/>
          <p:nvPr/>
        </p:nvSpPr>
        <p:spPr>
          <a:xfrm>
            <a:off x="8942832" y="3440296"/>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4%</a:t>
            </a:r>
            <a:endParaRPr lang="en-US" sz="1300" dirty="0"/>
          </a:p>
        </p:txBody>
      </p:sp>
      <p:sp>
        <p:nvSpPr>
          <p:cNvPr id="160" name="Text 158"/>
          <p:cNvSpPr txBox="1"/>
          <p:nvPr/>
        </p:nvSpPr>
        <p:spPr>
          <a:xfrm>
            <a:off x="9729216" y="3440296"/>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$44K</a:t>
            </a:r>
            <a:endParaRPr lang="en-US" sz="1300" dirty="0"/>
          </a:p>
        </p:txBody>
      </p:sp>
      <p:sp>
        <p:nvSpPr>
          <p:cNvPr id="161" name="Text 159"/>
          <p:cNvSpPr txBox="1"/>
          <p:nvPr/>
        </p:nvSpPr>
        <p:spPr>
          <a:xfrm>
            <a:off x="10597896" y="3440296"/>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$1.07M</a:t>
            </a:r>
            <a:endParaRPr lang="en-US" sz="1300" dirty="0"/>
          </a:p>
        </p:txBody>
      </p:sp>
      <p:sp>
        <p:nvSpPr>
          <p:cNvPr id="162" name="Text 160"/>
          <p:cNvSpPr txBox="1"/>
          <p:nvPr/>
        </p:nvSpPr>
        <p:spPr>
          <a:xfrm>
            <a:off x="6208776" y="368879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26</a:t>
            </a:r>
            <a:endParaRPr lang="en-US" sz="1200" dirty="0"/>
          </a:p>
        </p:txBody>
      </p:sp>
      <p:sp>
        <p:nvSpPr>
          <p:cNvPr id="163" name="Text 161"/>
          <p:cNvSpPr txBox="1"/>
          <p:nvPr/>
        </p:nvSpPr>
        <p:spPr>
          <a:xfrm>
            <a:off x="6565392" y="3688797"/>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RENO</a:t>
            </a:r>
            <a:endParaRPr lang="en-US" sz="1200" dirty="0"/>
          </a:p>
        </p:txBody>
      </p:sp>
      <p:sp>
        <p:nvSpPr>
          <p:cNvPr id="164" name="Shape 162"/>
          <p:cNvSpPr/>
          <p:nvPr/>
        </p:nvSpPr>
        <p:spPr>
          <a:xfrm>
            <a:off x="8421624" y="3744710"/>
            <a:ext cx="58291" cy="136676"/>
          </a:xfrm>
          <a:prstGeom prst="rect">
            <a:avLst/>
          </a:prstGeom>
          <a:solidFill>
            <a:srgbClr val="C2352F"/>
          </a:solidFill>
          <a:ln/>
        </p:spPr>
      </p:sp>
      <p:sp>
        <p:nvSpPr>
          <p:cNvPr id="165" name="Text 163"/>
          <p:cNvSpPr txBox="1"/>
          <p:nvPr/>
        </p:nvSpPr>
        <p:spPr>
          <a:xfrm>
            <a:off x="8942832" y="3688797"/>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4%</a:t>
            </a:r>
            <a:endParaRPr lang="en-US" sz="1300" dirty="0"/>
          </a:p>
        </p:txBody>
      </p:sp>
      <p:sp>
        <p:nvSpPr>
          <p:cNvPr id="166" name="Text 164"/>
          <p:cNvSpPr txBox="1"/>
          <p:nvPr/>
        </p:nvSpPr>
        <p:spPr>
          <a:xfrm>
            <a:off x="9729216" y="368879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$20K</a:t>
            </a:r>
            <a:endParaRPr lang="en-US" sz="1300" dirty="0"/>
          </a:p>
        </p:txBody>
      </p:sp>
      <p:sp>
        <p:nvSpPr>
          <p:cNvPr id="167" name="Text 165"/>
          <p:cNvSpPr txBox="1"/>
          <p:nvPr/>
        </p:nvSpPr>
        <p:spPr>
          <a:xfrm>
            <a:off x="10597896" y="368879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$504K</a:t>
            </a:r>
            <a:endParaRPr lang="en-US" sz="1300" dirty="0"/>
          </a:p>
        </p:txBody>
      </p:sp>
      <p:sp>
        <p:nvSpPr>
          <p:cNvPr id="168" name="Text 166"/>
          <p:cNvSpPr txBox="1"/>
          <p:nvPr/>
        </p:nvSpPr>
        <p:spPr>
          <a:xfrm>
            <a:off x="6208776" y="393729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27</a:t>
            </a:r>
            <a:endParaRPr lang="en-US" sz="1200" dirty="0"/>
          </a:p>
        </p:txBody>
      </p:sp>
      <p:sp>
        <p:nvSpPr>
          <p:cNvPr id="169" name="Text 167"/>
          <p:cNvSpPr txBox="1"/>
          <p:nvPr/>
        </p:nvSpPr>
        <p:spPr>
          <a:xfrm>
            <a:off x="6565392" y="3937299"/>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HENDERSON</a:t>
            </a:r>
            <a:endParaRPr lang="en-US" sz="1200" dirty="0"/>
          </a:p>
        </p:txBody>
      </p:sp>
      <p:sp>
        <p:nvSpPr>
          <p:cNvPr id="170" name="Shape 168"/>
          <p:cNvSpPr/>
          <p:nvPr/>
        </p:nvSpPr>
        <p:spPr>
          <a:xfrm>
            <a:off x="8421624" y="3993212"/>
            <a:ext cx="42032" cy="136676"/>
          </a:xfrm>
          <a:prstGeom prst="rect">
            <a:avLst/>
          </a:prstGeom>
          <a:solidFill>
            <a:srgbClr val="C2352F"/>
          </a:solidFill>
          <a:ln/>
        </p:spPr>
      </p:sp>
      <p:sp>
        <p:nvSpPr>
          <p:cNvPr id="171" name="Text 169"/>
          <p:cNvSpPr txBox="1"/>
          <p:nvPr/>
        </p:nvSpPr>
        <p:spPr>
          <a:xfrm>
            <a:off x="8942832" y="3937299"/>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a:t>
            </a:r>
            <a:endParaRPr lang="en-US" sz="1300" dirty="0"/>
          </a:p>
        </p:txBody>
      </p:sp>
      <p:sp>
        <p:nvSpPr>
          <p:cNvPr id="172" name="Text 170"/>
          <p:cNvSpPr txBox="1"/>
          <p:nvPr/>
        </p:nvSpPr>
        <p:spPr>
          <a:xfrm>
            <a:off x="9729216" y="393729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$70K</a:t>
            </a:r>
            <a:endParaRPr lang="en-US" sz="1300" dirty="0"/>
          </a:p>
        </p:txBody>
      </p:sp>
      <p:sp>
        <p:nvSpPr>
          <p:cNvPr id="173" name="Text 171"/>
          <p:cNvSpPr txBox="1"/>
          <p:nvPr/>
        </p:nvSpPr>
        <p:spPr>
          <a:xfrm>
            <a:off x="10597896" y="393729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$2.44M</a:t>
            </a:r>
            <a:endParaRPr lang="en-US" sz="1300" dirty="0"/>
          </a:p>
        </p:txBody>
      </p:sp>
      <p:sp>
        <p:nvSpPr>
          <p:cNvPr id="174" name="Text 172"/>
          <p:cNvSpPr txBox="1"/>
          <p:nvPr/>
        </p:nvSpPr>
        <p:spPr>
          <a:xfrm>
            <a:off x="6208776" y="4185800"/>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28</a:t>
            </a:r>
            <a:endParaRPr lang="en-US" sz="1200" dirty="0"/>
          </a:p>
        </p:txBody>
      </p:sp>
      <p:sp>
        <p:nvSpPr>
          <p:cNvPr id="175" name="Text 173"/>
          <p:cNvSpPr txBox="1"/>
          <p:nvPr/>
        </p:nvSpPr>
        <p:spPr>
          <a:xfrm>
            <a:off x="6565392" y="4185800"/>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MAZDA</a:t>
            </a:r>
            <a:endParaRPr lang="en-US" sz="1200" dirty="0"/>
          </a:p>
        </p:txBody>
      </p:sp>
      <p:sp>
        <p:nvSpPr>
          <p:cNvPr id="176" name="Shape 174"/>
          <p:cNvSpPr/>
          <p:nvPr/>
        </p:nvSpPr>
        <p:spPr>
          <a:xfrm>
            <a:off x="8421624" y="4241713"/>
            <a:ext cx="38916" cy="136676"/>
          </a:xfrm>
          <a:prstGeom prst="rect">
            <a:avLst/>
          </a:prstGeom>
          <a:solidFill>
            <a:srgbClr val="C2352F"/>
          </a:solidFill>
          <a:ln/>
        </p:spPr>
      </p:sp>
      <p:sp>
        <p:nvSpPr>
          <p:cNvPr id="177" name="Text 175"/>
          <p:cNvSpPr txBox="1"/>
          <p:nvPr/>
        </p:nvSpPr>
        <p:spPr>
          <a:xfrm>
            <a:off x="8942832" y="4185800"/>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a:t>
            </a:r>
            <a:endParaRPr lang="en-US" sz="1300" dirty="0"/>
          </a:p>
        </p:txBody>
      </p:sp>
      <p:sp>
        <p:nvSpPr>
          <p:cNvPr id="178" name="Text 176"/>
          <p:cNvSpPr txBox="1"/>
          <p:nvPr/>
        </p:nvSpPr>
        <p:spPr>
          <a:xfrm>
            <a:off x="9729216" y="4185800"/>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$9K</a:t>
            </a:r>
            <a:endParaRPr lang="en-US" sz="1300" dirty="0"/>
          </a:p>
        </p:txBody>
      </p:sp>
      <p:sp>
        <p:nvSpPr>
          <p:cNvPr id="179" name="Text 177"/>
          <p:cNvSpPr txBox="1"/>
          <p:nvPr/>
        </p:nvSpPr>
        <p:spPr>
          <a:xfrm>
            <a:off x="10597896" y="4185800"/>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$322K</a:t>
            </a:r>
            <a:endParaRPr lang="en-US" sz="1300" dirty="0"/>
          </a:p>
        </p:txBody>
      </p:sp>
      <p:sp>
        <p:nvSpPr>
          <p:cNvPr id="180" name="Text 178"/>
          <p:cNvSpPr txBox="1"/>
          <p:nvPr/>
        </p:nvSpPr>
        <p:spPr>
          <a:xfrm>
            <a:off x="6208776" y="443430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29</a:t>
            </a:r>
            <a:endParaRPr lang="en-US" sz="1200" dirty="0"/>
          </a:p>
        </p:txBody>
      </p:sp>
      <p:sp>
        <p:nvSpPr>
          <p:cNvPr id="181" name="Text 179"/>
          <p:cNvSpPr txBox="1"/>
          <p:nvPr/>
        </p:nvSpPr>
        <p:spPr>
          <a:xfrm>
            <a:off x="6565392" y="4434302"/>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FLAGSTAFF</a:t>
            </a:r>
            <a:endParaRPr lang="en-US" sz="1200" dirty="0"/>
          </a:p>
        </p:txBody>
      </p:sp>
      <p:sp>
        <p:nvSpPr>
          <p:cNvPr id="182" name="Shape 180"/>
          <p:cNvSpPr/>
          <p:nvPr/>
        </p:nvSpPr>
        <p:spPr>
          <a:xfrm>
            <a:off x="8421624" y="4490215"/>
            <a:ext cx="28242" cy="136676"/>
          </a:xfrm>
          <a:prstGeom prst="rect">
            <a:avLst/>
          </a:prstGeom>
          <a:solidFill>
            <a:srgbClr val="C2352F"/>
          </a:solidFill>
          <a:ln/>
        </p:spPr>
      </p:sp>
      <p:sp>
        <p:nvSpPr>
          <p:cNvPr id="183" name="Text 181"/>
          <p:cNvSpPr txBox="1"/>
          <p:nvPr/>
        </p:nvSpPr>
        <p:spPr>
          <a:xfrm>
            <a:off x="8942832" y="4434302"/>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a:t>
            </a:r>
            <a:endParaRPr lang="en-US" sz="1300" dirty="0"/>
          </a:p>
        </p:txBody>
      </p:sp>
      <p:sp>
        <p:nvSpPr>
          <p:cNvPr id="184" name="Text 182"/>
          <p:cNvSpPr txBox="1"/>
          <p:nvPr/>
        </p:nvSpPr>
        <p:spPr>
          <a:xfrm>
            <a:off x="9729216" y="4434302"/>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$10K</a:t>
            </a:r>
            <a:endParaRPr lang="en-US" sz="1300" dirty="0"/>
          </a:p>
        </p:txBody>
      </p:sp>
      <p:sp>
        <p:nvSpPr>
          <p:cNvPr id="185" name="Text 183"/>
          <p:cNvSpPr txBox="1"/>
          <p:nvPr/>
        </p:nvSpPr>
        <p:spPr>
          <a:xfrm>
            <a:off x="10597896" y="4434302"/>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$542K</a:t>
            </a:r>
            <a:endParaRPr lang="en-US" sz="1300" dirty="0"/>
          </a:p>
        </p:txBody>
      </p:sp>
      <p:sp>
        <p:nvSpPr>
          <p:cNvPr id="186" name="Text 184"/>
          <p:cNvSpPr txBox="1"/>
          <p:nvPr/>
        </p:nvSpPr>
        <p:spPr>
          <a:xfrm>
            <a:off x="6208776" y="468280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30</a:t>
            </a:r>
            <a:endParaRPr lang="en-US" sz="1200" dirty="0"/>
          </a:p>
        </p:txBody>
      </p:sp>
      <p:sp>
        <p:nvSpPr>
          <p:cNvPr id="187" name="Text 185"/>
          <p:cNvSpPr txBox="1"/>
          <p:nvPr/>
        </p:nvSpPr>
        <p:spPr>
          <a:xfrm>
            <a:off x="6565392" y="4682804"/>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SPOKANE</a:t>
            </a:r>
            <a:endParaRPr lang="en-US" sz="1200" dirty="0"/>
          </a:p>
        </p:txBody>
      </p:sp>
      <p:sp>
        <p:nvSpPr>
          <p:cNvPr id="188" name="Shape 186"/>
          <p:cNvSpPr/>
          <p:nvPr/>
        </p:nvSpPr>
        <p:spPr>
          <a:xfrm>
            <a:off x="8421624" y="4738717"/>
            <a:ext cx="27287" cy="136676"/>
          </a:xfrm>
          <a:prstGeom prst="rect">
            <a:avLst/>
          </a:prstGeom>
          <a:solidFill>
            <a:srgbClr val="C2352F"/>
          </a:solidFill>
          <a:ln/>
        </p:spPr>
      </p:sp>
      <p:sp>
        <p:nvSpPr>
          <p:cNvPr id="189" name="Text 187"/>
          <p:cNvSpPr txBox="1"/>
          <p:nvPr/>
        </p:nvSpPr>
        <p:spPr>
          <a:xfrm>
            <a:off x="8942832" y="4682804"/>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a:t>
            </a:r>
            <a:endParaRPr lang="en-US" sz="1300" dirty="0"/>
          </a:p>
        </p:txBody>
      </p:sp>
      <p:sp>
        <p:nvSpPr>
          <p:cNvPr id="190" name="Text 188"/>
          <p:cNvSpPr txBox="1"/>
          <p:nvPr/>
        </p:nvSpPr>
        <p:spPr>
          <a:xfrm>
            <a:off x="9729216" y="468280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$11K</a:t>
            </a:r>
            <a:endParaRPr lang="en-US" sz="1300" dirty="0"/>
          </a:p>
        </p:txBody>
      </p:sp>
      <p:sp>
        <p:nvSpPr>
          <p:cNvPr id="191" name="Text 189"/>
          <p:cNvSpPr txBox="1"/>
          <p:nvPr/>
        </p:nvSpPr>
        <p:spPr>
          <a:xfrm>
            <a:off x="10597896" y="468280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$609K</a:t>
            </a:r>
            <a:endParaRPr lang="en-US" sz="1300" dirty="0"/>
          </a:p>
        </p:txBody>
      </p:sp>
      <p:sp>
        <p:nvSpPr>
          <p:cNvPr id="192" name="Text 190"/>
          <p:cNvSpPr txBox="1"/>
          <p:nvPr/>
        </p:nvSpPr>
        <p:spPr>
          <a:xfrm>
            <a:off x="6208776" y="4931305"/>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31</a:t>
            </a:r>
            <a:endParaRPr lang="en-US" sz="1200" dirty="0"/>
          </a:p>
        </p:txBody>
      </p:sp>
      <p:sp>
        <p:nvSpPr>
          <p:cNvPr id="193" name="Text 191"/>
          <p:cNvSpPr txBox="1"/>
          <p:nvPr/>
        </p:nvSpPr>
        <p:spPr>
          <a:xfrm>
            <a:off x="6565392" y="4931305"/>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NORTH</a:t>
            </a:r>
            <a:endParaRPr lang="en-US" sz="1200" dirty="0"/>
          </a:p>
        </p:txBody>
      </p:sp>
      <p:sp>
        <p:nvSpPr>
          <p:cNvPr id="194" name="Shape 192"/>
          <p:cNvSpPr/>
          <p:nvPr/>
        </p:nvSpPr>
        <p:spPr>
          <a:xfrm>
            <a:off x="8421624" y="4987218"/>
            <a:ext cx="19910" cy="136676"/>
          </a:xfrm>
          <a:prstGeom prst="rect">
            <a:avLst/>
          </a:prstGeom>
          <a:solidFill>
            <a:srgbClr val="C2352F"/>
          </a:solidFill>
          <a:ln/>
        </p:spPr>
      </p:sp>
      <p:sp>
        <p:nvSpPr>
          <p:cNvPr id="195" name="Text 193"/>
          <p:cNvSpPr txBox="1"/>
          <p:nvPr/>
        </p:nvSpPr>
        <p:spPr>
          <a:xfrm>
            <a:off x="8942832" y="4931305"/>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a:t>
            </a:r>
            <a:endParaRPr lang="en-US" sz="1300" dirty="0"/>
          </a:p>
        </p:txBody>
      </p:sp>
      <p:sp>
        <p:nvSpPr>
          <p:cNvPr id="196" name="Text 194"/>
          <p:cNvSpPr txBox="1"/>
          <p:nvPr/>
        </p:nvSpPr>
        <p:spPr>
          <a:xfrm>
            <a:off x="9729216" y="4931305"/>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$13K</a:t>
            </a:r>
            <a:endParaRPr lang="en-US" sz="1300" dirty="0"/>
          </a:p>
        </p:txBody>
      </p:sp>
      <p:sp>
        <p:nvSpPr>
          <p:cNvPr id="197" name="Text 195"/>
          <p:cNvSpPr txBox="1"/>
          <p:nvPr/>
        </p:nvSpPr>
        <p:spPr>
          <a:xfrm>
            <a:off x="10597896" y="4931305"/>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$949K</a:t>
            </a:r>
            <a:endParaRPr lang="en-US" sz="1300" dirty="0"/>
          </a:p>
        </p:txBody>
      </p:sp>
      <p:sp>
        <p:nvSpPr>
          <p:cNvPr id="198" name="Text 196"/>
          <p:cNvSpPr txBox="1"/>
          <p:nvPr/>
        </p:nvSpPr>
        <p:spPr>
          <a:xfrm>
            <a:off x="6208776" y="517980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32</a:t>
            </a:r>
            <a:endParaRPr lang="en-US" sz="1200" dirty="0"/>
          </a:p>
        </p:txBody>
      </p:sp>
      <p:sp>
        <p:nvSpPr>
          <p:cNvPr id="199" name="Text 197"/>
          <p:cNvSpPr txBox="1"/>
          <p:nvPr/>
        </p:nvSpPr>
        <p:spPr>
          <a:xfrm>
            <a:off x="6565392" y="5179807"/>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HENDERSON</a:t>
            </a:r>
            <a:endParaRPr lang="en-US" sz="1200" dirty="0"/>
          </a:p>
        </p:txBody>
      </p:sp>
      <p:sp>
        <p:nvSpPr>
          <p:cNvPr id="200" name="Shape 198"/>
          <p:cNvSpPr/>
          <p:nvPr/>
        </p:nvSpPr>
        <p:spPr>
          <a:xfrm>
            <a:off x="8421624" y="5235720"/>
            <a:ext cx="18288" cy="136676"/>
          </a:xfrm>
          <a:prstGeom prst="rect">
            <a:avLst/>
          </a:prstGeom>
          <a:solidFill>
            <a:srgbClr val="C2352F"/>
          </a:solidFill>
          <a:ln/>
        </p:spPr>
      </p:sp>
      <p:sp>
        <p:nvSpPr>
          <p:cNvPr id="201" name="Text 199"/>
          <p:cNvSpPr txBox="1"/>
          <p:nvPr/>
        </p:nvSpPr>
        <p:spPr>
          <a:xfrm>
            <a:off x="8942832" y="5179807"/>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a:t>
            </a:r>
            <a:endParaRPr lang="en-US" sz="1300" dirty="0"/>
          </a:p>
        </p:txBody>
      </p:sp>
      <p:sp>
        <p:nvSpPr>
          <p:cNvPr id="202" name="Text 200"/>
          <p:cNvSpPr txBox="1"/>
          <p:nvPr/>
        </p:nvSpPr>
        <p:spPr>
          <a:xfrm>
            <a:off x="9729216" y="517980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$13K</a:t>
            </a:r>
            <a:endParaRPr lang="en-US" sz="1300" dirty="0"/>
          </a:p>
        </p:txBody>
      </p:sp>
      <p:sp>
        <p:nvSpPr>
          <p:cNvPr id="203" name="Text 201"/>
          <p:cNvSpPr txBox="1"/>
          <p:nvPr/>
        </p:nvSpPr>
        <p:spPr>
          <a:xfrm>
            <a:off x="10597896" y="517980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$1.54M</a:t>
            </a:r>
            <a:endParaRPr lang="en-US" sz="1300" dirty="0"/>
          </a:p>
        </p:txBody>
      </p:sp>
      <p:sp>
        <p:nvSpPr>
          <p:cNvPr id="204" name="Text 202"/>
          <p:cNvSpPr txBox="1"/>
          <p:nvPr/>
        </p:nvSpPr>
        <p:spPr>
          <a:xfrm>
            <a:off x="6208776" y="542830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33</a:t>
            </a:r>
            <a:endParaRPr lang="en-US" sz="1200" dirty="0"/>
          </a:p>
        </p:txBody>
      </p:sp>
      <p:sp>
        <p:nvSpPr>
          <p:cNvPr id="205" name="Text 203"/>
          <p:cNvSpPr txBox="1"/>
          <p:nvPr/>
        </p:nvSpPr>
        <p:spPr>
          <a:xfrm>
            <a:off x="6565392" y="5428309"/>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SPOKANE</a:t>
            </a:r>
            <a:endParaRPr lang="en-US" sz="1200" dirty="0"/>
          </a:p>
        </p:txBody>
      </p:sp>
      <p:sp>
        <p:nvSpPr>
          <p:cNvPr id="206" name="Shape 204"/>
          <p:cNvSpPr/>
          <p:nvPr/>
        </p:nvSpPr>
        <p:spPr>
          <a:xfrm>
            <a:off x="8421624" y="5484222"/>
            <a:ext cx="18288" cy="136676"/>
          </a:xfrm>
          <a:prstGeom prst="rect">
            <a:avLst/>
          </a:prstGeom>
          <a:solidFill>
            <a:srgbClr val="C2352F"/>
          </a:solidFill>
          <a:ln/>
        </p:spPr>
      </p:sp>
      <p:sp>
        <p:nvSpPr>
          <p:cNvPr id="207" name="Text 205"/>
          <p:cNvSpPr txBox="1"/>
          <p:nvPr/>
        </p:nvSpPr>
        <p:spPr>
          <a:xfrm>
            <a:off x="8942832" y="5428309"/>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0%</a:t>
            </a:r>
            <a:endParaRPr lang="en-US" sz="1300" dirty="0"/>
          </a:p>
        </p:txBody>
      </p:sp>
      <p:sp>
        <p:nvSpPr>
          <p:cNvPr id="208" name="Text 206"/>
          <p:cNvSpPr txBox="1"/>
          <p:nvPr/>
        </p:nvSpPr>
        <p:spPr>
          <a:xfrm>
            <a:off x="9729216" y="542830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$1K</a:t>
            </a:r>
            <a:endParaRPr lang="en-US" sz="1300" dirty="0"/>
          </a:p>
        </p:txBody>
      </p:sp>
      <p:sp>
        <p:nvSpPr>
          <p:cNvPr id="209" name="Text 207"/>
          <p:cNvSpPr txBox="1"/>
          <p:nvPr/>
        </p:nvSpPr>
        <p:spPr>
          <a:xfrm>
            <a:off x="10597896" y="542830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$453K</a:t>
            </a:r>
            <a:endParaRPr lang="en-US" sz="1300" dirty="0"/>
          </a:p>
        </p:txBody>
      </p:sp>
      <p:sp>
        <p:nvSpPr>
          <p:cNvPr id="210" name="Shape 208"/>
          <p:cNvSpPr/>
          <p:nvPr/>
        </p:nvSpPr>
        <p:spPr>
          <a:xfrm>
            <a:off x="6085332" y="1700784"/>
            <a:ext cx="10973" cy="4224528"/>
          </a:xfrm>
          <a:prstGeom prst="rect">
            <a:avLst/>
          </a:prstGeom>
          <a:solidFill>
            <a:srgbClr val="D9D9D9"/>
          </a:solidFill>
          <a:ln/>
        </p:spPr>
      </p:sp>
      <p:sp>
        <p:nvSpPr>
          <p:cNvPr id="212" name="Shape 209"/>
          <p:cNvSpPr/>
          <p:nvPr/>
        </p:nvSpPr>
        <p:spPr>
          <a:xfrm>
            <a:off x="457200" y="6126480"/>
            <a:ext cx="11274552" cy="371856"/>
          </a:xfrm>
          <a:prstGeom prst="rect">
            <a:avLst/>
          </a:prstGeom>
          <a:solidFill>
            <a:srgbClr val="FBEBEA"/>
          </a:solidFill>
          <a:ln/>
        </p:spPr>
      </p:sp>
      <p:sp>
        <p:nvSpPr>
          <p:cNvPr id="213" name="Text 210"/>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Group-wide the gap is 8.1% of RO gross. 5 stores are missing a fifth or more.</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PRODUCTIVITY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Your Best Techs Prove It</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Shape 4"/>
          <p:cNvSpPr/>
          <p:nvPr/>
        </p:nvSpPr>
        <p:spPr>
          <a:xfrm>
            <a:off x="658368" y="1371600"/>
            <a:ext cx="182880" cy="182880"/>
          </a:xfrm>
          <a:prstGeom prst="ellipse">
            <a:avLst/>
          </a:prstGeom>
          <a:solidFill>
            <a:srgbClr val="C2352F"/>
          </a:solidFill>
          <a:ln/>
        </p:spPr>
      </p:sp>
      <p:sp>
        <p:nvSpPr>
          <p:cNvPr id="7" name="Text 5"/>
          <p:cNvSpPr txBox="1"/>
          <p:nvPr/>
        </p:nvSpPr>
        <p:spPr>
          <a:xfrm>
            <a:off x="932688" y="1298448"/>
            <a:ext cx="5120640"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Store proficiency (green at or above 85%)</a:t>
            </a:r>
            <a:endParaRPr lang="en-US" sz="1400" dirty="0"/>
          </a:p>
        </p:txBody>
      </p:sp>
      <p:sp>
        <p:nvSpPr>
          <p:cNvPr id="8" name="Shape 6"/>
          <p:cNvSpPr/>
          <p:nvPr/>
        </p:nvSpPr>
        <p:spPr>
          <a:xfrm>
            <a:off x="6208776" y="1371600"/>
            <a:ext cx="182880" cy="182880"/>
          </a:xfrm>
          <a:prstGeom prst="ellipse">
            <a:avLst/>
          </a:prstGeom>
          <a:solidFill>
            <a:srgbClr val="0B2C4A"/>
          </a:solidFill>
          <a:ln/>
        </p:spPr>
      </p:sp>
      <p:sp>
        <p:nvSpPr>
          <p:cNvPr id="9" name="Text 7"/>
          <p:cNvSpPr txBox="1"/>
          <p:nvPr/>
        </p:nvSpPr>
        <p:spPr>
          <a:xfrm>
            <a:off x="6483096" y="1298448"/>
            <a:ext cx="5120640"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Top quarter of that store's techs</a:t>
            </a:r>
            <a:endParaRPr lang="en-US" sz="1400" dirty="0"/>
          </a:p>
        </p:txBody>
      </p:sp>
      <p:sp>
        <p:nvSpPr>
          <p:cNvPr id="10" name="Shape 8"/>
          <p:cNvSpPr/>
          <p:nvPr/>
        </p:nvSpPr>
        <p:spPr>
          <a:xfrm>
            <a:off x="3099359" y="1737360"/>
            <a:ext cx="14630" cy="4187952"/>
          </a:xfrm>
          <a:prstGeom prst="rect">
            <a:avLst/>
          </a:prstGeom>
          <a:solidFill>
            <a:srgbClr val="9AA3AD"/>
          </a:solidFill>
          <a:ln/>
        </p:spPr>
      </p:sp>
      <p:sp>
        <p:nvSpPr>
          <p:cNvPr id="11" name="Shape 9"/>
          <p:cNvSpPr/>
          <p:nvPr/>
        </p:nvSpPr>
        <p:spPr>
          <a:xfrm>
            <a:off x="8649767" y="1737360"/>
            <a:ext cx="14630" cy="3941602"/>
          </a:xfrm>
          <a:prstGeom prst="rect">
            <a:avLst/>
          </a:prstGeom>
          <a:solidFill>
            <a:srgbClr val="9AA3AD"/>
          </a:solidFill>
          <a:ln/>
        </p:spPr>
      </p:sp>
      <p:sp>
        <p:nvSpPr>
          <p:cNvPr id="12" name="Text 10"/>
          <p:cNvSpPr txBox="1"/>
          <p:nvPr/>
        </p:nvSpPr>
        <p:spPr>
          <a:xfrm>
            <a:off x="658368" y="1737360"/>
            <a:ext cx="1938528" cy="24635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13" name="Shape 11"/>
          <p:cNvSpPr/>
          <p:nvPr/>
        </p:nvSpPr>
        <p:spPr>
          <a:xfrm>
            <a:off x="3507248" y="1846819"/>
            <a:ext cx="645269" cy="27432"/>
          </a:xfrm>
          <a:prstGeom prst="rect">
            <a:avLst/>
          </a:prstGeom>
          <a:solidFill>
            <a:srgbClr val="D9D9D9"/>
          </a:solidFill>
          <a:ln/>
        </p:spPr>
      </p:sp>
      <p:sp>
        <p:nvSpPr>
          <p:cNvPr id="14" name="Shape 12"/>
          <p:cNvSpPr/>
          <p:nvPr/>
        </p:nvSpPr>
        <p:spPr>
          <a:xfrm>
            <a:off x="4074793" y="1782811"/>
            <a:ext cx="155448" cy="155448"/>
          </a:xfrm>
          <a:prstGeom prst="ellipse">
            <a:avLst/>
          </a:prstGeom>
          <a:solidFill>
            <a:srgbClr val="0B2C4A"/>
          </a:solidFill>
          <a:ln/>
        </p:spPr>
      </p:sp>
      <p:sp>
        <p:nvSpPr>
          <p:cNvPr id="15" name="Shape 13"/>
          <p:cNvSpPr/>
          <p:nvPr/>
        </p:nvSpPr>
        <p:spPr>
          <a:xfrm>
            <a:off x="3429524" y="1782811"/>
            <a:ext cx="155448" cy="155448"/>
          </a:xfrm>
          <a:prstGeom prst="ellipse">
            <a:avLst/>
          </a:prstGeom>
          <a:solidFill>
            <a:srgbClr val="12A566"/>
          </a:solidFill>
          <a:ln/>
        </p:spPr>
      </p:sp>
      <p:sp>
        <p:nvSpPr>
          <p:cNvPr id="16" name="Text 14"/>
          <p:cNvSpPr txBox="1"/>
          <p:nvPr/>
        </p:nvSpPr>
        <p:spPr>
          <a:xfrm>
            <a:off x="4498848" y="1737360"/>
            <a:ext cx="1325880" cy="246350"/>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119%</a:t>
            </a:r>
            <a:pPr algn="r" indent="0" marL="0">
              <a:buNone/>
            </a:pPr>
            <a:r>
              <a:rPr lang="en-US" sz="1300" dirty="0">
                <a:solidFill>
                  <a:srgbClr val="0B2C4A"/>
                </a:solidFill>
                <a:latin typeface="Inter" pitchFamily="34" charset="0"/>
                <a:ea typeface="Inter" pitchFamily="34" charset="-122"/>
                <a:cs typeface="Inter" pitchFamily="34" charset="-120"/>
              </a:rPr>
              <a:t>  172%</a:t>
            </a:r>
            <a:endParaRPr lang="en-US" sz="1300" dirty="0"/>
          </a:p>
        </p:txBody>
      </p:sp>
      <p:sp>
        <p:nvSpPr>
          <p:cNvPr id="17" name="Text 15"/>
          <p:cNvSpPr txBox="1"/>
          <p:nvPr/>
        </p:nvSpPr>
        <p:spPr>
          <a:xfrm>
            <a:off x="658368" y="1983710"/>
            <a:ext cx="1938528" cy="24635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18" name="Shape 16"/>
          <p:cNvSpPr/>
          <p:nvPr/>
        </p:nvSpPr>
        <p:spPr>
          <a:xfrm>
            <a:off x="3491377" y="2093169"/>
            <a:ext cx="870311" cy="27432"/>
          </a:xfrm>
          <a:prstGeom prst="rect">
            <a:avLst/>
          </a:prstGeom>
          <a:solidFill>
            <a:srgbClr val="D9D9D9"/>
          </a:solidFill>
          <a:ln/>
        </p:spPr>
      </p:sp>
      <p:sp>
        <p:nvSpPr>
          <p:cNvPr id="19" name="Shape 17"/>
          <p:cNvSpPr/>
          <p:nvPr/>
        </p:nvSpPr>
        <p:spPr>
          <a:xfrm>
            <a:off x="4283964" y="2029161"/>
            <a:ext cx="155448" cy="155448"/>
          </a:xfrm>
          <a:prstGeom prst="ellipse">
            <a:avLst/>
          </a:prstGeom>
          <a:solidFill>
            <a:srgbClr val="0B2C4A"/>
          </a:solidFill>
          <a:ln/>
        </p:spPr>
      </p:sp>
      <p:sp>
        <p:nvSpPr>
          <p:cNvPr id="20" name="Shape 18"/>
          <p:cNvSpPr/>
          <p:nvPr/>
        </p:nvSpPr>
        <p:spPr>
          <a:xfrm>
            <a:off x="3413653" y="2029161"/>
            <a:ext cx="155448" cy="155448"/>
          </a:xfrm>
          <a:prstGeom prst="ellipse">
            <a:avLst/>
          </a:prstGeom>
          <a:solidFill>
            <a:srgbClr val="12A566"/>
          </a:solidFill>
          <a:ln/>
        </p:spPr>
      </p:sp>
      <p:sp>
        <p:nvSpPr>
          <p:cNvPr id="21" name="Text 19"/>
          <p:cNvSpPr txBox="1"/>
          <p:nvPr/>
        </p:nvSpPr>
        <p:spPr>
          <a:xfrm>
            <a:off x="4498848" y="1983710"/>
            <a:ext cx="1325880" cy="246350"/>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117%</a:t>
            </a:r>
            <a:pPr algn="r" indent="0" marL="0">
              <a:buNone/>
            </a:pPr>
            <a:r>
              <a:rPr lang="en-US" sz="1300" dirty="0">
                <a:solidFill>
                  <a:srgbClr val="0B2C4A"/>
                </a:solidFill>
                <a:latin typeface="Inter" pitchFamily="34" charset="0"/>
                <a:ea typeface="Inter" pitchFamily="34" charset="-122"/>
                <a:cs typeface="Inter" pitchFamily="34" charset="-120"/>
              </a:rPr>
              <a:t>  194%</a:t>
            </a:r>
            <a:endParaRPr lang="en-US" sz="1300" dirty="0"/>
          </a:p>
        </p:txBody>
      </p:sp>
      <p:sp>
        <p:nvSpPr>
          <p:cNvPr id="22" name="Text 20"/>
          <p:cNvSpPr txBox="1"/>
          <p:nvPr/>
        </p:nvSpPr>
        <p:spPr>
          <a:xfrm>
            <a:off x="658368" y="2230060"/>
            <a:ext cx="1938528" cy="24635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23" name="Shape 21"/>
          <p:cNvSpPr/>
          <p:nvPr/>
        </p:nvSpPr>
        <p:spPr>
          <a:xfrm>
            <a:off x="3402985" y="2339519"/>
            <a:ext cx="434135" cy="27432"/>
          </a:xfrm>
          <a:prstGeom prst="rect">
            <a:avLst/>
          </a:prstGeom>
          <a:solidFill>
            <a:srgbClr val="D9D9D9"/>
          </a:solidFill>
          <a:ln/>
        </p:spPr>
      </p:sp>
      <p:sp>
        <p:nvSpPr>
          <p:cNvPr id="24" name="Shape 22"/>
          <p:cNvSpPr/>
          <p:nvPr/>
        </p:nvSpPr>
        <p:spPr>
          <a:xfrm>
            <a:off x="3759396" y="2275511"/>
            <a:ext cx="155448" cy="155448"/>
          </a:xfrm>
          <a:prstGeom prst="ellipse">
            <a:avLst/>
          </a:prstGeom>
          <a:solidFill>
            <a:srgbClr val="0B2C4A"/>
          </a:solidFill>
          <a:ln/>
        </p:spPr>
      </p:sp>
      <p:sp>
        <p:nvSpPr>
          <p:cNvPr id="25" name="Shape 23"/>
          <p:cNvSpPr/>
          <p:nvPr/>
        </p:nvSpPr>
        <p:spPr>
          <a:xfrm>
            <a:off x="3325261" y="2275511"/>
            <a:ext cx="155448" cy="155448"/>
          </a:xfrm>
          <a:prstGeom prst="ellipse">
            <a:avLst/>
          </a:prstGeom>
          <a:solidFill>
            <a:srgbClr val="12A566"/>
          </a:solidFill>
          <a:ln/>
        </p:spPr>
      </p:sp>
      <p:sp>
        <p:nvSpPr>
          <p:cNvPr id="26" name="Text 24"/>
          <p:cNvSpPr txBox="1"/>
          <p:nvPr/>
        </p:nvSpPr>
        <p:spPr>
          <a:xfrm>
            <a:off x="4498848" y="2230060"/>
            <a:ext cx="1325880" cy="246350"/>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110%</a:t>
            </a:r>
            <a:pPr algn="r" indent="0" marL="0">
              <a:buNone/>
            </a:pPr>
            <a:r>
              <a:rPr lang="en-US" sz="1300" dirty="0">
                <a:solidFill>
                  <a:srgbClr val="0B2C4A"/>
                </a:solidFill>
                <a:latin typeface="Inter" pitchFamily="34" charset="0"/>
                <a:ea typeface="Inter" pitchFamily="34" charset="-122"/>
                <a:cs typeface="Inter" pitchFamily="34" charset="-120"/>
              </a:rPr>
              <a:t>  146%</a:t>
            </a:r>
            <a:endParaRPr lang="en-US" sz="1300" dirty="0"/>
          </a:p>
        </p:txBody>
      </p:sp>
      <p:sp>
        <p:nvSpPr>
          <p:cNvPr id="27" name="Text 25"/>
          <p:cNvSpPr txBox="1"/>
          <p:nvPr/>
        </p:nvSpPr>
        <p:spPr>
          <a:xfrm>
            <a:off x="658368" y="2476410"/>
            <a:ext cx="1938528" cy="24635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28" name="Shape 26"/>
          <p:cNvSpPr/>
          <p:nvPr/>
        </p:nvSpPr>
        <p:spPr>
          <a:xfrm>
            <a:off x="3397238" y="2585869"/>
            <a:ext cx="510500" cy="27432"/>
          </a:xfrm>
          <a:prstGeom prst="rect">
            <a:avLst/>
          </a:prstGeom>
          <a:solidFill>
            <a:srgbClr val="D9D9D9"/>
          </a:solidFill>
          <a:ln/>
        </p:spPr>
      </p:sp>
      <p:sp>
        <p:nvSpPr>
          <p:cNvPr id="29" name="Shape 27"/>
          <p:cNvSpPr/>
          <p:nvPr/>
        </p:nvSpPr>
        <p:spPr>
          <a:xfrm>
            <a:off x="3830014" y="2521861"/>
            <a:ext cx="155448" cy="155448"/>
          </a:xfrm>
          <a:prstGeom prst="ellipse">
            <a:avLst/>
          </a:prstGeom>
          <a:solidFill>
            <a:srgbClr val="0B2C4A"/>
          </a:solidFill>
          <a:ln/>
        </p:spPr>
      </p:sp>
      <p:sp>
        <p:nvSpPr>
          <p:cNvPr id="30" name="Shape 28"/>
          <p:cNvSpPr/>
          <p:nvPr/>
        </p:nvSpPr>
        <p:spPr>
          <a:xfrm>
            <a:off x="3319514" y="2521861"/>
            <a:ext cx="155448" cy="155448"/>
          </a:xfrm>
          <a:prstGeom prst="ellipse">
            <a:avLst/>
          </a:prstGeom>
          <a:solidFill>
            <a:srgbClr val="12A566"/>
          </a:solidFill>
          <a:ln/>
        </p:spPr>
      </p:sp>
      <p:sp>
        <p:nvSpPr>
          <p:cNvPr id="31" name="Text 29"/>
          <p:cNvSpPr txBox="1"/>
          <p:nvPr/>
        </p:nvSpPr>
        <p:spPr>
          <a:xfrm>
            <a:off x="4498848" y="2476410"/>
            <a:ext cx="1325880" cy="246350"/>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109%</a:t>
            </a:r>
            <a:pPr algn="r" indent="0" marL="0">
              <a:buNone/>
            </a:pPr>
            <a:r>
              <a:rPr lang="en-US" sz="1300" dirty="0">
                <a:solidFill>
                  <a:srgbClr val="0B2C4A"/>
                </a:solidFill>
                <a:latin typeface="Inter" pitchFamily="34" charset="0"/>
                <a:ea typeface="Inter" pitchFamily="34" charset="-122"/>
                <a:cs typeface="Inter" pitchFamily="34" charset="-120"/>
              </a:rPr>
              <a:t>  152%</a:t>
            </a:r>
            <a:endParaRPr lang="en-US" sz="1300" dirty="0"/>
          </a:p>
        </p:txBody>
      </p:sp>
      <p:sp>
        <p:nvSpPr>
          <p:cNvPr id="32" name="Text 30"/>
          <p:cNvSpPr txBox="1"/>
          <p:nvPr/>
        </p:nvSpPr>
        <p:spPr>
          <a:xfrm>
            <a:off x="658368" y="2722760"/>
            <a:ext cx="1938528" cy="24635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33" name="Shape 31"/>
          <p:cNvSpPr/>
          <p:nvPr/>
        </p:nvSpPr>
        <p:spPr>
          <a:xfrm>
            <a:off x="3394584" y="2832220"/>
            <a:ext cx="248054" cy="27432"/>
          </a:xfrm>
          <a:prstGeom prst="rect">
            <a:avLst/>
          </a:prstGeom>
          <a:solidFill>
            <a:srgbClr val="D9D9D9"/>
          </a:solidFill>
          <a:ln/>
        </p:spPr>
      </p:sp>
      <p:sp>
        <p:nvSpPr>
          <p:cNvPr id="34" name="Shape 32"/>
          <p:cNvSpPr/>
          <p:nvPr/>
        </p:nvSpPr>
        <p:spPr>
          <a:xfrm>
            <a:off x="3564914" y="2768212"/>
            <a:ext cx="155448" cy="155448"/>
          </a:xfrm>
          <a:prstGeom prst="ellipse">
            <a:avLst/>
          </a:prstGeom>
          <a:solidFill>
            <a:srgbClr val="0B2C4A"/>
          </a:solidFill>
          <a:ln/>
        </p:spPr>
      </p:sp>
      <p:sp>
        <p:nvSpPr>
          <p:cNvPr id="35" name="Shape 33"/>
          <p:cNvSpPr/>
          <p:nvPr/>
        </p:nvSpPr>
        <p:spPr>
          <a:xfrm>
            <a:off x="3316860" y="2768212"/>
            <a:ext cx="155448" cy="155448"/>
          </a:xfrm>
          <a:prstGeom prst="ellipse">
            <a:avLst/>
          </a:prstGeom>
          <a:solidFill>
            <a:srgbClr val="12A566"/>
          </a:solidFill>
          <a:ln/>
        </p:spPr>
      </p:sp>
      <p:sp>
        <p:nvSpPr>
          <p:cNvPr id="36" name="Text 34"/>
          <p:cNvSpPr txBox="1"/>
          <p:nvPr/>
        </p:nvSpPr>
        <p:spPr>
          <a:xfrm>
            <a:off x="4498848" y="2722760"/>
            <a:ext cx="1325880" cy="246350"/>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109%</a:t>
            </a:r>
            <a:pPr algn="r" indent="0" marL="0">
              <a:buNone/>
            </a:pPr>
            <a:r>
              <a:rPr lang="en-US" sz="1300" dirty="0">
                <a:solidFill>
                  <a:srgbClr val="0B2C4A"/>
                </a:solidFill>
                <a:latin typeface="Inter" pitchFamily="34" charset="0"/>
                <a:ea typeface="Inter" pitchFamily="34" charset="-122"/>
                <a:cs typeface="Inter" pitchFamily="34" charset="-120"/>
              </a:rPr>
              <a:t>  130%</a:t>
            </a:r>
            <a:endParaRPr lang="en-US" sz="1300" dirty="0"/>
          </a:p>
        </p:txBody>
      </p:sp>
      <p:sp>
        <p:nvSpPr>
          <p:cNvPr id="37" name="Text 35"/>
          <p:cNvSpPr txBox="1"/>
          <p:nvPr/>
        </p:nvSpPr>
        <p:spPr>
          <a:xfrm>
            <a:off x="658368" y="2969111"/>
            <a:ext cx="1938528" cy="24635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38" name="Shape 36"/>
          <p:cNvSpPr/>
          <p:nvPr/>
        </p:nvSpPr>
        <p:spPr>
          <a:xfrm>
            <a:off x="3381966" y="3078570"/>
            <a:ext cx="305207" cy="27432"/>
          </a:xfrm>
          <a:prstGeom prst="rect">
            <a:avLst/>
          </a:prstGeom>
          <a:solidFill>
            <a:srgbClr val="D9D9D9"/>
          </a:solidFill>
          <a:ln/>
        </p:spPr>
      </p:sp>
      <p:sp>
        <p:nvSpPr>
          <p:cNvPr id="39" name="Shape 37"/>
          <p:cNvSpPr/>
          <p:nvPr/>
        </p:nvSpPr>
        <p:spPr>
          <a:xfrm>
            <a:off x="3609449" y="3014562"/>
            <a:ext cx="155448" cy="155448"/>
          </a:xfrm>
          <a:prstGeom prst="ellipse">
            <a:avLst/>
          </a:prstGeom>
          <a:solidFill>
            <a:srgbClr val="0B2C4A"/>
          </a:solidFill>
          <a:ln/>
        </p:spPr>
      </p:sp>
      <p:sp>
        <p:nvSpPr>
          <p:cNvPr id="40" name="Shape 38"/>
          <p:cNvSpPr/>
          <p:nvPr/>
        </p:nvSpPr>
        <p:spPr>
          <a:xfrm>
            <a:off x="3304242" y="3014562"/>
            <a:ext cx="155448" cy="155448"/>
          </a:xfrm>
          <a:prstGeom prst="ellipse">
            <a:avLst/>
          </a:prstGeom>
          <a:solidFill>
            <a:srgbClr val="12A566"/>
          </a:solidFill>
          <a:ln/>
        </p:spPr>
      </p:sp>
      <p:sp>
        <p:nvSpPr>
          <p:cNvPr id="41" name="Text 39"/>
          <p:cNvSpPr txBox="1"/>
          <p:nvPr/>
        </p:nvSpPr>
        <p:spPr>
          <a:xfrm>
            <a:off x="4498848" y="2969111"/>
            <a:ext cx="1325880" cy="246350"/>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108%</a:t>
            </a:r>
            <a:pPr algn="r" indent="0" marL="0">
              <a:buNone/>
            </a:pPr>
            <a:r>
              <a:rPr lang="en-US" sz="1300" dirty="0">
                <a:solidFill>
                  <a:srgbClr val="0B2C4A"/>
                </a:solidFill>
                <a:latin typeface="Inter" pitchFamily="34" charset="0"/>
                <a:ea typeface="Inter" pitchFamily="34" charset="-122"/>
                <a:cs typeface="Inter" pitchFamily="34" charset="-120"/>
              </a:rPr>
              <a:t>  134%</a:t>
            </a:r>
            <a:endParaRPr lang="en-US" sz="1300" dirty="0"/>
          </a:p>
        </p:txBody>
      </p:sp>
      <p:sp>
        <p:nvSpPr>
          <p:cNvPr id="42" name="Text 40"/>
          <p:cNvSpPr txBox="1"/>
          <p:nvPr/>
        </p:nvSpPr>
        <p:spPr>
          <a:xfrm>
            <a:off x="658368" y="3215461"/>
            <a:ext cx="1938528" cy="24635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43" name="Shape 41"/>
          <p:cNvSpPr/>
          <p:nvPr/>
        </p:nvSpPr>
        <p:spPr>
          <a:xfrm>
            <a:off x="3358657" y="3324920"/>
            <a:ext cx="461897" cy="27432"/>
          </a:xfrm>
          <a:prstGeom prst="rect">
            <a:avLst/>
          </a:prstGeom>
          <a:solidFill>
            <a:srgbClr val="D9D9D9"/>
          </a:solidFill>
          <a:ln/>
        </p:spPr>
      </p:sp>
      <p:sp>
        <p:nvSpPr>
          <p:cNvPr id="44" name="Shape 42"/>
          <p:cNvSpPr/>
          <p:nvPr/>
        </p:nvSpPr>
        <p:spPr>
          <a:xfrm>
            <a:off x="3742830" y="3260912"/>
            <a:ext cx="155448" cy="155448"/>
          </a:xfrm>
          <a:prstGeom prst="ellipse">
            <a:avLst/>
          </a:prstGeom>
          <a:solidFill>
            <a:srgbClr val="0B2C4A"/>
          </a:solidFill>
          <a:ln/>
        </p:spPr>
      </p:sp>
      <p:sp>
        <p:nvSpPr>
          <p:cNvPr id="45" name="Shape 43"/>
          <p:cNvSpPr/>
          <p:nvPr/>
        </p:nvSpPr>
        <p:spPr>
          <a:xfrm>
            <a:off x="3280933" y="3260912"/>
            <a:ext cx="155448" cy="155448"/>
          </a:xfrm>
          <a:prstGeom prst="ellipse">
            <a:avLst/>
          </a:prstGeom>
          <a:solidFill>
            <a:srgbClr val="12A566"/>
          </a:solidFill>
          <a:ln/>
        </p:spPr>
      </p:sp>
      <p:sp>
        <p:nvSpPr>
          <p:cNvPr id="46" name="Text 44"/>
          <p:cNvSpPr txBox="1"/>
          <p:nvPr/>
        </p:nvSpPr>
        <p:spPr>
          <a:xfrm>
            <a:off x="4498848" y="3215461"/>
            <a:ext cx="1325880" cy="246350"/>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106%</a:t>
            </a:r>
            <a:pPr algn="r" indent="0" marL="0">
              <a:buNone/>
            </a:pPr>
            <a:r>
              <a:rPr lang="en-US" sz="1300" dirty="0">
                <a:solidFill>
                  <a:srgbClr val="0B2C4A"/>
                </a:solidFill>
                <a:latin typeface="Inter" pitchFamily="34" charset="0"/>
                <a:ea typeface="Inter" pitchFamily="34" charset="-122"/>
                <a:cs typeface="Inter" pitchFamily="34" charset="-120"/>
              </a:rPr>
              <a:t>  145%</a:t>
            </a:r>
            <a:endParaRPr lang="en-US" sz="1300" dirty="0"/>
          </a:p>
        </p:txBody>
      </p:sp>
      <p:sp>
        <p:nvSpPr>
          <p:cNvPr id="47" name="Text 45"/>
          <p:cNvSpPr txBox="1"/>
          <p:nvPr/>
        </p:nvSpPr>
        <p:spPr>
          <a:xfrm>
            <a:off x="658368" y="3461811"/>
            <a:ext cx="1938528" cy="24635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48" name="Shape 46"/>
          <p:cNvSpPr/>
          <p:nvPr/>
        </p:nvSpPr>
        <p:spPr>
          <a:xfrm>
            <a:off x="3342460" y="3571270"/>
            <a:ext cx="879840" cy="27432"/>
          </a:xfrm>
          <a:prstGeom prst="rect">
            <a:avLst/>
          </a:prstGeom>
          <a:solidFill>
            <a:srgbClr val="D9D9D9"/>
          </a:solidFill>
          <a:ln/>
        </p:spPr>
      </p:sp>
      <p:sp>
        <p:nvSpPr>
          <p:cNvPr id="49" name="Shape 47"/>
          <p:cNvSpPr/>
          <p:nvPr/>
        </p:nvSpPr>
        <p:spPr>
          <a:xfrm>
            <a:off x="4144576" y="3507262"/>
            <a:ext cx="155448" cy="155448"/>
          </a:xfrm>
          <a:prstGeom prst="ellipse">
            <a:avLst/>
          </a:prstGeom>
          <a:solidFill>
            <a:srgbClr val="0B2C4A"/>
          </a:solidFill>
          <a:ln/>
        </p:spPr>
      </p:sp>
      <p:sp>
        <p:nvSpPr>
          <p:cNvPr id="50" name="Shape 48"/>
          <p:cNvSpPr/>
          <p:nvPr/>
        </p:nvSpPr>
        <p:spPr>
          <a:xfrm>
            <a:off x="3264736" y="3507262"/>
            <a:ext cx="155448" cy="155448"/>
          </a:xfrm>
          <a:prstGeom prst="ellipse">
            <a:avLst/>
          </a:prstGeom>
          <a:solidFill>
            <a:srgbClr val="12A566"/>
          </a:solidFill>
          <a:ln/>
        </p:spPr>
      </p:sp>
      <p:sp>
        <p:nvSpPr>
          <p:cNvPr id="51" name="Text 49"/>
          <p:cNvSpPr txBox="1"/>
          <p:nvPr/>
        </p:nvSpPr>
        <p:spPr>
          <a:xfrm>
            <a:off x="4498848" y="3461811"/>
            <a:ext cx="1325880" cy="246350"/>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105%</a:t>
            </a:r>
            <a:pPr algn="r" indent="0" marL="0">
              <a:buNone/>
            </a:pPr>
            <a:r>
              <a:rPr lang="en-US" sz="1300" dirty="0">
                <a:solidFill>
                  <a:srgbClr val="0B2C4A"/>
                </a:solidFill>
                <a:latin typeface="Inter" pitchFamily="34" charset="0"/>
                <a:ea typeface="Inter" pitchFamily="34" charset="-122"/>
                <a:cs typeface="Inter" pitchFamily="34" charset="-120"/>
              </a:rPr>
              <a:t>  178%</a:t>
            </a:r>
            <a:endParaRPr lang="en-US" sz="1300" dirty="0"/>
          </a:p>
        </p:txBody>
      </p:sp>
      <p:sp>
        <p:nvSpPr>
          <p:cNvPr id="52" name="Text 50"/>
          <p:cNvSpPr txBox="1"/>
          <p:nvPr/>
        </p:nvSpPr>
        <p:spPr>
          <a:xfrm>
            <a:off x="658368" y="3708161"/>
            <a:ext cx="1938528" cy="24635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53" name="Shape 51"/>
          <p:cNvSpPr/>
          <p:nvPr/>
        </p:nvSpPr>
        <p:spPr>
          <a:xfrm>
            <a:off x="3338325" y="3817620"/>
            <a:ext cx="578029" cy="27432"/>
          </a:xfrm>
          <a:prstGeom prst="rect">
            <a:avLst/>
          </a:prstGeom>
          <a:solidFill>
            <a:srgbClr val="D9D9D9"/>
          </a:solidFill>
          <a:ln/>
        </p:spPr>
      </p:sp>
      <p:sp>
        <p:nvSpPr>
          <p:cNvPr id="54" name="Shape 52"/>
          <p:cNvSpPr/>
          <p:nvPr/>
        </p:nvSpPr>
        <p:spPr>
          <a:xfrm>
            <a:off x="3838629" y="3753612"/>
            <a:ext cx="155448" cy="155448"/>
          </a:xfrm>
          <a:prstGeom prst="ellipse">
            <a:avLst/>
          </a:prstGeom>
          <a:solidFill>
            <a:srgbClr val="0B2C4A"/>
          </a:solidFill>
          <a:ln/>
        </p:spPr>
      </p:sp>
      <p:sp>
        <p:nvSpPr>
          <p:cNvPr id="55" name="Shape 53"/>
          <p:cNvSpPr/>
          <p:nvPr/>
        </p:nvSpPr>
        <p:spPr>
          <a:xfrm>
            <a:off x="3260601" y="3753612"/>
            <a:ext cx="155448" cy="155448"/>
          </a:xfrm>
          <a:prstGeom prst="ellipse">
            <a:avLst/>
          </a:prstGeom>
          <a:solidFill>
            <a:srgbClr val="12A566"/>
          </a:solidFill>
          <a:ln/>
        </p:spPr>
      </p:sp>
      <p:sp>
        <p:nvSpPr>
          <p:cNvPr id="56" name="Text 54"/>
          <p:cNvSpPr txBox="1"/>
          <p:nvPr/>
        </p:nvSpPr>
        <p:spPr>
          <a:xfrm>
            <a:off x="4498848" y="3708161"/>
            <a:ext cx="1325880" cy="246350"/>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104%</a:t>
            </a:r>
            <a:pPr algn="r" indent="0" marL="0">
              <a:buNone/>
            </a:pPr>
            <a:r>
              <a:rPr lang="en-US" sz="1300" dirty="0">
                <a:solidFill>
                  <a:srgbClr val="0B2C4A"/>
                </a:solidFill>
                <a:latin typeface="Inter" pitchFamily="34" charset="0"/>
                <a:ea typeface="Inter" pitchFamily="34" charset="-122"/>
                <a:cs typeface="Inter" pitchFamily="34" charset="-120"/>
              </a:rPr>
              <a:t>  153%</a:t>
            </a:r>
            <a:endParaRPr lang="en-US" sz="1300" dirty="0"/>
          </a:p>
        </p:txBody>
      </p:sp>
      <p:sp>
        <p:nvSpPr>
          <p:cNvPr id="57" name="Text 55"/>
          <p:cNvSpPr txBox="1"/>
          <p:nvPr/>
        </p:nvSpPr>
        <p:spPr>
          <a:xfrm>
            <a:off x="658368" y="3954511"/>
            <a:ext cx="1938528" cy="24635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58" name="Shape 56"/>
          <p:cNvSpPr/>
          <p:nvPr/>
        </p:nvSpPr>
        <p:spPr>
          <a:xfrm>
            <a:off x="3326693" y="4063970"/>
            <a:ext cx="718840" cy="27432"/>
          </a:xfrm>
          <a:prstGeom prst="rect">
            <a:avLst/>
          </a:prstGeom>
          <a:solidFill>
            <a:srgbClr val="D9D9D9"/>
          </a:solidFill>
          <a:ln/>
        </p:spPr>
      </p:sp>
      <p:sp>
        <p:nvSpPr>
          <p:cNvPr id="59" name="Shape 57"/>
          <p:cNvSpPr/>
          <p:nvPr/>
        </p:nvSpPr>
        <p:spPr>
          <a:xfrm>
            <a:off x="3967809" y="3999962"/>
            <a:ext cx="155448" cy="155448"/>
          </a:xfrm>
          <a:prstGeom prst="ellipse">
            <a:avLst/>
          </a:prstGeom>
          <a:solidFill>
            <a:srgbClr val="0B2C4A"/>
          </a:solidFill>
          <a:ln/>
        </p:spPr>
      </p:sp>
      <p:sp>
        <p:nvSpPr>
          <p:cNvPr id="60" name="Shape 58"/>
          <p:cNvSpPr/>
          <p:nvPr/>
        </p:nvSpPr>
        <p:spPr>
          <a:xfrm>
            <a:off x="3248969" y="3999962"/>
            <a:ext cx="155448" cy="155448"/>
          </a:xfrm>
          <a:prstGeom prst="ellipse">
            <a:avLst/>
          </a:prstGeom>
          <a:solidFill>
            <a:srgbClr val="12A566"/>
          </a:solidFill>
          <a:ln/>
        </p:spPr>
      </p:sp>
      <p:sp>
        <p:nvSpPr>
          <p:cNvPr id="61" name="Text 59"/>
          <p:cNvSpPr txBox="1"/>
          <p:nvPr/>
        </p:nvSpPr>
        <p:spPr>
          <a:xfrm>
            <a:off x="4498848" y="3954511"/>
            <a:ext cx="1325880" cy="246350"/>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103%</a:t>
            </a:r>
            <a:pPr algn="r" indent="0" marL="0">
              <a:buNone/>
            </a:pPr>
            <a:r>
              <a:rPr lang="en-US" sz="1300" dirty="0">
                <a:solidFill>
                  <a:srgbClr val="0B2C4A"/>
                </a:solidFill>
                <a:latin typeface="Inter" pitchFamily="34" charset="0"/>
                <a:ea typeface="Inter" pitchFamily="34" charset="-122"/>
                <a:cs typeface="Inter" pitchFamily="34" charset="-120"/>
              </a:rPr>
              <a:t>  164%</a:t>
            </a:r>
            <a:endParaRPr lang="en-US" sz="1300" dirty="0"/>
          </a:p>
        </p:txBody>
      </p:sp>
      <p:sp>
        <p:nvSpPr>
          <p:cNvPr id="62" name="Text 60"/>
          <p:cNvSpPr txBox="1"/>
          <p:nvPr/>
        </p:nvSpPr>
        <p:spPr>
          <a:xfrm>
            <a:off x="658368" y="4200861"/>
            <a:ext cx="1938528" cy="24635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63" name="Shape 61"/>
          <p:cNvSpPr/>
          <p:nvPr/>
        </p:nvSpPr>
        <p:spPr>
          <a:xfrm>
            <a:off x="3315137" y="4310320"/>
            <a:ext cx="576560" cy="27432"/>
          </a:xfrm>
          <a:prstGeom prst="rect">
            <a:avLst/>
          </a:prstGeom>
          <a:solidFill>
            <a:srgbClr val="D9D9D9"/>
          </a:solidFill>
          <a:ln/>
        </p:spPr>
      </p:sp>
      <p:sp>
        <p:nvSpPr>
          <p:cNvPr id="64" name="Shape 62"/>
          <p:cNvSpPr/>
          <p:nvPr/>
        </p:nvSpPr>
        <p:spPr>
          <a:xfrm>
            <a:off x="3813973" y="4246312"/>
            <a:ext cx="155448" cy="155448"/>
          </a:xfrm>
          <a:prstGeom prst="ellipse">
            <a:avLst/>
          </a:prstGeom>
          <a:solidFill>
            <a:srgbClr val="0B2C4A"/>
          </a:solidFill>
          <a:ln/>
        </p:spPr>
      </p:sp>
      <p:sp>
        <p:nvSpPr>
          <p:cNvPr id="65" name="Shape 63"/>
          <p:cNvSpPr/>
          <p:nvPr/>
        </p:nvSpPr>
        <p:spPr>
          <a:xfrm>
            <a:off x="3237413" y="4246312"/>
            <a:ext cx="155448" cy="155448"/>
          </a:xfrm>
          <a:prstGeom prst="ellipse">
            <a:avLst/>
          </a:prstGeom>
          <a:solidFill>
            <a:srgbClr val="12A566"/>
          </a:solidFill>
          <a:ln/>
        </p:spPr>
      </p:sp>
      <p:sp>
        <p:nvSpPr>
          <p:cNvPr id="66" name="Text 64"/>
          <p:cNvSpPr txBox="1"/>
          <p:nvPr/>
        </p:nvSpPr>
        <p:spPr>
          <a:xfrm>
            <a:off x="4498848" y="4200861"/>
            <a:ext cx="1325880" cy="246350"/>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102%</a:t>
            </a:r>
            <a:pPr algn="r" indent="0" marL="0">
              <a:buNone/>
            </a:pPr>
            <a:r>
              <a:rPr lang="en-US" sz="1300" dirty="0">
                <a:solidFill>
                  <a:srgbClr val="0B2C4A"/>
                </a:solidFill>
                <a:latin typeface="Inter" pitchFamily="34" charset="0"/>
                <a:ea typeface="Inter" pitchFamily="34" charset="-122"/>
                <a:cs typeface="Inter" pitchFamily="34" charset="-120"/>
              </a:rPr>
              <a:t>  151%</a:t>
            </a:r>
            <a:endParaRPr lang="en-US" sz="1300" dirty="0"/>
          </a:p>
        </p:txBody>
      </p:sp>
      <p:sp>
        <p:nvSpPr>
          <p:cNvPr id="67" name="Text 65"/>
          <p:cNvSpPr txBox="1"/>
          <p:nvPr/>
        </p:nvSpPr>
        <p:spPr>
          <a:xfrm>
            <a:off x="658368" y="4447211"/>
            <a:ext cx="1938528" cy="24635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68" name="Shape 66"/>
          <p:cNvSpPr/>
          <p:nvPr/>
        </p:nvSpPr>
        <p:spPr>
          <a:xfrm>
            <a:off x="3305834" y="4556670"/>
            <a:ext cx="253206" cy="27432"/>
          </a:xfrm>
          <a:prstGeom prst="rect">
            <a:avLst/>
          </a:prstGeom>
          <a:solidFill>
            <a:srgbClr val="D9D9D9"/>
          </a:solidFill>
          <a:ln/>
        </p:spPr>
      </p:sp>
      <p:sp>
        <p:nvSpPr>
          <p:cNvPr id="69" name="Shape 67"/>
          <p:cNvSpPr/>
          <p:nvPr/>
        </p:nvSpPr>
        <p:spPr>
          <a:xfrm>
            <a:off x="3481317" y="4492662"/>
            <a:ext cx="155448" cy="155448"/>
          </a:xfrm>
          <a:prstGeom prst="ellipse">
            <a:avLst/>
          </a:prstGeom>
          <a:solidFill>
            <a:srgbClr val="0B2C4A"/>
          </a:solidFill>
          <a:ln/>
        </p:spPr>
      </p:sp>
      <p:sp>
        <p:nvSpPr>
          <p:cNvPr id="70" name="Shape 68"/>
          <p:cNvSpPr/>
          <p:nvPr/>
        </p:nvSpPr>
        <p:spPr>
          <a:xfrm>
            <a:off x="3228110" y="4492662"/>
            <a:ext cx="155448" cy="155448"/>
          </a:xfrm>
          <a:prstGeom prst="ellipse">
            <a:avLst/>
          </a:prstGeom>
          <a:solidFill>
            <a:srgbClr val="12A566"/>
          </a:solidFill>
          <a:ln/>
        </p:spPr>
      </p:sp>
      <p:sp>
        <p:nvSpPr>
          <p:cNvPr id="71" name="Text 69"/>
          <p:cNvSpPr txBox="1"/>
          <p:nvPr/>
        </p:nvSpPr>
        <p:spPr>
          <a:xfrm>
            <a:off x="4498848" y="4447211"/>
            <a:ext cx="1325880" cy="246350"/>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102%</a:t>
            </a:r>
            <a:pPr algn="r" indent="0" marL="0">
              <a:buNone/>
            </a:pPr>
            <a:r>
              <a:rPr lang="en-US" sz="1300" dirty="0">
                <a:solidFill>
                  <a:srgbClr val="0B2C4A"/>
                </a:solidFill>
                <a:latin typeface="Inter" pitchFamily="34" charset="0"/>
                <a:ea typeface="Inter" pitchFamily="34" charset="-122"/>
                <a:cs typeface="Inter" pitchFamily="34" charset="-120"/>
              </a:rPr>
              <a:t>  123%</a:t>
            </a:r>
            <a:endParaRPr lang="en-US" sz="1300" dirty="0"/>
          </a:p>
        </p:txBody>
      </p:sp>
      <p:sp>
        <p:nvSpPr>
          <p:cNvPr id="72" name="Text 70"/>
          <p:cNvSpPr txBox="1"/>
          <p:nvPr/>
        </p:nvSpPr>
        <p:spPr>
          <a:xfrm>
            <a:off x="658368" y="4693561"/>
            <a:ext cx="1938528" cy="24635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73" name="Shape 71"/>
          <p:cNvSpPr/>
          <p:nvPr/>
        </p:nvSpPr>
        <p:spPr>
          <a:xfrm>
            <a:off x="3267627" y="4803020"/>
            <a:ext cx="968031" cy="27432"/>
          </a:xfrm>
          <a:prstGeom prst="rect">
            <a:avLst/>
          </a:prstGeom>
          <a:solidFill>
            <a:srgbClr val="D9D9D9"/>
          </a:solidFill>
          <a:ln/>
        </p:spPr>
      </p:sp>
      <p:sp>
        <p:nvSpPr>
          <p:cNvPr id="74" name="Shape 72"/>
          <p:cNvSpPr/>
          <p:nvPr/>
        </p:nvSpPr>
        <p:spPr>
          <a:xfrm>
            <a:off x="4157934" y="4739012"/>
            <a:ext cx="155448" cy="155448"/>
          </a:xfrm>
          <a:prstGeom prst="ellipse">
            <a:avLst/>
          </a:prstGeom>
          <a:solidFill>
            <a:srgbClr val="0B2C4A"/>
          </a:solidFill>
          <a:ln/>
        </p:spPr>
      </p:sp>
      <p:sp>
        <p:nvSpPr>
          <p:cNvPr id="75" name="Shape 73"/>
          <p:cNvSpPr/>
          <p:nvPr/>
        </p:nvSpPr>
        <p:spPr>
          <a:xfrm>
            <a:off x="3189903" y="4739012"/>
            <a:ext cx="155448" cy="155448"/>
          </a:xfrm>
          <a:prstGeom prst="ellipse">
            <a:avLst/>
          </a:prstGeom>
          <a:solidFill>
            <a:srgbClr val="12A566"/>
          </a:solidFill>
          <a:ln/>
        </p:spPr>
      </p:sp>
      <p:sp>
        <p:nvSpPr>
          <p:cNvPr id="76" name="Text 74"/>
          <p:cNvSpPr txBox="1"/>
          <p:nvPr/>
        </p:nvSpPr>
        <p:spPr>
          <a:xfrm>
            <a:off x="4498848" y="4693561"/>
            <a:ext cx="1325880" cy="246350"/>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98%</a:t>
            </a:r>
            <a:pPr algn="r" indent="0" marL="0">
              <a:buNone/>
            </a:pPr>
            <a:r>
              <a:rPr lang="en-US" sz="1300" dirty="0">
                <a:solidFill>
                  <a:srgbClr val="0B2C4A"/>
                </a:solidFill>
                <a:latin typeface="Inter" pitchFamily="34" charset="0"/>
                <a:ea typeface="Inter" pitchFamily="34" charset="-122"/>
                <a:cs typeface="Inter" pitchFamily="34" charset="-120"/>
              </a:rPr>
              <a:t>  179%</a:t>
            </a:r>
            <a:endParaRPr lang="en-US" sz="1300" dirty="0"/>
          </a:p>
        </p:txBody>
      </p:sp>
      <p:sp>
        <p:nvSpPr>
          <p:cNvPr id="77" name="Text 75"/>
          <p:cNvSpPr txBox="1"/>
          <p:nvPr/>
        </p:nvSpPr>
        <p:spPr>
          <a:xfrm>
            <a:off x="658368" y="4939912"/>
            <a:ext cx="1938528" cy="24635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78" name="Shape 76"/>
          <p:cNvSpPr/>
          <p:nvPr/>
        </p:nvSpPr>
        <p:spPr>
          <a:xfrm>
            <a:off x="3249769" y="5049371"/>
            <a:ext cx="416296" cy="27432"/>
          </a:xfrm>
          <a:prstGeom prst="rect">
            <a:avLst/>
          </a:prstGeom>
          <a:solidFill>
            <a:srgbClr val="D9D9D9"/>
          </a:solidFill>
          <a:ln/>
        </p:spPr>
      </p:sp>
      <p:sp>
        <p:nvSpPr>
          <p:cNvPr id="79" name="Shape 77"/>
          <p:cNvSpPr/>
          <p:nvPr/>
        </p:nvSpPr>
        <p:spPr>
          <a:xfrm>
            <a:off x="3588341" y="4985363"/>
            <a:ext cx="155448" cy="155448"/>
          </a:xfrm>
          <a:prstGeom prst="ellipse">
            <a:avLst/>
          </a:prstGeom>
          <a:solidFill>
            <a:srgbClr val="0B2C4A"/>
          </a:solidFill>
          <a:ln/>
        </p:spPr>
      </p:sp>
      <p:sp>
        <p:nvSpPr>
          <p:cNvPr id="80" name="Shape 78"/>
          <p:cNvSpPr/>
          <p:nvPr/>
        </p:nvSpPr>
        <p:spPr>
          <a:xfrm>
            <a:off x="3172045" y="4985363"/>
            <a:ext cx="155448" cy="155448"/>
          </a:xfrm>
          <a:prstGeom prst="ellipse">
            <a:avLst/>
          </a:prstGeom>
          <a:solidFill>
            <a:srgbClr val="12A566"/>
          </a:solidFill>
          <a:ln/>
        </p:spPr>
      </p:sp>
      <p:sp>
        <p:nvSpPr>
          <p:cNvPr id="81" name="Text 79"/>
          <p:cNvSpPr txBox="1"/>
          <p:nvPr/>
        </p:nvSpPr>
        <p:spPr>
          <a:xfrm>
            <a:off x="4498848" y="4939912"/>
            <a:ext cx="1325880" cy="246350"/>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97%</a:t>
            </a:r>
            <a:pPr algn="r" indent="0" marL="0">
              <a:buNone/>
            </a:pPr>
            <a:r>
              <a:rPr lang="en-US" sz="1300" dirty="0">
                <a:solidFill>
                  <a:srgbClr val="0B2C4A"/>
                </a:solidFill>
                <a:latin typeface="Inter" pitchFamily="34" charset="0"/>
                <a:ea typeface="Inter" pitchFamily="34" charset="-122"/>
                <a:cs typeface="Inter" pitchFamily="34" charset="-120"/>
              </a:rPr>
              <a:t>  132%</a:t>
            </a:r>
            <a:endParaRPr lang="en-US" sz="1300" dirty="0"/>
          </a:p>
        </p:txBody>
      </p:sp>
      <p:sp>
        <p:nvSpPr>
          <p:cNvPr id="82" name="Text 80"/>
          <p:cNvSpPr txBox="1"/>
          <p:nvPr/>
        </p:nvSpPr>
        <p:spPr>
          <a:xfrm>
            <a:off x="658368" y="5186262"/>
            <a:ext cx="1938528" cy="24635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83" name="Shape 81"/>
          <p:cNvSpPr/>
          <p:nvPr/>
        </p:nvSpPr>
        <p:spPr>
          <a:xfrm>
            <a:off x="3225383" y="5295721"/>
            <a:ext cx="363571" cy="27432"/>
          </a:xfrm>
          <a:prstGeom prst="rect">
            <a:avLst/>
          </a:prstGeom>
          <a:solidFill>
            <a:srgbClr val="D9D9D9"/>
          </a:solidFill>
          <a:ln/>
        </p:spPr>
      </p:sp>
      <p:sp>
        <p:nvSpPr>
          <p:cNvPr id="84" name="Shape 82"/>
          <p:cNvSpPr/>
          <p:nvPr/>
        </p:nvSpPr>
        <p:spPr>
          <a:xfrm>
            <a:off x="3511230" y="5231713"/>
            <a:ext cx="155448" cy="155448"/>
          </a:xfrm>
          <a:prstGeom prst="ellipse">
            <a:avLst/>
          </a:prstGeom>
          <a:solidFill>
            <a:srgbClr val="0B2C4A"/>
          </a:solidFill>
          <a:ln/>
        </p:spPr>
      </p:sp>
      <p:sp>
        <p:nvSpPr>
          <p:cNvPr id="85" name="Shape 83"/>
          <p:cNvSpPr/>
          <p:nvPr/>
        </p:nvSpPr>
        <p:spPr>
          <a:xfrm>
            <a:off x="3147659" y="5231713"/>
            <a:ext cx="155448" cy="155448"/>
          </a:xfrm>
          <a:prstGeom prst="ellipse">
            <a:avLst/>
          </a:prstGeom>
          <a:solidFill>
            <a:srgbClr val="12A566"/>
          </a:solidFill>
          <a:ln/>
        </p:spPr>
      </p:sp>
      <p:sp>
        <p:nvSpPr>
          <p:cNvPr id="86" name="Text 84"/>
          <p:cNvSpPr txBox="1"/>
          <p:nvPr/>
        </p:nvSpPr>
        <p:spPr>
          <a:xfrm>
            <a:off x="4498848" y="5186262"/>
            <a:ext cx="1325880" cy="246350"/>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95%</a:t>
            </a:r>
            <a:pPr algn="r" indent="0" marL="0">
              <a:buNone/>
            </a:pPr>
            <a:r>
              <a:rPr lang="en-US" sz="1300" dirty="0">
                <a:solidFill>
                  <a:srgbClr val="0B2C4A"/>
                </a:solidFill>
                <a:latin typeface="Inter" pitchFamily="34" charset="0"/>
                <a:ea typeface="Inter" pitchFamily="34" charset="-122"/>
                <a:cs typeface="Inter" pitchFamily="34" charset="-120"/>
              </a:rPr>
              <a:t>  125%</a:t>
            </a:r>
            <a:endParaRPr lang="en-US" sz="1300" dirty="0"/>
          </a:p>
        </p:txBody>
      </p:sp>
      <p:sp>
        <p:nvSpPr>
          <p:cNvPr id="87" name="Text 85"/>
          <p:cNvSpPr txBox="1"/>
          <p:nvPr/>
        </p:nvSpPr>
        <p:spPr>
          <a:xfrm>
            <a:off x="658368" y="5432612"/>
            <a:ext cx="1938528" cy="24635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88" name="Shape 86"/>
          <p:cNvSpPr/>
          <p:nvPr/>
        </p:nvSpPr>
        <p:spPr>
          <a:xfrm>
            <a:off x="3193370" y="5542071"/>
            <a:ext cx="267102" cy="27432"/>
          </a:xfrm>
          <a:prstGeom prst="rect">
            <a:avLst/>
          </a:prstGeom>
          <a:solidFill>
            <a:srgbClr val="D9D9D9"/>
          </a:solidFill>
          <a:ln/>
        </p:spPr>
      </p:sp>
      <p:sp>
        <p:nvSpPr>
          <p:cNvPr id="89" name="Shape 87"/>
          <p:cNvSpPr/>
          <p:nvPr/>
        </p:nvSpPr>
        <p:spPr>
          <a:xfrm>
            <a:off x="3382748" y="5478063"/>
            <a:ext cx="155448" cy="155448"/>
          </a:xfrm>
          <a:prstGeom prst="ellipse">
            <a:avLst/>
          </a:prstGeom>
          <a:solidFill>
            <a:srgbClr val="0B2C4A"/>
          </a:solidFill>
          <a:ln/>
        </p:spPr>
      </p:sp>
      <p:sp>
        <p:nvSpPr>
          <p:cNvPr id="90" name="Shape 88"/>
          <p:cNvSpPr/>
          <p:nvPr/>
        </p:nvSpPr>
        <p:spPr>
          <a:xfrm>
            <a:off x="3115646" y="5478063"/>
            <a:ext cx="155448" cy="155448"/>
          </a:xfrm>
          <a:prstGeom prst="ellipse">
            <a:avLst/>
          </a:prstGeom>
          <a:solidFill>
            <a:srgbClr val="12A566"/>
          </a:solidFill>
          <a:ln/>
        </p:spPr>
      </p:sp>
      <p:sp>
        <p:nvSpPr>
          <p:cNvPr id="91" name="Text 89"/>
          <p:cNvSpPr txBox="1"/>
          <p:nvPr/>
        </p:nvSpPr>
        <p:spPr>
          <a:xfrm>
            <a:off x="4498848" y="5432612"/>
            <a:ext cx="1325880" cy="246350"/>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92%</a:t>
            </a:r>
            <a:pPr algn="r" indent="0" marL="0">
              <a:buNone/>
            </a:pPr>
            <a:r>
              <a:rPr lang="en-US" sz="1300" dirty="0">
                <a:solidFill>
                  <a:srgbClr val="0B2C4A"/>
                </a:solidFill>
                <a:latin typeface="Inter" pitchFamily="34" charset="0"/>
                <a:ea typeface="Inter" pitchFamily="34" charset="-122"/>
                <a:cs typeface="Inter" pitchFamily="34" charset="-120"/>
              </a:rPr>
              <a:t>  115%</a:t>
            </a:r>
            <a:endParaRPr lang="en-US" sz="1300" dirty="0"/>
          </a:p>
        </p:txBody>
      </p:sp>
      <p:sp>
        <p:nvSpPr>
          <p:cNvPr id="92" name="Text 90"/>
          <p:cNvSpPr txBox="1"/>
          <p:nvPr/>
        </p:nvSpPr>
        <p:spPr>
          <a:xfrm>
            <a:off x="658368" y="5678962"/>
            <a:ext cx="1938528" cy="24635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93" name="Shape 91"/>
          <p:cNvSpPr/>
          <p:nvPr/>
        </p:nvSpPr>
        <p:spPr>
          <a:xfrm>
            <a:off x="3180836" y="5788421"/>
            <a:ext cx="479504" cy="27432"/>
          </a:xfrm>
          <a:prstGeom prst="rect">
            <a:avLst/>
          </a:prstGeom>
          <a:solidFill>
            <a:srgbClr val="D9D9D9"/>
          </a:solidFill>
          <a:ln/>
        </p:spPr>
      </p:sp>
      <p:sp>
        <p:nvSpPr>
          <p:cNvPr id="94" name="Shape 92"/>
          <p:cNvSpPr/>
          <p:nvPr/>
        </p:nvSpPr>
        <p:spPr>
          <a:xfrm>
            <a:off x="3582616" y="5724413"/>
            <a:ext cx="155448" cy="155448"/>
          </a:xfrm>
          <a:prstGeom prst="ellipse">
            <a:avLst/>
          </a:prstGeom>
          <a:solidFill>
            <a:srgbClr val="0B2C4A"/>
          </a:solidFill>
          <a:ln/>
        </p:spPr>
      </p:sp>
      <p:sp>
        <p:nvSpPr>
          <p:cNvPr id="95" name="Shape 93"/>
          <p:cNvSpPr/>
          <p:nvPr/>
        </p:nvSpPr>
        <p:spPr>
          <a:xfrm>
            <a:off x="3103112" y="5724413"/>
            <a:ext cx="155448" cy="155448"/>
          </a:xfrm>
          <a:prstGeom prst="ellipse">
            <a:avLst/>
          </a:prstGeom>
          <a:solidFill>
            <a:srgbClr val="12A566"/>
          </a:solidFill>
          <a:ln/>
        </p:spPr>
      </p:sp>
      <p:sp>
        <p:nvSpPr>
          <p:cNvPr id="96" name="Text 94"/>
          <p:cNvSpPr txBox="1"/>
          <p:nvPr/>
        </p:nvSpPr>
        <p:spPr>
          <a:xfrm>
            <a:off x="4498848" y="5678962"/>
            <a:ext cx="1325880" cy="246350"/>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91%</a:t>
            </a:r>
            <a:pPr algn="r" indent="0" marL="0">
              <a:buNone/>
            </a:pPr>
            <a:r>
              <a:rPr lang="en-US" sz="1300" dirty="0">
                <a:solidFill>
                  <a:srgbClr val="0B2C4A"/>
                </a:solidFill>
                <a:latin typeface="Inter" pitchFamily="34" charset="0"/>
                <a:ea typeface="Inter" pitchFamily="34" charset="-122"/>
                <a:cs typeface="Inter" pitchFamily="34" charset="-120"/>
              </a:rPr>
              <a:t>  131%</a:t>
            </a:r>
            <a:endParaRPr lang="en-US" sz="1300" dirty="0"/>
          </a:p>
        </p:txBody>
      </p:sp>
      <p:sp>
        <p:nvSpPr>
          <p:cNvPr id="97" name="Text 95"/>
          <p:cNvSpPr txBox="1"/>
          <p:nvPr/>
        </p:nvSpPr>
        <p:spPr>
          <a:xfrm>
            <a:off x="6208776" y="1737360"/>
            <a:ext cx="1938528" cy="24635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98" name="Shape 96"/>
          <p:cNvSpPr/>
          <p:nvPr/>
        </p:nvSpPr>
        <p:spPr>
          <a:xfrm>
            <a:off x="8730696" y="1846819"/>
            <a:ext cx="492337" cy="27432"/>
          </a:xfrm>
          <a:prstGeom prst="rect">
            <a:avLst/>
          </a:prstGeom>
          <a:solidFill>
            <a:srgbClr val="D9D9D9"/>
          </a:solidFill>
          <a:ln/>
        </p:spPr>
      </p:sp>
      <p:sp>
        <p:nvSpPr>
          <p:cNvPr id="99" name="Shape 97"/>
          <p:cNvSpPr/>
          <p:nvPr/>
        </p:nvSpPr>
        <p:spPr>
          <a:xfrm>
            <a:off x="9145308" y="1782811"/>
            <a:ext cx="155448" cy="155448"/>
          </a:xfrm>
          <a:prstGeom prst="ellipse">
            <a:avLst/>
          </a:prstGeom>
          <a:solidFill>
            <a:srgbClr val="0B2C4A"/>
          </a:solidFill>
          <a:ln/>
        </p:spPr>
      </p:sp>
      <p:sp>
        <p:nvSpPr>
          <p:cNvPr id="100" name="Shape 98"/>
          <p:cNvSpPr/>
          <p:nvPr/>
        </p:nvSpPr>
        <p:spPr>
          <a:xfrm>
            <a:off x="8652972" y="1782811"/>
            <a:ext cx="155448" cy="155448"/>
          </a:xfrm>
          <a:prstGeom prst="ellipse">
            <a:avLst/>
          </a:prstGeom>
          <a:solidFill>
            <a:srgbClr val="12A566"/>
          </a:solidFill>
          <a:ln/>
        </p:spPr>
      </p:sp>
      <p:sp>
        <p:nvSpPr>
          <p:cNvPr id="101" name="Text 99"/>
          <p:cNvSpPr txBox="1"/>
          <p:nvPr/>
        </p:nvSpPr>
        <p:spPr>
          <a:xfrm>
            <a:off x="10049256" y="1737360"/>
            <a:ext cx="1325880" cy="246350"/>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91%</a:t>
            </a:r>
            <a:pPr algn="r" indent="0" marL="0">
              <a:buNone/>
            </a:pPr>
            <a:r>
              <a:rPr lang="en-US" sz="1300" dirty="0">
                <a:solidFill>
                  <a:srgbClr val="0B2C4A"/>
                </a:solidFill>
                <a:latin typeface="Inter" pitchFamily="34" charset="0"/>
                <a:ea typeface="Inter" pitchFamily="34" charset="-122"/>
                <a:cs typeface="Inter" pitchFamily="34" charset="-120"/>
              </a:rPr>
              <a:t>  132%</a:t>
            </a:r>
            <a:endParaRPr lang="en-US" sz="1300" dirty="0"/>
          </a:p>
        </p:txBody>
      </p:sp>
      <p:sp>
        <p:nvSpPr>
          <p:cNvPr id="102" name="Text 100"/>
          <p:cNvSpPr txBox="1"/>
          <p:nvPr/>
        </p:nvSpPr>
        <p:spPr>
          <a:xfrm>
            <a:off x="6208776" y="1983710"/>
            <a:ext cx="1938528" cy="24635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103" name="Shape 101"/>
          <p:cNvSpPr/>
          <p:nvPr/>
        </p:nvSpPr>
        <p:spPr>
          <a:xfrm>
            <a:off x="8729573" y="2093169"/>
            <a:ext cx="521449" cy="27432"/>
          </a:xfrm>
          <a:prstGeom prst="rect">
            <a:avLst/>
          </a:prstGeom>
          <a:solidFill>
            <a:srgbClr val="D9D9D9"/>
          </a:solidFill>
          <a:ln/>
        </p:spPr>
      </p:sp>
      <p:sp>
        <p:nvSpPr>
          <p:cNvPr id="104" name="Shape 102"/>
          <p:cNvSpPr/>
          <p:nvPr/>
        </p:nvSpPr>
        <p:spPr>
          <a:xfrm>
            <a:off x="9173299" y="2029161"/>
            <a:ext cx="155448" cy="155448"/>
          </a:xfrm>
          <a:prstGeom prst="ellipse">
            <a:avLst/>
          </a:prstGeom>
          <a:solidFill>
            <a:srgbClr val="0B2C4A"/>
          </a:solidFill>
          <a:ln/>
        </p:spPr>
      </p:sp>
      <p:sp>
        <p:nvSpPr>
          <p:cNvPr id="105" name="Shape 103"/>
          <p:cNvSpPr/>
          <p:nvPr/>
        </p:nvSpPr>
        <p:spPr>
          <a:xfrm>
            <a:off x="8651849" y="2029161"/>
            <a:ext cx="155448" cy="155448"/>
          </a:xfrm>
          <a:prstGeom prst="ellipse">
            <a:avLst/>
          </a:prstGeom>
          <a:solidFill>
            <a:srgbClr val="12A566"/>
          </a:solidFill>
          <a:ln/>
        </p:spPr>
      </p:sp>
      <p:sp>
        <p:nvSpPr>
          <p:cNvPr id="106" name="Text 104"/>
          <p:cNvSpPr txBox="1"/>
          <p:nvPr/>
        </p:nvSpPr>
        <p:spPr>
          <a:xfrm>
            <a:off x="10049256" y="1983710"/>
            <a:ext cx="1325880" cy="246350"/>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91%</a:t>
            </a:r>
            <a:pPr algn="r" indent="0" marL="0">
              <a:buNone/>
            </a:pPr>
            <a:r>
              <a:rPr lang="en-US" sz="1300" dirty="0">
                <a:solidFill>
                  <a:srgbClr val="0B2C4A"/>
                </a:solidFill>
                <a:latin typeface="Inter" pitchFamily="34" charset="0"/>
                <a:ea typeface="Inter" pitchFamily="34" charset="-122"/>
                <a:cs typeface="Inter" pitchFamily="34" charset="-120"/>
              </a:rPr>
              <a:t>  135%</a:t>
            </a:r>
            <a:endParaRPr lang="en-US" sz="1300" dirty="0"/>
          </a:p>
        </p:txBody>
      </p:sp>
      <p:sp>
        <p:nvSpPr>
          <p:cNvPr id="107" name="Text 105"/>
          <p:cNvSpPr txBox="1"/>
          <p:nvPr/>
        </p:nvSpPr>
        <p:spPr>
          <a:xfrm>
            <a:off x="6208776" y="2230060"/>
            <a:ext cx="1938528" cy="24635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108" name="Shape 106"/>
          <p:cNvSpPr/>
          <p:nvPr/>
        </p:nvSpPr>
        <p:spPr>
          <a:xfrm>
            <a:off x="8689828" y="2339519"/>
            <a:ext cx="659446" cy="27432"/>
          </a:xfrm>
          <a:prstGeom prst="rect">
            <a:avLst/>
          </a:prstGeom>
          <a:solidFill>
            <a:srgbClr val="D9D9D9"/>
          </a:solidFill>
          <a:ln/>
        </p:spPr>
      </p:sp>
      <p:sp>
        <p:nvSpPr>
          <p:cNvPr id="109" name="Shape 107"/>
          <p:cNvSpPr/>
          <p:nvPr/>
        </p:nvSpPr>
        <p:spPr>
          <a:xfrm>
            <a:off x="9271550" y="2275511"/>
            <a:ext cx="155448" cy="155448"/>
          </a:xfrm>
          <a:prstGeom prst="ellipse">
            <a:avLst/>
          </a:prstGeom>
          <a:solidFill>
            <a:srgbClr val="0B2C4A"/>
          </a:solidFill>
          <a:ln/>
        </p:spPr>
      </p:sp>
      <p:sp>
        <p:nvSpPr>
          <p:cNvPr id="110" name="Shape 108"/>
          <p:cNvSpPr/>
          <p:nvPr/>
        </p:nvSpPr>
        <p:spPr>
          <a:xfrm>
            <a:off x="8612104" y="2275511"/>
            <a:ext cx="155448" cy="155448"/>
          </a:xfrm>
          <a:prstGeom prst="ellipse">
            <a:avLst/>
          </a:prstGeom>
          <a:solidFill>
            <a:srgbClr val="12A566"/>
          </a:solidFill>
          <a:ln/>
        </p:spPr>
      </p:sp>
      <p:sp>
        <p:nvSpPr>
          <p:cNvPr id="111" name="Text 109"/>
          <p:cNvSpPr txBox="1"/>
          <p:nvPr/>
        </p:nvSpPr>
        <p:spPr>
          <a:xfrm>
            <a:off x="10049256" y="2230060"/>
            <a:ext cx="1325880" cy="246350"/>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88%</a:t>
            </a:r>
            <a:pPr algn="r" indent="0" marL="0">
              <a:buNone/>
            </a:pPr>
            <a:r>
              <a:rPr lang="en-US" sz="1300" dirty="0">
                <a:solidFill>
                  <a:srgbClr val="0B2C4A"/>
                </a:solidFill>
                <a:latin typeface="Inter" pitchFamily="34" charset="0"/>
                <a:ea typeface="Inter" pitchFamily="34" charset="-122"/>
                <a:cs typeface="Inter" pitchFamily="34" charset="-120"/>
              </a:rPr>
              <a:t>  143%</a:t>
            </a:r>
            <a:endParaRPr lang="en-US" sz="1300" dirty="0"/>
          </a:p>
        </p:txBody>
      </p:sp>
      <p:sp>
        <p:nvSpPr>
          <p:cNvPr id="112" name="Text 110"/>
          <p:cNvSpPr txBox="1"/>
          <p:nvPr/>
        </p:nvSpPr>
        <p:spPr>
          <a:xfrm>
            <a:off x="6208776" y="2476410"/>
            <a:ext cx="1938528" cy="24635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113" name="Shape 111"/>
          <p:cNvSpPr/>
          <p:nvPr/>
        </p:nvSpPr>
        <p:spPr>
          <a:xfrm>
            <a:off x="8640786" y="2585869"/>
            <a:ext cx="406163" cy="27432"/>
          </a:xfrm>
          <a:prstGeom prst="rect">
            <a:avLst/>
          </a:prstGeom>
          <a:solidFill>
            <a:srgbClr val="D9D9D9"/>
          </a:solidFill>
          <a:ln/>
        </p:spPr>
      </p:sp>
      <p:sp>
        <p:nvSpPr>
          <p:cNvPr id="114" name="Shape 112"/>
          <p:cNvSpPr/>
          <p:nvPr/>
        </p:nvSpPr>
        <p:spPr>
          <a:xfrm>
            <a:off x="8969225" y="2521861"/>
            <a:ext cx="155448" cy="155448"/>
          </a:xfrm>
          <a:prstGeom prst="ellipse">
            <a:avLst/>
          </a:prstGeom>
          <a:solidFill>
            <a:srgbClr val="0B2C4A"/>
          </a:solidFill>
          <a:ln/>
        </p:spPr>
      </p:sp>
      <p:sp>
        <p:nvSpPr>
          <p:cNvPr id="115" name="Shape 113"/>
          <p:cNvSpPr/>
          <p:nvPr/>
        </p:nvSpPr>
        <p:spPr>
          <a:xfrm>
            <a:off x="8563062" y="2521861"/>
            <a:ext cx="155448" cy="155448"/>
          </a:xfrm>
          <a:prstGeom prst="ellipse">
            <a:avLst/>
          </a:prstGeom>
          <a:solidFill>
            <a:srgbClr val="C2352F"/>
          </a:solidFill>
          <a:ln/>
        </p:spPr>
      </p:sp>
      <p:sp>
        <p:nvSpPr>
          <p:cNvPr id="116" name="Text 114"/>
          <p:cNvSpPr txBox="1"/>
          <p:nvPr/>
        </p:nvSpPr>
        <p:spPr>
          <a:xfrm>
            <a:off x="10049256" y="2476410"/>
            <a:ext cx="1325880" cy="246350"/>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84%</a:t>
            </a:r>
            <a:pPr algn="r" indent="0" marL="0">
              <a:buNone/>
            </a:pPr>
            <a:r>
              <a:rPr lang="en-US" sz="1300" dirty="0">
                <a:solidFill>
                  <a:srgbClr val="0B2C4A"/>
                </a:solidFill>
                <a:latin typeface="Inter" pitchFamily="34" charset="0"/>
                <a:ea typeface="Inter" pitchFamily="34" charset="-122"/>
                <a:cs typeface="Inter" pitchFamily="34" charset="-120"/>
              </a:rPr>
              <a:t>  118%</a:t>
            </a:r>
            <a:endParaRPr lang="en-US" sz="1300" dirty="0"/>
          </a:p>
        </p:txBody>
      </p:sp>
      <p:sp>
        <p:nvSpPr>
          <p:cNvPr id="117" name="Text 115"/>
          <p:cNvSpPr txBox="1"/>
          <p:nvPr/>
        </p:nvSpPr>
        <p:spPr>
          <a:xfrm>
            <a:off x="6208776" y="2722760"/>
            <a:ext cx="1938528" cy="24635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118" name="Shape 116"/>
          <p:cNvSpPr/>
          <p:nvPr/>
        </p:nvSpPr>
        <p:spPr>
          <a:xfrm>
            <a:off x="8614372" y="2832220"/>
            <a:ext cx="174890" cy="27432"/>
          </a:xfrm>
          <a:prstGeom prst="rect">
            <a:avLst/>
          </a:prstGeom>
          <a:solidFill>
            <a:srgbClr val="D9D9D9"/>
          </a:solidFill>
          <a:ln/>
        </p:spPr>
      </p:sp>
      <p:sp>
        <p:nvSpPr>
          <p:cNvPr id="119" name="Shape 117"/>
          <p:cNvSpPr/>
          <p:nvPr/>
        </p:nvSpPr>
        <p:spPr>
          <a:xfrm>
            <a:off x="8711538" y="2768212"/>
            <a:ext cx="155448" cy="155448"/>
          </a:xfrm>
          <a:prstGeom prst="ellipse">
            <a:avLst/>
          </a:prstGeom>
          <a:solidFill>
            <a:srgbClr val="0B2C4A"/>
          </a:solidFill>
          <a:ln/>
        </p:spPr>
      </p:sp>
      <p:sp>
        <p:nvSpPr>
          <p:cNvPr id="120" name="Shape 118"/>
          <p:cNvSpPr/>
          <p:nvPr/>
        </p:nvSpPr>
        <p:spPr>
          <a:xfrm>
            <a:off x="8536648" y="2768212"/>
            <a:ext cx="155448" cy="155448"/>
          </a:xfrm>
          <a:prstGeom prst="ellipse">
            <a:avLst/>
          </a:prstGeom>
          <a:solidFill>
            <a:srgbClr val="C2352F"/>
          </a:solidFill>
          <a:ln/>
        </p:spPr>
      </p:sp>
      <p:sp>
        <p:nvSpPr>
          <p:cNvPr id="121" name="Text 119"/>
          <p:cNvSpPr txBox="1"/>
          <p:nvPr/>
        </p:nvSpPr>
        <p:spPr>
          <a:xfrm>
            <a:off x="10049256" y="2722760"/>
            <a:ext cx="1325880" cy="246350"/>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81%</a:t>
            </a:r>
            <a:pPr algn="r" indent="0" marL="0">
              <a:buNone/>
            </a:pPr>
            <a:r>
              <a:rPr lang="en-US" sz="1300" dirty="0">
                <a:solidFill>
                  <a:srgbClr val="0B2C4A"/>
                </a:solidFill>
                <a:latin typeface="Inter" pitchFamily="34" charset="0"/>
                <a:ea typeface="Inter" pitchFamily="34" charset="-122"/>
                <a:cs typeface="Inter" pitchFamily="34" charset="-120"/>
              </a:rPr>
              <a:t>  96%</a:t>
            </a:r>
            <a:endParaRPr lang="en-US" sz="1300" dirty="0"/>
          </a:p>
        </p:txBody>
      </p:sp>
      <p:sp>
        <p:nvSpPr>
          <p:cNvPr id="122" name="Text 120"/>
          <p:cNvSpPr txBox="1"/>
          <p:nvPr/>
        </p:nvSpPr>
        <p:spPr>
          <a:xfrm>
            <a:off x="6208776" y="2969111"/>
            <a:ext cx="1938528" cy="24635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123" name="Shape 121"/>
          <p:cNvSpPr/>
          <p:nvPr/>
        </p:nvSpPr>
        <p:spPr>
          <a:xfrm>
            <a:off x="8583295" y="3078570"/>
            <a:ext cx="403087" cy="27432"/>
          </a:xfrm>
          <a:prstGeom prst="rect">
            <a:avLst/>
          </a:prstGeom>
          <a:solidFill>
            <a:srgbClr val="D9D9D9"/>
          </a:solidFill>
          <a:ln/>
        </p:spPr>
      </p:sp>
      <p:sp>
        <p:nvSpPr>
          <p:cNvPr id="124" name="Shape 122"/>
          <p:cNvSpPr/>
          <p:nvPr/>
        </p:nvSpPr>
        <p:spPr>
          <a:xfrm>
            <a:off x="8908658" y="3014562"/>
            <a:ext cx="155448" cy="155448"/>
          </a:xfrm>
          <a:prstGeom prst="ellipse">
            <a:avLst/>
          </a:prstGeom>
          <a:solidFill>
            <a:srgbClr val="0B2C4A"/>
          </a:solidFill>
          <a:ln/>
        </p:spPr>
      </p:sp>
      <p:sp>
        <p:nvSpPr>
          <p:cNvPr id="125" name="Shape 123"/>
          <p:cNvSpPr/>
          <p:nvPr/>
        </p:nvSpPr>
        <p:spPr>
          <a:xfrm>
            <a:off x="8505571" y="3014562"/>
            <a:ext cx="155448" cy="155448"/>
          </a:xfrm>
          <a:prstGeom prst="ellipse">
            <a:avLst/>
          </a:prstGeom>
          <a:solidFill>
            <a:srgbClr val="C2352F"/>
          </a:solidFill>
          <a:ln/>
        </p:spPr>
      </p:sp>
      <p:sp>
        <p:nvSpPr>
          <p:cNvPr id="126" name="Text 124"/>
          <p:cNvSpPr txBox="1"/>
          <p:nvPr/>
        </p:nvSpPr>
        <p:spPr>
          <a:xfrm>
            <a:off x="10049256" y="2969111"/>
            <a:ext cx="1325880" cy="246350"/>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79%</a:t>
            </a:r>
            <a:pPr algn="r" indent="0" marL="0">
              <a:buNone/>
            </a:pPr>
            <a:r>
              <a:rPr lang="en-US" sz="1300" dirty="0">
                <a:solidFill>
                  <a:srgbClr val="0B2C4A"/>
                </a:solidFill>
                <a:latin typeface="Inter" pitchFamily="34" charset="0"/>
                <a:ea typeface="Inter" pitchFamily="34" charset="-122"/>
                <a:cs typeface="Inter" pitchFamily="34" charset="-120"/>
              </a:rPr>
              <a:t>  113%</a:t>
            </a:r>
            <a:endParaRPr lang="en-US" sz="1300" dirty="0"/>
          </a:p>
        </p:txBody>
      </p:sp>
      <p:sp>
        <p:nvSpPr>
          <p:cNvPr id="127" name="Text 125"/>
          <p:cNvSpPr txBox="1"/>
          <p:nvPr/>
        </p:nvSpPr>
        <p:spPr>
          <a:xfrm>
            <a:off x="6208776" y="3215461"/>
            <a:ext cx="1938528" cy="24635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128" name="Shape 126"/>
          <p:cNvSpPr/>
          <p:nvPr/>
        </p:nvSpPr>
        <p:spPr>
          <a:xfrm>
            <a:off x="8579993" y="3324920"/>
            <a:ext cx="626069" cy="27432"/>
          </a:xfrm>
          <a:prstGeom prst="rect">
            <a:avLst/>
          </a:prstGeom>
          <a:solidFill>
            <a:srgbClr val="D9D9D9"/>
          </a:solidFill>
          <a:ln/>
        </p:spPr>
      </p:sp>
      <p:sp>
        <p:nvSpPr>
          <p:cNvPr id="129" name="Shape 127"/>
          <p:cNvSpPr/>
          <p:nvPr/>
        </p:nvSpPr>
        <p:spPr>
          <a:xfrm>
            <a:off x="9128338" y="3260912"/>
            <a:ext cx="155448" cy="155448"/>
          </a:xfrm>
          <a:prstGeom prst="ellipse">
            <a:avLst/>
          </a:prstGeom>
          <a:solidFill>
            <a:srgbClr val="0B2C4A"/>
          </a:solidFill>
          <a:ln/>
        </p:spPr>
      </p:sp>
      <p:sp>
        <p:nvSpPr>
          <p:cNvPr id="130" name="Shape 128"/>
          <p:cNvSpPr/>
          <p:nvPr/>
        </p:nvSpPr>
        <p:spPr>
          <a:xfrm>
            <a:off x="8502269" y="3260912"/>
            <a:ext cx="155448" cy="155448"/>
          </a:xfrm>
          <a:prstGeom prst="ellipse">
            <a:avLst/>
          </a:prstGeom>
          <a:solidFill>
            <a:srgbClr val="C2352F"/>
          </a:solidFill>
          <a:ln/>
        </p:spPr>
      </p:sp>
      <p:sp>
        <p:nvSpPr>
          <p:cNvPr id="131" name="Text 129"/>
          <p:cNvSpPr txBox="1"/>
          <p:nvPr/>
        </p:nvSpPr>
        <p:spPr>
          <a:xfrm>
            <a:off x="10049256" y="3215461"/>
            <a:ext cx="1325880" cy="246350"/>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79%</a:t>
            </a:r>
            <a:pPr algn="r" indent="0" marL="0">
              <a:buNone/>
            </a:pPr>
            <a:r>
              <a:rPr lang="en-US" sz="1300" dirty="0">
                <a:solidFill>
                  <a:srgbClr val="0B2C4A"/>
                </a:solidFill>
                <a:latin typeface="Inter" pitchFamily="34" charset="0"/>
                <a:ea typeface="Inter" pitchFamily="34" charset="-122"/>
                <a:cs typeface="Inter" pitchFamily="34" charset="-120"/>
              </a:rPr>
              <a:t>  131%</a:t>
            </a:r>
            <a:endParaRPr lang="en-US" sz="1300" dirty="0"/>
          </a:p>
        </p:txBody>
      </p:sp>
      <p:sp>
        <p:nvSpPr>
          <p:cNvPr id="132" name="Text 130"/>
          <p:cNvSpPr txBox="1"/>
          <p:nvPr/>
        </p:nvSpPr>
        <p:spPr>
          <a:xfrm>
            <a:off x="6208776" y="3461811"/>
            <a:ext cx="1938528" cy="24635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133" name="Shape 131"/>
          <p:cNvSpPr/>
          <p:nvPr/>
        </p:nvSpPr>
        <p:spPr>
          <a:xfrm>
            <a:off x="8559791" y="3571270"/>
            <a:ext cx="285552" cy="27432"/>
          </a:xfrm>
          <a:prstGeom prst="rect">
            <a:avLst/>
          </a:prstGeom>
          <a:solidFill>
            <a:srgbClr val="D9D9D9"/>
          </a:solidFill>
          <a:ln/>
        </p:spPr>
      </p:sp>
      <p:sp>
        <p:nvSpPr>
          <p:cNvPr id="134" name="Shape 132"/>
          <p:cNvSpPr/>
          <p:nvPr/>
        </p:nvSpPr>
        <p:spPr>
          <a:xfrm>
            <a:off x="8767619" y="3507262"/>
            <a:ext cx="155448" cy="155448"/>
          </a:xfrm>
          <a:prstGeom prst="ellipse">
            <a:avLst/>
          </a:prstGeom>
          <a:solidFill>
            <a:srgbClr val="0B2C4A"/>
          </a:solidFill>
          <a:ln/>
        </p:spPr>
      </p:sp>
      <p:sp>
        <p:nvSpPr>
          <p:cNvPr id="135" name="Shape 133"/>
          <p:cNvSpPr/>
          <p:nvPr/>
        </p:nvSpPr>
        <p:spPr>
          <a:xfrm>
            <a:off x="8482067" y="3507262"/>
            <a:ext cx="155448" cy="155448"/>
          </a:xfrm>
          <a:prstGeom prst="ellipse">
            <a:avLst/>
          </a:prstGeom>
          <a:solidFill>
            <a:srgbClr val="C2352F"/>
          </a:solidFill>
          <a:ln/>
        </p:spPr>
      </p:sp>
      <p:sp>
        <p:nvSpPr>
          <p:cNvPr id="136" name="Text 134"/>
          <p:cNvSpPr txBox="1"/>
          <p:nvPr/>
        </p:nvSpPr>
        <p:spPr>
          <a:xfrm>
            <a:off x="10049256" y="3461811"/>
            <a:ext cx="1325880" cy="246350"/>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77%</a:t>
            </a:r>
            <a:pPr algn="r" indent="0" marL="0">
              <a:buNone/>
            </a:pPr>
            <a:r>
              <a:rPr lang="en-US" sz="1300" dirty="0">
                <a:solidFill>
                  <a:srgbClr val="0B2C4A"/>
                </a:solidFill>
                <a:latin typeface="Inter" pitchFamily="34" charset="0"/>
                <a:ea typeface="Inter" pitchFamily="34" charset="-122"/>
                <a:cs typeface="Inter" pitchFamily="34" charset="-120"/>
              </a:rPr>
              <a:t>  101%</a:t>
            </a:r>
            <a:endParaRPr lang="en-US" sz="1300" dirty="0"/>
          </a:p>
        </p:txBody>
      </p:sp>
      <p:sp>
        <p:nvSpPr>
          <p:cNvPr id="137" name="Text 135"/>
          <p:cNvSpPr txBox="1"/>
          <p:nvPr/>
        </p:nvSpPr>
        <p:spPr>
          <a:xfrm>
            <a:off x="6208776" y="3708161"/>
            <a:ext cx="1938528" cy="24635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138" name="Shape 136"/>
          <p:cNvSpPr/>
          <p:nvPr/>
        </p:nvSpPr>
        <p:spPr>
          <a:xfrm>
            <a:off x="8520910" y="3817620"/>
            <a:ext cx="360320" cy="27432"/>
          </a:xfrm>
          <a:prstGeom prst="rect">
            <a:avLst/>
          </a:prstGeom>
          <a:solidFill>
            <a:srgbClr val="D9D9D9"/>
          </a:solidFill>
          <a:ln/>
        </p:spPr>
      </p:sp>
      <p:sp>
        <p:nvSpPr>
          <p:cNvPr id="139" name="Shape 137"/>
          <p:cNvSpPr/>
          <p:nvPr/>
        </p:nvSpPr>
        <p:spPr>
          <a:xfrm>
            <a:off x="8803506" y="3753612"/>
            <a:ext cx="155448" cy="155448"/>
          </a:xfrm>
          <a:prstGeom prst="ellipse">
            <a:avLst/>
          </a:prstGeom>
          <a:solidFill>
            <a:srgbClr val="0B2C4A"/>
          </a:solidFill>
          <a:ln/>
        </p:spPr>
      </p:sp>
      <p:sp>
        <p:nvSpPr>
          <p:cNvPr id="140" name="Shape 138"/>
          <p:cNvSpPr/>
          <p:nvPr/>
        </p:nvSpPr>
        <p:spPr>
          <a:xfrm>
            <a:off x="8443186" y="3753612"/>
            <a:ext cx="155448" cy="155448"/>
          </a:xfrm>
          <a:prstGeom prst="ellipse">
            <a:avLst/>
          </a:prstGeom>
          <a:solidFill>
            <a:srgbClr val="C2352F"/>
          </a:solidFill>
          <a:ln/>
        </p:spPr>
      </p:sp>
      <p:sp>
        <p:nvSpPr>
          <p:cNvPr id="141" name="Text 139"/>
          <p:cNvSpPr txBox="1"/>
          <p:nvPr/>
        </p:nvSpPr>
        <p:spPr>
          <a:xfrm>
            <a:off x="10049256" y="3708161"/>
            <a:ext cx="1325880" cy="246350"/>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74%</a:t>
            </a:r>
            <a:pPr algn="r" indent="0" marL="0">
              <a:buNone/>
            </a:pPr>
            <a:r>
              <a:rPr lang="en-US" sz="1300" dirty="0">
                <a:solidFill>
                  <a:srgbClr val="0B2C4A"/>
                </a:solidFill>
                <a:latin typeface="Inter" pitchFamily="34" charset="0"/>
                <a:ea typeface="Inter" pitchFamily="34" charset="-122"/>
                <a:cs typeface="Inter" pitchFamily="34" charset="-120"/>
              </a:rPr>
              <a:t>  104%</a:t>
            </a:r>
            <a:endParaRPr lang="en-US" sz="1300" dirty="0"/>
          </a:p>
        </p:txBody>
      </p:sp>
      <p:sp>
        <p:nvSpPr>
          <p:cNvPr id="142" name="Text 140"/>
          <p:cNvSpPr txBox="1"/>
          <p:nvPr/>
        </p:nvSpPr>
        <p:spPr>
          <a:xfrm>
            <a:off x="6208776" y="3954511"/>
            <a:ext cx="1938528" cy="24635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143" name="Shape 141"/>
          <p:cNvSpPr/>
          <p:nvPr/>
        </p:nvSpPr>
        <p:spPr>
          <a:xfrm>
            <a:off x="8506383" y="4063970"/>
            <a:ext cx="198400" cy="27432"/>
          </a:xfrm>
          <a:prstGeom prst="rect">
            <a:avLst/>
          </a:prstGeom>
          <a:solidFill>
            <a:srgbClr val="D9D9D9"/>
          </a:solidFill>
          <a:ln/>
        </p:spPr>
      </p:sp>
      <p:sp>
        <p:nvSpPr>
          <p:cNvPr id="144" name="Shape 142"/>
          <p:cNvSpPr/>
          <p:nvPr/>
        </p:nvSpPr>
        <p:spPr>
          <a:xfrm>
            <a:off x="8627059" y="3999962"/>
            <a:ext cx="155448" cy="155448"/>
          </a:xfrm>
          <a:prstGeom prst="ellipse">
            <a:avLst/>
          </a:prstGeom>
          <a:solidFill>
            <a:srgbClr val="0B2C4A"/>
          </a:solidFill>
          <a:ln/>
        </p:spPr>
      </p:sp>
      <p:sp>
        <p:nvSpPr>
          <p:cNvPr id="145" name="Shape 143"/>
          <p:cNvSpPr/>
          <p:nvPr/>
        </p:nvSpPr>
        <p:spPr>
          <a:xfrm>
            <a:off x="8428659" y="3999962"/>
            <a:ext cx="155448" cy="155448"/>
          </a:xfrm>
          <a:prstGeom prst="ellipse">
            <a:avLst/>
          </a:prstGeom>
          <a:solidFill>
            <a:srgbClr val="C2352F"/>
          </a:solidFill>
          <a:ln/>
        </p:spPr>
      </p:sp>
      <p:sp>
        <p:nvSpPr>
          <p:cNvPr id="146" name="Text 144"/>
          <p:cNvSpPr txBox="1"/>
          <p:nvPr/>
        </p:nvSpPr>
        <p:spPr>
          <a:xfrm>
            <a:off x="10049256" y="3954511"/>
            <a:ext cx="1325880" cy="246350"/>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72%</a:t>
            </a:r>
            <a:pPr algn="r" indent="0" marL="0">
              <a:buNone/>
            </a:pPr>
            <a:r>
              <a:rPr lang="en-US" sz="1300" dirty="0">
                <a:solidFill>
                  <a:srgbClr val="0B2C4A"/>
                </a:solidFill>
                <a:latin typeface="Inter" pitchFamily="34" charset="0"/>
                <a:ea typeface="Inter" pitchFamily="34" charset="-122"/>
                <a:cs typeface="Inter" pitchFamily="34" charset="-120"/>
              </a:rPr>
              <a:t>  89%</a:t>
            </a:r>
            <a:endParaRPr lang="en-US" sz="1300" dirty="0"/>
          </a:p>
        </p:txBody>
      </p:sp>
      <p:sp>
        <p:nvSpPr>
          <p:cNvPr id="147" name="Text 145"/>
          <p:cNvSpPr txBox="1"/>
          <p:nvPr/>
        </p:nvSpPr>
        <p:spPr>
          <a:xfrm>
            <a:off x="6208776" y="4200861"/>
            <a:ext cx="1938528" cy="24635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148" name="Shape 146"/>
          <p:cNvSpPr/>
          <p:nvPr/>
        </p:nvSpPr>
        <p:spPr>
          <a:xfrm>
            <a:off x="8492153" y="4310320"/>
            <a:ext cx="689844" cy="27432"/>
          </a:xfrm>
          <a:prstGeom prst="rect">
            <a:avLst/>
          </a:prstGeom>
          <a:solidFill>
            <a:srgbClr val="D9D9D9"/>
          </a:solidFill>
          <a:ln/>
        </p:spPr>
      </p:sp>
      <p:sp>
        <p:nvSpPr>
          <p:cNvPr id="149" name="Shape 147"/>
          <p:cNvSpPr/>
          <p:nvPr/>
        </p:nvSpPr>
        <p:spPr>
          <a:xfrm>
            <a:off x="9104273" y="4246312"/>
            <a:ext cx="155448" cy="155448"/>
          </a:xfrm>
          <a:prstGeom prst="ellipse">
            <a:avLst/>
          </a:prstGeom>
          <a:solidFill>
            <a:srgbClr val="0B2C4A"/>
          </a:solidFill>
          <a:ln/>
        </p:spPr>
      </p:sp>
      <p:sp>
        <p:nvSpPr>
          <p:cNvPr id="150" name="Shape 148"/>
          <p:cNvSpPr/>
          <p:nvPr/>
        </p:nvSpPr>
        <p:spPr>
          <a:xfrm>
            <a:off x="8414429" y="4246312"/>
            <a:ext cx="155448" cy="155448"/>
          </a:xfrm>
          <a:prstGeom prst="ellipse">
            <a:avLst/>
          </a:prstGeom>
          <a:solidFill>
            <a:srgbClr val="C2352F"/>
          </a:solidFill>
          <a:ln/>
        </p:spPr>
      </p:sp>
      <p:sp>
        <p:nvSpPr>
          <p:cNvPr id="151" name="Text 149"/>
          <p:cNvSpPr txBox="1"/>
          <p:nvPr/>
        </p:nvSpPr>
        <p:spPr>
          <a:xfrm>
            <a:off x="10049256" y="4200861"/>
            <a:ext cx="1325880" cy="246350"/>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71%</a:t>
            </a:r>
            <a:pPr algn="r" indent="0" marL="0">
              <a:buNone/>
            </a:pPr>
            <a:r>
              <a:rPr lang="en-US" sz="1300" dirty="0">
                <a:solidFill>
                  <a:srgbClr val="0B2C4A"/>
                </a:solidFill>
                <a:latin typeface="Inter" pitchFamily="34" charset="0"/>
                <a:ea typeface="Inter" pitchFamily="34" charset="-122"/>
                <a:cs typeface="Inter" pitchFamily="34" charset="-120"/>
              </a:rPr>
              <a:t>  129%</a:t>
            </a:r>
            <a:endParaRPr lang="en-US" sz="1300" dirty="0"/>
          </a:p>
        </p:txBody>
      </p:sp>
      <p:sp>
        <p:nvSpPr>
          <p:cNvPr id="152" name="Text 150"/>
          <p:cNvSpPr txBox="1"/>
          <p:nvPr/>
        </p:nvSpPr>
        <p:spPr>
          <a:xfrm>
            <a:off x="6208776" y="4447211"/>
            <a:ext cx="1938528" cy="24635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153" name="Shape 151"/>
          <p:cNvSpPr/>
          <p:nvPr/>
        </p:nvSpPr>
        <p:spPr>
          <a:xfrm>
            <a:off x="8478173" y="4556670"/>
            <a:ext cx="73001" cy="27432"/>
          </a:xfrm>
          <a:prstGeom prst="rect">
            <a:avLst/>
          </a:prstGeom>
          <a:solidFill>
            <a:srgbClr val="D9D9D9"/>
          </a:solidFill>
          <a:ln/>
        </p:spPr>
      </p:sp>
      <p:sp>
        <p:nvSpPr>
          <p:cNvPr id="154" name="Shape 152"/>
          <p:cNvSpPr/>
          <p:nvPr/>
        </p:nvSpPr>
        <p:spPr>
          <a:xfrm>
            <a:off x="8473450" y="4492662"/>
            <a:ext cx="155448" cy="155448"/>
          </a:xfrm>
          <a:prstGeom prst="ellipse">
            <a:avLst/>
          </a:prstGeom>
          <a:solidFill>
            <a:srgbClr val="0B2C4A"/>
          </a:solidFill>
          <a:ln/>
        </p:spPr>
      </p:sp>
      <p:sp>
        <p:nvSpPr>
          <p:cNvPr id="155" name="Shape 153"/>
          <p:cNvSpPr/>
          <p:nvPr/>
        </p:nvSpPr>
        <p:spPr>
          <a:xfrm>
            <a:off x="8400449" y="4492662"/>
            <a:ext cx="155448" cy="155448"/>
          </a:xfrm>
          <a:prstGeom prst="ellipse">
            <a:avLst/>
          </a:prstGeom>
          <a:solidFill>
            <a:srgbClr val="C2352F"/>
          </a:solidFill>
          <a:ln/>
        </p:spPr>
      </p:sp>
      <p:sp>
        <p:nvSpPr>
          <p:cNvPr id="156" name="Text 154"/>
          <p:cNvSpPr txBox="1"/>
          <p:nvPr/>
        </p:nvSpPr>
        <p:spPr>
          <a:xfrm>
            <a:off x="10049256" y="4447211"/>
            <a:ext cx="1325880" cy="246350"/>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70%</a:t>
            </a:r>
            <a:pPr algn="r" indent="0" marL="0">
              <a:buNone/>
            </a:pPr>
            <a:r>
              <a:rPr lang="en-US" sz="1300" dirty="0">
                <a:solidFill>
                  <a:srgbClr val="0B2C4A"/>
                </a:solidFill>
                <a:latin typeface="Inter" pitchFamily="34" charset="0"/>
                <a:ea typeface="Inter" pitchFamily="34" charset="-122"/>
                <a:cs typeface="Inter" pitchFamily="34" charset="-120"/>
              </a:rPr>
              <a:t>  76%</a:t>
            </a:r>
            <a:endParaRPr lang="en-US" sz="1300" dirty="0"/>
          </a:p>
        </p:txBody>
      </p:sp>
      <p:sp>
        <p:nvSpPr>
          <p:cNvPr id="157" name="Text 155"/>
          <p:cNvSpPr txBox="1"/>
          <p:nvPr/>
        </p:nvSpPr>
        <p:spPr>
          <a:xfrm>
            <a:off x="6208776" y="4693561"/>
            <a:ext cx="1938528" cy="24635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158" name="Shape 156"/>
          <p:cNvSpPr/>
          <p:nvPr/>
        </p:nvSpPr>
        <p:spPr>
          <a:xfrm>
            <a:off x="8466129" y="4803020"/>
            <a:ext cx="635814" cy="27432"/>
          </a:xfrm>
          <a:prstGeom prst="rect">
            <a:avLst/>
          </a:prstGeom>
          <a:solidFill>
            <a:srgbClr val="D9D9D9"/>
          </a:solidFill>
          <a:ln/>
        </p:spPr>
      </p:sp>
      <p:sp>
        <p:nvSpPr>
          <p:cNvPr id="159" name="Shape 157"/>
          <p:cNvSpPr/>
          <p:nvPr/>
        </p:nvSpPr>
        <p:spPr>
          <a:xfrm>
            <a:off x="9024219" y="4739012"/>
            <a:ext cx="155448" cy="155448"/>
          </a:xfrm>
          <a:prstGeom prst="ellipse">
            <a:avLst/>
          </a:prstGeom>
          <a:solidFill>
            <a:srgbClr val="0B2C4A"/>
          </a:solidFill>
          <a:ln/>
        </p:spPr>
      </p:sp>
      <p:sp>
        <p:nvSpPr>
          <p:cNvPr id="160" name="Shape 158"/>
          <p:cNvSpPr/>
          <p:nvPr/>
        </p:nvSpPr>
        <p:spPr>
          <a:xfrm>
            <a:off x="8388405" y="4739012"/>
            <a:ext cx="155448" cy="155448"/>
          </a:xfrm>
          <a:prstGeom prst="ellipse">
            <a:avLst/>
          </a:prstGeom>
          <a:solidFill>
            <a:srgbClr val="C2352F"/>
          </a:solidFill>
          <a:ln/>
        </p:spPr>
      </p:sp>
      <p:sp>
        <p:nvSpPr>
          <p:cNvPr id="161" name="Text 159"/>
          <p:cNvSpPr txBox="1"/>
          <p:nvPr/>
        </p:nvSpPr>
        <p:spPr>
          <a:xfrm>
            <a:off x="10049256" y="4693561"/>
            <a:ext cx="1325880" cy="246350"/>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69%</a:t>
            </a:r>
            <a:pPr algn="r" indent="0" marL="0">
              <a:buNone/>
            </a:pPr>
            <a:r>
              <a:rPr lang="en-US" sz="1300" dirty="0">
                <a:solidFill>
                  <a:srgbClr val="0B2C4A"/>
                </a:solidFill>
                <a:latin typeface="Inter" pitchFamily="34" charset="0"/>
                <a:ea typeface="Inter" pitchFamily="34" charset="-122"/>
                <a:cs typeface="Inter" pitchFamily="34" charset="-120"/>
              </a:rPr>
              <a:t>  122%</a:t>
            </a:r>
            <a:endParaRPr lang="en-US" sz="1300" dirty="0"/>
          </a:p>
        </p:txBody>
      </p:sp>
      <p:sp>
        <p:nvSpPr>
          <p:cNvPr id="162" name="Text 160"/>
          <p:cNvSpPr txBox="1"/>
          <p:nvPr/>
        </p:nvSpPr>
        <p:spPr>
          <a:xfrm>
            <a:off x="6208776" y="4939912"/>
            <a:ext cx="1938528" cy="24635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163" name="Shape 161"/>
          <p:cNvSpPr/>
          <p:nvPr/>
        </p:nvSpPr>
        <p:spPr>
          <a:xfrm>
            <a:off x="8458867" y="5049371"/>
            <a:ext cx="335577" cy="27432"/>
          </a:xfrm>
          <a:prstGeom prst="rect">
            <a:avLst/>
          </a:prstGeom>
          <a:solidFill>
            <a:srgbClr val="D9D9D9"/>
          </a:solidFill>
          <a:ln/>
        </p:spPr>
      </p:sp>
      <p:sp>
        <p:nvSpPr>
          <p:cNvPr id="164" name="Shape 162"/>
          <p:cNvSpPr/>
          <p:nvPr/>
        </p:nvSpPr>
        <p:spPr>
          <a:xfrm>
            <a:off x="8716721" y="4985363"/>
            <a:ext cx="155448" cy="155448"/>
          </a:xfrm>
          <a:prstGeom prst="ellipse">
            <a:avLst/>
          </a:prstGeom>
          <a:solidFill>
            <a:srgbClr val="0B2C4A"/>
          </a:solidFill>
          <a:ln/>
        </p:spPr>
      </p:sp>
      <p:sp>
        <p:nvSpPr>
          <p:cNvPr id="165" name="Shape 163"/>
          <p:cNvSpPr/>
          <p:nvPr/>
        </p:nvSpPr>
        <p:spPr>
          <a:xfrm>
            <a:off x="8381143" y="4985363"/>
            <a:ext cx="155448" cy="155448"/>
          </a:xfrm>
          <a:prstGeom prst="ellipse">
            <a:avLst/>
          </a:prstGeom>
          <a:solidFill>
            <a:srgbClr val="C2352F"/>
          </a:solidFill>
          <a:ln/>
        </p:spPr>
      </p:sp>
      <p:sp>
        <p:nvSpPr>
          <p:cNvPr id="166" name="Text 164"/>
          <p:cNvSpPr txBox="1"/>
          <p:nvPr/>
        </p:nvSpPr>
        <p:spPr>
          <a:xfrm>
            <a:off x="10049256" y="4939912"/>
            <a:ext cx="1325880" cy="246350"/>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68%</a:t>
            </a:r>
            <a:pPr algn="r" indent="0" marL="0">
              <a:buNone/>
            </a:pPr>
            <a:r>
              <a:rPr lang="en-US" sz="1300" dirty="0">
                <a:solidFill>
                  <a:srgbClr val="0B2C4A"/>
                </a:solidFill>
                <a:latin typeface="Inter" pitchFamily="34" charset="0"/>
                <a:ea typeface="Inter" pitchFamily="34" charset="-122"/>
                <a:cs typeface="Inter" pitchFamily="34" charset="-120"/>
              </a:rPr>
              <a:t>  96%</a:t>
            </a:r>
            <a:endParaRPr lang="en-US" sz="1300" dirty="0"/>
          </a:p>
        </p:txBody>
      </p:sp>
      <p:sp>
        <p:nvSpPr>
          <p:cNvPr id="167" name="Text 165"/>
          <p:cNvSpPr txBox="1"/>
          <p:nvPr/>
        </p:nvSpPr>
        <p:spPr>
          <a:xfrm>
            <a:off x="6208776" y="5186262"/>
            <a:ext cx="1938528" cy="24635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168" name="Shape 166"/>
          <p:cNvSpPr/>
          <p:nvPr/>
        </p:nvSpPr>
        <p:spPr>
          <a:xfrm>
            <a:off x="8448076" y="5295721"/>
            <a:ext cx="363217" cy="27432"/>
          </a:xfrm>
          <a:prstGeom prst="rect">
            <a:avLst/>
          </a:prstGeom>
          <a:solidFill>
            <a:srgbClr val="D9D9D9"/>
          </a:solidFill>
          <a:ln/>
        </p:spPr>
      </p:sp>
      <p:sp>
        <p:nvSpPr>
          <p:cNvPr id="169" name="Shape 167"/>
          <p:cNvSpPr/>
          <p:nvPr/>
        </p:nvSpPr>
        <p:spPr>
          <a:xfrm>
            <a:off x="8733569" y="5231713"/>
            <a:ext cx="155448" cy="155448"/>
          </a:xfrm>
          <a:prstGeom prst="ellipse">
            <a:avLst/>
          </a:prstGeom>
          <a:solidFill>
            <a:srgbClr val="0B2C4A"/>
          </a:solidFill>
          <a:ln/>
        </p:spPr>
      </p:sp>
      <p:sp>
        <p:nvSpPr>
          <p:cNvPr id="170" name="Shape 168"/>
          <p:cNvSpPr/>
          <p:nvPr/>
        </p:nvSpPr>
        <p:spPr>
          <a:xfrm>
            <a:off x="8370352" y="5231713"/>
            <a:ext cx="155448" cy="155448"/>
          </a:xfrm>
          <a:prstGeom prst="ellipse">
            <a:avLst/>
          </a:prstGeom>
          <a:solidFill>
            <a:srgbClr val="C2352F"/>
          </a:solidFill>
          <a:ln/>
        </p:spPr>
      </p:sp>
      <p:sp>
        <p:nvSpPr>
          <p:cNvPr id="171" name="Text 169"/>
          <p:cNvSpPr txBox="1"/>
          <p:nvPr/>
        </p:nvSpPr>
        <p:spPr>
          <a:xfrm>
            <a:off x="10049256" y="5186262"/>
            <a:ext cx="1325880" cy="246350"/>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68%</a:t>
            </a:r>
            <a:pPr algn="r" indent="0" marL="0">
              <a:buNone/>
            </a:pPr>
            <a:r>
              <a:rPr lang="en-US" sz="1300" dirty="0">
                <a:solidFill>
                  <a:srgbClr val="0B2C4A"/>
                </a:solidFill>
                <a:latin typeface="Inter" pitchFamily="34" charset="0"/>
                <a:ea typeface="Inter" pitchFamily="34" charset="-122"/>
                <a:cs typeface="Inter" pitchFamily="34" charset="-120"/>
              </a:rPr>
              <a:t>  98%</a:t>
            </a:r>
            <a:endParaRPr lang="en-US" sz="1300" dirty="0"/>
          </a:p>
        </p:txBody>
      </p:sp>
      <p:sp>
        <p:nvSpPr>
          <p:cNvPr id="172" name="Text 170"/>
          <p:cNvSpPr txBox="1"/>
          <p:nvPr/>
        </p:nvSpPr>
        <p:spPr>
          <a:xfrm>
            <a:off x="6208776" y="5432612"/>
            <a:ext cx="1938528" cy="24635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173" name="Shape 171"/>
          <p:cNvSpPr/>
          <p:nvPr/>
        </p:nvSpPr>
        <p:spPr>
          <a:xfrm>
            <a:off x="8447091" y="5542071"/>
            <a:ext cx="75203" cy="27432"/>
          </a:xfrm>
          <a:prstGeom prst="rect">
            <a:avLst/>
          </a:prstGeom>
          <a:solidFill>
            <a:srgbClr val="D9D9D9"/>
          </a:solidFill>
          <a:ln/>
        </p:spPr>
      </p:sp>
      <p:sp>
        <p:nvSpPr>
          <p:cNvPr id="174" name="Shape 172"/>
          <p:cNvSpPr/>
          <p:nvPr/>
        </p:nvSpPr>
        <p:spPr>
          <a:xfrm>
            <a:off x="8444570" y="5478063"/>
            <a:ext cx="155448" cy="155448"/>
          </a:xfrm>
          <a:prstGeom prst="ellipse">
            <a:avLst/>
          </a:prstGeom>
          <a:solidFill>
            <a:srgbClr val="0B2C4A"/>
          </a:solidFill>
          <a:ln/>
        </p:spPr>
      </p:sp>
      <p:sp>
        <p:nvSpPr>
          <p:cNvPr id="175" name="Shape 173"/>
          <p:cNvSpPr/>
          <p:nvPr/>
        </p:nvSpPr>
        <p:spPr>
          <a:xfrm>
            <a:off x="8369367" y="5478063"/>
            <a:ext cx="155448" cy="155448"/>
          </a:xfrm>
          <a:prstGeom prst="ellipse">
            <a:avLst/>
          </a:prstGeom>
          <a:solidFill>
            <a:srgbClr val="C2352F"/>
          </a:solidFill>
          <a:ln/>
        </p:spPr>
      </p:sp>
      <p:sp>
        <p:nvSpPr>
          <p:cNvPr id="176" name="Text 174"/>
          <p:cNvSpPr txBox="1"/>
          <p:nvPr/>
        </p:nvSpPr>
        <p:spPr>
          <a:xfrm>
            <a:off x="10049256" y="5432612"/>
            <a:ext cx="1325880" cy="246350"/>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67%</a:t>
            </a:r>
            <a:pPr algn="r" indent="0" marL="0">
              <a:buNone/>
            </a:pPr>
            <a:r>
              <a:rPr lang="en-US" sz="1300" dirty="0">
                <a:solidFill>
                  <a:srgbClr val="0B2C4A"/>
                </a:solidFill>
                <a:latin typeface="Inter" pitchFamily="34" charset="0"/>
                <a:ea typeface="Inter" pitchFamily="34" charset="-122"/>
                <a:cs typeface="Inter" pitchFamily="34" charset="-120"/>
              </a:rPr>
              <a:t>  74%</a:t>
            </a:r>
            <a:endParaRPr lang="en-US" sz="1300" dirty="0"/>
          </a:p>
        </p:txBody>
      </p:sp>
      <p:sp>
        <p:nvSpPr>
          <p:cNvPr id="177" name="Shape 175"/>
          <p:cNvSpPr/>
          <p:nvPr/>
        </p:nvSpPr>
        <p:spPr>
          <a:xfrm>
            <a:off x="457200" y="6126480"/>
            <a:ext cx="11274552" cy="615696"/>
          </a:xfrm>
          <a:prstGeom prst="rect">
            <a:avLst/>
          </a:prstGeom>
          <a:solidFill>
            <a:srgbClr val="EDF4FA"/>
          </a:solidFill>
          <a:ln/>
        </p:spPr>
      </p:sp>
      <p:sp>
        <p:nvSpPr>
          <p:cNvPr id="178" name="Text 176"/>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At 11 of the 13 stores under 85%, the top quarter of techs already run above 85%. Same bays, same dispatch, same car count.</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PRODUCTIVITY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Is It the Work or the Workers?</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Text 4"/>
          <p:cNvSpPr txBox="1"/>
          <p:nvPr/>
        </p:nvSpPr>
        <p:spPr>
          <a:xfrm>
            <a:off x="658368" y="1316736"/>
            <a:ext cx="2651760" cy="32918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FEWER ROS · 10 STORES</a:t>
            </a:r>
            <a:endParaRPr lang="en-US" sz="1400" dirty="0"/>
          </a:p>
        </p:txBody>
      </p:sp>
      <p:sp>
        <p:nvSpPr>
          <p:cNvPr id="7" name="Text 5"/>
          <p:cNvSpPr txBox="1"/>
          <p:nvPr/>
        </p:nvSpPr>
        <p:spPr>
          <a:xfrm>
            <a:off x="3438144" y="1316736"/>
            <a:ext cx="74980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Prof.</a:t>
            </a:r>
            <a:endParaRPr lang="en-US" sz="1400" dirty="0"/>
          </a:p>
        </p:txBody>
      </p:sp>
      <p:sp>
        <p:nvSpPr>
          <p:cNvPr id="8" name="Text 6"/>
          <p:cNvSpPr txBox="1"/>
          <p:nvPr/>
        </p:nvSpPr>
        <p:spPr>
          <a:xfrm>
            <a:off x="4187952" y="1316736"/>
            <a:ext cx="84124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ROs/day</a:t>
            </a:r>
            <a:endParaRPr lang="en-US" sz="1400" dirty="0"/>
          </a:p>
        </p:txBody>
      </p:sp>
      <p:sp>
        <p:nvSpPr>
          <p:cNvPr id="9" name="Text 7"/>
          <p:cNvSpPr txBox="1"/>
          <p:nvPr/>
        </p:nvSpPr>
        <p:spPr>
          <a:xfrm>
            <a:off x="5029200" y="1316736"/>
            <a:ext cx="84124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Seg avg</a:t>
            </a:r>
            <a:endParaRPr lang="en-US" sz="1400" dirty="0"/>
          </a:p>
        </p:txBody>
      </p:sp>
      <p:sp>
        <p:nvSpPr>
          <p:cNvPr id="10" name="Text 8"/>
          <p:cNvSpPr txBox="1"/>
          <p:nvPr/>
        </p:nvSpPr>
        <p:spPr>
          <a:xfrm>
            <a:off x="658368" y="1755648"/>
            <a:ext cx="1920240" cy="41696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11" name="Shape 9"/>
          <p:cNvSpPr/>
          <p:nvPr/>
        </p:nvSpPr>
        <p:spPr>
          <a:xfrm>
            <a:off x="2651760" y="1859890"/>
            <a:ext cx="648144" cy="208483"/>
          </a:xfrm>
          <a:prstGeom prst="rect">
            <a:avLst/>
          </a:prstGeom>
          <a:solidFill>
            <a:srgbClr val="C2352F"/>
          </a:solidFill>
          <a:ln/>
        </p:spPr>
      </p:sp>
      <p:sp>
        <p:nvSpPr>
          <p:cNvPr id="12" name="Text 10"/>
          <p:cNvSpPr txBox="1"/>
          <p:nvPr/>
        </p:nvSpPr>
        <p:spPr>
          <a:xfrm>
            <a:off x="3438144" y="1755648"/>
            <a:ext cx="749808" cy="41696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83.6%</a:t>
            </a:r>
            <a:endParaRPr lang="en-US" sz="1300" dirty="0"/>
          </a:p>
        </p:txBody>
      </p:sp>
      <p:sp>
        <p:nvSpPr>
          <p:cNvPr id="13" name="Text 11"/>
          <p:cNvSpPr txBox="1"/>
          <p:nvPr/>
        </p:nvSpPr>
        <p:spPr>
          <a:xfrm>
            <a:off x="4187952" y="1755648"/>
            <a:ext cx="841248" cy="416966"/>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4.2</a:t>
            </a:r>
            <a:endParaRPr lang="en-US" sz="1300" dirty="0"/>
          </a:p>
        </p:txBody>
      </p:sp>
      <p:sp>
        <p:nvSpPr>
          <p:cNvPr id="14" name="Text 12"/>
          <p:cNvSpPr txBox="1"/>
          <p:nvPr/>
        </p:nvSpPr>
        <p:spPr>
          <a:xfrm>
            <a:off x="5029200" y="1755648"/>
            <a:ext cx="841248" cy="416966"/>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4.9</a:t>
            </a:r>
            <a:endParaRPr lang="en-US" sz="1300" dirty="0"/>
          </a:p>
        </p:txBody>
      </p:sp>
      <p:sp>
        <p:nvSpPr>
          <p:cNvPr id="15" name="Text 13"/>
          <p:cNvSpPr txBox="1"/>
          <p:nvPr/>
        </p:nvSpPr>
        <p:spPr>
          <a:xfrm>
            <a:off x="658368" y="2172614"/>
            <a:ext cx="1920240" cy="41696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16" name="Shape 14"/>
          <p:cNvSpPr/>
          <p:nvPr/>
        </p:nvSpPr>
        <p:spPr>
          <a:xfrm>
            <a:off x="2651760" y="2276856"/>
            <a:ext cx="615319" cy="208483"/>
          </a:xfrm>
          <a:prstGeom prst="rect">
            <a:avLst/>
          </a:prstGeom>
          <a:solidFill>
            <a:srgbClr val="C2352F"/>
          </a:solidFill>
          <a:ln/>
        </p:spPr>
      </p:sp>
      <p:sp>
        <p:nvSpPr>
          <p:cNvPr id="17" name="Text 15"/>
          <p:cNvSpPr txBox="1"/>
          <p:nvPr/>
        </p:nvSpPr>
        <p:spPr>
          <a:xfrm>
            <a:off x="3438144" y="2172614"/>
            <a:ext cx="749808" cy="41696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81.4%</a:t>
            </a:r>
            <a:endParaRPr lang="en-US" sz="1300" dirty="0"/>
          </a:p>
        </p:txBody>
      </p:sp>
      <p:sp>
        <p:nvSpPr>
          <p:cNvPr id="18" name="Text 16"/>
          <p:cNvSpPr txBox="1"/>
          <p:nvPr/>
        </p:nvSpPr>
        <p:spPr>
          <a:xfrm>
            <a:off x="4187952" y="2172614"/>
            <a:ext cx="841248" cy="416966"/>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2.4</a:t>
            </a:r>
            <a:endParaRPr lang="en-US" sz="1300" dirty="0"/>
          </a:p>
        </p:txBody>
      </p:sp>
      <p:sp>
        <p:nvSpPr>
          <p:cNvPr id="19" name="Text 17"/>
          <p:cNvSpPr txBox="1"/>
          <p:nvPr/>
        </p:nvSpPr>
        <p:spPr>
          <a:xfrm>
            <a:off x="5029200" y="2172614"/>
            <a:ext cx="841248" cy="416966"/>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3.0</a:t>
            </a:r>
            <a:endParaRPr lang="en-US" sz="1300" dirty="0"/>
          </a:p>
        </p:txBody>
      </p:sp>
      <p:sp>
        <p:nvSpPr>
          <p:cNvPr id="20" name="Text 18"/>
          <p:cNvSpPr txBox="1"/>
          <p:nvPr/>
        </p:nvSpPr>
        <p:spPr>
          <a:xfrm>
            <a:off x="658368" y="2589581"/>
            <a:ext cx="1920240" cy="41696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21" name="Shape 19"/>
          <p:cNvSpPr/>
          <p:nvPr/>
        </p:nvSpPr>
        <p:spPr>
          <a:xfrm>
            <a:off x="2651760" y="2693822"/>
            <a:ext cx="576700" cy="208483"/>
          </a:xfrm>
          <a:prstGeom prst="rect">
            <a:avLst/>
          </a:prstGeom>
          <a:solidFill>
            <a:srgbClr val="C2352F"/>
          </a:solidFill>
          <a:ln/>
        </p:spPr>
      </p:sp>
      <p:sp>
        <p:nvSpPr>
          <p:cNvPr id="22" name="Text 20"/>
          <p:cNvSpPr txBox="1"/>
          <p:nvPr/>
        </p:nvSpPr>
        <p:spPr>
          <a:xfrm>
            <a:off x="3438144" y="2589581"/>
            <a:ext cx="749808" cy="41696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78.8%</a:t>
            </a:r>
            <a:endParaRPr lang="en-US" sz="1300" dirty="0"/>
          </a:p>
        </p:txBody>
      </p:sp>
      <p:sp>
        <p:nvSpPr>
          <p:cNvPr id="23" name="Text 21"/>
          <p:cNvSpPr txBox="1"/>
          <p:nvPr/>
        </p:nvSpPr>
        <p:spPr>
          <a:xfrm>
            <a:off x="4187952" y="2589581"/>
            <a:ext cx="841248" cy="416966"/>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3.8</a:t>
            </a:r>
            <a:endParaRPr lang="en-US" sz="1300" dirty="0"/>
          </a:p>
        </p:txBody>
      </p:sp>
      <p:sp>
        <p:nvSpPr>
          <p:cNvPr id="24" name="Text 22"/>
          <p:cNvSpPr txBox="1"/>
          <p:nvPr/>
        </p:nvSpPr>
        <p:spPr>
          <a:xfrm>
            <a:off x="5029200" y="2589581"/>
            <a:ext cx="841248" cy="416966"/>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4.9</a:t>
            </a:r>
            <a:endParaRPr lang="en-US" sz="1300" dirty="0"/>
          </a:p>
        </p:txBody>
      </p:sp>
      <p:sp>
        <p:nvSpPr>
          <p:cNvPr id="25" name="Text 23"/>
          <p:cNvSpPr txBox="1"/>
          <p:nvPr/>
        </p:nvSpPr>
        <p:spPr>
          <a:xfrm>
            <a:off x="658368" y="3006547"/>
            <a:ext cx="1920240" cy="41696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26" name="Shape 24"/>
          <p:cNvSpPr/>
          <p:nvPr/>
        </p:nvSpPr>
        <p:spPr>
          <a:xfrm>
            <a:off x="2651760" y="3110789"/>
            <a:ext cx="499175" cy="208483"/>
          </a:xfrm>
          <a:prstGeom prst="rect">
            <a:avLst/>
          </a:prstGeom>
          <a:solidFill>
            <a:srgbClr val="C2352F"/>
          </a:solidFill>
          <a:ln/>
        </p:spPr>
      </p:sp>
      <p:sp>
        <p:nvSpPr>
          <p:cNvPr id="27" name="Text 25"/>
          <p:cNvSpPr txBox="1"/>
          <p:nvPr/>
        </p:nvSpPr>
        <p:spPr>
          <a:xfrm>
            <a:off x="3438144" y="3006547"/>
            <a:ext cx="749808" cy="41696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73.6%</a:t>
            </a:r>
            <a:endParaRPr lang="en-US" sz="1300" dirty="0"/>
          </a:p>
        </p:txBody>
      </p:sp>
      <p:sp>
        <p:nvSpPr>
          <p:cNvPr id="28" name="Text 26"/>
          <p:cNvSpPr txBox="1"/>
          <p:nvPr/>
        </p:nvSpPr>
        <p:spPr>
          <a:xfrm>
            <a:off x="4187952" y="3006547"/>
            <a:ext cx="841248" cy="416966"/>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3.6</a:t>
            </a:r>
            <a:endParaRPr lang="en-US" sz="1300" dirty="0"/>
          </a:p>
        </p:txBody>
      </p:sp>
      <p:sp>
        <p:nvSpPr>
          <p:cNvPr id="29" name="Text 27"/>
          <p:cNvSpPr txBox="1"/>
          <p:nvPr/>
        </p:nvSpPr>
        <p:spPr>
          <a:xfrm>
            <a:off x="5029200" y="3006547"/>
            <a:ext cx="841248" cy="416966"/>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4.9</a:t>
            </a:r>
            <a:endParaRPr lang="en-US" sz="1300" dirty="0"/>
          </a:p>
        </p:txBody>
      </p:sp>
      <p:sp>
        <p:nvSpPr>
          <p:cNvPr id="30" name="Text 28"/>
          <p:cNvSpPr txBox="1"/>
          <p:nvPr/>
        </p:nvSpPr>
        <p:spPr>
          <a:xfrm>
            <a:off x="658368" y="3423514"/>
            <a:ext cx="1920240" cy="41696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31" name="Shape 29"/>
          <p:cNvSpPr/>
          <p:nvPr/>
        </p:nvSpPr>
        <p:spPr>
          <a:xfrm>
            <a:off x="2651760" y="3527755"/>
            <a:ext cx="463439" cy="208483"/>
          </a:xfrm>
          <a:prstGeom prst="rect">
            <a:avLst/>
          </a:prstGeom>
          <a:solidFill>
            <a:srgbClr val="C2352F"/>
          </a:solidFill>
          <a:ln/>
        </p:spPr>
      </p:sp>
      <p:sp>
        <p:nvSpPr>
          <p:cNvPr id="32" name="Text 30"/>
          <p:cNvSpPr txBox="1"/>
          <p:nvPr/>
        </p:nvSpPr>
        <p:spPr>
          <a:xfrm>
            <a:off x="3438144" y="3423514"/>
            <a:ext cx="749808" cy="41696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71.2%</a:t>
            </a:r>
            <a:endParaRPr lang="en-US" sz="1300" dirty="0"/>
          </a:p>
        </p:txBody>
      </p:sp>
      <p:sp>
        <p:nvSpPr>
          <p:cNvPr id="33" name="Text 31"/>
          <p:cNvSpPr txBox="1"/>
          <p:nvPr/>
        </p:nvSpPr>
        <p:spPr>
          <a:xfrm>
            <a:off x="4187952" y="3423514"/>
            <a:ext cx="841248" cy="416966"/>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3.8</a:t>
            </a:r>
            <a:endParaRPr lang="en-US" sz="1300" dirty="0"/>
          </a:p>
        </p:txBody>
      </p:sp>
      <p:sp>
        <p:nvSpPr>
          <p:cNvPr id="34" name="Text 32"/>
          <p:cNvSpPr txBox="1"/>
          <p:nvPr/>
        </p:nvSpPr>
        <p:spPr>
          <a:xfrm>
            <a:off x="5029200" y="3423514"/>
            <a:ext cx="841248" cy="416966"/>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4.9</a:t>
            </a:r>
            <a:endParaRPr lang="en-US" sz="1300" dirty="0"/>
          </a:p>
        </p:txBody>
      </p:sp>
      <p:sp>
        <p:nvSpPr>
          <p:cNvPr id="35" name="Text 33"/>
          <p:cNvSpPr txBox="1"/>
          <p:nvPr/>
        </p:nvSpPr>
        <p:spPr>
          <a:xfrm>
            <a:off x="658368" y="3840480"/>
            <a:ext cx="1920240" cy="41696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36" name="Shape 34"/>
          <p:cNvSpPr/>
          <p:nvPr/>
        </p:nvSpPr>
        <p:spPr>
          <a:xfrm>
            <a:off x="2651760" y="3944722"/>
            <a:ext cx="446067" cy="208483"/>
          </a:xfrm>
          <a:prstGeom prst="rect">
            <a:avLst/>
          </a:prstGeom>
          <a:solidFill>
            <a:srgbClr val="C2352F"/>
          </a:solidFill>
          <a:ln/>
        </p:spPr>
      </p:sp>
      <p:sp>
        <p:nvSpPr>
          <p:cNvPr id="37" name="Text 35"/>
          <p:cNvSpPr txBox="1"/>
          <p:nvPr/>
        </p:nvSpPr>
        <p:spPr>
          <a:xfrm>
            <a:off x="3438144" y="3840480"/>
            <a:ext cx="749808" cy="41696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70.0%</a:t>
            </a:r>
            <a:endParaRPr lang="en-US" sz="1300" dirty="0"/>
          </a:p>
        </p:txBody>
      </p:sp>
      <p:sp>
        <p:nvSpPr>
          <p:cNvPr id="38" name="Text 36"/>
          <p:cNvSpPr txBox="1"/>
          <p:nvPr/>
        </p:nvSpPr>
        <p:spPr>
          <a:xfrm>
            <a:off x="4187952" y="3840480"/>
            <a:ext cx="841248" cy="416966"/>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3.8</a:t>
            </a:r>
            <a:endParaRPr lang="en-US" sz="1300" dirty="0"/>
          </a:p>
        </p:txBody>
      </p:sp>
      <p:sp>
        <p:nvSpPr>
          <p:cNvPr id="39" name="Text 37"/>
          <p:cNvSpPr txBox="1"/>
          <p:nvPr/>
        </p:nvSpPr>
        <p:spPr>
          <a:xfrm>
            <a:off x="5029200" y="3840480"/>
            <a:ext cx="841248" cy="416966"/>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4.9</a:t>
            </a:r>
            <a:endParaRPr lang="en-US" sz="1300" dirty="0"/>
          </a:p>
        </p:txBody>
      </p:sp>
      <p:sp>
        <p:nvSpPr>
          <p:cNvPr id="40" name="Text 38"/>
          <p:cNvSpPr txBox="1"/>
          <p:nvPr/>
        </p:nvSpPr>
        <p:spPr>
          <a:xfrm>
            <a:off x="658368" y="4257446"/>
            <a:ext cx="1920240" cy="41696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41" name="Shape 39"/>
          <p:cNvSpPr/>
          <p:nvPr/>
        </p:nvSpPr>
        <p:spPr>
          <a:xfrm>
            <a:off x="2651760" y="4361688"/>
            <a:ext cx="431099" cy="208483"/>
          </a:xfrm>
          <a:prstGeom prst="rect">
            <a:avLst/>
          </a:prstGeom>
          <a:solidFill>
            <a:srgbClr val="C2352F"/>
          </a:solidFill>
          <a:ln/>
        </p:spPr>
      </p:sp>
      <p:sp>
        <p:nvSpPr>
          <p:cNvPr id="42" name="Text 40"/>
          <p:cNvSpPr txBox="1"/>
          <p:nvPr/>
        </p:nvSpPr>
        <p:spPr>
          <a:xfrm>
            <a:off x="3438144" y="4257446"/>
            <a:ext cx="749808" cy="41696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69.0%</a:t>
            </a:r>
            <a:endParaRPr lang="en-US" sz="1300" dirty="0"/>
          </a:p>
        </p:txBody>
      </p:sp>
      <p:sp>
        <p:nvSpPr>
          <p:cNvPr id="43" name="Text 41"/>
          <p:cNvSpPr txBox="1"/>
          <p:nvPr/>
        </p:nvSpPr>
        <p:spPr>
          <a:xfrm>
            <a:off x="4187952" y="4257446"/>
            <a:ext cx="841248" cy="416966"/>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4.2</a:t>
            </a:r>
            <a:endParaRPr lang="en-US" sz="1300" dirty="0"/>
          </a:p>
        </p:txBody>
      </p:sp>
      <p:sp>
        <p:nvSpPr>
          <p:cNvPr id="44" name="Text 42"/>
          <p:cNvSpPr txBox="1"/>
          <p:nvPr/>
        </p:nvSpPr>
        <p:spPr>
          <a:xfrm>
            <a:off x="5029200" y="4257446"/>
            <a:ext cx="841248" cy="416966"/>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4.9</a:t>
            </a:r>
            <a:endParaRPr lang="en-US" sz="1300" dirty="0"/>
          </a:p>
        </p:txBody>
      </p:sp>
      <p:sp>
        <p:nvSpPr>
          <p:cNvPr id="45" name="Text 43"/>
          <p:cNvSpPr txBox="1"/>
          <p:nvPr/>
        </p:nvSpPr>
        <p:spPr>
          <a:xfrm>
            <a:off x="658368" y="4674413"/>
            <a:ext cx="1920240" cy="41696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46" name="Shape 44"/>
          <p:cNvSpPr/>
          <p:nvPr/>
        </p:nvSpPr>
        <p:spPr>
          <a:xfrm>
            <a:off x="2651760" y="4778654"/>
            <a:ext cx="422076" cy="208483"/>
          </a:xfrm>
          <a:prstGeom prst="rect">
            <a:avLst/>
          </a:prstGeom>
          <a:solidFill>
            <a:srgbClr val="C2352F"/>
          </a:solidFill>
          <a:ln/>
        </p:spPr>
      </p:sp>
      <p:sp>
        <p:nvSpPr>
          <p:cNvPr id="47" name="Text 45"/>
          <p:cNvSpPr txBox="1"/>
          <p:nvPr/>
        </p:nvSpPr>
        <p:spPr>
          <a:xfrm>
            <a:off x="3438144" y="4674413"/>
            <a:ext cx="749808" cy="41696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68.4%</a:t>
            </a:r>
            <a:endParaRPr lang="en-US" sz="1300" dirty="0"/>
          </a:p>
        </p:txBody>
      </p:sp>
      <p:sp>
        <p:nvSpPr>
          <p:cNvPr id="48" name="Text 46"/>
          <p:cNvSpPr txBox="1"/>
          <p:nvPr/>
        </p:nvSpPr>
        <p:spPr>
          <a:xfrm>
            <a:off x="4187952" y="4674413"/>
            <a:ext cx="841248" cy="416966"/>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3.1</a:t>
            </a:r>
            <a:endParaRPr lang="en-US" sz="1300" dirty="0"/>
          </a:p>
        </p:txBody>
      </p:sp>
      <p:sp>
        <p:nvSpPr>
          <p:cNvPr id="49" name="Text 47"/>
          <p:cNvSpPr txBox="1"/>
          <p:nvPr/>
        </p:nvSpPr>
        <p:spPr>
          <a:xfrm>
            <a:off x="5029200" y="4674413"/>
            <a:ext cx="841248" cy="416966"/>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4.9</a:t>
            </a:r>
            <a:endParaRPr lang="en-US" sz="1300" dirty="0"/>
          </a:p>
        </p:txBody>
      </p:sp>
      <p:sp>
        <p:nvSpPr>
          <p:cNvPr id="50" name="Text 48"/>
          <p:cNvSpPr txBox="1"/>
          <p:nvPr/>
        </p:nvSpPr>
        <p:spPr>
          <a:xfrm>
            <a:off x="658368" y="5091379"/>
            <a:ext cx="1920240" cy="41696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51" name="Shape 49"/>
          <p:cNvSpPr/>
          <p:nvPr/>
        </p:nvSpPr>
        <p:spPr>
          <a:xfrm>
            <a:off x="2651760" y="5195621"/>
            <a:ext cx="408666" cy="208483"/>
          </a:xfrm>
          <a:prstGeom prst="rect">
            <a:avLst/>
          </a:prstGeom>
          <a:solidFill>
            <a:srgbClr val="C2352F"/>
          </a:solidFill>
          <a:ln/>
        </p:spPr>
      </p:sp>
      <p:sp>
        <p:nvSpPr>
          <p:cNvPr id="52" name="Text 50"/>
          <p:cNvSpPr txBox="1"/>
          <p:nvPr/>
        </p:nvSpPr>
        <p:spPr>
          <a:xfrm>
            <a:off x="3438144" y="5091379"/>
            <a:ext cx="749808" cy="41696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67.5%</a:t>
            </a:r>
            <a:endParaRPr lang="en-US" sz="1300" dirty="0"/>
          </a:p>
        </p:txBody>
      </p:sp>
      <p:sp>
        <p:nvSpPr>
          <p:cNvPr id="53" name="Text 51"/>
          <p:cNvSpPr txBox="1"/>
          <p:nvPr/>
        </p:nvSpPr>
        <p:spPr>
          <a:xfrm>
            <a:off x="4187952" y="5091379"/>
            <a:ext cx="841248" cy="416966"/>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4.2</a:t>
            </a:r>
            <a:endParaRPr lang="en-US" sz="1300" dirty="0"/>
          </a:p>
        </p:txBody>
      </p:sp>
      <p:sp>
        <p:nvSpPr>
          <p:cNvPr id="54" name="Text 52"/>
          <p:cNvSpPr txBox="1"/>
          <p:nvPr/>
        </p:nvSpPr>
        <p:spPr>
          <a:xfrm>
            <a:off x="5029200" y="5091379"/>
            <a:ext cx="841248" cy="416966"/>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4.9</a:t>
            </a:r>
            <a:endParaRPr lang="en-US" sz="1300" dirty="0"/>
          </a:p>
        </p:txBody>
      </p:sp>
      <p:sp>
        <p:nvSpPr>
          <p:cNvPr id="55" name="Text 53"/>
          <p:cNvSpPr txBox="1"/>
          <p:nvPr/>
        </p:nvSpPr>
        <p:spPr>
          <a:xfrm>
            <a:off x="658368" y="5508346"/>
            <a:ext cx="1920240" cy="41696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56" name="Shape 54"/>
          <p:cNvSpPr/>
          <p:nvPr/>
        </p:nvSpPr>
        <p:spPr>
          <a:xfrm>
            <a:off x="2651760" y="5612587"/>
            <a:ext cx="407442" cy="208483"/>
          </a:xfrm>
          <a:prstGeom prst="rect">
            <a:avLst/>
          </a:prstGeom>
          <a:solidFill>
            <a:srgbClr val="C2352F"/>
          </a:solidFill>
          <a:ln/>
        </p:spPr>
      </p:sp>
      <p:sp>
        <p:nvSpPr>
          <p:cNvPr id="57" name="Text 55"/>
          <p:cNvSpPr txBox="1"/>
          <p:nvPr/>
        </p:nvSpPr>
        <p:spPr>
          <a:xfrm>
            <a:off x="3438144" y="5508346"/>
            <a:ext cx="749808" cy="41696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67.4%</a:t>
            </a:r>
            <a:endParaRPr lang="en-US" sz="1300" dirty="0"/>
          </a:p>
        </p:txBody>
      </p:sp>
      <p:sp>
        <p:nvSpPr>
          <p:cNvPr id="58" name="Text 56"/>
          <p:cNvSpPr txBox="1"/>
          <p:nvPr/>
        </p:nvSpPr>
        <p:spPr>
          <a:xfrm>
            <a:off x="4187952" y="5508346"/>
            <a:ext cx="841248" cy="416966"/>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3.5</a:t>
            </a:r>
            <a:endParaRPr lang="en-US" sz="1300" dirty="0"/>
          </a:p>
        </p:txBody>
      </p:sp>
      <p:sp>
        <p:nvSpPr>
          <p:cNvPr id="59" name="Text 57"/>
          <p:cNvSpPr txBox="1"/>
          <p:nvPr/>
        </p:nvSpPr>
        <p:spPr>
          <a:xfrm>
            <a:off x="5029200" y="5508346"/>
            <a:ext cx="841248" cy="416966"/>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4.9</a:t>
            </a:r>
            <a:endParaRPr lang="en-US" sz="1300" dirty="0"/>
          </a:p>
        </p:txBody>
      </p:sp>
      <p:sp>
        <p:nvSpPr>
          <p:cNvPr id="60" name="Shape 58"/>
          <p:cNvSpPr/>
          <p:nvPr/>
        </p:nvSpPr>
        <p:spPr>
          <a:xfrm>
            <a:off x="3312839" y="1755648"/>
            <a:ext cx="14630" cy="4169664"/>
          </a:xfrm>
          <a:prstGeom prst="rect">
            <a:avLst/>
          </a:prstGeom>
          <a:solidFill>
            <a:srgbClr val="0B2C4A"/>
          </a:solidFill>
          <a:ln/>
        </p:spPr>
      </p:sp>
      <p:sp>
        <p:nvSpPr>
          <p:cNvPr id="61" name="Text 59"/>
          <p:cNvSpPr txBox="1"/>
          <p:nvPr/>
        </p:nvSpPr>
        <p:spPr>
          <a:xfrm>
            <a:off x="6208776" y="1316736"/>
            <a:ext cx="2651760" cy="32918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ENOUGH ROS · 3 STORES</a:t>
            </a:r>
            <a:endParaRPr lang="en-US" sz="1400" dirty="0"/>
          </a:p>
        </p:txBody>
      </p:sp>
      <p:sp>
        <p:nvSpPr>
          <p:cNvPr id="62" name="Text 60"/>
          <p:cNvSpPr txBox="1"/>
          <p:nvPr/>
        </p:nvSpPr>
        <p:spPr>
          <a:xfrm>
            <a:off x="8988552" y="1316736"/>
            <a:ext cx="74980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Prof.</a:t>
            </a:r>
            <a:endParaRPr lang="en-US" sz="1400" dirty="0"/>
          </a:p>
        </p:txBody>
      </p:sp>
      <p:sp>
        <p:nvSpPr>
          <p:cNvPr id="63" name="Text 61"/>
          <p:cNvSpPr txBox="1"/>
          <p:nvPr/>
        </p:nvSpPr>
        <p:spPr>
          <a:xfrm>
            <a:off x="9738360" y="1316736"/>
            <a:ext cx="84124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ROs/day</a:t>
            </a:r>
            <a:endParaRPr lang="en-US" sz="1400" dirty="0"/>
          </a:p>
        </p:txBody>
      </p:sp>
      <p:sp>
        <p:nvSpPr>
          <p:cNvPr id="64" name="Text 62"/>
          <p:cNvSpPr txBox="1"/>
          <p:nvPr/>
        </p:nvSpPr>
        <p:spPr>
          <a:xfrm>
            <a:off x="10579608" y="1316736"/>
            <a:ext cx="84124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Seg avg</a:t>
            </a:r>
            <a:endParaRPr lang="en-US" sz="1400" dirty="0"/>
          </a:p>
        </p:txBody>
      </p:sp>
      <p:sp>
        <p:nvSpPr>
          <p:cNvPr id="65" name="Text 63"/>
          <p:cNvSpPr txBox="1"/>
          <p:nvPr/>
        </p:nvSpPr>
        <p:spPr>
          <a:xfrm>
            <a:off x="6208776" y="1755648"/>
            <a:ext cx="1920240" cy="41696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66" name="Shape 64"/>
          <p:cNvSpPr/>
          <p:nvPr/>
        </p:nvSpPr>
        <p:spPr>
          <a:xfrm>
            <a:off x="8202168" y="1859890"/>
            <a:ext cx="572597" cy="208483"/>
          </a:xfrm>
          <a:prstGeom prst="rect">
            <a:avLst/>
          </a:prstGeom>
          <a:solidFill>
            <a:srgbClr val="C2352F"/>
          </a:solidFill>
          <a:ln/>
        </p:spPr>
      </p:sp>
      <p:sp>
        <p:nvSpPr>
          <p:cNvPr id="67" name="Text 65"/>
          <p:cNvSpPr txBox="1"/>
          <p:nvPr/>
        </p:nvSpPr>
        <p:spPr>
          <a:xfrm>
            <a:off x="8988552" y="1755648"/>
            <a:ext cx="749808" cy="41696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78.5%</a:t>
            </a:r>
            <a:endParaRPr lang="en-US" sz="1300" dirty="0"/>
          </a:p>
        </p:txBody>
      </p:sp>
      <p:sp>
        <p:nvSpPr>
          <p:cNvPr id="68" name="Text 66"/>
          <p:cNvSpPr txBox="1"/>
          <p:nvPr/>
        </p:nvSpPr>
        <p:spPr>
          <a:xfrm>
            <a:off x="9738360" y="1755648"/>
            <a:ext cx="841248" cy="416966"/>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5.2</a:t>
            </a:r>
            <a:endParaRPr lang="en-US" sz="1300" dirty="0"/>
          </a:p>
        </p:txBody>
      </p:sp>
      <p:sp>
        <p:nvSpPr>
          <p:cNvPr id="69" name="Text 67"/>
          <p:cNvSpPr txBox="1"/>
          <p:nvPr/>
        </p:nvSpPr>
        <p:spPr>
          <a:xfrm>
            <a:off x="10579608" y="1755648"/>
            <a:ext cx="841248" cy="416966"/>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4.9</a:t>
            </a:r>
            <a:endParaRPr lang="en-US" sz="1300" dirty="0"/>
          </a:p>
        </p:txBody>
      </p:sp>
      <p:sp>
        <p:nvSpPr>
          <p:cNvPr id="70" name="Text 68"/>
          <p:cNvSpPr txBox="1"/>
          <p:nvPr/>
        </p:nvSpPr>
        <p:spPr>
          <a:xfrm>
            <a:off x="6208776" y="2172614"/>
            <a:ext cx="1920240" cy="41696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71" name="Shape 69"/>
          <p:cNvSpPr/>
          <p:nvPr/>
        </p:nvSpPr>
        <p:spPr>
          <a:xfrm>
            <a:off x="8202168" y="2276856"/>
            <a:ext cx="547492" cy="208483"/>
          </a:xfrm>
          <a:prstGeom prst="rect">
            <a:avLst/>
          </a:prstGeom>
          <a:solidFill>
            <a:srgbClr val="C2352F"/>
          </a:solidFill>
          <a:ln/>
        </p:spPr>
      </p:sp>
      <p:sp>
        <p:nvSpPr>
          <p:cNvPr id="72" name="Text 70"/>
          <p:cNvSpPr txBox="1"/>
          <p:nvPr/>
        </p:nvSpPr>
        <p:spPr>
          <a:xfrm>
            <a:off x="8988552" y="2172614"/>
            <a:ext cx="749808" cy="41696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76.8%</a:t>
            </a:r>
            <a:endParaRPr lang="en-US" sz="1300" dirty="0"/>
          </a:p>
        </p:txBody>
      </p:sp>
      <p:sp>
        <p:nvSpPr>
          <p:cNvPr id="73" name="Text 71"/>
          <p:cNvSpPr txBox="1"/>
          <p:nvPr/>
        </p:nvSpPr>
        <p:spPr>
          <a:xfrm>
            <a:off x="9738360" y="2172614"/>
            <a:ext cx="841248" cy="416966"/>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5.2</a:t>
            </a:r>
            <a:endParaRPr lang="en-US" sz="1300" dirty="0"/>
          </a:p>
        </p:txBody>
      </p:sp>
      <p:sp>
        <p:nvSpPr>
          <p:cNvPr id="74" name="Text 72"/>
          <p:cNvSpPr txBox="1"/>
          <p:nvPr/>
        </p:nvSpPr>
        <p:spPr>
          <a:xfrm>
            <a:off x="10579608" y="2172614"/>
            <a:ext cx="841248" cy="416966"/>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4.9</a:t>
            </a:r>
            <a:endParaRPr lang="en-US" sz="1300" dirty="0"/>
          </a:p>
        </p:txBody>
      </p:sp>
      <p:sp>
        <p:nvSpPr>
          <p:cNvPr id="75" name="Text 73"/>
          <p:cNvSpPr txBox="1"/>
          <p:nvPr/>
        </p:nvSpPr>
        <p:spPr>
          <a:xfrm>
            <a:off x="6208776" y="2589581"/>
            <a:ext cx="1920240" cy="41696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76" name="Shape 74"/>
          <p:cNvSpPr/>
          <p:nvPr/>
        </p:nvSpPr>
        <p:spPr>
          <a:xfrm>
            <a:off x="8202168" y="2693822"/>
            <a:ext cx="481123" cy="208483"/>
          </a:xfrm>
          <a:prstGeom prst="rect">
            <a:avLst/>
          </a:prstGeom>
          <a:solidFill>
            <a:srgbClr val="C2352F"/>
          </a:solidFill>
          <a:ln/>
        </p:spPr>
      </p:sp>
      <p:sp>
        <p:nvSpPr>
          <p:cNvPr id="77" name="Text 75"/>
          <p:cNvSpPr txBox="1"/>
          <p:nvPr/>
        </p:nvSpPr>
        <p:spPr>
          <a:xfrm>
            <a:off x="8988552" y="2589581"/>
            <a:ext cx="749808" cy="41696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72.3%</a:t>
            </a:r>
            <a:endParaRPr lang="en-US" sz="1300" dirty="0"/>
          </a:p>
        </p:txBody>
      </p:sp>
      <p:sp>
        <p:nvSpPr>
          <p:cNvPr id="78" name="Text 76"/>
          <p:cNvSpPr txBox="1"/>
          <p:nvPr/>
        </p:nvSpPr>
        <p:spPr>
          <a:xfrm>
            <a:off x="9738360" y="2589581"/>
            <a:ext cx="841248" cy="416966"/>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3.8</a:t>
            </a:r>
            <a:endParaRPr lang="en-US" sz="1300" dirty="0"/>
          </a:p>
        </p:txBody>
      </p:sp>
      <p:sp>
        <p:nvSpPr>
          <p:cNvPr id="79" name="Text 77"/>
          <p:cNvSpPr txBox="1"/>
          <p:nvPr/>
        </p:nvSpPr>
        <p:spPr>
          <a:xfrm>
            <a:off x="10579608" y="2589581"/>
            <a:ext cx="841248" cy="416966"/>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3.0</a:t>
            </a:r>
            <a:endParaRPr lang="en-US" sz="1300" dirty="0"/>
          </a:p>
        </p:txBody>
      </p:sp>
      <p:sp>
        <p:nvSpPr>
          <p:cNvPr id="80" name="Shape 78"/>
          <p:cNvSpPr/>
          <p:nvPr/>
        </p:nvSpPr>
        <p:spPr>
          <a:xfrm>
            <a:off x="8863247" y="1755648"/>
            <a:ext cx="14630" cy="1250899"/>
          </a:xfrm>
          <a:prstGeom prst="rect">
            <a:avLst/>
          </a:prstGeom>
          <a:solidFill>
            <a:srgbClr val="0B2C4A"/>
          </a:solidFill>
          <a:ln/>
        </p:spPr>
      </p:sp>
      <p:sp>
        <p:nvSpPr>
          <p:cNvPr id="81" name="Shape 79"/>
          <p:cNvSpPr/>
          <p:nvPr/>
        </p:nvSpPr>
        <p:spPr>
          <a:xfrm>
            <a:off x="6035040" y="1371600"/>
            <a:ext cx="10973" cy="4553712"/>
          </a:xfrm>
          <a:prstGeom prst="rect">
            <a:avLst/>
          </a:prstGeom>
          <a:solidFill>
            <a:srgbClr val="D9D9D9"/>
          </a:solidFill>
          <a:ln/>
        </p:spPr>
      </p:sp>
      <p:sp>
        <p:nvSpPr>
          <p:cNvPr id="83" name="Shape 80"/>
          <p:cNvSpPr/>
          <p:nvPr/>
        </p:nvSpPr>
        <p:spPr>
          <a:xfrm>
            <a:off x="457200" y="6126480"/>
            <a:ext cx="11274552" cy="341376"/>
          </a:xfrm>
          <a:prstGeom prst="rect">
            <a:avLst/>
          </a:prstGeom>
          <a:solidFill>
            <a:srgbClr val="EDF4FA"/>
          </a:solidFill>
          <a:ln/>
        </p:spPr>
      </p:sp>
      <p:sp>
        <p:nvSpPr>
          <p:cNvPr id="84" name="Text 81"/>
          <p:cNvSpPr txBox="1"/>
          <p:nvPr/>
        </p:nvSpPr>
        <p:spPr>
          <a:xfrm>
            <a:off x="658368" y="6144768"/>
            <a:ext cx="10927080" cy="304800"/>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10 of the 13 stores under 85% also see fewer ROs per tech than their segment: check car count and staffing first.</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2026-10-28T15:29:20Z</dcterms:created>
  <dcterms:modified xsi:type="dcterms:W3CDTF">2026-10-28T15:29:20Z</dcterms:modified>
</cp:coreProperties>
</file>