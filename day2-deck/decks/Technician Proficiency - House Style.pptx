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
AUDI HENDERSON: 91.0% (33,481 sold / 36,766 worked, 23 techs: 6 above, 4 on, 13 under)
AUDI RENO: 117.1% (15,985 sold / 13,640 worked, 10 techs: 6 above, 0 on, 4 under)
CADILLAC: 87.7% (42,358 sold / 48,277 worked, 29 techs: 8 above, 5 on, 16 under)
CDJR POST FALLS: 71.2% (14,538 sold / 20,418 worked, 14 techs: 4 above, 1 on, 9 under)
CHEVY GMC BULLHEAD: 68.4% (19,904 sold / 29,093 worked, 20 techs: 2 above, 2 on, 16 under)
CHEVY LV: 103.4% (81,675 sold / 78,983 worked, 51 techs: 21 above, 14 on, 16 under)
GMC PRESCOTT: 73.6% (10,985 sold / 14,924 worked, 12 techs: 1 above, 4 on, 7 under)
HONDA FLAGSTAFF: 78.5% (7,653 sold / 9,743 worked, 6 techs: 2 above, 0 on, 4 under)
HONDA HENDERSON: 118.5% (61,099 sold / 51,555 worked, 28 techs: 16 above, 7 on, 5 under)
HONDA NORTH: 109.3% (39,419 sold / 36,062 worked, 22 techs: 10 above, 8 on, 4 under)
HONDA SPOKANE: 109.0% (17,638 sold / 16,169 worked, 15 techs: 10 above, 3 on, 2 under)
HYUNDAI PRESCOTT: 78.8% (9,116 sold / 11,564 worked, 9 techs: 1 above, 2 on, 6 under)
HYUNDAI ST GEORGE: 69.0% (9,329 sold / 13,515 worked, 11 techs: 3 above, 0 on, 8 under)
KIA LV: 76.8% (20,682 sold / 26,909 worked, 20 techs: 2 above, 2 on, 16 under)
KIA ST GEORGE: 67.5% (11,981 sold / 17,746 worked, 12 techs: 1 above, 2 on, 9 under)
LEXUS: 104.7% (16,940 sold / 16,175 worked, 11 techs: 4 above, 1 on, 6 under)
LINCOLN: 94.9% (15,983 sold / 16,836 worked, 11 techs: 4 above, 2 on, 5 under)
LR HENDERSON: 106.0% (11,497 sold / 10,838 worked, 7 techs: 3 above, 1 on, 3 under)
LR LV: 91.2% (20,301 sold / 22,258 worked, 16 techs: 5 above, 3 on, 8 under)
LR RENO: 81.4% (7,559 sold / 9,283 worked, 6 techs: 1 above, 3 on, 2 under)
MAZDA: 101.6% (14,560 sold / 14,322 worked, 11 techs: 5 above, 2 on, 4 under)
NISSAN: 91.1% (24,792 sold / 27,197 worked, 17 techs: 3 above, 6 on, 8 under)
SUBARU LV: 96.9% (41,501 sold / 42,797 worked, 27 techs: 9 above, 7 on, 11 under)
SUBARU PRESCOTT: 98.4% (17,475 sold / 17,747 worked, 12 techs: 6 above, 0 on, 6 under)
SUBARU ST GEORGE: 109.7% (20,954 sold / 19,086 worked, 12 techs: 9 above, 0 on, 3 under)
TOYOTA FLAGSTAFF: 102.4% (31,978 sold / 31,216 worked, 18 techs: 7 above, 5 on, 6 under)
TOYOTA HENDERSON: 104.3% (104,465 sold / 100,080 worked, 59 techs: 22 above, 17 on, 20 under)
TOYOTA PRESCOTT: 83.6% (29,341 sold / 35,081 worked, 22 techs: 6 above, 5 on, 11 under)
TOYOTA SPOKANE: 108.0% (35,947 sold / 33,274 worked, 28 techs: 15 above, 9 on, 4 under)
VOLVO: 72.3% (10,479 sold / 14,475 worked, 9 techs: 0 above, 1 on, 8 under)
VW HENDERSON: 92.2% (25,394 sold / 27,527 worked, 19 techs: 6 above, 7 on, 6 under)
VW ST GEORGE: 70.0% (5,375 sold / 7,674 worked, 5 techs: 0 above, 0 on, 5 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
AUDI HENDERSON: 91.0% (33,481 sold / 36,766 worked, 23 techs: 6 above, 4 on, 13 under)
AUDI RENO: 117.1% (15,985 sold / 13,640 worked, 10 techs: 6 above, 0 on, 4 under)
CADILLAC: 87.7% (42,358 sold / 48,277 worked, 29 techs: 8 above, 5 on, 16 under)
CDJR POST FALLS: 71.2% (14,538 sold / 20,418 worked, 14 techs: 4 above, 1 on, 9 under)
CHEVY GMC BULLHEAD: 68.4% (19,904 sold / 29,093 worked, 20 techs: 2 above, 2 on, 16 under)
CHEVY LV: 103.4% (81,675 sold / 78,983 worked, 51 techs: 21 above, 14 on, 16 under)
GMC PRESCOTT: 73.6% (10,985 sold / 14,924 worked, 12 techs: 1 above, 4 on, 7 under)
HONDA FLAGSTAFF: 78.5% (7,653 sold / 9,743 worked, 6 techs: 2 above, 0 on, 4 under)
HONDA HENDERSON: 118.5% (61,099 sold / 51,555 worked, 28 techs: 16 above, 7 on, 5 under)
HONDA NORTH: 109.3% (39,419 sold / 36,062 worked, 22 techs: 10 above, 8 on, 4 under)
HONDA SPOKANE: 109.0% (17,638 sold / 16,169 worked, 15 techs: 10 above, 3 on, 2 under)
HYUNDAI PRESCOTT: 78.8% (9,116 sold / 11,564 worked, 9 techs: 1 above, 2 on, 6 under)
HYUNDAI ST GEORGE: 69.0% (9,329 sold / 13,515 worked, 11 techs: 3 above, 0 on, 8 under)
KIA LV: 76.8% (20,682 sold / 26,909 worked, 20 techs: 2 above, 2 on, 16 under)
KIA ST GEORGE: 67.5% (11,981 sold / 17,746 worked, 12 techs: 1 above, 2 on, 9 under)
LEXUS: 104.7% (16,940 sold / 16,175 worked, 11 techs: 4 above, 1 on, 6 under)
LINCOLN: 94.9% (15,983 sold / 16,836 worked, 11 techs: 4 above, 2 on, 5 under)
LR HENDERSON: 106.0% (11,497 sold / 10,838 worked, 7 techs: 3 above, 1 on, 3 under)
LR LV: 91.2% (20,301 sold / 22,258 worked, 16 techs: 5 above, 3 on, 8 under)
LR RENO: 81.4% (7,559 sold / 9,283 worked, 6 techs: 1 above, 3 on, 2 under)
MAZDA: 101.6% (14,560 sold / 14,322 worked, 11 techs: 5 above, 2 on, 4 under)
NISSAN: 91.1% (24,792 sold / 27,197 worked, 17 techs: 3 above, 6 on, 8 under)
SUBARU LV: 96.9% (41,501 sold / 42,797 worked, 27 techs: 9 above, 7 on, 11 under)
SUBARU PRESCOTT: 98.4% (17,475 sold / 17,747 worked, 12 techs: 6 above, 0 on, 6 under)
SUBARU ST GEORGE: 109.7% (20,954 sold / 19,086 worked, 12 techs: 9 above, 0 on, 3 under)
TOYOTA FLAGSTAFF: 102.4% (31,978 sold / 31,216 worked, 18 techs: 7 above, 5 on, 6 under)
TOYOTA HENDERSON: 104.3% (104,465 sold / 100,080 worked, 59 techs: 22 above, 17 on, 20 under)
TOYOTA PRESCOTT: 83.6% (29,341 sold / 35,081 worked, 22 techs: 6 above, 5 on, 11 under)
TOYOTA SPOKANE: 108.0% (35,947 sold / 33,274 worked, 28 techs: 15 above, 9 on, 4 under)
VOLVO: 72.3% (10,479 sold / 14,475 worked, 9 techs: 0 above, 1 on, 8 under)
VW HENDERSON: 92.2% (25,394 sold / 27,527 worked, 19 techs: 6 above, 7 on, 6 under)
VW ST GEORGE: 70.0% (5,375 sold / 7,674 worked, 5 techs: 0 above, 0 on, 5 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worked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Technician Proficiency</a:t>
            </a:r>
            <a:endParaRPr lang="en-US" sz="62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proficiency   ·   Technician status   ·   The opportunity   ·   Work or workers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8996"/>
          </a:xfrm>
          <a:prstGeom prst="rect">
            <a:avLst/>
          </a:prstGeom>
          <a:solidFill>
            <a:srgbClr val="FBEBEA"/>
          </a:solidFill>
          <a:ln/>
        </p:spPr>
      </p:sp>
      <p:sp>
        <p:nvSpPr>
          <p:cNvPr id="212" name="Text 21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FBEBEA"/>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2" name="Shape 80"/>
          <p:cNvSpPr/>
          <p:nvPr/>
        </p:nvSpPr>
        <p:spPr>
          <a:xfrm>
            <a:off x="457200" y="6126480"/>
            <a:ext cx="11274552" cy="615696"/>
          </a:xfrm>
          <a:prstGeom prst="rect">
            <a:avLst/>
          </a:prstGeom>
          <a:solidFill>
            <a:srgbClr val="EDF4FA"/>
          </a:solidFill>
          <a:ln/>
        </p:spPr>
      </p:sp>
      <p:sp>
        <p:nvSpPr>
          <p:cNvPr id="83" name="Text 8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 At Honda Flagstaff, Kia LV, Volvo the work is there.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2026-10-25T23:10:59Z</dcterms:created>
  <dcterms:modified xsi:type="dcterms:W3CDTF">2026-10-25T23:10:59Z</dcterms:modified>
</cp:coreProperties>
</file>