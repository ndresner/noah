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
AUDI HENDERSON: 91.0% (33,481 sold / 36,766 worked, 23 techs: 6 above, 4 on, 13 under)
AUDI RENO: 117.1% (15,985 sold / 13,640 worked, 10 techs: 6 above, 0 on, 4 under)
CADILLAC: 87.7% (42,358 sold / 48,277 worked, 29 techs: 8 above, 5 on, 16 under)
CDJR POST FALLS: 71.2% (14,538 sold / 20,418 worked, 14 techs: 4 above, 1 on, 9 under)
CHEVY GMC BULLHEAD: 68.4% (19,904 sold / 29,093 worked, 20 techs: 2 above, 2 on, 16 under)
CHEVY LV: 103.4% (81,675 sold / 78,983 worked, 51 techs: 21 above, 14 on, 16 under)
GMC PRESCOTT: 73.6% (10,985 sold / 14,924 worked, 12 techs: 1 above, 4 on, 7 under)
HONDA FLAGSTAFF: 78.5% (7,653 sold / 9,743 worked, 6 techs: 2 above, 0 on, 4 under)
HONDA HENDERSON: 118.5% (61,099 sold / 51,555 worked, 28 techs: 16 above, 7 on, 5 under)
HONDA NORTH: 109.3% (39,419 sold / 36,062 worked, 22 techs: 10 above, 8 on, 4 under)
HONDA SPOKANE: 109.0% (17,638 sold / 16,169 worked, 15 techs: 10 above, 3 on, 2 under)
HYUNDAI PRESCOTT: 78.8% (9,116 sold / 11,564 worked, 9 techs: 1 above, 2 on, 6 under)
HYUNDAI ST GEORGE: 69.0% (9,329 sold / 13,515 worked, 11 techs: 3 above, 0 on, 8 under)
KIA LV: 76.8% (20,682 sold / 26,909 worked, 20 techs: 2 above, 2 on, 16 under)
KIA ST GEORGE: 67.5% (11,981 sold / 17,746 worked, 12 techs: 1 above, 2 on, 9 under)
LEXUS: 104.7% (16,940 sold / 16,175 worked, 11 techs: 4 above, 1 on, 6 under)
LINCOLN: 94.9% (15,983 sold / 16,836 worked, 11 techs: 4 above, 2 on, 5 under)
LR HENDERSON: 106.0% (11,497 sold / 10,838 worked, 7 techs: 3 above, 1 on, 3 under)
LR LV: 91.2% (20,301 sold / 22,258 worked, 16 techs: 5 above, 3 on, 8 under)
LR RENO: 81.4% (7,559 sold / 9,283 worked, 6 techs: 1 above, 3 on, 2 under)
MAZDA: 101.6% (14,560 sold / 14,322 worked, 11 techs: 5 above, 2 on, 4 under)
NISSAN: 91.1% (24,792 sold / 27,197 worked, 17 techs: 3 above, 6 on, 8 under)
SUBARU LV: 96.9% (41,501 sold / 42,797 worked, 27 techs: 9 above, 7 on, 11 under)
SUBARU PRESCOTT: 98.4% (17,475 sold / 17,747 worked, 12 techs: 6 above, 0 on, 6 under)
SUBARU ST GEORGE: 109.7% (20,954 sold / 19,086 worked, 12 techs: 9 above, 0 on, 3 under)
TOYOTA FLAGSTAFF: 102.4% (31,978 sold / 31,216 worked, 18 techs: 7 above, 5 on, 6 under)
TOYOTA HENDERSON: 104.3% (104,465 sold / 100,080 worked, 59 techs: 22 above, 17 on, 20 under)
TOYOTA PRESCOTT: 83.6% (29,341 sold / 35,081 worked, 22 techs: 6 above, 5 on, 11 under)
TOYOTA SPOKANE: 108.0% (35,947 sold / 33,274 worked, 28 techs: 15 above, 9 on, 4 under)
VOLVO: 72.3% (10,479 sold / 14,475 worked, 9 techs: 0 above, 1 on, 8 under)
VW HENDERSON: 92.2% (25,394 sold / 27,527 worked, 19 techs: 6 above, 7 on, 6 under)
VW ST GEORGE: 70.0% (5,375 sold / 7,674 worked, 5 techs: 0 above, 0 on, 5 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Six stores hold $647K a month, led by Cadillac at $158K. 20 stores at or above 85% still leave $818K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Group-wide the gap is 8.1% of RO gross. 7 stores show 20%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10 of the 13 stores under 85% also see fewer ROs per tech than their segment: check car count and staffing first. At Honda Flagstaff, Kia LV, Volvo the work is there.Source: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Stores under 85% only. ROs/day = distinct ROs, all pay types, per counted tech per 8 worked hours. Seg avg = luxury 3.0, non-luxury 4.9 (luxury = Lexus, Lincoln, Cadillac, Volvo, Audi Reno, Audi Henderson, LR Reno, LR LV, LR Henderson). Fewer ROs per tech can mean too few cars for the staff or slow techs turning work away; it starts the conversation rather than settling it.ACURA: 67.4%; 11 of 11 under 85%; gap 2,954 hrs; labor $50K/mo + parts $26K/mo; tech pay $14K/mo; 25.4% of $299K/mo RO gross; top quarter 74% (3 techs); 3.46 ROs/tech day; 1.75 hrs/RO
AUDI HENDERSON: 91.0%; 13 of 23 under 85%; gap 3,426 hrs; labor $81K/mo + parts $20K/mo; tech pay $14K/mo; 8.3% of $1.23M/mo RO gross; top quarter 135% (6 techs); 2.77 ROs/tech day; 3.23 hrs/RO
AUDI RENO: 117.1%; 4 of 10 under 85%; gap 826 hrs; labor $14K/mo + parts $6K/mo; tech pay $4K/mo; 4.0% of $504K/mo RO gross; top quarter 194% (2 techs); 4.08 ROs/tech day; 2.88 hrs/RO
CADILLAC: 87.7%; 16 of 29 under 85%; gap 6,705 hrs; labor $108K/mo + parts $49K/mo; tech pay $24K/mo; 13.6% of $1.16M/mo RO gross; top quarter 143% (7 techs); 2.48 ROs/tech day; 3.41 hrs/RO
CDJR POST FALLS: 71.2%; 9 of 14 under 85%; gap 5,005 hrs; labor $68K/mo + parts $32K/mo; tech pay $18K/mo; 24.6% of $408K/mo RO gross; top quarter 129% (4 techs); 3.77 ROs/tech day; 2.25 hrs/RO
CHEVY GMC BULLHEAD: 68.4%; 16 of 20 under 85%; gap 5,809 hrs; labor $73K/mo + parts $39K/mo; tech pay $20K/mo; 23.2% of $483K/mo RO gross; top quarter 96% (5 techs); 3.06 ROs/tech day; 2.19 hrs/RO
CHEVY LV: 103.4%; 16 of 51 under 85%; gap 5,102 hrs; labor $62K/mo + parts $25K/mo; tech pay $17K/mo; 5.2% of $1.69M/mo RO gross; top quarter 164% (13 techs); 3.95 ROs/tech day; 2.69 hrs/RO
GMC PRESCOTT: 73.6%; 7 of 12 under 85%; gap 2,741 hrs; labor $31K/mo + parts $17K/mo; tech pay $12K/mo; 14.4% of $333K/mo RO gross; top quarter 104% (3 techs); 3.59 ROs/tech day; 4.21 hrs/RO
HONDA FLAGSTAFF: 78.5%; 4 of 6 under 85%; gap 2,217 hrs; labor $28K/mo + parts $12K/mo; tech pay $8K/mo; 19.6% of $202K/mo RO gross; top quarter 131% (2 techs); 5.23 ROs/tech day; 1.85 hrs/RO
HONDA HENDERSON: 118.5%; 5 of 28 under 85%; gap 669 hrs; labor $9K/mo + parts $4K/mo; tech pay $2K/mo; 0.8% of $1.54M/mo RO gross; top quarter 172% (7 techs); 6.04 ROs/tech day; 2.11 hrs/RO
HONDA NORTH: 109.3%; 4 of 22 under 85%; gap 764 hrs; labor $9K/mo + parts $4K/mo; tech pay $2K/mo; 1.4% of $949K/mo RO gross; top quarter 152% (6 techs); 6.08 ROs/tech day; 2.29 hrs/RO
HONDA SPOKANE: 109.0%; 2 of 15 under 85%; gap 57 hrs; labor $1K/mo + parts $0K/mo; tech pay $0K/mo; 0.2% of $453K/mo RO gross; top quarter 130% (4 techs); 6.24 ROs/tech day; 2.14 hrs/RO
HYUNDAI PRESCOTT: 78.8%; 6 of 9 under 85%; gap 1,873 hrs; labor $23K/mo + parts $11K/mo; tech pay $8K/mo; 18.5% of $185K/mo RO gross; top quarter 113% (2 techs); 3.75 ROs/tech day; 1.78 hrs/RO
HYUNDAI ST GEORGE: 69.0%; 8 of 11 under 85%; gap 3,952 hrs; labor $58K/mo + parts $30K/mo; tech pay $13K/mo; 31.9% of $277K/mo RO gross; top quarter 122% (3 techs); 4.23 ROs/tech day; 1.45 hrs/RO
KIA LV: 76.8%; 16 of 20 under 85%; gap 3,389 hrs; labor $51K/mo + parts $23K/mo; tech pay $12K/mo; 11.6% of $643K/mo RO gross; top quarter 101% (5 techs); 5.22 ROs/tech day; 1.70 hrs/RO
KIA ST GEORGE: 67.5%; 9 of 12 under 85%; gap 3,713 hrs; labor $48K/mo + parts $29K/mo; tech pay $11K/mo; 29.7% of $258K/mo RO gross; top quarter 98% (3 techs); 4.25 ROs/tech day; 1.31 hrs/RO
LEXUS: 104.7%; 6 of 11 under 85%; gap 1,451 hrs; labor $24K/mo + parts $7K/mo; tech pay $5K/mo; 7.9% of $400K/mo RO gross; top quarter 178% (3 techs); 4.01 ROs/tech day; 2.44 hrs/RO
LINCOLN: 94.9%; 5 of 11 under 85%; gap 1,236 hrs; labor $17K/mo + parts $7K/mo; tech pay $4K/mo; 7.6% of $312K/mo RO gross; top quarter 125% (3 techs); 3.24 ROs/tech day; 2.35 hrs/RO
LR HENDERSON: 106.0%; 3 of 7 under 85%; gap 567 hrs; labor $9K/mo + parts $5K/mo; tech pay $2K/mo; 4.2% of $357K/mo RO gross; top quarter 145% (2 techs); 2.94 ROs/tech day; 3.68 hrs/RO
LR LV: 91.2%; 8 of 16 under 85%; gap 2,154 hrs; labor $42K/mo + parts $21K/mo; tech pay $9K/mo; 9.0% of $702K/mo RO gross; top quarter 131% (4 techs); 2.41 ROs/tech day; 3.54 hrs/RO
LR RENO: 81.4%; 2 of 6 under 85%; gap 724 hrs; labor $14K/mo + parts $7K/mo; tech pay $3K/mo; 8.0% of $257K/mo RO gross; top quarter 96% (2 techs); 2.36 ROs/tech day; 3.20 hrs/RO
MAZDA: 101.6%; 4 of 11 under 85%; gap 415 hrs; labor $6K/mo + parts $3K/mo; tech pay $1K/mo; 2.7% of $322K/mo RO gross; top quarter 123% (3 techs); 5.78 ROs/tech day; 1.54 hrs/RO
NISSAN: 91.1%; 8 of 17 under 85%; gap 2,291 hrs; labor $30K/mo + parts $13K/mo; tech pay $9K/mo; 8.0% of $532K/mo RO gross; top quarter 132% (4 techs); 4.08 ROs/tech day; 2.29 hrs/RO
SUBARU LV: 96.9%; 11 of 27 under 85%; gap 2,050 hrs; labor $29K/mo + parts $15K/mo; tech pay $5K/mo; 4.1% of $1.07M/mo RO gross; top quarter 132% (7 techs); 4.64 ROs/tech day; 2.07 hrs/RO
SUBARU PRESCOTT: 98.4%; 6 of 12 under 85%; gap 3,523 hrs; labor $37K/mo + parts $21K/mo; tech pay $13K/mo; 20.0% of $288K/mo RO gross; top quarter 179% (3 techs); 4.73 ROs/tech day; 1.68 hrs/RO
SUBARU ST GEORGE: 109.7%; 3 of 12 under 85%; gap 1,248 hrs; labor $14K/mo + parts $8K/mo; tech pay $5K/mo; 5.8% of $382K/mo RO gross; top quarter 146% (3 techs); 4.11 ROs/tech day; 2.20 hrs/RO
TOYOTA FLAGSTAFF: 102.4%; 6 of 18 under 85%; gap 662 hrs; labor $8K/mo + parts $3K/mo; tech pay $2K/mo; 1.9% of $542K/mo RO gross; top quarter 151% (4 techs); 4.96 ROs/tech day; 1.84 hrs/RO
TOYOTA HENDERSON: 104.3%; 20 of 59 under 85%; gap 4,057 hrs; labor $51K/mo + parts $19K/mo; tech pay $14K/mo; 2.9% of $2.44M/mo RO gross; top quarter 153% (15 techs); 6.41 ROs/tech day; 1.88 hrs/RO
TOYOTA PRESCOTT: 83.6%; 11 of 22 under 85%; gap 4,174 hrs; labor $57K/mo + parts $20K/mo; tech pay $16K/mo; 13.5% of $573K/mo RO gross; top quarter 118% (6 techs); 4.22 ROs/tech day; 1.72 hrs/RO
TOYOTA SPOKANE: 108.0%; 4 of 28 under 85%; gap 745 hrs; labor $8K/mo + parts $4K/mo; tech pay $3K/mo; 1.9% of $609K/mo RO gross; top quarter 134% (7 techs); 5.36 ROs/tech day; 1.81 hrs/RO
VOLVO: 72.3%; 8 of 9 under 85%; gap 1,963 hrs; labor $40K/mo + parts $22K/mo; tech pay $5K/mo; 14.8% of $417K/mo RO gross; top quarter 89% (2 techs); 3.81 ROs/tech day; 1.92 hrs/RO
VW HENDERSON: 92.2%; 6 of 19 under 85%; gap 1,416 hrs; labor $19K/mo + parts $5K/mo; tech pay $4K/mo; 4.8% of $516K/mo RO gross; top quarter 115% (5 techs); 3.77 ROs/tech day; 2.28 hrs/RO
VW ST GEORGE: 70.0%; 5 of 5 under 85%; gap 1,149 hrs; labor $13K/mo + parts $7K/mo; tech pay $3K/mo; 19.0% of $109K/mo RO gross; top quarter 76% (1 techs); 3.81 ROs/tech day; 1.65 hrs/RO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Technician Proficiency</a:t>
            </a:r>
            <a:endParaRPr lang="en-US" sz="62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proficiency   ·   Technician status   ·   The opportunity   ·   Work or workers</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20 stores at or above 85% still leave $818K a month.</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7 stores show 20% or more.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Is It the Work or the Workers?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FEWER ROS · 10 STORES</a:t>
            </a:r>
            <a:endParaRPr lang="en-US" sz="1400" dirty="0"/>
          </a:p>
        </p:txBody>
      </p:sp>
      <p:sp>
        <p:nvSpPr>
          <p:cNvPr id="7" name="Text 5"/>
          <p:cNvSpPr txBox="1"/>
          <p:nvPr/>
        </p:nvSpPr>
        <p:spPr>
          <a:xfrm>
            <a:off x="3438144"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8" name="Text 6"/>
          <p:cNvSpPr txBox="1"/>
          <p:nvPr/>
        </p:nvSpPr>
        <p:spPr>
          <a:xfrm>
            <a:off x="4187952"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9" name="Text 7"/>
          <p:cNvSpPr txBox="1"/>
          <p:nvPr/>
        </p:nvSpPr>
        <p:spPr>
          <a:xfrm>
            <a:off x="502920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0" name="Text 8"/>
          <p:cNvSpPr txBox="1"/>
          <p:nvPr/>
        </p:nvSpPr>
        <p:spPr>
          <a:xfrm>
            <a:off x="658368"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 name="Shape 9"/>
          <p:cNvSpPr/>
          <p:nvPr/>
        </p:nvSpPr>
        <p:spPr>
          <a:xfrm>
            <a:off x="2651760" y="1859890"/>
            <a:ext cx="648144" cy="208483"/>
          </a:xfrm>
          <a:prstGeom prst="rect">
            <a:avLst/>
          </a:prstGeom>
          <a:solidFill>
            <a:srgbClr val="C2352F"/>
          </a:solidFill>
          <a:ln/>
        </p:spPr>
      </p:sp>
      <p:sp>
        <p:nvSpPr>
          <p:cNvPr id="12" name="Text 10"/>
          <p:cNvSpPr txBox="1"/>
          <p:nvPr/>
        </p:nvSpPr>
        <p:spPr>
          <a:xfrm>
            <a:off x="3438144"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83.6%</a:t>
            </a:r>
            <a:endParaRPr lang="en-US" sz="1300" dirty="0"/>
          </a:p>
        </p:txBody>
      </p:sp>
      <p:sp>
        <p:nvSpPr>
          <p:cNvPr id="13" name="Text 11"/>
          <p:cNvSpPr txBox="1"/>
          <p:nvPr/>
        </p:nvSpPr>
        <p:spPr>
          <a:xfrm>
            <a:off x="4187952"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 name="Text 12"/>
          <p:cNvSpPr txBox="1"/>
          <p:nvPr/>
        </p:nvSpPr>
        <p:spPr>
          <a:xfrm>
            <a:off x="502920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 name="Text 13"/>
          <p:cNvSpPr txBox="1"/>
          <p:nvPr/>
        </p:nvSpPr>
        <p:spPr>
          <a:xfrm>
            <a:off x="658368"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6" name="Shape 14"/>
          <p:cNvSpPr/>
          <p:nvPr/>
        </p:nvSpPr>
        <p:spPr>
          <a:xfrm>
            <a:off x="2651760" y="2276856"/>
            <a:ext cx="615319" cy="208483"/>
          </a:xfrm>
          <a:prstGeom prst="rect">
            <a:avLst/>
          </a:prstGeom>
          <a:solidFill>
            <a:srgbClr val="C2352F"/>
          </a:solidFill>
          <a:ln/>
        </p:spPr>
      </p:sp>
      <p:sp>
        <p:nvSpPr>
          <p:cNvPr id="17" name="Text 15"/>
          <p:cNvSpPr txBox="1"/>
          <p:nvPr/>
        </p:nvSpPr>
        <p:spPr>
          <a:xfrm>
            <a:off x="3438144"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81.4%</a:t>
            </a:r>
            <a:endParaRPr lang="en-US" sz="1300" dirty="0"/>
          </a:p>
        </p:txBody>
      </p:sp>
      <p:sp>
        <p:nvSpPr>
          <p:cNvPr id="18" name="Text 16"/>
          <p:cNvSpPr txBox="1"/>
          <p:nvPr/>
        </p:nvSpPr>
        <p:spPr>
          <a:xfrm>
            <a:off x="4187952"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 name="Text 17"/>
          <p:cNvSpPr txBox="1"/>
          <p:nvPr/>
        </p:nvSpPr>
        <p:spPr>
          <a:xfrm>
            <a:off x="502920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20" name="Text 18"/>
          <p:cNvSpPr txBox="1"/>
          <p:nvPr/>
        </p:nvSpPr>
        <p:spPr>
          <a:xfrm>
            <a:off x="658368"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1" name="Shape 19"/>
          <p:cNvSpPr/>
          <p:nvPr/>
        </p:nvSpPr>
        <p:spPr>
          <a:xfrm>
            <a:off x="2651760" y="2693822"/>
            <a:ext cx="576700" cy="208483"/>
          </a:xfrm>
          <a:prstGeom prst="rect">
            <a:avLst/>
          </a:prstGeom>
          <a:solidFill>
            <a:srgbClr val="C2352F"/>
          </a:solidFill>
          <a:ln/>
        </p:spPr>
      </p:sp>
      <p:sp>
        <p:nvSpPr>
          <p:cNvPr id="22" name="Text 20"/>
          <p:cNvSpPr txBox="1"/>
          <p:nvPr/>
        </p:nvSpPr>
        <p:spPr>
          <a:xfrm>
            <a:off x="3438144"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78.8%</a:t>
            </a:r>
            <a:endParaRPr lang="en-US" sz="1300" dirty="0"/>
          </a:p>
        </p:txBody>
      </p:sp>
      <p:sp>
        <p:nvSpPr>
          <p:cNvPr id="23" name="Text 21"/>
          <p:cNvSpPr txBox="1"/>
          <p:nvPr/>
        </p:nvSpPr>
        <p:spPr>
          <a:xfrm>
            <a:off x="4187952"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24" name="Text 22"/>
          <p:cNvSpPr txBox="1"/>
          <p:nvPr/>
        </p:nvSpPr>
        <p:spPr>
          <a:xfrm>
            <a:off x="502920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25" name="Text 23"/>
          <p:cNvSpPr txBox="1"/>
          <p:nvPr/>
        </p:nvSpPr>
        <p:spPr>
          <a:xfrm>
            <a:off x="658368" y="3006547"/>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6" name="Shape 24"/>
          <p:cNvSpPr/>
          <p:nvPr/>
        </p:nvSpPr>
        <p:spPr>
          <a:xfrm>
            <a:off x="2651760" y="3110789"/>
            <a:ext cx="499175" cy="208483"/>
          </a:xfrm>
          <a:prstGeom prst="rect">
            <a:avLst/>
          </a:prstGeom>
          <a:solidFill>
            <a:srgbClr val="C2352F"/>
          </a:solidFill>
          <a:ln/>
        </p:spPr>
      </p:sp>
      <p:sp>
        <p:nvSpPr>
          <p:cNvPr id="27" name="Text 25"/>
          <p:cNvSpPr txBox="1"/>
          <p:nvPr/>
        </p:nvSpPr>
        <p:spPr>
          <a:xfrm>
            <a:off x="3438144" y="3006547"/>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73.6%</a:t>
            </a:r>
            <a:endParaRPr lang="en-US" sz="1300" dirty="0"/>
          </a:p>
        </p:txBody>
      </p:sp>
      <p:sp>
        <p:nvSpPr>
          <p:cNvPr id="28" name="Text 26"/>
          <p:cNvSpPr txBox="1"/>
          <p:nvPr/>
        </p:nvSpPr>
        <p:spPr>
          <a:xfrm>
            <a:off x="4187952"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9" name="Text 27"/>
          <p:cNvSpPr txBox="1"/>
          <p:nvPr/>
        </p:nvSpPr>
        <p:spPr>
          <a:xfrm>
            <a:off x="5029200" y="3006547"/>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0" name="Text 28"/>
          <p:cNvSpPr txBox="1"/>
          <p:nvPr/>
        </p:nvSpPr>
        <p:spPr>
          <a:xfrm>
            <a:off x="658368" y="34235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31" name="Shape 29"/>
          <p:cNvSpPr/>
          <p:nvPr/>
        </p:nvSpPr>
        <p:spPr>
          <a:xfrm>
            <a:off x="2651760" y="3527755"/>
            <a:ext cx="463439" cy="208483"/>
          </a:xfrm>
          <a:prstGeom prst="rect">
            <a:avLst/>
          </a:prstGeom>
          <a:solidFill>
            <a:srgbClr val="C2352F"/>
          </a:solidFill>
          <a:ln/>
        </p:spPr>
      </p:sp>
      <p:sp>
        <p:nvSpPr>
          <p:cNvPr id="32" name="Text 30"/>
          <p:cNvSpPr txBox="1"/>
          <p:nvPr/>
        </p:nvSpPr>
        <p:spPr>
          <a:xfrm>
            <a:off x="3438144" y="34235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71.2%</a:t>
            </a:r>
            <a:endParaRPr lang="en-US" sz="1300" dirty="0"/>
          </a:p>
        </p:txBody>
      </p:sp>
      <p:sp>
        <p:nvSpPr>
          <p:cNvPr id="33" name="Text 31"/>
          <p:cNvSpPr txBox="1"/>
          <p:nvPr/>
        </p:nvSpPr>
        <p:spPr>
          <a:xfrm>
            <a:off x="4187952"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4" name="Text 32"/>
          <p:cNvSpPr txBox="1"/>
          <p:nvPr/>
        </p:nvSpPr>
        <p:spPr>
          <a:xfrm>
            <a:off x="5029200" y="34235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35" name="Text 33"/>
          <p:cNvSpPr txBox="1"/>
          <p:nvPr/>
        </p:nvSpPr>
        <p:spPr>
          <a:xfrm>
            <a:off x="658368" y="3840480"/>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6" name="Shape 34"/>
          <p:cNvSpPr/>
          <p:nvPr/>
        </p:nvSpPr>
        <p:spPr>
          <a:xfrm>
            <a:off x="2651760" y="3944722"/>
            <a:ext cx="446067" cy="208483"/>
          </a:xfrm>
          <a:prstGeom prst="rect">
            <a:avLst/>
          </a:prstGeom>
          <a:solidFill>
            <a:srgbClr val="C2352F"/>
          </a:solidFill>
          <a:ln/>
        </p:spPr>
      </p:sp>
      <p:sp>
        <p:nvSpPr>
          <p:cNvPr id="37" name="Text 35"/>
          <p:cNvSpPr txBox="1"/>
          <p:nvPr/>
        </p:nvSpPr>
        <p:spPr>
          <a:xfrm>
            <a:off x="3438144" y="3840480"/>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70.0%</a:t>
            </a:r>
            <a:endParaRPr lang="en-US" sz="1300" dirty="0"/>
          </a:p>
        </p:txBody>
      </p:sp>
      <p:sp>
        <p:nvSpPr>
          <p:cNvPr id="38" name="Text 36"/>
          <p:cNvSpPr txBox="1"/>
          <p:nvPr/>
        </p:nvSpPr>
        <p:spPr>
          <a:xfrm>
            <a:off x="4187952"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39" name="Text 37"/>
          <p:cNvSpPr txBox="1"/>
          <p:nvPr/>
        </p:nvSpPr>
        <p:spPr>
          <a:xfrm>
            <a:off x="5029200" y="3840480"/>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0" name="Text 38"/>
          <p:cNvSpPr txBox="1"/>
          <p:nvPr/>
        </p:nvSpPr>
        <p:spPr>
          <a:xfrm>
            <a:off x="658368" y="42574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1" name="Shape 39"/>
          <p:cNvSpPr/>
          <p:nvPr/>
        </p:nvSpPr>
        <p:spPr>
          <a:xfrm>
            <a:off x="2651760" y="4361688"/>
            <a:ext cx="431099" cy="208483"/>
          </a:xfrm>
          <a:prstGeom prst="rect">
            <a:avLst/>
          </a:prstGeom>
          <a:solidFill>
            <a:srgbClr val="C2352F"/>
          </a:solidFill>
          <a:ln/>
        </p:spPr>
      </p:sp>
      <p:sp>
        <p:nvSpPr>
          <p:cNvPr id="42" name="Text 40"/>
          <p:cNvSpPr txBox="1"/>
          <p:nvPr/>
        </p:nvSpPr>
        <p:spPr>
          <a:xfrm>
            <a:off x="3438144" y="42574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69.0%</a:t>
            </a:r>
            <a:endParaRPr lang="en-US" sz="1300" dirty="0"/>
          </a:p>
        </p:txBody>
      </p:sp>
      <p:sp>
        <p:nvSpPr>
          <p:cNvPr id="43" name="Text 41"/>
          <p:cNvSpPr txBox="1"/>
          <p:nvPr/>
        </p:nvSpPr>
        <p:spPr>
          <a:xfrm>
            <a:off x="4187952"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44" name="Text 42"/>
          <p:cNvSpPr txBox="1"/>
          <p:nvPr/>
        </p:nvSpPr>
        <p:spPr>
          <a:xfrm>
            <a:off x="5029200" y="42574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45" name="Text 43"/>
          <p:cNvSpPr txBox="1"/>
          <p:nvPr/>
        </p:nvSpPr>
        <p:spPr>
          <a:xfrm>
            <a:off x="658368" y="4674413"/>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46" name="Shape 44"/>
          <p:cNvSpPr/>
          <p:nvPr/>
        </p:nvSpPr>
        <p:spPr>
          <a:xfrm>
            <a:off x="2651760" y="4778654"/>
            <a:ext cx="422076" cy="208483"/>
          </a:xfrm>
          <a:prstGeom prst="rect">
            <a:avLst/>
          </a:prstGeom>
          <a:solidFill>
            <a:srgbClr val="C2352F"/>
          </a:solidFill>
          <a:ln/>
        </p:spPr>
      </p:sp>
      <p:sp>
        <p:nvSpPr>
          <p:cNvPr id="47" name="Text 45"/>
          <p:cNvSpPr txBox="1"/>
          <p:nvPr/>
        </p:nvSpPr>
        <p:spPr>
          <a:xfrm>
            <a:off x="3438144" y="4674413"/>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68.4%</a:t>
            </a:r>
            <a:endParaRPr lang="en-US" sz="1300" dirty="0"/>
          </a:p>
        </p:txBody>
      </p:sp>
      <p:sp>
        <p:nvSpPr>
          <p:cNvPr id="48" name="Text 46"/>
          <p:cNvSpPr txBox="1"/>
          <p:nvPr/>
        </p:nvSpPr>
        <p:spPr>
          <a:xfrm>
            <a:off x="4187952"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49" name="Text 47"/>
          <p:cNvSpPr txBox="1"/>
          <p:nvPr/>
        </p:nvSpPr>
        <p:spPr>
          <a:xfrm>
            <a:off x="5029200" y="4674413"/>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0" name="Text 48"/>
          <p:cNvSpPr txBox="1"/>
          <p:nvPr/>
        </p:nvSpPr>
        <p:spPr>
          <a:xfrm>
            <a:off x="658368" y="5091379"/>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51" name="Shape 49"/>
          <p:cNvSpPr/>
          <p:nvPr/>
        </p:nvSpPr>
        <p:spPr>
          <a:xfrm>
            <a:off x="2651760" y="5195621"/>
            <a:ext cx="408666" cy="208483"/>
          </a:xfrm>
          <a:prstGeom prst="rect">
            <a:avLst/>
          </a:prstGeom>
          <a:solidFill>
            <a:srgbClr val="C2352F"/>
          </a:solidFill>
          <a:ln/>
        </p:spPr>
      </p:sp>
      <p:sp>
        <p:nvSpPr>
          <p:cNvPr id="52" name="Text 50"/>
          <p:cNvSpPr txBox="1"/>
          <p:nvPr/>
        </p:nvSpPr>
        <p:spPr>
          <a:xfrm>
            <a:off x="3438144" y="5091379"/>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53" name="Text 51"/>
          <p:cNvSpPr txBox="1"/>
          <p:nvPr/>
        </p:nvSpPr>
        <p:spPr>
          <a:xfrm>
            <a:off x="4187952"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4" name="Text 52"/>
          <p:cNvSpPr txBox="1"/>
          <p:nvPr/>
        </p:nvSpPr>
        <p:spPr>
          <a:xfrm>
            <a:off x="5029200" y="5091379"/>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55" name="Text 53"/>
          <p:cNvSpPr txBox="1"/>
          <p:nvPr/>
        </p:nvSpPr>
        <p:spPr>
          <a:xfrm>
            <a:off x="658368" y="5508346"/>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6" name="Shape 54"/>
          <p:cNvSpPr/>
          <p:nvPr/>
        </p:nvSpPr>
        <p:spPr>
          <a:xfrm>
            <a:off x="2651760" y="5612587"/>
            <a:ext cx="407442" cy="208483"/>
          </a:xfrm>
          <a:prstGeom prst="rect">
            <a:avLst/>
          </a:prstGeom>
          <a:solidFill>
            <a:srgbClr val="C2352F"/>
          </a:solidFill>
          <a:ln/>
        </p:spPr>
      </p:sp>
      <p:sp>
        <p:nvSpPr>
          <p:cNvPr id="57" name="Text 55"/>
          <p:cNvSpPr txBox="1"/>
          <p:nvPr/>
        </p:nvSpPr>
        <p:spPr>
          <a:xfrm>
            <a:off x="3438144" y="5508346"/>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67.4%</a:t>
            </a:r>
            <a:endParaRPr lang="en-US" sz="1300" dirty="0"/>
          </a:p>
        </p:txBody>
      </p:sp>
      <p:sp>
        <p:nvSpPr>
          <p:cNvPr id="58" name="Text 56"/>
          <p:cNvSpPr txBox="1"/>
          <p:nvPr/>
        </p:nvSpPr>
        <p:spPr>
          <a:xfrm>
            <a:off x="4187952"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59" name="Text 57"/>
          <p:cNvSpPr txBox="1"/>
          <p:nvPr/>
        </p:nvSpPr>
        <p:spPr>
          <a:xfrm>
            <a:off x="5029200" y="5508346"/>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0" name="Shape 58"/>
          <p:cNvSpPr/>
          <p:nvPr/>
        </p:nvSpPr>
        <p:spPr>
          <a:xfrm>
            <a:off x="3312839" y="1755648"/>
            <a:ext cx="14630" cy="4169664"/>
          </a:xfrm>
          <a:prstGeom prst="rect">
            <a:avLst/>
          </a:prstGeom>
          <a:solidFill>
            <a:srgbClr val="0B2C4A"/>
          </a:solidFill>
          <a:ln/>
        </p:spPr>
      </p:sp>
      <p:sp>
        <p:nvSpPr>
          <p:cNvPr id="61" name="Text 59"/>
          <p:cNvSpPr txBox="1"/>
          <p:nvPr/>
        </p:nvSpPr>
        <p:spPr>
          <a:xfrm>
            <a:off x="6208776" y="1316736"/>
            <a:ext cx="2651760"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ENOUGH ROS · 3 STORES</a:t>
            </a:r>
            <a:endParaRPr lang="en-US" sz="1400" dirty="0"/>
          </a:p>
        </p:txBody>
      </p:sp>
      <p:sp>
        <p:nvSpPr>
          <p:cNvPr id="62" name="Text 60"/>
          <p:cNvSpPr txBox="1"/>
          <p:nvPr/>
        </p:nvSpPr>
        <p:spPr>
          <a:xfrm>
            <a:off x="8988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Prof.</a:t>
            </a:r>
            <a:endParaRPr lang="en-US" sz="1400" dirty="0"/>
          </a:p>
        </p:txBody>
      </p:sp>
      <p:sp>
        <p:nvSpPr>
          <p:cNvPr id="63" name="Text 61"/>
          <p:cNvSpPr txBox="1"/>
          <p:nvPr/>
        </p:nvSpPr>
        <p:spPr>
          <a:xfrm>
            <a:off x="9738360"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64" name="Text 62"/>
          <p:cNvSpPr txBox="1"/>
          <p:nvPr/>
        </p:nvSpPr>
        <p:spPr>
          <a:xfrm>
            <a:off x="10579608" y="1316736"/>
            <a:ext cx="84124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65" name="Text 63"/>
          <p:cNvSpPr txBox="1"/>
          <p:nvPr/>
        </p:nvSpPr>
        <p:spPr>
          <a:xfrm>
            <a:off x="6208776" y="1755648"/>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66" name="Shape 64"/>
          <p:cNvSpPr/>
          <p:nvPr/>
        </p:nvSpPr>
        <p:spPr>
          <a:xfrm>
            <a:off x="8202168" y="1859890"/>
            <a:ext cx="572597" cy="208483"/>
          </a:xfrm>
          <a:prstGeom prst="rect">
            <a:avLst/>
          </a:prstGeom>
          <a:solidFill>
            <a:srgbClr val="C2352F"/>
          </a:solidFill>
          <a:ln/>
        </p:spPr>
      </p:sp>
      <p:sp>
        <p:nvSpPr>
          <p:cNvPr id="67" name="Text 65"/>
          <p:cNvSpPr txBox="1"/>
          <p:nvPr/>
        </p:nvSpPr>
        <p:spPr>
          <a:xfrm>
            <a:off x="8988552" y="1755648"/>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78.5%</a:t>
            </a:r>
            <a:endParaRPr lang="en-US" sz="1300" dirty="0"/>
          </a:p>
        </p:txBody>
      </p:sp>
      <p:sp>
        <p:nvSpPr>
          <p:cNvPr id="68" name="Text 66"/>
          <p:cNvSpPr txBox="1"/>
          <p:nvPr/>
        </p:nvSpPr>
        <p:spPr>
          <a:xfrm>
            <a:off x="9738360"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69" name="Text 67"/>
          <p:cNvSpPr txBox="1"/>
          <p:nvPr/>
        </p:nvSpPr>
        <p:spPr>
          <a:xfrm>
            <a:off x="10579608" y="1755648"/>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Text 68"/>
          <p:cNvSpPr txBox="1"/>
          <p:nvPr/>
        </p:nvSpPr>
        <p:spPr>
          <a:xfrm>
            <a:off x="6208776" y="2172614"/>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71" name="Shape 69"/>
          <p:cNvSpPr/>
          <p:nvPr/>
        </p:nvSpPr>
        <p:spPr>
          <a:xfrm>
            <a:off x="8202168" y="2276856"/>
            <a:ext cx="547492" cy="208483"/>
          </a:xfrm>
          <a:prstGeom prst="rect">
            <a:avLst/>
          </a:prstGeom>
          <a:solidFill>
            <a:srgbClr val="C2352F"/>
          </a:solidFill>
          <a:ln/>
        </p:spPr>
      </p:sp>
      <p:sp>
        <p:nvSpPr>
          <p:cNvPr id="72" name="Text 70"/>
          <p:cNvSpPr txBox="1"/>
          <p:nvPr/>
        </p:nvSpPr>
        <p:spPr>
          <a:xfrm>
            <a:off x="8988552" y="2172614"/>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76.8%</a:t>
            </a:r>
            <a:endParaRPr lang="en-US" sz="1300" dirty="0"/>
          </a:p>
        </p:txBody>
      </p:sp>
      <p:sp>
        <p:nvSpPr>
          <p:cNvPr id="73" name="Text 71"/>
          <p:cNvSpPr txBox="1"/>
          <p:nvPr/>
        </p:nvSpPr>
        <p:spPr>
          <a:xfrm>
            <a:off x="9738360"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74" name="Text 72"/>
          <p:cNvSpPr txBox="1"/>
          <p:nvPr/>
        </p:nvSpPr>
        <p:spPr>
          <a:xfrm>
            <a:off x="10579608" y="2172614"/>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5" name="Text 73"/>
          <p:cNvSpPr txBox="1"/>
          <p:nvPr/>
        </p:nvSpPr>
        <p:spPr>
          <a:xfrm>
            <a:off x="6208776" y="2589581"/>
            <a:ext cx="1920240" cy="416966"/>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76" name="Shape 74"/>
          <p:cNvSpPr/>
          <p:nvPr/>
        </p:nvSpPr>
        <p:spPr>
          <a:xfrm>
            <a:off x="8202168" y="2693822"/>
            <a:ext cx="481123" cy="208483"/>
          </a:xfrm>
          <a:prstGeom prst="rect">
            <a:avLst/>
          </a:prstGeom>
          <a:solidFill>
            <a:srgbClr val="C2352F"/>
          </a:solidFill>
          <a:ln/>
        </p:spPr>
      </p:sp>
      <p:sp>
        <p:nvSpPr>
          <p:cNvPr id="77" name="Text 75"/>
          <p:cNvSpPr txBox="1"/>
          <p:nvPr/>
        </p:nvSpPr>
        <p:spPr>
          <a:xfrm>
            <a:off x="8988552" y="2589581"/>
            <a:ext cx="749808" cy="416966"/>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72.3%</a:t>
            </a:r>
            <a:endParaRPr lang="en-US" sz="1300" dirty="0"/>
          </a:p>
        </p:txBody>
      </p:sp>
      <p:sp>
        <p:nvSpPr>
          <p:cNvPr id="78" name="Text 76"/>
          <p:cNvSpPr txBox="1"/>
          <p:nvPr/>
        </p:nvSpPr>
        <p:spPr>
          <a:xfrm>
            <a:off x="9738360"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9" name="Text 77"/>
          <p:cNvSpPr txBox="1"/>
          <p:nvPr/>
        </p:nvSpPr>
        <p:spPr>
          <a:xfrm>
            <a:off x="10579608" y="2589581"/>
            <a:ext cx="841248" cy="416966"/>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0" name="Shape 78"/>
          <p:cNvSpPr/>
          <p:nvPr/>
        </p:nvSpPr>
        <p:spPr>
          <a:xfrm>
            <a:off x="8863247" y="1755648"/>
            <a:ext cx="14630" cy="1250899"/>
          </a:xfrm>
          <a:prstGeom prst="rect">
            <a:avLst/>
          </a:prstGeom>
          <a:solidFill>
            <a:srgbClr val="0B2C4A"/>
          </a:solidFill>
          <a:ln/>
        </p:spPr>
      </p:sp>
      <p:sp>
        <p:nvSpPr>
          <p:cNvPr id="81" name="Shape 79"/>
          <p:cNvSpPr/>
          <p:nvPr/>
        </p:nvSpPr>
        <p:spPr>
          <a:xfrm>
            <a:off x="6035040" y="1371600"/>
            <a:ext cx="10973" cy="4553712"/>
          </a:xfrm>
          <a:prstGeom prst="rect">
            <a:avLst/>
          </a:prstGeom>
          <a:solidFill>
            <a:srgbClr val="D9D9D9"/>
          </a:solidFill>
          <a:ln/>
        </p:spPr>
      </p:sp>
      <p:sp>
        <p:nvSpPr>
          <p:cNvPr id="83" name="Shape 80"/>
          <p:cNvSpPr/>
          <p:nvPr/>
        </p:nvSpPr>
        <p:spPr>
          <a:xfrm>
            <a:off x="457200" y="6126480"/>
            <a:ext cx="11274552" cy="341376"/>
          </a:xfrm>
          <a:prstGeom prst="rect">
            <a:avLst/>
          </a:prstGeom>
          <a:solidFill>
            <a:srgbClr val="EDF4FA"/>
          </a:solidFill>
          <a:ln/>
        </p:spPr>
      </p:sp>
      <p:sp>
        <p:nvSpPr>
          <p:cNvPr id="84" name="Text 81"/>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the 13 stores under 85% also see fewer ROs per tech than their segment: check car count and staffing first.</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2026-10-28T17:01:56Z</dcterms:created>
  <dcterms:modified xsi:type="dcterms:W3CDTF">2026-10-28T17:01:56Z</dcterms:modified>
</cp:coreProperties>
</file>