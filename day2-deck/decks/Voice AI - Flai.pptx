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 average call 1:49.</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transferred calls were not picked up by a person.</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Service calls answered by Flai, our voice AI, over the last 90 days (Jul 26 – Oct 26, 2026). The AI books and routes the call; the store still has to answer the transfer and close every callback in the Flai dashboard.</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41069"/>
          </a:xfrm>
          <a:prstGeom prst="rect">
            <a:avLst/>
          </a:prstGeom>
          <a:solidFill>
            <a:srgbClr val="12A566"/>
          </a:solidFill>
          <a:ln/>
        </p:spPr>
      </p:sp>
      <p:sp>
        <p:nvSpPr>
          <p:cNvPr id="16" name="Text 14"/>
          <p:cNvSpPr txBox="1"/>
          <p:nvPr/>
        </p:nvSpPr>
        <p:spPr>
          <a:xfrm>
            <a:off x="62179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32146"/>
            <a:ext cx="54864" cy="241069"/>
          </a:xfrm>
          <a:prstGeom prst="rect">
            <a:avLst/>
          </a:prstGeom>
          <a:solidFill>
            <a:srgbClr val="12A566"/>
          </a:solidFill>
          <a:ln/>
        </p:spPr>
      </p:sp>
      <p:sp>
        <p:nvSpPr>
          <p:cNvPr id="23" name="Text 21"/>
          <p:cNvSpPr txBox="1"/>
          <p:nvPr/>
        </p:nvSpPr>
        <p:spPr>
          <a:xfrm>
            <a:off x="62179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146367"/>
            <a:ext cx="54864" cy="241069"/>
          </a:xfrm>
          <a:prstGeom prst="rect">
            <a:avLst/>
          </a:prstGeom>
          <a:solidFill>
            <a:srgbClr val="12A566"/>
          </a:solidFill>
          <a:ln/>
        </p:spPr>
      </p:sp>
      <p:sp>
        <p:nvSpPr>
          <p:cNvPr id="27" name="Text 25"/>
          <p:cNvSpPr txBox="1"/>
          <p:nvPr/>
        </p:nvSpPr>
        <p:spPr>
          <a:xfrm>
            <a:off x="62179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460588"/>
            <a:ext cx="54864" cy="241069"/>
          </a:xfrm>
          <a:prstGeom prst="rect">
            <a:avLst/>
          </a:prstGeom>
          <a:solidFill>
            <a:srgbClr val="12A566"/>
          </a:solidFill>
          <a:ln/>
        </p:spPr>
      </p:sp>
      <p:sp>
        <p:nvSpPr>
          <p:cNvPr id="31" name="Shape 29"/>
          <p:cNvSpPr/>
          <p:nvPr/>
        </p:nvSpPr>
        <p:spPr>
          <a:xfrm>
            <a:off x="621792" y="4070743"/>
            <a:ext cx="3355848" cy="22860"/>
          </a:xfrm>
          <a:prstGeom prst="rect">
            <a:avLst/>
          </a:prstGeom>
          <a:solidFill>
            <a:srgbClr val="C2352F"/>
          </a:solidFill>
          <a:ln/>
        </p:spPr>
      </p:sp>
      <p:sp>
        <p:nvSpPr>
          <p:cNvPr id="32" name="Text 30"/>
          <p:cNvSpPr txBox="1"/>
          <p:nvPr/>
        </p:nvSpPr>
        <p:spPr>
          <a:xfrm>
            <a:off x="62179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63351"/>
            <a:ext cx="54864" cy="241069"/>
          </a:xfrm>
          <a:prstGeom prst="rect">
            <a:avLst/>
          </a:prstGeom>
          <a:solidFill>
            <a:srgbClr val="C2352F"/>
          </a:solidFill>
          <a:ln/>
        </p:spPr>
      </p:sp>
      <p:sp>
        <p:nvSpPr>
          <p:cNvPr id="39" name="Text 37"/>
          <p:cNvSpPr txBox="1"/>
          <p:nvPr/>
        </p:nvSpPr>
        <p:spPr>
          <a:xfrm>
            <a:off x="62179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677572"/>
            <a:ext cx="54864" cy="241069"/>
          </a:xfrm>
          <a:prstGeom prst="rect">
            <a:avLst/>
          </a:prstGeom>
          <a:solidFill>
            <a:srgbClr val="C2352F"/>
          </a:solidFill>
          <a:ln/>
        </p:spPr>
      </p:sp>
      <p:sp>
        <p:nvSpPr>
          <p:cNvPr id="43" name="Text 41"/>
          <p:cNvSpPr txBox="1"/>
          <p:nvPr/>
        </p:nvSpPr>
        <p:spPr>
          <a:xfrm>
            <a:off x="62179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306014"/>
            <a:ext cx="54864" cy="241069"/>
          </a:xfrm>
          <a:prstGeom prst="rect">
            <a:avLst/>
          </a:prstGeom>
          <a:solidFill>
            <a:srgbClr val="C2352F"/>
          </a:solidFill>
          <a:ln/>
        </p:spPr>
      </p:sp>
      <p:sp>
        <p:nvSpPr>
          <p:cNvPr id="50" name="Text 48"/>
          <p:cNvSpPr txBox="1"/>
          <p:nvPr/>
        </p:nvSpPr>
        <p:spPr>
          <a:xfrm>
            <a:off x="62179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620235"/>
            <a:ext cx="54864" cy="241069"/>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41069"/>
          </a:xfrm>
          <a:prstGeom prst="rect">
            <a:avLst/>
          </a:prstGeom>
          <a:solidFill>
            <a:srgbClr val="12A566"/>
          </a:solidFill>
          <a:ln/>
        </p:spPr>
      </p:sp>
      <p:sp>
        <p:nvSpPr>
          <p:cNvPr id="65" name="Text 63"/>
          <p:cNvSpPr txBox="1"/>
          <p:nvPr/>
        </p:nvSpPr>
        <p:spPr>
          <a:xfrm>
            <a:off x="441655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17925"/>
            <a:ext cx="54864" cy="241069"/>
          </a:xfrm>
          <a:prstGeom prst="rect">
            <a:avLst/>
          </a:prstGeom>
          <a:solidFill>
            <a:srgbClr val="12A566"/>
          </a:solidFill>
          <a:ln/>
        </p:spPr>
      </p:sp>
      <p:sp>
        <p:nvSpPr>
          <p:cNvPr id="69" name="Text 67"/>
          <p:cNvSpPr txBox="1"/>
          <p:nvPr/>
        </p:nvSpPr>
        <p:spPr>
          <a:xfrm>
            <a:off x="441655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32146"/>
            <a:ext cx="54864" cy="241069"/>
          </a:xfrm>
          <a:prstGeom prst="rect">
            <a:avLst/>
          </a:prstGeom>
          <a:solidFill>
            <a:srgbClr val="12A566"/>
          </a:solidFill>
          <a:ln/>
        </p:spPr>
      </p:sp>
      <p:sp>
        <p:nvSpPr>
          <p:cNvPr id="73" name="Text 71"/>
          <p:cNvSpPr txBox="1"/>
          <p:nvPr/>
        </p:nvSpPr>
        <p:spPr>
          <a:xfrm>
            <a:off x="441655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146367"/>
            <a:ext cx="54864" cy="241069"/>
          </a:xfrm>
          <a:prstGeom prst="rect">
            <a:avLst/>
          </a:prstGeom>
          <a:solidFill>
            <a:srgbClr val="12A566"/>
          </a:solidFill>
          <a:ln/>
        </p:spPr>
      </p:sp>
      <p:sp>
        <p:nvSpPr>
          <p:cNvPr id="77" name="Text 75"/>
          <p:cNvSpPr txBox="1"/>
          <p:nvPr/>
        </p:nvSpPr>
        <p:spPr>
          <a:xfrm>
            <a:off x="441655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70743"/>
            <a:ext cx="3355848" cy="22860"/>
          </a:xfrm>
          <a:prstGeom prst="rect">
            <a:avLst/>
          </a:prstGeom>
          <a:solidFill>
            <a:srgbClr val="C2352F"/>
          </a:solidFill>
          <a:ln/>
        </p:spPr>
      </p:sp>
      <p:sp>
        <p:nvSpPr>
          <p:cNvPr id="81" name="Text 79"/>
          <p:cNvSpPr txBox="1"/>
          <p:nvPr/>
        </p:nvSpPr>
        <p:spPr>
          <a:xfrm>
            <a:off x="441655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63351"/>
            <a:ext cx="54864" cy="241069"/>
          </a:xfrm>
          <a:prstGeom prst="rect">
            <a:avLst/>
          </a:prstGeom>
          <a:solidFill>
            <a:srgbClr val="C2352F"/>
          </a:solidFill>
          <a:ln/>
        </p:spPr>
      </p:sp>
      <p:sp>
        <p:nvSpPr>
          <p:cNvPr id="88" name="Text 86"/>
          <p:cNvSpPr txBox="1"/>
          <p:nvPr/>
        </p:nvSpPr>
        <p:spPr>
          <a:xfrm>
            <a:off x="441655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306014"/>
            <a:ext cx="54864" cy="241069"/>
          </a:xfrm>
          <a:prstGeom prst="rect">
            <a:avLst/>
          </a:prstGeom>
          <a:solidFill>
            <a:srgbClr val="C2352F"/>
          </a:solidFill>
          <a:ln/>
        </p:spPr>
      </p:sp>
      <p:sp>
        <p:nvSpPr>
          <p:cNvPr id="98" name="Text 96"/>
          <p:cNvSpPr txBox="1"/>
          <p:nvPr/>
        </p:nvSpPr>
        <p:spPr>
          <a:xfrm>
            <a:off x="441655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620235"/>
            <a:ext cx="54864" cy="241069"/>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AT 100% (6)</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09" name="Text 107"/>
          <p:cNvSpPr txBox="1"/>
          <p:nvPr/>
        </p:nvSpPr>
        <p:spPr>
          <a:xfrm>
            <a:off x="821131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2" name="Text 110"/>
          <p:cNvSpPr txBox="1"/>
          <p:nvPr/>
        </p:nvSpPr>
        <p:spPr>
          <a:xfrm>
            <a:off x="821131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3" name="Text 111"/>
          <p:cNvSpPr txBox="1"/>
          <p:nvPr/>
        </p:nvSpPr>
        <p:spPr>
          <a:xfrm>
            <a:off x="990295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821131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6" name="Text 114"/>
          <p:cNvSpPr txBox="1"/>
          <p:nvPr/>
        </p:nvSpPr>
        <p:spPr>
          <a:xfrm>
            <a:off x="990295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8" name="Text 116"/>
          <p:cNvSpPr txBox="1"/>
          <p:nvPr/>
        </p:nvSpPr>
        <p:spPr>
          <a:xfrm>
            <a:off x="821131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19" name="Text 117"/>
          <p:cNvSpPr txBox="1"/>
          <p:nvPr/>
        </p:nvSpPr>
        <p:spPr>
          <a:xfrm>
            <a:off x="990295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1" name="Text 119"/>
          <p:cNvSpPr txBox="1"/>
          <p:nvPr/>
        </p:nvSpPr>
        <p:spPr>
          <a:xfrm>
            <a:off x="821131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22" name="Text 120"/>
          <p:cNvSpPr txBox="1"/>
          <p:nvPr/>
        </p:nvSpPr>
        <p:spPr>
          <a:xfrm>
            <a:off x="990295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4" name="Text 122"/>
          <p:cNvSpPr txBox="1"/>
          <p:nvPr/>
        </p:nvSpPr>
        <p:spPr>
          <a:xfrm>
            <a:off x="8211312" y="3738233"/>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5" name="Text 123"/>
          <p:cNvSpPr txBox="1"/>
          <p:nvPr/>
        </p:nvSpPr>
        <p:spPr>
          <a:xfrm>
            <a:off x="9902952" y="3738233"/>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6" name="Text 124"/>
          <p:cNvSpPr txBox="1"/>
          <p:nvPr/>
        </p:nvSpPr>
        <p:spPr>
          <a:xfrm>
            <a:off x="10652760" y="3738233"/>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7" name="Shape 125"/>
          <p:cNvSpPr/>
          <p:nvPr/>
        </p:nvSpPr>
        <p:spPr>
          <a:xfrm>
            <a:off x="8211312" y="4070743"/>
            <a:ext cx="3355848" cy="22860"/>
          </a:xfrm>
          <a:prstGeom prst="rect">
            <a:avLst/>
          </a:prstGeom>
          <a:solidFill>
            <a:srgbClr val="C2352F"/>
          </a:solidFill>
          <a:ln/>
        </p:spPr>
      </p:sp>
      <p:sp>
        <p:nvSpPr>
          <p:cNvPr id="128" name="Text 126"/>
          <p:cNvSpPr txBox="1"/>
          <p:nvPr/>
        </p:nvSpPr>
        <p:spPr>
          <a:xfrm>
            <a:off x="821131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9" name="Text 127"/>
          <p:cNvSpPr txBox="1"/>
          <p:nvPr/>
        </p:nvSpPr>
        <p:spPr>
          <a:xfrm>
            <a:off x="990295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0" name="Text 128"/>
          <p:cNvSpPr txBox="1"/>
          <p:nvPr/>
        </p:nvSpPr>
        <p:spPr>
          <a:xfrm>
            <a:off x="1065276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31" name="Text 129"/>
          <p:cNvSpPr txBox="1"/>
          <p:nvPr/>
        </p:nvSpPr>
        <p:spPr>
          <a:xfrm>
            <a:off x="821131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Text 130"/>
          <p:cNvSpPr txBox="1"/>
          <p:nvPr/>
        </p:nvSpPr>
        <p:spPr>
          <a:xfrm>
            <a:off x="990295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3" name="Text 131"/>
          <p:cNvSpPr txBox="1"/>
          <p:nvPr/>
        </p:nvSpPr>
        <p:spPr>
          <a:xfrm>
            <a:off x="1065276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4" name="Text 132"/>
          <p:cNvSpPr txBox="1"/>
          <p:nvPr/>
        </p:nvSpPr>
        <p:spPr>
          <a:xfrm>
            <a:off x="821131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5" name="Text 133"/>
          <p:cNvSpPr txBox="1"/>
          <p:nvPr/>
        </p:nvSpPr>
        <p:spPr>
          <a:xfrm>
            <a:off x="990295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6" name="Text 134"/>
          <p:cNvSpPr txBox="1"/>
          <p:nvPr/>
        </p:nvSpPr>
        <p:spPr>
          <a:xfrm>
            <a:off x="1065276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7" name="Text 135"/>
          <p:cNvSpPr txBox="1"/>
          <p:nvPr/>
        </p:nvSpPr>
        <p:spPr>
          <a:xfrm>
            <a:off x="821131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8" name="Text 136"/>
          <p:cNvSpPr txBox="1"/>
          <p:nvPr/>
        </p:nvSpPr>
        <p:spPr>
          <a:xfrm>
            <a:off x="990295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9" name="Text 137"/>
          <p:cNvSpPr txBox="1"/>
          <p:nvPr/>
        </p:nvSpPr>
        <p:spPr>
          <a:xfrm>
            <a:off x="1065276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40" name="Shape 138"/>
          <p:cNvSpPr/>
          <p:nvPr/>
        </p:nvSpPr>
        <p:spPr>
          <a:xfrm>
            <a:off x="11612880" y="4991793"/>
            <a:ext cx="54864" cy="241069"/>
          </a:xfrm>
          <a:prstGeom prst="rect">
            <a:avLst/>
          </a:prstGeom>
          <a:solidFill>
            <a:srgbClr val="C2352F"/>
          </a:solidFill>
          <a:ln/>
        </p:spPr>
      </p:sp>
      <p:sp>
        <p:nvSpPr>
          <p:cNvPr id="141" name="Text 139"/>
          <p:cNvSpPr txBox="1"/>
          <p:nvPr/>
        </p:nvSpPr>
        <p:spPr>
          <a:xfrm>
            <a:off x="821131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42" name="Text 140"/>
          <p:cNvSpPr txBox="1"/>
          <p:nvPr/>
        </p:nvSpPr>
        <p:spPr>
          <a:xfrm>
            <a:off x="990295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3" name="Text 141"/>
          <p:cNvSpPr txBox="1"/>
          <p:nvPr/>
        </p:nvSpPr>
        <p:spPr>
          <a:xfrm>
            <a:off x="1065276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4" name="Shape 142"/>
          <p:cNvSpPr/>
          <p:nvPr/>
        </p:nvSpPr>
        <p:spPr>
          <a:xfrm>
            <a:off x="11612880" y="5306014"/>
            <a:ext cx="54864" cy="241069"/>
          </a:xfrm>
          <a:prstGeom prst="rect">
            <a:avLst/>
          </a:prstGeom>
          <a:solidFill>
            <a:srgbClr val="C2352F"/>
          </a:solidFill>
          <a:ln/>
        </p:spPr>
      </p:sp>
      <p:sp>
        <p:nvSpPr>
          <p:cNvPr id="145" name="Text 143"/>
          <p:cNvSpPr txBox="1"/>
          <p:nvPr/>
        </p:nvSpPr>
        <p:spPr>
          <a:xfrm>
            <a:off x="821131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6" name="Text 144"/>
          <p:cNvSpPr txBox="1"/>
          <p:nvPr/>
        </p:nvSpPr>
        <p:spPr>
          <a:xfrm>
            <a:off x="990295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7" name="Text 145"/>
          <p:cNvSpPr txBox="1"/>
          <p:nvPr/>
        </p:nvSpPr>
        <p:spPr>
          <a:xfrm>
            <a:off x="1065276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8" name="Shape 146"/>
          <p:cNvSpPr/>
          <p:nvPr/>
        </p:nvSpPr>
        <p:spPr>
          <a:xfrm>
            <a:off x="457200" y="6126480"/>
            <a:ext cx="11274552" cy="615696"/>
          </a:xfrm>
          <a:prstGeom prst="rect">
            <a:avLst/>
          </a:prstGeom>
          <a:solidFill>
            <a:srgbClr val="EDF4FA"/>
          </a:solidFill>
          <a:ln/>
        </p:spPr>
      </p:sp>
      <p:sp>
        <p:nvSpPr>
          <p:cNvPr id="149" name="Text 14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2026-10-26T17:15:06Z</dcterms:created>
  <dcterms:modified xsi:type="dcterms:W3CDTF">2026-10-26T17:15:06Z</dcterms:modified>
</cp:coreProperties>
</file>