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Lst>
  <p:notesMasterIdLst>
    <p:notesMasterId r:id="rId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
Definitions to confirm against Flai: pickup rate is read as the share of transferred calls a person picked up; resolution as the share of callback requests closed. Resolve time in the export runs to weeks at some locations and is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AT 100% (6)</a:t>
            </a:r>
            <a:endParaRPr lang="en-US" sz="1400" dirty="0"/>
          </a:p>
        </p:txBody>
      </p:sp>
      <p:sp>
        <p:nvSpPr>
          <p:cNvPr id="107" name="Text 105"/>
          <p:cNvSpPr txBox="1"/>
          <p:nvPr/>
        </p:nvSpPr>
        <p:spPr>
          <a:xfrm>
            <a:off x="8211312" y="2167128"/>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Kia Las Vegas</a:t>
            </a:r>
            <a:endParaRPr lang="en-US" sz="1200" dirty="0"/>
          </a:p>
        </p:txBody>
      </p:sp>
      <p:sp>
        <p:nvSpPr>
          <p:cNvPr id="108" name="Text 106"/>
          <p:cNvSpPr txBox="1"/>
          <p:nvPr/>
        </p:nvSpPr>
        <p:spPr>
          <a:xfrm>
            <a:off x="9889236" y="2167128"/>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Lincoln</a:t>
            </a:r>
            <a:endParaRPr lang="en-US" sz="1200" dirty="0"/>
          </a:p>
        </p:txBody>
      </p:sp>
      <p:sp>
        <p:nvSpPr>
          <p:cNvPr id="109" name="Text 107"/>
          <p:cNvSpPr txBox="1"/>
          <p:nvPr/>
        </p:nvSpPr>
        <p:spPr>
          <a:xfrm>
            <a:off x="8211312" y="2512771"/>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VW Henderson</a:t>
            </a:r>
            <a:endParaRPr lang="en-US" sz="1200" dirty="0"/>
          </a:p>
        </p:txBody>
      </p:sp>
      <p:sp>
        <p:nvSpPr>
          <p:cNvPr id="110" name="Text 108"/>
          <p:cNvSpPr txBox="1"/>
          <p:nvPr/>
        </p:nvSpPr>
        <p:spPr>
          <a:xfrm>
            <a:off x="9889236" y="2512771"/>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Land Rover Reno</a:t>
            </a:r>
            <a:endParaRPr lang="en-US" sz="1200" dirty="0"/>
          </a:p>
        </p:txBody>
      </p:sp>
      <p:sp>
        <p:nvSpPr>
          <p:cNvPr id="111" name="Text 109"/>
          <p:cNvSpPr txBox="1"/>
          <p:nvPr/>
        </p:nvSpPr>
        <p:spPr>
          <a:xfrm>
            <a:off x="8211312" y="2858414"/>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Subaru of Las Vegas</a:t>
            </a:r>
            <a:endParaRPr lang="en-US" sz="1200" dirty="0"/>
          </a:p>
        </p:txBody>
      </p:sp>
      <p:sp>
        <p:nvSpPr>
          <p:cNvPr id="112" name="Text 110"/>
          <p:cNvSpPr txBox="1"/>
          <p:nvPr/>
        </p:nvSpPr>
        <p:spPr>
          <a:xfrm>
            <a:off x="9889236" y="2858414"/>
            <a:ext cx="1632204" cy="345643"/>
          </a:xfrm>
          <a:prstGeom prst="rect">
            <a:avLst/>
          </a:prstGeom>
          <a:noFill/>
          <a:ln/>
        </p:spPr>
        <p:txBody>
          <a:bodyPr wrap="square" lIns="0" tIns="0" rIns="0" bIns="0" rtlCol="0" anchor="ctr"/>
          <a:lstStyle/>
          <a:p>
            <a:pPr indent="0" marL="0">
              <a:buNone/>
            </a:pPr>
            <a:r>
              <a:rPr lang="en-US" sz="1200" b="1" dirty="0">
                <a:solidFill>
                  <a:srgbClr val="0B7A4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211312" y="3913632"/>
            <a:ext cx="3355848" cy="22860"/>
          </a:xfrm>
          <a:prstGeom prst="rect">
            <a:avLst/>
          </a:prstGeom>
          <a:solidFill>
            <a:srgbClr val="C2352F"/>
          </a:solidFill>
          <a:ln/>
        </p:spPr>
      </p:sp>
      <p:sp>
        <p:nvSpPr>
          <p:cNvPr id="114" name="Text 112"/>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15" name="Text 113"/>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6" name="Text 114"/>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17" name="Text 115"/>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18" name="Text 116"/>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19" name="Text 117"/>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20" name="Text 118"/>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21" name="Text 119"/>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22" name="Text 120"/>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23" name="Text 121"/>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24" name="Text 122"/>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25" name="Text 123"/>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26" name="Shape 124"/>
          <p:cNvSpPr/>
          <p:nvPr/>
        </p:nvSpPr>
        <p:spPr>
          <a:xfrm>
            <a:off x="11612880" y="4897526"/>
            <a:ext cx="54864" cy="272491"/>
          </a:xfrm>
          <a:prstGeom prst="rect">
            <a:avLst/>
          </a:prstGeom>
          <a:solidFill>
            <a:srgbClr val="C2352F"/>
          </a:solidFill>
          <a:ln/>
        </p:spPr>
      </p:sp>
      <p:sp>
        <p:nvSpPr>
          <p:cNvPr id="127" name="Text 125"/>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28" name="Text 126"/>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29" name="Text 127"/>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30" name="Shape 128"/>
          <p:cNvSpPr/>
          <p:nvPr/>
        </p:nvSpPr>
        <p:spPr>
          <a:xfrm>
            <a:off x="11612880" y="5243170"/>
            <a:ext cx="54864" cy="272491"/>
          </a:xfrm>
          <a:prstGeom prst="rect">
            <a:avLst/>
          </a:prstGeom>
          <a:solidFill>
            <a:srgbClr val="C2352F"/>
          </a:solidFill>
          <a:ln/>
        </p:spPr>
      </p:sp>
      <p:sp>
        <p:nvSpPr>
          <p:cNvPr id="131" name="Text 129"/>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32" name="Text 130"/>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33" name="Text 131"/>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34" name="Shape 132"/>
          <p:cNvSpPr/>
          <p:nvPr/>
        </p:nvSpPr>
        <p:spPr>
          <a:xfrm>
            <a:off x="457200" y="6126480"/>
            <a:ext cx="11274552" cy="615696"/>
          </a:xfrm>
          <a:prstGeom prst="rect">
            <a:avLst/>
          </a:prstGeom>
          <a:solidFill>
            <a:srgbClr val="EDF4FA"/>
          </a:solidFill>
          <a:ln/>
        </p:spPr>
      </p:sp>
      <p:sp>
        <p:nvSpPr>
          <p:cNvPr id="135" name="Text 13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vt:i4>
      </vt:variant>
    </vt:vector>
  </HeadingPairs>
  <TitlesOfParts>
    <vt:vector size="5" baseType="lpstr">
      <vt:lpstr>Arial</vt:lpstr>
      <vt:lpstr>Calibri</vt:lpstr>
      <vt:lpstr>Office Theme</vt:lpstr>
      <vt:lpstr>Slide 1</vt:lpstr>
      <vt:lpstr>Slide 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2026-10-26T20:25:29Z</dcterms:created>
  <dcterms:modified xsi:type="dcterms:W3CDTF">2026-10-26T20:25:29Z</dcterms:modified>
</cp:coreProperties>
</file>