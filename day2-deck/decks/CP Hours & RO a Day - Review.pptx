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57788.84</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57788.84</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57794.35</c:v>
                </c:pt>
                <c:pt idx="5">
                  <c:v/>
                </c:pt>
                <c:pt idx="6">
                  <c:v/>
                </c:pt>
                <c:pt idx="7">
                  <c:v/>
                </c:pt>
                <c:pt idx="8">
                  <c:v/>
                </c:pt>
                <c:pt idx="9">
                  <c:v>58023.59000000028</c:v>
                </c:pt>
                <c:pt idx="10">
                  <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
                </c:pt>
                <c:pt idx="5">
                  <c:v>56468.18</c:v>
                </c:pt>
                <c:pt idx="6">
                  <c:v>57717.31</c:v>
                </c:pt>
                <c:pt idx="7">
                  <c:v>57021.2</c:v>
                </c:pt>
                <c:pt idx="8">
                  <c:v>53309.32</c:v>
                </c:pt>
                <c:pt idx="9">
                  <c:v/>
                </c:pt>
                <c:pt idx="10">
                  <c:v>51202.50000000025</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57794.35</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date. Same-store, INEOS excluded (opened 2026). GMC Prescott body shop labor types excluded. Total customer-pay labor hours sold, all CP ROs.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Toyota Henderson leads at 78,123; VW St George is smallest at 3,276.Source: Qlik - Closed Repair Orders. Customer pay, Jan-Sep by close date. Same-store, INEOS excluded (opened 2026). GMC Prescott body shop labor types excluded. Total customer-pay labor hours sold, all CP ROs. Jan-Sep 2026 YTD.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23 of 33 stores sold more CP hours, led by Subaru St George at +44.6% to 12,766. 10 declined; VW St George fell most at −25.4%.Source: Qlik - Closed Repair Orders. Customer pay, Jan-Sep by close date. Same-store, INEOS excluded (opened 2026). GMC Prescott body shop labor types excluded. Change in customer-pay hours sold (percent, so store size does not drive the ranking),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Subaru St George, Kia LV and Kia St George what changed. Ask VW St George, Audi Reno and Volvo what got in the way. Ask Mazda, CDJR Post Falls and Lexus what they started this year.Source: Qlik - Closed Repair Orders. Customer pay, Jan-Sep by close date. Same-store, INEOS excluded (opened 2026). GMC Prescott body shop labor types excluded. Total customer-pay labor hours sold, all CP ROs. Top and bottom five stores by change in customer-pay hours sold (percent, so store size does not drive the ranking), Jan-Sep 2026 vs 2025. Moving now: Jul-Sep 2026 vs Jan-Mar 2026, each store against itself (monthly averages); the group moved +5.5%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date. Same-store, INEOS excluded (opened 2026). GMC Prescott body shop labor types excluded. Per RO = the store's customer-pay labor gross + parts gross / its CP RO count, Jan-Sep 2026. Days open a year: 307 for every store (open 6 days a week, 2026 calendar, less the 6 service holidays: New Year's, Memorial Day, Independence Day, Labor Day, Thanksgiving, Christmas). ROs/day = Jan-Sep 2026 CP ROs at a yearly pace / days open. Assumes the added RO is an average one.Talk track: one more customer a day - one more answered call, one appointment kept, one 'close to losing' customer brought back. Retention, phones and the scheduler are the levers.
LR HENDERSON: $1,168 gross per RO x 307 days open a year = $358,484; 6.8 CP ROs a day today
LR LV: $1,142 gross per RO x 307 days open a year = $350,585; 15.2 CP ROs a day today
LR RENO: $1,052 gross per RO x 307 days open a year = $323,117; 6.2 CP ROs a day today
AUDI HENDERSON: $1,030 gross per RO x 307 days open a year = $316,136; 16.4 CP ROs a day today
AUDI RENO: $740 gross per RO x 307 days open a year = $227,297; 17.0 CP ROs a day today
VOLVO: $662 gross per RO x 307 days open a year = $203,362; 14.8 CP ROs a day today
CADILLAC: $509 gross per RO x 307 days open a year = $156,140; 23.2 CP ROs a day today
LINCOLN: $480 gross per RO x 307 days open a year = $147,507; 11.4 CP ROs a day today
LEXUS: $460 gross per RO x 307 days open a year = $141,182; 19.8 CP ROs a day today
VW HENDERSON: $429 gross per RO x 307 days open a year = $131,560; 22.3 CP ROs a day today
NISSAN: $406 gross per RO x 307 days open a year = $124,728; 30.3 CP ROs a day today
CDJR POST FALLS: $399 gross per RO x 307 days open a year = $122,626; 23.3 CP ROs a day today
CHEVY LV: $362 gross per RO x 307 days open a year = $111,273; 84.8 CP ROs a day today
SUBARU ST GEORGE: $357 gross per RO x 307 days open a year = $109,693; 24.1 CP ROs a day today
ACURA: $356 gross per RO x 307 days open a year = $109,151; 15.9 CP ROs a day today
SUBARU LV: $354 gross per RO x 307 days open a year = $108,687; 61.9 CP ROs a day today
HONDA NORTH: $338 gross per RO x 307 days open a year = $103,675; 65.4 CP ROs a day today
HONDA HENDERSON: $337 gross per RO x 307 days open a year = $103,382; 97.8 CP ROs a day today
HONDA SPOKANE: $331 gross per RO x 307 days open a year = $101,516; 38.8 CP ROs a day today
CHEVY GMC BULLHEAD: $314 gross per RO x 307 days open a year = $96,545; 27.4 CP ROs a day today
GMC PRESCOTT: $310 gross per RO x 307 days open a year = $95,050; 13.5 CP ROs a day today
HONDA FLAGSTAFF: $307 gross per RO x 307 days open a year = $94,176; 17.5 CP ROs a day today
VW ST GEORGE: $292 gross per RO x 307 days open a year = $89,636; 8.3 CP ROs a day today
HYUNDAI ST GEORGE: $283 gross per RO x 307 days open a year = $86,985; 14.5 CP ROs a day today
MAZDA: $280 gross per RO x 307 days open a year = $86,010; 24.8 CP ROs a day today
KIA LV: $268 gross per RO x 307 days open a year = $82,314; 35.3 CP ROs a day today
TOYOTA HENDERSON: $242 gross per RO x 307 days open a year = $74,324; 230.5 CP ROs a day today
HYUNDAI PRESCOTT: $237 gross per RO x 307 days open a year = $72,795; 8.7 CP ROs a day today
SUBARU PRESCOTT: $237 gross per RO x 307 days open a year = $72,776; 22.2 CP ROs a day today
TOYOTA PRESCOTT: $237 gross per RO x 307 days open a year = $72,743; 58.6 CP ROs a day today
KIA ST GEORGE: $220 gross per RO x 307 days open a year = $67,614; 17.0 CP ROs a day today
TOYOTA SPOKANE: $217 gross per RO x 307 days open a year = $66,622; 75.5 CP ROs a day today
TOYOTA FLAGSTAFF: $214 gross per RO x 307 days open a year = $65,596; 65.8 CP ROs a day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504,019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523,142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+19,123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Hours Sold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19,123 to 523,142, ahead of 2025 in eight of nine months. CP RO count rose only 0.2%, so the extra hours came from selling more on each visit.</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523,142</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78,123</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050673"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44,883</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038014"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44,342</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701901"/>
            <a:ext cx="711662"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30,401</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649509"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27,746</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2980944" y="3224723"/>
            <a:ext cx="602764"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25,749</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7" name="Shape 35"/>
          <p:cNvSpPr/>
          <p:nvPr/>
        </p:nvSpPr>
        <p:spPr>
          <a:xfrm>
            <a:off x="2980944" y="3486134"/>
            <a:ext cx="498059"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21,276</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747545"/>
            <a:ext cx="436748"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18,657</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4008956"/>
            <a:ext cx="419629"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17,926</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2980944" y="4270366"/>
            <a:ext cx="344483"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14,716</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3" name="Shape 51"/>
          <p:cNvSpPr/>
          <p:nvPr/>
        </p:nvSpPr>
        <p:spPr>
          <a:xfrm>
            <a:off x="2980944" y="4531777"/>
            <a:ext cx="341580"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14,592</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2980944" y="4793188"/>
            <a:ext cx="326318"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13,940</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80944" y="5054599"/>
            <a:ext cx="308206"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13,166</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2980944" y="5316010"/>
            <a:ext cx="299995"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12,815</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577420"/>
            <a:ext cx="298846"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12,766</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2980944" y="5838831"/>
            <a:ext cx="298644"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12,757</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2980944" y="6100242"/>
            <a:ext cx="276102"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11,795</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1" name="Shape 79"/>
          <p:cNvSpPr/>
          <p:nvPr/>
        </p:nvSpPr>
        <p:spPr>
          <a:xfrm>
            <a:off x="8531352" y="1917669"/>
            <a:ext cx="257333"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10,993</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5" name="Shape 83"/>
          <p:cNvSpPr/>
          <p:nvPr/>
        </p:nvSpPr>
        <p:spPr>
          <a:xfrm>
            <a:off x="8531352" y="2179080"/>
            <a:ext cx="25009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10,684</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8531352" y="2440491"/>
            <a:ext cx="222717"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9,514</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8531352" y="2701901"/>
            <a:ext cx="194260"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8,298</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7" name="Shape 95"/>
          <p:cNvSpPr/>
          <p:nvPr/>
        </p:nvSpPr>
        <p:spPr>
          <a:xfrm>
            <a:off x="8531352" y="2963312"/>
            <a:ext cx="190890"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8,154</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8531352" y="3224723"/>
            <a:ext cx="181408"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31352" y="3486134"/>
            <a:ext cx="157098"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6,711</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9" name="Shape 107"/>
          <p:cNvSpPr/>
          <p:nvPr/>
        </p:nvSpPr>
        <p:spPr>
          <a:xfrm>
            <a:off x="8531352" y="3747545"/>
            <a:ext cx="152958"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6,534</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31352" y="4008956"/>
            <a:ext cx="145645"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6,222</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8531352" y="4270366"/>
            <a:ext cx="142349"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6,081</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31352" y="4531777"/>
            <a:ext cx="122032"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5,213</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793188"/>
            <a:ext cx="11809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5,045</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11585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4,949</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316010"/>
            <a:ext cx="111992"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4,784</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76952"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3,287</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76698"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3,276</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6087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5898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5" name="Shape 23"/>
          <p:cNvSpPr/>
          <p:nvPr/>
        </p:nvSpPr>
        <p:spPr>
          <a:xfrm>
            <a:off x="3785616" y="2631546"/>
            <a:ext cx="50260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785616" y="2871442"/>
            <a:ext cx="4895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7588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7" name="Shape 35"/>
          <p:cNvSpPr/>
          <p:nvPr/>
        </p:nvSpPr>
        <p:spPr>
          <a:xfrm>
            <a:off x="3785616" y="3351233"/>
            <a:ext cx="40339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2001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785616" y="3831024"/>
            <a:ext cx="31980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785616" y="4070920"/>
            <a:ext cx="30478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3" name="Shape 51"/>
          <p:cNvSpPr/>
          <p:nvPr/>
        </p:nvSpPr>
        <p:spPr>
          <a:xfrm>
            <a:off x="3785616" y="4310815"/>
            <a:ext cx="21498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207215"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1871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785616" y="5030502"/>
            <a:ext cx="17212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1674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785616" y="5510293"/>
            <a:ext cx="1166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785616" y="5750188"/>
            <a:ext cx="11641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1063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9336024" y="2151755"/>
            <a:ext cx="9998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890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8806"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306237" y="3351233"/>
            <a:ext cx="29787"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291402" y="3591128"/>
            <a:ext cx="4462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285327" y="3831024"/>
            <a:ext cx="5069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9275488" y="4070920"/>
            <a:ext cx="605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9233370" y="4310815"/>
            <a:ext cx="10265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06595" y="4550711"/>
            <a:ext cx="12942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9193818" y="4790606"/>
            <a:ext cx="14220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3" name="Shape 131"/>
          <p:cNvSpPr/>
          <p:nvPr/>
        </p:nvSpPr>
        <p:spPr>
          <a:xfrm>
            <a:off x="9153034" y="5030502"/>
            <a:ext cx="1829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9069849" y="5270397"/>
            <a:ext cx="2661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−15.3%</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892903" y="5510293"/>
            <a:ext cx="44312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sold more CP hours. 10 declined.</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8,827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12,766</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+44.6%</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12,757</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+35.0%</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5,045</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8,154</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+28.9%</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3,287</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+28.1%</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4,394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3,276</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−25.4%</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12,611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10,684</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−15.3%</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7,749</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17,926</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−8.2%</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48,486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44,883</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1,102</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1,537</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+28.8%</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Text 58"/>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1,146</a:t>
            </a:r>
            <a:endParaRPr lang="en-US" sz="1400" dirty="0"/>
          </a:p>
        </p:txBody>
      </p:sp>
      <p:sp>
        <p:nvSpPr>
          <p:cNvPr id="62" name="Text 60"/>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+24.3%</a:t>
            </a:r>
            <a:endParaRPr lang="en-US" sz="1600" dirty="0"/>
          </a:p>
        </p:txBody>
      </p:sp>
      <p:sp>
        <p:nvSpPr>
          <p:cNvPr id="63" name="Text 61"/>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4" name="Text 62"/>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1,692</a:t>
            </a:r>
            <a:endParaRPr lang="en-US" sz="1400" dirty="0"/>
          </a:p>
        </p:txBody>
      </p:sp>
      <p:sp>
        <p:nvSpPr>
          <p:cNvPr id="65" name="Text 63"/>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+23.8%</a:t>
            </a:r>
            <a:endParaRPr lang="en-US" sz="1600" dirty="0"/>
          </a:p>
        </p:txBody>
      </p:sp>
      <p:sp>
        <p:nvSpPr>
          <p:cNvPr id="66" name="Shape 64"/>
          <p:cNvSpPr/>
          <p:nvPr/>
        </p:nvSpPr>
        <p:spPr>
          <a:xfrm>
            <a:off x="8040624" y="5416906"/>
            <a:ext cx="3489960" cy="828446"/>
          </a:xfrm>
          <a:prstGeom prst="rect">
            <a:avLst/>
          </a:prstGeom>
          <a:solidFill>
            <a:srgbClr val="F7F7F7"/>
          </a:solidFill>
          <a:ln/>
        </p:spPr>
      </p:sp>
      <p:sp>
        <p:nvSpPr>
          <p:cNvPr id="67" name="Shape 65"/>
          <p:cNvSpPr/>
          <p:nvPr/>
        </p:nvSpPr>
        <p:spPr>
          <a:xfrm>
            <a:off x="11466576" y="5453482"/>
            <a:ext cx="64008" cy="755294"/>
          </a:xfrm>
          <a:prstGeom prst="rect">
            <a:avLst/>
          </a:prstGeom>
          <a:solidFill>
            <a:srgbClr val="12A566"/>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634</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+23.1%</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One More CP RO a Day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7530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982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8" name="Text 6"/>
          <p:cNvSpPr txBox="1"/>
          <p:nvPr/>
        </p:nvSpPr>
        <p:spPr>
          <a:xfrm>
            <a:off x="51846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9" name="Text 7"/>
          <p:cNvSpPr txBox="1"/>
          <p:nvPr/>
        </p:nvSpPr>
        <p:spPr>
          <a:xfrm>
            <a:off x="9125712"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486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11" name="Text 9"/>
          <p:cNvSpPr txBox="1"/>
          <p:nvPr/>
        </p:nvSpPr>
        <p:spPr>
          <a:xfrm>
            <a:off x="1073505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4" name="Shape 12"/>
          <p:cNvSpPr/>
          <p:nvPr/>
        </p:nvSpPr>
        <p:spPr>
          <a:xfrm>
            <a:off x="2871216" y="1756697"/>
            <a:ext cx="649224" cy="136676"/>
          </a:xfrm>
          <a:prstGeom prst="rect">
            <a:avLst/>
          </a:prstGeom>
          <a:solidFill>
            <a:srgbClr val="2587C5"/>
          </a:solidFill>
          <a:ln/>
        </p:spPr>
      </p:sp>
      <p:sp>
        <p:nvSpPr>
          <p:cNvPr id="15" name="Text 13"/>
          <p:cNvSpPr txBox="1"/>
          <p:nvPr/>
        </p:nvSpPr>
        <p:spPr>
          <a:xfrm>
            <a:off x="3575304"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$358K</a:t>
            </a:r>
            <a:endParaRPr lang="en-US" sz="1300" dirty="0"/>
          </a:p>
        </p:txBody>
      </p:sp>
      <p:sp>
        <p:nvSpPr>
          <p:cNvPr id="16" name="Text 14"/>
          <p:cNvSpPr txBox="1"/>
          <p:nvPr/>
        </p:nvSpPr>
        <p:spPr>
          <a:xfrm>
            <a:off x="4398264"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 name="Text 15"/>
          <p:cNvSpPr txBox="1"/>
          <p:nvPr/>
        </p:nvSpPr>
        <p:spPr>
          <a:xfrm>
            <a:off x="518464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0" name="Shape 18"/>
          <p:cNvSpPr/>
          <p:nvPr/>
        </p:nvSpPr>
        <p:spPr>
          <a:xfrm>
            <a:off x="2871216" y="2005199"/>
            <a:ext cx="634920" cy="136676"/>
          </a:xfrm>
          <a:prstGeom prst="rect">
            <a:avLst/>
          </a:prstGeom>
          <a:solidFill>
            <a:srgbClr val="2587C5"/>
          </a:solidFill>
          <a:ln/>
        </p:spPr>
      </p:sp>
      <p:sp>
        <p:nvSpPr>
          <p:cNvPr id="21" name="Text 19"/>
          <p:cNvSpPr txBox="1"/>
          <p:nvPr/>
        </p:nvSpPr>
        <p:spPr>
          <a:xfrm>
            <a:off x="3575304"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$351K</a:t>
            </a:r>
            <a:endParaRPr lang="en-US" sz="1300" dirty="0"/>
          </a:p>
        </p:txBody>
      </p:sp>
      <p:sp>
        <p:nvSpPr>
          <p:cNvPr id="22" name="Text 20"/>
          <p:cNvSpPr txBox="1"/>
          <p:nvPr/>
        </p:nvSpPr>
        <p:spPr>
          <a:xfrm>
            <a:off x="4398264"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23" name="Text 21"/>
          <p:cNvSpPr txBox="1"/>
          <p:nvPr/>
        </p:nvSpPr>
        <p:spPr>
          <a:xfrm>
            <a:off x="518464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$1,142</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6" name="Shape 24"/>
          <p:cNvSpPr/>
          <p:nvPr/>
        </p:nvSpPr>
        <p:spPr>
          <a:xfrm>
            <a:off x="2871216" y="2253700"/>
            <a:ext cx="585174" cy="136676"/>
          </a:xfrm>
          <a:prstGeom prst="rect">
            <a:avLst/>
          </a:prstGeom>
          <a:solidFill>
            <a:srgbClr val="2587C5"/>
          </a:solidFill>
          <a:ln/>
        </p:spPr>
      </p:sp>
      <p:sp>
        <p:nvSpPr>
          <p:cNvPr id="27" name="Text 25"/>
          <p:cNvSpPr txBox="1"/>
          <p:nvPr/>
        </p:nvSpPr>
        <p:spPr>
          <a:xfrm>
            <a:off x="3575304"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$323K</a:t>
            </a:r>
            <a:endParaRPr lang="en-US" sz="1300" dirty="0"/>
          </a:p>
        </p:txBody>
      </p:sp>
      <p:sp>
        <p:nvSpPr>
          <p:cNvPr id="28" name="Text 26"/>
          <p:cNvSpPr txBox="1"/>
          <p:nvPr/>
        </p:nvSpPr>
        <p:spPr>
          <a:xfrm>
            <a:off x="4398264"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9" name="Text 27"/>
          <p:cNvSpPr txBox="1"/>
          <p:nvPr/>
        </p:nvSpPr>
        <p:spPr>
          <a:xfrm>
            <a:off x="518464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$1,052</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572532" cy="136676"/>
          </a:xfrm>
          <a:prstGeom prst="rect">
            <a:avLst/>
          </a:prstGeom>
          <a:solidFill>
            <a:srgbClr val="2587C5"/>
          </a:solidFill>
          <a:ln/>
        </p:spPr>
      </p:sp>
      <p:sp>
        <p:nvSpPr>
          <p:cNvPr id="33" name="Text 31"/>
          <p:cNvSpPr txBox="1"/>
          <p:nvPr/>
        </p:nvSpPr>
        <p:spPr>
          <a:xfrm>
            <a:off x="3575304"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$316K</a:t>
            </a:r>
            <a:endParaRPr lang="en-US" sz="1300" dirty="0"/>
          </a:p>
        </p:txBody>
      </p:sp>
      <p:sp>
        <p:nvSpPr>
          <p:cNvPr id="34" name="Text 32"/>
          <p:cNvSpPr txBox="1"/>
          <p:nvPr/>
        </p:nvSpPr>
        <p:spPr>
          <a:xfrm>
            <a:off x="4398264"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35" name="Text 33"/>
          <p:cNvSpPr txBox="1"/>
          <p:nvPr/>
        </p:nvSpPr>
        <p:spPr>
          <a:xfrm>
            <a:off x="518464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$1,030</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8" name="Shape 36"/>
          <p:cNvSpPr/>
          <p:nvPr/>
        </p:nvSpPr>
        <p:spPr>
          <a:xfrm>
            <a:off x="2871216" y="2750703"/>
            <a:ext cx="411641" cy="136676"/>
          </a:xfrm>
          <a:prstGeom prst="rect">
            <a:avLst/>
          </a:prstGeom>
          <a:solidFill>
            <a:srgbClr val="2587C5"/>
          </a:solidFill>
          <a:ln/>
        </p:spPr>
      </p:sp>
      <p:sp>
        <p:nvSpPr>
          <p:cNvPr id="39" name="Text 37"/>
          <p:cNvSpPr txBox="1"/>
          <p:nvPr/>
        </p:nvSpPr>
        <p:spPr>
          <a:xfrm>
            <a:off x="3575304"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$227K</a:t>
            </a:r>
            <a:endParaRPr lang="en-US" sz="1300" dirty="0"/>
          </a:p>
        </p:txBody>
      </p:sp>
      <p:sp>
        <p:nvSpPr>
          <p:cNvPr id="40" name="Text 38"/>
          <p:cNvSpPr txBox="1"/>
          <p:nvPr/>
        </p:nvSpPr>
        <p:spPr>
          <a:xfrm>
            <a:off x="4398264"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41" name="Text 39"/>
          <p:cNvSpPr txBox="1"/>
          <p:nvPr/>
        </p:nvSpPr>
        <p:spPr>
          <a:xfrm>
            <a:off x="518464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$740</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4" name="Shape 42"/>
          <p:cNvSpPr/>
          <p:nvPr/>
        </p:nvSpPr>
        <p:spPr>
          <a:xfrm>
            <a:off x="2871216" y="2999205"/>
            <a:ext cx="368295" cy="136676"/>
          </a:xfrm>
          <a:prstGeom prst="rect">
            <a:avLst/>
          </a:prstGeom>
          <a:solidFill>
            <a:srgbClr val="2587C5"/>
          </a:solidFill>
          <a:ln/>
        </p:spPr>
      </p:sp>
      <p:sp>
        <p:nvSpPr>
          <p:cNvPr id="45" name="Text 43"/>
          <p:cNvSpPr txBox="1"/>
          <p:nvPr/>
        </p:nvSpPr>
        <p:spPr>
          <a:xfrm>
            <a:off x="3575304"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$203K</a:t>
            </a:r>
            <a:endParaRPr lang="en-US" sz="1300" dirty="0"/>
          </a:p>
        </p:txBody>
      </p:sp>
      <p:sp>
        <p:nvSpPr>
          <p:cNvPr id="46" name="Text 44"/>
          <p:cNvSpPr txBox="1"/>
          <p:nvPr/>
        </p:nvSpPr>
        <p:spPr>
          <a:xfrm>
            <a:off x="4398264"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47" name="Text 45"/>
          <p:cNvSpPr txBox="1"/>
          <p:nvPr/>
        </p:nvSpPr>
        <p:spPr>
          <a:xfrm>
            <a:off x="518464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$662</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0" name="Shape 48"/>
          <p:cNvSpPr/>
          <p:nvPr/>
        </p:nvSpPr>
        <p:spPr>
          <a:xfrm>
            <a:off x="2871216" y="3247707"/>
            <a:ext cx="282773" cy="136676"/>
          </a:xfrm>
          <a:prstGeom prst="rect">
            <a:avLst/>
          </a:prstGeom>
          <a:solidFill>
            <a:srgbClr val="2587C5"/>
          </a:solidFill>
          <a:ln/>
        </p:spPr>
      </p:sp>
      <p:sp>
        <p:nvSpPr>
          <p:cNvPr id="51" name="Text 49"/>
          <p:cNvSpPr txBox="1"/>
          <p:nvPr/>
        </p:nvSpPr>
        <p:spPr>
          <a:xfrm>
            <a:off x="3575304"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52" name="Text 50"/>
          <p:cNvSpPr txBox="1"/>
          <p:nvPr/>
        </p:nvSpPr>
        <p:spPr>
          <a:xfrm>
            <a:off x="4398264"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53" name="Text 51"/>
          <p:cNvSpPr txBox="1"/>
          <p:nvPr/>
        </p:nvSpPr>
        <p:spPr>
          <a:xfrm>
            <a:off x="518464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2871216" y="3496208"/>
            <a:ext cx="267139" cy="136676"/>
          </a:xfrm>
          <a:prstGeom prst="rect">
            <a:avLst/>
          </a:prstGeom>
          <a:solidFill>
            <a:srgbClr val="2587C5"/>
          </a:solidFill>
          <a:ln/>
        </p:spPr>
      </p:sp>
      <p:sp>
        <p:nvSpPr>
          <p:cNvPr id="57" name="Text 55"/>
          <p:cNvSpPr txBox="1"/>
          <p:nvPr/>
        </p:nvSpPr>
        <p:spPr>
          <a:xfrm>
            <a:off x="3575304"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$148K</a:t>
            </a:r>
            <a:endParaRPr lang="en-US" sz="1300" dirty="0"/>
          </a:p>
        </p:txBody>
      </p:sp>
      <p:sp>
        <p:nvSpPr>
          <p:cNvPr id="58" name="Text 56"/>
          <p:cNvSpPr txBox="1"/>
          <p:nvPr/>
        </p:nvSpPr>
        <p:spPr>
          <a:xfrm>
            <a:off x="4398264"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9" name="Text 57"/>
          <p:cNvSpPr txBox="1"/>
          <p:nvPr/>
        </p:nvSpPr>
        <p:spPr>
          <a:xfrm>
            <a:off x="518464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$480</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2" name="Shape 60"/>
          <p:cNvSpPr/>
          <p:nvPr/>
        </p:nvSpPr>
        <p:spPr>
          <a:xfrm>
            <a:off x="2871216" y="3744710"/>
            <a:ext cx="255684" cy="136676"/>
          </a:xfrm>
          <a:prstGeom prst="rect">
            <a:avLst/>
          </a:prstGeom>
          <a:solidFill>
            <a:srgbClr val="2587C5"/>
          </a:solidFill>
          <a:ln/>
        </p:spPr>
      </p:sp>
      <p:sp>
        <p:nvSpPr>
          <p:cNvPr id="63" name="Text 61"/>
          <p:cNvSpPr txBox="1"/>
          <p:nvPr/>
        </p:nvSpPr>
        <p:spPr>
          <a:xfrm>
            <a:off x="3575304"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$141K</a:t>
            </a:r>
            <a:endParaRPr lang="en-US" sz="1300" dirty="0"/>
          </a:p>
        </p:txBody>
      </p:sp>
      <p:sp>
        <p:nvSpPr>
          <p:cNvPr id="64" name="Text 62"/>
          <p:cNvSpPr txBox="1"/>
          <p:nvPr/>
        </p:nvSpPr>
        <p:spPr>
          <a:xfrm>
            <a:off x="4398264"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5" name="Text 63"/>
          <p:cNvSpPr txBox="1"/>
          <p:nvPr/>
        </p:nvSpPr>
        <p:spPr>
          <a:xfrm>
            <a:off x="518464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8" name="Shape 66"/>
          <p:cNvSpPr/>
          <p:nvPr/>
        </p:nvSpPr>
        <p:spPr>
          <a:xfrm>
            <a:off x="2871216" y="3993212"/>
            <a:ext cx="238260" cy="136676"/>
          </a:xfrm>
          <a:prstGeom prst="rect">
            <a:avLst/>
          </a:prstGeom>
          <a:solidFill>
            <a:srgbClr val="2587C5"/>
          </a:solidFill>
          <a:ln/>
        </p:spPr>
      </p:sp>
      <p:sp>
        <p:nvSpPr>
          <p:cNvPr id="69" name="Text 67"/>
          <p:cNvSpPr txBox="1"/>
          <p:nvPr/>
        </p:nvSpPr>
        <p:spPr>
          <a:xfrm>
            <a:off x="3575304"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70" name="Text 68"/>
          <p:cNvSpPr txBox="1"/>
          <p:nvPr/>
        </p:nvSpPr>
        <p:spPr>
          <a:xfrm>
            <a:off x="4398264"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71" name="Text 69"/>
          <p:cNvSpPr txBox="1"/>
          <p:nvPr/>
        </p:nvSpPr>
        <p:spPr>
          <a:xfrm>
            <a:off x="518464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$429</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4" name="Shape 72"/>
          <p:cNvSpPr/>
          <p:nvPr/>
        </p:nvSpPr>
        <p:spPr>
          <a:xfrm>
            <a:off x="2871216" y="4241713"/>
            <a:ext cx="225886" cy="136676"/>
          </a:xfrm>
          <a:prstGeom prst="rect">
            <a:avLst/>
          </a:prstGeom>
          <a:solidFill>
            <a:srgbClr val="2587C5"/>
          </a:solidFill>
          <a:ln/>
        </p:spPr>
      </p:sp>
      <p:sp>
        <p:nvSpPr>
          <p:cNvPr id="75" name="Text 73"/>
          <p:cNvSpPr txBox="1"/>
          <p:nvPr/>
        </p:nvSpPr>
        <p:spPr>
          <a:xfrm>
            <a:off x="3575304"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$125K</a:t>
            </a:r>
            <a:endParaRPr lang="en-US" sz="1300" dirty="0"/>
          </a:p>
        </p:txBody>
      </p:sp>
      <p:sp>
        <p:nvSpPr>
          <p:cNvPr id="76" name="Text 74"/>
          <p:cNvSpPr txBox="1"/>
          <p:nvPr/>
        </p:nvSpPr>
        <p:spPr>
          <a:xfrm>
            <a:off x="4398264"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7" name="Text 75"/>
          <p:cNvSpPr txBox="1"/>
          <p:nvPr/>
        </p:nvSpPr>
        <p:spPr>
          <a:xfrm>
            <a:off x="518464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0" name="Shape 78"/>
          <p:cNvSpPr/>
          <p:nvPr/>
        </p:nvSpPr>
        <p:spPr>
          <a:xfrm>
            <a:off x="2871216" y="4490215"/>
            <a:ext cx="222080" cy="136676"/>
          </a:xfrm>
          <a:prstGeom prst="rect">
            <a:avLst/>
          </a:prstGeom>
          <a:solidFill>
            <a:srgbClr val="2587C5"/>
          </a:solidFill>
          <a:ln/>
        </p:spPr>
      </p:sp>
      <p:sp>
        <p:nvSpPr>
          <p:cNvPr id="81" name="Text 79"/>
          <p:cNvSpPr txBox="1"/>
          <p:nvPr/>
        </p:nvSpPr>
        <p:spPr>
          <a:xfrm>
            <a:off x="3575304"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82" name="Text 80"/>
          <p:cNvSpPr txBox="1"/>
          <p:nvPr/>
        </p:nvSpPr>
        <p:spPr>
          <a:xfrm>
            <a:off x="4398264"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3" name="Text 81"/>
          <p:cNvSpPr txBox="1"/>
          <p:nvPr/>
        </p:nvSpPr>
        <p:spPr>
          <a:xfrm>
            <a:off x="518464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6" name="Shape 84"/>
          <p:cNvSpPr/>
          <p:nvPr/>
        </p:nvSpPr>
        <p:spPr>
          <a:xfrm>
            <a:off x="2871216" y="4738717"/>
            <a:ext cx="201519" cy="136676"/>
          </a:xfrm>
          <a:prstGeom prst="rect">
            <a:avLst/>
          </a:prstGeom>
          <a:solidFill>
            <a:srgbClr val="2587C5"/>
          </a:solidFill>
          <a:ln/>
        </p:spPr>
      </p:sp>
      <p:sp>
        <p:nvSpPr>
          <p:cNvPr id="87" name="Text 85"/>
          <p:cNvSpPr txBox="1"/>
          <p:nvPr/>
        </p:nvSpPr>
        <p:spPr>
          <a:xfrm>
            <a:off x="3575304"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$111K</a:t>
            </a:r>
            <a:endParaRPr lang="en-US" sz="1300" dirty="0"/>
          </a:p>
        </p:txBody>
      </p:sp>
      <p:sp>
        <p:nvSpPr>
          <p:cNvPr id="88" name="Text 86"/>
          <p:cNvSpPr txBox="1"/>
          <p:nvPr/>
        </p:nvSpPr>
        <p:spPr>
          <a:xfrm>
            <a:off x="4398264"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a:t>
            </a:r>
            <a:endParaRPr lang="en-US" sz="1300" dirty="0"/>
          </a:p>
        </p:txBody>
      </p:sp>
      <p:sp>
        <p:nvSpPr>
          <p:cNvPr id="89" name="Text 87"/>
          <p:cNvSpPr txBox="1"/>
          <p:nvPr/>
        </p:nvSpPr>
        <p:spPr>
          <a:xfrm>
            <a:off x="518464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$362</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2" name="Shape 90"/>
          <p:cNvSpPr/>
          <p:nvPr/>
        </p:nvSpPr>
        <p:spPr>
          <a:xfrm>
            <a:off x="2871216" y="4987218"/>
            <a:ext cx="198656" cy="136676"/>
          </a:xfrm>
          <a:prstGeom prst="rect">
            <a:avLst/>
          </a:prstGeom>
          <a:solidFill>
            <a:srgbClr val="2587C5"/>
          </a:solidFill>
          <a:ln/>
        </p:spPr>
      </p:sp>
      <p:sp>
        <p:nvSpPr>
          <p:cNvPr id="93" name="Text 91"/>
          <p:cNvSpPr txBox="1"/>
          <p:nvPr/>
        </p:nvSpPr>
        <p:spPr>
          <a:xfrm>
            <a:off x="3575304"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$110K</a:t>
            </a:r>
            <a:endParaRPr lang="en-US" sz="1300" dirty="0"/>
          </a:p>
        </p:txBody>
      </p:sp>
      <p:sp>
        <p:nvSpPr>
          <p:cNvPr id="94" name="Text 92"/>
          <p:cNvSpPr txBox="1"/>
          <p:nvPr/>
        </p:nvSpPr>
        <p:spPr>
          <a:xfrm>
            <a:off x="4398264"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95" name="Text 93"/>
          <p:cNvSpPr txBox="1"/>
          <p:nvPr/>
        </p:nvSpPr>
        <p:spPr>
          <a:xfrm>
            <a:off x="518464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8" name="Shape 96"/>
          <p:cNvSpPr/>
          <p:nvPr/>
        </p:nvSpPr>
        <p:spPr>
          <a:xfrm>
            <a:off x="2871216" y="5235720"/>
            <a:ext cx="197675" cy="136676"/>
          </a:xfrm>
          <a:prstGeom prst="rect">
            <a:avLst/>
          </a:prstGeom>
          <a:solidFill>
            <a:srgbClr val="2587C5"/>
          </a:solidFill>
          <a:ln/>
        </p:spPr>
      </p:sp>
      <p:sp>
        <p:nvSpPr>
          <p:cNvPr id="99" name="Text 97"/>
          <p:cNvSpPr txBox="1"/>
          <p:nvPr/>
        </p:nvSpPr>
        <p:spPr>
          <a:xfrm>
            <a:off x="3575304"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0" name="Text 98"/>
          <p:cNvSpPr txBox="1"/>
          <p:nvPr/>
        </p:nvSpPr>
        <p:spPr>
          <a:xfrm>
            <a:off x="4398264"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01" name="Text 99"/>
          <p:cNvSpPr txBox="1"/>
          <p:nvPr/>
        </p:nvSpPr>
        <p:spPr>
          <a:xfrm>
            <a:off x="518464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$356</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96835" cy="136676"/>
          </a:xfrm>
          <a:prstGeom prst="rect">
            <a:avLst/>
          </a:prstGeom>
          <a:solidFill>
            <a:srgbClr val="2587C5"/>
          </a:solidFill>
          <a:ln/>
        </p:spPr>
      </p:sp>
      <p:sp>
        <p:nvSpPr>
          <p:cNvPr id="105" name="Text 103"/>
          <p:cNvSpPr txBox="1"/>
          <p:nvPr/>
        </p:nvSpPr>
        <p:spPr>
          <a:xfrm>
            <a:off x="3575304"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6" name="Text 104"/>
          <p:cNvSpPr txBox="1"/>
          <p:nvPr/>
        </p:nvSpPr>
        <p:spPr>
          <a:xfrm>
            <a:off x="4398264"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a:t>
            </a:r>
            <a:endParaRPr lang="en-US" sz="1300" dirty="0"/>
          </a:p>
        </p:txBody>
      </p:sp>
      <p:sp>
        <p:nvSpPr>
          <p:cNvPr id="107" name="Text 105"/>
          <p:cNvSpPr txBox="1"/>
          <p:nvPr/>
        </p:nvSpPr>
        <p:spPr>
          <a:xfrm>
            <a:off x="518464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$354</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0" name="Shape 108"/>
          <p:cNvSpPr/>
          <p:nvPr/>
        </p:nvSpPr>
        <p:spPr>
          <a:xfrm>
            <a:off x="2871216" y="5732723"/>
            <a:ext cx="187758" cy="136676"/>
          </a:xfrm>
          <a:prstGeom prst="rect">
            <a:avLst/>
          </a:prstGeom>
          <a:solidFill>
            <a:srgbClr val="2587C5"/>
          </a:solidFill>
          <a:ln/>
        </p:spPr>
      </p:sp>
      <p:sp>
        <p:nvSpPr>
          <p:cNvPr id="111" name="Text 109"/>
          <p:cNvSpPr txBox="1"/>
          <p:nvPr/>
        </p:nvSpPr>
        <p:spPr>
          <a:xfrm>
            <a:off x="3575304" y="567681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$104K</a:t>
            </a:r>
            <a:endParaRPr lang="en-US" sz="1300" dirty="0"/>
          </a:p>
        </p:txBody>
      </p:sp>
      <p:sp>
        <p:nvSpPr>
          <p:cNvPr id="112" name="Text 110"/>
          <p:cNvSpPr txBox="1"/>
          <p:nvPr/>
        </p:nvSpPr>
        <p:spPr>
          <a:xfrm>
            <a:off x="4398264" y="567681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13" name="Text 111"/>
          <p:cNvSpPr txBox="1"/>
          <p:nvPr/>
        </p:nvSpPr>
        <p:spPr>
          <a:xfrm>
            <a:off x="5184648"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$338</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6" name="Shape 114"/>
          <p:cNvSpPr/>
          <p:nvPr/>
        </p:nvSpPr>
        <p:spPr>
          <a:xfrm>
            <a:off x="8421624" y="1756697"/>
            <a:ext cx="187228" cy="136676"/>
          </a:xfrm>
          <a:prstGeom prst="rect">
            <a:avLst/>
          </a:prstGeom>
          <a:solidFill>
            <a:srgbClr val="2587C5"/>
          </a:solidFill>
          <a:ln/>
        </p:spPr>
      </p:sp>
      <p:sp>
        <p:nvSpPr>
          <p:cNvPr id="117" name="Text 115"/>
          <p:cNvSpPr txBox="1"/>
          <p:nvPr/>
        </p:nvSpPr>
        <p:spPr>
          <a:xfrm>
            <a:off x="9125712"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$103K</a:t>
            </a:r>
            <a:endParaRPr lang="en-US" sz="1300" dirty="0"/>
          </a:p>
        </p:txBody>
      </p:sp>
      <p:sp>
        <p:nvSpPr>
          <p:cNvPr id="118" name="Text 116"/>
          <p:cNvSpPr txBox="1"/>
          <p:nvPr/>
        </p:nvSpPr>
        <p:spPr>
          <a:xfrm>
            <a:off x="9948672"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119" name="Text 117"/>
          <p:cNvSpPr txBox="1"/>
          <p:nvPr/>
        </p:nvSpPr>
        <p:spPr>
          <a:xfrm>
            <a:off x="10735056"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2" name="Shape 120"/>
          <p:cNvSpPr/>
          <p:nvPr/>
        </p:nvSpPr>
        <p:spPr>
          <a:xfrm>
            <a:off x="8421624" y="2005199"/>
            <a:ext cx="183848" cy="136676"/>
          </a:xfrm>
          <a:prstGeom prst="rect">
            <a:avLst/>
          </a:prstGeom>
          <a:solidFill>
            <a:srgbClr val="2587C5"/>
          </a:solidFill>
          <a:ln/>
        </p:spPr>
      </p:sp>
      <p:sp>
        <p:nvSpPr>
          <p:cNvPr id="123" name="Text 121"/>
          <p:cNvSpPr txBox="1"/>
          <p:nvPr/>
        </p:nvSpPr>
        <p:spPr>
          <a:xfrm>
            <a:off x="9125712"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24" name="Text 122"/>
          <p:cNvSpPr txBox="1"/>
          <p:nvPr/>
        </p:nvSpPr>
        <p:spPr>
          <a:xfrm>
            <a:off x="9948672"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25" name="Text 123"/>
          <p:cNvSpPr txBox="1"/>
          <p:nvPr/>
        </p:nvSpPr>
        <p:spPr>
          <a:xfrm>
            <a:off x="10735056"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$331</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421624" y="2253700"/>
            <a:ext cx="174845" cy="136676"/>
          </a:xfrm>
          <a:prstGeom prst="rect">
            <a:avLst/>
          </a:prstGeom>
          <a:solidFill>
            <a:srgbClr val="2587C5"/>
          </a:solidFill>
          <a:ln/>
        </p:spPr>
      </p:sp>
      <p:sp>
        <p:nvSpPr>
          <p:cNvPr id="129" name="Text 127"/>
          <p:cNvSpPr txBox="1"/>
          <p:nvPr/>
        </p:nvSpPr>
        <p:spPr>
          <a:xfrm>
            <a:off x="9125712"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$97K</a:t>
            </a:r>
            <a:endParaRPr lang="en-US" sz="1300" dirty="0"/>
          </a:p>
        </p:txBody>
      </p:sp>
      <p:sp>
        <p:nvSpPr>
          <p:cNvPr id="130" name="Text 128"/>
          <p:cNvSpPr txBox="1"/>
          <p:nvPr/>
        </p:nvSpPr>
        <p:spPr>
          <a:xfrm>
            <a:off x="9948672"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31" name="Text 129"/>
          <p:cNvSpPr txBox="1"/>
          <p:nvPr/>
        </p:nvSpPr>
        <p:spPr>
          <a:xfrm>
            <a:off x="10735056"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$314</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4" name="Shape 132"/>
          <p:cNvSpPr/>
          <p:nvPr/>
        </p:nvSpPr>
        <p:spPr>
          <a:xfrm>
            <a:off x="8421624" y="2502202"/>
            <a:ext cx="172138" cy="136676"/>
          </a:xfrm>
          <a:prstGeom prst="rect">
            <a:avLst/>
          </a:prstGeom>
          <a:solidFill>
            <a:srgbClr val="2587C5"/>
          </a:solidFill>
          <a:ln/>
        </p:spPr>
      </p:sp>
      <p:sp>
        <p:nvSpPr>
          <p:cNvPr id="135" name="Text 133"/>
          <p:cNvSpPr txBox="1"/>
          <p:nvPr/>
        </p:nvSpPr>
        <p:spPr>
          <a:xfrm>
            <a:off x="9125712"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136" name="Text 134"/>
          <p:cNvSpPr txBox="1"/>
          <p:nvPr/>
        </p:nvSpPr>
        <p:spPr>
          <a:xfrm>
            <a:off x="9948672"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7" name="Text 135"/>
          <p:cNvSpPr txBox="1"/>
          <p:nvPr/>
        </p:nvSpPr>
        <p:spPr>
          <a:xfrm>
            <a:off x="10735056"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8421624" y="2750703"/>
            <a:ext cx="170555" cy="136676"/>
          </a:xfrm>
          <a:prstGeom prst="rect">
            <a:avLst/>
          </a:prstGeom>
          <a:solidFill>
            <a:srgbClr val="2587C5"/>
          </a:solidFill>
          <a:ln/>
        </p:spPr>
      </p:sp>
      <p:sp>
        <p:nvSpPr>
          <p:cNvPr id="141" name="Text 139"/>
          <p:cNvSpPr txBox="1"/>
          <p:nvPr/>
        </p:nvSpPr>
        <p:spPr>
          <a:xfrm>
            <a:off x="9125712"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$94K</a:t>
            </a:r>
            <a:endParaRPr lang="en-US" sz="1300" dirty="0"/>
          </a:p>
        </p:txBody>
      </p:sp>
      <p:sp>
        <p:nvSpPr>
          <p:cNvPr id="142" name="Text 140"/>
          <p:cNvSpPr txBox="1"/>
          <p:nvPr/>
        </p:nvSpPr>
        <p:spPr>
          <a:xfrm>
            <a:off x="9948672"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143" name="Text 141"/>
          <p:cNvSpPr txBox="1"/>
          <p:nvPr/>
        </p:nvSpPr>
        <p:spPr>
          <a:xfrm>
            <a:off x="10735056"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$307</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6" name="Shape 144"/>
          <p:cNvSpPr/>
          <p:nvPr/>
        </p:nvSpPr>
        <p:spPr>
          <a:xfrm>
            <a:off x="8421624" y="2999205"/>
            <a:ext cx="162333" cy="136676"/>
          </a:xfrm>
          <a:prstGeom prst="rect">
            <a:avLst/>
          </a:prstGeom>
          <a:solidFill>
            <a:srgbClr val="2587C5"/>
          </a:solidFill>
          <a:ln/>
        </p:spPr>
      </p:sp>
      <p:sp>
        <p:nvSpPr>
          <p:cNvPr id="147" name="Text 145"/>
          <p:cNvSpPr txBox="1"/>
          <p:nvPr/>
        </p:nvSpPr>
        <p:spPr>
          <a:xfrm>
            <a:off x="9125712"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$90K</a:t>
            </a:r>
            <a:endParaRPr lang="en-US" sz="1300" dirty="0"/>
          </a:p>
        </p:txBody>
      </p:sp>
      <p:sp>
        <p:nvSpPr>
          <p:cNvPr id="148" name="Text 146"/>
          <p:cNvSpPr txBox="1"/>
          <p:nvPr/>
        </p:nvSpPr>
        <p:spPr>
          <a:xfrm>
            <a:off x="9948672"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149" name="Text 147"/>
          <p:cNvSpPr txBox="1"/>
          <p:nvPr/>
        </p:nvSpPr>
        <p:spPr>
          <a:xfrm>
            <a:off x="10735056"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2" name="Shape 150"/>
          <p:cNvSpPr/>
          <p:nvPr/>
        </p:nvSpPr>
        <p:spPr>
          <a:xfrm>
            <a:off x="8421624" y="3247707"/>
            <a:ext cx="157532" cy="136676"/>
          </a:xfrm>
          <a:prstGeom prst="rect">
            <a:avLst/>
          </a:prstGeom>
          <a:solidFill>
            <a:srgbClr val="2587C5"/>
          </a:solidFill>
          <a:ln/>
        </p:spPr>
      </p:sp>
      <p:sp>
        <p:nvSpPr>
          <p:cNvPr id="153" name="Text 151"/>
          <p:cNvSpPr txBox="1"/>
          <p:nvPr/>
        </p:nvSpPr>
        <p:spPr>
          <a:xfrm>
            <a:off x="9125712"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$87K</a:t>
            </a:r>
            <a:endParaRPr lang="en-US" sz="1300" dirty="0"/>
          </a:p>
        </p:txBody>
      </p:sp>
      <p:sp>
        <p:nvSpPr>
          <p:cNvPr id="154" name="Text 152"/>
          <p:cNvSpPr txBox="1"/>
          <p:nvPr/>
        </p:nvSpPr>
        <p:spPr>
          <a:xfrm>
            <a:off x="9948672"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55" name="Text 153"/>
          <p:cNvSpPr txBox="1"/>
          <p:nvPr/>
        </p:nvSpPr>
        <p:spPr>
          <a:xfrm>
            <a:off x="10735056"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421624" y="3496208"/>
            <a:ext cx="155767" cy="136676"/>
          </a:xfrm>
          <a:prstGeom prst="rect">
            <a:avLst/>
          </a:prstGeom>
          <a:solidFill>
            <a:srgbClr val="2587C5"/>
          </a:solidFill>
          <a:ln/>
        </p:spPr>
      </p:sp>
      <p:sp>
        <p:nvSpPr>
          <p:cNvPr id="159" name="Text 157"/>
          <p:cNvSpPr txBox="1"/>
          <p:nvPr/>
        </p:nvSpPr>
        <p:spPr>
          <a:xfrm>
            <a:off x="9125712"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$86K</a:t>
            </a:r>
            <a:endParaRPr lang="en-US" sz="1300" dirty="0"/>
          </a:p>
        </p:txBody>
      </p:sp>
      <p:sp>
        <p:nvSpPr>
          <p:cNvPr id="160" name="Text 158"/>
          <p:cNvSpPr txBox="1"/>
          <p:nvPr/>
        </p:nvSpPr>
        <p:spPr>
          <a:xfrm>
            <a:off x="9948672"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61" name="Text 159"/>
          <p:cNvSpPr txBox="1"/>
          <p:nvPr/>
        </p:nvSpPr>
        <p:spPr>
          <a:xfrm>
            <a:off x="10735056"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4" name="Shape 162"/>
          <p:cNvSpPr/>
          <p:nvPr/>
        </p:nvSpPr>
        <p:spPr>
          <a:xfrm>
            <a:off x="8421624" y="3744710"/>
            <a:ext cx="149072" cy="136676"/>
          </a:xfrm>
          <a:prstGeom prst="rect">
            <a:avLst/>
          </a:prstGeom>
          <a:solidFill>
            <a:srgbClr val="2587C5"/>
          </a:solidFill>
          <a:ln/>
        </p:spPr>
      </p:sp>
      <p:sp>
        <p:nvSpPr>
          <p:cNvPr id="165" name="Text 163"/>
          <p:cNvSpPr txBox="1"/>
          <p:nvPr/>
        </p:nvSpPr>
        <p:spPr>
          <a:xfrm>
            <a:off x="9125712"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$82K</a:t>
            </a:r>
            <a:endParaRPr lang="en-US" sz="1300" dirty="0"/>
          </a:p>
        </p:txBody>
      </p:sp>
      <p:sp>
        <p:nvSpPr>
          <p:cNvPr id="166" name="Text 164"/>
          <p:cNvSpPr txBox="1"/>
          <p:nvPr/>
        </p:nvSpPr>
        <p:spPr>
          <a:xfrm>
            <a:off x="9948672"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167" name="Text 165"/>
          <p:cNvSpPr txBox="1"/>
          <p:nvPr/>
        </p:nvSpPr>
        <p:spPr>
          <a:xfrm>
            <a:off x="10735056"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134602" cy="136676"/>
          </a:xfrm>
          <a:prstGeom prst="rect">
            <a:avLst/>
          </a:prstGeom>
          <a:solidFill>
            <a:srgbClr val="2587C5"/>
          </a:solidFill>
          <a:ln/>
        </p:spPr>
      </p:sp>
      <p:sp>
        <p:nvSpPr>
          <p:cNvPr id="171" name="Text 169"/>
          <p:cNvSpPr txBox="1"/>
          <p:nvPr/>
        </p:nvSpPr>
        <p:spPr>
          <a:xfrm>
            <a:off x="9125712"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$74K</a:t>
            </a:r>
            <a:endParaRPr lang="en-US" sz="1300" dirty="0"/>
          </a:p>
        </p:txBody>
      </p:sp>
      <p:sp>
        <p:nvSpPr>
          <p:cNvPr id="172" name="Text 170"/>
          <p:cNvSpPr txBox="1"/>
          <p:nvPr/>
        </p:nvSpPr>
        <p:spPr>
          <a:xfrm>
            <a:off x="9948672"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3" name="Text 171"/>
          <p:cNvSpPr txBox="1"/>
          <p:nvPr/>
        </p:nvSpPr>
        <p:spPr>
          <a:xfrm>
            <a:off x="10735056"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$242</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6" name="Shape 174"/>
          <p:cNvSpPr/>
          <p:nvPr/>
        </p:nvSpPr>
        <p:spPr>
          <a:xfrm>
            <a:off x="8421624" y="4241713"/>
            <a:ext cx="131833" cy="136676"/>
          </a:xfrm>
          <a:prstGeom prst="rect">
            <a:avLst/>
          </a:prstGeom>
          <a:solidFill>
            <a:srgbClr val="2587C5"/>
          </a:solidFill>
          <a:ln/>
        </p:spPr>
      </p:sp>
      <p:sp>
        <p:nvSpPr>
          <p:cNvPr id="177" name="Text 175"/>
          <p:cNvSpPr txBox="1"/>
          <p:nvPr/>
        </p:nvSpPr>
        <p:spPr>
          <a:xfrm>
            <a:off x="9125712"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78" name="Text 176"/>
          <p:cNvSpPr txBox="1"/>
          <p:nvPr/>
        </p:nvSpPr>
        <p:spPr>
          <a:xfrm>
            <a:off x="9948672"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79" name="Text 177"/>
          <p:cNvSpPr txBox="1"/>
          <p:nvPr/>
        </p:nvSpPr>
        <p:spPr>
          <a:xfrm>
            <a:off x="10735056"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2" name="Shape 180"/>
          <p:cNvSpPr/>
          <p:nvPr/>
        </p:nvSpPr>
        <p:spPr>
          <a:xfrm>
            <a:off x="8421624" y="4490215"/>
            <a:ext cx="131799" cy="136676"/>
          </a:xfrm>
          <a:prstGeom prst="rect">
            <a:avLst/>
          </a:prstGeom>
          <a:solidFill>
            <a:srgbClr val="2587C5"/>
          </a:solidFill>
          <a:ln/>
        </p:spPr>
      </p:sp>
      <p:sp>
        <p:nvSpPr>
          <p:cNvPr id="183" name="Text 181"/>
          <p:cNvSpPr txBox="1"/>
          <p:nvPr/>
        </p:nvSpPr>
        <p:spPr>
          <a:xfrm>
            <a:off x="9125712"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84" name="Text 182"/>
          <p:cNvSpPr txBox="1"/>
          <p:nvPr/>
        </p:nvSpPr>
        <p:spPr>
          <a:xfrm>
            <a:off x="9948672"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185" name="Text 183"/>
          <p:cNvSpPr txBox="1"/>
          <p:nvPr/>
        </p:nvSpPr>
        <p:spPr>
          <a:xfrm>
            <a:off x="10735056"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88" name="Shape 186"/>
          <p:cNvSpPr/>
          <p:nvPr/>
        </p:nvSpPr>
        <p:spPr>
          <a:xfrm>
            <a:off x="8421624" y="4738717"/>
            <a:ext cx="131739" cy="136676"/>
          </a:xfrm>
          <a:prstGeom prst="rect">
            <a:avLst/>
          </a:prstGeom>
          <a:solidFill>
            <a:srgbClr val="2587C5"/>
          </a:solidFill>
          <a:ln/>
        </p:spPr>
      </p:sp>
      <p:sp>
        <p:nvSpPr>
          <p:cNvPr id="189" name="Text 187"/>
          <p:cNvSpPr txBox="1"/>
          <p:nvPr/>
        </p:nvSpPr>
        <p:spPr>
          <a:xfrm>
            <a:off x="9125712"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90" name="Text 188"/>
          <p:cNvSpPr txBox="1"/>
          <p:nvPr/>
        </p:nvSpPr>
        <p:spPr>
          <a:xfrm>
            <a:off x="9948672"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91" name="Text 189"/>
          <p:cNvSpPr txBox="1"/>
          <p:nvPr/>
        </p:nvSpPr>
        <p:spPr>
          <a:xfrm>
            <a:off x="10735056"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94" name="Shape 192"/>
          <p:cNvSpPr/>
          <p:nvPr/>
        </p:nvSpPr>
        <p:spPr>
          <a:xfrm>
            <a:off x="8421624" y="4987218"/>
            <a:ext cx="122451" cy="136676"/>
          </a:xfrm>
          <a:prstGeom prst="rect">
            <a:avLst/>
          </a:prstGeom>
          <a:solidFill>
            <a:srgbClr val="2587C5"/>
          </a:solidFill>
          <a:ln/>
        </p:spPr>
      </p:sp>
      <p:sp>
        <p:nvSpPr>
          <p:cNvPr id="195" name="Text 193"/>
          <p:cNvSpPr txBox="1"/>
          <p:nvPr/>
        </p:nvSpPr>
        <p:spPr>
          <a:xfrm>
            <a:off x="9125712"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96" name="Text 194"/>
          <p:cNvSpPr txBox="1"/>
          <p:nvPr/>
        </p:nvSpPr>
        <p:spPr>
          <a:xfrm>
            <a:off x="9948672"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197" name="Text 195"/>
          <p:cNvSpPr txBox="1"/>
          <p:nvPr/>
        </p:nvSpPr>
        <p:spPr>
          <a:xfrm>
            <a:off x="10735056"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00" name="Shape 198"/>
          <p:cNvSpPr/>
          <p:nvPr/>
        </p:nvSpPr>
        <p:spPr>
          <a:xfrm>
            <a:off x="8421624" y="5235720"/>
            <a:ext cx="120654" cy="136676"/>
          </a:xfrm>
          <a:prstGeom prst="rect">
            <a:avLst/>
          </a:prstGeom>
          <a:solidFill>
            <a:srgbClr val="2587C5"/>
          </a:solidFill>
          <a:ln/>
        </p:spPr>
      </p:sp>
      <p:sp>
        <p:nvSpPr>
          <p:cNvPr id="201" name="Text 199"/>
          <p:cNvSpPr txBox="1"/>
          <p:nvPr/>
        </p:nvSpPr>
        <p:spPr>
          <a:xfrm>
            <a:off x="9125712"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$67K</a:t>
            </a:r>
            <a:endParaRPr lang="en-US" sz="1300" dirty="0"/>
          </a:p>
        </p:txBody>
      </p:sp>
      <p:sp>
        <p:nvSpPr>
          <p:cNvPr id="202" name="Text 200"/>
          <p:cNvSpPr txBox="1"/>
          <p:nvPr/>
        </p:nvSpPr>
        <p:spPr>
          <a:xfrm>
            <a:off x="9948672"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203" name="Text 201"/>
          <p:cNvSpPr txBox="1"/>
          <p:nvPr/>
        </p:nvSpPr>
        <p:spPr>
          <a:xfrm>
            <a:off x="10735056"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6" name="Shape 204"/>
          <p:cNvSpPr/>
          <p:nvPr/>
        </p:nvSpPr>
        <p:spPr>
          <a:xfrm>
            <a:off x="8421624" y="5484222"/>
            <a:ext cx="118797" cy="136676"/>
          </a:xfrm>
          <a:prstGeom prst="rect">
            <a:avLst/>
          </a:prstGeom>
          <a:solidFill>
            <a:srgbClr val="2587C5"/>
          </a:solidFill>
          <a:ln/>
        </p:spPr>
      </p:sp>
      <p:sp>
        <p:nvSpPr>
          <p:cNvPr id="207" name="Text 205"/>
          <p:cNvSpPr txBox="1"/>
          <p:nvPr/>
        </p:nvSpPr>
        <p:spPr>
          <a:xfrm>
            <a:off x="9125712"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208" name="Text 206"/>
          <p:cNvSpPr txBox="1"/>
          <p:nvPr/>
        </p:nvSpPr>
        <p:spPr>
          <a:xfrm>
            <a:off x="9948672"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209" name="Text 207"/>
          <p:cNvSpPr txBox="1"/>
          <p:nvPr/>
        </p:nvSpPr>
        <p:spPr>
          <a:xfrm>
            <a:off x="10735056"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$214</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One more customer-pay RO a day at every store is worth $4,473,284 a year in labor and parts gross. Each RO averages $342.</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2026-10-28T15:31:22Z</dcterms:created>
  <dcterms:modified xsi:type="dcterms:W3CDTF">2026-10-28T15:31:22Z</dcterms:modified>
</cp:coreProperties>
</file>