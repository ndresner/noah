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charts/chart6.xml" ContentType="application/vnd.openxmlformats-officedocument.drawingml.chart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</p:sldIdLst>
  <p:notesMasterIdLst>
    <p:notesMasterId r:id="rId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notesMaster" Target="notesMasters/notesMaster1.xml"/><Relationship Id="rId7" Type="http://schemas.openxmlformats.org/officeDocument/2006/relationships/presProps" Target="presProps.xml"/><Relationship Id="rId8" Type="http://schemas.openxmlformats.org/officeDocument/2006/relationships/viewProps" Target="viewProps.xml"/><Relationship Id="rId9" Type="http://schemas.openxmlformats.org/officeDocument/2006/relationships/theme" Target="theme/theme1.xml"/><Relationship Id="rId10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_rels/chart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.xlsx"/></Relationships>
</file>

<file path=ppt/charts/_rels/chart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6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2587C5"/>
            </a:solidFill>
            <a:ln w="38100" cap="flat">
              <a:solidFill>
                <a:srgbClr val="2587C5"/>
              </a:solidFill>
              <a:prstDash val="solid"/>
              <a:round/>
            </a:ln>
            <a:effectLst/>
          </c:spPr>
          <c:invertIfNegative val="0"/>
          <c:dLbls>
            <c:numFmt formatCode="#,##0.0,&quot;K&quot;" sourceLinked="0"/>
            <c:txPr>
              <a:bodyPr/>
              <a:lstStyle/>
              <a:p>
                <a:pPr>
                  <a:defRPr b="0" i="0" strike="noStrike" sz="1400" u="none">
                    <a:solidFill>
                      <a:srgbClr val="1A1A1A"/>
                    </a:solidFill>
                    <a:latin typeface="+mn-lt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8"/>
            <c:spPr>
              <a:solidFill>
                <a:srgbClr val="2587C5"/>
              </a:solidFill>
              <a:ln w="9525" cap="flat">
                <a:solidFill>
                  <a:srgbClr val="2587C5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Sheet1!$A$2:$A$13</c:f>
              <c:multiLvlStrCache>
                <c:ptCount val="12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  <c:pt idx="7">
                    <c:v>Aug</c:v>
                  </c:pt>
                  <c:pt idx="8">
                    <c:v>Sep</c:v>
                  </c:pt>
                  <c:pt idx="9">
                    <c:v>Oct</c:v>
                  </c:pt>
                  <c:pt idx="10">
                    <c:v>Nov</c:v>
                  </c:pt>
                  <c:pt idx="11">
                    <c:v>Dec</c:v>
                  </c:pt>
                </c:lvl>
              </c:multiLvlStrCache>
            </c:multiLvl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>55578.46</c:v>
                </c:pt>
                <c:pt idx="1">
                  <c:v>52000.56</c:v>
                </c:pt>
                <c:pt idx="2">
                  <c:v>60175.93</c:v>
                </c:pt>
                <c:pt idx="3">
                  <c:v>59745.97</c:v>
                </c:pt>
                <c:pt idx="4">
                  <c:v>57788.84</c:v>
                </c:pt>
                <c:pt idx="5">
                  <c:v>60916.67</c:v>
                </c:pt>
                <c:pt idx="6">
                  <c:v>61860.58</c:v>
                </c:pt>
                <c:pt idx="7">
                  <c:v>59618.54</c:v>
                </c:pt>
                <c:pt idx="8">
                  <c:v>55456.31</c:v>
                </c:pt>
                <c:pt idx="9">
                  <c:v/>
                </c:pt>
                <c:pt idx="10">
                  <c:v/>
                </c:pt>
                <c:pt idx="11">
                  <c:v/>
                </c:pt>
              </c:numCache>
            </c:numRef>
          </c:val>
          <c:smooth val="0"/>
        </c:ser>
        <c:dLbls>
          <c:numFmt formatCode="#,##0.0,&quot;K&quot;" sourceLinked="0"/>
          <c:txPr>
            <a:bodyPr/>
            <a:lstStyle/>
            <a:p>
              <a:pPr>
                <a:defRPr b="0" i="0" strike="noStrike" sz="1400" u="none">
                  <a:solidFill>
                    <a:srgbClr val="1A1A1A"/>
                  </a:solidFill>
                  <a:latin typeface="+mn-lt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FFFFFF"/>
                </a:solidFill>
                <a:latin typeface="+mn-lt"/>
              </a:defRPr>
            </a:pPr>
            <a:endParaRPr lang="en-US"/>
          </a:p>
        </c:txPr>
        <c:crossAx val="2094734552"/>
        <c:crosses val="min"/>
        <c:auto val="1"/>
        <c:lblAlgn val="ctr"/>
        <c:noMultiLvlLbl val="1"/>
      </c:catAx>
      <c:valAx>
        <c:axId val="2094734552"/>
        <c:scaling>
          <c:orientation val="minMax"/>
          <c:max val="70000"/>
          <c:min val="45000"/>
        </c:scaling>
        <c:delete val="0"/>
        <c:axPos val="l"/>
        <c:numFmt formatCode="#,##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FFFFFF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  <c:majorUnit val="5000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2587C5"/>
            </a:solidFill>
            <a:ln>
              <a:noFill/>
            </a:ln>
            <a:effectLst/>
          </c:spPr>
          <c:invertIfNegative val="0"/>
          <c:dLbls>
            <c:numFmt formatCode="#,##0.0,&quot;K&quot;" sourceLinked="0"/>
            <c:txPr>
              <a:bodyPr/>
              <a:lstStyle/>
              <a:p>
                <a:pPr>
                  <a:defRPr b="0" i="0" strike="noStrike" sz="1400" u="none">
                    <a:solidFill>
                      <a:srgbClr val="1A1A1A"/>
                    </a:solidFill>
                    <a:latin typeface="+mn-lt"/>
                  </a:defRPr>
                </a:pPr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8"/>
            <c:spPr>
              <a:solidFill>
                <a:srgbClr val="2587C5"/>
              </a:solidFill>
              <a:ln w="9525" cap="flat">
                <a:solidFill>
                  <a:srgbClr val="2587C5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Sheet1!$A$2:$A$13</c:f>
              <c:multiLvlStrCache>
                <c:ptCount val="12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  <c:pt idx="7">
                    <c:v>Aug</c:v>
                  </c:pt>
                  <c:pt idx="8">
                    <c:v>Sep</c:v>
                  </c:pt>
                  <c:pt idx="9">
                    <c:v>Oct</c:v>
                  </c:pt>
                  <c:pt idx="10">
                    <c:v>Nov</c:v>
                  </c:pt>
                  <c:pt idx="11">
                    <c:v>Dec</c:v>
                  </c:pt>
                </c:lvl>
              </c:multiLvlStrCache>
            </c:multiLvl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>55578.46</c:v>
                </c:pt>
                <c:pt idx="1">
                  <c:v>52000.56</c:v>
                </c:pt>
                <c:pt idx="2">
                  <c:v>60175.93</c:v>
                </c:pt>
                <c:pt idx="3">
                  <c:v>59745.97</c:v>
                </c:pt>
                <c:pt idx="4">
                  <c:v/>
                </c:pt>
                <c:pt idx="5">
                  <c:v>60916.67</c:v>
                </c:pt>
                <c:pt idx="6">
                  <c:v>61860.58</c:v>
                </c:pt>
                <c:pt idx="7">
                  <c:v>59618.54</c:v>
                </c:pt>
                <c:pt idx="8">
                  <c:v>55456.31</c:v>
                </c:pt>
                <c:pt idx="9">
                  <c:v/>
                </c:pt>
                <c:pt idx="10">
                  <c:v/>
                </c:pt>
                <c:pt idx="11">
                  <c:v/>
                </c:pt>
              </c:numCache>
            </c:numRef>
          </c:val>
          <c:smooth val="0"/>
        </c:ser>
        <c:dLbls>
          <c:numFmt formatCode="#,##0.0,&quot;K&quot;" sourceLinked="0"/>
          <c:txPr>
            <a:bodyPr/>
            <a:lstStyle/>
            <a:p>
              <a:pPr>
                <a:defRPr b="0" i="0" strike="noStrike" sz="1400" u="none">
                  <a:solidFill>
                    <a:srgbClr val="1A1A1A"/>
                  </a:solidFill>
                  <a:latin typeface="+mn-lt"/>
                </a:defRPr>
              </a:pPr>
            </a:p>
          </c:txPr>
          <c:dLblPos val="t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FFFFFF"/>
                </a:solidFill>
                <a:latin typeface="+mn-lt"/>
              </a:defRPr>
            </a:pPr>
            <a:endParaRPr lang="en-US"/>
          </a:p>
        </c:txPr>
        <c:crossAx val="2094734552"/>
        <c:crosses val="min"/>
        <c:auto val="1"/>
        <c:lblAlgn val="ctr"/>
        <c:noMultiLvlLbl val="1"/>
      </c:catAx>
      <c:valAx>
        <c:axId val="2094734552"/>
        <c:scaling>
          <c:orientation val="minMax"/>
          <c:max val="70000"/>
          <c:min val="45000"/>
        </c:scaling>
        <c:delete val="0"/>
        <c:axPos val="l"/>
        <c:numFmt formatCode="#,##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FFFFFF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  <c:majorUnit val="5000"/>
      </c:valAx>
      <c:spPr>
        <a:solidFill>
          <a:srgbClr val="FFFFFF">
            <a:alpha val="0"/>
          </a:srgbClr>
        </a:solidFill>
        <a:ln>
          <a:noFill/>
        </a:ln>
        <a:effectLst/>
      </c:spPr>
    </c:plotArea>
    <c:plotVisOnly val="1"/>
    <c:dispBlanksAs val="span"/>
  </c:chart>
  <c:spPr>
    <a:solidFill>
      <a:srgbClr val="FFFFFF">
        <a:alpha val="0"/>
      </a:srgbClr>
    </a:solidFill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2587C5"/>
            </a:solidFill>
            <a:ln>
              <a:noFill/>
            </a:ln>
            <a:effectLst/>
          </c:spPr>
          <c:invertIfNegative val="0"/>
          <c:dLbls>
            <c:numFmt formatCode="#,##0.0,&quot;K&quot;" sourceLinked="0"/>
            <c:txPr>
              <a:bodyPr/>
              <a:lstStyle/>
              <a:p>
                <a:pPr>
                  <a:defRPr b="0" i="0" strike="noStrike" sz="1400" u="none">
                    <a:solidFill>
                      <a:srgbClr val="1A1A1A"/>
                    </a:solidFill>
                    <a:latin typeface="+mn-lt"/>
                  </a:defRPr>
                </a:pPr>
              </a:p>
            </c:txPr>
            <c:dLblPos val="b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8"/>
            <c:spPr>
              <a:solidFill>
                <a:srgbClr val="2587C5"/>
              </a:solidFill>
              <a:ln w="9525" cap="flat">
                <a:solidFill>
                  <a:srgbClr val="2587C5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Sheet1!$A$2:$A$13</c:f>
              <c:multiLvlStrCache>
                <c:ptCount val="12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  <c:pt idx="7">
                    <c:v>Aug</c:v>
                  </c:pt>
                  <c:pt idx="8">
                    <c:v>Sep</c:v>
                  </c:pt>
                  <c:pt idx="9">
                    <c:v>Oct</c:v>
                  </c:pt>
                  <c:pt idx="10">
                    <c:v>Nov</c:v>
                  </c:pt>
                  <c:pt idx="11">
                    <c:v>Dec</c:v>
                  </c:pt>
                </c:lvl>
              </c:multiLvlStrCache>
            </c:multiLvl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/>
                </c:pt>
                <c:pt idx="1">
                  <c:v/>
                </c:pt>
                <c:pt idx="2">
                  <c:v/>
                </c:pt>
                <c:pt idx="3">
                  <c:v/>
                </c:pt>
                <c:pt idx="4">
                  <c:v>57788.84</c:v>
                </c:pt>
                <c:pt idx="5">
                  <c:v/>
                </c:pt>
                <c:pt idx="6">
                  <c:v/>
                </c:pt>
                <c:pt idx="7">
                  <c:v/>
                </c:pt>
                <c:pt idx="8">
                  <c:v/>
                </c:pt>
                <c:pt idx="9">
                  <c:v/>
                </c:pt>
                <c:pt idx="10">
                  <c:v/>
                </c:pt>
                <c:pt idx="11">
                  <c:v/>
                </c:pt>
              </c:numCache>
            </c:numRef>
          </c:val>
          <c:smooth val="0"/>
        </c:ser>
        <c:dLbls>
          <c:numFmt formatCode="#,##0.0,&quot;K&quot;" sourceLinked="0"/>
          <c:txPr>
            <a:bodyPr/>
            <a:lstStyle/>
            <a:p>
              <a:pPr>
                <a:defRPr b="0" i="0" strike="noStrike" sz="1400" u="none">
                  <a:solidFill>
                    <a:srgbClr val="1A1A1A"/>
                  </a:solidFill>
                  <a:latin typeface="+mn-lt"/>
                </a:defRPr>
              </a:pPr>
            </a:p>
          </c:txPr>
          <c:dLblPos val="b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FFFFFF"/>
                </a:solidFill>
                <a:latin typeface="+mn-lt"/>
              </a:defRPr>
            </a:pPr>
            <a:endParaRPr lang="en-US"/>
          </a:p>
        </c:txPr>
        <c:crossAx val="2094734552"/>
        <c:crosses val="min"/>
        <c:auto val="1"/>
        <c:lblAlgn val="ctr"/>
        <c:noMultiLvlLbl val="1"/>
      </c:catAx>
      <c:valAx>
        <c:axId val="2094734552"/>
        <c:scaling>
          <c:orientation val="minMax"/>
          <c:max val="70000"/>
          <c:min val="45000"/>
        </c:scaling>
        <c:delete val="0"/>
        <c:axPos val="l"/>
        <c:numFmt formatCode="#,##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FFFFFF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  <c:majorUnit val="5000"/>
      </c:valAx>
      <c:spPr>
        <a:solidFill>
          <a:srgbClr val="FFFFFF">
            <a:alpha val="0"/>
          </a:srgbClr>
        </a:solidFill>
        <a:ln>
          <a:noFill/>
        </a:ln>
        <a:effectLst/>
      </c:spPr>
    </c:plotArea>
    <c:plotVisOnly val="1"/>
    <c:dispBlanksAs val="span"/>
  </c:chart>
  <c:spPr>
    <a:solidFill>
      <a:srgbClr val="FFFFFF">
        <a:alpha val="0"/>
      </a:srgbClr>
    </a:solidFill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9AA3AD"/>
            </a:solidFill>
            <a:ln>
              <a:noFill/>
            </a:ln>
            <a:effectLst/>
          </c:spPr>
          <c:invertIfNegative val="0"/>
          <c:dLbls>
            <c:numFmt formatCode="#,##0.0,&quot;K&quot;" sourceLinked="0"/>
            <c:txPr>
              <a:bodyPr/>
              <a:lstStyle/>
              <a:p>
                <a:pPr>
                  <a:defRPr b="0" i="0" strike="noStrike" sz="1400" u="none">
                    <a:solidFill>
                      <a:srgbClr val="1A1A1A"/>
                    </a:solidFill>
                    <a:latin typeface="+mn-lt"/>
                  </a:defRPr>
                </a:pPr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8"/>
            <c:spPr>
              <a:solidFill>
                <a:srgbClr val="9AA3AD"/>
              </a:solidFill>
              <a:ln w="9525" cap="flat">
                <a:solidFill>
                  <a:srgbClr val="9AA3AD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Sheet1!$A$2:$A$13</c:f>
              <c:multiLvlStrCache>
                <c:ptCount val="12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  <c:pt idx="7">
                    <c:v>Aug</c:v>
                  </c:pt>
                  <c:pt idx="8">
                    <c:v>Sep</c:v>
                  </c:pt>
                  <c:pt idx="9">
                    <c:v>Oct</c:v>
                  </c:pt>
                  <c:pt idx="10">
                    <c:v>Nov</c:v>
                  </c:pt>
                  <c:pt idx="11">
                    <c:v>Dec</c:v>
                  </c:pt>
                </c:lvl>
              </c:multiLvlStrCache>
            </c:multiLvl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/>
                </c:pt>
                <c:pt idx="1">
                  <c:v/>
                </c:pt>
                <c:pt idx="2">
                  <c:v/>
                </c:pt>
                <c:pt idx="3">
                  <c:v/>
                </c:pt>
                <c:pt idx="4">
                  <c:v>57794.35</c:v>
                </c:pt>
                <c:pt idx="5">
                  <c:v/>
                </c:pt>
                <c:pt idx="6">
                  <c:v/>
                </c:pt>
                <c:pt idx="7">
                  <c:v/>
                </c:pt>
                <c:pt idx="8">
                  <c:v/>
                </c:pt>
                <c:pt idx="9">
                  <c:v/>
                </c:pt>
                <c:pt idx="10">
                  <c:v/>
                </c:pt>
                <c:pt idx="11">
                  <c:v/>
                </c:pt>
              </c:numCache>
            </c:numRef>
          </c:val>
          <c:smooth val="0"/>
        </c:ser>
        <c:dLbls>
          <c:numFmt formatCode="#,##0.0,&quot;K&quot;" sourceLinked="0"/>
          <c:txPr>
            <a:bodyPr/>
            <a:lstStyle/>
            <a:p>
              <a:pPr>
                <a:defRPr b="0" i="0" strike="noStrike" sz="1400" u="none">
                  <a:solidFill>
                    <a:srgbClr val="1A1A1A"/>
                  </a:solidFill>
                  <a:latin typeface="+mn-lt"/>
                </a:defRPr>
              </a:pPr>
            </a:p>
          </c:txPr>
          <c:dLblPos val="t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FFFFFF"/>
                </a:solidFill>
                <a:latin typeface="+mn-lt"/>
              </a:defRPr>
            </a:pPr>
            <a:endParaRPr lang="en-US"/>
          </a:p>
        </c:txPr>
        <c:crossAx val="2094734552"/>
        <c:crosses val="min"/>
        <c:auto val="1"/>
        <c:lblAlgn val="ctr"/>
        <c:noMultiLvlLbl val="1"/>
      </c:catAx>
      <c:valAx>
        <c:axId val="2094734552"/>
        <c:scaling>
          <c:orientation val="minMax"/>
          <c:max val="70000"/>
          <c:min val="45000"/>
        </c:scaling>
        <c:delete val="0"/>
        <c:axPos val="l"/>
        <c:numFmt formatCode="#,##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FFFFFF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  <c:majorUnit val="5000"/>
      </c:valAx>
      <c:spPr>
        <a:solidFill>
          <a:srgbClr val="FFFFFF">
            <a:alpha val="0"/>
          </a:srgbClr>
        </a:solidFill>
        <a:ln>
          <a:noFill/>
        </a:ln>
        <a:effectLst/>
      </c:spPr>
    </c:plotArea>
    <c:plotVisOnly val="1"/>
    <c:dispBlanksAs val="span"/>
  </c:chart>
  <c:spPr>
    <a:solidFill>
      <a:srgbClr val="FFFFFF">
        <a:alpha val="0"/>
      </a:srgbClr>
    </a:solidFill>
    <a:ln>
      <a:noFill/>
    </a:ln>
    <a:effectLst/>
  </c:sp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9AA3AD"/>
            </a:solidFill>
            <a:ln>
              <a:noFill/>
            </a:ln>
            <a:effectLst/>
          </c:spPr>
          <c:invertIfNegative val="0"/>
          <c:dLbls>
            <c:numFmt formatCode="#,##0.0,&quot;K&quot;" sourceLinked="0"/>
            <c:txPr>
              <a:bodyPr/>
              <a:lstStyle/>
              <a:p>
                <a:pPr>
                  <a:defRPr b="0" i="0" strike="noStrike" sz="1400" u="none">
                    <a:solidFill>
                      <a:srgbClr val="1A1A1A"/>
                    </a:solidFill>
                    <a:latin typeface="+mn-lt"/>
                  </a:defRPr>
                </a:pPr>
              </a:p>
            </c:txPr>
            <c:dLblPos val="b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8"/>
            <c:spPr>
              <a:solidFill>
                <a:srgbClr val="9AA3AD"/>
              </a:solidFill>
              <a:ln w="9525" cap="flat">
                <a:solidFill>
                  <a:srgbClr val="9AA3AD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Sheet1!$A$2:$A$13</c:f>
              <c:multiLvlStrCache>
                <c:ptCount val="12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  <c:pt idx="7">
                    <c:v>Aug</c:v>
                  </c:pt>
                  <c:pt idx="8">
                    <c:v>Sep</c:v>
                  </c:pt>
                  <c:pt idx="9">
                    <c:v>Oct</c:v>
                  </c:pt>
                  <c:pt idx="10">
                    <c:v>Nov</c:v>
                  </c:pt>
                  <c:pt idx="11">
                    <c:v>Dec</c:v>
                  </c:pt>
                </c:lvl>
              </c:multiLvlStrCache>
            </c:multiLvl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>55120.88</c:v>
                </c:pt>
                <c:pt idx="1">
                  <c:v>51212.03</c:v>
                </c:pt>
                <c:pt idx="2">
                  <c:v>57205.56</c:v>
                </c:pt>
                <c:pt idx="3">
                  <c:v>58170.14</c:v>
                </c:pt>
                <c:pt idx="4">
                  <c:v/>
                </c:pt>
                <c:pt idx="5">
                  <c:v>56468.18</c:v>
                </c:pt>
                <c:pt idx="6">
                  <c:v>57717.31</c:v>
                </c:pt>
                <c:pt idx="7">
                  <c:v>57021.2</c:v>
                </c:pt>
                <c:pt idx="8">
                  <c:v>53309.32</c:v>
                </c:pt>
                <c:pt idx="9">
                  <c:v>58023.59000000028</c:v>
                </c:pt>
                <c:pt idx="10">
                  <c:v>51202.50000000025</c:v>
                </c:pt>
                <c:pt idx="11">
                  <c:v>52701.39000000027</c:v>
                </c:pt>
              </c:numCache>
            </c:numRef>
          </c:val>
          <c:smooth val="0"/>
        </c:ser>
        <c:dLbls>
          <c:numFmt formatCode="#,##0.0,&quot;K&quot;" sourceLinked="0"/>
          <c:txPr>
            <a:bodyPr/>
            <a:lstStyle/>
            <a:p>
              <a:pPr>
                <a:defRPr b="0" i="0" strike="noStrike" sz="1400" u="none">
                  <a:solidFill>
                    <a:srgbClr val="1A1A1A"/>
                  </a:solidFill>
                  <a:latin typeface="+mn-lt"/>
                </a:defRPr>
              </a:pPr>
            </a:p>
          </c:txPr>
          <c:dLblPos val="b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FFFFFF"/>
                </a:solidFill>
                <a:latin typeface="+mn-lt"/>
              </a:defRPr>
            </a:pPr>
            <a:endParaRPr lang="en-US"/>
          </a:p>
        </c:txPr>
        <c:crossAx val="2094734552"/>
        <c:crosses val="min"/>
        <c:auto val="1"/>
        <c:lblAlgn val="ctr"/>
        <c:noMultiLvlLbl val="1"/>
      </c:catAx>
      <c:valAx>
        <c:axId val="2094734552"/>
        <c:scaling>
          <c:orientation val="minMax"/>
          <c:max val="70000"/>
          <c:min val="45000"/>
        </c:scaling>
        <c:delete val="0"/>
        <c:axPos val="l"/>
        <c:numFmt formatCode="#,##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FFFFFF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  <c:majorUnit val="5000"/>
      </c:valAx>
      <c:spPr>
        <a:solidFill>
          <a:srgbClr val="FFFFFF">
            <a:alpha val="0"/>
          </a:srgbClr>
        </a:solidFill>
        <a:ln>
          <a:noFill/>
        </a:ln>
        <a:effectLst/>
      </c:spPr>
    </c:plotArea>
    <c:plotVisOnly val="1"/>
    <c:dispBlanksAs val="span"/>
  </c:chart>
  <c:spPr>
    <a:solidFill>
      <a:srgbClr val="FFFFFF">
        <a:alpha val="0"/>
      </a:srgbClr>
    </a:solidFill>
    <a:ln>
      <a:noFill/>
    </a:ln>
    <a:effectLst/>
  </c:sp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9AA3AD"/>
            </a:solidFill>
            <a:ln w="38100" cap="flat">
              <a:solidFill>
                <a:srgbClr val="9AA3AD"/>
              </a:solidFill>
              <a:prstDash val="solid"/>
              <a:round/>
            </a:ln>
            <a:effectLst/>
          </c:spPr>
          <c:invertIfNegative val="0"/>
          <c:dLbls>
            <c:numFmt formatCode="#,##0.0,&quot;K&quot;" sourceLinked="0"/>
            <c:txPr>
              <a:bodyPr/>
              <a:lstStyle/>
              <a:p>
                <a:pPr>
                  <a:defRPr b="0" i="0" strike="noStrike" sz="1400" u="none">
                    <a:solidFill>
                      <a:srgbClr val="1A1A1A"/>
                    </a:solidFill>
                    <a:latin typeface="+mn-lt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8"/>
            <c:spPr>
              <a:solidFill>
                <a:srgbClr val="9AA3AD"/>
              </a:solidFill>
              <a:ln w="9525" cap="flat">
                <a:solidFill>
                  <a:srgbClr val="9AA3AD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Sheet1!$A$2:$A$13</c:f>
              <c:multiLvlStrCache>
                <c:ptCount val="12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  <c:pt idx="7">
                    <c:v>Aug</c:v>
                  </c:pt>
                  <c:pt idx="8">
                    <c:v>Sep</c:v>
                  </c:pt>
                  <c:pt idx="9">
                    <c:v>Oct</c:v>
                  </c:pt>
                  <c:pt idx="10">
                    <c:v>Nov</c:v>
                  </c:pt>
                  <c:pt idx="11">
                    <c:v>Dec</c:v>
                  </c:pt>
                </c:lvl>
              </c:multiLvlStrCache>
            </c:multiLvl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>55120.88</c:v>
                </c:pt>
                <c:pt idx="1">
                  <c:v>51212.03</c:v>
                </c:pt>
                <c:pt idx="2">
                  <c:v>57205.56</c:v>
                </c:pt>
                <c:pt idx="3">
                  <c:v>58170.14</c:v>
                </c:pt>
                <c:pt idx="4">
                  <c:v>57794.35</c:v>
                </c:pt>
                <c:pt idx="5">
                  <c:v>56468.18</c:v>
                </c:pt>
                <c:pt idx="6">
                  <c:v>57717.31</c:v>
                </c:pt>
                <c:pt idx="7">
                  <c:v>57021.2</c:v>
                </c:pt>
                <c:pt idx="8">
                  <c:v>53309.32</c:v>
                </c:pt>
                <c:pt idx="9">
                  <c:v>58023.59000000028</c:v>
                </c:pt>
                <c:pt idx="10">
                  <c:v>51202.50000000025</c:v>
                </c:pt>
                <c:pt idx="11">
                  <c:v>52701.39000000027</c:v>
                </c:pt>
              </c:numCache>
            </c:numRef>
          </c:val>
          <c:smooth val="0"/>
        </c:ser>
        <c:dLbls>
          <c:numFmt formatCode="#,##0.0,&quot;K&quot;" sourceLinked="0"/>
          <c:txPr>
            <a:bodyPr/>
            <a:lstStyle/>
            <a:p>
              <a:pPr>
                <a:defRPr b="0" i="0" strike="noStrike" sz="1400" u="none">
                  <a:solidFill>
                    <a:srgbClr val="1A1A1A"/>
                  </a:solidFill>
                  <a:latin typeface="+mn-lt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1A1A1A"/>
                </a:solidFill>
                <a:latin typeface="+mn-lt"/>
              </a:defRPr>
            </a:pPr>
            <a:endParaRPr lang="en-US"/>
          </a:p>
        </c:txPr>
        <c:crossAx val="2094734552"/>
        <c:crosses val="min"/>
        <c:auto val="1"/>
        <c:lblAlgn val="ctr"/>
        <c:noMultiLvlLbl val="1"/>
      </c:catAx>
      <c:valAx>
        <c:axId val="2094734552"/>
        <c:scaling>
          <c:orientation val="minMax"/>
          <c:max val="70000"/>
          <c:min val="45000"/>
        </c:scaling>
        <c:delete val="0"/>
        <c:axPos val="l"/>
        <c:majorGridlines>
          <c:spPr>
            <a:ln w="9525" cap="flat">
              <a:solidFill>
                <a:srgbClr val="D9D9D9"/>
              </a:solidFill>
              <a:prstDash val="solid"/>
              <a:round/>
            </a:ln>
          </c:spPr>
        </c:majorGridlines>
        <c:numFmt formatCode="#,##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595959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  <c:majorUnit val="5000"/>
      </c:valAx>
      <c:spPr>
        <a:solidFill>
          <a:srgbClr val="FFFFFF">
            <a:alpha val="0"/>
          </a:srgbClr>
        </a:solidFill>
        <a:ln>
          <a:noFill/>
        </a:ln>
        <a:effectLst/>
      </c:spPr>
    </c:plotArea>
    <c:plotVisOnly val="1"/>
    <c:dispBlanksAs val="span"/>
  </c:chart>
  <c:spPr>
    <a:solidFill>
      <a:srgbClr val="FFFFFF">
        <a:alpha val="0"/>
      </a:srgbClr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Qlik - Closed Repair Orders. Customer pay, Jan-Sep by close date. Same-store, INEOS excluded (opened 2026). GMC Prescott body shop labor types excluded. Total customer-pay labor hours sold, all CP ROs. YTD from YTD totals, not the mean of months. Store rows reconcile to the group on every input, both years. 2025 shown January-December; October-December pulled Oct 22 on the same basis (chart only).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Qlik - Closed Repair Orders. Customer pay, Jan-Sep by close date. Same-store, INEOS excluded (opened 2026). GMC Prescott body shop labor types excluded. Total customer-pay labor hours sold, all CP ROs. Jan-Sep 2026 YTD.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Qlik - Closed Repair Orders. Customer pay, Jan-Sep by close date. Same-store, INEOS excluded (opened 2026). GMC Prescott body shop labor types excluded. Change in customer-pay hours sold (percent, so store size does not drive the ranking), Jan-Sep 2026 vs 2025, best first.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Qlik - Closed Repair Orders. Customer pay, Jan-Sep by close date. Same-store, INEOS excluded (opened 2026). GMC Prescott body shop labor types excluded. Per RO = the store's customer-pay labor gross + parts gross / its CP RO count, Jan-Sep 2026. Days open a year: 307 for every store (open 6 days a week, 2026 calendar, less the 6 service holidays: New Year's, Memorial Day, Independence Day, Labor Day, Thanksgiving, Christmas). ROs/day = Jan-Sep 2026 CP ROs at a yearly pace / days open. Assumes the added RO is an average one.Talk track: one more customer a day - one more answered call, one appointment kept, one 'close to losing' customer brought back. Retention, phones and the scheduler are the levers.
LR HENDERSON: $1,168 gross per RO x 307 days open a year = $358,484; 6.8 CP ROs a day today
LR LV: $1,142 gross per RO x 307 days open a year = $350,585; 15.2 CP ROs a day today
LR RENO: $1,052 gross per RO x 307 days open a year = $323,117; 6.2 CP ROs a day today
AUDI HENDERSON: $1,030 gross per RO x 307 days open a year = $316,136; 16.4 CP ROs a day today
AUDI RENO: $740 gross per RO x 307 days open a year = $227,297; 17.0 CP ROs a day today
VOLVO: $662 gross per RO x 307 days open a year = $203,362; 14.8 CP ROs a day today
CADILLAC: $509 gross per RO x 307 days open a year = $156,140; 23.2 CP ROs a day today
LINCOLN: $480 gross per RO x 307 days open a year = $147,507; 11.4 CP ROs a day today
LEXUS: $460 gross per RO x 307 days open a year = $141,182; 19.8 CP ROs a day today
VW HENDERSON: $429 gross per RO x 307 days open a year = $131,560; 22.3 CP ROs a day today
NISSAN: $406 gross per RO x 307 days open a year = $124,728; 30.3 CP ROs a day today
CDJR POST FALLS: $399 gross per RO x 307 days open a year = $122,626; 23.3 CP ROs a day today
CHEVY LV: $362 gross per RO x 307 days open a year = $111,273; 84.8 CP ROs a day today
SUBARU ST GEORGE: $357 gross per RO x 307 days open a year = $109,693; 24.1 CP ROs a day today
ACURA: $356 gross per RO x 307 days open a year = $109,151; 15.9 CP ROs a day today
SUBARU LV: $354 gross per RO x 307 days open a year = $108,687; 61.9 CP ROs a day today
HONDA NORTH: $338 gross per RO x 307 days open a year = $103,675; 65.4 CP ROs a day today
HONDA HENDERSON: $337 gross per RO x 307 days open a year = $103,382; 97.8 CP ROs a day today
HONDA SPOKANE: $331 gross per RO x 307 days open a year = $101,516; 38.8 CP ROs a day today
CHEVY GMC BULLHEAD: $314 gross per RO x 307 days open a year = $96,545; 27.4 CP ROs a day today
GMC PRESCOTT: $310 gross per RO x 307 days open a year = $95,050; 13.5 CP ROs a day today
HONDA FLAGSTAFF: $307 gross per RO x 307 days open a year = $94,176; 17.5 CP ROs a day today
VW ST GEORGE: $292 gross per RO x 307 days open a year = $89,636; 8.3 CP ROs a day today
HYUNDAI ST GEORGE: $283 gross per RO x 307 days open a year = $86,985; 14.5 CP ROs a day today
MAZDA: $280 gross per RO x 307 days open a year = $86,010; 24.8 CP ROs a day today
KIA LV: $268 gross per RO x 307 days open a year = $82,314; 35.3 CP ROs a day today
TOYOTA HENDERSON: $242 gross per RO x 307 days open a year = $74,324; 230.5 CP ROs a day today
HYUNDAI PRESCOTT: $237 gross per RO x 307 days open a year = $72,795; 8.7 CP ROs a day today
SUBARU PRESCOTT: $237 gross per RO x 307 days open a year = $72,776; 22.2 CP ROs a day today
TOYOTA PRESCOTT: $237 gross per RO x 307 days open a year = $72,743; 58.6 CP ROs a day today
KIA ST GEORGE: $220 gross per RO x 307 days open a year = $67,614; 17.0 CP ROs a day today
TOYOTA SPOKANE: $217 gross per RO x 307 days open a year = $66,622; 75.5 CP ROs a day today
TOYOTA FLAGSTAFF: $214 gross per RO x 307 days open a year = $65,596; 65.8 CP ROs a day today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chart" Target="/ppt/charts/chart2.xml"/><Relationship Id="rId3" Type="http://schemas.openxmlformats.org/officeDocument/2006/relationships/chart" Target="/ppt/charts/chart3.xml"/><Relationship Id="rId4" Type="http://schemas.openxmlformats.org/officeDocument/2006/relationships/chart" Target="/ppt/charts/chart4.xml"/><Relationship Id="rId5" Type="http://schemas.openxmlformats.org/officeDocument/2006/relationships/chart" Target="/ppt/charts/chart5.xml"/><Relationship Id="rId6" Type="http://schemas.openxmlformats.org/officeDocument/2006/relationships/chart" Target="/ppt/charts/chart6.xml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CP ENGINE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Customer Pay Hours Sold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100584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685800" y="1335024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spc="9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2025 YTD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685800" y="1554480"/>
            <a:ext cx="2697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504,019</a:t>
            </a:r>
            <a:endParaRPr lang="en-US" sz="3000" dirty="0"/>
          </a:p>
        </p:txBody>
      </p:sp>
      <p:sp>
        <p:nvSpPr>
          <p:cNvPr id="8" name="Text 6"/>
          <p:cNvSpPr txBox="1"/>
          <p:nvPr/>
        </p:nvSpPr>
        <p:spPr>
          <a:xfrm>
            <a:off x="3474720" y="1335024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spc="9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2026 YTD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3474720" y="1554480"/>
            <a:ext cx="2697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523,142</a:t>
            </a:r>
            <a:endParaRPr lang="en-US" sz="3000" dirty="0"/>
          </a:p>
        </p:txBody>
      </p:sp>
      <p:sp>
        <p:nvSpPr>
          <p:cNvPr id="10" name="Text 8"/>
          <p:cNvSpPr txBox="1"/>
          <p:nvPr/>
        </p:nvSpPr>
        <p:spPr>
          <a:xfrm>
            <a:off x="6263640" y="1335024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spc="9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VARIANCE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6263640" y="1554480"/>
            <a:ext cx="2697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+19,123</a:t>
            </a:r>
            <a:endParaRPr lang="en-US" sz="3000" dirty="0"/>
          </a:p>
        </p:txBody>
      </p:sp>
      <p:sp>
        <p:nvSpPr>
          <p:cNvPr id="12" name="Text 10"/>
          <p:cNvSpPr txBox="1"/>
          <p:nvPr/>
        </p:nvSpPr>
        <p:spPr>
          <a:xfrm>
            <a:off x="9052560" y="1335024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spc="9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VAR %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9052560" y="1554480"/>
            <a:ext cx="2697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+3.8%</a:t>
            </a:r>
            <a:endParaRPr lang="en-US" sz="3000" dirty="0"/>
          </a:p>
        </p:txBody>
      </p:sp>
      <p:sp>
        <p:nvSpPr>
          <p:cNvPr id="14" name="Shape 12"/>
          <p:cNvSpPr/>
          <p:nvPr/>
        </p:nvSpPr>
        <p:spPr>
          <a:xfrm>
            <a:off x="457200" y="2322576"/>
            <a:ext cx="11274552" cy="3666744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685800" y="2459736"/>
            <a:ext cx="108173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Customer Pay Hours Sold by month, 2025 against 2026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685800" y="2807208"/>
            <a:ext cx="10817352" cy="10973"/>
          </a:xfrm>
          <a:prstGeom prst="rect">
            <a:avLst/>
          </a:prstGeom>
          <a:solidFill>
            <a:srgbClr val="1A1A1A"/>
          </a:solidFill>
          <a:ln/>
        </p:spPr>
      </p:sp>
      <p:graphicFrame>
        <p:nvGraphicFramePr>
          <p:cNvPr id="17" name="Chart 0" descr=""/>
          <p:cNvGraphicFramePr/>
          <p:nvPr/>
        </p:nvGraphicFramePr>
        <p:xfrm>
          <a:off x="621792" y="3218688"/>
          <a:ext cx="10945368" cy="2679192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18" name="Chart 1" descr=""/>
          <p:cNvGraphicFramePr/>
          <p:nvPr/>
        </p:nvGraphicFramePr>
        <p:xfrm>
          <a:off x="621792" y="3218688"/>
          <a:ext cx="10945368" cy="2679192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graphicFrame>
        <p:nvGraphicFramePr>
          <p:cNvPr id="19" name="Chart 2" descr=""/>
          <p:cNvGraphicFramePr/>
          <p:nvPr/>
        </p:nvGraphicFramePr>
        <p:xfrm>
          <a:off x="621792" y="3218688"/>
          <a:ext cx="10945368" cy="2679192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3"/>
          </a:graphicData>
        </a:graphic>
      </p:graphicFrame>
      <p:graphicFrame>
        <p:nvGraphicFramePr>
          <p:cNvPr id="20" name="Chart 3" descr=""/>
          <p:cNvGraphicFramePr/>
          <p:nvPr/>
        </p:nvGraphicFramePr>
        <p:xfrm>
          <a:off x="621792" y="3218688"/>
          <a:ext cx="10945368" cy="2679192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4"/>
          </a:graphicData>
        </a:graphic>
      </p:graphicFrame>
      <p:graphicFrame>
        <p:nvGraphicFramePr>
          <p:cNvPr id="21" name="Chart 4" descr=""/>
          <p:cNvGraphicFramePr/>
          <p:nvPr/>
        </p:nvGraphicFramePr>
        <p:xfrm>
          <a:off x="621792" y="3218688"/>
          <a:ext cx="10945368" cy="2679192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5"/>
          </a:graphicData>
        </a:graphic>
      </p:graphicFrame>
      <p:graphicFrame>
        <p:nvGraphicFramePr>
          <p:cNvPr id="22" name="Chart 5" descr=""/>
          <p:cNvGraphicFramePr/>
          <p:nvPr/>
        </p:nvGraphicFramePr>
        <p:xfrm>
          <a:off x="621792" y="3218688"/>
          <a:ext cx="10945368" cy="2679192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6"/>
          </a:graphicData>
        </a:graphic>
      </p:graphicFrame>
      <p:sp>
        <p:nvSpPr>
          <p:cNvPr id="23" name="Shape 15"/>
          <p:cNvSpPr/>
          <p:nvPr/>
        </p:nvSpPr>
        <p:spPr>
          <a:xfrm>
            <a:off x="4951476" y="3049524"/>
            <a:ext cx="310896" cy="45720"/>
          </a:xfrm>
          <a:prstGeom prst="rect">
            <a:avLst/>
          </a:prstGeom>
          <a:solidFill>
            <a:srgbClr val="9AA3AD"/>
          </a:solidFill>
          <a:ln/>
        </p:spPr>
      </p:sp>
      <p:sp>
        <p:nvSpPr>
          <p:cNvPr id="24" name="Shape 16"/>
          <p:cNvSpPr/>
          <p:nvPr/>
        </p:nvSpPr>
        <p:spPr>
          <a:xfrm>
            <a:off x="5052060" y="3017520"/>
            <a:ext cx="109728" cy="109728"/>
          </a:xfrm>
          <a:prstGeom prst="ellipse">
            <a:avLst/>
          </a:prstGeom>
          <a:solidFill>
            <a:srgbClr val="9AA3AD"/>
          </a:solidFill>
          <a:ln/>
        </p:spPr>
      </p:sp>
      <p:sp>
        <p:nvSpPr>
          <p:cNvPr id="25" name="Text 17"/>
          <p:cNvSpPr txBox="1"/>
          <p:nvPr/>
        </p:nvSpPr>
        <p:spPr>
          <a:xfrm>
            <a:off x="5335524" y="2926080"/>
            <a:ext cx="777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2025</a:t>
            </a:r>
            <a:endParaRPr lang="en-US" sz="1400" dirty="0"/>
          </a:p>
        </p:txBody>
      </p:sp>
      <p:sp>
        <p:nvSpPr>
          <p:cNvPr id="26" name="Shape 18"/>
          <p:cNvSpPr/>
          <p:nvPr/>
        </p:nvSpPr>
        <p:spPr>
          <a:xfrm>
            <a:off x="6185916" y="3049524"/>
            <a:ext cx="310896" cy="45720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27" name="Shape 19"/>
          <p:cNvSpPr/>
          <p:nvPr/>
        </p:nvSpPr>
        <p:spPr>
          <a:xfrm>
            <a:off x="6286500" y="3017520"/>
            <a:ext cx="109728" cy="109728"/>
          </a:xfrm>
          <a:prstGeom prst="ellipse">
            <a:avLst/>
          </a:prstGeom>
          <a:solidFill>
            <a:srgbClr val="2587C5"/>
          </a:solidFill>
          <a:ln/>
        </p:spPr>
      </p:sp>
      <p:sp>
        <p:nvSpPr>
          <p:cNvPr id="28" name="Text 20"/>
          <p:cNvSpPr txBox="1"/>
          <p:nvPr/>
        </p:nvSpPr>
        <p:spPr>
          <a:xfrm>
            <a:off x="6569964" y="2926080"/>
            <a:ext cx="777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2026</a:t>
            </a:r>
            <a:endParaRPr lang="en-US" sz="1400" dirty="0"/>
          </a:p>
        </p:txBody>
      </p:sp>
      <p:sp>
        <p:nvSpPr>
          <p:cNvPr id="29" name="Shape 21"/>
          <p:cNvSpPr/>
          <p:nvPr/>
        </p:nvSpPr>
        <p:spPr>
          <a:xfrm>
            <a:off x="457200" y="6126480"/>
            <a:ext cx="11274552" cy="615696"/>
          </a:xfrm>
          <a:prstGeom prst="rect">
            <a:avLst/>
          </a:prstGeom>
          <a:solidFill>
            <a:srgbClr val="E6F6EE"/>
          </a:solidFill>
          <a:ln/>
        </p:spPr>
      </p:sp>
      <p:sp>
        <p:nvSpPr>
          <p:cNvPr id="30" name="Text 22"/>
          <p:cNvSpPr txBox="1"/>
          <p:nvPr/>
        </p:nvSpPr>
        <p:spPr>
          <a:xfrm>
            <a:off x="658368" y="6144768"/>
            <a:ext cx="10927080" cy="579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Up 19,123 to 523,142, ahead of 2025 in eight of nine months. CP RO count rose only 0.2%, so the extra hours came from selling more on each visit.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CP ENGINE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Customer Pay Hours Sold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47823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Shape 4"/>
          <p:cNvSpPr/>
          <p:nvPr/>
        </p:nvSpPr>
        <p:spPr>
          <a:xfrm>
            <a:off x="658368" y="1335024"/>
            <a:ext cx="10872216" cy="420624"/>
          </a:xfrm>
          <a:prstGeom prst="rect">
            <a:avLst/>
          </a:prstGeom>
          <a:solidFill>
            <a:srgbClr val="EDF4FA"/>
          </a:solidFill>
          <a:ln/>
        </p:spPr>
      </p:sp>
      <p:sp>
        <p:nvSpPr>
          <p:cNvPr id="7" name="Shape 5"/>
          <p:cNvSpPr/>
          <p:nvPr/>
        </p:nvSpPr>
        <p:spPr>
          <a:xfrm>
            <a:off x="658368" y="1335024"/>
            <a:ext cx="59436" cy="420624"/>
          </a:xfrm>
          <a:prstGeom prst="rect">
            <a:avLst/>
          </a:prstGeom>
          <a:solidFill>
            <a:srgbClr val="0B2C4A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859536" y="1335024"/>
            <a:ext cx="285369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CUSTOMER PAY HOURS SOLD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3768090" y="1335024"/>
            <a:ext cx="427863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spc="9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SEPTEMBER 2026 YTD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8138160" y="1335024"/>
            <a:ext cx="32918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523,142</a:t>
            </a:r>
            <a:endParaRPr lang="en-US" sz="2000" dirty="0"/>
          </a:p>
        </p:txBody>
      </p:sp>
      <p:sp>
        <p:nvSpPr>
          <p:cNvPr id="11" name="Text 9"/>
          <p:cNvSpPr txBox="1"/>
          <p:nvPr/>
        </p:nvSpPr>
        <p:spPr>
          <a:xfrm>
            <a:off x="658368" y="1847088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1014984" y="1847088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HENDERSON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2980944" y="1911860"/>
            <a:ext cx="1828800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4855464" y="1847088"/>
            <a:ext cx="109728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78,123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658368" y="2086984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1014984" y="2086984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CHEVY LV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2980944" y="2151755"/>
            <a:ext cx="1050673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4855464" y="2086984"/>
            <a:ext cx="109728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44,883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658368" y="2326879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1014984" y="2326879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HENDERSON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2980944" y="2391651"/>
            <a:ext cx="1038014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4855464" y="2326879"/>
            <a:ext cx="109728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44,342</a:t>
            </a:r>
            <a:endParaRPr lang="en-US" sz="1200" dirty="0"/>
          </a:p>
        </p:txBody>
      </p:sp>
      <p:sp>
        <p:nvSpPr>
          <p:cNvPr id="23" name="Text 21"/>
          <p:cNvSpPr txBox="1"/>
          <p:nvPr/>
        </p:nvSpPr>
        <p:spPr>
          <a:xfrm>
            <a:off x="658368" y="2566775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200" dirty="0"/>
          </a:p>
        </p:txBody>
      </p:sp>
      <p:sp>
        <p:nvSpPr>
          <p:cNvPr id="24" name="Text 22"/>
          <p:cNvSpPr txBox="1"/>
          <p:nvPr/>
        </p:nvSpPr>
        <p:spPr>
          <a:xfrm>
            <a:off x="1014984" y="2566775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NORTH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2980944" y="2631546"/>
            <a:ext cx="711662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4855464" y="2566775"/>
            <a:ext cx="109728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30,401</a:t>
            </a:r>
            <a:endParaRPr lang="en-US" sz="1200" dirty="0"/>
          </a:p>
        </p:txBody>
      </p:sp>
      <p:sp>
        <p:nvSpPr>
          <p:cNvPr id="27" name="Text 25"/>
          <p:cNvSpPr txBox="1"/>
          <p:nvPr/>
        </p:nvSpPr>
        <p:spPr>
          <a:xfrm>
            <a:off x="658368" y="2806670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</a:t>
            </a:r>
            <a:endParaRPr lang="en-US" sz="1200" dirty="0"/>
          </a:p>
        </p:txBody>
      </p:sp>
      <p:sp>
        <p:nvSpPr>
          <p:cNvPr id="28" name="Text 26"/>
          <p:cNvSpPr txBox="1"/>
          <p:nvPr/>
        </p:nvSpPr>
        <p:spPr>
          <a:xfrm>
            <a:off x="1014984" y="2806670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LV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2980944" y="2871442"/>
            <a:ext cx="649509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4855464" y="2806670"/>
            <a:ext cx="109728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27,746</a:t>
            </a:r>
            <a:endParaRPr lang="en-US" sz="1200" dirty="0"/>
          </a:p>
        </p:txBody>
      </p:sp>
      <p:sp>
        <p:nvSpPr>
          <p:cNvPr id="31" name="Text 29"/>
          <p:cNvSpPr txBox="1"/>
          <p:nvPr/>
        </p:nvSpPr>
        <p:spPr>
          <a:xfrm>
            <a:off x="658368" y="3046566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</a:t>
            </a:r>
            <a:endParaRPr lang="en-US" sz="1200" dirty="0"/>
          </a:p>
        </p:txBody>
      </p:sp>
      <p:sp>
        <p:nvSpPr>
          <p:cNvPr id="32" name="Text 30"/>
          <p:cNvSpPr txBox="1"/>
          <p:nvPr/>
        </p:nvSpPr>
        <p:spPr>
          <a:xfrm>
            <a:off x="1014984" y="3046566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SPOKANE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2980944" y="3111337"/>
            <a:ext cx="602764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4855464" y="3046566"/>
            <a:ext cx="109728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25,749</a:t>
            </a:r>
            <a:endParaRPr lang="en-US" sz="1200" dirty="0"/>
          </a:p>
        </p:txBody>
      </p:sp>
      <p:sp>
        <p:nvSpPr>
          <p:cNvPr id="35" name="Text 33"/>
          <p:cNvSpPr txBox="1"/>
          <p:nvPr/>
        </p:nvSpPr>
        <p:spPr>
          <a:xfrm>
            <a:off x="658368" y="3286461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</a:t>
            </a:r>
            <a:endParaRPr lang="en-US" sz="1200" dirty="0"/>
          </a:p>
        </p:txBody>
      </p:sp>
      <p:sp>
        <p:nvSpPr>
          <p:cNvPr id="36" name="Text 34"/>
          <p:cNvSpPr txBox="1"/>
          <p:nvPr/>
        </p:nvSpPr>
        <p:spPr>
          <a:xfrm>
            <a:off x="1014984" y="3286461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FLAGSTAFF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2980944" y="3351233"/>
            <a:ext cx="498059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38" name="Text 36"/>
          <p:cNvSpPr txBox="1"/>
          <p:nvPr/>
        </p:nvSpPr>
        <p:spPr>
          <a:xfrm>
            <a:off x="4855464" y="3286461"/>
            <a:ext cx="109728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21,276</a:t>
            </a:r>
            <a:endParaRPr lang="en-US" sz="1200" dirty="0"/>
          </a:p>
        </p:txBody>
      </p:sp>
      <p:sp>
        <p:nvSpPr>
          <p:cNvPr id="39" name="Text 37"/>
          <p:cNvSpPr txBox="1"/>
          <p:nvPr/>
        </p:nvSpPr>
        <p:spPr>
          <a:xfrm>
            <a:off x="658368" y="3526357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</a:t>
            </a:r>
            <a:endParaRPr lang="en-US" sz="1200" dirty="0"/>
          </a:p>
        </p:txBody>
      </p:sp>
      <p:sp>
        <p:nvSpPr>
          <p:cNvPr id="40" name="Text 38"/>
          <p:cNvSpPr txBox="1"/>
          <p:nvPr/>
        </p:nvSpPr>
        <p:spPr>
          <a:xfrm>
            <a:off x="1014984" y="3526357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PRESCOTT</a:t>
            </a:r>
            <a:endParaRPr lang="en-US" sz="1200" dirty="0"/>
          </a:p>
        </p:txBody>
      </p:sp>
      <p:sp>
        <p:nvSpPr>
          <p:cNvPr id="41" name="Shape 39"/>
          <p:cNvSpPr/>
          <p:nvPr/>
        </p:nvSpPr>
        <p:spPr>
          <a:xfrm>
            <a:off x="2980944" y="3591128"/>
            <a:ext cx="436748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42" name="Text 40"/>
          <p:cNvSpPr txBox="1"/>
          <p:nvPr/>
        </p:nvSpPr>
        <p:spPr>
          <a:xfrm>
            <a:off x="4855464" y="3526357"/>
            <a:ext cx="109728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18,657</a:t>
            </a:r>
            <a:endParaRPr lang="en-US" sz="1200" dirty="0"/>
          </a:p>
        </p:txBody>
      </p:sp>
      <p:sp>
        <p:nvSpPr>
          <p:cNvPr id="43" name="Text 41"/>
          <p:cNvSpPr txBox="1"/>
          <p:nvPr/>
        </p:nvSpPr>
        <p:spPr>
          <a:xfrm>
            <a:off x="658368" y="3766252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</a:t>
            </a:r>
            <a:endParaRPr lang="en-US" sz="1200" dirty="0"/>
          </a:p>
        </p:txBody>
      </p:sp>
      <p:sp>
        <p:nvSpPr>
          <p:cNvPr id="44" name="Text 42"/>
          <p:cNvSpPr txBox="1"/>
          <p:nvPr/>
        </p:nvSpPr>
        <p:spPr>
          <a:xfrm>
            <a:off x="1014984" y="3766252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SPOKANE</a:t>
            </a:r>
            <a:endParaRPr lang="en-US" sz="1200" dirty="0"/>
          </a:p>
        </p:txBody>
      </p:sp>
      <p:sp>
        <p:nvSpPr>
          <p:cNvPr id="45" name="Shape 43"/>
          <p:cNvSpPr/>
          <p:nvPr/>
        </p:nvSpPr>
        <p:spPr>
          <a:xfrm>
            <a:off x="2980944" y="3831024"/>
            <a:ext cx="419629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46" name="Text 44"/>
          <p:cNvSpPr txBox="1"/>
          <p:nvPr/>
        </p:nvSpPr>
        <p:spPr>
          <a:xfrm>
            <a:off x="4855464" y="3766252"/>
            <a:ext cx="109728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17,926</a:t>
            </a:r>
            <a:endParaRPr lang="en-US" sz="1200" dirty="0"/>
          </a:p>
        </p:txBody>
      </p:sp>
      <p:sp>
        <p:nvSpPr>
          <p:cNvPr id="47" name="Text 45"/>
          <p:cNvSpPr txBox="1"/>
          <p:nvPr/>
        </p:nvSpPr>
        <p:spPr>
          <a:xfrm>
            <a:off x="658368" y="4006148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</a:t>
            </a:r>
            <a:endParaRPr lang="en-US" sz="1200" dirty="0"/>
          </a:p>
        </p:txBody>
      </p:sp>
      <p:sp>
        <p:nvSpPr>
          <p:cNvPr id="48" name="Text 46"/>
          <p:cNvSpPr txBox="1"/>
          <p:nvPr/>
        </p:nvSpPr>
        <p:spPr>
          <a:xfrm>
            <a:off x="1014984" y="4006148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NISSAN</a:t>
            </a:r>
            <a:endParaRPr lang="en-US" sz="1200" dirty="0"/>
          </a:p>
        </p:txBody>
      </p:sp>
      <p:sp>
        <p:nvSpPr>
          <p:cNvPr id="49" name="Shape 47"/>
          <p:cNvSpPr/>
          <p:nvPr/>
        </p:nvSpPr>
        <p:spPr>
          <a:xfrm>
            <a:off x="2980944" y="4070920"/>
            <a:ext cx="344483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50" name="Text 48"/>
          <p:cNvSpPr txBox="1"/>
          <p:nvPr/>
        </p:nvSpPr>
        <p:spPr>
          <a:xfrm>
            <a:off x="4855464" y="4006148"/>
            <a:ext cx="109728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14,716</a:t>
            </a:r>
            <a:endParaRPr lang="en-US" sz="1200" dirty="0"/>
          </a:p>
        </p:txBody>
      </p:sp>
      <p:sp>
        <p:nvSpPr>
          <p:cNvPr id="51" name="Text 49"/>
          <p:cNvSpPr txBox="1"/>
          <p:nvPr/>
        </p:nvSpPr>
        <p:spPr>
          <a:xfrm>
            <a:off x="658368" y="4246043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11</a:t>
            </a:r>
            <a:endParaRPr lang="en-US" sz="1200" dirty="0"/>
          </a:p>
        </p:txBody>
      </p:sp>
      <p:sp>
        <p:nvSpPr>
          <p:cNvPr id="52" name="Text 50"/>
          <p:cNvSpPr txBox="1"/>
          <p:nvPr/>
        </p:nvSpPr>
        <p:spPr>
          <a:xfrm>
            <a:off x="1014984" y="4246043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CADILLAC</a:t>
            </a:r>
            <a:endParaRPr lang="en-US" sz="1200" dirty="0"/>
          </a:p>
        </p:txBody>
      </p:sp>
      <p:sp>
        <p:nvSpPr>
          <p:cNvPr id="53" name="Shape 51"/>
          <p:cNvSpPr/>
          <p:nvPr/>
        </p:nvSpPr>
        <p:spPr>
          <a:xfrm>
            <a:off x="2980944" y="4310815"/>
            <a:ext cx="341580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54" name="Text 52"/>
          <p:cNvSpPr txBox="1"/>
          <p:nvPr/>
        </p:nvSpPr>
        <p:spPr>
          <a:xfrm>
            <a:off x="4855464" y="4246043"/>
            <a:ext cx="109728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14,592</a:t>
            </a:r>
            <a:endParaRPr lang="en-US" sz="1200" dirty="0"/>
          </a:p>
        </p:txBody>
      </p:sp>
      <p:sp>
        <p:nvSpPr>
          <p:cNvPr id="55" name="Text 53"/>
          <p:cNvSpPr txBox="1"/>
          <p:nvPr/>
        </p:nvSpPr>
        <p:spPr>
          <a:xfrm>
            <a:off x="658368" y="4485939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12</a:t>
            </a:r>
            <a:endParaRPr lang="en-US" sz="1200" dirty="0"/>
          </a:p>
        </p:txBody>
      </p:sp>
      <p:sp>
        <p:nvSpPr>
          <p:cNvPr id="56" name="Text 54"/>
          <p:cNvSpPr txBox="1"/>
          <p:nvPr/>
        </p:nvSpPr>
        <p:spPr>
          <a:xfrm>
            <a:off x="1014984" y="4485939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LV</a:t>
            </a:r>
            <a:endParaRPr lang="en-US" sz="1200" dirty="0"/>
          </a:p>
        </p:txBody>
      </p:sp>
      <p:sp>
        <p:nvSpPr>
          <p:cNvPr id="57" name="Shape 55"/>
          <p:cNvSpPr/>
          <p:nvPr/>
        </p:nvSpPr>
        <p:spPr>
          <a:xfrm>
            <a:off x="2980944" y="4550711"/>
            <a:ext cx="326318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58" name="Text 56"/>
          <p:cNvSpPr txBox="1"/>
          <p:nvPr/>
        </p:nvSpPr>
        <p:spPr>
          <a:xfrm>
            <a:off x="4855464" y="4485939"/>
            <a:ext cx="109728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13,940</a:t>
            </a:r>
            <a:endParaRPr lang="en-US" sz="1200" dirty="0"/>
          </a:p>
        </p:txBody>
      </p:sp>
      <p:sp>
        <p:nvSpPr>
          <p:cNvPr id="59" name="Text 57"/>
          <p:cNvSpPr txBox="1"/>
          <p:nvPr/>
        </p:nvSpPr>
        <p:spPr>
          <a:xfrm>
            <a:off x="658368" y="4725834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13</a:t>
            </a:r>
            <a:endParaRPr lang="en-US" sz="1200" dirty="0"/>
          </a:p>
        </p:txBody>
      </p:sp>
      <p:sp>
        <p:nvSpPr>
          <p:cNvPr id="60" name="Text 58"/>
          <p:cNvSpPr txBox="1"/>
          <p:nvPr/>
        </p:nvSpPr>
        <p:spPr>
          <a:xfrm>
            <a:off x="1014984" y="4725834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AUDI HENDERSON</a:t>
            </a:r>
            <a:endParaRPr lang="en-US" sz="1200" dirty="0"/>
          </a:p>
        </p:txBody>
      </p:sp>
      <p:sp>
        <p:nvSpPr>
          <p:cNvPr id="61" name="Shape 59"/>
          <p:cNvSpPr/>
          <p:nvPr/>
        </p:nvSpPr>
        <p:spPr>
          <a:xfrm>
            <a:off x="2980944" y="4790606"/>
            <a:ext cx="308206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62" name="Text 60"/>
          <p:cNvSpPr txBox="1"/>
          <p:nvPr/>
        </p:nvSpPr>
        <p:spPr>
          <a:xfrm>
            <a:off x="4855464" y="4725834"/>
            <a:ext cx="109728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13,166</a:t>
            </a:r>
            <a:endParaRPr lang="en-US" sz="1200" dirty="0"/>
          </a:p>
        </p:txBody>
      </p:sp>
      <p:sp>
        <p:nvSpPr>
          <p:cNvPr id="63" name="Text 61"/>
          <p:cNvSpPr txBox="1"/>
          <p:nvPr/>
        </p:nvSpPr>
        <p:spPr>
          <a:xfrm>
            <a:off x="658368" y="4965730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14</a:t>
            </a:r>
            <a:endParaRPr lang="en-US" sz="1200" dirty="0"/>
          </a:p>
        </p:txBody>
      </p:sp>
      <p:sp>
        <p:nvSpPr>
          <p:cNvPr id="64" name="Text 62"/>
          <p:cNvSpPr txBox="1"/>
          <p:nvPr/>
        </p:nvSpPr>
        <p:spPr>
          <a:xfrm>
            <a:off x="1014984" y="4965730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VW HENDERSON</a:t>
            </a:r>
            <a:endParaRPr lang="en-US" sz="1200" dirty="0"/>
          </a:p>
        </p:txBody>
      </p:sp>
      <p:sp>
        <p:nvSpPr>
          <p:cNvPr id="65" name="Shape 63"/>
          <p:cNvSpPr/>
          <p:nvPr/>
        </p:nvSpPr>
        <p:spPr>
          <a:xfrm>
            <a:off x="2980944" y="5030502"/>
            <a:ext cx="299995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66" name="Text 64"/>
          <p:cNvSpPr txBox="1"/>
          <p:nvPr/>
        </p:nvSpPr>
        <p:spPr>
          <a:xfrm>
            <a:off x="4855464" y="4965730"/>
            <a:ext cx="109728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12,815</a:t>
            </a:r>
            <a:endParaRPr lang="en-US" sz="1200" dirty="0"/>
          </a:p>
        </p:txBody>
      </p:sp>
      <p:sp>
        <p:nvSpPr>
          <p:cNvPr id="67" name="Text 65"/>
          <p:cNvSpPr txBox="1"/>
          <p:nvPr/>
        </p:nvSpPr>
        <p:spPr>
          <a:xfrm>
            <a:off x="658368" y="5205625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15</a:t>
            </a:r>
            <a:endParaRPr lang="en-US" sz="1200" dirty="0"/>
          </a:p>
        </p:txBody>
      </p:sp>
      <p:sp>
        <p:nvSpPr>
          <p:cNvPr id="68" name="Text 66"/>
          <p:cNvSpPr txBox="1"/>
          <p:nvPr/>
        </p:nvSpPr>
        <p:spPr>
          <a:xfrm>
            <a:off x="1014984" y="5205625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ST GEORGE</a:t>
            </a:r>
            <a:endParaRPr lang="en-US" sz="1200" dirty="0"/>
          </a:p>
        </p:txBody>
      </p:sp>
      <p:sp>
        <p:nvSpPr>
          <p:cNvPr id="69" name="Shape 67"/>
          <p:cNvSpPr/>
          <p:nvPr/>
        </p:nvSpPr>
        <p:spPr>
          <a:xfrm>
            <a:off x="2980944" y="5270397"/>
            <a:ext cx="298846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70" name="Text 68"/>
          <p:cNvSpPr txBox="1"/>
          <p:nvPr/>
        </p:nvSpPr>
        <p:spPr>
          <a:xfrm>
            <a:off x="4855464" y="5205625"/>
            <a:ext cx="109728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12,766</a:t>
            </a:r>
            <a:endParaRPr lang="en-US" sz="1200" dirty="0"/>
          </a:p>
        </p:txBody>
      </p:sp>
      <p:sp>
        <p:nvSpPr>
          <p:cNvPr id="71" name="Text 69"/>
          <p:cNvSpPr txBox="1"/>
          <p:nvPr/>
        </p:nvSpPr>
        <p:spPr>
          <a:xfrm>
            <a:off x="658368" y="5445521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16</a:t>
            </a:r>
            <a:endParaRPr lang="en-US" sz="1200" dirty="0"/>
          </a:p>
        </p:txBody>
      </p:sp>
      <p:sp>
        <p:nvSpPr>
          <p:cNvPr id="72" name="Text 70"/>
          <p:cNvSpPr txBox="1"/>
          <p:nvPr/>
        </p:nvSpPr>
        <p:spPr>
          <a:xfrm>
            <a:off x="1014984" y="5445521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KIA LV</a:t>
            </a:r>
            <a:endParaRPr lang="en-US" sz="1200" dirty="0"/>
          </a:p>
        </p:txBody>
      </p:sp>
      <p:sp>
        <p:nvSpPr>
          <p:cNvPr id="73" name="Shape 71"/>
          <p:cNvSpPr/>
          <p:nvPr/>
        </p:nvSpPr>
        <p:spPr>
          <a:xfrm>
            <a:off x="2980944" y="5510293"/>
            <a:ext cx="298644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74" name="Text 72"/>
          <p:cNvSpPr txBox="1"/>
          <p:nvPr/>
        </p:nvSpPr>
        <p:spPr>
          <a:xfrm>
            <a:off x="4855464" y="5445521"/>
            <a:ext cx="109728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12,757</a:t>
            </a:r>
            <a:endParaRPr lang="en-US" sz="1200" dirty="0"/>
          </a:p>
        </p:txBody>
      </p:sp>
      <p:sp>
        <p:nvSpPr>
          <p:cNvPr id="75" name="Text 73"/>
          <p:cNvSpPr txBox="1"/>
          <p:nvPr/>
        </p:nvSpPr>
        <p:spPr>
          <a:xfrm>
            <a:off x="658368" y="5685416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17</a:t>
            </a:r>
            <a:endParaRPr lang="en-US" sz="1200" dirty="0"/>
          </a:p>
        </p:txBody>
      </p:sp>
      <p:sp>
        <p:nvSpPr>
          <p:cNvPr id="76" name="Text 74"/>
          <p:cNvSpPr txBox="1"/>
          <p:nvPr/>
        </p:nvSpPr>
        <p:spPr>
          <a:xfrm>
            <a:off x="1014984" y="5685416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CDJR POST FALLS</a:t>
            </a:r>
            <a:endParaRPr lang="en-US" sz="1200" dirty="0"/>
          </a:p>
        </p:txBody>
      </p:sp>
      <p:sp>
        <p:nvSpPr>
          <p:cNvPr id="77" name="Shape 75"/>
          <p:cNvSpPr/>
          <p:nvPr/>
        </p:nvSpPr>
        <p:spPr>
          <a:xfrm>
            <a:off x="2980944" y="5750188"/>
            <a:ext cx="276102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78" name="Text 76"/>
          <p:cNvSpPr txBox="1"/>
          <p:nvPr/>
        </p:nvSpPr>
        <p:spPr>
          <a:xfrm>
            <a:off x="4855464" y="5685416"/>
            <a:ext cx="109728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11,795</a:t>
            </a:r>
            <a:endParaRPr lang="en-US" sz="1200" dirty="0"/>
          </a:p>
        </p:txBody>
      </p:sp>
      <p:sp>
        <p:nvSpPr>
          <p:cNvPr id="79" name="Text 77"/>
          <p:cNvSpPr txBox="1"/>
          <p:nvPr/>
        </p:nvSpPr>
        <p:spPr>
          <a:xfrm>
            <a:off x="6208776" y="1847088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18</a:t>
            </a:r>
            <a:endParaRPr lang="en-US" sz="1200" dirty="0"/>
          </a:p>
        </p:txBody>
      </p:sp>
      <p:sp>
        <p:nvSpPr>
          <p:cNvPr id="80" name="Text 78"/>
          <p:cNvSpPr txBox="1"/>
          <p:nvPr/>
        </p:nvSpPr>
        <p:spPr>
          <a:xfrm>
            <a:off x="6565392" y="1847088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CHEVY GMC BULLHEAD</a:t>
            </a:r>
            <a:endParaRPr lang="en-US" sz="1200" dirty="0"/>
          </a:p>
        </p:txBody>
      </p:sp>
      <p:sp>
        <p:nvSpPr>
          <p:cNvPr id="81" name="Shape 79"/>
          <p:cNvSpPr/>
          <p:nvPr/>
        </p:nvSpPr>
        <p:spPr>
          <a:xfrm>
            <a:off x="8531352" y="1911860"/>
            <a:ext cx="257333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82" name="Text 80"/>
          <p:cNvSpPr txBox="1"/>
          <p:nvPr/>
        </p:nvSpPr>
        <p:spPr>
          <a:xfrm>
            <a:off x="10405872" y="1847088"/>
            <a:ext cx="109728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10,993</a:t>
            </a:r>
            <a:endParaRPr lang="en-US" sz="1200" dirty="0"/>
          </a:p>
        </p:txBody>
      </p:sp>
      <p:sp>
        <p:nvSpPr>
          <p:cNvPr id="83" name="Text 81"/>
          <p:cNvSpPr txBox="1"/>
          <p:nvPr/>
        </p:nvSpPr>
        <p:spPr>
          <a:xfrm>
            <a:off x="6208776" y="2086984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19</a:t>
            </a:r>
            <a:endParaRPr lang="en-US" sz="1200" dirty="0"/>
          </a:p>
        </p:txBody>
      </p:sp>
      <p:sp>
        <p:nvSpPr>
          <p:cNvPr id="84" name="Text 82"/>
          <p:cNvSpPr txBox="1"/>
          <p:nvPr/>
        </p:nvSpPr>
        <p:spPr>
          <a:xfrm>
            <a:off x="6565392" y="2086984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AUDI RENO</a:t>
            </a:r>
            <a:endParaRPr lang="en-US" sz="1200" dirty="0"/>
          </a:p>
        </p:txBody>
      </p:sp>
      <p:sp>
        <p:nvSpPr>
          <p:cNvPr id="85" name="Shape 83"/>
          <p:cNvSpPr/>
          <p:nvPr/>
        </p:nvSpPr>
        <p:spPr>
          <a:xfrm>
            <a:off x="8531352" y="2151755"/>
            <a:ext cx="250095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86" name="Text 84"/>
          <p:cNvSpPr txBox="1"/>
          <p:nvPr/>
        </p:nvSpPr>
        <p:spPr>
          <a:xfrm>
            <a:off x="10405872" y="2086984"/>
            <a:ext cx="109728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10,684</a:t>
            </a:r>
            <a:endParaRPr lang="en-US" sz="1200" dirty="0"/>
          </a:p>
        </p:txBody>
      </p:sp>
      <p:sp>
        <p:nvSpPr>
          <p:cNvPr id="87" name="Text 85"/>
          <p:cNvSpPr txBox="1"/>
          <p:nvPr/>
        </p:nvSpPr>
        <p:spPr>
          <a:xfrm>
            <a:off x="6208776" y="2326879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20</a:t>
            </a:r>
            <a:endParaRPr lang="en-US" sz="1200" dirty="0"/>
          </a:p>
        </p:txBody>
      </p:sp>
      <p:sp>
        <p:nvSpPr>
          <p:cNvPr id="88" name="Text 86"/>
          <p:cNvSpPr txBox="1"/>
          <p:nvPr/>
        </p:nvSpPr>
        <p:spPr>
          <a:xfrm>
            <a:off x="6565392" y="2326879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LEXUS</a:t>
            </a:r>
            <a:endParaRPr lang="en-US" sz="1200" dirty="0"/>
          </a:p>
        </p:txBody>
      </p:sp>
      <p:sp>
        <p:nvSpPr>
          <p:cNvPr id="89" name="Shape 87"/>
          <p:cNvSpPr/>
          <p:nvPr/>
        </p:nvSpPr>
        <p:spPr>
          <a:xfrm>
            <a:off x="8531352" y="2391651"/>
            <a:ext cx="222717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90" name="Text 88"/>
          <p:cNvSpPr txBox="1"/>
          <p:nvPr/>
        </p:nvSpPr>
        <p:spPr>
          <a:xfrm>
            <a:off x="10405872" y="2326879"/>
            <a:ext cx="109728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9,514</a:t>
            </a:r>
            <a:endParaRPr lang="en-US" sz="1200" dirty="0"/>
          </a:p>
        </p:txBody>
      </p:sp>
      <p:sp>
        <p:nvSpPr>
          <p:cNvPr id="91" name="Text 89"/>
          <p:cNvSpPr txBox="1"/>
          <p:nvPr/>
        </p:nvSpPr>
        <p:spPr>
          <a:xfrm>
            <a:off x="6208776" y="2566775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21</a:t>
            </a:r>
            <a:endParaRPr lang="en-US" sz="1200" dirty="0"/>
          </a:p>
        </p:txBody>
      </p:sp>
      <p:sp>
        <p:nvSpPr>
          <p:cNvPr id="92" name="Text 90"/>
          <p:cNvSpPr txBox="1"/>
          <p:nvPr/>
        </p:nvSpPr>
        <p:spPr>
          <a:xfrm>
            <a:off x="6565392" y="2566775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MAZDA</a:t>
            </a:r>
            <a:endParaRPr lang="en-US" sz="1200" dirty="0"/>
          </a:p>
        </p:txBody>
      </p:sp>
      <p:sp>
        <p:nvSpPr>
          <p:cNvPr id="93" name="Shape 91"/>
          <p:cNvSpPr/>
          <p:nvPr/>
        </p:nvSpPr>
        <p:spPr>
          <a:xfrm>
            <a:off x="8531352" y="2631546"/>
            <a:ext cx="194260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94" name="Text 92"/>
          <p:cNvSpPr txBox="1"/>
          <p:nvPr/>
        </p:nvSpPr>
        <p:spPr>
          <a:xfrm>
            <a:off x="10405872" y="2566775"/>
            <a:ext cx="109728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8,298</a:t>
            </a:r>
            <a:endParaRPr lang="en-US" sz="1200" dirty="0"/>
          </a:p>
        </p:txBody>
      </p:sp>
      <p:sp>
        <p:nvSpPr>
          <p:cNvPr id="95" name="Text 93"/>
          <p:cNvSpPr txBox="1"/>
          <p:nvPr/>
        </p:nvSpPr>
        <p:spPr>
          <a:xfrm>
            <a:off x="6208776" y="2806670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22</a:t>
            </a:r>
            <a:endParaRPr lang="en-US" sz="1200" dirty="0"/>
          </a:p>
        </p:txBody>
      </p:sp>
      <p:sp>
        <p:nvSpPr>
          <p:cNvPr id="96" name="Text 94"/>
          <p:cNvSpPr txBox="1"/>
          <p:nvPr/>
        </p:nvSpPr>
        <p:spPr>
          <a:xfrm>
            <a:off x="6565392" y="2806670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PRESCOTT</a:t>
            </a:r>
            <a:endParaRPr lang="en-US" sz="1200" dirty="0"/>
          </a:p>
        </p:txBody>
      </p:sp>
      <p:sp>
        <p:nvSpPr>
          <p:cNvPr id="97" name="Shape 95"/>
          <p:cNvSpPr/>
          <p:nvPr/>
        </p:nvSpPr>
        <p:spPr>
          <a:xfrm>
            <a:off x="8531352" y="2871442"/>
            <a:ext cx="190890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98" name="Text 96"/>
          <p:cNvSpPr txBox="1"/>
          <p:nvPr/>
        </p:nvSpPr>
        <p:spPr>
          <a:xfrm>
            <a:off x="10405872" y="2806670"/>
            <a:ext cx="109728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8,154</a:t>
            </a:r>
            <a:endParaRPr lang="en-US" sz="1200" dirty="0"/>
          </a:p>
        </p:txBody>
      </p:sp>
      <p:sp>
        <p:nvSpPr>
          <p:cNvPr id="99" name="Text 97"/>
          <p:cNvSpPr txBox="1"/>
          <p:nvPr/>
        </p:nvSpPr>
        <p:spPr>
          <a:xfrm>
            <a:off x="6208776" y="3046566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23</a:t>
            </a:r>
            <a:endParaRPr lang="en-US" sz="1200" dirty="0"/>
          </a:p>
        </p:txBody>
      </p:sp>
      <p:sp>
        <p:nvSpPr>
          <p:cNvPr id="100" name="Text 98"/>
          <p:cNvSpPr txBox="1"/>
          <p:nvPr/>
        </p:nvSpPr>
        <p:spPr>
          <a:xfrm>
            <a:off x="6565392" y="3046566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VOLVO</a:t>
            </a:r>
            <a:endParaRPr lang="en-US" sz="1200" dirty="0"/>
          </a:p>
        </p:txBody>
      </p:sp>
      <p:sp>
        <p:nvSpPr>
          <p:cNvPr id="101" name="Shape 99"/>
          <p:cNvSpPr/>
          <p:nvPr/>
        </p:nvSpPr>
        <p:spPr>
          <a:xfrm>
            <a:off x="8531352" y="3111337"/>
            <a:ext cx="181408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02" name="Text 100"/>
          <p:cNvSpPr txBox="1"/>
          <p:nvPr/>
        </p:nvSpPr>
        <p:spPr>
          <a:xfrm>
            <a:off x="10405872" y="3046566"/>
            <a:ext cx="109728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7,749</a:t>
            </a:r>
            <a:endParaRPr lang="en-US" sz="1200" dirty="0"/>
          </a:p>
        </p:txBody>
      </p:sp>
      <p:sp>
        <p:nvSpPr>
          <p:cNvPr id="103" name="Text 101"/>
          <p:cNvSpPr txBox="1"/>
          <p:nvPr/>
        </p:nvSpPr>
        <p:spPr>
          <a:xfrm>
            <a:off x="6208776" y="3286461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24</a:t>
            </a:r>
            <a:endParaRPr lang="en-US" sz="1200" dirty="0"/>
          </a:p>
        </p:txBody>
      </p:sp>
      <p:sp>
        <p:nvSpPr>
          <p:cNvPr id="104" name="Text 102"/>
          <p:cNvSpPr txBox="1"/>
          <p:nvPr/>
        </p:nvSpPr>
        <p:spPr>
          <a:xfrm>
            <a:off x="6565392" y="3286461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FLAGSTAFF</a:t>
            </a:r>
            <a:endParaRPr lang="en-US" sz="1200" dirty="0"/>
          </a:p>
        </p:txBody>
      </p:sp>
      <p:sp>
        <p:nvSpPr>
          <p:cNvPr id="105" name="Shape 103"/>
          <p:cNvSpPr/>
          <p:nvPr/>
        </p:nvSpPr>
        <p:spPr>
          <a:xfrm>
            <a:off x="8531352" y="3351233"/>
            <a:ext cx="157098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06" name="Text 104"/>
          <p:cNvSpPr txBox="1"/>
          <p:nvPr/>
        </p:nvSpPr>
        <p:spPr>
          <a:xfrm>
            <a:off x="10405872" y="3286461"/>
            <a:ext cx="109728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6,711</a:t>
            </a:r>
            <a:endParaRPr lang="en-US" sz="1200" dirty="0"/>
          </a:p>
        </p:txBody>
      </p:sp>
      <p:sp>
        <p:nvSpPr>
          <p:cNvPr id="107" name="Text 105"/>
          <p:cNvSpPr txBox="1"/>
          <p:nvPr/>
        </p:nvSpPr>
        <p:spPr>
          <a:xfrm>
            <a:off x="6208776" y="3526357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25</a:t>
            </a:r>
            <a:endParaRPr lang="en-US" sz="1200" dirty="0"/>
          </a:p>
        </p:txBody>
      </p:sp>
      <p:sp>
        <p:nvSpPr>
          <p:cNvPr id="108" name="Text 106"/>
          <p:cNvSpPr txBox="1"/>
          <p:nvPr/>
        </p:nvSpPr>
        <p:spPr>
          <a:xfrm>
            <a:off x="6565392" y="3526357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LINCOLN</a:t>
            </a:r>
            <a:endParaRPr lang="en-US" sz="1200" dirty="0"/>
          </a:p>
        </p:txBody>
      </p:sp>
      <p:sp>
        <p:nvSpPr>
          <p:cNvPr id="109" name="Shape 107"/>
          <p:cNvSpPr/>
          <p:nvPr/>
        </p:nvSpPr>
        <p:spPr>
          <a:xfrm>
            <a:off x="8531352" y="3591128"/>
            <a:ext cx="152958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10" name="Text 108"/>
          <p:cNvSpPr txBox="1"/>
          <p:nvPr/>
        </p:nvSpPr>
        <p:spPr>
          <a:xfrm>
            <a:off x="10405872" y="3526357"/>
            <a:ext cx="109728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6,534</a:t>
            </a:r>
            <a:endParaRPr lang="en-US" sz="1200" dirty="0"/>
          </a:p>
        </p:txBody>
      </p:sp>
      <p:sp>
        <p:nvSpPr>
          <p:cNvPr id="111" name="Text 109"/>
          <p:cNvSpPr txBox="1"/>
          <p:nvPr/>
        </p:nvSpPr>
        <p:spPr>
          <a:xfrm>
            <a:off x="6208776" y="3766252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26</a:t>
            </a:r>
            <a:endParaRPr lang="en-US" sz="1200" dirty="0"/>
          </a:p>
        </p:txBody>
      </p:sp>
      <p:sp>
        <p:nvSpPr>
          <p:cNvPr id="112" name="Text 110"/>
          <p:cNvSpPr txBox="1"/>
          <p:nvPr/>
        </p:nvSpPr>
        <p:spPr>
          <a:xfrm>
            <a:off x="6565392" y="3766252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HENDERSON</a:t>
            </a:r>
            <a:endParaRPr lang="en-US" sz="1200" dirty="0"/>
          </a:p>
        </p:txBody>
      </p:sp>
      <p:sp>
        <p:nvSpPr>
          <p:cNvPr id="113" name="Shape 111"/>
          <p:cNvSpPr/>
          <p:nvPr/>
        </p:nvSpPr>
        <p:spPr>
          <a:xfrm>
            <a:off x="8531352" y="3831024"/>
            <a:ext cx="145645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14" name="Text 112"/>
          <p:cNvSpPr txBox="1"/>
          <p:nvPr/>
        </p:nvSpPr>
        <p:spPr>
          <a:xfrm>
            <a:off x="10405872" y="3766252"/>
            <a:ext cx="109728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6,222</a:t>
            </a:r>
            <a:endParaRPr lang="en-US" sz="1200" dirty="0"/>
          </a:p>
        </p:txBody>
      </p:sp>
      <p:sp>
        <p:nvSpPr>
          <p:cNvPr id="115" name="Text 113"/>
          <p:cNvSpPr txBox="1"/>
          <p:nvPr/>
        </p:nvSpPr>
        <p:spPr>
          <a:xfrm>
            <a:off x="6208776" y="4006148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27</a:t>
            </a:r>
            <a:endParaRPr lang="en-US" sz="1200" dirty="0"/>
          </a:p>
        </p:txBody>
      </p:sp>
      <p:sp>
        <p:nvSpPr>
          <p:cNvPr id="116" name="Text 114"/>
          <p:cNvSpPr txBox="1"/>
          <p:nvPr/>
        </p:nvSpPr>
        <p:spPr>
          <a:xfrm>
            <a:off x="6565392" y="4006148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GMC PRESCOTT</a:t>
            </a:r>
            <a:endParaRPr lang="en-US" sz="1200" dirty="0"/>
          </a:p>
        </p:txBody>
      </p:sp>
      <p:sp>
        <p:nvSpPr>
          <p:cNvPr id="117" name="Shape 115"/>
          <p:cNvSpPr/>
          <p:nvPr/>
        </p:nvSpPr>
        <p:spPr>
          <a:xfrm>
            <a:off x="8531352" y="4070920"/>
            <a:ext cx="142349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18" name="Text 116"/>
          <p:cNvSpPr txBox="1"/>
          <p:nvPr/>
        </p:nvSpPr>
        <p:spPr>
          <a:xfrm>
            <a:off x="10405872" y="4006148"/>
            <a:ext cx="109728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6,081</a:t>
            </a:r>
            <a:endParaRPr lang="en-US" sz="1200" dirty="0"/>
          </a:p>
        </p:txBody>
      </p:sp>
      <p:sp>
        <p:nvSpPr>
          <p:cNvPr id="119" name="Text 117"/>
          <p:cNvSpPr txBox="1"/>
          <p:nvPr/>
        </p:nvSpPr>
        <p:spPr>
          <a:xfrm>
            <a:off x="6208776" y="4246043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28</a:t>
            </a:r>
            <a:endParaRPr lang="en-US" sz="1200" dirty="0"/>
          </a:p>
        </p:txBody>
      </p:sp>
      <p:sp>
        <p:nvSpPr>
          <p:cNvPr id="120" name="Text 118"/>
          <p:cNvSpPr txBox="1"/>
          <p:nvPr/>
        </p:nvSpPr>
        <p:spPr>
          <a:xfrm>
            <a:off x="6565392" y="4246043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ACURA</a:t>
            </a:r>
            <a:endParaRPr lang="en-US" sz="1200" dirty="0"/>
          </a:p>
        </p:txBody>
      </p:sp>
      <p:sp>
        <p:nvSpPr>
          <p:cNvPr id="121" name="Shape 119"/>
          <p:cNvSpPr/>
          <p:nvPr/>
        </p:nvSpPr>
        <p:spPr>
          <a:xfrm>
            <a:off x="8531352" y="4310815"/>
            <a:ext cx="122032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22" name="Text 120"/>
          <p:cNvSpPr txBox="1"/>
          <p:nvPr/>
        </p:nvSpPr>
        <p:spPr>
          <a:xfrm>
            <a:off x="10405872" y="4246043"/>
            <a:ext cx="109728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5,213</a:t>
            </a:r>
            <a:endParaRPr lang="en-US" sz="1200" dirty="0"/>
          </a:p>
        </p:txBody>
      </p:sp>
      <p:sp>
        <p:nvSpPr>
          <p:cNvPr id="123" name="Text 121"/>
          <p:cNvSpPr txBox="1"/>
          <p:nvPr/>
        </p:nvSpPr>
        <p:spPr>
          <a:xfrm>
            <a:off x="6208776" y="4485939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29</a:t>
            </a:r>
            <a:endParaRPr lang="en-US" sz="1200" dirty="0"/>
          </a:p>
        </p:txBody>
      </p:sp>
      <p:sp>
        <p:nvSpPr>
          <p:cNvPr id="124" name="Text 122"/>
          <p:cNvSpPr txBox="1"/>
          <p:nvPr/>
        </p:nvSpPr>
        <p:spPr>
          <a:xfrm>
            <a:off x="6565392" y="4485939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KIA ST GEORGE</a:t>
            </a:r>
            <a:endParaRPr lang="en-US" sz="1200" dirty="0"/>
          </a:p>
        </p:txBody>
      </p:sp>
      <p:sp>
        <p:nvSpPr>
          <p:cNvPr id="125" name="Shape 123"/>
          <p:cNvSpPr/>
          <p:nvPr/>
        </p:nvSpPr>
        <p:spPr>
          <a:xfrm>
            <a:off x="8531352" y="4550711"/>
            <a:ext cx="118093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26" name="Text 124"/>
          <p:cNvSpPr txBox="1"/>
          <p:nvPr/>
        </p:nvSpPr>
        <p:spPr>
          <a:xfrm>
            <a:off x="10405872" y="4485939"/>
            <a:ext cx="109728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5,045</a:t>
            </a:r>
            <a:endParaRPr lang="en-US" sz="1200" dirty="0"/>
          </a:p>
        </p:txBody>
      </p:sp>
      <p:sp>
        <p:nvSpPr>
          <p:cNvPr id="127" name="Text 125"/>
          <p:cNvSpPr txBox="1"/>
          <p:nvPr/>
        </p:nvSpPr>
        <p:spPr>
          <a:xfrm>
            <a:off x="6208776" y="4725834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30</a:t>
            </a:r>
            <a:endParaRPr lang="en-US" sz="1200" dirty="0"/>
          </a:p>
        </p:txBody>
      </p:sp>
      <p:sp>
        <p:nvSpPr>
          <p:cNvPr id="128" name="Text 126"/>
          <p:cNvSpPr txBox="1"/>
          <p:nvPr/>
        </p:nvSpPr>
        <p:spPr>
          <a:xfrm>
            <a:off x="6565392" y="4725834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RENO</a:t>
            </a:r>
            <a:endParaRPr lang="en-US" sz="1200" dirty="0"/>
          </a:p>
        </p:txBody>
      </p:sp>
      <p:sp>
        <p:nvSpPr>
          <p:cNvPr id="129" name="Shape 127"/>
          <p:cNvSpPr/>
          <p:nvPr/>
        </p:nvSpPr>
        <p:spPr>
          <a:xfrm>
            <a:off x="8531352" y="4790606"/>
            <a:ext cx="115857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30" name="Text 128"/>
          <p:cNvSpPr txBox="1"/>
          <p:nvPr/>
        </p:nvSpPr>
        <p:spPr>
          <a:xfrm>
            <a:off x="10405872" y="4725834"/>
            <a:ext cx="109728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4,949</a:t>
            </a:r>
            <a:endParaRPr lang="en-US" sz="1200" dirty="0"/>
          </a:p>
        </p:txBody>
      </p:sp>
      <p:sp>
        <p:nvSpPr>
          <p:cNvPr id="131" name="Text 129"/>
          <p:cNvSpPr txBox="1"/>
          <p:nvPr/>
        </p:nvSpPr>
        <p:spPr>
          <a:xfrm>
            <a:off x="6208776" y="4965730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31</a:t>
            </a:r>
            <a:endParaRPr lang="en-US" sz="1200" dirty="0"/>
          </a:p>
        </p:txBody>
      </p:sp>
      <p:sp>
        <p:nvSpPr>
          <p:cNvPr id="132" name="Text 130"/>
          <p:cNvSpPr txBox="1"/>
          <p:nvPr/>
        </p:nvSpPr>
        <p:spPr>
          <a:xfrm>
            <a:off x="6565392" y="4965730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ST GEORGE</a:t>
            </a:r>
            <a:endParaRPr lang="en-US" sz="1200" dirty="0"/>
          </a:p>
        </p:txBody>
      </p:sp>
      <p:sp>
        <p:nvSpPr>
          <p:cNvPr id="133" name="Shape 131"/>
          <p:cNvSpPr/>
          <p:nvPr/>
        </p:nvSpPr>
        <p:spPr>
          <a:xfrm>
            <a:off x="8531352" y="5030502"/>
            <a:ext cx="111992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34" name="Text 132"/>
          <p:cNvSpPr txBox="1"/>
          <p:nvPr/>
        </p:nvSpPr>
        <p:spPr>
          <a:xfrm>
            <a:off x="10405872" y="4965730"/>
            <a:ext cx="109728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4,784</a:t>
            </a:r>
            <a:endParaRPr lang="en-US" sz="1200" dirty="0"/>
          </a:p>
        </p:txBody>
      </p:sp>
      <p:sp>
        <p:nvSpPr>
          <p:cNvPr id="135" name="Text 133"/>
          <p:cNvSpPr txBox="1"/>
          <p:nvPr/>
        </p:nvSpPr>
        <p:spPr>
          <a:xfrm>
            <a:off x="6208776" y="5205625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32</a:t>
            </a:r>
            <a:endParaRPr lang="en-US" sz="1200" dirty="0"/>
          </a:p>
        </p:txBody>
      </p:sp>
      <p:sp>
        <p:nvSpPr>
          <p:cNvPr id="136" name="Text 134"/>
          <p:cNvSpPr txBox="1"/>
          <p:nvPr/>
        </p:nvSpPr>
        <p:spPr>
          <a:xfrm>
            <a:off x="6565392" y="5205625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PRESCOTT</a:t>
            </a:r>
            <a:endParaRPr lang="en-US" sz="1200" dirty="0"/>
          </a:p>
        </p:txBody>
      </p:sp>
      <p:sp>
        <p:nvSpPr>
          <p:cNvPr id="137" name="Shape 135"/>
          <p:cNvSpPr/>
          <p:nvPr/>
        </p:nvSpPr>
        <p:spPr>
          <a:xfrm>
            <a:off x="8531352" y="5270397"/>
            <a:ext cx="76952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38" name="Text 136"/>
          <p:cNvSpPr txBox="1"/>
          <p:nvPr/>
        </p:nvSpPr>
        <p:spPr>
          <a:xfrm>
            <a:off x="10405872" y="5205625"/>
            <a:ext cx="109728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3,287</a:t>
            </a:r>
            <a:endParaRPr lang="en-US" sz="1200" dirty="0"/>
          </a:p>
        </p:txBody>
      </p:sp>
      <p:sp>
        <p:nvSpPr>
          <p:cNvPr id="139" name="Text 137"/>
          <p:cNvSpPr txBox="1"/>
          <p:nvPr/>
        </p:nvSpPr>
        <p:spPr>
          <a:xfrm>
            <a:off x="6208776" y="5445521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33</a:t>
            </a:r>
            <a:endParaRPr lang="en-US" sz="1200" dirty="0"/>
          </a:p>
        </p:txBody>
      </p:sp>
      <p:sp>
        <p:nvSpPr>
          <p:cNvPr id="140" name="Text 138"/>
          <p:cNvSpPr txBox="1"/>
          <p:nvPr/>
        </p:nvSpPr>
        <p:spPr>
          <a:xfrm>
            <a:off x="6565392" y="5445521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VW ST GEORGE</a:t>
            </a:r>
            <a:endParaRPr lang="en-US" sz="1200" dirty="0"/>
          </a:p>
        </p:txBody>
      </p:sp>
      <p:sp>
        <p:nvSpPr>
          <p:cNvPr id="141" name="Shape 139"/>
          <p:cNvSpPr/>
          <p:nvPr/>
        </p:nvSpPr>
        <p:spPr>
          <a:xfrm>
            <a:off x="8531352" y="5510293"/>
            <a:ext cx="76698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42" name="Text 140"/>
          <p:cNvSpPr txBox="1"/>
          <p:nvPr/>
        </p:nvSpPr>
        <p:spPr>
          <a:xfrm>
            <a:off x="10405872" y="5445521"/>
            <a:ext cx="109728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3,276</a:t>
            </a:r>
            <a:endParaRPr lang="en-US" sz="1200" dirty="0"/>
          </a:p>
        </p:txBody>
      </p:sp>
      <p:sp>
        <p:nvSpPr>
          <p:cNvPr id="143" name="Shape 141"/>
          <p:cNvSpPr/>
          <p:nvPr/>
        </p:nvSpPr>
        <p:spPr>
          <a:xfrm>
            <a:off x="6085332" y="1847088"/>
            <a:ext cx="10973" cy="4078224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44" name="Shape 142"/>
          <p:cNvSpPr/>
          <p:nvPr/>
        </p:nvSpPr>
        <p:spPr>
          <a:xfrm>
            <a:off x="457200" y="6126480"/>
            <a:ext cx="11274552" cy="371856"/>
          </a:xfrm>
          <a:prstGeom prst="rect">
            <a:avLst/>
          </a:prstGeom>
          <a:solidFill>
            <a:srgbClr val="EDF4FA"/>
          </a:solidFill>
          <a:ln/>
        </p:spPr>
      </p:sp>
      <p:sp>
        <p:nvSpPr>
          <p:cNvPr id="145" name="Text 143"/>
          <p:cNvSpPr txBox="1"/>
          <p:nvPr/>
        </p:nvSpPr>
        <p:spPr>
          <a:xfrm>
            <a:off x="658368" y="6144768"/>
            <a:ext cx="10927080" cy="335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Henderson leads at 78,123; VW St George is smallest at 3,276.</a:t>
            </a:r>
            <a:endParaRPr lang="en-US" sz="16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CP ENGINE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Customer Pay Hours Sold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47823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Shape 4"/>
          <p:cNvSpPr/>
          <p:nvPr/>
        </p:nvSpPr>
        <p:spPr>
          <a:xfrm>
            <a:off x="658368" y="1335024"/>
            <a:ext cx="10872216" cy="420624"/>
          </a:xfrm>
          <a:prstGeom prst="rect">
            <a:avLst/>
          </a:prstGeom>
          <a:solidFill>
            <a:srgbClr val="EDF4FA"/>
          </a:solidFill>
          <a:ln/>
        </p:spPr>
      </p:sp>
      <p:sp>
        <p:nvSpPr>
          <p:cNvPr id="7" name="Shape 5"/>
          <p:cNvSpPr/>
          <p:nvPr/>
        </p:nvSpPr>
        <p:spPr>
          <a:xfrm>
            <a:off x="658368" y="1335024"/>
            <a:ext cx="59436" cy="420624"/>
          </a:xfrm>
          <a:prstGeom prst="rect">
            <a:avLst/>
          </a:prstGeom>
          <a:solidFill>
            <a:srgbClr val="0B2C4A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859536" y="1335024"/>
            <a:ext cx="285369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CUSTOMER PAY HOURS SOLD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3768090" y="1335024"/>
            <a:ext cx="427863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90" kern="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YEAR-OVER-YEAR CHANGE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8138160" y="1335024"/>
            <a:ext cx="32918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+3.8%</a:t>
            </a:r>
            <a:endParaRPr lang="en-US" sz="2000" dirty="0"/>
          </a:p>
        </p:txBody>
      </p:sp>
      <p:sp>
        <p:nvSpPr>
          <p:cNvPr id="11" name="Text 9"/>
          <p:cNvSpPr txBox="1"/>
          <p:nvPr/>
        </p:nvSpPr>
        <p:spPr>
          <a:xfrm>
            <a:off x="658368" y="1847088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1014984" y="1847088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ST GEORGE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785616" y="1911860"/>
            <a:ext cx="777240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4617720" y="1847088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+44.6%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658368" y="2086984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1014984" y="2086984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KIA LV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3785616" y="2151755"/>
            <a:ext cx="608749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4617720" y="2086984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+35.0%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658368" y="2326879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1014984" y="2326879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KIA ST GEORGE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3785616" y="2391651"/>
            <a:ext cx="589865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4617720" y="2326879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+33.9%</a:t>
            </a:r>
            <a:endParaRPr lang="en-US" sz="1200" dirty="0"/>
          </a:p>
        </p:txBody>
      </p:sp>
      <p:sp>
        <p:nvSpPr>
          <p:cNvPr id="23" name="Text 21"/>
          <p:cNvSpPr txBox="1"/>
          <p:nvPr/>
        </p:nvSpPr>
        <p:spPr>
          <a:xfrm>
            <a:off x="658368" y="2566775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200" dirty="0"/>
          </a:p>
        </p:txBody>
      </p:sp>
      <p:sp>
        <p:nvSpPr>
          <p:cNvPr id="24" name="Text 22"/>
          <p:cNvSpPr txBox="1"/>
          <p:nvPr/>
        </p:nvSpPr>
        <p:spPr>
          <a:xfrm>
            <a:off x="1014984" y="2566775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PRESCOTT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3785616" y="2631546"/>
            <a:ext cx="502608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4617720" y="2566775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+28.9%</a:t>
            </a:r>
            <a:endParaRPr lang="en-US" sz="1200" dirty="0"/>
          </a:p>
        </p:txBody>
      </p:sp>
      <p:sp>
        <p:nvSpPr>
          <p:cNvPr id="27" name="Text 25"/>
          <p:cNvSpPr txBox="1"/>
          <p:nvPr/>
        </p:nvSpPr>
        <p:spPr>
          <a:xfrm>
            <a:off x="658368" y="2806670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</a:t>
            </a:r>
            <a:endParaRPr lang="en-US" sz="1200" dirty="0"/>
          </a:p>
        </p:txBody>
      </p:sp>
      <p:sp>
        <p:nvSpPr>
          <p:cNvPr id="28" name="Text 26"/>
          <p:cNvSpPr txBox="1"/>
          <p:nvPr/>
        </p:nvSpPr>
        <p:spPr>
          <a:xfrm>
            <a:off x="1014984" y="2806670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PRESCOTT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3785616" y="2871442"/>
            <a:ext cx="489520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4617720" y="2806670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+28.1%</a:t>
            </a:r>
            <a:endParaRPr lang="en-US" sz="1200" dirty="0"/>
          </a:p>
        </p:txBody>
      </p:sp>
      <p:sp>
        <p:nvSpPr>
          <p:cNvPr id="31" name="Text 29"/>
          <p:cNvSpPr txBox="1"/>
          <p:nvPr/>
        </p:nvSpPr>
        <p:spPr>
          <a:xfrm>
            <a:off x="658368" y="3046566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</a:t>
            </a:r>
            <a:endParaRPr lang="en-US" sz="1200" dirty="0"/>
          </a:p>
        </p:txBody>
      </p:sp>
      <p:sp>
        <p:nvSpPr>
          <p:cNvPr id="32" name="Text 30"/>
          <p:cNvSpPr txBox="1"/>
          <p:nvPr/>
        </p:nvSpPr>
        <p:spPr>
          <a:xfrm>
            <a:off x="1014984" y="3046566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GMC PRESCOTT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3785616" y="3111337"/>
            <a:ext cx="475887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4617720" y="3046566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+27.3%</a:t>
            </a:r>
            <a:endParaRPr lang="en-US" sz="1200" dirty="0"/>
          </a:p>
        </p:txBody>
      </p:sp>
      <p:sp>
        <p:nvSpPr>
          <p:cNvPr id="35" name="Text 33"/>
          <p:cNvSpPr txBox="1"/>
          <p:nvPr/>
        </p:nvSpPr>
        <p:spPr>
          <a:xfrm>
            <a:off x="658368" y="3286461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</a:t>
            </a:r>
            <a:endParaRPr lang="en-US" sz="1200" dirty="0"/>
          </a:p>
        </p:txBody>
      </p:sp>
      <p:sp>
        <p:nvSpPr>
          <p:cNvPr id="36" name="Text 34"/>
          <p:cNvSpPr txBox="1"/>
          <p:nvPr/>
        </p:nvSpPr>
        <p:spPr>
          <a:xfrm>
            <a:off x="1014984" y="3286461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ST GEORGE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3785616" y="3351233"/>
            <a:ext cx="403394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38" name="Text 36"/>
          <p:cNvSpPr txBox="1"/>
          <p:nvPr/>
        </p:nvSpPr>
        <p:spPr>
          <a:xfrm>
            <a:off x="4617720" y="3286461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+23.2%</a:t>
            </a:r>
            <a:endParaRPr lang="en-US" sz="1200" dirty="0"/>
          </a:p>
        </p:txBody>
      </p:sp>
      <p:sp>
        <p:nvSpPr>
          <p:cNvPr id="39" name="Text 37"/>
          <p:cNvSpPr txBox="1"/>
          <p:nvPr/>
        </p:nvSpPr>
        <p:spPr>
          <a:xfrm>
            <a:off x="658368" y="3526357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</a:t>
            </a:r>
            <a:endParaRPr lang="en-US" sz="1200" dirty="0"/>
          </a:p>
        </p:txBody>
      </p:sp>
      <p:sp>
        <p:nvSpPr>
          <p:cNvPr id="40" name="Text 38"/>
          <p:cNvSpPr txBox="1"/>
          <p:nvPr/>
        </p:nvSpPr>
        <p:spPr>
          <a:xfrm>
            <a:off x="1014984" y="3526357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MAZDA</a:t>
            </a:r>
            <a:endParaRPr lang="en-US" sz="1200" dirty="0"/>
          </a:p>
        </p:txBody>
      </p:sp>
      <p:sp>
        <p:nvSpPr>
          <p:cNvPr id="41" name="Shape 39"/>
          <p:cNvSpPr/>
          <p:nvPr/>
        </p:nvSpPr>
        <p:spPr>
          <a:xfrm>
            <a:off x="3785616" y="3591128"/>
            <a:ext cx="320015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42" name="Text 40"/>
          <p:cNvSpPr txBox="1"/>
          <p:nvPr/>
        </p:nvSpPr>
        <p:spPr>
          <a:xfrm>
            <a:off x="4617720" y="3526357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+18.4%</a:t>
            </a:r>
            <a:endParaRPr lang="en-US" sz="1200" dirty="0"/>
          </a:p>
        </p:txBody>
      </p:sp>
      <p:sp>
        <p:nvSpPr>
          <p:cNvPr id="43" name="Text 41"/>
          <p:cNvSpPr txBox="1"/>
          <p:nvPr/>
        </p:nvSpPr>
        <p:spPr>
          <a:xfrm>
            <a:off x="658368" y="3766252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</a:t>
            </a:r>
            <a:endParaRPr lang="en-US" sz="1200" dirty="0"/>
          </a:p>
        </p:txBody>
      </p:sp>
      <p:sp>
        <p:nvSpPr>
          <p:cNvPr id="44" name="Text 42"/>
          <p:cNvSpPr txBox="1"/>
          <p:nvPr/>
        </p:nvSpPr>
        <p:spPr>
          <a:xfrm>
            <a:off x="1014984" y="3766252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LEXUS</a:t>
            </a:r>
            <a:endParaRPr lang="en-US" sz="1200" dirty="0"/>
          </a:p>
        </p:txBody>
      </p:sp>
      <p:sp>
        <p:nvSpPr>
          <p:cNvPr id="45" name="Shape 43"/>
          <p:cNvSpPr/>
          <p:nvPr/>
        </p:nvSpPr>
        <p:spPr>
          <a:xfrm>
            <a:off x="3785616" y="3831024"/>
            <a:ext cx="319802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46" name="Text 44"/>
          <p:cNvSpPr txBox="1"/>
          <p:nvPr/>
        </p:nvSpPr>
        <p:spPr>
          <a:xfrm>
            <a:off x="4617720" y="3766252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+18.4%</a:t>
            </a:r>
            <a:endParaRPr lang="en-US" sz="1200" dirty="0"/>
          </a:p>
        </p:txBody>
      </p:sp>
      <p:sp>
        <p:nvSpPr>
          <p:cNvPr id="47" name="Text 45"/>
          <p:cNvSpPr txBox="1"/>
          <p:nvPr/>
        </p:nvSpPr>
        <p:spPr>
          <a:xfrm>
            <a:off x="658368" y="4006148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</a:t>
            </a:r>
            <a:endParaRPr lang="en-US" sz="1200" dirty="0"/>
          </a:p>
        </p:txBody>
      </p:sp>
      <p:sp>
        <p:nvSpPr>
          <p:cNvPr id="48" name="Text 46"/>
          <p:cNvSpPr txBox="1"/>
          <p:nvPr/>
        </p:nvSpPr>
        <p:spPr>
          <a:xfrm>
            <a:off x="1014984" y="4006148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LINCOLN</a:t>
            </a:r>
            <a:endParaRPr lang="en-US" sz="1200" dirty="0"/>
          </a:p>
        </p:txBody>
      </p:sp>
      <p:sp>
        <p:nvSpPr>
          <p:cNvPr id="49" name="Shape 47"/>
          <p:cNvSpPr/>
          <p:nvPr/>
        </p:nvSpPr>
        <p:spPr>
          <a:xfrm>
            <a:off x="3785616" y="4070920"/>
            <a:ext cx="304780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50" name="Text 48"/>
          <p:cNvSpPr txBox="1"/>
          <p:nvPr/>
        </p:nvSpPr>
        <p:spPr>
          <a:xfrm>
            <a:off x="4617720" y="4006148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+17.5%</a:t>
            </a:r>
            <a:endParaRPr lang="en-US" sz="1200" dirty="0"/>
          </a:p>
        </p:txBody>
      </p:sp>
      <p:sp>
        <p:nvSpPr>
          <p:cNvPr id="51" name="Text 49"/>
          <p:cNvSpPr txBox="1"/>
          <p:nvPr/>
        </p:nvSpPr>
        <p:spPr>
          <a:xfrm>
            <a:off x="658368" y="4246043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11</a:t>
            </a:r>
            <a:endParaRPr lang="en-US" sz="1200" dirty="0"/>
          </a:p>
        </p:txBody>
      </p:sp>
      <p:sp>
        <p:nvSpPr>
          <p:cNvPr id="52" name="Text 50"/>
          <p:cNvSpPr txBox="1"/>
          <p:nvPr/>
        </p:nvSpPr>
        <p:spPr>
          <a:xfrm>
            <a:off x="1014984" y="4246043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SPOKANE</a:t>
            </a:r>
            <a:endParaRPr lang="en-US" sz="1200" dirty="0"/>
          </a:p>
        </p:txBody>
      </p:sp>
      <p:sp>
        <p:nvSpPr>
          <p:cNvPr id="53" name="Shape 51"/>
          <p:cNvSpPr/>
          <p:nvPr/>
        </p:nvSpPr>
        <p:spPr>
          <a:xfrm>
            <a:off x="3785616" y="4310815"/>
            <a:ext cx="214987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54" name="Text 52"/>
          <p:cNvSpPr txBox="1"/>
          <p:nvPr/>
        </p:nvSpPr>
        <p:spPr>
          <a:xfrm>
            <a:off x="4617720" y="4246043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+12.3%</a:t>
            </a:r>
            <a:endParaRPr lang="en-US" sz="1200" dirty="0"/>
          </a:p>
        </p:txBody>
      </p:sp>
      <p:sp>
        <p:nvSpPr>
          <p:cNvPr id="55" name="Text 53"/>
          <p:cNvSpPr txBox="1"/>
          <p:nvPr/>
        </p:nvSpPr>
        <p:spPr>
          <a:xfrm>
            <a:off x="658368" y="4485939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12</a:t>
            </a:r>
            <a:endParaRPr lang="en-US" sz="1200" dirty="0"/>
          </a:p>
        </p:txBody>
      </p:sp>
      <p:sp>
        <p:nvSpPr>
          <p:cNvPr id="56" name="Text 54"/>
          <p:cNvSpPr txBox="1"/>
          <p:nvPr/>
        </p:nvSpPr>
        <p:spPr>
          <a:xfrm>
            <a:off x="1014984" y="4485939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FLAGSTAFF</a:t>
            </a:r>
            <a:endParaRPr lang="en-US" sz="1200" dirty="0"/>
          </a:p>
        </p:txBody>
      </p:sp>
      <p:sp>
        <p:nvSpPr>
          <p:cNvPr id="57" name="Shape 55"/>
          <p:cNvSpPr/>
          <p:nvPr/>
        </p:nvSpPr>
        <p:spPr>
          <a:xfrm>
            <a:off x="3785616" y="4550711"/>
            <a:ext cx="207215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58" name="Text 56"/>
          <p:cNvSpPr txBox="1"/>
          <p:nvPr/>
        </p:nvSpPr>
        <p:spPr>
          <a:xfrm>
            <a:off x="4617720" y="4485939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+11.9%</a:t>
            </a:r>
            <a:endParaRPr lang="en-US" sz="1200" dirty="0"/>
          </a:p>
        </p:txBody>
      </p:sp>
      <p:sp>
        <p:nvSpPr>
          <p:cNvPr id="59" name="Text 57"/>
          <p:cNvSpPr txBox="1"/>
          <p:nvPr/>
        </p:nvSpPr>
        <p:spPr>
          <a:xfrm>
            <a:off x="658368" y="4725834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13</a:t>
            </a:r>
            <a:endParaRPr lang="en-US" sz="1200" dirty="0"/>
          </a:p>
        </p:txBody>
      </p:sp>
      <p:sp>
        <p:nvSpPr>
          <p:cNvPr id="60" name="Text 58"/>
          <p:cNvSpPr txBox="1"/>
          <p:nvPr/>
        </p:nvSpPr>
        <p:spPr>
          <a:xfrm>
            <a:off x="1014984" y="4725834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LV</a:t>
            </a:r>
            <a:endParaRPr lang="en-US" sz="1200" dirty="0"/>
          </a:p>
        </p:txBody>
      </p:sp>
      <p:sp>
        <p:nvSpPr>
          <p:cNvPr id="61" name="Shape 59"/>
          <p:cNvSpPr/>
          <p:nvPr/>
        </p:nvSpPr>
        <p:spPr>
          <a:xfrm>
            <a:off x="3785616" y="4790606"/>
            <a:ext cx="187159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62" name="Text 60"/>
          <p:cNvSpPr txBox="1"/>
          <p:nvPr/>
        </p:nvSpPr>
        <p:spPr>
          <a:xfrm>
            <a:off x="4617720" y="4725834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+10.7%</a:t>
            </a:r>
            <a:endParaRPr lang="en-US" sz="1200" dirty="0"/>
          </a:p>
        </p:txBody>
      </p:sp>
      <p:sp>
        <p:nvSpPr>
          <p:cNvPr id="63" name="Text 61"/>
          <p:cNvSpPr txBox="1"/>
          <p:nvPr/>
        </p:nvSpPr>
        <p:spPr>
          <a:xfrm>
            <a:off x="658368" y="4965730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14</a:t>
            </a:r>
            <a:endParaRPr lang="en-US" sz="1200" dirty="0"/>
          </a:p>
        </p:txBody>
      </p:sp>
      <p:sp>
        <p:nvSpPr>
          <p:cNvPr id="64" name="Text 62"/>
          <p:cNvSpPr txBox="1"/>
          <p:nvPr/>
        </p:nvSpPr>
        <p:spPr>
          <a:xfrm>
            <a:off x="1014984" y="4965730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CHEVY GMC BULLHEAD</a:t>
            </a:r>
            <a:endParaRPr lang="en-US" sz="1200" dirty="0"/>
          </a:p>
        </p:txBody>
      </p:sp>
      <p:sp>
        <p:nvSpPr>
          <p:cNvPr id="65" name="Shape 63"/>
          <p:cNvSpPr/>
          <p:nvPr/>
        </p:nvSpPr>
        <p:spPr>
          <a:xfrm>
            <a:off x="3785616" y="5030502"/>
            <a:ext cx="172129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66" name="Text 64"/>
          <p:cNvSpPr txBox="1"/>
          <p:nvPr/>
        </p:nvSpPr>
        <p:spPr>
          <a:xfrm>
            <a:off x="4617720" y="4965730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+9.9%</a:t>
            </a:r>
            <a:endParaRPr lang="en-US" sz="1200" dirty="0"/>
          </a:p>
        </p:txBody>
      </p:sp>
      <p:sp>
        <p:nvSpPr>
          <p:cNvPr id="67" name="Text 65"/>
          <p:cNvSpPr txBox="1"/>
          <p:nvPr/>
        </p:nvSpPr>
        <p:spPr>
          <a:xfrm>
            <a:off x="658368" y="5205625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15</a:t>
            </a:r>
            <a:endParaRPr lang="en-US" sz="1200" dirty="0"/>
          </a:p>
        </p:txBody>
      </p:sp>
      <p:sp>
        <p:nvSpPr>
          <p:cNvPr id="68" name="Text 66"/>
          <p:cNvSpPr txBox="1"/>
          <p:nvPr/>
        </p:nvSpPr>
        <p:spPr>
          <a:xfrm>
            <a:off x="1014984" y="5205625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CADILLAC</a:t>
            </a:r>
            <a:endParaRPr lang="en-US" sz="1200" dirty="0"/>
          </a:p>
        </p:txBody>
      </p:sp>
      <p:sp>
        <p:nvSpPr>
          <p:cNvPr id="69" name="Shape 67"/>
          <p:cNvSpPr/>
          <p:nvPr/>
        </p:nvSpPr>
        <p:spPr>
          <a:xfrm>
            <a:off x="3785616" y="5270397"/>
            <a:ext cx="116744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70" name="Text 68"/>
          <p:cNvSpPr txBox="1"/>
          <p:nvPr/>
        </p:nvSpPr>
        <p:spPr>
          <a:xfrm>
            <a:off x="4617720" y="5205625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+6.7%</a:t>
            </a:r>
            <a:endParaRPr lang="en-US" sz="1200" dirty="0"/>
          </a:p>
        </p:txBody>
      </p:sp>
      <p:sp>
        <p:nvSpPr>
          <p:cNvPr id="71" name="Text 69"/>
          <p:cNvSpPr txBox="1"/>
          <p:nvPr/>
        </p:nvSpPr>
        <p:spPr>
          <a:xfrm>
            <a:off x="658368" y="5445521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16</a:t>
            </a:r>
            <a:endParaRPr lang="en-US" sz="1200" dirty="0"/>
          </a:p>
        </p:txBody>
      </p:sp>
      <p:sp>
        <p:nvSpPr>
          <p:cNvPr id="72" name="Text 70"/>
          <p:cNvSpPr txBox="1"/>
          <p:nvPr/>
        </p:nvSpPr>
        <p:spPr>
          <a:xfrm>
            <a:off x="1014984" y="5445521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PRESCOTT</a:t>
            </a:r>
            <a:endParaRPr lang="en-US" sz="1200" dirty="0"/>
          </a:p>
        </p:txBody>
      </p:sp>
      <p:sp>
        <p:nvSpPr>
          <p:cNvPr id="73" name="Shape 71"/>
          <p:cNvSpPr/>
          <p:nvPr/>
        </p:nvSpPr>
        <p:spPr>
          <a:xfrm>
            <a:off x="3785616" y="5510293"/>
            <a:ext cx="116682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74" name="Text 72"/>
          <p:cNvSpPr txBox="1"/>
          <p:nvPr/>
        </p:nvSpPr>
        <p:spPr>
          <a:xfrm>
            <a:off x="4617720" y="5445521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+6.7%</a:t>
            </a:r>
            <a:endParaRPr lang="en-US" sz="1200" dirty="0"/>
          </a:p>
        </p:txBody>
      </p:sp>
      <p:sp>
        <p:nvSpPr>
          <p:cNvPr id="75" name="Text 73"/>
          <p:cNvSpPr txBox="1"/>
          <p:nvPr/>
        </p:nvSpPr>
        <p:spPr>
          <a:xfrm>
            <a:off x="658368" y="5685416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17</a:t>
            </a:r>
            <a:endParaRPr lang="en-US" sz="1200" dirty="0"/>
          </a:p>
        </p:txBody>
      </p:sp>
      <p:sp>
        <p:nvSpPr>
          <p:cNvPr id="76" name="Text 74"/>
          <p:cNvSpPr txBox="1"/>
          <p:nvPr/>
        </p:nvSpPr>
        <p:spPr>
          <a:xfrm>
            <a:off x="1014984" y="5685416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VW HENDERSON</a:t>
            </a:r>
            <a:endParaRPr lang="en-US" sz="1200" dirty="0"/>
          </a:p>
        </p:txBody>
      </p:sp>
      <p:sp>
        <p:nvSpPr>
          <p:cNvPr id="77" name="Shape 75"/>
          <p:cNvSpPr/>
          <p:nvPr/>
        </p:nvSpPr>
        <p:spPr>
          <a:xfrm>
            <a:off x="3785616" y="5750188"/>
            <a:ext cx="116417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78" name="Text 76"/>
          <p:cNvSpPr txBox="1"/>
          <p:nvPr/>
        </p:nvSpPr>
        <p:spPr>
          <a:xfrm>
            <a:off x="4617720" y="5685416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+6.7%</a:t>
            </a:r>
            <a:endParaRPr lang="en-US" sz="1200" dirty="0"/>
          </a:p>
        </p:txBody>
      </p:sp>
      <p:sp>
        <p:nvSpPr>
          <p:cNvPr id="79" name="Text 77"/>
          <p:cNvSpPr txBox="1"/>
          <p:nvPr/>
        </p:nvSpPr>
        <p:spPr>
          <a:xfrm>
            <a:off x="6208776" y="1847088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18</a:t>
            </a:r>
            <a:endParaRPr lang="en-US" sz="1200" dirty="0"/>
          </a:p>
        </p:txBody>
      </p:sp>
      <p:sp>
        <p:nvSpPr>
          <p:cNvPr id="80" name="Text 78"/>
          <p:cNvSpPr txBox="1"/>
          <p:nvPr/>
        </p:nvSpPr>
        <p:spPr>
          <a:xfrm>
            <a:off x="6565392" y="1847088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AUDI HENDERSON</a:t>
            </a:r>
            <a:endParaRPr lang="en-US" sz="1200" dirty="0"/>
          </a:p>
        </p:txBody>
      </p:sp>
      <p:sp>
        <p:nvSpPr>
          <p:cNvPr id="81" name="Shape 79"/>
          <p:cNvSpPr/>
          <p:nvPr/>
        </p:nvSpPr>
        <p:spPr>
          <a:xfrm>
            <a:off x="9336024" y="1911860"/>
            <a:ext cx="106340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82" name="Text 80"/>
          <p:cNvSpPr txBox="1"/>
          <p:nvPr/>
        </p:nvSpPr>
        <p:spPr>
          <a:xfrm>
            <a:off x="10168128" y="1847088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+6.1%</a:t>
            </a:r>
            <a:endParaRPr lang="en-US" sz="1200" dirty="0"/>
          </a:p>
        </p:txBody>
      </p:sp>
      <p:sp>
        <p:nvSpPr>
          <p:cNvPr id="83" name="Text 81"/>
          <p:cNvSpPr txBox="1"/>
          <p:nvPr/>
        </p:nvSpPr>
        <p:spPr>
          <a:xfrm>
            <a:off x="6208776" y="2086984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19</a:t>
            </a:r>
            <a:endParaRPr lang="en-US" sz="1200" dirty="0"/>
          </a:p>
        </p:txBody>
      </p:sp>
      <p:sp>
        <p:nvSpPr>
          <p:cNvPr id="84" name="Text 82"/>
          <p:cNvSpPr txBox="1"/>
          <p:nvPr/>
        </p:nvSpPr>
        <p:spPr>
          <a:xfrm>
            <a:off x="6565392" y="2086984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NISSAN</a:t>
            </a:r>
            <a:endParaRPr lang="en-US" sz="1200" dirty="0"/>
          </a:p>
        </p:txBody>
      </p:sp>
      <p:sp>
        <p:nvSpPr>
          <p:cNvPr id="85" name="Shape 83"/>
          <p:cNvSpPr/>
          <p:nvPr/>
        </p:nvSpPr>
        <p:spPr>
          <a:xfrm>
            <a:off x="9336024" y="2151755"/>
            <a:ext cx="99982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86" name="Text 84"/>
          <p:cNvSpPr txBox="1"/>
          <p:nvPr/>
        </p:nvSpPr>
        <p:spPr>
          <a:xfrm>
            <a:off x="10168128" y="2086984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+5.7%</a:t>
            </a:r>
            <a:endParaRPr lang="en-US" sz="1200" dirty="0"/>
          </a:p>
        </p:txBody>
      </p:sp>
      <p:sp>
        <p:nvSpPr>
          <p:cNvPr id="87" name="Text 85"/>
          <p:cNvSpPr txBox="1"/>
          <p:nvPr/>
        </p:nvSpPr>
        <p:spPr>
          <a:xfrm>
            <a:off x="6208776" y="2326879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20</a:t>
            </a:r>
            <a:endParaRPr lang="en-US" sz="1200" dirty="0"/>
          </a:p>
        </p:txBody>
      </p:sp>
      <p:sp>
        <p:nvSpPr>
          <p:cNvPr id="88" name="Text 86"/>
          <p:cNvSpPr txBox="1"/>
          <p:nvPr/>
        </p:nvSpPr>
        <p:spPr>
          <a:xfrm>
            <a:off x="6565392" y="2326879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HENDERSON</a:t>
            </a:r>
            <a:endParaRPr lang="en-US" sz="1200" dirty="0"/>
          </a:p>
        </p:txBody>
      </p:sp>
      <p:sp>
        <p:nvSpPr>
          <p:cNvPr id="89" name="Shape 87"/>
          <p:cNvSpPr/>
          <p:nvPr/>
        </p:nvSpPr>
        <p:spPr>
          <a:xfrm>
            <a:off x="9336024" y="2391651"/>
            <a:ext cx="89045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90" name="Text 88"/>
          <p:cNvSpPr txBox="1"/>
          <p:nvPr/>
        </p:nvSpPr>
        <p:spPr>
          <a:xfrm>
            <a:off x="10168128" y="2326879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+5.1%</a:t>
            </a:r>
            <a:endParaRPr lang="en-US" sz="1200" dirty="0"/>
          </a:p>
        </p:txBody>
      </p:sp>
      <p:sp>
        <p:nvSpPr>
          <p:cNvPr id="91" name="Text 89"/>
          <p:cNvSpPr txBox="1"/>
          <p:nvPr/>
        </p:nvSpPr>
        <p:spPr>
          <a:xfrm>
            <a:off x="6208776" y="2566775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21</a:t>
            </a:r>
            <a:endParaRPr lang="en-US" sz="1200" dirty="0"/>
          </a:p>
        </p:txBody>
      </p:sp>
      <p:sp>
        <p:nvSpPr>
          <p:cNvPr id="92" name="Text 90"/>
          <p:cNvSpPr txBox="1"/>
          <p:nvPr/>
        </p:nvSpPr>
        <p:spPr>
          <a:xfrm>
            <a:off x="6565392" y="2566775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HENDERSON</a:t>
            </a:r>
            <a:endParaRPr lang="en-US" sz="1200" dirty="0"/>
          </a:p>
        </p:txBody>
      </p:sp>
      <p:sp>
        <p:nvSpPr>
          <p:cNvPr id="93" name="Shape 91"/>
          <p:cNvSpPr/>
          <p:nvPr/>
        </p:nvSpPr>
        <p:spPr>
          <a:xfrm>
            <a:off x="9336024" y="2631546"/>
            <a:ext cx="88806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94" name="Text 92"/>
          <p:cNvSpPr txBox="1"/>
          <p:nvPr/>
        </p:nvSpPr>
        <p:spPr>
          <a:xfrm>
            <a:off x="10168128" y="2566775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+5.1%</a:t>
            </a:r>
            <a:endParaRPr lang="en-US" sz="1200" dirty="0"/>
          </a:p>
        </p:txBody>
      </p:sp>
      <p:sp>
        <p:nvSpPr>
          <p:cNvPr id="95" name="Text 93"/>
          <p:cNvSpPr txBox="1"/>
          <p:nvPr/>
        </p:nvSpPr>
        <p:spPr>
          <a:xfrm>
            <a:off x="6208776" y="2806670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22</a:t>
            </a:r>
            <a:endParaRPr lang="en-US" sz="1200" dirty="0"/>
          </a:p>
        </p:txBody>
      </p:sp>
      <p:sp>
        <p:nvSpPr>
          <p:cNvPr id="96" name="Text 94"/>
          <p:cNvSpPr txBox="1"/>
          <p:nvPr/>
        </p:nvSpPr>
        <p:spPr>
          <a:xfrm>
            <a:off x="6565392" y="2806670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ACURA</a:t>
            </a:r>
            <a:endParaRPr lang="en-US" sz="1200" dirty="0"/>
          </a:p>
        </p:txBody>
      </p:sp>
      <p:sp>
        <p:nvSpPr>
          <p:cNvPr id="97" name="Shape 95"/>
          <p:cNvSpPr/>
          <p:nvPr/>
        </p:nvSpPr>
        <p:spPr>
          <a:xfrm>
            <a:off x="9336024" y="2871442"/>
            <a:ext cx="12802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98" name="Text 96"/>
          <p:cNvSpPr txBox="1"/>
          <p:nvPr/>
        </p:nvSpPr>
        <p:spPr>
          <a:xfrm>
            <a:off x="10168128" y="2806670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+0.4%</a:t>
            </a:r>
            <a:endParaRPr lang="en-US" sz="1200" dirty="0"/>
          </a:p>
        </p:txBody>
      </p:sp>
      <p:sp>
        <p:nvSpPr>
          <p:cNvPr id="99" name="Text 97"/>
          <p:cNvSpPr txBox="1"/>
          <p:nvPr/>
        </p:nvSpPr>
        <p:spPr>
          <a:xfrm>
            <a:off x="6208776" y="3046566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23</a:t>
            </a:r>
            <a:endParaRPr lang="en-US" sz="1200" dirty="0"/>
          </a:p>
        </p:txBody>
      </p:sp>
      <p:sp>
        <p:nvSpPr>
          <p:cNvPr id="100" name="Text 98"/>
          <p:cNvSpPr txBox="1"/>
          <p:nvPr/>
        </p:nvSpPr>
        <p:spPr>
          <a:xfrm>
            <a:off x="6565392" y="3046566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NORTH</a:t>
            </a:r>
            <a:endParaRPr lang="en-US" sz="1200" dirty="0"/>
          </a:p>
        </p:txBody>
      </p:sp>
      <p:sp>
        <p:nvSpPr>
          <p:cNvPr id="101" name="Shape 99"/>
          <p:cNvSpPr/>
          <p:nvPr/>
        </p:nvSpPr>
        <p:spPr>
          <a:xfrm>
            <a:off x="9336024" y="3111337"/>
            <a:ext cx="12802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02" name="Text 100"/>
          <p:cNvSpPr txBox="1"/>
          <p:nvPr/>
        </p:nvSpPr>
        <p:spPr>
          <a:xfrm>
            <a:off x="10168128" y="3046566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+0.4%</a:t>
            </a:r>
            <a:endParaRPr lang="en-US" sz="1200" dirty="0"/>
          </a:p>
        </p:txBody>
      </p:sp>
      <p:sp>
        <p:nvSpPr>
          <p:cNvPr id="103" name="Text 101"/>
          <p:cNvSpPr txBox="1"/>
          <p:nvPr/>
        </p:nvSpPr>
        <p:spPr>
          <a:xfrm>
            <a:off x="6208776" y="3286461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24</a:t>
            </a:r>
            <a:endParaRPr lang="en-US" sz="1200" dirty="0"/>
          </a:p>
        </p:txBody>
      </p:sp>
      <p:sp>
        <p:nvSpPr>
          <p:cNvPr id="104" name="Text 102"/>
          <p:cNvSpPr txBox="1"/>
          <p:nvPr/>
        </p:nvSpPr>
        <p:spPr>
          <a:xfrm>
            <a:off x="6565392" y="3286461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HENDERSON</a:t>
            </a:r>
            <a:endParaRPr lang="en-US" sz="1200" dirty="0"/>
          </a:p>
        </p:txBody>
      </p:sp>
      <p:sp>
        <p:nvSpPr>
          <p:cNvPr id="105" name="Shape 103"/>
          <p:cNvSpPr/>
          <p:nvPr/>
        </p:nvSpPr>
        <p:spPr>
          <a:xfrm>
            <a:off x="9306237" y="3351233"/>
            <a:ext cx="29787" cy="110352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06" name="Text 104"/>
          <p:cNvSpPr txBox="1"/>
          <p:nvPr/>
        </p:nvSpPr>
        <p:spPr>
          <a:xfrm>
            <a:off x="10168128" y="3286461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−1.7%</a:t>
            </a:r>
            <a:endParaRPr lang="en-US" sz="1200" dirty="0"/>
          </a:p>
        </p:txBody>
      </p:sp>
      <p:sp>
        <p:nvSpPr>
          <p:cNvPr id="107" name="Text 105"/>
          <p:cNvSpPr txBox="1"/>
          <p:nvPr/>
        </p:nvSpPr>
        <p:spPr>
          <a:xfrm>
            <a:off x="6208776" y="3526357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25</a:t>
            </a:r>
            <a:endParaRPr lang="en-US" sz="1200" dirty="0"/>
          </a:p>
        </p:txBody>
      </p:sp>
      <p:sp>
        <p:nvSpPr>
          <p:cNvPr id="108" name="Text 106"/>
          <p:cNvSpPr txBox="1"/>
          <p:nvPr/>
        </p:nvSpPr>
        <p:spPr>
          <a:xfrm>
            <a:off x="6565392" y="3526357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FLAGSTAFF</a:t>
            </a:r>
            <a:endParaRPr lang="en-US" sz="1200" dirty="0"/>
          </a:p>
        </p:txBody>
      </p:sp>
      <p:sp>
        <p:nvSpPr>
          <p:cNvPr id="109" name="Shape 107"/>
          <p:cNvSpPr/>
          <p:nvPr/>
        </p:nvSpPr>
        <p:spPr>
          <a:xfrm>
            <a:off x="9291402" y="3591128"/>
            <a:ext cx="44622" cy="110352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10" name="Text 108"/>
          <p:cNvSpPr txBox="1"/>
          <p:nvPr/>
        </p:nvSpPr>
        <p:spPr>
          <a:xfrm>
            <a:off x="10168128" y="3526357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−2.6%</a:t>
            </a:r>
            <a:endParaRPr lang="en-US" sz="1200" dirty="0"/>
          </a:p>
        </p:txBody>
      </p:sp>
      <p:sp>
        <p:nvSpPr>
          <p:cNvPr id="111" name="Text 109"/>
          <p:cNvSpPr txBox="1"/>
          <p:nvPr/>
        </p:nvSpPr>
        <p:spPr>
          <a:xfrm>
            <a:off x="6208776" y="3766252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26</a:t>
            </a:r>
            <a:endParaRPr lang="en-US" sz="1200" dirty="0"/>
          </a:p>
        </p:txBody>
      </p:sp>
      <p:sp>
        <p:nvSpPr>
          <p:cNvPr id="112" name="Text 110"/>
          <p:cNvSpPr txBox="1"/>
          <p:nvPr/>
        </p:nvSpPr>
        <p:spPr>
          <a:xfrm>
            <a:off x="6565392" y="3766252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CDJR POST FALLS</a:t>
            </a:r>
            <a:endParaRPr lang="en-US" sz="1200" dirty="0"/>
          </a:p>
        </p:txBody>
      </p:sp>
      <p:sp>
        <p:nvSpPr>
          <p:cNvPr id="113" name="Shape 111"/>
          <p:cNvSpPr/>
          <p:nvPr/>
        </p:nvSpPr>
        <p:spPr>
          <a:xfrm>
            <a:off x="9285327" y="3831024"/>
            <a:ext cx="50697" cy="110352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14" name="Text 112"/>
          <p:cNvSpPr txBox="1"/>
          <p:nvPr/>
        </p:nvSpPr>
        <p:spPr>
          <a:xfrm>
            <a:off x="10168128" y="3766252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−2.9%</a:t>
            </a:r>
            <a:endParaRPr lang="en-US" sz="1200" dirty="0"/>
          </a:p>
        </p:txBody>
      </p:sp>
      <p:sp>
        <p:nvSpPr>
          <p:cNvPr id="115" name="Text 113"/>
          <p:cNvSpPr txBox="1"/>
          <p:nvPr/>
        </p:nvSpPr>
        <p:spPr>
          <a:xfrm>
            <a:off x="6208776" y="4006148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27</a:t>
            </a:r>
            <a:endParaRPr lang="en-US" sz="1200" dirty="0"/>
          </a:p>
        </p:txBody>
      </p:sp>
      <p:sp>
        <p:nvSpPr>
          <p:cNvPr id="116" name="Text 114"/>
          <p:cNvSpPr txBox="1"/>
          <p:nvPr/>
        </p:nvSpPr>
        <p:spPr>
          <a:xfrm>
            <a:off x="6565392" y="4006148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LV</a:t>
            </a:r>
            <a:endParaRPr lang="en-US" sz="1200" dirty="0"/>
          </a:p>
        </p:txBody>
      </p:sp>
      <p:sp>
        <p:nvSpPr>
          <p:cNvPr id="117" name="Shape 115"/>
          <p:cNvSpPr/>
          <p:nvPr/>
        </p:nvSpPr>
        <p:spPr>
          <a:xfrm>
            <a:off x="9275488" y="4070920"/>
            <a:ext cx="60536" cy="110352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18" name="Text 116"/>
          <p:cNvSpPr txBox="1"/>
          <p:nvPr/>
        </p:nvSpPr>
        <p:spPr>
          <a:xfrm>
            <a:off x="10168128" y="4006148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−3.5%</a:t>
            </a:r>
            <a:endParaRPr lang="en-US" sz="1200" dirty="0"/>
          </a:p>
        </p:txBody>
      </p:sp>
      <p:sp>
        <p:nvSpPr>
          <p:cNvPr id="119" name="Text 117"/>
          <p:cNvSpPr txBox="1"/>
          <p:nvPr/>
        </p:nvSpPr>
        <p:spPr>
          <a:xfrm>
            <a:off x="6208776" y="4246043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28</a:t>
            </a:r>
            <a:endParaRPr lang="en-US" sz="1200" dirty="0"/>
          </a:p>
        </p:txBody>
      </p:sp>
      <p:sp>
        <p:nvSpPr>
          <p:cNvPr id="120" name="Text 118"/>
          <p:cNvSpPr txBox="1"/>
          <p:nvPr/>
        </p:nvSpPr>
        <p:spPr>
          <a:xfrm>
            <a:off x="6565392" y="4246043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RENO</a:t>
            </a:r>
            <a:endParaRPr lang="en-US" sz="1200" dirty="0"/>
          </a:p>
        </p:txBody>
      </p:sp>
      <p:sp>
        <p:nvSpPr>
          <p:cNvPr id="121" name="Shape 119"/>
          <p:cNvSpPr/>
          <p:nvPr/>
        </p:nvSpPr>
        <p:spPr>
          <a:xfrm>
            <a:off x="9233370" y="4310815"/>
            <a:ext cx="102654" cy="110352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22" name="Text 120"/>
          <p:cNvSpPr txBox="1"/>
          <p:nvPr/>
        </p:nvSpPr>
        <p:spPr>
          <a:xfrm>
            <a:off x="10168128" y="4246043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−5.9%</a:t>
            </a:r>
            <a:endParaRPr lang="en-US" sz="1200" dirty="0"/>
          </a:p>
        </p:txBody>
      </p:sp>
      <p:sp>
        <p:nvSpPr>
          <p:cNvPr id="123" name="Text 121"/>
          <p:cNvSpPr txBox="1"/>
          <p:nvPr/>
        </p:nvSpPr>
        <p:spPr>
          <a:xfrm>
            <a:off x="6208776" y="4485939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29</a:t>
            </a:r>
            <a:endParaRPr lang="en-US" sz="1200" dirty="0"/>
          </a:p>
        </p:txBody>
      </p:sp>
      <p:sp>
        <p:nvSpPr>
          <p:cNvPr id="124" name="Text 122"/>
          <p:cNvSpPr txBox="1"/>
          <p:nvPr/>
        </p:nvSpPr>
        <p:spPr>
          <a:xfrm>
            <a:off x="6565392" y="4485939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CHEVY LV</a:t>
            </a:r>
            <a:endParaRPr lang="en-US" sz="1200" dirty="0"/>
          </a:p>
        </p:txBody>
      </p:sp>
      <p:sp>
        <p:nvSpPr>
          <p:cNvPr id="125" name="Shape 123"/>
          <p:cNvSpPr/>
          <p:nvPr/>
        </p:nvSpPr>
        <p:spPr>
          <a:xfrm>
            <a:off x="9206595" y="4550711"/>
            <a:ext cx="129429" cy="110352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26" name="Text 124"/>
          <p:cNvSpPr txBox="1"/>
          <p:nvPr/>
        </p:nvSpPr>
        <p:spPr>
          <a:xfrm>
            <a:off x="10168128" y="4485939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−7.4%</a:t>
            </a:r>
            <a:endParaRPr lang="en-US" sz="1200" dirty="0"/>
          </a:p>
        </p:txBody>
      </p:sp>
      <p:sp>
        <p:nvSpPr>
          <p:cNvPr id="127" name="Text 125"/>
          <p:cNvSpPr txBox="1"/>
          <p:nvPr/>
        </p:nvSpPr>
        <p:spPr>
          <a:xfrm>
            <a:off x="6208776" y="4725834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30</a:t>
            </a:r>
            <a:endParaRPr lang="en-US" sz="1200" dirty="0"/>
          </a:p>
        </p:txBody>
      </p:sp>
      <p:sp>
        <p:nvSpPr>
          <p:cNvPr id="128" name="Text 126"/>
          <p:cNvSpPr txBox="1"/>
          <p:nvPr/>
        </p:nvSpPr>
        <p:spPr>
          <a:xfrm>
            <a:off x="6565392" y="4725834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SPOKANE</a:t>
            </a:r>
            <a:endParaRPr lang="en-US" sz="1200" dirty="0"/>
          </a:p>
        </p:txBody>
      </p:sp>
      <p:sp>
        <p:nvSpPr>
          <p:cNvPr id="129" name="Shape 127"/>
          <p:cNvSpPr/>
          <p:nvPr/>
        </p:nvSpPr>
        <p:spPr>
          <a:xfrm>
            <a:off x="9193818" y="4790606"/>
            <a:ext cx="142206" cy="110352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30" name="Text 128"/>
          <p:cNvSpPr txBox="1"/>
          <p:nvPr/>
        </p:nvSpPr>
        <p:spPr>
          <a:xfrm>
            <a:off x="10168128" y="4725834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−8.2%</a:t>
            </a:r>
            <a:endParaRPr lang="en-US" sz="1200" dirty="0"/>
          </a:p>
        </p:txBody>
      </p:sp>
      <p:sp>
        <p:nvSpPr>
          <p:cNvPr id="131" name="Text 129"/>
          <p:cNvSpPr txBox="1"/>
          <p:nvPr/>
        </p:nvSpPr>
        <p:spPr>
          <a:xfrm>
            <a:off x="6208776" y="4965730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31</a:t>
            </a:r>
            <a:endParaRPr lang="en-US" sz="1200" dirty="0"/>
          </a:p>
        </p:txBody>
      </p:sp>
      <p:sp>
        <p:nvSpPr>
          <p:cNvPr id="132" name="Text 130"/>
          <p:cNvSpPr txBox="1"/>
          <p:nvPr/>
        </p:nvSpPr>
        <p:spPr>
          <a:xfrm>
            <a:off x="6565392" y="4965730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VOLVO</a:t>
            </a:r>
            <a:endParaRPr lang="en-US" sz="1200" dirty="0"/>
          </a:p>
        </p:txBody>
      </p:sp>
      <p:sp>
        <p:nvSpPr>
          <p:cNvPr id="133" name="Shape 131"/>
          <p:cNvSpPr/>
          <p:nvPr/>
        </p:nvSpPr>
        <p:spPr>
          <a:xfrm>
            <a:off x="9153034" y="5030502"/>
            <a:ext cx="182990" cy="110352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34" name="Text 132"/>
          <p:cNvSpPr txBox="1"/>
          <p:nvPr/>
        </p:nvSpPr>
        <p:spPr>
          <a:xfrm>
            <a:off x="10168128" y="4965730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−10.5%</a:t>
            </a:r>
            <a:endParaRPr lang="en-US" sz="1200" dirty="0"/>
          </a:p>
        </p:txBody>
      </p:sp>
      <p:sp>
        <p:nvSpPr>
          <p:cNvPr id="135" name="Text 133"/>
          <p:cNvSpPr txBox="1"/>
          <p:nvPr/>
        </p:nvSpPr>
        <p:spPr>
          <a:xfrm>
            <a:off x="6208776" y="5205625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32</a:t>
            </a:r>
            <a:endParaRPr lang="en-US" sz="1200" dirty="0"/>
          </a:p>
        </p:txBody>
      </p:sp>
      <p:sp>
        <p:nvSpPr>
          <p:cNvPr id="136" name="Text 134"/>
          <p:cNvSpPr txBox="1"/>
          <p:nvPr/>
        </p:nvSpPr>
        <p:spPr>
          <a:xfrm>
            <a:off x="6565392" y="5205625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AUDI RENO</a:t>
            </a:r>
            <a:endParaRPr lang="en-US" sz="1200" dirty="0"/>
          </a:p>
        </p:txBody>
      </p:sp>
      <p:sp>
        <p:nvSpPr>
          <p:cNvPr id="137" name="Shape 135"/>
          <p:cNvSpPr/>
          <p:nvPr/>
        </p:nvSpPr>
        <p:spPr>
          <a:xfrm>
            <a:off x="9069849" y="5270397"/>
            <a:ext cx="266175" cy="110352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38" name="Text 136"/>
          <p:cNvSpPr txBox="1"/>
          <p:nvPr/>
        </p:nvSpPr>
        <p:spPr>
          <a:xfrm>
            <a:off x="10168128" y="5205625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−15.3%</a:t>
            </a:r>
            <a:endParaRPr lang="en-US" sz="1200" dirty="0"/>
          </a:p>
        </p:txBody>
      </p:sp>
      <p:sp>
        <p:nvSpPr>
          <p:cNvPr id="139" name="Text 137"/>
          <p:cNvSpPr txBox="1"/>
          <p:nvPr/>
        </p:nvSpPr>
        <p:spPr>
          <a:xfrm>
            <a:off x="6208776" y="5445521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33</a:t>
            </a:r>
            <a:endParaRPr lang="en-US" sz="1200" dirty="0"/>
          </a:p>
        </p:txBody>
      </p:sp>
      <p:sp>
        <p:nvSpPr>
          <p:cNvPr id="140" name="Text 138"/>
          <p:cNvSpPr txBox="1"/>
          <p:nvPr/>
        </p:nvSpPr>
        <p:spPr>
          <a:xfrm>
            <a:off x="6565392" y="5445521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VW ST GEORGE</a:t>
            </a:r>
            <a:endParaRPr lang="en-US" sz="1200" dirty="0"/>
          </a:p>
        </p:txBody>
      </p:sp>
      <p:sp>
        <p:nvSpPr>
          <p:cNvPr id="141" name="Shape 139"/>
          <p:cNvSpPr/>
          <p:nvPr/>
        </p:nvSpPr>
        <p:spPr>
          <a:xfrm>
            <a:off x="8892903" y="5510293"/>
            <a:ext cx="443121" cy="110352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42" name="Text 140"/>
          <p:cNvSpPr txBox="1"/>
          <p:nvPr/>
        </p:nvSpPr>
        <p:spPr>
          <a:xfrm>
            <a:off x="10168128" y="5445521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−25.4%</a:t>
            </a:r>
            <a:endParaRPr lang="en-US" sz="1200" dirty="0"/>
          </a:p>
        </p:txBody>
      </p:sp>
      <p:sp>
        <p:nvSpPr>
          <p:cNvPr id="143" name="Shape 141"/>
          <p:cNvSpPr/>
          <p:nvPr/>
        </p:nvSpPr>
        <p:spPr>
          <a:xfrm>
            <a:off x="3780130" y="1847088"/>
            <a:ext cx="10973" cy="4078224"/>
          </a:xfrm>
          <a:prstGeom prst="rect">
            <a:avLst/>
          </a:prstGeom>
          <a:solidFill>
            <a:srgbClr val="9AA3AD"/>
          </a:solidFill>
          <a:ln/>
        </p:spPr>
      </p:sp>
      <p:sp>
        <p:nvSpPr>
          <p:cNvPr id="144" name="Shape 142"/>
          <p:cNvSpPr/>
          <p:nvPr/>
        </p:nvSpPr>
        <p:spPr>
          <a:xfrm>
            <a:off x="9330538" y="1847088"/>
            <a:ext cx="10973" cy="4078224"/>
          </a:xfrm>
          <a:prstGeom prst="rect">
            <a:avLst/>
          </a:prstGeom>
          <a:solidFill>
            <a:srgbClr val="9AA3AD"/>
          </a:solidFill>
          <a:ln/>
        </p:spPr>
      </p:sp>
      <p:sp>
        <p:nvSpPr>
          <p:cNvPr id="145" name="Shape 143"/>
          <p:cNvSpPr/>
          <p:nvPr/>
        </p:nvSpPr>
        <p:spPr>
          <a:xfrm>
            <a:off x="6085332" y="1847088"/>
            <a:ext cx="10973" cy="4078224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46" name="Shape 144"/>
          <p:cNvSpPr/>
          <p:nvPr/>
        </p:nvSpPr>
        <p:spPr>
          <a:xfrm>
            <a:off x="457200" y="6126480"/>
            <a:ext cx="11274552" cy="615696"/>
          </a:xfrm>
          <a:prstGeom prst="rect">
            <a:avLst/>
          </a:prstGeom>
          <a:solidFill>
            <a:srgbClr val="E6F6EE"/>
          </a:solidFill>
          <a:ln/>
        </p:spPr>
      </p:sp>
      <p:sp>
        <p:nvSpPr>
          <p:cNvPr id="147" name="Text 145"/>
          <p:cNvSpPr txBox="1"/>
          <p:nvPr/>
        </p:nvSpPr>
        <p:spPr>
          <a:xfrm>
            <a:off x="658368" y="6144768"/>
            <a:ext cx="10927080" cy="579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23 of 33 stores sold more CP hours, led by Subaru St George at +44.6% to 12,766. 10 declined; VW St George fell most at −25.4%.</a:t>
            </a:r>
            <a:endParaRPr lang="en-US" sz="16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CP ENGINE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One More CP RO a Day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47823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3529584" y="1316736"/>
            <a:ext cx="822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Gross/yr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4352544" y="1316736"/>
            <a:ext cx="7863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ROs/day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5138928" y="1316736"/>
            <a:ext cx="731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Per RO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9079992" y="1316736"/>
            <a:ext cx="822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Gross/yr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9902952" y="1316736"/>
            <a:ext cx="7863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ROs/day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10689336" y="1316736"/>
            <a:ext cx="731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Per RO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658368" y="1700784"/>
            <a:ext cx="193852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HENDERSON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2670048" y="1756697"/>
            <a:ext cx="804672" cy="136676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3529584" y="1700784"/>
            <a:ext cx="82296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$358K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4352544" y="1700784"/>
            <a:ext cx="786384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5138928" y="1700784"/>
            <a:ext cx="73152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$1,168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658368" y="1949286"/>
            <a:ext cx="193852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LV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2670048" y="2005199"/>
            <a:ext cx="786943" cy="136676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3529584" y="1949286"/>
            <a:ext cx="82296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$351K</a:t>
            </a:r>
            <a:endParaRPr lang="en-US" sz="1300" dirty="0"/>
          </a:p>
        </p:txBody>
      </p:sp>
      <p:sp>
        <p:nvSpPr>
          <p:cNvPr id="20" name="Text 18"/>
          <p:cNvSpPr txBox="1"/>
          <p:nvPr/>
        </p:nvSpPr>
        <p:spPr>
          <a:xfrm>
            <a:off x="4352544" y="1949286"/>
            <a:ext cx="786384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15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5138928" y="1949286"/>
            <a:ext cx="73152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$1,142</a:t>
            </a:r>
            <a:endParaRPr lang="en-US" sz="1300" dirty="0"/>
          </a:p>
        </p:txBody>
      </p:sp>
      <p:sp>
        <p:nvSpPr>
          <p:cNvPr id="22" name="Text 20"/>
          <p:cNvSpPr txBox="1"/>
          <p:nvPr/>
        </p:nvSpPr>
        <p:spPr>
          <a:xfrm>
            <a:off x="658368" y="2197787"/>
            <a:ext cx="193852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RENO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2670048" y="2253700"/>
            <a:ext cx="725286" cy="136676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3529584" y="2197787"/>
            <a:ext cx="82296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$323K</a:t>
            </a:r>
            <a:endParaRPr lang="en-US" sz="1300" dirty="0"/>
          </a:p>
        </p:txBody>
      </p:sp>
      <p:sp>
        <p:nvSpPr>
          <p:cNvPr id="25" name="Text 23"/>
          <p:cNvSpPr txBox="1"/>
          <p:nvPr/>
        </p:nvSpPr>
        <p:spPr>
          <a:xfrm>
            <a:off x="4352544" y="2197787"/>
            <a:ext cx="786384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</a:t>
            </a:r>
            <a:endParaRPr lang="en-US" sz="1300" dirty="0"/>
          </a:p>
        </p:txBody>
      </p:sp>
      <p:sp>
        <p:nvSpPr>
          <p:cNvPr id="26" name="Text 24"/>
          <p:cNvSpPr txBox="1"/>
          <p:nvPr/>
        </p:nvSpPr>
        <p:spPr>
          <a:xfrm>
            <a:off x="5138928" y="2197787"/>
            <a:ext cx="73152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$1,052</a:t>
            </a:r>
            <a:endParaRPr lang="en-US" sz="1300" dirty="0"/>
          </a:p>
        </p:txBody>
      </p:sp>
      <p:sp>
        <p:nvSpPr>
          <p:cNvPr id="27" name="Text 25"/>
          <p:cNvSpPr txBox="1"/>
          <p:nvPr/>
        </p:nvSpPr>
        <p:spPr>
          <a:xfrm>
            <a:off x="658368" y="2446289"/>
            <a:ext cx="193852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AUDI HENDERSON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2670048" y="2502202"/>
            <a:ext cx="709617" cy="136676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3529584" y="2446289"/>
            <a:ext cx="82296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$316K</a:t>
            </a:r>
            <a:endParaRPr lang="en-US" sz="1300" dirty="0"/>
          </a:p>
        </p:txBody>
      </p:sp>
      <p:sp>
        <p:nvSpPr>
          <p:cNvPr id="30" name="Text 28"/>
          <p:cNvSpPr txBox="1"/>
          <p:nvPr/>
        </p:nvSpPr>
        <p:spPr>
          <a:xfrm>
            <a:off x="4352544" y="2446289"/>
            <a:ext cx="786384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16</a:t>
            </a:r>
            <a:endParaRPr lang="en-US" sz="1300" dirty="0"/>
          </a:p>
        </p:txBody>
      </p:sp>
      <p:sp>
        <p:nvSpPr>
          <p:cNvPr id="31" name="Text 29"/>
          <p:cNvSpPr txBox="1"/>
          <p:nvPr/>
        </p:nvSpPr>
        <p:spPr>
          <a:xfrm>
            <a:off x="5138928" y="2446289"/>
            <a:ext cx="73152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$1,030</a:t>
            </a:r>
            <a:endParaRPr lang="en-US" sz="1300" dirty="0"/>
          </a:p>
        </p:txBody>
      </p:sp>
      <p:sp>
        <p:nvSpPr>
          <p:cNvPr id="32" name="Text 30"/>
          <p:cNvSpPr txBox="1"/>
          <p:nvPr/>
        </p:nvSpPr>
        <p:spPr>
          <a:xfrm>
            <a:off x="658368" y="2694791"/>
            <a:ext cx="193852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AUDI RENO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2670048" y="2750703"/>
            <a:ext cx="510203" cy="136676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3529584" y="2694791"/>
            <a:ext cx="82296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$227K</a:t>
            </a:r>
            <a:endParaRPr lang="en-US" sz="1300" dirty="0"/>
          </a:p>
        </p:txBody>
      </p:sp>
      <p:sp>
        <p:nvSpPr>
          <p:cNvPr id="35" name="Text 33"/>
          <p:cNvSpPr txBox="1"/>
          <p:nvPr/>
        </p:nvSpPr>
        <p:spPr>
          <a:xfrm>
            <a:off x="4352544" y="2694791"/>
            <a:ext cx="786384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17</a:t>
            </a:r>
            <a:endParaRPr lang="en-US" sz="1300" dirty="0"/>
          </a:p>
        </p:txBody>
      </p:sp>
      <p:sp>
        <p:nvSpPr>
          <p:cNvPr id="36" name="Text 34"/>
          <p:cNvSpPr txBox="1"/>
          <p:nvPr/>
        </p:nvSpPr>
        <p:spPr>
          <a:xfrm>
            <a:off x="5138928" y="2694791"/>
            <a:ext cx="73152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$740</a:t>
            </a:r>
            <a:endParaRPr lang="en-US" sz="1300" dirty="0"/>
          </a:p>
        </p:txBody>
      </p:sp>
      <p:sp>
        <p:nvSpPr>
          <p:cNvPr id="37" name="Text 35"/>
          <p:cNvSpPr txBox="1"/>
          <p:nvPr/>
        </p:nvSpPr>
        <p:spPr>
          <a:xfrm>
            <a:off x="658368" y="2943292"/>
            <a:ext cx="193852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VOLVO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2670048" y="2999205"/>
            <a:ext cx="456478" cy="136676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9" name="Text 37"/>
          <p:cNvSpPr txBox="1"/>
          <p:nvPr/>
        </p:nvSpPr>
        <p:spPr>
          <a:xfrm>
            <a:off x="3529584" y="2943292"/>
            <a:ext cx="82296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$203K</a:t>
            </a:r>
            <a:endParaRPr lang="en-US" sz="1300" dirty="0"/>
          </a:p>
        </p:txBody>
      </p:sp>
      <p:sp>
        <p:nvSpPr>
          <p:cNvPr id="40" name="Text 38"/>
          <p:cNvSpPr txBox="1"/>
          <p:nvPr/>
        </p:nvSpPr>
        <p:spPr>
          <a:xfrm>
            <a:off x="4352544" y="2943292"/>
            <a:ext cx="786384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15</a:t>
            </a:r>
            <a:endParaRPr lang="en-US" sz="1300" dirty="0"/>
          </a:p>
        </p:txBody>
      </p:sp>
      <p:sp>
        <p:nvSpPr>
          <p:cNvPr id="41" name="Text 39"/>
          <p:cNvSpPr txBox="1"/>
          <p:nvPr/>
        </p:nvSpPr>
        <p:spPr>
          <a:xfrm>
            <a:off x="5138928" y="2943292"/>
            <a:ext cx="73152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$662</a:t>
            </a:r>
            <a:endParaRPr lang="en-US" sz="1300" dirty="0"/>
          </a:p>
        </p:txBody>
      </p:sp>
      <p:sp>
        <p:nvSpPr>
          <p:cNvPr id="42" name="Text 40"/>
          <p:cNvSpPr txBox="1"/>
          <p:nvPr/>
        </p:nvSpPr>
        <p:spPr>
          <a:xfrm>
            <a:off x="658368" y="3191794"/>
            <a:ext cx="193852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CADILLAC</a:t>
            </a:r>
            <a:endParaRPr lang="en-US" sz="1300" dirty="0"/>
          </a:p>
        </p:txBody>
      </p:sp>
      <p:sp>
        <p:nvSpPr>
          <p:cNvPr id="43" name="Shape 41"/>
          <p:cNvSpPr/>
          <p:nvPr/>
        </p:nvSpPr>
        <p:spPr>
          <a:xfrm>
            <a:off x="2670048" y="3247707"/>
            <a:ext cx="350480" cy="136676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44" name="Text 42"/>
          <p:cNvSpPr txBox="1"/>
          <p:nvPr/>
        </p:nvSpPr>
        <p:spPr>
          <a:xfrm>
            <a:off x="3529584" y="3191794"/>
            <a:ext cx="82296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$156K</a:t>
            </a:r>
            <a:endParaRPr lang="en-US" sz="1300" dirty="0"/>
          </a:p>
        </p:txBody>
      </p:sp>
      <p:sp>
        <p:nvSpPr>
          <p:cNvPr id="45" name="Text 43"/>
          <p:cNvSpPr txBox="1"/>
          <p:nvPr/>
        </p:nvSpPr>
        <p:spPr>
          <a:xfrm>
            <a:off x="4352544" y="3191794"/>
            <a:ext cx="786384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23</a:t>
            </a:r>
            <a:endParaRPr lang="en-US" sz="1300" dirty="0"/>
          </a:p>
        </p:txBody>
      </p:sp>
      <p:sp>
        <p:nvSpPr>
          <p:cNvPr id="46" name="Text 44"/>
          <p:cNvSpPr txBox="1"/>
          <p:nvPr/>
        </p:nvSpPr>
        <p:spPr>
          <a:xfrm>
            <a:off x="5138928" y="3191794"/>
            <a:ext cx="73152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$509</a:t>
            </a:r>
            <a:endParaRPr lang="en-US" sz="1300" dirty="0"/>
          </a:p>
        </p:txBody>
      </p:sp>
      <p:sp>
        <p:nvSpPr>
          <p:cNvPr id="47" name="Text 45"/>
          <p:cNvSpPr txBox="1"/>
          <p:nvPr/>
        </p:nvSpPr>
        <p:spPr>
          <a:xfrm>
            <a:off x="658368" y="3440296"/>
            <a:ext cx="193852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LINCOLN</a:t>
            </a:r>
            <a:endParaRPr lang="en-US" sz="1300" dirty="0"/>
          </a:p>
        </p:txBody>
      </p:sp>
      <p:sp>
        <p:nvSpPr>
          <p:cNvPr id="48" name="Shape 46"/>
          <p:cNvSpPr/>
          <p:nvPr/>
        </p:nvSpPr>
        <p:spPr>
          <a:xfrm>
            <a:off x="2670048" y="3496208"/>
            <a:ext cx="331101" cy="136676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49" name="Text 47"/>
          <p:cNvSpPr txBox="1"/>
          <p:nvPr/>
        </p:nvSpPr>
        <p:spPr>
          <a:xfrm>
            <a:off x="3529584" y="3440296"/>
            <a:ext cx="82296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$148K</a:t>
            </a:r>
            <a:endParaRPr lang="en-US" sz="1300" dirty="0"/>
          </a:p>
        </p:txBody>
      </p:sp>
      <p:sp>
        <p:nvSpPr>
          <p:cNvPr id="50" name="Text 48"/>
          <p:cNvSpPr txBox="1"/>
          <p:nvPr/>
        </p:nvSpPr>
        <p:spPr>
          <a:xfrm>
            <a:off x="4352544" y="3440296"/>
            <a:ext cx="786384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11</a:t>
            </a:r>
            <a:endParaRPr lang="en-US" sz="1300" dirty="0"/>
          </a:p>
        </p:txBody>
      </p:sp>
      <p:sp>
        <p:nvSpPr>
          <p:cNvPr id="51" name="Text 49"/>
          <p:cNvSpPr txBox="1"/>
          <p:nvPr/>
        </p:nvSpPr>
        <p:spPr>
          <a:xfrm>
            <a:off x="5138928" y="3440296"/>
            <a:ext cx="73152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$480</a:t>
            </a:r>
            <a:endParaRPr lang="en-US" sz="1300" dirty="0"/>
          </a:p>
        </p:txBody>
      </p:sp>
      <p:sp>
        <p:nvSpPr>
          <p:cNvPr id="52" name="Text 50"/>
          <p:cNvSpPr txBox="1"/>
          <p:nvPr/>
        </p:nvSpPr>
        <p:spPr>
          <a:xfrm>
            <a:off x="658368" y="3688797"/>
            <a:ext cx="193852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LEXUS</a:t>
            </a:r>
            <a:endParaRPr lang="en-US" sz="1300" dirty="0"/>
          </a:p>
        </p:txBody>
      </p:sp>
      <p:sp>
        <p:nvSpPr>
          <p:cNvPr id="53" name="Shape 51"/>
          <p:cNvSpPr/>
          <p:nvPr/>
        </p:nvSpPr>
        <p:spPr>
          <a:xfrm>
            <a:off x="2670048" y="3744710"/>
            <a:ext cx="316904" cy="136676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54" name="Text 52"/>
          <p:cNvSpPr txBox="1"/>
          <p:nvPr/>
        </p:nvSpPr>
        <p:spPr>
          <a:xfrm>
            <a:off x="3529584" y="3688797"/>
            <a:ext cx="82296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$141K</a:t>
            </a:r>
            <a:endParaRPr lang="en-US" sz="1300" dirty="0"/>
          </a:p>
        </p:txBody>
      </p:sp>
      <p:sp>
        <p:nvSpPr>
          <p:cNvPr id="55" name="Text 53"/>
          <p:cNvSpPr txBox="1"/>
          <p:nvPr/>
        </p:nvSpPr>
        <p:spPr>
          <a:xfrm>
            <a:off x="4352544" y="3688797"/>
            <a:ext cx="786384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20</a:t>
            </a:r>
            <a:endParaRPr lang="en-US" sz="1300" dirty="0"/>
          </a:p>
        </p:txBody>
      </p:sp>
      <p:sp>
        <p:nvSpPr>
          <p:cNvPr id="56" name="Text 54"/>
          <p:cNvSpPr txBox="1"/>
          <p:nvPr/>
        </p:nvSpPr>
        <p:spPr>
          <a:xfrm>
            <a:off x="5138928" y="3688797"/>
            <a:ext cx="73152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$460</a:t>
            </a:r>
            <a:endParaRPr lang="en-US" sz="1300" dirty="0"/>
          </a:p>
        </p:txBody>
      </p:sp>
      <p:sp>
        <p:nvSpPr>
          <p:cNvPr id="57" name="Text 55"/>
          <p:cNvSpPr txBox="1"/>
          <p:nvPr/>
        </p:nvSpPr>
        <p:spPr>
          <a:xfrm>
            <a:off x="658368" y="3937299"/>
            <a:ext cx="193852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VW HENDERSON</a:t>
            </a:r>
            <a:endParaRPr lang="en-US" sz="1300" dirty="0"/>
          </a:p>
        </p:txBody>
      </p:sp>
      <p:sp>
        <p:nvSpPr>
          <p:cNvPr id="58" name="Shape 56"/>
          <p:cNvSpPr/>
          <p:nvPr/>
        </p:nvSpPr>
        <p:spPr>
          <a:xfrm>
            <a:off x="2670048" y="3993212"/>
            <a:ext cx="295308" cy="136676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59" name="Text 57"/>
          <p:cNvSpPr txBox="1"/>
          <p:nvPr/>
        </p:nvSpPr>
        <p:spPr>
          <a:xfrm>
            <a:off x="3529584" y="3937299"/>
            <a:ext cx="82296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$132K</a:t>
            </a:r>
            <a:endParaRPr lang="en-US" sz="1300" dirty="0"/>
          </a:p>
        </p:txBody>
      </p:sp>
      <p:sp>
        <p:nvSpPr>
          <p:cNvPr id="60" name="Text 58"/>
          <p:cNvSpPr txBox="1"/>
          <p:nvPr/>
        </p:nvSpPr>
        <p:spPr>
          <a:xfrm>
            <a:off x="4352544" y="3937299"/>
            <a:ext cx="786384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22</a:t>
            </a:r>
            <a:endParaRPr lang="en-US" sz="1300" dirty="0"/>
          </a:p>
        </p:txBody>
      </p:sp>
      <p:sp>
        <p:nvSpPr>
          <p:cNvPr id="61" name="Text 59"/>
          <p:cNvSpPr txBox="1"/>
          <p:nvPr/>
        </p:nvSpPr>
        <p:spPr>
          <a:xfrm>
            <a:off x="5138928" y="3937299"/>
            <a:ext cx="73152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$429</a:t>
            </a:r>
            <a:endParaRPr lang="en-US" sz="1300" dirty="0"/>
          </a:p>
        </p:txBody>
      </p:sp>
      <p:sp>
        <p:nvSpPr>
          <p:cNvPr id="62" name="Text 60"/>
          <p:cNvSpPr txBox="1"/>
          <p:nvPr/>
        </p:nvSpPr>
        <p:spPr>
          <a:xfrm>
            <a:off x="658368" y="4185800"/>
            <a:ext cx="193852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NISSAN</a:t>
            </a:r>
            <a:endParaRPr lang="en-US" sz="1300" dirty="0"/>
          </a:p>
        </p:txBody>
      </p:sp>
      <p:sp>
        <p:nvSpPr>
          <p:cNvPr id="63" name="Shape 61"/>
          <p:cNvSpPr/>
          <p:nvPr/>
        </p:nvSpPr>
        <p:spPr>
          <a:xfrm>
            <a:off x="2670048" y="4241713"/>
            <a:ext cx="279971" cy="136676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64" name="Text 62"/>
          <p:cNvSpPr txBox="1"/>
          <p:nvPr/>
        </p:nvSpPr>
        <p:spPr>
          <a:xfrm>
            <a:off x="3529584" y="4185800"/>
            <a:ext cx="82296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$125K</a:t>
            </a:r>
            <a:endParaRPr lang="en-US" sz="1300" dirty="0"/>
          </a:p>
        </p:txBody>
      </p:sp>
      <p:sp>
        <p:nvSpPr>
          <p:cNvPr id="65" name="Text 63"/>
          <p:cNvSpPr txBox="1"/>
          <p:nvPr/>
        </p:nvSpPr>
        <p:spPr>
          <a:xfrm>
            <a:off x="4352544" y="4185800"/>
            <a:ext cx="786384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30</a:t>
            </a:r>
            <a:endParaRPr lang="en-US" sz="1300" dirty="0"/>
          </a:p>
        </p:txBody>
      </p:sp>
      <p:sp>
        <p:nvSpPr>
          <p:cNvPr id="66" name="Text 64"/>
          <p:cNvSpPr txBox="1"/>
          <p:nvPr/>
        </p:nvSpPr>
        <p:spPr>
          <a:xfrm>
            <a:off x="5138928" y="4185800"/>
            <a:ext cx="73152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$406</a:t>
            </a:r>
            <a:endParaRPr lang="en-US" sz="1300" dirty="0"/>
          </a:p>
        </p:txBody>
      </p:sp>
      <p:sp>
        <p:nvSpPr>
          <p:cNvPr id="67" name="Text 65"/>
          <p:cNvSpPr txBox="1"/>
          <p:nvPr/>
        </p:nvSpPr>
        <p:spPr>
          <a:xfrm>
            <a:off x="658368" y="4434302"/>
            <a:ext cx="193852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CDJR POST FALLS</a:t>
            </a:r>
            <a:endParaRPr lang="en-US" sz="1300" dirty="0"/>
          </a:p>
        </p:txBody>
      </p:sp>
      <p:sp>
        <p:nvSpPr>
          <p:cNvPr id="68" name="Shape 66"/>
          <p:cNvSpPr/>
          <p:nvPr/>
        </p:nvSpPr>
        <p:spPr>
          <a:xfrm>
            <a:off x="2670048" y="4490215"/>
            <a:ext cx="275254" cy="136676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69" name="Text 67"/>
          <p:cNvSpPr txBox="1"/>
          <p:nvPr/>
        </p:nvSpPr>
        <p:spPr>
          <a:xfrm>
            <a:off x="3529584" y="4434302"/>
            <a:ext cx="82296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$123K</a:t>
            </a:r>
            <a:endParaRPr lang="en-US" sz="1300" dirty="0"/>
          </a:p>
        </p:txBody>
      </p:sp>
      <p:sp>
        <p:nvSpPr>
          <p:cNvPr id="70" name="Text 68"/>
          <p:cNvSpPr txBox="1"/>
          <p:nvPr/>
        </p:nvSpPr>
        <p:spPr>
          <a:xfrm>
            <a:off x="4352544" y="4434302"/>
            <a:ext cx="786384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23</a:t>
            </a:r>
            <a:endParaRPr lang="en-US" sz="1300" dirty="0"/>
          </a:p>
        </p:txBody>
      </p:sp>
      <p:sp>
        <p:nvSpPr>
          <p:cNvPr id="71" name="Text 69"/>
          <p:cNvSpPr txBox="1"/>
          <p:nvPr/>
        </p:nvSpPr>
        <p:spPr>
          <a:xfrm>
            <a:off x="5138928" y="4434302"/>
            <a:ext cx="73152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$399</a:t>
            </a:r>
            <a:endParaRPr lang="en-US" sz="1300" dirty="0"/>
          </a:p>
        </p:txBody>
      </p:sp>
      <p:sp>
        <p:nvSpPr>
          <p:cNvPr id="72" name="Text 70"/>
          <p:cNvSpPr txBox="1"/>
          <p:nvPr/>
        </p:nvSpPr>
        <p:spPr>
          <a:xfrm>
            <a:off x="658368" y="4682804"/>
            <a:ext cx="193852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CHEVY LV</a:t>
            </a:r>
            <a:endParaRPr lang="en-US" sz="1300" dirty="0"/>
          </a:p>
        </p:txBody>
      </p:sp>
      <p:sp>
        <p:nvSpPr>
          <p:cNvPr id="73" name="Shape 71"/>
          <p:cNvSpPr/>
          <p:nvPr/>
        </p:nvSpPr>
        <p:spPr>
          <a:xfrm>
            <a:off x="2670048" y="4738717"/>
            <a:ext cx="249770" cy="136676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74" name="Text 72"/>
          <p:cNvSpPr txBox="1"/>
          <p:nvPr/>
        </p:nvSpPr>
        <p:spPr>
          <a:xfrm>
            <a:off x="3529584" y="4682804"/>
            <a:ext cx="82296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$111K</a:t>
            </a:r>
            <a:endParaRPr lang="en-US" sz="1300" dirty="0"/>
          </a:p>
        </p:txBody>
      </p:sp>
      <p:sp>
        <p:nvSpPr>
          <p:cNvPr id="75" name="Text 73"/>
          <p:cNvSpPr txBox="1"/>
          <p:nvPr/>
        </p:nvSpPr>
        <p:spPr>
          <a:xfrm>
            <a:off x="4352544" y="4682804"/>
            <a:ext cx="786384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85</a:t>
            </a:r>
            <a:endParaRPr lang="en-US" sz="1300" dirty="0"/>
          </a:p>
        </p:txBody>
      </p:sp>
      <p:sp>
        <p:nvSpPr>
          <p:cNvPr id="76" name="Text 74"/>
          <p:cNvSpPr txBox="1"/>
          <p:nvPr/>
        </p:nvSpPr>
        <p:spPr>
          <a:xfrm>
            <a:off x="5138928" y="4682804"/>
            <a:ext cx="73152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$362</a:t>
            </a:r>
            <a:endParaRPr lang="en-US" sz="1300" dirty="0"/>
          </a:p>
        </p:txBody>
      </p:sp>
      <p:sp>
        <p:nvSpPr>
          <p:cNvPr id="77" name="Text 75"/>
          <p:cNvSpPr txBox="1"/>
          <p:nvPr/>
        </p:nvSpPr>
        <p:spPr>
          <a:xfrm>
            <a:off x="658368" y="4931305"/>
            <a:ext cx="193852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ST GEORGE</a:t>
            </a:r>
            <a:endParaRPr lang="en-US" sz="1300" dirty="0"/>
          </a:p>
        </p:txBody>
      </p:sp>
      <p:sp>
        <p:nvSpPr>
          <p:cNvPr id="78" name="Shape 76"/>
          <p:cNvSpPr/>
          <p:nvPr/>
        </p:nvSpPr>
        <p:spPr>
          <a:xfrm>
            <a:off x="2670048" y="4987218"/>
            <a:ext cx="246222" cy="136676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79" name="Text 77"/>
          <p:cNvSpPr txBox="1"/>
          <p:nvPr/>
        </p:nvSpPr>
        <p:spPr>
          <a:xfrm>
            <a:off x="3529584" y="4931305"/>
            <a:ext cx="82296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$110K</a:t>
            </a:r>
            <a:endParaRPr lang="en-US" sz="1300" dirty="0"/>
          </a:p>
        </p:txBody>
      </p:sp>
      <p:sp>
        <p:nvSpPr>
          <p:cNvPr id="80" name="Text 78"/>
          <p:cNvSpPr txBox="1"/>
          <p:nvPr/>
        </p:nvSpPr>
        <p:spPr>
          <a:xfrm>
            <a:off x="4352544" y="4931305"/>
            <a:ext cx="786384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24</a:t>
            </a:r>
            <a:endParaRPr lang="en-US" sz="1300" dirty="0"/>
          </a:p>
        </p:txBody>
      </p:sp>
      <p:sp>
        <p:nvSpPr>
          <p:cNvPr id="81" name="Text 79"/>
          <p:cNvSpPr txBox="1"/>
          <p:nvPr/>
        </p:nvSpPr>
        <p:spPr>
          <a:xfrm>
            <a:off x="5138928" y="4931305"/>
            <a:ext cx="73152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$357</a:t>
            </a:r>
            <a:endParaRPr lang="en-US" sz="1300" dirty="0"/>
          </a:p>
        </p:txBody>
      </p:sp>
      <p:sp>
        <p:nvSpPr>
          <p:cNvPr id="82" name="Text 80"/>
          <p:cNvSpPr txBox="1"/>
          <p:nvPr/>
        </p:nvSpPr>
        <p:spPr>
          <a:xfrm>
            <a:off x="658368" y="5179807"/>
            <a:ext cx="193852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ACURA</a:t>
            </a:r>
            <a:endParaRPr lang="en-US" sz="1300" dirty="0"/>
          </a:p>
        </p:txBody>
      </p:sp>
      <p:sp>
        <p:nvSpPr>
          <p:cNvPr id="83" name="Shape 81"/>
          <p:cNvSpPr/>
          <p:nvPr/>
        </p:nvSpPr>
        <p:spPr>
          <a:xfrm>
            <a:off x="2670048" y="5235720"/>
            <a:ext cx="245006" cy="136676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84" name="Text 82"/>
          <p:cNvSpPr txBox="1"/>
          <p:nvPr/>
        </p:nvSpPr>
        <p:spPr>
          <a:xfrm>
            <a:off x="3529584" y="5179807"/>
            <a:ext cx="82296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$109K</a:t>
            </a:r>
            <a:endParaRPr lang="en-US" sz="1300" dirty="0"/>
          </a:p>
        </p:txBody>
      </p:sp>
      <p:sp>
        <p:nvSpPr>
          <p:cNvPr id="85" name="Text 83"/>
          <p:cNvSpPr txBox="1"/>
          <p:nvPr/>
        </p:nvSpPr>
        <p:spPr>
          <a:xfrm>
            <a:off x="4352544" y="5179807"/>
            <a:ext cx="786384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16</a:t>
            </a:r>
            <a:endParaRPr lang="en-US" sz="1300" dirty="0"/>
          </a:p>
        </p:txBody>
      </p:sp>
      <p:sp>
        <p:nvSpPr>
          <p:cNvPr id="86" name="Text 84"/>
          <p:cNvSpPr txBox="1"/>
          <p:nvPr/>
        </p:nvSpPr>
        <p:spPr>
          <a:xfrm>
            <a:off x="5138928" y="5179807"/>
            <a:ext cx="73152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$356</a:t>
            </a:r>
            <a:endParaRPr lang="en-US" sz="1300" dirty="0"/>
          </a:p>
        </p:txBody>
      </p:sp>
      <p:sp>
        <p:nvSpPr>
          <p:cNvPr id="87" name="Text 85"/>
          <p:cNvSpPr txBox="1"/>
          <p:nvPr/>
        </p:nvSpPr>
        <p:spPr>
          <a:xfrm>
            <a:off x="658368" y="5428309"/>
            <a:ext cx="193852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LV</a:t>
            </a:r>
            <a:endParaRPr lang="en-US" sz="1300" dirty="0"/>
          </a:p>
        </p:txBody>
      </p:sp>
      <p:sp>
        <p:nvSpPr>
          <p:cNvPr id="88" name="Shape 86"/>
          <p:cNvSpPr/>
          <p:nvPr/>
        </p:nvSpPr>
        <p:spPr>
          <a:xfrm>
            <a:off x="2670048" y="5484222"/>
            <a:ext cx="243965" cy="136676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89" name="Text 87"/>
          <p:cNvSpPr txBox="1"/>
          <p:nvPr/>
        </p:nvSpPr>
        <p:spPr>
          <a:xfrm>
            <a:off x="3529584" y="5428309"/>
            <a:ext cx="82296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$109K</a:t>
            </a:r>
            <a:endParaRPr lang="en-US" sz="1300" dirty="0"/>
          </a:p>
        </p:txBody>
      </p:sp>
      <p:sp>
        <p:nvSpPr>
          <p:cNvPr id="90" name="Text 88"/>
          <p:cNvSpPr txBox="1"/>
          <p:nvPr/>
        </p:nvSpPr>
        <p:spPr>
          <a:xfrm>
            <a:off x="4352544" y="5428309"/>
            <a:ext cx="786384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62</a:t>
            </a:r>
            <a:endParaRPr lang="en-US" sz="1300" dirty="0"/>
          </a:p>
        </p:txBody>
      </p:sp>
      <p:sp>
        <p:nvSpPr>
          <p:cNvPr id="91" name="Text 89"/>
          <p:cNvSpPr txBox="1"/>
          <p:nvPr/>
        </p:nvSpPr>
        <p:spPr>
          <a:xfrm>
            <a:off x="5138928" y="5428309"/>
            <a:ext cx="73152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$354</a:t>
            </a:r>
            <a:endParaRPr lang="en-US" sz="1300" dirty="0"/>
          </a:p>
        </p:txBody>
      </p:sp>
      <p:sp>
        <p:nvSpPr>
          <p:cNvPr id="92" name="Text 90"/>
          <p:cNvSpPr txBox="1"/>
          <p:nvPr/>
        </p:nvSpPr>
        <p:spPr>
          <a:xfrm>
            <a:off x="658368" y="5676810"/>
            <a:ext cx="193852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NORTH</a:t>
            </a:r>
            <a:endParaRPr lang="en-US" sz="1300" dirty="0"/>
          </a:p>
        </p:txBody>
      </p:sp>
      <p:sp>
        <p:nvSpPr>
          <p:cNvPr id="93" name="Shape 91"/>
          <p:cNvSpPr/>
          <p:nvPr/>
        </p:nvSpPr>
        <p:spPr>
          <a:xfrm>
            <a:off x="2670048" y="5732723"/>
            <a:ext cx="232714" cy="136676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94" name="Text 92"/>
          <p:cNvSpPr txBox="1"/>
          <p:nvPr/>
        </p:nvSpPr>
        <p:spPr>
          <a:xfrm>
            <a:off x="3529584" y="5676810"/>
            <a:ext cx="82296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$104K</a:t>
            </a:r>
            <a:endParaRPr lang="en-US" sz="1300" dirty="0"/>
          </a:p>
        </p:txBody>
      </p:sp>
      <p:sp>
        <p:nvSpPr>
          <p:cNvPr id="95" name="Text 93"/>
          <p:cNvSpPr txBox="1"/>
          <p:nvPr/>
        </p:nvSpPr>
        <p:spPr>
          <a:xfrm>
            <a:off x="4352544" y="5676810"/>
            <a:ext cx="786384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65</a:t>
            </a:r>
            <a:endParaRPr lang="en-US" sz="1300" dirty="0"/>
          </a:p>
        </p:txBody>
      </p:sp>
      <p:sp>
        <p:nvSpPr>
          <p:cNvPr id="96" name="Text 94"/>
          <p:cNvSpPr txBox="1"/>
          <p:nvPr/>
        </p:nvSpPr>
        <p:spPr>
          <a:xfrm>
            <a:off x="5138928" y="5676810"/>
            <a:ext cx="73152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$338</a:t>
            </a:r>
            <a:endParaRPr lang="en-US" sz="1300" dirty="0"/>
          </a:p>
        </p:txBody>
      </p:sp>
      <p:sp>
        <p:nvSpPr>
          <p:cNvPr id="97" name="Text 95"/>
          <p:cNvSpPr txBox="1"/>
          <p:nvPr/>
        </p:nvSpPr>
        <p:spPr>
          <a:xfrm>
            <a:off x="6208776" y="1700784"/>
            <a:ext cx="193852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HENDERSON</a:t>
            </a:r>
            <a:endParaRPr lang="en-US" sz="1300" dirty="0"/>
          </a:p>
        </p:txBody>
      </p:sp>
      <p:sp>
        <p:nvSpPr>
          <p:cNvPr id="98" name="Shape 96"/>
          <p:cNvSpPr/>
          <p:nvPr/>
        </p:nvSpPr>
        <p:spPr>
          <a:xfrm>
            <a:off x="8220456" y="1756697"/>
            <a:ext cx="232057" cy="136676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99" name="Text 97"/>
          <p:cNvSpPr txBox="1"/>
          <p:nvPr/>
        </p:nvSpPr>
        <p:spPr>
          <a:xfrm>
            <a:off x="9079992" y="1700784"/>
            <a:ext cx="82296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$103K</a:t>
            </a:r>
            <a:endParaRPr lang="en-US" sz="1300" dirty="0"/>
          </a:p>
        </p:txBody>
      </p:sp>
      <p:sp>
        <p:nvSpPr>
          <p:cNvPr id="100" name="Text 98"/>
          <p:cNvSpPr txBox="1"/>
          <p:nvPr/>
        </p:nvSpPr>
        <p:spPr>
          <a:xfrm>
            <a:off x="9902952" y="1700784"/>
            <a:ext cx="786384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98</a:t>
            </a:r>
            <a:endParaRPr lang="en-US" sz="1300" dirty="0"/>
          </a:p>
        </p:txBody>
      </p:sp>
      <p:sp>
        <p:nvSpPr>
          <p:cNvPr id="101" name="Text 99"/>
          <p:cNvSpPr txBox="1"/>
          <p:nvPr/>
        </p:nvSpPr>
        <p:spPr>
          <a:xfrm>
            <a:off x="10689336" y="1700784"/>
            <a:ext cx="73152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$337</a:t>
            </a:r>
            <a:endParaRPr lang="en-US" sz="1300" dirty="0"/>
          </a:p>
        </p:txBody>
      </p:sp>
      <p:sp>
        <p:nvSpPr>
          <p:cNvPr id="102" name="Text 100"/>
          <p:cNvSpPr txBox="1"/>
          <p:nvPr/>
        </p:nvSpPr>
        <p:spPr>
          <a:xfrm>
            <a:off x="6208776" y="1949286"/>
            <a:ext cx="193852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SPOKANE</a:t>
            </a:r>
            <a:endParaRPr lang="en-US" sz="1300" dirty="0"/>
          </a:p>
        </p:txBody>
      </p:sp>
      <p:sp>
        <p:nvSpPr>
          <p:cNvPr id="103" name="Shape 101"/>
          <p:cNvSpPr/>
          <p:nvPr/>
        </p:nvSpPr>
        <p:spPr>
          <a:xfrm>
            <a:off x="8220456" y="2005199"/>
            <a:ext cx="227868" cy="136676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04" name="Text 102"/>
          <p:cNvSpPr txBox="1"/>
          <p:nvPr/>
        </p:nvSpPr>
        <p:spPr>
          <a:xfrm>
            <a:off x="9079992" y="1949286"/>
            <a:ext cx="82296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$102K</a:t>
            </a:r>
            <a:endParaRPr lang="en-US" sz="1300" dirty="0"/>
          </a:p>
        </p:txBody>
      </p:sp>
      <p:sp>
        <p:nvSpPr>
          <p:cNvPr id="105" name="Text 103"/>
          <p:cNvSpPr txBox="1"/>
          <p:nvPr/>
        </p:nvSpPr>
        <p:spPr>
          <a:xfrm>
            <a:off x="9902952" y="1949286"/>
            <a:ext cx="786384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39</a:t>
            </a:r>
            <a:endParaRPr lang="en-US" sz="1300" dirty="0"/>
          </a:p>
        </p:txBody>
      </p:sp>
      <p:sp>
        <p:nvSpPr>
          <p:cNvPr id="106" name="Text 104"/>
          <p:cNvSpPr txBox="1"/>
          <p:nvPr/>
        </p:nvSpPr>
        <p:spPr>
          <a:xfrm>
            <a:off x="10689336" y="1949286"/>
            <a:ext cx="73152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$331</a:t>
            </a:r>
            <a:endParaRPr lang="en-US" sz="1300" dirty="0"/>
          </a:p>
        </p:txBody>
      </p:sp>
      <p:sp>
        <p:nvSpPr>
          <p:cNvPr id="107" name="Text 105"/>
          <p:cNvSpPr txBox="1"/>
          <p:nvPr/>
        </p:nvSpPr>
        <p:spPr>
          <a:xfrm>
            <a:off x="6208776" y="2197787"/>
            <a:ext cx="193852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CHEVY GMC BULLHEAD</a:t>
            </a:r>
            <a:endParaRPr lang="en-US" sz="1300" dirty="0"/>
          </a:p>
        </p:txBody>
      </p:sp>
      <p:sp>
        <p:nvSpPr>
          <p:cNvPr id="108" name="Shape 106"/>
          <p:cNvSpPr/>
          <p:nvPr/>
        </p:nvSpPr>
        <p:spPr>
          <a:xfrm>
            <a:off x="8220456" y="2253700"/>
            <a:ext cx="216710" cy="136676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09" name="Text 107"/>
          <p:cNvSpPr txBox="1"/>
          <p:nvPr/>
        </p:nvSpPr>
        <p:spPr>
          <a:xfrm>
            <a:off x="9079992" y="2197787"/>
            <a:ext cx="82296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$97K</a:t>
            </a:r>
            <a:endParaRPr lang="en-US" sz="1300" dirty="0"/>
          </a:p>
        </p:txBody>
      </p:sp>
      <p:sp>
        <p:nvSpPr>
          <p:cNvPr id="110" name="Text 108"/>
          <p:cNvSpPr txBox="1"/>
          <p:nvPr/>
        </p:nvSpPr>
        <p:spPr>
          <a:xfrm>
            <a:off x="9902952" y="2197787"/>
            <a:ext cx="786384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27</a:t>
            </a:r>
            <a:endParaRPr lang="en-US" sz="1300" dirty="0"/>
          </a:p>
        </p:txBody>
      </p:sp>
      <p:sp>
        <p:nvSpPr>
          <p:cNvPr id="111" name="Text 109"/>
          <p:cNvSpPr txBox="1"/>
          <p:nvPr/>
        </p:nvSpPr>
        <p:spPr>
          <a:xfrm>
            <a:off x="10689336" y="2197787"/>
            <a:ext cx="73152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$314</a:t>
            </a:r>
            <a:endParaRPr lang="en-US" sz="1300" dirty="0"/>
          </a:p>
        </p:txBody>
      </p:sp>
      <p:sp>
        <p:nvSpPr>
          <p:cNvPr id="112" name="Text 110"/>
          <p:cNvSpPr txBox="1"/>
          <p:nvPr/>
        </p:nvSpPr>
        <p:spPr>
          <a:xfrm>
            <a:off x="6208776" y="2446289"/>
            <a:ext cx="193852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GMC PRESCOTT</a:t>
            </a:r>
            <a:endParaRPr lang="en-US" sz="1300" dirty="0"/>
          </a:p>
        </p:txBody>
      </p:sp>
      <p:sp>
        <p:nvSpPr>
          <p:cNvPr id="113" name="Shape 111"/>
          <p:cNvSpPr/>
          <p:nvPr/>
        </p:nvSpPr>
        <p:spPr>
          <a:xfrm>
            <a:off x="8220456" y="2502202"/>
            <a:ext cx="213355" cy="136676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14" name="Text 112"/>
          <p:cNvSpPr txBox="1"/>
          <p:nvPr/>
        </p:nvSpPr>
        <p:spPr>
          <a:xfrm>
            <a:off x="9079992" y="2446289"/>
            <a:ext cx="82296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$95K</a:t>
            </a:r>
            <a:endParaRPr lang="en-US" sz="1300" dirty="0"/>
          </a:p>
        </p:txBody>
      </p:sp>
      <p:sp>
        <p:nvSpPr>
          <p:cNvPr id="115" name="Text 113"/>
          <p:cNvSpPr txBox="1"/>
          <p:nvPr/>
        </p:nvSpPr>
        <p:spPr>
          <a:xfrm>
            <a:off x="9902952" y="2446289"/>
            <a:ext cx="786384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13</a:t>
            </a:r>
            <a:endParaRPr lang="en-US" sz="1300" dirty="0"/>
          </a:p>
        </p:txBody>
      </p:sp>
      <p:sp>
        <p:nvSpPr>
          <p:cNvPr id="116" name="Text 114"/>
          <p:cNvSpPr txBox="1"/>
          <p:nvPr/>
        </p:nvSpPr>
        <p:spPr>
          <a:xfrm>
            <a:off x="10689336" y="2446289"/>
            <a:ext cx="73152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$310</a:t>
            </a:r>
            <a:endParaRPr lang="en-US" sz="1300" dirty="0"/>
          </a:p>
        </p:txBody>
      </p:sp>
      <p:sp>
        <p:nvSpPr>
          <p:cNvPr id="117" name="Text 115"/>
          <p:cNvSpPr txBox="1"/>
          <p:nvPr/>
        </p:nvSpPr>
        <p:spPr>
          <a:xfrm>
            <a:off x="6208776" y="2694791"/>
            <a:ext cx="193852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FLAGSTAFF</a:t>
            </a:r>
            <a:endParaRPr lang="en-US" sz="1300" dirty="0"/>
          </a:p>
        </p:txBody>
      </p:sp>
      <p:sp>
        <p:nvSpPr>
          <p:cNvPr id="118" name="Shape 116"/>
          <p:cNvSpPr/>
          <p:nvPr/>
        </p:nvSpPr>
        <p:spPr>
          <a:xfrm>
            <a:off x="8220456" y="2750703"/>
            <a:ext cx="211393" cy="136676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19" name="Text 117"/>
          <p:cNvSpPr txBox="1"/>
          <p:nvPr/>
        </p:nvSpPr>
        <p:spPr>
          <a:xfrm>
            <a:off x="9079992" y="2694791"/>
            <a:ext cx="82296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$94K</a:t>
            </a:r>
            <a:endParaRPr lang="en-US" sz="1300" dirty="0"/>
          </a:p>
        </p:txBody>
      </p:sp>
      <p:sp>
        <p:nvSpPr>
          <p:cNvPr id="120" name="Text 118"/>
          <p:cNvSpPr txBox="1"/>
          <p:nvPr/>
        </p:nvSpPr>
        <p:spPr>
          <a:xfrm>
            <a:off x="9902952" y="2694791"/>
            <a:ext cx="786384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18</a:t>
            </a:r>
            <a:endParaRPr lang="en-US" sz="1300" dirty="0"/>
          </a:p>
        </p:txBody>
      </p:sp>
      <p:sp>
        <p:nvSpPr>
          <p:cNvPr id="121" name="Text 119"/>
          <p:cNvSpPr txBox="1"/>
          <p:nvPr/>
        </p:nvSpPr>
        <p:spPr>
          <a:xfrm>
            <a:off x="10689336" y="2694791"/>
            <a:ext cx="73152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$307</a:t>
            </a:r>
            <a:endParaRPr lang="en-US" sz="1300" dirty="0"/>
          </a:p>
        </p:txBody>
      </p:sp>
      <p:sp>
        <p:nvSpPr>
          <p:cNvPr id="122" name="Text 120"/>
          <p:cNvSpPr txBox="1"/>
          <p:nvPr/>
        </p:nvSpPr>
        <p:spPr>
          <a:xfrm>
            <a:off x="6208776" y="2943292"/>
            <a:ext cx="193852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VW ST GEORGE</a:t>
            </a:r>
            <a:endParaRPr lang="en-US" sz="1300" dirty="0"/>
          </a:p>
        </p:txBody>
      </p:sp>
      <p:sp>
        <p:nvSpPr>
          <p:cNvPr id="123" name="Shape 121"/>
          <p:cNvSpPr/>
          <p:nvPr/>
        </p:nvSpPr>
        <p:spPr>
          <a:xfrm>
            <a:off x="8220456" y="2999205"/>
            <a:ext cx="201201" cy="136676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24" name="Text 122"/>
          <p:cNvSpPr txBox="1"/>
          <p:nvPr/>
        </p:nvSpPr>
        <p:spPr>
          <a:xfrm>
            <a:off x="9079992" y="2943292"/>
            <a:ext cx="82296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$90K</a:t>
            </a:r>
            <a:endParaRPr lang="en-US" sz="1300" dirty="0"/>
          </a:p>
        </p:txBody>
      </p:sp>
      <p:sp>
        <p:nvSpPr>
          <p:cNvPr id="125" name="Text 123"/>
          <p:cNvSpPr txBox="1"/>
          <p:nvPr/>
        </p:nvSpPr>
        <p:spPr>
          <a:xfrm>
            <a:off x="9902952" y="2943292"/>
            <a:ext cx="786384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</a:t>
            </a:r>
            <a:endParaRPr lang="en-US" sz="1300" dirty="0"/>
          </a:p>
        </p:txBody>
      </p:sp>
      <p:sp>
        <p:nvSpPr>
          <p:cNvPr id="126" name="Text 124"/>
          <p:cNvSpPr txBox="1"/>
          <p:nvPr/>
        </p:nvSpPr>
        <p:spPr>
          <a:xfrm>
            <a:off x="10689336" y="2943292"/>
            <a:ext cx="73152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$292</a:t>
            </a:r>
            <a:endParaRPr lang="en-US" sz="1300" dirty="0"/>
          </a:p>
        </p:txBody>
      </p:sp>
      <p:sp>
        <p:nvSpPr>
          <p:cNvPr id="127" name="Text 125"/>
          <p:cNvSpPr txBox="1"/>
          <p:nvPr/>
        </p:nvSpPr>
        <p:spPr>
          <a:xfrm>
            <a:off x="6208776" y="3191794"/>
            <a:ext cx="193852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ST GEORGE</a:t>
            </a:r>
            <a:endParaRPr lang="en-US" sz="1300" dirty="0"/>
          </a:p>
        </p:txBody>
      </p:sp>
      <p:sp>
        <p:nvSpPr>
          <p:cNvPr id="128" name="Shape 126"/>
          <p:cNvSpPr/>
          <p:nvPr/>
        </p:nvSpPr>
        <p:spPr>
          <a:xfrm>
            <a:off x="8220456" y="3247707"/>
            <a:ext cx="195251" cy="136676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29" name="Text 127"/>
          <p:cNvSpPr txBox="1"/>
          <p:nvPr/>
        </p:nvSpPr>
        <p:spPr>
          <a:xfrm>
            <a:off x="9079992" y="3191794"/>
            <a:ext cx="82296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$87K</a:t>
            </a:r>
            <a:endParaRPr lang="en-US" sz="1300" dirty="0"/>
          </a:p>
        </p:txBody>
      </p:sp>
      <p:sp>
        <p:nvSpPr>
          <p:cNvPr id="130" name="Text 128"/>
          <p:cNvSpPr txBox="1"/>
          <p:nvPr/>
        </p:nvSpPr>
        <p:spPr>
          <a:xfrm>
            <a:off x="9902952" y="3191794"/>
            <a:ext cx="786384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15</a:t>
            </a:r>
            <a:endParaRPr lang="en-US" sz="1300" dirty="0"/>
          </a:p>
        </p:txBody>
      </p:sp>
      <p:sp>
        <p:nvSpPr>
          <p:cNvPr id="131" name="Text 129"/>
          <p:cNvSpPr txBox="1"/>
          <p:nvPr/>
        </p:nvSpPr>
        <p:spPr>
          <a:xfrm>
            <a:off x="10689336" y="3191794"/>
            <a:ext cx="73152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$283</a:t>
            </a:r>
            <a:endParaRPr lang="en-US" sz="1300" dirty="0"/>
          </a:p>
        </p:txBody>
      </p:sp>
      <p:sp>
        <p:nvSpPr>
          <p:cNvPr id="132" name="Text 130"/>
          <p:cNvSpPr txBox="1"/>
          <p:nvPr/>
        </p:nvSpPr>
        <p:spPr>
          <a:xfrm>
            <a:off x="6208776" y="3440296"/>
            <a:ext cx="193852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MAZDA</a:t>
            </a:r>
            <a:endParaRPr lang="en-US" sz="1300" dirty="0"/>
          </a:p>
        </p:txBody>
      </p:sp>
      <p:sp>
        <p:nvSpPr>
          <p:cNvPr id="133" name="Shape 131"/>
          <p:cNvSpPr/>
          <p:nvPr/>
        </p:nvSpPr>
        <p:spPr>
          <a:xfrm>
            <a:off x="8220456" y="3496208"/>
            <a:ext cx="193063" cy="136676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34" name="Text 132"/>
          <p:cNvSpPr txBox="1"/>
          <p:nvPr/>
        </p:nvSpPr>
        <p:spPr>
          <a:xfrm>
            <a:off x="9079992" y="3440296"/>
            <a:ext cx="82296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$86K</a:t>
            </a:r>
            <a:endParaRPr lang="en-US" sz="1300" dirty="0"/>
          </a:p>
        </p:txBody>
      </p:sp>
      <p:sp>
        <p:nvSpPr>
          <p:cNvPr id="135" name="Text 133"/>
          <p:cNvSpPr txBox="1"/>
          <p:nvPr/>
        </p:nvSpPr>
        <p:spPr>
          <a:xfrm>
            <a:off x="9902952" y="3440296"/>
            <a:ext cx="786384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25</a:t>
            </a:r>
            <a:endParaRPr lang="en-US" sz="1300" dirty="0"/>
          </a:p>
        </p:txBody>
      </p:sp>
      <p:sp>
        <p:nvSpPr>
          <p:cNvPr id="136" name="Text 134"/>
          <p:cNvSpPr txBox="1"/>
          <p:nvPr/>
        </p:nvSpPr>
        <p:spPr>
          <a:xfrm>
            <a:off x="10689336" y="3440296"/>
            <a:ext cx="73152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$280</a:t>
            </a:r>
            <a:endParaRPr lang="en-US" sz="1300" dirty="0"/>
          </a:p>
        </p:txBody>
      </p:sp>
      <p:sp>
        <p:nvSpPr>
          <p:cNvPr id="137" name="Text 135"/>
          <p:cNvSpPr txBox="1"/>
          <p:nvPr/>
        </p:nvSpPr>
        <p:spPr>
          <a:xfrm>
            <a:off x="6208776" y="3688797"/>
            <a:ext cx="193852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KIA LV</a:t>
            </a:r>
            <a:endParaRPr lang="en-US" sz="1300" dirty="0"/>
          </a:p>
        </p:txBody>
      </p:sp>
      <p:sp>
        <p:nvSpPr>
          <p:cNvPr id="138" name="Shape 136"/>
          <p:cNvSpPr/>
          <p:nvPr/>
        </p:nvSpPr>
        <p:spPr>
          <a:xfrm>
            <a:off x="8220456" y="3744710"/>
            <a:ext cx="184766" cy="136676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39" name="Text 137"/>
          <p:cNvSpPr txBox="1"/>
          <p:nvPr/>
        </p:nvSpPr>
        <p:spPr>
          <a:xfrm>
            <a:off x="9079992" y="3688797"/>
            <a:ext cx="82296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$82K</a:t>
            </a:r>
            <a:endParaRPr lang="en-US" sz="1300" dirty="0"/>
          </a:p>
        </p:txBody>
      </p:sp>
      <p:sp>
        <p:nvSpPr>
          <p:cNvPr id="140" name="Text 138"/>
          <p:cNvSpPr txBox="1"/>
          <p:nvPr/>
        </p:nvSpPr>
        <p:spPr>
          <a:xfrm>
            <a:off x="9902952" y="3688797"/>
            <a:ext cx="786384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35</a:t>
            </a:r>
            <a:endParaRPr lang="en-US" sz="1300" dirty="0"/>
          </a:p>
        </p:txBody>
      </p:sp>
      <p:sp>
        <p:nvSpPr>
          <p:cNvPr id="141" name="Text 139"/>
          <p:cNvSpPr txBox="1"/>
          <p:nvPr/>
        </p:nvSpPr>
        <p:spPr>
          <a:xfrm>
            <a:off x="10689336" y="3688797"/>
            <a:ext cx="73152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$268</a:t>
            </a:r>
            <a:endParaRPr lang="en-US" sz="1300" dirty="0"/>
          </a:p>
        </p:txBody>
      </p:sp>
      <p:sp>
        <p:nvSpPr>
          <p:cNvPr id="142" name="Text 140"/>
          <p:cNvSpPr txBox="1"/>
          <p:nvPr/>
        </p:nvSpPr>
        <p:spPr>
          <a:xfrm>
            <a:off x="6208776" y="3937299"/>
            <a:ext cx="193852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HENDERSON</a:t>
            </a:r>
            <a:endParaRPr lang="en-US" sz="1300" dirty="0"/>
          </a:p>
        </p:txBody>
      </p:sp>
      <p:sp>
        <p:nvSpPr>
          <p:cNvPr id="143" name="Shape 141"/>
          <p:cNvSpPr/>
          <p:nvPr/>
        </p:nvSpPr>
        <p:spPr>
          <a:xfrm>
            <a:off x="8220456" y="3993212"/>
            <a:ext cx="166831" cy="136676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44" name="Text 142"/>
          <p:cNvSpPr txBox="1"/>
          <p:nvPr/>
        </p:nvSpPr>
        <p:spPr>
          <a:xfrm>
            <a:off x="9079992" y="3937299"/>
            <a:ext cx="82296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$74K</a:t>
            </a:r>
            <a:endParaRPr lang="en-US" sz="1300" dirty="0"/>
          </a:p>
        </p:txBody>
      </p:sp>
      <p:sp>
        <p:nvSpPr>
          <p:cNvPr id="145" name="Text 143"/>
          <p:cNvSpPr txBox="1"/>
          <p:nvPr/>
        </p:nvSpPr>
        <p:spPr>
          <a:xfrm>
            <a:off x="9902952" y="3937299"/>
            <a:ext cx="786384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231</a:t>
            </a:r>
            <a:endParaRPr lang="en-US" sz="1300" dirty="0"/>
          </a:p>
        </p:txBody>
      </p:sp>
      <p:sp>
        <p:nvSpPr>
          <p:cNvPr id="146" name="Text 144"/>
          <p:cNvSpPr txBox="1"/>
          <p:nvPr/>
        </p:nvSpPr>
        <p:spPr>
          <a:xfrm>
            <a:off x="10689336" y="3937299"/>
            <a:ext cx="73152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$242</a:t>
            </a:r>
            <a:endParaRPr lang="en-US" sz="1300" dirty="0"/>
          </a:p>
        </p:txBody>
      </p:sp>
      <p:sp>
        <p:nvSpPr>
          <p:cNvPr id="147" name="Text 145"/>
          <p:cNvSpPr txBox="1"/>
          <p:nvPr/>
        </p:nvSpPr>
        <p:spPr>
          <a:xfrm>
            <a:off x="6208776" y="4185800"/>
            <a:ext cx="193852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PRESCOTT</a:t>
            </a:r>
            <a:endParaRPr lang="en-US" sz="1300" dirty="0"/>
          </a:p>
        </p:txBody>
      </p:sp>
      <p:sp>
        <p:nvSpPr>
          <p:cNvPr id="148" name="Shape 146"/>
          <p:cNvSpPr/>
          <p:nvPr/>
        </p:nvSpPr>
        <p:spPr>
          <a:xfrm>
            <a:off x="8220456" y="4241713"/>
            <a:ext cx="163399" cy="136676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49" name="Text 147"/>
          <p:cNvSpPr txBox="1"/>
          <p:nvPr/>
        </p:nvSpPr>
        <p:spPr>
          <a:xfrm>
            <a:off x="9079992" y="4185800"/>
            <a:ext cx="82296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$73K</a:t>
            </a:r>
            <a:endParaRPr lang="en-US" sz="1300" dirty="0"/>
          </a:p>
        </p:txBody>
      </p:sp>
      <p:sp>
        <p:nvSpPr>
          <p:cNvPr id="150" name="Text 148"/>
          <p:cNvSpPr txBox="1"/>
          <p:nvPr/>
        </p:nvSpPr>
        <p:spPr>
          <a:xfrm>
            <a:off x="9902952" y="4185800"/>
            <a:ext cx="786384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</a:t>
            </a:r>
            <a:endParaRPr lang="en-US" sz="1300" dirty="0"/>
          </a:p>
        </p:txBody>
      </p:sp>
      <p:sp>
        <p:nvSpPr>
          <p:cNvPr id="151" name="Text 149"/>
          <p:cNvSpPr txBox="1"/>
          <p:nvPr/>
        </p:nvSpPr>
        <p:spPr>
          <a:xfrm>
            <a:off x="10689336" y="4185800"/>
            <a:ext cx="73152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$237</a:t>
            </a:r>
            <a:endParaRPr lang="en-US" sz="1300" dirty="0"/>
          </a:p>
        </p:txBody>
      </p:sp>
      <p:sp>
        <p:nvSpPr>
          <p:cNvPr id="152" name="Text 150"/>
          <p:cNvSpPr txBox="1"/>
          <p:nvPr/>
        </p:nvSpPr>
        <p:spPr>
          <a:xfrm>
            <a:off x="6208776" y="4434302"/>
            <a:ext cx="193852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PRESCOTT</a:t>
            </a:r>
            <a:endParaRPr lang="en-US" sz="1300" dirty="0"/>
          </a:p>
        </p:txBody>
      </p:sp>
      <p:sp>
        <p:nvSpPr>
          <p:cNvPr id="153" name="Shape 151"/>
          <p:cNvSpPr/>
          <p:nvPr/>
        </p:nvSpPr>
        <p:spPr>
          <a:xfrm>
            <a:off x="8220456" y="4490215"/>
            <a:ext cx="163357" cy="136676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54" name="Text 152"/>
          <p:cNvSpPr txBox="1"/>
          <p:nvPr/>
        </p:nvSpPr>
        <p:spPr>
          <a:xfrm>
            <a:off x="9079992" y="4434302"/>
            <a:ext cx="82296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$73K</a:t>
            </a:r>
            <a:endParaRPr lang="en-US" sz="1300" dirty="0"/>
          </a:p>
        </p:txBody>
      </p:sp>
      <p:sp>
        <p:nvSpPr>
          <p:cNvPr id="155" name="Text 153"/>
          <p:cNvSpPr txBox="1"/>
          <p:nvPr/>
        </p:nvSpPr>
        <p:spPr>
          <a:xfrm>
            <a:off x="9902952" y="4434302"/>
            <a:ext cx="786384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22</a:t>
            </a:r>
            <a:endParaRPr lang="en-US" sz="1300" dirty="0"/>
          </a:p>
        </p:txBody>
      </p:sp>
      <p:sp>
        <p:nvSpPr>
          <p:cNvPr id="156" name="Text 154"/>
          <p:cNvSpPr txBox="1"/>
          <p:nvPr/>
        </p:nvSpPr>
        <p:spPr>
          <a:xfrm>
            <a:off x="10689336" y="4434302"/>
            <a:ext cx="73152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$237</a:t>
            </a:r>
            <a:endParaRPr lang="en-US" sz="1300" dirty="0"/>
          </a:p>
        </p:txBody>
      </p:sp>
      <p:sp>
        <p:nvSpPr>
          <p:cNvPr id="157" name="Text 155"/>
          <p:cNvSpPr txBox="1"/>
          <p:nvPr/>
        </p:nvSpPr>
        <p:spPr>
          <a:xfrm>
            <a:off x="6208776" y="4682804"/>
            <a:ext cx="193852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PRESCOTT</a:t>
            </a:r>
            <a:endParaRPr lang="en-US" sz="1300" dirty="0"/>
          </a:p>
        </p:txBody>
      </p:sp>
      <p:sp>
        <p:nvSpPr>
          <p:cNvPr id="158" name="Shape 156"/>
          <p:cNvSpPr/>
          <p:nvPr/>
        </p:nvSpPr>
        <p:spPr>
          <a:xfrm>
            <a:off x="8220456" y="4738717"/>
            <a:ext cx="163282" cy="136676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59" name="Text 157"/>
          <p:cNvSpPr txBox="1"/>
          <p:nvPr/>
        </p:nvSpPr>
        <p:spPr>
          <a:xfrm>
            <a:off x="9079992" y="4682804"/>
            <a:ext cx="82296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$73K</a:t>
            </a:r>
            <a:endParaRPr lang="en-US" sz="1300" dirty="0"/>
          </a:p>
        </p:txBody>
      </p:sp>
      <p:sp>
        <p:nvSpPr>
          <p:cNvPr id="160" name="Text 158"/>
          <p:cNvSpPr txBox="1"/>
          <p:nvPr/>
        </p:nvSpPr>
        <p:spPr>
          <a:xfrm>
            <a:off x="9902952" y="4682804"/>
            <a:ext cx="786384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59</a:t>
            </a:r>
            <a:endParaRPr lang="en-US" sz="1300" dirty="0"/>
          </a:p>
        </p:txBody>
      </p:sp>
      <p:sp>
        <p:nvSpPr>
          <p:cNvPr id="161" name="Text 159"/>
          <p:cNvSpPr txBox="1"/>
          <p:nvPr/>
        </p:nvSpPr>
        <p:spPr>
          <a:xfrm>
            <a:off x="10689336" y="4682804"/>
            <a:ext cx="73152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$237</a:t>
            </a:r>
            <a:endParaRPr lang="en-US" sz="1300" dirty="0"/>
          </a:p>
        </p:txBody>
      </p:sp>
      <p:sp>
        <p:nvSpPr>
          <p:cNvPr id="162" name="Text 160"/>
          <p:cNvSpPr txBox="1"/>
          <p:nvPr/>
        </p:nvSpPr>
        <p:spPr>
          <a:xfrm>
            <a:off x="6208776" y="4931305"/>
            <a:ext cx="193852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KIA ST GEORGE</a:t>
            </a:r>
            <a:endParaRPr lang="en-US" sz="1300" dirty="0"/>
          </a:p>
        </p:txBody>
      </p:sp>
      <p:sp>
        <p:nvSpPr>
          <p:cNvPr id="163" name="Shape 161"/>
          <p:cNvSpPr/>
          <p:nvPr/>
        </p:nvSpPr>
        <p:spPr>
          <a:xfrm>
            <a:off x="8220456" y="4987218"/>
            <a:ext cx="151770" cy="136676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64" name="Text 162"/>
          <p:cNvSpPr txBox="1"/>
          <p:nvPr/>
        </p:nvSpPr>
        <p:spPr>
          <a:xfrm>
            <a:off x="9079992" y="4931305"/>
            <a:ext cx="82296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$68K</a:t>
            </a:r>
            <a:endParaRPr lang="en-US" sz="1300" dirty="0"/>
          </a:p>
        </p:txBody>
      </p:sp>
      <p:sp>
        <p:nvSpPr>
          <p:cNvPr id="165" name="Text 163"/>
          <p:cNvSpPr txBox="1"/>
          <p:nvPr/>
        </p:nvSpPr>
        <p:spPr>
          <a:xfrm>
            <a:off x="9902952" y="4931305"/>
            <a:ext cx="786384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17</a:t>
            </a:r>
            <a:endParaRPr lang="en-US" sz="1300" dirty="0"/>
          </a:p>
        </p:txBody>
      </p:sp>
      <p:sp>
        <p:nvSpPr>
          <p:cNvPr id="166" name="Text 164"/>
          <p:cNvSpPr txBox="1"/>
          <p:nvPr/>
        </p:nvSpPr>
        <p:spPr>
          <a:xfrm>
            <a:off x="10689336" y="4931305"/>
            <a:ext cx="73152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$220</a:t>
            </a:r>
            <a:endParaRPr lang="en-US" sz="1300" dirty="0"/>
          </a:p>
        </p:txBody>
      </p:sp>
      <p:sp>
        <p:nvSpPr>
          <p:cNvPr id="167" name="Text 165"/>
          <p:cNvSpPr txBox="1"/>
          <p:nvPr/>
        </p:nvSpPr>
        <p:spPr>
          <a:xfrm>
            <a:off x="6208776" y="5179807"/>
            <a:ext cx="193852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SPOKANE</a:t>
            </a:r>
            <a:endParaRPr lang="en-US" sz="1300" dirty="0"/>
          </a:p>
        </p:txBody>
      </p:sp>
      <p:sp>
        <p:nvSpPr>
          <p:cNvPr id="168" name="Shape 166"/>
          <p:cNvSpPr/>
          <p:nvPr/>
        </p:nvSpPr>
        <p:spPr>
          <a:xfrm>
            <a:off x="8220456" y="5235720"/>
            <a:ext cx="149543" cy="136676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69" name="Text 167"/>
          <p:cNvSpPr txBox="1"/>
          <p:nvPr/>
        </p:nvSpPr>
        <p:spPr>
          <a:xfrm>
            <a:off x="9079992" y="5179807"/>
            <a:ext cx="82296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$67K</a:t>
            </a:r>
            <a:endParaRPr lang="en-US" sz="1300" dirty="0"/>
          </a:p>
        </p:txBody>
      </p:sp>
      <p:sp>
        <p:nvSpPr>
          <p:cNvPr id="170" name="Text 168"/>
          <p:cNvSpPr txBox="1"/>
          <p:nvPr/>
        </p:nvSpPr>
        <p:spPr>
          <a:xfrm>
            <a:off x="9902952" y="5179807"/>
            <a:ext cx="786384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75</a:t>
            </a:r>
            <a:endParaRPr lang="en-US" sz="1300" dirty="0"/>
          </a:p>
        </p:txBody>
      </p:sp>
      <p:sp>
        <p:nvSpPr>
          <p:cNvPr id="171" name="Text 169"/>
          <p:cNvSpPr txBox="1"/>
          <p:nvPr/>
        </p:nvSpPr>
        <p:spPr>
          <a:xfrm>
            <a:off x="10689336" y="5179807"/>
            <a:ext cx="73152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$217</a:t>
            </a:r>
            <a:endParaRPr lang="en-US" sz="1300" dirty="0"/>
          </a:p>
        </p:txBody>
      </p:sp>
      <p:sp>
        <p:nvSpPr>
          <p:cNvPr id="172" name="Text 170"/>
          <p:cNvSpPr txBox="1"/>
          <p:nvPr/>
        </p:nvSpPr>
        <p:spPr>
          <a:xfrm>
            <a:off x="6208776" y="5428309"/>
            <a:ext cx="193852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FLAGSTAFF</a:t>
            </a:r>
            <a:endParaRPr lang="en-US" sz="1300" dirty="0"/>
          </a:p>
        </p:txBody>
      </p:sp>
      <p:sp>
        <p:nvSpPr>
          <p:cNvPr id="173" name="Shape 171"/>
          <p:cNvSpPr/>
          <p:nvPr/>
        </p:nvSpPr>
        <p:spPr>
          <a:xfrm>
            <a:off x="8220456" y="5484222"/>
            <a:ext cx="147241" cy="136676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74" name="Text 172"/>
          <p:cNvSpPr txBox="1"/>
          <p:nvPr/>
        </p:nvSpPr>
        <p:spPr>
          <a:xfrm>
            <a:off x="9079992" y="5428309"/>
            <a:ext cx="82296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$66K</a:t>
            </a:r>
            <a:endParaRPr lang="en-US" sz="1300" dirty="0"/>
          </a:p>
        </p:txBody>
      </p:sp>
      <p:sp>
        <p:nvSpPr>
          <p:cNvPr id="175" name="Text 173"/>
          <p:cNvSpPr txBox="1"/>
          <p:nvPr/>
        </p:nvSpPr>
        <p:spPr>
          <a:xfrm>
            <a:off x="9902952" y="5428309"/>
            <a:ext cx="786384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66</a:t>
            </a:r>
            <a:endParaRPr lang="en-US" sz="1300" dirty="0"/>
          </a:p>
        </p:txBody>
      </p:sp>
      <p:sp>
        <p:nvSpPr>
          <p:cNvPr id="176" name="Text 174"/>
          <p:cNvSpPr txBox="1"/>
          <p:nvPr/>
        </p:nvSpPr>
        <p:spPr>
          <a:xfrm>
            <a:off x="10689336" y="5428309"/>
            <a:ext cx="73152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$214</a:t>
            </a:r>
            <a:endParaRPr lang="en-US" sz="1300" dirty="0"/>
          </a:p>
        </p:txBody>
      </p:sp>
      <p:sp>
        <p:nvSpPr>
          <p:cNvPr id="177" name="Shape 175"/>
          <p:cNvSpPr/>
          <p:nvPr/>
        </p:nvSpPr>
        <p:spPr>
          <a:xfrm>
            <a:off x="457200" y="6126480"/>
            <a:ext cx="11274552" cy="615696"/>
          </a:xfrm>
          <a:prstGeom prst="rect">
            <a:avLst/>
          </a:prstGeom>
          <a:solidFill>
            <a:srgbClr val="E6F6EE"/>
          </a:solidFill>
          <a:ln/>
        </p:spPr>
      </p:sp>
      <p:sp>
        <p:nvSpPr>
          <p:cNvPr id="178" name="Text 176"/>
          <p:cNvSpPr txBox="1"/>
          <p:nvPr/>
        </p:nvSpPr>
        <p:spPr>
          <a:xfrm>
            <a:off x="658368" y="6144768"/>
            <a:ext cx="10927080" cy="579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One more customer-pay RO a day at every store is worth $4,473,284 a year in labor and parts gross. Each RO averages $342.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Inter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Inter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</Slides>
  <Notes>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Slide 1</vt:lpstr>
      <vt:lpstr>Slide 2</vt:lpstr>
      <vt:lpstr>Slide 3</vt:lpstr>
      <vt:lpstr>Slide 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2026-10-22T19:28:37Z</dcterms:created>
  <dcterms:modified xsi:type="dcterms:W3CDTF">2026-10-22T19:28:37Z</dcterms:modified>
</cp:coreProperties>
</file>