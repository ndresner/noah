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Lst>
  <p:notesMasterIdLst>
    <p:notesMasterId r:id="rId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notesMaster" Target="notesMasters/notesMaster1.xml"/><Relationship Id="rId8" Type="http://schemas.openxmlformats.org/officeDocument/2006/relationships/presProps" Target="presProps.xml"/><Relationship Id="rId9" Type="http://schemas.openxmlformats.org/officeDocument/2006/relationships/viewProps" Target="viewProps.xml"/><Relationship Id="rId10" Type="http://schemas.openxmlformats.org/officeDocument/2006/relationships/theme" Target="theme/theme1.xml"/><Relationship Id="rId1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55578.46</c:v>
                </c:pt>
                <c:pt idx="1">
                  <c:v>52000.56</c:v>
                </c:pt>
                <c:pt idx="2">
                  <c:v>60175.93</c:v>
                </c:pt>
                <c:pt idx="3">
                  <c:v>59745.97</c:v>
                </c:pt>
                <c:pt idx="4">
                  <c:v>57788.84</c:v>
                </c:pt>
                <c:pt idx="5">
                  <c:v>60916.67</c:v>
                </c:pt>
                <c:pt idx="6">
                  <c:v>61860.58</c:v>
                </c:pt>
                <c:pt idx="7">
                  <c:v>59618.54</c:v>
                </c:pt>
                <c:pt idx="8">
                  <c:v>55456.31</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55578.46</c:v>
                </c:pt>
                <c:pt idx="1">
                  <c:v>52000.56</c:v>
                </c:pt>
                <c:pt idx="2">
                  <c:v>60175.93</c:v>
                </c:pt>
                <c:pt idx="3">
                  <c:v>59745.97</c:v>
                </c:pt>
                <c:pt idx="4">
                  <c:v/>
                </c:pt>
                <c:pt idx="5">
                  <c:v>60916.67</c:v>
                </c:pt>
                <c:pt idx="6">
                  <c:v>61860.58</c:v>
                </c:pt>
                <c:pt idx="7">
                  <c:v>59618.54</c:v>
                </c:pt>
                <c:pt idx="8">
                  <c:v>55456.31</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57788.84</c:v>
                </c:pt>
                <c:pt idx="5">
                  <c:v/>
                </c:pt>
                <c:pt idx="6">
                  <c:v/>
                </c:pt>
                <c:pt idx="7">
                  <c:v/>
                </c:pt>
                <c:pt idx="8">
                  <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57794.35</c:v>
                </c:pt>
                <c:pt idx="5">
                  <c:v/>
                </c:pt>
                <c:pt idx="6">
                  <c:v/>
                </c:pt>
                <c:pt idx="7">
                  <c:v/>
                </c:pt>
                <c:pt idx="8">
                  <c:v/>
                </c:pt>
                <c:pt idx="9">
                  <c:v>58023.59000000028</c:v>
                </c:pt>
                <c:pt idx="10">
                  <c:v/>
                </c:pt>
                <c:pt idx="11">
                  <c:v>52701.39000000027</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55120.88</c:v>
                </c:pt>
                <c:pt idx="1">
                  <c:v>51212.03</c:v>
                </c:pt>
                <c:pt idx="2">
                  <c:v>57205.56</c:v>
                </c:pt>
                <c:pt idx="3">
                  <c:v>58170.14</c:v>
                </c:pt>
                <c:pt idx="4">
                  <c:v/>
                </c:pt>
                <c:pt idx="5">
                  <c:v>56468.18</c:v>
                </c:pt>
                <c:pt idx="6">
                  <c:v>57717.31</c:v>
                </c:pt>
                <c:pt idx="7">
                  <c:v>57021.2</c:v>
                </c:pt>
                <c:pt idx="8">
                  <c:v>53309.32</c:v>
                </c:pt>
                <c:pt idx="9">
                  <c:v/>
                </c:pt>
                <c:pt idx="10">
                  <c:v>51202.50000000025</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55120.88</c:v>
                </c:pt>
                <c:pt idx="1">
                  <c:v>51212.03</c:v>
                </c:pt>
                <c:pt idx="2">
                  <c:v>57205.56</c:v>
                </c:pt>
                <c:pt idx="3">
                  <c:v>58170.14</c:v>
                </c:pt>
                <c:pt idx="4">
                  <c:v>57794.35</c:v>
                </c:pt>
                <c:pt idx="5">
                  <c:v>56468.18</c:v>
                </c:pt>
                <c:pt idx="6">
                  <c:v>57717.31</c:v>
                </c:pt>
                <c:pt idx="7">
                  <c:v>57021.2</c:v>
                </c:pt>
                <c:pt idx="8">
                  <c:v>53309.32</c:v>
                </c:pt>
                <c:pt idx="9">
                  <c:v>58023.59000000028</c:v>
                </c:pt>
                <c:pt idx="10">
                  <c:v>51202.50000000025</c:v>
                </c:pt>
                <c:pt idx="11">
                  <c:v>52701.39000000027</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date. Same-store, INEOS excluded (opened 2026). GMC Prescott body shop labor types excluded. Total customer-pay labor hours sold, all CP ROs. YTD from YTD totals, not the mean of months. Store rows reconcile to the group on every input, both years. 2025 shown January-December; October-December pulled Oct 22 on the same basis (chart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Toyota Henderson leads at 78,123; VW St George is smallest at 3,276.Source: Qlik - Closed Repair Orders. Customer pay, Jan-Sep by close date. Same-store, INEOS excluded (opened 2026). GMC Prescott body shop labor types excluded. Total customer-pay labor hours sold, all CP ROs. Jan-Sep 2026 YTD.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23 of 33 stores sold more CP hours, led by Subaru St George at +44.6% to 12,766. 10 declined; VW St George fell most at −25.4%.Source: Qlik - Closed Repair Orders. Customer pay, Jan-Sep by close date. Same-store, INEOS excluded (opened 2026). GMC Prescott body shop labor types excluded. Change in customer-pay hours sold (percent, so store size does not drive the ranking), Jan-Sep 2026 vs 2025, best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Ask Subaru St George, Kia LV and Kia St George what changed. Ask VW St George, Audi Reno and Volvo what got in the way. Ask Mazda, CDJR Post Falls and Lexus what they started this year.Source: Qlik - Closed Repair Orders. Customer pay, Jan-Sep by close date. Same-store, INEOS excluded (opened 2026). GMC Prescott body shop labor types excluded. Total customer-pay labor hours sold, all CP ROs. Top and bottom five stores by change in customer-pay hours sold (percent, so store size does not drive the ranking), Jan-Sep 2026 vs 2025. Moving now: Jul-Sep 2026 vs Jan-Mar 2026, each store against itself (monthly averages); the group moved +5.5%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date. Same-store, INEOS excluded (opened 2026). GMC Prescott body shop labor types excluded. Per RO = the store's customer-pay labor gross + parts gross / its CP RO count, Jan-Sep 2026. Days open a year: 307 for every store (open 6 days a week, 2026 calendar, less the 6 service holidays: New Year's, Memorial Day, Independence Day, Labor Day, Thanksgiving, Christmas). ROs/day = Jan-Sep 2026 CP ROs at a yearly pace / days open. Assumes the added RO is an average one.Talk track: one more customer a day - one more answered call, one appointment kept, one 'close to losing' customer brought back. Retention, phones and the scheduler are the levers.
LR HENDERSON: $1,168 gross per RO x 307 days open a year = $358,484; 6.8 CP ROs a day today
LR LV: $1,142 gross per RO x 307 days open a year = $350,585; 15.2 CP ROs a day today
LR RENO: $1,052 gross per RO x 307 days open a year = $323,117; 6.2 CP ROs a day today
AUDI HENDERSON: $1,030 gross per RO x 307 days open a year = $316,136; 16.4 CP ROs a day today
AUDI RENO: $740 gross per RO x 307 days open a year = $227,297; 17.0 CP ROs a day today
VOLVO: $662 gross per RO x 307 days open a year = $203,362; 14.8 CP ROs a day today
CADILLAC: $509 gross per RO x 307 days open a year = $156,140; 23.2 CP ROs a day today
LINCOLN: $480 gross per RO x 307 days open a year = $147,507; 11.4 CP ROs a day today
LEXUS: $460 gross per RO x 307 days open a year = $141,182; 19.8 CP ROs a day today
VW HENDERSON: $429 gross per RO x 307 days open a year = $131,560; 22.3 CP ROs a day today
NISSAN: $406 gross per RO x 307 days open a year = $124,728; 30.3 CP ROs a day today
CDJR POST FALLS: $399 gross per RO x 307 days open a year = $122,626; 23.3 CP ROs a day today
CHEVY LV: $362 gross per RO x 307 days open a year = $111,273; 84.8 CP ROs a day today
SUBARU ST GEORGE: $357 gross per RO x 307 days open a year = $109,693; 24.1 CP ROs a day today
ACURA: $356 gross per RO x 307 days open a year = $109,151; 15.9 CP ROs a day today
SUBARU LV: $354 gross per RO x 307 days open a year = $108,687; 61.9 CP ROs a day today
HONDA NORTH: $338 gross per RO x 307 days open a year = $103,675; 65.4 CP ROs a day today
HONDA HENDERSON: $337 gross per RO x 307 days open a year = $103,382; 97.8 CP ROs a day today
HONDA SPOKANE: $331 gross per RO x 307 days open a year = $101,516; 38.8 CP ROs a day today
CHEVY GMC BULLHEAD: $314 gross per RO x 307 days open a year = $96,545; 27.4 CP ROs a day today
GMC PRESCOTT: $310 gross per RO x 307 days open a year = $95,050; 13.5 CP ROs a day today
HONDA FLAGSTAFF: $307 gross per RO x 307 days open a year = $94,176; 17.5 CP ROs a day today
VW ST GEORGE: $292 gross per RO x 307 days open a year = $89,636; 8.3 CP ROs a day today
HYUNDAI ST GEORGE: $283 gross per RO x 307 days open a year = $86,985; 14.5 CP ROs a day today
MAZDA: $280 gross per RO x 307 days open a year = $86,010; 24.8 CP ROs a day today
KIA LV: $268 gross per RO x 307 days open a year = $82,314; 35.3 CP ROs a day today
TOYOTA HENDERSON: $242 gross per RO x 307 days open a year = $74,324; 230.5 CP ROs a day today
HYUNDAI PRESCOTT: $237 gross per RO x 307 days open a year = $72,795; 8.7 CP ROs a day today
SUBARU PRESCOTT: $237 gross per RO x 307 days open a year = $72,776; 22.2 CP ROs a day today
TOYOTA PRESCOTT: $237 gross per RO x 307 days open a year = $72,743; 58.6 CP ROs a day today
KIA ST GEORGE: $220 gross per RO x 307 days open a year = $67,614; 17.0 CP ROs a day today
TOYOTA SPOKANE: $217 gross per RO x 307 days open a year = $66,622; 75.5 CP ROs a day today
TOYOTA FLAGSTAFF: $214 gross per RO x 307 days open a year = $65,596; 65.8 CP ROs a day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chart" Target="/ppt/charts/chart3.xml"/><Relationship Id="rId4" Type="http://schemas.openxmlformats.org/officeDocument/2006/relationships/chart" Target="/ppt/charts/chart4.xml"/><Relationship Id="rId5" Type="http://schemas.openxmlformats.org/officeDocument/2006/relationships/chart" Target="/ppt/charts/chart5.xml"/><Relationship Id="rId6" Type="http://schemas.openxmlformats.org/officeDocument/2006/relationships/chart" Target="/ppt/charts/chart6.xml"/><Relationship Id="rId7" Type="http://schemas.openxmlformats.org/officeDocument/2006/relationships/slideLayout" Target="../slideLayouts/slideLayout1.xml"/><Relationship Id="rId8"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504,019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523,142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+19,123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+3.8%</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Customer Pay Hours Sold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graphicFrame>
        <p:nvGraphicFramePr>
          <p:cNvPr id="22" name="Chart 5"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6"/>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E6F6EE"/>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19,123 to 523,142, ahead of 2025 in eight of nine months. CP RO count rose only 0.2%, so the extra hours came from selling more on each visit.</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CUSTOMER PAY HOURS SOLD</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523,142</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7669"/>
            <a:ext cx="1828800" cy="120249"/>
          </a:xfrm>
          <a:prstGeom prst="rect">
            <a:avLst/>
          </a:prstGeom>
          <a:solidFill>
            <a:srgbClr val="2587C5"/>
          </a:solidFill>
          <a:ln/>
        </p:spPr>
      </p:sp>
      <p:sp>
        <p:nvSpPr>
          <p:cNvPr id="14" name="Text 12"/>
          <p:cNvSpPr txBox="1"/>
          <p:nvPr/>
        </p:nvSpPr>
        <p:spPr>
          <a:xfrm>
            <a:off x="4855464"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78,123</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79080"/>
            <a:ext cx="1050673" cy="120249"/>
          </a:xfrm>
          <a:prstGeom prst="rect">
            <a:avLst/>
          </a:prstGeom>
          <a:solidFill>
            <a:srgbClr val="2587C5"/>
          </a:solidFill>
          <a:ln/>
        </p:spPr>
      </p:sp>
      <p:sp>
        <p:nvSpPr>
          <p:cNvPr id="18" name="Text 16"/>
          <p:cNvSpPr txBox="1"/>
          <p:nvPr/>
        </p:nvSpPr>
        <p:spPr>
          <a:xfrm>
            <a:off x="4855464"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44,883</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440491"/>
            <a:ext cx="1038014" cy="120249"/>
          </a:xfrm>
          <a:prstGeom prst="rect">
            <a:avLst/>
          </a:prstGeom>
          <a:solidFill>
            <a:srgbClr val="2587C5"/>
          </a:solidFill>
          <a:ln/>
        </p:spPr>
      </p:sp>
      <p:sp>
        <p:nvSpPr>
          <p:cNvPr id="22" name="Text 20"/>
          <p:cNvSpPr txBox="1"/>
          <p:nvPr/>
        </p:nvSpPr>
        <p:spPr>
          <a:xfrm>
            <a:off x="4855464"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44,342</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2980944" y="2701901"/>
            <a:ext cx="711662" cy="120249"/>
          </a:xfrm>
          <a:prstGeom prst="rect">
            <a:avLst/>
          </a:prstGeom>
          <a:solidFill>
            <a:srgbClr val="2587C5"/>
          </a:solidFill>
          <a:ln/>
        </p:spPr>
      </p:sp>
      <p:sp>
        <p:nvSpPr>
          <p:cNvPr id="26" name="Text 24"/>
          <p:cNvSpPr txBox="1"/>
          <p:nvPr/>
        </p:nvSpPr>
        <p:spPr>
          <a:xfrm>
            <a:off x="4855464"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30,401</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963312"/>
            <a:ext cx="649509" cy="120249"/>
          </a:xfrm>
          <a:prstGeom prst="rect">
            <a:avLst/>
          </a:prstGeom>
          <a:solidFill>
            <a:srgbClr val="2587C5"/>
          </a:solidFill>
          <a:ln/>
        </p:spPr>
      </p:sp>
      <p:sp>
        <p:nvSpPr>
          <p:cNvPr id="30" name="Text 28"/>
          <p:cNvSpPr txBox="1"/>
          <p:nvPr/>
        </p:nvSpPr>
        <p:spPr>
          <a:xfrm>
            <a:off x="4855464"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27,746</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2980944" y="3224723"/>
            <a:ext cx="602764" cy="120249"/>
          </a:xfrm>
          <a:prstGeom prst="rect">
            <a:avLst/>
          </a:prstGeom>
          <a:solidFill>
            <a:srgbClr val="2587C5"/>
          </a:solidFill>
          <a:ln/>
        </p:spPr>
      </p:sp>
      <p:sp>
        <p:nvSpPr>
          <p:cNvPr id="34" name="Text 32"/>
          <p:cNvSpPr txBox="1"/>
          <p:nvPr/>
        </p:nvSpPr>
        <p:spPr>
          <a:xfrm>
            <a:off x="4855464"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25,749</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37" name="Shape 35"/>
          <p:cNvSpPr/>
          <p:nvPr/>
        </p:nvSpPr>
        <p:spPr>
          <a:xfrm>
            <a:off x="2980944" y="3486134"/>
            <a:ext cx="498059" cy="120249"/>
          </a:xfrm>
          <a:prstGeom prst="rect">
            <a:avLst/>
          </a:prstGeom>
          <a:solidFill>
            <a:srgbClr val="2587C5"/>
          </a:solidFill>
          <a:ln/>
        </p:spPr>
      </p:sp>
      <p:sp>
        <p:nvSpPr>
          <p:cNvPr id="38" name="Text 36"/>
          <p:cNvSpPr txBox="1"/>
          <p:nvPr/>
        </p:nvSpPr>
        <p:spPr>
          <a:xfrm>
            <a:off x="4855464"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21,276</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2980944" y="3747545"/>
            <a:ext cx="436748" cy="120249"/>
          </a:xfrm>
          <a:prstGeom prst="rect">
            <a:avLst/>
          </a:prstGeom>
          <a:solidFill>
            <a:srgbClr val="2587C5"/>
          </a:solidFill>
          <a:ln/>
        </p:spPr>
      </p:sp>
      <p:sp>
        <p:nvSpPr>
          <p:cNvPr id="42" name="Text 40"/>
          <p:cNvSpPr txBox="1"/>
          <p:nvPr/>
        </p:nvSpPr>
        <p:spPr>
          <a:xfrm>
            <a:off x="4855464"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18,657</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5" name="Shape 43"/>
          <p:cNvSpPr/>
          <p:nvPr/>
        </p:nvSpPr>
        <p:spPr>
          <a:xfrm>
            <a:off x="2980944" y="4008956"/>
            <a:ext cx="419629" cy="120249"/>
          </a:xfrm>
          <a:prstGeom prst="rect">
            <a:avLst/>
          </a:prstGeom>
          <a:solidFill>
            <a:srgbClr val="2587C5"/>
          </a:solidFill>
          <a:ln/>
        </p:spPr>
      </p:sp>
      <p:sp>
        <p:nvSpPr>
          <p:cNvPr id="46" name="Text 44"/>
          <p:cNvSpPr txBox="1"/>
          <p:nvPr/>
        </p:nvSpPr>
        <p:spPr>
          <a:xfrm>
            <a:off x="4855464"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17,926</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9" name="Shape 47"/>
          <p:cNvSpPr/>
          <p:nvPr/>
        </p:nvSpPr>
        <p:spPr>
          <a:xfrm>
            <a:off x="2980944" y="4270366"/>
            <a:ext cx="344483" cy="120249"/>
          </a:xfrm>
          <a:prstGeom prst="rect">
            <a:avLst/>
          </a:prstGeom>
          <a:solidFill>
            <a:srgbClr val="2587C5"/>
          </a:solidFill>
          <a:ln/>
        </p:spPr>
      </p:sp>
      <p:sp>
        <p:nvSpPr>
          <p:cNvPr id="50" name="Text 48"/>
          <p:cNvSpPr txBox="1"/>
          <p:nvPr/>
        </p:nvSpPr>
        <p:spPr>
          <a:xfrm>
            <a:off x="4855464"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14,716</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3" name="Shape 51"/>
          <p:cNvSpPr/>
          <p:nvPr/>
        </p:nvSpPr>
        <p:spPr>
          <a:xfrm>
            <a:off x="2980944" y="4531777"/>
            <a:ext cx="341580" cy="120249"/>
          </a:xfrm>
          <a:prstGeom prst="rect">
            <a:avLst/>
          </a:prstGeom>
          <a:solidFill>
            <a:srgbClr val="2587C5"/>
          </a:solidFill>
          <a:ln/>
        </p:spPr>
      </p:sp>
      <p:sp>
        <p:nvSpPr>
          <p:cNvPr id="54" name="Text 52"/>
          <p:cNvSpPr txBox="1"/>
          <p:nvPr/>
        </p:nvSpPr>
        <p:spPr>
          <a:xfrm>
            <a:off x="4855464"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14,592</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7" name="Shape 55"/>
          <p:cNvSpPr/>
          <p:nvPr/>
        </p:nvSpPr>
        <p:spPr>
          <a:xfrm>
            <a:off x="2980944" y="4793188"/>
            <a:ext cx="326318" cy="120249"/>
          </a:xfrm>
          <a:prstGeom prst="rect">
            <a:avLst/>
          </a:prstGeom>
          <a:solidFill>
            <a:srgbClr val="2587C5"/>
          </a:solidFill>
          <a:ln/>
        </p:spPr>
      </p:sp>
      <p:sp>
        <p:nvSpPr>
          <p:cNvPr id="58" name="Text 56"/>
          <p:cNvSpPr txBox="1"/>
          <p:nvPr/>
        </p:nvSpPr>
        <p:spPr>
          <a:xfrm>
            <a:off x="4855464"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13,940</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61" name="Shape 59"/>
          <p:cNvSpPr/>
          <p:nvPr/>
        </p:nvSpPr>
        <p:spPr>
          <a:xfrm>
            <a:off x="2980944" y="5054599"/>
            <a:ext cx="308206" cy="120249"/>
          </a:xfrm>
          <a:prstGeom prst="rect">
            <a:avLst/>
          </a:prstGeom>
          <a:solidFill>
            <a:srgbClr val="2587C5"/>
          </a:solidFill>
          <a:ln/>
        </p:spPr>
      </p:sp>
      <p:sp>
        <p:nvSpPr>
          <p:cNvPr id="62" name="Text 60"/>
          <p:cNvSpPr txBox="1"/>
          <p:nvPr/>
        </p:nvSpPr>
        <p:spPr>
          <a:xfrm>
            <a:off x="4855464"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13,166</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2980944" y="5316010"/>
            <a:ext cx="299995" cy="120249"/>
          </a:xfrm>
          <a:prstGeom prst="rect">
            <a:avLst/>
          </a:prstGeom>
          <a:solidFill>
            <a:srgbClr val="2587C5"/>
          </a:solidFill>
          <a:ln/>
        </p:spPr>
      </p:sp>
      <p:sp>
        <p:nvSpPr>
          <p:cNvPr id="66" name="Text 64"/>
          <p:cNvSpPr txBox="1"/>
          <p:nvPr/>
        </p:nvSpPr>
        <p:spPr>
          <a:xfrm>
            <a:off x="4855464"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12,815</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9" name="Shape 67"/>
          <p:cNvSpPr/>
          <p:nvPr/>
        </p:nvSpPr>
        <p:spPr>
          <a:xfrm>
            <a:off x="2980944" y="5577420"/>
            <a:ext cx="298846" cy="120249"/>
          </a:xfrm>
          <a:prstGeom prst="rect">
            <a:avLst/>
          </a:prstGeom>
          <a:solidFill>
            <a:srgbClr val="2587C5"/>
          </a:solidFill>
          <a:ln/>
        </p:spPr>
      </p:sp>
      <p:sp>
        <p:nvSpPr>
          <p:cNvPr id="70" name="Text 68"/>
          <p:cNvSpPr txBox="1"/>
          <p:nvPr/>
        </p:nvSpPr>
        <p:spPr>
          <a:xfrm>
            <a:off x="4855464"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12,766</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2980944" y="5838831"/>
            <a:ext cx="298644" cy="120249"/>
          </a:xfrm>
          <a:prstGeom prst="rect">
            <a:avLst/>
          </a:prstGeom>
          <a:solidFill>
            <a:srgbClr val="2587C5"/>
          </a:solidFill>
          <a:ln/>
        </p:spPr>
      </p:sp>
      <p:sp>
        <p:nvSpPr>
          <p:cNvPr id="74" name="Text 72"/>
          <p:cNvSpPr txBox="1"/>
          <p:nvPr/>
        </p:nvSpPr>
        <p:spPr>
          <a:xfrm>
            <a:off x="4855464"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12,757</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7" name="Shape 75"/>
          <p:cNvSpPr/>
          <p:nvPr/>
        </p:nvSpPr>
        <p:spPr>
          <a:xfrm>
            <a:off x="2980944" y="6100242"/>
            <a:ext cx="276102" cy="120249"/>
          </a:xfrm>
          <a:prstGeom prst="rect">
            <a:avLst/>
          </a:prstGeom>
          <a:solidFill>
            <a:srgbClr val="2587C5"/>
          </a:solidFill>
          <a:ln/>
        </p:spPr>
      </p:sp>
      <p:sp>
        <p:nvSpPr>
          <p:cNvPr id="78" name="Text 76"/>
          <p:cNvSpPr txBox="1"/>
          <p:nvPr/>
        </p:nvSpPr>
        <p:spPr>
          <a:xfrm>
            <a:off x="4855464" y="602966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11,795</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1" name="Shape 79"/>
          <p:cNvSpPr/>
          <p:nvPr/>
        </p:nvSpPr>
        <p:spPr>
          <a:xfrm>
            <a:off x="8531352" y="1917669"/>
            <a:ext cx="257333" cy="120249"/>
          </a:xfrm>
          <a:prstGeom prst="rect">
            <a:avLst/>
          </a:prstGeom>
          <a:solidFill>
            <a:srgbClr val="2587C5"/>
          </a:solidFill>
          <a:ln/>
        </p:spPr>
      </p:sp>
      <p:sp>
        <p:nvSpPr>
          <p:cNvPr id="82" name="Text 80"/>
          <p:cNvSpPr txBox="1"/>
          <p:nvPr/>
        </p:nvSpPr>
        <p:spPr>
          <a:xfrm>
            <a:off x="10405872"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10,993</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5" name="Shape 83"/>
          <p:cNvSpPr/>
          <p:nvPr/>
        </p:nvSpPr>
        <p:spPr>
          <a:xfrm>
            <a:off x="8531352" y="2179080"/>
            <a:ext cx="250095" cy="120249"/>
          </a:xfrm>
          <a:prstGeom prst="rect">
            <a:avLst/>
          </a:prstGeom>
          <a:solidFill>
            <a:srgbClr val="2587C5"/>
          </a:solidFill>
          <a:ln/>
        </p:spPr>
      </p:sp>
      <p:sp>
        <p:nvSpPr>
          <p:cNvPr id="86" name="Text 84"/>
          <p:cNvSpPr txBox="1"/>
          <p:nvPr/>
        </p:nvSpPr>
        <p:spPr>
          <a:xfrm>
            <a:off x="10405872"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10,684</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8531352" y="2440491"/>
            <a:ext cx="222717" cy="120249"/>
          </a:xfrm>
          <a:prstGeom prst="rect">
            <a:avLst/>
          </a:prstGeom>
          <a:solidFill>
            <a:srgbClr val="2587C5"/>
          </a:solidFill>
          <a:ln/>
        </p:spPr>
      </p:sp>
      <p:sp>
        <p:nvSpPr>
          <p:cNvPr id="90" name="Text 88"/>
          <p:cNvSpPr txBox="1"/>
          <p:nvPr/>
        </p:nvSpPr>
        <p:spPr>
          <a:xfrm>
            <a:off x="10405872"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9,514</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3" name="Shape 91"/>
          <p:cNvSpPr/>
          <p:nvPr/>
        </p:nvSpPr>
        <p:spPr>
          <a:xfrm>
            <a:off x="8531352" y="2701901"/>
            <a:ext cx="194260" cy="120249"/>
          </a:xfrm>
          <a:prstGeom prst="rect">
            <a:avLst/>
          </a:prstGeom>
          <a:solidFill>
            <a:srgbClr val="2587C5"/>
          </a:solidFill>
          <a:ln/>
        </p:spPr>
      </p:sp>
      <p:sp>
        <p:nvSpPr>
          <p:cNvPr id="94" name="Text 92"/>
          <p:cNvSpPr txBox="1"/>
          <p:nvPr/>
        </p:nvSpPr>
        <p:spPr>
          <a:xfrm>
            <a:off x="10405872"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8,298</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97" name="Shape 95"/>
          <p:cNvSpPr/>
          <p:nvPr/>
        </p:nvSpPr>
        <p:spPr>
          <a:xfrm>
            <a:off x="8531352" y="2963312"/>
            <a:ext cx="190890" cy="120249"/>
          </a:xfrm>
          <a:prstGeom prst="rect">
            <a:avLst/>
          </a:prstGeom>
          <a:solidFill>
            <a:srgbClr val="2587C5"/>
          </a:solidFill>
          <a:ln/>
        </p:spPr>
      </p:sp>
      <p:sp>
        <p:nvSpPr>
          <p:cNvPr id="98" name="Text 96"/>
          <p:cNvSpPr txBox="1"/>
          <p:nvPr/>
        </p:nvSpPr>
        <p:spPr>
          <a:xfrm>
            <a:off x="10405872"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8,154</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1" name="Shape 99"/>
          <p:cNvSpPr/>
          <p:nvPr/>
        </p:nvSpPr>
        <p:spPr>
          <a:xfrm>
            <a:off x="8531352" y="3224723"/>
            <a:ext cx="181408" cy="120249"/>
          </a:xfrm>
          <a:prstGeom prst="rect">
            <a:avLst/>
          </a:prstGeom>
          <a:solidFill>
            <a:srgbClr val="2587C5"/>
          </a:solidFill>
          <a:ln/>
        </p:spPr>
      </p:sp>
      <p:sp>
        <p:nvSpPr>
          <p:cNvPr id="102" name="Text 100"/>
          <p:cNvSpPr txBox="1"/>
          <p:nvPr/>
        </p:nvSpPr>
        <p:spPr>
          <a:xfrm>
            <a:off x="10405872"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7,749</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31352" y="3486134"/>
            <a:ext cx="157098" cy="120249"/>
          </a:xfrm>
          <a:prstGeom prst="rect">
            <a:avLst/>
          </a:prstGeom>
          <a:solidFill>
            <a:srgbClr val="2587C5"/>
          </a:solidFill>
          <a:ln/>
        </p:spPr>
      </p:sp>
      <p:sp>
        <p:nvSpPr>
          <p:cNvPr id="106" name="Text 104"/>
          <p:cNvSpPr txBox="1"/>
          <p:nvPr/>
        </p:nvSpPr>
        <p:spPr>
          <a:xfrm>
            <a:off x="10405872"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6,711</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9" name="Shape 107"/>
          <p:cNvSpPr/>
          <p:nvPr/>
        </p:nvSpPr>
        <p:spPr>
          <a:xfrm>
            <a:off x="8531352" y="3747545"/>
            <a:ext cx="152958" cy="120249"/>
          </a:xfrm>
          <a:prstGeom prst="rect">
            <a:avLst/>
          </a:prstGeom>
          <a:solidFill>
            <a:srgbClr val="2587C5"/>
          </a:solidFill>
          <a:ln/>
        </p:spPr>
      </p:sp>
      <p:sp>
        <p:nvSpPr>
          <p:cNvPr id="110" name="Text 108"/>
          <p:cNvSpPr txBox="1"/>
          <p:nvPr/>
        </p:nvSpPr>
        <p:spPr>
          <a:xfrm>
            <a:off x="10405872"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6,534</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3" name="Shape 111"/>
          <p:cNvSpPr/>
          <p:nvPr/>
        </p:nvSpPr>
        <p:spPr>
          <a:xfrm>
            <a:off x="8531352" y="4008956"/>
            <a:ext cx="145645" cy="120249"/>
          </a:xfrm>
          <a:prstGeom prst="rect">
            <a:avLst/>
          </a:prstGeom>
          <a:solidFill>
            <a:srgbClr val="2587C5"/>
          </a:solidFill>
          <a:ln/>
        </p:spPr>
      </p:sp>
      <p:sp>
        <p:nvSpPr>
          <p:cNvPr id="114" name="Text 112"/>
          <p:cNvSpPr txBox="1"/>
          <p:nvPr/>
        </p:nvSpPr>
        <p:spPr>
          <a:xfrm>
            <a:off x="10405872"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6,222</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7" name="Shape 115"/>
          <p:cNvSpPr/>
          <p:nvPr/>
        </p:nvSpPr>
        <p:spPr>
          <a:xfrm>
            <a:off x="8531352" y="4270366"/>
            <a:ext cx="142349" cy="120249"/>
          </a:xfrm>
          <a:prstGeom prst="rect">
            <a:avLst/>
          </a:prstGeom>
          <a:solidFill>
            <a:srgbClr val="2587C5"/>
          </a:solidFill>
          <a:ln/>
        </p:spPr>
      </p:sp>
      <p:sp>
        <p:nvSpPr>
          <p:cNvPr id="118" name="Text 116"/>
          <p:cNvSpPr txBox="1"/>
          <p:nvPr/>
        </p:nvSpPr>
        <p:spPr>
          <a:xfrm>
            <a:off x="10405872"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6,081</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31352" y="4531777"/>
            <a:ext cx="122032" cy="120249"/>
          </a:xfrm>
          <a:prstGeom prst="rect">
            <a:avLst/>
          </a:prstGeom>
          <a:solidFill>
            <a:srgbClr val="2587C5"/>
          </a:solidFill>
          <a:ln/>
        </p:spPr>
      </p:sp>
      <p:sp>
        <p:nvSpPr>
          <p:cNvPr id="122" name="Text 120"/>
          <p:cNvSpPr txBox="1"/>
          <p:nvPr/>
        </p:nvSpPr>
        <p:spPr>
          <a:xfrm>
            <a:off x="10405872"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5,213</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31352" y="4793188"/>
            <a:ext cx="118093" cy="120249"/>
          </a:xfrm>
          <a:prstGeom prst="rect">
            <a:avLst/>
          </a:prstGeom>
          <a:solidFill>
            <a:srgbClr val="2587C5"/>
          </a:solidFill>
          <a:ln/>
        </p:spPr>
      </p:sp>
      <p:sp>
        <p:nvSpPr>
          <p:cNvPr id="126" name="Text 124"/>
          <p:cNvSpPr txBox="1"/>
          <p:nvPr/>
        </p:nvSpPr>
        <p:spPr>
          <a:xfrm>
            <a:off x="10405872"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5,045</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5054599"/>
            <a:ext cx="115857" cy="120249"/>
          </a:xfrm>
          <a:prstGeom prst="rect">
            <a:avLst/>
          </a:prstGeom>
          <a:solidFill>
            <a:srgbClr val="2587C5"/>
          </a:solidFill>
          <a:ln/>
        </p:spPr>
      </p:sp>
      <p:sp>
        <p:nvSpPr>
          <p:cNvPr id="130" name="Text 128"/>
          <p:cNvSpPr txBox="1"/>
          <p:nvPr/>
        </p:nvSpPr>
        <p:spPr>
          <a:xfrm>
            <a:off x="10405872"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4,949</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3" name="Shape 131"/>
          <p:cNvSpPr/>
          <p:nvPr/>
        </p:nvSpPr>
        <p:spPr>
          <a:xfrm>
            <a:off x="8531352" y="5316010"/>
            <a:ext cx="111992" cy="120249"/>
          </a:xfrm>
          <a:prstGeom prst="rect">
            <a:avLst/>
          </a:prstGeom>
          <a:solidFill>
            <a:srgbClr val="2587C5"/>
          </a:solidFill>
          <a:ln/>
        </p:spPr>
      </p:sp>
      <p:sp>
        <p:nvSpPr>
          <p:cNvPr id="134" name="Text 132"/>
          <p:cNvSpPr txBox="1"/>
          <p:nvPr/>
        </p:nvSpPr>
        <p:spPr>
          <a:xfrm>
            <a:off x="10405872"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4,784</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577420"/>
            <a:ext cx="76952" cy="120249"/>
          </a:xfrm>
          <a:prstGeom prst="rect">
            <a:avLst/>
          </a:prstGeom>
          <a:solidFill>
            <a:srgbClr val="2587C5"/>
          </a:solidFill>
          <a:ln/>
        </p:spPr>
      </p:sp>
      <p:sp>
        <p:nvSpPr>
          <p:cNvPr id="138" name="Text 136"/>
          <p:cNvSpPr txBox="1"/>
          <p:nvPr/>
        </p:nvSpPr>
        <p:spPr>
          <a:xfrm>
            <a:off x="10405872"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3,287</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838831"/>
            <a:ext cx="76698" cy="120249"/>
          </a:xfrm>
          <a:prstGeom prst="rect">
            <a:avLst/>
          </a:prstGeom>
          <a:solidFill>
            <a:srgbClr val="2587C5"/>
          </a:solidFill>
          <a:ln/>
        </p:spPr>
      </p:sp>
      <p:sp>
        <p:nvSpPr>
          <p:cNvPr id="142" name="Text 140"/>
          <p:cNvSpPr txBox="1"/>
          <p:nvPr/>
        </p:nvSpPr>
        <p:spPr>
          <a:xfrm>
            <a:off x="10405872"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3,276</a:t>
            </a:r>
            <a:endParaRPr lang="en-US" sz="1200" dirty="0"/>
          </a:p>
        </p:txBody>
      </p:sp>
      <p:sp>
        <p:nvSpPr>
          <p:cNvPr id="143" name="Shape 141"/>
          <p:cNvSpPr/>
          <p:nvPr/>
        </p:nvSpPr>
        <p:spPr>
          <a:xfrm>
            <a:off x="6085332" y="1847088"/>
            <a:ext cx="10973" cy="4443984"/>
          </a:xfrm>
          <a:prstGeom prst="rect">
            <a:avLst/>
          </a:prstGeom>
          <a:solidFill>
            <a:srgbClr val="D9D9D9"/>
          </a:solidFill>
          <a:ln/>
        </p:spPr>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CUSTOMER PAY HOURS SOLD</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+44.6%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 name="Shape 15"/>
          <p:cNvSpPr/>
          <p:nvPr/>
        </p:nvSpPr>
        <p:spPr>
          <a:xfrm>
            <a:off x="3785616" y="2151755"/>
            <a:ext cx="60874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+35.0%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1" name="Shape 19"/>
          <p:cNvSpPr/>
          <p:nvPr/>
        </p:nvSpPr>
        <p:spPr>
          <a:xfrm>
            <a:off x="3785616" y="2391651"/>
            <a:ext cx="58986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5" name="Shape 23"/>
          <p:cNvSpPr/>
          <p:nvPr/>
        </p:nvSpPr>
        <p:spPr>
          <a:xfrm>
            <a:off x="3785616" y="2631546"/>
            <a:ext cx="502608"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9" name="Shape 27"/>
          <p:cNvSpPr/>
          <p:nvPr/>
        </p:nvSpPr>
        <p:spPr>
          <a:xfrm>
            <a:off x="3785616" y="2871442"/>
            <a:ext cx="489520"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33" name="Shape 31"/>
          <p:cNvSpPr/>
          <p:nvPr/>
        </p:nvSpPr>
        <p:spPr>
          <a:xfrm>
            <a:off x="3785616" y="3111337"/>
            <a:ext cx="475887"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7" name="Shape 35"/>
          <p:cNvSpPr/>
          <p:nvPr/>
        </p:nvSpPr>
        <p:spPr>
          <a:xfrm>
            <a:off x="3785616" y="3351233"/>
            <a:ext cx="403394"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785616" y="3591128"/>
            <a:ext cx="320015"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5" name="Shape 43"/>
          <p:cNvSpPr/>
          <p:nvPr/>
        </p:nvSpPr>
        <p:spPr>
          <a:xfrm>
            <a:off x="3785616" y="3831024"/>
            <a:ext cx="319802"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9" name="Shape 47"/>
          <p:cNvSpPr/>
          <p:nvPr/>
        </p:nvSpPr>
        <p:spPr>
          <a:xfrm>
            <a:off x="3785616" y="4070920"/>
            <a:ext cx="304780"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3" name="Shape 51"/>
          <p:cNvSpPr/>
          <p:nvPr/>
        </p:nvSpPr>
        <p:spPr>
          <a:xfrm>
            <a:off x="3785616" y="4310815"/>
            <a:ext cx="214987"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7" name="Shape 55"/>
          <p:cNvSpPr/>
          <p:nvPr/>
        </p:nvSpPr>
        <p:spPr>
          <a:xfrm>
            <a:off x="3785616" y="4550711"/>
            <a:ext cx="207215"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3785616" y="4790606"/>
            <a:ext cx="187159"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5" name="Shape 63"/>
          <p:cNvSpPr/>
          <p:nvPr/>
        </p:nvSpPr>
        <p:spPr>
          <a:xfrm>
            <a:off x="3785616" y="5030502"/>
            <a:ext cx="172129"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11674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+6.7%</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785616" y="5510293"/>
            <a:ext cx="11668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3785616" y="5750188"/>
            <a:ext cx="11641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+6.7%</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1" name="Shape 79"/>
          <p:cNvSpPr/>
          <p:nvPr/>
        </p:nvSpPr>
        <p:spPr>
          <a:xfrm>
            <a:off x="9336024" y="1911860"/>
            <a:ext cx="106340"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5" name="Shape 83"/>
          <p:cNvSpPr/>
          <p:nvPr/>
        </p:nvSpPr>
        <p:spPr>
          <a:xfrm>
            <a:off x="9336024" y="2151755"/>
            <a:ext cx="9998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9" name="Shape 87"/>
          <p:cNvSpPr/>
          <p:nvPr/>
        </p:nvSpPr>
        <p:spPr>
          <a:xfrm>
            <a:off x="9336024" y="2391651"/>
            <a:ext cx="89045"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3" name="Shape 91"/>
          <p:cNvSpPr/>
          <p:nvPr/>
        </p:nvSpPr>
        <p:spPr>
          <a:xfrm>
            <a:off x="9336024" y="2631546"/>
            <a:ext cx="88806"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7" name="Shape 95"/>
          <p:cNvSpPr/>
          <p:nvPr/>
        </p:nvSpPr>
        <p:spPr>
          <a:xfrm>
            <a:off x="9336024" y="2871442"/>
            <a:ext cx="12802"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5" name="Shape 103"/>
          <p:cNvSpPr/>
          <p:nvPr/>
        </p:nvSpPr>
        <p:spPr>
          <a:xfrm>
            <a:off x="9306237" y="3351233"/>
            <a:ext cx="29787"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9291402" y="3591128"/>
            <a:ext cx="4462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3" name="Shape 111"/>
          <p:cNvSpPr/>
          <p:nvPr/>
        </p:nvSpPr>
        <p:spPr>
          <a:xfrm>
            <a:off x="9285327" y="3831024"/>
            <a:ext cx="50697"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7" name="Shape 115"/>
          <p:cNvSpPr/>
          <p:nvPr/>
        </p:nvSpPr>
        <p:spPr>
          <a:xfrm>
            <a:off x="9275488" y="4070920"/>
            <a:ext cx="60536"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−3.5%</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1" name="Shape 119"/>
          <p:cNvSpPr/>
          <p:nvPr/>
        </p:nvSpPr>
        <p:spPr>
          <a:xfrm>
            <a:off x="9233370" y="4310815"/>
            <a:ext cx="10265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−5.9%</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9206595" y="4550711"/>
            <a:ext cx="129429"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9193818" y="4790606"/>
            <a:ext cx="142206"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3" name="Shape 131"/>
          <p:cNvSpPr/>
          <p:nvPr/>
        </p:nvSpPr>
        <p:spPr>
          <a:xfrm>
            <a:off x="9153034" y="5030502"/>
            <a:ext cx="18299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7" name="Shape 135"/>
          <p:cNvSpPr/>
          <p:nvPr/>
        </p:nvSpPr>
        <p:spPr>
          <a:xfrm>
            <a:off x="9069849" y="5270397"/>
            <a:ext cx="26617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−15.3%</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892903" y="5510293"/>
            <a:ext cx="443121"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−25.4%</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sold more CP hours. 10 declined.</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8,827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12,766</a:t>
            </a:r>
            <a:endParaRPr lang="en-US" sz="1400" dirty="0"/>
          </a:p>
        </p:txBody>
      </p:sp>
      <p:sp>
        <p:nvSpPr>
          <p:cNvPr id="12" name="Text 10"/>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+44.6%</a:t>
            </a:r>
            <a:endParaRPr lang="en-US" sz="1600" dirty="0"/>
          </a:p>
        </p:txBody>
      </p:sp>
      <p:sp>
        <p:nvSpPr>
          <p:cNvPr id="13" name="Text 11"/>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9,453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12,757</a:t>
            </a:r>
            <a:endParaRPr lang="en-US" sz="1400" dirty="0"/>
          </a:p>
        </p:txBody>
      </p:sp>
      <p:sp>
        <p:nvSpPr>
          <p:cNvPr id="15" name="Text 13"/>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+35.0%</a:t>
            </a:r>
            <a:endParaRPr lang="en-US" sz="1600" dirty="0"/>
          </a:p>
        </p:txBody>
      </p:sp>
      <p:sp>
        <p:nvSpPr>
          <p:cNvPr id="16" name="Shape 14"/>
          <p:cNvSpPr/>
          <p:nvPr/>
        </p:nvSpPr>
        <p:spPr>
          <a:xfrm>
            <a:off x="658368" y="3760013"/>
            <a:ext cx="3489960" cy="828446"/>
          </a:xfrm>
          <a:prstGeom prst="rect">
            <a:avLst/>
          </a:prstGeom>
          <a:solidFill>
            <a:srgbClr val="F7F7F7"/>
          </a:solidFill>
          <a:ln/>
        </p:spPr>
      </p:sp>
      <p:sp>
        <p:nvSpPr>
          <p:cNvPr id="17" name="Shape 15"/>
          <p:cNvSpPr/>
          <p:nvPr/>
        </p:nvSpPr>
        <p:spPr>
          <a:xfrm>
            <a:off x="4084320" y="3796589"/>
            <a:ext cx="64008" cy="755294"/>
          </a:xfrm>
          <a:prstGeom prst="rect">
            <a:avLst/>
          </a:prstGeom>
          <a:solidFill>
            <a:srgbClr val="12A566"/>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5,045</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+33.9%</a:t>
            </a:r>
            <a:endParaRPr lang="en-US" sz="1600" dirty="0"/>
          </a:p>
        </p:txBody>
      </p:sp>
      <p:sp>
        <p:nvSpPr>
          <p:cNvPr id="21" name="Text 19"/>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6,328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8,154</a:t>
            </a:r>
            <a:endParaRPr lang="en-US" sz="1400" dirty="0"/>
          </a:p>
        </p:txBody>
      </p:sp>
      <p:sp>
        <p:nvSpPr>
          <p:cNvPr id="23" name="Text 21"/>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+28.9%</a:t>
            </a:r>
            <a:endParaRPr lang="en-US" sz="1600" dirty="0"/>
          </a:p>
        </p:txBody>
      </p:sp>
      <p:sp>
        <p:nvSpPr>
          <p:cNvPr id="24" name="Shape 22"/>
          <p:cNvSpPr/>
          <p:nvPr/>
        </p:nvSpPr>
        <p:spPr>
          <a:xfrm>
            <a:off x="658368" y="5416906"/>
            <a:ext cx="3489960" cy="828446"/>
          </a:xfrm>
          <a:prstGeom prst="rect">
            <a:avLst/>
          </a:prstGeom>
          <a:solidFill>
            <a:srgbClr val="F7F7F7"/>
          </a:solidFill>
          <a:ln/>
        </p:spPr>
      </p:sp>
      <p:sp>
        <p:nvSpPr>
          <p:cNvPr id="25" name="Text 23"/>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2,566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3,287</a:t>
            </a:r>
            <a:endParaRPr lang="en-US" sz="1400" dirty="0"/>
          </a:p>
        </p:txBody>
      </p:sp>
      <p:sp>
        <p:nvSpPr>
          <p:cNvPr id="27" name="Text 25"/>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+28.1%</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828446"/>
          </a:xfrm>
          <a:prstGeom prst="rect">
            <a:avLst/>
          </a:prstGeom>
          <a:solidFill>
            <a:srgbClr val="F7F7F7"/>
          </a:solidFill>
          <a:ln/>
        </p:spPr>
      </p:sp>
      <p:sp>
        <p:nvSpPr>
          <p:cNvPr id="32" name="Text 30"/>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4,394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3,276</a:t>
            </a:r>
            <a:endParaRPr lang="en-US" sz="1400" dirty="0"/>
          </a:p>
        </p:txBody>
      </p:sp>
      <p:sp>
        <p:nvSpPr>
          <p:cNvPr id="34" name="Text 32"/>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−25.4%</a:t>
            </a:r>
            <a:endParaRPr lang="en-US" sz="1600" dirty="0"/>
          </a:p>
        </p:txBody>
      </p:sp>
      <p:sp>
        <p:nvSpPr>
          <p:cNvPr id="35" name="Text 33"/>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12,611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10,684</a:t>
            </a:r>
            <a:endParaRPr lang="en-US" sz="1400" dirty="0"/>
          </a:p>
        </p:txBody>
      </p:sp>
      <p:sp>
        <p:nvSpPr>
          <p:cNvPr id="37" name="Text 35"/>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−15.3%</a:t>
            </a:r>
            <a:endParaRPr lang="en-US" sz="1600" dirty="0"/>
          </a:p>
        </p:txBody>
      </p:sp>
      <p:sp>
        <p:nvSpPr>
          <p:cNvPr id="38" name="Shape 36"/>
          <p:cNvSpPr/>
          <p:nvPr/>
        </p:nvSpPr>
        <p:spPr>
          <a:xfrm>
            <a:off x="4349496" y="3760013"/>
            <a:ext cx="3489960" cy="828446"/>
          </a:xfrm>
          <a:prstGeom prst="rect">
            <a:avLst/>
          </a:prstGeom>
          <a:solidFill>
            <a:srgbClr val="F7F7F7"/>
          </a:solidFill>
          <a:ln/>
        </p:spPr>
      </p:sp>
      <p:sp>
        <p:nvSpPr>
          <p:cNvPr id="39" name="Text 37"/>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8,659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7,749</a:t>
            </a:r>
            <a:endParaRPr lang="en-US" sz="1400" dirty="0"/>
          </a:p>
        </p:txBody>
      </p:sp>
      <p:sp>
        <p:nvSpPr>
          <p:cNvPr id="41" name="Text 39"/>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−10.5%</a:t>
            </a:r>
            <a:endParaRPr lang="en-US" sz="1600" dirty="0"/>
          </a:p>
        </p:txBody>
      </p:sp>
      <p:sp>
        <p:nvSpPr>
          <p:cNvPr id="42" name="Text 40"/>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19,520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17,926</a:t>
            </a:r>
            <a:endParaRPr lang="en-US" sz="1400" dirty="0"/>
          </a:p>
        </p:txBody>
      </p:sp>
      <p:sp>
        <p:nvSpPr>
          <p:cNvPr id="44" name="Text 42"/>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−8.2%</a:t>
            </a:r>
            <a:endParaRPr lang="en-US" sz="1600" dirty="0"/>
          </a:p>
        </p:txBody>
      </p:sp>
      <p:sp>
        <p:nvSpPr>
          <p:cNvPr id="45" name="Shape 43"/>
          <p:cNvSpPr/>
          <p:nvPr/>
        </p:nvSpPr>
        <p:spPr>
          <a:xfrm>
            <a:off x="4349496" y="5416906"/>
            <a:ext cx="3489960" cy="828446"/>
          </a:xfrm>
          <a:prstGeom prst="rect">
            <a:avLst/>
          </a:prstGeom>
          <a:solidFill>
            <a:srgbClr val="F7F7F7"/>
          </a:solidFill>
          <a:ln/>
        </p:spPr>
      </p:sp>
      <p:sp>
        <p:nvSpPr>
          <p:cNvPr id="46" name="Text 44"/>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48,486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44,883</a:t>
            </a:r>
            <a:endParaRPr lang="en-US" sz="1400" dirty="0"/>
          </a:p>
        </p:txBody>
      </p:sp>
      <p:sp>
        <p:nvSpPr>
          <p:cNvPr id="48" name="Text 46"/>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−7.4%</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2" name="Shape 50"/>
          <p:cNvSpPr/>
          <p:nvPr/>
        </p:nvSpPr>
        <p:spPr>
          <a:xfrm>
            <a:off x="8040624" y="2103120"/>
            <a:ext cx="3489960" cy="828446"/>
          </a:xfrm>
          <a:prstGeom prst="rect">
            <a:avLst/>
          </a:prstGeom>
          <a:solidFill>
            <a:srgbClr val="F7F7F7"/>
          </a:solidFill>
          <a:ln/>
        </p:spPr>
      </p:sp>
      <p:sp>
        <p:nvSpPr>
          <p:cNvPr id="53" name="Text 51"/>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1,102</a:t>
            </a:r>
            <a:endParaRPr lang="en-US" sz="1400" dirty="0"/>
          </a:p>
        </p:txBody>
      </p:sp>
      <p:sp>
        <p:nvSpPr>
          <p:cNvPr id="55" name="Text 53"/>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+41.5%</a:t>
            </a:r>
            <a:endParaRPr lang="en-US" sz="1600" dirty="0"/>
          </a:p>
        </p:txBody>
      </p:sp>
      <p:sp>
        <p:nvSpPr>
          <p:cNvPr id="56" name="Text 54"/>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7" name="Text 55"/>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1,193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1,537</a:t>
            </a:r>
            <a:endParaRPr lang="en-US" sz="1400" dirty="0"/>
          </a:p>
        </p:txBody>
      </p:sp>
      <p:sp>
        <p:nvSpPr>
          <p:cNvPr id="58" name="Text 56"/>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+28.8%</a:t>
            </a:r>
            <a:endParaRPr lang="en-US" sz="1600" dirty="0"/>
          </a:p>
        </p:txBody>
      </p:sp>
      <p:sp>
        <p:nvSpPr>
          <p:cNvPr id="59" name="Shape 57"/>
          <p:cNvSpPr/>
          <p:nvPr/>
        </p:nvSpPr>
        <p:spPr>
          <a:xfrm>
            <a:off x="8040624" y="3760013"/>
            <a:ext cx="3489960" cy="828446"/>
          </a:xfrm>
          <a:prstGeom prst="rect">
            <a:avLst/>
          </a:prstGeom>
          <a:solidFill>
            <a:srgbClr val="F7F7F7"/>
          </a:solidFill>
          <a:ln/>
        </p:spPr>
      </p:sp>
      <p:sp>
        <p:nvSpPr>
          <p:cNvPr id="60" name="Text 58"/>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1" name="Text 59"/>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1,146</a:t>
            </a:r>
            <a:endParaRPr lang="en-US" sz="1400" dirty="0"/>
          </a:p>
        </p:txBody>
      </p:sp>
      <p:sp>
        <p:nvSpPr>
          <p:cNvPr id="62" name="Text 60"/>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+24.3%</a:t>
            </a:r>
            <a:endParaRPr lang="en-US" sz="1600" dirty="0"/>
          </a:p>
        </p:txBody>
      </p:sp>
      <p:sp>
        <p:nvSpPr>
          <p:cNvPr id="63" name="Text 61"/>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4" name="Text 62"/>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1,367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1,692</a:t>
            </a:r>
            <a:endParaRPr lang="en-US" sz="1400" dirty="0"/>
          </a:p>
        </p:txBody>
      </p:sp>
      <p:sp>
        <p:nvSpPr>
          <p:cNvPr id="65" name="Text 63"/>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+23.8%</a:t>
            </a:r>
            <a:endParaRPr lang="en-US" sz="1600" dirty="0"/>
          </a:p>
        </p:txBody>
      </p:sp>
      <p:sp>
        <p:nvSpPr>
          <p:cNvPr id="66" name="Shape 64"/>
          <p:cNvSpPr/>
          <p:nvPr/>
        </p:nvSpPr>
        <p:spPr>
          <a:xfrm>
            <a:off x="8040624" y="5416906"/>
            <a:ext cx="3489960" cy="828446"/>
          </a:xfrm>
          <a:prstGeom prst="rect">
            <a:avLst/>
          </a:prstGeom>
          <a:solidFill>
            <a:srgbClr val="F7F7F7"/>
          </a:solidFill>
          <a:ln/>
        </p:spPr>
      </p:sp>
      <p:sp>
        <p:nvSpPr>
          <p:cNvPr id="67" name="Shape 65"/>
          <p:cNvSpPr/>
          <p:nvPr/>
        </p:nvSpPr>
        <p:spPr>
          <a:xfrm>
            <a:off x="11466576" y="5453482"/>
            <a:ext cx="64008" cy="755294"/>
          </a:xfrm>
          <a:prstGeom prst="rect">
            <a:avLst/>
          </a:prstGeom>
          <a:solidFill>
            <a:srgbClr val="12A566"/>
          </a:solidFill>
          <a:ln/>
        </p:spPr>
      </p:sp>
      <p:sp>
        <p:nvSpPr>
          <p:cNvPr id="68" name="Text 66"/>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634</a:t>
            </a:r>
            <a:endParaRPr lang="en-US" sz="1400" dirty="0"/>
          </a:p>
        </p:txBody>
      </p:sp>
      <p:sp>
        <p:nvSpPr>
          <p:cNvPr id="70" name="Text 68"/>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+23.1%</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One More CP RO a Day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575304"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398264"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ROs/day</a:t>
            </a:r>
            <a:endParaRPr lang="en-US" sz="1400" dirty="0"/>
          </a:p>
        </p:txBody>
      </p:sp>
      <p:sp>
        <p:nvSpPr>
          <p:cNvPr id="8" name="Text 6"/>
          <p:cNvSpPr txBox="1"/>
          <p:nvPr/>
        </p:nvSpPr>
        <p:spPr>
          <a:xfrm>
            <a:off x="5184648"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RO</a:t>
            </a:r>
            <a:endParaRPr lang="en-US" sz="1400" dirty="0"/>
          </a:p>
        </p:txBody>
      </p:sp>
      <p:sp>
        <p:nvSpPr>
          <p:cNvPr id="9" name="Text 7"/>
          <p:cNvSpPr txBox="1"/>
          <p:nvPr/>
        </p:nvSpPr>
        <p:spPr>
          <a:xfrm>
            <a:off x="9125712"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4867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ROs/day</a:t>
            </a:r>
            <a:endParaRPr lang="en-US" sz="1400" dirty="0"/>
          </a:p>
        </p:txBody>
      </p:sp>
      <p:sp>
        <p:nvSpPr>
          <p:cNvPr id="11" name="Text 9"/>
          <p:cNvSpPr txBox="1"/>
          <p:nvPr/>
        </p:nvSpPr>
        <p:spPr>
          <a:xfrm>
            <a:off x="10735056"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RO</a:t>
            </a:r>
            <a:endParaRPr lang="en-US" sz="1400" dirty="0"/>
          </a:p>
        </p:txBody>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4" name="Shape 12"/>
          <p:cNvSpPr/>
          <p:nvPr/>
        </p:nvSpPr>
        <p:spPr>
          <a:xfrm>
            <a:off x="2871216" y="1756697"/>
            <a:ext cx="649224" cy="136676"/>
          </a:xfrm>
          <a:prstGeom prst="rect">
            <a:avLst/>
          </a:prstGeom>
          <a:solidFill>
            <a:srgbClr val="2587C5"/>
          </a:solidFill>
          <a:ln/>
        </p:spPr>
      </p:sp>
      <p:sp>
        <p:nvSpPr>
          <p:cNvPr id="15" name="Text 13"/>
          <p:cNvSpPr txBox="1"/>
          <p:nvPr/>
        </p:nvSpPr>
        <p:spPr>
          <a:xfrm>
            <a:off x="3575304" y="170078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$358K</a:t>
            </a:r>
            <a:endParaRPr lang="en-US" sz="1300" dirty="0"/>
          </a:p>
        </p:txBody>
      </p:sp>
      <p:sp>
        <p:nvSpPr>
          <p:cNvPr id="16" name="Text 14"/>
          <p:cNvSpPr txBox="1"/>
          <p:nvPr/>
        </p:nvSpPr>
        <p:spPr>
          <a:xfrm>
            <a:off x="4398264" y="170078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17" name="Text 15"/>
          <p:cNvSpPr txBox="1"/>
          <p:nvPr/>
        </p:nvSpPr>
        <p:spPr>
          <a:xfrm>
            <a:off x="5184648" y="170078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$1,168</a:t>
            </a:r>
            <a:endParaRPr lang="en-US" sz="1300" dirty="0"/>
          </a:p>
        </p:txBody>
      </p:sp>
      <p:sp>
        <p:nvSpPr>
          <p:cNvPr id="18" name="Text 16"/>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0" name="Shape 18"/>
          <p:cNvSpPr/>
          <p:nvPr/>
        </p:nvSpPr>
        <p:spPr>
          <a:xfrm>
            <a:off x="2871216" y="2005199"/>
            <a:ext cx="634920" cy="136676"/>
          </a:xfrm>
          <a:prstGeom prst="rect">
            <a:avLst/>
          </a:prstGeom>
          <a:solidFill>
            <a:srgbClr val="2587C5"/>
          </a:solidFill>
          <a:ln/>
        </p:spPr>
      </p:sp>
      <p:sp>
        <p:nvSpPr>
          <p:cNvPr id="21" name="Text 19"/>
          <p:cNvSpPr txBox="1"/>
          <p:nvPr/>
        </p:nvSpPr>
        <p:spPr>
          <a:xfrm>
            <a:off x="3575304" y="194928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$351K</a:t>
            </a:r>
            <a:endParaRPr lang="en-US" sz="1300" dirty="0"/>
          </a:p>
        </p:txBody>
      </p:sp>
      <p:sp>
        <p:nvSpPr>
          <p:cNvPr id="22" name="Text 20"/>
          <p:cNvSpPr txBox="1"/>
          <p:nvPr/>
        </p:nvSpPr>
        <p:spPr>
          <a:xfrm>
            <a:off x="4398264" y="194928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23" name="Text 21"/>
          <p:cNvSpPr txBox="1"/>
          <p:nvPr/>
        </p:nvSpPr>
        <p:spPr>
          <a:xfrm>
            <a:off x="5184648" y="194928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$1,142</a:t>
            </a:r>
            <a:endParaRPr lang="en-US" sz="1300" dirty="0"/>
          </a:p>
        </p:txBody>
      </p:sp>
      <p:sp>
        <p:nvSpPr>
          <p:cNvPr id="24" name="Text 22"/>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6" name="Shape 24"/>
          <p:cNvSpPr/>
          <p:nvPr/>
        </p:nvSpPr>
        <p:spPr>
          <a:xfrm>
            <a:off x="2871216" y="2253700"/>
            <a:ext cx="585174" cy="136676"/>
          </a:xfrm>
          <a:prstGeom prst="rect">
            <a:avLst/>
          </a:prstGeom>
          <a:solidFill>
            <a:srgbClr val="2587C5"/>
          </a:solidFill>
          <a:ln/>
        </p:spPr>
      </p:sp>
      <p:sp>
        <p:nvSpPr>
          <p:cNvPr id="27" name="Text 25"/>
          <p:cNvSpPr txBox="1"/>
          <p:nvPr/>
        </p:nvSpPr>
        <p:spPr>
          <a:xfrm>
            <a:off x="3575304" y="219778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$323K</a:t>
            </a:r>
            <a:endParaRPr lang="en-US" sz="1300" dirty="0"/>
          </a:p>
        </p:txBody>
      </p:sp>
      <p:sp>
        <p:nvSpPr>
          <p:cNvPr id="28" name="Text 26"/>
          <p:cNvSpPr txBox="1"/>
          <p:nvPr/>
        </p:nvSpPr>
        <p:spPr>
          <a:xfrm>
            <a:off x="4398264" y="219778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29" name="Text 27"/>
          <p:cNvSpPr txBox="1"/>
          <p:nvPr/>
        </p:nvSpPr>
        <p:spPr>
          <a:xfrm>
            <a:off x="5184648" y="219778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$1,052</a:t>
            </a:r>
            <a:endParaRPr lang="en-US" sz="1300" dirty="0"/>
          </a:p>
        </p:txBody>
      </p:sp>
      <p:sp>
        <p:nvSpPr>
          <p:cNvPr id="30" name="Text 2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2" name="Shape 30"/>
          <p:cNvSpPr/>
          <p:nvPr/>
        </p:nvSpPr>
        <p:spPr>
          <a:xfrm>
            <a:off x="2871216" y="2502202"/>
            <a:ext cx="572532" cy="136676"/>
          </a:xfrm>
          <a:prstGeom prst="rect">
            <a:avLst/>
          </a:prstGeom>
          <a:solidFill>
            <a:srgbClr val="2587C5"/>
          </a:solidFill>
          <a:ln/>
        </p:spPr>
      </p:sp>
      <p:sp>
        <p:nvSpPr>
          <p:cNvPr id="33" name="Text 31"/>
          <p:cNvSpPr txBox="1"/>
          <p:nvPr/>
        </p:nvSpPr>
        <p:spPr>
          <a:xfrm>
            <a:off x="3575304" y="244628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$316K</a:t>
            </a:r>
            <a:endParaRPr lang="en-US" sz="1300" dirty="0"/>
          </a:p>
        </p:txBody>
      </p:sp>
      <p:sp>
        <p:nvSpPr>
          <p:cNvPr id="34" name="Text 32"/>
          <p:cNvSpPr txBox="1"/>
          <p:nvPr/>
        </p:nvSpPr>
        <p:spPr>
          <a:xfrm>
            <a:off x="4398264" y="244628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35" name="Text 33"/>
          <p:cNvSpPr txBox="1"/>
          <p:nvPr/>
        </p:nvSpPr>
        <p:spPr>
          <a:xfrm>
            <a:off x="5184648" y="244628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$1,030</a:t>
            </a:r>
            <a:endParaRPr lang="en-US" sz="1300" dirty="0"/>
          </a:p>
        </p:txBody>
      </p:sp>
      <p:sp>
        <p:nvSpPr>
          <p:cNvPr id="36" name="Text 34"/>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8" name="Shape 36"/>
          <p:cNvSpPr/>
          <p:nvPr/>
        </p:nvSpPr>
        <p:spPr>
          <a:xfrm>
            <a:off x="2871216" y="2750703"/>
            <a:ext cx="411641" cy="136676"/>
          </a:xfrm>
          <a:prstGeom prst="rect">
            <a:avLst/>
          </a:prstGeom>
          <a:solidFill>
            <a:srgbClr val="2587C5"/>
          </a:solidFill>
          <a:ln/>
        </p:spPr>
      </p:sp>
      <p:sp>
        <p:nvSpPr>
          <p:cNvPr id="39" name="Text 37"/>
          <p:cNvSpPr txBox="1"/>
          <p:nvPr/>
        </p:nvSpPr>
        <p:spPr>
          <a:xfrm>
            <a:off x="3575304" y="2694791"/>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$227K</a:t>
            </a:r>
            <a:endParaRPr lang="en-US" sz="1300" dirty="0"/>
          </a:p>
        </p:txBody>
      </p:sp>
      <p:sp>
        <p:nvSpPr>
          <p:cNvPr id="40" name="Text 38"/>
          <p:cNvSpPr txBox="1"/>
          <p:nvPr/>
        </p:nvSpPr>
        <p:spPr>
          <a:xfrm>
            <a:off x="4398264" y="2694791"/>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41" name="Text 39"/>
          <p:cNvSpPr txBox="1"/>
          <p:nvPr/>
        </p:nvSpPr>
        <p:spPr>
          <a:xfrm>
            <a:off x="5184648" y="2694791"/>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$740</a:t>
            </a:r>
            <a:endParaRPr lang="en-US" sz="1300" dirty="0"/>
          </a:p>
        </p:txBody>
      </p:sp>
      <p:sp>
        <p:nvSpPr>
          <p:cNvPr id="42" name="Text 40"/>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4" name="Shape 42"/>
          <p:cNvSpPr/>
          <p:nvPr/>
        </p:nvSpPr>
        <p:spPr>
          <a:xfrm>
            <a:off x="2871216" y="2999205"/>
            <a:ext cx="368295" cy="136676"/>
          </a:xfrm>
          <a:prstGeom prst="rect">
            <a:avLst/>
          </a:prstGeom>
          <a:solidFill>
            <a:srgbClr val="2587C5"/>
          </a:solidFill>
          <a:ln/>
        </p:spPr>
      </p:sp>
      <p:sp>
        <p:nvSpPr>
          <p:cNvPr id="45" name="Text 43"/>
          <p:cNvSpPr txBox="1"/>
          <p:nvPr/>
        </p:nvSpPr>
        <p:spPr>
          <a:xfrm>
            <a:off x="3575304" y="294329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$203K</a:t>
            </a:r>
            <a:endParaRPr lang="en-US" sz="1300" dirty="0"/>
          </a:p>
        </p:txBody>
      </p:sp>
      <p:sp>
        <p:nvSpPr>
          <p:cNvPr id="46" name="Text 44"/>
          <p:cNvSpPr txBox="1"/>
          <p:nvPr/>
        </p:nvSpPr>
        <p:spPr>
          <a:xfrm>
            <a:off x="4398264" y="294329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47" name="Text 45"/>
          <p:cNvSpPr txBox="1"/>
          <p:nvPr/>
        </p:nvSpPr>
        <p:spPr>
          <a:xfrm>
            <a:off x="5184648" y="294329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$662</a:t>
            </a:r>
            <a:endParaRPr lang="en-US" sz="1300" dirty="0"/>
          </a:p>
        </p:txBody>
      </p:sp>
      <p:sp>
        <p:nvSpPr>
          <p:cNvPr id="48" name="Text 46"/>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0" name="Shape 48"/>
          <p:cNvSpPr/>
          <p:nvPr/>
        </p:nvSpPr>
        <p:spPr>
          <a:xfrm>
            <a:off x="2871216" y="3247707"/>
            <a:ext cx="282773" cy="136676"/>
          </a:xfrm>
          <a:prstGeom prst="rect">
            <a:avLst/>
          </a:prstGeom>
          <a:solidFill>
            <a:srgbClr val="2587C5"/>
          </a:solidFill>
          <a:ln/>
        </p:spPr>
      </p:sp>
      <p:sp>
        <p:nvSpPr>
          <p:cNvPr id="51" name="Text 49"/>
          <p:cNvSpPr txBox="1"/>
          <p:nvPr/>
        </p:nvSpPr>
        <p:spPr>
          <a:xfrm>
            <a:off x="3575304" y="319179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$156K</a:t>
            </a:r>
            <a:endParaRPr lang="en-US" sz="1300" dirty="0"/>
          </a:p>
        </p:txBody>
      </p:sp>
      <p:sp>
        <p:nvSpPr>
          <p:cNvPr id="52" name="Text 50"/>
          <p:cNvSpPr txBox="1"/>
          <p:nvPr/>
        </p:nvSpPr>
        <p:spPr>
          <a:xfrm>
            <a:off x="4398264" y="319179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53" name="Text 51"/>
          <p:cNvSpPr txBox="1"/>
          <p:nvPr/>
        </p:nvSpPr>
        <p:spPr>
          <a:xfrm>
            <a:off x="5184648" y="319179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$509</a:t>
            </a:r>
            <a:endParaRPr lang="en-US" sz="1300" dirty="0"/>
          </a:p>
        </p:txBody>
      </p:sp>
      <p:sp>
        <p:nvSpPr>
          <p:cNvPr id="54" name="Text 52"/>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56" name="Shape 54"/>
          <p:cNvSpPr/>
          <p:nvPr/>
        </p:nvSpPr>
        <p:spPr>
          <a:xfrm>
            <a:off x="2871216" y="3496208"/>
            <a:ext cx="267139" cy="136676"/>
          </a:xfrm>
          <a:prstGeom prst="rect">
            <a:avLst/>
          </a:prstGeom>
          <a:solidFill>
            <a:srgbClr val="2587C5"/>
          </a:solidFill>
          <a:ln/>
        </p:spPr>
      </p:sp>
      <p:sp>
        <p:nvSpPr>
          <p:cNvPr id="57" name="Text 55"/>
          <p:cNvSpPr txBox="1"/>
          <p:nvPr/>
        </p:nvSpPr>
        <p:spPr>
          <a:xfrm>
            <a:off x="3575304" y="344029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$148K</a:t>
            </a:r>
            <a:endParaRPr lang="en-US" sz="1300" dirty="0"/>
          </a:p>
        </p:txBody>
      </p:sp>
      <p:sp>
        <p:nvSpPr>
          <p:cNvPr id="58" name="Text 56"/>
          <p:cNvSpPr txBox="1"/>
          <p:nvPr/>
        </p:nvSpPr>
        <p:spPr>
          <a:xfrm>
            <a:off x="4398264" y="344029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59" name="Text 57"/>
          <p:cNvSpPr txBox="1"/>
          <p:nvPr/>
        </p:nvSpPr>
        <p:spPr>
          <a:xfrm>
            <a:off x="5184648" y="344029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$480</a:t>
            </a:r>
            <a:endParaRPr lang="en-US" sz="1300" dirty="0"/>
          </a:p>
        </p:txBody>
      </p:sp>
      <p:sp>
        <p:nvSpPr>
          <p:cNvPr id="60" name="Text 5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2" name="Shape 60"/>
          <p:cNvSpPr/>
          <p:nvPr/>
        </p:nvSpPr>
        <p:spPr>
          <a:xfrm>
            <a:off x="2871216" y="3744710"/>
            <a:ext cx="255684" cy="136676"/>
          </a:xfrm>
          <a:prstGeom prst="rect">
            <a:avLst/>
          </a:prstGeom>
          <a:solidFill>
            <a:srgbClr val="2587C5"/>
          </a:solidFill>
          <a:ln/>
        </p:spPr>
      </p:sp>
      <p:sp>
        <p:nvSpPr>
          <p:cNvPr id="63" name="Text 61"/>
          <p:cNvSpPr txBox="1"/>
          <p:nvPr/>
        </p:nvSpPr>
        <p:spPr>
          <a:xfrm>
            <a:off x="3575304" y="368879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$141K</a:t>
            </a:r>
            <a:endParaRPr lang="en-US" sz="1300" dirty="0"/>
          </a:p>
        </p:txBody>
      </p:sp>
      <p:sp>
        <p:nvSpPr>
          <p:cNvPr id="64" name="Text 62"/>
          <p:cNvSpPr txBox="1"/>
          <p:nvPr/>
        </p:nvSpPr>
        <p:spPr>
          <a:xfrm>
            <a:off x="4398264" y="368879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65" name="Text 63"/>
          <p:cNvSpPr txBox="1"/>
          <p:nvPr/>
        </p:nvSpPr>
        <p:spPr>
          <a:xfrm>
            <a:off x="5184648" y="368879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$460</a:t>
            </a:r>
            <a:endParaRPr lang="en-US" sz="1300" dirty="0"/>
          </a:p>
        </p:txBody>
      </p:sp>
      <p:sp>
        <p:nvSpPr>
          <p:cNvPr id="66" name="Text 64"/>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8" name="Shape 66"/>
          <p:cNvSpPr/>
          <p:nvPr/>
        </p:nvSpPr>
        <p:spPr>
          <a:xfrm>
            <a:off x="2871216" y="3993212"/>
            <a:ext cx="238260" cy="136676"/>
          </a:xfrm>
          <a:prstGeom prst="rect">
            <a:avLst/>
          </a:prstGeom>
          <a:solidFill>
            <a:srgbClr val="2587C5"/>
          </a:solidFill>
          <a:ln/>
        </p:spPr>
      </p:sp>
      <p:sp>
        <p:nvSpPr>
          <p:cNvPr id="69" name="Text 67"/>
          <p:cNvSpPr txBox="1"/>
          <p:nvPr/>
        </p:nvSpPr>
        <p:spPr>
          <a:xfrm>
            <a:off x="3575304" y="393729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$132K</a:t>
            </a:r>
            <a:endParaRPr lang="en-US" sz="1300" dirty="0"/>
          </a:p>
        </p:txBody>
      </p:sp>
      <p:sp>
        <p:nvSpPr>
          <p:cNvPr id="70" name="Text 68"/>
          <p:cNvSpPr txBox="1"/>
          <p:nvPr/>
        </p:nvSpPr>
        <p:spPr>
          <a:xfrm>
            <a:off x="4398264" y="393729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71" name="Text 69"/>
          <p:cNvSpPr txBox="1"/>
          <p:nvPr/>
        </p:nvSpPr>
        <p:spPr>
          <a:xfrm>
            <a:off x="5184648" y="393729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$429</a:t>
            </a:r>
            <a:endParaRPr lang="en-US" sz="1300" dirty="0"/>
          </a:p>
        </p:txBody>
      </p:sp>
      <p:sp>
        <p:nvSpPr>
          <p:cNvPr id="72" name="Text 7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4" name="Shape 72"/>
          <p:cNvSpPr/>
          <p:nvPr/>
        </p:nvSpPr>
        <p:spPr>
          <a:xfrm>
            <a:off x="2871216" y="4241713"/>
            <a:ext cx="225886" cy="136676"/>
          </a:xfrm>
          <a:prstGeom prst="rect">
            <a:avLst/>
          </a:prstGeom>
          <a:solidFill>
            <a:srgbClr val="2587C5"/>
          </a:solidFill>
          <a:ln/>
        </p:spPr>
      </p:sp>
      <p:sp>
        <p:nvSpPr>
          <p:cNvPr id="75" name="Text 73"/>
          <p:cNvSpPr txBox="1"/>
          <p:nvPr/>
        </p:nvSpPr>
        <p:spPr>
          <a:xfrm>
            <a:off x="3575304" y="4185800"/>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$125K</a:t>
            </a:r>
            <a:endParaRPr lang="en-US" sz="1300" dirty="0"/>
          </a:p>
        </p:txBody>
      </p:sp>
      <p:sp>
        <p:nvSpPr>
          <p:cNvPr id="76" name="Text 74"/>
          <p:cNvSpPr txBox="1"/>
          <p:nvPr/>
        </p:nvSpPr>
        <p:spPr>
          <a:xfrm>
            <a:off x="4398264" y="418580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77" name="Text 75"/>
          <p:cNvSpPr txBox="1"/>
          <p:nvPr/>
        </p:nvSpPr>
        <p:spPr>
          <a:xfrm>
            <a:off x="5184648" y="418580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$406</a:t>
            </a:r>
            <a:endParaRPr lang="en-US" sz="1300" dirty="0"/>
          </a:p>
        </p:txBody>
      </p:sp>
      <p:sp>
        <p:nvSpPr>
          <p:cNvPr id="78" name="Text 76"/>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0" name="Shape 78"/>
          <p:cNvSpPr/>
          <p:nvPr/>
        </p:nvSpPr>
        <p:spPr>
          <a:xfrm>
            <a:off x="2871216" y="4490215"/>
            <a:ext cx="222080" cy="136676"/>
          </a:xfrm>
          <a:prstGeom prst="rect">
            <a:avLst/>
          </a:prstGeom>
          <a:solidFill>
            <a:srgbClr val="2587C5"/>
          </a:solidFill>
          <a:ln/>
        </p:spPr>
      </p:sp>
      <p:sp>
        <p:nvSpPr>
          <p:cNvPr id="81" name="Text 79"/>
          <p:cNvSpPr txBox="1"/>
          <p:nvPr/>
        </p:nvSpPr>
        <p:spPr>
          <a:xfrm>
            <a:off x="3575304" y="443430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$123K</a:t>
            </a:r>
            <a:endParaRPr lang="en-US" sz="1300" dirty="0"/>
          </a:p>
        </p:txBody>
      </p:sp>
      <p:sp>
        <p:nvSpPr>
          <p:cNvPr id="82" name="Text 80"/>
          <p:cNvSpPr txBox="1"/>
          <p:nvPr/>
        </p:nvSpPr>
        <p:spPr>
          <a:xfrm>
            <a:off x="4398264" y="443430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83" name="Text 81"/>
          <p:cNvSpPr txBox="1"/>
          <p:nvPr/>
        </p:nvSpPr>
        <p:spPr>
          <a:xfrm>
            <a:off x="5184648" y="443430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$399</a:t>
            </a:r>
            <a:endParaRPr lang="en-US" sz="1300" dirty="0"/>
          </a:p>
        </p:txBody>
      </p:sp>
      <p:sp>
        <p:nvSpPr>
          <p:cNvPr id="84" name="Text 82"/>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6" name="Shape 84"/>
          <p:cNvSpPr/>
          <p:nvPr/>
        </p:nvSpPr>
        <p:spPr>
          <a:xfrm>
            <a:off x="2871216" y="4738717"/>
            <a:ext cx="201519" cy="136676"/>
          </a:xfrm>
          <a:prstGeom prst="rect">
            <a:avLst/>
          </a:prstGeom>
          <a:solidFill>
            <a:srgbClr val="2587C5"/>
          </a:solidFill>
          <a:ln/>
        </p:spPr>
      </p:sp>
      <p:sp>
        <p:nvSpPr>
          <p:cNvPr id="87" name="Text 85"/>
          <p:cNvSpPr txBox="1"/>
          <p:nvPr/>
        </p:nvSpPr>
        <p:spPr>
          <a:xfrm>
            <a:off x="3575304" y="468280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$111K</a:t>
            </a:r>
            <a:endParaRPr lang="en-US" sz="1300" dirty="0"/>
          </a:p>
        </p:txBody>
      </p:sp>
      <p:sp>
        <p:nvSpPr>
          <p:cNvPr id="88" name="Text 86"/>
          <p:cNvSpPr txBox="1"/>
          <p:nvPr/>
        </p:nvSpPr>
        <p:spPr>
          <a:xfrm>
            <a:off x="4398264" y="468280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85</a:t>
            </a:r>
            <a:endParaRPr lang="en-US" sz="1300" dirty="0"/>
          </a:p>
        </p:txBody>
      </p:sp>
      <p:sp>
        <p:nvSpPr>
          <p:cNvPr id="89" name="Text 87"/>
          <p:cNvSpPr txBox="1"/>
          <p:nvPr/>
        </p:nvSpPr>
        <p:spPr>
          <a:xfrm>
            <a:off x="5184648" y="468280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$362</a:t>
            </a:r>
            <a:endParaRPr lang="en-US" sz="1300" dirty="0"/>
          </a:p>
        </p:txBody>
      </p:sp>
      <p:sp>
        <p:nvSpPr>
          <p:cNvPr id="90" name="Text 8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2" name="Shape 90"/>
          <p:cNvSpPr/>
          <p:nvPr/>
        </p:nvSpPr>
        <p:spPr>
          <a:xfrm>
            <a:off x="2871216" y="4987218"/>
            <a:ext cx="198656" cy="136676"/>
          </a:xfrm>
          <a:prstGeom prst="rect">
            <a:avLst/>
          </a:prstGeom>
          <a:solidFill>
            <a:srgbClr val="2587C5"/>
          </a:solidFill>
          <a:ln/>
        </p:spPr>
      </p:sp>
      <p:sp>
        <p:nvSpPr>
          <p:cNvPr id="93" name="Text 91"/>
          <p:cNvSpPr txBox="1"/>
          <p:nvPr/>
        </p:nvSpPr>
        <p:spPr>
          <a:xfrm>
            <a:off x="3575304" y="4931305"/>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$110K</a:t>
            </a:r>
            <a:endParaRPr lang="en-US" sz="1300" dirty="0"/>
          </a:p>
        </p:txBody>
      </p:sp>
      <p:sp>
        <p:nvSpPr>
          <p:cNvPr id="94" name="Text 92"/>
          <p:cNvSpPr txBox="1"/>
          <p:nvPr/>
        </p:nvSpPr>
        <p:spPr>
          <a:xfrm>
            <a:off x="4398264" y="4931305"/>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a:t>
            </a:r>
            <a:endParaRPr lang="en-US" sz="1300" dirty="0"/>
          </a:p>
        </p:txBody>
      </p:sp>
      <p:sp>
        <p:nvSpPr>
          <p:cNvPr id="95" name="Text 93"/>
          <p:cNvSpPr txBox="1"/>
          <p:nvPr/>
        </p:nvSpPr>
        <p:spPr>
          <a:xfrm>
            <a:off x="5184648" y="4931305"/>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$357</a:t>
            </a:r>
            <a:endParaRPr lang="en-US" sz="1300" dirty="0"/>
          </a:p>
        </p:txBody>
      </p:sp>
      <p:sp>
        <p:nvSpPr>
          <p:cNvPr id="96" name="Text 94"/>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8" name="Shape 96"/>
          <p:cNvSpPr/>
          <p:nvPr/>
        </p:nvSpPr>
        <p:spPr>
          <a:xfrm>
            <a:off x="2871216" y="5235720"/>
            <a:ext cx="197675" cy="136676"/>
          </a:xfrm>
          <a:prstGeom prst="rect">
            <a:avLst/>
          </a:prstGeom>
          <a:solidFill>
            <a:srgbClr val="2587C5"/>
          </a:solidFill>
          <a:ln/>
        </p:spPr>
      </p:sp>
      <p:sp>
        <p:nvSpPr>
          <p:cNvPr id="99" name="Text 97"/>
          <p:cNvSpPr txBox="1"/>
          <p:nvPr/>
        </p:nvSpPr>
        <p:spPr>
          <a:xfrm>
            <a:off x="3575304" y="517980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$109K</a:t>
            </a:r>
            <a:endParaRPr lang="en-US" sz="1300" dirty="0"/>
          </a:p>
        </p:txBody>
      </p:sp>
      <p:sp>
        <p:nvSpPr>
          <p:cNvPr id="100" name="Text 98"/>
          <p:cNvSpPr txBox="1"/>
          <p:nvPr/>
        </p:nvSpPr>
        <p:spPr>
          <a:xfrm>
            <a:off x="4398264" y="517980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101" name="Text 99"/>
          <p:cNvSpPr txBox="1"/>
          <p:nvPr/>
        </p:nvSpPr>
        <p:spPr>
          <a:xfrm>
            <a:off x="5184648" y="517980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$356</a:t>
            </a:r>
            <a:endParaRPr lang="en-US" sz="1300" dirty="0"/>
          </a:p>
        </p:txBody>
      </p:sp>
      <p:sp>
        <p:nvSpPr>
          <p:cNvPr id="102" name="Text 100"/>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4" name="Shape 102"/>
          <p:cNvSpPr/>
          <p:nvPr/>
        </p:nvSpPr>
        <p:spPr>
          <a:xfrm>
            <a:off x="2871216" y="5484222"/>
            <a:ext cx="196835" cy="136676"/>
          </a:xfrm>
          <a:prstGeom prst="rect">
            <a:avLst/>
          </a:prstGeom>
          <a:solidFill>
            <a:srgbClr val="2587C5"/>
          </a:solidFill>
          <a:ln/>
        </p:spPr>
      </p:sp>
      <p:sp>
        <p:nvSpPr>
          <p:cNvPr id="105" name="Text 103"/>
          <p:cNvSpPr txBox="1"/>
          <p:nvPr/>
        </p:nvSpPr>
        <p:spPr>
          <a:xfrm>
            <a:off x="3575304" y="542830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$109K</a:t>
            </a:r>
            <a:endParaRPr lang="en-US" sz="1300" dirty="0"/>
          </a:p>
        </p:txBody>
      </p:sp>
      <p:sp>
        <p:nvSpPr>
          <p:cNvPr id="106" name="Text 104"/>
          <p:cNvSpPr txBox="1"/>
          <p:nvPr/>
        </p:nvSpPr>
        <p:spPr>
          <a:xfrm>
            <a:off x="4398264" y="542830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a:t>
            </a:r>
            <a:endParaRPr lang="en-US" sz="1300" dirty="0"/>
          </a:p>
        </p:txBody>
      </p:sp>
      <p:sp>
        <p:nvSpPr>
          <p:cNvPr id="107" name="Text 105"/>
          <p:cNvSpPr txBox="1"/>
          <p:nvPr/>
        </p:nvSpPr>
        <p:spPr>
          <a:xfrm>
            <a:off x="5184648" y="542830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$354</a:t>
            </a:r>
            <a:endParaRPr lang="en-US" sz="1300" dirty="0"/>
          </a:p>
        </p:txBody>
      </p:sp>
      <p:sp>
        <p:nvSpPr>
          <p:cNvPr id="108" name="Text 106"/>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10" name="Shape 108"/>
          <p:cNvSpPr/>
          <p:nvPr/>
        </p:nvSpPr>
        <p:spPr>
          <a:xfrm>
            <a:off x="2871216" y="5732723"/>
            <a:ext cx="187758" cy="136676"/>
          </a:xfrm>
          <a:prstGeom prst="rect">
            <a:avLst/>
          </a:prstGeom>
          <a:solidFill>
            <a:srgbClr val="2587C5"/>
          </a:solidFill>
          <a:ln/>
        </p:spPr>
      </p:sp>
      <p:sp>
        <p:nvSpPr>
          <p:cNvPr id="111" name="Text 109"/>
          <p:cNvSpPr txBox="1"/>
          <p:nvPr/>
        </p:nvSpPr>
        <p:spPr>
          <a:xfrm>
            <a:off x="3575304" y="5676810"/>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$104K</a:t>
            </a:r>
            <a:endParaRPr lang="en-US" sz="1300" dirty="0"/>
          </a:p>
        </p:txBody>
      </p:sp>
      <p:sp>
        <p:nvSpPr>
          <p:cNvPr id="112" name="Text 110"/>
          <p:cNvSpPr txBox="1"/>
          <p:nvPr/>
        </p:nvSpPr>
        <p:spPr>
          <a:xfrm>
            <a:off x="4398264" y="567681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65</a:t>
            </a:r>
            <a:endParaRPr lang="en-US" sz="1300" dirty="0"/>
          </a:p>
        </p:txBody>
      </p:sp>
      <p:sp>
        <p:nvSpPr>
          <p:cNvPr id="113" name="Text 111"/>
          <p:cNvSpPr txBox="1"/>
          <p:nvPr/>
        </p:nvSpPr>
        <p:spPr>
          <a:xfrm>
            <a:off x="5184648" y="567681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$338</a:t>
            </a:r>
            <a:endParaRPr lang="en-US" sz="1300" dirty="0"/>
          </a:p>
        </p:txBody>
      </p:sp>
      <p:sp>
        <p:nvSpPr>
          <p:cNvPr id="114" name="Text 112"/>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16" name="Shape 114"/>
          <p:cNvSpPr/>
          <p:nvPr/>
        </p:nvSpPr>
        <p:spPr>
          <a:xfrm>
            <a:off x="8421624" y="1756697"/>
            <a:ext cx="187228" cy="136676"/>
          </a:xfrm>
          <a:prstGeom prst="rect">
            <a:avLst/>
          </a:prstGeom>
          <a:solidFill>
            <a:srgbClr val="2587C5"/>
          </a:solidFill>
          <a:ln/>
        </p:spPr>
      </p:sp>
      <p:sp>
        <p:nvSpPr>
          <p:cNvPr id="117" name="Text 115"/>
          <p:cNvSpPr txBox="1"/>
          <p:nvPr/>
        </p:nvSpPr>
        <p:spPr>
          <a:xfrm>
            <a:off x="9125712" y="170078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$103K</a:t>
            </a:r>
            <a:endParaRPr lang="en-US" sz="1300" dirty="0"/>
          </a:p>
        </p:txBody>
      </p:sp>
      <p:sp>
        <p:nvSpPr>
          <p:cNvPr id="118" name="Text 116"/>
          <p:cNvSpPr txBox="1"/>
          <p:nvPr/>
        </p:nvSpPr>
        <p:spPr>
          <a:xfrm>
            <a:off x="9948672" y="170078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a:t>
            </a:r>
            <a:endParaRPr lang="en-US" sz="1300" dirty="0"/>
          </a:p>
        </p:txBody>
      </p:sp>
      <p:sp>
        <p:nvSpPr>
          <p:cNvPr id="119" name="Text 117"/>
          <p:cNvSpPr txBox="1"/>
          <p:nvPr/>
        </p:nvSpPr>
        <p:spPr>
          <a:xfrm>
            <a:off x="10735056" y="170078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$337</a:t>
            </a:r>
            <a:endParaRPr lang="en-US" sz="1300" dirty="0"/>
          </a:p>
        </p:txBody>
      </p:sp>
      <p:sp>
        <p:nvSpPr>
          <p:cNvPr id="120" name="Text 11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2" name="Shape 120"/>
          <p:cNvSpPr/>
          <p:nvPr/>
        </p:nvSpPr>
        <p:spPr>
          <a:xfrm>
            <a:off x="8421624" y="2005199"/>
            <a:ext cx="183848" cy="136676"/>
          </a:xfrm>
          <a:prstGeom prst="rect">
            <a:avLst/>
          </a:prstGeom>
          <a:solidFill>
            <a:srgbClr val="2587C5"/>
          </a:solidFill>
          <a:ln/>
        </p:spPr>
      </p:sp>
      <p:sp>
        <p:nvSpPr>
          <p:cNvPr id="123" name="Text 121"/>
          <p:cNvSpPr txBox="1"/>
          <p:nvPr/>
        </p:nvSpPr>
        <p:spPr>
          <a:xfrm>
            <a:off x="9125712" y="194928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$102K</a:t>
            </a:r>
            <a:endParaRPr lang="en-US" sz="1300" dirty="0"/>
          </a:p>
        </p:txBody>
      </p:sp>
      <p:sp>
        <p:nvSpPr>
          <p:cNvPr id="124" name="Text 122"/>
          <p:cNvSpPr txBox="1"/>
          <p:nvPr/>
        </p:nvSpPr>
        <p:spPr>
          <a:xfrm>
            <a:off x="9948672" y="194928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a:t>
            </a:r>
            <a:endParaRPr lang="en-US" sz="1300" dirty="0"/>
          </a:p>
        </p:txBody>
      </p:sp>
      <p:sp>
        <p:nvSpPr>
          <p:cNvPr id="125" name="Text 123"/>
          <p:cNvSpPr txBox="1"/>
          <p:nvPr/>
        </p:nvSpPr>
        <p:spPr>
          <a:xfrm>
            <a:off x="10735056" y="194928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$331</a:t>
            </a:r>
            <a:endParaRPr lang="en-US" sz="1300" dirty="0"/>
          </a:p>
        </p:txBody>
      </p:sp>
      <p:sp>
        <p:nvSpPr>
          <p:cNvPr id="126" name="Text 124"/>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8" name="Shape 126"/>
          <p:cNvSpPr/>
          <p:nvPr/>
        </p:nvSpPr>
        <p:spPr>
          <a:xfrm>
            <a:off x="8421624" y="2253700"/>
            <a:ext cx="174845" cy="136676"/>
          </a:xfrm>
          <a:prstGeom prst="rect">
            <a:avLst/>
          </a:prstGeom>
          <a:solidFill>
            <a:srgbClr val="2587C5"/>
          </a:solidFill>
          <a:ln/>
        </p:spPr>
      </p:sp>
      <p:sp>
        <p:nvSpPr>
          <p:cNvPr id="129" name="Text 127"/>
          <p:cNvSpPr txBox="1"/>
          <p:nvPr/>
        </p:nvSpPr>
        <p:spPr>
          <a:xfrm>
            <a:off x="9125712" y="219778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$97K</a:t>
            </a:r>
            <a:endParaRPr lang="en-US" sz="1300" dirty="0"/>
          </a:p>
        </p:txBody>
      </p:sp>
      <p:sp>
        <p:nvSpPr>
          <p:cNvPr id="130" name="Text 128"/>
          <p:cNvSpPr txBox="1"/>
          <p:nvPr/>
        </p:nvSpPr>
        <p:spPr>
          <a:xfrm>
            <a:off x="9948672" y="219778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131" name="Text 129"/>
          <p:cNvSpPr txBox="1"/>
          <p:nvPr/>
        </p:nvSpPr>
        <p:spPr>
          <a:xfrm>
            <a:off x="10735056" y="219778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$314</a:t>
            </a:r>
            <a:endParaRPr lang="en-US" sz="1300" dirty="0"/>
          </a:p>
        </p:txBody>
      </p:sp>
      <p:sp>
        <p:nvSpPr>
          <p:cNvPr id="132" name="Text 13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4" name="Shape 132"/>
          <p:cNvSpPr/>
          <p:nvPr/>
        </p:nvSpPr>
        <p:spPr>
          <a:xfrm>
            <a:off x="8421624" y="2502202"/>
            <a:ext cx="172138" cy="136676"/>
          </a:xfrm>
          <a:prstGeom prst="rect">
            <a:avLst/>
          </a:prstGeom>
          <a:solidFill>
            <a:srgbClr val="2587C5"/>
          </a:solidFill>
          <a:ln/>
        </p:spPr>
      </p:sp>
      <p:sp>
        <p:nvSpPr>
          <p:cNvPr id="135" name="Text 133"/>
          <p:cNvSpPr txBox="1"/>
          <p:nvPr/>
        </p:nvSpPr>
        <p:spPr>
          <a:xfrm>
            <a:off x="9125712" y="244628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$95K</a:t>
            </a:r>
            <a:endParaRPr lang="en-US" sz="1300" dirty="0"/>
          </a:p>
        </p:txBody>
      </p:sp>
      <p:sp>
        <p:nvSpPr>
          <p:cNvPr id="136" name="Text 134"/>
          <p:cNvSpPr txBox="1"/>
          <p:nvPr/>
        </p:nvSpPr>
        <p:spPr>
          <a:xfrm>
            <a:off x="9948672" y="244628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a:t>
            </a:r>
            <a:endParaRPr lang="en-US" sz="1300" dirty="0"/>
          </a:p>
        </p:txBody>
      </p:sp>
      <p:sp>
        <p:nvSpPr>
          <p:cNvPr id="137" name="Text 135"/>
          <p:cNvSpPr txBox="1"/>
          <p:nvPr/>
        </p:nvSpPr>
        <p:spPr>
          <a:xfrm>
            <a:off x="10735056" y="244628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$310</a:t>
            </a:r>
            <a:endParaRPr lang="en-US" sz="1300" dirty="0"/>
          </a:p>
        </p:txBody>
      </p:sp>
      <p:sp>
        <p:nvSpPr>
          <p:cNvPr id="138" name="Text 136"/>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0" name="Shape 138"/>
          <p:cNvSpPr/>
          <p:nvPr/>
        </p:nvSpPr>
        <p:spPr>
          <a:xfrm>
            <a:off x="8421624" y="2750703"/>
            <a:ext cx="170555" cy="136676"/>
          </a:xfrm>
          <a:prstGeom prst="rect">
            <a:avLst/>
          </a:prstGeom>
          <a:solidFill>
            <a:srgbClr val="2587C5"/>
          </a:solidFill>
          <a:ln/>
        </p:spPr>
      </p:sp>
      <p:sp>
        <p:nvSpPr>
          <p:cNvPr id="141" name="Text 139"/>
          <p:cNvSpPr txBox="1"/>
          <p:nvPr/>
        </p:nvSpPr>
        <p:spPr>
          <a:xfrm>
            <a:off x="9125712" y="2694791"/>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$94K</a:t>
            </a:r>
            <a:endParaRPr lang="en-US" sz="1300" dirty="0"/>
          </a:p>
        </p:txBody>
      </p:sp>
      <p:sp>
        <p:nvSpPr>
          <p:cNvPr id="142" name="Text 140"/>
          <p:cNvSpPr txBox="1"/>
          <p:nvPr/>
        </p:nvSpPr>
        <p:spPr>
          <a:xfrm>
            <a:off x="9948672" y="2694791"/>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a:t>
            </a:r>
            <a:endParaRPr lang="en-US" sz="1300" dirty="0"/>
          </a:p>
        </p:txBody>
      </p:sp>
      <p:sp>
        <p:nvSpPr>
          <p:cNvPr id="143" name="Text 141"/>
          <p:cNvSpPr txBox="1"/>
          <p:nvPr/>
        </p:nvSpPr>
        <p:spPr>
          <a:xfrm>
            <a:off x="10735056" y="2694791"/>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$307</a:t>
            </a:r>
            <a:endParaRPr lang="en-US" sz="1300" dirty="0"/>
          </a:p>
        </p:txBody>
      </p:sp>
      <p:sp>
        <p:nvSpPr>
          <p:cNvPr id="144" name="Text 142"/>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5" name="Text 143"/>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6" name="Shape 144"/>
          <p:cNvSpPr/>
          <p:nvPr/>
        </p:nvSpPr>
        <p:spPr>
          <a:xfrm>
            <a:off x="8421624" y="2999205"/>
            <a:ext cx="162333" cy="136676"/>
          </a:xfrm>
          <a:prstGeom prst="rect">
            <a:avLst/>
          </a:prstGeom>
          <a:solidFill>
            <a:srgbClr val="2587C5"/>
          </a:solidFill>
          <a:ln/>
        </p:spPr>
      </p:sp>
      <p:sp>
        <p:nvSpPr>
          <p:cNvPr id="147" name="Text 145"/>
          <p:cNvSpPr txBox="1"/>
          <p:nvPr/>
        </p:nvSpPr>
        <p:spPr>
          <a:xfrm>
            <a:off x="9125712" y="294329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$90K</a:t>
            </a:r>
            <a:endParaRPr lang="en-US" sz="1300" dirty="0"/>
          </a:p>
        </p:txBody>
      </p:sp>
      <p:sp>
        <p:nvSpPr>
          <p:cNvPr id="148" name="Text 146"/>
          <p:cNvSpPr txBox="1"/>
          <p:nvPr/>
        </p:nvSpPr>
        <p:spPr>
          <a:xfrm>
            <a:off x="9948672" y="294329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a:t>
            </a:r>
            <a:endParaRPr lang="en-US" sz="1300" dirty="0"/>
          </a:p>
        </p:txBody>
      </p:sp>
      <p:sp>
        <p:nvSpPr>
          <p:cNvPr id="149" name="Text 147"/>
          <p:cNvSpPr txBox="1"/>
          <p:nvPr/>
        </p:nvSpPr>
        <p:spPr>
          <a:xfrm>
            <a:off x="10735056" y="294329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$292</a:t>
            </a:r>
            <a:endParaRPr lang="en-US" sz="1300" dirty="0"/>
          </a:p>
        </p:txBody>
      </p:sp>
      <p:sp>
        <p:nvSpPr>
          <p:cNvPr id="150" name="Text 14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1" name="Text 149"/>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52" name="Shape 150"/>
          <p:cNvSpPr/>
          <p:nvPr/>
        </p:nvSpPr>
        <p:spPr>
          <a:xfrm>
            <a:off x="8421624" y="3247707"/>
            <a:ext cx="157532" cy="136676"/>
          </a:xfrm>
          <a:prstGeom prst="rect">
            <a:avLst/>
          </a:prstGeom>
          <a:solidFill>
            <a:srgbClr val="2587C5"/>
          </a:solidFill>
          <a:ln/>
        </p:spPr>
      </p:sp>
      <p:sp>
        <p:nvSpPr>
          <p:cNvPr id="153" name="Text 151"/>
          <p:cNvSpPr txBox="1"/>
          <p:nvPr/>
        </p:nvSpPr>
        <p:spPr>
          <a:xfrm>
            <a:off x="9125712" y="319179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$87K</a:t>
            </a:r>
            <a:endParaRPr lang="en-US" sz="1300" dirty="0"/>
          </a:p>
        </p:txBody>
      </p:sp>
      <p:sp>
        <p:nvSpPr>
          <p:cNvPr id="154" name="Text 152"/>
          <p:cNvSpPr txBox="1"/>
          <p:nvPr/>
        </p:nvSpPr>
        <p:spPr>
          <a:xfrm>
            <a:off x="9948672" y="319179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155" name="Text 153"/>
          <p:cNvSpPr txBox="1"/>
          <p:nvPr/>
        </p:nvSpPr>
        <p:spPr>
          <a:xfrm>
            <a:off x="10735056" y="319179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$283</a:t>
            </a:r>
            <a:endParaRPr lang="en-US" sz="1300" dirty="0"/>
          </a:p>
        </p:txBody>
      </p:sp>
      <p:sp>
        <p:nvSpPr>
          <p:cNvPr id="156" name="Text 154"/>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7" name="Text 155"/>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58" name="Shape 156"/>
          <p:cNvSpPr/>
          <p:nvPr/>
        </p:nvSpPr>
        <p:spPr>
          <a:xfrm>
            <a:off x="8421624" y="3496208"/>
            <a:ext cx="155767" cy="136676"/>
          </a:xfrm>
          <a:prstGeom prst="rect">
            <a:avLst/>
          </a:prstGeom>
          <a:solidFill>
            <a:srgbClr val="2587C5"/>
          </a:solidFill>
          <a:ln/>
        </p:spPr>
      </p:sp>
      <p:sp>
        <p:nvSpPr>
          <p:cNvPr id="159" name="Text 157"/>
          <p:cNvSpPr txBox="1"/>
          <p:nvPr/>
        </p:nvSpPr>
        <p:spPr>
          <a:xfrm>
            <a:off x="9125712" y="344029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$86K</a:t>
            </a:r>
            <a:endParaRPr lang="en-US" sz="1300" dirty="0"/>
          </a:p>
        </p:txBody>
      </p:sp>
      <p:sp>
        <p:nvSpPr>
          <p:cNvPr id="160" name="Text 158"/>
          <p:cNvSpPr txBox="1"/>
          <p:nvPr/>
        </p:nvSpPr>
        <p:spPr>
          <a:xfrm>
            <a:off x="9948672" y="344029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a:t>
            </a:r>
            <a:endParaRPr lang="en-US" sz="1300" dirty="0"/>
          </a:p>
        </p:txBody>
      </p:sp>
      <p:sp>
        <p:nvSpPr>
          <p:cNvPr id="161" name="Text 159"/>
          <p:cNvSpPr txBox="1"/>
          <p:nvPr/>
        </p:nvSpPr>
        <p:spPr>
          <a:xfrm>
            <a:off x="10735056" y="344029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$280</a:t>
            </a:r>
            <a:endParaRPr lang="en-US" sz="1300" dirty="0"/>
          </a:p>
        </p:txBody>
      </p:sp>
      <p:sp>
        <p:nvSpPr>
          <p:cNvPr id="162" name="Text 160"/>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3" name="Text 161"/>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4" name="Shape 162"/>
          <p:cNvSpPr/>
          <p:nvPr/>
        </p:nvSpPr>
        <p:spPr>
          <a:xfrm>
            <a:off x="8421624" y="3744710"/>
            <a:ext cx="149072" cy="136676"/>
          </a:xfrm>
          <a:prstGeom prst="rect">
            <a:avLst/>
          </a:prstGeom>
          <a:solidFill>
            <a:srgbClr val="2587C5"/>
          </a:solidFill>
          <a:ln/>
        </p:spPr>
      </p:sp>
      <p:sp>
        <p:nvSpPr>
          <p:cNvPr id="165" name="Text 163"/>
          <p:cNvSpPr txBox="1"/>
          <p:nvPr/>
        </p:nvSpPr>
        <p:spPr>
          <a:xfrm>
            <a:off x="9125712" y="368879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$82K</a:t>
            </a:r>
            <a:endParaRPr lang="en-US" sz="1300" dirty="0"/>
          </a:p>
        </p:txBody>
      </p:sp>
      <p:sp>
        <p:nvSpPr>
          <p:cNvPr id="166" name="Text 164"/>
          <p:cNvSpPr txBox="1"/>
          <p:nvPr/>
        </p:nvSpPr>
        <p:spPr>
          <a:xfrm>
            <a:off x="9948672" y="368879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a:t>
            </a:r>
            <a:endParaRPr lang="en-US" sz="1300" dirty="0"/>
          </a:p>
        </p:txBody>
      </p:sp>
      <p:sp>
        <p:nvSpPr>
          <p:cNvPr id="167" name="Text 165"/>
          <p:cNvSpPr txBox="1"/>
          <p:nvPr/>
        </p:nvSpPr>
        <p:spPr>
          <a:xfrm>
            <a:off x="10735056" y="368879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$268</a:t>
            </a:r>
            <a:endParaRPr lang="en-US" sz="1300" dirty="0"/>
          </a:p>
        </p:txBody>
      </p:sp>
      <p:sp>
        <p:nvSpPr>
          <p:cNvPr id="168" name="Text 166"/>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9" name="Text 167"/>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0" name="Shape 168"/>
          <p:cNvSpPr/>
          <p:nvPr/>
        </p:nvSpPr>
        <p:spPr>
          <a:xfrm>
            <a:off x="8421624" y="3993212"/>
            <a:ext cx="134602" cy="136676"/>
          </a:xfrm>
          <a:prstGeom prst="rect">
            <a:avLst/>
          </a:prstGeom>
          <a:solidFill>
            <a:srgbClr val="2587C5"/>
          </a:solidFill>
          <a:ln/>
        </p:spPr>
      </p:sp>
      <p:sp>
        <p:nvSpPr>
          <p:cNvPr id="171" name="Text 169"/>
          <p:cNvSpPr txBox="1"/>
          <p:nvPr/>
        </p:nvSpPr>
        <p:spPr>
          <a:xfrm>
            <a:off x="9125712" y="393729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$74K</a:t>
            </a:r>
            <a:endParaRPr lang="en-US" sz="1300" dirty="0"/>
          </a:p>
        </p:txBody>
      </p:sp>
      <p:sp>
        <p:nvSpPr>
          <p:cNvPr id="172" name="Text 170"/>
          <p:cNvSpPr txBox="1"/>
          <p:nvPr/>
        </p:nvSpPr>
        <p:spPr>
          <a:xfrm>
            <a:off x="9948672" y="393729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231</a:t>
            </a:r>
            <a:endParaRPr lang="en-US" sz="1300" dirty="0"/>
          </a:p>
        </p:txBody>
      </p:sp>
      <p:sp>
        <p:nvSpPr>
          <p:cNvPr id="173" name="Text 171"/>
          <p:cNvSpPr txBox="1"/>
          <p:nvPr/>
        </p:nvSpPr>
        <p:spPr>
          <a:xfrm>
            <a:off x="10735056" y="393729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$242</a:t>
            </a:r>
            <a:endParaRPr lang="en-US" sz="1300" dirty="0"/>
          </a:p>
        </p:txBody>
      </p:sp>
      <p:sp>
        <p:nvSpPr>
          <p:cNvPr id="174" name="Text 172"/>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5" name="Text 173"/>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6" name="Shape 174"/>
          <p:cNvSpPr/>
          <p:nvPr/>
        </p:nvSpPr>
        <p:spPr>
          <a:xfrm>
            <a:off x="8421624" y="4241713"/>
            <a:ext cx="131833" cy="136676"/>
          </a:xfrm>
          <a:prstGeom prst="rect">
            <a:avLst/>
          </a:prstGeom>
          <a:solidFill>
            <a:srgbClr val="2587C5"/>
          </a:solidFill>
          <a:ln/>
        </p:spPr>
      </p:sp>
      <p:sp>
        <p:nvSpPr>
          <p:cNvPr id="177" name="Text 175"/>
          <p:cNvSpPr txBox="1"/>
          <p:nvPr/>
        </p:nvSpPr>
        <p:spPr>
          <a:xfrm>
            <a:off x="9125712" y="4185800"/>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$73K</a:t>
            </a:r>
            <a:endParaRPr lang="en-US" sz="1300" dirty="0"/>
          </a:p>
        </p:txBody>
      </p:sp>
      <p:sp>
        <p:nvSpPr>
          <p:cNvPr id="178" name="Text 176"/>
          <p:cNvSpPr txBox="1"/>
          <p:nvPr/>
        </p:nvSpPr>
        <p:spPr>
          <a:xfrm>
            <a:off x="9948672" y="418580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179" name="Text 177"/>
          <p:cNvSpPr txBox="1"/>
          <p:nvPr/>
        </p:nvSpPr>
        <p:spPr>
          <a:xfrm>
            <a:off x="10735056" y="418580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80" name="Text 17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1" name="Text 179"/>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82" name="Shape 180"/>
          <p:cNvSpPr/>
          <p:nvPr/>
        </p:nvSpPr>
        <p:spPr>
          <a:xfrm>
            <a:off x="8421624" y="4490215"/>
            <a:ext cx="131799" cy="136676"/>
          </a:xfrm>
          <a:prstGeom prst="rect">
            <a:avLst/>
          </a:prstGeom>
          <a:solidFill>
            <a:srgbClr val="2587C5"/>
          </a:solidFill>
          <a:ln/>
        </p:spPr>
      </p:sp>
      <p:sp>
        <p:nvSpPr>
          <p:cNvPr id="183" name="Text 181"/>
          <p:cNvSpPr txBox="1"/>
          <p:nvPr/>
        </p:nvSpPr>
        <p:spPr>
          <a:xfrm>
            <a:off x="9125712" y="443430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$73K</a:t>
            </a:r>
            <a:endParaRPr lang="en-US" sz="1300" dirty="0"/>
          </a:p>
        </p:txBody>
      </p:sp>
      <p:sp>
        <p:nvSpPr>
          <p:cNvPr id="184" name="Text 182"/>
          <p:cNvSpPr txBox="1"/>
          <p:nvPr/>
        </p:nvSpPr>
        <p:spPr>
          <a:xfrm>
            <a:off x="9948672" y="443430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185" name="Text 183"/>
          <p:cNvSpPr txBox="1"/>
          <p:nvPr/>
        </p:nvSpPr>
        <p:spPr>
          <a:xfrm>
            <a:off x="10735056" y="443430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86" name="Text 18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7" name="Text 185"/>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88" name="Shape 186"/>
          <p:cNvSpPr/>
          <p:nvPr/>
        </p:nvSpPr>
        <p:spPr>
          <a:xfrm>
            <a:off x="8421624" y="4738717"/>
            <a:ext cx="131739" cy="136676"/>
          </a:xfrm>
          <a:prstGeom prst="rect">
            <a:avLst/>
          </a:prstGeom>
          <a:solidFill>
            <a:srgbClr val="2587C5"/>
          </a:solidFill>
          <a:ln/>
        </p:spPr>
      </p:sp>
      <p:sp>
        <p:nvSpPr>
          <p:cNvPr id="189" name="Text 187"/>
          <p:cNvSpPr txBox="1"/>
          <p:nvPr/>
        </p:nvSpPr>
        <p:spPr>
          <a:xfrm>
            <a:off x="9125712" y="468280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$73K</a:t>
            </a:r>
            <a:endParaRPr lang="en-US" sz="1300" dirty="0"/>
          </a:p>
        </p:txBody>
      </p:sp>
      <p:sp>
        <p:nvSpPr>
          <p:cNvPr id="190" name="Text 188"/>
          <p:cNvSpPr txBox="1"/>
          <p:nvPr/>
        </p:nvSpPr>
        <p:spPr>
          <a:xfrm>
            <a:off x="9948672" y="468280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191" name="Text 189"/>
          <p:cNvSpPr txBox="1"/>
          <p:nvPr/>
        </p:nvSpPr>
        <p:spPr>
          <a:xfrm>
            <a:off x="10735056" y="468280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92" name="Text 19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3" name="Text 191"/>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94" name="Shape 192"/>
          <p:cNvSpPr/>
          <p:nvPr/>
        </p:nvSpPr>
        <p:spPr>
          <a:xfrm>
            <a:off x="8421624" y="4987218"/>
            <a:ext cx="122451" cy="136676"/>
          </a:xfrm>
          <a:prstGeom prst="rect">
            <a:avLst/>
          </a:prstGeom>
          <a:solidFill>
            <a:srgbClr val="2587C5"/>
          </a:solidFill>
          <a:ln/>
        </p:spPr>
      </p:sp>
      <p:sp>
        <p:nvSpPr>
          <p:cNvPr id="195" name="Text 193"/>
          <p:cNvSpPr txBox="1"/>
          <p:nvPr/>
        </p:nvSpPr>
        <p:spPr>
          <a:xfrm>
            <a:off x="9125712" y="4931305"/>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$68K</a:t>
            </a:r>
            <a:endParaRPr lang="en-US" sz="1300" dirty="0"/>
          </a:p>
        </p:txBody>
      </p:sp>
      <p:sp>
        <p:nvSpPr>
          <p:cNvPr id="196" name="Text 194"/>
          <p:cNvSpPr txBox="1"/>
          <p:nvPr/>
        </p:nvSpPr>
        <p:spPr>
          <a:xfrm>
            <a:off x="9948672" y="4931305"/>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197" name="Text 195"/>
          <p:cNvSpPr txBox="1"/>
          <p:nvPr/>
        </p:nvSpPr>
        <p:spPr>
          <a:xfrm>
            <a:off x="10735056" y="4931305"/>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$220</a:t>
            </a:r>
            <a:endParaRPr lang="en-US" sz="1300" dirty="0"/>
          </a:p>
        </p:txBody>
      </p:sp>
      <p:sp>
        <p:nvSpPr>
          <p:cNvPr id="198" name="Text 196"/>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9" name="Text 197"/>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00" name="Shape 198"/>
          <p:cNvSpPr/>
          <p:nvPr/>
        </p:nvSpPr>
        <p:spPr>
          <a:xfrm>
            <a:off x="8421624" y="5235720"/>
            <a:ext cx="120654" cy="136676"/>
          </a:xfrm>
          <a:prstGeom prst="rect">
            <a:avLst/>
          </a:prstGeom>
          <a:solidFill>
            <a:srgbClr val="2587C5"/>
          </a:solidFill>
          <a:ln/>
        </p:spPr>
      </p:sp>
      <p:sp>
        <p:nvSpPr>
          <p:cNvPr id="201" name="Text 199"/>
          <p:cNvSpPr txBox="1"/>
          <p:nvPr/>
        </p:nvSpPr>
        <p:spPr>
          <a:xfrm>
            <a:off x="9125712" y="517980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$67K</a:t>
            </a:r>
            <a:endParaRPr lang="en-US" sz="1300" dirty="0"/>
          </a:p>
        </p:txBody>
      </p:sp>
      <p:sp>
        <p:nvSpPr>
          <p:cNvPr id="202" name="Text 200"/>
          <p:cNvSpPr txBox="1"/>
          <p:nvPr/>
        </p:nvSpPr>
        <p:spPr>
          <a:xfrm>
            <a:off x="9948672" y="517980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a:t>
            </a:r>
            <a:endParaRPr lang="en-US" sz="1300" dirty="0"/>
          </a:p>
        </p:txBody>
      </p:sp>
      <p:sp>
        <p:nvSpPr>
          <p:cNvPr id="203" name="Text 201"/>
          <p:cNvSpPr txBox="1"/>
          <p:nvPr/>
        </p:nvSpPr>
        <p:spPr>
          <a:xfrm>
            <a:off x="10735056" y="517980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$217</a:t>
            </a:r>
            <a:endParaRPr lang="en-US" sz="1300" dirty="0"/>
          </a:p>
        </p:txBody>
      </p:sp>
      <p:sp>
        <p:nvSpPr>
          <p:cNvPr id="204" name="Text 202"/>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5" name="Text 203"/>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06" name="Shape 204"/>
          <p:cNvSpPr/>
          <p:nvPr/>
        </p:nvSpPr>
        <p:spPr>
          <a:xfrm>
            <a:off x="8421624" y="5484222"/>
            <a:ext cx="118797" cy="136676"/>
          </a:xfrm>
          <a:prstGeom prst="rect">
            <a:avLst/>
          </a:prstGeom>
          <a:solidFill>
            <a:srgbClr val="2587C5"/>
          </a:solidFill>
          <a:ln/>
        </p:spPr>
      </p:sp>
      <p:sp>
        <p:nvSpPr>
          <p:cNvPr id="207" name="Text 205"/>
          <p:cNvSpPr txBox="1"/>
          <p:nvPr/>
        </p:nvSpPr>
        <p:spPr>
          <a:xfrm>
            <a:off x="9125712" y="542830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$66K</a:t>
            </a:r>
            <a:endParaRPr lang="en-US" sz="1300" dirty="0"/>
          </a:p>
        </p:txBody>
      </p:sp>
      <p:sp>
        <p:nvSpPr>
          <p:cNvPr id="208" name="Text 206"/>
          <p:cNvSpPr txBox="1"/>
          <p:nvPr/>
        </p:nvSpPr>
        <p:spPr>
          <a:xfrm>
            <a:off x="9948672" y="542830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66</a:t>
            </a:r>
            <a:endParaRPr lang="en-US" sz="1300" dirty="0"/>
          </a:p>
        </p:txBody>
      </p:sp>
      <p:sp>
        <p:nvSpPr>
          <p:cNvPr id="209" name="Text 207"/>
          <p:cNvSpPr txBox="1"/>
          <p:nvPr/>
        </p:nvSpPr>
        <p:spPr>
          <a:xfrm>
            <a:off x="10735056" y="542830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$214</a:t>
            </a:r>
            <a:endParaRPr lang="en-US" sz="1300" dirty="0"/>
          </a:p>
        </p:txBody>
      </p:sp>
      <p:sp>
        <p:nvSpPr>
          <p:cNvPr id="210" name="Shape 208"/>
          <p:cNvSpPr/>
          <p:nvPr/>
        </p:nvSpPr>
        <p:spPr>
          <a:xfrm>
            <a:off x="6085332" y="1700784"/>
            <a:ext cx="10973" cy="4224528"/>
          </a:xfrm>
          <a:prstGeom prst="rect">
            <a:avLst/>
          </a:prstGeom>
          <a:solidFill>
            <a:srgbClr val="D9D9D9"/>
          </a:solidFill>
          <a:ln/>
        </p:spPr>
      </p:sp>
      <p:sp>
        <p:nvSpPr>
          <p:cNvPr id="211" name="Shape 209"/>
          <p:cNvSpPr/>
          <p:nvPr/>
        </p:nvSpPr>
        <p:spPr>
          <a:xfrm>
            <a:off x="457200" y="6126480"/>
            <a:ext cx="11274552" cy="615696"/>
          </a:xfrm>
          <a:prstGeom prst="rect">
            <a:avLst/>
          </a:prstGeom>
          <a:solidFill>
            <a:srgbClr val="E6F6EE"/>
          </a:solidFill>
          <a:ln/>
        </p:spPr>
      </p:sp>
      <p:sp>
        <p:nvSpPr>
          <p:cNvPr id="212" name="Text 21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One more customer-pay RO a day at every store is worth $4,473,284 a year in labor and parts gross. Each RO averages $342.</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Slides>
  <Notes>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vt:i4>
      </vt:variant>
    </vt:vector>
  </HeadingPairs>
  <TitlesOfParts>
    <vt:vector size="8" baseType="lpstr">
      <vt:lpstr>Arial</vt:lpstr>
      <vt:lpstr>Calibri</vt:lpstr>
      <vt:lpstr>Office Theme</vt:lpstr>
      <vt:lpstr>Slide 1</vt:lpstr>
      <vt:lpstr>Slide 2</vt:lpstr>
      <vt:lpstr>Slide 3</vt:lpstr>
      <vt:lpstr>Slide 4</vt:lpstr>
      <vt:lpstr>Slide 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2026-10-27T17:17:44Z</dcterms:created>
  <dcterms:modified xsi:type="dcterms:W3CDTF">2026-10-27T17:17:44Z</dcterms:modified>
</cp:coreProperties>
</file>