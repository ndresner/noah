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quot;K&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55578.46</c:v>
                </c:pt>
                <c:pt idx="1">
                  <c:v>52000.56</c:v>
                </c:pt>
                <c:pt idx="2">
                  <c:v>60175.93</c:v>
                </c:pt>
                <c:pt idx="3">
                  <c:v>59745.97</c:v>
                </c:pt>
                <c:pt idx="4">
                  <c:v>57788.84</c:v>
                </c:pt>
                <c:pt idx="5">
                  <c:v>60916.67</c:v>
                </c:pt>
                <c:pt idx="6">
                  <c:v>61860.58</c:v>
                </c:pt>
                <c:pt idx="7">
                  <c:v>59618.54</c:v>
                </c:pt>
                <c:pt idx="8">
                  <c:v>55456.31</c:v>
                </c:pt>
                <c:pt idx="9">
                  <c:v/>
                </c:pt>
                <c:pt idx="10">
                  <c:v/>
                </c:pt>
                <c:pt idx="11">
                  <c:v/>
                </c:pt>
              </c:numCache>
            </c:numRef>
          </c:val>
          <c:smooth val="0"/>
        </c:ser>
        <c:dLbls>
          <c:numFmt formatCode="#,##0.0,&quot;K&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70000"/>
          <c:min val="45000"/>
        </c:scaling>
        <c:delete val="0"/>
        <c:axPos val="l"/>
        <c:majorGridlines>
          <c:spPr>
            <a:ln w="9525" cap="flat">
              <a:solidFill>
                <a:srgbClr val="D9D9D9"/>
              </a:solidFill>
              <a:prstDash val="solid"/>
              <a:round/>
            </a:ln>
          </c:spPr>
        </c:majorGridlines>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00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quot;K&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55578.46</c:v>
                </c:pt>
                <c:pt idx="1">
                  <c:v>52000.56</c:v>
                </c:pt>
                <c:pt idx="2">
                  <c:v>60175.93</c:v>
                </c:pt>
                <c:pt idx="3">
                  <c:v>59745.97</c:v>
                </c:pt>
                <c:pt idx="4">
                  <c:v/>
                </c:pt>
                <c:pt idx="5">
                  <c:v>60916.67</c:v>
                </c:pt>
                <c:pt idx="6">
                  <c:v>61860.58</c:v>
                </c:pt>
                <c:pt idx="7">
                  <c:v>59618.54</c:v>
                </c:pt>
                <c:pt idx="8">
                  <c:v>55456.31</c:v>
                </c:pt>
                <c:pt idx="9">
                  <c:v/>
                </c:pt>
                <c:pt idx="10">
                  <c:v/>
                </c:pt>
                <c:pt idx="11">
                  <c:v/>
                </c:pt>
              </c:numCache>
            </c:numRef>
          </c:val>
          <c:smooth val="0"/>
        </c:ser>
        <c:dLbls>
          <c:numFmt formatCode="#,##0.0,&quot;K&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70000"/>
          <c:min val="45000"/>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00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quot;K&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
                </c:pt>
                <c:pt idx="3">
                  <c:v/>
                </c:pt>
                <c:pt idx="4">
                  <c:v>57788.84</c:v>
                </c:pt>
                <c:pt idx="5">
                  <c:v/>
                </c:pt>
                <c:pt idx="6">
                  <c:v/>
                </c:pt>
                <c:pt idx="7">
                  <c:v/>
                </c:pt>
                <c:pt idx="8">
                  <c:v/>
                </c:pt>
                <c:pt idx="9">
                  <c:v/>
                </c:pt>
                <c:pt idx="10">
                  <c:v/>
                </c:pt>
                <c:pt idx="11">
                  <c:v/>
                </c:pt>
              </c:numCache>
            </c:numRef>
          </c:val>
          <c:smooth val="0"/>
        </c:ser>
        <c:dLbls>
          <c:numFmt formatCode="#,##0.0,&quot;K&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70000"/>
          <c:min val="45000"/>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00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K&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
                </c:pt>
                <c:pt idx="3">
                  <c:v/>
                </c:pt>
                <c:pt idx="4">
                  <c:v>57794.35</c:v>
                </c:pt>
                <c:pt idx="5">
                  <c:v/>
                </c:pt>
                <c:pt idx="6">
                  <c:v/>
                </c:pt>
                <c:pt idx="7">
                  <c:v/>
                </c:pt>
                <c:pt idx="8">
                  <c:v/>
                </c:pt>
                <c:pt idx="9">
                  <c:v>58023.59000000028</c:v>
                </c:pt>
                <c:pt idx="10">
                  <c:v/>
                </c:pt>
                <c:pt idx="11">
                  <c:v>52701.39000000027</c:v>
                </c:pt>
              </c:numCache>
            </c:numRef>
          </c:val>
          <c:smooth val="0"/>
        </c:ser>
        <c:dLbls>
          <c:numFmt formatCode="#,##0.0,&quot;K&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70000"/>
          <c:min val="45000"/>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00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K&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55120.88</c:v>
                </c:pt>
                <c:pt idx="1">
                  <c:v>51212.03</c:v>
                </c:pt>
                <c:pt idx="2">
                  <c:v>57205.56</c:v>
                </c:pt>
                <c:pt idx="3">
                  <c:v>58170.14</c:v>
                </c:pt>
                <c:pt idx="4">
                  <c:v/>
                </c:pt>
                <c:pt idx="5">
                  <c:v>56468.18</c:v>
                </c:pt>
                <c:pt idx="6">
                  <c:v>57717.31</c:v>
                </c:pt>
                <c:pt idx="7">
                  <c:v>57021.2</c:v>
                </c:pt>
                <c:pt idx="8">
                  <c:v>53309.32</c:v>
                </c:pt>
                <c:pt idx="9">
                  <c:v/>
                </c:pt>
                <c:pt idx="10">
                  <c:v>51202.50000000025</c:v>
                </c:pt>
                <c:pt idx="11">
                  <c:v/>
                </c:pt>
              </c:numCache>
            </c:numRef>
          </c:val>
          <c:smooth val="0"/>
        </c:ser>
        <c:dLbls>
          <c:numFmt formatCode="#,##0.0,&quot;K&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70000"/>
          <c:min val="45000"/>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00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quot;K&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55120.88</c:v>
                </c:pt>
                <c:pt idx="1">
                  <c:v>51212.03</c:v>
                </c:pt>
                <c:pt idx="2">
                  <c:v>57205.56</c:v>
                </c:pt>
                <c:pt idx="3">
                  <c:v>58170.14</c:v>
                </c:pt>
                <c:pt idx="4">
                  <c:v>57794.35</c:v>
                </c:pt>
                <c:pt idx="5">
                  <c:v>56468.18</c:v>
                </c:pt>
                <c:pt idx="6">
                  <c:v>57717.31</c:v>
                </c:pt>
                <c:pt idx="7">
                  <c:v>57021.2</c:v>
                </c:pt>
                <c:pt idx="8">
                  <c:v>53309.32</c:v>
                </c:pt>
                <c:pt idx="9">
                  <c:v>58023.59000000028</c:v>
                </c:pt>
                <c:pt idx="10">
                  <c:v>51202.50000000025</c:v>
                </c:pt>
                <c:pt idx="11">
                  <c:v>52701.39000000027</c:v>
                </c:pt>
              </c:numCache>
            </c:numRef>
          </c:val>
          <c:smooth val="0"/>
        </c:ser>
        <c:dLbls>
          <c:numFmt formatCode="#,##0.0,&quot;K&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70000"/>
          <c:min val="45000"/>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500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date. Same-store, INEOS excluded (opened 2026). GMC Prescott body shop labor types excluded. Total customer-pay labor hours sold, all CP ROs. YTD from YTD totals, not the mean of months. Store rows reconcile to the group on every input, both years. 2025 shown January-December; October-December pulled Oct 22 on the same basis (chart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Toyota Henderson leads at 78,123; VW St George is smallest at 3,276.Source: Qlik - Closed Repair Orders. Customer pay, Jan-Sep by close date. Same-store, INEOS excluded (opened 2026). GMC Prescott body shop labor types excluded. Total customer-pay labor hours sold, all CP ROs. Jan-Sep 2026 YTD.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23 of 33 stores sold more CP hours, led by Subaru St George at +44.6% to 12,766. 10 declined; VW St George fell most at −25.4%.Source: Qlik - Closed Repair Orders. Customer pay, Jan-Sep by close date. Same-store, INEOS excluded (opened 2026). GMC Prescott body shop labor types excluded. Change in customer-pay hours sold (percent, so store size does not drive the ranking),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Ask Subaru St George, Kia LV and Kia St George what changed. Ask VW St George, Audi Reno and Volvo what got in the way. Ask Mazda, CDJR Post Falls and Lexus what they started this year.Source: Qlik - Closed Repair Orders. Customer pay, Jan-Sep by close date. Same-store, INEOS excluded (opened 2026). GMC Prescott body shop labor types excluded. Total customer-pay labor hours sold, all CP ROs. Top and bottom five stores by change in customer-pay hours sold (percent, so store size does not drive the ranking), Jan-Sep 2026 vs 2025. Moving now: Jul-Sep 2026 vs Jan-Mar 2026, each store against itself (monthly averages); the group moved +5.5% on the same basis, so part of every store's change is seasonal. Green bar at the right of a row: the store is on both the top five vs last year and the top five moving now.Conversation starter: each top store says one thing they started doing; each bottom store says what got in the way and what they would try. The room trades ideas. Moving now: ask the top three what they started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date. Same-store, INEOS excluded (opened 2026). GMC Prescott body shop labor types excluded. Per RO = the store's customer-pay labor gross + parts gross / its CP RO count, Jan-Sep 2026. Days open a year: 307 for every store (open 6 days a week, 2026 calendar, less the 6 service holidays: New Year's, Memorial Day, Independence Day, Labor Day, Thanksgiving, Christmas). ROs/day = Jan-Sep 2026 CP ROs at a yearly pace / days open. Assumes the added RO is an average one.Talk track: one more customer a day - one more answered call, one appointment kept, one 'close to losing' customer brought back. Retention, phones and the scheduler are the levers.
LR HENDERSON: $1,168 gross per RO x 307 days open a year = $358,484; 6.8 CP ROs a day today
LR LV: $1,142 gross per RO x 307 days open a year = $350,585; 15.2 CP ROs a day today
LR RENO: $1,052 gross per RO x 307 days open a year = $323,117; 6.2 CP ROs a day today
AUDI HENDERSON: $1,030 gross per RO x 307 days open a year = $316,136; 16.4 CP ROs a day today
AUDI RENO: $740 gross per RO x 307 days open a year = $227,297; 17.0 CP ROs a day today
VOLVO: $662 gross per RO x 307 days open a year = $203,362; 14.8 CP ROs a day today
CADILLAC: $509 gross per RO x 307 days open a year = $156,140; 23.2 CP ROs a day today
LINCOLN: $480 gross per RO x 307 days open a year = $147,507; 11.4 CP ROs a day today
LEXUS: $460 gross per RO x 307 days open a year = $141,182; 19.8 CP ROs a day today
VW HENDERSON: $429 gross per RO x 307 days open a year = $131,560; 22.3 CP ROs a day today
NISSAN: $406 gross per RO x 307 days open a year = $124,728; 30.3 CP ROs a day today
CDJR POST FALLS: $399 gross per RO x 307 days open a year = $122,626; 23.3 CP ROs a day today
CHEVY LV: $362 gross per RO x 307 days open a year = $111,273; 84.8 CP ROs a day today
SUBARU ST GEORGE: $357 gross per RO x 307 days open a year = $109,693; 24.1 CP ROs a day today
ACURA: $356 gross per RO x 307 days open a year = $109,151; 15.9 CP ROs a day today
SUBARU LV: $354 gross per RO x 307 days open a year = $108,687; 61.9 CP ROs a day today
HONDA NORTH: $338 gross per RO x 307 days open a year = $103,675; 65.4 CP ROs a day today
HONDA HENDERSON: $337 gross per RO x 307 days open a year = $103,382; 97.8 CP ROs a day today
HONDA SPOKANE: $331 gross per RO x 307 days open a year = $101,516; 38.8 CP ROs a day today
CHEVY GMC BULLHEAD: $314 gross per RO x 307 days open a year = $96,545; 27.4 CP ROs a day today
GMC PRESCOTT: $310 gross per RO x 307 days open a year = $95,050; 13.5 CP ROs a day today
HONDA FLAGSTAFF: $307 gross per RO x 307 days open a year = $94,176; 17.5 CP ROs a day today
VW ST GEORGE: $292 gross per RO x 307 days open a year = $89,636; 8.3 CP ROs a day today
HYUNDAI ST GEORGE: $283 gross per RO x 307 days open a year = $86,985; 14.5 CP ROs a day today
MAZDA: $280 gross per RO x 307 days open a year = $86,010; 24.8 CP ROs a day today
KIA LV: $268 gross per RO x 307 days open a year = $82,314; 35.3 CP ROs a day today
TOYOTA HENDERSON: $242 gross per RO x 307 days open a year = $74,324; 230.5 CP ROs a day today
HYUNDAI PRESCOTT: $237 gross per RO x 307 days open a year = $72,795; 8.7 CP ROs a day today
SUBARU PRESCOTT: $237 gross per RO x 307 days open a year = $72,776; 22.2 CP ROs a day today
TOYOTA PRESCOTT: $237 gross per RO x 307 days open a year = $72,743; 58.6 CP ROs a day today
KIA ST GEORGE: $220 gross per RO x 307 days open a year = $67,614; 17.0 CP ROs a day today
TOYOTA SPOKANE: $217 gross per RO x 307 days open a year = $66,622; 75.5 CP ROs a day today
TOYOTA FLAGSTAFF: $214 gross per RO x 307 days open a year = $65,596; 65.8 CP ROs a day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chart" Target="/ppt/charts/chart4.xml"/><Relationship Id="rId5" Type="http://schemas.openxmlformats.org/officeDocument/2006/relationships/chart" Target="/ppt/charts/chart5.xml"/><Relationship Id="rId6" Type="http://schemas.openxmlformats.org/officeDocument/2006/relationships/chart" Target="/ppt/charts/chart6.xml"/><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Customer Pay Hours Sold</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504,019</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523,142</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+19,123</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+3.8%</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Customer Pay Hours Sold by month, 2025 against 2026</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Chart 1"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2"/>
          </a:graphicData>
        </a:graphic>
      </p:graphicFrame>
      <p:graphicFrame>
        <p:nvGraphicFramePr>
          <p:cNvPr id="19" name="Chart 2"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3"/>
          </a:graphicData>
        </a:graphic>
      </p:graphicFrame>
      <p:graphicFrame>
        <p:nvGraphicFramePr>
          <p:cNvPr id="20" name="Chart 3"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4"/>
          </a:graphicData>
        </a:graphic>
      </p:graphicFrame>
      <p:graphicFrame>
        <p:nvGraphicFramePr>
          <p:cNvPr id="21" name="Chart 4"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5"/>
          </a:graphicData>
        </a:graphic>
      </p:graphicFrame>
      <p:graphicFrame>
        <p:nvGraphicFramePr>
          <p:cNvPr id="22" name="Chart 5"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6"/>
          </a:graphicData>
        </a:graphic>
      </p:graphicFrame>
      <p:sp>
        <p:nvSpPr>
          <p:cNvPr id="23" name="Shape 15"/>
          <p:cNvSpPr/>
          <p:nvPr/>
        </p:nvSpPr>
        <p:spPr>
          <a:xfrm>
            <a:off x="4951476" y="3049524"/>
            <a:ext cx="310896" cy="45720"/>
          </a:xfrm>
          <a:prstGeom prst="rect">
            <a:avLst/>
          </a:prstGeom>
          <a:solidFill>
            <a:srgbClr val="9AA3AD"/>
          </a:solidFill>
          <a:ln/>
        </p:spPr>
      </p:sp>
      <p:sp>
        <p:nvSpPr>
          <p:cNvPr id="24" name="Shape 16"/>
          <p:cNvSpPr/>
          <p:nvPr/>
        </p:nvSpPr>
        <p:spPr>
          <a:xfrm>
            <a:off x="5052060" y="3017520"/>
            <a:ext cx="109728" cy="109728"/>
          </a:xfrm>
          <a:prstGeom prst="ellipse">
            <a:avLst/>
          </a:prstGeom>
          <a:solidFill>
            <a:srgbClr val="9AA3AD"/>
          </a:solidFill>
          <a:ln/>
        </p:spPr>
      </p:sp>
      <p:sp>
        <p:nvSpPr>
          <p:cNvPr id="25" name="Text 17"/>
          <p:cNvSpPr txBox="1"/>
          <p:nvPr/>
        </p:nvSpPr>
        <p:spPr>
          <a:xfrm>
            <a:off x="533552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6" name="Shape 18"/>
          <p:cNvSpPr/>
          <p:nvPr/>
        </p:nvSpPr>
        <p:spPr>
          <a:xfrm>
            <a:off x="6185916" y="3049524"/>
            <a:ext cx="310896" cy="45720"/>
          </a:xfrm>
          <a:prstGeom prst="rect">
            <a:avLst/>
          </a:prstGeom>
          <a:solidFill>
            <a:srgbClr val="2587C5"/>
          </a:solidFill>
          <a:ln/>
        </p:spPr>
      </p:sp>
      <p:sp>
        <p:nvSpPr>
          <p:cNvPr id="27" name="Shape 19"/>
          <p:cNvSpPr/>
          <p:nvPr/>
        </p:nvSpPr>
        <p:spPr>
          <a:xfrm>
            <a:off x="6286500" y="3017520"/>
            <a:ext cx="109728" cy="109728"/>
          </a:xfrm>
          <a:prstGeom prst="ellipse">
            <a:avLst/>
          </a:prstGeom>
          <a:solidFill>
            <a:srgbClr val="2587C5"/>
          </a:solidFill>
          <a:ln/>
        </p:spPr>
      </p:sp>
      <p:sp>
        <p:nvSpPr>
          <p:cNvPr id="28" name="Text 20"/>
          <p:cNvSpPr txBox="1"/>
          <p:nvPr/>
        </p:nvSpPr>
        <p:spPr>
          <a:xfrm>
            <a:off x="656996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9" name="Shape 21"/>
          <p:cNvSpPr/>
          <p:nvPr/>
        </p:nvSpPr>
        <p:spPr>
          <a:xfrm>
            <a:off x="457200" y="6126480"/>
            <a:ext cx="11274552" cy="615696"/>
          </a:xfrm>
          <a:prstGeom prst="rect">
            <a:avLst/>
          </a:prstGeom>
          <a:solidFill>
            <a:srgbClr val="E6F6EE"/>
          </a:solidFill>
          <a:ln/>
        </p:spPr>
      </p:sp>
      <p:sp>
        <p:nvSpPr>
          <p:cNvPr id="30" name="Text 22"/>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19,123 to 523,142, ahead of 2025 in eight of nine months. CP RO count rose only 0.2%, so the extra hours came from selling more on each visit.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Customer Pay Hours Sold</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85369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CUSTOMER PAY HOURS SOLD</a:t>
            </a:r>
            <a:endParaRPr lang="en-US" sz="1500" dirty="0"/>
          </a:p>
        </p:txBody>
      </p:sp>
      <p:sp>
        <p:nvSpPr>
          <p:cNvPr id="9" name="Text 7"/>
          <p:cNvSpPr txBox="1"/>
          <p:nvPr/>
        </p:nvSpPr>
        <p:spPr>
          <a:xfrm>
            <a:off x="3768090" y="1335024"/>
            <a:ext cx="427863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SEPTEMBER 2026 YTD</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523,142</a:t>
            </a:r>
            <a:endParaRPr lang="en-US" sz="2000" dirty="0"/>
          </a:p>
        </p:txBody>
      </p:sp>
      <p:sp>
        <p:nvSpPr>
          <p:cNvPr id="11" name="Text 9"/>
          <p:cNvSpPr txBox="1"/>
          <p:nvPr/>
        </p:nvSpPr>
        <p:spPr>
          <a:xfrm>
            <a:off x="658368" y="1847088"/>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3" name="Shape 11"/>
          <p:cNvSpPr/>
          <p:nvPr/>
        </p:nvSpPr>
        <p:spPr>
          <a:xfrm>
            <a:off x="2980944" y="1917669"/>
            <a:ext cx="1828800" cy="120249"/>
          </a:xfrm>
          <a:prstGeom prst="rect">
            <a:avLst/>
          </a:prstGeom>
          <a:solidFill>
            <a:srgbClr val="2587C5"/>
          </a:solidFill>
          <a:ln/>
        </p:spPr>
      </p:sp>
      <p:sp>
        <p:nvSpPr>
          <p:cNvPr id="14" name="Text 12"/>
          <p:cNvSpPr txBox="1"/>
          <p:nvPr/>
        </p:nvSpPr>
        <p:spPr>
          <a:xfrm>
            <a:off x="4855464" y="1847088"/>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78,123</a:t>
            </a:r>
            <a:endParaRPr lang="en-US" sz="1200" dirty="0"/>
          </a:p>
        </p:txBody>
      </p:sp>
      <p:sp>
        <p:nvSpPr>
          <p:cNvPr id="15" name="Text 13"/>
          <p:cNvSpPr txBox="1"/>
          <p:nvPr/>
        </p:nvSpPr>
        <p:spPr>
          <a:xfrm>
            <a:off x="658368" y="2108499"/>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108499"/>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7" name="Shape 15"/>
          <p:cNvSpPr/>
          <p:nvPr/>
        </p:nvSpPr>
        <p:spPr>
          <a:xfrm>
            <a:off x="2980944" y="2179080"/>
            <a:ext cx="1050673" cy="120249"/>
          </a:xfrm>
          <a:prstGeom prst="rect">
            <a:avLst/>
          </a:prstGeom>
          <a:solidFill>
            <a:srgbClr val="2587C5"/>
          </a:solidFill>
          <a:ln/>
        </p:spPr>
      </p:sp>
      <p:sp>
        <p:nvSpPr>
          <p:cNvPr id="18" name="Text 16"/>
          <p:cNvSpPr txBox="1"/>
          <p:nvPr/>
        </p:nvSpPr>
        <p:spPr>
          <a:xfrm>
            <a:off x="4855464" y="2108499"/>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44,883</a:t>
            </a:r>
            <a:endParaRPr lang="en-US" sz="1200" dirty="0"/>
          </a:p>
        </p:txBody>
      </p:sp>
      <p:sp>
        <p:nvSpPr>
          <p:cNvPr id="19" name="Text 17"/>
          <p:cNvSpPr txBox="1"/>
          <p:nvPr/>
        </p:nvSpPr>
        <p:spPr>
          <a:xfrm>
            <a:off x="658368" y="236991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6991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21" name="Shape 19"/>
          <p:cNvSpPr/>
          <p:nvPr/>
        </p:nvSpPr>
        <p:spPr>
          <a:xfrm>
            <a:off x="2980944" y="2440491"/>
            <a:ext cx="1038014" cy="120249"/>
          </a:xfrm>
          <a:prstGeom prst="rect">
            <a:avLst/>
          </a:prstGeom>
          <a:solidFill>
            <a:srgbClr val="2587C5"/>
          </a:solidFill>
          <a:ln/>
        </p:spPr>
      </p:sp>
      <p:sp>
        <p:nvSpPr>
          <p:cNvPr id="22" name="Text 20"/>
          <p:cNvSpPr txBox="1"/>
          <p:nvPr/>
        </p:nvSpPr>
        <p:spPr>
          <a:xfrm>
            <a:off x="4855464" y="2369910"/>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44,342</a:t>
            </a:r>
            <a:endParaRPr lang="en-US" sz="1200" dirty="0"/>
          </a:p>
        </p:txBody>
      </p:sp>
      <p:sp>
        <p:nvSpPr>
          <p:cNvPr id="23" name="Text 21"/>
          <p:cNvSpPr txBox="1"/>
          <p:nvPr/>
        </p:nvSpPr>
        <p:spPr>
          <a:xfrm>
            <a:off x="658368" y="263132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63132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25" name="Shape 23"/>
          <p:cNvSpPr/>
          <p:nvPr/>
        </p:nvSpPr>
        <p:spPr>
          <a:xfrm>
            <a:off x="2980944" y="2701901"/>
            <a:ext cx="711662" cy="120249"/>
          </a:xfrm>
          <a:prstGeom prst="rect">
            <a:avLst/>
          </a:prstGeom>
          <a:solidFill>
            <a:srgbClr val="2587C5"/>
          </a:solidFill>
          <a:ln/>
        </p:spPr>
      </p:sp>
      <p:sp>
        <p:nvSpPr>
          <p:cNvPr id="26" name="Text 24"/>
          <p:cNvSpPr txBox="1"/>
          <p:nvPr/>
        </p:nvSpPr>
        <p:spPr>
          <a:xfrm>
            <a:off x="4855464" y="2631320"/>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30,401</a:t>
            </a:r>
            <a:endParaRPr lang="en-US" sz="1200" dirty="0"/>
          </a:p>
        </p:txBody>
      </p:sp>
      <p:sp>
        <p:nvSpPr>
          <p:cNvPr id="27" name="Text 25"/>
          <p:cNvSpPr txBox="1"/>
          <p:nvPr/>
        </p:nvSpPr>
        <p:spPr>
          <a:xfrm>
            <a:off x="658368" y="2892731"/>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92731"/>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29" name="Shape 27"/>
          <p:cNvSpPr/>
          <p:nvPr/>
        </p:nvSpPr>
        <p:spPr>
          <a:xfrm>
            <a:off x="2980944" y="2963312"/>
            <a:ext cx="649509" cy="120249"/>
          </a:xfrm>
          <a:prstGeom prst="rect">
            <a:avLst/>
          </a:prstGeom>
          <a:solidFill>
            <a:srgbClr val="2587C5"/>
          </a:solidFill>
          <a:ln/>
        </p:spPr>
      </p:sp>
      <p:sp>
        <p:nvSpPr>
          <p:cNvPr id="30" name="Text 28"/>
          <p:cNvSpPr txBox="1"/>
          <p:nvPr/>
        </p:nvSpPr>
        <p:spPr>
          <a:xfrm>
            <a:off x="4855464" y="2892731"/>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27,746</a:t>
            </a:r>
            <a:endParaRPr lang="en-US" sz="1200" dirty="0"/>
          </a:p>
        </p:txBody>
      </p:sp>
      <p:sp>
        <p:nvSpPr>
          <p:cNvPr id="31" name="Text 29"/>
          <p:cNvSpPr txBox="1"/>
          <p:nvPr/>
        </p:nvSpPr>
        <p:spPr>
          <a:xfrm>
            <a:off x="658368" y="3154142"/>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154142"/>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33" name="Shape 31"/>
          <p:cNvSpPr/>
          <p:nvPr/>
        </p:nvSpPr>
        <p:spPr>
          <a:xfrm>
            <a:off x="2980944" y="3224723"/>
            <a:ext cx="602764" cy="120249"/>
          </a:xfrm>
          <a:prstGeom prst="rect">
            <a:avLst/>
          </a:prstGeom>
          <a:solidFill>
            <a:srgbClr val="2587C5"/>
          </a:solidFill>
          <a:ln/>
        </p:spPr>
      </p:sp>
      <p:sp>
        <p:nvSpPr>
          <p:cNvPr id="34" name="Text 32"/>
          <p:cNvSpPr txBox="1"/>
          <p:nvPr/>
        </p:nvSpPr>
        <p:spPr>
          <a:xfrm>
            <a:off x="4855464" y="3154142"/>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25,749</a:t>
            </a:r>
            <a:endParaRPr lang="en-US" sz="1200" dirty="0"/>
          </a:p>
        </p:txBody>
      </p:sp>
      <p:sp>
        <p:nvSpPr>
          <p:cNvPr id="35" name="Text 33"/>
          <p:cNvSpPr txBox="1"/>
          <p:nvPr/>
        </p:nvSpPr>
        <p:spPr>
          <a:xfrm>
            <a:off x="658368" y="3415553"/>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415553"/>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37" name="Shape 35"/>
          <p:cNvSpPr/>
          <p:nvPr/>
        </p:nvSpPr>
        <p:spPr>
          <a:xfrm>
            <a:off x="2980944" y="3486134"/>
            <a:ext cx="498059" cy="120249"/>
          </a:xfrm>
          <a:prstGeom prst="rect">
            <a:avLst/>
          </a:prstGeom>
          <a:solidFill>
            <a:srgbClr val="2587C5"/>
          </a:solidFill>
          <a:ln/>
        </p:spPr>
      </p:sp>
      <p:sp>
        <p:nvSpPr>
          <p:cNvPr id="38" name="Text 36"/>
          <p:cNvSpPr txBox="1"/>
          <p:nvPr/>
        </p:nvSpPr>
        <p:spPr>
          <a:xfrm>
            <a:off x="4855464" y="3415553"/>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21,276</a:t>
            </a:r>
            <a:endParaRPr lang="en-US" sz="1200" dirty="0"/>
          </a:p>
        </p:txBody>
      </p:sp>
      <p:sp>
        <p:nvSpPr>
          <p:cNvPr id="39" name="Text 37"/>
          <p:cNvSpPr txBox="1"/>
          <p:nvPr/>
        </p:nvSpPr>
        <p:spPr>
          <a:xfrm>
            <a:off x="658368" y="3676964"/>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676964"/>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41" name="Shape 39"/>
          <p:cNvSpPr/>
          <p:nvPr/>
        </p:nvSpPr>
        <p:spPr>
          <a:xfrm>
            <a:off x="2980944" y="3747545"/>
            <a:ext cx="436748" cy="120249"/>
          </a:xfrm>
          <a:prstGeom prst="rect">
            <a:avLst/>
          </a:prstGeom>
          <a:solidFill>
            <a:srgbClr val="2587C5"/>
          </a:solidFill>
          <a:ln/>
        </p:spPr>
      </p:sp>
      <p:sp>
        <p:nvSpPr>
          <p:cNvPr id="42" name="Text 40"/>
          <p:cNvSpPr txBox="1"/>
          <p:nvPr/>
        </p:nvSpPr>
        <p:spPr>
          <a:xfrm>
            <a:off x="4855464" y="3676964"/>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18,657</a:t>
            </a:r>
            <a:endParaRPr lang="en-US" sz="1200" dirty="0"/>
          </a:p>
        </p:txBody>
      </p:sp>
      <p:sp>
        <p:nvSpPr>
          <p:cNvPr id="43" name="Text 41"/>
          <p:cNvSpPr txBox="1"/>
          <p:nvPr/>
        </p:nvSpPr>
        <p:spPr>
          <a:xfrm>
            <a:off x="658368" y="3938375"/>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938375"/>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45" name="Shape 43"/>
          <p:cNvSpPr/>
          <p:nvPr/>
        </p:nvSpPr>
        <p:spPr>
          <a:xfrm>
            <a:off x="2980944" y="4008956"/>
            <a:ext cx="419629" cy="120249"/>
          </a:xfrm>
          <a:prstGeom prst="rect">
            <a:avLst/>
          </a:prstGeom>
          <a:solidFill>
            <a:srgbClr val="2587C5"/>
          </a:solidFill>
          <a:ln/>
        </p:spPr>
      </p:sp>
      <p:sp>
        <p:nvSpPr>
          <p:cNvPr id="46" name="Text 44"/>
          <p:cNvSpPr txBox="1"/>
          <p:nvPr/>
        </p:nvSpPr>
        <p:spPr>
          <a:xfrm>
            <a:off x="4855464" y="3938375"/>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17,926</a:t>
            </a:r>
            <a:endParaRPr lang="en-US" sz="1200" dirty="0"/>
          </a:p>
        </p:txBody>
      </p:sp>
      <p:sp>
        <p:nvSpPr>
          <p:cNvPr id="47" name="Text 45"/>
          <p:cNvSpPr txBox="1"/>
          <p:nvPr/>
        </p:nvSpPr>
        <p:spPr>
          <a:xfrm>
            <a:off x="658368" y="4199785"/>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199785"/>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49" name="Shape 47"/>
          <p:cNvSpPr/>
          <p:nvPr/>
        </p:nvSpPr>
        <p:spPr>
          <a:xfrm>
            <a:off x="2980944" y="4270366"/>
            <a:ext cx="344483" cy="120249"/>
          </a:xfrm>
          <a:prstGeom prst="rect">
            <a:avLst/>
          </a:prstGeom>
          <a:solidFill>
            <a:srgbClr val="2587C5"/>
          </a:solidFill>
          <a:ln/>
        </p:spPr>
      </p:sp>
      <p:sp>
        <p:nvSpPr>
          <p:cNvPr id="50" name="Text 48"/>
          <p:cNvSpPr txBox="1"/>
          <p:nvPr/>
        </p:nvSpPr>
        <p:spPr>
          <a:xfrm>
            <a:off x="4855464" y="4199785"/>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14,716</a:t>
            </a:r>
            <a:endParaRPr lang="en-US" sz="1200" dirty="0"/>
          </a:p>
        </p:txBody>
      </p:sp>
      <p:sp>
        <p:nvSpPr>
          <p:cNvPr id="51" name="Text 49"/>
          <p:cNvSpPr txBox="1"/>
          <p:nvPr/>
        </p:nvSpPr>
        <p:spPr>
          <a:xfrm>
            <a:off x="658368" y="4461196"/>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461196"/>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53" name="Shape 51"/>
          <p:cNvSpPr/>
          <p:nvPr/>
        </p:nvSpPr>
        <p:spPr>
          <a:xfrm>
            <a:off x="2980944" y="4531777"/>
            <a:ext cx="341580" cy="120249"/>
          </a:xfrm>
          <a:prstGeom prst="rect">
            <a:avLst/>
          </a:prstGeom>
          <a:solidFill>
            <a:srgbClr val="2587C5"/>
          </a:solidFill>
          <a:ln/>
        </p:spPr>
      </p:sp>
      <p:sp>
        <p:nvSpPr>
          <p:cNvPr id="54" name="Text 52"/>
          <p:cNvSpPr txBox="1"/>
          <p:nvPr/>
        </p:nvSpPr>
        <p:spPr>
          <a:xfrm>
            <a:off x="4855464" y="4461196"/>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14,592</a:t>
            </a:r>
            <a:endParaRPr lang="en-US" sz="1200" dirty="0"/>
          </a:p>
        </p:txBody>
      </p:sp>
      <p:sp>
        <p:nvSpPr>
          <p:cNvPr id="55" name="Text 53"/>
          <p:cNvSpPr txBox="1"/>
          <p:nvPr/>
        </p:nvSpPr>
        <p:spPr>
          <a:xfrm>
            <a:off x="658368" y="4722607"/>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722607"/>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57" name="Shape 55"/>
          <p:cNvSpPr/>
          <p:nvPr/>
        </p:nvSpPr>
        <p:spPr>
          <a:xfrm>
            <a:off x="2980944" y="4793188"/>
            <a:ext cx="326318" cy="120249"/>
          </a:xfrm>
          <a:prstGeom prst="rect">
            <a:avLst/>
          </a:prstGeom>
          <a:solidFill>
            <a:srgbClr val="2587C5"/>
          </a:solidFill>
          <a:ln/>
        </p:spPr>
      </p:sp>
      <p:sp>
        <p:nvSpPr>
          <p:cNvPr id="58" name="Text 56"/>
          <p:cNvSpPr txBox="1"/>
          <p:nvPr/>
        </p:nvSpPr>
        <p:spPr>
          <a:xfrm>
            <a:off x="4855464" y="4722607"/>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13,940</a:t>
            </a:r>
            <a:endParaRPr lang="en-US" sz="1200" dirty="0"/>
          </a:p>
        </p:txBody>
      </p:sp>
      <p:sp>
        <p:nvSpPr>
          <p:cNvPr id="59" name="Text 57"/>
          <p:cNvSpPr txBox="1"/>
          <p:nvPr/>
        </p:nvSpPr>
        <p:spPr>
          <a:xfrm>
            <a:off x="658368" y="4984018"/>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984018"/>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61" name="Shape 59"/>
          <p:cNvSpPr/>
          <p:nvPr/>
        </p:nvSpPr>
        <p:spPr>
          <a:xfrm>
            <a:off x="2980944" y="5054599"/>
            <a:ext cx="308206" cy="120249"/>
          </a:xfrm>
          <a:prstGeom prst="rect">
            <a:avLst/>
          </a:prstGeom>
          <a:solidFill>
            <a:srgbClr val="2587C5"/>
          </a:solidFill>
          <a:ln/>
        </p:spPr>
      </p:sp>
      <p:sp>
        <p:nvSpPr>
          <p:cNvPr id="62" name="Text 60"/>
          <p:cNvSpPr txBox="1"/>
          <p:nvPr/>
        </p:nvSpPr>
        <p:spPr>
          <a:xfrm>
            <a:off x="4855464" y="4984018"/>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13,166</a:t>
            </a:r>
            <a:endParaRPr lang="en-US" sz="1200" dirty="0"/>
          </a:p>
        </p:txBody>
      </p:sp>
      <p:sp>
        <p:nvSpPr>
          <p:cNvPr id="63" name="Text 61"/>
          <p:cNvSpPr txBox="1"/>
          <p:nvPr/>
        </p:nvSpPr>
        <p:spPr>
          <a:xfrm>
            <a:off x="658368" y="5245429"/>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5245429"/>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65" name="Shape 63"/>
          <p:cNvSpPr/>
          <p:nvPr/>
        </p:nvSpPr>
        <p:spPr>
          <a:xfrm>
            <a:off x="2980944" y="5316010"/>
            <a:ext cx="299995" cy="120249"/>
          </a:xfrm>
          <a:prstGeom prst="rect">
            <a:avLst/>
          </a:prstGeom>
          <a:solidFill>
            <a:srgbClr val="2587C5"/>
          </a:solidFill>
          <a:ln/>
        </p:spPr>
      </p:sp>
      <p:sp>
        <p:nvSpPr>
          <p:cNvPr id="66" name="Text 64"/>
          <p:cNvSpPr txBox="1"/>
          <p:nvPr/>
        </p:nvSpPr>
        <p:spPr>
          <a:xfrm>
            <a:off x="4855464" y="5245429"/>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12,815</a:t>
            </a:r>
            <a:endParaRPr lang="en-US" sz="1200" dirty="0"/>
          </a:p>
        </p:txBody>
      </p:sp>
      <p:sp>
        <p:nvSpPr>
          <p:cNvPr id="67" name="Text 65"/>
          <p:cNvSpPr txBox="1"/>
          <p:nvPr/>
        </p:nvSpPr>
        <p:spPr>
          <a:xfrm>
            <a:off x="658368" y="550684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50684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69" name="Shape 67"/>
          <p:cNvSpPr/>
          <p:nvPr/>
        </p:nvSpPr>
        <p:spPr>
          <a:xfrm>
            <a:off x="2980944" y="5577420"/>
            <a:ext cx="298846" cy="120249"/>
          </a:xfrm>
          <a:prstGeom prst="rect">
            <a:avLst/>
          </a:prstGeom>
          <a:solidFill>
            <a:srgbClr val="2587C5"/>
          </a:solidFill>
          <a:ln/>
        </p:spPr>
      </p:sp>
      <p:sp>
        <p:nvSpPr>
          <p:cNvPr id="70" name="Text 68"/>
          <p:cNvSpPr txBox="1"/>
          <p:nvPr/>
        </p:nvSpPr>
        <p:spPr>
          <a:xfrm>
            <a:off x="4855464" y="5506840"/>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12,766</a:t>
            </a:r>
            <a:endParaRPr lang="en-US" sz="1200" dirty="0"/>
          </a:p>
        </p:txBody>
      </p:sp>
      <p:sp>
        <p:nvSpPr>
          <p:cNvPr id="71" name="Text 69"/>
          <p:cNvSpPr txBox="1"/>
          <p:nvPr/>
        </p:nvSpPr>
        <p:spPr>
          <a:xfrm>
            <a:off x="658368" y="576825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76825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73" name="Shape 71"/>
          <p:cNvSpPr/>
          <p:nvPr/>
        </p:nvSpPr>
        <p:spPr>
          <a:xfrm>
            <a:off x="2980944" y="5838831"/>
            <a:ext cx="298644" cy="120249"/>
          </a:xfrm>
          <a:prstGeom prst="rect">
            <a:avLst/>
          </a:prstGeom>
          <a:solidFill>
            <a:srgbClr val="2587C5"/>
          </a:solidFill>
          <a:ln/>
        </p:spPr>
      </p:sp>
      <p:sp>
        <p:nvSpPr>
          <p:cNvPr id="74" name="Text 72"/>
          <p:cNvSpPr txBox="1"/>
          <p:nvPr/>
        </p:nvSpPr>
        <p:spPr>
          <a:xfrm>
            <a:off x="4855464" y="5768250"/>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12,757</a:t>
            </a:r>
            <a:endParaRPr lang="en-US" sz="1200" dirty="0"/>
          </a:p>
        </p:txBody>
      </p:sp>
      <p:sp>
        <p:nvSpPr>
          <p:cNvPr id="75" name="Text 73"/>
          <p:cNvSpPr txBox="1"/>
          <p:nvPr/>
        </p:nvSpPr>
        <p:spPr>
          <a:xfrm>
            <a:off x="658368" y="6029661"/>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6029661"/>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77" name="Shape 75"/>
          <p:cNvSpPr/>
          <p:nvPr/>
        </p:nvSpPr>
        <p:spPr>
          <a:xfrm>
            <a:off x="2980944" y="6100242"/>
            <a:ext cx="276102" cy="120249"/>
          </a:xfrm>
          <a:prstGeom prst="rect">
            <a:avLst/>
          </a:prstGeom>
          <a:solidFill>
            <a:srgbClr val="2587C5"/>
          </a:solidFill>
          <a:ln/>
        </p:spPr>
      </p:sp>
      <p:sp>
        <p:nvSpPr>
          <p:cNvPr id="78" name="Text 76"/>
          <p:cNvSpPr txBox="1"/>
          <p:nvPr/>
        </p:nvSpPr>
        <p:spPr>
          <a:xfrm>
            <a:off x="4855464" y="6029661"/>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11,795</a:t>
            </a:r>
            <a:endParaRPr lang="en-US" sz="1200" dirty="0"/>
          </a:p>
        </p:txBody>
      </p:sp>
      <p:sp>
        <p:nvSpPr>
          <p:cNvPr id="79" name="Text 77"/>
          <p:cNvSpPr txBox="1"/>
          <p:nvPr/>
        </p:nvSpPr>
        <p:spPr>
          <a:xfrm>
            <a:off x="6208776" y="1847088"/>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81" name="Shape 79"/>
          <p:cNvSpPr/>
          <p:nvPr/>
        </p:nvSpPr>
        <p:spPr>
          <a:xfrm>
            <a:off x="8531352" y="1917669"/>
            <a:ext cx="257333" cy="120249"/>
          </a:xfrm>
          <a:prstGeom prst="rect">
            <a:avLst/>
          </a:prstGeom>
          <a:solidFill>
            <a:srgbClr val="2587C5"/>
          </a:solidFill>
          <a:ln/>
        </p:spPr>
      </p:sp>
      <p:sp>
        <p:nvSpPr>
          <p:cNvPr id="82" name="Text 80"/>
          <p:cNvSpPr txBox="1"/>
          <p:nvPr/>
        </p:nvSpPr>
        <p:spPr>
          <a:xfrm>
            <a:off x="10405872" y="1847088"/>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10,993</a:t>
            </a:r>
            <a:endParaRPr lang="en-US" sz="1200" dirty="0"/>
          </a:p>
        </p:txBody>
      </p:sp>
      <p:sp>
        <p:nvSpPr>
          <p:cNvPr id="83" name="Text 81"/>
          <p:cNvSpPr txBox="1"/>
          <p:nvPr/>
        </p:nvSpPr>
        <p:spPr>
          <a:xfrm>
            <a:off x="6208776" y="2108499"/>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108499"/>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85" name="Shape 83"/>
          <p:cNvSpPr/>
          <p:nvPr/>
        </p:nvSpPr>
        <p:spPr>
          <a:xfrm>
            <a:off x="8531352" y="2179080"/>
            <a:ext cx="250095" cy="120249"/>
          </a:xfrm>
          <a:prstGeom prst="rect">
            <a:avLst/>
          </a:prstGeom>
          <a:solidFill>
            <a:srgbClr val="2587C5"/>
          </a:solidFill>
          <a:ln/>
        </p:spPr>
      </p:sp>
      <p:sp>
        <p:nvSpPr>
          <p:cNvPr id="86" name="Text 84"/>
          <p:cNvSpPr txBox="1"/>
          <p:nvPr/>
        </p:nvSpPr>
        <p:spPr>
          <a:xfrm>
            <a:off x="10405872" y="2108499"/>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10,684</a:t>
            </a:r>
            <a:endParaRPr lang="en-US" sz="1200" dirty="0"/>
          </a:p>
        </p:txBody>
      </p:sp>
      <p:sp>
        <p:nvSpPr>
          <p:cNvPr id="87" name="Text 85"/>
          <p:cNvSpPr txBox="1"/>
          <p:nvPr/>
        </p:nvSpPr>
        <p:spPr>
          <a:xfrm>
            <a:off x="6208776" y="236991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6991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89" name="Shape 87"/>
          <p:cNvSpPr/>
          <p:nvPr/>
        </p:nvSpPr>
        <p:spPr>
          <a:xfrm>
            <a:off x="8531352" y="2440491"/>
            <a:ext cx="222717" cy="120249"/>
          </a:xfrm>
          <a:prstGeom prst="rect">
            <a:avLst/>
          </a:prstGeom>
          <a:solidFill>
            <a:srgbClr val="2587C5"/>
          </a:solidFill>
          <a:ln/>
        </p:spPr>
      </p:sp>
      <p:sp>
        <p:nvSpPr>
          <p:cNvPr id="90" name="Text 88"/>
          <p:cNvSpPr txBox="1"/>
          <p:nvPr/>
        </p:nvSpPr>
        <p:spPr>
          <a:xfrm>
            <a:off x="10405872" y="2369910"/>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9,514</a:t>
            </a:r>
            <a:endParaRPr lang="en-US" sz="1200" dirty="0"/>
          </a:p>
        </p:txBody>
      </p:sp>
      <p:sp>
        <p:nvSpPr>
          <p:cNvPr id="91" name="Text 89"/>
          <p:cNvSpPr txBox="1"/>
          <p:nvPr/>
        </p:nvSpPr>
        <p:spPr>
          <a:xfrm>
            <a:off x="6208776" y="263132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63132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93" name="Shape 91"/>
          <p:cNvSpPr/>
          <p:nvPr/>
        </p:nvSpPr>
        <p:spPr>
          <a:xfrm>
            <a:off x="8531352" y="2701901"/>
            <a:ext cx="194260" cy="120249"/>
          </a:xfrm>
          <a:prstGeom prst="rect">
            <a:avLst/>
          </a:prstGeom>
          <a:solidFill>
            <a:srgbClr val="2587C5"/>
          </a:solidFill>
          <a:ln/>
        </p:spPr>
      </p:sp>
      <p:sp>
        <p:nvSpPr>
          <p:cNvPr id="94" name="Text 92"/>
          <p:cNvSpPr txBox="1"/>
          <p:nvPr/>
        </p:nvSpPr>
        <p:spPr>
          <a:xfrm>
            <a:off x="10405872" y="2631320"/>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8,298</a:t>
            </a:r>
            <a:endParaRPr lang="en-US" sz="1200" dirty="0"/>
          </a:p>
        </p:txBody>
      </p:sp>
      <p:sp>
        <p:nvSpPr>
          <p:cNvPr id="95" name="Text 93"/>
          <p:cNvSpPr txBox="1"/>
          <p:nvPr/>
        </p:nvSpPr>
        <p:spPr>
          <a:xfrm>
            <a:off x="6208776" y="2892731"/>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92731"/>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97" name="Shape 95"/>
          <p:cNvSpPr/>
          <p:nvPr/>
        </p:nvSpPr>
        <p:spPr>
          <a:xfrm>
            <a:off x="8531352" y="2963312"/>
            <a:ext cx="190890" cy="120249"/>
          </a:xfrm>
          <a:prstGeom prst="rect">
            <a:avLst/>
          </a:prstGeom>
          <a:solidFill>
            <a:srgbClr val="2587C5"/>
          </a:solidFill>
          <a:ln/>
        </p:spPr>
      </p:sp>
      <p:sp>
        <p:nvSpPr>
          <p:cNvPr id="98" name="Text 96"/>
          <p:cNvSpPr txBox="1"/>
          <p:nvPr/>
        </p:nvSpPr>
        <p:spPr>
          <a:xfrm>
            <a:off x="10405872" y="2892731"/>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8,154</a:t>
            </a:r>
            <a:endParaRPr lang="en-US" sz="1200" dirty="0"/>
          </a:p>
        </p:txBody>
      </p:sp>
      <p:sp>
        <p:nvSpPr>
          <p:cNvPr id="99" name="Text 97"/>
          <p:cNvSpPr txBox="1"/>
          <p:nvPr/>
        </p:nvSpPr>
        <p:spPr>
          <a:xfrm>
            <a:off x="6208776" y="3154142"/>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154142"/>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101" name="Shape 99"/>
          <p:cNvSpPr/>
          <p:nvPr/>
        </p:nvSpPr>
        <p:spPr>
          <a:xfrm>
            <a:off x="8531352" y="3224723"/>
            <a:ext cx="181408" cy="120249"/>
          </a:xfrm>
          <a:prstGeom prst="rect">
            <a:avLst/>
          </a:prstGeom>
          <a:solidFill>
            <a:srgbClr val="2587C5"/>
          </a:solidFill>
          <a:ln/>
        </p:spPr>
      </p:sp>
      <p:sp>
        <p:nvSpPr>
          <p:cNvPr id="102" name="Text 100"/>
          <p:cNvSpPr txBox="1"/>
          <p:nvPr/>
        </p:nvSpPr>
        <p:spPr>
          <a:xfrm>
            <a:off x="10405872" y="3154142"/>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7,749</a:t>
            </a:r>
            <a:endParaRPr lang="en-US" sz="1200" dirty="0"/>
          </a:p>
        </p:txBody>
      </p:sp>
      <p:sp>
        <p:nvSpPr>
          <p:cNvPr id="103" name="Text 101"/>
          <p:cNvSpPr txBox="1"/>
          <p:nvPr/>
        </p:nvSpPr>
        <p:spPr>
          <a:xfrm>
            <a:off x="6208776" y="3415553"/>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415553"/>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05" name="Shape 103"/>
          <p:cNvSpPr/>
          <p:nvPr/>
        </p:nvSpPr>
        <p:spPr>
          <a:xfrm>
            <a:off x="8531352" y="3486134"/>
            <a:ext cx="157098" cy="120249"/>
          </a:xfrm>
          <a:prstGeom prst="rect">
            <a:avLst/>
          </a:prstGeom>
          <a:solidFill>
            <a:srgbClr val="2587C5"/>
          </a:solidFill>
          <a:ln/>
        </p:spPr>
      </p:sp>
      <p:sp>
        <p:nvSpPr>
          <p:cNvPr id="106" name="Text 104"/>
          <p:cNvSpPr txBox="1"/>
          <p:nvPr/>
        </p:nvSpPr>
        <p:spPr>
          <a:xfrm>
            <a:off x="10405872" y="3415553"/>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6,711</a:t>
            </a:r>
            <a:endParaRPr lang="en-US" sz="1200" dirty="0"/>
          </a:p>
        </p:txBody>
      </p:sp>
      <p:sp>
        <p:nvSpPr>
          <p:cNvPr id="107" name="Text 105"/>
          <p:cNvSpPr txBox="1"/>
          <p:nvPr/>
        </p:nvSpPr>
        <p:spPr>
          <a:xfrm>
            <a:off x="6208776" y="3676964"/>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676964"/>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09" name="Shape 107"/>
          <p:cNvSpPr/>
          <p:nvPr/>
        </p:nvSpPr>
        <p:spPr>
          <a:xfrm>
            <a:off x="8531352" y="3747545"/>
            <a:ext cx="152958" cy="120249"/>
          </a:xfrm>
          <a:prstGeom prst="rect">
            <a:avLst/>
          </a:prstGeom>
          <a:solidFill>
            <a:srgbClr val="2587C5"/>
          </a:solidFill>
          <a:ln/>
        </p:spPr>
      </p:sp>
      <p:sp>
        <p:nvSpPr>
          <p:cNvPr id="110" name="Text 108"/>
          <p:cNvSpPr txBox="1"/>
          <p:nvPr/>
        </p:nvSpPr>
        <p:spPr>
          <a:xfrm>
            <a:off x="10405872" y="3676964"/>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6,534</a:t>
            </a:r>
            <a:endParaRPr lang="en-US" sz="1200" dirty="0"/>
          </a:p>
        </p:txBody>
      </p:sp>
      <p:sp>
        <p:nvSpPr>
          <p:cNvPr id="111" name="Text 109"/>
          <p:cNvSpPr txBox="1"/>
          <p:nvPr/>
        </p:nvSpPr>
        <p:spPr>
          <a:xfrm>
            <a:off x="6208776" y="3938375"/>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938375"/>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113" name="Shape 111"/>
          <p:cNvSpPr/>
          <p:nvPr/>
        </p:nvSpPr>
        <p:spPr>
          <a:xfrm>
            <a:off x="8531352" y="4008956"/>
            <a:ext cx="145645" cy="120249"/>
          </a:xfrm>
          <a:prstGeom prst="rect">
            <a:avLst/>
          </a:prstGeom>
          <a:solidFill>
            <a:srgbClr val="2587C5"/>
          </a:solidFill>
          <a:ln/>
        </p:spPr>
      </p:sp>
      <p:sp>
        <p:nvSpPr>
          <p:cNvPr id="114" name="Text 112"/>
          <p:cNvSpPr txBox="1"/>
          <p:nvPr/>
        </p:nvSpPr>
        <p:spPr>
          <a:xfrm>
            <a:off x="10405872" y="3938375"/>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6,222</a:t>
            </a:r>
            <a:endParaRPr lang="en-US" sz="1200" dirty="0"/>
          </a:p>
        </p:txBody>
      </p:sp>
      <p:sp>
        <p:nvSpPr>
          <p:cNvPr id="115" name="Text 113"/>
          <p:cNvSpPr txBox="1"/>
          <p:nvPr/>
        </p:nvSpPr>
        <p:spPr>
          <a:xfrm>
            <a:off x="6208776" y="4199785"/>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199785"/>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17" name="Shape 115"/>
          <p:cNvSpPr/>
          <p:nvPr/>
        </p:nvSpPr>
        <p:spPr>
          <a:xfrm>
            <a:off x="8531352" y="4270366"/>
            <a:ext cx="142349" cy="120249"/>
          </a:xfrm>
          <a:prstGeom prst="rect">
            <a:avLst/>
          </a:prstGeom>
          <a:solidFill>
            <a:srgbClr val="2587C5"/>
          </a:solidFill>
          <a:ln/>
        </p:spPr>
      </p:sp>
      <p:sp>
        <p:nvSpPr>
          <p:cNvPr id="118" name="Text 116"/>
          <p:cNvSpPr txBox="1"/>
          <p:nvPr/>
        </p:nvSpPr>
        <p:spPr>
          <a:xfrm>
            <a:off x="10405872" y="4199785"/>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6,081</a:t>
            </a:r>
            <a:endParaRPr lang="en-US" sz="1200" dirty="0"/>
          </a:p>
        </p:txBody>
      </p:sp>
      <p:sp>
        <p:nvSpPr>
          <p:cNvPr id="119" name="Text 117"/>
          <p:cNvSpPr txBox="1"/>
          <p:nvPr/>
        </p:nvSpPr>
        <p:spPr>
          <a:xfrm>
            <a:off x="6208776" y="4461196"/>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461196"/>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21" name="Shape 119"/>
          <p:cNvSpPr/>
          <p:nvPr/>
        </p:nvSpPr>
        <p:spPr>
          <a:xfrm>
            <a:off x="8531352" y="4531777"/>
            <a:ext cx="122032" cy="120249"/>
          </a:xfrm>
          <a:prstGeom prst="rect">
            <a:avLst/>
          </a:prstGeom>
          <a:solidFill>
            <a:srgbClr val="2587C5"/>
          </a:solidFill>
          <a:ln/>
        </p:spPr>
      </p:sp>
      <p:sp>
        <p:nvSpPr>
          <p:cNvPr id="122" name="Text 120"/>
          <p:cNvSpPr txBox="1"/>
          <p:nvPr/>
        </p:nvSpPr>
        <p:spPr>
          <a:xfrm>
            <a:off x="10405872" y="4461196"/>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5,213</a:t>
            </a:r>
            <a:endParaRPr lang="en-US" sz="1200" dirty="0"/>
          </a:p>
        </p:txBody>
      </p:sp>
      <p:sp>
        <p:nvSpPr>
          <p:cNvPr id="123" name="Text 121"/>
          <p:cNvSpPr txBox="1"/>
          <p:nvPr/>
        </p:nvSpPr>
        <p:spPr>
          <a:xfrm>
            <a:off x="6208776" y="4722607"/>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722607"/>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25" name="Shape 123"/>
          <p:cNvSpPr/>
          <p:nvPr/>
        </p:nvSpPr>
        <p:spPr>
          <a:xfrm>
            <a:off x="8531352" y="4793188"/>
            <a:ext cx="118093" cy="120249"/>
          </a:xfrm>
          <a:prstGeom prst="rect">
            <a:avLst/>
          </a:prstGeom>
          <a:solidFill>
            <a:srgbClr val="2587C5"/>
          </a:solidFill>
          <a:ln/>
        </p:spPr>
      </p:sp>
      <p:sp>
        <p:nvSpPr>
          <p:cNvPr id="126" name="Text 124"/>
          <p:cNvSpPr txBox="1"/>
          <p:nvPr/>
        </p:nvSpPr>
        <p:spPr>
          <a:xfrm>
            <a:off x="10405872" y="4722607"/>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5,045</a:t>
            </a:r>
            <a:endParaRPr lang="en-US" sz="1200" dirty="0"/>
          </a:p>
        </p:txBody>
      </p:sp>
      <p:sp>
        <p:nvSpPr>
          <p:cNvPr id="127" name="Text 125"/>
          <p:cNvSpPr txBox="1"/>
          <p:nvPr/>
        </p:nvSpPr>
        <p:spPr>
          <a:xfrm>
            <a:off x="6208776" y="4984018"/>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984018"/>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129" name="Shape 127"/>
          <p:cNvSpPr/>
          <p:nvPr/>
        </p:nvSpPr>
        <p:spPr>
          <a:xfrm>
            <a:off x="8531352" y="5054599"/>
            <a:ext cx="115857" cy="120249"/>
          </a:xfrm>
          <a:prstGeom prst="rect">
            <a:avLst/>
          </a:prstGeom>
          <a:solidFill>
            <a:srgbClr val="2587C5"/>
          </a:solidFill>
          <a:ln/>
        </p:spPr>
      </p:sp>
      <p:sp>
        <p:nvSpPr>
          <p:cNvPr id="130" name="Text 128"/>
          <p:cNvSpPr txBox="1"/>
          <p:nvPr/>
        </p:nvSpPr>
        <p:spPr>
          <a:xfrm>
            <a:off x="10405872" y="4984018"/>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4,949</a:t>
            </a:r>
            <a:endParaRPr lang="en-US" sz="1200" dirty="0"/>
          </a:p>
        </p:txBody>
      </p:sp>
      <p:sp>
        <p:nvSpPr>
          <p:cNvPr id="131" name="Text 129"/>
          <p:cNvSpPr txBox="1"/>
          <p:nvPr/>
        </p:nvSpPr>
        <p:spPr>
          <a:xfrm>
            <a:off x="6208776" y="5245429"/>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5245429"/>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33" name="Shape 131"/>
          <p:cNvSpPr/>
          <p:nvPr/>
        </p:nvSpPr>
        <p:spPr>
          <a:xfrm>
            <a:off x="8531352" y="5316010"/>
            <a:ext cx="111992" cy="120249"/>
          </a:xfrm>
          <a:prstGeom prst="rect">
            <a:avLst/>
          </a:prstGeom>
          <a:solidFill>
            <a:srgbClr val="2587C5"/>
          </a:solidFill>
          <a:ln/>
        </p:spPr>
      </p:sp>
      <p:sp>
        <p:nvSpPr>
          <p:cNvPr id="134" name="Text 132"/>
          <p:cNvSpPr txBox="1"/>
          <p:nvPr/>
        </p:nvSpPr>
        <p:spPr>
          <a:xfrm>
            <a:off x="10405872" y="5245429"/>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4,784</a:t>
            </a:r>
            <a:endParaRPr lang="en-US" sz="1200" dirty="0"/>
          </a:p>
        </p:txBody>
      </p:sp>
      <p:sp>
        <p:nvSpPr>
          <p:cNvPr id="135" name="Text 133"/>
          <p:cNvSpPr txBox="1"/>
          <p:nvPr/>
        </p:nvSpPr>
        <p:spPr>
          <a:xfrm>
            <a:off x="6208776" y="550684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50684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37" name="Shape 135"/>
          <p:cNvSpPr/>
          <p:nvPr/>
        </p:nvSpPr>
        <p:spPr>
          <a:xfrm>
            <a:off x="8531352" y="5577420"/>
            <a:ext cx="76952" cy="120249"/>
          </a:xfrm>
          <a:prstGeom prst="rect">
            <a:avLst/>
          </a:prstGeom>
          <a:solidFill>
            <a:srgbClr val="2587C5"/>
          </a:solidFill>
          <a:ln/>
        </p:spPr>
      </p:sp>
      <p:sp>
        <p:nvSpPr>
          <p:cNvPr id="138" name="Text 136"/>
          <p:cNvSpPr txBox="1"/>
          <p:nvPr/>
        </p:nvSpPr>
        <p:spPr>
          <a:xfrm>
            <a:off x="10405872" y="5506840"/>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3,287</a:t>
            </a:r>
            <a:endParaRPr lang="en-US" sz="1200" dirty="0"/>
          </a:p>
        </p:txBody>
      </p:sp>
      <p:sp>
        <p:nvSpPr>
          <p:cNvPr id="139" name="Text 137"/>
          <p:cNvSpPr txBox="1"/>
          <p:nvPr/>
        </p:nvSpPr>
        <p:spPr>
          <a:xfrm>
            <a:off x="6208776" y="5768250"/>
            <a:ext cx="310896" cy="261411"/>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768250"/>
            <a:ext cx="1920240" cy="261411"/>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41" name="Shape 139"/>
          <p:cNvSpPr/>
          <p:nvPr/>
        </p:nvSpPr>
        <p:spPr>
          <a:xfrm>
            <a:off x="8531352" y="5838831"/>
            <a:ext cx="76698" cy="120249"/>
          </a:xfrm>
          <a:prstGeom prst="rect">
            <a:avLst/>
          </a:prstGeom>
          <a:solidFill>
            <a:srgbClr val="2587C5"/>
          </a:solidFill>
          <a:ln/>
        </p:spPr>
      </p:sp>
      <p:sp>
        <p:nvSpPr>
          <p:cNvPr id="142" name="Text 140"/>
          <p:cNvSpPr txBox="1"/>
          <p:nvPr/>
        </p:nvSpPr>
        <p:spPr>
          <a:xfrm>
            <a:off x="10405872" y="5768250"/>
            <a:ext cx="1097280" cy="261411"/>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3,276</a:t>
            </a:r>
            <a:endParaRPr lang="en-US" sz="1200" dirty="0"/>
          </a:p>
        </p:txBody>
      </p:sp>
      <p:sp>
        <p:nvSpPr>
          <p:cNvPr id="143" name="Shape 141"/>
          <p:cNvSpPr/>
          <p:nvPr/>
        </p:nvSpPr>
        <p:spPr>
          <a:xfrm>
            <a:off x="6085332" y="1847088"/>
            <a:ext cx="10973" cy="4443984"/>
          </a:xfrm>
          <a:prstGeom prst="rect">
            <a:avLst/>
          </a:prstGeom>
          <a:solidFill>
            <a:srgbClr val="D9D9D9"/>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Customer Pay Hours Sold</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85369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CUSTOMER PAY HOURS SOLD</a:t>
            </a:r>
            <a:endParaRPr lang="en-US" sz="1500" dirty="0"/>
          </a:p>
        </p:txBody>
      </p:sp>
      <p:sp>
        <p:nvSpPr>
          <p:cNvPr id="9" name="Text 7"/>
          <p:cNvSpPr txBox="1"/>
          <p:nvPr/>
        </p:nvSpPr>
        <p:spPr>
          <a:xfrm>
            <a:off x="3768090" y="1335024"/>
            <a:ext cx="427863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YEAR-OVER-YEAR CHANGE</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7A4A"/>
                </a:solidFill>
                <a:latin typeface="Inter" pitchFamily="34" charset="0"/>
                <a:ea typeface="Inter" pitchFamily="34" charset="-122"/>
                <a:cs typeface="Inter" pitchFamily="34" charset="-120"/>
              </a:rPr>
              <a:t>+3.8%</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13" name="Shape 11"/>
          <p:cNvSpPr/>
          <p:nvPr/>
        </p:nvSpPr>
        <p:spPr>
          <a:xfrm>
            <a:off x="3785616" y="1911860"/>
            <a:ext cx="777240" cy="110352"/>
          </a:xfrm>
          <a:prstGeom prst="rect">
            <a:avLst/>
          </a:prstGeom>
          <a:solidFill>
            <a:srgbClr val="12A566"/>
          </a:solidFill>
          <a:ln/>
        </p:spPr>
      </p:sp>
      <p:sp>
        <p:nvSpPr>
          <p:cNvPr id="14" name="Text 12"/>
          <p:cNvSpPr txBox="1"/>
          <p:nvPr/>
        </p:nvSpPr>
        <p:spPr>
          <a:xfrm>
            <a:off x="4617720" y="184708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+44.6%</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17" name="Shape 15"/>
          <p:cNvSpPr/>
          <p:nvPr/>
        </p:nvSpPr>
        <p:spPr>
          <a:xfrm>
            <a:off x="3785616" y="2151755"/>
            <a:ext cx="608749" cy="110352"/>
          </a:xfrm>
          <a:prstGeom prst="rect">
            <a:avLst/>
          </a:prstGeom>
          <a:solidFill>
            <a:srgbClr val="12A566"/>
          </a:solidFill>
          <a:ln/>
        </p:spPr>
      </p:sp>
      <p:sp>
        <p:nvSpPr>
          <p:cNvPr id="18" name="Text 16"/>
          <p:cNvSpPr txBox="1"/>
          <p:nvPr/>
        </p:nvSpPr>
        <p:spPr>
          <a:xfrm>
            <a:off x="4617720" y="208698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+35.0%</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21" name="Shape 19"/>
          <p:cNvSpPr/>
          <p:nvPr/>
        </p:nvSpPr>
        <p:spPr>
          <a:xfrm>
            <a:off x="3785616" y="2391651"/>
            <a:ext cx="589865" cy="110352"/>
          </a:xfrm>
          <a:prstGeom prst="rect">
            <a:avLst/>
          </a:prstGeom>
          <a:solidFill>
            <a:srgbClr val="12A566"/>
          </a:solidFill>
          <a:ln/>
        </p:spPr>
      </p:sp>
      <p:sp>
        <p:nvSpPr>
          <p:cNvPr id="22" name="Text 20"/>
          <p:cNvSpPr txBox="1"/>
          <p:nvPr/>
        </p:nvSpPr>
        <p:spPr>
          <a:xfrm>
            <a:off x="4617720" y="232687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+33.9%</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25" name="Shape 23"/>
          <p:cNvSpPr/>
          <p:nvPr/>
        </p:nvSpPr>
        <p:spPr>
          <a:xfrm>
            <a:off x="3785616" y="2631546"/>
            <a:ext cx="502608" cy="110352"/>
          </a:xfrm>
          <a:prstGeom prst="rect">
            <a:avLst/>
          </a:prstGeom>
          <a:solidFill>
            <a:srgbClr val="12A566"/>
          </a:solidFill>
          <a:ln/>
        </p:spPr>
      </p:sp>
      <p:sp>
        <p:nvSpPr>
          <p:cNvPr id="26" name="Text 24"/>
          <p:cNvSpPr txBox="1"/>
          <p:nvPr/>
        </p:nvSpPr>
        <p:spPr>
          <a:xfrm>
            <a:off x="4617720" y="256677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+28.9%</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29" name="Shape 27"/>
          <p:cNvSpPr/>
          <p:nvPr/>
        </p:nvSpPr>
        <p:spPr>
          <a:xfrm>
            <a:off x="3785616" y="2871442"/>
            <a:ext cx="489520" cy="110352"/>
          </a:xfrm>
          <a:prstGeom prst="rect">
            <a:avLst/>
          </a:prstGeom>
          <a:solidFill>
            <a:srgbClr val="12A566"/>
          </a:solidFill>
          <a:ln/>
        </p:spPr>
      </p:sp>
      <p:sp>
        <p:nvSpPr>
          <p:cNvPr id="30" name="Text 28"/>
          <p:cNvSpPr txBox="1"/>
          <p:nvPr/>
        </p:nvSpPr>
        <p:spPr>
          <a:xfrm>
            <a:off x="4617720" y="280667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+28.1%</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33" name="Shape 31"/>
          <p:cNvSpPr/>
          <p:nvPr/>
        </p:nvSpPr>
        <p:spPr>
          <a:xfrm>
            <a:off x="3785616" y="3111337"/>
            <a:ext cx="475887" cy="110352"/>
          </a:xfrm>
          <a:prstGeom prst="rect">
            <a:avLst/>
          </a:prstGeom>
          <a:solidFill>
            <a:srgbClr val="12A566"/>
          </a:solidFill>
          <a:ln/>
        </p:spPr>
      </p:sp>
      <p:sp>
        <p:nvSpPr>
          <p:cNvPr id="34" name="Text 32"/>
          <p:cNvSpPr txBox="1"/>
          <p:nvPr/>
        </p:nvSpPr>
        <p:spPr>
          <a:xfrm>
            <a:off x="4617720" y="3046566"/>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+27.3%</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37" name="Shape 35"/>
          <p:cNvSpPr/>
          <p:nvPr/>
        </p:nvSpPr>
        <p:spPr>
          <a:xfrm>
            <a:off x="3785616" y="3351233"/>
            <a:ext cx="403394" cy="110352"/>
          </a:xfrm>
          <a:prstGeom prst="rect">
            <a:avLst/>
          </a:prstGeom>
          <a:solidFill>
            <a:srgbClr val="12A566"/>
          </a:solidFill>
          <a:ln/>
        </p:spPr>
      </p:sp>
      <p:sp>
        <p:nvSpPr>
          <p:cNvPr id="38" name="Text 36"/>
          <p:cNvSpPr txBox="1"/>
          <p:nvPr/>
        </p:nvSpPr>
        <p:spPr>
          <a:xfrm>
            <a:off x="4617720" y="3286461"/>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+23.2%</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41" name="Shape 39"/>
          <p:cNvSpPr/>
          <p:nvPr/>
        </p:nvSpPr>
        <p:spPr>
          <a:xfrm>
            <a:off x="3785616" y="3591128"/>
            <a:ext cx="320015" cy="110352"/>
          </a:xfrm>
          <a:prstGeom prst="rect">
            <a:avLst/>
          </a:prstGeom>
          <a:solidFill>
            <a:srgbClr val="12A566"/>
          </a:solidFill>
          <a:ln/>
        </p:spPr>
      </p:sp>
      <p:sp>
        <p:nvSpPr>
          <p:cNvPr id="42" name="Text 40"/>
          <p:cNvSpPr txBox="1"/>
          <p:nvPr/>
        </p:nvSpPr>
        <p:spPr>
          <a:xfrm>
            <a:off x="4617720" y="3526357"/>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+18.4%</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45" name="Shape 43"/>
          <p:cNvSpPr/>
          <p:nvPr/>
        </p:nvSpPr>
        <p:spPr>
          <a:xfrm>
            <a:off x="3785616" y="3831024"/>
            <a:ext cx="319802" cy="110352"/>
          </a:xfrm>
          <a:prstGeom prst="rect">
            <a:avLst/>
          </a:prstGeom>
          <a:solidFill>
            <a:srgbClr val="12A566"/>
          </a:solidFill>
          <a:ln/>
        </p:spPr>
      </p:sp>
      <p:sp>
        <p:nvSpPr>
          <p:cNvPr id="46" name="Text 44"/>
          <p:cNvSpPr txBox="1"/>
          <p:nvPr/>
        </p:nvSpPr>
        <p:spPr>
          <a:xfrm>
            <a:off x="4617720" y="3766252"/>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+18.4%</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49" name="Shape 47"/>
          <p:cNvSpPr/>
          <p:nvPr/>
        </p:nvSpPr>
        <p:spPr>
          <a:xfrm>
            <a:off x="3785616" y="4070920"/>
            <a:ext cx="304780" cy="110352"/>
          </a:xfrm>
          <a:prstGeom prst="rect">
            <a:avLst/>
          </a:prstGeom>
          <a:solidFill>
            <a:srgbClr val="12A566"/>
          </a:solidFill>
          <a:ln/>
        </p:spPr>
      </p:sp>
      <p:sp>
        <p:nvSpPr>
          <p:cNvPr id="50" name="Text 48"/>
          <p:cNvSpPr txBox="1"/>
          <p:nvPr/>
        </p:nvSpPr>
        <p:spPr>
          <a:xfrm>
            <a:off x="4617720" y="400614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+17.5%</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53" name="Shape 51"/>
          <p:cNvSpPr/>
          <p:nvPr/>
        </p:nvSpPr>
        <p:spPr>
          <a:xfrm>
            <a:off x="3785616" y="4310815"/>
            <a:ext cx="214987" cy="110352"/>
          </a:xfrm>
          <a:prstGeom prst="rect">
            <a:avLst/>
          </a:prstGeom>
          <a:solidFill>
            <a:srgbClr val="12A566"/>
          </a:solidFill>
          <a:ln/>
        </p:spPr>
      </p:sp>
      <p:sp>
        <p:nvSpPr>
          <p:cNvPr id="54" name="Text 52"/>
          <p:cNvSpPr txBox="1"/>
          <p:nvPr/>
        </p:nvSpPr>
        <p:spPr>
          <a:xfrm>
            <a:off x="4617720" y="4246043"/>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+12.3%</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57" name="Shape 55"/>
          <p:cNvSpPr/>
          <p:nvPr/>
        </p:nvSpPr>
        <p:spPr>
          <a:xfrm>
            <a:off x="3785616" y="4550711"/>
            <a:ext cx="207215" cy="110352"/>
          </a:xfrm>
          <a:prstGeom prst="rect">
            <a:avLst/>
          </a:prstGeom>
          <a:solidFill>
            <a:srgbClr val="12A566"/>
          </a:solidFill>
          <a:ln/>
        </p:spPr>
      </p:sp>
      <p:sp>
        <p:nvSpPr>
          <p:cNvPr id="58" name="Text 56"/>
          <p:cNvSpPr txBox="1"/>
          <p:nvPr/>
        </p:nvSpPr>
        <p:spPr>
          <a:xfrm>
            <a:off x="4617720" y="448593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+11.9%</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61" name="Shape 59"/>
          <p:cNvSpPr/>
          <p:nvPr/>
        </p:nvSpPr>
        <p:spPr>
          <a:xfrm>
            <a:off x="3785616" y="4790606"/>
            <a:ext cx="187159" cy="110352"/>
          </a:xfrm>
          <a:prstGeom prst="rect">
            <a:avLst/>
          </a:prstGeom>
          <a:solidFill>
            <a:srgbClr val="12A566"/>
          </a:solidFill>
          <a:ln/>
        </p:spPr>
      </p:sp>
      <p:sp>
        <p:nvSpPr>
          <p:cNvPr id="62" name="Text 60"/>
          <p:cNvSpPr txBox="1"/>
          <p:nvPr/>
        </p:nvSpPr>
        <p:spPr>
          <a:xfrm>
            <a:off x="4617720" y="472583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+10.7%</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65" name="Shape 63"/>
          <p:cNvSpPr/>
          <p:nvPr/>
        </p:nvSpPr>
        <p:spPr>
          <a:xfrm>
            <a:off x="3785616" y="5030502"/>
            <a:ext cx="172129" cy="110352"/>
          </a:xfrm>
          <a:prstGeom prst="rect">
            <a:avLst/>
          </a:prstGeom>
          <a:solidFill>
            <a:srgbClr val="12A566"/>
          </a:solidFill>
          <a:ln/>
        </p:spPr>
      </p:sp>
      <p:sp>
        <p:nvSpPr>
          <p:cNvPr id="66" name="Text 64"/>
          <p:cNvSpPr txBox="1"/>
          <p:nvPr/>
        </p:nvSpPr>
        <p:spPr>
          <a:xfrm>
            <a:off x="4617720" y="496573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+9.9%</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69" name="Shape 67"/>
          <p:cNvSpPr/>
          <p:nvPr/>
        </p:nvSpPr>
        <p:spPr>
          <a:xfrm>
            <a:off x="3785616" y="5270397"/>
            <a:ext cx="116744" cy="110352"/>
          </a:xfrm>
          <a:prstGeom prst="rect">
            <a:avLst/>
          </a:prstGeom>
          <a:solidFill>
            <a:srgbClr val="12A566"/>
          </a:solidFill>
          <a:ln/>
        </p:spPr>
      </p:sp>
      <p:sp>
        <p:nvSpPr>
          <p:cNvPr id="70" name="Text 68"/>
          <p:cNvSpPr txBox="1"/>
          <p:nvPr/>
        </p:nvSpPr>
        <p:spPr>
          <a:xfrm>
            <a:off x="4617720" y="520562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+6.7%</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73" name="Shape 71"/>
          <p:cNvSpPr/>
          <p:nvPr/>
        </p:nvSpPr>
        <p:spPr>
          <a:xfrm>
            <a:off x="3785616" y="5510293"/>
            <a:ext cx="116682" cy="110352"/>
          </a:xfrm>
          <a:prstGeom prst="rect">
            <a:avLst/>
          </a:prstGeom>
          <a:solidFill>
            <a:srgbClr val="12A566"/>
          </a:solidFill>
          <a:ln/>
        </p:spPr>
      </p:sp>
      <p:sp>
        <p:nvSpPr>
          <p:cNvPr id="74" name="Text 72"/>
          <p:cNvSpPr txBox="1"/>
          <p:nvPr/>
        </p:nvSpPr>
        <p:spPr>
          <a:xfrm>
            <a:off x="4617720" y="5445521"/>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+6.7%</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77" name="Shape 75"/>
          <p:cNvSpPr/>
          <p:nvPr/>
        </p:nvSpPr>
        <p:spPr>
          <a:xfrm>
            <a:off x="3785616" y="5750188"/>
            <a:ext cx="116417" cy="110352"/>
          </a:xfrm>
          <a:prstGeom prst="rect">
            <a:avLst/>
          </a:prstGeom>
          <a:solidFill>
            <a:srgbClr val="12A566"/>
          </a:solidFill>
          <a:ln/>
        </p:spPr>
      </p:sp>
      <p:sp>
        <p:nvSpPr>
          <p:cNvPr id="78" name="Text 76"/>
          <p:cNvSpPr txBox="1"/>
          <p:nvPr/>
        </p:nvSpPr>
        <p:spPr>
          <a:xfrm>
            <a:off x="4617720" y="5685416"/>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+6.7%</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81" name="Shape 79"/>
          <p:cNvSpPr/>
          <p:nvPr/>
        </p:nvSpPr>
        <p:spPr>
          <a:xfrm>
            <a:off x="9336024" y="1911860"/>
            <a:ext cx="106340" cy="110352"/>
          </a:xfrm>
          <a:prstGeom prst="rect">
            <a:avLst/>
          </a:prstGeom>
          <a:solidFill>
            <a:srgbClr val="12A566"/>
          </a:solidFill>
          <a:ln/>
        </p:spPr>
      </p:sp>
      <p:sp>
        <p:nvSpPr>
          <p:cNvPr id="82" name="Text 80"/>
          <p:cNvSpPr txBox="1"/>
          <p:nvPr/>
        </p:nvSpPr>
        <p:spPr>
          <a:xfrm>
            <a:off x="10168128" y="184708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+6.1%</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85" name="Shape 83"/>
          <p:cNvSpPr/>
          <p:nvPr/>
        </p:nvSpPr>
        <p:spPr>
          <a:xfrm>
            <a:off x="9336024" y="2151755"/>
            <a:ext cx="99982" cy="110352"/>
          </a:xfrm>
          <a:prstGeom prst="rect">
            <a:avLst/>
          </a:prstGeom>
          <a:solidFill>
            <a:srgbClr val="12A566"/>
          </a:solidFill>
          <a:ln/>
        </p:spPr>
      </p:sp>
      <p:sp>
        <p:nvSpPr>
          <p:cNvPr id="86" name="Text 84"/>
          <p:cNvSpPr txBox="1"/>
          <p:nvPr/>
        </p:nvSpPr>
        <p:spPr>
          <a:xfrm>
            <a:off x="10168128" y="208698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+5.7%</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89" name="Shape 87"/>
          <p:cNvSpPr/>
          <p:nvPr/>
        </p:nvSpPr>
        <p:spPr>
          <a:xfrm>
            <a:off x="9336024" y="2391651"/>
            <a:ext cx="89045" cy="110352"/>
          </a:xfrm>
          <a:prstGeom prst="rect">
            <a:avLst/>
          </a:prstGeom>
          <a:solidFill>
            <a:srgbClr val="12A566"/>
          </a:solidFill>
          <a:ln/>
        </p:spPr>
      </p:sp>
      <p:sp>
        <p:nvSpPr>
          <p:cNvPr id="90" name="Text 88"/>
          <p:cNvSpPr txBox="1"/>
          <p:nvPr/>
        </p:nvSpPr>
        <p:spPr>
          <a:xfrm>
            <a:off x="10168128" y="232687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+5.1%</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93" name="Shape 91"/>
          <p:cNvSpPr/>
          <p:nvPr/>
        </p:nvSpPr>
        <p:spPr>
          <a:xfrm>
            <a:off x="9336024" y="2631546"/>
            <a:ext cx="88806" cy="110352"/>
          </a:xfrm>
          <a:prstGeom prst="rect">
            <a:avLst/>
          </a:prstGeom>
          <a:solidFill>
            <a:srgbClr val="12A566"/>
          </a:solidFill>
          <a:ln/>
        </p:spPr>
      </p:sp>
      <p:sp>
        <p:nvSpPr>
          <p:cNvPr id="94" name="Text 92"/>
          <p:cNvSpPr txBox="1"/>
          <p:nvPr/>
        </p:nvSpPr>
        <p:spPr>
          <a:xfrm>
            <a:off x="10168128" y="256677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+5.1%</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97" name="Shape 95"/>
          <p:cNvSpPr/>
          <p:nvPr/>
        </p:nvSpPr>
        <p:spPr>
          <a:xfrm>
            <a:off x="9336024" y="2871442"/>
            <a:ext cx="12802" cy="110352"/>
          </a:xfrm>
          <a:prstGeom prst="rect">
            <a:avLst/>
          </a:prstGeom>
          <a:solidFill>
            <a:srgbClr val="12A566"/>
          </a:solidFill>
          <a:ln/>
        </p:spPr>
      </p:sp>
      <p:sp>
        <p:nvSpPr>
          <p:cNvPr id="98" name="Text 96"/>
          <p:cNvSpPr txBox="1"/>
          <p:nvPr/>
        </p:nvSpPr>
        <p:spPr>
          <a:xfrm>
            <a:off x="10168128" y="280667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+0.4%</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101" name="Shape 99"/>
          <p:cNvSpPr/>
          <p:nvPr/>
        </p:nvSpPr>
        <p:spPr>
          <a:xfrm>
            <a:off x="9336024" y="3111337"/>
            <a:ext cx="12802" cy="110352"/>
          </a:xfrm>
          <a:prstGeom prst="rect">
            <a:avLst/>
          </a:prstGeom>
          <a:solidFill>
            <a:srgbClr val="12A566"/>
          </a:solidFill>
          <a:ln/>
        </p:spPr>
      </p:sp>
      <p:sp>
        <p:nvSpPr>
          <p:cNvPr id="102" name="Text 100"/>
          <p:cNvSpPr txBox="1"/>
          <p:nvPr/>
        </p:nvSpPr>
        <p:spPr>
          <a:xfrm>
            <a:off x="10168128" y="3046566"/>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+0.4%</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05" name="Shape 103"/>
          <p:cNvSpPr/>
          <p:nvPr/>
        </p:nvSpPr>
        <p:spPr>
          <a:xfrm>
            <a:off x="9306237" y="3351233"/>
            <a:ext cx="29787" cy="110352"/>
          </a:xfrm>
          <a:prstGeom prst="rect">
            <a:avLst/>
          </a:prstGeom>
          <a:solidFill>
            <a:srgbClr val="C2352F"/>
          </a:solidFill>
          <a:ln/>
        </p:spPr>
      </p:sp>
      <p:sp>
        <p:nvSpPr>
          <p:cNvPr id="106" name="Text 104"/>
          <p:cNvSpPr txBox="1"/>
          <p:nvPr/>
        </p:nvSpPr>
        <p:spPr>
          <a:xfrm>
            <a:off x="10168128" y="3286461"/>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−1.7%</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09" name="Shape 107"/>
          <p:cNvSpPr/>
          <p:nvPr/>
        </p:nvSpPr>
        <p:spPr>
          <a:xfrm>
            <a:off x="9291402" y="3591128"/>
            <a:ext cx="44622" cy="110352"/>
          </a:xfrm>
          <a:prstGeom prst="rect">
            <a:avLst/>
          </a:prstGeom>
          <a:solidFill>
            <a:srgbClr val="C2352F"/>
          </a:solidFill>
          <a:ln/>
        </p:spPr>
      </p:sp>
      <p:sp>
        <p:nvSpPr>
          <p:cNvPr id="110" name="Text 108"/>
          <p:cNvSpPr txBox="1"/>
          <p:nvPr/>
        </p:nvSpPr>
        <p:spPr>
          <a:xfrm>
            <a:off x="10168128" y="3526357"/>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−2.6%</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113" name="Shape 111"/>
          <p:cNvSpPr/>
          <p:nvPr/>
        </p:nvSpPr>
        <p:spPr>
          <a:xfrm>
            <a:off x="9285327" y="3831024"/>
            <a:ext cx="50697" cy="110352"/>
          </a:xfrm>
          <a:prstGeom prst="rect">
            <a:avLst/>
          </a:prstGeom>
          <a:solidFill>
            <a:srgbClr val="C2352F"/>
          </a:solidFill>
          <a:ln/>
        </p:spPr>
      </p:sp>
      <p:sp>
        <p:nvSpPr>
          <p:cNvPr id="114" name="Text 112"/>
          <p:cNvSpPr txBox="1"/>
          <p:nvPr/>
        </p:nvSpPr>
        <p:spPr>
          <a:xfrm>
            <a:off x="10168128" y="3766252"/>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−2.9%</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117" name="Shape 115"/>
          <p:cNvSpPr/>
          <p:nvPr/>
        </p:nvSpPr>
        <p:spPr>
          <a:xfrm>
            <a:off x="9275488" y="4070920"/>
            <a:ext cx="60536" cy="110352"/>
          </a:xfrm>
          <a:prstGeom prst="rect">
            <a:avLst/>
          </a:prstGeom>
          <a:solidFill>
            <a:srgbClr val="C2352F"/>
          </a:solidFill>
          <a:ln/>
        </p:spPr>
      </p:sp>
      <p:sp>
        <p:nvSpPr>
          <p:cNvPr id="118" name="Text 116"/>
          <p:cNvSpPr txBox="1"/>
          <p:nvPr/>
        </p:nvSpPr>
        <p:spPr>
          <a:xfrm>
            <a:off x="10168128" y="4006148"/>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−3.5%</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121" name="Shape 119"/>
          <p:cNvSpPr/>
          <p:nvPr/>
        </p:nvSpPr>
        <p:spPr>
          <a:xfrm>
            <a:off x="9233370" y="4310815"/>
            <a:ext cx="102654" cy="110352"/>
          </a:xfrm>
          <a:prstGeom prst="rect">
            <a:avLst/>
          </a:prstGeom>
          <a:solidFill>
            <a:srgbClr val="C2352F"/>
          </a:solidFill>
          <a:ln/>
        </p:spPr>
      </p:sp>
      <p:sp>
        <p:nvSpPr>
          <p:cNvPr id="122" name="Text 120"/>
          <p:cNvSpPr txBox="1"/>
          <p:nvPr/>
        </p:nvSpPr>
        <p:spPr>
          <a:xfrm>
            <a:off x="10168128" y="4246043"/>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−5.9%</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25" name="Shape 123"/>
          <p:cNvSpPr/>
          <p:nvPr/>
        </p:nvSpPr>
        <p:spPr>
          <a:xfrm>
            <a:off x="9206595" y="4550711"/>
            <a:ext cx="129429" cy="110352"/>
          </a:xfrm>
          <a:prstGeom prst="rect">
            <a:avLst/>
          </a:prstGeom>
          <a:solidFill>
            <a:srgbClr val="C2352F"/>
          </a:solidFill>
          <a:ln/>
        </p:spPr>
      </p:sp>
      <p:sp>
        <p:nvSpPr>
          <p:cNvPr id="126" name="Text 124"/>
          <p:cNvSpPr txBox="1"/>
          <p:nvPr/>
        </p:nvSpPr>
        <p:spPr>
          <a:xfrm>
            <a:off x="10168128" y="4485939"/>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−7.4%</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129" name="Shape 127"/>
          <p:cNvSpPr/>
          <p:nvPr/>
        </p:nvSpPr>
        <p:spPr>
          <a:xfrm>
            <a:off x="9193818" y="4790606"/>
            <a:ext cx="142206" cy="110352"/>
          </a:xfrm>
          <a:prstGeom prst="rect">
            <a:avLst/>
          </a:prstGeom>
          <a:solidFill>
            <a:srgbClr val="C2352F"/>
          </a:solidFill>
          <a:ln/>
        </p:spPr>
      </p:sp>
      <p:sp>
        <p:nvSpPr>
          <p:cNvPr id="130" name="Text 128"/>
          <p:cNvSpPr txBox="1"/>
          <p:nvPr/>
        </p:nvSpPr>
        <p:spPr>
          <a:xfrm>
            <a:off x="10168128" y="4725834"/>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−8.2%</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133" name="Shape 131"/>
          <p:cNvSpPr/>
          <p:nvPr/>
        </p:nvSpPr>
        <p:spPr>
          <a:xfrm>
            <a:off x="9153034" y="5030502"/>
            <a:ext cx="182990" cy="110352"/>
          </a:xfrm>
          <a:prstGeom prst="rect">
            <a:avLst/>
          </a:prstGeom>
          <a:solidFill>
            <a:srgbClr val="C2352F"/>
          </a:solidFill>
          <a:ln/>
        </p:spPr>
      </p:sp>
      <p:sp>
        <p:nvSpPr>
          <p:cNvPr id="134" name="Text 132"/>
          <p:cNvSpPr txBox="1"/>
          <p:nvPr/>
        </p:nvSpPr>
        <p:spPr>
          <a:xfrm>
            <a:off x="10168128" y="4965730"/>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−10.5%</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37" name="Shape 135"/>
          <p:cNvSpPr/>
          <p:nvPr/>
        </p:nvSpPr>
        <p:spPr>
          <a:xfrm>
            <a:off x="9069849" y="5270397"/>
            <a:ext cx="266175" cy="110352"/>
          </a:xfrm>
          <a:prstGeom prst="rect">
            <a:avLst/>
          </a:prstGeom>
          <a:solidFill>
            <a:srgbClr val="C2352F"/>
          </a:solidFill>
          <a:ln/>
        </p:spPr>
      </p:sp>
      <p:sp>
        <p:nvSpPr>
          <p:cNvPr id="138" name="Text 136"/>
          <p:cNvSpPr txBox="1"/>
          <p:nvPr/>
        </p:nvSpPr>
        <p:spPr>
          <a:xfrm>
            <a:off x="10168128" y="5205625"/>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−15.3%</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41" name="Shape 139"/>
          <p:cNvSpPr/>
          <p:nvPr/>
        </p:nvSpPr>
        <p:spPr>
          <a:xfrm>
            <a:off x="8892903" y="5510293"/>
            <a:ext cx="443121" cy="110352"/>
          </a:xfrm>
          <a:prstGeom prst="rect">
            <a:avLst/>
          </a:prstGeom>
          <a:solidFill>
            <a:srgbClr val="C2352F"/>
          </a:solidFill>
          <a:ln/>
        </p:spPr>
      </p:sp>
      <p:sp>
        <p:nvSpPr>
          <p:cNvPr id="142" name="Text 140"/>
          <p:cNvSpPr txBox="1"/>
          <p:nvPr/>
        </p:nvSpPr>
        <p:spPr>
          <a:xfrm>
            <a:off x="10168128" y="5445521"/>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−25.4%</a:t>
            </a:r>
            <a:endParaRPr lang="en-US" sz="1200" dirty="0"/>
          </a:p>
        </p:txBody>
      </p:sp>
      <p:sp>
        <p:nvSpPr>
          <p:cNvPr id="143" name="Shape 141"/>
          <p:cNvSpPr/>
          <p:nvPr/>
        </p:nvSpPr>
        <p:spPr>
          <a:xfrm>
            <a:off x="3780130" y="1847088"/>
            <a:ext cx="10973" cy="4078224"/>
          </a:xfrm>
          <a:prstGeom prst="rect">
            <a:avLst/>
          </a:prstGeom>
          <a:solidFill>
            <a:srgbClr val="9AA3AD"/>
          </a:solidFill>
          <a:ln/>
        </p:spPr>
      </p:sp>
      <p:sp>
        <p:nvSpPr>
          <p:cNvPr id="144" name="Shape 142"/>
          <p:cNvSpPr/>
          <p:nvPr/>
        </p:nvSpPr>
        <p:spPr>
          <a:xfrm>
            <a:off x="9330538" y="1847088"/>
            <a:ext cx="10973" cy="4078224"/>
          </a:xfrm>
          <a:prstGeom prst="rect">
            <a:avLst/>
          </a:prstGeom>
          <a:solidFill>
            <a:srgbClr val="9AA3AD"/>
          </a:solidFill>
          <a:ln/>
        </p:spPr>
      </p:sp>
      <p:sp>
        <p:nvSpPr>
          <p:cNvPr id="145" name="Shape 143"/>
          <p:cNvSpPr/>
          <p:nvPr/>
        </p:nvSpPr>
        <p:spPr>
          <a:xfrm>
            <a:off x="6085332" y="1847088"/>
            <a:ext cx="10973" cy="4078224"/>
          </a:xfrm>
          <a:prstGeom prst="rect">
            <a:avLst/>
          </a:prstGeom>
          <a:solidFill>
            <a:srgbClr val="D9D9D9"/>
          </a:solidFill>
          <a:ln/>
        </p:spPr>
      </p:sp>
      <p:sp>
        <p:nvSpPr>
          <p:cNvPr id="147" name="Shape 144"/>
          <p:cNvSpPr/>
          <p:nvPr/>
        </p:nvSpPr>
        <p:spPr>
          <a:xfrm>
            <a:off x="457200" y="6126480"/>
            <a:ext cx="11274552" cy="371856"/>
          </a:xfrm>
          <a:prstGeom prst="rect">
            <a:avLst/>
          </a:prstGeom>
          <a:solidFill>
            <a:srgbClr val="E6F6EE"/>
          </a:solidFill>
          <a:ln/>
        </p:spPr>
      </p:sp>
      <p:sp>
        <p:nvSpPr>
          <p:cNvPr id="148" name="Text 145"/>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23 of 33 stores sold more CP hours. 10 declined.</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Customer Pay Hours Sold</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Shape 4"/>
          <p:cNvSpPr/>
          <p:nvPr/>
        </p:nvSpPr>
        <p:spPr>
          <a:xfrm>
            <a:off x="658368" y="1371600"/>
            <a:ext cx="3489960" cy="45720"/>
          </a:xfrm>
          <a:prstGeom prst="rect">
            <a:avLst/>
          </a:prstGeom>
          <a:solidFill>
            <a:srgbClr val="12A566"/>
          </a:solidFill>
          <a:ln/>
        </p:spPr>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sp>
      <p:sp>
        <p:nvSpPr>
          <p:cNvPr id="10" name="Text 8"/>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8,827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12,766</a:t>
            </a:r>
            <a:endParaRPr lang="en-US" sz="1400" dirty="0"/>
          </a:p>
        </p:txBody>
      </p:sp>
      <p:sp>
        <p:nvSpPr>
          <p:cNvPr id="12" name="Text 10"/>
          <p:cNvSpPr txBox="1"/>
          <p:nvPr/>
        </p:nvSpPr>
        <p:spPr>
          <a:xfrm>
            <a:off x="2941320"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+44.6%</a:t>
            </a:r>
            <a:endParaRPr lang="en-US" sz="1600" dirty="0"/>
          </a:p>
        </p:txBody>
      </p:sp>
      <p:sp>
        <p:nvSpPr>
          <p:cNvPr id="13" name="Text 11"/>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4" name="Text 12"/>
          <p:cNvSpPr txBox="1"/>
          <p:nvPr/>
        </p:nvSpPr>
        <p:spPr>
          <a:xfrm>
            <a:off x="1097280"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9,453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12,757</a:t>
            </a:r>
            <a:endParaRPr lang="en-US" sz="1400" dirty="0"/>
          </a:p>
        </p:txBody>
      </p:sp>
      <p:sp>
        <p:nvSpPr>
          <p:cNvPr id="15" name="Text 13"/>
          <p:cNvSpPr txBox="1"/>
          <p:nvPr/>
        </p:nvSpPr>
        <p:spPr>
          <a:xfrm>
            <a:off x="2941320"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+35.0%</a:t>
            </a:r>
            <a:endParaRPr lang="en-US" sz="1600" dirty="0"/>
          </a:p>
        </p:txBody>
      </p:sp>
      <p:sp>
        <p:nvSpPr>
          <p:cNvPr id="16" name="Shape 14"/>
          <p:cNvSpPr/>
          <p:nvPr/>
        </p:nvSpPr>
        <p:spPr>
          <a:xfrm>
            <a:off x="658368" y="3760013"/>
            <a:ext cx="3489960" cy="828446"/>
          </a:xfrm>
          <a:prstGeom prst="rect">
            <a:avLst/>
          </a:prstGeom>
          <a:solidFill>
            <a:srgbClr val="F7F7F7"/>
          </a:solidFill>
          <a:ln/>
        </p:spPr>
      </p:sp>
      <p:sp>
        <p:nvSpPr>
          <p:cNvPr id="17" name="Shape 15"/>
          <p:cNvSpPr/>
          <p:nvPr/>
        </p:nvSpPr>
        <p:spPr>
          <a:xfrm>
            <a:off x="4084320" y="3796589"/>
            <a:ext cx="64008" cy="755294"/>
          </a:xfrm>
          <a:prstGeom prst="rect">
            <a:avLst/>
          </a:prstGeom>
          <a:solidFill>
            <a:srgbClr val="12A566"/>
          </a:solidFill>
          <a:ln/>
        </p:spPr>
      </p:sp>
      <p:sp>
        <p:nvSpPr>
          <p:cNvPr id="18" name="Text 16"/>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9" name="Text 17"/>
          <p:cNvSpPr txBox="1"/>
          <p:nvPr/>
        </p:nvSpPr>
        <p:spPr>
          <a:xfrm>
            <a:off x="1097280"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3,768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5,045</a:t>
            </a:r>
            <a:endParaRPr lang="en-US" sz="1400" dirty="0"/>
          </a:p>
        </p:txBody>
      </p:sp>
      <p:sp>
        <p:nvSpPr>
          <p:cNvPr id="20" name="Text 18"/>
          <p:cNvSpPr txBox="1"/>
          <p:nvPr/>
        </p:nvSpPr>
        <p:spPr>
          <a:xfrm>
            <a:off x="2941320"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+33.9%</a:t>
            </a:r>
            <a:endParaRPr lang="en-US" sz="1600" dirty="0"/>
          </a:p>
        </p:txBody>
      </p:sp>
      <p:sp>
        <p:nvSpPr>
          <p:cNvPr id="21" name="Text 19"/>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2" name="Text 20"/>
          <p:cNvSpPr txBox="1"/>
          <p:nvPr/>
        </p:nvSpPr>
        <p:spPr>
          <a:xfrm>
            <a:off x="1097280"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6,328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8,154</a:t>
            </a:r>
            <a:endParaRPr lang="en-US" sz="1400" dirty="0"/>
          </a:p>
        </p:txBody>
      </p:sp>
      <p:sp>
        <p:nvSpPr>
          <p:cNvPr id="23" name="Text 21"/>
          <p:cNvSpPr txBox="1"/>
          <p:nvPr/>
        </p:nvSpPr>
        <p:spPr>
          <a:xfrm>
            <a:off x="2941320"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+28.9%</a:t>
            </a:r>
            <a:endParaRPr lang="en-US" sz="1600" dirty="0"/>
          </a:p>
        </p:txBody>
      </p:sp>
      <p:sp>
        <p:nvSpPr>
          <p:cNvPr id="24" name="Shape 22"/>
          <p:cNvSpPr/>
          <p:nvPr/>
        </p:nvSpPr>
        <p:spPr>
          <a:xfrm>
            <a:off x="658368" y="5416906"/>
            <a:ext cx="3489960" cy="828446"/>
          </a:xfrm>
          <a:prstGeom prst="rect">
            <a:avLst/>
          </a:prstGeom>
          <a:solidFill>
            <a:srgbClr val="F7F7F7"/>
          </a:solidFill>
          <a:ln/>
        </p:spPr>
      </p:sp>
      <p:sp>
        <p:nvSpPr>
          <p:cNvPr id="25" name="Text 23"/>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6" name="Text 24"/>
          <p:cNvSpPr txBox="1"/>
          <p:nvPr/>
        </p:nvSpPr>
        <p:spPr>
          <a:xfrm>
            <a:off x="1097280"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2,566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3,287</a:t>
            </a:r>
            <a:endParaRPr lang="en-US" sz="1400" dirty="0"/>
          </a:p>
        </p:txBody>
      </p:sp>
      <p:sp>
        <p:nvSpPr>
          <p:cNvPr id="27" name="Text 25"/>
          <p:cNvSpPr txBox="1"/>
          <p:nvPr/>
        </p:nvSpPr>
        <p:spPr>
          <a:xfrm>
            <a:off x="2941320"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+28.1%</a:t>
            </a:r>
            <a:endParaRPr lang="en-US" sz="1600" dirty="0"/>
          </a:p>
        </p:txBody>
      </p:sp>
      <p:sp>
        <p:nvSpPr>
          <p:cNvPr id="28" name="Shape 26"/>
          <p:cNvSpPr/>
          <p:nvPr/>
        </p:nvSpPr>
        <p:spPr>
          <a:xfrm>
            <a:off x="4349496" y="1371600"/>
            <a:ext cx="3489960" cy="45720"/>
          </a:xfrm>
          <a:prstGeom prst="rect">
            <a:avLst/>
          </a:prstGeom>
          <a:solidFill>
            <a:srgbClr val="C2352F"/>
          </a:solidFill>
          <a:ln/>
        </p:spPr>
      </p:sp>
      <p:sp>
        <p:nvSpPr>
          <p:cNvPr id="29" name="Text 27"/>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0" name="Text 28"/>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31" name="Shape 29"/>
          <p:cNvSpPr/>
          <p:nvPr/>
        </p:nvSpPr>
        <p:spPr>
          <a:xfrm>
            <a:off x="4349496" y="2103120"/>
            <a:ext cx="3489960" cy="828446"/>
          </a:xfrm>
          <a:prstGeom prst="rect">
            <a:avLst/>
          </a:prstGeom>
          <a:solidFill>
            <a:srgbClr val="F7F7F7"/>
          </a:solidFill>
          <a:ln/>
        </p:spPr>
      </p:sp>
      <p:sp>
        <p:nvSpPr>
          <p:cNvPr id="32" name="Text 30"/>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3" name="Text 31"/>
          <p:cNvSpPr txBox="1"/>
          <p:nvPr/>
        </p:nvSpPr>
        <p:spPr>
          <a:xfrm>
            <a:off x="4788408"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4,394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3,276</a:t>
            </a:r>
            <a:endParaRPr lang="en-US" sz="1400" dirty="0"/>
          </a:p>
        </p:txBody>
      </p:sp>
      <p:sp>
        <p:nvSpPr>
          <p:cNvPr id="34" name="Text 32"/>
          <p:cNvSpPr txBox="1"/>
          <p:nvPr/>
        </p:nvSpPr>
        <p:spPr>
          <a:xfrm>
            <a:off x="6632448" y="2103120"/>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−25.4%</a:t>
            </a:r>
            <a:endParaRPr lang="en-US" sz="1600" dirty="0"/>
          </a:p>
        </p:txBody>
      </p:sp>
      <p:sp>
        <p:nvSpPr>
          <p:cNvPr id="35" name="Text 33"/>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6" name="Text 34"/>
          <p:cNvSpPr txBox="1"/>
          <p:nvPr/>
        </p:nvSpPr>
        <p:spPr>
          <a:xfrm>
            <a:off x="4788408"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12,611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10,684</a:t>
            </a:r>
            <a:endParaRPr lang="en-US" sz="1400" dirty="0"/>
          </a:p>
        </p:txBody>
      </p:sp>
      <p:sp>
        <p:nvSpPr>
          <p:cNvPr id="37" name="Text 35"/>
          <p:cNvSpPr txBox="1"/>
          <p:nvPr/>
        </p:nvSpPr>
        <p:spPr>
          <a:xfrm>
            <a:off x="6632448" y="293156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−15.3%</a:t>
            </a:r>
            <a:endParaRPr lang="en-US" sz="1600" dirty="0"/>
          </a:p>
        </p:txBody>
      </p:sp>
      <p:sp>
        <p:nvSpPr>
          <p:cNvPr id="38" name="Shape 36"/>
          <p:cNvSpPr/>
          <p:nvPr/>
        </p:nvSpPr>
        <p:spPr>
          <a:xfrm>
            <a:off x="4349496" y="3760013"/>
            <a:ext cx="3489960" cy="828446"/>
          </a:xfrm>
          <a:prstGeom prst="rect">
            <a:avLst/>
          </a:prstGeom>
          <a:solidFill>
            <a:srgbClr val="F7F7F7"/>
          </a:solidFill>
          <a:ln/>
        </p:spPr>
      </p:sp>
      <p:sp>
        <p:nvSpPr>
          <p:cNvPr id="39" name="Text 37"/>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0" name="Text 38"/>
          <p:cNvSpPr txBox="1"/>
          <p:nvPr/>
        </p:nvSpPr>
        <p:spPr>
          <a:xfrm>
            <a:off x="4788408"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Volvo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8,659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7,749</a:t>
            </a:r>
            <a:endParaRPr lang="en-US" sz="1400" dirty="0"/>
          </a:p>
        </p:txBody>
      </p:sp>
      <p:sp>
        <p:nvSpPr>
          <p:cNvPr id="41" name="Text 39"/>
          <p:cNvSpPr txBox="1"/>
          <p:nvPr/>
        </p:nvSpPr>
        <p:spPr>
          <a:xfrm>
            <a:off x="6632448" y="3760013"/>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−10.5%</a:t>
            </a:r>
            <a:endParaRPr lang="en-US" sz="1600" dirty="0"/>
          </a:p>
        </p:txBody>
      </p:sp>
      <p:sp>
        <p:nvSpPr>
          <p:cNvPr id="42" name="Text 40"/>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3" name="Text 41"/>
          <p:cNvSpPr txBox="1"/>
          <p:nvPr/>
        </p:nvSpPr>
        <p:spPr>
          <a:xfrm>
            <a:off x="4788408"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19,520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17,926</a:t>
            </a:r>
            <a:endParaRPr lang="en-US" sz="1400" dirty="0"/>
          </a:p>
        </p:txBody>
      </p:sp>
      <p:sp>
        <p:nvSpPr>
          <p:cNvPr id="44" name="Text 42"/>
          <p:cNvSpPr txBox="1"/>
          <p:nvPr/>
        </p:nvSpPr>
        <p:spPr>
          <a:xfrm>
            <a:off x="6632448" y="4588459"/>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−8.2%</a:t>
            </a:r>
            <a:endParaRPr lang="en-US" sz="1600" dirty="0"/>
          </a:p>
        </p:txBody>
      </p:sp>
      <p:sp>
        <p:nvSpPr>
          <p:cNvPr id="45" name="Shape 43"/>
          <p:cNvSpPr/>
          <p:nvPr/>
        </p:nvSpPr>
        <p:spPr>
          <a:xfrm>
            <a:off x="4349496" y="5416906"/>
            <a:ext cx="3489960" cy="828446"/>
          </a:xfrm>
          <a:prstGeom prst="rect">
            <a:avLst/>
          </a:prstGeom>
          <a:solidFill>
            <a:srgbClr val="F7F7F7"/>
          </a:solidFill>
          <a:ln/>
        </p:spPr>
      </p:sp>
      <p:sp>
        <p:nvSpPr>
          <p:cNvPr id="46" name="Text 44"/>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47" name="Text 45"/>
          <p:cNvSpPr txBox="1"/>
          <p:nvPr/>
        </p:nvSpPr>
        <p:spPr>
          <a:xfrm>
            <a:off x="4788408"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Chevy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48,486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44,883</a:t>
            </a:r>
            <a:endParaRPr lang="en-US" sz="1400" dirty="0"/>
          </a:p>
        </p:txBody>
      </p:sp>
      <p:sp>
        <p:nvSpPr>
          <p:cNvPr id="48" name="Text 46"/>
          <p:cNvSpPr txBox="1"/>
          <p:nvPr/>
        </p:nvSpPr>
        <p:spPr>
          <a:xfrm>
            <a:off x="6632448" y="541690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−7.4%</a:t>
            </a:r>
            <a:endParaRPr lang="en-US" sz="1600" dirty="0"/>
          </a:p>
        </p:txBody>
      </p:sp>
      <p:sp>
        <p:nvSpPr>
          <p:cNvPr id="49" name="Shape 47"/>
          <p:cNvSpPr/>
          <p:nvPr/>
        </p:nvSpPr>
        <p:spPr>
          <a:xfrm>
            <a:off x="8040624" y="1371600"/>
            <a:ext cx="3489960" cy="45720"/>
          </a:xfrm>
          <a:prstGeom prst="rect">
            <a:avLst/>
          </a:prstGeom>
          <a:solidFill>
            <a:srgbClr val="2587C5"/>
          </a:solidFill>
          <a:ln/>
        </p:spPr>
      </p:sp>
      <p:sp>
        <p:nvSpPr>
          <p:cNvPr id="50" name="Text 48"/>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1" name="Text 49"/>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Jul–Sep vs Jan–Mar this year</a:t>
            </a:r>
            <a:endParaRPr lang="en-US" sz="1200" dirty="0"/>
          </a:p>
        </p:txBody>
      </p:sp>
      <p:sp>
        <p:nvSpPr>
          <p:cNvPr id="52" name="Shape 50"/>
          <p:cNvSpPr/>
          <p:nvPr/>
        </p:nvSpPr>
        <p:spPr>
          <a:xfrm>
            <a:off x="8040624" y="2103120"/>
            <a:ext cx="3489960" cy="828446"/>
          </a:xfrm>
          <a:prstGeom prst="rect">
            <a:avLst/>
          </a:prstGeom>
          <a:solidFill>
            <a:srgbClr val="F7F7F7"/>
          </a:solidFill>
          <a:ln/>
        </p:spPr>
      </p:sp>
      <p:sp>
        <p:nvSpPr>
          <p:cNvPr id="53" name="Text 51"/>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4" name="Text 52"/>
          <p:cNvSpPr txBox="1"/>
          <p:nvPr/>
        </p:nvSpPr>
        <p:spPr>
          <a:xfrm>
            <a:off x="8479536"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779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1,102</a:t>
            </a:r>
            <a:endParaRPr lang="en-US" sz="1400" dirty="0"/>
          </a:p>
        </p:txBody>
      </p:sp>
      <p:sp>
        <p:nvSpPr>
          <p:cNvPr id="55" name="Text 53"/>
          <p:cNvSpPr txBox="1"/>
          <p:nvPr/>
        </p:nvSpPr>
        <p:spPr>
          <a:xfrm>
            <a:off x="10323576"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+41.5%</a:t>
            </a:r>
            <a:endParaRPr lang="en-US" sz="1600" dirty="0"/>
          </a:p>
        </p:txBody>
      </p:sp>
      <p:sp>
        <p:nvSpPr>
          <p:cNvPr id="56" name="Text 54"/>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57" name="Text 55"/>
          <p:cNvSpPr txBox="1"/>
          <p:nvPr/>
        </p:nvSpPr>
        <p:spPr>
          <a:xfrm>
            <a:off x="8479536"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1,193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1,537</a:t>
            </a:r>
            <a:endParaRPr lang="en-US" sz="1400" dirty="0"/>
          </a:p>
        </p:txBody>
      </p:sp>
      <p:sp>
        <p:nvSpPr>
          <p:cNvPr id="58" name="Text 56"/>
          <p:cNvSpPr txBox="1"/>
          <p:nvPr/>
        </p:nvSpPr>
        <p:spPr>
          <a:xfrm>
            <a:off x="10323576"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+28.8%</a:t>
            </a:r>
            <a:endParaRPr lang="en-US" sz="1600" dirty="0"/>
          </a:p>
        </p:txBody>
      </p:sp>
      <p:sp>
        <p:nvSpPr>
          <p:cNvPr id="59" name="Shape 57"/>
          <p:cNvSpPr/>
          <p:nvPr/>
        </p:nvSpPr>
        <p:spPr>
          <a:xfrm>
            <a:off x="8040624" y="3760013"/>
            <a:ext cx="3489960" cy="828446"/>
          </a:xfrm>
          <a:prstGeom prst="rect">
            <a:avLst/>
          </a:prstGeom>
          <a:solidFill>
            <a:srgbClr val="F7F7F7"/>
          </a:solidFill>
          <a:ln/>
        </p:spPr>
      </p:sp>
      <p:sp>
        <p:nvSpPr>
          <p:cNvPr id="60" name="Text 58"/>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1" name="Text 59"/>
          <p:cNvSpPr txBox="1"/>
          <p:nvPr/>
        </p:nvSpPr>
        <p:spPr>
          <a:xfrm>
            <a:off x="8479536"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Lexus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922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1,146</a:t>
            </a:r>
            <a:endParaRPr lang="en-US" sz="1400" dirty="0"/>
          </a:p>
        </p:txBody>
      </p:sp>
      <p:sp>
        <p:nvSpPr>
          <p:cNvPr id="62" name="Text 60"/>
          <p:cNvSpPr txBox="1"/>
          <p:nvPr/>
        </p:nvSpPr>
        <p:spPr>
          <a:xfrm>
            <a:off x="10323576"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+24.3%</a:t>
            </a:r>
            <a:endParaRPr lang="en-US" sz="1600" dirty="0"/>
          </a:p>
        </p:txBody>
      </p:sp>
      <p:sp>
        <p:nvSpPr>
          <p:cNvPr id="63" name="Text 61"/>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64" name="Text 62"/>
          <p:cNvSpPr txBox="1"/>
          <p:nvPr/>
        </p:nvSpPr>
        <p:spPr>
          <a:xfrm>
            <a:off x="8479536"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1,367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1,692</a:t>
            </a:r>
            <a:endParaRPr lang="en-US" sz="1400" dirty="0"/>
          </a:p>
        </p:txBody>
      </p:sp>
      <p:sp>
        <p:nvSpPr>
          <p:cNvPr id="65" name="Text 63"/>
          <p:cNvSpPr txBox="1"/>
          <p:nvPr/>
        </p:nvSpPr>
        <p:spPr>
          <a:xfrm>
            <a:off x="10323576"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+23.8%</a:t>
            </a:r>
            <a:endParaRPr lang="en-US" sz="1600" dirty="0"/>
          </a:p>
        </p:txBody>
      </p:sp>
      <p:sp>
        <p:nvSpPr>
          <p:cNvPr id="66" name="Shape 64"/>
          <p:cNvSpPr/>
          <p:nvPr/>
        </p:nvSpPr>
        <p:spPr>
          <a:xfrm>
            <a:off x="8040624" y="5416906"/>
            <a:ext cx="3489960" cy="828446"/>
          </a:xfrm>
          <a:prstGeom prst="rect">
            <a:avLst/>
          </a:prstGeom>
          <a:solidFill>
            <a:srgbClr val="F7F7F7"/>
          </a:solidFill>
          <a:ln/>
        </p:spPr>
      </p:sp>
      <p:sp>
        <p:nvSpPr>
          <p:cNvPr id="67" name="Shape 65"/>
          <p:cNvSpPr/>
          <p:nvPr/>
        </p:nvSpPr>
        <p:spPr>
          <a:xfrm>
            <a:off x="11466576" y="5453482"/>
            <a:ext cx="64008" cy="755294"/>
          </a:xfrm>
          <a:prstGeom prst="rect">
            <a:avLst/>
          </a:prstGeom>
          <a:solidFill>
            <a:srgbClr val="12A566"/>
          </a:solidFill>
          <a:ln/>
        </p:spPr>
      </p:sp>
      <p:sp>
        <p:nvSpPr>
          <p:cNvPr id="68" name="Text 66"/>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69" name="Text 67"/>
          <p:cNvSpPr txBox="1"/>
          <p:nvPr/>
        </p:nvSpPr>
        <p:spPr>
          <a:xfrm>
            <a:off x="8479536"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515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634</a:t>
            </a:r>
            <a:endParaRPr lang="en-US" sz="1400" dirty="0"/>
          </a:p>
        </p:txBody>
      </p:sp>
      <p:sp>
        <p:nvSpPr>
          <p:cNvPr id="70" name="Text 68"/>
          <p:cNvSpPr txBox="1"/>
          <p:nvPr/>
        </p:nvSpPr>
        <p:spPr>
          <a:xfrm>
            <a:off x="10323576"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+23.1%</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One More CP RO a Day</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Text 4"/>
          <p:cNvSpPr txBox="1"/>
          <p:nvPr/>
        </p:nvSpPr>
        <p:spPr>
          <a:xfrm>
            <a:off x="3575304" y="1316736"/>
            <a:ext cx="82296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Gross/yr</a:t>
            </a:r>
            <a:endParaRPr lang="en-US" sz="1400" dirty="0"/>
          </a:p>
        </p:txBody>
      </p:sp>
      <p:sp>
        <p:nvSpPr>
          <p:cNvPr id="7" name="Text 5"/>
          <p:cNvSpPr txBox="1"/>
          <p:nvPr/>
        </p:nvSpPr>
        <p:spPr>
          <a:xfrm>
            <a:off x="4398264"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ROs/day</a:t>
            </a:r>
            <a:endParaRPr lang="en-US" sz="1400" dirty="0"/>
          </a:p>
        </p:txBody>
      </p:sp>
      <p:sp>
        <p:nvSpPr>
          <p:cNvPr id="8" name="Text 6"/>
          <p:cNvSpPr txBox="1"/>
          <p:nvPr/>
        </p:nvSpPr>
        <p:spPr>
          <a:xfrm>
            <a:off x="5184648" y="1316736"/>
            <a:ext cx="73152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Per RO</a:t>
            </a:r>
            <a:endParaRPr lang="en-US" sz="1400" dirty="0"/>
          </a:p>
        </p:txBody>
      </p:sp>
      <p:sp>
        <p:nvSpPr>
          <p:cNvPr id="9" name="Text 7"/>
          <p:cNvSpPr txBox="1"/>
          <p:nvPr/>
        </p:nvSpPr>
        <p:spPr>
          <a:xfrm>
            <a:off x="9125712" y="1316736"/>
            <a:ext cx="82296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Gross/yr</a:t>
            </a:r>
            <a:endParaRPr lang="en-US" sz="1400" dirty="0"/>
          </a:p>
        </p:txBody>
      </p:sp>
      <p:sp>
        <p:nvSpPr>
          <p:cNvPr id="10" name="Text 8"/>
          <p:cNvSpPr txBox="1"/>
          <p:nvPr/>
        </p:nvSpPr>
        <p:spPr>
          <a:xfrm>
            <a:off x="9948672"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ROs/day</a:t>
            </a:r>
            <a:endParaRPr lang="en-US" sz="1400" dirty="0"/>
          </a:p>
        </p:txBody>
      </p:sp>
      <p:sp>
        <p:nvSpPr>
          <p:cNvPr id="11" name="Text 9"/>
          <p:cNvSpPr txBox="1"/>
          <p:nvPr/>
        </p:nvSpPr>
        <p:spPr>
          <a:xfrm>
            <a:off x="10735056" y="1316736"/>
            <a:ext cx="73152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Per RO</a:t>
            </a:r>
            <a:endParaRPr lang="en-US" sz="1400" dirty="0"/>
          </a:p>
        </p:txBody>
      </p:sp>
      <p:sp>
        <p:nvSpPr>
          <p:cNvPr id="12" name="Text 10"/>
          <p:cNvSpPr txBox="1"/>
          <p:nvPr/>
        </p:nvSpPr>
        <p:spPr>
          <a:xfrm>
            <a:off x="658368"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3" name="Text 11"/>
          <p:cNvSpPr txBox="1"/>
          <p:nvPr/>
        </p:nvSpPr>
        <p:spPr>
          <a:xfrm>
            <a:off x="1014984" y="170078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14" name="Shape 12"/>
          <p:cNvSpPr/>
          <p:nvPr/>
        </p:nvSpPr>
        <p:spPr>
          <a:xfrm>
            <a:off x="2871216" y="1756697"/>
            <a:ext cx="649224" cy="136676"/>
          </a:xfrm>
          <a:prstGeom prst="rect">
            <a:avLst/>
          </a:prstGeom>
          <a:solidFill>
            <a:srgbClr val="2587C5"/>
          </a:solidFill>
          <a:ln/>
        </p:spPr>
      </p:sp>
      <p:sp>
        <p:nvSpPr>
          <p:cNvPr id="15" name="Text 13"/>
          <p:cNvSpPr txBox="1"/>
          <p:nvPr/>
        </p:nvSpPr>
        <p:spPr>
          <a:xfrm>
            <a:off x="3575304" y="1700784"/>
            <a:ext cx="82296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$358K</a:t>
            </a:r>
            <a:endParaRPr lang="en-US" sz="1300" dirty="0"/>
          </a:p>
        </p:txBody>
      </p:sp>
      <p:sp>
        <p:nvSpPr>
          <p:cNvPr id="16" name="Text 14"/>
          <p:cNvSpPr txBox="1"/>
          <p:nvPr/>
        </p:nvSpPr>
        <p:spPr>
          <a:xfrm>
            <a:off x="4398264" y="1700784"/>
            <a:ext cx="786384"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a:t>
            </a:r>
            <a:endParaRPr lang="en-US" sz="1300" dirty="0"/>
          </a:p>
        </p:txBody>
      </p:sp>
      <p:sp>
        <p:nvSpPr>
          <p:cNvPr id="17" name="Text 15"/>
          <p:cNvSpPr txBox="1"/>
          <p:nvPr/>
        </p:nvSpPr>
        <p:spPr>
          <a:xfrm>
            <a:off x="5184648" y="1700784"/>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$1,168</a:t>
            </a:r>
            <a:endParaRPr lang="en-US" sz="1300" dirty="0"/>
          </a:p>
        </p:txBody>
      </p:sp>
      <p:sp>
        <p:nvSpPr>
          <p:cNvPr id="18" name="Text 16"/>
          <p:cNvSpPr txBox="1"/>
          <p:nvPr/>
        </p:nvSpPr>
        <p:spPr>
          <a:xfrm>
            <a:off x="658368"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9" name="Text 17"/>
          <p:cNvSpPr txBox="1"/>
          <p:nvPr/>
        </p:nvSpPr>
        <p:spPr>
          <a:xfrm>
            <a:off x="1014984" y="194928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20" name="Shape 18"/>
          <p:cNvSpPr/>
          <p:nvPr/>
        </p:nvSpPr>
        <p:spPr>
          <a:xfrm>
            <a:off x="2871216" y="2005199"/>
            <a:ext cx="634920" cy="136676"/>
          </a:xfrm>
          <a:prstGeom prst="rect">
            <a:avLst/>
          </a:prstGeom>
          <a:solidFill>
            <a:srgbClr val="2587C5"/>
          </a:solidFill>
          <a:ln/>
        </p:spPr>
      </p:sp>
      <p:sp>
        <p:nvSpPr>
          <p:cNvPr id="21" name="Text 19"/>
          <p:cNvSpPr txBox="1"/>
          <p:nvPr/>
        </p:nvSpPr>
        <p:spPr>
          <a:xfrm>
            <a:off x="3575304" y="1949286"/>
            <a:ext cx="82296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$351K</a:t>
            </a:r>
            <a:endParaRPr lang="en-US" sz="1300" dirty="0"/>
          </a:p>
        </p:txBody>
      </p:sp>
      <p:sp>
        <p:nvSpPr>
          <p:cNvPr id="22" name="Text 20"/>
          <p:cNvSpPr txBox="1"/>
          <p:nvPr/>
        </p:nvSpPr>
        <p:spPr>
          <a:xfrm>
            <a:off x="4398264" y="1949286"/>
            <a:ext cx="786384"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a:t>
            </a:r>
            <a:endParaRPr lang="en-US" sz="1300" dirty="0"/>
          </a:p>
        </p:txBody>
      </p:sp>
      <p:sp>
        <p:nvSpPr>
          <p:cNvPr id="23" name="Text 21"/>
          <p:cNvSpPr txBox="1"/>
          <p:nvPr/>
        </p:nvSpPr>
        <p:spPr>
          <a:xfrm>
            <a:off x="5184648" y="1949286"/>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$1,142</a:t>
            </a:r>
            <a:endParaRPr lang="en-US" sz="1300" dirty="0"/>
          </a:p>
        </p:txBody>
      </p:sp>
      <p:sp>
        <p:nvSpPr>
          <p:cNvPr id="24" name="Text 22"/>
          <p:cNvSpPr txBox="1"/>
          <p:nvPr/>
        </p:nvSpPr>
        <p:spPr>
          <a:xfrm>
            <a:off x="658368"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5" name="Text 23"/>
          <p:cNvSpPr txBox="1"/>
          <p:nvPr/>
        </p:nvSpPr>
        <p:spPr>
          <a:xfrm>
            <a:off x="1014984" y="219778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26" name="Shape 24"/>
          <p:cNvSpPr/>
          <p:nvPr/>
        </p:nvSpPr>
        <p:spPr>
          <a:xfrm>
            <a:off x="2871216" y="2253700"/>
            <a:ext cx="585174" cy="136676"/>
          </a:xfrm>
          <a:prstGeom prst="rect">
            <a:avLst/>
          </a:prstGeom>
          <a:solidFill>
            <a:srgbClr val="2587C5"/>
          </a:solidFill>
          <a:ln/>
        </p:spPr>
      </p:sp>
      <p:sp>
        <p:nvSpPr>
          <p:cNvPr id="27" name="Text 25"/>
          <p:cNvSpPr txBox="1"/>
          <p:nvPr/>
        </p:nvSpPr>
        <p:spPr>
          <a:xfrm>
            <a:off x="3575304" y="2197787"/>
            <a:ext cx="82296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$323K</a:t>
            </a:r>
            <a:endParaRPr lang="en-US" sz="1300" dirty="0"/>
          </a:p>
        </p:txBody>
      </p:sp>
      <p:sp>
        <p:nvSpPr>
          <p:cNvPr id="28" name="Text 26"/>
          <p:cNvSpPr txBox="1"/>
          <p:nvPr/>
        </p:nvSpPr>
        <p:spPr>
          <a:xfrm>
            <a:off x="4398264" y="2197787"/>
            <a:ext cx="786384"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a:t>
            </a:r>
            <a:endParaRPr lang="en-US" sz="1300" dirty="0"/>
          </a:p>
        </p:txBody>
      </p:sp>
      <p:sp>
        <p:nvSpPr>
          <p:cNvPr id="29" name="Text 27"/>
          <p:cNvSpPr txBox="1"/>
          <p:nvPr/>
        </p:nvSpPr>
        <p:spPr>
          <a:xfrm>
            <a:off x="5184648" y="2197787"/>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$1,052</a:t>
            </a:r>
            <a:endParaRPr lang="en-US" sz="1300" dirty="0"/>
          </a:p>
        </p:txBody>
      </p:sp>
      <p:sp>
        <p:nvSpPr>
          <p:cNvPr id="30" name="Text 28"/>
          <p:cNvSpPr txBox="1"/>
          <p:nvPr/>
        </p:nvSpPr>
        <p:spPr>
          <a:xfrm>
            <a:off x="658368"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31" name="Text 29"/>
          <p:cNvSpPr txBox="1"/>
          <p:nvPr/>
        </p:nvSpPr>
        <p:spPr>
          <a:xfrm>
            <a:off x="1014984" y="244628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32" name="Shape 30"/>
          <p:cNvSpPr/>
          <p:nvPr/>
        </p:nvSpPr>
        <p:spPr>
          <a:xfrm>
            <a:off x="2871216" y="2502202"/>
            <a:ext cx="572532" cy="136676"/>
          </a:xfrm>
          <a:prstGeom prst="rect">
            <a:avLst/>
          </a:prstGeom>
          <a:solidFill>
            <a:srgbClr val="2587C5"/>
          </a:solidFill>
          <a:ln/>
        </p:spPr>
      </p:sp>
      <p:sp>
        <p:nvSpPr>
          <p:cNvPr id="33" name="Text 31"/>
          <p:cNvSpPr txBox="1"/>
          <p:nvPr/>
        </p:nvSpPr>
        <p:spPr>
          <a:xfrm>
            <a:off x="3575304" y="2446289"/>
            <a:ext cx="82296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$316K</a:t>
            </a:r>
            <a:endParaRPr lang="en-US" sz="1300" dirty="0"/>
          </a:p>
        </p:txBody>
      </p:sp>
      <p:sp>
        <p:nvSpPr>
          <p:cNvPr id="34" name="Text 32"/>
          <p:cNvSpPr txBox="1"/>
          <p:nvPr/>
        </p:nvSpPr>
        <p:spPr>
          <a:xfrm>
            <a:off x="4398264" y="2446289"/>
            <a:ext cx="786384"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a:t>
            </a:r>
            <a:endParaRPr lang="en-US" sz="1300" dirty="0"/>
          </a:p>
        </p:txBody>
      </p:sp>
      <p:sp>
        <p:nvSpPr>
          <p:cNvPr id="35" name="Text 33"/>
          <p:cNvSpPr txBox="1"/>
          <p:nvPr/>
        </p:nvSpPr>
        <p:spPr>
          <a:xfrm>
            <a:off x="5184648" y="2446289"/>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$1,030</a:t>
            </a:r>
            <a:endParaRPr lang="en-US" sz="1300" dirty="0"/>
          </a:p>
        </p:txBody>
      </p:sp>
      <p:sp>
        <p:nvSpPr>
          <p:cNvPr id="36" name="Text 34"/>
          <p:cNvSpPr txBox="1"/>
          <p:nvPr/>
        </p:nvSpPr>
        <p:spPr>
          <a:xfrm>
            <a:off x="658368"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37" name="Text 35"/>
          <p:cNvSpPr txBox="1"/>
          <p:nvPr/>
        </p:nvSpPr>
        <p:spPr>
          <a:xfrm>
            <a:off x="1014984" y="2694791"/>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38" name="Shape 36"/>
          <p:cNvSpPr/>
          <p:nvPr/>
        </p:nvSpPr>
        <p:spPr>
          <a:xfrm>
            <a:off x="2871216" y="2750703"/>
            <a:ext cx="411641" cy="136676"/>
          </a:xfrm>
          <a:prstGeom prst="rect">
            <a:avLst/>
          </a:prstGeom>
          <a:solidFill>
            <a:srgbClr val="2587C5"/>
          </a:solidFill>
          <a:ln/>
        </p:spPr>
      </p:sp>
      <p:sp>
        <p:nvSpPr>
          <p:cNvPr id="39" name="Text 37"/>
          <p:cNvSpPr txBox="1"/>
          <p:nvPr/>
        </p:nvSpPr>
        <p:spPr>
          <a:xfrm>
            <a:off x="3575304" y="2694791"/>
            <a:ext cx="82296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$227K</a:t>
            </a:r>
            <a:endParaRPr lang="en-US" sz="1300" dirty="0"/>
          </a:p>
        </p:txBody>
      </p:sp>
      <p:sp>
        <p:nvSpPr>
          <p:cNvPr id="40" name="Text 38"/>
          <p:cNvSpPr txBox="1"/>
          <p:nvPr/>
        </p:nvSpPr>
        <p:spPr>
          <a:xfrm>
            <a:off x="4398264" y="2694791"/>
            <a:ext cx="786384"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a:t>
            </a:r>
            <a:endParaRPr lang="en-US" sz="1300" dirty="0"/>
          </a:p>
        </p:txBody>
      </p:sp>
      <p:sp>
        <p:nvSpPr>
          <p:cNvPr id="41" name="Text 39"/>
          <p:cNvSpPr txBox="1"/>
          <p:nvPr/>
        </p:nvSpPr>
        <p:spPr>
          <a:xfrm>
            <a:off x="5184648" y="2694791"/>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$740</a:t>
            </a:r>
            <a:endParaRPr lang="en-US" sz="1300" dirty="0"/>
          </a:p>
        </p:txBody>
      </p:sp>
      <p:sp>
        <p:nvSpPr>
          <p:cNvPr id="42" name="Text 40"/>
          <p:cNvSpPr txBox="1"/>
          <p:nvPr/>
        </p:nvSpPr>
        <p:spPr>
          <a:xfrm>
            <a:off x="658368"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43" name="Text 41"/>
          <p:cNvSpPr txBox="1"/>
          <p:nvPr/>
        </p:nvSpPr>
        <p:spPr>
          <a:xfrm>
            <a:off x="1014984" y="294329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44" name="Shape 42"/>
          <p:cNvSpPr/>
          <p:nvPr/>
        </p:nvSpPr>
        <p:spPr>
          <a:xfrm>
            <a:off x="2871216" y="2999205"/>
            <a:ext cx="368295" cy="136676"/>
          </a:xfrm>
          <a:prstGeom prst="rect">
            <a:avLst/>
          </a:prstGeom>
          <a:solidFill>
            <a:srgbClr val="2587C5"/>
          </a:solidFill>
          <a:ln/>
        </p:spPr>
      </p:sp>
      <p:sp>
        <p:nvSpPr>
          <p:cNvPr id="45" name="Text 43"/>
          <p:cNvSpPr txBox="1"/>
          <p:nvPr/>
        </p:nvSpPr>
        <p:spPr>
          <a:xfrm>
            <a:off x="3575304" y="2943292"/>
            <a:ext cx="82296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$203K</a:t>
            </a:r>
            <a:endParaRPr lang="en-US" sz="1300" dirty="0"/>
          </a:p>
        </p:txBody>
      </p:sp>
      <p:sp>
        <p:nvSpPr>
          <p:cNvPr id="46" name="Text 44"/>
          <p:cNvSpPr txBox="1"/>
          <p:nvPr/>
        </p:nvSpPr>
        <p:spPr>
          <a:xfrm>
            <a:off x="4398264" y="2943292"/>
            <a:ext cx="786384"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a:t>
            </a:r>
            <a:endParaRPr lang="en-US" sz="1300" dirty="0"/>
          </a:p>
        </p:txBody>
      </p:sp>
      <p:sp>
        <p:nvSpPr>
          <p:cNvPr id="47" name="Text 45"/>
          <p:cNvSpPr txBox="1"/>
          <p:nvPr/>
        </p:nvSpPr>
        <p:spPr>
          <a:xfrm>
            <a:off x="5184648" y="2943292"/>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$662</a:t>
            </a:r>
            <a:endParaRPr lang="en-US" sz="1300" dirty="0"/>
          </a:p>
        </p:txBody>
      </p:sp>
      <p:sp>
        <p:nvSpPr>
          <p:cNvPr id="48" name="Text 46"/>
          <p:cNvSpPr txBox="1"/>
          <p:nvPr/>
        </p:nvSpPr>
        <p:spPr>
          <a:xfrm>
            <a:off x="658368"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49" name="Text 47"/>
          <p:cNvSpPr txBox="1"/>
          <p:nvPr/>
        </p:nvSpPr>
        <p:spPr>
          <a:xfrm>
            <a:off x="1014984" y="319179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50" name="Shape 48"/>
          <p:cNvSpPr/>
          <p:nvPr/>
        </p:nvSpPr>
        <p:spPr>
          <a:xfrm>
            <a:off x="2871216" y="3247707"/>
            <a:ext cx="282773" cy="136676"/>
          </a:xfrm>
          <a:prstGeom prst="rect">
            <a:avLst/>
          </a:prstGeom>
          <a:solidFill>
            <a:srgbClr val="2587C5"/>
          </a:solidFill>
          <a:ln/>
        </p:spPr>
      </p:sp>
      <p:sp>
        <p:nvSpPr>
          <p:cNvPr id="51" name="Text 49"/>
          <p:cNvSpPr txBox="1"/>
          <p:nvPr/>
        </p:nvSpPr>
        <p:spPr>
          <a:xfrm>
            <a:off x="3575304" y="3191794"/>
            <a:ext cx="82296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$156K</a:t>
            </a:r>
            <a:endParaRPr lang="en-US" sz="1300" dirty="0"/>
          </a:p>
        </p:txBody>
      </p:sp>
      <p:sp>
        <p:nvSpPr>
          <p:cNvPr id="52" name="Text 50"/>
          <p:cNvSpPr txBox="1"/>
          <p:nvPr/>
        </p:nvSpPr>
        <p:spPr>
          <a:xfrm>
            <a:off x="4398264" y="3191794"/>
            <a:ext cx="786384"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a:t>
            </a:r>
            <a:endParaRPr lang="en-US" sz="1300" dirty="0"/>
          </a:p>
        </p:txBody>
      </p:sp>
      <p:sp>
        <p:nvSpPr>
          <p:cNvPr id="53" name="Text 51"/>
          <p:cNvSpPr txBox="1"/>
          <p:nvPr/>
        </p:nvSpPr>
        <p:spPr>
          <a:xfrm>
            <a:off x="5184648" y="3191794"/>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$509</a:t>
            </a:r>
            <a:endParaRPr lang="en-US" sz="1300" dirty="0"/>
          </a:p>
        </p:txBody>
      </p:sp>
      <p:sp>
        <p:nvSpPr>
          <p:cNvPr id="54" name="Text 52"/>
          <p:cNvSpPr txBox="1"/>
          <p:nvPr/>
        </p:nvSpPr>
        <p:spPr>
          <a:xfrm>
            <a:off x="658368"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55" name="Text 53"/>
          <p:cNvSpPr txBox="1"/>
          <p:nvPr/>
        </p:nvSpPr>
        <p:spPr>
          <a:xfrm>
            <a:off x="1014984" y="344029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56" name="Shape 54"/>
          <p:cNvSpPr/>
          <p:nvPr/>
        </p:nvSpPr>
        <p:spPr>
          <a:xfrm>
            <a:off x="2871216" y="3496208"/>
            <a:ext cx="267139" cy="136676"/>
          </a:xfrm>
          <a:prstGeom prst="rect">
            <a:avLst/>
          </a:prstGeom>
          <a:solidFill>
            <a:srgbClr val="2587C5"/>
          </a:solidFill>
          <a:ln/>
        </p:spPr>
      </p:sp>
      <p:sp>
        <p:nvSpPr>
          <p:cNvPr id="57" name="Text 55"/>
          <p:cNvSpPr txBox="1"/>
          <p:nvPr/>
        </p:nvSpPr>
        <p:spPr>
          <a:xfrm>
            <a:off x="3575304" y="3440296"/>
            <a:ext cx="82296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$148K</a:t>
            </a:r>
            <a:endParaRPr lang="en-US" sz="1300" dirty="0"/>
          </a:p>
        </p:txBody>
      </p:sp>
      <p:sp>
        <p:nvSpPr>
          <p:cNvPr id="58" name="Text 56"/>
          <p:cNvSpPr txBox="1"/>
          <p:nvPr/>
        </p:nvSpPr>
        <p:spPr>
          <a:xfrm>
            <a:off x="4398264" y="3440296"/>
            <a:ext cx="786384"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a:t>
            </a:r>
            <a:endParaRPr lang="en-US" sz="1300" dirty="0"/>
          </a:p>
        </p:txBody>
      </p:sp>
      <p:sp>
        <p:nvSpPr>
          <p:cNvPr id="59" name="Text 57"/>
          <p:cNvSpPr txBox="1"/>
          <p:nvPr/>
        </p:nvSpPr>
        <p:spPr>
          <a:xfrm>
            <a:off x="5184648" y="3440296"/>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$480</a:t>
            </a:r>
            <a:endParaRPr lang="en-US" sz="1300" dirty="0"/>
          </a:p>
        </p:txBody>
      </p:sp>
      <p:sp>
        <p:nvSpPr>
          <p:cNvPr id="60" name="Text 58"/>
          <p:cNvSpPr txBox="1"/>
          <p:nvPr/>
        </p:nvSpPr>
        <p:spPr>
          <a:xfrm>
            <a:off x="658368"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61" name="Text 59"/>
          <p:cNvSpPr txBox="1"/>
          <p:nvPr/>
        </p:nvSpPr>
        <p:spPr>
          <a:xfrm>
            <a:off x="1014984" y="368879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62" name="Shape 60"/>
          <p:cNvSpPr/>
          <p:nvPr/>
        </p:nvSpPr>
        <p:spPr>
          <a:xfrm>
            <a:off x="2871216" y="3744710"/>
            <a:ext cx="255684" cy="136676"/>
          </a:xfrm>
          <a:prstGeom prst="rect">
            <a:avLst/>
          </a:prstGeom>
          <a:solidFill>
            <a:srgbClr val="2587C5"/>
          </a:solidFill>
          <a:ln/>
        </p:spPr>
      </p:sp>
      <p:sp>
        <p:nvSpPr>
          <p:cNvPr id="63" name="Text 61"/>
          <p:cNvSpPr txBox="1"/>
          <p:nvPr/>
        </p:nvSpPr>
        <p:spPr>
          <a:xfrm>
            <a:off x="3575304" y="3688797"/>
            <a:ext cx="82296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$141K</a:t>
            </a:r>
            <a:endParaRPr lang="en-US" sz="1300" dirty="0"/>
          </a:p>
        </p:txBody>
      </p:sp>
      <p:sp>
        <p:nvSpPr>
          <p:cNvPr id="64" name="Text 62"/>
          <p:cNvSpPr txBox="1"/>
          <p:nvPr/>
        </p:nvSpPr>
        <p:spPr>
          <a:xfrm>
            <a:off x="4398264" y="3688797"/>
            <a:ext cx="786384"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a:t>
            </a:r>
            <a:endParaRPr lang="en-US" sz="1300" dirty="0"/>
          </a:p>
        </p:txBody>
      </p:sp>
      <p:sp>
        <p:nvSpPr>
          <p:cNvPr id="65" name="Text 63"/>
          <p:cNvSpPr txBox="1"/>
          <p:nvPr/>
        </p:nvSpPr>
        <p:spPr>
          <a:xfrm>
            <a:off x="5184648" y="3688797"/>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$460</a:t>
            </a:r>
            <a:endParaRPr lang="en-US" sz="1300" dirty="0"/>
          </a:p>
        </p:txBody>
      </p:sp>
      <p:sp>
        <p:nvSpPr>
          <p:cNvPr id="66" name="Text 64"/>
          <p:cNvSpPr txBox="1"/>
          <p:nvPr/>
        </p:nvSpPr>
        <p:spPr>
          <a:xfrm>
            <a:off x="658368"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67" name="Text 65"/>
          <p:cNvSpPr txBox="1"/>
          <p:nvPr/>
        </p:nvSpPr>
        <p:spPr>
          <a:xfrm>
            <a:off x="1014984" y="393729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68" name="Shape 66"/>
          <p:cNvSpPr/>
          <p:nvPr/>
        </p:nvSpPr>
        <p:spPr>
          <a:xfrm>
            <a:off x="2871216" y="3993212"/>
            <a:ext cx="238260" cy="136676"/>
          </a:xfrm>
          <a:prstGeom prst="rect">
            <a:avLst/>
          </a:prstGeom>
          <a:solidFill>
            <a:srgbClr val="2587C5"/>
          </a:solidFill>
          <a:ln/>
        </p:spPr>
      </p:sp>
      <p:sp>
        <p:nvSpPr>
          <p:cNvPr id="69" name="Text 67"/>
          <p:cNvSpPr txBox="1"/>
          <p:nvPr/>
        </p:nvSpPr>
        <p:spPr>
          <a:xfrm>
            <a:off x="3575304" y="3937299"/>
            <a:ext cx="82296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$132K</a:t>
            </a:r>
            <a:endParaRPr lang="en-US" sz="1300" dirty="0"/>
          </a:p>
        </p:txBody>
      </p:sp>
      <p:sp>
        <p:nvSpPr>
          <p:cNvPr id="70" name="Text 68"/>
          <p:cNvSpPr txBox="1"/>
          <p:nvPr/>
        </p:nvSpPr>
        <p:spPr>
          <a:xfrm>
            <a:off x="4398264" y="3937299"/>
            <a:ext cx="786384"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a:t>
            </a:r>
            <a:endParaRPr lang="en-US" sz="1300" dirty="0"/>
          </a:p>
        </p:txBody>
      </p:sp>
      <p:sp>
        <p:nvSpPr>
          <p:cNvPr id="71" name="Text 69"/>
          <p:cNvSpPr txBox="1"/>
          <p:nvPr/>
        </p:nvSpPr>
        <p:spPr>
          <a:xfrm>
            <a:off x="5184648" y="3937299"/>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$429</a:t>
            </a:r>
            <a:endParaRPr lang="en-US" sz="1300" dirty="0"/>
          </a:p>
        </p:txBody>
      </p:sp>
      <p:sp>
        <p:nvSpPr>
          <p:cNvPr id="72" name="Text 70"/>
          <p:cNvSpPr txBox="1"/>
          <p:nvPr/>
        </p:nvSpPr>
        <p:spPr>
          <a:xfrm>
            <a:off x="658368"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73" name="Text 71"/>
          <p:cNvSpPr txBox="1"/>
          <p:nvPr/>
        </p:nvSpPr>
        <p:spPr>
          <a:xfrm>
            <a:off x="1014984" y="418580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74" name="Shape 72"/>
          <p:cNvSpPr/>
          <p:nvPr/>
        </p:nvSpPr>
        <p:spPr>
          <a:xfrm>
            <a:off x="2871216" y="4241713"/>
            <a:ext cx="225886" cy="136676"/>
          </a:xfrm>
          <a:prstGeom prst="rect">
            <a:avLst/>
          </a:prstGeom>
          <a:solidFill>
            <a:srgbClr val="2587C5"/>
          </a:solidFill>
          <a:ln/>
        </p:spPr>
      </p:sp>
      <p:sp>
        <p:nvSpPr>
          <p:cNvPr id="75" name="Text 73"/>
          <p:cNvSpPr txBox="1"/>
          <p:nvPr/>
        </p:nvSpPr>
        <p:spPr>
          <a:xfrm>
            <a:off x="3575304" y="4185800"/>
            <a:ext cx="82296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$125K</a:t>
            </a:r>
            <a:endParaRPr lang="en-US" sz="1300" dirty="0"/>
          </a:p>
        </p:txBody>
      </p:sp>
      <p:sp>
        <p:nvSpPr>
          <p:cNvPr id="76" name="Text 74"/>
          <p:cNvSpPr txBox="1"/>
          <p:nvPr/>
        </p:nvSpPr>
        <p:spPr>
          <a:xfrm>
            <a:off x="4398264" y="4185800"/>
            <a:ext cx="786384"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30</a:t>
            </a:r>
            <a:endParaRPr lang="en-US" sz="1300" dirty="0"/>
          </a:p>
        </p:txBody>
      </p:sp>
      <p:sp>
        <p:nvSpPr>
          <p:cNvPr id="77" name="Text 75"/>
          <p:cNvSpPr txBox="1"/>
          <p:nvPr/>
        </p:nvSpPr>
        <p:spPr>
          <a:xfrm>
            <a:off x="5184648" y="4185800"/>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$406</a:t>
            </a:r>
            <a:endParaRPr lang="en-US" sz="1300" dirty="0"/>
          </a:p>
        </p:txBody>
      </p:sp>
      <p:sp>
        <p:nvSpPr>
          <p:cNvPr id="78" name="Text 76"/>
          <p:cNvSpPr txBox="1"/>
          <p:nvPr/>
        </p:nvSpPr>
        <p:spPr>
          <a:xfrm>
            <a:off x="658368"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79" name="Text 77"/>
          <p:cNvSpPr txBox="1"/>
          <p:nvPr/>
        </p:nvSpPr>
        <p:spPr>
          <a:xfrm>
            <a:off x="1014984" y="443430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80" name="Shape 78"/>
          <p:cNvSpPr/>
          <p:nvPr/>
        </p:nvSpPr>
        <p:spPr>
          <a:xfrm>
            <a:off x="2871216" y="4490215"/>
            <a:ext cx="222080" cy="136676"/>
          </a:xfrm>
          <a:prstGeom prst="rect">
            <a:avLst/>
          </a:prstGeom>
          <a:solidFill>
            <a:srgbClr val="2587C5"/>
          </a:solidFill>
          <a:ln/>
        </p:spPr>
      </p:sp>
      <p:sp>
        <p:nvSpPr>
          <p:cNvPr id="81" name="Text 79"/>
          <p:cNvSpPr txBox="1"/>
          <p:nvPr/>
        </p:nvSpPr>
        <p:spPr>
          <a:xfrm>
            <a:off x="3575304" y="4434302"/>
            <a:ext cx="82296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$123K</a:t>
            </a:r>
            <a:endParaRPr lang="en-US" sz="1300" dirty="0"/>
          </a:p>
        </p:txBody>
      </p:sp>
      <p:sp>
        <p:nvSpPr>
          <p:cNvPr id="82" name="Text 80"/>
          <p:cNvSpPr txBox="1"/>
          <p:nvPr/>
        </p:nvSpPr>
        <p:spPr>
          <a:xfrm>
            <a:off x="4398264" y="4434302"/>
            <a:ext cx="786384"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a:t>
            </a:r>
            <a:endParaRPr lang="en-US" sz="1300" dirty="0"/>
          </a:p>
        </p:txBody>
      </p:sp>
      <p:sp>
        <p:nvSpPr>
          <p:cNvPr id="83" name="Text 81"/>
          <p:cNvSpPr txBox="1"/>
          <p:nvPr/>
        </p:nvSpPr>
        <p:spPr>
          <a:xfrm>
            <a:off x="5184648" y="4434302"/>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$399</a:t>
            </a:r>
            <a:endParaRPr lang="en-US" sz="1300" dirty="0"/>
          </a:p>
        </p:txBody>
      </p:sp>
      <p:sp>
        <p:nvSpPr>
          <p:cNvPr id="84" name="Text 82"/>
          <p:cNvSpPr txBox="1"/>
          <p:nvPr/>
        </p:nvSpPr>
        <p:spPr>
          <a:xfrm>
            <a:off x="658368"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85" name="Text 83"/>
          <p:cNvSpPr txBox="1"/>
          <p:nvPr/>
        </p:nvSpPr>
        <p:spPr>
          <a:xfrm>
            <a:off x="1014984" y="468280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86" name="Shape 84"/>
          <p:cNvSpPr/>
          <p:nvPr/>
        </p:nvSpPr>
        <p:spPr>
          <a:xfrm>
            <a:off x="2871216" y="4738717"/>
            <a:ext cx="201519" cy="136676"/>
          </a:xfrm>
          <a:prstGeom prst="rect">
            <a:avLst/>
          </a:prstGeom>
          <a:solidFill>
            <a:srgbClr val="2587C5"/>
          </a:solidFill>
          <a:ln/>
        </p:spPr>
      </p:sp>
      <p:sp>
        <p:nvSpPr>
          <p:cNvPr id="87" name="Text 85"/>
          <p:cNvSpPr txBox="1"/>
          <p:nvPr/>
        </p:nvSpPr>
        <p:spPr>
          <a:xfrm>
            <a:off x="3575304" y="4682804"/>
            <a:ext cx="82296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$111K</a:t>
            </a:r>
            <a:endParaRPr lang="en-US" sz="1300" dirty="0"/>
          </a:p>
        </p:txBody>
      </p:sp>
      <p:sp>
        <p:nvSpPr>
          <p:cNvPr id="88" name="Text 86"/>
          <p:cNvSpPr txBox="1"/>
          <p:nvPr/>
        </p:nvSpPr>
        <p:spPr>
          <a:xfrm>
            <a:off x="4398264" y="4682804"/>
            <a:ext cx="786384"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85</a:t>
            </a:r>
            <a:endParaRPr lang="en-US" sz="1300" dirty="0"/>
          </a:p>
        </p:txBody>
      </p:sp>
      <p:sp>
        <p:nvSpPr>
          <p:cNvPr id="89" name="Text 87"/>
          <p:cNvSpPr txBox="1"/>
          <p:nvPr/>
        </p:nvSpPr>
        <p:spPr>
          <a:xfrm>
            <a:off x="5184648" y="4682804"/>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$362</a:t>
            </a:r>
            <a:endParaRPr lang="en-US" sz="1300" dirty="0"/>
          </a:p>
        </p:txBody>
      </p:sp>
      <p:sp>
        <p:nvSpPr>
          <p:cNvPr id="90" name="Text 88"/>
          <p:cNvSpPr txBox="1"/>
          <p:nvPr/>
        </p:nvSpPr>
        <p:spPr>
          <a:xfrm>
            <a:off x="658368"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91" name="Text 89"/>
          <p:cNvSpPr txBox="1"/>
          <p:nvPr/>
        </p:nvSpPr>
        <p:spPr>
          <a:xfrm>
            <a:off x="1014984" y="4931305"/>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92" name="Shape 90"/>
          <p:cNvSpPr/>
          <p:nvPr/>
        </p:nvSpPr>
        <p:spPr>
          <a:xfrm>
            <a:off x="2871216" y="4987218"/>
            <a:ext cx="198656" cy="136676"/>
          </a:xfrm>
          <a:prstGeom prst="rect">
            <a:avLst/>
          </a:prstGeom>
          <a:solidFill>
            <a:srgbClr val="2587C5"/>
          </a:solidFill>
          <a:ln/>
        </p:spPr>
      </p:sp>
      <p:sp>
        <p:nvSpPr>
          <p:cNvPr id="93" name="Text 91"/>
          <p:cNvSpPr txBox="1"/>
          <p:nvPr/>
        </p:nvSpPr>
        <p:spPr>
          <a:xfrm>
            <a:off x="3575304" y="4931305"/>
            <a:ext cx="82296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$110K</a:t>
            </a:r>
            <a:endParaRPr lang="en-US" sz="1300" dirty="0"/>
          </a:p>
        </p:txBody>
      </p:sp>
      <p:sp>
        <p:nvSpPr>
          <p:cNvPr id="94" name="Text 92"/>
          <p:cNvSpPr txBox="1"/>
          <p:nvPr/>
        </p:nvSpPr>
        <p:spPr>
          <a:xfrm>
            <a:off x="4398264" y="4931305"/>
            <a:ext cx="786384"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a:t>
            </a:r>
            <a:endParaRPr lang="en-US" sz="1300" dirty="0"/>
          </a:p>
        </p:txBody>
      </p:sp>
      <p:sp>
        <p:nvSpPr>
          <p:cNvPr id="95" name="Text 93"/>
          <p:cNvSpPr txBox="1"/>
          <p:nvPr/>
        </p:nvSpPr>
        <p:spPr>
          <a:xfrm>
            <a:off x="5184648" y="4931305"/>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$357</a:t>
            </a:r>
            <a:endParaRPr lang="en-US" sz="1300" dirty="0"/>
          </a:p>
        </p:txBody>
      </p:sp>
      <p:sp>
        <p:nvSpPr>
          <p:cNvPr id="96" name="Text 94"/>
          <p:cNvSpPr txBox="1"/>
          <p:nvPr/>
        </p:nvSpPr>
        <p:spPr>
          <a:xfrm>
            <a:off x="658368"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97" name="Text 95"/>
          <p:cNvSpPr txBox="1"/>
          <p:nvPr/>
        </p:nvSpPr>
        <p:spPr>
          <a:xfrm>
            <a:off x="1014984" y="517980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98" name="Shape 96"/>
          <p:cNvSpPr/>
          <p:nvPr/>
        </p:nvSpPr>
        <p:spPr>
          <a:xfrm>
            <a:off x="2871216" y="5235720"/>
            <a:ext cx="197675" cy="136676"/>
          </a:xfrm>
          <a:prstGeom prst="rect">
            <a:avLst/>
          </a:prstGeom>
          <a:solidFill>
            <a:srgbClr val="2587C5"/>
          </a:solidFill>
          <a:ln/>
        </p:spPr>
      </p:sp>
      <p:sp>
        <p:nvSpPr>
          <p:cNvPr id="99" name="Text 97"/>
          <p:cNvSpPr txBox="1"/>
          <p:nvPr/>
        </p:nvSpPr>
        <p:spPr>
          <a:xfrm>
            <a:off x="3575304" y="5179807"/>
            <a:ext cx="82296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$109K</a:t>
            </a:r>
            <a:endParaRPr lang="en-US" sz="1300" dirty="0"/>
          </a:p>
        </p:txBody>
      </p:sp>
      <p:sp>
        <p:nvSpPr>
          <p:cNvPr id="100" name="Text 98"/>
          <p:cNvSpPr txBox="1"/>
          <p:nvPr/>
        </p:nvSpPr>
        <p:spPr>
          <a:xfrm>
            <a:off x="4398264" y="5179807"/>
            <a:ext cx="786384"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a:t>
            </a:r>
            <a:endParaRPr lang="en-US" sz="1300" dirty="0"/>
          </a:p>
        </p:txBody>
      </p:sp>
      <p:sp>
        <p:nvSpPr>
          <p:cNvPr id="101" name="Text 99"/>
          <p:cNvSpPr txBox="1"/>
          <p:nvPr/>
        </p:nvSpPr>
        <p:spPr>
          <a:xfrm>
            <a:off x="5184648" y="5179807"/>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$356</a:t>
            </a:r>
            <a:endParaRPr lang="en-US" sz="1300" dirty="0"/>
          </a:p>
        </p:txBody>
      </p:sp>
      <p:sp>
        <p:nvSpPr>
          <p:cNvPr id="102" name="Text 100"/>
          <p:cNvSpPr txBox="1"/>
          <p:nvPr/>
        </p:nvSpPr>
        <p:spPr>
          <a:xfrm>
            <a:off x="658368"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103" name="Text 101"/>
          <p:cNvSpPr txBox="1"/>
          <p:nvPr/>
        </p:nvSpPr>
        <p:spPr>
          <a:xfrm>
            <a:off x="1014984" y="542830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104" name="Shape 102"/>
          <p:cNvSpPr/>
          <p:nvPr/>
        </p:nvSpPr>
        <p:spPr>
          <a:xfrm>
            <a:off x="2871216" y="5484222"/>
            <a:ext cx="196835" cy="136676"/>
          </a:xfrm>
          <a:prstGeom prst="rect">
            <a:avLst/>
          </a:prstGeom>
          <a:solidFill>
            <a:srgbClr val="2587C5"/>
          </a:solidFill>
          <a:ln/>
        </p:spPr>
      </p:sp>
      <p:sp>
        <p:nvSpPr>
          <p:cNvPr id="105" name="Text 103"/>
          <p:cNvSpPr txBox="1"/>
          <p:nvPr/>
        </p:nvSpPr>
        <p:spPr>
          <a:xfrm>
            <a:off x="3575304" y="5428309"/>
            <a:ext cx="82296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$109K</a:t>
            </a:r>
            <a:endParaRPr lang="en-US" sz="1300" dirty="0"/>
          </a:p>
        </p:txBody>
      </p:sp>
      <p:sp>
        <p:nvSpPr>
          <p:cNvPr id="106" name="Text 104"/>
          <p:cNvSpPr txBox="1"/>
          <p:nvPr/>
        </p:nvSpPr>
        <p:spPr>
          <a:xfrm>
            <a:off x="4398264" y="5428309"/>
            <a:ext cx="786384"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62</a:t>
            </a:r>
            <a:endParaRPr lang="en-US" sz="1300" dirty="0"/>
          </a:p>
        </p:txBody>
      </p:sp>
      <p:sp>
        <p:nvSpPr>
          <p:cNvPr id="107" name="Text 105"/>
          <p:cNvSpPr txBox="1"/>
          <p:nvPr/>
        </p:nvSpPr>
        <p:spPr>
          <a:xfrm>
            <a:off x="5184648" y="5428309"/>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$354</a:t>
            </a:r>
            <a:endParaRPr lang="en-US" sz="1300" dirty="0"/>
          </a:p>
        </p:txBody>
      </p:sp>
      <p:sp>
        <p:nvSpPr>
          <p:cNvPr id="108" name="Text 106"/>
          <p:cNvSpPr txBox="1"/>
          <p:nvPr/>
        </p:nvSpPr>
        <p:spPr>
          <a:xfrm>
            <a:off x="658368" y="567681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109" name="Text 107"/>
          <p:cNvSpPr txBox="1"/>
          <p:nvPr/>
        </p:nvSpPr>
        <p:spPr>
          <a:xfrm>
            <a:off x="1014984" y="567681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110" name="Shape 108"/>
          <p:cNvSpPr/>
          <p:nvPr/>
        </p:nvSpPr>
        <p:spPr>
          <a:xfrm>
            <a:off x="2871216" y="5732723"/>
            <a:ext cx="187758" cy="136676"/>
          </a:xfrm>
          <a:prstGeom prst="rect">
            <a:avLst/>
          </a:prstGeom>
          <a:solidFill>
            <a:srgbClr val="2587C5"/>
          </a:solidFill>
          <a:ln/>
        </p:spPr>
      </p:sp>
      <p:sp>
        <p:nvSpPr>
          <p:cNvPr id="111" name="Text 109"/>
          <p:cNvSpPr txBox="1"/>
          <p:nvPr/>
        </p:nvSpPr>
        <p:spPr>
          <a:xfrm>
            <a:off x="3575304" y="5676810"/>
            <a:ext cx="82296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$104K</a:t>
            </a:r>
            <a:endParaRPr lang="en-US" sz="1300" dirty="0"/>
          </a:p>
        </p:txBody>
      </p:sp>
      <p:sp>
        <p:nvSpPr>
          <p:cNvPr id="112" name="Text 110"/>
          <p:cNvSpPr txBox="1"/>
          <p:nvPr/>
        </p:nvSpPr>
        <p:spPr>
          <a:xfrm>
            <a:off x="4398264" y="5676810"/>
            <a:ext cx="786384"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65</a:t>
            </a:r>
            <a:endParaRPr lang="en-US" sz="1300" dirty="0"/>
          </a:p>
        </p:txBody>
      </p:sp>
      <p:sp>
        <p:nvSpPr>
          <p:cNvPr id="113" name="Text 111"/>
          <p:cNvSpPr txBox="1"/>
          <p:nvPr/>
        </p:nvSpPr>
        <p:spPr>
          <a:xfrm>
            <a:off x="5184648" y="5676810"/>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$338</a:t>
            </a:r>
            <a:endParaRPr lang="en-US" sz="1300" dirty="0"/>
          </a:p>
        </p:txBody>
      </p:sp>
      <p:sp>
        <p:nvSpPr>
          <p:cNvPr id="114" name="Text 112"/>
          <p:cNvSpPr txBox="1"/>
          <p:nvPr/>
        </p:nvSpPr>
        <p:spPr>
          <a:xfrm>
            <a:off x="6208776"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115" name="Text 113"/>
          <p:cNvSpPr txBox="1"/>
          <p:nvPr/>
        </p:nvSpPr>
        <p:spPr>
          <a:xfrm>
            <a:off x="6565392" y="170078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116" name="Shape 114"/>
          <p:cNvSpPr/>
          <p:nvPr/>
        </p:nvSpPr>
        <p:spPr>
          <a:xfrm>
            <a:off x="8421624" y="1756697"/>
            <a:ext cx="187228" cy="136676"/>
          </a:xfrm>
          <a:prstGeom prst="rect">
            <a:avLst/>
          </a:prstGeom>
          <a:solidFill>
            <a:srgbClr val="2587C5"/>
          </a:solidFill>
          <a:ln/>
        </p:spPr>
      </p:sp>
      <p:sp>
        <p:nvSpPr>
          <p:cNvPr id="117" name="Text 115"/>
          <p:cNvSpPr txBox="1"/>
          <p:nvPr/>
        </p:nvSpPr>
        <p:spPr>
          <a:xfrm>
            <a:off x="9125712" y="1700784"/>
            <a:ext cx="82296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$103K</a:t>
            </a:r>
            <a:endParaRPr lang="en-US" sz="1300" dirty="0"/>
          </a:p>
        </p:txBody>
      </p:sp>
      <p:sp>
        <p:nvSpPr>
          <p:cNvPr id="118" name="Text 116"/>
          <p:cNvSpPr txBox="1"/>
          <p:nvPr/>
        </p:nvSpPr>
        <p:spPr>
          <a:xfrm>
            <a:off x="9948672" y="1700784"/>
            <a:ext cx="786384"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98</a:t>
            </a:r>
            <a:endParaRPr lang="en-US" sz="1300" dirty="0"/>
          </a:p>
        </p:txBody>
      </p:sp>
      <p:sp>
        <p:nvSpPr>
          <p:cNvPr id="119" name="Text 117"/>
          <p:cNvSpPr txBox="1"/>
          <p:nvPr/>
        </p:nvSpPr>
        <p:spPr>
          <a:xfrm>
            <a:off x="10735056" y="1700784"/>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$337</a:t>
            </a:r>
            <a:endParaRPr lang="en-US" sz="1300" dirty="0"/>
          </a:p>
        </p:txBody>
      </p:sp>
      <p:sp>
        <p:nvSpPr>
          <p:cNvPr id="120" name="Text 118"/>
          <p:cNvSpPr txBox="1"/>
          <p:nvPr/>
        </p:nvSpPr>
        <p:spPr>
          <a:xfrm>
            <a:off x="6208776"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21" name="Text 119"/>
          <p:cNvSpPr txBox="1"/>
          <p:nvPr/>
        </p:nvSpPr>
        <p:spPr>
          <a:xfrm>
            <a:off x="6565392" y="194928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122" name="Shape 120"/>
          <p:cNvSpPr/>
          <p:nvPr/>
        </p:nvSpPr>
        <p:spPr>
          <a:xfrm>
            <a:off x="8421624" y="2005199"/>
            <a:ext cx="183848" cy="136676"/>
          </a:xfrm>
          <a:prstGeom prst="rect">
            <a:avLst/>
          </a:prstGeom>
          <a:solidFill>
            <a:srgbClr val="2587C5"/>
          </a:solidFill>
          <a:ln/>
        </p:spPr>
      </p:sp>
      <p:sp>
        <p:nvSpPr>
          <p:cNvPr id="123" name="Text 121"/>
          <p:cNvSpPr txBox="1"/>
          <p:nvPr/>
        </p:nvSpPr>
        <p:spPr>
          <a:xfrm>
            <a:off x="9125712" y="1949286"/>
            <a:ext cx="82296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$102K</a:t>
            </a:r>
            <a:endParaRPr lang="en-US" sz="1300" dirty="0"/>
          </a:p>
        </p:txBody>
      </p:sp>
      <p:sp>
        <p:nvSpPr>
          <p:cNvPr id="124" name="Text 122"/>
          <p:cNvSpPr txBox="1"/>
          <p:nvPr/>
        </p:nvSpPr>
        <p:spPr>
          <a:xfrm>
            <a:off x="9948672" y="1949286"/>
            <a:ext cx="786384"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39</a:t>
            </a:r>
            <a:endParaRPr lang="en-US" sz="1300" dirty="0"/>
          </a:p>
        </p:txBody>
      </p:sp>
      <p:sp>
        <p:nvSpPr>
          <p:cNvPr id="125" name="Text 123"/>
          <p:cNvSpPr txBox="1"/>
          <p:nvPr/>
        </p:nvSpPr>
        <p:spPr>
          <a:xfrm>
            <a:off x="10735056" y="1949286"/>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$331</a:t>
            </a:r>
            <a:endParaRPr lang="en-US" sz="1300" dirty="0"/>
          </a:p>
        </p:txBody>
      </p:sp>
      <p:sp>
        <p:nvSpPr>
          <p:cNvPr id="126" name="Text 124"/>
          <p:cNvSpPr txBox="1"/>
          <p:nvPr/>
        </p:nvSpPr>
        <p:spPr>
          <a:xfrm>
            <a:off x="6208776"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27" name="Text 125"/>
          <p:cNvSpPr txBox="1"/>
          <p:nvPr/>
        </p:nvSpPr>
        <p:spPr>
          <a:xfrm>
            <a:off x="6565392" y="219778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128" name="Shape 126"/>
          <p:cNvSpPr/>
          <p:nvPr/>
        </p:nvSpPr>
        <p:spPr>
          <a:xfrm>
            <a:off x="8421624" y="2253700"/>
            <a:ext cx="174845" cy="136676"/>
          </a:xfrm>
          <a:prstGeom prst="rect">
            <a:avLst/>
          </a:prstGeom>
          <a:solidFill>
            <a:srgbClr val="2587C5"/>
          </a:solidFill>
          <a:ln/>
        </p:spPr>
      </p:sp>
      <p:sp>
        <p:nvSpPr>
          <p:cNvPr id="129" name="Text 127"/>
          <p:cNvSpPr txBox="1"/>
          <p:nvPr/>
        </p:nvSpPr>
        <p:spPr>
          <a:xfrm>
            <a:off x="9125712" y="2197787"/>
            <a:ext cx="82296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$97K</a:t>
            </a:r>
            <a:endParaRPr lang="en-US" sz="1300" dirty="0"/>
          </a:p>
        </p:txBody>
      </p:sp>
      <p:sp>
        <p:nvSpPr>
          <p:cNvPr id="130" name="Text 128"/>
          <p:cNvSpPr txBox="1"/>
          <p:nvPr/>
        </p:nvSpPr>
        <p:spPr>
          <a:xfrm>
            <a:off x="9948672" y="2197787"/>
            <a:ext cx="786384"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a:t>
            </a:r>
            <a:endParaRPr lang="en-US" sz="1300" dirty="0"/>
          </a:p>
        </p:txBody>
      </p:sp>
      <p:sp>
        <p:nvSpPr>
          <p:cNvPr id="131" name="Text 129"/>
          <p:cNvSpPr txBox="1"/>
          <p:nvPr/>
        </p:nvSpPr>
        <p:spPr>
          <a:xfrm>
            <a:off x="10735056" y="2197787"/>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$314</a:t>
            </a:r>
            <a:endParaRPr lang="en-US" sz="1300" dirty="0"/>
          </a:p>
        </p:txBody>
      </p:sp>
      <p:sp>
        <p:nvSpPr>
          <p:cNvPr id="132" name="Text 130"/>
          <p:cNvSpPr txBox="1"/>
          <p:nvPr/>
        </p:nvSpPr>
        <p:spPr>
          <a:xfrm>
            <a:off x="6208776"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33" name="Text 131"/>
          <p:cNvSpPr txBox="1"/>
          <p:nvPr/>
        </p:nvSpPr>
        <p:spPr>
          <a:xfrm>
            <a:off x="6565392" y="244628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34" name="Shape 132"/>
          <p:cNvSpPr/>
          <p:nvPr/>
        </p:nvSpPr>
        <p:spPr>
          <a:xfrm>
            <a:off x="8421624" y="2502202"/>
            <a:ext cx="172138" cy="136676"/>
          </a:xfrm>
          <a:prstGeom prst="rect">
            <a:avLst/>
          </a:prstGeom>
          <a:solidFill>
            <a:srgbClr val="2587C5"/>
          </a:solidFill>
          <a:ln/>
        </p:spPr>
      </p:sp>
      <p:sp>
        <p:nvSpPr>
          <p:cNvPr id="135" name="Text 133"/>
          <p:cNvSpPr txBox="1"/>
          <p:nvPr/>
        </p:nvSpPr>
        <p:spPr>
          <a:xfrm>
            <a:off x="9125712" y="2446289"/>
            <a:ext cx="82296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$95K</a:t>
            </a:r>
            <a:endParaRPr lang="en-US" sz="1300" dirty="0"/>
          </a:p>
        </p:txBody>
      </p:sp>
      <p:sp>
        <p:nvSpPr>
          <p:cNvPr id="136" name="Text 134"/>
          <p:cNvSpPr txBox="1"/>
          <p:nvPr/>
        </p:nvSpPr>
        <p:spPr>
          <a:xfrm>
            <a:off x="9948672" y="2446289"/>
            <a:ext cx="786384"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a:t>
            </a:r>
            <a:endParaRPr lang="en-US" sz="1300" dirty="0"/>
          </a:p>
        </p:txBody>
      </p:sp>
      <p:sp>
        <p:nvSpPr>
          <p:cNvPr id="137" name="Text 135"/>
          <p:cNvSpPr txBox="1"/>
          <p:nvPr/>
        </p:nvSpPr>
        <p:spPr>
          <a:xfrm>
            <a:off x="10735056" y="2446289"/>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$310</a:t>
            </a:r>
            <a:endParaRPr lang="en-US" sz="1300" dirty="0"/>
          </a:p>
        </p:txBody>
      </p:sp>
      <p:sp>
        <p:nvSpPr>
          <p:cNvPr id="138" name="Text 136"/>
          <p:cNvSpPr txBox="1"/>
          <p:nvPr/>
        </p:nvSpPr>
        <p:spPr>
          <a:xfrm>
            <a:off x="6208776"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39" name="Text 137"/>
          <p:cNvSpPr txBox="1"/>
          <p:nvPr/>
        </p:nvSpPr>
        <p:spPr>
          <a:xfrm>
            <a:off x="6565392" y="2694791"/>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40" name="Shape 138"/>
          <p:cNvSpPr/>
          <p:nvPr/>
        </p:nvSpPr>
        <p:spPr>
          <a:xfrm>
            <a:off x="8421624" y="2750703"/>
            <a:ext cx="170555" cy="136676"/>
          </a:xfrm>
          <a:prstGeom prst="rect">
            <a:avLst/>
          </a:prstGeom>
          <a:solidFill>
            <a:srgbClr val="2587C5"/>
          </a:solidFill>
          <a:ln/>
        </p:spPr>
      </p:sp>
      <p:sp>
        <p:nvSpPr>
          <p:cNvPr id="141" name="Text 139"/>
          <p:cNvSpPr txBox="1"/>
          <p:nvPr/>
        </p:nvSpPr>
        <p:spPr>
          <a:xfrm>
            <a:off x="9125712" y="2694791"/>
            <a:ext cx="82296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$94K</a:t>
            </a:r>
            <a:endParaRPr lang="en-US" sz="1300" dirty="0"/>
          </a:p>
        </p:txBody>
      </p:sp>
      <p:sp>
        <p:nvSpPr>
          <p:cNvPr id="142" name="Text 140"/>
          <p:cNvSpPr txBox="1"/>
          <p:nvPr/>
        </p:nvSpPr>
        <p:spPr>
          <a:xfrm>
            <a:off x="9948672" y="2694791"/>
            <a:ext cx="786384"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a:t>
            </a:r>
            <a:endParaRPr lang="en-US" sz="1300" dirty="0"/>
          </a:p>
        </p:txBody>
      </p:sp>
      <p:sp>
        <p:nvSpPr>
          <p:cNvPr id="143" name="Text 141"/>
          <p:cNvSpPr txBox="1"/>
          <p:nvPr/>
        </p:nvSpPr>
        <p:spPr>
          <a:xfrm>
            <a:off x="10735056" y="2694791"/>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$307</a:t>
            </a:r>
            <a:endParaRPr lang="en-US" sz="1300" dirty="0"/>
          </a:p>
        </p:txBody>
      </p:sp>
      <p:sp>
        <p:nvSpPr>
          <p:cNvPr id="144" name="Text 142"/>
          <p:cNvSpPr txBox="1"/>
          <p:nvPr/>
        </p:nvSpPr>
        <p:spPr>
          <a:xfrm>
            <a:off x="6208776"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45" name="Text 143"/>
          <p:cNvSpPr txBox="1"/>
          <p:nvPr/>
        </p:nvSpPr>
        <p:spPr>
          <a:xfrm>
            <a:off x="6565392" y="294329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46" name="Shape 144"/>
          <p:cNvSpPr/>
          <p:nvPr/>
        </p:nvSpPr>
        <p:spPr>
          <a:xfrm>
            <a:off x="8421624" y="2999205"/>
            <a:ext cx="162333" cy="136676"/>
          </a:xfrm>
          <a:prstGeom prst="rect">
            <a:avLst/>
          </a:prstGeom>
          <a:solidFill>
            <a:srgbClr val="2587C5"/>
          </a:solidFill>
          <a:ln/>
        </p:spPr>
      </p:sp>
      <p:sp>
        <p:nvSpPr>
          <p:cNvPr id="147" name="Text 145"/>
          <p:cNvSpPr txBox="1"/>
          <p:nvPr/>
        </p:nvSpPr>
        <p:spPr>
          <a:xfrm>
            <a:off x="9125712" y="2943292"/>
            <a:ext cx="82296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$90K</a:t>
            </a:r>
            <a:endParaRPr lang="en-US" sz="1300" dirty="0"/>
          </a:p>
        </p:txBody>
      </p:sp>
      <p:sp>
        <p:nvSpPr>
          <p:cNvPr id="148" name="Text 146"/>
          <p:cNvSpPr txBox="1"/>
          <p:nvPr/>
        </p:nvSpPr>
        <p:spPr>
          <a:xfrm>
            <a:off x="9948672" y="2943292"/>
            <a:ext cx="786384"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a:t>
            </a:r>
            <a:endParaRPr lang="en-US" sz="1300" dirty="0"/>
          </a:p>
        </p:txBody>
      </p:sp>
      <p:sp>
        <p:nvSpPr>
          <p:cNvPr id="149" name="Text 147"/>
          <p:cNvSpPr txBox="1"/>
          <p:nvPr/>
        </p:nvSpPr>
        <p:spPr>
          <a:xfrm>
            <a:off x="10735056" y="2943292"/>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$292</a:t>
            </a:r>
            <a:endParaRPr lang="en-US" sz="1300" dirty="0"/>
          </a:p>
        </p:txBody>
      </p:sp>
      <p:sp>
        <p:nvSpPr>
          <p:cNvPr id="150" name="Text 148"/>
          <p:cNvSpPr txBox="1"/>
          <p:nvPr/>
        </p:nvSpPr>
        <p:spPr>
          <a:xfrm>
            <a:off x="6208776"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51" name="Text 149"/>
          <p:cNvSpPr txBox="1"/>
          <p:nvPr/>
        </p:nvSpPr>
        <p:spPr>
          <a:xfrm>
            <a:off x="6565392" y="319179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52" name="Shape 150"/>
          <p:cNvSpPr/>
          <p:nvPr/>
        </p:nvSpPr>
        <p:spPr>
          <a:xfrm>
            <a:off x="8421624" y="3247707"/>
            <a:ext cx="157532" cy="136676"/>
          </a:xfrm>
          <a:prstGeom prst="rect">
            <a:avLst/>
          </a:prstGeom>
          <a:solidFill>
            <a:srgbClr val="2587C5"/>
          </a:solidFill>
          <a:ln/>
        </p:spPr>
      </p:sp>
      <p:sp>
        <p:nvSpPr>
          <p:cNvPr id="153" name="Text 151"/>
          <p:cNvSpPr txBox="1"/>
          <p:nvPr/>
        </p:nvSpPr>
        <p:spPr>
          <a:xfrm>
            <a:off x="9125712" y="3191794"/>
            <a:ext cx="82296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$87K</a:t>
            </a:r>
            <a:endParaRPr lang="en-US" sz="1300" dirty="0"/>
          </a:p>
        </p:txBody>
      </p:sp>
      <p:sp>
        <p:nvSpPr>
          <p:cNvPr id="154" name="Text 152"/>
          <p:cNvSpPr txBox="1"/>
          <p:nvPr/>
        </p:nvSpPr>
        <p:spPr>
          <a:xfrm>
            <a:off x="9948672" y="3191794"/>
            <a:ext cx="786384"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a:t>
            </a:r>
            <a:endParaRPr lang="en-US" sz="1300" dirty="0"/>
          </a:p>
        </p:txBody>
      </p:sp>
      <p:sp>
        <p:nvSpPr>
          <p:cNvPr id="155" name="Text 153"/>
          <p:cNvSpPr txBox="1"/>
          <p:nvPr/>
        </p:nvSpPr>
        <p:spPr>
          <a:xfrm>
            <a:off x="10735056" y="3191794"/>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$283</a:t>
            </a:r>
            <a:endParaRPr lang="en-US" sz="1300" dirty="0"/>
          </a:p>
        </p:txBody>
      </p:sp>
      <p:sp>
        <p:nvSpPr>
          <p:cNvPr id="156" name="Text 154"/>
          <p:cNvSpPr txBox="1"/>
          <p:nvPr/>
        </p:nvSpPr>
        <p:spPr>
          <a:xfrm>
            <a:off x="6208776"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57" name="Text 155"/>
          <p:cNvSpPr txBox="1"/>
          <p:nvPr/>
        </p:nvSpPr>
        <p:spPr>
          <a:xfrm>
            <a:off x="6565392" y="344029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158" name="Shape 156"/>
          <p:cNvSpPr/>
          <p:nvPr/>
        </p:nvSpPr>
        <p:spPr>
          <a:xfrm>
            <a:off x="8421624" y="3496208"/>
            <a:ext cx="155767" cy="136676"/>
          </a:xfrm>
          <a:prstGeom prst="rect">
            <a:avLst/>
          </a:prstGeom>
          <a:solidFill>
            <a:srgbClr val="2587C5"/>
          </a:solidFill>
          <a:ln/>
        </p:spPr>
      </p:sp>
      <p:sp>
        <p:nvSpPr>
          <p:cNvPr id="159" name="Text 157"/>
          <p:cNvSpPr txBox="1"/>
          <p:nvPr/>
        </p:nvSpPr>
        <p:spPr>
          <a:xfrm>
            <a:off x="9125712" y="3440296"/>
            <a:ext cx="82296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$86K</a:t>
            </a:r>
            <a:endParaRPr lang="en-US" sz="1300" dirty="0"/>
          </a:p>
        </p:txBody>
      </p:sp>
      <p:sp>
        <p:nvSpPr>
          <p:cNvPr id="160" name="Text 158"/>
          <p:cNvSpPr txBox="1"/>
          <p:nvPr/>
        </p:nvSpPr>
        <p:spPr>
          <a:xfrm>
            <a:off x="9948672" y="3440296"/>
            <a:ext cx="786384"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25</a:t>
            </a:r>
            <a:endParaRPr lang="en-US" sz="1300" dirty="0"/>
          </a:p>
        </p:txBody>
      </p:sp>
      <p:sp>
        <p:nvSpPr>
          <p:cNvPr id="161" name="Text 159"/>
          <p:cNvSpPr txBox="1"/>
          <p:nvPr/>
        </p:nvSpPr>
        <p:spPr>
          <a:xfrm>
            <a:off x="10735056" y="3440296"/>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$280</a:t>
            </a:r>
            <a:endParaRPr lang="en-US" sz="1300" dirty="0"/>
          </a:p>
        </p:txBody>
      </p:sp>
      <p:sp>
        <p:nvSpPr>
          <p:cNvPr id="162" name="Text 160"/>
          <p:cNvSpPr txBox="1"/>
          <p:nvPr/>
        </p:nvSpPr>
        <p:spPr>
          <a:xfrm>
            <a:off x="6208776"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63" name="Text 161"/>
          <p:cNvSpPr txBox="1"/>
          <p:nvPr/>
        </p:nvSpPr>
        <p:spPr>
          <a:xfrm>
            <a:off x="6565392" y="368879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164" name="Shape 162"/>
          <p:cNvSpPr/>
          <p:nvPr/>
        </p:nvSpPr>
        <p:spPr>
          <a:xfrm>
            <a:off x="8421624" y="3744710"/>
            <a:ext cx="149072" cy="136676"/>
          </a:xfrm>
          <a:prstGeom prst="rect">
            <a:avLst/>
          </a:prstGeom>
          <a:solidFill>
            <a:srgbClr val="2587C5"/>
          </a:solidFill>
          <a:ln/>
        </p:spPr>
      </p:sp>
      <p:sp>
        <p:nvSpPr>
          <p:cNvPr id="165" name="Text 163"/>
          <p:cNvSpPr txBox="1"/>
          <p:nvPr/>
        </p:nvSpPr>
        <p:spPr>
          <a:xfrm>
            <a:off x="9125712" y="3688797"/>
            <a:ext cx="82296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$82K</a:t>
            </a:r>
            <a:endParaRPr lang="en-US" sz="1300" dirty="0"/>
          </a:p>
        </p:txBody>
      </p:sp>
      <p:sp>
        <p:nvSpPr>
          <p:cNvPr id="166" name="Text 164"/>
          <p:cNvSpPr txBox="1"/>
          <p:nvPr/>
        </p:nvSpPr>
        <p:spPr>
          <a:xfrm>
            <a:off x="9948672" y="3688797"/>
            <a:ext cx="786384"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35</a:t>
            </a:r>
            <a:endParaRPr lang="en-US" sz="1300" dirty="0"/>
          </a:p>
        </p:txBody>
      </p:sp>
      <p:sp>
        <p:nvSpPr>
          <p:cNvPr id="167" name="Text 165"/>
          <p:cNvSpPr txBox="1"/>
          <p:nvPr/>
        </p:nvSpPr>
        <p:spPr>
          <a:xfrm>
            <a:off x="10735056" y="3688797"/>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$268</a:t>
            </a:r>
            <a:endParaRPr lang="en-US" sz="1300" dirty="0"/>
          </a:p>
        </p:txBody>
      </p:sp>
      <p:sp>
        <p:nvSpPr>
          <p:cNvPr id="168" name="Text 166"/>
          <p:cNvSpPr txBox="1"/>
          <p:nvPr/>
        </p:nvSpPr>
        <p:spPr>
          <a:xfrm>
            <a:off x="6208776"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69" name="Text 167"/>
          <p:cNvSpPr txBox="1"/>
          <p:nvPr/>
        </p:nvSpPr>
        <p:spPr>
          <a:xfrm>
            <a:off x="6565392" y="393729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70" name="Shape 168"/>
          <p:cNvSpPr/>
          <p:nvPr/>
        </p:nvSpPr>
        <p:spPr>
          <a:xfrm>
            <a:off x="8421624" y="3993212"/>
            <a:ext cx="134602" cy="136676"/>
          </a:xfrm>
          <a:prstGeom prst="rect">
            <a:avLst/>
          </a:prstGeom>
          <a:solidFill>
            <a:srgbClr val="2587C5"/>
          </a:solidFill>
          <a:ln/>
        </p:spPr>
      </p:sp>
      <p:sp>
        <p:nvSpPr>
          <p:cNvPr id="171" name="Text 169"/>
          <p:cNvSpPr txBox="1"/>
          <p:nvPr/>
        </p:nvSpPr>
        <p:spPr>
          <a:xfrm>
            <a:off x="9125712" y="3937299"/>
            <a:ext cx="82296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$74K</a:t>
            </a:r>
            <a:endParaRPr lang="en-US" sz="1300" dirty="0"/>
          </a:p>
        </p:txBody>
      </p:sp>
      <p:sp>
        <p:nvSpPr>
          <p:cNvPr id="172" name="Text 170"/>
          <p:cNvSpPr txBox="1"/>
          <p:nvPr/>
        </p:nvSpPr>
        <p:spPr>
          <a:xfrm>
            <a:off x="9948672" y="3937299"/>
            <a:ext cx="786384"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231</a:t>
            </a:r>
            <a:endParaRPr lang="en-US" sz="1300" dirty="0"/>
          </a:p>
        </p:txBody>
      </p:sp>
      <p:sp>
        <p:nvSpPr>
          <p:cNvPr id="173" name="Text 171"/>
          <p:cNvSpPr txBox="1"/>
          <p:nvPr/>
        </p:nvSpPr>
        <p:spPr>
          <a:xfrm>
            <a:off x="10735056" y="3937299"/>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$242</a:t>
            </a:r>
            <a:endParaRPr lang="en-US" sz="1300" dirty="0"/>
          </a:p>
        </p:txBody>
      </p:sp>
      <p:sp>
        <p:nvSpPr>
          <p:cNvPr id="174" name="Text 172"/>
          <p:cNvSpPr txBox="1"/>
          <p:nvPr/>
        </p:nvSpPr>
        <p:spPr>
          <a:xfrm>
            <a:off x="6208776"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75" name="Text 173"/>
          <p:cNvSpPr txBox="1"/>
          <p:nvPr/>
        </p:nvSpPr>
        <p:spPr>
          <a:xfrm>
            <a:off x="6565392" y="418580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76" name="Shape 174"/>
          <p:cNvSpPr/>
          <p:nvPr/>
        </p:nvSpPr>
        <p:spPr>
          <a:xfrm>
            <a:off x="8421624" y="4241713"/>
            <a:ext cx="131833" cy="136676"/>
          </a:xfrm>
          <a:prstGeom prst="rect">
            <a:avLst/>
          </a:prstGeom>
          <a:solidFill>
            <a:srgbClr val="2587C5"/>
          </a:solidFill>
          <a:ln/>
        </p:spPr>
      </p:sp>
      <p:sp>
        <p:nvSpPr>
          <p:cNvPr id="177" name="Text 175"/>
          <p:cNvSpPr txBox="1"/>
          <p:nvPr/>
        </p:nvSpPr>
        <p:spPr>
          <a:xfrm>
            <a:off x="9125712" y="4185800"/>
            <a:ext cx="82296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$73K</a:t>
            </a:r>
            <a:endParaRPr lang="en-US" sz="1300" dirty="0"/>
          </a:p>
        </p:txBody>
      </p:sp>
      <p:sp>
        <p:nvSpPr>
          <p:cNvPr id="178" name="Text 176"/>
          <p:cNvSpPr txBox="1"/>
          <p:nvPr/>
        </p:nvSpPr>
        <p:spPr>
          <a:xfrm>
            <a:off x="9948672" y="4185800"/>
            <a:ext cx="786384"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a:t>
            </a:r>
            <a:endParaRPr lang="en-US" sz="1300" dirty="0"/>
          </a:p>
        </p:txBody>
      </p:sp>
      <p:sp>
        <p:nvSpPr>
          <p:cNvPr id="179" name="Text 177"/>
          <p:cNvSpPr txBox="1"/>
          <p:nvPr/>
        </p:nvSpPr>
        <p:spPr>
          <a:xfrm>
            <a:off x="10735056" y="4185800"/>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$237</a:t>
            </a:r>
            <a:endParaRPr lang="en-US" sz="1300" dirty="0"/>
          </a:p>
        </p:txBody>
      </p:sp>
      <p:sp>
        <p:nvSpPr>
          <p:cNvPr id="180" name="Text 178"/>
          <p:cNvSpPr txBox="1"/>
          <p:nvPr/>
        </p:nvSpPr>
        <p:spPr>
          <a:xfrm>
            <a:off x="6208776"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81" name="Text 179"/>
          <p:cNvSpPr txBox="1"/>
          <p:nvPr/>
        </p:nvSpPr>
        <p:spPr>
          <a:xfrm>
            <a:off x="6565392" y="443430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182" name="Shape 180"/>
          <p:cNvSpPr/>
          <p:nvPr/>
        </p:nvSpPr>
        <p:spPr>
          <a:xfrm>
            <a:off x="8421624" y="4490215"/>
            <a:ext cx="131799" cy="136676"/>
          </a:xfrm>
          <a:prstGeom prst="rect">
            <a:avLst/>
          </a:prstGeom>
          <a:solidFill>
            <a:srgbClr val="2587C5"/>
          </a:solidFill>
          <a:ln/>
        </p:spPr>
      </p:sp>
      <p:sp>
        <p:nvSpPr>
          <p:cNvPr id="183" name="Text 181"/>
          <p:cNvSpPr txBox="1"/>
          <p:nvPr/>
        </p:nvSpPr>
        <p:spPr>
          <a:xfrm>
            <a:off x="9125712" y="4434302"/>
            <a:ext cx="82296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$73K</a:t>
            </a:r>
            <a:endParaRPr lang="en-US" sz="1300" dirty="0"/>
          </a:p>
        </p:txBody>
      </p:sp>
      <p:sp>
        <p:nvSpPr>
          <p:cNvPr id="184" name="Text 182"/>
          <p:cNvSpPr txBox="1"/>
          <p:nvPr/>
        </p:nvSpPr>
        <p:spPr>
          <a:xfrm>
            <a:off x="9948672" y="4434302"/>
            <a:ext cx="786384"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a:t>
            </a:r>
            <a:endParaRPr lang="en-US" sz="1300" dirty="0"/>
          </a:p>
        </p:txBody>
      </p:sp>
      <p:sp>
        <p:nvSpPr>
          <p:cNvPr id="185" name="Text 183"/>
          <p:cNvSpPr txBox="1"/>
          <p:nvPr/>
        </p:nvSpPr>
        <p:spPr>
          <a:xfrm>
            <a:off x="10735056" y="4434302"/>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$237</a:t>
            </a:r>
            <a:endParaRPr lang="en-US" sz="1300" dirty="0"/>
          </a:p>
        </p:txBody>
      </p:sp>
      <p:sp>
        <p:nvSpPr>
          <p:cNvPr id="186" name="Text 184"/>
          <p:cNvSpPr txBox="1"/>
          <p:nvPr/>
        </p:nvSpPr>
        <p:spPr>
          <a:xfrm>
            <a:off x="6208776"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87" name="Text 185"/>
          <p:cNvSpPr txBox="1"/>
          <p:nvPr/>
        </p:nvSpPr>
        <p:spPr>
          <a:xfrm>
            <a:off x="6565392" y="468280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188" name="Shape 186"/>
          <p:cNvSpPr/>
          <p:nvPr/>
        </p:nvSpPr>
        <p:spPr>
          <a:xfrm>
            <a:off x="8421624" y="4738717"/>
            <a:ext cx="131739" cy="136676"/>
          </a:xfrm>
          <a:prstGeom prst="rect">
            <a:avLst/>
          </a:prstGeom>
          <a:solidFill>
            <a:srgbClr val="2587C5"/>
          </a:solidFill>
          <a:ln/>
        </p:spPr>
      </p:sp>
      <p:sp>
        <p:nvSpPr>
          <p:cNvPr id="189" name="Text 187"/>
          <p:cNvSpPr txBox="1"/>
          <p:nvPr/>
        </p:nvSpPr>
        <p:spPr>
          <a:xfrm>
            <a:off x="9125712" y="4682804"/>
            <a:ext cx="82296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$73K</a:t>
            </a:r>
            <a:endParaRPr lang="en-US" sz="1300" dirty="0"/>
          </a:p>
        </p:txBody>
      </p:sp>
      <p:sp>
        <p:nvSpPr>
          <p:cNvPr id="190" name="Text 188"/>
          <p:cNvSpPr txBox="1"/>
          <p:nvPr/>
        </p:nvSpPr>
        <p:spPr>
          <a:xfrm>
            <a:off x="9948672" y="4682804"/>
            <a:ext cx="786384"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59</a:t>
            </a:r>
            <a:endParaRPr lang="en-US" sz="1300" dirty="0"/>
          </a:p>
        </p:txBody>
      </p:sp>
      <p:sp>
        <p:nvSpPr>
          <p:cNvPr id="191" name="Text 189"/>
          <p:cNvSpPr txBox="1"/>
          <p:nvPr/>
        </p:nvSpPr>
        <p:spPr>
          <a:xfrm>
            <a:off x="10735056" y="4682804"/>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$237</a:t>
            </a:r>
            <a:endParaRPr lang="en-US" sz="1300" dirty="0"/>
          </a:p>
        </p:txBody>
      </p:sp>
      <p:sp>
        <p:nvSpPr>
          <p:cNvPr id="192" name="Text 190"/>
          <p:cNvSpPr txBox="1"/>
          <p:nvPr/>
        </p:nvSpPr>
        <p:spPr>
          <a:xfrm>
            <a:off x="6208776"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93" name="Text 191"/>
          <p:cNvSpPr txBox="1"/>
          <p:nvPr/>
        </p:nvSpPr>
        <p:spPr>
          <a:xfrm>
            <a:off x="6565392" y="4931305"/>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94" name="Shape 192"/>
          <p:cNvSpPr/>
          <p:nvPr/>
        </p:nvSpPr>
        <p:spPr>
          <a:xfrm>
            <a:off x="8421624" y="4987218"/>
            <a:ext cx="122451" cy="136676"/>
          </a:xfrm>
          <a:prstGeom prst="rect">
            <a:avLst/>
          </a:prstGeom>
          <a:solidFill>
            <a:srgbClr val="2587C5"/>
          </a:solidFill>
          <a:ln/>
        </p:spPr>
      </p:sp>
      <p:sp>
        <p:nvSpPr>
          <p:cNvPr id="195" name="Text 193"/>
          <p:cNvSpPr txBox="1"/>
          <p:nvPr/>
        </p:nvSpPr>
        <p:spPr>
          <a:xfrm>
            <a:off x="9125712" y="4931305"/>
            <a:ext cx="82296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$68K</a:t>
            </a:r>
            <a:endParaRPr lang="en-US" sz="1300" dirty="0"/>
          </a:p>
        </p:txBody>
      </p:sp>
      <p:sp>
        <p:nvSpPr>
          <p:cNvPr id="196" name="Text 194"/>
          <p:cNvSpPr txBox="1"/>
          <p:nvPr/>
        </p:nvSpPr>
        <p:spPr>
          <a:xfrm>
            <a:off x="9948672" y="4931305"/>
            <a:ext cx="786384"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a:t>
            </a:r>
            <a:endParaRPr lang="en-US" sz="1300" dirty="0"/>
          </a:p>
        </p:txBody>
      </p:sp>
      <p:sp>
        <p:nvSpPr>
          <p:cNvPr id="197" name="Text 195"/>
          <p:cNvSpPr txBox="1"/>
          <p:nvPr/>
        </p:nvSpPr>
        <p:spPr>
          <a:xfrm>
            <a:off x="10735056" y="4931305"/>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$220</a:t>
            </a:r>
            <a:endParaRPr lang="en-US" sz="1300" dirty="0"/>
          </a:p>
        </p:txBody>
      </p:sp>
      <p:sp>
        <p:nvSpPr>
          <p:cNvPr id="198" name="Text 196"/>
          <p:cNvSpPr txBox="1"/>
          <p:nvPr/>
        </p:nvSpPr>
        <p:spPr>
          <a:xfrm>
            <a:off x="6208776"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99" name="Text 197"/>
          <p:cNvSpPr txBox="1"/>
          <p:nvPr/>
        </p:nvSpPr>
        <p:spPr>
          <a:xfrm>
            <a:off x="6565392" y="517980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200" name="Shape 198"/>
          <p:cNvSpPr/>
          <p:nvPr/>
        </p:nvSpPr>
        <p:spPr>
          <a:xfrm>
            <a:off x="8421624" y="5235720"/>
            <a:ext cx="120654" cy="136676"/>
          </a:xfrm>
          <a:prstGeom prst="rect">
            <a:avLst/>
          </a:prstGeom>
          <a:solidFill>
            <a:srgbClr val="2587C5"/>
          </a:solidFill>
          <a:ln/>
        </p:spPr>
      </p:sp>
      <p:sp>
        <p:nvSpPr>
          <p:cNvPr id="201" name="Text 199"/>
          <p:cNvSpPr txBox="1"/>
          <p:nvPr/>
        </p:nvSpPr>
        <p:spPr>
          <a:xfrm>
            <a:off x="9125712" y="5179807"/>
            <a:ext cx="82296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$67K</a:t>
            </a:r>
            <a:endParaRPr lang="en-US" sz="1300" dirty="0"/>
          </a:p>
        </p:txBody>
      </p:sp>
      <p:sp>
        <p:nvSpPr>
          <p:cNvPr id="202" name="Text 200"/>
          <p:cNvSpPr txBox="1"/>
          <p:nvPr/>
        </p:nvSpPr>
        <p:spPr>
          <a:xfrm>
            <a:off x="9948672" y="5179807"/>
            <a:ext cx="786384"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75</a:t>
            </a:r>
            <a:endParaRPr lang="en-US" sz="1300" dirty="0"/>
          </a:p>
        </p:txBody>
      </p:sp>
      <p:sp>
        <p:nvSpPr>
          <p:cNvPr id="203" name="Text 201"/>
          <p:cNvSpPr txBox="1"/>
          <p:nvPr/>
        </p:nvSpPr>
        <p:spPr>
          <a:xfrm>
            <a:off x="10735056" y="5179807"/>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$217</a:t>
            </a:r>
            <a:endParaRPr lang="en-US" sz="1300" dirty="0"/>
          </a:p>
        </p:txBody>
      </p:sp>
      <p:sp>
        <p:nvSpPr>
          <p:cNvPr id="204" name="Text 202"/>
          <p:cNvSpPr txBox="1"/>
          <p:nvPr/>
        </p:nvSpPr>
        <p:spPr>
          <a:xfrm>
            <a:off x="6208776"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205" name="Text 203"/>
          <p:cNvSpPr txBox="1"/>
          <p:nvPr/>
        </p:nvSpPr>
        <p:spPr>
          <a:xfrm>
            <a:off x="6565392" y="542830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206" name="Shape 204"/>
          <p:cNvSpPr/>
          <p:nvPr/>
        </p:nvSpPr>
        <p:spPr>
          <a:xfrm>
            <a:off x="8421624" y="5484222"/>
            <a:ext cx="118797" cy="136676"/>
          </a:xfrm>
          <a:prstGeom prst="rect">
            <a:avLst/>
          </a:prstGeom>
          <a:solidFill>
            <a:srgbClr val="2587C5"/>
          </a:solidFill>
          <a:ln/>
        </p:spPr>
      </p:sp>
      <p:sp>
        <p:nvSpPr>
          <p:cNvPr id="207" name="Text 205"/>
          <p:cNvSpPr txBox="1"/>
          <p:nvPr/>
        </p:nvSpPr>
        <p:spPr>
          <a:xfrm>
            <a:off x="9125712" y="5428309"/>
            <a:ext cx="82296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$66K</a:t>
            </a:r>
            <a:endParaRPr lang="en-US" sz="1300" dirty="0"/>
          </a:p>
        </p:txBody>
      </p:sp>
      <p:sp>
        <p:nvSpPr>
          <p:cNvPr id="208" name="Text 206"/>
          <p:cNvSpPr txBox="1"/>
          <p:nvPr/>
        </p:nvSpPr>
        <p:spPr>
          <a:xfrm>
            <a:off x="9948672" y="5428309"/>
            <a:ext cx="786384"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66</a:t>
            </a:r>
            <a:endParaRPr lang="en-US" sz="1300" dirty="0"/>
          </a:p>
        </p:txBody>
      </p:sp>
      <p:sp>
        <p:nvSpPr>
          <p:cNvPr id="209" name="Text 207"/>
          <p:cNvSpPr txBox="1"/>
          <p:nvPr/>
        </p:nvSpPr>
        <p:spPr>
          <a:xfrm>
            <a:off x="10735056" y="5428309"/>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$214</a:t>
            </a:r>
            <a:endParaRPr lang="en-US" sz="1300" dirty="0"/>
          </a:p>
        </p:txBody>
      </p:sp>
      <p:sp>
        <p:nvSpPr>
          <p:cNvPr id="210" name="Shape 208"/>
          <p:cNvSpPr/>
          <p:nvPr/>
        </p:nvSpPr>
        <p:spPr>
          <a:xfrm>
            <a:off x="6085332" y="1700784"/>
            <a:ext cx="10973" cy="4224528"/>
          </a:xfrm>
          <a:prstGeom prst="rect">
            <a:avLst/>
          </a:prstGeom>
          <a:solidFill>
            <a:srgbClr val="D9D9D9"/>
          </a:solidFill>
          <a:ln/>
        </p:spPr>
      </p:sp>
      <p:sp>
        <p:nvSpPr>
          <p:cNvPr id="211" name="Shape 209"/>
          <p:cNvSpPr/>
          <p:nvPr/>
        </p:nvSpPr>
        <p:spPr>
          <a:xfrm>
            <a:off x="457200" y="6126480"/>
            <a:ext cx="11274552" cy="615696"/>
          </a:xfrm>
          <a:prstGeom prst="rect">
            <a:avLst/>
          </a:prstGeom>
          <a:solidFill>
            <a:srgbClr val="E6F6EE"/>
          </a:solidFill>
          <a:ln/>
        </p:spPr>
      </p:sp>
      <p:sp>
        <p:nvSpPr>
          <p:cNvPr id="212" name="Text 210"/>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One more customer-pay RO a day at every store is worth $4,473,284 a year in labor and parts gross. Each RO averages $342.</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2026-10-27T18:05:23Z</dcterms:created>
  <dcterms:modified xsi:type="dcterms:W3CDTF">2026-10-27T18:05:23Z</dcterms:modified>
</cp:coreProperties>
</file>