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55578.46</c:v>
                </c:pt>
                <c:pt idx="1">
                  <c:v>52000.56</c:v>
                </c:pt>
                <c:pt idx="2">
                  <c:v>60175.93</c:v>
                </c:pt>
                <c:pt idx="3">
                  <c:v>59745.97</c:v>
                </c:pt>
                <c:pt idx="4">
                  <c:v>57788.84</c:v>
                </c:pt>
                <c:pt idx="5">
                  <c:v>60916.67</c:v>
                </c:pt>
                <c:pt idx="6">
                  <c:v>61860.58</c:v>
                </c:pt>
                <c:pt idx="7">
                  <c:v>59618.54</c:v>
                </c:pt>
                <c:pt idx="8">
                  <c:v>55456.31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70000"/>
          <c:min val="4500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55578.46</c:v>
                </c:pt>
                <c:pt idx="1">
                  <c:v>52000.56</c:v>
                </c:pt>
                <c:pt idx="2">
                  <c:v>60175.93</c:v>
                </c:pt>
                <c:pt idx="3">
                  <c:v>59745.97</c:v>
                </c:pt>
                <c:pt idx="4">
                  <c:v/>
                </c:pt>
                <c:pt idx="5">
                  <c:v>60916.67</c:v>
                </c:pt>
                <c:pt idx="6">
                  <c:v>61860.58</c:v>
                </c:pt>
                <c:pt idx="7">
                  <c:v>59618.54</c:v>
                </c:pt>
                <c:pt idx="8">
                  <c:v>55456.31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70000"/>
          <c:min val="4500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57788.84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70000"/>
          <c:min val="4500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57794.35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70000"/>
          <c:min val="4500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55120.88</c:v>
                </c:pt>
                <c:pt idx="1">
                  <c:v>51212.03</c:v>
                </c:pt>
                <c:pt idx="2">
                  <c:v>57205.56</c:v>
                </c:pt>
                <c:pt idx="3">
                  <c:v>58170.14</c:v>
                </c:pt>
                <c:pt idx="4">
                  <c:v/>
                </c:pt>
                <c:pt idx="5">
                  <c:v>56468.18</c:v>
                </c:pt>
                <c:pt idx="6">
                  <c:v>57717.31</c:v>
                </c:pt>
                <c:pt idx="7">
                  <c:v>57021.2</c:v>
                </c:pt>
                <c:pt idx="8">
                  <c:v>53309.32</c:v>
                </c:pt>
                <c:pt idx="9">
                  <c:v>58023.59000000028</c:v>
                </c:pt>
                <c:pt idx="10">
                  <c:v>51202.50000000025</c:v>
                </c:pt>
                <c:pt idx="11">
                  <c:v>52701.39000000027</c:v>
                </c:pt>
              </c:numCache>
            </c:numRef>
          </c:val>
          <c:smooth val="0"/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70000"/>
          <c:min val="4500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55120.88</c:v>
                </c:pt>
                <c:pt idx="1">
                  <c:v>51212.03</c:v>
                </c:pt>
                <c:pt idx="2">
                  <c:v>57205.56</c:v>
                </c:pt>
                <c:pt idx="3">
                  <c:v>58170.14</c:v>
                </c:pt>
                <c:pt idx="4">
                  <c:v>57794.35</c:v>
                </c:pt>
                <c:pt idx="5">
                  <c:v>56468.18</c:v>
                </c:pt>
                <c:pt idx="6">
                  <c:v>57717.31</c:v>
                </c:pt>
                <c:pt idx="7">
                  <c:v>57021.2</c:v>
                </c:pt>
                <c:pt idx="8">
                  <c:v>53309.32</c:v>
                </c:pt>
                <c:pt idx="9">
                  <c:v>58023.59000000028</c:v>
                </c:pt>
                <c:pt idx="10">
                  <c:v>51202.50000000025</c:v>
                </c:pt>
                <c:pt idx="11">
                  <c:v>52701.39000000027</c:v>
                </c:pt>
              </c:numCache>
            </c:numRef>
          </c:val>
          <c:smooth val="0"/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70000"/>
          <c:min val="4500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date. Same-store, INEOS excluded (opened 2026). GMC Prescott body shop labor types excluded. Total customer-pay labor hours sold, all CP ROs. YTD from YTD totals, not the mean of months. Store rows reconcile to the group on every input, both years. 2025 shown January-December; October-December pulled Oct 22 on the same basis (chart only).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date. Same-store, INEOS excluded (opened 2026). GMC Prescott body shop labor types excluded. Total customer-pay labor hours sold, all CP ROs. Jan-Sep 2026 YTD.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date. Same-store, INEOS excluded (opened 2026). GMC Prescott body shop labor types excluded. Change in customer-pay hours sold (percent, so store size does not drive the ranking),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date. Same-store, INEOS excluded (opened 2026). GMC Prescott body shop labor types excluded. Total customer-pay labor hours sold, all CP ROs. Top and bottom five stores by change in customer-pay hours sold (percent, so store size does not drive the ranking), Jan-Sep 2026 vs 2025.Conversation starter: each top store says one thing they started doing; each bottom store says what got in the way and what they would try. The room trades ideas.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date. Same-store, INEOS excluded (opened 2026). GMC Prescott body shop labor types excluded. Per RO = the store's customer-pay labor gross + parts gross / its CP RO count, Jan-Sep 2026. Days open a year: 307 for every store (open 6 days a week, 2026 calendar, less the 6 service holidays: New Year's, Memorial Day, Independence Day, Labor Day, Thanksgiving, Christmas). ROs/day = Jan-Sep 2026 CP ROs at a yearly pace / days open. Assumes the added RO is an average one.Talk track: one more customer a day - one more answered call, one appointment kept, one 'close to losing' customer brought back. Retention, phones and the scheduler are the levers.
LR HENDERSON: $1,168 gross per RO x 307 days open a year = $358,484; 6.8 CP ROs a day today
LR LV: $1,142 gross per RO x 307 days open a year = $350,585; 15.2 CP ROs a day today
LR RENO: $1,052 gross per RO x 307 days open a year = $323,117; 6.2 CP ROs a day today
AUDI HENDERSON: $1,030 gross per RO x 307 days open a year = $316,136; 16.4 CP ROs a day today
AUDI RENO: $740 gross per RO x 307 days open a year = $227,297; 17.0 CP ROs a day today
VOLVO: $662 gross per RO x 307 days open a year = $203,362; 14.8 CP ROs a day today
CADILLAC: $509 gross per RO x 307 days open a year = $156,140; 23.2 CP ROs a day today
LINCOLN: $480 gross per RO x 307 days open a year = $147,507; 11.4 CP ROs a day today
LEXUS: $460 gross per RO x 307 days open a year = $141,182; 19.8 CP ROs a day today
VW HENDERSON: $429 gross per RO x 307 days open a year = $131,560; 22.3 CP ROs a day today
NISSAN: $406 gross per RO x 307 days open a year = $124,728; 30.3 CP ROs a day today
CDJR POST FALLS: $399 gross per RO x 307 days open a year = $122,626; 23.3 CP ROs a day today
CHEVY LV: $362 gross per RO x 307 days open a year = $111,273; 84.8 CP ROs a day today
SUBARU ST GEORGE: $357 gross per RO x 307 days open a year = $109,693; 24.1 CP ROs a day today
ACURA: $356 gross per RO x 307 days open a year = $109,151; 15.9 CP ROs a day today
SUBARU LV: $354 gross per RO x 307 days open a year = $108,687; 61.9 CP ROs a day today
HONDA NORTH: $338 gross per RO x 307 days open a year = $103,675; 65.4 CP ROs a day today
HONDA HENDERSON: $337 gross per RO x 307 days open a year = $103,382; 97.8 CP ROs a day today
HONDA SPOKANE: $331 gross per RO x 307 days open a year = $101,516; 38.8 CP ROs a day today
CHEVY GMC BULLHEAD: $314 gross per RO x 307 days open a year = $96,545; 27.4 CP ROs a day today
GMC PRESCOTT: $310 gross per RO x 307 days open a year = $95,050; 13.5 CP ROs a day today
HONDA FLAGSTAFF: $307 gross per RO x 307 days open a year = $94,176; 17.5 CP ROs a day today
VW ST GEORGE: $292 gross per RO x 307 days open a year = $89,636; 8.3 CP ROs a day today
HYUNDAI ST GEORGE: $283 gross per RO x 307 days open a year = $86,985; 14.5 CP ROs a day today
MAZDA: $280 gross per RO x 307 days open a year = $86,010; 24.8 CP ROs a day today
KIA LV: $268 gross per RO x 307 days open a year = $82,314; 35.3 CP ROs a day today
TOYOTA HENDERSON: $242 gross per RO x 307 days open a year = $74,324; 230.5 CP ROs a day today
HYUNDAI PRESCOTT: $237 gross per RO x 307 days open a year = $72,795; 8.7 CP ROs a day today
SUBARU PRESCOTT: $237 gross per RO x 307 days open a year = $72,776; 22.2 CP ROs a day today
TOYOTA PRESCOTT: $237 gross per RO x 307 days open a year = $72,743; 58.6 CP ROs a day today
KIA ST GEORGE: $220 gross per RO x 307 days open a year = $67,614; 17.0 CP ROs a day today
TOYOTA SPOKANE: $217 gross per RO x 307 days open a year = $66,622; 75.5 CP ROs a day today
TOYOTA FLAGSTAFF: $214 gross per RO x 307 days open a year = $65,596; 65.8 CP ROs a day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chart" Target="/ppt/charts/chart6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Hours Sold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504,019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523,142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+19,123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+3.8%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Hours Sold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1" name="Chart 4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2" name="Chart 5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3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4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6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19,123 to 523,142, ahead of 2025 in eight of nine months. CP RO count rose only 0.2%, so the extra hours came from selling more on each visit.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Hours Sold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853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HOURS SOLD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768090" y="1335024"/>
            <a:ext cx="42786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523,142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980944" y="1911860"/>
            <a:ext cx="182880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55464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78,123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980944" y="2151755"/>
            <a:ext cx="105067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55464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44,883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980944" y="2391651"/>
            <a:ext cx="103801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55464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44,342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980944" y="2631546"/>
            <a:ext cx="71166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55464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30,401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980944" y="2871442"/>
            <a:ext cx="64950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855464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27,746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980944" y="3111337"/>
            <a:ext cx="60276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855464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25,749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980944" y="3351233"/>
            <a:ext cx="49805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855464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21,276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980944" y="3591128"/>
            <a:ext cx="43674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855464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18,657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980944" y="3831024"/>
            <a:ext cx="41962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855464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17,926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980944" y="4070920"/>
            <a:ext cx="34448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55464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14,716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2980944" y="4310815"/>
            <a:ext cx="34158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855464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14,592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980944" y="4550711"/>
            <a:ext cx="32631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855464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13,940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2980944" y="4790606"/>
            <a:ext cx="30820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855464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13,166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2980944" y="5030502"/>
            <a:ext cx="29999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855464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12,815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2980944" y="5270397"/>
            <a:ext cx="29884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855464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12,766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2980944" y="5510293"/>
            <a:ext cx="29864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855464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12,757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2980944" y="5750188"/>
            <a:ext cx="2761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855464" y="568541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11,795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31352" y="1911860"/>
            <a:ext cx="25733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405872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10,993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31352" y="2151755"/>
            <a:ext cx="25009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405872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10,684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31352" y="2391651"/>
            <a:ext cx="22271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405872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9,514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31352" y="2631546"/>
            <a:ext cx="19426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405872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8,298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31352" y="2871442"/>
            <a:ext cx="19089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405872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8,154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31352" y="3111337"/>
            <a:ext cx="18140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405872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7,749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31352" y="3351233"/>
            <a:ext cx="15709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405872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6,711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31352" y="3591128"/>
            <a:ext cx="15295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405872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6,534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31352" y="3831024"/>
            <a:ext cx="14564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405872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6,222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31352" y="4070920"/>
            <a:ext cx="14234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405872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6,081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31352" y="4310815"/>
            <a:ext cx="12203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405872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5,213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31352" y="4550711"/>
            <a:ext cx="11809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405872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5,045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31352" y="4790606"/>
            <a:ext cx="11585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405872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4,949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31352" y="5030502"/>
            <a:ext cx="11199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405872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4,784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31352" y="5270397"/>
            <a:ext cx="7695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405872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3,287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31352" y="5510293"/>
            <a:ext cx="7669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405872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3,276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4" name="Shape 142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 leads at 78,123; VW St George is smallest at 3,276.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Hours Sold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853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HOURS SOLD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768090" y="1335024"/>
            <a:ext cx="42786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+3.8%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85616" y="1911860"/>
            <a:ext cx="77724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+44.6%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85616" y="2151755"/>
            <a:ext cx="60874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17720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+35.0%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85616" y="2391651"/>
            <a:ext cx="58986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17720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+33.9%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785616" y="2631546"/>
            <a:ext cx="50260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17720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+28.9%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85616" y="2871442"/>
            <a:ext cx="48952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617720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+28.1%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785616" y="3111337"/>
            <a:ext cx="47588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617720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+27.3%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785616" y="3351233"/>
            <a:ext cx="40339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617720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+23.2%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85616" y="3591128"/>
            <a:ext cx="32001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17720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+18.4%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785616" y="3831024"/>
            <a:ext cx="319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617720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+18.4%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85616" y="4070920"/>
            <a:ext cx="30478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617720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+17.5%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785616" y="4310815"/>
            <a:ext cx="21498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617720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+12.3%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85616" y="4550711"/>
            <a:ext cx="20721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617720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+11.9%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785616" y="4790606"/>
            <a:ext cx="18715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617720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+10.7%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785616" y="5030502"/>
            <a:ext cx="17212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617720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+9.9%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785616" y="5270397"/>
            <a:ext cx="11674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617720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+6.7%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785616" y="5510293"/>
            <a:ext cx="11668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617720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+6.7%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785616" y="5750188"/>
            <a:ext cx="11641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617720" y="568541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+6.7%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9336024" y="1911860"/>
            <a:ext cx="10634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168128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9336024" y="2151755"/>
            <a:ext cx="9998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168128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+5.7%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9336024" y="2391651"/>
            <a:ext cx="8904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168128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+5.1%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9336024" y="2631546"/>
            <a:ext cx="8880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168128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+5.1%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9336024" y="2871442"/>
            <a:ext cx="12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168128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+0.4%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9336024" y="3111337"/>
            <a:ext cx="12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168128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+0.4%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9306237" y="3351233"/>
            <a:ext cx="29787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168128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−1.7%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9291402" y="3591128"/>
            <a:ext cx="4462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168128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−2.6%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9285327" y="3831024"/>
            <a:ext cx="50697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168128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−2.9%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275488" y="4070920"/>
            <a:ext cx="60536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168128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−3.5%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9233370" y="4310815"/>
            <a:ext cx="10265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168128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−5.9%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9206595" y="4550711"/>
            <a:ext cx="129429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168128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−7.4%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9193818" y="4790606"/>
            <a:ext cx="142206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168128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−8.2%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9153034" y="5030502"/>
            <a:ext cx="18299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168128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−10.5%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9069849" y="5270397"/>
            <a:ext cx="26617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168128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−15.3%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892903" y="5510293"/>
            <a:ext cx="44312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168128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−25.4%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780130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330538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of 33 stores sold more CP hours, led by Subaru St George at +44.6% to 12,766. 10 declined; VW St George fell most at −25.4%.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Hours Sold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 2026 against Jan–Sep 2025. Group 504,019 → 523,142 (+3.8%). Ranked by percent change.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8368" y="1737360"/>
            <a:ext cx="5321808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5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898648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→ 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864608" y="181051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" y="2121408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212140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" y="212140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898648" y="212140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8,827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12,766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64608" y="212140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+44.6%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287304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" y="287304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898648" y="287304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9,453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12,757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64608" y="287304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+35.0%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58368" y="3624682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3624682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" y="3624682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898648" y="3624682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3,768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5,045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864608" y="3624682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+33.9%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437631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115568" y="437631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2898648" y="437631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6,328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8,154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864608" y="437631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+28.9%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58368" y="5127955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49808" y="512795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115568" y="512795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2898648" y="512795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2,566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3,287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4864608" y="512795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+28.1%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208776" y="1737360"/>
            <a:ext cx="5321808" cy="457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300216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BOTTOM 5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8449056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→ 2026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415016" y="181051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6208776" y="2121408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300216" y="212140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6665976" y="212140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8449056" y="212140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4,394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3,276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10415016" y="212140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−25.4%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6300216" y="287304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6665976" y="287304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8449056" y="287304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12,611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10,684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10415016" y="287304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−15.3%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208776" y="3624682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300216" y="3624682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6665976" y="3624682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8449056" y="3624682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8,659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7,749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10415016" y="3624682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−10.5%</a:t>
            </a:r>
            <a:endParaRPr lang="en-US" sz="1600" dirty="0"/>
          </a:p>
        </p:txBody>
      </p:sp>
      <p:sp>
        <p:nvSpPr>
          <p:cNvPr id="52" name="Text 50"/>
          <p:cNvSpPr txBox="1"/>
          <p:nvPr/>
        </p:nvSpPr>
        <p:spPr>
          <a:xfrm>
            <a:off x="6300216" y="437631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6665976" y="437631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8449056" y="437631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19,520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17,926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10415016" y="437631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−8.2%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6208776" y="5127955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300216" y="512795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6665976" y="512795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8449056" y="512795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48,486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44,883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10415016" y="512795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−7.4%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 Subaru St George, Kia LV and Kia St George what changed. Ask VW St George, Audi Reno and Volvo what got in the way.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More CP RO a Day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529584" y="131673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352544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ROs/day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38928" y="13167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RO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079992" y="131673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02952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ROs/day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689336" y="13167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RO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670048" y="1756697"/>
            <a:ext cx="80467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529584" y="1700784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$358K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352544" y="170078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138928" y="1700784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$1,168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194928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70048" y="2005199"/>
            <a:ext cx="78694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529584" y="1949286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$351K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352544" y="1949286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138928" y="1949286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$1,142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19778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670048" y="2253700"/>
            <a:ext cx="72528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529584" y="2197787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$323K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352544" y="219778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138928" y="2197787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$1,052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44628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2502202"/>
            <a:ext cx="70961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529584" y="2446289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$316K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352544" y="244628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138928" y="2446289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$1,030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694791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70048" y="2750703"/>
            <a:ext cx="51020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529584" y="2694791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$227K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352544" y="2694791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138928" y="2694791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$740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294329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70048" y="2999205"/>
            <a:ext cx="45647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529584" y="2943292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$203K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352544" y="2943292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38928" y="2943292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$662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19179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3247707"/>
            <a:ext cx="35048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529584" y="3191794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$156K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352544" y="319179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138928" y="3191794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$509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44029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2670048" y="3496208"/>
            <a:ext cx="33110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529584" y="3440296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$148K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4352544" y="3440296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138928" y="3440296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$480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368879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670048" y="3744710"/>
            <a:ext cx="31690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529584" y="3688797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$141K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352544" y="368879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138928" y="3688797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$460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393729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2670048" y="3993212"/>
            <a:ext cx="29530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529584" y="3937299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$132K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352544" y="393729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138928" y="3937299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$429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185800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670048" y="4241713"/>
            <a:ext cx="27997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529584" y="4185800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$125K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4352544" y="4185800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138928" y="4185800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$406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443430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2670048" y="4490215"/>
            <a:ext cx="27525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529584" y="4434302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$123K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352544" y="4434302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138928" y="4434302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$399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68280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2670048" y="4738717"/>
            <a:ext cx="24977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529584" y="4682804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$111K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352544" y="468280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138928" y="4682804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$362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931305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2670048" y="4987218"/>
            <a:ext cx="24622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529584" y="4931305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$110K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352544" y="4931305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138928" y="4931305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$357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517980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2670048" y="5235720"/>
            <a:ext cx="24500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529584" y="5179807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$109K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352544" y="517980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138928" y="5179807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$356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542830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2670048" y="5484222"/>
            <a:ext cx="24396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529584" y="5428309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$109K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352544" y="542830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62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5138928" y="5428309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$354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5676810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2670048" y="5732723"/>
            <a:ext cx="23271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529584" y="5676810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$104K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4352544" y="5676810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65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5138928" y="5676810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$338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170078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220456" y="1756697"/>
            <a:ext cx="23205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079992" y="1700784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$103K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902952" y="170078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689336" y="1700784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$337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194928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8220456" y="2005199"/>
            <a:ext cx="22786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079992" y="1949286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$102K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9902952" y="1949286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689336" y="1949286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$331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219778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220456" y="2253700"/>
            <a:ext cx="21671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079992" y="2197787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$97K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9902952" y="219778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689336" y="2197787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$314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44628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13" name="Shape 111"/>
          <p:cNvSpPr/>
          <p:nvPr/>
        </p:nvSpPr>
        <p:spPr>
          <a:xfrm>
            <a:off x="8220456" y="2502202"/>
            <a:ext cx="21335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079992" y="2446289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$95K</a:t>
            </a:r>
            <a:endParaRPr lang="en-US" sz="1300" dirty="0"/>
          </a:p>
        </p:txBody>
      </p:sp>
      <p:sp>
        <p:nvSpPr>
          <p:cNvPr id="115" name="Text 113"/>
          <p:cNvSpPr txBox="1"/>
          <p:nvPr/>
        </p:nvSpPr>
        <p:spPr>
          <a:xfrm>
            <a:off x="9902952" y="244628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689336" y="2446289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$310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2694791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8220456" y="2750703"/>
            <a:ext cx="21139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079992" y="2694791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$94K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9902952" y="2694791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689336" y="2694791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$307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294329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23" name="Shape 121"/>
          <p:cNvSpPr/>
          <p:nvPr/>
        </p:nvSpPr>
        <p:spPr>
          <a:xfrm>
            <a:off x="8220456" y="2999205"/>
            <a:ext cx="20120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079992" y="2943292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$90K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9902952" y="2943292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689336" y="2943292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$292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319179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28" name="Shape 126"/>
          <p:cNvSpPr/>
          <p:nvPr/>
        </p:nvSpPr>
        <p:spPr>
          <a:xfrm>
            <a:off x="8220456" y="3247707"/>
            <a:ext cx="19525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079992" y="3191794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$87K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902952" y="319179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689336" y="3191794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$283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344029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133" name="Shape 131"/>
          <p:cNvSpPr/>
          <p:nvPr/>
        </p:nvSpPr>
        <p:spPr>
          <a:xfrm>
            <a:off x="8220456" y="3496208"/>
            <a:ext cx="19306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079992" y="3440296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$86K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9902952" y="3440296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689336" y="3440296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$280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208776" y="368879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8220456" y="3744710"/>
            <a:ext cx="18476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079992" y="3688797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$82K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9902952" y="368879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0689336" y="3688797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$268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393729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220456" y="3993212"/>
            <a:ext cx="16683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079992" y="3937299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$74K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9902952" y="393729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231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689336" y="3937299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$242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185800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8220456" y="4241713"/>
            <a:ext cx="16339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079992" y="4185800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$73K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902952" y="4185800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689336" y="4185800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$237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43430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53" name="Shape 151"/>
          <p:cNvSpPr/>
          <p:nvPr/>
        </p:nvSpPr>
        <p:spPr>
          <a:xfrm>
            <a:off x="8220456" y="4490215"/>
            <a:ext cx="16335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9079992" y="4434302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$73K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9902952" y="4434302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10689336" y="4434302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$237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6208776" y="468280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58" name="Shape 156"/>
          <p:cNvSpPr/>
          <p:nvPr/>
        </p:nvSpPr>
        <p:spPr>
          <a:xfrm>
            <a:off x="8220456" y="4738717"/>
            <a:ext cx="16328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079992" y="4682804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$73K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9902952" y="468280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689336" y="4682804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$237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4931305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63" name="Shape 161"/>
          <p:cNvSpPr/>
          <p:nvPr/>
        </p:nvSpPr>
        <p:spPr>
          <a:xfrm>
            <a:off x="8220456" y="4987218"/>
            <a:ext cx="15177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9079992" y="4931305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$68K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9902952" y="4931305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689336" y="4931305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$220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6208776" y="517980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68" name="Shape 166"/>
          <p:cNvSpPr/>
          <p:nvPr/>
        </p:nvSpPr>
        <p:spPr>
          <a:xfrm>
            <a:off x="8220456" y="5235720"/>
            <a:ext cx="14954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9079992" y="5179807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$67K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9902952" y="517980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</a:t>
            </a:r>
            <a:endParaRPr lang="en-US" sz="1300" dirty="0"/>
          </a:p>
        </p:txBody>
      </p:sp>
      <p:sp>
        <p:nvSpPr>
          <p:cNvPr id="171" name="Text 169"/>
          <p:cNvSpPr txBox="1"/>
          <p:nvPr/>
        </p:nvSpPr>
        <p:spPr>
          <a:xfrm>
            <a:off x="10689336" y="5179807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$217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6208776" y="542830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73" name="Shape 171"/>
          <p:cNvSpPr/>
          <p:nvPr/>
        </p:nvSpPr>
        <p:spPr>
          <a:xfrm>
            <a:off x="8220456" y="5484222"/>
            <a:ext cx="14724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9079992" y="5428309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$66K</a:t>
            </a:r>
            <a:endParaRPr lang="en-US" sz="1300" dirty="0"/>
          </a:p>
        </p:txBody>
      </p:sp>
      <p:sp>
        <p:nvSpPr>
          <p:cNvPr id="175" name="Text 173"/>
          <p:cNvSpPr txBox="1"/>
          <p:nvPr/>
        </p:nvSpPr>
        <p:spPr>
          <a:xfrm>
            <a:off x="9902952" y="542830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66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10689336" y="5428309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$214</a:t>
            </a:r>
            <a:endParaRPr lang="en-US" sz="1300" dirty="0"/>
          </a:p>
        </p:txBody>
      </p:sp>
      <p:sp>
        <p:nvSpPr>
          <p:cNvPr id="177" name="Shape 175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8" name="Text 176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more customer-pay RO a day at every store is worth $4,473,284 a year in labor and parts gross. Each RO averages $342.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2026-10-22T22:23:04Z</dcterms:created>
  <dcterms:modified xsi:type="dcterms:W3CDTF">2026-10-22T22:23:04Z</dcterms:modified>
</cp:coreProperties>
</file>