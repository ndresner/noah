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56.xml" ContentType="application/vnd.openxmlformats-officedocument.presentationml.slide+xml"/>
  <Override PartName="/ppt/slides/slide76.xml" ContentType="application/vnd.openxmlformats-officedocument.presentationml.slide+xml"/>
  <Override PartName="/ppt/slides/slide8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6" r:id="rId57"/>
    <p:sldId id="317" r:id="rId68"/>
    <p:sldId id="337" r:id="rId88"/>
    <p:sldId id="342" r:id="rId9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57" Type="http://schemas.openxmlformats.org/officeDocument/2006/relationships/slide" Target="slides/slide45.xml"/><Relationship Id="rId68" Type="http://schemas.openxmlformats.org/officeDocument/2006/relationships/slide" Target="slides/slide56.xml"/><Relationship Id="rId88" Type="http://schemas.openxmlformats.org/officeDocument/2006/relationships/slide" Target="slides/slide76.xml"/><Relationship Id="rId93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Flai voice AI dashboard, Service view, standings export, Jul 26 - Oct 26, 2026 (93 days). Flai's location names (26 with calls). Pickup rate and resolution as Flai reports them. Flai's estimated savings, revenue and profit are not used. Green bar: the store is in more than one top list; red bar: in more than one bottom 5. Ranked among the 23 locations with 300+ calls (Subaru St George, Land Rover Henderson, Jaguar Land Rover Las Vegas have fewer). Honda Spokane shows no calls in the period.Talk track: the voice AI answers every call, books what it can and hands the rest to the store. What happens next is ours: someone has to pick up the transfer, and every callback has to be closed. A store that doesn't pick up is sending a customer it already has to voicemail.</a:t>
            </a:r>
          </a:p>
          <a:p/>
          <a:p>
            <a:r>
              <a:t>Definitions to confirm against Flai: pickup rate is read as the share of transferred calls a person picked up; resolution as the share of callback requests closed. Resolve time in the export runs to weeks at some locations and is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CP Engine, in front of CP Hours per RO.</a:t>
            </a:r>
          </a:p>
          <a:p>
            <a:r>
              <a:t>$4,543,691 = 0.1 x 279,756 CP ROs (27,976 hours) x $162.42 CP ELR (on the Hours per RO data slide). Slide rounds to $162 and $4.5M so the room can follow it (Noah, Oct 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CP Engine, in front of CP Labor Gross Profit %.</a:t>
            </a:r>
          </a:p>
          <a:p>
            <a:r>
              <a:t>Example (Noah, Oct 23: replaces the Roundtable table): one CP hour at the group's Jan-Sep 2026 averages, $162.42 ELR, $31.21 tech cost per hour sold, $131.21 kept = 80.8%; rounded on the slide.</a:t>
            </a:r>
          </a:p>
          <a:p>
            <a:r>
              <a:t>Oct 23 (Noah): The Goldilocks Margin talking point is folded into this slide (it repeated it): no Goldilocks or Roundtable wording; its ask (match the tech to the job, not squeeze tech pay) is the first Why It Matters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CP Engine, in front of CP Parts Gross Profit %.</a:t>
            </a:r>
          </a:p>
          <a:p>
            <a:r>
              <a:t>Why understand your parts pricing matrix (Noah, Oct 26): (1) Maximize gross profit: price parts to maximize profitability; find gross without more volume. (2) Consistent pricing: every customer charged the same for the same part; no incorrect prices from bad setups or manual overrides. (3) Stay competitive: avoid markups that make repairs too expensive; balance profit with price on higher-cost parts. (4) Check the matrix is applied: parts actually sell at matrix prices; find parts, labor types or transactions that bypass it. (5) Warranty reimbursement: customer-pay parts pricing drives the warranty parts reimbursement rate, so good pricing supports a higher rate and more warranty gross. (6) Control the strategy: know how your matrix is configured and review it against your gross profit goals. Takeaway: the matrix is one of the most effective tools for improving profit without more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AI · FLAI · LAST 90 DAYS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Voice AI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685032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21792" y="129844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RATE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7276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72%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1911096"/>
            <a:ext cx="3355848" cy="2286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21792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1938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167128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13432" y="2167128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83.0%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167128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2203704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21792" y="2512771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313432" y="2512771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82.3%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512771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4,349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85841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13432" y="285841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285841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2894990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21792" y="3204058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13432" y="3204058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78.4%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3204058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3240634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21792" y="3549701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313432" y="3549701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77.7%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063240" y="3549701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6,915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23360" y="3586277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21792" y="3913632"/>
            <a:ext cx="3355848" cy="2286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21792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313432" y="3941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063240" y="3941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" y="416966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CDR Post Falls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313432" y="416966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47.7%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063240" y="416966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2,247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023360" y="4206240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621792" y="4515307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Jeep Post Falls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13432" y="4515307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063240" y="4515307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23360" y="4551883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621792" y="4860950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of Las Vegas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2313432" y="4860950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54.6%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063240" y="4860950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1,120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21792" y="520659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2313432" y="520659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58.7%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063240" y="520659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1,075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023360" y="5243170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621792" y="5552237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 Tahoe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2313432" y="5552237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59.3%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063240" y="5552237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1,171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023360" y="5588813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251960" y="1207008"/>
            <a:ext cx="3685032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4416552" y="129844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PICKUP RATE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416552" y="157276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47.7%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416552" y="1911096"/>
            <a:ext cx="3355848" cy="2286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4416552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6108192" y="1938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6858000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416552" y="2167128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108192" y="2167128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77.1%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858000" y="2167128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876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818120" y="2203704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4416552" y="2512771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108192" y="2512771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74.8%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858000" y="2512771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6,915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818120" y="2549347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69" name="Text 67"/>
          <p:cNvSpPr txBox="1"/>
          <p:nvPr/>
        </p:nvSpPr>
        <p:spPr>
          <a:xfrm>
            <a:off x="4416552" y="285841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108192" y="285841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63.5%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858000" y="285841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1,030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818120" y="2894990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73" name="Text 71"/>
          <p:cNvSpPr txBox="1"/>
          <p:nvPr/>
        </p:nvSpPr>
        <p:spPr>
          <a:xfrm>
            <a:off x="4416552" y="3204058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108192" y="3204058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57.3%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6858000" y="3204058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696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818120" y="3240634"/>
            <a:ext cx="54864" cy="272491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77" name="Text 75"/>
          <p:cNvSpPr txBox="1"/>
          <p:nvPr/>
        </p:nvSpPr>
        <p:spPr>
          <a:xfrm>
            <a:off x="4416552" y="3549701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 Tahoe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108192" y="3549701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54.2%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858000" y="3549701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1,171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416552" y="3913632"/>
            <a:ext cx="3355848" cy="2286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81" name="Text 79"/>
          <p:cNvSpPr txBox="1"/>
          <p:nvPr/>
        </p:nvSpPr>
        <p:spPr>
          <a:xfrm>
            <a:off x="4416552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5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6108192" y="3941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6858000" y="3941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416552" y="416966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6108192" y="416966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21.9%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858000" y="416966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1,075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818120" y="4206240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88" name="Text 86"/>
          <p:cNvSpPr txBox="1"/>
          <p:nvPr/>
        </p:nvSpPr>
        <p:spPr>
          <a:xfrm>
            <a:off x="4416552" y="4515307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6108192" y="4515307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26.3%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858000" y="4515307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1,809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4416552" y="4860950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Las Vegas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108192" y="4860950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27.2%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6858000" y="4860950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5,450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4416552" y="520659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CDR Post Falls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6108192" y="520659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27.4%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858000" y="520659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2,247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7818120" y="5243170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98" name="Text 96"/>
          <p:cNvSpPr txBox="1"/>
          <p:nvPr/>
        </p:nvSpPr>
        <p:spPr>
          <a:xfrm>
            <a:off x="4416552" y="5552237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Jeep Post Falls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6108192" y="5552237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32.9%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858000" y="5552237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896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7818120" y="5588813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8046720" y="1207008"/>
            <a:ext cx="3685032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Text 101"/>
          <p:cNvSpPr txBox="1"/>
          <p:nvPr/>
        </p:nvSpPr>
        <p:spPr>
          <a:xfrm>
            <a:off x="8211312" y="129844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CALLBACK RESOLUTION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8211312" y="1572768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98.2% · 6 stores at 100%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8211312" y="1911096"/>
            <a:ext cx="3355848" cy="2286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06" name="Text 104"/>
          <p:cNvSpPr txBox="1"/>
          <p:nvPr/>
        </p:nvSpPr>
        <p:spPr>
          <a:xfrm>
            <a:off x="8211312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9902952" y="1938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10652760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8211312" y="2167128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Las Vegas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9902952" y="2167128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652760" y="2167128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1,570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8211312" y="2512771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9902952" y="2512771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10652760" y="2512771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1,565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8211312" y="285841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9902952" y="285841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10652760" y="285841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1,458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8211312" y="3204058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of Las Vegas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9902952" y="3204058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10652760" y="3204058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1,120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8211312" y="3549701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Rover Reno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9902952" y="3549701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10652760" y="3549701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911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211312" y="3913632"/>
            <a:ext cx="3355848" cy="2286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25" name="Text 123"/>
          <p:cNvSpPr txBox="1"/>
          <p:nvPr/>
        </p:nvSpPr>
        <p:spPr>
          <a:xfrm>
            <a:off x="8211312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5</a:t>
            </a:r>
            <a:endParaRPr lang="en-US" sz="1400" dirty="0"/>
          </a:p>
        </p:txBody>
      </p:sp>
      <p:sp>
        <p:nvSpPr>
          <p:cNvPr id="126" name="Text 124"/>
          <p:cNvSpPr txBox="1"/>
          <p:nvPr/>
        </p:nvSpPr>
        <p:spPr>
          <a:xfrm>
            <a:off x="9902952" y="3941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27" name="Text 125"/>
          <p:cNvSpPr txBox="1"/>
          <p:nvPr/>
        </p:nvSpPr>
        <p:spPr>
          <a:xfrm>
            <a:off x="10652760" y="3941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400" dirty="0"/>
          </a:p>
        </p:txBody>
      </p:sp>
      <p:sp>
        <p:nvSpPr>
          <p:cNvPr id="128" name="Text 126"/>
          <p:cNvSpPr txBox="1"/>
          <p:nvPr/>
        </p:nvSpPr>
        <p:spPr>
          <a:xfrm>
            <a:off x="8211312" y="416966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9902952" y="416966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44.0%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10652760" y="416966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158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8211312" y="4515307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Prescott Hyundai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9902952" y="4515307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78.2%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652760" y="4515307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114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8211312" y="4860950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CDR Post Falls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9902952" y="4860950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94.0%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652760" y="4860950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11612880" y="4897526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38" name="Text 136"/>
          <p:cNvSpPr txBox="1"/>
          <p:nvPr/>
        </p:nvSpPr>
        <p:spPr>
          <a:xfrm>
            <a:off x="8211312" y="5206594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 Tahoe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902952" y="5206594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96.5%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652760" y="5206594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11612880" y="5243170"/>
            <a:ext cx="54864" cy="272491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42" name="Text 140"/>
          <p:cNvSpPr txBox="1"/>
          <p:nvPr/>
        </p:nvSpPr>
        <p:spPr>
          <a:xfrm>
            <a:off x="8211312" y="5552237"/>
            <a:ext cx="16733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9902952" y="5552237"/>
            <a:ext cx="731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98.2%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10652760" y="5552237"/>
            <a:ext cx="9144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46" name="Text 144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 picks up 77.1% of transfers; Kia St George picks up 21.9%. Nissan and Prescott Hyundai hold 272 of the group's 484 open callbacks.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Hours per RO?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per RO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sold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labor hours we sell, on average, every time a customer-pay car comes through the drive.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HOUR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340864"/>
            <a:ext cx="46680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359152" y="2340864"/>
            <a:ext cx="4521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hour more on every RO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27,976 more hours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63740" y="2340864"/>
            <a:ext cx="46680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136892" y="2340864"/>
            <a:ext cx="4521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$162 an hour (our ELR)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$4.5M more labor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4343400" cy="30815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37760" y="2907792"/>
            <a:ext cx="6793992" cy="30815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410712"/>
            <a:ext cx="3977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cannot be manipulated: it is the work we sell.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shows where the lift came from: if labor sales per RO go up but hours per RO stay flat, we are charging more, not selling more.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Selling more hours also sells parts.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38928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266944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on every 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car inspected, with photos and video sent to the customer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09104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437120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to the Sale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Walk-around at the vehicle: hood, tires and wipers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79280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607296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presentation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and mileage recommendations, every customer, every time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38928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266944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Declined work follow-up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defined process and a champion to bring it back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09104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437120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 code times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hours the job pays; don't give time away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479280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607296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High-mileage and repair work to the techs who find 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1.87 CP hours per RO, up 0.07 and ahead of 2025 in all nine months.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Labor Gross Profit %?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GP %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(CP labor sale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cost)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sale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 of each labor dollar we keep after paying the technician.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HOUR SOLD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35915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1 hour at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7487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74802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the tech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6374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13689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keep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5261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52576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$131 ÷ $162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4343400" cy="30815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937760" y="2907792"/>
            <a:ext cx="6793992" cy="30815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83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3035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10712"/>
            <a:ext cx="3977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range is 78% to 80%: not too high, not too low. Hold it by matching the tech to the work, not by squeezing tech pay.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low means our labor price is too low for what we pay the tech, or tech cost is too high for what we charge.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high can mean techs are underpaid on the work they do, which costs us techs.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138928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266944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labor 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tech cost, higher ELR = higher margin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09104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37120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pay 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Flat-rate pay per hour against the rate we sell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79280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607296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Skill-code costing: don't pay a master-tech rate on an oil change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38928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266944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of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runs a lower margin than repair at full door rate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09104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437120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Low-rate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detail and other low-dollar-per-hour work pull the margin down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79280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607296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it and keep controls in place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80.8% CP labor gross profit, down 0.1 pts and just above the 78-80% target range.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Parts Gross Profit %?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GP %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(CP parts sale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cost)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sale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 of each customer-pay parts dollar we keep after the cost of the part.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4343400" cy="3648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37760" y="2340864"/>
            <a:ext cx="6793992" cy="3648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468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2468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43784"/>
            <a:ext cx="397764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pricing matrix raises gross without selling one more part.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pricing: the same part costs every customer the same.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pricing supports the warranty parts reimbursement rate.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38928" y="2843784"/>
            <a:ext cx="45720" cy="1121027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66944" y="2843784"/>
            <a:ext cx="2962656" cy="112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pricing matrix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how it is set up, make sure pricing follows the matrix setup, and review it against your gross goals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94192" y="2843784"/>
            <a:ext cx="45720" cy="1121027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522208" y="2843784"/>
            <a:ext cx="2962656" cy="112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and overrides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discounts and manual price changes; keep safeguards in place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38928" y="4074539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266944" y="4074539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competitive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margin with price, especially on high-cost parts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94192" y="4074539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522208" y="4074539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Tires and competitive items carry thinner margins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38928" y="4986210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266944" y="4986210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pricing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Bundled maintenance parts priced to protect margin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40.7% CP parts gross profit, up 1.2 pts and ahead of 2025 in all nine months.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2026-10-26T20:24:03Z</dcterms:created>
  <dcterms:modified xsi:type="dcterms:W3CDTF">2026-10-26T20:24:03Z</dcterms:modified>
</cp:coreProperties>
</file>