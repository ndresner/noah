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Stores under 85% only. Store = sold / worked hours for counted technicians. Best techs = the store's most proficient quarter of counted technicians (at least one), their sold / worked hours combined. Same population and rules as the proficiency slides.
ACURA: store 67%, best 3 of 11 techs 73%
KIA ST GEORGE: store 67%, best 3 of 12 techs 97%
CHEVY GMC BULLHEAD: store 68%, best 5 of 20 techs 96%
HYUNDAI ST GEORGE: store 69%, best 3 of 11 techs 122%
VW ST GEORGE: store 70%, best 1 of 5 techs 76%
CDJR POST FALLS: store 71%, best 4 of 14 techs 128%
VOLVO: store 72%, best 2 of 9 techs 88%
GMC PRESCOTT: store 73%, best 3 of 12 techs 103%
KIA LV: store 76%, best 5 of 20 techs 100%
HONDA FLAGSTAFF: store 78%, best 2 of 6 techs 130%
HYUNDAI PRESCOTT: store 78%, best 2 of 9 techs 112%
LR RENO: store 81%, best 2 of 6 techs 96%
TOYOTA PRESCOTT: store 83%, best 6 of 22 techs 117%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Stores under 85% only. Store = sold / worked hours for counted technicians. Best techs = the store's most proficient quarter of counted technicians (at least one), their sold / worked hours combined. Same population and rules as the proficiency slides.
ACURA: store 67%, best 3 of 11 techs 73%
KIA ST GEORGE: store 67%, best 3 of 12 techs 97%
CHEVY GMC BULLHEAD: store 68%, best 5 of 20 techs 96%
HYUNDAI ST GEORGE: store 69%, best 3 of 11 techs 122%
VW ST GEORGE: store 70%, best 1 of 5 techs 76%
CDJR POST FALLS: store 71%, best 4 of 14 techs 128%
VOLVO: store 72%, best 2 of 9 techs 88%
GMC PRESCOTT: store 73%, best 3 of 12 techs 103%
KIA LV: store 76%, best 5 of 20 techs 100%
HONDA FLAGSTAFF: store 78%, best 2 of 6 techs 130%
HYUNDAI PRESCOTT: store 78%, best 2 of 9 techs 112%
LR RENO: store 81%, best 2 of 6 techs 96%
TOYOTA PRESCOTT: store 83%, best 6 of 22 techs 117%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Stores under 85% only. Store = sold / worked hours for counted technicians. Best techs = the store's most proficient quarter of counted technicians (at least one), their sold / worked hours combined. Same population and rules as the proficiency slides.
ACURA: store 67%, best 3 of 11 techs 73%
KIA ST GEORGE: store 67%, best 3 of 12 techs 97%
CHEVY GMC BULLHEAD: store 68%, best 5 of 20 techs 96%
HYUNDAI ST GEORGE: store 69%, best 3 of 11 techs 122%
VW ST GEORGE: store 70%, best 1 of 5 techs 76%
CDJR POST FALLS: store 71%, best 4 of 14 techs 128%
VOLVO: store 72%, best 2 of 9 techs 88%
GMC PRESCOTT: store 73%, best 3 of 12 techs 103%
KIA LV: store 76%, best 5 of 20 techs 100%
HONDA FLAGSTAFF: store 78%, best 2 of 6 techs 130%
HYUNDAI PRESCOTT: store 78%, best 2 of 9 techs 112%
LR RENO: store 81%, best 2 of 6 techs 96%
TOYOTA PRESCOTT: store 83%, best 6 of 22 techs 117%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 · OPTION 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Techs Prove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71600"/>
            <a:ext cx="237744" cy="201168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4984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today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63240" y="1371600"/>
            <a:ext cx="237744" cy="20116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92424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Its best techs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260592" y="12984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85%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783080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1813326"/>
            <a:ext cx="3370700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1644" y="1767606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1940497"/>
            <a:ext cx="3685208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66152" y="1894777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085535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0" y="2115781"/>
            <a:ext cx="3374819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763" y="2070061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2242953"/>
            <a:ext cx="4893845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74789" y="2197233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97%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2387991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0" y="2418236"/>
            <a:ext cx="3419949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93" y="2372516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26080" y="2545408"/>
            <a:ext cx="4823383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04327" y="2499688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2690446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26080" y="2720692"/>
            <a:ext cx="3450317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31261" y="2674972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926080" y="2847864"/>
            <a:ext cx="6109385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90329" y="2802144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122%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2992902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926080" y="3023147"/>
            <a:ext cx="3500688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81632" y="2977427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926080" y="3150319"/>
            <a:ext cx="3805987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86931" y="3104599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76%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3295357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926080" y="3325602"/>
            <a:ext cx="3559153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40097" y="3279882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71%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926080" y="3452774"/>
            <a:ext cx="6444184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425128" y="3407054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128%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3597812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926080" y="3628058"/>
            <a:ext cx="3618668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599612" y="3582338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926080" y="3755230"/>
            <a:ext cx="4448406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29350" y="3709510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3900268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926080" y="3930513"/>
            <a:ext cx="3679421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660365" y="3884793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926080" y="4057685"/>
            <a:ext cx="5186331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167275" y="4011965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103%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" y="4202723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2926080" y="4232969"/>
            <a:ext cx="3842025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822969" y="4187249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76%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926080" y="4360141"/>
            <a:ext cx="5036246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8017190" y="4314421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85800" y="4505178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926080" y="4535424"/>
            <a:ext cx="3926516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907460" y="4489704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2926080" y="4662596"/>
            <a:ext cx="6544829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525773" y="4616876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130%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85800" y="4807634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2926080" y="4837879"/>
            <a:ext cx="3940323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921267" y="4792159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2926080" y="4965051"/>
            <a:ext cx="5626092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607036" y="4919331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112%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85800" y="5110089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2926080" y="5140335"/>
            <a:ext cx="4070292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7051236" y="5094615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2926080" y="5267507"/>
            <a:ext cx="4801707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782651" y="5221787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685800" y="5412545"/>
            <a:ext cx="2148840" cy="302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2926080" y="5442790"/>
            <a:ext cx="4180762" cy="108884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161706" y="5397070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83%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2926080" y="5569962"/>
            <a:ext cx="5879396" cy="108884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8860340" y="5524242"/>
            <a:ext cx="731520" cy="200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117%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165848" y="1737360"/>
            <a:ext cx="18288" cy="3977640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77" name="Shape 75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11 of the 13 stores under 85%, the best quarter of techs already beat 85%. Same bays, same dispatch, same car count.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 · OPTION B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Techs Prove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98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store under 85%: where the store is today, and where its best quarter of techs already runs.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755648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755648"/>
            <a:ext cx="64008" cy="126187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28800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139696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67%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642616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54734" y="2139696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754734" y="2642616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2126" y="213969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878531" y="1755648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6" name="Shape 14"/>
          <p:cNvSpPr/>
          <p:nvPr/>
        </p:nvSpPr>
        <p:spPr>
          <a:xfrm>
            <a:off x="2878531" y="1755648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61411" y="1828800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61411" y="2139696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67%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3061411" y="2642616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47465" y="2139696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97%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947465" y="2642616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654857" y="213969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071262" y="1755648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1262" y="1755648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54142" y="1828800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4142" y="2139696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68%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5254142" y="2642616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140196" y="2139696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140196" y="2642616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847588" y="213969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263994" y="1755648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Shape 30"/>
          <p:cNvSpPr/>
          <p:nvPr/>
        </p:nvSpPr>
        <p:spPr>
          <a:xfrm>
            <a:off x="7263994" y="1755648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46874" y="1828800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46874" y="2139696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69%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7446874" y="2642616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332927" y="2139696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122%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8332927" y="2642616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040319" y="213969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456725" y="1755648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0" name="Shape 38"/>
          <p:cNvSpPr/>
          <p:nvPr/>
        </p:nvSpPr>
        <p:spPr>
          <a:xfrm>
            <a:off x="9456725" y="1755648"/>
            <a:ext cx="64008" cy="126187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639605" y="1828800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639605" y="2139696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70%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9639605" y="2642616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525658" y="2139696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76%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10525658" y="2642616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233050" y="213969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85800" y="3108960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8" name="Shape 46"/>
          <p:cNvSpPr/>
          <p:nvPr/>
        </p:nvSpPr>
        <p:spPr>
          <a:xfrm>
            <a:off x="685800" y="3108960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68680" y="3182112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68680" y="3493008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71%</a:t>
            </a:r>
            <a:endParaRPr lang="en-US" sz="2200" dirty="0"/>
          </a:p>
        </p:txBody>
      </p:sp>
      <p:sp>
        <p:nvSpPr>
          <p:cNvPr id="51" name="Text 49"/>
          <p:cNvSpPr txBox="1"/>
          <p:nvPr/>
        </p:nvSpPr>
        <p:spPr>
          <a:xfrm>
            <a:off x="868680" y="3995928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754734" y="3493008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128%</a:t>
            </a:r>
            <a:endParaRPr lang="en-US" sz="2200" dirty="0"/>
          </a:p>
        </p:txBody>
      </p:sp>
      <p:sp>
        <p:nvSpPr>
          <p:cNvPr id="53" name="Text 51"/>
          <p:cNvSpPr txBox="1"/>
          <p:nvPr/>
        </p:nvSpPr>
        <p:spPr>
          <a:xfrm>
            <a:off x="1754734" y="3995928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1462126" y="34930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2878531" y="3108960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6" name="Shape 54"/>
          <p:cNvSpPr/>
          <p:nvPr/>
        </p:nvSpPr>
        <p:spPr>
          <a:xfrm>
            <a:off x="2878531" y="3108960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061411" y="3182112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3061411" y="3493008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</a:t>
            </a:r>
            <a:endParaRPr lang="en-US" sz="2200" dirty="0"/>
          </a:p>
        </p:txBody>
      </p:sp>
      <p:sp>
        <p:nvSpPr>
          <p:cNvPr id="59" name="Text 57"/>
          <p:cNvSpPr txBox="1"/>
          <p:nvPr/>
        </p:nvSpPr>
        <p:spPr>
          <a:xfrm>
            <a:off x="3061411" y="3995928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3947465" y="3493008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</a:t>
            </a:r>
            <a:endParaRPr lang="en-US" sz="2200" dirty="0"/>
          </a:p>
        </p:txBody>
      </p:sp>
      <p:sp>
        <p:nvSpPr>
          <p:cNvPr id="61" name="Text 59"/>
          <p:cNvSpPr txBox="1"/>
          <p:nvPr/>
        </p:nvSpPr>
        <p:spPr>
          <a:xfrm>
            <a:off x="3947465" y="3995928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3654857" y="34930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5071262" y="3108960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Shape 62"/>
          <p:cNvSpPr/>
          <p:nvPr/>
        </p:nvSpPr>
        <p:spPr>
          <a:xfrm>
            <a:off x="5071262" y="3108960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5254142" y="3182112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5254142" y="3493008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</a:t>
            </a:r>
            <a:endParaRPr lang="en-US" sz="2200" dirty="0"/>
          </a:p>
        </p:txBody>
      </p:sp>
      <p:sp>
        <p:nvSpPr>
          <p:cNvPr id="67" name="Text 65"/>
          <p:cNvSpPr txBox="1"/>
          <p:nvPr/>
        </p:nvSpPr>
        <p:spPr>
          <a:xfrm>
            <a:off x="5254142" y="3995928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140196" y="3493008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103%</a:t>
            </a:r>
            <a:endParaRPr lang="en-US" sz="2200" dirty="0"/>
          </a:p>
        </p:txBody>
      </p:sp>
      <p:sp>
        <p:nvSpPr>
          <p:cNvPr id="69" name="Text 67"/>
          <p:cNvSpPr txBox="1"/>
          <p:nvPr/>
        </p:nvSpPr>
        <p:spPr>
          <a:xfrm>
            <a:off x="6140196" y="3995928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5847588" y="34930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7263994" y="3108960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2" name="Shape 70"/>
          <p:cNvSpPr/>
          <p:nvPr/>
        </p:nvSpPr>
        <p:spPr>
          <a:xfrm>
            <a:off x="7263994" y="3108960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446874" y="3182112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7446874" y="3493008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76%</a:t>
            </a:r>
            <a:endParaRPr lang="en-US" sz="2200" dirty="0"/>
          </a:p>
        </p:txBody>
      </p:sp>
      <p:sp>
        <p:nvSpPr>
          <p:cNvPr id="75" name="Text 73"/>
          <p:cNvSpPr txBox="1"/>
          <p:nvPr/>
        </p:nvSpPr>
        <p:spPr>
          <a:xfrm>
            <a:off x="7446874" y="3995928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8332927" y="3493008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2200" dirty="0"/>
          </a:p>
        </p:txBody>
      </p:sp>
      <p:sp>
        <p:nvSpPr>
          <p:cNvPr id="77" name="Text 75"/>
          <p:cNvSpPr txBox="1"/>
          <p:nvPr/>
        </p:nvSpPr>
        <p:spPr>
          <a:xfrm>
            <a:off x="8332927" y="3995928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8040319" y="34930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79" name="Shape 77"/>
          <p:cNvSpPr/>
          <p:nvPr/>
        </p:nvSpPr>
        <p:spPr>
          <a:xfrm>
            <a:off x="9456725" y="3108960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0" name="Shape 78"/>
          <p:cNvSpPr/>
          <p:nvPr/>
        </p:nvSpPr>
        <p:spPr>
          <a:xfrm>
            <a:off x="9456725" y="3108960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9639605" y="3182112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9639605" y="3493008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endParaRPr lang="en-US" sz="2200" dirty="0"/>
          </a:p>
        </p:txBody>
      </p:sp>
      <p:sp>
        <p:nvSpPr>
          <p:cNvPr id="83" name="Text 81"/>
          <p:cNvSpPr txBox="1"/>
          <p:nvPr/>
        </p:nvSpPr>
        <p:spPr>
          <a:xfrm>
            <a:off x="9639605" y="3995928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10525658" y="3493008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130%</a:t>
            </a:r>
            <a:endParaRPr lang="en-US" sz="2200" dirty="0"/>
          </a:p>
        </p:txBody>
      </p:sp>
      <p:sp>
        <p:nvSpPr>
          <p:cNvPr id="85" name="Text 83"/>
          <p:cNvSpPr txBox="1"/>
          <p:nvPr/>
        </p:nvSpPr>
        <p:spPr>
          <a:xfrm>
            <a:off x="10525658" y="3995928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10233050" y="34930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685800" y="4462272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8" name="Shape 86"/>
          <p:cNvSpPr/>
          <p:nvPr/>
        </p:nvSpPr>
        <p:spPr>
          <a:xfrm>
            <a:off x="685800" y="4462272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868680" y="4535424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868680" y="4846320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endParaRPr lang="en-US" sz="2200" dirty="0"/>
          </a:p>
        </p:txBody>
      </p:sp>
      <p:sp>
        <p:nvSpPr>
          <p:cNvPr id="91" name="Text 89"/>
          <p:cNvSpPr txBox="1"/>
          <p:nvPr/>
        </p:nvSpPr>
        <p:spPr>
          <a:xfrm>
            <a:off x="868680" y="5349240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1754734" y="4846320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112%</a:t>
            </a:r>
            <a:endParaRPr lang="en-US" sz="2200" dirty="0"/>
          </a:p>
        </p:txBody>
      </p:sp>
      <p:sp>
        <p:nvSpPr>
          <p:cNvPr id="93" name="Text 91"/>
          <p:cNvSpPr txBox="1"/>
          <p:nvPr/>
        </p:nvSpPr>
        <p:spPr>
          <a:xfrm>
            <a:off x="1754734" y="5349240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1462126" y="48463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95" name="Shape 93"/>
          <p:cNvSpPr/>
          <p:nvPr/>
        </p:nvSpPr>
        <p:spPr>
          <a:xfrm>
            <a:off x="2878531" y="4462272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6" name="Shape 94"/>
          <p:cNvSpPr/>
          <p:nvPr/>
        </p:nvSpPr>
        <p:spPr>
          <a:xfrm>
            <a:off x="2878531" y="4462272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3061411" y="4535424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3061411" y="4846320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81%</a:t>
            </a:r>
            <a:endParaRPr lang="en-US" sz="2200" dirty="0"/>
          </a:p>
        </p:txBody>
      </p:sp>
      <p:sp>
        <p:nvSpPr>
          <p:cNvPr id="99" name="Text 97"/>
          <p:cNvSpPr txBox="1"/>
          <p:nvPr/>
        </p:nvSpPr>
        <p:spPr>
          <a:xfrm>
            <a:off x="3061411" y="5349240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3947465" y="4846320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96%</a:t>
            </a:r>
            <a:endParaRPr lang="en-US" sz="2200" dirty="0"/>
          </a:p>
        </p:txBody>
      </p:sp>
      <p:sp>
        <p:nvSpPr>
          <p:cNvPr id="101" name="Text 99"/>
          <p:cNvSpPr txBox="1"/>
          <p:nvPr/>
        </p:nvSpPr>
        <p:spPr>
          <a:xfrm>
            <a:off x="3947465" y="5349240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3654857" y="48463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5071262" y="4462272"/>
            <a:ext cx="2046427" cy="126187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071262" y="4462272"/>
            <a:ext cx="64008" cy="126187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5254142" y="4535424"/>
            <a:ext cx="181782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5254142" y="4846320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83%</a:t>
            </a:r>
            <a:endParaRPr lang="en-US" sz="2200" dirty="0"/>
          </a:p>
        </p:txBody>
      </p:sp>
      <p:sp>
        <p:nvSpPr>
          <p:cNvPr id="107" name="Text 105"/>
          <p:cNvSpPr txBox="1"/>
          <p:nvPr/>
        </p:nvSpPr>
        <p:spPr>
          <a:xfrm>
            <a:off x="5254142" y="5349240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6140196" y="4846320"/>
            <a:ext cx="886054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117%</a:t>
            </a:r>
            <a:endParaRPr lang="en-US" sz="2200" dirty="0"/>
          </a:p>
        </p:txBody>
      </p:sp>
      <p:sp>
        <p:nvSpPr>
          <p:cNvPr id="109" name="Text 107"/>
          <p:cNvSpPr txBox="1"/>
          <p:nvPr/>
        </p:nvSpPr>
        <p:spPr>
          <a:xfrm>
            <a:off x="6140196" y="5349240"/>
            <a:ext cx="88605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techs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5847588" y="484632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  <p:sp>
        <p:nvSpPr>
          <p:cNvPr id="111" name="Shape 109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11 of the 13 stores under 85%, the best quarter of techs already beat 85%. Same bays, same dispatch, same car count.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 · OPTION C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Techs Prove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13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under 85% already have techs beating it.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bays, same dispatch, same car count. The target is not theory; their own best techs hit it every month.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417320"/>
          <a:ext cx="6537960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1554480"/>
                <a:gridCol w="155448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Store today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Best techs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C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ACURA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KIA ST GEORGE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CHEVY GMC BULLHEAD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HYUNDAI ST GEORGE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69%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VW ST GEORGE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CDJR POST FALLS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VOLVO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GMC PRESCOTT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KIA LV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HONDA FLAGSTAFF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HYUNDAI PRESCOTT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78%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112%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LR RENO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81%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96%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TOYOTA PRESCOTT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82B26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83%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117%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11 of the 13 stores under 85%, the best quarter of techs already beat 85%. Same bays, same dispatch, same car count.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2026-10-27T17:13:09Z</dcterms:created>
  <dcterms:modified xsi:type="dcterms:W3CDTF">2026-10-27T17:13:09Z</dcterms:modified>
</cp:coreProperties>
</file>