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stores.PREVIEW. Talk track (Noah, Oct 23): to understand your ELR you have to understand your work mix. A shop that does more repair than maintenance will run a higher ELR, because the repair rate is higher; a shop that is mostly maintenance will run lower. There is nothing wrong with that, but you need to know your mix to know why your ELR is what it is. Raising the repair rate may do less than raising the maintenance rate if most of your work is maintenance. Know your ELR for every labor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Is 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average amount we collect for each hour of customer-pay labor we sell.</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Every hour sold is worth the ELR, so it sets the value of the whole shop. Know what you are charging.</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pricing, discounting and mix are under control.</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Benchmark: CP ELR at least 70% of door rate.</a:t>
            </a:r>
            <a:endParaRPr lang="en-US" sz="1600" dirty="0"/>
          </a:p>
        </p:txBody>
      </p:sp>
      <p:sp>
        <p:nvSpPr>
          <p:cNvPr id="13" name="Shape 11"/>
          <p:cNvSpPr/>
          <p:nvPr/>
        </p:nvSpPr>
        <p:spPr>
          <a:xfrm>
            <a:off x="5138928" y="2843784"/>
            <a:ext cx="45720" cy="1064924"/>
          </a:xfrm>
          <a:prstGeom prst="rect">
            <a:avLst/>
          </a:prstGeom>
          <a:solidFill>
            <a:srgbClr val="2587C5"/>
          </a:solidFill>
          <a:ln/>
        </p:spPr>
      </p:sp>
      <p:sp>
        <p:nvSpPr>
          <p:cNvPr id="14" name="Text 12"/>
          <p:cNvSpPr txBox="1"/>
          <p:nvPr/>
        </p:nvSpPr>
        <p:spPr>
          <a:xfrm>
            <a:off x="5266944"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is priced above maintenance: repair-heavy shops run a higher ELR, maintenance-heavy lower. Neither is wrong.</a:t>
            </a:r>
            <a:endParaRPr lang="en-US" sz="1400" dirty="0"/>
          </a:p>
        </p:txBody>
      </p:sp>
      <p:sp>
        <p:nvSpPr>
          <p:cNvPr id="15" name="Shape 13"/>
          <p:cNvSpPr/>
          <p:nvPr/>
        </p:nvSpPr>
        <p:spPr>
          <a:xfrm>
            <a:off x="8394192" y="2843784"/>
            <a:ext cx="45720" cy="1064924"/>
          </a:xfrm>
          <a:prstGeom prst="rect">
            <a:avLst/>
          </a:prstGeom>
          <a:solidFill>
            <a:srgbClr val="2587C5"/>
          </a:solidFill>
          <a:ln/>
        </p:spPr>
      </p:sp>
      <p:sp>
        <p:nvSpPr>
          <p:cNvPr id="16" name="Text 14"/>
          <p:cNvSpPr txBox="1"/>
          <p:nvPr/>
        </p:nvSpPr>
        <p:spPr>
          <a:xfrm>
            <a:off x="8522208"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If most of your hours are maintenance, the maintenance rate moves ELR more than the repair rate</a:t>
            </a:r>
            <a:endParaRPr lang="en-US" sz="1400" dirty="0"/>
          </a:p>
        </p:txBody>
      </p:sp>
      <p:sp>
        <p:nvSpPr>
          <p:cNvPr id="17" name="Shape 15"/>
          <p:cNvSpPr/>
          <p:nvPr/>
        </p:nvSpPr>
        <p:spPr>
          <a:xfrm>
            <a:off x="5138928" y="4018436"/>
            <a:ext cx="45720" cy="829994"/>
          </a:xfrm>
          <a:prstGeom prst="rect">
            <a:avLst/>
          </a:prstGeom>
          <a:solidFill>
            <a:srgbClr val="2587C5"/>
          </a:solidFill>
          <a:ln/>
        </p:spPr>
      </p:sp>
      <p:sp>
        <p:nvSpPr>
          <p:cNvPr id="18" name="Text 16"/>
          <p:cNvSpPr txBox="1"/>
          <p:nvPr/>
        </p:nvSpPr>
        <p:spPr>
          <a:xfrm>
            <a:off x="5266944"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ELR by labor operation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what every op code collects per hour, not just the store total</a:t>
            </a:r>
            <a:endParaRPr lang="en-US" sz="1400" dirty="0"/>
          </a:p>
        </p:txBody>
      </p:sp>
      <p:sp>
        <p:nvSpPr>
          <p:cNvPr id="19" name="Shape 17"/>
          <p:cNvSpPr/>
          <p:nvPr/>
        </p:nvSpPr>
        <p:spPr>
          <a:xfrm>
            <a:off x="8394192" y="4018436"/>
            <a:ext cx="45720" cy="829994"/>
          </a:xfrm>
          <a:prstGeom prst="rect">
            <a:avLst/>
          </a:prstGeom>
          <a:solidFill>
            <a:srgbClr val="2587C5"/>
          </a:solidFill>
          <a:ln/>
        </p:spPr>
      </p:sp>
      <p:sp>
        <p:nvSpPr>
          <p:cNvPr id="20" name="Text 18"/>
          <p:cNvSpPr txBox="1"/>
          <p:nvPr/>
        </p:nvSpPr>
        <p:spPr>
          <a:xfrm>
            <a:off x="8522208"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 and labor grid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Posted rate from a market labor study; a grid prices longer repair jobs higher</a:t>
            </a:r>
            <a:endParaRPr lang="en-US" sz="1400" dirty="0"/>
          </a:p>
        </p:txBody>
      </p:sp>
      <p:sp>
        <p:nvSpPr>
          <p:cNvPr id="21" name="Shape 19"/>
          <p:cNvSpPr/>
          <p:nvPr/>
        </p:nvSpPr>
        <p:spPr>
          <a:xfrm>
            <a:off x="5138928" y="4958158"/>
            <a:ext cx="45720" cy="829994"/>
          </a:xfrm>
          <a:prstGeom prst="rect">
            <a:avLst/>
          </a:prstGeom>
          <a:solidFill>
            <a:srgbClr val="2587C5"/>
          </a:solidFill>
          <a:ln/>
        </p:spPr>
      </p:sp>
      <p:sp>
        <p:nvSpPr>
          <p:cNvPr id="22" name="Text 20"/>
          <p:cNvSpPr txBox="1"/>
          <p:nvPr/>
        </p:nvSpPr>
        <p:spPr>
          <a:xfrm>
            <a:off x="5266944"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23" name="Shape 21"/>
          <p:cNvSpPr/>
          <p:nvPr/>
        </p:nvSpPr>
        <p:spPr>
          <a:xfrm>
            <a:off x="8394192" y="4958158"/>
            <a:ext cx="45720" cy="829994"/>
          </a:xfrm>
          <a:prstGeom prst="rect">
            <a:avLst/>
          </a:prstGeom>
          <a:solidFill>
            <a:srgbClr val="2587C5"/>
          </a:solidFill>
          <a:ln/>
        </p:spPr>
      </p:sp>
      <p:sp>
        <p:nvSpPr>
          <p:cNvPr id="24" name="Text 22"/>
          <p:cNvSpPr txBox="1"/>
          <p:nvPr/>
        </p:nvSpPr>
        <p:spPr>
          <a:xfrm>
            <a:off x="8522208"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labor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hours we set and pay the tech on menu jobs; repair times come from labor guides</a:t>
            </a:r>
            <a:endParaRPr lang="en-US" sz="1400" dirty="0"/>
          </a:p>
        </p:txBody>
      </p:sp>
      <p:sp>
        <p:nvSpPr>
          <p:cNvPr id="25" name="Shape 23"/>
          <p:cNvSpPr/>
          <p:nvPr/>
        </p:nvSpPr>
        <p:spPr>
          <a:xfrm>
            <a:off x="457200" y="6126480"/>
            <a:ext cx="11274552" cy="364236"/>
          </a:xfrm>
          <a:prstGeom prst="rect">
            <a:avLst/>
          </a:prstGeom>
          <a:solidFill>
            <a:srgbClr val="E6F6EE"/>
          </a:solidFill>
          <a:ln/>
        </p:spPr>
      </p:sp>
      <p:sp>
        <p:nvSpPr>
          <p:cNvPr id="26" name="Text 24"/>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Group: $162.42 CP ELR, up $3.56. Jul-Sep it ran 74.7% of door rate; 25 of 33 stores at or above 70%.</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2026-10-23T19:54:56Z</dcterms:created>
  <dcterms:modified xsi:type="dcterms:W3CDTF">2026-10-23T19:54:56Z</dcterms:modified>
</cp:coreProperties>
</file>