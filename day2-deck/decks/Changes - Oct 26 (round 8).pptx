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1.xml" ContentType="application/vnd.openxmlformats-officedocument.presentationml.notesSlide+xml"/>
  <Override PartName="/ppt/notesSlides/notesSlide105.xml" ContentType="application/vnd.openxmlformats-officedocument.presentationml.notesSlide+xml"/>
  <Override PartName="/ppt/notesSlides/notesSlide109.xml" ContentType="application/vnd.openxmlformats-officedocument.presentationml.notesSlide+xml"/>
  <Override PartName="/ppt/notesSlides/notesSlide113.xml" ContentType="application/vnd.openxmlformats-officedocument.presentationml.notesSlide+xml"/>
  <Override PartName="/ppt/notesSlides/notesSlide115.xml" ContentType="application/vnd.openxmlformats-officedocument.presentationml.notesSlide+xml"/>
  <Override PartName="/ppt/notesSlides/notesSlide1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4.xml" ContentType="application/vnd.openxmlformats-officedocument.presentationml.slide+xml"/>
  <Override PartName="/ppt/slides/slide108.xml" ContentType="application/vnd.openxmlformats-officedocument.presentationml.slide+xml"/>
  <Override PartName="/ppt/slides/slide110.xml" ContentType="application/vnd.openxmlformats-officedocument.presentationml.slide+xml"/>
  <Override PartName="/ppt/slides/slide128.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56" r:id="rId107"/>
    <p:sldId id="360" r:id="rId111"/>
    <p:sldId id="364" r:id="rId115"/>
    <p:sldId id="368" r:id="rId119"/>
    <p:sldId id="370" r:id="rId121"/>
    <p:sldId id="386" r:id="rId137"/>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07" Type="http://schemas.openxmlformats.org/officeDocument/2006/relationships/slide" Target="slides/slide96.xml"/><Relationship Id="rId111" Type="http://schemas.openxmlformats.org/officeDocument/2006/relationships/slide" Target="slides/slide100.xml"/><Relationship Id="rId115" Type="http://schemas.openxmlformats.org/officeDocument/2006/relationships/slide" Target="slides/slide104.xml"/><Relationship Id="rId119" Type="http://schemas.openxmlformats.org/officeDocument/2006/relationships/slide" Target="slides/slide108.xml"/><Relationship Id="rId121" Type="http://schemas.openxmlformats.org/officeDocument/2006/relationships/slide" Target="slides/slide110.xml"/><Relationship Id="rId137" Type="http://schemas.openxmlformats.org/officeDocument/2006/relationships/slide" Target="slides/slide1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every store, gross Jan-Sep 2026 above (+) or below (-) the benchmark at the store's own gross per service; group gross per service $129.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SPOKANE: 4.2%, −$169K Jan-Sep at $90/service</a:t>
            </a:r>
          </a:p>
          <a:p>
            <a:r>
              <a:t>TOYOTA FLAGSTAFF: 9.7%, −$67K Jan-Sep at $84/service</a:t>
            </a:r>
          </a:p>
          <a:p>
            <a:r>
              <a:t>NISSAN: 7.4%, −$62K Jan-Sep at $119/service</a:t>
            </a:r>
          </a:p>
          <a:p>
            <a:r>
              <a:t>KIA LV: 9.7%, −$58K Jan-Sep at $135/service</a:t>
            </a:r>
          </a:p>
          <a:p>
            <a:r>
              <a:t>CHEVY LV: 12.8%, −$57K Jan-Sep at $136/service</a:t>
            </a:r>
          </a:p>
          <a:p>
            <a:r>
              <a:t>CDJR POST FALLS: 4.2%, −$43K Jan-Sep at $74/service</a:t>
            </a:r>
          </a:p>
          <a:p>
            <a:r>
              <a:t>TOYOTA PRESCOTT: 12.3%, −$37K Jan-Sep at $103/service</a:t>
            </a:r>
          </a:p>
          <a:p>
            <a:r>
              <a:t>KIA ST GEORGE: 8.0%, −$29K Jan-Sep at $105/service</a:t>
            </a:r>
          </a:p>
          <a:p>
            <a:r>
              <a:t>HONDA SPOKANE: 12.5%, −$27K Jan-Sep at $124/service</a:t>
            </a:r>
          </a:p>
          <a:p>
            <a:r>
              <a:t>AUDI RENO: 11.8%, −$26K Jan-Sep at $230/service</a:t>
            </a:r>
          </a:p>
          <a:p>
            <a:r>
              <a:t>TOYOTA HENDERSON: 14.5%, −$25K Jan-Sep at $102/service</a:t>
            </a:r>
          </a:p>
          <a:p>
            <a:r>
              <a:t>LEXUS: 11.3%, −$24K Jan-Sep at $147/service</a:t>
            </a:r>
          </a:p>
          <a:p>
            <a:r>
              <a:t>LINCOLN: 8.4%, −$20K Jan-Sep at $114/service</a:t>
            </a:r>
          </a:p>
          <a:p>
            <a:r>
              <a:t>CHEVY GMC BULLHEAD: 11.1%, −$19K Jan-Sep at $78/service</a:t>
            </a:r>
          </a:p>
          <a:p>
            <a:r>
              <a:t>VW HENDERSON: 13.6%, −$18K Jan-Sep at $245/service</a:t>
            </a:r>
          </a:p>
          <a:p>
            <a:r>
              <a:t>SUBARU ST GEORGE: 11.0%, −$17K Jan-Sep at $78/service</a:t>
            </a:r>
          </a:p>
          <a:p>
            <a:r>
              <a:t>HONDA FLAGSTAFF: 11.0%, −$16K Jan-Sep at $100/service</a:t>
            </a:r>
          </a:p>
          <a:p>
            <a:r>
              <a:t>VW ST GEORGE: 5.6%, −$13K Jan-Sep at $74/service</a:t>
            </a:r>
          </a:p>
          <a:p>
            <a:r>
              <a:t>SUBARU PRESCOTT: 12.5%, −$9K Jan-Sep at $73/service</a:t>
            </a:r>
          </a:p>
          <a:p>
            <a:r>
              <a:t>GMC PRESCOTT: 11.7%, −$9K Jan-Sep at $85/service</a:t>
            </a:r>
          </a:p>
          <a:p>
            <a:r>
              <a:t>LR RENO: 12.8%, −$8K Jan-Sep at $259/service (capped; raw $715/service)</a:t>
            </a:r>
          </a:p>
          <a:p>
            <a:r>
              <a:t>SUBARU LV: 14.5%, −$7K Jan-Sep at $117/service</a:t>
            </a:r>
          </a:p>
          <a:p>
            <a:r>
              <a:t>CADILLAC: 13.8%, −$7K Jan-Sep at $115/service</a:t>
            </a:r>
          </a:p>
          <a:p>
            <a:r>
              <a:t>VOLVO: 13.8%, −$5K Jan-Sep at $142/service</a:t>
            </a:r>
          </a:p>
          <a:p>
            <a:r>
              <a:t>HYUNDAI ST GEORGE: 14.8%, −$649 Jan-Sep at $121/service</a:t>
            </a:r>
          </a:p>
          <a:p>
            <a:r>
              <a:t>ACURA: 17.5%, +$11K Jan-Sep at $117/service</a:t>
            </a:r>
          </a:p>
          <a:p>
            <a:r>
              <a:t>MAZDA: 16.6%, +$13K Jan-Sep at $132/service</a:t>
            </a:r>
          </a:p>
          <a:p>
            <a:r>
              <a:t>LR LV: 17.3%, +$18K Jan-Sep at $210/service</a:t>
            </a:r>
          </a:p>
          <a:p>
            <a:r>
              <a:t>HONDA NORTH: 16.1%, +$20K Jan-Sep at $112/service</a:t>
            </a:r>
          </a:p>
          <a:p>
            <a:r>
              <a:t>LR HENDERSON: 24.4%, +$31K Jan-Sep at $209/service</a:t>
            </a:r>
          </a:p>
          <a:p>
            <a:r>
              <a:t>HYUNDAI PRESCOTT: 21.7%, +$31K Jan-Sep at $228/service</a:t>
            </a:r>
          </a:p>
          <a:p>
            <a:r>
              <a:t>AUDI HENDERSON: 27.5%, +$123K Jan-Sep at $259/service (capped; raw $390/service)</a:t>
            </a:r>
          </a:p>
          <a:p>
            <a:r>
              <a:t>HONDA HENDERSON: 21.3%, +$171K Jan-Sep at $121/service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Tire Balance: every store, gross Jan-Sep 2026 above (+) or below (-) the benchmark at the store's own gross per service; group gross per service $75.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SPOKANE: 0.4%, −$135K Jan-Sep at $53/service</a:t>
            </a:r>
          </a:p>
          <a:p>
            <a:r>
              <a:t>TOYOTA HENDERSON: 11.2%, −$111K Jan-Sep at $55/service</a:t>
            </a:r>
          </a:p>
          <a:p>
            <a:r>
              <a:t>TOYOTA PRESCOTT: 6.1%, −$99K Jan-Sep at $83/service</a:t>
            </a:r>
          </a:p>
          <a:p>
            <a:r>
              <a:t>SUBARU ST GEORGE: 3.6%, −$94K Jan-Sep at $149/service (capped; raw $247/service)</a:t>
            </a:r>
          </a:p>
          <a:p>
            <a:r>
              <a:t>TOYOTA FLAGSTAFF: 4.9%, −$82K Jan-Sep at $54/service</a:t>
            </a:r>
          </a:p>
          <a:p>
            <a:r>
              <a:t>CHEVY LV: 7.3%, −$80K Jan-Sep at $53/service</a:t>
            </a:r>
          </a:p>
          <a:p>
            <a:r>
              <a:t>HONDA SPOKANE: 2.1%, −$60K Jan-Sep at $52/service</a:t>
            </a:r>
          </a:p>
          <a:p>
            <a:r>
              <a:t>NISSAN: 1.0%, −$58K Jan-Sep at $59/service</a:t>
            </a:r>
          </a:p>
          <a:p>
            <a:r>
              <a:t>CDJR POST FALLS: 1.2%, −$55K Jan-Sep at $75/service</a:t>
            </a:r>
          </a:p>
          <a:p>
            <a:r>
              <a:t>KIA LV: 5.2%, −$54K Jan-Sep at $68/service</a:t>
            </a:r>
          </a:p>
          <a:p>
            <a:r>
              <a:t>LEXUS: 0.0%, −$51K Jan-Sep at $75/service (group avg)</a:t>
            </a:r>
          </a:p>
          <a:p>
            <a:r>
              <a:t>SUBARU LV: 10.2%, −$51K Jan-Sep at $75/service</a:t>
            </a:r>
          </a:p>
          <a:p>
            <a:r>
              <a:t>AUDI HENDERSON: 0.0%, −$42K Jan-Sep at $75/service (group avg)</a:t>
            </a:r>
          </a:p>
          <a:p>
            <a:r>
              <a:t>AUDI RENO: 0.1%, −$39K Jan-Sep at $75/service (group avg)</a:t>
            </a:r>
          </a:p>
          <a:p>
            <a:r>
              <a:t>HONDA FLAGSTAFF: 1.3%, −$39K Jan-Sep at $70/service</a:t>
            </a:r>
          </a:p>
          <a:p>
            <a:r>
              <a:t>HONDA NORTH: 12.0%, −$29K Jan-Sep at $64/service</a:t>
            </a:r>
          </a:p>
          <a:p>
            <a:r>
              <a:t>HYUNDAI ST GEORGE: 1.2%, −$27K Jan-Sep at $58/service</a:t>
            </a:r>
          </a:p>
          <a:p>
            <a:r>
              <a:t>LINCOLN: 1.6%, −$23K Jan-Sep at $66/service</a:t>
            </a:r>
          </a:p>
          <a:p>
            <a:r>
              <a:t>VW ST GEORGE: 0.4%, −$21K Jan-Sep at $75/service (group avg)</a:t>
            </a:r>
          </a:p>
          <a:p>
            <a:r>
              <a:t>VW HENDERSON: 8.2%, −$21K Jan-Sep at $60/service</a:t>
            </a:r>
          </a:p>
          <a:p>
            <a:r>
              <a:t>GMC PRESCOTT: 7.7%, −$20K Jan-Sep at $90/service</a:t>
            </a:r>
          </a:p>
          <a:p>
            <a:r>
              <a:t>CHEVY GMC BULLHEAD: 9.0%, −$16K Jan-Sep at $42/service</a:t>
            </a:r>
          </a:p>
          <a:p>
            <a:r>
              <a:t>KIA ST GEORGE: 7.7%, −$14K Jan-Sep at $48/service</a:t>
            </a:r>
          </a:p>
          <a:p>
            <a:r>
              <a:t>CADILLAC: 5.9%, −$11K Jan-Sep at $22/service</a:t>
            </a:r>
          </a:p>
          <a:p>
            <a:r>
              <a:t>MAZDA: 13.1%, −$8K Jan-Sep at $79/service</a:t>
            </a:r>
          </a:p>
          <a:p>
            <a:r>
              <a:t>VOLVO: 11.7%, −$6K Jan-Sep at $51/service</a:t>
            </a:r>
          </a:p>
          <a:p>
            <a:r>
              <a:t>HYUNDAI PRESCOTT: 13.5%, −$4K Jan-Sep at $149/service (capped; raw $311/service)</a:t>
            </a:r>
          </a:p>
          <a:p>
            <a:r>
              <a:t>ACURA: 14.1%, −$2K Jan-Sep at $64/service</a:t>
            </a:r>
          </a:p>
          <a:p>
            <a:r>
              <a:t>SUBARU PRESCOTT: 14.9%, −$26 Jan-Sep at $34/service</a:t>
            </a:r>
          </a:p>
          <a:p>
            <a:r>
              <a:t>LR RENO: 16.9%, +$4K Jan-Sep at $149/service (capped; raw $647/service)</a:t>
            </a:r>
          </a:p>
          <a:p>
            <a:r>
              <a:t>LR LV: 16.9%, +$10K Jan-Sep at $149/service</a:t>
            </a:r>
          </a:p>
          <a:p>
            <a:r>
              <a:t>LR HENDERSON: 27.0%, +$23K Jan-Sep at $122/service</a:t>
            </a:r>
          </a:p>
          <a:p>
            <a:r>
              <a:t>HONDA HENDERSON: 18.4%, +$52K Jan-Sep at $68/service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Brake Fluid: every store, gross Jan-Sep 2026 above (+) or below (-) the benchmark at the store's own gross per service; group gross per service $189.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CHEVY LV: 5.7%, −$113K Jan-Sep at $138/service</a:t>
            </a:r>
          </a:p>
          <a:p>
            <a:r>
              <a:t>TOYOTA SPOKANE: 7.0%, −$60K Jan-Sep at $117/service</a:t>
            </a:r>
          </a:p>
          <a:p>
            <a:r>
              <a:t>AUDI RENO: 1.9%, −$58K Jan-Sep at $206/service</a:t>
            </a:r>
          </a:p>
          <a:p>
            <a:r>
              <a:t>AUDI HENDERSON: 2.4%, −$56K Jan-Sep at $196/service</a:t>
            </a:r>
          </a:p>
          <a:p>
            <a:r>
              <a:t>HONDA FLAGSTAFF: 3.1%, −$51K Jan-Sep at $184/service</a:t>
            </a:r>
          </a:p>
          <a:p>
            <a:r>
              <a:t>CADILLAC: 4.6%, −$43K Jan-Sep at $150/service</a:t>
            </a:r>
          </a:p>
          <a:p>
            <a:r>
              <a:t>CDJR POST FALLS: 4.2%, −$39K Jan-Sep at $128/service</a:t>
            </a:r>
          </a:p>
          <a:p>
            <a:r>
              <a:t>TOYOTA FLAGSTAFF: 8.0%, −$36K Jan-Sep at $123/service</a:t>
            </a:r>
          </a:p>
          <a:p>
            <a:r>
              <a:t>TOYOTA PRESCOTT: 8.4%, −$24K Jan-Sep at $112/service</a:t>
            </a:r>
          </a:p>
          <a:p>
            <a:r>
              <a:t>HYUNDAI ST GEORGE: 4.7%, −$24K Jan-Sep at $134/service</a:t>
            </a:r>
          </a:p>
          <a:p>
            <a:r>
              <a:t>KIA ST GEORGE: 5.9%, −$19K Jan-Sep at $119/service</a:t>
            </a:r>
          </a:p>
          <a:p>
            <a:r>
              <a:t>KIA LV: 8.2%, −$17K Jan-Sep at $120/service</a:t>
            </a:r>
          </a:p>
          <a:p>
            <a:r>
              <a:t>CHEVY GMC BULLHEAD: 7.0%, −$16K Jan-Sep at $87/service</a:t>
            </a:r>
          </a:p>
          <a:p>
            <a:r>
              <a:t>GMC PRESCOTT: 6.0%, −$15K Jan-Sep at $127/service</a:t>
            </a:r>
          </a:p>
          <a:p>
            <a:r>
              <a:t>LR RENO: 7.2%, −$15K Jan-Sep at $377/service (capped; raw $1,380/service)</a:t>
            </a:r>
          </a:p>
          <a:p>
            <a:r>
              <a:t>MAZDA: 8.4%, −$13K Jan-Sep at $154/service</a:t>
            </a:r>
          </a:p>
          <a:p>
            <a:r>
              <a:t>LEXUS: 8.3%, −$11K Jan-Sep at $154/service</a:t>
            </a:r>
          </a:p>
          <a:p>
            <a:r>
              <a:t>VW ST GEORGE: 5.4%, −$10K Jan-Sep at $111/service</a:t>
            </a:r>
          </a:p>
          <a:p>
            <a:r>
              <a:t>LINCOLN: 7.5%, −$8K Jan-Sep at $126/service</a:t>
            </a:r>
          </a:p>
          <a:p>
            <a:r>
              <a:t>VW HENDERSON: 9.5%, −$3K Jan-Sep at $134/service</a:t>
            </a:r>
          </a:p>
          <a:p>
            <a:r>
              <a:t>HYUNDAI PRESCOTT: 9.6%, −$2K Jan-Sep at $354/service</a:t>
            </a:r>
          </a:p>
          <a:p>
            <a:r>
              <a:t>HONDA SPOKANE: 10.3%, +$4K Jan-Sep at $126/service</a:t>
            </a:r>
          </a:p>
          <a:p>
            <a:r>
              <a:t>TOYOTA HENDERSON: 10.0%, +$5K Jan-Sep at $141/service</a:t>
            </a:r>
          </a:p>
          <a:p>
            <a:r>
              <a:t>SUBARU LV: 10.1%, +$7K Jan-Sep at $333/service</a:t>
            </a:r>
          </a:p>
          <a:p>
            <a:r>
              <a:t>SUBARU PRESCOTT: 10.6%, +$12K Jan-Sep at $377/service (capped; raw $380/service)</a:t>
            </a:r>
          </a:p>
          <a:p>
            <a:r>
              <a:t>ACURA: 12.7%, +$15K Jan-Sep at $147/service</a:t>
            </a:r>
          </a:p>
          <a:p>
            <a:r>
              <a:t>SUBARU ST GEORGE: 10.7%, +$16K Jan-Sep at $377/service (capped; raw $489/service)</a:t>
            </a:r>
          </a:p>
          <a:p>
            <a:r>
              <a:t>NISSAN: 11.6%, +$18K Jan-Sep at $155/service</a:t>
            </a:r>
          </a:p>
          <a:p>
            <a:r>
              <a:t>VOLVO: 11.9%, +$24K Jan-Sep at $377/service (capped; raw $538/service)</a:t>
            </a:r>
          </a:p>
          <a:p>
            <a:r>
              <a:t>LR HENDERSON: 14.3%, +$25K Jan-Sep at $377/service (capped; raw $709/service)</a:t>
            </a:r>
          </a:p>
          <a:p>
            <a:r>
              <a:t>HONDA NORTH: 12.1%, +$51K Jan-Sep at $160/service</a:t>
            </a:r>
          </a:p>
          <a:p>
            <a:r>
              <a:t>LR LV: 20.6%, +$141K Jan-Sep at $377/service (capped; raw $424/service)</a:t>
            </a:r>
          </a:p>
          <a:p>
            <a:r>
              <a:t>HONDA HENDERSON: 15.5%, +$195K Jan-Sep at $155/service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Fuel System Service: every store, gross Jan-Sep 2026 above (+) or below (-) the benchmark at the store's own gross per service; group gross per service $165.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CHEVY LV: 5.2%, −$107K Jan-Sep at $243/service</a:t>
            </a:r>
          </a:p>
          <a:p>
            <a:r>
              <a:t>TOYOTA HENDERSON: 6.0%, −$96K Jan-Sep at $122/service</a:t>
            </a:r>
          </a:p>
          <a:p>
            <a:r>
              <a:t>TOYOTA FLAGSTAFF: 1.6%, −$82K Jan-Sep at $93/service</a:t>
            </a:r>
          </a:p>
          <a:p>
            <a:r>
              <a:t>VW HENDERSON: 0.0%, −$63K Jan-Sep at $165/service (group avg)</a:t>
            </a:r>
          </a:p>
          <a:p>
            <a:r>
              <a:t>KIA LV: 3.2%, −$57K Jan-Sep at $163/service</a:t>
            </a:r>
          </a:p>
          <a:p>
            <a:r>
              <a:t>HONDA SPOKANE: 3.2%, −$56K Jan-Sep at $147/service</a:t>
            </a:r>
          </a:p>
          <a:p>
            <a:r>
              <a:t>CHEVY GMC BULLHEAD: 2.7%, −$49K Jan-Sep at $163/service</a:t>
            </a:r>
          </a:p>
          <a:p>
            <a:r>
              <a:t>NISSAN: 4.1%, −$48K Jan-Sep at $206/service</a:t>
            </a:r>
          </a:p>
          <a:p>
            <a:r>
              <a:t>AUDI HENDERSON: 0.0%, −$47K Jan-Sep at $165/service (group avg)</a:t>
            </a:r>
          </a:p>
          <a:p>
            <a:r>
              <a:t>CDJR POST FALLS: 3.0%, −$46K Jan-Sep at $192/service</a:t>
            </a:r>
          </a:p>
          <a:p>
            <a:r>
              <a:t>HONDA FLAGSTAFF: 0.7%, −$45K Jan-Sep at $165/service (group avg)</a:t>
            </a:r>
          </a:p>
          <a:p>
            <a:r>
              <a:t>TOYOTA SPOKANE: 5.8%, −$42K Jan-Sep at $145/service</a:t>
            </a:r>
          </a:p>
          <a:p>
            <a:r>
              <a:t>VOLVO: 0.0%, −$42K Jan-Sep at $165/service (group avg)</a:t>
            </a:r>
          </a:p>
          <a:p>
            <a:r>
              <a:t>AUDI RENO: 0.8%, −$39K Jan-Sep at $165/service (group avg)</a:t>
            </a:r>
          </a:p>
          <a:p>
            <a:r>
              <a:t>CADILLAC: 5.1%, −$34K Jan-Sep at $269/service</a:t>
            </a:r>
          </a:p>
          <a:p>
            <a:r>
              <a:t>LR HENDERSON: 2.5%, −$25K Jan-Sep at $329/service (capped; raw $774/service)</a:t>
            </a:r>
          </a:p>
          <a:p>
            <a:r>
              <a:t>VW ST GEORGE: 2.7%, −$22K Jan-Sep at $236/service</a:t>
            </a:r>
          </a:p>
          <a:p>
            <a:r>
              <a:t>MAZDA: 5.2%, −$20K Jan-Sep at $150/service</a:t>
            </a:r>
          </a:p>
          <a:p>
            <a:r>
              <a:t>LEXUS: 4.2%, −$19K Jan-Sep at $128/service</a:t>
            </a:r>
          </a:p>
          <a:p>
            <a:r>
              <a:t>LR LV: 5.5%, −$18K Jan-Sep at $258/service</a:t>
            </a:r>
          </a:p>
          <a:p>
            <a:r>
              <a:t>GMC PRESCOTT: 3.6%, −$16K Jan-Sep at $133/service</a:t>
            </a:r>
          </a:p>
          <a:p>
            <a:r>
              <a:t>TOYOTA PRESCOTT: 6.4%, −$14K Jan-Sep at $101/service</a:t>
            </a:r>
          </a:p>
          <a:p>
            <a:r>
              <a:t>LR RENO: 4.5%, −$14K Jan-Sep at $329/service (capped; raw $1,631/service)</a:t>
            </a:r>
          </a:p>
          <a:p>
            <a:r>
              <a:t>HYUNDAI ST GEORGE: 5.8%, −$10K Jan-Sep at $176/service</a:t>
            </a:r>
          </a:p>
          <a:p>
            <a:r>
              <a:t>SUBARU LV: 7.0%, −$8K Jan-Sep at $130/service</a:t>
            </a:r>
          </a:p>
          <a:p>
            <a:r>
              <a:t>HYUNDAI PRESCOTT: 7.3%, −$905 Jan-Sep at $329/service (capped; raw $459/service)</a:t>
            </a:r>
          </a:p>
          <a:p>
            <a:r>
              <a:t>HONDA NORTH: 7.6%, +$3K Jan-Sep at $118/service</a:t>
            </a:r>
          </a:p>
          <a:p>
            <a:r>
              <a:t>LINCOLN: 8.2%, +$3K Jan-Sep at $175/service</a:t>
            </a:r>
          </a:p>
          <a:p>
            <a:r>
              <a:t>KIA ST GEORGE: 8.9%, +$9K Jan-Sep at $154/service</a:t>
            </a:r>
          </a:p>
          <a:p>
            <a:r>
              <a:t>ACURA: 9.3%, +$10K Jan-Sep at $145/service</a:t>
            </a:r>
          </a:p>
          <a:p>
            <a:r>
              <a:t>SUBARU PRESCOTT: 9.7%, +$39K Jan-Sep at $329/service (capped; raw $406/service)</a:t>
            </a:r>
          </a:p>
          <a:p>
            <a:r>
              <a:t>SUBARU ST GEORGE: 13.8%, +$54K Jan-Sep at $153/service</a:t>
            </a:r>
          </a:p>
          <a:p>
            <a:r>
              <a:t>HONDA HENDERSON: 12.0%, +$138K Jan-Sep at $135/service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tire balance, brake fluid and fuel system service added together, every store: gross Jan-Sep 2026 above (+) or below (-) the four benchmarks, at the store's own gross per service. Below-benchmark services count against above-benchmark ones here.TOYOTA SPOKANE: −$406K Jan-Sep against the four benchmarks; under 4 of 4</a:t>
            </a:r>
          </a:p>
          <a:p>
            <a:r>
              <a:t>CHEVY LV: −$356K Jan-Sep against the four benchmarks; under 4 of 4</a:t>
            </a:r>
          </a:p>
          <a:p>
            <a:r>
              <a:t>TOYOTA FLAGSTAFF: −$267K Jan-Sep against the four benchmarks; under 4 of 4</a:t>
            </a:r>
          </a:p>
          <a:p>
            <a:r>
              <a:t>TOYOTA HENDERSON: −$227K Jan-Sep against the four benchmarks; under 3 of 4</a:t>
            </a:r>
          </a:p>
          <a:p>
            <a:r>
              <a:t>KIA LV: −$185K Jan-Sep against the four benchmarks; under 4 of 4</a:t>
            </a:r>
          </a:p>
          <a:p>
            <a:r>
              <a:t>CDJR POST FALLS: −$184K Jan-Sep against the four benchmarks; under 4 of 4</a:t>
            </a:r>
          </a:p>
          <a:p>
            <a:r>
              <a:t>TOYOTA PRESCOTT: −$175K Jan-Sep against the four benchmarks; under 4 of 4</a:t>
            </a:r>
          </a:p>
          <a:p>
            <a:r>
              <a:t>AUDI RENO: −$162K Jan-Sep against the four benchmarks; under 4 of 4</a:t>
            </a:r>
          </a:p>
          <a:p>
            <a:r>
              <a:t>HONDA FLAGSTAFF: −$150K Jan-Sep against the four benchmarks; under 4 of 4</a:t>
            </a:r>
          </a:p>
          <a:p>
            <a:r>
              <a:t>NISSAN: −$150K Jan-Sep against the four benchmarks; under 3 of 4</a:t>
            </a:r>
          </a:p>
          <a:p>
            <a:r>
              <a:t>HONDA SPOKANE: −$140K Jan-Sep against the four benchmarks; under 3 of 4</a:t>
            </a:r>
          </a:p>
          <a:p>
            <a:r>
              <a:t>LEXUS: −$105K Jan-Sep against the four benchmarks; under 4 of 4</a:t>
            </a:r>
          </a:p>
          <a:p>
            <a:r>
              <a:t>VW HENDERSON: −$105K Jan-Sep against the four benchmarks; under 4 of 4</a:t>
            </a:r>
          </a:p>
          <a:p>
            <a:r>
              <a:t>CHEVY GMC BULLHEAD: −$100K Jan-Sep against the four benchmarks; under 4 of 4</a:t>
            </a:r>
          </a:p>
          <a:p>
            <a:r>
              <a:t>CADILLAC: −$94K Jan-Sep against the four benchmarks; under 4 of 4</a:t>
            </a:r>
          </a:p>
          <a:p>
            <a:r>
              <a:t>VW ST GEORGE: −$66K Jan-Sep against the four benchmarks; under 4 of 4</a:t>
            </a:r>
          </a:p>
          <a:p>
            <a:r>
              <a:t>HYUNDAI ST GEORGE: −$61K Jan-Sep against the four benchmarks; under 4 of 4</a:t>
            </a:r>
          </a:p>
          <a:p>
            <a:r>
              <a:t>GMC PRESCOTT: −$60K Jan-Sep against the four benchmarks; under 4 of 4</a:t>
            </a:r>
          </a:p>
          <a:p>
            <a:r>
              <a:t>SUBARU LV: −$59K Jan-Sep against the four benchmarks; under 3 of 4</a:t>
            </a:r>
          </a:p>
          <a:p>
            <a:r>
              <a:t>KIA ST GEORGE: −$53K Jan-Sep against the four benchmarks; under 3 of 4</a:t>
            </a:r>
          </a:p>
          <a:p>
            <a:r>
              <a:t>LINCOLN: −$48K Jan-Sep against the four benchmarks; under 3 of 4</a:t>
            </a:r>
          </a:p>
          <a:p>
            <a:r>
              <a:t>SUBARU ST GEORGE: −$41K Jan-Sep against the four benchmarks; under 2 of 4</a:t>
            </a:r>
          </a:p>
          <a:p>
            <a:r>
              <a:t>LR RENO: −$32K Jan-Sep against the four benchmarks; under 3 of 4</a:t>
            </a:r>
          </a:p>
          <a:p>
            <a:r>
              <a:t>VOLVO: −$29K Jan-Sep against the four benchmarks; under 3 of 4</a:t>
            </a:r>
          </a:p>
          <a:p>
            <a:r>
              <a:t>MAZDA: −$28K Jan-Sep against the four benchmarks; under 3 of 4</a:t>
            </a:r>
          </a:p>
          <a:p>
            <a:r>
              <a:t>AUDI HENDERSON: −$22K Jan-Sep against the four benchmarks; under 3 of 4</a:t>
            </a:r>
          </a:p>
          <a:p>
            <a:r>
              <a:t>HYUNDAI PRESCOTT: +$23K Jan-Sep against the four benchmarks; under 3 of 4</a:t>
            </a:r>
          </a:p>
          <a:p>
            <a:r>
              <a:t>ACURA: +$33K Jan-Sep against the four benchmarks; under 1 of 4</a:t>
            </a:r>
          </a:p>
          <a:p>
            <a:r>
              <a:t>SUBARU PRESCOTT: +$41K Jan-Sep against the four benchmarks; under 2 of 4</a:t>
            </a:r>
          </a:p>
          <a:p>
            <a:r>
              <a:t>HONDA NORTH: +$45K Jan-Sep against the four benchmarks; under 1 of 4</a:t>
            </a:r>
          </a:p>
          <a:p>
            <a:r>
              <a:t>LR HENDERSON: +$54K Jan-Sep against the four benchmarks; under 1 of 4</a:t>
            </a:r>
          </a:p>
          <a:p>
            <a:r>
              <a:t>LR LV: +$151K Jan-Sep against the four benchmarks; under 1 of 4</a:t>
            </a:r>
          </a:p>
          <a:p>
            <a:r>
              <a:t>HONDA HENDERSON: +$557K Jan-Sep against the four benchmarks; under 0 of 4</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before CP &amp; W ROs per Service Advisor.</a:t>
            </a:r>
          </a:p>
          <a:p>
            <a:r>
              <a:t>Said: Jan GM slide 16 / May GM slide 12 (Pay Plans aka Work Instructions).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602724"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153132"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608210" y="1756697"/>
            <a:ext cx="515734"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+$171K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21.3%</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9" name="Shape 17"/>
          <p:cNvSpPr/>
          <p:nvPr/>
        </p:nvSpPr>
        <p:spPr>
          <a:xfrm>
            <a:off x="3608210" y="2005199"/>
            <a:ext cx="368621"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+$123K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4" name="Shape 22"/>
          <p:cNvSpPr/>
          <p:nvPr/>
        </p:nvSpPr>
        <p:spPr>
          <a:xfrm>
            <a:off x="3608210" y="2253700"/>
            <a:ext cx="93661"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+$31K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9" name="Shape 27"/>
          <p:cNvSpPr/>
          <p:nvPr/>
        </p:nvSpPr>
        <p:spPr>
          <a:xfrm>
            <a:off x="3608210" y="2502202"/>
            <a:ext cx="92519"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+$31K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4" name="Shape 32"/>
          <p:cNvSpPr/>
          <p:nvPr/>
        </p:nvSpPr>
        <p:spPr>
          <a:xfrm>
            <a:off x="3608210" y="2750703"/>
            <a:ext cx="60439" cy="136676"/>
          </a:xfrm>
          <a:prstGeom prst="rect">
            <a:avLst/>
          </a:prstGeom>
          <a:solidFill>
            <a:srgbClr val="12A566"/>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+$20K</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9" name="Shape 37"/>
          <p:cNvSpPr/>
          <p:nvPr/>
        </p:nvSpPr>
        <p:spPr>
          <a:xfrm>
            <a:off x="3608210" y="2999205"/>
            <a:ext cx="52903" cy="136676"/>
          </a:xfrm>
          <a:prstGeom prst="rect">
            <a:avLst/>
          </a:prstGeom>
          <a:solidFill>
            <a:srgbClr val="12A566"/>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+$18K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17.3%</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4" name="Shape 42"/>
          <p:cNvSpPr/>
          <p:nvPr/>
        </p:nvSpPr>
        <p:spPr>
          <a:xfrm>
            <a:off x="3608210" y="3247707"/>
            <a:ext cx="38422" cy="136676"/>
          </a:xfrm>
          <a:prstGeom prst="rect">
            <a:avLst/>
          </a:prstGeom>
          <a:solidFill>
            <a:srgbClr val="12A566"/>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+$13K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16.6%</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9" name="Shape 47"/>
          <p:cNvSpPr/>
          <p:nvPr/>
        </p:nvSpPr>
        <p:spPr>
          <a:xfrm>
            <a:off x="3608210" y="3496208"/>
            <a:ext cx="32407" cy="136676"/>
          </a:xfrm>
          <a:prstGeom prst="rect">
            <a:avLst/>
          </a:prstGeom>
          <a:solidFill>
            <a:srgbClr val="12A566"/>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+$11K</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4" name="Shape 52"/>
          <p:cNvSpPr/>
          <p:nvPr/>
        </p:nvSpPr>
        <p:spPr>
          <a:xfrm>
            <a:off x="3606258" y="3744710"/>
            <a:ext cx="18288" cy="136676"/>
          </a:xfrm>
          <a:prstGeom prst="rect">
            <a:avLst/>
          </a:prstGeom>
          <a:solidFill>
            <a:srgbClr val="C2352F"/>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−$649</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9" name="Shape 57"/>
          <p:cNvSpPr/>
          <p:nvPr/>
        </p:nvSpPr>
        <p:spPr>
          <a:xfrm>
            <a:off x="3591832" y="3993212"/>
            <a:ext cx="18288" cy="136676"/>
          </a:xfrm>
          <a:prstGeom prst="rect">
            <a:avLst/>
          </a:prstGeom>
          <a:solidFill>
            <a:srgbClr val="C2352F"/>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4" name="Shape 62"/>
          <p:cNvSpPr/>
          <p:nvPr/>
        </p:nvSpPr>
        <p:spPr>
          <a:xfrm>
            <a:off x="3587605" y="4241713"/>
            <a:ext cx="20606" cy="136676"/>
          </a:xfrm>
          <a:prstGeom prst="rect">
            <a:avLst/>
          </a:prstGeom>
          <a:solidFill>
            <a:srgbClr val="C2352F"/>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3586165" y="4490215"/>
            <a:ext cx="22045" cy="136676"/>
          </a:xfrm>
          <a:prstGeom prst="rect">
            <a:avLst/>
          </a:prstGeom>
          <a:solidFill>
            <a:srgbClr val="C2352F"/>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4" name="Shape 72"/>
          <p:cNvSpPr/>
          <p:nvPr/>
        </p:nvSpPr>
        <p:spPr>
          <a:xfrm>
            <a:off x="3584721" y="4738717"/>
            <a:ext cx="23489"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9" name="Shape 77"/>
          <p:cNvSpPr/>
          <p:nvPr/>
        </p:nvSpPr>
        <p:spPr>
          <a:xfrm>
            <a:off x="3582272" y="4987218"/>
            <a:ext cx="25938"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4" name="Shape 82"/>
          <p:cNvSpPr/>
          <p:nvPr/>
        </p:nvSpPr>
        <p:spPr>
          <a:xfrm>
            <a:off x="3580943" y="5235720"/>
            <a:ext cx="27268"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9" name="Shape 87"/>
          <p:cNvSpPr/>
          <p:nvPr/>
        </p:nvSpPr>
        <p:spPr>
          <a:xfrm>
            <a:off x="3568116" y="5484222"/>
            <a:ext cx="40094"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4" name="Shape 92"/>
          <p:cNvSpPr/>
          <p:nvPr/>
        </p:nvSpPr>
        <p:spPr>
          <a:xfrm>
            <a:off x="3560947" y="5732723"/>
            <a:ext cx="47264"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107541" y="1756697"/>
            <a:ext cx="51077"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4" name="Shape 102"/>
          <p:cNvSpPr/>
          <p:nvPr/>
        </p:nvSpPr>
        <p:spPr>
          <a:xfrm>
            <a:off x="9105708" y="2005199"/>
            <a:ext cx="52910"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9" name="Shape 107"/>
          <p:cNvSpPr/>
          <p:nvPr/>
        </p:nvSpPr>
        <p:spPr>
          <a:xfrm>
            <a:off x="9101403" y="2253700"/>
            <a:ext cx="57215"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4" name="Shape 112"/>
          <p:cNvSpPr/>
          <p:nvPr/>
        </p:nvSpPr>
        <p:spPr>
          <a:xfrm>
            <a:off x="9099265" y="2502202"/>
            <a:ext cx="59354"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19" name="Shape 117"/>
          <p:cNvSpPr/>
          <p:nvPr/>
        </p:nvSpPr>
        <p:spPr>
          <a:xfrm>
            <a:off x="9084954" y="2750703"/>
            <a:ext cx="73665"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11.3%</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4" name="Shape 122"/>
          <p:cNvSpPr/>
          <p:nvPr/>
        </p:nvSpPr>
        <p:spPr>
          <a:xfrm>
            <a:off x="9083815" y="2999205"/>
            <a:ext cx="74803"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29" name="Shape 127"/>
          <p:cNvSpPr/>
          <p:nvPr/>
        </p:nvSpPr>
        <p:spPr>
          <a:xfrm>
            <a:off x="9081129" y="3247707"/>
            <a:ext cx="77490"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34" name="Shape 132"/>
          <p:cNvSpPr/>
          <p:nvPr/>
        </p:nvSpPr>
        <p:spPr>
          <a:xfrm>
            <a:off x="9076646" y="3496208"/>
            <a:ext cx="81973"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39" name="Shape 137"/>
          <p:cNvSpPr/>
          <p:nvPr/>
        </p:nvSpPr>
        <p:spPr>
          <a:xfrm>
            <a:off x="9072387" y="3744710"/>
            <a:ext cx="86231"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44" name="Shape 142"/>
          <p:cNvSpPr/>
          <p:nvPr/>
        </p:nvSpPr>
        <p:spPr>
          <a:xfrm>
            <a:off x="9047176" y="3993212"/>
            <a:ext cx="111443"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−$37K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9" name="Shape 147"/>
          <p:cNvSpPr/>
          <p:nvPr/>
        </p:nvSpPr>
        <p:spPr>
          <a:xfrm>
            <a:off x="9029635" y="4241713"/>
            <a:ext cx="128983"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−$43K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54" name="Shape 152"/>
          <p:cNvSpPr/>
          <p:nvPr/>
        </p:nvSpPr>
        <p:spPr>
          <a:xfrm>
            <a:off x="8988331" y="4490215"/>
            <a:ext cx="170287"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−$57K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9" name="Shape 157"/>
          <p:cNvSpPr/>
          <p:nvPr/>
        </p:nvSpPr>
        <p:spPr>
          <a:xfrm>
            <a:off x="8985336" y="4738717"/>
            <a:ext cx="173282"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64" name="Shape 162"/>
          <p:cNvSpPr/>
          <p:nvPr/>
        </p:nvSpPr>
        <p:spPr>
          <a:xfrm>
            <a:off x="8971042" y="4987218"/>
            <a:ext cx="187577"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9" name="Shape 167"/>
          <p:cNvSpPr/>
          <p:nvPr/>
        </p:nvSpPr>
        <p:spPr>
          <a:xfrm>
            <a:off x="8955629" y="5235720"/>
            <a:ext cx="202990"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4" name="Shape 172"/>
          <p:cNvSpPr/>
          <p:nvPr/>
        </p:nvSpPr>
        <p:spPr>
          <a:xfrm>
            <a:off x="8650224" y="5484222"/>
            <a:ext cx="508394"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−$169K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615696"/>
          </a:xfrm>
          <a:prstGeom prst="rect">
            <a:avLst/>
          </a:prstGeom>
          <a:solidFill>
            <a:srgbClr val="FBEBEA"/>
          </a:solidFill>
          <a:ln/>
        </p:spPr>
      </p:sp>
      <p:sp>
        <p:nvSpPr>
          <p:cNvPr id="179" name="Text 177"/>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25 stores under 15% have left $771,957 so far this year; 8 are at or above it. Toyota Spokane is furthest below at −$169K.</a:t>
            </a:r>
            <a:endParaRPr lang="en-US" sz="1600" dirty="0"/>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Tire Balance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831949"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382357"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837435" y="1756697"/>
            <a:ext cx="286509"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+$52K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9" name="Shape 17"/>
          <p:cNvSpPr/>
          <p:nvPr/>
        </p:nvSpPr>
        <p:spPr>
          <a:xfrm>
            <a:off x="3837435" y="2005199"/>
            <a:ext cx="125398"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27.0%</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37435" y="2253700"/>
            <a:ext cx="56794"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9" name="Shape 27"/>
          <p:cNvSpPr/>
          <p:nvPr/>
        </p:nvSpPr>
        <p:spPr>
          <a:xfrm>
            <a:off x="3837435" y="2502202"/>
            <a:ext cx="22738"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4" name="Shape 32"/>
          <p:cNvSpPr/>
          <p:nvPr/>
        </p:nvSpPr>
        <p:spPr>
          <a:xfrm>
            <a:off x="3837294" y="2750703"/>
            <a:ext cx="18288" cy="136676"/>
          </a:xfrm>
          <a:prstGeom prst="rect">
            <a:avLst/>
          </a:prstGeom>
          <a:solidFill>
            <a:srgbClr val="C2352F"/>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9" name="Shape 37"/>
          <p:cNvSpPr/>
          <p:nvPr/>
        </p:nvSpPr>
        <p:spPr>
          <a:xfrm>
            <a:off x="3826086" y="2999205"/>
            <a:ext cx="18288" cy="136676"/>
          </a:xfrm>
          <a:prstGeom prst="rect">
            <a:avLst/>
          </a:prstGeom>
          <a:solidFill>
            <a:srgbClr val="C2352F"/>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4" name="Shape 42"/>
          <p:cNvSpPr/>
          <p:nvPr/>
        </p:nvSpPr>
        <p:spPr>
          <a:xfrm>
            <a:off x="3813350" y="3247707"/>
            <a:ext cx="24085" cy="136676"/>
          </a:xfrm>
          <a:prstGeom prst="rect">
            <a:avLst/>
          </a:prstGeom>
          <a:solidFill>
            <a:srgbClr val="C2352F"/>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9" name="Shape 47"/>
          <p:cNvSpPr/>
          <p:nvPr/>
        </p:nvSpPr>
        <p:spPr>
          <a:xfrm>
            <a:off x="3806604" y="3496208"/>
            <a:ext cx="30831" cy="136676"/>
          </a:xfrm>
          <a:prstGeom prst="rect">
            <a:avLst/>
          </a:prstGeom>
          <a:solidFill>
            <a:srgbClr val="C2352F"/>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−$6K</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4" name="Shape 52"/>
          <p:cNvSpPr/>
          <p:nvPr/>
        </p:nvSpPr>
        <p:spPr>
          <a:xfrm>
            <a:off x="3792816" y="3744710"/>
            <a:ext cx="44619" cy="136676"/>
          </a:xfrm>
          <a:prstGeom prst="rect">
            <a:avLst/>
          </a:prstGeom>
          <a:solidFill>
            <a:srgbClr val="C2352F"/>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13.1%</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9" name="Shape 57"/>
          <p:cNvSpPr/>
          <p:nvPr/>
        </p:nvSpPr>
        <p:spPr>
          <a:xfrm>
            <a:off x="3778841" y="3993212"/>
            <a:ext cx="58594" cy="136676"/>
          </a:xfrm>
          <a:prstGeom prst="rect">
            <a:avLst/>
          </a:prstGeom>
          <a:solidFill>
            <a:srgbClr val="C2352F"/>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4" name="Shape 62"/>
          <p:cNvSpPr/>
          <p:nvPr/>
        </p:nvSpPr>
        <p:spPr>
          <a:xfrm>
            <a:off x="3762034" y="4241713"/>
            <a:ext cx="75401" cy="136676"/>
          </a:xfrm>
          <a:prstGeom prst="rect">
            <a:avLst/>
          </a:prstGeom>
          <a:solidFill>
            <a:srgbClr val="C2352F"/>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9" name="Shape 67"/>
          <p:cNvSpPr/>
          <p:nvPr/>
        </p:nvSpPr>
        <p:spPr>
          <a:xfrm>
            <a:off x="3751798" y="4490215"/>
            <a:ext cx="85637" cy="136676"/>
          </a:xfrm>
          <a:prstGeom prst="rect">
            <a:avLst/>
          </a:prstGeom>
          <a:solidFill>
            <a:srgbClr val="C2352F"/>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9.0%</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4" name="Shape 72"/>
          <p:cNvSpPr/>
          <p:nvPr/>
        </p:nvSpPr>
        <p:spPr>
          <a:xfrm>
            <a:off x="3727198" y="4738717"/>
            <a:ext cx="110237"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9" name="Shape 77"/>
          <p:cNvSpPr/>
          <p:nvPr/>
        </p:nvSpPr>
        <p:spPr>
          <a:xfrm>
            <a:off x="3725070" y="4987218"/>
            <a:ext cx="112366"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4" name="Shape 82"/>
          <p:cNvSpPr/>
          <p:nvPr/>
        </p:nvSpPr>
        <p:spPr>
          <a:xfrm>
            <a:off x="3723194" y="5235720"/>
            <a:ext cx="114242"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3710862" y="5484222"/>
            <a:ext cx="126574"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4" name="Shape 92"/>
          <p:cNvSpPr/>
          <p:nvPr/>
        </p:nvSpPr>
        <p:spPr>
          <a:xfrm>
            <a:off x="3690964" y="5732723"/>
            <a:ext cx="146471"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9" name="Shape 97"/>
          <p:cNvSpPr/>
          <p:nvPr/>
        </p:nvSpPr>
        <p:spPr>
          <a:xfrm>
            <a:off x="9230771" y="1756697"/>
            <a:ext cx="157072"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4" name="Shape 102"/>
          <p:cNvSpPr/>
          <p:nvPr/>
        </p:nvSpPr>
        <p:spPr>
          <a:xfrm>
            <a:off x="9175412" y="2005199"/>
            <a:ext cx="212431"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9" name="Shape 107"/>
          <p:cNvSpPr/>
          <p:nvPr/>
        </p:nvSpPr>
        <p:spPr>
          <a:xfrm>
            <a:off x="9174770" y="2253700"/>
            <a:ext cx="213073"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0.1%</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14" name="Shape 112"/>
          <p:cNvSpPr/>
          <p:nvPr/>
        </p:nvSpPr>
        <p:spPr>
          <a:xfrm>
            <a:off x="9156849" y="2502202"/>
            <a:ext cx="230994"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19" name="Shape 117"/>
          <p:cNvSpPr/>
          <p:nvPr/>
        </p:nvSpPr>
        <p:spPr>
          <a:xfrm>
            <a:off x="9109512" y="2750703"/>
            <a:ext cx="278331"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4" name="Shape 122"/>
          <p:cNvSpPr/>
          <p:nvPr/>
        </p:nvSpPr>
        <p:spPr>
          <a:xfrm>
            <a:off x="9109414" y="2999205"/>
            <a:ext cx="278430"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29" name="Shape 127"/>
          <p:cNvSpPr/>
          <p:nvPr/>
        </p:nvSpPr>
        <p:spPr>
          <a:xfrm>
            <a:off x="9093262" y="3247707"/>
            <a:ext cx="294581"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34" name="Shape 132"/>
          <p:cNvSpPr/>
          <p:nvPr/>
        </p:nvSpPr>
        <p:spPr>
          <a:xfrm>
            <a:off x="9087005" y="3496208"/>
            <a:ext cx="300838"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−$55K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9" name="Shape 137"/>
          <p:cNvSpPr/>
          <p:nvPr/>
        </p:nvSpPr>
        <p:spPr>
          <a:xfrm>
            <a:off x="9073146" y="3744710"/>
            <a:ext cx="314698"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44" name="Shape 142"/>
          <p:cNvSpPr/>
          <p:nvPr/>
        </p:nvSpPr>
        <p:spPr>
          <a:xfrm>
            <a:off x="9059221" y="3993212"/>
            <a:ext cx="328622"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49" name="Shape 147"/>
          <p:cNvSpPr/>
          <p:nvPr/>
        </p:nvSpPr>
        <p:spPr>
          <a:xfrm>
            <a:off x="8951542" y="4241713"/>
            <a:ext cx="436301"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4" name="Shape 152"/>
          <p:cNvSpPr/>
          <p:nvPr/>
        </p:nvSpPr>
        <p:spPr>
          <a:xfrm>
            <a:off x="8940210" y="4490215"/>
            <a:ext cx="447633"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−$82K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59" name="Shape 157"/>
          <p:cNvSpPr/>
          <p:nvPr/>
        </p:nvSpPr>
        <p:spPr>
          <a:xfrm>
            <a:off x="8875154" y="4738717"/>
            <a:ext cx="512690"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64" name="Shape 162"/>
          <p:cNvSpPr/>
          <p:nvPr/>
        </p:nvSpPr>
        <p:spPr>
          <a:xfrm>
            <a:off x="8844728" y="4987218"/>
            <a:ext cx="543115"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−$99K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6.1%</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9" name="Shape 167"/>
          <p:cNvSpPr/>
          <p:nvPr/>
        </p:nvSpPr>
        <p:spPr>
          <a:xfrm>
            <a:off x="8783012" y="5235720"/>
            <a:ext cx="604831"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−$111K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4" name="Shape 172"/>
          <p:cNvSpPr/>
          <p:nvPr/>
        </p:nvSpPr>
        <p:spPr>
          <a:xfrm>
            <a:off x="8650224" y="5484222"/>
            <a:ext cx="737619"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−$135K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615696"/>
          </a:xfrm>
          <a:prstGeom prst="rect">
            <a:avLst/>
          </a:prstGeom>
          <a:solidFill>
            <a:srgbClr val="FBEBEA"/>
          </a:solidFill>
          <a:ln/>
        </p:spPr>
      </p:sp>
      <p:sp>
        <p:nvSpPr>
          <p:cNvPr id="179" name="Text 177"/>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29 stores under 15% have left $1,248,289 so far this year; 4 are at or above it. Toyota Spokane is furthest below at −$135K.</a:t>
            </a:r>
            <a:endParaRPr lang="en-US" sz="160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470240"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020648"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475726" y="1756697"/>
            <a:ext cx="648218"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+$195K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9" name="Shape 17"/>
          <p:cNvSpPr/>
          <p:nvPr/>
        </p:nvSpPr>
        <p:spPr>
          <a:xfrm>
            <a:off x="3475726" y="2005199"/>
            <a:ext cx="467053"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+$141K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20.6%</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4" name="Shape 22"/>
          <p:cNvSpPr/>
          <p:nvPr/>
        </p:nvSpPr>
        <p:spPr>
          <a:xfrm>
            <a:off x="3475726" y="2253700"/>
            <a:ext cx="168095"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+$51K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9" name="Shape 27"/>
          <p:cNvSpPr/>
          <p:nvPr/>
        </p:nvSpPr>
        <p:spPr>
          <a:xfrm>
            <a:off x="3475726" y="2502202"/>
            <a:ext cx="84155"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+$25K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4" name="Shape 32"/>
          <p:cNvSpPr/>
          <p:nvPr/>
        </p:nvSpPr>
        <p:spPr>
          <a:xfrm>
            <a:off x="3475726" y="2750703"/>
            <a:ext cx="81270" cy="136676"/>
          </a:xfrm>
          <a:prstGeom prst="rect">
            <a:avLst/>
          </a:prstGeom>
          <a:solidFill>
            <a:srgbClr val="12A566"/>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+$24K</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11.9%</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9" name="Shape 37"/>
          <p:cNvSpPr/>
          <p:nvPr/>
        </p:nvSpPr>
        <p:spPr>
          <a:xfrm>
            <a:off x="3475726" y="2999205"/>
            <a:ext cx="58927" cy="136676"/>
          </a:xfrm>
          <a:prstGeom prst="rect">
            <a:avLst/>
          </a:prstGeom>
          <a:solidFill>
            <a:srgbClr val="12A566"/>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+$18K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4" name="Shape 42"/>
          <p:cNvSpPr/>
          <p:nvPr/>
        </p:nvSpPr>
        <p:spPr>
          <a:xfrm>
            <a:off x="3475726" y="3247707"/>
            <a:ext cx="52299" cy="136676"/>
          </a:xfrm>
          <a:prstGeom prst="rect">
            <a:avLst/>
          </a:prstGeom>
          <a:solidFill>
            <a:srgbClr val="12A566"/>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+$16K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9" name="Shape 47"/>
          <p:cNvSpPr/>
          <p:nvPr/>
        </p:nvSpPr>
        <p:spPr>
          <a:xfrm>
            <a:off x="3475726" y="3496208"/>
            <a:ext cx="48881" cy="136676"/>
          </a:xfrm>
          <a:prstGeom prst="rect">
            <a:avLst/>
          </a:prstGeom>
          <a:solidFill>
            <a:srgbClr val="12A566"/>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+$15K</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4" name="Shape 52"/>
          <p:cNvSpPr/>
          <p:nvPr/>
        </p:nvSpPr>
        <p:spPr>
          <a:xfrm>
            <a:off x="3475726" y="3744710"/>
            <a:ext cx="39506" cy="136676"/>
          </a:xfrm>
          <a:prstGeom prst="rect">
            <a:avLst/>
          </a:prstGeom>
          <a:solidFill>
            <a:srgbClr val="12A566"/>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+$12K</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9" name="Shape 57"/>
          <p:cNvSpPr/>
          <p:nvPr/>
        </p:nvSpPr>
        <p:spPr>
          <a:xfrm>
            <a:off x="3475726" y="3993212"/>
            <a:ext cx="22119" cy="136676"/>
          </a:xfrm>
          <a:prstGeom prst="rect">
            <a:avLst/>
          </a:prstGeom>
          <a:solidFill>
            <a:srgbClr val="12A566"/>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4" name="Shape 62"/>
          <p:cNvSpPr/>
          <p:nvPr/>
        </p:nvSpPr>
        <p:spPr>
          <a:xfrm>
            <a:off x="3475726" y="4241713"/>
            <a:ext cx="18288" cy="136676"/>
          </a:xfrm>
          <a:prstGeom prst="rect">
            <a:avLst/>
          </a:prstGeom>
          <a:solidFill>
            <a:srgbClr val="12A566"/>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9" name="Shape 67"/>
          <p:cNvSpPr/>
          <p:nvPr/>
        </p:nvSpPr>
        <p:spPr>
          <a:xfrm>
            <a:off x="3475726" y="4490215"/>
            <a:ext cx="18288" cy="136676"/>
          </a:xfrm>
          <a:prstGeom prst="rect">
            <a:avLst/>
          </a:prstGeom>
          <a:solidFill>
            <a:srgbClr val="12A566"/>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4" name="Shape 72"/>
          <p:cNvSpPr/>
          <p:nvPr/>
        </p:nvSpPr>
        <p:spPr>
          <a:xfrm>
            <a:off x="3467487" y="4738717"/>
            <a:ext cx="18288"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9" name="Shape 77"/>
          <p:cNvSpPr/>
          <p:nvPr/>
        </p:nvSpPr>
        <p:spPr>
          <a:xfrm>
            <a:off x="3464806" y="4987218"/>
            <a:ext cx="18288"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4" name="Shape 82"/>
          <p:cNvSpPr/>
          <p:nvPr/>
        </p:nvSpPr>
        <p:spPr>
          <a:xfrm>
            <a:off x="3448532" y="5235720"/>
            <a:ext cx="27195"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9" name="Shape 87"/>
          <p:cNvSpPr/>
          <p:nvPr/>
        </p:nvSpPr>
        <p:spPr>
          <a:xfrm>
            <a:off x="3443206" y="5484222"/>
            <a:ext cx="32520"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4" name="Shape 92"/>
          <p:cNvSpPr/>
          <p:nvPr/>
        </p:nvSpPr>
        <p:spPr>
          <a:xfrm>
            <a:off x="3438055" y="5732723"/>
            <a:ext cx="37671"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9" name="Shape 97"/>
          <p:cNvSpPr/>
          <p:nvPr/>
        </p:nvSpPr>
        <p:spPr>
          <a:xfrm>
            <a:off x="8982059" y="1756697"/>
            <a:ext cx="44076"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4" name="Shape 102"/>
          <p:cNvSpPr/>
          <p:nvPr/>
        </p:nvSpPr>
        <p:spPr>
          <a:xfrm>
            <a:off x="8977096" y="2005199"/>
            <a:ext cx="49038"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9" name="Shape 107"/>
          <p:cNvSpPr/>
          <p:nvPr/>
        </p:nvSpPr>
        <p:spPr>
          <a:xfrm>
            <a:off x="8974752" y="2253700"/>
            <a:ext cx="51383"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4" name="Shape 112"/>
          <p:cNvSpPr/>
          <p:nvPr/>
        </p:nvSpPr>
        <p:spPr>
          <a:xfrm>
            <a:off x="8973015" y="2502202"/>
            <a:ext cx="53119"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19" name="Shape 117"/>
          <p:cNvSpPr/>
          <p:nvPr/>
        </p:nvSpPr>
        <p:spPr>
          <a:xfrm>
            <a:off x="8970285" y="2750703"/>
            <a:ext cx="55850"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24" name="Shape 122"/>
          <p:cNvSpPr/>
          <p:nvPr/>
        </p:nvSpPr>
        <p:spPr>
          <a:xfrm>
            <a:off x="8963737" y="2999205"/>
            <a:ext cx="62398"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9" name="Shape 127"/>
          <p:cNvSpPr/>
          <p:nvPr/>
        </p:nvSpPr>
        <p:spPr>
          <a:xfrm>
            <a:off x="8947585" y="3247707"/>
            <a:ext cx="78550"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4" name="Shape 132"/>
          <p:cNvSpPr/>
          <p:nvPr/>
        </p:nvSpPr>
        <p:spPr>
          <a:xfrm>
            <a:off x="8946049" y="3496208"/>
            <a:ext cx="80086"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39" name="Shape 137"/>
          <p:cNvSpPr/>
          <p:nvPr/>
        </p:nvSpPr>
        <p:spPr>
          <a:xfrm>
            <a:off x="8907086" y="3744710"/>
            <a:ext cx="119049"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−$36K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4" name="Shape 142"/>
          <p:cNvSpPr/>
          <p:nvPr/>
        </p:nvSpPr>
        <p:spPr>
          <a:xfrm>
            <a:off x="8895233" y="3993212"/>
            <a:ext cx="130901"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49" name="Shape 147"/>
          <p:cNvSpPr/>
          <p:nvPr/>
        </p:nvSpPr>
        <p:spPr>
          <a:xfrm>
            <a:off x="8884789" y="4241713"/>
            <a:ext cx="141346"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−$43K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54" name="Shape 152"/>
          <p:cNvSpPr/>
          <p:nvPr/>
        </p:nvSpPr>
        <p:spPr>
          <a:xfrm>
            <a:off x="8858308" y="4490215"/>
            <a:ext cx="167826"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9" name="Shape 157"/>
          <p:cNvSpPr/>
          <p:nvPr/>
        </p:nvSpPr>
        <p:spPr>
          <a:xfrm>
            <a:off x="8840630" y="4738717"/>
            <a:ext cx="185505"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4" name="Shape 162"/>
          <p:cNvSpPr/>
          <p:nvPr/>
        </p:nvSpPr>
        <p:spPr>
          <a:xfrm>
            <a:off x="8831965" y="4987218"/>
            <a:ext cx="194169"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69" name="Shape 167"/>
          <p:cNvSpPr/>
          <p:nvPr/>
        </p:nvSpPr>
        <p:spPr>
          <a:xfrm>
            <a:off x="8826849" y="5235720"/>
            <a:ext cx="199286"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74" name="Shape 172"/>
          <p:cNvSpPr/>
          <p:nvPr/>
        </p:nvSpPr>
        <p:spPr>
          <a:xfrm>
            <a:off x="8650224" y="5484222"/>
            <a:ext cx="375910"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−$113K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615696"/>
          </a:xfrm>
          <a:prstGeom prst="rect">
            <a:avLst/>
          </a:prstGeom>
          <a:solidFill>
            <a:srgbClr val="FBEBEA"/>
          </a:solidFill>
          <a:ln/>
        </p:spPr>
      </p:sp>
      <p:sp>
        <p:nvSpPr>
          <p:cNvPr id="179" name="Text 177"/>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21 stores under 10% have left $633,493 so far this year; 12 are at or above it. Chevy LV is furthest below at −$113K.</a:t>
            </a:r>
            <a:endParaRPr lang="en-US" sz="16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System Service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540063"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090471"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545549" y="1756697"/>
            <a:ext cx="578395"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+$138K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9" name="Shape 17"/>
          <p:cNvSpPr/>
          <p:nvPr/>
        </p:nvSpPr>
        <p:spPr>
          <a:xfrm>
            <a:off x="3545549" y="2005199"/>
            <a:ext cx="224689"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4" name="Shape 22"/>
          <p:cNvSpPr/>
          <p:nvPr/>
        </p:nvSpPr>
        <p:spPr>
          <a:xfrm>
            <a:off x="3545549" y="2253700"/>
            <a:ext cx="160950"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+$39K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9" name="Shape 27"/>
          <p:cNvSpPr/>
          <p:nvPr/>
        </p:nvSpPr>
        <p:spPr>
          <a:xfrm>
            <a:off x="3545549" y="2502202"/>
            <a:ext cx="41697"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9.3%</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4" name="Shape 32"/>
          <p:cNvSpPr/>
          <p:nvPr/>
        </p:nvSpPr>
        <p:spPr>
          <a:xfrm>
            <a:off x="3545549" y="2750703"/>
            <a:ext cx="36360" cy="136676"/>
          </a:xfrm>
          <a:prstGeom prst="rect">
            <a:avLst/>
          </a:prstGeom>
          <a:solidFill>
            <a:srgbClr val="12A566"/>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+$9K</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8.9%</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9" name="Shape 37"/>
          <p:cNvSpPr/>
          <p:nvPr/>
        </p:nvSpPr>
        <p:spPr>
          <a:xfrm>
            <a:off x="3545549" y="2999205"/>
            <a:ext cx="18288" cy="136676"/>
          </a:xfrm>
          <a:prstGeom prst="rect">
            <a:avLst/>
          </a:prstGeom>
          <a:solidFill>
            <a:srgbClr val="12A566"/>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4" name="Shape 42"/>
          <p:cNvSpPr/>
          <p:nvPr/>
        </p:nvSpPr>
        <p:spPr>
          <a:xfrm>
            <a:off x="3545549" y="3247707"/>
            <a:ext cx="18288" cy="136676"/>
          </a:xfrm>
          <a:prstGeom prst="rect">
            <a:avLst/>
          </a:prstGeom>
          <a:solidFill>
            <a:srgbClr val="12A566"/>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9" name="Shape 47"/>
          <p:cNvSpPr/>
          <p:nvPr/>
        </p:nvSpPr>
        <p:spPr>
          <a:xfrm>
            <a:off x="3541770" y="3496208"/>
            <a:ext cx="18288" cy="136676"/>
          </a:xfrm>
          <a:prstGeom prst="rect">
            <a:avLst/>
          </a:prstGeom>
          <a:solidFill>
            <a:srgbClr val="C2352F"/>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−$905</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513580" y="3744710"/>
            <a:ext cx="31969" cy="136676"/>
          </a:xfrm>
          <a:prstGeom prst="rect">
            <a:avLst/>
          </a:prstGeom>
          <a:solidFill>
            <a:srgbClr val="C2352F"/>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9" name="Shape 57"/>
          <p:cNvSpPr/>
          <p:nvPr/>
        </p:nvSpPr>
        <p:spPr>
          <a:xfrm>
            <a:off x="3505684" y="3993212"/>
            <a:ext cx="39865" cy="136676"/>
          </a:xfrm>
          <a:prstGeom prst="rect">
            <a:avLst/>
          </a:prstGeom>
          <a:solidFill>
            <a:srgbClr val="C2352F"/>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4" name="Shape 62"/>
          <p:cNvSpPr/>
          <p:nvPr/>
        </p:nvSpPr>
        <p:spPr>
          <a:xfrm>
            <a:off x="3488418" y="4241713"/>
            <a:ext cx="57131" cy="136676"/>
          </a:xfrm>
          <a:prstGeom prst="rect">
            <a:avLst/>
          </a:prstGeom>
          <a:solidFill>
            <a:srgbClr val="C2352F"/>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9" name="Shape 67"/>
          <p:cNvSpPr/>
          <p:nvPr/>
        </p:nvSpPr>
        <p:spPr>
          <a:xfrm>
            <a:off x="3486400" y="4490215"/>
            <a:ext cx="59150" cy="136676"/>
          </a:xfrm>
          <a:prstGeom prst="rect">
            <a:avLst/>
          </a:prstGeom>
          <a:solidFill>
            <a:srgbClr val="C2352F"/>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4" name="Shape 72"/>
          <p:cNvSpPr/>
          <p:nvPr/>
        </p:nvSpPr>
        <p:spPr>
          <a:xfrm>
            <a:off x="3479069" y="4738717"/>
            <a:ext cx="66480"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9" name="Shape 77"/>
          <p:cNvSpPr/>
          <p:nvPr/>
        </p:nvSpPr>
        <p:spPr>
          <a:xfrm>
            <a:off x="3470893" y="4987218"/>
            <a:ext cx="74656"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5.5%</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84" name="Shape 82"/>
          <p:cNvSpPr/>
          <p:nvPr/>
        </p:nvSpPr>
        <p:spPr>
          <a:xfrm>
            <a:off x="3467487" y="5235720"/>
            <a:ext cx="78062"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9" name="Shape 87"/>
          <p:cNvSpPr/>
          <p:nvPr/>
        </p:nvSpPr>
        <p:spPr>
          <a:xfrm>
            <a:off x="3463887" y="5484222"/>
            <a:ext cx="81662"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4" name="Shape 92"/>
          <p:cNvSpPr/>
          <p:nvPr/>
        </p:nvSpPr>
        <p:spPr>
          <a:xfrm>
            <a:off x="3455112" y="5732723"/>
            <a:ext cx="90437"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99" name="Shape 97"/>
          <p:cNvSpPr/>
          <p:nvPr/>
        </p:nvSpPr>
        <p:spPr>
          <a:xfrm>
            <a:off x="8990249" y="1756697"/>
            <a:ext cx="105708"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4" name="Shape 102"/>
          <p:cNvSpPr/>
          <p:nvPr/>
        </p:nvSpPr>
        <p:spPr>
          <a:xfrm>
            <a:off x="8952406" y="2005199"/>
            <a:ext cx="143551"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9" name="Shape 107"/>
          <p:cNvSpPr/>
          <p:nvPr/>
        </p:nvSpPr>
        <p:spPr>
          <a:xfrm>
            <a:off x="8934853" y="2253700"/>
            <a:ext cx="161104"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0.8%</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14" name="Shape 112"/>
          <p:cNvSpPr/>
          <p:nvPr/>
        </p:nvSpPr>
        <p:spPr>
          <a:xfrm>
            <a:off x="8920647" y="2502202"/>
            <a:ext cx="175310"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9" name="Shape 117"/>
          <p:cNvSpPr/>
          <p:nvPr/>
        </p:nvSpPr>
        <p:spPr>
          <a:xfrm>
            <a:off x="8920267" y="2750703"/>
            <a:ext cx="175690"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4" name="Shape 122"/>
          <p:cNvSpPr/>
          <p:nvPr/>
        </p:nvSpPr>
        <p:spPr>
          <a:xfrm>
            <a:off x="8908211" y="2999205"/>
            <a:ext cx="187746"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−$45K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0.7%</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29" name="Shape 127"/>
          <p:cNvSpPr/>
          <p:nvPr/>
        </p:nvSpPr>
        <p:spPr>
          <a:xfrm>
            <a:off x="8902495" y="3247707"/>
            <a:ext cx="193462"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−$46K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34" name="Shape 132"/>
          <p:cNvSpPr/>
          <p:nvPr/>
        </p:nvSpPr>
        <p:spPr>
          <a:xfrm>
            <a:off x="8901220" y="3496208"/>
            <a:ext cx="194737"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9" name="Shape 137"/>
          <p:cNvSpPr/>
          <p:nvPr/>
        </p:nvSpPr>
        <p:spPr>
          <a:xfrm>
            <a:off x="8896811" y="3744710"/>
            <a:ext cx="199146"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44" name="Shape 142"/>
          <p:cNvSpPr/>
          <p:nvPr/>
        </p:nvSpPr>
        <p:spPr>
          <a:xfrm>
            <a:off x="8891747" y="3993212"/>
            <a:ext cx="204210"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−$49K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49" name="Shape 147"/>
          <p:cNvSpPr/>
          <p:nvPr/>
        </p:nvSpPr>
        <p:spPr>
          <a:xfrm>
            <a:off x="8860792" y="4241713"/>
            <a:ext cx="235165"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4" name="Shape 152"/>
          <p:cNvSpPr/>
          <p:nvPr/>
        </p:nvSpPr>
        <p:spPr>
          <a:xfrm>
            <a:off x="8859151" y="4490215"/>
            <a:ext cx="236806"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−$57K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59" name="Shape 157"/>
          <p:cNvSpPr/>
          <p:nvPr/>
        </p:nvSpPr>
        <p:spPr>
          <a:xfrm>
            <a:off x="8830828" y="4738717"/>
            <a:ext cx="265129"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4" name="Shape 162"/>
          <p:cNvSpPr/>
          <p:nvPr/>
        </p:nvSpPr>
        <p:spPr>
          <a:xfrm>
            <a:off x="8754888" y="4987218"/>
            <a:ext cx="341069"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−$82K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9" name="Shape 167"/>
          <p:cNvSpPr/>
          <p:nvPr/>
        </p:nvSpPr>
        <p:spPr>
          <a:xfrm>
            <a:off x="8693205" y="5235720"/>
            <a:ext cx="402752"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−$96K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74" name="Shape 172"/>
          <p:cNvSpPr/>
          <p:nvPr/>
        </p:nvSpPr>
        <p:spPr>
          <a:xfrm>
            <a:off x="8650224" y="5484222"/>
            <a:ext cx="445733"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−$107K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615696"/>
          </a:xfrm>
          <a:prstGeom prst="rect">
            <a:avLst/>
          </a:prstGeom>
          <a:solidFill>
            <a:srgbClr val="FBEBEA"/>
          </a:solidFill>
          <a:ln/>
        </p:spPr>
      </p:sp>
      <p:sp>
        <p:nvSpPr>
          <p:cNvPr id="179" name="Text 177"/>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26 stores under 7.5% have left $1,017,661 so far this year; 7 are at or above it. Chevy LV is furthest below at −$107K.</a:t>
            </a:r>
            <a:endParaRPr lang="en-US" sz="16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Variance from Benchmark by Store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81888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Shape 5"/>
          <p:cNvSpPr/>
          <p:nvPr/>
        </p:nvSpPr>
        <p:spPr>
          <a:xfrm>
            <a:off x="3795511" y="1700784"/>
            <a:ext cx="10973" cy="4224528"/>
          </a:xfrm>
          <a:prstGeom prst="rect">
            <a:avLst/>
          </a:prstGeom>
          <a:solidFill>
            <a:srgbClr val="9AA3AD"/>
          </a:solidFill>
          <a:ln/>
        </p:spPr>
      </p:sp>
      <p:sp>
        <p:nvSpPr>
          <p:cNvPr id="8" name="Text 6"/>
          <p:cNvSpPr txBox="1"/>
          <p:nvPr/>
        </p:nvSpPr>
        <p:spPr>
          <a:xfrm>
            <a:off x="1036929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9" name="Shape 7"/>
          <p:cNvSpPr/>
          <p:nvPr/>
        </p:nvSpPr>
        <p:spPr>
          <a:xfrm>
            <a:off x="9345919" y="1700784"/>
            <a:ext cx="10973" cy="3976026"/>
          </a:xfrm>
          <a:prstGeom prst="rect">
            <a:avLst/>
          </a:prstGeom>
          <a:solidFill>
            <a:srgbClr val="9AA3AD"/>
          </a:solidFill>
          <a:ln/>
        </p:spPr>
      </p:sp>
      <p:sp>
        <p:nvSpPr>
          <p:cNvPr id="10" name="Text 8"/>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1" name="Text 9"/>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 name="Shape 10"/>
          <p:cNvSpPr/>
          <p:nvPr/>
        </p:nvSpPr>
        <p:spPr>
          <a:xfrm>
            <a:off x="3800997" y="1756697"/>
            <a:ext cx="963027" cy="136676"/>
          </a:xfrm>
          <a:prstGeom prst="rect">
            <a:avLst/>
          </a:prstGeom>
          <a:solidFill>
            <a:srgbClr val="12A566"/>
          </a:solidFill>
          <a:ln/>
        </p:spPr>
      </p:sp>
      <p:sp>
        <p:nvSpPr>
          <p:cNvPr id="13" name="Text 11"/>
          <p:cNvSpPr txBox="1"/>
          <p:nvPr/>
        </p:nvSpPr>
        <p:spPr>
          <a:xfrm>
            <a:off x="481888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+$557K</a:t>
            </a:r>
            <a:endParaRPr lang="en-US" sz="1300" dirty="0"/>
          </a:p>
        </p:txBody>
      </p:sp>
      <p:sp>
        <p:nvSpPr>
          <p:cNvPr id="14" name="Text 12"/>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5" name="Text 13"/>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3800997" y="2005199"/>
            <a:ext cx="260306" cy="136676"/>
          </a:xfrm>
          <a:prstGeom prst="rect">
            <a:avLst/>
          </a:prstGeom>
          <a:solidFill>
            <a:srgbClr val="12A566"/>
          </a:solidFill>
          <a:ln/>
        </p:spPr>
      </p:sp>
      <p:sp>
        <p:nvSpPr>
          <p:cNvPr id="17" name="Text 15"/>
          <p:cNvSpPr txBox="1"/>
          <p:nvPr/>
        </p:nvSpPr>
        <p:spPr>
          <a:xfrm>
            <a:off x="481888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+$151K</a:t>
            </a:r>
            <a:endParaRPr lang="en-US" sz="1300" dirty="0"/>
          </a:p>
        </p:txBody>
      </p:sp>
      <p:sp>
        <p:nvSpPr>
          <p:cNvPr id="18" name="Text 16"/>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19" name="Text 17"/>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0" name="Shape 18"/>
          <p:cNvSpPr/>
          <p:nvPr/>
        </p:nvSpPr>
        <p:spPr>
          <a:xfrm>
            <a:off x="3800997" y="2253700"/>
            <a:ext cx="92755" cy="136676"/>
          </a:xfrm>
          <a:prstGeom prst="rect">
            <a:avLst/>
          </a:prstGeom>
          <a:solidFill>
            <a:srgbClr val="12A566"/>
          </a:solidFill>
          <a:ln/>
        </p:spPr>
      </p:sp>
      <p:sp>
        <p:nvSpPr>
          <p:cNvPr id="21" name="Text 19"/>
          <p:cNvSpPr txBox="1"/>
          <p:nvPr/>
        </p:nvSpPr>
        <p:spPr>
          <a:xfrm>
            <a:off x="481888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22" name="Text 20"/>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3" name="Text 21"/>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4" name="Shape 22"/>
          <p:cNvSpPr/>
          <p:nvPr/>
        </p:nvSpPr>
        <p:spPr>
          <a:xfrm>
            <a:off x="3800997" y="2502202"/>
            <a:ext cx="77707" cy="136676"/>
          </a:xfrm>
          <a:prstGeom prst="rect">
            <a:avLst/>
          </a:prstGeom>
          <a:solidFill>
            <a:srgbClr val="12A566"/>
          </a:solidFill>
          <a:ln/>
        </p:spPr>
      </p:sp>
      <p:sp>
        <p:nvSpPr>
          <p:cNvPr id="25" name="Text 23"/>
          <p:cNvSpPr txBox="1"/>
          <p:nvPr/>
        </p:nvSpPr>
        <p:spPr>
          <a:xfrm>
            <a:off x="481888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+$45K</a:t>
            </a:r>
            <a:endParaRPr lang="en-US" sz="1300" dirty="0"/>
          </a:p>
        </p:txBody>
      </p:sp>
      <p:sp>
        <p:nvSpPr>
          <p:cNvPr id="26" name="Text 2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7" name="Text 25"/>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8" name="Shape 26"/>
          <p:cNvSpPr/>
          <p:nvPr/>
        </p:nvSpPr>
        <p:spPr>
          <a:xfrm>
            <a:off x="3800997" y="2750703"/>
            <a:ext cx="71427" cy="136676"/>
          </a:xfrm>
          <a:prstGeom prst="rect">
            <a:avLst/>
          </a:prstGeom>
          <a:solidFill>
            <a:srgbClr val="12A566"/>
          </a:solidFill>
          <a:ln/>
        </p:spPr>
      </p:sp>
      <p:sp>
        <p:nvSpPr>
          <p:cNvPr id="29" name="Text 27"/>
          <p:cNvSpPr txBox="1"/>
          <p:nvPr/>
        </p:nvSpPr>
        <p:spPr>
          <a:xfrm>
            <a:off x="481888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+$41K</a:t>
            </a:r>
            <a:endParaRPr lang="en-US" sz="1300" dirty="0"/>
          </a:p>
        </p:txBody>
      </p:sp>
      <p:sp>
        <p:nvSpPr>
          <p:cNvPr id="30" name="Text 28"/>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1" name="Text 29"/>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2" name="Shape 30"/>
          <p:cNvSpPr/>
          <p:nvPr/>
        </p:nvSpPr>
        <p:spPr>
          <a:xfrm>
            <a:off x="3800997" y="2999205"/>
            <a:ext cx="57698" cy="136676"/>
          </a:xfrm>
          <a:prstGeom prst="rect">
            <a:avLst/>
          </a:prstGeom>
          <a:solidFill>
            <a:srgbClr val="12A566"/>
          </a:solidFill>
          <a:ln/>
        </p:spPr>
      </p:sp>
      <p:sp>
        <p:nvSpPr>
          <p:cNvPr id="33" name="Text 31"/>
          <p:cNvSpPr txBox="1"/>
          <p:nvPr/>
        </p:nvSpPr>
        <p:spPr>
          <a:xfrm>
            <a:off x="481888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+$33K</a:t>
            </a:r>
            <a:endParaRPr lang="en-US" sz="1300" dirty="0"/>
          </a:p>
        </p:txBody>
      </p:sp>
      <p:sp>
        <p:nvSpPr>
          <p:cNvPr id="34" name="Text 32"/>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5" name="Text 33"/>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36" name="Shape 34"/>
          <p:cNvSpPr/>
          <p:nvPr/>
        </p:nvSpPr>
        <p:spPr>
          <a:xfrm>
            <a:off x="3800997" y="3247707"/>
            <a:ext cx="40337" cy="136676"/>
          </a:xfrm>
          <a:prstGeom prst="rect">
            <a:avLst/>
          </a:prstGeom>
          <a:solidFill>
            <a:srgbClr val="12A566"/>
          </a:solidFill>
          <a:ln/>
        </p:spPr>
      </p:sp>
      <p:sp>
        <p:nvSpPr>
          <p:cNvPr id="37" name="Text 35"/>
          <p:cNvSpPr txBox="1"/>
          <p:nvPr/>
        </p:nvSpPr>
        <p:spPr>
          <a:xfrm>
            <a:off x="481888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38" name="Text 36"/>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39" name="Text 37"/>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0" name="Shape 38"/>
          <p:cNvSpPr/>
          <p:nvPr/>
        </p:nvSpPr>
        <p:spPr>
          <a:xfrm>
            <a:off x="3762731" y="3496208"/>
            <a:ext cx="38266" cy="136676"/>
          </a:xfrm>
          <a:prstGeom prst="rect">
            <a:avLst/>
          </a:prstGeom>
          <a:solidFill>
            <a:srgbClr val="C2352F"/>
          </a:solidFill>
          <a:ln/>
        </p:spPr>
      </p:sp>
      <p:sp>
        <p:nvSpPr>
          <p:cNvPr id="41" name="Text 39"/>
          <p:cNvSpPr txBox="1"/>
          <p:nvPr/>
        </p:nvSpPr>
        <p:spPr>
          <a:xfrm>
            <a:off x="481888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42" name="Text 4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3" name="Text 4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4" name="Shape 42"/>
          <p:cNvSpPr/>
          <p:nvPr/>
        </p:nvSpPr>
        <p:spPr>
          <a:xfrm>
            <a:off x="3752270" y="3744710"/>
            <a:ext cx="48727" cy="136676"/>
          </a:xfrm>
          <a:prstGeom prst="rect">
            <a:avLst/>
          </a:prstGeom>
          <a:solidFill>
            <a:srgbClr val="C2352F"/>
          </a:solidFill>
          <a:ln/>
        </p:spPr>
      </p:sp>
      <p:sp>
        <p:nvSpPr>
          <p:cNvPr id="45" name="Text 43"/>
          <p:cNvSpPr txBox="1"/>
          <p:nvPr/>
        </p:nvSpPr>
        <p:spPr>
          <a:xfrm>
            <a:off x="481888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−$28K</a:t>
            </a:r>
            <a:endParaRPr lang="en-US" sz="1300" dirty="0"/>
          </a:p>
        </p:txBody>
      </p:sp>
      <p:sp>
        <p:nvSpPr>
          <p:cNvPr id="46" name="Text 4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7" name="Text 45"/>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8" name="Shape 46"/>
          <p:cNvSpPr/>
          <p:nvPr/>
        </p:nvSpPr>
        <p:spPr>
          <a:xfrm>
            <a:off x="3751591" y="3993212"/>
            <a:ext cx="49407" cy="136676"/>
          </a:xfrm>
          <a:prstGeom prst="rect">
            <a:avLst/>
          </a:prstGeom>
          <a:solidFill>
            <a:srgbClr val="C2352F"/>
          </a:solidFill>
          <a:ln/>
        </p:spPr>
      </p:sp>
      <p:sp>
        <p:nvSpPr>
          <p:cNvPr id="49" name="Text 47"/>
          <p:cNvSpPr txBox="1"/>
          <p:nvPr/>
        </p:nvSpPr>
        <p:spPr>
          <a:xfrm>
            <a:off x="481888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50" name="Text 48"/>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1" name="Text 49"/>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2" name="Shape 50"/>
          <p:cNvSpPr/>
          <p:nvPr/>
        </p:nvSpPr>
        <p:spPr>
          <a:xfrm>
            <a:off x="3745550" y="4241713"/>
            <a:ext cx="55448" cy="136676"/>
          </a:xfrm>
          <a:prstGeom prst="rect">
            <a:avLst/>
          </a:prstGeom>
          <a:solidFill>
            <a:srgbClr val="C2352F"/>
          </a:solidFill>
          <a:ln/>
        </p:spPr>
      </p:sp>
      <p:sp>
        <p:nvSpPr>
          <p:cNvPr id="53" name="Text 51"/>
          <p:cNvSpPr txBox="1"/>
          <p:nvPr/>
        </p:nvSpPr>
        <p:spPr>
          <a:xfrm>
            <a:off x="481888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54" name="Text 52"/>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5" name="Text 53"/>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6" name="Shape 54"/>
          <p:cNvSpPr/>
          <p:nvPr/>
        </p:nvSpPr>
        <p:spPr>
          <a:xfrm>
            <a:off x="3729945" y="4490215"/>
            <a:ext cx="71053" cy="136676"/>
          </a:xfrm>
          <a:prstGeom prst="rect">
            <a:avLst/>
          </a:prstGeom>
          <a:solidFill>
            <a:srgbClr val="C2352F"/>
          </a:solidFill>
          <a:ln/>
        </p:spPr>
      </p:sp>
      <p:sp>
        <p:nvSpPr>
          <p:cNvPr id="57" name="Text 55"/>
          <p:cNvSpPr txBox="1"/>
          <p:nvPr/>
        </p:nvSpPr>
        <p:spPr>
          <a:xfrm>
            <a:off x="481888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−$41K</a:t>
            </a:r>
            <a:endParaRPr lang="en-US" sz="1300" dirty="0"/>
          </a:p>
        </p:txBody>
      </p:sp>
      <p:sp>
        <p:nvSpPr>
          <p:cNvPr id="58" name="Text 56"/>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59" name="Text 57"/>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60" name="Shape 58"/>
          <p:cNvSpPr/>
          <p:nvPr/>
        </p:nvSpPr>
        <p:spPr>
          <a:xfrm>
            <a:off x="3718481" y="4738717"/>
            <a:ext cx="82517" cy="136676"/>
          </a:xfrm>
          <a:prstGeom prst="rect">
            <a:avLst/>
          </a:prstGeom>
          <a:solidFill>
            <a:srgbClr val="C2352F"/>
          </a:solidFill>
          <a:ln/>
        </p:spPr>
      </p:sp>
      <p:sp>
        <p:nvSpPr>
          <p:cNvPr id="61" name="Text 59"/>
          <p:cNvSpPr txBox="1"/>
          <p:nvPr/>
        </p:nvSpPr>
        <p:spPr>
          <a:xfrm>
            <a:off x="481888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62" name="Text 60"/>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3" name="Text 61"/>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4" name="Shape 62"/>
          <p:cNvSpPr/>
          <p:nvPr/>
        </p:nvSpPr>
        <p:spPr>
          <a:xfrm>
            <a:off x="3710263" y="4987218"/>
            <a:ext cx="90735" cy="136676"/>
          </a:xfrm>
          <a:prstGeom prst="rect">
            <a:avLst/>
          </a:prstGeom>
          <a:solidFill>
            <a:srgbClr val="C2352F"/>
          </a:solidFill>
          <a:ln/>
        </p:spPr>
      </p:sp>
      <p:sp>
        <p:nvSpPr>
          <p:cNvPr id="65" name="Text 63"/>
          <p:cNvSpPr txBox="1"/>
          <p:nvPr/>
        </p:nvSpPr>
        <p:spPr>
          <a:xfrm>
            <a:off x="481888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−$53K</a:t>
            </a:r>
            <a:endParaRPr lang="en-US" sz="1300" dirty="0"/>
          </a:p>
        </p:txBody>
      </p:sp>
      <p:sp>
        <p:nvSpPr>
          <p:cNvPr id="66" name="Text 6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7" name="Text 65"/>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8" name="Shape 66"/>
          <p:cNvSpPr/>
          <p:nvPr/>
        </p:nvSpPr>
        <p:spPr>
          <a:xfrm>
            <a:off x="3698735" y="5235720"/>
            <a:ext cx="102262" cy="136676"/>
          </a:xfrm>
          <a:prstGeom prst="rect">
            <a:avLst/>
          </a:prstGeom>
          <a:solidFill>
            <a:srgbClr val="C2352F"/>
          </a:solidFill>
          <a:ln/>
        </p:spPr>
      </p:sp>
      <p:sp>
        <p:nvSpPr>
          <p:cNvPr id="69" name="Text 67"/>
          <p:cNvSpPr txBox="1"/>
          <p:nvPr/>
        </p:nvSpPr>
        <p:spPr>
          <a:xfrm>
            <a:off x="481888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−$59K</a:t>
            </a:r>
            <a:endParaRPr lang="en-US" sz="1300" dirty="0"/>
          </a:p>
        </p:txBody>
      </p:sp>
      <p:sp>
        <p:nvSpPr>
          <p:cNvPr id="70" name="Text 68"/>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1" name="Text 69"/>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2" name="Shape 70"/>
          <p:cNvSpPr/>
          <p:nvPr/>
        </p:nvSpPr>
        <p:spPr>
          <a:xfrm>
            <a:off x="3697071" y="5484222"/>
            <a:ext cx="103926" cy="136676"/>
          </a:xfrm>
          <a:prstGeom prst="rect">
            <a:avLst/>
          </a:prstGeom>
          <a:solidFill>
            <a:srgbClr val="C2352F"/>
          </a:solidFill>
          <a:ln/>
        </p:spPr>
      </p:sp>
      <p:sp>
        <p:nvSpPr>
          <p:cNvPr id="73" name="Text 71"/>
          <p:cNvSpPr txBox="1"/>
          <p:nvPr/>
        </p:nvSpPr>
        <p:spPr>
          <a:xfrm>
            <a:off x="481888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74" name="Text 72"/>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5" name="Text 73"/>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6" name="Shape 74"/>
          <p:cNvSpPr/>
          <p:nvPr/>
        </p:nvSpPr>
        <p:spPr>
          <a:xfrm>
            <a:off x="3696290" y="5732723"/>
            <a:ext cx="104707" cy="136676"/>
          </a:xfrm>
          <a:prstGeom prst="rect">
            <a:avLst/>
          </a:prstGeom>
          <a:solidFill>
            <a:srgbClr val="C2352F"/>
          </a:solidFill>
          <a:ln/>
        </p:spPr>
      </p:sp>
      <p:sp>
        <p:nvSpPr>
          <p:cNvPr id="77" name="Text 75"/>
          <p:cNvSpPr txBox="1"/>
          <p:nvPr/>
        </p:nvSpPr>
        <p:spPr>
          <a:xfrm>
            <a:off x="481888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−$61K</a:t>
            </a:r>
            <a:endParaRPr lang="en-US" sz="1300" dirty="0"/>
          </a:p>
        </p:txBody>
      </p:sp>
      <p:sp>
        <p:nvSpPr>
          <p:cNvPr id="78" name="Text 76"/>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79" name="Text 77"/>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0" name="Shape 78"/>
          <p:cNvSpPr/>
          <p:nvPr/>
        </p:nvSpPr>
        <p:spPr>
          <a:xfrm>
            <a:off x="9237983" y="1756697"/>
            <a:ext cx="113423" cy="136676"/>
          </a:xfrm>
          <a:prstGeom prst="rect">
            <a:avLst/>
          </a:prstGeom>
          <a:solidFill>
            <a:srgbClr val="C2352F"/>
          </a:solidFill>
          <a:ln/>
        </p:spPr>
      </p:sp>
      <p:sp>
        <p:nvSpPr>
          <p:cNvPr id="81" name="Text 79"/>
          <p:cNvSpPr txBox="1"/>
          <p:nvPr/>
        </p:nvSpPr>
        <p:spPr>
          <a:xfrm>
            <a:off x="1036929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−$66K</a:t>
            </a:r>
            <a:endParaRPr lang="en-US" sz="1300" dirty="0"/>
          </a:p>
        </p:txBody>
      </p:sp>
      <p:sp>
        <p:nvSpPr>
          <p:cNvPr id="82" name="Text 8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3" name="Text 8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84" name="Shape 82"/>
          <p:cNvSpPr/>
          <p:nvPr/>
        </p:nvSpPr>
        <p:spPr>
          <a:xfrm>
            <a:off x="9188179" y="2005199"/>
            <a:ext cx="163227" cy="136676"/>
          </a:xfrm>
          <a:prstGeom prst="rect">
            <a:avLst/>
          </a:prstGeom>
          <a:solidFill>
            <a:srgbClr val="C2352F"/>
          </a:solidFill>
          <a:ln/>
        </p:spPr>
      </p:sp>
      <p:sp>
        <p:nvSpPr>
          <p:cNvPr id="85" name="Text 83"/>
          <p:cNvSpPr txBox="1"/>
          <p:nvPr/>
        </p:nvSpPr>
        <p:spPr>
          <a:xfrm>
            <a:off x="1036929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86" name="Text 8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7" name="Text 85"/>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8" name="Shape 86"/>
          <p:cNvSpPr/>
          <p:nvPr/>
        </p:nvSpPr>
        <p:spPr>
          <a:xfrm>
            <a:off x="9179400" y="2253700"/>
            <a:ext cx="172006" cy="136676"/>
          </a:xfrm>
          <a:prstGeom prst="rect">
            <a:avLst/>
          </a:prstGeom>
          <a:solidFill>
            <a:srgbClr val="C2352F"/>
          </a:solidFill>
          <a:ln/>
        </p:spPr>
      </p:sp>
      <p:sp>
        <p:nvSpPr>
          <p:cNvPr id="89" name="Text 87"/>
          <p:cNvSpPr txBox="1"/>
          <p:nvPr/>
        </p:nvSpPr>
        <p:spPr>
          <a:xfrm>
            <a:off x="1036929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90" name="Text 88"/>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1" name="Text 89"/>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2" name="Shape 90"/>
          <p:cNvSpPr/>
          <p:nvPr/>
        </p:nvSpPr>
        <p:spPr>
          <a:xfrm>
            <a:off x="9170174" y="2502202"/>
            <a:ext cx="181231" cy="136676"/>
          </a:xfrm>
          <a:prstGeom prst="rect">
            <a:avLst/>
          </a:prstGeom>
          <a:solidFill>
            <a:srgbClr val="C2352F"/>
          </a:solidFill>
          <a:ln/>
        </p:spPr>
      </p:sp>
      <p:sp>
        <p:nvSpPr>
          <p:cNvPr id="93" name="Text 91"/>
          <p:cNvSpPr txBox="1"/>
          <p:nvPr/>
        </p:nvSpPr>
        <p:spPr>
          <a:xfrm>
            <a:off x="1036929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94" name="Text 92"/>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5" name="Text 93"/>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6" name="Shape 94"/>
          <p:cNvSpPr/>
          <p:nvPr/>
        </p:nvSpPr>
        <p:spPr>
          <a:xfrm>
            <a:off x="9169305" y="2750703"/>
            <a:ext cx="182101" cy="136676"/>
          </a:xfrm>
          <a:prstGeom prst="rect">
            <a:avLst/>
          </a:prstGeom>
          <a:solidFill>
            <a:srgbClr val="C2352F"/>
          </a:solidFill>
          <a:ln/>
        </p:spPr>
      </p:sp>
      <p:sp>
        <p:nvSpPr>
          <p:cNvPr id="97" name="Text 95"/>
          <p:cNvSpPr txBox="1"/>
          <p:nvPr/>
        </p:nvSpPr>
        <p:spPr>
          <a:xfrm>
            <a:off x="1036929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98" name="Text 96"/>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99" name="Text 97"/>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0" name="Shape 98"/>
          <p:cNvSpPr/>
          <p:nvPr/>
        </p:nvSpPr>
        <p:spPr>
          <a:xfrm>
            <a:off x="9109792" y="2999205"/>
            <a:ext cx="241613" cy="136676"/>
          </a:xfrm>
          <a:prstGeom prst="rect">
            <a:avLst/>
          </a:prstGeom>
          <a:solidFill>
            <a:srgbClr val="C2352F"/>
          </a:solidFill>
          <a:ln/>
        </p:spPr>
      </p:sp>
      <p:sp>
        <p:nvSpPr>
          <p:cNvPr id="101" name="Text 99"/>
          <p:cNvSpPr txBox="1"/>
          <p:nvPr/>
        </p:nvSpPr>
        <p:spPr>
          <a:xfrm>
            <a:off x="1036929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−$140K</a:t>
            </a:r>
            <a:endParaRPr lang="en-US" sz="1300" dirty="0"/>
          </a:p>
        </p:txBody>
      </p:sp>
      <p:sp>
        <p:nvSpPr>
          <p:cNvPr id="102" name="Text 100"/>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3" name="Text 101"/>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4" name="Shape 102"/>
          <p:cNvSpPr/>
          <p:nvPr/>
        </p:nvSpPr>
        <p:spPr>
          <a:xfrm>
            <a:off x="9092573" y="3247707"/>
            <a:ext cx="258833" cy="136676"/>
          </a:xfrm>
          <a:prstGeom prst="rect">
            <a:avLst/>
          </a:prstGeom>
          <a:solidFill>
            <a:srgbClr val="C2352F"/>
          </a:solidFill>
          <a:ln/>
        </p:spPr>
      </p:sp>
      <p:sp>
        <p:nvSpPr>
          <p:cNvPr id="105" name="Text 103"/>
          <p:cNvSpPr txBox="1"/>
          <p:nvPr/>
        </p:nvSpPr>
        <p:spPr>
          <a:xfrm>
            <a:off x="1036929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06" name="Text 10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7" name="Text 105"/>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8" name="Shape 106"/>
          <p:cNvSpPr/>
          <p:nvPr/>
        </p:nvSpPr>
        <p:spPr>
          <a:xfrm>
            <a:off x="9092243" y="3496208"/>
            <a:ext cx="259162" cy="136676"/>
          </a:xfrm>
          <a:prstGeom prst="rect">
            <a:avLst/>
          </a:prstGeom>
          <a:solidFill>
            <a:srgbClr val="C2352F"/>
          </a:solidFill>
          <a:ln/>
        </p:spPr>
      </p:sp>
      <p:sp>
        <p:nvSpPr>
          <p:cNvPr id="109" name="Text 107"/>
          <p:cNvSpPr txBox="1"/>
          <p:nvPr/>
        </p:nvSpPr>
        <p:spPr>
          <a:xfrm>
            <a:off x="1036929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10" name="Text 108"/>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1" name="Text 109"/>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2" name="Shape 110"/>
          <p:cNvSpPr/>
          <p:nvPr/>
        </p:nvSpPr>
        <p:spPr>
          <a:xfrm>
            <a:off x="9072005" y="3744710"/>
            <a:ext cx="279401" cy="136676"/>
          </a:xfrm>
          <a:prstGeom prst="rect">
            <a:avLst/>
          </a:prstGeom>
          <a:solidFill>
            <a:srgbClr val="C2352F"/>
          </a:solidFill>
          <a:ln/>
        </p:spPr>
      </p:sp>
      <p:sp>
        <p:nvSpPr>
          <p:cNvPr id="113" name="Text 111"/>
          <p:cNvSpPr txBox="1"/>
          <p:nvPr/>
        </p:nvSpPr>
        <p:spPr>
          <a:xfrm>
            <a:off x="1036929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−$162K</a:t>
            </a:r>
            <a:endParaRPr lang="en-US" sz="1300" dirty="0"/>
          </a:p>
        </p:txBody>
      </p:sp>
      <p:sp>
        <p:nvSpPr>
          <p:cNvPr id="114" name="Text 112"/>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5" name="Text 113"/>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6" name="Shape 114"/>
          <p:cNvSpPr/>
          <p:nvPr/>
        </p:nvSpPr>
        <p:spPr>
          <a:xfrm>
            <a:off x="9049807" y="3993212"/>
            <a:ext cx="301599" cy="136676"/>
          </a:xfrm>
          <a:prstGeom prst="rect">
            <a:avLst/>
          </a:prstGeom>
          <a:solidFill>
            <a:srgbClr val="C2352F"/>
          </a:solidFill>
          <a:ln/>
        </p:spPr>
      </p:sp>
      <p:sp>
        <p:nvSpPr>
          <p:cNvPr id="117" name="Text 115"/>
          <p:cNvSpPr txBox="1"/>
          <p:nvPr/>
        </p:nvSpPr>
        <p:spPr>
          <a:xfrm>
            <a:off x="1036929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−$175K</a:t>
            </a:r>
            <a:endParaRPr lang="en-US" sz="1300" dirty="0"/>
          </a:p>
        </p:txBody>
      </p:sp>
      <p:sp>
        <p:nvSpPr>
          <p:cNvPr id="118" name="Text 116"/>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19" name="Text 117"/>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20" name="Shape 118"/>
          <p:cNvSpPr/>
          <p:nvPr/>
        </p:nvSpPr>
        <p:spPr>
          <a:xfrm>
            <a:off x="9034236" y="4241713"/>
            <a:ext cx="317170" cy="136676"/>
          </a:xfrm>
          <a:prstGeom prst="rect">
            <a:avLst/>
          </a:prstGeom>
          <a:solidFill>
            <a:srgbClr val="C2352F"/>
          </a:solidFill>
          <a:ln/>
        </p:spPr>
      </p:sp>
      <p:sp>
        <p:nvSpPr>
          <p:cNvPr id="121" name="Text 119"/>
          <p:cNvSpPr txBox="1"/>
          <p:nvPr/>
        </p:nvSpPr>
        <p:spPr>
          <a:xfrm>
            <a:off x="1036929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−$184K</a:t>
            </a:r>
            <a:endParaRPr lang="en-US" sz="1300" dirty="0"/>
          </a:p>
        </p:txBody>
      </p:sp>
      <p:sp>
        <p:nvSpPr>
          <p:cNvPr id="122" name="Text 12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3" name="Text 12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24" name="Shape 122"/>
          <p:cNvSpPr/>
          <p:nvPr/>
        </p:nvSpPr>
        <p:spPr>
          <a:xfrm>
            <a:off x="9031867" y="4490215"/>
            <a:ext cx="319539" cy="136676"/>
          </a:xfrm>
          <a:prstGeom prst="rect">
            <a:avLst/>
          </a:prstGeom>
          <a:solidFill>
            <a:srgbClr val="C2352F"/>
          </a:solidFill>
          <a:ln/>
        </p:spPr>
      </p:sp>
      <p:sp>
        <p:nvSpPr>
          <p:cNvPr id="125" name="Text 123"/>
          <p:cNvSpPr txBox="1"/>
          <p:nvPr/>
        </p:nvSpPr>
        <p:spPr>
          <a:xfrm>
            <a:off x="1036929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−$185K</a:t>
            </a:r>
            <a:endParaRPr lang="en-US" sz="1300" dirty="0"/>
          </a:p>
        </p:txBody>
      </p:sp>
      <p:sp>
        <p:nvSpPr>
          <p:cNvPr id="126" name="Text 12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7" name="Text 125"/>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8" name="Shape 126"/>
          <p:cNvSpPr/>
          <p:nvPr/>
        </p:nvSpPr>
        <p:spPr>
          <a:xfrm>
            <a:off x="8959526" y="4738717"/>
            <a:ext cx="391880" cy="136676"/>
          </a:xfrm>
          <a:prstGeom prst="rect">
            <a:avLst/>
          </a:prstGeom>
          <a:solidFill>
            <a:srgbClr val="C2352F"/>
          </a:solidFill>
          <a:ln/>
        </p:spPr>
      </p:sp>
      <p:sp>
        <p:nvSpPr>
          <p:cNvPr id="129" name="Text 127"/>
          <p:cNvSpPr txBox="1"/>
          <p:nvPr/>
        </p:nvSpPr>
        <p:spPr>
          <a:xfrm>
            <a:off x="1036929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−$227K</a:t>
            </a:r>
            <a:endParaRPr lang="en-US" sz="1300" dirty="0"/>
          </a:p>
        </p:txBody>
      </p:sp>
      <p:sp>
        <p:nvSpPr>
          <p:cNvPr id="130" name="Text 128"/>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1" name="Text 129"/>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32" name="Shape 130"/>
          <p:cNvSpPr/>
          <p:nvPr/>
        </p:nvSpPr>
        <p:spPr>
          <a:xfrm>
            <a:off x="8890482" y="4987218"/>
            <a:ext cx="460924" cy="136676"/>
          </a:xfrm>
          <a:prstGeom prst="rect">
            <a:avLst/>
          </a:prstGeom>
          <a:solidFill>
            <a:srgbClr val="C2352F"/>
          </a:solidFill>
          <a:ln/>
        </p:spPr>
      </p:sp>
      <p:sp>
        <p:nvSpPr>
          <p:cNvPr id="133" name="Text 131"/>
          <p:cNvSpPr txBox="1"/>
          <p:nvPr/>
        </p:nvSpPr>
        <p:spPr>
          <a:xfrm>
            <a:off x="1036929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−$267K</a:t>
            </a:r>
            <a:endParaRPr lang="en-US" sz="1300" dirty="0"/>
          </a:p>
        </p:txBody>
      </p:sp>
      <p:sp>
        <p:nvSpPr>
          <p:cNvPr id="134" name="Text 132"/>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5" name="Text 133"/>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36" name="Shape 134"/>
          <p:cNvSpPr/>
          <p:nvPr/>
        </p:nvSpPr>
        <p:spPr>
          <a:xfrm>
            <a:off x="8735965" y="5235720"/>
            <a:ext cx="615441" cy="136676"/>
          </a:xfrm>
          <a:prstGeom prst="rect">
            <a:avLst/>
          </a:prstGeom>
          <a:solidFill>
            <a:srgbClr val="C2352F"/>
          </a:solidFill>
          <a:ln/>
        </p:spPr>
      </p:sp>
      <p:sp>
        <p:nvSpPr>
          <p:cNvPr id="137" name="Text 135"/>
          <p:cNvSpPr txBox="1"/>
          <p:nvPr/>
        </p:nvSpPr>
        <p:spPr>
          <a:xfrm>
            <a:off x="1036929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−$356K</a:t>
            </a:r>
            <a:endParaRPr lang="en-US" sz="1300" dirty="0"/>
          </a:p>
        </p:txBody>
      </p:sp>
      <p:sp>
        <p:nvSpPr>
          <p:cNvPr id="138" name="Text 136"/>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39" name="Text 137"/>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0" name="Shape 138"/>
          <p:cNvSpPr/>
          <p:nvPr/>
        </p:nvSpPr>
        <p:spPr>
          <a:xfrm>
            <a:off x="8650224" y="5484222"/>
            <a:ext cx="701181" cy="136676"/>
          </a:xfrm>
          <a:prstGeom prst="rect">
            <a:avLst/>
          </a:prstGeom>
          <a:solidFill>
            <a:srgbClr val="C2352F"/>
          </a:solidFill>
          <a:ln/>
        </p:spPr>
      </p:sp>
      <p:sp>
        <p:nvSpPr>
          <p:cNvPr id="141" name="Text 139"/>
          <p:cNvSpPr txBox="1"/>
          <p:nvPr/>
        </p:nvSpPr>
        <p:spPr>
          <a:xfrm>
            <a:off x="1036929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−$406K</a:t>
            </a:r>
            <a:endParaRPr lang="en-US" sz="1300" dirty="0"/>
          </a:p>
        </p:txBody>
      </p:sp>
      <p:sp>
        <p:nvSpPr>
          <p:cNvPr id="142" name="Shape 140"/>
          <p:cNvSpPr/>
          <p:nvPr/>
        </p:nvSpPr>
        <p:spPr>
          <a:xfrm>
            <a:off x="6085332" y="1700784"/>
            <a:ext cx="10973" cy="4224528"/>
          </a:xfrm>
          <a:prstGeom prst="rect">
            <a:avLst/>
          </a:prstGeom>
          <a:solidFill>
            <a:srgbClr val="D9D9D9"/>
          </a:solidFill>
          <a:ln/>
        </p:spPr>
      </p:sp>
      <p:sp>
        <p:nvSpPr>
          <p:cNvPr id="143" name="Shape 141"/>
          <p:cNvSpPr/>
          <p:nvPr/>
        </p:nvSpPr>
        <p:spPr>
          <a:xfrm>
            <a:off x="457200" y="6126480"/>
            <a:ext cx="11274552" cy="615696"/>
          </a:xfrm>
          <a:prstGeom prst="rect">
            <a:avLst/>
          </a:prstGeom>
          <a:solidFill>
            <a:srgbClr val="FBEBEA"/>
          </a:solidFill>
          <a:ln/>
        </p:spPr>
      </p:sp>
      <p:sp>
        <p:nvSpPr>
          <p:cNvPr id="144" name="Text 14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Toyota Spokane is furthest below at −$406K so far this year; 7 of 33 stores are ahead of benchmark across the four services. 15 stores are under all four.</a:t>
            </a:r>
            <a:endParaRPr lang="en-US" sz="160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Pay Plans Are Work Instructions</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and easily understood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Based on customer-pay performance: CP labor or gross per RO, hours per RO, maintenance penetration, total sales or gross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Incentivize improvement in the metrics that make the biggest difference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Move technicians to flat rate and away from hourly: it rewards productivity and makes proficiency easy to track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Service advisors: about half of pay earned on performance. If the base is 6% of gross, another 6% is there to earn by hitting the metrics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system is perfectly designed to get the results it gets</a:t>
            </a:r>
            <a:endParaRPr lang="en-US" sz="1800" dirty="0"/>
          </a:p>
        </p:txBody>
      </p:sp>
      <p:sp>
        <p:nvSpPr>
          <p:cNvPr id="10" name="Shape 8"/>
          <p:cNvSpPr/>
          <p:nvPr/>
        </p:nvSpPr>
        <p:spPr>
          <a:xfrm>
            <a:off x="7269480" y="1920240"/>
            <a:ext cx="54864" cy="178308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the number the plans should pay on. Up $17.</a:t>
            </a:r>
            <a:endParaRPr lang="en-US" sz="1400" dirty="0"/>
          </a:p>
        </p:txBody>
      </p:sp>
      <p:sp>
        <p:nvSpPr>
          <p:cNvPr id="13" name="Shape 11"/>
          <p:cNvSpPr/>
          <p:nvPr/>
        </p:nvSpPr>
        <p:spPr>
          <a:xfrm>
            <a:off x="7269480" y="3931920"/>
            <a:ext cx="54864" cy="1783080"/>
          </a:xfrm>
          <a:prstGeom prst="rect">
            <a:avLst/>
          </a:prstGeom>
          <a:solidFill>
            <a:srgbClr val="12A566"/>
          </a:solidFill>
          <a:ln/>
        </p:spPr>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94.7%</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Technician proficiency, Jan-Sep: 20 of 33 stores at or above 85%. Flat-rate pay rewards what techs produce.</a:t>
            </a:r>
            <a:endParaRPr lang="en-US" sz="1400" dirty="0"/>
          </a:p>
        </p:txBody>
      </p:sp>
      <p:sp>
        <p:nvSpPr>
          <p:cNvPr id="16" name="Shape 14"/>
          <p:cNvSpPr/>
          <p:nvPr/>
        </p:nvSpPr>
        <p:spPr>
          <a:xfrm>
            <a:off x="457200" y="6126480"/>
            <a:ext cx="11274552" cy="371856"/>
          </a:xfrm>
          <a:prstGeom prst="rect">
            <a:avLst/>
          </a:prstGeom>
          <a:solidFill>
            <a:srgbClr val="EDF4FA"/>
          </a:solidFill>
          <a:ln/>
        </p:spPr>
      </p:sp>
      <p:sp>
        <p:nvSpPr>
          <p:cNvPr id="17" name="Text 1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check that every advisor and tech pay plan pays for the numbers on these slides.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