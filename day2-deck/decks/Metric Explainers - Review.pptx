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
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
$4,543,691 = 0.1 x 279,756 CP ROs (27,976 hours) x $162.42 CP ELR (on the Hours per RO data slide). Slide rounds to $162 and $4.5M so the room can follow it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
Roundtable worked example removed from the slide (Noah, Oct 21).
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
1.87 x $162.42 = $303.73, which rounds to the $304 on the data slide. Parts line (Noah, Oct 23: the parts $ per RO section is out of the deck, so the link lives here): CP parts per RO $228.50 -&gt; $237.96 Jan-Sep 2025 -&gt; 2026 while CP labor per RO rose $286.67 -&gt; $303.72 (Qlik Closed RO, m5.json).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 per 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
Example (Noah, Oct 23: replaces the Roundtable table): one CP hour at the group's Jan-Sep 2026 averages, $162.42 ELR, $31.21 tech cost per hour sold, $131.21 kept = 80.8%; rounded on the slide.
Oct 23 (Noah): The Goldilocks Margin talking point is folded into this slide (it repeated it): no Goldilocks or Roundtable wording; its ask (match the tech to the job, not squeeze tech pay) is the first Why It Matters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
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
5 reasons parts gross profit % matters (Noah, Oct 26): (1) Maximizes profitability: higher GP % earns more from the same volume; small improvements add up over a year. (2) Measures pricing effectiveness: are parts sold at the right prices; where to improve matrices, discounts and markups. (3) Controls discounts and cost increases: shows when discounting cuts profit, and when rising parts costs are not reflected in selling prices. (4) Supports dealership profit: parts gross covers department expenses, adds to net profit and helps fixed ops absorb store overhead. (5) Identifies opportunities: compare against targets, history and other stores; find weak categories (customer pay, wholesale, warranty, internal). Takeaway: parts GP % measures how well we turn parts sales into profit; raising it is one of the most direct ways to grow profit without more volume.
37 cents (Oct 26): P&amp;L Detail, Jan-Sep 2026 same-store, parts department profit $22.75M / parts gross $61.93M = 36.7% (2025 37.1%); service 21.8% (2025 18.9%); new and used lose money at the department level; parts beats service in 31 of 33 stores (not Honda Henderson, VW Henderson). F&amp;I income less F&amp;I commissions is higher (about 80%) but F&amp;I is not a P&amp;L department and its other costs sit in new and used, so say 'department'. Department view: about $87M of other income (doc fees, packs, factory money, holdback) is booked outside the departments.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Fixed Ops Absorption %.
P&amp;L definition: line 254 Total Gross Profit - Fixed Ops / line 258 Fixed Expenses (the stored line 257 returns a dollar value, so the slide derives it). GMC Prescott includes its body shop, as on the P&amp;L.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
P&amp;L Detail statement: DEPARTMENT PROFIT OR LOSS / GROSS PROFIT / INCOME, Mechanical Dept (service) and P&amp;A Dept (parts).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
Denominator: CP ROs on the op code report basis (excluding ROs flagged out of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
Proficiency uses ADP worked hours (regular + overtime), so it includes time not on an RO. Efficiency would use DMS time punched on jobs, which this data does not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right after 'Technician Proficiency' (explainer).
Period: pay periods Dec 25, 2025 to Oct 9, 2026, matched by tech number, all pay types; labelled Jan-Sep 2026 YTD on the slide (Noah, Oct 26: closest the pay periods allow).
Rules as applied on the proficiency slides (Oct 16 2026). Express techs at stores that pool express hours are mostly excluded by the 10%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
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Standard service-department definitions. Proficiency on the store slides = Qlik sold hours ÷ ADP regular + overtime hours. Efficiency and productivity need DMS time clocked on ROs, which this data does not include, so they are defined here but not measured.PLACE: right after the Technician Proficiency explainer, before How We Measured It (Noah, Oct 27).
Talk track: proficiency is the one we measure; efficiency and productivity explain why it is low. High efficiency with low proficiency means the tech is waiting. 'Productivity' here is the technician measure, not the Fixed Ops Productivity section (gross and ROs per employee).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parts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parts sold through the service drive, per visit.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Parts follow labor: sell the hour and the parts come with it.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adds parts gross on the same car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Luxury stores run more than twice the rest, so compare a store with its own segment.</a:t>
            </a:r>
            <a:endParaRPr lang="en-US" sz="1600" dirty="0"/>
          </a:p>
        </p:txBody>
      </p:sp>
      <p:sp>
        <p:nvSpPr>
          <p:cNvPr id="13" name="Shape 11"/>
          <p:cNvSpPr/>
          <p:nvPr/>
        </p:nvSpPr>
        <p:spPr>
          <a:xfrm>
            <a:off x="5138928" y="2843784"/>
            <a:ext cx="45720" cy="1417320"/>
          </a:xfrm>
          <a:prstGeom prst="rect">
            <a:avLst/>
          </a:prstGeom>
          <a:solidFill>
            <a:srgbClr val="2587C5"/>
          </a:solidFill>
          <a:ln/>
        </p:spPr>
      </p:sp>
      <p:sp>
        <p:nvSpPr>
          <p:cNvPr id="14" name="Text 12"/>
          <p:cNvSpPr txBox="1"/>
          <p:nvPr/>
        </p:nvSpPr>
        <p:spPr>
          <a:xfrm>
            <a:off x="5266944"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Hours per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repair and maintenance hours carry more parts</a:t>
            </a:r>
            <a:endParaRPr lang="en-US" sz="1400" dirty="0"/>
          </a:p>
        </p:txBody>
      </p:sp>
      <p:sp>
        <p:nvSpPr>
          <p:cNvPr id="15" name="Shape 13"/>
          <p:cNvSpPr/>
          <p:nvPr/>
        </p:nvSpPr>
        <p:spPr>
          <a:xfrm>
            <a:off x="8394192" y="2843784"/>
            <a:ext cx="45720" cy="1417320"/>
          </a:xfrm>
          <a:prstGeom prst="rect">
            <a:avLst/>
          </a:prstGeom>
          <a:solidFill>
            <a:srgbClr val="2587C5"/>
          </a:solidFill>
          <a:ln/>
        </p:spPr>
      </p:sp>
      <p:sp>
        <p:nvSpPr>
          <p:cNvPr id="16" name="Text 14"/>
          <p:cNvSpPr txBox="1"/>
          <p:nvPr/>
        </p:nvSpPr>
        <p:spPr>
          <a:xfrm>
            <a:off x="8522208" y="2843784"/>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bundles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Group-priced maintenance parts for dealer and customer</a:t>
            </a:r>
            <a:endParaRPr lang="en-US" sz="1400" dirty="0"/>
          </a:p>
        </p:txBody>
      </p:sp>
      <p:sp>
        <p:nvSpPr>
          <p:cNvPr id="17" name="Shape 15"/>
          <p:cNvSpPr/>
          <p:nvPr/>
        </p:nvSpPr>
        <p:spPr>
          <a:xfrm>
            <a:off x="5138928" y="4370832"/>
            <a:ext cx="45720" cy="1417320"/>
          </a:xfrm>
          <a:prstGeom prst="rect">
            <a:avLst/>
          </a:prstGeom>
          <a:solidFill>
            <a:srgbClr val="2587C5"/>
          </a:solidFill>
          <a:ln/>
        </p:spPr>
      </p:sp>
      <p:sp>
        <p:nvSpPr>
          <p:cNvPr id="18" name="Text 16"/>
          <p:cNvSpPr txBox="1"/>
          <p:nvPr/>
        </p:nvSpPr>
        <p:spPr>
          <a:xfrm>
            <a:off x="5266944"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we charge relative to cost</a:t>
            </a:r>
            <a:endParaRPr lang="en-US" sz="1400" dirty="0"/>
          </a:p>
        </p:txBody>
      </p:sp>
      <p:sp>
        <p:nvSpPr>
          <p:cNvPr id="19" name="Shape 17"/>
          <p:cNvSpPr/>
          <p:nvPr/>
        </p:nvSpPr>
        <p:spPr>
          <a:xfrm>
            <a:off x="8394192" y="4370832"/>
            <a:ext cx="45720" cy="1417320"/>
          </a:xfrm>
          <a:prstGeom prst="rect">
            <a:avLst/>
          </a:prstGeom>
          <a:solidFill>
            <a:srgbClr val="2587C5"/>
          </a:solidFill>
          <a:ln/>
        </p:spPr>
      </p:sp>
      <p:sp>
        <p:nvSpPr>
          <p:cNvPr id="20" name="Text 18"/>
          <p:cNvSpPr txBox="1"/>
          <p:nvPr/>
        </p:nvSpPr>
        <p:spPr>
          <a:xfrm>
            <a:off x="8522208" y="4370832"/>
            <a:ext cx="2962656" cy="1417320"/>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Staging and special orders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ready at the bay; special orders followed up</a:t>
            </a:r>
            <a:endParaRPr lang="en-US" sz="1400" dirty="0"/>
          </a:p>
        </p:txBody>
      </p:sp>
      <p:sp>
        <p:nvSpPr>
          <p:cNvPr id="21" name="Shape 19"/>
          <p:cNvSpPr/>
          <p:nvPr/>
        </p:nvSpPr>
        <p:spPr>
          <a:xfrm>
            <a:off x="457200" y="6126480"/>
            <a:ext cx="11274552" cy="371856"/>
          </a:xfrm>
          <a:prstGeom prst="rect">
            <a:avLst/>
          </a:prstGeom>
          <a:solidFill>
            <a:srgbClr val="E6F6EE"/>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$238 CP parts per RO, up $9 and ahead of 2025 in all nine months.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which can cost us technicians and hurt retention.</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less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keeps about 37¢ of every gross dollar after its own expenses, the most of any department (service 22¢): margin goes almost straight to the bottom line.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whether parts sell at the right price: matrix, markups and discounts.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flags heavy discounting, or cost increases we have not passed on.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5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and actively manage your parts GP %: know where you stand and adjust as needed</a:t>
            </a:r>
            <a:endParaRPr lang="en-US" sz="1400" dirty="0"/>
          </a:p>
        </p:txBody>
      </p:sp>
      <p:sp>
        <p:nvSpPr>
          <p:cNvPr id="25" name="Shape 23"/>
          <p:cNvSpPr/>
          <p:nvPr/>
        </p:nvSpPr>
        <p:spPr>
          <a:xfrm>
            <a:off x="457200" y="6126480"/>
            <a:ext cx="11274552" cy="371856"/>
          </a:xfrm>
          <a:prstGeom prst="rect">
            <a:avLst/>
          </a:prstGeom>
          <a:solidFill>
            <a:srgbClr val="E6F6EE"/>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Fixed ops 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Everything on the customer-pay slides: ROs, hours, ELR, margin</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Store 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whole store's rent, facility and other fixed costs</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Warranty and internal</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Gross from warranty and reconditioning counts too</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Counter and wholesale parts gross counts as well</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January through September 2026, year to date.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technicians and express technicians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team leaders and shop foremen</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Everyone whose job is to produce sold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Not counted: body shop, detail and tint</a:t>
            </a:r>
            <a:endParaRPr lang="en-US" sz="15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940 hours keyed on a single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tech numbers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Example: hours flagged to a shop code like 999, not a person</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Efficiency and Productivity</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713232" y="1481328"/>
            <a:ext cx="3453384" cy="3017520"/>
          </a:xfrm>
          <a:prstGeom prst="rect">
            <a:avLst/>
          </a:prstGeom>
          <a:solidFill>
            <a:srgbClr val="F7F7F7"/>
          </a:solidFill>
          <a:ln/>
        </p:spPr>
      </p:sp>
      <p:sp>
        <p:nvSpPr>
          <p:cNvPr id="7" name="Shape 5"/>
          <p:cNvSpPr/>
          <p:nvPr/>
        </p:nvSpPr>
        <p:spPr>
          <a:xfrm>
            <a:off x="713232" y="1481328"/>
            <a:ext cx="3453384" cy="64008"/>
          </a:xfrm>
          <a:prstGeom prst="rect">
            <a:avLst/>
          </a:prstGeom>
          <a:solidFill>
            <a:srgbClr val="2587C5"/>
          </a:solidFill>
          <a:ln/>
        </p:spPr>
      </p:sp>
      <p:sp>
        <p:nvSpPr>
          <p:cNvPr id="8" name="Text 6"/>
          <p:cNvSpPr txBox="1"/>
          <p:nvPr/>
        </p:nvSpPr>
        <p:spPr>
          <a:xfrm>
            <a:off x="896112" y="1691640"/>
            <a:ext cx="3087624"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PROFICIENCY</a:t>
            </a:r>
            <a:endParaRPr lang="en-US" sz="1400" dirty="0"/>
          </a:p>
        </p:txBody>
      </p:sp>
      <p:sp>
        <p:nvSpPr>
          <p:cNvPr id="9" name="Text 7"/>
          <p:cNvSpPr txBox="1"/>
          <p:nvPr/>
        </p:nvSpPr>
        <p:spPr>
          <a:xfrm>
            <a:off x="896112" y="2286000"/>
            <a:ext cx="3087624" cy="868680"/>
          </a:xfrm>
          <a:prstGeom prst="rect">
            <a:avLst/>
          </a:prstGeom>
          <a:noFill/>
          <a:ln/>
        </p:spPr>
        <p:txBody>
          <a:bodyPr wrap="square" lIns="0" tIns="0" rIns="0" bIns="0" rtlCol="0" anchor="ctr">
            <a:normAutofit/>
          </a:bodyPr>
          <a:lstStyle/>
          <a:p>
            <a:pPr indent="0" marL="0">
              <a:buNone/>
            </a:pPr>
            <a:r>
              <a:rPr lang="en-US" sz="2600" b="1" dirty="0">
                <a:solidFill>
                  <a:srgbClr val="0B2C4A"/>
                </a:solidFill>
                <a:latin typeface="Inter" pitchFamily="34" charset="0"/>
                <a:ea typeface="Inter" pitchFamily="34" charset="-122"/>
                <a:cs typeface="Inter" pitchFamily="34" charset="-120"/>
              </a:rPr>
              <a:t>Sold hours ÷ hours worked</a:t>
            </a:r>
            <a:endParaRPr lang="en-US" sz="2600" dirty="0"/>
          </a:p>
        </p:txBody>
      </p:sp>
      <p:sp>
        <p:nvSpPr>
          <p:cNvPr id="10" name="Text 8"/>
          <p:cNvSpPr txBox="1"/>
          <p:nvPr/>
        </p:nvSpPr>
        <p:spPr>
          <a:xfrm>
            <a:off x="896112" y="3200400"/>
            <a:ext cx="3087624"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How many hours a tech flags for every hour they are at work. The measure on these slides: 85% target, group 94.7%.</a:t>
            </a:r>
            <a:endParaRPr lang="en-US" sz="1500" dirty="0"/>
          </a:p>
        </p:txBody>
      </p:sp>
      <p:sp>
        <p:nvSpPr>
          <p:cNvPr id="11" name="Shape 9"/>
          <p:cNvSpPr/>
          <p:nvPr/>
        </p:nvSpPr>
        <p:spPr>
          <a:xfrm>
            <a:off x="4367784" y="1481328"/>
            <a:ext cx="3453384" cy="3017520"/>
          </a:xfrm>
          <a:prstGeom prst="rect">
            <a:avLst/>
          </a:prstGeom>
          <a:solidFill>
            <a:srgbClr val="F7F7F7"/>
          </a:solidFill>
          <a:ln/>
        </p:spPr>
      </p:sp>
      <p:sp>
        <p:nvSpPr>
          <p:cNvPr id="12" name="Shape 10"/>
          <p:cNvSpPr/>
          <p:nvPr/>
        </p:nvSpPr>
        <p:spPr>
          <a:xfrm>
            <a:off x="4367784" y="1481328"/>
            <a:ext cx="3453384" cy="64008"/>
          </a:xfrm>
          <a:prstGeom prst="rect">
            <a:avLst/>
          </a:prstGeom>
          <a:solidFill>
            <a:srgbClr val="2587C5"/>
          </a:solidFill>
          <a:ln/>
        </p:spPr>
      </p:sp>
      <p:sp>
        <p:nvSpPr>
          <p:cNvPr id="13" name="Text 11"/>
          <p:cNvSpPr txBox="1"/>
          <p:nvPr/>
        </p:nvSpPr>
        <p:spPr>
          <a:xfrm>
            <a:off x="4550664" y="1691640"/>
            <a:ext cx="3087624"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EFFICIENCY</a:t>
            </a:r>
            <a:endParaRPr lang="en-US" sz="1400" dirty="0"/>
          </a:p>
        </p:txBody>
      </p:sp>
      <p:sp>
        <p:nvSpPr>
          <p:cNvPr id="14" name="Text 12"/>
          <p:cNvSpPr txBox="1"/>
          <p:nvPr/>
        </p:nvSpPr>
        <p:spPr>
          <a:xfrm>
            <a:off x="4550664" y="2286000"/>
            <a:ext cx="3087624" cy="868680"/>
          </a:xfrm>
          <a:prstGeom prst="rect">
            <a:avLst/>
          </a:prstGeom>
          <a:noFill/>
          <a:ln/>
        </p:spPr>
        <p:txBody>
          <a:bodyPr wrap="square" lIns="0" tIns="0" rIns="0" bIns="0" rtlCol="0" anchor="ctr">
            <a:normAutofit/>
          </a:bodyPr>
          <a:lstStyle/>
          <a:p>
            <a:pPr indent="0" marL="0">
              <a:buNone/>
            </a:pPr>
            <a:r>
              <a:rPr lang="en-US" sz="2600" b="1" dirty="0">
                <a:solidFill>
                  <a:srgbClr val="0B2C4A"/>
                </a:solidFill>
                <a:latin typeface="Inter" pitchFamily="34" charset="0"/>
                <a:ea typeface="Inter" pitchFamily="34" charset="-122"/>
                <a:cs typeface="Inter" pitchFamily="34" charset="-120"/>
              </a:rPr>
              <a:t>Sold hours ÷ hours on ROs</a:t>
            </a:r>
            <a:endParaRPr lang="en-US" sz="2600" dirty="0"/>
          </a:p>
        </p:txBody>
      </p:sp>
      <p:sp>
        <p:nvSpPr>
          <p:cNvPr id="15" name="Text 13"/>
          <p:cNvSpPr txBox="1"/>
          <p:nvPr/>
        </p:nvSpPr>
        <p:spPr>
          <a:xfrm>
            <a:off x="4550664" y="3200400"/>
            <a:ext cx="3087624"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How fast a tech does the work: hours flagged against the time actually clocked on repair orders. Over 100% beats book time.</a:t>
            </a:r>
            <a:endParaRPr lang="en-US" sz="1500" dirty="0"/>
          </a:p>
        </p:txBody>
      </p:sp>
      <p:sp>
        <p:nvSpPr>
          <p:cNvPr id="16" name="Shape 14"/>
          <p:cNvSpPr/>
          <p:nvPr/>
        </p:nvSpPr>
        <p:spPr>
          <a:xfrm>
            <a:off x="8022336" y="1481328"/>
            <a:ext cx="3453384" cy="3017520"/>
          </a:xfrm>
          <a:prstGeom prst="rect">
            <a:avLst/>
          </a:prstGeom>
          <a:solidFill>
            <a:srgbClr val="F7F7F7"/>
          </a:solidFill>
          <a:ln/>
        </p:spPr>
      </p:sp>
      <p:sp>
        <p:nvSpPr>
          <p:cNvPr id="17" name="Shape 15"/>
          <p:cNvSpPr/>
          <p:nvPr/>
        </p:nvSpPr>
        <p:spPr>
          <a:xfrm>
            <a:off x="8022336" y="1481328"/>
            <a:ext cx="3453384" cy="64008"/>
          </a:xfrm>
          <a:prstGeom prst="rect">
            <a:avLst/>
          </a:prstGeom>
          <a:solidFill>
            <a:srgbClr val="2587C5"/>
          </a:solidFill>
          <a:ln/>
        </p:spPr>
      </p:sp>
      <p:sp>
        <p:nvSpPr>
          <p:cNvPr id="18" name="Text 16"/>
          <p:cNvSpPr txBox="1"/>
          <p:nvPr/>
        </p:nvSpPr>
        <p:spPr>
          <a:xfrm>
            <a:off x="8205216" y="1691640"/>
            <a:ext cx="3087624"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PRODUCTIVITY</a:t>
            </a:r>
            <a:endParaRPr lang="en-US" sz="1400" dirty="0"/>
          </a:p>
        </p:txBody>
      </p:sp>
      <p:sp>
        <p:nvSpPr>
          <p:cNvPr id="19" name="Text 17"/>
          <p:cNvSpPr txBox="1"/>
          <p:nvPr/>
        </p:nvSpPr>
        <p:spPr>
          <a:xfrm>
            <a:off x="8205216" y="2286000"/>
            <a:ext cx="3087624" cy="868680"/>
          </a:xfrm>
          <a:prstGeom prst="rect">
            <a:avLst/>
          </a:prstGeom>
          <a:noFill/>
          <a:ln/>
        </p:spPr>
        <p:txBody>
          <a:bodyPr wrap="square" lIns="0" tIns="0" rIns="0" bIns="0" rtlCol="0" anchor="ctr">
            <a:normAutofit/>
          </a:bodyPr>
          <a:lstStyle/>
          <a:p>
            <a:pPr indent="0" marL="0">
              <a:buNone/>
            </a:pPr>
            <a:r>
              <a:rPr lang="en-US" sz="2600" b="1" dirty="0">
                <a:solidFill>
                  <a:srgbClr val="0B2C4A"/>
                </a:solidFill>
                <a:latin typeface="Inter" pitchFamily="34" charset="0"/>
                <a:ea typeface="Inter" pitchFamily="34" charset="-122"/>
                <a:cs typeface="Inter" pitchFamily="34" charset="-120"/>
              </a:rPr>
              <a:t>Hours on ROs ÷ hours worked</a:t>
            </a:r>
            <a:endParaRPr lang="en-US" sz="2600" dirty="0"/>
          </a:p>
        </p:txBody>
      </p:sp>
      <p:sp>
        <p:nvSpPr>
          <p:cNvPr id="20" name="Text 18"/>
          <p:cNvSpPr txBox="1"/>
          <p:nvPr/>
        </p:nvSpPr>
        <p:spPr>
          <a:xfrm>
            <a:off x="8205216" y="3200400"/>
            <a:ext cx="3087624"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How much of the day a tech spends on customer work instead of waiting on parts, dispatch or approvals.</a:t>
            </a:r>
            <a:endParaRPr lang="en-US" sz="1500" dirty="0"/>
          </a:p>
        </p:txBody>
      </p:sp>
      <p:sp>
        <p:nvSpPr>
          <p:cNvPr id="21" name="Text 19"/>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Proficiency = efficiency × productivity. A fast tech with nothing to work on is efficient but not proficient: the fix is dispatch, parts and approvals, not the tech.</a:t>
            </a:r>
            <a:endParaRPr lang="en-US" sz="1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2026-10-27T18:05:22Z</dcterms:created>
  <dcterms:modified xsi:type="dcterms:W3CDTF">2026-10-27T18:05:22Z</dcterms:modified>
</cp:coreProperties>
</file>