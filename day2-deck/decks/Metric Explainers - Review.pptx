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Lst>
  <p:notesMasterIdLst>
    <p:notesMasterId r:id="rId14"/>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notesMaster" Target="notesMasters/notesMaster1.xml"/><Relationship Id="rId15" Type="http://schemas.openxmlformats.org/officeDocument/2006/relationships/presProps" Target="presProps.xml"/><Relationship Id="rId16" Type="http://schemas.openxmlformats.org/officeDocument/2006/relationships/viewProps" Target="viewProps.xml"/><Relationship Id="rId17" Type="http://schemas.openxmlformats.org/officeDocument/2006/relationships/theme" Target="theme/theme1.xml"/><Relationship Id="rId18"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 Definitions match the data slides: Qlik - Closed Repair Orders (all customer-pay ROs, by close month), Profit &amp; Loss and Productivity apps, Jan-Sep 2026 vs 2025, same-store, 33 stores. Worked example: Service Manager Roundtable, Nov 15, 2024, slide 21.PLACE: CP Engine, in front of CP RO Count.
Definition is the data slides' own: distinct ROs with a customer-pay line, by close month. This includes the roughly 0.9% of CP ROs with no labor charged (parts-only sales such as additives, wipers and batteries, and blank CP lines); Qlik's hasLabor flag is set on every line, so it does not filter them, and the count is kept that way to match the numbers stores are used to. GMC Prescott body-shop-only ROs excluded.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 Definitions match the data slides: Qlik - Closed Repair Orders (all customer-pay ROs, by close month), Profit &amp; Loss and Productivity apps, Jan-Sep 2026 vs 2025, same-store, 33 stores. Worked example: Service Manager Roundtable, Nov 15, 2024, slide 21.PLACE: CP Engine, in front of CP Hours per RO.
$4,543,691 = 0.1 x 279,756 CP ROs x $162.42 CP ELR (on the Hours per RO data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 Definitions match the data slides: Qlik - Closed Repair Orders (all customer-pay ROs, by close month), Profit &amp; Loss and Productivity apps, Jan-Sep 2026 vs 2025, same-store, 33 stores. Worked example: Service Manager Roundtable, Nov 15, 2024, slide 21.PLACE: CP Engine, in front of CP ELR (and ahead of the door-rate slides).
Example: Roundtable slide 21 table: same $25 tech rate, very different ELR by job; the seven jobs total 8.1 hours and $1,056 = $130/hr.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 Definitions match the data slides: Qlik - Closed Repair Orders (all customer-pay ROs, by close month), Profit &amp; Loss and Productivity apps, Jan-Sep 2026 vs 2025, same-store, 33 stores. Worked example: Service Manager Roundtable, Nov 15, 2024, slide 21.PLACE: CP Engine, in front of CP Labor $ per RO.
1.87 x $162.42 = $303.73, which rounds to the $304 on the data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 Definitions match the data slides: Qlik - Closed Repair Orders (all customer-pay ROs, by close month), Profit &amp; Loss and Productivity apps, Jan-Sep 2026 vs 2025, same-store, 33 stores. Worked example: Service Manager Roundtable, Nov 15, 2024, slide 21.PLACE: CP Engine, in front of CP Parts $ per RO.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 Definitions match the data slides: Qlik - Closed Repair Orders (all customer-pay ROs, by close month), Profit &amp; Loss and Productivity apps, Jan-Sep 2026 vs 2025, same-store, 33 stores. Worked example: Service Manager Roundtable, Nov 15, 2024, slide 21.PLACE: CP Engine, in front of CP Labor Gross Profit %.
Example: Roundtable slide 21, every job at a $25 tech rate; margins differ because each job's ELR differs.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 Definitions match the data slides: Qlik - Closed Repair Orders (all customer-pay ROs, by close month), Profit &amp; Loss and Productivity apps, Jan-Sep 2026 vs 2025, same-store, 33 stores. Worked example: Service Manager Roundtable, Nov 15, 2024, slide 21.PLACE: CP Engine, in front of CP Parts Gross Profit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 Definitions match the data slides: Qlik - Closed Repair Orders (all customer-pay ROs, by close month), Profit &amp; Loss and Productivity apps, Jan-Sep 2026 vs 2025, same-store, 33 stores. Worked example: Service Manager Roundtable, Nov 15, 2024, slide 21.PLACE: Profitability, in front of Fixed Ops Absorption %.
P&amp;L definition: line 254 Total Gross Profit - Fixed Ops / line 258 Fixed Expenses (the stored line 257 returns a dollar value, so the slide derives it). GMC Prescott includes its body shop, as on the P&amp;L.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 Definitions match the data slides: Qlik - Closed Repair Orders (all customer-pay ROs, by close month), Profit &amp; Loss and Productivity apps, Jan-Sep 2026 vs 2025, same-store, 33 stores. Worked example: Service Manager Roundtable, Nov 15, 2024, slide 21.PLACE: Profitability, in front of Service Net to Gross %.
P&amp;L Detail statement: DEPARTMENT PROFIT OR LOSS / GROSS PROFIT / INCOME, Mechanical Dept (service) and P&amp;A Dept (parts).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 Definitions match the data slides: Qlik - Closed Repair Orders (all customer-pay ROs, by close month), Profit &amp; Loss and Productivity apps, Jan-Sep 2026 vs 2025, same-store, 33 stores. Worked example: Service Manager Roundtable, Nov 15, 2024, slide 21.PLACE: Opcodes, after the section break, in front of Alignment %.
Denominator: CP ROs on the op code report basis (excluding ROs flagged out of the report).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 Definitions match the data slides: Qlik - Closed Repair Orders (all customer-pay ROs, by close month), Profit &amp; Loss and Productivity apps, Jan-Sep 2026 vs 2025, same-store, 33 stores. Worked example: Service Manager Roundtable, Nov 15, 2024, slide 21.PLACE: Technician Proficiency, after the section break, in front of the store ranker.
Proficiency uses ADP paid hours (regular + overtime), so it includes time not on an RO. Efficiency would use DMS time punched on jobs, which this data does not have.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 Definitions match the data slides: Qlik - Closed Repair Orders (all customer-pay ROs, by close month), Profit &amp; Loss and Productivity apps, Jan-Sep 2026 vs 2025, same-store, 33 stores. Worked example: Service Manager Roundtable, Nov 15, 2024, slide 21.PLACE: right after 'What Is Technician Proficiency?'.
Rules as applied on the proficiency slides (Oct 16 2026). Express techs at stores that pool express hours are mostly excluded by the 10% rule.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THE CP ENGINE</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What Is CP RO Count?</a:t>
            </a:r>
            <a:endParaRPr lang="en-US" sz="2800" dirty="0"/>
          </a:p>
        </p:txBody>
      </p:sp>
      <p:sp>
        <p:nvSpPr>
          <p:cNvPr id="5" name="Shape 3"/>
          <p:cNvSpPr/>
          <p:nvPr/>
        </p:nvSpPr>
        <p:spPr>
          <a:xfrm>
            <a:off x="457200" y="1207008"/>
            <a:ext cx="11274552" cy="1024128"/>
          </a:xfrm>
          <a:prstGeom prst="rect">
            <a:avLst/>
          </a:prstGeom>
          <a:solidFill>
            <a:srgbClr val="EDF4FA"/>
          </a:solidFill>
          <a:ln/>
        </p:spPr>
      </p:sp>
      <p:sp>
        <p:nvSpPr>
          <p:cNvPr id="6" name="Text 4"/>
          <p:cNvSpPr txBox="1"/>
          <p:nvPr/>
        </p:nvSpPr>
        <p:spPr>
          <a:xfrm>
            <a:off x="685800" y="1243584"/>
            <a:ext cx="10835640" cy="566928"/>
          </a:xfrm>
          <a:prstGeom prst="rect">
            <a:avLst/>
          </a:prstGeom>
          <a:noFill/>
          <a:ln/>
        </p:spPr>
        <p:txBody>
          <a:bodyPr wrap="square" lIns="0" tIns="0" rIns="0" bIns="0" rtlCol="0" anchor="ctr">
            <a:normAutofit/>
          </a:bodyPr>
          <a:lstStyle/>
          <a:p>
            <a:pPr indent="0" marL="0">
              <a:buNone/>
            </a:pPr>
            <a:r>
              <a:rPr lang="en-US" sz="2200" b="1" dirty="0">
                <a:solidFill>
                  <a:srgbClr val="0B2C4A"/>
                </a:solidFill>
                <a:latin typeface="Inter" pitchFamily="34" charset="0"/>
                <a:ea typeface="Inter" pitchFamily="34" charset="-122"/>
                <a:cs typeface="Inter" pitchFamily="34" charset="-120"/>
              </a:rPr>
              <a:t>CP RO count  </a:t>
            </a:r>
            <a:pPr indent="0" marL="0">
              <a:buNone/>
            </a:pPr>
            <a:r>
              <a:rPr lang="en-US" sz="2200" b="1" dirty="0">
                <a:solidFill>
                  <a:srgbClr val="2587C5"/>
                </a:solidFill>
                <a:latin typeface="Inter" pitchFamily="34" charset="0"/>
                <a:ea typeface="Inter" pitchFamily="34" charset="-122"/>
                <a:cs typeface="Inter" pitchFamily="34" charset="-120"/>
              </a:rPr>
              <a:t>=  </a:t>
            </a:r>
            <a:pPr indent="0" marL="0">
              <a:buNone/>
            </a:pPr>
            <a:r>
              <a:rPr lang="en-US" sz="2200" b="1" dirty="0">
                <a:solidFill>
                  <a:srgbClr val="0B2C4A"/>
                </a:solidFill>
                <a:latin typeface="Inter" pitchFamily="34" charset="0"/>
                <a:ea typeface="Inter" pitchFamily="34" charset="-122"/>
                <a:cs typeface="Inter" pitchFamily="34" charset="-120"/>
              </a:rPr>
              <a:t>customer-pay repair orders closed in the period</a:t>
            </a:r>
            <a:endParaRPr lang="en-US" sz="2200" dirty="0"/>
          </a:p>
        </p:txBody>
      </p:sp>
      <p:sp>
        <p:nvSpPr>
          <p:cNvPr id="7" name="Text 5"/>
          <p:cNvSpPr txBox="1"/>
          <p:nvPr/>
        </p:nvSpPr>
        <p:spPr>
          <a:xfrm>
            <a:off x="685800" y="1783080"/>
            <a:ext cx="10835640" cy="420624"/>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Every RO with a customer-pay line, whether or not labor was charged on it. One RO counts once, however many lines it has.</a:t>
            </a:r>
            <a:endParaRPr lang="en-US" sz="1400" dirty="0"/>
          </a:p>
        </p:txBody>
      </p:sp>
      <p:sp>
        <p:nvSpPr>
          <p:cNvPr id="8" name="Shape 6"/>
          <p:cNvSpPr/>
          <p:nvPr/>
        </p:nvSpPr>
        <p:spPr>
          <a:xfrm>
            <a:off x="457200" y="2340864"/>
            <a:ext cx="4343400" cy="3648456"/>
          </a:xfrm>
          <a:prstGeom prst="rect">
            <a:avLst/>
          </a:prstGeom>
          <a:solidFill>
            <a:srgbClr val="FFFFFF"/>
          </a:solidFill>
          <a:ln/>
        </p:spPr>
      </p:sp>
      <p:sp>
        <p:nvSpPr>
          <p:cNvPr id="9" name="Shape 7"/>
          <p:cNvSpPr/>
          <p:nvPr/>
        </p:nvSpPr>
        <p:spPr>
          <a:xfrm>
            <a:off x="4937760" y="2340864"/>
            <a:ext cx="6793992" cy="3648456"/>
          </a:xfrm>
          <a:prstGeom prst="rect">
            <a:avLst/>
          </a:prstGeom>
          <a:solidFill>
            <a:srgbClr val="FFFFFF"/>
          </a:solidFill>
          <a:ln/>
        </p:spPr>
      </p:sp>
      <p:sp>
        <p:nvSpPr>
          <p:cNvPr id="10" name="Text 8"/>
          <p:cNvSpPr txBox="1"/>
          <p:nvPr/>
        </p:nvSpPr>
        <p:spPr>
          <a:xfrm>
            <a:off x="658368" y="2468880"/>
            <a:ext cx="393192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WHY IT MATTERS</a:t>
            </a:r>
            <a:endParaRPr lang="en-US" sz="1400" dirty="0"/>
          </a:p>
        </p:txBody>
      </p:sp>
      <p:sp>
        <p:nvSpPr>
          <p:cNvPr id="11" name="Text 9"/>
          <p:cNvSpPr txBox="1"/>
          <p:nvPr/>
        </p:nvSpPr>
        <p:spPr>
          <a:xfrm>
            <a:off x="5138928" y="2468880"/>
            <a:ext cx="640080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WHAT MOVES IT</a:t>
            </a:r>
            <a:endParaRPr lang="en-US" sz="1400" dirty="0"/>
          </a:p>
        </p:txBody>
      </p:sp>
      <p:sp>
        <p:nvSpPr>
          <p:cNvPr id="12" name="Text 10"/>
          <p:cNvSpPr txBox="1"/>
          <p:nvPr/>
        </p:nvSpPr>
        <p:spPr>
          <a:xfrm>
            <a:off x="658368" y="2843784"/>
            <a:ext cx="3977640" cy="3008376"/>
          </a:xfrm>
          <a:prstGeom prst="rect">
            <a:avLst/>
          </a:prstGeom>
          <a:noFill/>
          <a:ln/>
        </p:spPr>
        <p:txBody>
          <a:bodyPr wrap="square" lIns="0" tIns="0" rIns="0" bIns="0" rtlCol="0" anchor="t"/>
          <a:lstStyle/>
          <a:p>
            <a:pPr marL="203200" indent="-203200">
              <a:spcAft>
                <a:spcPts val="600"/>
              </a:spcAft>
              <a:buSzPct val="100000"/>
              <a:buChar char="•"/>
            </a:pPr>
            <a:r>
              <a:rPr lang="en-US" sz="1600" dirty="0">
                <a:solidFill>
                  <a:srgbClr val="1A1A1A"/>
                </a:solidFill>
                <a:latin typeface="Inter" pitchFamily="34" charset="0"/>
                <a:ea typeface="Inter" pitchFamily="34" charset="-122"/>
                <a:cs typeface="Inter" pitchFamily="34" charset="-120"/>
              </a:rPr>
              <a:t>It is the top of the engine. Hours, ELR and $ per RO all multiply off it.</a:t>
            </a:r>
            <a:endParaRPr lang="en-US" sz="1600" dirty="0"/>
          </a:p>
          <a:p>
            <a:pPr marL="203200" indent="-203200">
              <a:spcAft>
                <a:spcPts val="600"/>
              </a:spcAft>
              <a:buSzPct val="100000"/>
              <a:buChar char="•"/>
            </a:pPr>
            <a:r>
              <a:rPr lang="en-US" sz="1600" dirty="0">
                <a:solidFill>
                  <a:srgbClr val="1A1A1A"/>
                </a:solidFill>
                <a:latin typeface="Inter" pitchFamily="34" charset="0"/>
                <a:ea typeface="Inter" pitchFamily="34" charset="-122"/>
                <a:cs typeface="Inter" pitchFamily="34" charset="-120"/>
              </a:rPr>
              <a:t>It is the clearest read on retention and on whether the front door is open.</a:t>
            </a:r>
            <a:endParaRPr lang="en-US" sz="1600" dirty="0"/>
          </a:p>
          <a:p>
            <a:pPr marL="203200" indent="-203200">
              <a:spcAft>
                <a:spcPts val="600"/>
              </a:spcAft>
              <a:buSzPct val="100000"/>
              <a:buChar char="•"/>
            </a:pPr>
            <a:r>
              <a:rPr lang="en-US" sz="1600" dirty="0">
                <a:solidFill>
                  <a:srgbClr val="1A1A1A"/>
                </a:solidFill>
                <a:latin typeface="Inter" pitchFamily="34" charset="0"/>
                <a:ea typeface="Inter" pitchFamily="34" charset="-122"/>
                <a:cs typeface="Inter" pitchFamily="34" charset="-120"/>
              </a:rPr>
              <a:t>Flat car count means growth has to come from selling more on each visit.</a:t>
            </a:r>
            <a:endParaRPr lang="en-US" sz="1600" dirty="0"/>
          </a:p>
        </p:txBody>
      </p:sp>
      <p:sp>
        <p:nvSpPr>
          <p:cNvPr id="13" name="Shape 11"/>
          <p:cNvSpPr/>
          <p:nvPr/>
        </p:nvSpPr>
        <p:spPr>
          <a:xfrm>
            <a:off x="5138928" y="2843784"/>
            <a:ext cx="45720" cy="908304"/>
          </a:xfrm>
          <a:prstGeom prst="rect">
            <a:avLst/>
          </a:prstGeom>
          <a:solidFill>
            <a:srgbClr val="2587C5"/>
          </a:solidFill>
          <a:ln/>
        </p:spPr>
      </p:sp>
      <p:sp>
        <p:nvSpPr>
          <p:cNvPr id="14" name="Text 12"/>
          <p:cNvSpPr txBox="1"/>
          <p:nvPr/>
        </p:nvSpPr>
        <p:spPr>
          <a:xfrm>
            <a:off x="5266944" y="2843784"/>
            <a:ext cx="2962656" cy="908304"/>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Appointment availability</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Same-day and next-day slots; an easy online scheduler</a:t>
            </a:r>
            <a:endParaRPr lang="en-US" sz="1400" dirty="0"/>
          </a:p>
        </p:txBody>
      </p:sp>
      <p:sp>
        <p:nvSpPr>
          <p:cNvPr id="15" name="Shape 13"/>
          <p:cNvSpPr/>
          <p:nvPr/>
        </p:nvSpPr>
        <p:spPr>
          <a:xfrm>
            <a:off x="8394192" y="2843784"/>
            <a:ext cx="45720" cy="908304"/>
          </a:xfrm>
          <a:prstGeom prst="rect">
            <a:avLst/>
          </a:prstGeom>
          <a:solidFill>
            <a:srgbClr val="2587C5"/>
          </a:solidFill>
          <a:ln/>
        </p:spPr>
      </p:sp>
      <p:sp>
        <p:nvSpPr>
          <p:cNvPr id="16" name="Text 14"/>
          <p:cNvSpPr txBox="1"/>
          <p:nvPr/>
        </p:nvSpPr>
        <p:spPr>
          <a:xfrm>
            <a:off x="8522208" y="2843784"/>
            <a:ext cx="2962656" cy="908304"/>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Phone handling</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Every call answered, and every caller asked for the appointment</a:t>
            </a:r>
            <a:endParaRPr lang="en-US" sz="1400" dirty="0"/>
          </a:p>
        </p:txBody>
      </p:sp>
      <p:sp>
        <p:nvSpPr>
          <p:cNvPr id="17" name="Shape 15"/>
          <p:cNvSpPr/>
          <p:nvPr/>
        </p:nvSpPr>
        <p:spPr>
          <a:xfrm>
            <a:off x="5138928" y="3861816"/>
            <a:ext cx="45720" cy="908304"/>
          </a:xfrm>
          <a:prstGeom prst="rect">
            <a:avLst/>
          </a:prstGeom>
          <a:solidFill>
            <a:srgbClr val="2587C5"/>
          </a:solidFill>
          <a:ln/>
        </p:spPr>
      </p:sp>
      <p:sp>
        <p:nvSpPr>
          <p:cNvPr id="18" name="Text 16"/>
          <p:cNvSpPr txBox="1"/>
          <p:nvPr/>
        </p:nvSpPr>
        <p:spPr>
          <a:xfrm>
            <a:off x="5266944" y="3861816"/>
            <a:ext cx="2962656" cy="908304"/>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Retention</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Work the Close to Losing and Unretained lists; sold-not-serviced vehicles</a:t>
            </a:r>
            <a:endParaRPr lang="en-US" sz="1400" dirty="0"/>
          </a:p>
        </p:txBody>
      </p:sp>
      <p:sp>
        <p:nvSpPr>
          <p:cNvPr id="19" name="Shape 17"/>
          <p:cNvSpPr/>
          <p:nvPr/>
        </p:nvSpPr>
        <p:spPr>
          <a:xfrm>
            <a:off x="8394192" y="3861816"/>
            <a:ext cx="45720" cy="908304"/>
          </a:xfrm>
          <a:prstGeom prst="rect">
            <a:avLst/>
          </a:prstGeom>
          <a:solidFill>
            <a:srgbClr val="2587C5"/>
          </a:solidFill>
          <a:ln/>
        </p:spPr>
      </p:sp>
      <p:sp>
        <p:nvSpPr>
          <p:cNvPr id="20" name="Text 18"/>
          <p:cNvSpPr txBox="1"/>
          <p:nvPr/>
        </p:nvSpPr>
        <p:spPr>
          <a:xfrm>
            <a:off x="8522208" y="3861816"/>
            <a:ext cx="2962656" cy="908304"/>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Next visit booked</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First appointment at the sale; next one before the customer leaves</a:t>
            </a:r>
            <a:endParaRPr lang="en-US" sz="1400" dirty="0"/>
          </a:p>
        </p:txBody>
      </p:sp>
      <p:sp>
        <p:nvSpPr>
          <p:cNvPr id="21" name="Shape 19"/>
          <p:cNvSpPr/>
          <p:nvPr/>
        </p:nvSpPr>
        <p:spPr>
          <a:xfrm>
            <a:off x="5138928" y="4879848"/>
            <a:ext cx="45720" cy="908304"/>
          </a:xfrm>
          <a:prstGeom prst="rect">
            <a:avLst/>
          </a:prstGeom>
          <a:solidFill>
            <a:srgbClr val="2587C5"/>
          </a:solidFill>
          <a:ln/>
        </p:spPr>
      </p:sp>
      <p:sp>
        <p:nvSpPr>
          <p:cNvPr id="22" name="Text 20"/>
          <p:cNvSpPr txBox="1"/>
          <p:nvPr/>
        </p:nvSpPr>
        <p:spPr>
          <a:xfrm>
            <a:off x="5266944" y="4879848"/>
            <a:ext cx="2962656" cy="908304"/>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Express service</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Fast, easy maintenance keeps customers coming back</a:t>
            </a:r>
            <a:endParaRPr lang="en-US" sz="1400" dirty="0"/>
          </a:p>
        </p:txBody>
      </p:sp>
      <p:sp>
        <p:nvSpPr>
          <p:cNvPr id="23" name="Shape 21"/>
          <p:cNvSpPr/>
          <p:nvPr/>
        </p:nvSpPr>
        <p:spPr>
          <a:xfrm>
            <a:off x="8394192" y="4879848"/>
            <a:ext cx="45720" cy="908304"/>
          </a:xfrm>
          <a:prstGeom prst="rect">
            <a:avLst/>
          </a:prstGeom>
          <a:solidFill>
            <a:srgbClr val="2587C5"/>
          </a:solidFill>
          <a:ln/>
        </p:spPr>
      </p:sp>
      <p:sp>
        <p:nvSpPr>
          <p:cNvPr id="24" name="Text 22"/>
          <p:cNvSpPr txBox="1"/>
          <p:nvPr/>
        </p:nvSpPr>
        <p:spPr>
          <a:xfrm>
            <a:off x="8522208" y="4879848"/>
            <a:ext cx="2962656" cy="908304"/>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Marketing</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Fixed ops budget, keyword search, OEM and third-party reminders</a:t>
            </a:r>
            <a:endParaRPr lang="en-US" sz="1400" dirty="0"/>
          </a:p>
        </p:txBody>
      </p:sp>
      <p:sp>
        <p:nvSpPr>
          <p:cNvPr id="25" name="Shape 23"/>
          <p:cNvSpPr/>
          <p:nvPr/>
        </p:nvSpPr>
        <p:spPr>
          <a:xfrm>
            <a:off x="457200" y="6126480"/>
            <a:ext cx="11274552" cy="371856"/>
          </a:xfrm>
          <a:prstGeom prst="rect">
            <a:avLst/>
          </a:prstGeom>
          <a:solidFill>
            <a:srgbClr val="EDF4FA"/>
          </a:solidFill>
          <a:ln/>
        </p:spPr>
      </p:sp>
      <p:sp>
        <p:nvSpPr>
          <p:cNvPr id="26" name="Text 24"/>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Group: 279,756 CP ROs, up 456 from 2025. Volume is flat.</a:t>
            </a:r>
            <a:endParaRPr lang="en-US" sz="16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THE CP ENGINE</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What Is Hours per RO?</a:t>
            </a:r>
            <a:endParaRPr lang="en-US" sz="2800" dirty="0"/>
          </a:p>
        </p:txBody>
      </p:sp>
      <p:sp>
        <p:nvSpPr>
          <p:cNvPr id="5" name="Shape 3"/>
          <p:cNvSpPr/>
          <p:nvPr/>
        </p:nvSpPr>
        <p:spPr>
          <a:xfrm>
            <a:off x="457200" y="1207008"/>
            <a:ext cx="11274552" cy="1024128"/>
          </a:xfrm>
          <a:prstGeom prst="rect">
            <a:avLst/>
          </a:prstGeom>
          <a:solidFill>
            <a:srgbClr val="EDF4FA"/>
          </a:solidFill>
          <a:ln/>
        </p:spPr>
      </p:sp>
      <p:sp>
        <p:nvSpPr>
          <p:cNvPr id="6" name="Text 4"/>
          <p:cNvSpPr txBox="1"/>
          <p:nvPr/>
        </p:nvSpPr>
        <p:spPr>
          <a:xfrm>
            <a:off x="685800" y="1243584"/>
            <a:ext cx="10835640" cy="566928"/>
          </a:xfrm>
          <a:prstGeom prst="rect">
            <a:avLst/>
          </a:prstGeom>
          <a:noFill/>
          <a:ln/>
        </p:spPr>
        <p:txBody>
          <a:bodyPr wrap="square" lIns="0" tIns="0" rIns="0" bIns="0" rtlCol="0" anchor="ctr">
            <a:normAutofit/>
          </a:bodyPr>
          <a:lstStyle/>
          <a:p>
            <a:pPr indent="0" marL="0">
              <a:buNone/>
            </a:pPr>
            <a:r>
              <a:rPr lang="en-US" sz="2400" b="1" dirty="0">
                <a:solidFill>
                  <a:srgbClr val="0B2C4A"/>
                </a:solidFill>
                <a:latin typeface="Inter" pitchFamily="34" charset="0"/>
                <a:ea typeface="Inter" pitchFamily="34" charset="-122"/>
                <a:cs typeface="Inter" pitchFamily="34" charset="-120"/>
              </a:rPr>
              <a:t>Hours per RO  </a:t>
            </a:r>
            <a:pPr indent="0" marL="0">
              <a:buNone/>
            </a:pPr>
            <a:r>
              <a:rPr lang="en-US" sz="2400" b="1" dirty="0">
                <a:solidFill>
                  <a:srgbClr val="2587C5"/>
                </a:solidFill>
                <a:latin typeface="Inter" pitchFamily="34" charset="0"/>
                <a:ea typeface="Inter" pitchFamily="34" charset="-122"/>
                <a:cs typeface="Inter" pitchFamily="34" charset="-120"/>
              </a:rPr>
              <a:t>=  </a:t>
            </a:r>
            <a:pPr indent="0" marL="0">
              <a:buNone/>
            </a:pPr>
            <a:r>
              <a:rPr lang="en-US" sz="2400" b="1" dirty="0">
                <a:solidFill>
                  <a:srgbClr val="0B2C4A"/>
                </a:solidFill>
                <a:latin typeface="Inter" pitchFamily="34" charset="0"/>
                <a:ea typeface="Inter" pitchFamily="34" charset="-122"/>
                <a:cs typeface="Inter" pitchFamily="34" charset="-120"/>
              </a:rPr>
              <a:t>CP hours sold  </a:t>
            </a:r>
            <a:pPr indent="0" marL="0">
              <a:buNone/>
            </a:pPr>
            <a:r>
              <a:rPr lang="en-US" sz="2400" b="1" dirty="0">
                <a:solidFill>
                  <a:srgbClr val="2587C5"/>
                </a:solidFill>
                <a:latin typeface="Inter" pitchFamily="34" charset="0"/>
                <a:ea typeface="Inter" pitchFamily="34" charset="-122"/>
                <a:cs typeface="Inter" pitchFamily="34" charset="-120"/>
              </a:rPr>
              <a:t>÷  </a:t>
            </a:r>
            <a:pPr indent="0" marL="0">
              <a:buNone/>
            </a:pPr>
            <a:r>
              <a:rPr lang="en-US" sz="2400" b="1" dirty="0">
                <a:solidFill>
                  <a:srgbClr val="0B2C4A"/>
                </a:solidFill>
                <a:latin typeface="Inter" pitchFamily="34" charset="0"/>
                <a:ea typeface="Inter" pitchFamily="34" charset="-122"/>
                <a:cs typeface="Inter" pitchFamily="34" charset="-120"/>
              </a:rPr>
              <a:t>CP RO count</a:t>
            </a:r>
            <a:endParaRPr lang="en-US" sz="2400" dirty="0"/>
          </a:p>
        </p:txBody>
      </p:sp>
      <p:sp>
        <p:nvSpPr>
          <p:cNvPr id="7" name="Text 5"/>
          <p:cNvSpPr txBox="1"/>
          <p:nvPr/>
        </p:nvSpPr>
        <p:spPr>
          <a:xfrm>
            <a:off x="685800" y="1783080"/>
            <a:ext cx="10835640" cy="420624"/>
          </a:xfrm>
          <a:prstGeom prst="rect">
            <a:avLst/>
          </a:prstGeom>
          <a:noFill/>
          <a:ln/>
        </p:spPr>
        <p:txBody>
          <a:bodyPr wrap="square" lIns="0" tIns="0" rIns="0" bIns="0" rtlCol="0" anchor="ctr"/>
          <a:lstStyle/>
          <a:p>
            <a:pPr indent="0" marL="0">
              <a:buNone/>
            </a:pPr>
            <a:r>
              <a:rPr lang="en-US" sz="1500" dirty="0">
                <a:solidFill>
                  <a:srgbClr val="595959"/>
                </a:solidFill>
                <a:latin typeface="Inter" pitchFamily="34" charset="0"/>
                <a:ea typeface="Inter" pitchFamily="34" charset="-122"/>
                <a:cs typeface="Inter" pitchFamily="34" charset="-120"/>
              </a:rPr>
              <a:t>How much labor time we sell on the average customer-pay visit.</a:t>
            </a:r>
            <a:endParaRPr lang="en-US" sz="1500" dirty="0"/>
          </a:p>
        </p:txBody>
      </p:sp>
      <p:sp>
        <p:nvSpPr>
          <p:cNvPr id="8" name="Text 6"/>
          <p:cNvSpPr txBox="1"/>
          <p:nvPr/>
        </p:nvSpPr>
        <p:spPr>
          <a:xfrm>
            <a:off x="457200" y="2340864"/>
            <a:ext cx="1828800" cy="457200"/>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0.1 HOUR</a:t>
            </a:r>
            <a:endParaRPr lang="en-US" sz="1400" dirty="0"/>
          </a:p>
        </p:txBody>
      </p:sp>
      <p:sp>
        <p:nvSpPr>
          <p:cNvPr id="9" name="Shape 7"/>
          <p:cNvSpPr/>
          <p:nvPr/>
        </p:nvSpPr>
        <p:spPr>
          <a:xfrm>
            <a:off x="2286000" y="2340864"/>
            <a:ext cx="4668012" cy="457200"/>
          </a:xfrm>
          <a:prstGeom prst="rect">
            <a:avLst/>
          </a:prstGeom>
          <a:solidFill>
            <a:srgbClr val="FFFFFF"/>
          </a:solidFill>
          <a:ln w="9525">
            <a:solidFill>
              <a:srgbClr val="D9D9D9"/>
            </a:solidFill>
            <a:prstDash val="solid"/>
          </a:ln>
        </p:spPr>
      </p:sp>
      <p:sp>
        <p:nvSpPr>
          <p:cNvPr id="10" name="Text 8"/>
          <p:cNvSpPr txBox="1"/>
          <p:nvPr/>
        </p:nvSpPr>
        <p:spPr>
          <a:xfrm>
            <a:off x="2359152" y="2340864"/>
            <a:ext cx="4521708" cy="457200"/>
          </a:xfrm>
          <a:prstGeom prst="rect">
            <a:avLst/>
          </a:prstGeom>
          <a:noFill/>
          <a:ln/>
        </p:spPr>
        <p:txBody>
          <a:bodyPr wrap="square" lIns="0" tIns="0" rIns="0" bIns="0" rtlCol="0" anchor="ctr">
            <a:normAutofit/>
          </a:bodyPr>
          <a:lstStyle/>
          <a:p>
            <a:pPr algn="ctr" indent="0" marL="0">
              <a:buNone/>
            </a:pPr>
            <a:r>
              <a:rPr lang="en-US" sz="1400" dirty="0">
                <a:solidFill>
                  <a:srgbClr val="1A1A1A"/>
                </a:solidFill>
                <a:latin typeface="Inter" pitchFamily="34" charset="0"/>
                <a:ea typeface="Inter" pitchFamily="34" charset="-122"/>
                <a:cs typeface="Inter" pitchFamily="34" charset="-120"/>
              </a:rPr>
              <a:t>0.1 hour more per RO  </a:t>
            </a:r>
            <a:pPr algn="ctr" indent="0" marL="0">
              <a:buNone/>
            </a:pPr>
            <a:r>
              <a:rPr lang="en-US" sz="1400" b="1" dirty="0">
                <a:solidFill>
                  <a:srgbClr val="0B2C4A"/>
                </a:solidFill>
                <a:latin typeface="Inter" pitchFamily="34" charset="0"/>
                <a:ea typeface="Inter" pitchFamily="34" charset="-122"/>
                <a:cs typeface="Inter" pitchFamily="34" charset="-120"/>
              </a:rPr>
              <a:t>= $4,543,691 of labor</a:t>
            </a:r>
            <a:endParaRPr lang="en-US" sz="1400" dirty="0"/>
          </a:p>
        </p:txBody>
      </p:sp>
      <p:sp>
        <p:nvSpPr>
          <p:cNvPr id="11" name="Shape 9"/>
          <p:cNvSpPr/>
          <p:nvPr/>
        </p:nvSpPr>
        <p:spPr>
          <a:xfrm>
            <a:off x="7063740" y="2340864"/>
            <a:ext cx="4668012" cy="457200"/>
          </a:xfrm>
          <a:prstGeom prst="rect">
            <a:avLst/>
          </a:prstGeom>
          <a:solidFill>
            <a:srgbClr val="FFFFFF"/>
          </a:solidFill>
          <a:ln w="9525">
            <a:solidFill>
              <a:srgbClr val="D9D9D9"/>
            </a:solidFill>
            <a:prstDash val="solid"/>
          </a:ln>
        </p:spPr>
      </p:sp>
      <p:sp>
        <p:nvSpPr>
          <p:cNvPr id="12" name="Text 10"/>
          <p:cNvSpPr txBox="1"/>
          <p:nvPr/>
        </p:nvSpPr>
        <p:spPr>
          <a:xfrm>
            <a:off x="7136892" y="2340864"/>
            <a:ext cx="4521708" cy="457200"/>
          </a:xfrm>
          <a:prstGeom prst="rect">
            <a:avLst/>
          </a:prstGeom>
          <a:noFill/>
          <a:ln/>
        </p:spPr>
        <p:txBody>
          <a:bodyPr wrap="square" lIns="0" tIns="0" rIns="0" bIns="0" rtlCol="0" anchor="ctr">
            <a:normAutofit/>
          </a:bodyPr>
          <a:lstStyle/>
          <a:p>
            <a:pPr algn="ctr" indent="0" marL="0">
              <a:buNone/>
            </a:pPr>
            <a:r>
              <a:rPr lang="en-US" sz="1400" dirty="0">
                <a:solidFill>
                  <a:srgbClr val="1A1A1A"/>
                </a:solidFill>
                <a:latin typeface="Inter" pitchFamily="34" charset="0"/>
                <a:ea typeface="Inter" pitchFamily="34" charset="-122"/>
                <a:cs typeface="Inter" pitchFamily="34" charset="-120"/>
              </a:rPr>
              <a:t>at a $162.42 ELR on  </a:t>
            </a:r>
            <a:pPr algn="ctr" indent="0" marL="0">
              <a:buNone/>
            </a:pPr>
            <a:r>
              <a:rPr lang="en-US" sz="1400" b="1" dirty="0">
                <a:solidFill>
                  <a:srgbClr val="0B2C4A"/>
                </a:solidFill>
                <a:latin typeface="Inter" pitchFamily="34" charset="0"/>
                <a:ea typeface="Inter" pitchFamily="34" charset="-122"/>
                <a:cs typeface="Inter" pitchFamily="34" charset="-120"/>
              </a:rPr>
              <a:t>279,756 ROs</a:t>
            </a:r>
            <a:endParaRPr lang="en-US" sz="1400" dirty="0"/>
          </a:p>
        </p:txBody>
      </p:sp>
      <p:sp>
        <p:nvSpPr>
          <p:cNvPr id="13" name="Shape 11"/>
          <p:cNvSpPr/>
          <p:nvPr/>
        </p:nvSpPr>
        <p:spPr>
          <a:xfrm>
            <a:off x="457200" y="2907792"/>
            <a:ext cx="4343400" cy="3081528"/>
          </a:xfrm>
          <a:prstGeom prst="rect">
            <a:avLst/>
          </a:prstGeom>
          <a:solidFill>
            <a:srgbClr val="FFFFFF"/>
          </a:solidFill>
          <a:ln/>
        </p:spPr>
      </p:sp>
      <p:sp>
        <p:nvSpPr>
          <p:cNvPr id="14" name="Shape 12"/>
          <p:cNvSpPr/>
          <p:nvPr/>
        </p:nvSpPr>
        <p:spPr>
          <a:xfrm>
            <a:off x="4937760" y="2907792"/>
            <a:ext cx="6793992" cy="3081528"/>
          </a:xfrm>
          <a:prstGeom prst="rect">
            <a:avLst/>
          </a:prstGeom>
          <a:solidFill>
            <a:srgbClr val="FFFFFF"/>
          </a:solidFill>
          <a:ln/>
        </p:spPr>
      </p:sp>
      <p:sp>
        <p:nvSpPr>
          <p:cNvPr id="15" name="Text 13"/>
          <p:cNvSpPr txBox="1"/>
          <p:nvPr/>
        </p:nvSpPr>
        <p:spPr>
          <a:xfrm>
            <a:off x="658368" y="3035808"/>
            <a:ext cx="393192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WHY IT MATTERS</a:t>
            </a:r>
            <a:endParaRPr lang="en-US" sz="1400" dirty="0"/>
          </a:p>
        </p:txBody>
      </p:sp>
      <p:sp>
        <p:nvSpPr>
          <p:cNvPr id="16" name="Text 14"/>
          <p:cNvSpPr txBox="1"/>
          <p:nvPr/>
        </p:nvSpPr>
        <p:spPr>
          <a:xfrm>
            <a:off x="5138928" y="3035808"/>
            <a:ext cx="640080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WHAT MOVES IT</a:t>
            </a:r>
            <a:endParaRPr lang="en-US" sz="1400" dirty="0"/>
          </a:p>
        </p:txBody>
      </p:sp>
      <p:sp>
        <p:nvSpPr>
          <p:cNvPr id="17" name="Text 15"/>
          <p:cNvSpPr txBox="1"/>
          <p:nvPr/>
        </p:nvSpPr>
        <p:spPr>
          <a:xfrm>
            <a:off x="658368" y="3410712"/>
            <a:ext cx="3977640" cy="2441448"/>
          </a:xfrm>
          <a:prstGeom prst="rect">
            <a:avLst/>
          </a:prstGeom>
          <a:noFill/>
          <a:ln/>
        </p:spPr>
        <p:txBody>
          <a:bodyPr wrap="square" lIns="0" tIns="0" rIns="0" bIns="0" rtlCol="0" anchor="t"/>
          <a:lstStyle/>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It cannot be manipulated: it is work the customer agreed to.</a:t>
            </a:r>
            <a:endParaRPr lang="en-US" sz="1500" dirty="0"/>
          </a:p>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It is the main lever while car count is flat.</a:t>
            </a:r>
            <a:endParaRPr lang="en-US" sz="1500" dirty="0"/>
          </a:p>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Selling more hours also sells parts.</a:t>
            </a:r>
            <a:endParaRPr lang="en-US" sz="1500" dirty="0"/>
          </a:p>
        </p:txBody>
      </p:sp>
      <p:sp>
        <p:nvSpPr>
          <p:cNvPr id="18" name="Shape 16"/>
          <p:cNvSpPr/>
          <p:nvPr/>
        </p:nvSpPr>
        <p:spPr>
          <a:xfrm>
            <a:off x="5138928" y="3410712"/>
            <a:ext cx="45720" cy="1133856"/>
          </a:xfrm>
          <a:prstGeom prst="rect">
            <a:avLst/>
          </a:prstGeom>
          <a:solidFill>
            <a:srgbClr val="2587C5"/>
          </a:solidFill>
          <a:ln/>
        </p:spPr>
      </p:sp>
      <p:sp>
        <p:nvSpPr>
          <p:cNvPr id="19" name="Text 17"/>
          <p:cNvSpPr txBox="1"/>
          <p:nvPr/>
        </p:nvSpPr>
        <p:spPr>
          <a:xfrm>
            <a:off x="5266944" y="3410712"/>
            <a:ext cx="1877568"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MPI on every car</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Every car inspected, with photos and video sent to the customer</a:t>
            </a:r>
            <a:endParaRPr lang="en-US" sz="1400" dirty="0"/>
          </a:p>
        </p:txBody>
      </p:sp>
      <p:sp>
        <p:nvSpPr>
          <p:cNvPr id="20" name="Shape 18"/>
          <p:cNvSpPr/>
          <p:nvPr/>
        </p:nvSpPr>
        <p:spPr>
          <a:xfrm>
            <a:off x="7309104" y="3410712"/>
            <a:ext cx="45720" cy="1133856"/>
          </a:xfrm>
          <a:prstGeom prst="rect">
            <a:avLst/>
          </a:prstGeom>
          <a:solidFill>
            <a:srgbClr val="2587C5"/>
          </a:solidFill>
          <a:ln/>
        </p:spPr>
      </p:sp>
      <p:sp>
        <p:nvSpPr>
          <p:cNvPr id="21" name="Text 19"/>
          <p:cNvSpPr txBox="1"/>
          <p:nvPr/>
        </p:nvSpPr>
        <p:spPr>
          <a:xfrm>
            <a:off x="7437120" y="3410712"/>
            <a:ext cx="1877568"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Road to the Sale</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Walk-around at the vehicle: hood, tires and wipers</a:t>
            </a:r>
            <a:endParaRPr lang="en-US" sz="1400" dirty="0"/>
          </a:p>
        </p:txBody>
      </p:sp>
      <p:sp>
        <p:nvSpPr>
          <p:cNvPr id="22" name="Shape 20"/>
          <p:cNvSpPr/>
          <p:nvPr/>
        </p:nvSpPr>
        <p:spPr>
          <a:xfrm>
            <a:off x="9479280" y="3410712"/>
            <a:ext cx="45720" cy="1133856"/>
          </a:xfrm>
          <a:prstGeom prst="rect">
            <a:avLst/>
          </a:prstGeom>
          <a:solidFill>
            <a:srgbClr val="2587C5"/>
          </a:solidFill>
          <a:ln/>
        </p:spPr>
      </p:sp>
      <p:sp>
        <p:nvSpPr>
          <p:cNvPr id="23" name="Text 21"/>
          <p:cNvSpPr txBox="1"/>
          <p:nvPr/>
        </p:nvSpPr>
        <p:spPr>
          <a:xfrm>
            <a:off x="9607296" y="3410712"/>
            <a:ext cx="1877568"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Menu presentation</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Time and mileage recommendations, every customer, every time</a:t>
            </a:r>
            <a:endParaRPr lang="en-US" sz="1400" dirty="0"/>
          </a:p>
        </p:txBody>
      </p:sp>
      <p:sp>
        <p:nvSpPr>
          <p:cNvPr id="24" name="Shape 22"/>
          <p:cNvSpPr/>
          <p:nvPr/>
        </p:nvSpPr>
        <p:spPr>
          <a:xfrm>
            <a:off x="5138928" y="4654296"/>
            <a:ext cx="45720" cy="1133856"/>
          </a:xfrm>
          <a:prstGeom prst="rect">
            <a:avLst/>
          </a:prstGeom>
          <a:solidFill>
            <a:srgbClr val="2587C5"/>
          </a:solidFill>
          <a:ln/>
        </p:spPr>
      </p:sp>
      <p:sp>
        <p:nvSpPr>
          <p:cNvPr id="25" name="Text 23"/>
          <p:cNvSpPr txBox="1"/>
          <p:nvPr/>
        </p:nvSpPr>
        <p:spPr>
          <a:xfrm>
            <a:off x="5266944" y="4654296"/>
            <a:ext cx="1877568"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Declined work follow-up</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A defined process and a champion to bring it back</a:t>
            </a:r>
            <a:endParaRPr lang="en-US" sz="1400" dirty="0"/>
          </a:p>
        </p:txBody>
      </p:sp>
      <p:sp>
        <p:nvSpPr>
          <p:cNvPr id="26" name="Shape 24"/>
          <p:cNvSpPr/>
          <p:nvPr/>
        </p:nvSpPr>
        <p:spPr>
          <a:xfrm>
            <a:off x="7309104" y="4654296"/>
            <a:ext cx="45720" cy="1133856"/>
          </a:xfrm>
          <a:prstGeom prst="rect">
            <a:avLst/>
          </a:prstGeom>
          <a:solidFill>
            <a:srgbClr val="2587C5"/>
          </a:solidFill>
          <a:ln/>
        </p:spPr>
      </p:sp>
      <p:sp>
        <p:nvSpPr>
          <p:cNvPr id="27" name="Text 25"/>
          <p:cNvSpPr txBox="1"/>
          <p:nvPr/>
        </p:nvSpPr>
        <p:spPr>
          <a:xfrm>
            <a:off x="7437120" y="4654296"/>
            <a:ext cx="1877568"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Op code times</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Sell the hours the job pays; don't give time away</a:t>
            </a:r>
            <a:endParaRPr lang="en-US" sz="1400" dirty="0"/>
          </a:p>
        </p:txBody>
      </p:sp>
      <p:sp>
        <p:nvSpPr>
          <p:cNvPr id="28" name="Shape 26"/>
          <p:cNvSpPr/>
          <p:nvPr/>
        </p:nvSpPr>
        <p:spPr>
          <a:xfrm>
            <a:off x="9479280" y="4654296"/>
            <a:ext cx="45720" cy="1133856"/>
          </a:xfrm>
          <a:prstGeom prst="rect">
            <a:avLst/>
          </a:prstGeom>
          <a:solidFill>
            <a:srgbClr val="2587C5"/>
          </a:solidFill>
          <a:ln/>
        </p:spPr>
      </p:sp>
      <p:sp>
        <p:nvSpPr>
          <p:cNvPr id="29" name="Text 27"/>
          <p:cNvSpPr txBox="1"/>
          <p:nvPr/>
        </p:nvSpPr>
        <p:spPr>
          <a:xfrm>
            <a:off x="9607296" y="4654296"/>
            <a:ext cx="1877568"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Right tech, right car</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High-mileage and repair work to the techs who find it</a:t>
            </a:r>
            <a:endParaRPr lang="en-US" sz="1400" dirty="0"/>
          </a:p>
        </p:txBody>
      </p:sp>
      <p:sp>
        <p:nvSpPr>
          <p:cNvPr id="30" name="Shape 28"/>
          <p:cNvSpPr/>
          <p:nvPr/>
        </p:nvSpPr>
        <p:spPr>
          <a:xfrm>
            <a:off x="457200" y="6126480"/>
            <a:ext cx="11274552" cy="371856"/>
          </a:xfrm>
          <a:prstGeom prst="rect">
            <a:avLst/>
          </a:prstGeom>
          <a:solidFill>
            <a:srgbClr val="E6F6EE"/>
          </a:solidFill>
          <a:ln/>
        </p:spPr>
      </p:sp>
      <p:sp>
        <p:nvSpPr>
          <p:cNvPr id="31" name="Text 29"/>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Group: 1.87 CP hours per RO, up 0.07 and ahead of 2025 in all nine months.</a:t>
            </a:r>
            <a:endParaRPr lang="en-US" sz="16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THE CP ENGINE</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What Is Effective Labor Rate?</a:t>
            </a:r>
            <a:endParaRPr lang="en-US" sz="2800" dirty="0"/>
          </a:p>
        </p:txBody>
      </p:sp>
      <p:sp>
        <p:nvSpPr>
          <p:cNvPr id="5" name="Shape 3"/>
          <p:cNvSpPr/>
          <p:nvPr/>
        </p:nvSpPr>
        <p:spPr>
          <a:xfrm>
            <a:off x="457200" y="1207008"/>
            <a:ext cx="11274552" cy="1024128"/>
          </a:xfrm>
          <a:prstGeom prst="rect">
            <a:avLst/>
          </a:prstGeom>
          <a:solidFill>
            <a:srgbClr val="EDF4FA"/>
          </a:solidFill>
          <a:ln/>
        </p:spPr>
      </p:sp>
      <p:sp>
        <p:nvSpPr>
          <p:cNvPr id="6" name="Text 4"/>
          <p:cNvSpPr txBox="1"/>
          <p:nvPr/>
        </p:nvSpPr>
        <p:spPr>
          <a:xfrm>
            <a:off x="685800" y="1243584"/>
            <a:ext cx="10835640" cy="566928"/>
          </a:xfrm>
          <a:prstGeom prst="rect">
            <a:avLst/>
          </a:prstGeom>
          <a:noFill/>
          <a:ln/>
        </p:spPr>
        <p:txBody>
          <a:bodyPr wrap="square" lIns="0" tIns="0" rIns="0" bIns="0" rtlCol="0" anchor="ctr">
            <a:normAutofit/>
          </a:bodyPr>
          <a:lstStyle/>
          <a:p>
            <a:pPr indent="0" marL="0">
              <a:buNone/>
            </a:pPr>
            <a:r>
              <a:rPr lang="en-US" sz="2400" b="1" dirty="0">
                <a:solidFill>
                  <a:srgbClr val="0B2C4A"/>
                </a:solidFill>
                <a:latin typeface="Inter" pitchFamily="34" charset="0"/>
                <a:ea typeface="Inter" pitchFamily="34" charset="-122"/>
                <a:cs typeface="Inter" pitchFamily="34" charset="-120"/>
              </a:rPr>
              <a:t>Effective labor rate  </a:t>
            </a:r>
            <a:pPr indent="0" marL="0">
              <a:buNone/>
            </a:pPr>
            <a:r>
              <a:rPr lang="en-US" sz="2400" b="1" dirty="0">
                <a:solidFill>
                  <a:srgbClr val="2587C5"/>
                </a:solidFill>
                <a:latin typeface="Inter" pitchFamily="34" charset="0"/>
                <a:ea typeface="Inter" pitchFamily="34" charset="-122"/>
                <a:cs typeface="Inter" pitchFamily="34" charset="-120"/>
              </a:rPr>
              <a:t>=  </a:t>
            </a:r>
            <a:pPr indent="0" marL="0">
              <a:buNone/>
            </a:pPr>
            <a:r>
              <a:rPr lang="en-US" sz="2400" b="1" dirty="0">
                <a:solidFill>
                  <a:srgbClr val="0B2C4A"/>
                </a:solidFill>
                <a:latin typeface="Inter" pitchFamily="34" charset="0"/>
                <a:ea typeface="Inter" pitchFamily="34" charset="-122"/>
                <a:cs typeface="Inter" pitchFamily="34" charset="-120"/>
              </a:rPr>
              <a:t>CP labor sale  </a:t>
            </a:r>
            <a:pPr indent="0" marL="0">
              <a:buNone/>
            </a:pPr>
            <a:r>
              <a:rPr lang="en-US" sz="2400" b="1" dirty="0">
                <a:solidFill>
                  <a:srgbClr val="2587C5"/>
                </a:solidFill>
                <a:latin typeface="Inter" pitchFamily="34" charset="0"/>
                <a:ea typeface="Inter" pitchFamily="34" charset="-122"/>
                <a:cs typeface="Inter" pitchFamily="34" charset="-120"/>
              </a:rPr>
              <a:t>÷  </a:t>
            </a:r>
            <a:pPr indent="0" marL="0">
              <a:buNone/>
            </a:pPr>
            <a:r>
              <a:rPr lang="en-US" sz="2400" b="1" dirty="0">
                <a:solidFill>
                  <a:srgbClr val="0B2C4A"/>
                </a:solidFill>
                <a:latin typeface="Inter" pitchFamily="34" charset="0"/>
                <a:ea typeface="Inter" pitchFamily="34" charset="-122"/>
                <a:cs typeface="Inter" pitchFamily="34" charset="-120"/>
              </a:rPr>
              <a:t>CP hours sold</a:t>
            </a:r>
            <a:endParaRPr lang="en-US" sz="2400" dirty="0"/>
          </a:p>
        </p:txBody>
      </p:sp>
      <p:sp>
        <p:nvSpPr>
          <p:cNvPr id="7" name="Text 5"/>
          <p:cNvSpPr txBox="1"/>
          <p:nvPr/>
        </p:nvSpPr>
        <p:spPr>
          <a:xfrm>
            <a:off x="685800" y="1783080"/>
            <a:ext cx="10835640" cy="420624"/>
          </a:xfrm>
          <a:prstGeom prst="rect">
            <a:avLst/>
          </a:prstGeom>
          <a:noFill/>
          <a:ln/>
        </p:spPr>
        <p:txBody>
          <a:bodyPr wrap="square" lIns="0" tIns="0" rIns="0" bIns="0" rtlCol="0" anchor="ctr"/>
          <a:lstStyle/>
          <a:p>
            <a:pPr indent="0" marL="0">
              <a:buNone/>
            </a:pPr>
            <a:r>
              <a:rPr lang="en-US" sz="1500" dirty="0">
                <a:solidFill>
                  <a:srgbClr val="595959"/>
                </a:solidFill>
                <a:latin typeface="Inter" pitchFamily="34" charset="0"/>
                <a:ea typeface="Inter" pitchFamily="34" charset="-122"/>
                <a:cs typeface="Inter" pitchFamily="34" charset="-120"/>
              </a:rPr>
              <a:t>What we collect for each customer-pay labor hour after menus, discounts and mix. Door rate is what we post.</a:t>
            </a:r>
            <a:endParaRPr lang="en-US" sz="1500" dirty="0"/>
          </a:p>
        </p:txBody>
      </p:sp>
      <p:sp>
        <p:nvSpPr>
          <p:cNvPr id="8" name="Text 6"/>
          <p:cNvSpPr txBox="1"/>
          <p:nvPr/>
        </p:nvSpPr>
        <p:spPr>
          <a:xfrm>
            <a:off x="457200" y="2340864"/>
            <a:ext cx="1828800" cy="457200"/>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Roundtable example</a:t>
            </a:r>
            <a:endParaRPr lang="en-US" sz="1400" dirty="0"/>
          </a:p>
        </p:txBody>
      </p:sp>
      <p:sp>
        <p:nvSpPr>
          <p:cNvPr id="9" name="Shape 7"/>
          <p:cNvSpPr/>
          <p:nvPr/>
        </p:nvSpPr>
        <p:spPr>
          <a:xfrm>
            <a:off x="2286000" y="2340864"/>
            <a:ext cx="1801368" cy="457200"/>
          </a:xfrm>
          <a:prstGeom prst="rect">
            <a:avLst/>
          </a:prstGeom>
          <a:solidFill>
            <a:srgbClr val="FFFFFF"/>
          </a:solidFill>
          <a:ln w="9525">
            <a:solidFill>
              <a:srgbClr val="D9D9D9"/>
            </a:solidFill>
            <a:prstDash val="solid"/>
          </a:ln>
        </p:spPr>
      </p:sp>
      <p:sp>
        <p:nvSpPr>
          <p:cNvPr id="10" name="Text 8"/>
          <p:cNvSpPr txBox="1"/>
          <p:nvPr/>
        </p:nvSpPr>
        <p:spPr>
          <a:xfrm>
            <a:off x="2359152" y="2340864"/>
            <a:ext cx="1655064" cy="457200"/>
          </a:xfrm>
          <a:prstGeom prst="rect">
            <a:avLst/>
          </a:prstGeom>
          <a:noFill/>
          <a:ln/>
        </p:spPr>
        <p:txBody>
          <a:bodyPr wrap="square" lIns="0" tIns="0" rIns="0" bIns="0" rtlCol="0" anchor="ctr">
            <a:normAutofit/>
          </a:bodyPr>
          <a:lstStyle/>
          <a:p>
            <a:pPr algn="ctr" indent="0" marL="0">
              <a:buNone/>
            </a:pPr>
            <a:r>
              <a:rPr lang="en-US" sz="1400" dirty="0">
                <a:solidFill>
                  <a:srgbClr val="1A1A1A"/>
                </a:solidFill>
                <a:latin typeface="Inter" pitchFamily="34" charset="0"/>
                <a:ea typeface="Inter" pitchFamily="34" charset="-122"/>
                <a:cs typeface="Inter" pitchFamily="34" charset="-120"/>
              </a:rPr>
              <a:t>Tire rotation  </a:t>
            </a:r>
            <a:pPr algn="ctr" indent="0" marL="0">
              <a:buNone/>
            </a:pPr>
            <a:r>
              <a:rPr lang="en-US" sz="1400" b="1" dirty="0">
                <a:solidFill>
                  <a:srgbClr val="0B2C4A"/>
                </a:solidFill>
                <a:latin typeface="Inter" pitchFamily="34" charset="0"/>
                <a:ea typeface="Inter" pitchFamily="34" charset="-122"/>
                <a:cs typeface="Inter" pitchFamily="34" charset="-120"/>
              </a:rPr>
              <a:t>$67/hr</a:t>
            </a:r>
            <a:endParaRPr lang="en-US" sz="1400" dirty="0"/>
          </a:p>
        </p:txBody>
      </p:sp>
      <p:sp>
        <p:nvSpPr>
          <p:cNvPr id="11" name="Shape 9"/>
          <p:cNvSpPr/>
          <p:nvPr/>
        </p:nvSpPr>
        <p:spPr>
          <a:xfrm>
            <a:off x="4197096" y="2340864"/>
            <a:ext cx="1801368" cy="457200"/>
          </a:xfrm>
          <a:prstGeom prst="rect">
            <a:avLst/>
          </a:prstGeom>
          <a:solidFill>
            <a:srgbClr val="FFFFFF"/>
          </a:solidFill>
          <a:ln w="9525">
            <a:solidFill>
              <a:srgbClr val="D9D9D9"/>
            </a:solidFill>
            <a:prstDash val="solid"/>
          </a:ln>
        </p:spPr>
      </p:sp>
      <p:sp>
        <p:nvSpPr>
          <p:cNvPr id="12" name="Text 10"/>
          <p:cNvSpPr txBox="1"/>
          <p:nvPr/>
        </p:nvSpPr>
        <p:spPr>
          <a:xfrm>
            <a:off x="4270248" y="2340864"/>
            <a:ext cx="1655064" cy="457200"/>
          </a:xfrm>
          <a:prstGeom prst="rect">
            <a:avLst/>
          </a:prstGeom>
          <a:noFill/>
          <a:ln/>
        </p:spPr>
        <p:txBody>
          <a:bodyPr wrap="square" lIns="0" tIns="0" rIns="0" bIns="0" rtlCol="0" anchor="ctr">
            <a:normAutofit/>
          </a:bodyPr>
          <a:lstStyle/>
          <a:p>
            <a:pPr algn="ctr" indent="0" marL="0">
              <a:buNone/>
            </a:pPr>
            <a:r>
              <a:rPr lang="en-US" sz="1400" dirty="0">
                <a:solidFill>
                  <a:srgbClr val="1A1A1A"/>
                </a:solidFill>
                <a:latin typeface="Inter" pitchFamily="34" charset="0"/>
                <a:ea typeface="Inter" pitchFamily="34" charset="-122"/>
                <a:cs typeface="Inter" pitchFamily="34" charset="-120"/>
              </a:rPr>
              <a:t>Oil change  </a:t>
            </a:r>
            <a:pPr algn="ctr" indent="0" marL="0">
              <a:buNone/>
            </a:pPr>
            <a:r>
              <a:rPr lang="en-US" sz="1400" b="1" dirty="0">
                <a:solidFill>
                  <a:srgbClr val="0B2C4A"/>
                </a:solidFill>
                <a:latin typeface="Inter" pitchFamily="34" charset="0"/>
                <a:ea typeface="Inter" pitchFamily="34" charset="-122"/>
                <a:cs typeface="Inter" pitchFamily="34" charset="-120"/>
              </a:rPr>
              <a:t>$80/hr</a:t>
            </a:r>
            <a:endParaRPr lang="en-US" sz="1400" dirty="0"/>
          </a:p>
        </p:txBody>
      </p:sp>
      <p:sp>
        <p:nvSpPr>
          <p:cNvPr id="13" name="Shape 11"/>
          <p:cNvSpPr/>
          <p:nvPr/>
        </p:nvSpPr>
        <p:spPr>
          <a:xfrm>
            <a:off x="6108192" y="2340864"/>
            <a:ext cx="1801368" cy="457200"/>
          </a:xfrm>
          <a:prstGeom prst="rect">
            <a:avLst/>
          </a:prstGeom>
          <a:solidFill>
            <a:srgbClr val="FFFFFF"/>
          </a:solidFill>
          <a:ln w="9525">
            <a:solidFill>
              <a:srgbClr val="D9D9D9"/>
            </a:solidFill>
            <a:prstDash val="solid"/>
          </a:ln>
        </p:spPr>
      </p:sp>
      <p:sp>
        <p:nvSpPr>
          <p:cNvPr id="14" name="Text 12"/>
          <p:cNvSpPr txBox="1"/>
          <p:nvPr/>
        </p:nvSpPr>
        <p:spPr>
          <a:xfrm>
            <a:off x="6181344" y="2340864"/>
            <a:ext cx="1655064" cy="457200"/>
          </a:xfrm>
          <a:prstGeom prst="rect">
            <a:avLst/>
          </a:prstGeom>
          <a:noFill/>
          <a:ln/>
        </p:spPr>
        <p:txBody>
          <a:bodyPr wrap="square" lIns="0" tIns="0" rIns="0" bIns="0" rtlCol="0" anchor="ctr">
            <a:normAutofit/>
          </a:bodyPr>
          <a:lstStyle/>
          <a:p>
            <a:pPr algn="ctr" indent="0" marL="0">
              <a:buNone/>
            </a:pPr>
            <a:r>
              <a:rPr lang="en-US" sz="1400" dirty="0">
                <a:solidFill>
                  <a:srgbClr val="1A1A1A"/>
                </a:solidFill>
                <a:latin typeface="Inter" pitchFamily="34" charset="0"/>
                <a:ea typeface="Inter" pitchFamily="34" charset="-122"/>
                <a:cs typeface="Inter" pitchFamily="34" charset="-120"/>
              </a:rPr>
              <a:t>Alignment  </a:t>
            </a:r>
            <a:pPr algn="ctr" indent="0" marL="0">
              <a:buNone/>
            </a:pPr>
            <a:r>
              <a:rPr lang="en-US" sz="1400" b="1" dirty="0">
                <a:solidFill>
                  <a:srgbClr val="0B2C4A"/>
                </a:solidFill>
                <a:latin typeface="Inter" pitchFamily="34" charset="0"/>
                <a:ea typeface="Inter" pitchFamily="34" charset="-122"/>
                <a:cs typeface="Inter" pitchFamily="34" charset="-120"/>
              </a:rPr>
              <a:t>$117/hr</a:t>
            </a:r>
            <a:endParaRPr lang="en-US" sz="1400" dirty="0"/>
          </a:p>
        </p:txBody>
      </p:sp>
      <p:sp>
        <p:nvSpPr>
          <p:cNvPr id="15" name="Shape 13"/>
          <p:cNvSpPr/>
          <p:nvPr/>
        </p:nvSpPr>
        <p:spPr>
          <a:xfrm>
            <a:off x="8019288" y="2340864"/>
            <a:ext cx="1801368" cy="457200"/>
          </a:xfrm>
          <a:prstGeom prst="rect">
            <a:avLst/>
          </a:prstGeom>
          <a:solidFill>
            <a:srgbClr val="FFFFFF"/>
          </a:solidFill>
          <a:ln w="9525">
            <a:solidFill>
              <a:srgbClr val="D9D9D9"/>
            </a:solidFill>
            <a:prstDash val="solid"/>
          </a:ln>
        </p:spPr>
      </p:sp>
      <p:sp>
        <p:nvSpPr>
          <p:cNvPr id="16" name="Text 14"/>
          <p:cNvSpPr txBox="1"/>
          <p:nvPr/>
        </p:nvSpPr>
        <p:spPr>
          <a:xfrm>
            <a:off x="8092440" y="2340864"/>
            <a:ext cx="1655064" cy="457200"/>
          </a:xfrm>
          <a:prstGeom prst="rect">
            <a:avLst/>
          </a:prstGeom>
          <a:noFill/>
          <a:ln/>
        </p:spPr>
        <p:txBody>
          <a:bodyPr wrap="square" lIns="0" tIns="0" rIns="0" bIns="0" rtlCol="0" anchor="ctr">
            <a:normAutofit/>
          </a:bodyPr>
          <a:lstStyle/>
          <a:p>
            <a:pPr algn="ctr" indent="0" marL="0">
              <a:buNone/>
            </a:pPr>
            <a:r>
              <a:rPr lang="en-US" sz="1400" dirty="0">
                <a:solidFill>
                  <a:srgbClr val="1A1A1A"/>
                </a:solidFill>
                <a:latin typeface="Inter" pitchFamily="34" charset="0"/>
                <a:ea typeface="Inter" pitchFamily="34" charset="-122"/>
                <a:cs typeface="Inter" pitchFamily="34" charset="-120"/>
              </a:rPr>
              <a:t>Steering rack  </a:t>
            </a:r>
            <a:pPr algn="ctr" indent="0" marL="0">
              <a:buNone/>
            </a:pPr>
            <a:r>
              <a:rPr lang="en-US" sz="1400" b="1" dirty="0">
                <a:solidFill>
                  <a:srgbClr val="0B2C4A"/>
                </a:solidFill>
                <a:latin typeface="Inter" pitchFamily="34" charset="0"/>
                <a:ea typeface="Inter" pitchFamily="34" charset="-122"/>
                <a:cs typeface="Inter" pitchFamily="34" charset="-120"/>
              </a:rPr>
              <a:t>$160/hr</a:t>
            </a:r>
            <a:endParaRPr lang="en-US" sz="1400" dirty="0"/>
          </a:p>
        </p:txBody>
      </p:sp>
      <p:sp>
        <p:nvSpPr>
          <p:cNvPr id="17" name="Shape 15"/>
          <p:cNvSpPr/>
          <p:nvPr/>
        </p:nvSpPr>
        <p:spPr>
          <a:xfrm>
            <a:off x="9930384" y="2340864"/>
            <a:ext cx="1801368" cy="457200"/>
          </a:xfrm>
          <a:prstGeom prst="rect">
            <a:avLst/>
          </a:prstGeom>
          <a:solidFill>
            <a:srgbClr val="FFFFFF"/>
          </a:solidFill>
          <a:ln w="9525">
            <a:solidFill>
              <a:srgbClr val="D9D9D9"/>
            </a:solidFill>
            <a:prstDash val="solid"/>
          </a:ln>
        </p:spPr>
      </p:sp>
      <p:sp>
        <p:nvSpPr>
          <p:cNvPr id="18" name="Text 16"/>
          <p:cNvSpPr txBox="1"/>
          <p:nvPr/>
        </p:nvSpPr>
        <p:spPr>
          <a:xfrm>
            <a:off x="10003536" y="2340864"/>
            <a:ext cx="1655064" cy="457200"/>
          </a:xfrm>
          <a:prstGeom prst="rect">
            <a:avLst/>
          </a:prstGeom>
          <a:noFill/>
          <a:ln/>
        </p:spPr>
        <p:txBody>
          <a:bodyPr wrap="square" lIns="0" tIns="0" rIns="0" bIns="0" rtlCol="0" anchor="ctr">
            <a:normAutofit/>
          </a:bodyPr>
          <a:lstStyle/>
          <a:p>
            <a:pPr algn="ctr" indent="0" marL="0">
              <a:buNone/>
            </a:pPr>
            <a:r>
              <a:rPr lang="en-US" sz="1400" dirty="0">
                <a:solidFill>
                  <a:srgbClr val="1A1A1A"/>
                </a:solidFill>
                <a:latin typeface="Inter" pitchFamily="34" charset="0"/>
                <a:ea typeface="Inter" pitchFamily="34" charset="-122"/>
                <a:cs typeface="Inter" pitchFamily="34" charset="-120"/>
              </a:rPr>
              <a:t>All 7 jobs  </a:t>
            </a:r>
            <a:pPr algn="ctr" indent="0" marL="0">
              <a:buNone/>
            </a:pPr>
            <a:r>
              <a:rPr lang="en-US" sz="1400" b="1" dirty="0">
                <a:solidFill>
                  <a:srgbClr val="0B2C4A"/>
                </a:solidFill>
                <a:latin typeface="Inter" pitchFamily="34" charset="0"/>
                <a:ea typeface="Inter" pitchFamily="34" charset="-122"/>
                <a:cs typeface="Inter" pitchFamily="34" charset="-120"/>
              </a:rPr>
              <a:t>$130/hr</a:t>
            </a:r>
            <a:endParaRPr lang="en-US" sz="1400" dirty="0"/>
          </a:p>
        </p:txBody>
      </p:sp>
      <p:sp>
        <p:nvSpPr>
          <p:cNvPr id="19" name="Shape 17"/>
          <p:cNvSpPr/>
          <p:nvPr/>
        </p:nvSpPr>
        <p:spPr>
          <a:xfrm>
            <a:off x="457200" y="2907792"/>
            <a:ext cx="4343400" cy="3081528"/>
          </a:xfrm>
          <a:prstGeom prst="rect">
            <a:avLst/>
          </a:prstGeom>
          <a:solidFill>
            <a:srgbClr val="FFFFFF"/>
          </a:solidFill>
          <a:ln/>
        </p:spPr>
      </p:sp>
      <p:sp>
        <p:nvSpPr>
          <p:cNvPr id="20" name="Shape 18"/>
          <p:cNvSpPr/>
          <p:nvPr/>
        </p:nvSpPr>
        <p:spPr>
          <a:xfrm>
            <a:off x="4937760" y="2907792"/>
            <a:ext cx="6793992" cy="3081528"/>
          </a:xfrm>
          <a:prstGeom prst="rect">
            <a:avLst/>
          </a:prstGeom>
          <a:solidFill>
            <a:srgbClr val="FFFFFF"/>
          </a:solidFill>
          <a:ln/>
        </p:spPr>
      </p:sp>
      <p:sp>
        <p:nvSpPr>
          <p:cNvPr id="21" name="Text 19"/>
          <p:cNvSpPr txBox="1"/>
          <p:nvPr/>
        </p:nvSpPr>
        <p:spPr>
          <a:xfrm>
            <a:off x="658368" y="3035808"/>
            <a:ext cx="393192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WHY IT MATTERS</a:t>
            </a:r>
            <a:endParaRPr lang="en-US" sz="1400" dirty="0"/>
          </a:p>
        </p:txBody>
      </p:sp>
      <p:sp>
        <p:nvSpPr>
          <p:cNvPr id="22" name="Text 20"/>
          <p:cNvSpPr txBox="1"/>
          <p:nvPr/>
        </p:nvSpPr>
        <p:spPr>
          <a:xfrm>
            <a:off x="5138928" y="3035808"/>
            <a:ext cx="640080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WHAT MOVES IT</a:t>
            </a:r>
            <a:endParaRPr lang="en-US" sz="1400" dirty="0"/>
          </a:p>
        </p:txBody>
      </p:sp>
      <p:sp>
        <p:nvSpPr>
          <p:cNvPr id="23" name="Text 21"/>
          <p:cNvSpPr txBox="1"/>
          <p:nvPr/>
        </p:nvSpPr>
        <p:spPr>
          <a:xfrm>
            <a:off x="658368" y="3410712"/>
            <a:ext cx="3977640" cy="2441448"/>
          </a:xfrm>
          <a:prstGeom prst="rect">
            <a:avLst/>
          </a:prstGeom>
          <a:noFill/>
          <a:ln/>
        </p:spPr>
        <p:txBody>
          <a:bodyPr wrap="square" lIns="0" tIns="0" rIns="0" bIns="0" rtlCol="0" anchor="t"/>
          <a:lstStyle/>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Every hour sold is worth the ELR, so it sets the value of the whole shop.</a:t>
            </a:r>
            <a:endParaRPr lang="en-US" sz="1500" dirty="0"/>
          </a:p>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The gap to door rate is money given away. Our benchmark: CP ELR at least 70% of door rate.</a:t>
            </a:r>
            <a:endParaRPr lang="en-US" sz="1500" dirty="0"/>
          </a:p>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It shows whether pricing, discounting and mix are under control.</a:t>
            </a:r>
            <a:endParaRPr lang="en-US" sz="1500" dirty="0"/>
          </a:p>
        </p:txBody>
      </p:sp>
      <p:sp>
        <p:nvSpPr>
          <p:cNvPr id="24" name="Shape 22"/>
          <p:cNvSpPr/>
          <p:nvPr/>
        </p:nvSpPr>
        <p:spPr>
          <a:xfrm>
            <a:off x="5138928" y="3410712"/>
            <a:ext cx="45720" cy="1133856"/>
          </a:xfrm>
          <a:prstGeom prst="rect">
            <a:avLst/>
          </a:prstGeom>
          <a:solidFill>
            <a:srgbClr val="2587C5"/>
          </a:solidFill>
          <a:ln/>
        </p:spPr>
      </p:sp>
      <p:sp>
        <p:nvSpPr>
          <p:cNvPr id="25" name="Text 23"/>
          <p:cNvSpPr txBox="1"/>
          <p:nvPr/>
        </p:nvSpPr>
        <p:spPr>
          <a:xfrm>
            <a:off x="5266944" y="3410712"/>
            <a:ext cx="1877568"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Door rate</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The posted rate, set from a market labor study</a:t>
            </a:r>
            <a:endParaRPr lang="en-US" sz="1400" dirty="0"/>
          </a:p>
        </p:txBody>
      </p:sp>
      <p:sp>
        <p:nvSpPr>
          <p:cNvPr id="26" name="Shape 24"/>
          <p:cNvSpPr/>
          <p:nvPr/>
        </p:nvSpPr>
        <p:spPr>
          <a:xfrm>
            <a:off x="7309104" y="3410712"/>
            <a:ext cx="45720" cy="1133856"/>
          </a:xfrm>
          <a:prstGeom prst="rect">
            <a:avLst/>
          </a:prstGeom>
          <a:solidFill>
            <a:srgbClr val="2587C5"/>
          </a:solidFill>
          <a:ln/>
        </p:spPr>
      </p:sp>
      <p:sp>
        <p:nvSpPr>
          <p:cNvPr id="27" name="Text 25"/>
          <p:cNvSpPr txBox="1"/>
          <p:nvPr/>
        </p:nvSpPr>
        <p:spPr>
          <a:xfrm>
            <a:off x="7437120" y="3410712"/>
            <a:ext cx="1877568"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Maintenance pricing</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Menus and loss leaders below door rate pull ELR down</a:t>
            </a:r>
            <a:endParaRPr lang="en-US" sz="1400" dirty="0"/>
          </a:p>
        </p:txBody>
      </p:sp>
      <p:sp>
        <p:nvSpPr>
          <p:cNvPr id="28" name="Shape 26"/>
          <p:cNvSpPr/>
          <p:nvPr/>
        </p:nvSpPr>
        <p:spPr>
          <a:xfrm>
            <a:off x="9479280" y="3410712"/>
            <a:ext cx="45720" cy="1133856"/>
          </a:xfrm>
          <a:prstGeom prst="rect">
            <a:avLst/>
          </a:prstGeom>
          <a:solidFill>
            <a:srgbClr val="2587C5"/>
          </a:solidFill>
          <a:ln/>
        </p:spPr>
      </p:sp>
      <p:sp>
        <p:nvSpPr>
          <p:cNvPr id="29" name="Text 27"/>
          <p:cNvSpPr txBox="1"/>
          <p:nvPr/>
        </p:nvSpPr>
        <p:spPr>
          <a:xfrm>
            <a:off x="9607296" y="3410712"/>
            <a:ext cx="1877568"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Work mix</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Repair work raises ELR; quick maintenance lowers it</a:t>
            </a:r>
            <a:endParaRPr lang="en-US" sz="1400" dirty="0"/>
          </a:p>
        </p:txBody>
      </p:sp>
      <p:sp>
        <p:nvSpPr>
          <p:cNvPr id="30" name="Shape 28"/>
          <p:cNvSpPr/>
          <p:nvPr/>
        </p:nvSpPr>
        <p:spPr>
          <a:xfrm>
            <a:off x="5138928" y="4654296"/>
            <a:ext cx="45720" cy="1133856"/>
          </a:xfrm>
          <a:prstGeom prst="rect">
            <a:avLst/>
          </a:prstGeom>
          <a:solidFill>
            <a:srgbClr val="2587C5"/>
          </a:solidFill>
          <a:ln/>
        </p:spPr>
      </p:sp>
      <p:sp>
        <p:nvSpPr>
          <p:cNvPr id="31" name="Text 29"/>
          <p:cNvSpPr txBox="1"/>
          <p:nvPr/>
        </p:nvSpPr>
        <p:spPr>
          <a:xfrm>
            <a:off x="5266944" y="4654296"/>
            <a:ext cx="1877568"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Discounts</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Every discount lowers ELR. Run them through ADC so we can see them.</a:t>
            </a:r>
            <a:endParaRPr lang="en-US" sz="1400" dirty="0"/>
          </a:p>
        </p:txBody>
      </p:sp>
      <p:sp>
        <p:nvSpPr>
          <p:cNvPr id="32" name="Shape 30"/>
          <p:cNvSpPr/>
          <p:nvPr/>
        </p:nvSpPr>
        <p:spPr>
          <a:xfrm>
            <a:off x="7309104" y="4654296"/>
            <a:ext cx="45720" cy="1133856"/>
          </a:xfrm>
          <a:prstGeom prst="rect">
            <a:avLst/>
          </a:prstGeom>
          <a:solidFill>
            <a:srgbClr val="2587C5"/>
          </a:solidFill>
          <a:ln/>
        </p:spPr>
      </p:sp>
      <p:sp>
        <p:nvSpPr>
          <p:cNvPr id="33" name="Text 31"/>
          <p:cNvSpPr txBox="1"/>
          <p:nvPr/>
        </p:nvSpPr>
        <p:spPr>
          <a:xfrm>
            <a:off x="7437120" y="4654296"/>
            <a:ext cx="1877568"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Labor grid</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Prices longer jobs differently; should lift ELR on repair work</a:t>
            </a:r>
            <a:endParaRPr lang="en-US" sz="1400" dirty="0"/>
          </a:p>
        </p:txBody>
      </p:sp>
      <p:sp>
        <p:nvSpPr>
          <p:cNvPr id="34" name="Shape 32"/>
          <p:cNvSpPr/>
          <p:nvPr/>
        </p:nvSpPr>
        <p:spPr>
          <a:xfrm>
            <a:off x="9479280" y="4654296"/>
            <a:ext cx="45720" cy="1133856"/>
          </a:xfrm>
          <a:prstGeom prst="rect">
            <a:avLst/>
          </a:prstGeom>
          <a:solidFill>
            <a:srgbClr val="2587C5"/>
          </a:solidFill>
          <a:ln/>
        </p:spPr>
      </p:sp>
      <p:sp>
        <p:nvSpPr>
          <p:cNvPr id="35" name="Text 33"/>
          <p:cNvSpPr txBox="1"/>
          <p:nvPr/>
        </p:nvSpPr>
        <p:spPr>
          <a:xfrm>
            <a:off x="9607296" y="4654296"/>
            <a:ext cx="1877568"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Hours charged vs sold</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Charging less time than the job pays the tech</a:t>
            </a:r>
            <a:endParaRPr lang="en-US" sz="1400" dirty="0"/>
          </a:p>
        </p:txBody>
      </p:sp>
      <p:sp>
        <p:nvSpPr>
          <p:cNvPr id="36" name="Shape 34"/>
          <p:cNvSpPr/>
          <p:nvPr/>
        </p:nvSpPr>
        <p:spPr>
          <a:xfrm>
            <a:off x="457200" y="6126480"/>
            <a:ext cx="11274552" cy="364236"/>
          </a:xfrm>
          <a:prstGeom prst="rect">
            <a:avLst/>
          </a:prstGeom>
          <a:solidFill>
            <a:srgbClr val="E6F6EE"/>
          </a:solidFill>
          <a:ln/>
        </p:spPr>
      </p:sp>
      <p:sp>
        <p:nvSpPr>
          <p:cNvPr id="37" name="Text 35"/>
          <p:cNvSpPr txBox="1"/>
          <p:nvPr/>
        </p:nvSpPr>
        <p:spPr>
          <a:xfrm>
            <a:off x="658368" y="6144768"/>
            <a:ext cx="10927080" cy="327660"/>
          </a:xfrm>
          <a:prstGeom prst="rect">
            <a:avLst/>
          </a:prstGeom>
          <a:noFill/>
          <a:ln/>
        </p:spPr>
        <p:txBody>
          <a:bodyPr wrap="square" lIns="0" tIns="0" rIns="0" bIns="0" rtlCol="0" anchor="ctr"/>
          <a:lstStyle/>
          <a:p>
            <a:pPr indent="0" marL="0">
              <a:buNone/>
            </a:pPr>
            <a:r>
              <a:rPr lang="en-US" sz="1550" b="1" dirty="0">
                <a:solidFill>
                  <a:srgbClr val="0B7A4A"/>
                </a:solidFill>
                <a:latin typeface="Inter" pitchFamily="34" charset="0"/>
                <a:ea typeface="Inter" pitchFamily="34" charset="-122"/>
                <a:cs typeface="Inter" pitchFamily="34" charset="-120"/>
              </a:rPr>
              <a:t>Group: $162.42 CP ELR, up $3.56. Jul-Sep it ran 74.7% of door rate; 25 of 33 stores at or above 70%.</a:t>
            </a:r>
            <a:endParaRPr lang="en-US" sz="155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THE CP ENGINE</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What Is CP Labor $ per RO?</a:t>
            </a:r>
            <a:endParaRPr lang="en-US" sz="2800" dirty="0"/>
          </a:p>
        </p:txBody>
      </p:sp>
      <p:sp>
        <p:nvSpPr>
          <p:cNvPr id="5" name="Shape 3"/>
          <p:cNvSpPr/>
          <p:nvPr/>
        </p:nvSpPr>
        <p:spPr>
          <a:xfrm>
            <a:off x="457200" y="1207008"/>
            <a:ext cx="11274552" cy="1024128"/>
          </a:xfrm>
          <a:prstGeom prst="rect">
            <a:avLst/>
          </a:prstGeom>
          <a:solidFill>
            <a:srgbClr val="EDF4FA"/>
          </a:solidFill>
          <a:ln/>
        </p:spPr>
      </p:sp>
      <p:sp>
        <p:nvSpPr>
          <p:cNvPr id="6" name="Text 4"/>
          <p:cNvSpPr txBox="1"/>
          <p:nvPr/>
        </p:nvSpPr>
        <p:spPr>
          <a:xfrm>
            <a:off x="685800" y="1243584"/>
            <a:ext cx="10835640" cy="566928"/>
          </a:xfrm>
          <a:prstGeom prst="rect">
            <a:avLst/>
          </a:prstGeom>
          <a:noFill/>
          <a:ln/>
        </p:spPr>
        <p:txBody>
          <a:bodyPr wrap="square" lIns="0" tIns="0" rIns="0" bIns="0" rtlCol="0" anchor="ctr">
            <a:normAutofit/>
          </a:bodyPr>
          <a:lstStyle/>
          <a:p>
            <a:pPr indent="0" marL="0">
              <a:buNone/>
            </a:pPr>
            <a:r>
              <a:rPr lang="en-US" sz="2400" b="1" dirty="0">
                <a:solidFill>
                  <a:srgbClr val="0B2C4A"/>
                </a:solidFill>
                <a:latin typeface="Inter" pitchFamily="34" charset="0"/>
                <a:ea typeface="Inter" pitchFamily="34" charset="-122"/>
                <a:cs typeface="Inter" pitchFamily="34" charset="-120"/>
              </a:rPr>
              <a:t>CP labor $ per RO  </a:t>
            </a:r>
            <a:pPr indent="0" marL="0">
              <a:buNone/>
            </a:pPr>
            <a:r>
              <a:rPr lang="en-US" sz="2400" b="1" dirty="0">
                <a:solidFill>
                  <a:srgbClr val="2587C5"/>
                </a:solidFill>
                <a:latin typeface="Inter" pitchFamily="34" charset="0"/>
                <a:ea typeface="Inter" pitchFamily="34" charset="-122"/>
                <a:cs typeface="Inter" pitchFamily="34" charset="-120"/>
              </a:rPr>
              <a:t>=  </a:t>
            </a:r>
            <a:pPr indent="0" marL="0">
              <a:buNone/>
            </a:pPr>
            <a:r>
              <a:rPr lang="en-US" sz="2400" b="1" dirty="0">
                <a:solidFill>
                  <a:srgbClr val="0B2C4A"/>
                </a:solidFill>
                <a:latin typeface="Inter" pitchFamily="34" charset="0"/>
                <a:ea typeface="Inter" pitchFamily="34" charset="-122"/>
                <a:cs typeface="Inter" pitchFamily="34" charset="-120"/>
              </a:rPr>
              <a:t>hours per RO  </a:t>
            </a:r>
            <a:pPr indent="0" marL="0">
              <a:buNone/>
            </a:pPr>
            <a:r>
              <a:rPr lang="en-US" sz="2400" b="1" dirty="0">
                <a:solidFill>
                  <a:srgbClr val="2587C5"/>
                </a:solidFill>
                <a:latin typeface="Inter" pitchFamily="34" charset="0"/>
                <a:ea typeface="Inter" pitchFamily="34" charset="-122"/>
                <a:cs typeface="Inter" pitchFamily="34" charset="-120"/>
              </a:rPr>
              <a:t>×  </a:t>
            </a:r>
            <a:pPr indent="0" marL="0">
              <a:buNone/>
            </a:pPr>
            <a:r>
              <a:rPr lang="en-US" sz="2400" b="1" dirty="0">
                <a:solidFill>
                  <a:srgbClr val="0B2C4A"/>
                </a:solidFill>
                <a:latin typeface="Inter" pitchFamily="34" charset="0"/>
                <a:ea typeface="Inter" pitchFamily="34" charset="-122"/>
                <a:cs typeface="Inter" pitchFamily="34" charset="-120"/>
              </a:rPr>
              <a:t>ELR</a:t>
            </a:r>
            <a:endParaRPr lang="en-US" sz="2400" dirty="0"/>
          </a:p>
        </p:txBody>
      </p:sp>
      <p:sp>
        <p:nvSpPr>
          <p:cNvPr id="7" name="Text 5"/>
          <p:cNvSpPr txBox="1"/>
          <p:nvPr/>
        </p:nvSpPr>
        <p:spPr>
          <a:xfrm>
            <a:off x="685800" y="1783080"/>
            <a:ext cx="10835640" cy="420624"/>
          </a:xfrm>
          <a:prstGeom prst="rect">
            <a:avLst/>
          </a:prstGeom>
          <a:noFill/>
          <a:ln/>
        </p:spPr>
        <p:txBody>
          <a:bodyPr wrap="square" lIns="0" tIns="0" rIns="0" bIns="0" rtlCol="0" anchor="ctr"/>
          <a:lstStyle/>
          <a:p>
            <a:pPr indent="0" marL="0">
              <a:buNone/>
            </a:pPr>
            <a:r>
              <a:rPr lang="en-US" sz="1500" dirty="0">
                <a:solidFill>
                  <a:srgbClr val="595959"/>
                </a:solidFill>
                <a:latin typeface="Inter" pitchFamily="34" charset="0"/>
                <a:ea typeface="Inter" pitchFamily="34" charset="-122"/>
                <a:cs typeface="Inter" pitchFamily="34" charset="-120"/>
              </a:rPr>
              <a:t>Customer-pay labor sale divided by CP RO count. It combines how much we sell with what we collect for it.</a:t>
            </a:r>
            <a:endParaRPr lang="en-US" sz="1500" dirty="0"/>
          </a:p>
        </p:txBody>
      </p:sp>
      <p:sp>
        <p:nvSpPr>
          <p:cNvPr id="8" name="Text 6"/>
          <p:cNvSpPr txBox="1"/>
          <p:nvPr/>
        </p:nvSpPr>
        <p:spPr>
          <a:xfrm>
            <a:off x="457200" y="2340864"/>
            <a:ext cx="1828800" cy="457200"/>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OUR NUMBERS</a:t>
            </a:r>
            <a:endParaRPr lang="en-US" sz="1400" dirty="0"/>
          </a:p>
        </p:txBody>
      </p:sp>
      <p:sp>
        <p:nvSpPr>
          <p:cNvPr id="9" name="Shape 7"/>
          <p:cNvSpPr/>
          <p:nvPr/>
        </p:nvSpPr>
        <p:spPr>
          <a:xfrm>
            <a:off x="2286000" y="2340864"/>
            <a:ext cx="4668012" cy="457200"/>
          </a:xfrm>
          <a:prstGeom prst="rect">
            <a:avLst/>
          </a:prstGeom>
          <a:solidFill>
            <a:srgbClr val="FFFFFF"/>
          </a:solidFill>
          <a:ln w="9525">
            <a:solidFill>
              <a:srgbClr val="D9D9D9"/>
            </a:solidFill>
            <a:prstDash val="solid"/>
          </a:ln>
        </p:spPr>
      </p:sp>
      <p:sp>
        <p:nvSpPr>
          <p:cNvPr id="10" name="Text 8"/>
          <p:cNvSpPr txBox="1"/>
          <p:nvPr/>
        </p:nvSpPr>
        <p:spPr>
          <a:xfrm>
            <a:off x="2359152" y="2340864"/>
            <a:ext cx="4521708" cy="457200"/>
          </a:xfrm>
          <a:prstGeom prst="rect">
            <a:avLst/>
          </a:prstGeom>
          <a:noFill/>
          <a:ln/>
        </p:spPr>
        <p:txBody>
          <a:bodyPr wrap="square" lIns="0" tIns="0" rIns="0" bIns="0" rtlCol="0" anchor="ctr">
            <a:normAutofit/>
          </a:bodyPr>
          <a:lstStyle/>
          <a:p>
            <a:pPr algn="ctr" indent="0" marL="0">
              <a:buNone/>
            </a:pPr>
            <a:r>
              <a:rPr lang="en-US" sz="1400" dirty="0">
                <a:solidFill>
                  <a:srgbClr val="1A1A1A"/>
                </a:solidFill>
                <a:latin typeface="Inter" pitchFamily="34" charset="0"/>
                <a:ea typeface="Inter" pitchFamily="34" charset="-122"/>
                <a:cs typeface="Inter" pitchFamily="34" charset="-120"/>
              </a:rPr>
              <a:t>1.87 hours per RO  </a:t>
            </a:r>
            <a:pPr algn="ctr" indent="0" marL="0">
              <a:buNone/>
            </a:pPr>
            <a:r>
              <a:rPr lang="en-US" sz="1400" b="1" dirty="0">
                <a:solidFill>
                  <a:srgbClr val="0B2C4A"/>
                </a:solidFill>
                <a:latin typeface="Inter" pitchFamily="34" charset="0"/>
                <a:ea typeface="Inter" pitchFamily="34" charset="-122"/>
                <a:cs typeface="Inter" pitchFamily="34" charset="-120"/>
              </a:rPr>
              <a:t>× $162.42</a:t>
            </a:r>
            <a:endParaRPr lang="en-US" sz="1400" dirty="0"/>
          </a:p>
        </p:txBody>
      </p:sp>
      <p:sp>
        <p:nvSpPr>
          <p:cNvPr id="11" name="Shape 9"/>
          <p:cNvSpPr/>
          <p:nvPr/>
        </p:nvSpPr>
        <p:spPr>
          <a:xfrm>
            <a:off x="7063740" y="2340864"/>
            <a:ext cx="4668012" cy="457200"/>
          </a:xfrm>
          <a:prstGeom prst="rect">
            <a:avLst/>
          </a:prstGeom>
          <a:solidFill>
            <a:srgbClr val="FFFFFF"/>
          </a:solidFill>
          <a:ln w="9525">
            <a:solidFill>
              <a:srgbClr val="D9D9D9"/>
            </a:solidFill>
            <a:prstDash val="solid"/>
          </a:ln>
        </p:spPr>
      </p:sp>
      <p:sp>
        <p:nvSpPr>
          <p:cNvPr id="12" name="Text 10"/>
          <p:cNvSpPr txBox="1"/>
          <p:nvPr/>
        </p:nvSpPr>
        <p:spPr>
          <a:xfrm>
            <a:off x="7136892" y="2340864"/>
            <a:ext cx="4521708" cy="457200"/>
          </a:xfrm>
          <a:prstGeom prst="rect">
            <a:avLst/>
          </a:prstGeom>
          <a:noFill/>
          <a:ln/>
        </p:spPr>
        <p:txBody>
          <a:bodyPr wrap="square" lIns="0" tIns="0" rIns="0" bIns="0" rtlCol="0" anchor="ctr">
            <a:normAutofit/>
          </a:bodyPr>
          <a:lstStyle/>
          <a:p>
            <a:pPr algn="ctr" indent="0" marL="0">
              <a:buNone/>
            </a:pPr>
            <a:r>
              <a:rPr lang="en-US" sz="1400" dirty="0">
                <a:solidFill>
                  <a:srgbClr val="1A1A1A"/>
                </a:solidFill>
                <a:latin typeface="Inter" pitchFamily="34" charset="0"/>
                <a:ea typeface="Inter" pitchFamily="34" charset="-122"/>
                <a:cs typeface="Inter" pitchFamily="34" charset="-120"/>
              </a:rPr>
              <a:t>= CP labor per RO  </a:t>
            </a:r>
            <a:pPr algn="ctr" indent="0" marL="0">
              <a:buNone/>
            </a:pPr>
            <a:r>
              <a:rPr lang="en-US" sz="1400" b="1" dirty="0">
                <a:solidFill>
                  <a:srgbClr val="0B2C4A"/>
                </a:solidFill>
                <a:latin typeface="Inter" pitchFamily="34" charset="0"/>
                <a:ea typeface="Inter" pitchFamily="34" charset="-122"/>
                <a:cs typeface="Inter" pitchFamily="34" charset="-120"/>
              </a:rPr>
              <a:t>$304</a:t>
            </a:r>
            <a:endParaRPr lang="en-US" sz="1400" dirty="0"/>
          </a:p>
        </p:txBody>
      </p:sp>
      <p:sp>
        <p:nvSpPr>
          <p:cNvPr id="13" name="Shape 11"/>
          <p:cNvSpPr/>
          <p:nvPr/>
        </p:nvSpPr>
        <p:spPr>
          <a:xfrm>
            <a:off x="457200" y="2907792"/>
            <a:ext cx="4343400" cy="3081528"/>
          </a:xfrm>
          <a:prstGeom prst="rect">
            <a:avLst/>
          </a:prstGeom>
          <a:solidFill>
            <a:srgbClr val="FFFFFF"/>
          </a:solidFill>
          <a:ln/>
        </p:spPr>
      </p:sp>
      <p:sp>
        <p:nvSpPr>
          <p:cNvPr id="14" name="Shape 12"/>
          <p:cNvSpPr/>
          <p:nvPr/>
        </p:nvSpPr>
        <p:spPr>
          <a:xfrm>
            <a:off x="4937760" y="2907792"/>
            <a:ext cx="6793992" cy="3081528"/>
          </a:xfrm>
          <a:prstGeom prst="rect">
            <a:avLst/>
          </a:prstGeom>
          <a:solidFill>
            <a:srgbClr val="FFFFFF"/>
          </a:solidFill>
          <a:ln/>
        </p:spPr>
      </p:sp>
      <p:sp>
        <p:nvSpPr>
          <p:cNvPr id="15" name="Text 13"/>
          <p:cNvSpPr txBox="1"/>
          <p:nvPr/>
        </p:nvSpPr>
        <p:spPr>
          <a:xfrm>
            <a:off x="658368" y="3035808"/>
            <a:ext cx="393192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WHY IT MATTERS</a:t>
            </a:r>
            <a:endParaRPr lang="en-US" sz="1400" dirty="0"/>
          </a:p>
        </p:txBody>
      </p:sp>
      <p:sp>
        <p:nvSpPr>
          <p:cNvPr id="16" name="Text 14"/>
          <p:cNvSpPr txBox="1"/>
          <p:nvPr/>
        </p:nvSpPr>
        <p:spPr>
          <a:xfrm>
            <a:off x="5138928" y="3035808"/>
            <a:ext cx="640080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WHAT MOVES IT</a:t>
            </a:r>
            <a:endParaRPr lang="en-US" sz="1400" dirty="0"/>
          </a:p>
        </p:txBody>
      </p:sp>
      <p:sp>
        <p:nvSpPr>
          <p:cNvPr id="17" name="Text 15"/>
          <p:cNvSpPr txBox="1"/>
          <p:nvPr/>
        </p:nvSpPr>
        <p:spPr>
          <a:xfrm>
            <a:off x="658368" y="3410712"/>
            <a:ext cx="3977640" cy="2441448"/>
          </a:xfrm>
          <a:prstGeom prst="rect">
            <a:avLst/>
          </a:prstGeom>
          <a:noFill/>
          <a:ln/>
        </p:spPr>
        <p:txBody>
          <a:bodyPr wrap="square" lIns="0" tIns="0" rIns="0" bIns="0" rtlCol="0" anchor="t"/>
          <a:lstStyle/>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"Total money in beats ELR, gross %, hours, anything else. It's what we sell." (Roundtable)</a:t>
            </a:r>
            <a:endParaRPr lang="en-US" sz="1500" dirty="0"/>
          </a:p>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It measures execution for the store and for each advisor.</a:t>
            </a:r>
            <a:endParaRPr lang="en-US" sz="1500" dirty="0"/>
          </a:p>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It is the best number to build advisor pay on.</a:t>
            </a:r>
            <a:endParaRPr lang="en-US" sz="1500" dirty="0"/>
          </a:p>
        </p:txBody>
      </p:sp>
      <p:sp>
        <p:nvSpPr>
          <p:cNvPr id="18" name="Shape 16"/>
          <p:cNvSpPr/>
          <p:nvPr/>
        </p:nvSpPr>
        <p:spPr>
          <a:xfrm>
            <a:off x="5138928" y="3410712"/>
            <a:ext cx="45720" cy="1133856"/>
          </a:xfrm>
          <a:prstGeom prst="rect">
            <a:avLst/>
          </a:prstGeom>
          <a:solidFill>
            <a:srgbClr val="2587C5"/>
          </a:solidFill>
          <a:ln/>
        </p:spPr>
      </p:sp>
      <p:sp>
        <p:nvSpPr>
          <p:cNvPr id="19" name="Text 17"/>
          <p:cNvSpPr txBox="1"/>
          <p:nvPr/>
        </p:nvSpPr>
        <p:spPr>
          <a:xfrm>
            <a:off x="5266944" y="3410712"/>
            <a:ext cx="2962656"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Hours per RO</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Every lever on the hours slide: MPI, menu, Road to the Sale</a:t>
            </a:r>
            <a:endParaRPr lang="en-US" sz="1400" dirty="0"/>
          </a:p>
        </p:txBody>
      </p:sp>
      <p:sp>
        <p:nvSpPr>
          <p:cNvPr id="20" name="Shape 18"/>
          <p:cNvSpPr/>
          <p:nvPr/>
        </p:nvSpPr>
        <p:spPr>
          <a:xfrm>
            <a:off x="8394192" y="3410712"/>
            <a:ext cx="45720" cy="1133856"/>
          </a:xfrm>
          <a:prstGeom prst="rect">
            <a:avLst/>
          </a:prstGeom>
          <a:solidFill>
            <a:srgbClr val="2587C5"/>
          </a:solidFill>
          <a:ln/>
        </p:spPr>
      </p:sp>
      <p:sp>
        <p:nvSpPr>
          <p:cNvPr id="21" name="Text 19"/>
          <p:cNvSpPr txBox="1"/>
          <p:nvPr/>
        </p:nvSpPr>
        <p:spPr>
          <a:xfrm>
            <a:off x="8522208" y="3410712"/>
            <a:ext cx="2962656"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Effective labor rate</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Pricing, discounts and mix</a:t>
            </a:r>
            <a:endParaRPr lang="en-US" sz="1400" dirty="0"/>
          </a:p>
        </p:txBody>
      </p:sp>
      <p:sp>
        <p:nvSpPr>
          <p:cNvPr id="22" name="Shape 20"/>
          <p:cNvSpPr/>
          <p:nvPr/>
        </p:nvSpPr>
        <p:spPr>
          <a:xfrm>
            <a:off x="5138928" y="4654296"/>
            <a:ext cx="45720" cy="1133856"/>
          </a:xfrm>
          <a:prstGeom prst="rect">
            <a:avLst/>
          </a:prstGeom>
          <a:solidFill>
            <a:srgbClr val="2587C5"/>
          </a:solidFill>
          <a:ln/>
        </p:spPr>
      </p:sp>
      <p:sp>
        <p:nvSpPr>
          <p:cNvPr id="23" name="Text 21"/>
          <p:cNvSpPr txBox="1"/>
          <p:nvPr/>
        </p:nvSpPr>
        <p:spPr>
          <a:xfrm>
            <a:off x="5266944" y="4654296"/>
            <a:ext cx="2962656"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Advisor presentation</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Every customer, every time, from an accurate menu</a:t>
            </a:r>
            <a:endParaRPr lang="en-US" sz="1400" dirty="0"/>
          </a:p>
        </p:txBody>
      </p:sp>
      <p:sp>
        <p:nvSpPr>
          <p:cNvPr id="24" name="Shape 22"/>
          <p:cNvSpPr/>
          <p:nvPr/>
        </p:nvSpPr>
        <p:spPr>
          <a:xfrm>
            <a:off x="8394192" y="4654296"/>
            <a:ext cx="45720" cy="1133856"/>
          </a:xfrm>
          <a:prstGeom prst="rect">
            <a:avLst/>
          </a:prstGeom>
          <a:solidFill>
            <a:srgbClr val="2587C5"/>
          </a:solidFill>
          <a:ln/>
        </p:spPr>
      </p:sp>
      <p:sp>
        <p:nvSpPr>
          <p:cNvPr id="25" name="Text 23"/>
          <p:cNvSpPr txBox="1"/>
          <p:nvPr/>
        </p:nvSpPr>
        <p:spPr>
          <a:xfrm>
            <a:off x="8522208" y="4654296"/>
            <a:ext cx="2962656"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Pay plans</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Pay advisors on CP labor or gross per RO</a:t>
            </a:r>
            <a:endParaRPr lang="en-US" sz="1400" dirty="0"/>
          </a:p>
        </p:txBody>
      </p:sp>
      <p:sp>
        <p:nvSpPr>
          <p:cNvPr id="26" name="Shape 24"/>
          <p:cNvSpPr/>
          <p:nvPr/>
        </p:nvSpPr>
        <p:spPr>
          <a:xfrm>
            <a:off x="457200" y="6126480"/>
            <a:ext cx="11274552" cy="341376"/>
          </a:xfrm>
          <a:prstGeom prst="rect">
            <a:avLst/>
          </a:prstGeom>
          <a:solidFill>
            <a:srgbClr val="E6F6EE"/>
          </a:solidFill>
          <a:ln/>
        </p:spPr>
      </p:sp>
      <p:sp>
        <p:nvSpPr>
          <p:cNvPr id="27" name="Text 25"/>
          <p:cNvSpPr txBox="1"/>
          <p:nvPr/>
        </p:nvSpPr>
        <p:spPr>
          <a:xfrm>
            <a:off x="658368" y="6144768"/>
            <a:ext cx="10927080" cy="304800"/>
          </a:xfrm>
          <a:prstGeom prst="rect">
            <a:avLst/>
          </a:prstGeom>
          <a:noFill/>
          <a:ln/>
        </p:spPr>
        <p:txBody>
          <a:bodyPr wrap="square" lIns="0" tIns="0" rIns="0" bIns="0" rtlCol="0" anchor="ctr"/>
          <a:lstStyle/>
          <a:p>
            <a:pPr indent="0" marL="0">
              <a:buNone/>
            </a:pPr>
            <a:r>
              <a:rPr lang="en-US" sz="1400" b="1" dirty="0">
                <a:solidFill>
                  <a:srgbClr val="0B7A4A"/>
                </a:solidFill>
                <a:latin typeface="Inter" pitchFamily="34" charset="0"/>
                <a:ea typeface="Inter" pitchFamily="34" charset="-122"/>
                <a:cs typeface="Inter" pitchFamily="34" charset="-120"/>
              </a:rPr>
              <a:t>Group: $304 CP labor per RO, up $17. With ROs flat, the $4,899,376 labor gain came from selling more per visit.</a:t>
            </a:r>
            <a:endParaRPr lang="en-US" sz="14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THE CP ENGINE</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What Is CP Parts $ per RO?</a:t>
            </a:r>
            <a:endParaRPr lang="en-US" sz="2800" dirty="0"/>
          </a:p>
        </p:txBody>
      </p:sp>
      <p:sp>
        <p:nvSpPr>
          <p:cNvPr id="5" name="Shape 3"/>
          <p:cNvSpPr/>
          <p:nvPr/>
        </p:nvSpPr>
        <p:spPr>
          <a:xfrm>
            <a:off x="457200" y="1207008"/>
            <a:ext cx="11274552" cy="1024128"/>
          </a:xfrm>
          <a:prstGeom prst="rect">
            <a:avLst/>
          </a:prstGeom>
          <a:solidFill>
            <a:srgbClr val="EDF4FA"/>
          </a:solidFill>
          <a:ln/>
        </p:spPr>
      </p:sp>
      <p:sp>
        <p:nvSpPr>
          <p:cNvPr id="6" name="Text 4"/>
          <p:cNvSpPr txBox="1"/>
          <p:nvPr/>
        </p:nvSpPr>
        <p:spPr>
          <a:xfrm>
            <a:off x="685800" y="1243584"/>
            <a:ext cx="10835640" cy="566928"/>
          </a:xfrm>
          <a:prstGeom prst="rect">
            <a:avLst/>
          </a:prstGeom>
          <a:noFill/>
          <a:ln/>
        </p:spPr>
        <p:txBody>
          <a:bodyPr wrap="square" lIns="0" tIns="0" rIns="0" bIns="0" rtlCol="0" anchor="ctr">
            <a:normAutofit/>
          </a:bodyPr>
          <a:lstStyle/>
          <a:p>
            <a:pPr indent="0" marL="0">
              <a:buNone/>
            </a:pPr>
            <a:r>
              <a:rPr lang="en-US" sz="2400" b="1" dirty="0">
                <a:solidFill>
                  <a:srgbClr val="0B2C4A"/>
                </a:solidFill>
                <a:latin typeface="Inter" pitchFamily="34" charset="0"/>
                <a:ea typeface="Inter" pitchFamily="34" charset="-122"/>
                <a:cs typeface="Inter" pitchFamily="34" charset="-120"/>
              </a:rPr>
              <a:t>CP parts $ per RO  </a:t>
            </a:r>
            <a:pPr indent="0" marL="0">
              <a:buNone/>
            </a:pPr>
            <a:r>
              <a:rPr lang="en-US" sz="2400" b="1" dirty="0">
                <a:solidFill>
                  <a:srgbClr val="2587C5"/>
                </a:solidFill>
                <a:latin typeface="Inter" pitchFamily="34" charset="0"/>
                <a:ea typeface="Inter" pitchFamily="34" charset="-122"/>
                <a:cs typeface="Inter" pitchFamily="34" charset="-120"/>
              </a:rPr>
              <a:t>=  </a:t>
            </a:r>
            <a:pPr indent="0" marL="0">
              <a:buNone/>
            </a:pPr>
            <a:r>
              <a:rPr lang="en-US" sz="2400" b="1" dirty="0">
                <a:solidFill>
                  <a:srgbClr val="0B2C4A"/>
                </a:solidFill>
                <a:latin typeface="Inter" pitchFamily="34" charset="0"/>
                <a:ea typeface="Inter" pitchFamily="34" charset="-122"/>
                <a:cs typeface="Inter" pitchFamily="34" charset="-120"/>
              </a:rPr>
              <a:t>CP parts sale  </a:t>
            </a:r>
            <a:pPr indent="0" marL="0">
              <a:buNone/>
            </a:pPr>
            <a:r>
              <a:rPr lang="en-US" sz="2400" b="1" dirty="0">
                <a:solidFill>
                  <a:srgbClr val="2587C5"/>
                </a:solidFill>
                <a:latin typeface="Inter" pitchFamily="34" charset="0"/>
                <a:ea typeface="Inter" pitchFamily="34" charset="-122"/>
                <a:cs typeface="Inter" pitchFamily="34" charset="-120"/>
              </a:rPr>
              <a:t>÷  </a:t>
            </a:r>
            <a:pPr indent="0" marL="0">
              <a:buNone/>
            </a:pPr>
            <a:r>
              <a:rPr lang="en-US" sz="2400" b="1" dirty="0">
                <a:solidFill>
                  <a:srgbClr val="0B2C4A"/>
                </a:solidFill>
                <a:latin typeface="Inter" pitchFamily="34" charset="0"/>
                <a:ea typeface="Inter" pitchFamily="34" charset="-122"/>
                <a:cs typeface="Inter" pitchFamily="34" charset="-120"/>
              </a:rPr>
              <a:t>CP RO count</a:t>
            </a:r>
            <a:endParaRPr lang="en-US" sz="2400" dirty="0"/>
          </a:p>
        </p:txBody>
      </p:sp>
      <p:sp>
        <p:nvSpPr>
          <p:cNvPr id="7" name="Text 5"/>
          <p:cNvSpPr txBox="1"/>
          <p:nvPr/>
        </p:nvSpPr>
        <p:spPr>
          <a:xfrm>
            <a:off x="685800" y="1783080"/>
            <a:ext cx="10835640" cy="420624"/>
          </a:xfrm>
          <a:prstGeom prst="rect">
            <a:avLst/>
          </a:prstGeom>
          <a:noFill/>
          <a:ln/>
        </p:spPr>
        <p:txBody>
          <a:bodyPr wrap="square" lIns="0" tIns="0" rIns="0" bIns="0" rtlCol="0" anchor="ctr"/>
          <a:lstStyle/>
          <a:p>
            <a:pPr indent="0" marL="0">
              <a:buNone/>
            </a:pPr>
            <a:r>
              <a:rPr lang="en-US" sz="1500" dirty="0">
                <a:solidFill>
                  <a:srgbClr val="595959"/>
                </a:solidFill>
                <a:latin typeface="Inter" pitchFamily="34" charset="0"/>
                <a:ea typeface="Inter" pitchFamily="34" charset="-122"/>
                <a:cs typeface="Inter" pitchFamily="34" charset="-120"/>
              </a:rPr>
              <a:t>Customer-pay parts sold through the service drive, per visit.</a:t>
            </a:r>
            <a:endParaRPr lang="en-US" sz="1500" dirty="0"/>
          </a:p>
        </p:txBody>
      </p:sp>
      <p:sp>
        <p:nvSpPr>
          <p:cNvPr id="8" name="Shape 6"/>
          <p:cNvSpPr/>
          <p:nvPr/>
        </p:nvSpPr>
        <p:spPr>
          <a:xfrm>
            <a:off x="457200" y="2340864"/>
            <a:ext cx="4343400" cy="3648456"/>
          </a:xfrm>
          <a:prstGeom prst="rect">
            <a:avLst/>
          </a:prstGeom>
          <a:solidFill>
            <a:srgbClr val="FFFFFF"/>
          </a:solidFill>
          <a:ln/>
        </p:spPr>
      </p:sp>
      <p:sp>
        <p:nvSpPr>
          <p:cNvPr id="9" name="Shape 7"/>
          <p:cNvSpPr/>
          <p:nvPr/>
        </p:nvSpPr>
        <p:spPr>
          <a:xfrm>
            <a:off x="4937760" y="2340864"/>
            <a:ext cx="6793992" cy="3648456"/>
          </a:xfrm>
          <a:prstGeom prst="rect">
            <a:avLst/>
          </a:prstGeom>
          <a:solidFill>
            <a:srgbClr val="FFFFFF"/>
          </a:solidFill>
          <a:ln/>
        </p:spPr>
      </p:sp>
      <p:sp>
        <p:nvSpPr>
          <p:cNvPr id="10" name="Text 8"/>
          <p:cNvSpPr txBox="1"/>
          <p:nvPr/>
        </p:nvSpPr>
        <p:spPr>
          <a:xfrm>
            <a:off x="658368" y="2468880"/>
            <a:ext cx="393192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WHY IT MATTERS</a:t>
            </a:r>
            <a:endParaRPr lang="en-US" sz="1400" dirty="0"/>
          </a:p>
        </p:txBody>
      </p:sp>
      <p:sp>
        <p:nvSpPr>
          <p:cNvPr id="11" name="Text 9"/>
          <p:cNvSpPr txBox="1"/>
          <p:nvPr/>
        </p:nvSpPr>
        <p:spPr>
          <a:xfrm>
            <a:off x="5138928" y="2468880"/>
            <a:ext cx="640080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WHAT MOVES IT</a:t>
            </a:r>
            <a:endParaRPr lang="en-US" sz="1400" dirty="0"/>
          </a:p>
        </p:txBody>
      </p:sp>
      <p:sp>
        <p:nvSpPr>
          <p:cNvPr id="12" name="Text 10"/>
          <p:cNvSpPr txBox="1"/>
          <p:nvPr/>
        </p:nvSpPr>
        <p:spPr>
          <a:xfrm>
            <a:off x="658368" y="2843784"/>
            <a:ext cx="3977640" cy="3008376"/>
          </a:xfrm>
          <a:prstGeom prst="rect">
            <a:avLst/>
          </a:prstGeom>
          <a:noFill/>
          <a:ln/>
        </p:spPr>
        <p:txBody>
          <a:bodyPr wrap="square" lIns="0" tIns="0" rIns="0" bIns="0" rtlCol="0" anchor="t"/>
          <a:lstStyle/>
          <a:p>
            <a:pPr marL="203200" indent="-203200">
              <a:spcAft>
                <a:spcPts val="600"/>
              </a:spcAft>
              <a:buSzPct val="100000"/>
              <a:buChar char="•"/>
            </a:pPr>
            <a:r>
              <a:rPr lang="en-US" sz="1600" dirty="0">
                <a:solidFill>
                  <a:srgbClr val="1A1A1A"/>
                </a:solidFill>
                <a:latin typeface="Inter" pitchFamily="34" charset="0"/>
                <a:ea typeface="Inter" pitchFamily="34" charset="-122"/>
                <a:cs typeface="Inter" pitchFamily="34" charset="-120"/>
              </a:rPr>
              <a:t>Parts follow labor: sell the hour and the parts come with it.</a:t>
            </a:r>
            <a:endParaRPr lang="en-US" sz="1600" dirty="0"/>
          </a:p>
          <a:p>
            <a:pPr marL="203200" indent="-203200">
              <a:spcAft>
                <a:spcPts val="600"/>
              </a:spcAft>
              <a:buSzPct val="100000"/>
              <a:buChar char="•"/>
            </a:pPr>
            <a:r>
              <a:rPr lang="en-US" sz="1600" dirty="0">
                <a:solidFill>
                  <a:srgbClr val="1A1A1A"/>
                </a:solidFill>
                <a:latin typeface="Inter" pitchFamily="34" charset="0"/>
                <a:ea typeface="Inter" pitchFamily="34" charset="-122"/>
                <a:cs typeface="Inter" pitchFamily="34" charset="-120"/>
              </a:rPr>
              <a:t>It adds parts gross on the same car count.</a:t>
            </a:r>
            <a:endParaRPr lang="en-US" sz="1600" dirty="0"/>
          </a:p>
          <a:p>
            <a:pPr marL="203200" indent="-203200">
              <a:spcAft>
                <a:spcPts val="600"/>
              </a:spcAft>
              <a:buSzPct val="100000"/>
              <a:buChar char="•"/>
            </a:pPr>
            <a:r>
              <a:rPr lang="en-US" sz="1600" dirty="0">
                <a:solidFill>
                  <a:srgbClr val="1A1A1A"/>
                </a:solidFill>
                <a:latin typeface="Inter" pitchFamily="34" charset="0"/>
                <a:ea typeface="Inter" pitchFamily="34" charset="-122"/>
                <a:cs typeface="Inter" pitchFamily="34" charset="-120"/>
              </a:rPr>
              <a:t>Luxury stores run more than twice the rest, so compare a store with its own segment.</a:t>
            </a:r>
            <a:endParaRPr lang="en-US" sz="1600" dirty="0"/>
          </a:p>
        </p:txBody>
      </p:sp>
      <p:sp>
        <p:nvSpPr>
          <p:cNvPr id="13" name="Shape 11"/>
          <p:cNvSpPr/>
          <p:nvPr/>
        </p:nvSpPr>
        <p:spPr>
          <a:xfrm>
            <a:off x="5138928" y="2843784"/>
            <a:ext cx="45720" cy="1417320"/>
          </a:xfrm>
          <a:prstGeom prst="rect">
            <a:avLst/>
          </a:prstGeom>
          <a:solidFill>
            <a:srgbClr val="2587C5"/>
          </a:solidFill>
          <a:ln/>
        </p:spPr>
      </p:sp>
      <p:sp>
        <p:nvSpPr>
          <p:cNvPr id="14" name="Text 12"/>
          <p:cNvSpPr txBox="1"/>
          <p:nvPr/>
        </p:nvSpPr>
        <p:spPr>
          <a:xfrm>
            <a:off x="5266944" y="2843784"/>
            <a:ext cx="2962656" cy="1417320"/>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Hours per RO</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More repair and maintenance hours carry more parts</a:t>
            </a:r>
            <a:endParaRPr lang="en-US" sz="1400" dirty="0"/>
          </a:p>
        </p:txBody>
      </p:sp>
      <p:sp>
        <p:nvSpPr>
          <p:cNvPr id="15" name="Shape 13"/>
          <p:cNvSpPr/>
          <p:nvPr/>
        </p:nvSpPr>
        <p:spPr>
          <a:xfrm>
            <a:off x="8394192" y="2843784"/>
            <a:ext cx="45720" cy="1417320"/>
          </a:xfrm>
          <a:prstGeom prst="rect">
            <a:avLst/>
          </a:prstGeom>
          <a:solidFill>
            <a:srgbClr val="2587C5"/>
          </a:solidFill>
          <a:ln/>
        </p:spPr>
      </p:sp>
      <p:sp>
        <p:nvSpPr>
          <p:cNvPr id="16" name="Text 14"/>
          <p:cNvSpPr txBox="1"/>
          <p:nvPr/>
        </p:nvSpPr>
        <p:spPr>
          <a:xfrm>
            <a:off x="8522208" y="2843784"/>
            <a:ext cx="2962656" cy="1417320"/>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Menu bundles</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Group-priced maintenance parts for dealer and customer</a:t>
            </a:r>
            <a:endParaRPr lang="en-US" sz="1400" dirty="0"/>
          </a:p>
        </p:txBody>
      </p:sp>
      <p:sp>
        <p:nvSpPr>
          <p:cNvPr id="17" name="Shape 15"/>
          <p:cNvSpPr/>
          <p:nvPr/>
        </p:nvSpPr>
        <p:spPr>
          <a:xfrm>
            <a:off x="5138928" y="4370832"/>
            <a:ext cx="45720" cy="1417320"/>
          </a:xfrm>
          <a:prstGeom prst="rect">
            <a:avLst/>
          </a:prstGeom>
          <a:solidFill>
            <a:srgbClr val="2587C5"/>
          </a:solidFill>
          <a:ln/>
        </p:spPr>
      </p:sp>
      <p:sp>
        <p:nvSpPr>
          <p:cNvPr id="18" name="Text 16"/>
          <p:cNvSpPr txBox="1"/>
          <p:nvPr/>
        </p:nvSpPr>
        <p:spPr>
          <a:xfrm>
            <a:off x="5266944" y="4370832"/>
            <a:ext cx="2962656" cy="1417320"/>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Parts pricing matrix</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What we charge relative to cost</a:t>
            </a:r>
            <a:endParaRPr lang="en-US" sz="1400" dirty="0"/>
          </a:p>
        </p:txBody>
      </p:sp>
      <p:sp>
        <p:nvSpPr>
          <p:cNvPr id="19" name="Shape 17"/>
          <p:cNvSpPr/>
          <p:nvPr/>
        </p:nvSpPr>
        <p:spPr>
          <a:xfrm>
            <a:off x="8394192" y="4370832"/>
            <a:ext cx="45720" cy="1417320"/>
          </a:xfrm>
          <a:prstGeom prst="rect">
            <a:avLst/>
          </a:prstGeom>
          <a:solidFill>
            <a:srgbClr val="2587C5"/>
          </a:solidFill>
          <a:ln/>
        </p:spPr>
      </p:sp>
      <p:sp>
        <p:nvSpPr>
          <p:cNvPr id="20" name="Text 18"/>
          <p:cNvSpPr txBox="1"/>
          <p:nvPr/>
        </p:nvSpPr>
        <p:spPr>
          <a:xfrm>
            <a:off x="8522208" y="4370832"/>
            <a:ext cx="2962656" cy="1417320"/>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Staging and special orders</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Parts ready at the bay; special orders followed up</a:t>
            </a:r>
            <a:endParaRPr lang="en-US" sz="1400" dirty="0"/>
          </a:p>
        </p:txBody>
      </p:sp>
      <p:sp>
        <p:nvSpPr>
          <p:cNvPr id="21" name="Shape 19"/>
          <p:cNvSpPr/>
          <p:nvPr/>
        </p:nvSpPr>
        <p:spPr>
          <a:xfrm>
            <a:off x="457200" y="6126480"/>
            <a:ext cx="11274552" cy="371856"/>
          </a:xfrm>
          <a:prstGeom prst="rect">
            <a:avLst/>
          </a:prstGeom>
          <a:solidFill>
            <a:srgbClr val="E6F6EE"/>
          </a:solidFill>
          <a:ln/>
        </p:spPr>
      </p:sp>
      <p:sp>
        <p:nvSpPr>
          <p:cNvPr id="22" name="Text 20"/>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Group: $238 CP parts per RO, up $9 and ahead of 2025 in all nine months.</a:t>
            </a:r>
            <a:endParaRPr lang="en-US" sz="16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THE CP ENGINE</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What Is Labor Gross Profit %?</a:t>
            </a:r>
            <a:endParaRPr lang="en-US" sz="2800" dirty="0"/>
          </a:p>
        </p:txBody>
      </p:sp>
      <p:sp>
        <p:nvSpPr>
          <p:cNvPr id="5" name="Shape 3"/>
          <p:cNvSpPr/>
          <p:nvPr/>
        </p:nvSpPr>
        <p:spPr>
          <a:xfrm>
            <a:off x="457200" y="1207008"/>
            <a:ext cx="11274552" cy="1024128"/>
          </a:xfrm>
          <a:prstGeom prst="rect">
            <a:avLst/>
          </a:prstGeom>
          <a:solidFill>
            <a:srgbClr val="EDF4FA"/>
          </a:solidFill>
          <a:ln/>
        </p:spPr>
      </p:sp>
      <p:sp>
        <p:nvSpPr>
          <p:cNvPr id="6" name="Text 4"/>
          <p:cNvSpPr txBox="1"/>
          <p:nvPr/>
        </p:nvSpPr>
        <p:spPr>
          <a:xfrm>
            <a:off x="685800" y="1243584"/>
            <a:ext cx="10835640" cy="566928"/>
          </a:xfrm>
          <a:prstGeom prst="rect">
            <a:avLst/>
          </a:prstGeom>
          <a:noFill/>
          <a:ln/>
        </p:spPr>
        <p:txBody>
          <a:bodyPr wrap="square" lIns="0" tIns="0" rIns="0" bIns="0" rtlCol="0" anchor="ctr">
            <a:normAutofit/>
          </a:bodyPr>
          <a:lstStyle/>
          <a:p>
            <a:pPr indent="0" marL="0">
              <a:buNone/>
            </a:pPr>
            <a:r>
              <a:rPr lang="en-US" sz="2400" b="1" dirty="0">
                <a:solidFill>
                  <a:srgbClr val="0B2C4A"/>
                </a:solidFill>
                <a:latin typeface="Inter" pitchFamily="34" charset="0"/>
                <a:ea typeface="Inter" pitchFamily="34" charset="-122"/>
                <a:cs typeface="Inter" pitchFamily="34" charset="-120"/>
              </a:rPr>
              <a:t>Labor GP %  </a:t>
            </a:r>
            <a:pPr indent="0" marL="0">
              <a:buNone/>
            </a:pPr>
            <a:r>
              <a:rPr lang="en-US" sz="2400" b="1" dirty="0">
                <a:solidFill>
                  <a:srgbClr val="2587C5"/>
                </a:solidFill>
                <a:latin typeface="Inter" pitchFamily="34" charset="0"/>
                <a:ea typeface="Inter" pitchFamily="34" charset="-122"/>
                <a:cs typeface="Inter" pitchFamily="34" charset="-120"/>
              </a:rPr>
              <a:t>=  </a:t>
            </a:r>
            <a:pPr indent="0" marL="0">
              <a:buNone/>
            </a:pPr>
            <a:r>
              <a:rPr lang="en-US" sz="2400" b="1" dirty="0">
                <a:solidFill>
                  <a:srgbClr val="0B2C4A"/>
                </a:solidFill>
                <a:latin typeface="Inter" pitchFamily="34" charset="0"/>
                <a:ea typeface="Inter" pitchFamily="34" charset="-122"/>
                <a:cs typeface="Inter" pitchFamily="34" charset="-120"/>
              </a:rPr>
              <a:t>(CP labor sale  </a:t>
            </a:r>
            <a:pPr indent="0" marL="0">
              <a:buNone/>
            </a:pPr>
            <a:r>
              <a:rPr lang="en-US" sz="2400" b="1" dirty="0">
                <a:solidFill>
                  <a:srgbClr val="2587C5"/>
                </a:solidFill>
                <a:latin typeface="Inter" pitchFamily="34" charset="0"/>
                <a:ea typeface="Inter" pitchFamily="34" charset="-122"/>
                <a:cs typeface="Inter" pitchFamily="34" charset="-120"/>
              </a:rPr>
              <a:t>−  </a:t>
            </a:r>
            <a:pPr indent="0" marL="0">
              <a:buNone/>
            </a:pPr>
            <a:r>
              <a:rPr lang="en-US" sz="2400" b="1" dirty="0">
                <a:solidFill>
                  <a:srgbClr val="0B2C4A"/>
                </a:solidFill>
                <a:latin typeface="Inter" pitchFamily="34" charset="0"/>
                <a:ea typeface="Inter" pitchFamily="34" charset="-122"/>
                <a:cs typeface="Inter" pitchFamily="34" charset="-120"/>
              </a:rPr>
              <a:t>tech cost)  </a:t>
            </a:r>
            <a:pPr indent="0" marL="0">
              <a:buNone/>
            </a:pPr>
            <a:r>
              <a:rPr lang="en-US" sz="2400" b="1" dirty="0">
                <a:solidFill>
                  <a:srgbClr val="2587C5"/>
                </a:solidFill>
                <a:latin typeface="Inter" pitchFamily="34" charset="0"/>
                <a:ea typeface="Inter" pitchFamily="34" charset="-122"/>
                <a:cs typeface="Inter" pitchFamily="34" charset="-120"/>
              </a:rPr>
              <a:t>÷  </a:t>
            </a:r>
            <a:pPr indent="0" marL="0">
              <a:buNone/>
            </a:pPr>
            <a:r>
              <a:rPr lang="en-US" sz="2400" b="1" dirty="0">
                <a:solidFill>
                  <a:srgbClr val="0B2C4A"/>
                </a:solidFill>
                <a:latin typeface="Inter" pitchFamily="34" charset="0"/>
                <a:ea typeface="Inter" pitchFamily="34" charset="-122"/>
                <a:cs typeface="Inter" pitchFamily="34" charset="-120"/>
              </a:rPr>
              <a:t>CP labor sale</a:t>
            </a:r>
            <a:endParaRPr lang="en-US" sz="2400" dirty="0"/>
          </a:p>
        </p:txBody>
      </p:sp>
      <p:sp>
        <p:nvSpPr>
          <p:cNvPr id="7" name="Text 5"/>
          <p:cNvSpPr txBox="1"/>
          <p:nvPr/>
        </p:nvSpPr>
        <p:spPr>
          <a:xfrm>
            <a:off x="685800" y="1783080"/>
            <a:ext cx="10835640" cy="420624"/>
          </a:xfrm>
          <a:prstGeom prst="rect">
            <a:avLst/>
          </a:prstGeom>
          <a:noFill/>
          <a:ln/>
        </p:spPr>
        <p:txBody>
          <a:bodyPr wrap="square" lIns="0" tIns="0" rIns="0" bIns="0" rtlCol="0" anchor="ctr"/>
          <a:lstStyle/>
          <a:p>
            <a:pPr indent="0" marL="0">
              <a:buNone/>
            </a:pPr>
            <a:r>
              <a:rPr lang="en-US" sz="1500" dirty="0">
                <a:solidFill>
                  <a:srgbClr val="595959"/>
                </a:solidFill>
                <a:latin typeface="Inter" pitchFamily="34" charset="0"/>
                <a:ea typeface="Inter" pitchFamily="34" charset="-122"/>
                <a:cs typeface="Inter" pitchFamily="34" charset="-120"/>
              </a:rPr>
              <a:t>The share of each labor dollar we keep after paying the technician. The Roundtable target is 78% to 80%.</a:t>
            </a:r>
            <a:endParaRPr lang="en-US" sz="1500" dirty="0"/>
          </a:p>
        </p:txBody>
      </p:sp>
      <p:sp>
        <p:nvSpPr>
          <p:cNvPr id="8" name="Text 6"/>
          <p:cNvSpPr txBox="1"/>
          <p:nvPr/>
        </p:nvSpPr>
        <p:spPr>
          <a:xfrm>
            <a:off x="457200" y="2340864"/>
            <a:ext cx="1828800" cy="457200"/>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Roundtable example</a:t>
            </a:r>
            <a:endParaRPr lang="en-US" sz="1400" dirty="0"/>
          </a:p>
        </p:txBody>
      </p:sp>
      <p:sp>
        <p:nvSpPr>
          <p:cNvPr id="9" name="Shape 7"/>
          <p:cNvSpPr/>
          <p:nvPr/>
        </p:nvSpPr>
        <p:spPr>
          <a:xfrm>
            <a:off x="2286000" y="2340864"/>
            <a:ext cx="1801368" cy="457200"/>
          </a:xfrm>
          <a:prstGeom prst="rect">
            <a:avLst/>
          </a:prstGeom>
          <a:solidFill>
            <a:srgbClr val="FFFFFF"/>
          </a:solidFill>
          <a:ln w="9525">
            <a:solidFill>
              <a:srgbClr val="D9D9D9"/>
            </a:solidFill>
            <a:prstDash val="solid"/>
          </a:ln>
        </p:spPr>
      </p:sp>
      <p:sp>
        <p:nvSpPr>
          <p:cNvPr id="10" name="Text 8"/>
          <p:cNvSpPr txBox="1"/>
          <p:nvPr/>
        </p:nvSpPr>
        <p:spPr>
          <a:xfrm>
            <a:off x="2359152" y="2340864"/>
            <a:ext cx="1655064" cy="457200"/>
          </a:xfrm>
          <a:prstGeom prst="rect">
            <a:avLst/>
          </a:prstGeom>
          <a:noFill/>
          <a:ln/>
        </p:spPr>
        <p:txBody>
          <a:bodyPr wrap="square" lIns="0" tIns="0" rIns="0" bIns="0" rtlCol="0" anchor="ctr">
            <a:normAutofit/>
          </a:bodyPr>
          <a:lstStyle/>
          <a:p>
            <a:pPr algn="ctr" indent="0" marL="0">
              <a:buNone/>
            </a:pPr>
            <a:r>
              <a:rPr lang="en-US" sz="1400" dirty="0">
                <a:solidFill>
                  <a:srgbClr val="1A1A1A"/>
                </a:solidFill>
                <a:latin typeface="Inter" pitchFamily="34" charset="0"/>
                <a:ea typeface="Inter" pitchFamily="34" charset="-122"/>
                <a:cs typeface="Inter" pitchFamily="34" charset="-120"/>
              </a:rPr>
              <a:t>Tire rotation  </a:t>
            </a:r>
            <a:pPr algn="ctr" indent="0" marL="0">
              <a:buNone/>
            </a:pPr>
            <a:r>
              <a:rPr lang="en-US" sz="1400" b="1" dirty="0">
                <a:solidFill>
                  <a:srgbClr val="0B2C4A"/>
                </a:solidFill>
                <a:latin typeface="Inter" pitchFamily="34" charset="0"/>
                <a:ea typeface="Inter" pitchFamily="34" charset="-122"/>
                <a:cs typeface="Inter" pitchFamily="34" charset="-120"/>
              </a:rPr>
              <a:t>62.4%</a:t>
            </a:r>
            <a:endParaRPr lang="en-US" sz="1400" dirty="0"/>
          </a:p>
        </p:txBody>
      </p:sp>
      <p:sp>
        <p:nvSpPr>
          <p:cNvPr id="11" name="Shape 9"/>
          <p:cNvSpPr/>
          <p:nvPr/>
        </p:nvSpPr>
        <p:spPr>
          <a:xfrm>
            <a:off x="4197096" y="2340864"/>
            <a:ext cx="1801368" cy="457200"/>
          </a:xfrm>
          <a:prstGeom prst="rect">
            <a:avLst/>
          </a:prstGeom>
          <a:solidFill>
            <a:srgbClr val="FFFFFF"/>
          </a:solidFill>
          <a:ln w="9525">
            <a:solidFill>
              <a:srgbClr val="D9D9D9"/>
            </a:solidFill>
            <a:prstDash val="solid"/>
          </a:ln>
        </p:spPr>
      </p:sp>
      <p:sp>
        <p:nvSpPr>
          <p:cNvPr id="12" name="Text 10"/>
          <p:cNvSpPr txBox="1"/>
          <p:nvPr/>
        </p:nvSpPr>
        <p:spPr>
          <a:xfrm>
            <a:off x="4270248" y="2340864"/>
            <a:ext cx="1655064" cy="457200"/>
          </a:xfrm>
          <a:prstGeom prst="rect">
            <a:avLst/>
          </a:prstGeom>
          <a:noFill/>
          <a:ln/>
        </p:spPr>
        <p:txBody>
          <a:bodyPr wrap="square" lIns="0" tIns="0" rIns="0" bIns="0" rtlCol="0" anchor="ctr">
            <a:normAutofit/>
          </a:bodyPr>
          <a:lstStyle/>
          <a:p>
            <a:pPr algn="ctr" indent="0" marL="0">
              <a:buNone/>
            </a:pPr>
            <a:r>
              <a:rPr lang="en-US" sz="1400" dirty="0">
                <a:solidFill>
                  <a:srgbClr val="1A1A1A"/>
                </a:solidFill>
                <a:latin typeface="Inter" pitchFamily="34" charset="0"/>
                <a:ea typeface="Inter" pitchFamily="34" charset="-122"/>
                <a:cs typeface="Inter" pitchFamily="34" charset="-120"/>
              </a:rPr>
              <a:t>Oil change  </a:t>
            </a:r>
            <a:pPr algn="ctr" indent="0" marL="0">
              <a:buNone/>
            </a:pPr>
            <a:r>
              <a:rPr lang="en-US" sz="1400" b="1" dirty="0">
                <a:solidFill>
                  <a:srgbClr val="0B2C4A"/>
                </a:solidFill>
                <a:latin typeface="Inter" pitchFamily="34" charset="0"/>
                <a:ea typeface="Inter" pitchFamily="34" charset="-122"/>
                <a:cs typeface="Inter" pitchFamily="34" charset="-120"/>
              </a:rPr>
              <a:t>68.8%</a:t>
            </a:r>
            <a:endParaRPr lang="en-US" sz="1400" dirty="0"/>
          </a:p>
        </p:txBody>
      </p:sp>
      <p:sp>
        <p:nvSpPr>
          <p:cNvPr id="13" name="Shape 11"/>
          <p:cNvSpPr/>
          <p:nvPr/>
        </p:nvSpPr>
        <p:spPr>
          <a:xfrm>
            <a:off x="6108192" y="2340864"/>
            <a:ext cx="1801368" cy="457200"/>
          </a:xfrm>
          <a:prstGeom prst="rect">
            <a:avLst/>
          </a:prstGeom>
          <a:solidFill>
            <a:srgbClr val="FFFFFF"/>
          </a:solidFill>
          <a:ln w="9525">
            <a:solidFill>
              <a:srgbClr val="D9D9D9"/>
            </a:solidFill>
            <a:prstDash val="solid"/>
          </a:ln>
        </p:spPr>
      </p:sp>
      <p:sp>
        <p:nvSpPr>
          <p:cNvPr id="14" name="Text 12"/>
          <p:cNvSpPr txBox="1"/>
          <p:nvPr/>
        </p:nvSpPr>
        <p:spPr>
          <a:xfrm>
            <a:off x="6181344" y="2340864"/>
            <a:ext cx="1655064" cy="457200"/>
          </a:xfrm>
          <a:prstGeom prst="rect">
            <a:avLst/>
          </a:prstGeom>
          <a:noFill/>
          <a:ln/>
        </p:spPr>
        <p:txBody>
          <a:bodyPr wrap="square" lIns="0" tIns="0" rIns="0" bIns="0" rtlCol="0" anchor="ctr">
            <a:normAutofit/>
          </a:bodyPr>
          <a:lstStyle/>
          <a:p>
            <a:pPr algn="ctr" indent="0" marL="0">
              <a:buNone/>
            </a:pPr>
            <a:r>
              <a:rPr lang="en-US" sz="1400" dirty="0">
                <a:solidFill>
                  <a:srgbClr val="1A1A1A"/>
                </a:solidFill>
                <a:latin typeface="Inter" pitchFamily="34" charset="0"/>
                <a:ea typeface="Inter" pitchFamily="34" charset="-122"/>
                <a:cs typeface="Inter" pitchFamily="34" charset="-120"/>
              </a:rPr>
              <a:t>Alignment  </a:t>
            </a:r>
            <a:pPr algn="ctr" indent="0" marL="0">
              <a:buNone/>
            </a:pPr>
            <a:r>
              <a:rPr lang="en-US" sz="1400" b="1" dirty="0">
                <a:solidFill>
                  <a:srgbClr val="0B2C4A"/>
                </a:solidFill>
                <a:latin typeface="Inter" pitchFamily="34" charset="0"/>
                <a:ea typeface="Inter" pitchFamily="34" charset="-122"/>
                <a:cs typeface="Inter" pitchFamily="34" charset="-120"/>
              </a:rPr>
              <a:t>78.7%</a:t>
            </a:r>
            <a:endParaRPr lang="en-US" sz="1400" dirty="0"/>
          </a:p>
        </p:txBody>
      </p:sp>
      <p:sp>
        <p:nvSpPr>
          <p:cNvPr id="15" name="Shape 13"/>
          <p:cNvSpPr/>
          <p:nvPr/>
        </p:nvSpPr>
        <p:spPr>
          <a:xfrm>
            <a:off x="8019288" y="2340864"/>
            <a:ext cx="1801368" cy="457200"/>
          </a:xfrm>
          <a:prstGeom prst="rect">
            <a:avLst/>
          </a:prstGeom>
          <a:solidFill>
            <a:srgbClr val="FFFFFF"/>
          </a:solidFill>
          <a:ln w="9525">
            <a:solidFill>
              <a:srgbClr val="D9D9D9"/>
            </a:solidFill>
            <a:prstDash val="solid"/>
          </a:ln>
        </p:spPr>
      </p:sp>
      <p:sp>
        <p:nvSpPr>
          <p:cNvPr id="16" name="Text 14"/>
          <p:cNvSpPr txBox="1"/>
          <p:nvPr/>
        </p:nvSpPr>
        <p:spPr>
          <a:xfrm>
            <a:off x="8092440" y="2340864"/>
            <a:ext cx="1655064" cy="457200"/>
          </a:xfrm>
          <a:prstGeom prst="rect">
            <a:avLst/>
          </a:prstGeom>
          <a:noFill/>
          <a:ln/>
        </p:spPr>
        <p:txBody>
          <a:bodyPr wrap="square" lIns="0" tIns="0" rIns="0" bIns="0" rtlCol="0" anchor="ctr">
            <a:normAutofit/>
          </a:bodyPr>
          <a:lstStyle/>
          <a:p>
            <a:pPr algn="ctr" indent="0" marL="0">
              <a:buNone/>
            </a:pPr>
            <a:r>
              <a:rPr lang="en-US" sz="1400" dirty="0">
                <a:solidFill>
                  <a:srgbClr val="1A1A1A"/>
                </a:solidFill>
                <a:latin typeface="Inter" pitchFamily="34" charset="0"/>
                <a:ea typeface="Inter" pitchFamily="34" charset="-122"/>
                <a:cs typeface="Inter" pitchFamily="34" charset="-120"/>
              </a:rPr>
              <a:t>Steering rack  </a:t>
            </a:r>
            <a:pPr algn="ctr" indent="0" marL="0">
              <a:buNone/>
            </a:pPr>
            <a:r>
              <a:rPr lang="en-US" sz="1400" b="1" dirty="0">
                <a:solidFill>
                  <a:srgbClr val="0B2C4A"/>
                </a:solidFill>
                <a:latin typeface="Inter" pitchFamily="34" charset="0"/>
                <a:ea typeface="Inter" pitchFamily="34" charset="-122"/>
                <a:cs typeface="Inter" pitchFamily="34" charset="-120"/>
              </a:rPr>
              <a:t>84.4%</a:t>
            </a:r>
            <a:endParaRPr lang="en-US" sz="1400" dirty="0"/>
          </a:p>
        </p:txBody>
      </p:sp>
      <p:sp>
        <p:nvSpPr>
          <p:cNvPr id="17" name="Shape 15"/>
          <p:cNvSpPr/>
          <p:nvPr/>
        </p:nvSpPr>
        <p:spPr>
          <a:xfrm>
            <a:off x="9930384" y="2340864"/>
            <a:ext cx="1801368" cy="457200"/>
          </a:xfrm>
          <a:prstGeom prst="rect">
            <a:avLst/>
          </a:prstGeom>
          <a:solidFill>
            <a:srgbClr val="FFFFFF"/>
          </a:solidFill>
          <a:ln w="9525">
            <a:solidFill>
              <a:srgbClr val="D9D9D9"/>
            </a:solidFill>
            <a:prstDash val="solid"/>
          </a:ln>
        </p:spPr>
      </p:sp>
      <p:sp>
        <p:nvSpPr>
          <p:cNvPr id="18" name="Text 16"/>
          <p:cNvSpPr txBox="1"/>
          <p:nvPr/>
        </p:nvSpPr>
        <p:spPr>
          <a:xfrm>
            <a:off x="10003536" y="2340864"/>
            <a:ext cx="1655064" cy="457200"/>
          </a:xfrm>
          <a:prstGeom prst="rect">
            <a:avLst/>
          </a:prstGeom>
          <a:noFill/>
          <a:ln/>
        </p:spPr>
        <p:txBody>
          <a:bodyPr wrap="square" lIns="0" tIns="0" rIns="0" bIns="0" rtlCol="0" anchor="ctr">
            <a:normAutofit/>
          </a:bodyPr>
          <a:lstStyle/>
          <a:p>
            <a:pPr algn="ctr" indent="0" marL="0">
              <a:buNone/>
            </a:pPr>
            <a:r>
              <a:rPr lang="en-US" sz="1400" dirty="0">
                <a:solidFill>
                  <a:srgbClr val="1A1A1A"/>
                </a:solidFill>
                <a:latin typeface="Inter" pitchFamily="34" charset="0"/>
                <a:ea typeface="Inter" pitchFamily="34" charset="-122"/>
                <a:cs typeface="Inter" pitchFamily="34" charset="-120"/>
              </a:rPr>
              <a:t>All 7 jobs  </a:t>
            </a:r>
            <a:pPr algn="ctr" indent="0" marL="0">
              <a:buNone/>
            </a:pPr>
            <a:r>
              <a:rPr lang="en-US" sz="1400" b="1" dirty="0">
                <a:solidFill>
                  <a:srgbClr val="0B2C4A"/>
                </a:solidFill>
                <a:latin typeface="Inter" pitchFamily="34" charset="0"/>
                <a:ea typeface="Inter" pitchFamily="34" charset="-122"/>
                <a:cs typeface="Inter" pitchFamily="34" charset="-120"/>
              </a:rPr>
              <a:t>80.8%</a:t>
            </a:r>
            <a:endParaRPr lang="en-US" sz="1400" dirty="0"/>
          </a:p>
        </p:txBody>
      </p:sp>
      <p:sp>
        <p:nvSpPr>
          <p:cNvPr id="19" name="Shape 17"/>
          <p:cNvSpPr/>
          <p:nvPr/>
        </p:nvSpPr>
        <p:spPr>
          <a:xfrm>
            <a:off x="457200" y="2907792"/>
            <a:ext cx="4343400" cy="3081528"/>
          </a:xfrm>
          <a:prstGeom prst="rect">
            <a:avLst/>
          </a:prstGeom>
          <a:solidFill>
            <a:srgbClr val="FFFFFF"/>
          </a:solidFill>
          <a:ln/>
        </p:spPr>
      </p:sp>
      <p:sp>
        <p:nvSpPr>
          <p:cNvPr id="20" name="Shape 18"/>
          <p:cNvSpPr/>
          <p:nvPr/>
        </p:nvSpPr>
        <p:spPr>
          <a:xfrm>
            <a:off x="4937760" y="2907792"/>
            <a:ext cx="6793992" cy="3081528"/>
          </a:xfrm>
          <a:prstGeom prst="rect">
            <a:avLst/>
          </a:prstGeom>
          <a:solidFill>
            <a:srgbClr val="FFFFFF"/>
          </a:solidFill>
          <a:ln/>
        </p:spPr>
      </p:sp>
      <p:sp>
        <p:nvSpPr>
          <p:cNvPr id="21" name="Text 19"/>
          <p:cNvSpPr txBox="1"/>
          <p:nvPr/>
        </p:nvSpPr>
        <p:spPr>
          <a:xfrm>
            <a:off x="658368" y="3035808"/>
            <a:ext cx="393192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WHY IT MATTERS</a:t>
            </a:r>
            <a:endParaRPr lang="en-US" sz="1400" dirty="0"/>
          </a:p>
        </p:txBody>
      </p:sp>
      <p:sp>
        <p:nvSpPr>
          <p:cNvPr id="22" name="Text 20"/>
          <p:cNvSpPr txBox="1"/>
          <p:nvPr/>
        </p:nvSpPr>
        <p:spPr>
          <a:xfrm>
            <a:off x="5138928" y="3035808"/>
            <a:ext cx="640080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WHAT MOVES IT</a:t>
            </a:r>
            <a:endParaRPr lang="en-US" sz="1400" dirty="0"/>
          </a:p>
        </p:txBody>
      </p:sp>
      <p:sp>
        <p:nvSpPr>
          <p:cNvPr id="23" name="Text 21"/>
          <p:cNvSpPr txBox="1"/>
          <p:nvPr/>
        </p:nvSpPr>
        <p:spPr>
          <a:xfrm>
            <a:off x="658368" y="3410712"/>
            <a:ext cx="3977640" cy="2441448"/>
          </a:xfrm>
          <a:prstGeom prst="rect">
            <a:avLst/>
          </a:prstGeom>
          <a:noFill/>
          <a:ln/>
        </p:spPr>
        <p:txBody>
          <a:bodyPr wrap="square" lIns="0" tIns="0" rIns="0" bIns="0" rtlCol="0" anchor="t"/>
          <a:lstStyle/>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Goldilocks: not too high, not too low.</a:t>
            </a:r>
            <a:endParaRPr lang="en-US" sz="1500" dirty="0"/>
          </a:p>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Too low means tech cost is out of line with what the job sells for.</a:t>
            </a:r>
            <a:endParaRPr lang="en-US" sz="1500" dirty="0"/>
          </a:p>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Too high can mean techs are underpaid on the work they do, which costs us techs.</a:t>
            </a:r>
            <a:endParaRPr lang="en-US" sz="1500" dirty="0"/>
          </a:p>
        </p:txBody>
      </p:sp>
      <p:sp>
        <p:nvSpPr>
          <p:cNvPr id="24" name="Shape 22"/>
          <p:cNvSpPr/>
          <p:nvPr/>
        </p:nvSpPr>
        <p:spPr>
          <a:xfrm>
            <a:off x="5138928" y="3410712"/>
            <a:ext cx="45720" cy="1133856"/>
          </a:xfrm>
          <a:prstGeom prst="rect">
            <a:avLst/>
          </a:prstGeom>
          <a:solidFill>
            <a:srgbClr val="2587C5"/>
          </a:solidFill>
          <a:ln/>
        </p:spPr>
      </p:sp>
      <p:sp>
        <p:nvSpPr>
          <p:cNvPr id="25" name="Text 23"/>
          <p:cNvSpPr txBox="1"/>
          <p:nvPr/>
        </p:nvSpPr>
        <p:spPr>
          <a:xfrm>
            <a:off x="5266944" y="3410712"/>
            <a:ext cx="1877568"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Effective labor rate</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Same tech cost, higher ELR = higher margin</a:t>
            </a:r>
            <a:endParaRPr lang="en-US" sz="1400" dirty="0"/>
          </a:p>
        </p:txBody>
      </p:sp>
      <p:sp>
        <p:nvSpPr>
          <p:cNvPr id="26" name="Shape 24"/>
          <p:cNvSpPr/>
          <p:nvPr/>
        </p:nvSpPr>
        <p:spPr>
          <a:xfrm>
            <a:off x="7309104" y="3410712"/>
            <a:ext cx="45720" cy="1133856"/>
          </a:xfrm>
          <a:prstGeom prst="rect">
            <a:avLst/>
          </a:prstGeom>
          <a:solidFill>
            <a:srgbClr val="2587C5"/>
          </a:solidFill>
          <a:ln/>
        </p:spPr>
      </p:sp>
      <p:sp>
        <p:nvSpPr>
          <p:cNvPr id="27" name="Text 25"/>
          <p:cNvSpPr txBox="1"/>
          <p:nvPr/>
        </p:nvSpPr>
        <p:spPr>
          <a:xfrm>
            <a:off x="7437120" y="3410712"/>
            <a:ext cx="1877568"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Tech pay rate</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Flat-rate pay per hour against the rate we sell</a:t>
            </a:r>
            <a:endParaRPr lang="en-US" sz="1400" dirty="0"/>
          </a:p>
        </p:txBody>
      </p:sp>
      <p:sp>
        <p:nvSpPr>
          <p:cNvPr id="28" name="Shape 26"/>
          <p:cNvSpPr/>
          <p:nvPr/>
        </p:nvSpPr>
        <p:spPr>
          <a:xfrm>
            <a:off x="9479280" y="3410712"/>
            <a:ext cx="45720" cy="1133856"/>
          </a:xfrm>
          <a:prstGeom prst="rect">
            <a:avLst/>
          </a:prstGeom>
          <a:solidFill>
            <a:srgbClr val="2587C5"/>
          </a:solidFill>
          <a:ln/>
        </p:spPr>
      </p:sp>
      <p:sp>
        <p:nvSpPr>
          <p:cNvPr id="29" name="Text 27"/>
          <p:cNvSpPr txBox="1"/>
          <p:nvPr/>
        </p:nvSpPr>
        <p:spPr>
          <a:xfrm>
            <a:off x="9607296" y="3410712"/>
            <a:ext cx="1877568"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Right tech, right job</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Skill-code costing: don't pay a master-tech rate on an oil change</a:t>
            </a:r>
            <a:endParaRPr lang="en-US" sz="1400" dirty="0"/>
          </a:p>
        </p:txBody>
      </p:sp>
      <p:sp>
        <p:nvSpPr>
          <p:cNvPr id="30" name="Shape 28"/>
          <p:cNvSpPr/>
          <p:nvPr/>
        </p:nvSpPr>
        <p:spPr>
          <a:xfrm>
            <a:off x="5138928" y="4654296"/>
            <a:ext cx="45720" cy="1133856"/>
          </a:xfrm>
          <a:prstGeom prst="rect">
            <a:avLst/>
          </a:prstGeom>
          <a:solidFill>
            <a:srgbClr val="2587C5"/>
          </a:solidFill>
          <a:ln/>
        </p:spPr>
      </p:sp>
      <p:sp>
        <p:nvSpPr>
          <p:cNvPr id="31" name="Text 29"/>
          <p:cNvSpPr txBox="1"/>
          <p:nvPr/>
        </p:nvSpPr>
        <p:spPr>
          <a:xfrm>
            <a:off x="5266944" y="4654296"/>
            <a:ext cx="1877568"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Work mix</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Quick maintenance runs lower margin than repair</a:t>
            </a:r>
            <a:endParaRPr lang="en-US" sz="1400" dirty="0"/>
          </a:p>
        </p:txBody>
      </p:sp>
      <p:sp>
        <p:nvSpPr>
          <p:cNvPr id="32" name="Shape 30"/>
          <p:cNvSpPr/>
          <p:nvPr/>
        </p:nvSpPr>
        <p:spPr>
          <a:xfrm>
            <a:off x="7309104" y="4654296"/>
            <a:ext cx="45720" cy="1133856"/>
          </a:xfrm>
          <a:prstGeom prst="rect">
            <a:avLst/>
          </a:prstGeom>
          <a:solidFill>
            <a:srgbClr val="2587C5"/>
          </a:solidFill>
          <a:ln/>
        </p:spPr>
      </p:sp>
      <p:sp>
        <p:nvSpPr>
          <p:cNvPr id="33" name="Text 31"/>
          <p:cNvSpPr txBox="1"/>
          <p:nvPr/>
        </p:nvSpPr>
        <p:spPr>
          <a:xfrm>
            <a:off x="7437120" y="4654296"/>
            <a:ext cx="1877568"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Comebacks</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Paying twice for the same job</a:t>
            </a:r>
            <a:endParaRPr lang="en-US" sz="1400" dirty="0"/>
          </a:p>
        </p:txBody>
      </p:sp>
      <p:sp>
        <p:nvSpPr>
          <p:cNvPr id="34" name="Shape 32"/>
          <p:cNvSpPr/>
          <p:nvPr/>
        </p:nvSpPr>
        <p:spPr>
          <a:xfrm>
            <a:off x="457200" y="6126480"/>
            <a:ext cx="11274552" cy="371856"/>
          </a:xfrm>
          <a:prstGeom prst="rect">
            <a:avLst/>
          </a:prstGeom>
          <a:solidFill>
            <a:srgbClr val="EDF4FA"/>
          </a:solidFill>
          <a:ln/>
        </p:spPr>
      </p:sp>
      <p:sp>
        <p:nvSpPr>
          <p:cNvPr id="35" name="Text 33"/>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Group: 80.8% CP labor gross profit, down 0.1 pts and just above the 78-80% target.</a:t>
            </a:r>
            <a:endParaRPr lang="en-US" sz="16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THE CP ENGINE</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What Is Parts Gross Profit %?</a:t>
            </a:r>
            <a:endParaRPr lang="en-US" sz="2800" dirty="0"/>
          </a:p>
        </p:txBody>
      </p:sp>
      <p:sp>
        <p:nvSpPr>
          <p:cNvPr id="5" name="Shape 3"/>
          <p:cNvSpPr/>
          <p:nvPr/>
        </p:nvSpPr>
        <p:spPr>
          <a:xfrm>
            <a:off x="457200" y="1207008"/>
            <a:ext cx="11274552" cy="1024128"/>
          </a:xfrm>
          <a:prstGeom prst="rect">
            <a:avLst/>
          </a:prstGeom>
          <a:solidFill>
            <a:srgbClr val="EDF4FA"/>
          </a:solidFill>
          <a:ln/>
        </p:spPr>
      </p:sp>
      <p:sp>
        <p:nvSpPr>
          <p:cNvPr id="6" name="Text 4"/>
          <p:cNvSpPr txBox="1"/>
          <p:nvPr/>
        </p:nvSpPr>
        <p:spPr>
          <a:xfrm>
            <a:off x="685800" y="1243584"/>
            <a:ext cx="10835640" cy="566928"/>
          </a:xfrm>
          <a:prstGeom prst="rect">
            <a:avLst/>
          </a:prstGeom>
          <a:noFill/>
          <a:ln/>
        </p:spPr>
        <p:txBody>
          <a:bodyPr wrap="square" lIns="0" tIns="0" rIns="0" bIns="0" rtlCol="0" anchor="ctr">
            <a:normAutofit/>
          </a:bodyPr>
          <a:lstStyle/>
          <a:p>
            <a:pPr indent="0" marL="0">
              <a:buNone/>
            </a:pPr>
            <a:r>
              <a:rPr lang="en-US" sz="2400" b="1" dirty="0">
                <a:solidFill>
                  <a:srgbClr val="0B2C4A"/>
                </a:solidFill>
                <a:latin typeface="Inter" pitchFamily="34" charset="0"/>
                <a:ea typeface="Inter" pitchFamily="34" charset="-122"/>
                <a:cs typeface="Inter" pitchFamily="34" charset="-120"/>
              </a:rPr>
              <a:t>Parts GP %  </a:t>
            </a:r>
            <a:pPr indent="0" marL="0">
              <a:buNone/>
            </a:pPr>
            <a:r>
              <a:rPr lang="en-US" sz="2400" b="1" dirty="0">
                <a:solidFill>
                  <a:srgbClr val="2587C5"/>
                </a:solidFill>
                <a:latin typeface="Inter" pitchFamily="34" charset="0"/>
                <a:ea typeface="Inter" pitchFamily="34" charset="-122"/>
                <a:cs typeface="Inter" pitchFamily="34" charset="-120"/>
              </a:rPr>
              <a:t>=  </a:t>
            </a:r>
            <a:pPr indent="0" marL="0">
              <a:buNone/>
            </a:pPr>
            <a:r>
              <a:rPr lang="en-US" sz="2400" b="1" dirty="0">
                <a:solidFill>
                  <a:srgbClr val="0B2C4A"/>
                </a:solidFill>
                <a:latin typeface="Inter" pitchFamily="34" charset="0"/>
                <a:ea typeface="Inter" pitchFamily="34" charset="-122"/>
                <a:cs typeface="Inter" pitchFamily="34" charset="-120"/>
              </a:rPr>
              <a:t>(CP parts sale  </a:t>
            </a:r>
            <a:pPr indent="0" marL="0">
              <a:buNone/>
            </a:pPr>
            <a:r>
              <a:rPr lang="en-US" sz="2400" b="1" dirty="0">
                <a:solidFill>
                  <a:srgbClr val="2587C5"/>
                </a:solidFill>
                <a:latin typeface="Inter" pitchFamily="34" charset="0"/>
                <a:ea typeface="Inter" pitchFamily="34" charset="-122"/>
                <a:cs typeface="Inter" pitchFamily="34" charset="-120"/>
              </a:rPr>
              <a:t>−  </a:t>
            </a:r>
            <a:pPr indent="0" marL="0">
              <a:buNone/>
            </a:pPr>
            <a:r>
              <a:rPr lang="en-US" sz="2400" b="1" dirty="0">
                <a:solidFill>
                  <a:srgbClr val="0B2C4A"/>
                </a:solidFill>
                <a:latin typeface="Inter" pitchFamily="34" charset="0"/>
                <a:ea typeface="Inter" pitchFamily="34" charset="-122"/>
                <a:cs typeface="Inter" pitchFamily="34" charset="-120"/>
              </a:rPr>
              <a:t>parts cost)  </a:t>
            </a:r>
            <a:pPr indent="0" marL="0">
              <a:buNone/>
            </a:pPr>
            <a:r>
              <a:rPr lang="en-US" sz="2400" b="1" dirty="0">
                <a:solidFill>
                  <a:srgbClr val="2587C5"/>
                </a:solidFill>
                <a:latin typeface="Inter" pitchFamily="34" charset="0"/>
                <a:ea typeface="Inter" pitchFamily="34" charset="-122"/>
                <a:cs typeface="Inter" pitchFamily="34" charset="-120"/>
              </a:rPr>
              <a:t>÷  </a:t>
            </a:r>
            <a:pPr indent="0" marL="0">
              <a:buNone/>
            </a:pPr>
            <a:r>
              <a:rPr lang="en-US" sz="2400" b="1" dirty="0">
                <a:solidFill>
                  <a:srgbClr val="0B2C4A"/>
                </a:solidFill>
                <a:latin typeface="Inter" pitchFamily="34" charset="0"/>
                <a:ea typeface="Inter" pitchFamily="34" charset="-122"/>
                <a:cs typeface="Inter" pitchFamily="34" charset="-120"/>
              </a:rPr>
              <a:t>CP parts sale</a:t>
            </a:r>
            <a:endParaRPr lang="en-US" sz="2400" dirty="0"/>
          </a:p>
        </p:txBody>
      </p:sp>
      <p:sp>
        <p:nvSpPr>
          <p:cNvPr id="7" name="Text 5"/>
          <p:cNvSpPr txBox="1"/>
          <p:nvPr/>
        </p:nvSpPr>
        <p:spPr>
          <a:xfrm>
            <a:off x="685800" y="1783080"/>
            <a:ext cx="10835640" cy="420624"/>
          </a:xfrm>
          <a:prstGeom prst="rect">
            <a:avLst/>
          </a:prstGeom>
          <a:noFill/>
          <a:ln/>
        </p:spPr>
        <p:txBody>
          <a:bodyPr wrap="square" lIns="0" tIns="0" rIns="0" bIns="0" rtlCol="0" anchor="ctr"/>
          <a:lstStyle/>
          <a:p>
            <a:pPr indent="0" marL="0">
              <a:buNone/>
            </a:pPr>
            <a:r>
              <a:rPr lang="en-US" sz="1500" dirty="0">
                <a:solidFill>
                  <a:srgbClr val="595959"/>
                </a:solidFill>
                <a:latin typeface="Inter" pitchFamily="34" charset="0"/>
                <a:ea typeface="Inter" pitchFamily="34" charset="-122"/>
                <a:cs typeface="Inter" pitchFamily="34" charset="-120"/>
              </a:rPr>
              <a:t>The share of each customer-pay parts dollar we keep after the cost of the part.</a:t>
            </a:r>
            <a:endParaRPr lang="en-US" sz="1500" dirty="0"/>
          </a:p>
        </p:txBody>
      </p:sp>
      <p:sp>
        <p:nvSpPr>
          <p:cNvPr id="8" name="Shape 6"/>
          <p:cNvSpPr/>
          <p:nvPr/>
        </p:nvSpPr>
        <p:spPr>
          <a:xfrm>
            <a:off x="457200" y="2340864"/>
            <a:ext cx="4343400" cy="3648456"/>
          </a:xfrm>
          <a:prstGeom prst="rect">
            <a:avLst/>
          </a:prstGeom>
          <a:solidFill>
            <a:srgbClr val="FFFFFF"/>
          </a:solidFill>
          <a:ln/>
        </p:spPr>
      </p:sp>
      <p:sp>
        <p:nvSpPr>
          <p:cNvPr id="9" name="Shape 7"/>
          <p:cNvSpPr/>
          <p:nvPr/>
        </p:nvSpPr>
        <p:spPr>
          <a:xfrm>
            <a:off x="4937760" y="2340864"/>
            <a:ext cx="6793992" cy="3648456"/>
          </a:xfrm>
          <a:prstGeom prst="rect">
            <a:avLst/>
          </a:prstGeom>
          <a:solidFill>
            <a:srgbClr val="FFFFFF"/>
          </a:solidFill>
          <a:ln/>
        </p:spPr>
      </p:sp>
      <p:sp>
        <p:nvSpPr>
          <p:cNvPr id="10" name="Text 8"/>
          <p:cNvSpPr txBox="1"/>
          <p:nvPr/>
        </p:nvSpPr>
        <p:spPr>
          <a:xfrm>
            <a:off x="658368" y="2468880"/>
            <a:ext cx="393192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WHY IT MATTERS</a:t>
            </a:r>
            <a:endParaRPr lang="en-US" sz="1400" dirty="0"/>
          </a:p>
        </p:txBody>
      </p:sp>
      <p:sp>
        <p:nvSpPr>
          <p:cNvPr id="11" name="Text 9"/>
          <p:cNvSpPr txBox="1"/>
          <p:nvPr/>
        </p:nvSpPr>
        <p:spPr>
          <a:xfrm>
            <a:off x="5138928" y="2468880"/>
            <a:ext cx="640080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WHAT MOVES IT</a:t>
            </a:r>
            <a:endParaRPr lang="en-US" sz="1400" dirty="0"/>
          </a:p>
        </p:txBody>
      </p:sp>
      <p:sp>
        <p:nvSpPr>
          <p:cNvPr id="12" name="Text 10"/>
          <p:cNvSpPr txBox="1"/>
          <p:nvPr/>
        </p:nvSpPr>
        <p:spPr>
          <a:xfrm>
            <a:off x="658368" y="2843784"/>
            <a:ext cx="3977640" cy="3008376"/>
          </a:xfrm>
          <a:prstGeom prst="rect">
            <a:avLst/>
          </a:prstGeom>
          <a:noFill/>
          <a:ln/>
        </p:spPr>
        <p:txBody>
          <a:bodyPr wrap="square" lIns="0" tIns="0" rIns="0" bIns="0" rtlCol="0" anchor="t"/>
          <a:lstStyle/>
          <a:p>
            <a:pPr marL="203200" indent="-203200">
              <a:spcAft>
                <a:spcPts val="600"/>
              </a:spcAft>
              <a:buSzPct val="100000"/>
              <a:buChar char="•"/>
            </a:pPr>
            <a:r>
              <a:rPr lang="en-US" sz="1600" dirty="0">
                <a:solidFill>
                  <a:srgbClr val="1A1A1A"/>
                </a:solidFill>
                <a:latin typeface="Inter" pitchFamily="34" charset="0"/>
                <a:ea typeface="Inter" pitchFamily="34" charset="-122"/>
                <a:cs typeface="Inter" pitchFamily="34" charset="-120"/>
              </a:rPr>
              <a:t>It is the other half of the gross on every RO.</a:t>
            </a:r>
            <a:endParaRPr lang="en-US" sz="1600" dirty="0"/>
          </a:p>
          <a:p>
            <a:pPr marL="203200" indent="-203200">
              <a:spcAft>
                <a:spcPts val="600"/>
              </a:spcAft>
              <a:buSzPct val="100000"/>
              <a:buChar char="•"/>
            </a:pPr>
            <a:r>
              <a:rPr lang="en-US" sz="1600" dirty="0">
                <a:solidFill>
                  <a:srgbClr val="1A1A1A"/>
                </a:solidFill>
                <a:latin typeface="Inter" pitchFamily="34" charset="0"/>
                <a:ea typeface="Inter" pitchFamily="34" charset="-122"/>
                <a:cs typeface="Inter" pitchFamily="34" charset="-120"/>
              </a:rPr>
              <a:t>Small changes add up across every RO in the group.</a:t>
            </a:r>
            <a:endParaRPr lang="en-US" sz="1600" dirty="0"/>
          </a:p>
          <a:p>
            <a:pPr marL="203200" indent="-203200">
              <a:spcAft>
                <a:spcPts val="600"/>
              </a:spcAft>
              <a:buSzPct val="100000"/>
              <a:buChar char="•"/>
            </a:pPr>
            <a:r>
              <a:rPr lang="en-US" sz="1600" dirty="0">
                <a:solidFill>
                  <a:srgbClr val="1A1A1A"/>
                </a:solidFill>
                <a:latin typeface="Inter" pitchFamily="34" charset="0"/>
                <a:ea typeface="Inter" pitchFamily="34" charset="-122"/>
                <a:cs typeface="Inter" pitchFamily="34" charset="-120"/>
              </a:rPr>
              <a:t>It shows whether pricing and discounting are under control.</a:t>
            </a:r>
            <a:endParaRPr lang="en-US" sz="1600" dirty="0"/>
          </a:p>
        </p:txBody>
      </p:sp>
      <p:sp>
        <p:nvSpPr>
          <p:cNvPr id="13" name="Shape 11"/>
          <p:cNvSpPr/>
          <p:nvPr/>
        </p:nvSpPr>
        <p:spPr>
          <a:xfrm>
            <a:off x="5138928" y="2843784"/>
            <a:ext cx="45720" cy="1417320"/>
          </a:xfrm>
          <a:prstGeom prst="rect">
            <a:avLst/>
          </a:prstGeom>
          <a:solidFill>
            <a:srgbClr val="2587C5"/>
          </a:solidFill>
          <a:ln/>
        </p:spPr>
      </p:sp>
      <p:sp>
        <p:nvSpPr>
          <p:cNvPr id="14" name="Text 12"/>
          <p:cNvSpPr txBox="1"/>
          <p:nvPr/>
        </p:nvSpPr>
        <p:spPr>
          <a:xfrm>
            <a:off x="5266944" y="2843784"/>
            <a:ext cx="2962656" cy="1417320"/>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Parts pricing matrix</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Markup by cost band; set and reviewed</a:t>
            </a:r>
            <a:endParaRPr lang="en-US" sz="1400" dirty="0"/>
          </a:p>
        </p:txBody>
      </p:sp>
      <p:sp>
        <p:nvSpPr>
          <p:cNvPr id="15" name="Shape 13"/>
          <p:cNvSpPr/>
          <p:nvPr/>
        </p:nvSpPr>
        <p:spPr>
          <a:xfrm>
            <a:off x="8394192" y="2843784"/>
            <a:ext cx="45720" cy="1417320"/>
          </a:xfrm>
          <a:prstGeom prst="rect">
            <a:avLst/>
          </a:prstGeom>
          <a:solidFill>
            <a:srgbClr val="2587C5"/>
          </a:solidFill>
          <a:ln/>
        </p:spPr>
      </p:sp>
      <p:sp>
        <p:nvSpPr>
          <p:cNvPr id="16" name="Text 14"/>
          <p:cNvSpPr txBox="1"/>
          <p:nvPr/>
        </p:nvSpPr>
        <p:spPr>
          <a:xfrm>
            <a:off x="8522208" y="2843784"/>
            <a:ext cx="2962656" cy="1417320"/>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Discounts</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No direct price changes. ADC-controlled discounting only.</a:t>
            </a:r>
            <a:endParaRPr lang="en-US" sz="1400" dirty="0"/>
          </a:p>
        </p:txBody>
      </p:sp>
      <p:sp>
        <p:nvSpPr>
          <p:cNvPr id="17" name="Shape 15"/>
          <p:cNvSpPr/>
          <p:nvPr/>
        </p:nvSpPr>
        <p:spPr>
          <a:xfrm>
            <a:off x="5138928" y="4370832"/>
            <a:ext cx="45720" cy="1417320"/>
          </a:xfrm>
          <a:prstGeom prst="rect">
            <a:avLst/>
          </a:prstGeom>
          <a:solidFill>
            <a:srgbClr val="2587C5"/>
          </a:solidFill>
          <a:ln/>
        </p:spPr>
      </p:sp>
      <p:sp>
        <p:nvSpPr>
          <p:cNvPr id="18" name="Text 16"/>
          <p:cNvSpPr txBox="1"/>
          <p:nvPr/>
        </p:nvSpPr>
        <p:spPr>
          <a:xfrm>
            <a:off x="5266944" y="4370832"/>
            <a:ext cx="2962656" cy="1417320"/>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Mix</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Tires and competitive items carry thinner margins</a:t>
            </a:r>
            <a:endParaRPr lang="en-US" sz="1400" dirty="0"/>
          </a:p>
        </p:txBody>
      </p:sp>
      <p:sp>
        <p:nvSpPr>
          <p:cNvPr id="19" name="Shape 17"/>
          <p:cNvSpPr/>
          <p:nvPr/>
        </p:nvSpPr>
        <p:spPr>
          <a:xfrm>
            <a:off x="8394192" y="4370832"/>
            <a:ext cx="45720" cy="1417320"/>
          </a:xfrm>
          <a:prstGeom prst="rect">
            <a:avLst/>
          </a:prstGeom>
          <a:solidFill>
            <a:srgbClr val="2587C5"/>
          </a:solidFill>
          <a:ln/>
        </p:spPr>
      </p:sp>
      <p:sp>
        <p:nvSpPr>
          <p:cNvPr id="20" name="Text 18"/>
          <p:cNvSpPr txBox="1"/>
          <p:nvPr/>
        </p:nvSpPr>
        <p:spPr>
          <a:xfrm>
            <a:off x="8522208" y="4370832"/>
            <a:ext cx="2962656" cy="1417320"/>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Menu pricing</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Bundled maintenance parts priced to protect margin</a:t>
            </a:r>
            <a:endParaRPr lang="en-US" sz="1400" dirty="0"/>
          </a:p>
        </p:txBody>
      </p:sp>
      <p:sp>
        <p:nvSpPr>
          <p:cNvPr id="21" name="Shape 19"/>
          <p:cNvSpPr/>
          <p:nvPr/>
        </p:nvSpPr>
        <p:spPr>
          <a:xfrm>
            <a:off x="457200" y="6126480"/>
            <a:ext cx="11274552" cy="371856"/>
          </a:xfrm>
          <a:prstGeom prst="rect">
            <a:avLst/>
          </a:prstGeom>
          <a:solidFill>
            <a:srgbClr val="E6F6EE"/>
          </a:solidFill>
          <a:ln/>
        </p:spPr>
      </p:sp>
      <p:sp>
        <p:nvSpPr>
          <p:cNvPr id="22" name="Text 20"/>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Group: 40.7% CP parts gross profit, up 1.2 pts and ahead of 2025 in all nine months.</a:t>
            </a:r>
            <a:endParaRPr lang="en-US" sz="16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PROFITABILITY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What Is Absorption?</a:t>
            </a:r>
            <a:endParaRPr lang="en-US" sz="2800" dirty="0"/>
          </a:p>
        </p:txBody>
      </p:sp>
      <p:sp>
        <p:nvSpPr>
          <p:cNvPr id="5" name="Shape 3"/>
          <p:cNvSpPr/>
          <p:nvPr/>
        </p:nvSpPr>
        <p:spPr>
          <a:xfrm>
            <a:off x="457200" y="1207008"/>
            <a:ext cx="11274552" cy="1024128"/>
          </a:xfrm>
          <a:prstGeom prst="rect">
            <a:avLst/>
          </a:prstGeom>
          <a:solidFill>
            <a:srgbClr val="EDF4FA"/>
          </a:solidFill>
          <a:ln/>
        </p:spPr>
      </p:sp>
      <p:sp>
        <p:nvSpPr>
          <p:cNvPr id="6" name="Text 4"/>
          <p:cNvSpPr txBox="1"/>
          <p:nvPr/>
        </p:nvSpPr>
        <p:spPr>
          <a:xfrm>
            <a:off x="685800" y="1243584"/>
            <a:ext cx="10835640" cy="566928"/>
          </a:xfrm>
          <a:prstGeom prst="rect">
            <a:avLst/>
          </a:prstGeom>
          <a:noFill/>
          <a:ln/>
        </p:spPr>
        <p:txBody>
          <a:bodyPr wrap="square" lIns="0" tIns="0" rIns="0" bIns="0" rtlCol="0" anchor="ctr">
            <a:normAutofit/>
          </a:bodyPr>
          <a:lstStyle/>
          <a:p>
            <a:pPr indent="0" marL="0">
              <a:buNone/>
            </a:pPr>
            <a:r>
              <a:rPr lang="en-US" sz="2400" b="1" dirty="0">
                <a:solidFill>
                  <a:srgbClr val="0B2C4A"/>
                </a:solidFill>
                <a:latin typeface="Inter" pitchFamily="34" charset="0"/>
                <a:ea typeface="Inter" pitchFamily="34" charset="-122"/>
                <a:cs typeface="Inter" pitchFamily="34" charset="-120"/>
              </a:rPr>
              <a:t>Fixed ops absorption  </a:t>
            </a:r>
            <a:pPr indent="0" marL="0">
              <a:buNone/>
            </a:pPr>
            <a:r>
              <a:rPr lang="en-US" sz="2400" b="1" dirty="0">
                <a:solidFill>
                  <a:srgbClr val="2587C5"/>
                </a:solidFill>
                <a:latin typeface="Inter" pitchFamily="34" charset="0"/>
                <a:ea typeface="Inter" pitchFamily="34" charset="-122"/>
                <a:cs typeface="Inter" pitchFamily="34" charset="-120"/>
              </a:rPr>
              <a:t>=  </a:t>
            </a:r>
            <a:pPr indent="0" marL="0">
              <a:buNone/>
            </a:pPr>
            <a:r>
              <a:rPr lang="en-US" sz="2400" b="1" dirty="0">
                <a:solidFill>
                  <a:srgbClr val="0B2C4A"/>
                </a:solidFill>
                <a:latin typeface="Inter" pitchFamily="34" charset="0"/>
                <a:ea typeface="Inter" pitchFamily="34" charset="-122"/>
                <a:cs typeface="Inter" pitchFamily="34" charset="-120"/>
              </a:rPr>
              <a:t>fixed ops gross  </a:t>
            </a:r>
            <a:pPr indent="0" marL="0">
              <a:buNone/>
            </a:pPr>
            <a:r>
              <a:rPr lang="en-US" sz="2400" b="1" dirty="0">
                <a:solidFill>
                  <a:srgbClr val="2587C5"/>
                </a:solidFill>
                <a:latin typeface="Inter" pitchFamily="34" charset="0"/>
                <a:ea typeface="Inter" pitchFamily="34" charset="-122"/>
                <a:cs typeface="Inter" pitchFamily="34" charset="-120"/>
              </a:rPr>
              <a:t>÷  </a:t>
            </a:r>
            <a:pPr indent="0" marL="0">
              <a:buNone/>
            </a:pPr>
            <a:r>
              <a:rPr lang="en-US" sz="2400" b="1" dirty="0">
                <a:solidFill>
                  <a:srgbClr val="0B2C4A"/>
                </a:solidFill>
                <a:latin typeface="Inter" pitchFamily="34" charset="0"/>
                <a:ea typeface="Inter" pitchFamily="34" charset="-122"/>
                <a:cs typeface="Inter" pitchFamily="34" charset="-120"/>
              </a:rPr>
              <a:t>fixed expenses</a:t>
            </a:r>
            <a:endParaRPr lang="en-US" sz="2400" dirty="0"/>
          </a:p>
        </p:txBody>
      </p:sp>
      <p:sp>
        <p:nvSpPr>
          <p:cNvPr id="7" name="Text 5"/>
          <p:cNvSpPr txBox="1"/>
          <p:nvPr/>
        </p:nvSpPr>
        <p:spPr>
          <a:xfrm>
            <a:off x="685800" y="1783080"/>
            <a:ext cx="10835640" cy="420624"/>
          </a:xfrm>
          <a:prstGeom prst="rect">
            <a:avLst/>
          </a:prstGeom>
          <a:noFill/>
          <a:ln/>
        </p:spPr>
        <p:txBody>
          <a:bodyPr wrap="square" lIns="0" tIns="0" rIns="0" bIns="0" rtlCol="0" anchor="ctr"/>
          <a:lstStyle/>
          <a:p>
            <a:pPr indent="0" marL="0">
              <a:buNone/>
            </a:pPr>
            <a:r>
              <a:rPr lang="en-US" sz="1500" dirty="0">
                <a:solidFill>
                  <a:srgbClr val="595959"/>
                </a:solidFill>
                <a:latin typeface="Inter" pitchFamily="34" charset="0"/>
                <a:ea typeface="Inter" pitchFamily="34" charset="-122"/>
                <a:cs typeface="Inter" pitchFamily="34" charset="-120"/>
              </a:rPr>
              <a:t>How much of the store's fixed expenses service and parts gross pays for. P&amp;L line 254 divided by line 258.</a:t>
            </a:r>
            <a:endParaRPr lang="en-US" sz="1500" dirty="0"/>
          </a:p>
        </p:txBody>
      </p:sp>
      <p:sp>
        <p:nvSpPr>
          <p:cNvPr id="8" name="Text 6"/>
          <p:cNvSpPr txBox="1"/>
          <p:nvPr/>
        </p:nvSpPr>
        <p:spPr>
          <a:xfrm>
            <a:off x="457200" y="2340864"/>
            <a:ext cx="1828800" cy="457200"/>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READING IT</a:t>
            </a:r>
            <a:endParaRPr lang="en-US" sz="1400" dirty="0"/>
          </a:p>
        </p:txBody>
      </p:sp>
      <p:sp>
        <p:nvSpPr>
          <p:cNvPr id="9" name="Shape 7"/>
          <p:cNvSpPr/>
          <p:nvPr/>
        </p:nvSpPr>
        <p:spPr>
          <a:xfrm>
            <a:off x="2286000" y="2340864"/>
            <a:ext cx="4668012" cy="457200"/>
          </a:xfrm>
          <a:prstGeom prst="rect">
            <a:avLst/>
          </a:prstGeom>
          <a:solidFill>
            <a:srgbClr val="FFFFFF"/>
          </a:solidFill>
          <a:ln w="9525">
            <a:solidFill>
              <a:srgbClr val="D9D9D9"/>
            </a:solidFill>
            <a:prstDash val="solid"/>
          </a:ln>
        </p:spPr>
      </p:sp>
      <p:sp>
        <p:nvSpPr>
          <p:cNvPr id="10" name="Text 8"/>
          <p:cNvSpPr txBox="1"/>
          <p:nvPr/>
        </p:nvSpPr>
        <p:spPr>
          <a:xfrm>
            <a:off x="2359152" y="2340864"/>
            <a:ext cx="4521708" cy="457200"/>
          </a:xfrm>
          <a:prstGeom prst="rect">
            <a:avLst/>
          </a:prstGeom>
          <a:noFill/>
          <a:ln/>
        </p:spPr>
        <p:txBody>
          <a:bodyPr wrap="square" lIns="0" tIns="0" rIns="0" bIns="0" rtlCol="0" anchor="ctr">
            <a:normAutofit/>
          </a:bodyPr>
          <a:lstStyle/>
          <a:p>
            <a:pPr algn="ctr" indent="0" marL="0">
              <a:buNone/>
            </a:pPr>
            <a:r>
              <a:rPr lang="en-US" sz="1400" dirty="0">
                <a:solidFill>
                  <a:srgbClr val="1A1A1A"/>
                </a:solidFill>
                <a:latin typeface="Inter" pitchFamily="34" charset="0"/>
                <a:ea typeface="Inter" pitchFamily="34" charset="-122"/>
                <a:cs typeface="Inter" pitchFamily="34" charset="-120"/>
              </a:rPr>
              <a:t>At 100%  </a:t>
            </a:r>
            <a:pPr algn="ctr" indent="0" marL="0">
              <a:buNone/>
            </a:pPr>
            <a:r>
              <a:rPr lang="en-US" sz="1400" b="1" dirty="0">
                <a:solidFill>
                  <a:srgbClr val="0B2C4A"/>
                </a:solidFill>
                <a:latin typeface="Inter" pitchFamily="34" charset="0"/>
                <a:ea typeface="Inter" pitchFamily="34" charset="-122"/>
                <a:cs typeface="Inter" pitchFamily="34" charset="-120"/>
              </a:rPr>
              <a:t>fixed ops covers every fixed expense</a:t>
            </a:r>
            <a:endParaRPr lang="en-US" sz="1400" dirty="0"/>
          </a:p>
        </p:txBody>
      </p:sp>
      <p:sp>
        <p:nvSpPr>
          <p:cNvPr id="11" name="Shape 9"/>
          <p:cNvSpPr/>
          <p:nvPr/>
        </p:nvSpPr>
        <p:spPr>
          <a:xfrm>
            <a:off x="7063740" y="2340864"/>
            <a:ext cx="4668012" cy="457200"/>
          </a:xfrm>
          <a:prstGeom prst="rect">
            <a:avLst/>
          </a:prstGeom>
          <a:solidFill>
            <a:srgbClr val="FFFFFF"/>
          </a:solidFill>
          <a:ln w="9525">
            <a:solidFill>
              <a:srgbClr val="D9D9D9"/>
            </a:solidFill>
            <a:prstDash val="solid"/>
          </a:ln>
        </p:spPr>
      </p:sp>
      <p:sp>
        <p:nvSpPr>
          <p:cNvPr id="12" name="Text 10"/>
          <p:cNvSpPr txBox="1"/>
          <p:nvPr/>
        </p:nvSpPr>
        <p:spPr>
          <a:xfrm>
            <a:off x="7136892" y="2340864"/>
            <a:ext cx="4521708" cy="457200"/>
          </a:xfrm>
          <a:prstGeom prst="rect">
            <a:avLst/>
          </a:prstGeom>
          <a:noFill/>
          <a:ln/>
        </p:spPr>
        <p:txBody>
          <a:bodyPr wrap="square" lIns="0" tIns="0" rIns="0" bIns="0" rtlCol="0" anchor="ctr">
            <a:normAutofit/>
          </a:bodyPr>
          <a:lstStyle/>
          <a:p>
            <a:pPr algn="ctr" indent="0" marL="0">
              <a:buNone/>
            </a:pPr>
            <a:r>
              <a:rPr lang="en-US" sz="1400" dirty="0">
                <a:solidFill>
                  <a:srgbClr val="1A1A1A"/>
                </a:solidFill>
                <a:latin typeface="Inter" pitchFamily="34" charset="0"/>
                <a:ea typeface="Inter" pitchFamily="34" charset="-122"/>
                <a:cs typeface="Inter" pitchFamily="34" charset="-120"/>
              </a:rPr>
              <a:t>Group today  </a:t>
            </a:r>
            <a:pPr algn="ctr" indent="0" marL="0">
              <a:buNone/>
            </a:pPr>
            <a:r>
              <a:rPr lang="en-US" sz="1400" b="1" dirty="0">
                <a:solidFill>
                  <a:srgbClr val="0B2C4A"/>
                </a:solidFill>
                <a:latin typeface="Inter" pitchFamily="34" charset="0"/>
                <a:ea typeface="Inter" pitchFamily="34" charset="-122"/>
                <a:cs typeface="Inter" pitchFamily="34" charset="-120"/>
              </a:rPr>
              <a:t>78.1%</a:t>
            </a:r>
            <a:endParaRPr lang="en-US" sz="1400" dirty="0"/>
          </a:p>
        </p:txBody>
      </p:sp>
      <p:sp>
        <p:nvSpPr>
          <p:cNvPr id="13" name="Shape 11"/>
          <p:cNvSpPr/>
          <p:nvPr/>
        </p:nvSpPr>
        <p:spPr>
          <a:xfrm>
            <a:off x="457200" y="2907792"/>
            <a:ext cx="4343400" cy="3081528"/>
          </a:xfrm>
          <a:prstGeom prst="rect">
            <a:avLst/>
          </a:prstGeom>
          <a:solidFill>
            <a:srgbClr val="FFFFFF"/>
          </a:solidFill>
          <a:ln/>
        </p:spPr>
      </p:sp>
      <p:sp>
        <p:nvSpPr>
          <p:cNvPr id="14" name="Shape 12"/>
          <p:cNvSpPr/>
          <p:nvPr/>
        </p:nvSpPr>
        <p:spPr>
          <a:xfrm>
            <a:off x="4937760" y="2907792"/>
            <a:ext cx="6793992" cy="3081528"/>
          </a:xfrm>
          <a:prstGeom prst="rect">
            <a:avLst/>
          </a:prstGeom>
          <a:solidFill>
            <a:srgbClr val="FFFFFF"/>
          </a:solidFill>
          <a:ln/>
        </p:spPr>
      </p:sp>
      <p:sp>
        <p:nvSpPr>
          <p:cNvPr id="15" name="Text 13"/>
          <p:cNvSpPr txBox="1"/>
          <p:nvPr/>
        </p:nvSpPr>
        <p:spPr>
          <a:xfrm>
            <a:off x="658368" y="3035808"/>
            <a:ext cx="393192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WHY IT MATTERS</a:t>
            </a:r>
            <a:endParaRPr lang="en-US" sz="1400" dirty="0"/>
          </a:p>
        </p:txBody>
      </p:sp>
      <p:sp>
        <p:nvSpPr>
          <p:cNvPr id="16" name="Text 14"/>
          <p:cNvSpPr txBox="1"/>
          <p:nvPr/>
        </p:nvSpPr>
        <p:spPr>
          <a:xfrm>
            <a:off x="5138928" y="3035808"/>
            <a:ext cx="640080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WHAT MOVES IT</a:t>
            </a:r>
            <a:endParaRPr lang="en-US" sz="1400" dirty="0"/>
          </a:p>
        </p:txBody>
      </p:sp>
      <p:sp>
        <p:nvSpPr>
          <p:cNvPr id="17" name="Text 15"/>
          <p:cNvSpPr txBox="1"/>
          <p:nvPr/>
        </p:nvSpPr>
        <p:spPr>
          <a:xfrm>
            <a:off x="658368" y="3410712"/>
            <a:ext cx="3977640" cy="2441448"/>
          </a:xfrm>
          <a:prstGeom prst="rect">
            <a:avLst/>
          </a:prstGeom>
          <a:noFill/>
          <a:ln/>
        </p:spPr>
        <p:txBody>
          <a:bodyPr wrap="square" lIns="0" tIns="0" rIns="0" bIns="0" rtlCol="0" anchor="t"/>
          <a:lstStyle/>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At 100%, the store covers its fixed costs before it sells a car.</a:t>
            </a:r>
            <a:endParaRPr lang="en-US" sz="1500" dirty="0"/>
          </a:p>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It protects the store when car sales slow.</a:t>
            </a:r>
            <a:endParaRPr lang="en-US" sz="1500" dirty="0"/>
          </a:p>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It is the clearest measure of fixed ops' value to the dealership.</a:t>
            </a:r>
            <a:endParaRPr lang="en-US" sz="1500" dirty="0"/>
          </a:p>
        </p:txBody>
      </p:sp>
      <p:sp>
        <p:nvSpPr>
          <p:cNvPr id="18" name="Shape 16"/>
          <p:cNvSpPr/>
          <p:nvPr/>
        </p:nvSpPr>
        <p:spPr>
          <a:xfrm>
            <a:off x="5138928" y="3410712"/>
            <a:ext cx="45720" cy="1133856"/>
          </a:xfrm>
          <a:prstGeom prst="rect">
            <a:avLst/>
          </a:prstGeom>
          <a:solidFill>
            <a:srgbClr val="2587C5"/>
          </a:solidFill>
          <a:ln/>
        </p:spPr>
      </p:sp>
      <p:sp>
        <p:nvSpPr>
          <p:cNvPr id="19" name="Text 17"/>
          <p:cNvSpPr txBox="1"/>
          <p:nvPr/>
        </p:nvSpPr>
        <p:spPr>
          <a:xfrm>
            <a:off x="5266944" y="3410712"/>
            <a:ext cx="2962656"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Fixed ops gross</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Everything on the CP engine slides: ROs, hours, ELR, margin</a:t>
            </a:r>
            <a:endParaRPr lang="en-US" sz="1400" dirty="0"/>
          </a:p>
        </p:txBody>
      </p:sp>
      <p:sp>
        <p:nvSpPr>
          <p:cNvPr id="20" name="Shape 18"/>
          <p:cNvSpPr/>
          <p:nvPr/>
        </p:nvSpPr>
        <p:spPr>
          <a:xfrm>
            <a:off x="8394192" y="3410712"/>
            <a:ext cx="45720" cy="1133856"/>
          </a:xfrm>
          <a:prstGeom prst="rect">
            <a:avLst/>
          </a:prstGeom>
          <a:solidFill>
            <a:srgbClr val="2587C5"/>
          </a:solidFill>
          <a:ln/>
        </p:spPr>
      </p:sp>
      <p:sp>
        <p:nvSpPr>
          <p:cNvPr id="21" name="Text 19"/>
          <p:cNvSpPr txBox="1"/>
          <p:nvPr/>
        </p:nvSpPr>
        <p:spPr>
          <a:xfrm>
            <a:off x="8522208" y="3410712"/>
            <a:ext cx="2962656"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Fixed expenses</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Rent, facility and the other fixed costs on the P&amp;L</a:t>
            </a:r>
            <a:endParaRPr lang="en-US" sz="1400" dirty="0"/>
          </a:p>
        </p:txBody>
      </p:sp>
      <p:sp>
        <p:nvSpPr>
          <p:cNvPr id="22" name="Shape 20"/>
          <p:cNvSpPr/>
          <p:nvPr/>
        </p:nvSpPr>
        <p:spPr>
          <a:xfrm>
            <a:off x="5138928" y="4654296"/>
            <a:ext cx="45720" cy="1133856"/>
          </a:xfrm>
          <a:prstGeom prst="rect">
            <a:avLst/>
          </a:prstGeom>
          <a:solidFill>
            <a:srgbClr val="2587C5"/>
          </a:solidFill>
          <a:ln/>
        </p:spPr>
      </p:sp>
      <p:sp>
        <p:nvSpPr>
          <p:cNvPr id="23" name="Text 21"/>
          <p:cNvSpPr txBox="1"/>
          <p:nvPr/>
        </p:nvSpPr>
        <p:spPr>
          <a:xfrm>
            <a:off x="5266944" y="4654296"/>
            <a:ext cx="2962656"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Warranty and internal</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Gross from warranty and reconditioning counts too</a:t>
            </a:r>
            <a:endParaRPr lang="en-US" sz="1400" dirty="0"/>
          </a:p>
        </p:txBody>
      </p:sp>
      <p:sp>
        <p:nvSpPr>
          <p:cNvPr id="24" name="Shape 22"/>
          <p:cNvSpPr/>
          <p:nvPr/>
        </p:nvSpPr>
        <p:spPr>
          <a:xfrm>
            <a:off x="8394192" y="4654296"/>
            <a:ext cx="45720" cy="1133856"/>
          </a:xfrm>
          <a:prstGeom prst="rect">
            <a:avLst/>
          </a:prstGeom>
          <a:solidFill>
            <a:srgbClr val="2587C5"/>
          </a:solidFill>
          <a:ln/>
        </p:spPr>
      </p:sp>
      <p:sp>
        <p:nvSpPr>
          <p:cNvPr id="25" name="Text 23"/>
          <p:cNvSpPr txBox="1"/>
          <p:nvPr/>
        </p:nvSpPr>
        <p:spPr>
          <a:xfrm>
            <a:off x="8522208" y="4654296"/>
            <a:ext cx="2962656"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Parts</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Counter and wholesale parts gross counts as well</a:t>
            </a:r>
            <a:endParaRPr lang="en-US" sz="1400" dirty="0"/>
          </a:p>
        </p:txBody>
      </p:sp>
      <p:sp>
        <p:nvSpPr>
          <p:cNvPr id="26" name="Shape 24"/>
          <p:cNvSpPr/>
          <p:nvPr/>
        </p:nvSpPr>
        <p:spPr>
          <a:xfrm>
            <a:off x="457200" y="6126480"/>
            <a:ext cx="11274552" cy="371856"/>
          </a:xfrm>
          <a:prstGeom prst="rect">
            <a:avLst/>
          </a:prstGeom>
          <a:solidFill>
            <a:srgbClr val="E6F6EE"/>
          </a:solidFill>
          <a:ln/>
        </p:spPr>
      </p:sp>
      <p:sp>
        <p:nvSpPr>
          <p:cNvPr id="27" name="Text 25"/>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Group: 78.1% absorption, up 2.1 pts. Fixed gross grew 4.1%; fixed expenses 1.3%.</a:t>
            </a:r>
            <a:endParaRPr lang="en-US" sz="16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PROFITABILITY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What Is Net to Gross?</a:t>
            </a:r>
            <a:endParaRPr lang="en-US" sz="2800" dirty="0"/>
          </a:p>
        </p:txBody>
      </p:sp>
      <p:sp>
        <p:nvSpPr>
          <p:cNvPr id="5" name="Shape 3"/>
          <p:cNvSpPr/>
          <p:nvPr/>
        </p:nvSpPr>
        <p:spPr>
          <a:xfrm>
            <a:off x="457200" y="1207008"/>
            <a:ext cx="11274552" cy="1024128"/>
          </a:xfrm>
          <a:prstGeom prst="rect">
            <a:avLst/>
          </a:prstGeom>
          <a:solidFill>
            <a:srgbClr val="EDF4FA"/>
          </a:solidFill>
          <a:ln/>
        </p:spPr>
      </p:sp>
      <p:sp>
        <p:nvSpPr>
          <p:cNvPr id="6" name="Text 4"/>
          <p:cNvSpPr txBox="1"/>
          <p:nvPr/>
        </p:nvSpPr>
        <p:spPr>
          <a:xfrm>
            <a:off x="685800" y="1243584"/>
            <a:ext cx="10835640" cy="566928"/>
          </a:xfrm>
          <a:prstGeom prst="rect">
            <a:avLst/>
          </a:prstGeom>
          <a:noFill/>
          <a:ln/>
        </p:spPr>
        <p:txBody>
          <a:bodyPr wrap="square" lIns="0" tIns="0" rIns="0" bIns="0" rtlCol="0" anchor="ctr">
            <a:normAutofit/>
          </a:bodyPr>
          <a:lstStyle/>
          <a:p>
            <a:pPr indent="0" marL="0">
              <a:buNone/>
            </a:pPr>
            <a:r>
              <a:rPr lang="en-US" sz="2400" b="1" dirty="0">
                <a:solidFill>
                  <a:srgbClr val="0B2C4A"/>
                </a:solidFill>
                <a:latin typeface="Inter" pitchFamily="34" charset="0"/>
                <a:ea typeface="Inter" pitchFamily="34" charset="-122"/>
                <a:cs typeface="Inter" pitchFamily="34" charset="-120"/>
              </a:rPr>
              <a:t>Net to gross  </a:t>
            </a:r>
            <a:pPr indent="0" marL="0">
              <a:buNone/>
            </a:pPr>
            <a:r>
              <a:rPr lang="en-US" sz="2400" b="1" dirty="0">
                <a:solidFill>
                  <a:srgbClr val="2587C5"/>
                </a:solidFill>
                <a:latin typeface="Inter" pitchFamily="34" charset="0"/>
                <a:ea typeface="Inter" pitchFamily="34" charset="-122"/>
                <a:cs typeface="Inter" pitchFamily="34" charset="-120"/>
              </a:rPr>
              <a:t>=  </a:t>
            </a:r>
            <a:pPr indent="0" marL="0">
              <a:buNone/>
            </a:pPr>
            <a:r>
              <a:rPr lang="en-US" sz="2400" b="1" dirty="0">
                <a:solidFill>
                  <a:srgbClr val="0B2C4A"/>
                </a:solidFill>
                <a:latin typeface="Inter" pitchFamily="34" charset="0"/>
                <a:ea typeface="Inter" pitchFamily="34" charset="-122"/>
                <a:cs typeface="Inter" pitchFamily="34" charset="-120"/>
              </a:rPr>
              <a:t>department profit  </a:t>
            </a:r>
            <a:pPr indent="0" marL="0">
              <a:buNone/>
            </a:pPr>
            <a:r>
              <a:rPr lang="en-US" sz="2400" b="1" dirty="0">
                <a:solidFill>
                  <a:srgbClr val="2587C5"/>
                </a:solidFill>
                <a:latin typeface="Inter" pitchFamily="34" charset="0"/>
                <a:ea typeface="Inter" pitchFamily="34" charset="-122"/>
                <a:cs typeface="Inter" pitchFamily="34" charset="-120"/>
              </a:rPr>
              <a:t>÷  </a:t>
            </a:r>
            <a:pPr indent="0" marL="0">
              <a:buNone/>
            </a:pPr>
            <a:r>
              <a:rPr lang="en-US" sz="2400" b="1" dirty="0">
                <a:solidFill>
                  <a:srgbClr val="0B2C4A"/>
                </a:solidFill>
                <a:latin typeface="Inter" pitchFamily="34" charset="0"/>
                <a:ea typeface="Inter" pitchFamily="34" charset="-122"/>
                <a:cs typeface="Inter" pitchFamily="34" charset="-120"/>
              </a:rPr>
              <a:t>department gross</a:t>
            </a:r>
            <a:endParaRPr lang="en-US" sz="2400" dirty="0"/>
          </a:p>
        </p:txBody>
      </p:sp>
      <p:sp>
        <p:nvSpPr>
          <p:cNvPr id="7" name="Text 5"/>
          <p:cNvSpPr txBox="1"/>
          <p:nvPr/>
        </p:nvSpPr>
        <p:spPr>
          <a:xfrm>
            <a:off x="685800" y="1783080"/>
            <a:ext cx="10835640" cy="420624"/>
          </a:xfrm>
          <a:prstGeom prst="rect">
            <a:avLst/>
          </a:prstGeom>
          <a:noFill/>
          <a:ln/>
        </p:spPr>
        <p:txBody>
          <a:bodyPr wrap="square" lIns="0" tIns="0" rIns="0" bIns="0" rtlCol="0" anchor="ctr"/>
          <a:lstStyle/>
          <a:p>
            <a:pPr indent="0" marL="0">
              <a:buNone/>
            </a:pPr>
            <a:r>
              <a:rPr lang="en-US" sz="1500" dirty="0">
                <a:solidFill>
                  <a:srgbClr val="595959"/>
                </a:solidFill>
                <a:latin typeface="Inter" pitchFamily="34" charset="0"/>
                <a:ea typeface="Inter" pitchFamily="34" charset="-122"/>
                <a:cs typeface="Inter" pitchFamily="34" charset="-120"/>
              </a:rPr>
              <a:t>How much of each gross dollar the department keeps after its own expenses. Shown for service and parts.</a:t>
            </a:r>
            <a:endParaRPr lang="en-US" sz="1500" dirty="0"/>
          </a:p>
        </p:txBody>
      </p:sp>
      <p:sp>
        <p:nvSpPr>
          <p:cNvPr id="8" name="Shape 6"/>
          <p:cNvSpPr/>
          <p:nvPr/>
        </p:nvSpPr>
        <p:spPr>
          <a:xfrm>
            <a:off x="457200" y="2340864"/>
            <a:ext cx="4343400" cy="3648456"/>
          </a:xfrm>
          <a:prstGeom prst="rect">
            <a:avLst/>
          </a:prstGeom>
          <a:solidFill>
            <a:srgbClr val="FFFFFF"/>
          </a:solidFill>
          <a:ln/>
        </p:spPr>
      </p:sp>
      <p:sp>
        <p:nvSpPr>
          <p:cNvPr id="9" name="Shape 7"/>
          <p:cNvSpPr/>
          <p:nvPr/>
        </p:nvSpPr>
        <p:spPr>
          <a:xfrm>
            <a:off x="4937760" y="2340864"/>
            <a:ext cx="6793992" cy="3648456"/>
          </a:xfrm>
          <a:prstGeom prst="rect">
            <a:avLst/>
          </a:prstGeom>
          <a:solidFill>
            <a:srgbClr val="FFFFFF"/>
          </a:solidFill>
          <a:ln/>
        </p:spPr>
      </p:sp>
      <p:sp>
        <p:nvSpPr>
          <p:cNvPr id="10" name="Text 8"/>
          <p:cNvSpPr txBox="1"/>
          <p:nvPr/>
        </p:nvSpPr>
        <p:spPr>
          <a:xfrm>
            <a:off x="658368" y="2468880"/>
            <a:ext cx="393192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WHY IT MATTERS</a:t>
            </a:r>
            <a:endParaRPr lang="en-US" sz="1400" dirty="0"/>
          </a:p>
        </p:txBody>
      </p:sp>
      <p:sp>
        <p:nvSpPr>
          <p:cNvPr id="11" name="Text 9"/>
          <p:cNvSpPr txBox="1"/>
          <p:nvPr/>
        </p:nvSpPr>
        <p:spPr>
          <a:xfrm>
            <a:off x="5138928" y="2468880"/>
            <a:ext cx="640080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WHAT MOVES IT</a:t>
            </a:r>
            <a:endParaRPr lang="en-US" sz="1400" dirty="0"/>
          </a:p>
        </p:txBody>
      </p:sp>
      <p:sp>
        <p:nvSpPr>
          <p:cNvPr id="12" name="Text 10"/>
          <p:cNvSpPr txBox="1"/>
          <p:nvPr/>
        </p:nvSpPr>
        <p:spPr>
          <a:xfrm>
            <a:off x="658368" y="2843784"/>
            <a:ext cx="3977640" cy="3008376"/>
          </a:xfrm>
          <a:prstGeom prst="rect">
            <a:avLst/>
          </a:prstGeom>
          <a:noFill/>
          <a:ln/>
        </p:spPr>
        <p:txBody>
          <a:bodyPr wrap="square" lIns="0" tIns="0" rIns="0" bIns="0" rtlCol="0" anchor="t"/>
          <a:lstStyle/>
          <a:p>
            <a:pPr marL="203200" indent="-203200">
              <a:spcAft>
                <a:spcPts val="600"/>
              </a:spcAft>
              <a:buSzPct val="100000"/>
              <a:buChar char="•"/>
            </a:pPr>
            <a:r>
              <a:rPr lang="en-US" sz="1600" dirty="0">
                <a:solidFill>
                  <a:srgbClr val="1A1A1A"/>
                </a:solidFill>
                <a:latin typeface="Inter" pitchFamily="34" charset="0"/>
                <a:ea typeface="Inter" pitchFamily="34" charset="-122"/>
                <a:cs typeface="Inter" pitchFamily="34" charset="-120"/>
              </a:rPr>
              <a:t>Gross is what we make; net is what we keep.</a:t>
            </a:r>
            <a:endParaRPr lang="en-US" sz="1600" dirty="0"/>
          </a:p>
          <a:p>
            <a:pPr marL="203200" indent="-203200">
              <a:spcAft>
                <a:spcPts val="600"/>
              </a:spcAft>
              <a:buSzPct val="100000"/>
              <a:buChar char="•"/>
            </a:pPr>
            <a:r>
              <a:rPr lang="en-US" sz="1600" dirty="0">
                <a:solidFill>
                  <a:srgbClr val="1A1A1A"/>
                </a:solidFill>
                <a:latin typeface="Inter" pitchFamily="34" charset="0"/>
                <a:ea typeface="Inter" pitchFamily="34" charset="-122"/>
                <a:cs typeface="Inter" pitchFamily="34" charset="-120"/>
              </a:rPr>
              <a:t>Gross can grow while net falls if expenses grow faster.</a:t>
            </a:r>
            <a:endParaRPr lang="en-US" sz="1600" dirty="0"/>
          </a:p>
          <a:p>
            <a:pPr marL="203200" indent="-203200">
              <a:spcAft>
                <a:spcPts val="600"/>
              </a:spcAft>
              <a:buSzPct val="100000"/>
              <a:buChar char="•"/>
            </a:pPr>
            <a:r>
              <a:rPr lang="en-US" sz="1600" dirty="0">
                <a:solidFill>
                  <a:srgbClr val="1A1A1A"/>
                </a:solidFill>
                <a:latin typeface="Inter" pitchFamily="34" charset="0"/>
                <a:ea typeface="Inter" pitchFamily="34" charset="-122"/>
                <a:cs typeface="Inter" pitchFamily="34" charset="-120"/>
              </a:rPr>
              <a:t>It ties staffing and pay plans to results.</a:t>
            </a:r>
            <a:endParaRPr lang="en-US" sz="1600" dirty="0"/>
          </a:p>
        </p:txBody>
      </p:sp>
      <p:sp>
        <p:nvSpPr>
          <p:cNvPr id="13" name="Shape 11"/>
          <p:cNvSpPr/>
          <p:nvPr/>
        </p:nvSpPr>
        <p:spPr>
          <a:xfrm>
            <a:off x="5138928" y="2843784"/>
            <a:ext cx="45720" cy="1417320"/>
          </a:xfrm>
          <a:prstGeom prst="rect">
            <a:avLst/>
          </a:prstGeom>
          <a:solidFill>
            <a:srgbClr val="2587C5"/>
          </a:solidFill>
          <a:ln/>
        </p:spPr>
      </p:sp>
      <p:sp>
        <p:nvSpPr>
          <p:cNvPr id="14" name="Text 12"/>
          <p:cNvSpPr txBox="1"/>
          <p:nvPr/>
        </p:nvSpPr>
        <p:spPr>
          <a:xfrm>
            <a:off x="5266944" y="2843784"/>
            <a:ext cx="2962656" cy="1417320"/>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Personnel expense</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Headcount and pay plans: the biggest line</a:t>
            </a:r>
            <a:endParaRPr lang="en-US" sz="1400" dirty="0"/>
          </a:p>
        </p:txBody>
      </p:sp>
      <p:sp>
        <p:nvSpPr>
          <p:cNvPr id="15" name="Shape 13"/>
          <p:cNvSpPr/>
          <p:nvPr/>
        </p:nvSpPr>
        <p:spPr>
          <a:xfrm>
            <a:off x="8394192" y="2843784"/>
            <a:ext cx="45720" cy="1417320"/>
          </a:xfrm>
          <a:prstGeom prst="rect">
            <a:avLst/>
          </a:prstGeom>
          <a:solidFill>
            <a:srgbClr val="2587C5"/>
          </a:solidFill>
          <a:ln/>
        </p:spPr>
      </p:sp>
      <p:sp>
        <p:nvSpPr>
          <p:cNvPr id="16" name="Text 14"/>
          <p:cNvSpPr txBox="1"/>
          <p:nvPr/>
        </p:nvSpPr>
        <p:spPr>
          <a:xfrm>
            <a:off x="8522208" y="2843784"/>
            <a:ext cx="2962656" cy="1417320"/>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Semi-fixed expenses</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Supplies, policy, training, equipment</a:t>
            </a:r>
            <a:endParaRPr lang="en-US" sz="1400" dirty="0"/>
          </a:p>
        </p:txBody>
      </p:sp>
      <p:sp>
        <p:nvSpPr>
          <p:cNvPr id="17" name="Shape 15"/>
          <p:cNvSpPr/>
          <p:nvPr/>
        </p:nvSpPr>
        <p:spPr>
          <a:xfrm>
            <a:off x="5138928" y="4370832"/>
            <a:ext cx="45720" cy="1417320"/>
          </a:xfrm>
          <a:prstGeom prst="rect">
            <a:avLst/>
          </a:prstGeom>
          <a:solidFill>
            <a:srgbClr val="2587C5"/>
          </a:solidFill>
          <a:ln/>
        </p:spPr>
      </p:sp>
      <p:sp>
        <p:nvSpPr>
          <p:cNvPr id="18" name="Text 16"/>
          <p:cNvSpPr txBox="1"/>
          <p:nvPr/>
        </p:nvSpPr>
        <p:spPr>
          <a:xfrm>
            <a:off x="5266944" y="4370832"/>
            <a:ext cx="2962656" cy="1417320"/>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Policy and adjustments</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Goodwill and comebacks charged to the department</a:t>
            </a:r>
            <a:endParaRPr lang="en-US" sz="1400" dirty="0"/>
          </a:p>
        </p:txBody>
      </p:sp>
      <p:sp>
        <p:nvSpPr>
          <p:cNvPr id="19" name="Shape 17"/>
          <p:cNvSpPr/>
          <p:nvPr/>
        </p:nvSpPr>
        <p:spPr>
          <a:xfrm>
            <a:off x="8394192" y="4370832"/>
            <a:ext cx="45720" cy="1417320"/>
          </a:xfrm>
          <a:prstGeom prst="rect">
            <a:avLst/>
          </a:prstGeom>
          <a:solidFill>
            <a:srgbClr val="2587C5"/>
          </a:solidFill>
          <a:ln/>
        </p:spPr>
      </p:sp>
      <p:sp>
        <p:nvSpPr>
          <p:cNvPr id="20" name="Text 18"/>
          <p:cNvSpPr txBox="1"/>
          <p:nvPr/>
        </p:nvSpPr>
        <p:spPr>
          <a:xfrm>
            <a:off x="8522208" y="4370832"/>
            <a:ext cx="2962656" cy="1417320"/>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Gross</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Grow gross faster than expense</a:t>
            </a:r>
            <a:endParaRPr lang="en-US" sz="1400" dirty="0"/>
          </a:p>
        </p:txBody>
      </p:sp>
      <p:sp>
        <p:nvSpPr>
          <p:cNvPr id="21" name="Shape 19"/>
          <p:cNvSpPr/>
          <p:nvPr/>
        </p:nvSpPr>
        <p:spPr>
          <a:xfrm>
            <a:off x="457200" y="6126480"/>
            <a:ext cx="11274552" cy="371856"/>
          </a:xfrm>
          <a:prstGeom prst="rect">
            <a:avLst/>
          </a:prstGeom>
          <a:solidFill>
            <a:srgbClr val="EDF4FA"/>
          </a:solidFill>
          <a:ln/>
        </p:spPr>
      </p:sp>
      <p:sp>
        <p:nvSpPr>
          <p:cNvPr id="22" name="Text 20"/>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Group: service 21.8%, up 2.9 pts; parts 36.7%, down 0.4 pts.</a:t>
            </a:r>
            <a:endParaRPr lang="en-US" sz="16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OPCODES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What Is an Op Code Closing %?</a:t>
            </a:r>
            <a:endParaRPr lang="en-US" sz="2800" dirty="0"/>
          </a:p>
        </p:txBody>
      </p:sp>
      <p:sp>
        <p:nvSpPr>
          <p:cNvPr id="5" name="Shape 3"/>
          <p:cNvSpPr/>
          <p:nvPr/>
        </p:nvSpPr>
        <p:spPr>
          <a:xfrm>
            <a:off x="457200" y="1207008"/>
            <a:ext cx="11274552" cy="1024128"/>
          </a:xfrm>
          <a:prstGeom prst="rect">
            <a:avLst/>
          </a:prstGeom>
          <a:solidFill>
            <a:srgbClr val="EDF4FA"/>
          </a:solidFill>
          <a:ln/>
        </p:spPr>
      </p:sp>
      <p:sp>
        <p:nvSpPr>
          <p:cNvPr id="6" name="Text 4"/>
          <p:cNvSpPr txBox="1"/>
          <p:nvPr/>
        </p:nvSpPr>
        <p:spPr>
          <a:xfrm>
            <a:off x="685800" y="1243584"/>
            <a:ext cx="10835640" cy="566928"/>
          </a:xfrm>
          <a:prstGeom prst="rect">
            <a:avLst/>
          </a:prstGeom>
          <a:noFill/>
          <a:ln/>
        </p:spPr>
        <p:txBody>
          <a:bodyPr wrap="square" lIns="0" tIns="0" rIns="0" bIns="0" rtlCol="0" anchor="ctr">
            <a:normAutofit/>
          </a:bodyPr>
          <a:lstStyle/>
          <a:p>
            <a:pPr indent="0" marL="0">
              <a:buNone/>
            </a:pPr>
            <a:r>
              <a:rPr lang="en-US" sz="2400" b="1" dirty="0">
                <a:solidFill>
                  <a:srgbClr val="0B2C4A"/>
                </a:solidFill>
                <a:latin typeface="Inter" pitchFamily="34" charset="0"/>
                <a:ea typeface="Inter" pitchFamily="34" charset="-122"/>
                <a:cs typeface="Inter" pitchFamily="34" charset="-120"/>
              </a:rPr>
              <a:t>Closing %  </a:t>
            </a:r>
            <a:pPr indent="0" marL="0">
              <a:buNone/>
            </a:pPr>
            <a:r>
              <a:rPr lang="en-US" sz="2400" b="1" dirty="0">
                <a:solidFill>
                  <a:srgbClr val="2587C5"/>
                </a:solidFill>
                <a:latin typeface="Inter" pitchFamily="34" charset="0"/>
                <a:ea typeface="Inter" pitchFamily="34" charset="-122"/>
                <a:cs typeface="Inter" pitchFamily="34" charset="-120"/>
              </a:rPr>
              <a:t>=  </a:t>
            </a:r>
            <a:pPr indent="0" marL="0">
              <a:buNone/>
            </a:pPr>
            <a:r>
              <a:rPr lang="en-US" sz="2400" b="1" dirty="0">
                <a:solidFill>
                  <a:srgbClr val="0B2C4A"/>
                </a:solidFill>
                <a:latin typeface="Inter" pitchFamily="34" charset="0"/>
                <a:ea typeface="Inter" pitchFamily="34" charset="-122"/>
                <a:cs typeface="Inter" pitchFamily="34" charset="-120"/>
              </a:rPr>
              <a:t>CP ROs with the service  </a:t>
            </a:r>
            <a:pPr indent="0" marL="0">
              <a:buNone/>
            </a:pPr>
            <a:r>
              <a:rPr lang="en-US" sz="2400" b="1" dirty="0">
                <a:solidFill>
                  <a:srgbClr val="2587C5"/>
                </a:solidFill>
                <a:latin typeface="Inter" pitchFamily="34" charset="0"/>
                <a:ea typeface="Inter" pitchFamily="34" charset="-122"/>
                <a:cs typeface="Inter" pitchFamily="34" charset="-120"/>
              </a:rPr>
              <a:t>÷  </a:t>
            </a:r>
            <a:pPr indent="0" marL="0">
              <a:buNone/>
            </a:pPr>
            <a:r>
              <a:rPr lang="en-US" sz="2400" b="1" dirty="0">
                <a:solidFill>
                  <a:srgbClr val="0B2C4A"/>
                </a:solidFill>
                <a:latin typeface="Inter" pitchFamily="34" charset="0"/>
                <a:ea typeface="Inter" pitchFamily="34" charset="-122"/>
                <a:cs typeface="Inter" pitchFamily="34" charset="-120"/>
              </a:rPr>
              <a:t>all CP ROs</a:t>
            </a:r>
            <a:endParaRPr lang="en-US" sz="2400" dirty="0"/>
          </a:p>
        </p:txBody>
      </p:sp>
      <p:sp>
        <p:nvSpPr>
          <p:cNvPr id="7" name="Text 5"/>
          <p:cNvSpPr txBox="1"/>
          <p:nvPr/>
        </p:nvSpPr>
        <p:spPr>
          <a:xfrm>
            <a:off x="685800" y="1783080"/>
            <a:ext cx="10835640" cy="420624"/>
          </a:xfrm>
          <a:prstGeom prst="rect">
            <a:avLst/>
          </a:prstGeom>
          <a:noFill/>
          <a:ln/>
        </p:spPr>
        <p:txBody>
          <a:bodyPr wrap="square" lIns="0" tIns="0" rIns="0" bIns="0" rtlCol="0" anchor="ctr"/>
          <a:lstStyle/>
          <a:p>
            <a:pPr indent="0" marL="0">
              <a:buNone/>
            </a:pPr>
            <a:r>
              <a:rPr lang="en-US" sz="1500" dirty="0">
                <a:solidFill>
                  <a:srgbClr val="595959"/>
                </a:solidFill>
                <a:latin typeface="Inter" pitchFamily="34" charset="0"/>
                <a:ea typeface="Inter" pitchFamily="34" charset="-122"/>
                <a:cs typeface="Inter" pitchFamily="34" charset="-120"/>
              </a:rPr>
              <a:t>How often a customer-pay visit includes the service.</a:t>
            </a:r>
            <a:endParaRPr lang="en-US" sz="1500" dirty="0"/>
          </a:p>
        </p:txBody>
      </p:sp>
      <p:sp>
        <p:nvSpPr>
          <p:cNvPr id="8" name="Text 6"/>
          <p:cNvSpPr txBox="1"/>
          <p:nvPr/>
        </p:nvSpPr>
        <p:spPr>
          <a:xfrm>
            <a:off x="457200" y="2340864"/>
            <a:ext cx="1828800" cy="457200"/>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BENCHMARKS</a:t>
            </a:r>
            <a:endParaRPr lang="en-US" sz="1400" dirty="0"/>
          </a:p>
        </p:txBody>
      </p:sp>
      <p:sp>
        <p:nvSpPr>
          <p:cNvPr id="9" name="Shape 7"/>
          <p:cNvSpPr/>
          <p:nvPr/>
        </p:nvSpPr>
        <p:spPr>
          <a:xfrm>
            <a:off x="2286000" y="2340864"/>
            <a:ext cx="2279142" cy="457200"/>
          </a:xfrm>
          <a:prstGeom prst="rect">
            <a:avLst/>
          </a:prstGeom>
          <a:solidFill>
            <a:srgbClr val="FFFFFF"/>
          </a:solidFill>
          <a:ln w="9525">
            <a:solidFill>
              <a:srgbClr val="D9D9D9"/>
            </a:solidFill>
            <a:prstDash val="solid"/>
          </a:ln>
        </p:spPr>
      </p:sp>
      <p:sp>
        <p:nvSpPr>
          <p:cNvPr id="10" name="Text 8"/>
          <p:cNvSpPr txBox="1"/>
          <p:nvPr/>
        </p:nvSpPr>
        <p:spPr>
          <a:xfrm>
            <a:off x="2359152" y="2340864"/>
            <a:ext cx="2132838" cy="457200"/>
          </a:xfrm>
          <a:prstGeom prst="rect">
            <a:avLst/>
          </a:prstGeom>
          <a:noFill/>
          <a:ln/>
        </p:spPr>
        <p:txBody>
          <a:bodyPr wrap="square" lIns="0" tIns="0" rIns="0" bIns="0" rtlCol="0" anchor="ctr">
            <a:normAutofit/>
          </a:bodyPr>
          <a:lstStyle/>
          <a:p>
            <a:pPr algn="ctr" indent="0" marL="0">
              <a:buNone/>
            </a:pPr>
            <a:r>
              <a:rPr lang="en-US" sz="1400" dirty="0">
                <a:solidFill>
                  <a:srgbClr val="1A1A1A"/>
                </a:solidFill>
                <a:latin typeface="Inter" pitchFamily="34" charset="0"/>
                <a:ea typeface="Inter" pitchFamily="34" charset="-122"/>
                <a:cs typeface="Inter" pitchFamily="34" charset="-120"/>
              </a:rPr>
              <a:t>Alignment  </a:t>
            </a:r>
            <a:pPr algn="ctr" indent="0" marL="0">
              <a:buNone/>
            </a:pPr>
            <a:r>
              <a:rPr lang="en-US" sz="1400" b="1" dirty="0">
                <a:solidFill>
                  <a:srgbClr val="0B2C4A"/>
                </a:solidFill>
                <a:latin typeface="Inter" pitchFamily="34" charset="0"/>
                <a:ea typeface="Inter" pitchFamily="34" charset="-122"/>
                <a:cs typeface="Inter" pitchFamily="34" charset="-120"/>
              </a:rPr>
              <a:t>15%</a:t>
            </a:r>
            <a:endParaRPr lang="en-US" sz="1400" dirty="0"/>
          </a:p>
        </p:txBody>
      </p:sp>
      <p:sp>
        <p:nvSpPr>
          <p:cNvPr id="11" name="Shape 9"/>
          <p:cNvSpPr/>
          <p:nvPr/>
        </p:nvSpPr>
        <p:spPr>
          <a:xfrm>
            <a:off x="4674870" y="2340864"/>
            <a:ext cx="2279142" cy="457200"/>
          </a:xfrm>
          <a:prstGeom prst="rect">
            <a:avLst/>
          </a:prstGeom>
          <a:solidFill>
            <a:srgbClr val="FFFFFF"/>
          </a:solidFill>
          <a:ln w="9525">
            <a:solidFill>
              <a:srgbClr val="D9D9D9"/>
            </a:solidFill>
            <a:prstDash val="solid"/>
          </a:ln>
        </p:spPr>
      </p:sp>
      <p:sp>
        <p:nvSpPr>
          <p:cNvPr id="12" name="Text 10"/>
          <p:cNvSpPr txBox="1"/>
          <p:nvPr/>
        </p:nvSpPr>
        <p:spPr>
          <a:xfrm>
            <a:off x="4748022" y="2340864"/>
            <a:ext cx="2132838" cy="457200"/>
          </a:xfrm>
          <a:prstGeom prst="rect">
            <a:avLst/>
          </a:prstGeom>
          <a:noFill/>
          <a:ln/>
        </p:spPr>
        <p:txBody>
          <a:bodyPr wrap="square" lIns="0" tIns="0" rIns="0" bIns="0" rtlCol="0" anchor="ctr">
            <a:normAutofit/>
          </a:bodyPr>
          <a:lstStyle/>
          <a:p>
            <a:pPr algn="ctr" indent="0" marL="0">
              <a:buNone/>
            </a:pPr>
            <a:r>
              <a:rPr lang="en-US" sz="1400" dirty="0">
                <a:solidFill>
                  <a:srgbClr val="1A1A1A"/>
                </a:solidFill>
                <a:latin typeface="Inter" pitchFamily="34" charset="0"/>
                <a:ea typeface="Inter" pitchFamily="34" charset="-122"/>
                <a:cs typeface="Inter" pitchFamily="34" charset="-120"/>
              </a:rPr>
              <a:t>Tire balance  </a:t>
            </a:r>
            <a:pPr algn="ctr" indent="0" marL="0">
              <a:buNone/>
            </a:pPr>
            <a:r>
              <a:rPr lang="en-US" sz="1400" b="1" dirty="0">
                <a:solidFill>
                  <a:srgbClr val="0B2C4A"/>
                </a:solidFill>
                <a:latin typeface="Inter" pitchFamily="34" charset="0"/>
                <a:ea typeface="Inter" pitchFamily="34" charset="-122"/>
                <a:cs typeface="Inter" pitchFamily="34" charset="-120"/>
              </a:rPr>
              <a:t>15%</a:t>
            </a:r>
            <a:endParaRPr lang="en-US" sz="1400" dirty="0"/>
          </a:p>
        </p:txBody>
      </p:sp>
      <p:sp>
        <p:nvSpPr>
          <p:cNvPr id="13" name="Shape 11"/>
          <p:cNvSpPr/>
          <p:nvPr/>
        </p:nvSpPr>
        <p:spPr>
          <a:xfrm>
            <a:off x="7063740" y="2340864"/>
            <a:ext cx="2279142" cy="457200"/>
          </a:xfrm>
          <a:prstGeom prst="rect">
            <a:avLst/>
          </a:prstGeom>
          <a:solidFill>
            <a:srgbClr val="FFFFFF"/>
          </a:solidFill>
          <a:ln w="9525">
            <a:solidFill>
              <a:srgbClr val="D9D9D9"/>
            </a:solidFill>
            <a:prstDash val="solid"/>
          </a:ln>
        </p:spPr>
      </p:sp>
      <p:sp>
        <p:nvSpPr>
          <p:cNvPr id="14" name="Text 12"/>
          <p:cNvSpPr txBox="1"/>
          <p:nvPr/>
        </p:nvSpPr>
        <p:spPr>
          <a:xfrm>
            <a:off x="7136892" y="2340864"/>
            <a:ext cx="2132838" cy="457200"/>
          </a:xfrm>
          <a:prstGeom prst="rect">
            <a:avLst/>
          </a:prstGeom>
          <a:noFill/>
          <a:ln/>
        </p:spPr>
        <p:txBody>
          <a:bodyPr wrap="square" lIns="0" tIns="0" rIns="0" bIns="0" rtlCol="0" anchor="ctr">
            <a:normAutofit/>
          </a:bodyPr>
          <a:lstStyle/>
          <a:p>
            <a:pPr algn="ctr" indent="0" marL="0">
              <a:buNone/>
            </a:pPr>
            <a:r>
              <a:rPr lang="en-US" sz="1400" dirty="0">
                <a:solidFill>
                  <a:srgbClr val="1A1A1A"/>
                </a:solidFill>
                <a:latin typeface="Inter" pitchFamily="34" charset="0"/>
                <a:ea typeface="Inter" pitchFamily="34" charset="-122"/>
                <a:cs typeface="Inter" pitchFamily="34" charset="-120"/>
              </a:rPr>
              <a:t>Brake fluid  </a:t>
            </a:r>
            <a:pPr algn="ctr" indent="0" marL="0">
              <a:buNone/>
            </a:pPr>
            <a:r>
              <a:rPr lang="en-US" sz="1400" b="1" dirty="0">
                <a:solidFill>
                  <a:srgbClr val="0B2C4A"/>
                </a:solidFill>
                <a:latin typeface="Inter" pitchFamily="34" charset="0"/>
                <a:ea typeface="Inter" pitchFamily="34" charset="-122"/>
                <a:cs typeface="Inter" pitchFamily="34" charset="-120"/>
              </a:rPr>
              <a:t>10%</a:t>
            </a:r>
            <a:endParaRPr lang="en-US" sz="1400" dirty="0"/>
          </a:p>
        </p:txBody>
      </p:sp>
      <p:sp>
        <p:nvSpPr>
          <p:cNvPr id="15" name="Shape 13"/>
          <p:cNvSpPr/>
          <p:nvPr/>
        </p:nvSpPr>
        <p:spPr>
          <a:xfrm>
            <a:off x="9452610" y="2340864"/>
            <a:ext cx="2279142" cy="457200"/>
          </a:xfrm>
          <a:prstGeom prst="rect">
            <a:avLst/>
          </a:prstGeom>
          <a:solidFill>
            <a:srgbClr val="FFFFFF"/>
          </a:solidFill>
          <a:ln w="9525">
            <a:solidFill>
              <a:srgbClr val="D9D9D9"/>
            </a:solidFill>
            <a:prstDash val="solid"/>
          </a:ln>
        </p:spPr>
      </p:sp>
      <p:sp>
        <p:nvSpPr>
          <p:cNvPr id="16" name="Text 14"/>
          <p:cNvSpPr txBox="1"/>
          <p:nvPr/>
        </p:nvSpPr>
        <p:spPr>
          <a:xfrm>
            <a:off x="9525762" y="2340864"/>
            <a:ext cx="2132838" cy="457200"/>
          </a:xfrm>
          <a:prstGeom prst="rect">
            <a:avLst/>
          </a:prstGeom>
          <a:noFill/>
          <a:ln/>
        </p:spPr>
        <p:txBody>
          <a:bodyPr wrap="square" lIns="0" tIns="0" rIns="0" bIns="0" rtlCol="0" anchor="ctr">
            <a:normAutofit/>
          </a:bodyPr>
          <a:lstStyle/>
          <a:p>
            <a:pPr algn="ctr" indent="0" marL="0">
              <a:buNone/>
            </a:pPr>
            <a:r>
              <a:rPr lang="en-US" sz="1400" dirty="0">
                <a:solidFill>
                  <a:srgbClr val="1A1A1A"/>
                </a:solidFill>
                <a:latin typeface="Inter" pitchFamily="34" charset="0"/>
                <a:ea typeface="Inter" pitchFamily="34" charset="-122"/>
                <a:cs typeface="Inter" pitchFamily="34" charset="-120"/>
              </a:rPr>
              <a:t>Fuel service  </a:t>
            </a:r>
            <a:pPr algn="ctr" indent="0" marL="0">
              <a:buNone/>
            </a:pPr>
            <a:r>
              <a:rPr lang="en-US" sz="1400" b="1" dirty="0">
                <a:solidFill>
                  <a:srgbClr val="0B2C4A"/>
                </a:solidFill>
                <a:latin typeface="Inter" pitchFamily="34" charset="0"/>
                <a:ea typeface="Inter" pitchFamily="34" charset="-122"/>
                <a:cs typeface="Inter" pitchFamily="34" charset="-120"/>
              </a:rPr>
              <a:t>7.5%</a:t>
            </a:r>
            <a:endParaRPr lang="en-US" sz="1400" dirty="0"/>
          </a:p>
        </p:txBody>
      </p:sp>
      <p:sp>
        <p:nvSpPr>
          <p:cNvPr id="17" name="Shape 15"/>
          <p:cNvSpPr/>
          <p:nvPr/>
        </p:nvSpPr>
        <p:spPr>
          <a:xfrm>
            <a:off x="457200" y="2907792"/>
            <a:ext cx="4343400" cy="3081528"/>
          </a:xfrm>
          <a:prstGeom prst="rect">
            <a:avLst/>
          </a:prstGeom>
          <a:solidFill>
            <a:srgbClr val="FFFFFF"/>
          </a:solidFill>
          <a:ln/>
        </p:spPr>
      </p:sp>
      <p:sp>
        <p:nvSpPr>
          <p:cNvPr id="18" name="Shape 16"/>
          <p:cNvSpPr/>
          <p:nvPr/>
        </p:nvSpPr>
        <p:spPr>
          <a:xfrm>
            <a:off x="4937760" y="2907792"/>
            <a:ext cx="6793992" cy="3081528"/>
          </a:xfrm>
          <a:prstGeom prst="rect">
            <a:avLst/>
          </a:prstGeom>
          <a:solidFill>
            <a:srgbClr val="FFFFFF"/>
          </a:solidFill>
          <a:ln/>
        </p:spPr>
      </p:sp>
      <p:sp>
        <p:nvSpPr>
          <p:cNvPr id="19" name="Text 17"/>
          <p:cNvSpPr txBox="1"/>
          <p:nvPr/>
        </p:nvSpPr>
        <p:spPr>
          <a:xfrm>
            <a:off x="658368" y="3035808"/>
            <a:ext cx="393192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WHY IT MATTERS</a:t>
            </a:r>
            <a:endParaRPr lang="en-US" sz="1400" dirty="0"/>
          </a:p>
        </p:txBody>
      </p:sp>
      <p:sp>
        <p:nvSpPr>
          <p:cNvPr id="20" name="Text 18"/>
          <p:cNvSpPr txBox="1"/>
          <p:nvPr/>
        </p:nvSpPr>
        <p:spPr>
          <a:xfrm>
            <a:off x="5138928" y="3035808"/>
            <a:ext cx="640080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WHAT MOVES IT</a:t>
            </a:r>
            <a:endParaRPr lang="en-US" sz="1400" dirty="0"/>
          </a:p>
        </p:txBody>
      </p:sp>
      <p:sp>
        <p:nvSpPr>
          <p:cNvPr id="21" name="Text 19"/>
          <p:cNvSpPr txBox="1"/>
          <p:nvPr/>
        </p:nvSpPr>
        <p:spPr>
          <a:xfrm>
            <a:off x="658368" y="3410712"/>
            <a:ext cx="3977640" cy="2441448"/>
          </a:xfrm>
          <a:prstGeom prst="rect">
            <a:avLst/>
          </a:prstGeom>
          <a:noFill/>
          <a:ln/>
        </p:spPr>
        <p:txBody>
          <a:bodyPr wrap="square" lIns="0" tIns="0" rIns="0" bIns="0" rtlCol="0" anchor="t"/>
          <a:lstStyle/>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These are the services every car eventually needs.</a:t>
            </a:r>
            <a:endParaRPr lang="en-US" sz="1500" dirty="0"/>
          </a:p>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The rate shows whether the inspection and the menu are happening on every car.</a:t>
            </a:r>
            <a:endParaRPr lang="en-US" sz="1500" dirty="0"/>
          </a:p>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Each point is worth thousands of jobs across the group.</a:t>
            </a:r>
            <a:endParaRPr lang="en-US" sz="1500" dirty="0"/>
          </a:p>
        </p:txBody>
      </p:sp>
      <p:sp>
        <p:nvSpPr>
          <p:cNvPr id="22" name="Shape 20"/>
          <p:cNvSpPr/>
          <p:nvPr/>
        </p:nvSpPr>
        <p:spPr>
          <a:xfrm>
            <a:off x="5138928" y="3410712"/>
            <a:ext cx="45720" cy="1133856"/>
          </a:xfrm>
          <a:prstGeom prst="rect">
            <a:avLst/>
          </a:prstGeom>
          <a:solidFill>
            <a:srgbClr val="2587C5"/>
          </a:solidFill>
          <a:ln/>
        </p:spPr>
      </p:sp>
      <p:sp>
        <p:nvSpPr>
          <p:cNvPr id="23" name="Text 21"/>
          <p:cNvSpPr txBox="1"/>
          <p:nvPr/>
        </p:nvSpPr>
        <p:spPr>
          <a:xfrm>
            <a:off x="5266944" y="3410712"/>
            <a:ext cx="2962656"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MPI on every car</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Find the need and show the customer</a:t>
            </a:r>
            <a:endParaRPr lang="en-US" sz="1400" dirty="0"/>
          </a:p>
        </p:txBody>
      </p:sp>
      <p:sp>
        <p:nvSpPr>
          <p:cNvPr id="24" name="Shape 22"/>
          <p:cNvSpPr/>
          <p:nvPr/>
        </p:nvSpPr>
        <p:spPr>
          <a:xfrm>
            <a:off x="8394192" y="3410712"/>
            <a:ext cx="45720" cy="1133856"/>
          </a:xfrm>
          <a:prstGeom prst="rect">
            <a:avLst/>
          </a:prstGeom>
          <a:solidFill>
            <a:srgbClr val="2587C5"/>
          </a:solidFill>
          <a:ln/>
        </p:spPr>
      </p:sp>
      <p:sp>
        <p:nvSpPr>
          <p:cNvPr id="25" name="Text 23"/>
          <p:cNvSpPr txBox="1"/>
          <p:nvPr/>
        </p:nvSpPr>
        <p:spPr>
          <a:xfrm>
            <a:off x="8522208" y="3410712"/>
            <a:ext cx="2962656"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Menu at write-up</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Time and mileage recommendations, every customer</a:t>
            </a:r>
            <a:endParaRPr lang="en-US" sz="1400" dirty="0"/>
          </a:p>
        </p:txBody>
      </p:sp>
      <p:sp>
        <p:nvSpPr>
          <p:cNvPr id="26" name="Shape 24"/>
          <p:cNvSpPr/>
          <p:nvPr/>
        </p:nvSpPr>
        <p:spPr>
          <a:xfrm>
            <a:off x="5138928" y="4654296"/>
            <a:ext cx="45720" cy="1133856"/>
          </a:xfrm>
          <a:prstGeom prst="rect">
            <a:avLst/>
          </a:prstGeom>
          <a:solidFill>
            <a:srgbClr val="2587C5"/>
          </a:solidFill>
          <a:ln/>
        </p:spPr>
      </p:sp>
      <p:sp>
        <p:nvSpPr>
          <p:cNvPr id="27" name="Text 25"/>
          <p:cNvSpPr txBox="1"/>
          <p:nvPr/>
        </p:nvSpPr>
        <p:spPr>
          <a:xfrm>
            <a:off x="5266944" y="4654296"/>
            <a:ext cx="2962656"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Advisor presentation</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Present it, price it, ask for it</a:t>
            </a:r>
            <a:endParaRPr lang="en-US" sz="1400" dirty="0"/>
          </a:p>
        </p:txBody>
      </p:sp>
      <p:sp>
        <p:nvSpPr>
          <p:cNvPr id="28" name="Shape 26"/>
          <p:cNvSpPr/>
          <p:nvPr/>
        </p:nvSpPr>
        <p:spPr>
          <a:xfrm>
            <a:off x="8394192" y="4654296"/>
            <a:ext cx="45720" cy="1133856"/>
          </a:xfrm>
          <a:prstGeom prst="rect">
            <a:avLst/>
          </a:prstGeom>
          <a:solidFill>
            <a:srgbClr val="2587C5"/>
          </a:solidFill>
          <a:ln/>
        </p:spPr>
      </p:sp>
      <p:sp>
        <p:nvSpPr>
          <p:cNvPr id="29" name="Text 27"/>
          <p:cNvSpPr txBox="1"/>
          <p:nvPr/>
        </p:nvSpPr>
        <p:spPr>
          <a:xfrm>
            <a:off x="8522208" y="4654296"/>
            <a:ext cx="2962656"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Tracking</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Daily Viz Op Code report; feedback before the 15th</a:t>
            </a:r>
            <a:endParaRPr lang="en-US" sz="1400" dirty="0"/>
          </a:p>
        </p:txBody>
      </p:sp>
      <p:sp>
        <p:nvSpPr>
          <p:cNvPr id="30" name="Shape 28"/>
          <p:cNvSpPr/>
          <p:nvPr/>
        </p:nvSpPr>
        <p:spPr>
          <a:xfrm>
            <a:off x="457200" y="6126480"/>
            <a:ext cx="11274552" cy="348996"/>
          </a:xfrm>
          <a:prstGeom prst="rect">
            <a:avLst/>
          </a:prstGeom>
          <a:solidFill>
            <a:srgbClr val="EDF4FA"/>
          </a:solidFill>
          <a:ln/>
        </p:spPr>
      </p:sp>
      <p:sp>
        <p:nvSpPr>
          <p:cNvPr id="31" name="Text 29"/>
          <p:cNvSpPr txBox="1"/>
          <p:nvPr/>
        </p:nvSpPr>
        <p:spPr>
          <a:xfrm>
            <a:off x="658368" y="6144768"/>
            <a:ext cx="10927080" cy="312420"/>
          </a:xfrm>
          <a:prstGeom prst="rect">
            <a:avLst/>
          </a:prstGeom>
          <a:noFill/>
          <a:ln/>
        </p:spPr>
        <p:txBody>
          <a:bodyPr wrap="square" lIns="0" tIns="0" rIns="0" bIns="0" rtlCol="0" anchor="ctr"/>
          <a:lstStyle/>
          <a:p>
            <a:pPr indent="0" marL="0">
              <a:buNone/>
            </a:pPr>
            <a:r>
              <a:rPr lang="en-US" sz="1450" b="1" dirty="0">
                <a:solidFill>
                  <a:srgbClr val="0B2C4A"/>
                </a:solidFill>
                <a:latin typeface="Inter" pitchFamily="34" charset="0"/>
                <a:ea typeface="Inter" pitchFamily="34" charset="-122"/>
                <a:cs typeface="Inter" pitchFamily="34" charset="-120"/>
              </a:rPr>
              <a:t>All four rose 1.2-1.4 pts and beat 2025 every month. Balance is furthest off, at 8.3%: 18,493 short of 15%.</a:t>
            </a:r>
            <a:endParaRPr lang="en-US" sz="145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TECHNICIAN PROFICIENCY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What Is Technician Proficiency?</a:t>
            </a:r>
            <a:endParaRPr lang="en-US" sz="2800" dirty="0"/>
          </a:p>
        </p:txBody>
      </p:sp>
      <p:sp>
        <p:nvSpPr>
          <p:cNvPr id="5" name="Shape 3"/>
          <p:cNvSpPr/>
          <p:nvPr/>
        </p:nvSpPr>
        <p:spPr>
          <a:xfrm>
            <a:off x="457200" y="1207008"/>
            <a:ext cx="11274552" cy="1024128"/>
          </a:xfrm>
          <a:prstGeom prst="rect">
            <a:avLst/>
          </a:prstGeom>
          <a:solidFill>
            <a:srgbClr val="EDF4FA"/>
          </a:solidFill>
          <a:ln/>
        </p:spPr>
      </p:sp>
      <p:sp>
        <p:nvSpPr>
          <p:cNvPr id="6" name="Text 4"/>
          <p:cNvSpPr txBox="1"/>
          <p:nvPr/>
        </p:nvSpPr>
        <p:spPr>
          <a:xfrm>
            <a:off x="685800" y="1243584"/>
            <a:ext cx="10835640" cy="566928"/>
          </a:xfrm>
          <a:prstGeom prst="rect">
            <a:avLst/>
          </a:prstGeom>
          <a:noFill/>
          <a:ln/>
        </p:spPr>
        <p:txBody>
          <a:bodyPr wrap="square" lIns="0" tIns="0" rIns="0" bIns="0" rtlCol="0" anchor="ctr">
            <a:normAutofit/>
          </a:bodyPr>
          <a:lstStyle/>
          <a:p>
            <a:pPr indent="0" marL="0">
              <a:buNone/>
            </a:pPr>
            <a:r>
              <a:rPr lang="en-US" sz="2400" b="1" dirty="0">
                <a:solidFill>
                  <a:srgbClr val="0B2C4A"/>
                </a:solidFill>
                <a:latin typeface="Inter" pitchFamily="34" charset="0"/>
                <a:ea typeface="Inter" pitchFamily="34" charset="-122"/>
                <a:cs typeface="Inter" pitchFamily="34" charset="-120"/>
              </a:rPr>
              <a:t>Proficiency  </a:t>
            </a:r>
            <a:pPr indent="0" marL="0">
              <a:buNone/>
            </a:pPr>
            <a:r>
              <a:rPr lang="en-US" sz="2400" b="1" dirty="0">
                <a:solidFill>
                  <a:srgbClr val="2587C5"/>
                </a:solidFill>
                <a:latin typeface="Inter" pitchFamily="34" charset="0"/>
                <a:ea typeface="Inter" pitchFamily="34" charset="-122"/>
                <a:cs typeface="Inter" pitchFamily="34" charset="-120"/>
              </a:rPr>
              <a:t>=  </a:t>
            </a:r>
            <a:pPr indent="0" marL="0">
              <a:buNone/>
            </a:pPr>
            <a:r>
              <a:rPr lang="en-US" sz="2400" b="1" dirty="0">
                <a:solidFill>
                  <a:srgbClr val="0B2C4A"/>
                </a:solidFill>
                <a:latin typeface="Inter" pitchFamily="34" charset="0"/>
                <a:ea typeface="Inter" pitchFamily="34" charset="-122"/>
                <a:cs typeface="Inter" pitchFamily="34" charset="-120"/>
              </a:rPr>
              <a:t>hours sold (flagged)  </a:t>
            </a:r>
            <a:pPr indent="0" marL="0">
              <a:buNone/>
            </a:pPr>
            <a:r>
              <a:rPr lang="en-US" sz="2400" b="1" dirty="0">
                <a:solidFill>
                  <a:srgbClr val="2587C5"/>
                </a:solidFill>
                <a:latin typeface="Inter" pitchFamily="34" charset="0"/>
                <a:ea typeface="Inter" pitchFamily="34" charset="-122"/>
                <a:cs typeface="Inter" pitchFamily="34" charset="-120"/>
              </a:rPr>
              <a:t>÷  </a:t>
            </a:r>
            <a:pPr indent="0" marL="0">
              <a:buNone/>
            </a:pPr>
            <a:r>
              <a:rPr lang="en-US" sz="2400" b="1" dirty="0">
                <a:solidFill>
                  <a:srgbClr val="0B2C4A"/>
                </a:solidFill>
                <a:latin typeface="Inter" pitchFamily="34" charset="0"/>
                <a:ea typeface="Inter" pitchFamily="34" charset="-122"/>
                <a:cs typeface="Inter" pitchFamily="34" charset="-120"/>
              </a:rPr>
              <a:t>hours paid (clocked)</a:t>
            </a:r>
            <a:endParaRPr lang="en-US" sz="2400" dirty="0"/>
          </a:p>
        </p:txBody>
      </p:sp>
      <p:sp>
        <p:nvSpPr>
          <p:cNvPr id="7" name="Text 5"/>
          <p:cNvSpPr txBox="1"/>
          <p:nvPr/>
        </p:nvSpPr>
        <p:spPr>
          <a:xfrm>
            <a:off x="685800" y="1783080"/>
            <a:ext cx="10835640" cy="420624"/>
          </a:xfrm>
          <a:prstGeom prst="rect">
            <a:avLst/>
          </a:prstGeom>
          <a:noFill/>
          <a:ln/>
        </p:spPr>
        <p:txBody>
          <a:bodyPr wrap="square" lIns="0" tIns="0" rIns="0" bIns="0" rtlCol="0" anchor="ctr"/>
          <a:lstStyle/>
          <a:p>
            <a:pPr indent="0" marL="0">
              <a:buNone/>
            </a:pPr>
            <a:r>
              <a:rPr lang="en-US" sz="1500" dirty="0">
                <a:solidFill>
                  <a:srgbClr val="595959"/>
                </a:solidFill>
                <a:latin typeface="Inter" pitchFamily="34" charset="0"/>
                <a:ea typeface="Inter" pitchFamily="34" charset="-122"/>
                <a:cs typeface="Inter" pitchFamily="34" charset="-120"/>
              </a:rPr>
              <a:t>How many hours a technician produces for every hour they are on the clock. 85% is on target; 100% or more is above.</a:t>
            </a:r>
            <a:endParaRPr lang="en-US" sz="1500" dirty="0"/>
          </a:p>
        </p:txBody>
      </p:sp>
      <p:sp>
        <p:nvSpPr>
          <p:cNvPr id="8" name="Text 6"/>
          <p:cNvSpPr txBox="1"/>
          <p:nvPr/>
        </p:nvSpPr>
        <p:spPr>
          <a:xfrm>
            <a:off x="457200" y="2340864"/>
            <a:ext cx="1828800" cy="457200"/>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A 40-HOUR WEEK</a:t>
            </a:r>
            <a:endParaRPr lang="en-US" sz="1400" dirty="0"/>
          </a:p>
        </p:txBody>
      </p:sp>
      <p:sp>
        <p:nvSpPr>
          <p:cNvPr id="9" name="Shape 7"/>
          <p:cNvSpPr/>
          <p:nvPr/>
        </p:nvSpPr>
        <p:spPr>
          <a:xfrm>
            <a:off x="2286000" y="2340864"/>
            <a:ext cx="3075432" cy="457200"/>
          </a:xfrm>
          <a:prstGeom prst="rect">
            <a:avLst/>
          </a:prstGeom>
          <a:solidFill>
            <a:srgbClr val="FFFFFF"/>
          </a:solidFill>
          <a:ln w="9525">
            <a:solidFill>
              <a:srgbClr val="D9D9D9"/>
            </a:solidFill>
            <a:prstDash val="solid"/>
          </a:ln>
        </p:spPr>
      </p:sp>
      <p:sp>
        <p:nvSpPr>
          <p:cNvPr id="10" name="Text 8"/>
          <p:cNvSpPr txBox="1"/>
          <p:nvPr/>
        </p:nvSpPr>
        <p:spPr>
          <a:xfrm>
            <a:off x="2359152" y="2340864"/>
            <a:ext cx="2929128" cy="457200"/>
          </a:xfrm>
          <a:prstGeom prst="rect">
            <a:avLst/>
          </a:prstGeom>
          <a:noFill/>
          <a:ln/>
        </p:spPr>
        <p:txBody>
          <a:bodyPr wrap="square" lIns="0" tIns="0" rIns="0" bIns="0" rtlCol="0" anchor="ctr">
            <a:normAutofit/>
          </a:bodyPr>
          <a:lstStyle/>
          <a:p>
            <a:pPr algn="ctr" indent="0" marL="0">
              <a:buNone/>
            </a:pPr>
            <a:r>
              <a:rPr lang="en-US" sz="1400" dirty="0">
                <a:solidFill>
                  <a:srgbClr val="1A1A1A"/>
                </a:solidFill>
                <a:latin typeface="Inter" pitchFamily="34" charset="0"/>
                <a:ea typeface="Inter" pitchFamily="34" charset="-122"/>
                <a:cs typeface="Inter" pitchFamily="34" charset="-120"/>
              </a:rPr>
              <a:t>Paid 40 hours  </a:t>
            </a:r>
            <a:pPr algn="ctr" indent="0" marL="0">
              <a:buNone/>
            </a:pPr>
            <a:r>
              <a:rPr lang="en-US" sz="1400" b="1" dirty="0">
                <a:solidFill>
                  <a:srgbClr val="0B2C4A"/>
                </a:solidFill>
                <a:latin typeface="Inter" pitchFamily="34" charset="0"/>
                <a:ea typeface="Inter" pitchFamily="34" charset="-122"/>
                <a:cs typeface="Inter" pitchFamily="34" charset="-120"/>
              </a:rPr>
              <a:t>sells 34</a:t>
            </a:r>
            <a:endParaRPr lang="en-US" sz="1400" dirty="0"/>
          </a:p>
        </p:txBody>
      </p:sp>
      <p:sp>
        <p:nvSpPr>
          <p:cNvPr id="11" name="Shape 9"/>
          <p:cNvSpPr/>
          <p:nvPr/>
        </p:nvSpPr>
        <p:spPr>
          <a:xfrm>
            <a:off x="5471160" y="2340864"/>
            <a:ext cx="3075432" cy="457200"/>
          </a:xfrm>
          <a:prstGeom prst="rect">
            <a:avLst/>
          </a:prstGeom>
          <a:solidFill>
            <a:srgbClr val="FFFFFF"/>
          </a:solidFill>
          <a:ln w="9525">
            <a:solidFill>
              <a:srgbClr val="D9D9D9"/>
            </a:solidFill>
            <a:prstDash val="solid"/>
          </a:ln>
        </p:spPr>
      </p:sp>
      <p:sp>
        <p:nvSpPr>
          <p:cNvPr id="12" name="Text 10"/>
          <p:cNvSpPr txBox="1"/>
          <p:nvPr/>
        </p:nvSpPr>
        <p:spPr>
          <a:xfrm>
            <a:off x="5544312" y="2340864"/>
            <a:ext cx="2929128" cy="457200"/>
          </a:xfrm>
          <a:prstGeom prst="rect">
            <a:avLst/>
          </a:prstGeom>
          <a:noFill/>
          <a:ln/>
        </p:spPr>
        <p:txBody>
          <a:bodyPr wrap="square" lIns="0" tIns="0" rIns="0" bIns="0" rtlCol="0" anchor="ctr">
            <a:normAutofit/>
          </a:bodyPr>
          <a:lstStyle/>
          <a:p>
            <a:pPr algn="ctr" indent="0" marL="0">
              <a:buNone/>
            </a:pPr>
            <a:r>
              <a:rPr lang="en-US" sz="1400" dirty="0">
                <a:solidFill>
                  <a:srgbClr val="1A1A1A"/>
                </a:solidFill>
                <a:latin typeface="Inter" pitchFamily="34" charset="0"/>
                <a:ea typeface="Inter" pitchFamily="34" charset="-122"/>
                <a:cs typeface="Inter" pitchFamily="34" charset="-120"/>
              </a:rPr>
              <a:t>Proficiency  </a:t>
            </a:r>
            <a:pPr algn="ctr" indent="0" marL="0">
              <a:buNone/>
            </a:pPr>
            <a:r>
              <a:rPr lang="en-US" sz="1400" b="1" dirty="0">
                <a:solidFill>
                  <a:srgbClr val="0B2C4A"/>
                </a:solidFill>
                <a:latin typeface="Inter" pitchFamily="34" charset="0"/>
                <a:ea typeface="Inter" pitchFamily="34" charset="-122"/>
                <a:cs typeface="Inter" pitchFamily="34" charset="-120"/>
              </a:rPr>
              <a:t>85%</a:t>
            </a:r>
            <a:endParaRPr lang="en-US" sz="1400" dirty="0"/>
          </a:p>
        </p:txBody>
      </p:sp>
      <p:sp>
        <p:nvSpPr>
          <p:cNvPr id="13" name="Shape 11"/>
          <p:cNvSpPr/>
          <p:nvPr/>
        </p:nvSpPr>
        <p:spPr>
          <a:xfrm>
            <a:off x="8656320" y="2340864"/>
            <a:ext cx="3075432" cy="457200"/>
          </a:xfrm>
          <a:prstGeom prst="rect">
            <a:avLst/>
          </a:prstGeom>
          <a:solidFill>
            <a:srgbClr val="FFFFFF"/>
          </a:solidFill>
          <a:ln w="9525">
            <a:solidFill>
              <a:srgbClr val="D9D9D9"/>
            </a:solidFill>
            <a:prstDash val="solid"/>
          </a:ln>
        </p:spPr>
      </p:sp>
      <p:sp>
        <p:nvSpPr>
          <p:cNvPr id="14" name="Text 12"/>
          <p:cNvSpPr txBox="1"/>
          <p:nvPr/>
        </p:nvSpPr>
        <p:spPr>
          <a:xfrm>
            <a:off x="8729472" y="2340864"/>
            <a:ext cx="2929128" cy="457200"/>
          </a:xfrm>
          <a:prstGeom prst="rect">
            <a:avLst/>
          </a:prstGeom>
          <a:noFill/>
          <a:ln/>
        </p:spPr>
        <p:txBody>
          <a:bodyPr wrap="square" lIns="0" tIns="0" rIns="0" bIns="0" rtlCol="0" anchor="ctr">
            <a:normAutofit/>
          </a:bodyPr>
          <a:lstStyle/>
          <a:p>
            <a:pPr algn="ctr" indent="0" marL="0">
              <a:buNone/>
            </a:pPr>
            <a:r>
              <a:rPr lang="en-US" sz="1400" dirty="0">
                <a:solidFill>
                  <a:srgbClr val="1A1A1A"/>
                </a:solidFill>
                <a:latin typeface="Inter" pitchFamily="34" charset="0"/>
                <a:ea typeface="Inter" pitchFamily="34" charset="-122"/>
                <a:cs typeface="Inter" pitchFamily="34" charset="-120"/>
              </a:rPr>
              <a:t>Sells 40  </a:t>
            </a:r>
            <a:pPr algn="ctr" indent="0" marL="0">
              <a:buNone/>
            </a:pPr>
            <a:r>
              <a:rPr lang="en-US" sz="1400" b="1" dirty="0">
                <a:solidFill>
                  <a:srgbClr val="0B2C4A"/>
                </a:solidFill>
                <a:latin typeface="Inter" pitchFamily="34" charset="0"/>
                <a:ea typeface="Inter" pitchFamily="34" charset="-122"/>
                <a:cs typeface="Inter" pitchFamily="34" charset="-120"/>
              </a:rPr>
              <a:t>100%</a:t>
            </a:r>
            <a:endParaRPr lang="en-US" sz="1400" dirty="0"/>
          </a:p>
        </p:txBody>
      </p:sp>
      <p:sp>
        <p:nvSpPr>
          <p:cNvPr id="15" name="Shape 13"/>
          <p:cNvSpPr/>
          <p:nvPr/>
        </p:nvSpPr>
        <p:spPr>
          <a:xfrm>
            <a:off x="457200" y="2907792"/>
            <a:ext cx="4343400" cy="3081528"/>
          </a:xfrm>
          <a:prstGeom prst="rect">
            <a:avLst/>
          </a:prstGeom>
          <a:solidFill>
            <a:srgbClr val="FFFFFF"/>
          </a:solidFill>
          <a:ln/>
        </p:spPr>
      </p:sp>
      <p:sp>
        <p:nvSpPr>
          <p:cNvPr id="16" name="Shape 14"/>
          <p:cNvSpPr/>
          <p:nvPr/>
        </p:nvSpPr>
        <p:spPr>
          <a:xfrm>
            <a:off x="4937760" y="2907792"/>
            <a:ext cx="6793992" cy="3081528"/>
          </a:xfrm>
          <a:prstGeom prst="rect">
            <a:avLst/>
          </a:prstGeom>
          <a:solidFill>
            <a:srgbClr val="FFFFFF"/>
          </a:solidFill>
          <a:ln/>
        </p:spPr>
      </p:sp>
      <p:sp>
        <p:nvSpPr>
          <p:cNvPr id="17" name="Text 15"/>
          <p:cNvSpPr txBox="1"/>
          <p:nvPr/>
        </p:nvSpPr>
        <p:spPr>
          <a:xfrm>
            <a:off x="658368" y="3035808"/>
            <a:ext cx="393192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WHY IT MATTERS</a:t>
            </a:r>
            <a:endParaRPr lang="en-US" sz="1400" dirty="0"/>
          </a:p>
        </p:txBody>
      </p:sp>
      <p:sp>
        <p:nvSpPr>
          <p:cNvPr id="18" name="Text 16"/>
          <p:cNvSpPr txBox="1"/>
          <p:nvPr/>
        </p:nvSpPr>
        <p:spPr>
          <a:xfrm>
            <a:off x="5138928" y="3035808"/>
            <a:ext cx="640080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WHAT MOVES IT</a:t>
            </a:r>
            <a:endParaRPr lang="en-US" sz="1400" dirty="0"/>
          </a:p>
        </p:txBody>
      </p:sp>
      <p:sp>
        <p:nvSpPr>
          <p:cNvPr id="19" name="Text 17"/>
          <p:cNvSpPr txBox="1"/>
          <p:nvPr/>
        </p:nvSpPr>
        <p:spPr>
          <a:xfrm>
            <a:off x="658368" y="3410712"/>
            <a:ext cx="3977640" cy="2441448"/>
          </a:xfrm>
          <a:prstGeom prst="rect">
            <a:avLst/>
          </a:prstGeom>
          <a:noFill/>
          <a:ln/>
        </p:spPr>
        <p:txBody>
          <a:bodyPr wrap="square" lIns="0" tIns="0" rIns="0" bIns="0" rtlCol="0" anchor="t"/>
          <a:lstStyle/>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The tech, bay and lift are already here; an unflagged hour can't be sold tomorrow.</a:t>
            </a:r>
            <a:endParaRPr lang="en-US" sz="1500" dirty="0"/>
          </a:p>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Flat-rate techs earn more as they produce more.</a:t>
            </a:r>
            <a:endParaRPr lang="en-US" sz="1500" dirty="0"/>
          </a:p>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It shows where workflow, not effort, is the problem.</a:t>
            </a:r>
            <a:endParaRPr lang="en-US" sz="1500" dirty="0"/>
          </a:p>
        </p:txBody>
      </p:sp>
      <p:sp>
        <p:nvSpPr>
          <p:cNvPr id="20" name="Shape 18"/>
          <p:cNvSpPr/>
          <p:nvPr/>
        </p:nvSpPr>
        <p:spPr>
          <a:xfrm>
            <a:off x="5138928" y="3410712"/>
            <a:ext cx="45720" cy="1133856"/>
          </a:xfrm>
          <a:prstGeom prst="rect">
            <a:avLst/>
          </a:prstGeom>
          <a:solidFill>
            <a:srgbClr val="2587C5"/>
          </a:solidFill>
          <a:ln/>
        </p:spPr>
      </p:sp>
      <p:sp>
        <p:nvSpPr>
          <p:cNvPr id="21" name="Text 19"/>
          <p:cNvSpPr txBox="1"/>
          <p:nvPr/>
        </p:nvSpPr>
        <p:spPr>
          <a:xfrm>
            <a:off x="5266944" y="3410712"/>
            <a:ext cx="1877568"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Dispatch</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Work waiting at the bay; the right job to the right tech</a:t>
            </a:r>
            <a:endParaRPr lang="en-US" sz="1400" dirty="0"/>
          </a:p>
        </p:txBody>
      </p:sp>
      <p:sp>
        <p:nvSpPr>
          <p:cNvPr id="22" name="Shape 20"/>
          <p:cNvSpPr/>
          <p:nvPr/>
        </p:nvSpPr>
        <p:spPr>
          <a:xfrm>
            <a:off x="7309104" y="3410712"/>
            <a:ext cx="45720" cy="1133856"/>
          </a:xfrm>
          <a:prstGeom prst="rect">
            <a:avLst/>
          </a:prstGeom>
          <a:solidFill>
            <a:srgbClr val="2587C5"/>
          </a:solidFill>
          <a:ln/>
        </p:spPr>
      </p:sp>
      <p:sp>
        <p:nvSpPr>
          <p:cNvPr id="23" name="Text 21"/>
          <p:cNvSpPr txBox="1"/>
          <p:nvPr/>
        </p:nvSpPr>
        <p:spPr>
          <a:xfrm>
            <a:off x="7437120" y="3410712"/>
            <a:ext cx="1877568"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Car count</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Not enough work leaves techs waiting</a:t>
            </a:r>
            <a:endParaRPr lang="en-US" sz="1400" dirty="0"/>
          </a:p>
        </p:txBody>
      </p:sp>
      <p:sp>
        <p:nvSpPr>
          <p:cNvPr id="24" name="Shape 22"/>
          <p:cNvSpPr/>
          <p:nvPr/>
        </p:nvSpPr>
        <p:spPr>
          <a:xfrm>
            <a:off x="9479280" y="3410712"/>
            <a:ext cx="45720" cy="1133856"/>
          </a:xfrm>
          <a:prstGeom prst="rect">
            <a:avLst/>
          </a:prstGeom>
          <a:solidFill>
            <a:srgbClr val="2587C5"/>
          </a:solidFill>
          <a:ln/>
        </p:spPr>
      </p:sp>
      <p:sp>
        <p:nvSpPr>
          <p:cNvPr id="25" name="Text 23"/>
          <p:cNvSpPr txBox="1"/>
          <p:nvPr/>
        </p:nvSpPr>
        <p:spPr>
          <a:xfrm>
            <a:off x="9607296" y="3410712"/>
            <a:ext cx="1877568"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Parts staging</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Parts at the bay before the tech needs them</a:t>
            </a:r>
            <a:endParaRPr lang="en-US" sz="1400" dirty="0"/>
          </a:p>
        </p:txBody>
      </p:sp>
      <p:sp>
        <p:nvSpPr>
          <p:cNvPr id="26" name="Shape 24"/>
          <p:cNvSpPr/>
          <p:nvPr/>
        </p:nvSpPr>
        <p:spPr>
          <a:xfrm>
            <a:off x="5138928" y="4654296"/>
            <a:ext cx="45720" cy="1133856"/>
          </a:xfrm>
          <a:prstGeom prst="rect">
            <a:avLst/>
          </a:prstGeom>
          <a:solidFill>
            <a:srgbClr val="2587C5"/>
          </a:solidFill>
          <a:ln/>
        </p:spPr>
      </p:sp>
      <p:sp>
        <p:nvSpPr>
          <p:cNvPr id="27" name="Text 25"/>
          <p:cNvSpPr txBox="1"/>
          <p:nvPr/>
        </p:nvSpPr>
        <p:spPr>
          <a:xfrm>
            <a:off x="5266944" y="4654296"/>
            <a:ext cx="1877568"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Approvals</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Fast customer approval on the inspection</a:t>
            </a:r>
            <a:endParaRPr lang="en-US" sz="1400" dirty="0"/>
          </a:p>
        </p:txBody>
      </p:sp>
      <p:sp>
        <p:nvSpPr>
          <p:cNvPr id="28" name="Shape 26"/>
          <p:cNvSpPr/>
          <p:nvPr/>
        </p:nvSpPr>
        <p:spPr>
          <a:xfrm>
            <a:off x="7309104" y="4654296"/>
            <a:ext cx="45720" cy="1133856"/>
          </a:xfrm>
          <a:prstGeom prst="rect">
            <a:avLst/>
          </a:prstGeom>
          <a:solidFill>
            <a:srgbClr val="2587C5"/>
          </a:solidFill>
          <a:ln/>
        </p:spPr>
      </p:sp>
      <p:sp>
        <p:nvSpPr>
          <p:cNvPr id="29" name="Text 27"/>
          <p:cNvSpPr txBox="1"/>
          <p:nvPr/>
        </p:nvSpPr>
        <p:spPr>
          <a:xfrm>
            <a:off x="7437120" y="4654296"/>
            <a:ext cx="1877568"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Skill and training</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Tech level in line with job skill</a:t>
            </a:r>
            <a:endParaRPr lang="en-US" sz="1400" dirty="0"/>
          </a:p>
        </p:txBody>
      </p:sp>
      <p:sp>
        <p:nvSpPr>
          <p:cNvPr id="30" name="Shape 28"/>
          <p:cNvSpPr/>
          <p:nvPr/>
        </p:nvSpPr>
        <p:spPr>
          <a:xfrm>
            <a:off x="9479280" y="4654296"/>
            <a:ext cx="45720" cy="1133856"/>
          </a:xfrm>
          <a:prstGeom prst="rect">
            <a:avLst/>
          </a:prstGeom>
          <a:solidFill>
            <a:srgbClr val="2587C5"/>
          </a:solidFill>
          <a:ln/>
        </p:spPr>
      </p:sp>
      <p:sp>
        <p:nvSpPr>
          <p:cNvPr id="31" name="Text 29"/>
          <p:cNvSpPr txBox="1"/>
          <p:nvPr/>
        </p:nvSpPr>
        <p:spPr>
          <a:xfrm>
            <a:off x="9607296" y="4654296"/>
            <a:ext cx="1877568"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Proficiency vs efficiency</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Efficiency divides by time clocked on ROs, not all paid time</a:t>
            </a:r>
            <a:endParaRPr lang="en-US" sz="1400" dirty="0"/>
          </a:p>
        </p:txBody>
      </p:sp>
      <p:sp>
        <p:nvSpPr>
          <p:cNvPr id="32" name="Shape 30"/>
          <p:cNvSpPr/>
          <p:nvPr/>
        </p:nvSpPr>
        <p:spPr>
          <a:xfrm>
            <a:off x="457200" y="6126480"/>
            <a:ext cx="11274552" cy="371856"/>
          </a:xfrm>
          <a:prstGeom prst="rect">
            <a:avLst/>
          </a:prstGeom>
          <a:solidFill>
            <a:srgbClr val="EDF4FA"/>
          </a:solidFill>
          <a:ln/>
        </p:spPr>
      </p:sp>
      <p:sp>
        <p:nvSpPr>
          <p:cNvPr id="33" name="Text 31"/>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Group: 94.7%. 20 of 33 stores at or above 85%; 262 of 583 counted techs below it.</a:t>
            </a:r>
            <a:endParaRPr lang="en-US" sz="16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TECHNICIAN PROFICIENCY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How We Measured It</a:t>
            </a:r>
            <a:endParaRPr lang="en-US" sz="2800" dirty="0"/>
          </a:p>
        </p:txBody>
      </p:sp>
      <p:sp>
        <p:nvSpPr>
          <p:cNvPr id="5" name="Shape 3"/>
          <p:cNvSpPr/>
          <p:nvPr/>
        </p:nvSpPr>
        <p:spPr>
          <a:xfrm>
            <a:off x="457200" y="1207008"/>
            <a:ext cx="11274552" cy="1024128"/>
          </a:xfrm>
          <a:prstGeom prst="rect">
            <a:avLst/>
          </a:prstGeom>
          <a:solidFill>
            <a:srgbClr val="EDF4FA"/>
          </a:solidFill>
          <a:ln/>
        </p:spPr>
      </p:sp>
      <p:sp>
        <p:nvSpPr>
          <p:cNvPr id="6" name="Text 4"/>
          <p:cNvSpPr txBox="1"/>
          <p:nvPr/>
        </p:nvSpPr>
        <p:spPr>
          <a:xfrm>
            <a:off x="685800" y="1243584"/>
            <a:ext cx="10835640" cy="566928"/>
          </a:xfrm>
          <a:prstGeom prst="rect">
            <a:avLst/>
          </a:prstGeom>
          <a:noFill/>
          <a:ln/>
        </p:spPr>
        <p:txBody>
          <a:bodyPr wrap="square" lIns="0" tIns="0" rIns="0" bIns="0" rtlCol="0" anchor="ctr">
            <a:normAutofit/>
          </a:bodyPr>
          <a:lstStyle/>
          <a:p>
            <a:pPr indent="0" marL="0">
              <a:buNone/>
            </a:pPr>
            <a:r>
              <a:rPr lang="en-US" sz="2200" b="1" dirty="0">
                <a:solidFill>
                  <a:srgbClr val="0B2C4A"/>
                </a:solidFill>
                <a:latin typeface="Inter" pitchFamily="34" charset="0"/>
                <a:ea typeface="Inter" pitchFamily="34" charset="-122"/>
                <a:cs typeface="Inter" pitchFamily="34" charset="-120"/>
              </a:rPr>
              <a:t>Sold hours (Qlik)  </a:t>
            </a:r>
            <a:pPr indent="0" marL="0">
              <a:buNone/>
            </a:pPr>
            <a:r>
              <a:rPr lang="en-US" sz="2200" b="1" dirty="0">
                <a:solidFill>
                  <a:srgbClr val="2587C5"/>
                </a:solidFill>
                <a:latin typeface="Inter" pitchFamily="34" charset="0"/>
                <a:ea typeface="Inter" pitchFamily="34" charset="-122"/>
                <a:cs typeface="Inter" pitchFamily="34" charset="-120"/>
              </a:rPr>
              <a:t>÷  </a:t>
            </a:r>
            <a:pPr indent="0" marL="0">
              <a:buNone/>
            </a:pPr>
            <a:r>
              <a:rPr lang="en-US" sz="2200" b="1" dirty="0">
                <a:solidFill>
                  <a:srgbClr val="0B2C4A"/>
                </a:solidFill>
                <a:latin typeface="Inter" pitchFamily="34" charset="0"/>
                <a:ea typeface="Inter" pitchFamily="34" charset="-122"/>
                <a:cs typeface="Inter" pitchFamily="34" charset="-120"/>
              </a:rPr>
              <a:t>paid hours (ADP, regular + overtime)</a:t>
            </a:r>
            <a:endParaRPr lang="en-US" sz="2200" dirty="0"/>
          </a:p>
        </p:txBody>
      </p:sp>
      <p:sp>
        <p:nvSpPr>
          <p:cNvPr id="7" name="Text 5"/>
          <p:cNvSpPr txBox="1"/>
          <p:nvPr/>
        </p:nvSpPr>
        <p:spPr>
          <a:xfrm>
            <a:off x="685800" y="1783080"/>
            <a:ext cx="10835640" cy="420624"/>
          </a:xfrm>
          <a:prstGeom prst="rect">
            <a:avLst/>
          </a:prstGeom>
          <a:noFill/>
          <a:ln/>
        </p:spPr>
        <p:txBody>
          <a:bodyPr wrap="square" lIns="0" tIns="0" rIns="0" bIns="0" rtlCol="0" anchor="ctr"/>
          <a:lstStyle/>
          <a:p>
            <a:pPr indent="0" marL="0">
              <a:buNone/>
            </a:pPr>
            <a:r>
              <a:rPr lang="en-US" sz="1500" dirty="0">
                <a:solidFill>
                  <a:srgbClr val="595959"/>
                </a:solidFill>
                <a:latin typeface="Inter" pitchFamily="34" charset="0"/>
                <a:ea typeface="Inter" pitchFamily="34" charset="-122"/>
                <a:cs typeface="Inter" pitchFamily="34" charset="-120"/>
              </a:rPr>
              <a:t>Matched by tech number, all pay types, Dec 25, 2025 to Oct 9, 2026. Store = total sold hours / total paid hours.</a:t>
            </a:r>
            <a:endParaRPr lang="en-US" sz="1500" dirty="0"/>
          </a:p>
        </p:txBody>
      </p:sp>
      <p:sp>
        <p:nvSpPr>
          <p:cNvPr id="8" name="Shape 6"/>
          <p:cNvSpPr/>
          <p:nvPr/>
        </p:nvSpPr>
        <p:spPr>
          <a:xfrm>
            <a:off x="457200" y="2340864"/>
            <a:ext cx="4343400" cy="3648456"/>
          </a:xfrm>
          <a:prstGeom prst="rect">
            <a:avLst/>
          </a:prstGeom>
          <a:solidFill>
            <a:srgbClr val="FFFFFF"/>
          </a:solidFill>
          <a:ln/>
        </p:spPr>
      </p:sp>
      <p:sp>
        <p:nvSpPr>
          <p:cNvPr id="9" name="Shape 7"/>
          <p:cNvSpPr/>
          <p:nvPr/>
        </p:nvSpPr>
        <p:spPr>
          <a:xfrm>
            <a:off x="4937760" y="2340864"/>
            <a:ext cx="6793992" cy="3648456"/>
          </a:xfrm>
          <a:prstGeom prst="rect">
            <a:avLst/>
          </a:prstGeom>
          <a:solidFill>
            <a:srgbClr val="FFFFFF"/>
          </a:solidFill>
          <a:ln/>
        </p:spPr>
      </p:sp>
      <p:sp>
        <p:nvSpPr>
          <p:cNvPr id="10" name="Text 8"/>
          <p:cNvSpPr txBox="1"/>
          <p:nvPr/>
        </p:nvSpPr>
        <p:spPr>
          <a:xfrm>
            <a:off x="658368" y="2468880"/>
            <a:ext cx="393192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WHO COUNTS</a:t>
            </a:r>
            <a:endParaRPr lang="en-US" sz="1400" dirty="0"/>
          </a:p>
        </p:txBody>
      </p:sp>
      <p:sp>
        <p:nvSpPr>
          <p:cNvPr id="11" name="Text 9"/>
          <p:cNvSpPr txBox="1"/>
          <p:nvPr/>
        </p:nvSpPr>
        <p:spPr>
          <a:xfrm>
            <a:off x="5138928" y="2468880"/>
            <a:ext cx="640080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THE RULES</a:t>
            </a:r>
            <a:endParaRPr lang="en-US" sz="1400" dirty="0"/>
          </a:p>
        </p:txBody>
      </p:sp>
      <p:sp>
        <p:nvSpPr>
          <p:cNvPr id="12" name="Text 10"/>
          <p:cNvSpPr txBox="1"/>
          <p:nvPr/>
        </p:nvSpPr>
        <p:spPr>
          <a:xfrm>
            <a:off x="658368" y="2843784"/>
            <a:ext cx="3977640" cy="3008376"/>
          </a:xfrm>
          <a:prstGeom prst="rect">
            <a:avLst/>
          </a:prstGeom>
          <a:noFill/>
          <a:ln/>
        </p:spPr>
        <p:txBody>
          <a:bodyPr wrap="square" lIns="0" tIns="0" rIns="0" bIns="0" rtlCol="0" anchor="t"/>
          <a:lstStyle/>
          <a:p>
            <a:pPr marL="203200" indent="-203200">
              <a:spcAft>
                <a:spcPts val="600"/>
              </a:spcAft>
              <a:buSzPct val="100000"/>
              <a:buChar char="•"/>
            </a:pPr>
            <a:r>
              <a:rPr lang="en-US" sz="1600" dirty="0">
                <a:solidFill>
                  <a:srgbClr val="1A1A1A"/>
                </a:solidFill>
                <a:latin typeface="Inter" pitchFamily="34" charset="0"/>
                <a:ea typeface="Inter" pitchFamily="34" charset="-122"/>
                <a:cs typeface="Inter" pitchFamily="34" charset="-120"/>
              </a:rPr>
              <a:t>Service techs, express techs, team leaders and shop foremen</a:t>
            </a:r>
            <a:endParaRPr lang="en-US" sz="1600" dirty="0"/>
          </a:p>
          <a:p>
            <a:pPr marL="203200" indent="-203200">
              <a:spcAft>
                <a:spcPts val="600"/>
              </a:spcAft>
              <a:buSzPct val="100000"/>
              <a:buChar char="•"/>
            </a:pPr>
            <a:r>
              <a:rPr lang="en-US" sz="1600" dirty="0">
                <a:solidFill>
                  <a:srgbClr val="1A1A1A"/>
                </a:solidFill>
                <a:latin typeface="Inter" pitchFamily="34" charset="0"/>
                <a:ea typeface="Inter" pitchFamily="34" charset="-122"/>
                <a:cs typeface="Inter" pitchFamily="34" charset="-120"/>
              </a:rPr>
              <a:t>Not counted: body shop, detail and tint</a:t>
            </a:r>
            <a:endParaRPr lang="en-US" sz="1600" dirty="0"/>
          </a:p>
          <a:p>
            <a:pPr marL="203200" indent="-203200">
              <a:spcAft>
                <a:spcPts val="600"/>
              </a:spcAft>
              <a:buSzPct val="100000"/>
              <a:buChar char="•"/>
            </a:pPr>
            <a:r>
              <a:rPr lang="en-US" sz="1600" dirty="0">
                <a:solidFill>
                  <a:srgbClr val="1A1A1A"/>
                </a:solidFill>
                <a:latin typeface="Inter" pitchFamily="34" charset="0"/>
                <a:ea typeface="Inter" pitchFamily="34" charset="-122"/>
                <a:cs typeface="Inter" pitchFamily="34" charset="-120"/>
              </a:rPr>
              <a:t>Same-store: INEOS excluded</a:t>
            </a:r>
            <a:endParaRPr lang="en-US" sz="1600" dirty="0"/>
          </a:p>
        </p:txBody>
      </p:sp>
      <p:sp>
        <p:nvSpPr>
          <p:cNvPr id="13" name="Shape 11"/>
          <p:cNvSpPr/>
          <p:nvPr/>
        </p:nvSpPr>
        <p:spPr>
          <a:xfrm>
            <a:off x="5138928" y="2843784"/>
            <a:ext cx="45720" cy="908304"/>
          </a:xfrm>
          <a:prstGeom prst="rect">
            <a:avLst/>
          </a:prstGeom>
          <a:solidFill>
            <a:srgbClr val="2587C5"/>
          </a:solidFill>
          <a:ln/>
        </p:spPr>
      </p:sp>
      <p:sp>
        <p:nvSpPr>
          <p:cNvPr id="14" name="Text 12"/>
          <p:cNvSpPr txBox="1"/>
          <p:nvPr/>
        </p:nvSpPr>
        <p:spPr>
          <a:xfrm>
            <a:off x="5266944" y="2843784"/>
            <a:ext cx="2962656" cy="908304"/>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Shop foremen above 30%</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Below that, a foreman is mainly dispatching</a:t>
            </a:r>
            <a:endParaRPr lang="en-US" sz="1400" dirty="0"/>
          </a:p>
        </p:txBody>
      </p:sp>
      <p:sp>
        <p:nvSpPr>
          <p:cNvPr id="15" name="Shape 13"/>
          <p:cNvSpPr/>
          <p:nvPr/>
        </p:nvSpPr>
        <p:spPr>
          <a:xfrm>
            <a:off x="8394192" y="2843784"/>
            <a:ext cx="45720" cy="908304"/>
          </a:xfrm>
          <a:prstGeom prst="rect">
            <a:avLst/>
          </a:prstGeom>
          <a:solidFill>
            <a:srgbClr val="2587C5"/>
          </a:solidFill>
          <a:ln/>
        </p:spPr>
      </p:sp>
      <p:sp>
        <p:nvSpPr>
          <p:cNvPr id="16" name="Text 14"/>
          <p:cNvSpPr txBox="1"/>
          <p:nvPr/>
        </p:nvSpPr>
        <p:spPr>
          <a:xfrm>
            <a:off x="8522208" y="2843784"/>
            <a:ext cx="2962656" cy="908304"/>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Techs above 10%</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Below that, they are not working as a line tech</a:t>
            </a:r>
            <a:endParaRPr lang="en-US" sz="1400" dirty="0"/>
          </a:p>
        </p:txBody>
      </p:sp>
      <p:sp>
        <p:nvSpPr>
          <p:cNvPr id="17" name="Shape 15"/>
          <p:cNvSpPr/>
          <p:nvPr/>
        </p:nvSpPr>
        <p:spPr>
          <a:xfrm>
            <a:off x="5138928" y="3861816"/>
            <a:ext cx="45720" cy="908304"/>
          </a:xfrm>
          <a:prstGeom prst="rect">
            <a:avLst/>
          </a:prstGeom>
          <a:solidFill>
            <a:srgbClr val="2587C5"/>
          </a:solidFill>
          <a:ln/>
        </p:spPr>
      </p:sp>
      <p:sp>
        <p:nvSpPr>
          <p:cNvPr id="18" name="Text 16"/>
          <p:cNvSpPr txBox="1"/>
          <p:nvPr/>
        </p:nvSpPr>
        <p:spPr>
          <a:xfrm>
            <a:off x="5266944" y="3861816"/>
            <a:ext cx="2962656" cy="908304"/>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Role changes</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Paid hours trimmed to the months a tech actually flagged</a:t>
            </a:r>
            <a:endParaRPr lang="en-US" sz="1400" dirty="0"/>
          </a:p>
        </p:txBody>
      </p:sp>
      <p:sp>
        <p:nvSpPr>
          <p:cNvPr id="19" name="Shape 17"/>
          <p:cNvSpPr/>
          <p:nvPr/>
        </p:nvSpPr>
        <p:spPr>
          <a:xfrm>
            <a:off x="8394192" y="3861816"/>
            <a:ext cx="45720" cy="908304"/>
          </a:xfrm>
          <a:prstGeom prst="rect">
            <a:avLst/>
          </a:prstGeom>
          <a:solidFill>
            <a:srgbClr val="2587C5"/>
          </a:solidFill>
          <a:ln/>
        </p:spPr>
      </p:sp>
      <p:sp>
        <p:nvSpPr>
          <p:cNvPr id="20" name="Text 18"/>
          <p:cNvSpPr txBox="1"/>
          <p:nvPr/>
        </p:nvSpPr>
        <p:spPr>
          <a:xfrm>
            <a:off x="8522208" y="3861816"/>
            <a:ext cx="2962656" cy="908304"/>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Keying errors removed</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45 lines, such as 940 hours keyed on one $0 line</a:t>
            </a:r>
            <a:endParaRPr lang="en-US" sz="1400" dirty="0"/>
          </a:p>
        </p:txBody>
      </p:sp>
      <p:sp>
        <p:nvSpPr>
          <p:cNvPr id="21" name="Shape 19"/>
          <p:cNvSpPr/>
          <p:nvPr/>
        </p:nvSpPr>
        <p:spPr>
          <a:xfrm>
            <a:off x="5138928" y="4879848"/>
            <a:ext cx="45720" cy="908304"/>
          </a:xfrm>
          <a:prstGeom prst="rect">
            <a:avLst/>
          </a:prstGeom>
          <a:solidFill>
            <a:srgbClr val="2587C5"/>
          </a:solidFill>
          <a:ln/>
        </p:spPr>
      </p:sp>
      <p:sp>
        <p:nvSpPr>
          <p:cNvPr id="22" name="Text 20"/>
          <p:cNvSpPr txBox="1"/>
          <p:nvPr/>
        </p:nvSpPr>
        <p:spPr>
          <a:xfrm>
            <a:off x="5266944" y="4879848"/>
            <a:ext cx="2962656" cy="908304"/>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Shared codes</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Pooled codes (MULT, 999, 77777) aren't credited to anyone</a:t>
            </a:r>
            <a:endParaRPr lang="en-US" sz="1400" dirty="0"/>
          </a:p>
        </p:txBody>
      </p:sp>
      <p:sp>
        <p:nvSpPr>
          <p:cNvPr id="23" name="Shape 21"/>
          <p:cNvSpPr/>
          <p:nvPr/>
        </p:nvSpPr>
        <p:spPr>
          <a:xfrm>
            <a:off x="8394192" y="4879848"/>
            <a:ext cx="45720" cy="908304"/>
          </a:xfrm>
          <a:prstGeom prst="rect">
            <a:avLst/>
          </a:prstGeom>
          <a:solidFill>
            <a:srgbClr val="2587C5"/>
          </a:solidFill>
          <a:ln/>
        </p:spPr>
      </p:sp>
      <p:sp>
        <p:nvSpPr>
          <p:cNvPr id="24" name="Text 22"/>
          <p:cNvSpPr txBox="1"/>
          <p:nvPr/>
        </p:nvSpPr>
        <p:spPr>
          <a:xfrm>
            <a:off x="8522208" y="4879848"/>
            <a:ext cx="2962656" cy="908304"/>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Opportunity</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Each tech under 85% raised to 85% of their own paid hours</a:t>
            </a:r>
            <a:endParaRPr lang="en-US" sz="1400" dirty="0"/>
          </a:p>
        </p:txBody>
      </p:sp>
      <p:sp>
        <p:nvSpPr>
          <p:cNvPr id="25" name="Shape 23"/>
          <p:cNvSpPr/>
          <p:nvPr/>
        </p:nvSpPr>
        <p:spPr>
          <a:xfrm>
            <a:off x="457200" y="6126480"/>
            <a:ext cx="11274552" cy="356616"/>
          </a:xfrm>
          <a:prstGeom prst="rect">
            <a:avLst/>
          </a:prstGeom>
          <a:solidFill>
            <a:srgbClr val="EDF4FA"/>
          </a:solidFill>
          <a:ln/>
        </p:spPr>
      </p:sp>
      <p:sp>
        <p:nvSpPr>
          <p:cNvPr id="26" name="Text 24"/>
          <p:cNvSpPr txBox="1"/>
          <p:nvPr/>
        </p:nvSpPr>
        <p:spPr>
          <a:xfrm>
            <a:off x="658368" y="6144768"/>
            <a:ext cx="10927080" cy="32004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The rules keep non-tech time and data errors out of the numbers, and every store is measured the same way.</a:t>
            </a:r>
            <a:endParaRPr lang="en-US" sz="15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Inter"/>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Inter"/>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12</Slides>
  <Notes>12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12</vt:i4>
      </vt:variant>
    </vt:vector>
  </HeadingPairs>
  <TitlesOfParts>
    <vt:vector size="15"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2026-10-21T21:13:53Z</dcterms:created>
  <dcterms:modified xsi:type="dcterms:W3CDTF">2026-10-21T21:13:53Z</dcterms:modified>
</cp:coreProperties>
</file>