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CP Engine, in front of CP RO Count.
Definition is the data slides' own: distinct ROs with a customer-pay line, by close month. This includes the roughly 0.9% of CP ROs with no labor charged (parts-only sales such as additives, wipers and batteries, and blank CP lines); Qlik's hasLabor flag is set on every line, so it does not filter them, and the count is kept that way to match the numbers stores are used to. GMC Prescott body-shop-only ROs excluded.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CP Engine, in front of CP Hours per RO.
$6,602,564 a year = 0.1 x each store's CP RO count x its own CP labor + parts gross per sold hour, Jan-Sep x 12/9 (279,756 CP ROs: 27,976 hours Jan-Sep, 37,301 a year; about $177 an hour on that mix). Same figure as What 0.1 Hour per RO Is Worth and Where the Money Is (Oct 28 audit; was $4,543,691 Jan-Sep labor sale).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Customer Pay, after CP Hours per RO and ahead of Labor Sale by Pay Type and the CP ELR slides.
Roundtable worked example removed from the slide (Noah, Oct 21).
Talk track (Noah, Oct 23): to understand your ELR you have to understand your work mix. A shop that does more repair than maintenance will run a higher ELR, because the repair rate is higher; a shop that is mostly maintenance will run lower. There is nothing wrong with that, but you need to know your mix to know why your ELR is what it is. Raising the repair rate may do less than raising the maintenance rate if most of your work is maintenance. Know your ELR for every labor operation.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CP Engine, in front of CP Labor $ per RO.
1.87 x $162.42 = $303.73, which rounds to the $304 on the data slide. Parts line (Noah, Oct 23: the parts $ per RO section is out of the deck, so the link lives here): CP parts per RO $228.50 -&gt; $237.96 Jan-Sep 2025 -&gt; 2026 while CP labor per RO rose $286.67 -&gt; $303.72 (Qlik Closed RO, m5.json).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CP Engine, in front of CP Parts $ per 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CP Engine, in front of CP Labor Gross Profit %.
Example (Noah, Oct 23: replaces the Roundtable table): one CP hour at the group's Jan-Sep 2026 averages, $162.42 ELR, $31.21 tech cost per hour sold, $131.21 kept = 80.8%; rounded on the slide.
Oct 23 (Noah): The Goldilocks Margin talking point is folded into this slide (it repeated it): no Goldilocks or Roundtable wording; its ask (match the tech to the job, not squeeze tech pay) is the first Why It Matters 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CP Engine, in front of CP Parts Gross Profit %.
Why understand your parts pricing matrix (Noah, Oct 26): (1) Maximize gross profit: price parts to maximize profitability; find gross without more volume. (2) Consistent pricing: every customer charged the same for the same part; no incorrect prices from bad setups or manual overrides. (3) Stay competitive: avoid markups that make repairs too expensive; balance profit with price on higher-cost parts. (4) Check the matrix is applied: parts actually sell at matrix prices; find parts, labor types or transactions that bypass it. (5) Warranty reimbursement: customer-pay parts pricing drives the warranty parts reimbursement rate, so good pricing supports a higher rate and more warranty gross. (6) Control the strategy: know how your matrix is configured and review it against your gross profit goals. Takeaway: the matrix is one of the most effective tools for improving profit without more volume.
5 reasons parts gross profit % matters (Noah, Oct 26): (1) Maximizes profitability: higher GP % earns more from the same volume; small improvements add up over a year. (2) Measures pricing effectiveness: are parts sold at the right prices; where to improve matrices, discounts and markups. (3) Controls discounts and cost increases: shows when discounting cuts profit, and when rising parts costs are not reflected in selling prices. (4) Supports dealership profit: parts gross covers department expenses, adds to net profit and helps fixed ops absorb store overhead. (5) Identifies opportunities: compare against targets, history and other stores; find weak categories (customer pay, wholesale, warranty, internal). Takeaway: parts GP % measures how well we turn parts sales into profit; raising it is one of the most direct ways to grow profit without more volume.
37 cents (Oct 26): P&amp;L Detail, Jan-Sep 2026 same-store, parts department profit $22.75M / parts gross $61.93M = 36.7% (2025 37.1%); service 21.8% (2025 18.9%); new and used lose money at the department level; parts beats service in 31 of 33 stores (not Honda Henderson, VW Henderson). F&amp;I income less F&amp;I commissions is higher (about 80%) but F&amp;I is not a P&amp;L department and its other costs sit in new and used, so say 'department'. Department view: about $87M of other income (doc fees, packs, factory money, holdback) is booked outside the departments.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Profit &amp; Loss (GM and Detail statements), Jan-Sep 2026 vs 2025, same-store, 33 stores. Absorption includes the GMC Prescott body shop, as on the P&amp;L; gross and net to gross exclude it.PLACE: Profitability, in front of Fixed Ops Absorption %.
P&amp;L definition: line 254 Total Gross Profit - Fixed Ops / line 258 Fixed Expenses (the stored line 257 returns a dollar value, so the slide derives it). GMC Prescott includes its body shop, as on the P&amp;L (Noah, Oct 28).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Profit &amp; Loss (GM and Detail statements), Jan-Sep 2026 vs 2025, same-store, 33 stores. Absorption includes the GMC Prescott body shop, as on the P&amp;L; gross and net to gross exclude it.PLACE: Profitability, in front of Service Net to Gross %.
P&amp;L Detail statement: DEPARTMENT PROFIT OR LOSS / GROSS PROFIT / INCOME, Mechanical Dept (service) and P&amp;A Dept (parts).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Opcodes, after the section break, in front of Alignment %.
Denominator: CP ROs on the op code report basis (excluding ROs flagged out of the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Technician Proficiency, after the section break, in front of the store ranker.
Proficiency uses ADP worked hours (regular + overtime), so it includes time not on an RO. Efficiency would use DMS time punched on jobs, which this data does not have.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right after 'Technician Proficiency' (explainer).
Period: pay periods Dec 25, 2025 to Oct 9, 2026, matched by tech number, all pay types; labelled Jan-Sep 2026 YTD on the slide (Noah, Oct 26: closest the pay periods allow).
Rules as applied on the proficiency slides (Oct 16 2026). Express techs at stores that pool express hours are mostly excluded by the 10%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Profit &amp; Loss (GM and Detail statements), Jan-Sep 2026 vs 2025, same-store, 33 stores. Absorption includes the GMC Prescott body shop, as on the P&amp;L; gross and net to gross exclude it.PLACE: Gross section, after Service Is Sales 2.0 and in front of Total Gross Profit - Fixed Ops.
Source: Qlik Profit &amp; Loss, Total Gross Profit - Service and Total Gross Profit - Parts, same-store, INEOS excluded, GMC Prescott body shop gross excluded (as on the gross slides). Hourly technician pay, guarantees and bonuses paid off the RO post as unapplied labor: not charged on any repair order, a cost-of-sale adjustment that reduces service gross (Noah, Oct 23).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Standard service-department definitions. On the store slides, proficiency = Qlik hours flagged (sold hours) ÷ ADP regular + overtime hours, = clocked hours (vacation, PTO and holiday pay excluded). Efficiency and productivity need DMS time clocked to repair orders, which this data does not include, so they are defined here but not measured. The example is illustrative, not a store or technician.PLACE: right after the Technician Proficiency explainer, before How We Measured It (Noah, Oct 27).
Talk track: walk the example left to right. The tech was on repair orders 6 of 8 hours (75% productive) and flagged 7.5 hours in those 6 (125% efficient), so 7.5 flagged hours for 8 clocked (93.75% proficient). Proficiency is the one we measure: 85% target, group 94.7%. 'Productivity' here is the technician measure, not the Fixed Ops Productivity section (gross and ROs per employee).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CP RO count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customer-pay repair orders closed in the period</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Every RO with a customer-pay line. One RO counts once, however many lines it has.</a:t>
            </a:r>
            <a:endParaRPr lang="en-US" sz="1500" dirty="0"/>
          </a:p>
        </p:txBody>
      </p:sp>
      <p:sp>
        <p:nvSpPr>
          <p:cNvPr id="8" name="Shape 6"/>
          <p:cNvSpPr/>
          <p:nvPr/>
        </p:nvSpPr>
        <p:spPr>
          <a:xfrm>
            <a:off x="457200" y="2340864"/>
            <a:ext cx="4343400" cy="4014216"/>
          </a:xfrm>
          <a:prstGeom prst="rect">
            <a:avLst/>
          </a:prstGeom>
          <a:solidFill>
            <a:srgbClr val="FFFFFF"/>
          </a:solidFill>
          <a:ln/>
        </p:spPr>
      </p:sp>
      <p:sp>
        <p:nvSpPr>
          <p:cNvPr id="9" name="Shape 7"/>
          <p:cNvSpPr/>
          <p:nvPr/>
        </p:nvSpPr>
        <p:spPr>
          <a:xfrm>
            <a:off x="4937760" y="2340864"/>
            <a:ext cx="6793992" cy="401421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37413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Everything else starts here: hours, ELR and $ per RO all multiply off the RO count.</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shows whether the business is expanding or contracting: are customers coming back?</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Flat car count means growth has to come from selling more on each visit.</a:t>
            </a:r>
            <a:endParaRPr lang="en-US" sz="1600" dirty="0"/>
          </a:p>
        </p:txBody>
      </p:sp>
      <p:sp>
        <p:nvSpPr>
          <p:cNvPr id="13" name="Shape 11"/>
          <p:cNvSpPr/>
          <p:nvPr/>
        </p:nvSpPr>
        <p:spPr>
          <a:xfrm>
            <a:off x="5138928" y="2843784"/>
            <a:ext cx="45720" cy="911125"/>
          </a:xfrm>
          <a:prstGeom prst="rect">
            <a:avLst/>
          </a:prstGeom>
          <a:solidFill>
            <a:srgbClr val="2587C5"/>
          </a:solidFill>
          <a:ln/>
        </p:spPr>
      </p:sp>
      <p:sp>
        <p:nvSpPr>
          <p:cNvPr id="14" name="Text 12"/>
          <p:cNvSpPr txBox="1"/>
          <p:nvPr/>
        </p:nvSpPr>
        <p:spPr>
          <a:xfrm>
            <a:off x="5266944" y="2843784"/>
            <a:ext cx="2962656" cy="91112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Appointment availability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Same-day and next-day slots; an easy online scheduler</a:t>
            </a:r>
            <a:endParaRPr lang="en-US" sz="1400" dirty="0"/>
          </a:p>
        </p:txBody>
      </p:sp>
      <p:sp>
        <p:nvSpPr>
          <p:cNvPr id="15" name="Shape 13"/>
          <p:cNvSpPr/>
          <p:nvPr/>
        </p:nvSpPr>
        <p:spPr>
          <a:xfrm>
            <a:off x="8394192" y="2843784"/>
            <a:ext cx="45720" cy="911125"/>
          </a:xfrm>
          <a:prstGeom prst="rect">
            <a:avLst/>
          </a:prstGeom>
          <a:solidFill>
            <a:srgbClr val="2587C5"/>
          </a:solidFill>
          <a:ln/>
        </p:spPr>
      </p:sp>
      <p:sp>
        <p:nvSpPr>
          <p:cNvPr id="16" name="Text 14"/>
          <p:cNvSpPr txBox="1"/>
          <p:nvPr/>
        </p:nvSpPr>
        <p:spPr>
          <a:xfrm>
            <a:off x="8522208" y="2843784"/>
            <a:ext cx="2962656" cy="91112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Phone handling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call answered, and every caller asked for the appointment</a:t>
            </a:r>
            <a:endParaRPr lang="en-US" sz="1400" dirty="0"/>
          </a:p>
        </p:txBody>
      </p:sp>
      <p:sp>
        <p:nvSpPr>
          <p:cNvPr id="17" name="Shape 15"/>
          <p:cNvSpPr/>
          <p:nvPr/>
        </p:nvSpPr>
        <p:spPr>
          <a:xfrm>
            <a:off x="5138928" y="3864637"/>
            <a:ext cx="45720" cy="1268423"/>
          </a:xfrm>
          <a:prstGeom prst="rect">
            <a:avLst/>
          </a:prstGeom>
          <a:solidFill>
            <a:srgbClr val="2587C5"/>
          </a:solidFill>
          <a:ln/>
        </p:spPr>
      </p:sp>
      <p:sp>
        <p:nvSpPr>
          <p:cNvPr id="18" name="Text 16"/>
          <p:cNvSpPr txBox="1"/>
          <p:nvPr/>
        </p:nvSpPr>
        <p:spPr>
          <a:xfrm>
            <a:off x="5266944" y="3864637"/>
            <a:ext cx="2962656" cy="126842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Retention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Proactive outreach and ongoing engagement: lapsed, inactive and sold-not-serviced customers (VizAuto retention app)</a:t>
            </a:r>
            <a:endParaRPr lang="en-US" sz="1400" dirty="0"/>
          </a:p>
        </p:txBody>
      </p:sp>
      <p:sp>
        <p:nvSpPr>
          <p:cNvPr id="19" name="Shape 17"/>
          <p:cNvSpPr/>
          <p:nvPr/>
        </p:nvSpPr>
        <p:spPr>
          <a:xfrm>
            <a:off x="8394192" y="3864637"/>
            <a:ext cx="45720" cy="1268423"/>
          </a:xfrm>
          <a:prstGeom prst="rect">
            <a:avLst/>
          </a:prstGeom>
          <a:solidFill>
            <a:srgbClr val="2587C5"/>
          </a:solidFill>
          <a:ln/>
        </p:spPr>
      </p:sp>
      <p:sp>
        <p:nvSpPr>
          <p:cNvPr id="20" name="Text 18"/>
          <p:cNvSpPr txBox="1"/>
          <p:nvPr/>
        </p:nvSpPr>
        <p:spPr>
          <a:xfrm>
            <a:off x="8522208" y="3864637"/>
            <a:ext cx="2962656" cy="126842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Next visit booked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First appointment at the sale; next one before the customer leaves</a:t>
            </a:r>
            <a:endParaRPr lang="en-US" sz="1400" dirty="0"/>
          </a:p>
        </p:txBody>
      </p:sp>
      <p:sp>
        <p:nvSpPr>
          <p:cNvPr id="21" name="Shape 19"/>
          <p:cNvSpPr/>
          <p:nvPr/>
        </p:nvSpPr>
        <p:spPr>
          <a:xfrm>
            <a:off x="5138928" y="5242787"/>
            <a:ext cx="45720" cy="911125"/>
          </a:xfrm>
          <a:prstGeom prst="rect">
            <a:avLst/>
          </a:prstGeom>
          <a:solidFill>
            <a:srgbClr val="2587C5"/>
          </a:solidFill>
          <a:ln/>
        </p:spPr>
      </p:sp>
      <p:sp>
        <p:nvSpPr>
          <p:cNvPr id="22" name="Text 20"/>
          <p:cNvSpPr txBox="1"/>
          <p:nvPr/>
        </p:nvSpPr>
        <p:spPr>
          <a:xfrm>
            <a:off x="5266944" y="5242787"/>
            <a:ext cx="2962656" cy="91112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Quick maintenance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Maintenance available on demand, done quickly and efficiently, keeps customers coming back</a:t>
            </a:r>
            <a:endParaRPr lang="en-US" sz="1400" dirty="0"/>
          </a:p>
        </p:txBody>
      </p:sp>
      <p:sp>
        <p:nvSpPr>
          <p:cNvPr id="23" name="Shape 21"/>
          <p:cNvSpPr/>
          <p:nvPr/>
        </p:nvSpPr>
        <p:spPr>
          <a:xfrm>
            <a:off x="8394192" y="5242787"/>
            <a:ext cx="45720" cy="911125"/>
          </a:xfrm>
          <a:prstGeom prst="rect">
            <a:avLst/>
          </a:prstGeom>
          <a:solidFill>
            <a:srgbClr val="2587C5"/>
          </a:solidFill>
          <a:ln/>
        </p:spPr>
      </p:sp>
      <p:sp>
        <p:nvSpPr>
          <p:cNvPr id="24" name="Text 22"/>
          <p:cNvSpPr txBox="1"/>
          <p:nvPr/>
        </p:nvSpPr>
        <p:spPr>
          <a:xfrm>
            <a:off x="8522208" y="5242787"/>
            <a:ext cx="2962656" cy="91112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Marketing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Fixed ops budget, keyword search, OEM and third-party reminders</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Hours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Hours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hours sold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 count</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labor hours we sell, on average, every time a customer-pay car comes through the drive.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0.1 HOUR</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0.1 hour more on every RO  </a:t>
            </a:r>
            <a:pPr algn="ctr" indent="0" marL="0">
              <a:buNone/>
            </a:pPr>
            <a:r>
              <a:rPr lang="en-US" sz="1400" b="1" dirty="0">
                <a:solidFill>
                  <a:srgbClr val="0B2C4A"/>
                </a:solidFill>
                <a:latin typeface="Inter" pitchFamily="34" charset="0"/>
                <a:ea typeface="Inter" pitchFamily="34" charset="-122"/>
                <a:cs typeface="Inter" pitchFamily="34" charset="-120"/>
              </a:rPr>
              <a:t>= 37,301 hours a year</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each store's gross per hour  </a:t>
            </a:r>
            <a:pPr algn="ctr" indent="0" marL="0">
              <a:buNone/>
            </a:pPr>
            <a:r>
              <a:rPr lang="en-US" sz="1400" b="1" dirty="0">
                <a:solidFill>
                  <a:srgbClr val="0B2C4A"/>
                </a:solidFill>
                <a:latin typeface="Inter" pitchFamily="34" charset="0"/>
                <a:ea typeface="Inter" pitchFamily="34" charset="-122"/>
                <a:cs typeface="Inter" pitchFamily="34" charset="-120"/>
              </a:rPr>
              <a:t>= $6.6M a year</a:t>
            </a:r>
            <a:endParaRPr lang="en-US" sz="1400" dirty="0"/>
          </a:p>
        </p:txBody>
      </p:sp>
      <p:sp>
        <p:nvSpPr>
          <p:cNvPr id="13" name="Shape 11"/>
          <p:cNvSpPr/>
          <p:nvPr/>
        </p:nvSpPr>
        <p:spPr>
          <a:xfrm>
            <a:off x="457200" y="2907792"/>
            <a:ext cx="4343400" cy="3447288"/>
          </a:xfrm>
          <a:prstGeom prst="rect">
            <a:avLst/>
          </a:prstGeom>
          <a:solidFill>
            <a:srgbClr val="FFFFFF"/>
          </a:solidFill>
          <a:ln/>
        </p:spPr>
      </p:sp>
      <p:sp>
        <p:nvSpPr>
          <p:cNvPr id="14" name="Shape 12"/>
          <p:cNvSpPr/>
          <p:nvPr/>
        </p:nvSpPr>
        <p:spPr>
          <a:xfrm>
            <a:off x="4937760" y="2907792"/>
            <a:ext cx="6793992" cy="344728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807208"/>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cannot be manipulated: it is the work we sell.</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shows where the lift came from: if labor sales per RO go up but hours per RO stay flat, we are charging more, not selling more.</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Selling more hours also sells parts.</a:t>
            </a:r>
            <a:endParaRPr lang="en-US" sz="1600" dirty="0"/>
          </a:p>
        </p:txBody>
      </p:sp>
      <p:sp>
        <p:nvSpPr>
          <p:cNvPr id="18" name="Shape 16"/>
          <p:cNvSpPr/>
          <p:nvPr/>
        </p:nvSpPr>
        <p:spPr>
          <a:xfrm>
            <a:off x="5138928" y="3410712"/>
            <a:ext cx="45720" cy="841248"/>
          </a:xfrm>
          <a:prstGeom prst="rect">
            <a:avLst/>
          </a:prstGeom>
          <a:solidFill>
            <a:srgbClr val="2587C5"/>
          </a:solidFill>
          <a:ln/>
        </p:spPr>
      </p:sp>
      <p:sp>
        <p:nvSpPr>
          <p:cNvPr id="19" name="Text 17"/>
          <p:cNvSpPr txBox="1"/>
          <p:nvPr/>
        </p:nvSpPr>
        <p:spPr>
          <a:xfrm>
            <a:off x="5266944" y="3410712"/>
            <a:ext cx="2962656" cy="841248"/>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MPI on every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car inspected, with photos and video sent to the customer</a:t>
            </a:r>
            <a:endParaRPr lang="en-US" sz="1400" dirty="0"/>
          </a:p>
        </p:txBody>
      </p:sp>
      <p:sp>
        <p:nvSpPr>
          <p:cNvPr id="20" name="Shape 18"/>
          <p:cNvSpPr/>
          <p:nvPr/>
        </p:nvSpPr>
        <p:spPr>
          <a:xfrm>
            <a:off x="8394192" y="3410712"/>
            <a:ext cx="45720" cy="841248"/>
          </a:xfrm>
          <a:prstGeom prst="rect">
            <a:avLst/>
          </a:prstGeom>
          <a:solidFill>
            <a:srgbClr val="2587C5"/>
          </a:solidFill>
          <a:ln/>
        </p:spPr>
      </p:sp>
      <p:sp>
        <p:nvSpPr>
          <p:cNvPr id="21" name="Text 19"/>
          <p:cNvSpPr txBox="1"/>
          <p:nvPr/>
        </p:nvSpPr>
        <p:spPr>
          <a:xfrm>
            <a:off x="8522208" y="3410712"/>
            <a:ext cx="2962656" cy="841248"/>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Road to the Sale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Walk-around at the vehicle: hood, tires and wipers</a:t>
            </a:r>
            <a:endParaRPr lang="en-US" sz="1400" dirty="0"/>
          </a:p>
        </p:txBody>
      </p:sp>
      <p:sp>
        <p:nvSpPr>
          <p:cNvPr id="22" name="Shape 20"/>
          <p:cNvSpPr/>
          <p:nvPr/>
        </p:nvSpPr>
        <p:spPr>
          <a:xfrm>
            <a:off x="5138928" y="4361688"/>
            <a:ext cx="45720" cy="841248"/>
          </a:xfrm>
          <a:prstGeom prst="rect">
            <a:avLst/>
          </a:prstGeom>
          <a:solidFill>
            <a:srgbClr val="2587C5"/>
          </a:solidFill>
          <a:ln/>
        </p:spPr>
      </p:sp>
      <p:sp>
        <p:nvSpPr>
          <p:cNvPr id="23" name="Text 21"/>
          <p:cNvSpPr txBox="1"/>
          <p:nvPr/>
        </p:nvSpPr>
        <p:spPr>
          <a:xfrm>
            <a:off x="5266944" y="4361688"/>
            <a:ext cx="2962656" cy="841248"/>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presentation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Time and mileage recommendations, every customer, every time</a:t>
            </a:r>
            <a:endParaRPr lang="en-US" sz="1400" dirty="0"/>
          </a:p>
        </p:txBody>
      </p:sp>
      <p:sp>
        <p:nvSpPr>
          <p:cNvPr id="24" name="Shape 22"/>
          <p:cNvSpPr/>
          <p:nvPr/>
        </p:nvSpPr>
        <p:spPr>
          <a:xfrm>
            <a:off x="8394192" y="4361688"/>
            <a:ext cx="45720" cy="841248"/>
          </a:xfrm>
          <a:prstGeom prst="rect">
            <a:avLst/>
          </a:prstGeom>
          <a:solidFill>
            <a:srgbClr val="2587C5"/>
          </a:solidFill>
          <a:ln/>
        </p:spPr>
      </p:sp>
      <p:sp>
        <p:nvSpPr>
          <p:cNvPr id="25" name="Text 23"/>
          <p:cNvSpPr txBox="1"/>
          <p:nvPr/>
        </p:nvSpPr>
        <p:spPr>
          <a:xfrm>
            <a:off x="8522208" y="4361688"/>
            <a:ext cx="2962656" cy="841248"/>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Declined work follow-up</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A defined process and a champion to bring it back</a:t>
            </a:r>
            <a:endParaRPr lang="en-US" sz="1400" dirty="0"/>
          </a:p>
        </p:txBody>
      </p:sp>
      <p:sp>
        <p:nvSpPr>
          <p:cNvPr id="26" name="Shape 24"/>
          <p:cNvSpPr/>
          <p:nvPr/>
        </p:nvSpPr>
        <p:spPr>
          <a:xfrm>
            <a:off x="5138928" y="5312664"/>
            <a:ext cx="45720" cy="841248"/>
          </a:xfrm>
          <a:prstGeom prst="rect">
            <a:avLst/>
          </a:prstGeom>
          <a:solidFill>
            <a:srgbClr val="2587C5"/>
          </a:solidFill>
          <a:ln/>
        </p:spPr>
      </p:sp>
      <p:sp>
        <p:nvSpPr>
          <p:cNvPr id="27" name="Text 25"/>
          <p:cNvSpPr txBox="1"/>
          <p:nvPr/>
        </p:nvSpPr>
        <p:spPr>
          <a:xfrm>
            <a:off x="5266944" y="5312664"/>
            <a:ext cx="2962656" cy="841248"/>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Op code times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Sell the hours the job pays; don't give time away</a:t>
            </a:r>
            <a:endParaRPr lang="en-US" sz="1400" dirty="0"/>
          </a:p>
        </p:txBody>
      </p:sp>
      <p:sp>
        <p:nvSpPr>
          <p:cNvPr id="28" name="Shape 26"/>
          <p:cNvSpPr/>
          <p:nvPr/>
        </p:nvSpPr>
        <p:spPr>
          <a:xfrm>
            <a:off x="8394192" y="5312664"/>
            <a:ext cx="45720" cy="841248"/>
          </a:xfrm>
          <a:prstGeom prst="rect">
            <a:avLst/>
          </a:prstGeom>
          <a:solidFill>
            <a:srgbClr val="2587C5"/>
          </a:solidFill>
          <a:ln/>
        </p:spPr>
      </p:sp>
      <p:sp>
        <p:nvSpPr>
          <p:cNvPr id="29" name="Text 27"/>
          <p:cNvSpPr txBox="1"/>
          <p:nvPr/>
        </p:nvSpPr>
        <p:spPr>
          <a:xfrm>
            <a:off x="8522208" y="5312664"/>
            <a:ext cx="2962656" cy="841248"/>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Right tech, right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High-mileage and repair work to the techs who find it</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Effective Labor Rate</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Effective labor rate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hours sold</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average amount we collect for each hour of customer-pay labor we sell.</a:t>
            </a:r>
            <a:endParaRPr lang="en-US" sz="1500" dirty="0"/>
          </a:p>
        </p:txBody>
      </p:sp>
      <p:sp>
        <p:nvSpPr>
          <p:cNvPr id="8" name="Shape 6"/>
          <p:cNvSpPr/>
          <p:nvPr/>
        </p:nvSpPr>
        <p:spPr>
          <a:xfrm>
            <a:off x="457200" y="2340864"/>
            <a:ext cx="4343400" cy="4014216"/>
          </a:xfrm>
          <a:prstGeom prst="rect">
            <a:avLst/>
          </a:prstGeom>
          <a:solidFill>
            <a:srgbClr val="FFFFFF"/>
          </a:solidFill>
          <a:ln/>
        </p:spPr>
      </p:sp>
      <p:sp>
        <p:nvSpPr>
          <p:cNvPr id="9" name="Shape 7"/>
          <p:cNvSpPr/>
          <p:nvPr/>
        </p:nvSpPr>
        <p:spPr>
          <a:xfrm>
            <a:off x="4937760" y="2340864"/>
            <a:ext cx="6793992" cy="401421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37413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is what the shop actually collects per hour, and it shows whether a pricing change did what it was meant to do.</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Look past the total: by work type and by op code there can be room to raise a rate, or a reason to lower one.</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Benchmark: CP ELR at least 70% of door rate.</a:t>
            </a:r>
            <a:endParaRPr lang="en-US" sz="1600" dirty="0"/>
          </a:p>
        </p:txBody>
      </p:sp>
      <p:sp>
        <p:nvSpPr>
          <p:cNvPr id="13" name="Shape 11"/>
          <p:cNvSpPr/>
          <p:nvPr/>
        </p:nvSpPr>
        <p:spPr>
          <a:xfrm>
            <a:off x="5138928" y="2843784"/>
            <a:ext cx="45720" cy="1205601"/>
          </a:xfrm>
          <a:prstGeom prst="rect">
            <a:avLst/>
          </a:prstGeom>
          <a:solidFill>
            <a:srgbClr val="2587C5"/>
          </a:solidFill>
          <a:ln/>
        </p:spPr>
      </p:sp>
      <p:sp>
        <p:nvSpPr>
          <p:cNvPr id="14" name="Text 12"/>
          <p:cNvSpPr txBox="1"/>
          <p:nvPr/>
        </p:nvSpPr>
        <p:spPr>
          <a:xfrm>
            <a:off x="5266944" y="2843784"/>
            <a:ext cx="2962656" cy="120560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Work 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Repair is priced above maintenance: repair-heavy shops run a higher ELR, maintenance-heavy lower. Neither is wrong.</a:t>
            </a:r>
            <a:endParaRPr lang="en-US" sz="1400" dirty="0"/>
          </a:p>
        </p:txBody>
      </p:sp>
      <p:sp>
        <p:nvSpPr>
          <p:cNvPr id="15" name="Shape 13"/>
          <p:cNvSpPr/>
          <p:nvPr/>
        </p:nvSpPr>
        <p:spPr>
          <a:xfrm>
            <a:off x="8394192" y="2843784"/>
            <a:ext cx="45720" cy="1205601"/>
          </a:xfrm>
          <a:prstGeom prst="rect">
            <a:avLst/>
          </a:prstGeom>
          <a:solidFill>
            <a:srgbClr val="2587C5"/>
          </a:solidFill>
          <a:ln/>
        </p:spPr>
      </p:sp>
      <p:sp>
        <p:nvSpPr>
          <p:cNvPr id="16" name="Text 14"/>
          <p:cNvSpPr txBox="1"/>
          <p:nvPr/>
        </p:nvSpPr>
        <p:spPr>
          <a:xfrm>
            <a:off x="8522208" y="2843784"/>
            <a:ext cx="2962656" cy="120560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Maintenance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If most of your hours are maintenance, the maintenance rate moves ELR more than the repair rate</a:t>
            </a:r>
            <a:endParaRPr lang="en-US" sz="1400" dirty="0"/>
          </a:p>
        </p:txBody>
      </p:sp>
      <p:sp>
        <p:nvSpPr>
          <p:cNvPr id="17" name="Shape 15"/>
          <p:cNvSpPr/>
          <p:nvPr/>
        </p:nvSpPr>
        <p:spPr>
          <a:xfrm>
            <a:off x="5138928" y="4159113"/>
            <a:ext cx="45720" cy="942535"/>
          </a:xfrm>
          <a:prstGeom prst="rect">
            <a:avLst/>
          </a:prstGeom>
          <a:solidFill>
            <a:srgbClr val="2587C5"/>
          </a:solidFill>
          <a:ln/>
        </p:spPr>
      </p:sp>
      <p:sp>
        <p:nvSpPr>
          <p:cNvPr id="18" name="Text 16"/>
          <p:cNvSpPr txBox="1"/>
          <p:nvPr/>
        </p:nvSpPr>
        <p:spPr>
          <a:xfrm>
            <a:off x="5266944" y="4159113"/>
            <a:ext cx="2962656" cy="94253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ELR by labor operation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Know what every op code collects per hour, not just the store total</a:t>
            </a:r>
            <a:endParaRPr lang="en-US" sz="1400" dirty="0"/>
          </a:p>
        </p:txBody>
      </p:sp>
      <p:sp>
        <p:nvSpPr>
          <p:cNvPr id="19" name="Shape 17"/>
          <p:cNvSpPr/>
          <p:nvPr/>
        </p:nvSpPr>
        <p:spPr>
          <a:xfrm>
            <a:off x="8394192" y="4159113"/>
            <a:ext cx="45720" cy="942535"/>
          </a:xfrm>
          <a:prstGeom prst="rect">
            <a:avLst/>
          </a:prstGeom>
          <a:solidFill>
            <a:srgbClr val="2587C5"/>
          </a:solidFill>
          <a:ln/>
        </p:spPr>
      </p:sp>
      <p:sp>
        <p:nvSpPr>
          <p:cNvPr id="20" name="Text 18"/>
          <p:cNvSpPr txBox="1"/>
          <p:nvPr/>
        </p:nvSpPr>
        <p:spPr>
          <a:xfrm>
            <a:off x="8522208" y="4159113"/>
            <a:ext cx="2962656" cy="94253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Door rate and repair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Posted rate from a market labor study, and how repair jobs are priced against it</a:t>
            </a:r>
            <a:endParaRPr lang="en-US" sz="1400" dirty="0"/>
          </a:p>
        </p:txBody>
      </p:sp>
      <p:sp>
        <p:nvSpPr>
          <p:cNvPr id="21" name="Shape 19"/>
          <p:cNvSpPr/>
          <p:nvPr/>
        </p:nvSpPr>
        <p:spPr>
          <a:xfrm>
            <a:off x="5138928" y="5211377"/>
            <a:ext cx="45720" cy="942535"/>
          </a:xfrm>
          <a:prstGeom prst="rect">
            <a:avLst/>
          </a:prstGeom>
          <a:solidFill>
            <a:srgbClr val="2587C5"/>
          </a:solidFill>
          <a:ln/>
        </p:spPr>
      </p:sp>
      <p:sp>
        <p:nvSpPr>
          <p:cNvPr id="22" name="Text 20"/>
          <p:cNvSpPr txBox="1"/>
          <p:nvPr/>
        </p:nvSpPr>
        <p:spPr>
          <a:xfrm>
            <a:off x="5266944" y="5211377"/>
            <a:ext cx="2962656" cy="94253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discount lowers ELR. Run them through ADC so we can see them.</a:t>
            </a:r>
            <a:endParaRPr lang="en-US" sz="1400" dirty="0"/>
          </a:p>
        </p:txBody>
      </p:sp>
      <p:sp>
        <p:nvSpPr>
          <p:cNvPr id="23" name="Shape 21"/>
          <p:cNvSpPr/>
          <p:nvPr/>
        </p:nvSpPr>
        <p:spPr>
          <a:xfrm>
            <a:off x="8394192" y="5211377"/>
            <a:ext cx="45720" cy="942535"/>
          </a:xfrm>
          <a:prstGeom prst="rect">
            <a:avLst/>
          </a:prstGeom>
          <a:solidFill>
            <a:srgbClr val="2587C5"/>
          </a:solidFill>
          <a:ln/>
        </p:spPr>
      </p:sp>
      <p:sp>
        <p:nvSpPr>
          <p:cNvPr id="24" name="Text 22"/>
          <p:cNvSpPr txBox="1"/>
          <p:nvPr/>
        </p:nvSpPr>
        <p:spPr>
          <a:xfrm>
            <a:off x="8522208" y="5211377"/>
            <a:ext cx="2962656" cy="94253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Maintenance labor times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The hours we set and pay the tech on menu jobs; repair times come from labor guides</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CP labor $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ELR</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Customer-pay labor sale divided by CP RO count. It combines how much we sell with what we collect for it.</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OUR NUMBERS</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1.87 hours per RO  </a:t>
            </a:r>
            <a:pPr algn="ctr" indent="0" marL="0">
              <a:buNone/>
            </a:pPr>
            <a:r>
              <a:rPr lang="en-US" sz="1400" b="1" dirty="0">
                <a:solidFill>
                  <a:srgbClr val="0B2C4A"/>
                </a:solidFill>
                <a:latin typeface="Inter" pitchFamily="34" charset="0"/>
                <a:ea typeface="Inter" pitchFamily="34" charset="-122"/>
                <a:cs typeface="Inter" pitchFamily="34" charset="-120"/>
              </a:rPr>
              <a:t>× $162.42</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CP labor per RO  </a:t>
            </a:r>
            <a:pPr algn="ctr" indent="0" marL="0">
              <a:buNone/>
            </a:pPr>
            <a:r>
              <a:rPr lang="en-US" sz="1400" b="1" dirty="0">
                <a:solidFill>
                  <a:srgbClr val="0B2C4A"/>
                </a:solidFill>
                <a:latin typeface="Inter" pitchFamily="34" charset="0"/>
                <a:ea typeface="Inter" pitchFamily="34" charset="-122"/>
                <a:cs typeface="Inter" pitchFamily="34" charset="-120"/>
              </a:rPr>
              <a:t>$304</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Focus on CP labor dollars per RO and every other metric rises with it.</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With additional labor sales come additional parts sales.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single best metric to measure a service advisor's performance.</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Written process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Follow it on every car: a multi-point inspection every time</a:t>
            </a:r>
            <a:endParaRPr lang="en-US" sz="1400" dirty="0"/>
          </a:p>
        </p:txBody>
      </p:sp>
      <p:sp>
        <p:nvSpPr>
          <p:cNvPr id="20" name="Shape 18"/>
          <p:cNvSpPr/>
          <p:nvPr/>
        </p:nvSpPr>
        <p:spPr>
          <a:xfrm>
            <a:off x="8394192" y="3410712"/>
            <a:ext cx="45720" cy="1133856"/>
          </a:xfrm>
          <a:prstGeom prst="rect">
            <a:avLst/>
          </a:prstGeom>
          <a:solidFill>
            <a:srgbClr val="2587C5"/>
          </a:solidFill>
          <a:ln/>
        </p:spPr>
      </p:sp>
      <p:sp>
        <p:nvSpPr>
          <p:cNvPr id="21" name="Text 19"/>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menu</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Present the menu and its recommendations, consistently, every customer</a:t>
            </a:r>
            <a:endParaRPr lang="en-US" sz="1400" dirty="0"/>
          </a:p>
        </p:txBody>
      </p:sp>
      <p:sp>
        <p:nvSpPr>
          <p:cNvPr id="22" name="Shape 20"/>
          <p:cNvSpPr/>
          <p:nvPr/>
        </p:nvSpPr>
        <p:spPr>
          <a:xfrm>
            <a:off x="5138928" y="4654296"/>
            <a:ext cx="45720" cy="1133856"/>
          </a:xfrm>
          <a:prstGeom prst="rect">
            <a:avLst/>
          </a:prstGeom>
          <a:solidFill>
            <a:srgbClr val="2587C5"/>
          </a:solidFill>
          <a:ln/>
        </p:spPr>
      </p:sp>
      <p:sp>
        <p:nvSpPr>
          <p:cNvPr id="23" name="Text 21"/>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Pay plans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Reward advisors for CP labor sales and gross: what they control, and a true measure of their performance</a:t>
            </a:r>
            <a:endParaRPr lang="en-US" sz="1400" dirty="0"/>
          </a:p>
        </p:txBody>
      </p:sp>
      <p:sp>
        <p:nvSpPr>
          <p:cNvPr id="24" name="Shape 22"/>
          <p:cNvSpPr/>
          <p:nvPr/>
        </p:nvSpPr>
        <p:spPr>
          <a:xfrm>
            <a:off x="8394192" y="4654296"/>
            <a:ext cx="45720" cy="1133856"/>
          </a:xfrm>
          <a:prstGeom prst="rect">
            <a:avLst/>
          </a:prstGeom>
          <a:solidFill>
            <a:srgbClr val="2587C5"/>
          </a:solidFill>
          <a:ln/>
        </p:spPr>
      </p:sp>
      <p:sp>
        <p:nvSpPr>
          <p:cNvPr id="25" name="Text 23"/>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Tracking and accountability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What gets tracked gets improved: accountability through visibility</a:t>
            </a:r>
            <a:endParaRPr lang="en-US" sz="1400" dirty="0"/>
          </a:p>
        </p:txBody>
      </p:sp>
      <p:sp>
        <p:nvSpPr>
          <p:cNvPr id="26" name="Shape 24"/>
          <p:cNvSpPr/>
          <p:nvPr/>
        </p:nvSpPr>
        <p:spPr>
          <a:xfrm>
            <a:off x="457200" y="6126480"/>
            <a:ext cx="11274552" cy="341376"/>
          </a:xfrm>
          <a:prstGeom prst="rect">
            <a:avLst/>
          </a:prstGeom>
          <a:solidFill>
            <a:srgbClr val="E6F6EE"/>
          </a:solidFill>
          <a:ln/>
        </p:spPr>
      </p:sp>
      <p:sp>
        <p:nvSpPr>
          <p:cNvPr id="27" name="Text 2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Group: $304 CP labor per RO, up $17. With ROs flat, the $4,899,376 labor gain came from selling more per visit.</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CP parts $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 count</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Customer-pay parts sold through the service drive, per visit.</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Parts follow labor: sell the hour and the parts come with it.</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adds parts gross on the same car count.</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Luxury stores run more than twice the rest, so compare a store with its own segment.</a:t>
            </a:r>
            <a:endParaRPr lang="en-US" sz="1600" dirty="0"/>
          </a:p>
        </p:txBody>
      </p:sp>
      <p:sp>
        <p:nvSpPr>
          <p:cNvPr id="13" name="Shape 11"/>
          <p:cNvSpPr/>
          <p:nvPr/>
        </p:nvSpPr>
        <p:spPr>
          <a:xfrm>
            <a:off x="5138928" y="2843784"/>
            <a:ext cx="45720" cy="1417320"/>
          </a:xfrm>
          <a:prstGeom prst="rect">
            <a:avLst/>
          </a:prstGeom>
          <a:solidFill>
            <a:srgbClr val="2587C5"/>
          </a:solidFill>
          <a:ln/>
        </p:spPr>
      </p:sp>
      <p:sp>
        <p:nvSpPr>
          <p:cNvPr id="14" name="Text 12"/>
          <p:cNvSpPr txBox="1"/>
          <p:nvPr/>
        </p:nvSpPr>
        <p:spPr>
          <a:xfrm>
            <a:off x="5266944"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Hours per RO</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More repair and maintenance hours carry more parts</a:t>
            </a:r>
            <a:endParaRPr lang="en-US" sz="1400" dirty="0"/>
          </a:p>
        </p:txBody>
      </p:sp>
      <p:sp>
        <p:nvSpPr>
          <p:cNvPr id="15" name="Shape 13"/>
          <p:cNvSpPr/>
          <p:nvPr/>
        </p:nvSpPr>
        <p:spPr>
          <a:xfrm>
            <a:off x="8394192" y="2843784"/>
            <a:ext cx="45720" cy="1417320"/>
          </a:xfrm>
          <a:prstGeom prst="rect">
            <a:avLst/>
          </a:prstGeom>
          <a:solidFill>
            <a:srgbClr val="2587C5"/>
          </a:solidFill>
          <a:ln/>
        </p:spPr>
      </p:sp>
      <p:sp>
        <p:nvSpPr>
          <p:cNvPr id="16" name="Text 14"/>
          <p:cNvSpPr txBox="1"/>
          <p:nvPr/>
        </p:nvSpPr>
        <p:spPr>
          <a:xfrm>
            <a:off x="8522208"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bundles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Group-priced maintenance parts for dealer and customer</a:t>
            </a:r>
            <a:endParaRPr lang="en-US" sz="1400" dirty="0"/>
          </a:p>
        </p:txBody>
      </p:sp>
      <p:sp>
        <p:nvSpPr>
          <p:cNvPr id="17" name="Shape 15"/>
          <p:cNvSpPr/>
          <p:nvPr/>
        </p:nvSpPr>
        <p:spPr>
          <a:xfrm>
            <a:off x="5138928" y="4370832"/>
            <a:ext cx="45720" cy="1417320"/>
          </a:xfrm>
          <a:prstGeom prst="rect">
            <a:avLst/>
          </a:prstGeom>
          <a:solidFill>
            <a:srgbClr val="2587C5"/>
          </a:solidFill>
          <a:ln/>
        </p:spPr>
      </p:sp>
      <p:sp>
        <p:nvSpPr>
          <p:cNvPr id="18" name="Text 16"/>
          <p:cNvSpPr txBox="1"/>
          <p:nvPr/>
        </p:nvSpPr>
        <p:spPr>
          <a:xfrm>
            <a:off x="5266944"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pricing matrix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What we charge relative to cost</a:t>
            </a:r>
            <a:endParaRPr lang="en-US" sz="1400" dirty="0"/>
          </a:p>
        </p:txBody>
      </p:sp>
      <p:sp>
        <p:nvSpPr>
          <p:cNvPr id="19" name="Shape 17"/>
          <p:cNvSpPr/>
          <p:nvPr/>
        </p:nvSpPr>
        <p:spPr>
          <a:xfrm>
            <a:off x="8394192" y="4370832"/>
            <a:ext cx="45720" cy="1417320"/>
          </a:xfrm>
          <a:prstGeom prst="rect">
            <a:avLst/>
          </a:prstGeom>
          <a:solidFill>
            <a:srgbClr val="2587C5"/>
          </a:solidFill>
          <a:ln/>
        </p:spPr>
      </p:sp>
      <p:sp>
        <p:nvSpPr>
          <p:cNvPr id="20" name="Text 18"/>
          <p:cNvSpPr txBox="1"/>
          <p:nvPr/>
        </p:nvSpPr>
        <p:spPr>
          <a:xfrm>
            <a:off x="8522208"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Staging and special orders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Parts ready at the bay; special orders followed up</a:t>
            </a:r>
            <a:endParaRPr lang="en-US" sz="1400" dirty="0"/>
          </a:p>
        </p:txBody>
      </p:sp>
      <p:sp>
        <p:nvSpPr>
          <p:cNvPr id="21" name="Shape 19"/>
          <p:cNvSpPr/>
          <p:nvPr/>
        </p:nvSpPr>
        <p:spPr>
          <a:xfrm>
            <a:off x="457200" y="6126480"/>
            <a:ext cx="11274552" cy="371856"/>
          </a:xfrm>
          <a:prstGeom prst="rect">
            <a:avLst/>
          </a:prstGeom>
          <a:solidFill>
            <a:srgbClr val="E6F6EE"/>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$238 CP parts per RO, up $9 and ahead of 2025 in all nine months.</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Labor Gross Profit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Labor GP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tech cost)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share of each labor dollar we keep after paying the technician.</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ONE HOUR SOLD</a:t>
            </a:r>
            <a:endParaRPr lang="en-US" sz="1400" dirty="0"/>
          </a:p>
        </p:txBody>
      </p:sp>
      <p:sp>
        <p:nvSpPr>
          <p:cNvPr id="9" name="Shape 7"/>
          <p:cNvSpPr/>
          <p:nvPr/>
        </p:nvSpPr>
        <p:spPr>
          <a:xfrm>
            <a:off x="2286000" y="2340864"/>
            <a:ext cx="227914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Sell 1 hour at  </a:t>
            </a:r>
            <a:pPr algn="ctr" indent="0" marL="0">
              <a:buNone/>
            </a:pPr>
            <a:r>
              <a:rPr lang="en-US" sz="1400" b="1" dirty="0">
                <a:solidFill>
                  <a:srgbClr val="0B2C4A"/>
                </a:solidFill>
                <a:latin typeface="Inter" pitchFamily="34" charset="0"/>
                <a:ea typeface="Inter" pitchFamily="34" charset="-122"/>
                <a:cs typeface="Inter" pitchFamily="34" charset="-120"/>
              </a:rPr>
              <a:t>$162</a:t>
            </a:r>
            <a:endParaRPr lang="en-US" sz="1400" dirty="0"/>
          </a:p>
        </p:txBody>
      </p:sp>
      <p:sp>
        <p:nvSpPr>
          <p:cNvPr id="11" name="Shape 9"/>
          <p:cNvSpPr/>
          <p:nvPr/>
        </p:nvSpPr>
        <p:spPr>
          <a:xfrm>
            <a:off x="4674870" y="2340864"/>
            <a:ext cx="2279142" cy="457200"/>
          </a:xfrm>
          <a:prstGeom prst="rect">
            <a:avLst/>
          </a:prstGeom>
          <a:solidFill>
            <a:srgbClr val="FFFFFF"/>
          </a:solidFill>
          <a:ln w="9525">
            <a:solidFill>
              <a:srgbClr val="D9D9D9"/>
            </a:solidFill>
            <a:prstDash val="solid"/>
          </a:ln>
        </p:spPr>
      </p:sp>
      <p:sp>
        <p:nvSpPr>
          <p:cNvPr id="12" name="Text 10"/>
          <p:cNvSpPr txBox="1"/>
          <p:nvPr/>
        </p:nvSpPr>
        <p:spPr>
          <a:xfrm>
            <a:off x="474802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Pay the tech  </a:t>
            </a:r>
            <a:pPr algn="ctr" indent="0" marL="0">
              <a:buNone/>
            </a:pPr>
            <a:r>
              <a:rPr lang="en-US" sz="1400" b="1" dirty="0">
                <a:solidFill>
                  <a:srgbClr val="0B2C4A"/>
                </a:solidFill>
                <a:latin typeface="Inter" pitchFamily="34" charset="0"/>
                <a:ea typeface="Inter" pitchFamily="34" charset="-122"/>
                <a:cs typeface="Inter" pitchFamily="34" charset="-120"/>
              </a:rPr>
              <a:t>$31</a:t>
            </a:r>
            <a:endParaRPr lang="en-US" sz="1400" dirty="0"/>
          </a:p>
        </p:txBody>
      </p:sp>
      <p:sp>
        <p:nvSpPr>
          <p:cNvPr id="13" name="Shape 11"/>
          <p:cNvSpPr/>
          <p:nvPr/>
        </p:nvSpPr>
        <p:spPr>
          <a:xfrm>
            <a:off x="7063740" y="2340864"/>
            <a:ext cx="2279142" cy="457200"/>
          </a:xfrm>
          <a:prstGeom prst="rect">
            <a:avLst/>
          </a:prstGeom>
          <a:solidFill>
            <a:srgbClr val="FFFFFF"/>
          </a:solidFill>
          <a:ln w="9525">
            <a:solidFill>
              <a:srgbClr val="D9D9D9"/>
            </a:solidFill>
            <a:prstDash val="solid"/>
          </a:ln>
        </p:spPr>
      </p:sp>
      <p:sp>
        <p:nvSpPr>
          <p:cNvPr id="14" name="Text 12"/>
          <p:cNvSpPr txBox="1"/>
          <p:nvPr/>
        </p:nvSpPr>
        <p:spPr>
          <a:xfrm>
            <a:off x="713689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We keep  </a:t>
            </a:r>
            <a:pPr algn="ctr" indent="0" marL="0">
              <a:buNone/>
            </a:pPr>
            <a:r>
              <a:rPr lang="en-US" sz="1400" b="1" dirty="0">
                <a:solidFill>
                  <a:srgbClr val="0B2C4A"/>
                </a:solidFill>
                <a:latin typeface="Inter" pitchFamily="34" charset="0"/>
                <a:ea typeface="Inter" pitchFamily="34" charset="-122"/>
                <a:cs typeface="Inter" pitchFamily="34" charset="-120"/>
              </a:rPr>
              <a:t>$131</a:t>
            </a:r>
            <a:endParaRPr lang="en-US" sz="1400" dirty="0"/>
          </a:p>
        </p:txBody>
      </p:sp>
      <p:sp>
        <p:nvSpPr>
          <p:cNvPr id="15" name="Shape 13"/>
          <p:cNvSpPr/>
          <p:nvPr/>
        </p:nvSpPr>
        <p:spPr>
          <a:xfrm>
            <a:off x="9452610" y="2340864"/>
            <a:ext cx="2279142" cy="457200"/>
          </a:xfrm>
          <a:prstGeom prst="rect">
            <a:avLst/>
          </a:prstGeom>
          <a:solidFill>
            <a:srgbClr val="FFFFFF"/>
          </a:solidFill>
          <a:ln w="9525">
            <a:solidFill>
              <a:srgbClr val="D9D9D9"/>
            </a:solidFill>
            <a:prstDash val="solid"/>
          </a:ln>
        </p:spPr>
      </p:sp>
      <p:sp>
        <p:nvSpPr>
          <p:cNvPr id="16" name="Text 14"/>
          <p:cNvSpPr txBox="1"/>
          <p:nvPr/>
        </p:nvSpPr>
        <p:spPr>
          <a:xfrm>
            <a:off x="952576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$131 ÷ $162  </a:t>
            </a:r>
            <a:pPr algn="ctr" indent="0" marL="0">
              <a:buNone/>
            </a:pPr>
            <a:r>
              <a:rPr lang="en-US" sz="1400" b="1" dirty="0">
                <a:solidFill>
                  <a:srgbClr val="0B2C4A"/>
                </a:solidFill>
                <a:latin typeface="Inter" pitchFamily="34" charset="0"/>
                <a:ea typeface="Inter" pitchFamily="34" charset="-122"/>
                <a:cs typeface="Inter" pitchFamily="34" charset="-120"/>
              </a:rPr>
              <a:t>81%</a:t>
            </a:r>
            <a:endParaRPr lang="en-US" sz="1400" dirty="0"/>
          </a:p>
        </p:txBody>
      </p:sp>
      <p:sp>
        <p:nvSpPr>
          <p:cNvPr id="17" name="Shape 15"/>
          <p:cNvSpPr/>
          <p:nvPr/>
        </p:nvSpPr>
        <p:spPr>
          <a:xfrm>
            <a:off x="457200" y="2907792"/>
            <a:ext cx="4343400" cy="3081528"/>
          </a:xfrm>
          <a:prstGeom prst="rect">
            <a:avLst/>
          </a:prstGeom>
          <a:solidFill>
            <a:srgbClr val="FFFFFF"/>
          </a:solidFill>
          <a:ln/>
        </p:spPr>
      </p:sp>
      <p:sp>
        <p:nvSpPr>
          <p:cNvPr id="18" name="Shape 16"/>
          <p:cNvSpPr/>
          <p:nvPr/>
        </p:nvSpPr>
        <p:spPr>
          <a:xfrm>
            <a:off x="4937760" y="2907792"/>
            <a:ext cx="6793992" cy="3081528"/>
          </a:xfrm>
          <a:prstGeom prst="rect">
            <a:avLst/>
          </a:prstGeom>
          <a:solidFill>
            <a:srgbClr val="FFFFFF"/>
          </a:solidFill>
          <a:ln/>
        </p:spPr>
      </p:sp>
      <p:sp>
        <p:nvSpPr>
          <p:cNvPr id="19" name="Text 17"/>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20" name="Text 18"/>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21" name="Text 19"/>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 target range is 78% to 80%: not too high, not too low. Hold it by matching the tech to the work, not by squeezing tech pay.</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Too low means our labor price is too low for what we pay the tech, or tech cost is too high for what we charge.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Too high can mean techs are underpaid, which can cost us technicians and hurt retention.</a:t>
            </a:r>
            <a:endParaRPr lang="en-US" sz="1500" dirty="0"/>
          </a:p>
        </p:txBody>
      </p:sp>
      <p:sp>
        <p:nvSpPr>
          <p:cNvPr id="22" name="Shape 20"/>
          <p:cNvSpPr/>
          <p:nvPr/>
        </p:nvSpPr>
        <p:spPr>
          <a:xfrm>
            <a:off x="5138928" y="3410712"/>
            <a:ext cx="45720" cy="1133856"/>
          </a:xfrm>
          <a:prstGeom prst="rect">
            <a:avLst/>
          </a:prstGeom>
          <a:solidFill>
            <a:srgbClr val="2587C5"/>
          </a:solidFill>
          <a:ln/>
        </p:spPr>
      </p:sp>
      <p:sp>
        <p:nvSpPr>
          <p:cNvPr id="23" name="Text 21"/>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Effective labor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Same tech cost, higher ELR = higher margin</a:t>
            </a:r>
            <a:endParaRPr lang="en-US" sz="1400" dirty="0"/>
          </a:p>
        </p:txBody>
      </p:sp>
      <p:sp>
        <p:nvSpPr>
          <p:cNvPr id="24" name="Shape 22"/>
          <p:cNvSpPr/>
          <p:nvPr/>
        </p:nvSpPr>
        <p:spPr>
          <a:xfrm>
            <a:off x="7309104" y="3410712"/>
            <a:ext cx="45720" cy="1133856"/>
          </a:xfrm>
          <a:prstGeom prst="rect">
            <a:avLst/>
          </a:prstGeom>
          <a:solidFill>
            <a:srgbClr val="2587C5"/>
          </a:solidFill>
          <a:ln/>
        </p:spPr>
      </p:sp>
      <p:sp>
        <p:nvSpPr>
          <p:cNvPr id="25" name="Text 23"/>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Tech pay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Flat-rate pay per hour against the rate we sell</a:t>
            </a:r>
            <a:endParaRPr lang="en-US" sz="1400" dirty="0"/>
          </a:p>
        </p:txBody>
      </p:sp>
      <p:sp>
        <p:nvSpPr>
          <p:cNvPr id="26" name="Shape 24"/>
          <p:cNvSpPr/>
          <p:nvPr/>
        </p:nvSpPr>
        <p:spPr>
          <a:xfrm>
            <a:off x="9479280" y="3410712"/>
            <a:ext cx="45720" cy="1133856"/>
          </a:xfrm>
          <a:prstGeom prst="rect">
            <a:avLst/>
          </a:prstGeom>
          <a:solidFill>
            <a:srgbClr val="2587C5"/>
          </a:solidFill>
          <a:ln/>
        </p:spPr>
      </p:sp>
      <p:sp>
        <p:nvSpPr>
          <p:cNvPr id="27" name="Text 25"/>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Right tech, right work</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Skill-code costing: don't pay a master-tech rate on an oil change</a:t>
            </a:r>
            <a:endParaRPr lang="en-US" sz="1400" dirty="0"/>
          </a:p>
        </p:txBody>
      </p:sp>
      <p:sp>
        <p:nvSpPr>
          <p:cNvPr id="28" name="Shape 26"/>
          <p:cNvSpPr/>
          <p:nvPr/>
        </p:nvSpPr>
        <p:spPr>
          <a:xfrm>
            <a:off x="5138928" y="4654296"/>
            <a:ext cx="45720" cy="1133856"/>
          </a:xfrm>
          <a:prstGeom prst="rect">
            <a:avLst/>
          </a:prstGeom>
          <a:solidFill>
            <a:srgbClr val="2587C5"/>
          </a:solidFill>
          <a:ln/>
        </p:spPr>
      </p:sp>
      <p:sp>
        <p:nvSpPr>
          <p:cNvPr id="29" name="Text 27"/>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Type of work</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Maintenance runs a lower margin than repair at full door rate</a:t>
            </a:r>
            <a:endParaRPr lang="en-US" sz="1400" dirty="0"/>
          </a:p>
        </p:txBody>
      </p:sp>
      <p:sp>
        <p:nvSpPr>
          <p:cNvPr id="30" name="Shape 28"/>
          <p:cNvSpPr/>
          <p:nvPr/>
        </p:nvSpPr>
        <p:spPr>
          <a:xfrm>
            <a:off x="7309104" y="4654296"/>
            <a:ext cx="45720" cy="1133856"/>
          </a:xfrm>
          <a:prstGeom prst="rect">
            <a:avLst/>
          </a:prstGeom>
          <a:solidFill>
            <a:srgbClr val="2587C5"/>
          </a:solidFill>
          <a:ln/>
        </p:spPr>
      </p:sp>
      <p:sp>
        <p:nvSpPr>
          <p:cNvPr id="31" name="Text 29"/>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Low-rate work</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Internal detail and other low-dollar-per-hour work pull the margin down</a:t>
            </a:r>
            <a:endParaRPr lang="en-US" sz="1400" dirty="0"/>
          </a:p>
        </p:txBody>
      </p:sp>
      <p:sp>
        <p:nvSpPr>
          <p:cNvPr id="32" name="Shape 30"/>
          <p:cNvSpPr/>
          <p:nvPr/>
        </p:nvSpPr>
        <p:spPr>
          <a:xfrm>
            <a:off x="9479280" y="4654296"/>
            <a:ext cx="45720" cy="1133856"/>
          </a:xfrm>
          <a:prstGeom prst="rect">
            <a:avLst/>
          </a:prstGeom>
          <a:solidFill>
            <a:srgbClr val="2587C5"/>
          </a:solidFill>
          <a:ln/>
        </p:spPr>
      </p:sp>
      <p:sp>
        <p:nvSpPr>
          <p:cNvPr id="33" name="Text 31"/>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Monitor it and keep controls in place</a:t>
            </a:r>
            <a:endParaRPr lang="en-US" sz="1400" dirty="0"/>
          </a:p>
        </p:txBody>
      </p:sp>
      <p:sp>
        <p:nvSpPr>
          <p:cNvPr id="34" name="Shape 32"/>
          <p:cNvSpPr/>
          <p:nvPr/>
        </p:nvSpPr>
        <p:spPr>
          <a:xfrm>
            <a:off x="457200" y="6126480"/>
            <a:ext cx="11274552" cy="371856"/>
          </a:xfrm>
          <a:prstGeom prst="rect">
            <a:avLst/>
          </a:prstGeom>
          <a:solidFill>
            <a:srgbClr val="EDF4FA"/>
          </a:solidFill>
          <a:ln/>
        </p:spPr>
      </p:sp>
      <p:sp>
        <p:nvSpPr>
          <p:cNvPr id="35" name="Text 3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80.8% CP labor gross profit, down 0.1 pts and just above the 78-80% target range.</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Gross Profit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Parts GP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parts cost)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share of each customer-pay parts dollar we keep, less the cost of the part.</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Parts keeps about 37¢ of every gross dollar after its own expenses, the most of any department (service 22¢): margin goes almost straight to the bottom line.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shows whether parts sell at the right price: matrix, markups and discounts.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flags heavy discounting, or cost increases we have not passed on.</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CP parts pricing supports the warranty parts reimbursement rate.</a:t>
            </a:r>
            <a:endParaRPr lang="en-US" sz="1500" dirty="0"/>
          </a:p>
        </p:txBody>
      </p:sp>
      <p:sp>
        <p:nvSpPr>
          <p:cNvPr id="13" name="Shape 11"/>
          <p:cNvSpPr/>
          <p:nvPr/>
        </p:nvSpPr>
        <p:spPr>
          <a:xfrm>
            <a:off x="5138928" y="2843784"/>
            <a:ext cx="45720" cy="1121027"/>
          </a:xfrm>
          <a:prstGeom prst="rect">
            <a:avLst/>
          </a:prstGeom>
          <a:solidFill>
            <a:srgbClr val="2587C5"/>
          </a:solidFill>
          <a:ln/>
        </p:spPr>
      </p:sp>
      <p:sp>
        <p:nvSpPr>
          <p:cNvPr id="14" name="Text 12"/>
          <p:cNvSpPr txBox="1"/>
          <p:nvPr/>
        </p:nvSpPr>
        <p:spPr>
          <a:xfrm>
            <a:off x="5266944" y="2843784"/>
            <a:ext cx="2962656" cy="112102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pricing matrix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Know how it is set up, make sure pricing follows the matrix setup, and review it against your gross goals</a:t>
            </a:r>
            <a:endParaRPr lang="en-US" sz="1400" dirty="0"/>
          </a:p>
        </p:txBody>
      </p:sp>
      <p:sp>
        <p:nvSpPr>
          <p:cNvPr id="15" name="Shape 13"/>
          <p:cNvSpPr/>
          <p:nvPr/>
        </p:nvSpPr>
        <p:spPr>
          <a:xfrm>
            <a:off x="8394192" y="2843784"/>
            <a:ext cx="45720" cy="1121027"/>
          </a:xfrm>
          <a:prstGeom prst="rect">
            <a:avLst/>
          </a:prstGeom>
          <a:solidFill>
            <a:srgbClr val="2587C5"/>
          </a:solidFill>
          <a:ln/>
        </p:spPr>
      </p:sp>
      <p:sp>
        <p:nvSpPr>
          <p:cNvPr id="16" name="Text 14"/>
          <p:cNvSpPr txBox="1"/>
          <p:nvPr/>
        </p:nvSpPr>
        <p:spPr>
          <a:xfrm>
            <a:off x="8522208" y="2843784"/>
            <a:ext cx="2962656" cy="112102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Discounts and overrides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Monitor discounts and manual price changes; keep safeguards in place</a:t>
            </a:r>
            <a:endParaRPr lang="en-US" sz="1400" dirty="0"/>
          </a:p>
        </p:txBody>
      </p:sp>
      <p:sp>
        <p:nvSpPr>
          <p:cNvPr id="17" name="Shape 15"/>
          <p:cNvSpPr/>
          <p:nvPr/>
        </p:nvSpPr>
        <p:spPr>
          <a:xfrm>
            <a:off x="5138928" y="4074539"/>
            <a:ext cx="45720" cy="801942"/>
          </a:xfrm>
          <a:prstGeom prst="rect">
            <a:avLst/>
          </a:prstGeom>
          <a:solidFill>
            <a:srgbClr val="2587C5"/>
          </a:solidFill>
          <a:ln/>
        </p:spPr>
      </p:sp>
      <p:sp>
        <p:nvSpPr>
          <p:cNvPr id="18" name="Text 16"/>
          <p:cNvSpPr txBox="1"/>
          <p:nvPr/>
        </p:nvSpPr>
        <p:spPr>
          <a:xfrm>
            <a:off x="5266944" y="4074539"/>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Stay competitive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Balance margin with price, especially on high-cost parts</a:t>
            </a:r>
            <a:endParaRPr lang="en-US" sz="1400" dirty="0"/>
          </a:p>
        </p:txBody>
      </p:sp>
      <p:sp>
        <p:nvSpPr>
          <p:cNvPr id="19" name="Shape 17"/>
          <p:cNvSpPr/>
          <p:nvPr/>
        </p:nvSpPr>
        <p:spPr>
          <a:xfrm>
            <a:off x="8394192" y="4074539"/>
            <a:ext cx="45720" cy="801942"/>
          </a:xfrm>
          <a:prstGeom prst="rect">
            <a:avLst/>
          </a:prstGeom>
          <a:solidFill>
            <a:srgbClr val="2587C5"/>
          </a:solidFill>
          <a:ln/>
        </p:spPr>
      </p:sp>
      <p:sp>
        <p:nvSpPr>
          <p:cNvPr id="20" name="Text 18"/>
          <p:cNvSpPr txBox="1"/>
          <p:nvPr/>
        </p:nvSpPr>
        <p:spPr>
          <a:xfrm>
            <a:off x="8522208" y="4074539"/>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Tires and competitive items carry thinner margins</a:t>
            </a:r>
            <a:endParaRPr lang="en-US" sz="1400" dirty="0"/>
          </a:p>
        </p:txBody>
      </p:sp>
      <p:sp>
        <p:nvSpPr>
          <p:cNvPr id="21" name="Shape 19"/>
          <p:cNvSpPr/>
          <p:nvPr/>
        </p:nvSpPr>
        <p:spPr>
          <a:xfrm>
            <a:off x="5138928" y="4986210"/>
            <a:ext cx="45720" cy="801942"/>
          </a:xfrm>
          <a:prstGeom prst="rect">
            <a:avLst/>
          </a:prstGeom>
          <a:solidFill>
            <a:srgbClr val="2587C5"/>
          </a:solidFill>
          <a:ln/>
        </p:spPr>
      </p:sp>
      <p:sp>
        <p:nvSpPr>
          <p:cNvPr id="22" name="Text 20"/>
          <p:cNvSpPr txBox="1"/>
          <p:nvPr/>
        </p:nvSpPr>
        <p:spPr>
          <a:xfrm>
            <a:off x="5266944" y="4986210"/>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Bundled maintenance parts priced to protect margin</a:t>
            </a:r>
            <a:endParaRPr lang="en-US" sz="1400" dirty="0"/>
          </a:p>
        </p:txBody>
      </p:sp>
      <p:sp>
        <p:nvSpPr>
          <p:cNvPr id="23" name="Shape 21"/>
          <p:cNvSpPr/>
          <p:nvPr/>
        </p:nvSpPr>
        <p:spPr>
          <a:xfrm>
            <a:off x="8394192" y="4986210"/>
            <a:ext cx="45720" cy="801942"/>
          </a:xfrm>
          <a:prstGeom prst="rect">
            <a:avLst/>
          </a:prstGeom>
          <a:solidFill>
            <a:srgbClr val="2587C5"/>
          </a:solidFill>
          <a:ln/>
        </p:spPr>
      </p:sp>
      <p:sp>
        <p:nvSpPr>
          <p:cNvPr id="24" name="Text 22"/>
          <p:cNvSpPr txBox="1"/>
          <p:nvPr/>
        </p:nvSpPr>
        <p:spPr>
          <a:xfrm>
            <a:off x="8522208" y="4986210"/>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Tracking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Monitor and actively manage your parts GP %: know where you stand and adjust as needed</a:t>
            </a:r>
            <a:endParaRPr lang="en-US" sz="1400" dirty="0"/>
          </a:p>
        </p:txBody>
      </p:sp>
      <p:sp>
        <p:nvSpPr>
          <p:cNvPr id="25" name="Shape 23"/>
          <p:cNvSpPr/>
          <p:nvPr/>
        </p:nvSpPr>
        <p:spPr>
          <a:xfrm>
            <a:off x="457200" y="6126480"/>
            <a:ext cx="11274552" cy="371856"/>
          </a:xfrm>
          <a:prstGeom prst="rect">
            <a:avLst/>
          </a:prstGeom>
          <a:solidFill>
            <a:srgbClr val="E6F6EE"/>
          </a:solidFill>
          <a:ln/>
        </p:spPr>
      </p:sp>
      <p:sp>
        <p:nvSpPr>
          <p:cNvPr id="26" name="Text 24"/>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40.7% CP parts gross profit, up 1.2 pts and ahead of 2025 in all nine months.</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Absorption</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Fixed ops absorption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fixed ops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total store fixed expenses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How much of the whole store's fixed expenses, not just service and parts expenses, the service and parts gross pays for.</a:t>
            </a:r>
            <a:endParaRPr lang="en-US" sz="14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READING IT</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At 100%  </a:t>
            </a:r>
            <a:pPr algn="ctr" indent="0" marL="0">
              <a:buNone/>
            </a:pPr>
            <a:r>
              <a:rPr lang="en-US" sz="1400" b="1" dirty="0">
                <a:solidFill>
                  <a:srgbClr val="0B2C4A"/>
                </a:solidFill>
                <a:latin typeface="Inter" pitchFamily="34" charset="0"/>
                <a:ea typeface="Inter" pitchFamily="34" charset="-122"/>
                <a:cs typeface="Inter" pitchFamily="34" charset="-120"/>
              </a:rPr>
              <a:t>fixed ops covers every fixed expense</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Group today  </a:t>
            </a:r>
            <a:pPr algn="ctr" indent="0" marL="0">
              <a:buNone/>
            </a:pPr>
            <a:r>
              <a:rPr lang="en-US" sz="1400" b="1" dirty="0">
                <a:solidFill>
                  <a:srgbClr val="0B2C4A"/>
                </a:solidFill>
                <a:latin typeface="Inter" pitchFamily="34" charset="0"/>
                <a:ea typeface="Inter" pitchFamily="34" charset="-122"/>
                <a:cs typeface="Inter" pitchFamily="34" charset="-120"/>
              </a:rPr>
              <a:t>78.1%</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At 100%, the store covers its fixed costs before it sells a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protects the store when car sales slow.</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clearest measure of fixed ops' value to the dealership.</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Fixed ops 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Everything on the customer-pay slides: ROs, hours, ELR, margin</a:t>
            </a:r>
            <a:endParaRPr lang="en-US" sz="1400" dirty="0"/>
          </a:p>
        </p:txBody>
      </p:sp>
      <p:sp>
        <p:nvSpPr>
          <p:cNvPr id="20" name="Shape 18"/>
          <p:cNvSpPr/>
          <p:nvPr/>
        </p:nvSpPr>
        <p:spPr>
          <a:xfrm>
            <a:off x="8394192" y="3410712"/>
            <a:ext cx="45720" cy="1133856"/>
          </a:xfrm>
          <a:prstGeom prst="rect">
            <a:avLst/>
          </a:prstGeom>
          <a:solidFill>
            <a:srgbClr val="2587C5"/>
          </a:solidFill>
          <a:ln/>
        </p:spPr>
      </p:sp>
      <p:sp>
        <p:nvSpPr>
          <p:cNvPr id="21" name="Text 19"/>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Store fixed expenses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The whole store's rent, facility and other fixed costs</a:t>
            </a:r>
            <a:endParaRPr lang="en-US" sz="1400" dirty="0"/>
          </a:p>
        </p:txBody>
      </p:sp>
      <p:sp>
        <p:nvSpPr>
          <p:cNvPr id="22" name="Shape 20"/>
          <p:cNvSpPr/>
          <p:nvPr/>
        </p:nvSpPr>
        <p:spPr>
          <a:xfrm>
            <a:off x="5138928" y="4654296"/>
            <a:ext cx="45720" cy="1133856"/>
          </a:xfrm>
          <a:prstGeom prst="rect">
            <a:avLst/>
          </a:prstGeom>
          <a:solidFill>
            <a:srgbClr val="2587C5"/>
          </a:solidFill>
          <a:ln/>
        </p:spPr>
      </p:sp>
      <p:sp>
        <p:nvSpPr>
          <p:cNvPr id="23" name="Text 21"/>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Warranty and internal</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Gross from warranty and reconditioning counts too</a:t>
            </a:r>
            <a:endParaRPr lang="en-US" sz="1400" dirty="0"/>
          </a:p>
        </p:txBody>
      </p:sp>
      <p:sp>
        <p:nvSpPr>
          <p:cNvPr id="24" name="Shape 22"/>
          <p:cNvSpPr/>
          <p:nvPr/>
        </p:nvSpPr>
        <p:spPr>
          <a:xfrm>
            <a:off x="8394192" y="4654296"/>
            <a:ext cx="45720" cy="1133856"/>
          </a:xfrm>
          <a:prstGeom prst="rect">
            <a:avLst/>
          </a:prstGeom>
          <a:solidFill>
            <a:srgbClr val="2587C5"/>
          </a:solidFill>
          <a:ln/>
        </p:spPr>
      </p:sp>
      <p:sp>
        <p:nvSpPr>
          <p:cNvPr id="25" name="Text 23"/>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Counter and wholesale parts gross counts as well</a:t>
            </a:r>
            <a:endParaRPr lang="en-US" sz="1400" dirty="0"/>
          </a:p>
        </p:txBody>
      </p:sp>
      <p:sp>
        <p:nvSpPr>
          <p:cNvPr id="26" name="Shape 24"/>
          <p:cNvSpPr/>
          <p:nvPr/>
        </p:nvSpPr>
        <p:spPr>
          <a:xfrm>
            <a:off x="457200" y="6126480"/>
            <a:ext cx="11274552" cy="371856"/>
          </a:xfrm>
          <a:prstGeom prst="rect">
            <a:avLst/>
          </a:prstGeom>
          <a:solidFill>
            <a:srgbClr val="E6F6EE"/>
          </a:solidFill>
          <a:ln/>
        </p:spPr>
      </p:sp>
      <p:sp>
        <p:nvSpPr>
          <p:cNvPr id="27" name="Text 2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78.1% absorption, up 2.1 pts. Fixed gross grew 4.1%; fixed expenses 1.3%.</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Net to Gross</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Net to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department profit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department gross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much of each gross dollar the department keeps after its own expenses.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is the true measure of how the department performs.</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Gross is what we make; net is what we keep.</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Gross can grow while net falls if expenses grow faster.</a:t>
            </a:r>
            <a:endParaRPr lang="en-US" sz="1600" dirty="0"/>
          </a:p>
        </p:txBody>
      </p:sp>
      <p:sp>
        <p:nvSpPr>
          <p:cNvPr id="13" name="Shape 11"/>
          <p:cNvSpPr/>
          <p:nvPr/>
        </p:nvSpPr>
        <p:spPr>
          <a:xfrm>
            <a:off x="5138928" y="2843784"/>
            <a:ext cx="45720" cy="1189887"/>
          </a:xfrm>
          <a:prstGeom prst="rect">
            <a:avLst/>
          </a:prstGeom>
          <a:solidFill>
            <a:srgbClr val="2587C5"/>
          </a:solidFill>
          <a:ln/>
        </p:spPr>
      </p:sp>
      <p:sp>
        <p:nvSpPr>
          <p:cNvPr id="14" name="Text 12"/>
          <p:cNvSpPr txBox="1"/>
          <p:nvPr/>
        </p:nvSpPr>
        <p:spPr>
          <a:xfrm>
            <a:off x="5266944" y="2843784"/>
            <a:ext cx="2962656" cy="118988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Personnel expense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Headcount and pay plans: the biggest line</a:t>
            </a:r>
            <a:endParaRPr lang="en-US" sz="1400" dirty="0"/>
          </a:p>
        </p:txBody>
      </p:sp>
      <p:sp>
        <p:nvSpPr>
          <p:cNvPr id="15" name="Shape 13"/>
          <p:cNvSpPr/>
          <p:nvPr/>
        </p:nvSpPr>
        <p:spPr>
          <a:xfrm>
            <a:off x="8394192" y="2843784"/>
            <a:ext cx="45720" cy="1189887"/>
          </a:xfrm>
          <a:prstGeom prst="rect">
            <a:avLst/>
          </a:prstGeom>
          <a:solidFill>
            <a:srgbClr val="2587C5"/>
          </a:solidFill>
          <a:ln/>
        </p:spPr>
      </p:sp>
      <p:sp>
        <p:nvSpPr>
          <p:cNvPr id="16" name="Text 14"/>
          <p:cNvSpPr txBox="1"/>
          <p:nvPr/>
        </p:nvSpPr>
        <p:spPr>
          <a:xfrm>
            <a:off x="8522208" y="2843784"/>
            <a:ext cx="2962656" cy="118988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Semi-fixed expenses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Supplies, shop tools and equipment, training, advertising, outside services, data processing</a:t>
            </a:r>
            <a:endParaRPr lang="en-US" sz="1400" dirty="0"/>
          </a:p>
        </p:txBody>
      </p:sp>
      <p:sp>
        <p:nvSpPr>
          <p:cNvPr id="17" name="Shape 15"/>
          <p:cNvSpPr/>
          <p:nvPr/>
        </p:nvSpPr>
        <p:spPr>
          <a:xfrm>
            <a:off x="5138928" y="4143399"/>
            <a:ext cx="45720" cy="1644753"/>
          </a:xfrm>
          <a:prstGeom prst="rect">
            <a:avLst/>
          </a:prstGeom>
          <a:solidFill>
            <a:srgbClr val="2587C5"/>
          </a:solidFill>
          <a:ln/>
        </p:spPr>
      </p:sp>
      <p:sp>
        <p:nvSpPr>
          <p:cNvPr id="18" name="Text 16"/>
          <p:cNvSpPr txBox="1"/>
          <p:nvPr/>
        </p:nvSpPr>
        <p:spPr>
          <a:xfrm>
            <a:off x="5266944" y="4143399"/>
            <a:ext cx="2962656" cy="164475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Policy and adjustments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Service policy (work done at no charge to the customer) and warranty claims the manufacturer won't pay</a:t>
            </a:r>
            <a:endParaRPr lang="en-US" sz="1400" dirty="0"/>
          </a:p>
        </p:txBody>
      </p:sp>
      <p:sp>
        <p:nvSpPr>
          <p:cNvPr id="19" name="Shape 17"/>
          <p:cNvSpPr/>
          <p:nvPr/>
        </p:nvSpPr>
        <p:spPr>
          <a:xfrm>
            <a:off x="8394192" y="4143399"/>
            <a:ext cx="45720" cy="1644753"/>
          </a:xfrm>
          <a:prstGeom prst="rect">
            <a:avLst/>
          </a:prstGeom>
          <a:solidFill>
            <a:srgbClr val="2587C5"/>
          </a:solidFill>
          <a:ln/>
        </p:spPr>
      </p:sp>
      <p:sp>
        <p:nvSpPr>
          <p:cNvPr id="20" name="Text 18"/>
          <p:cNvSpPr txBox="1"/>
          <p:nvPr/>
        </p:nvSpPr>
        <p:spPr>
          <a:xfrm>
            <a:off x="8522208" y="4143399"/>
            <a:ext cx="2962656" cy="164475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Outrun your expenses: when net is low, it is either an expense problem or a gross problem</a:t>
            </a:r>
            <a:endParaRPr lang="en-US" sz="1400" dirty="0"/>
          </a:p>
        </p:txBody>
      </p:sp>
      <p:sp>
        <p:nvSpPr>
          <p:cNvPr id="21" name="Shape 19"/>
          <p:cNvSpPr/>
          <p:nvPr/>
        </p:nvSpPr>
        <p:spPr>
          <a:xfrm>
            <a:off x="457200" y="6126480"/>
            <a:ext cx="11274552" cy="371856"/>
          </a:xfrm>
          <a:prstGeom prst="rect">
            <a:avLst/>
          </a:prstGeom>
          <a:solidFill>
            <a:srgbClr val="EDF4FA"/>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service 21.8%, up 2.9 pts; parts 36.7%, down 0.4 pts.</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Tracked Opcode Closing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Closing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ROs with the service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all CP ROs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often a customer-pay visit includes the service.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BENCHMARKS</a:t>
            </a:r>
            <a:endParaRPr lang="en-US" sz="1400" dirty="0"/>
          </a:p>
        </p:txBody>
      </p:sp>
      <p:sp>
        <p:nvSpPr>
          <p:cNvPr id="9" name="Shape 7"/>
          <p:cNvSpPr/>
          <p:nvPr/>
        </p:nvSpPr>
        <p:spPr>
          <a:xfrm>
            <a:off x="2286000" y="2340864"/>
            <a:ext cx="227914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Alignment  </a:t>
            </a:r>
            <a:pPr algn="ctr" indent="0" marL="0">
              <a:buNone/>
            </a:pPr>
            <a:r>
              <a:rPr lang="en-US" sz="1400" b="1" dirty="0">
                <a:solidFill>
                  <a:srgbClr val="0B2C4A"/>
                </a:solidFill>
                <a:latin typeface="Inter" pitchFamily="34" charset="0"/>
                <a:ea typeface="Inter" pitchFamily="34" charset="-122"/>
                <a:cs typeface="Inter" pitchFamily="34" charset="-120"/>
              </a:rPr>
              <a:t>15%</a:t>
            </a:r>
            <a:endParaRPr lang="en-US" sz="1400" dirty="0"/>
          </a:p>
        </p:txBody>
      </p:sp>
      <p:sp>
        <p:nvSpPr>
          <p:cNvPr id="11" name="Shape 9"/>
          <p:cNvSpPr/>
          <p:nvPr/>
        </p:nvSpPr>
        <p:spPr>
          <a:xfrm>
            <a:off x="4674870" y="2340864"/>
            <a:ext cx="2279142" cy="457200"/>
          </a:xfrm>
          <a:prstGeom prst="rect">
            <a:avLst/>
          </a:prstGeom>
          <a:solidFill>
            <a:srgbClr val="FFFFFF"/>
          </a:solidFill>
          <a:ln w="9525">
            <a:solidFill>
              <a:srgbClr val="D9D9D9"/>
            </a:solidFill>
            <a:prstDash val="solid"/>
          </a:ln>
        </p:spPr>
      </p:sp>
      <p:sp>
        <p:nvSpPr>
          <p:cNvPr id="12" name="Text 10"/>
          <p:cNvSpPr txBox="1"/>
          <p:nvPr/>
        </p:nvSpPr>
        <p:spPr>
          <a:xfrm>
            <a:off x="474802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Tire balance  </a:t>
            </a:r>
            <a:pPr algn="ctr" indent="0" marL="0">
              <a:buNone/>
            </a:pPr>
            <a:r>
              <a:rPr lang="en-US" sz="1400" b="1" dirty="0">
                <a:solidFill>
                  <a:srgbClr val="0B2C4A"/>
                </a:solidFill>
                <a:latin typeface="Inter" pitchFamily="34" charset="0"/>
                <a:ea typeface="Inter" pitchFamily="34" charset="-122"/>
                <a:cs typeface="Inter" pitchFamily="34" charset="-120"/>
              </a:rPr>
              <a:t>15%</a:t>
            </a:r>
            <a:endParaRPr lang="en-US" sz="1400" dirty="0"/>
          </a:p>
        </p:txBody>
      </p:sp>
      <p:sp>
        <p:nvSpPr>
          <p:cNvPr id="13" name="Shape 11"/>
          <p:cNvSpPr/>
          <p:nvPr/>
        </p:nvSpPr>
        <p:spPr>
          <a:xfrm>
            <a:off x="7063740" y="2340864"/>
            <a:ext cx="2279142" cy="457200"/>
          </a:xfrm>
          <a:prstGeom prst="rect">
            <a:avLst/>
          </a:prstGeom>
          <a:solidFill>
            <a:srgbClr val="FFFFFF"/>
          </a:solidFill>
          <a:ln w="9525">
            <a:solidFill>
              <a:srgbClr val="D9D9D9"/>
            </a:solidFill>
            <a:prstDash val="solid"/>
          </a:ln>
        </p:spPr>
      </p:sp>
      <p:sp>
        <p:nvSpPr>
          <p:cNvPr id="14" name="Text 12"/>
          <p:cNvSpPr txBox="1"/>
          <p:nvPr/>
        </p:nvSpPr>
        <p:spPr>
          <a:xfrm>
            <a:off x="713689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Brake fluid  </a:t>
            </a:r>
            <a:pPr algn="ctr" indent="0" marL="0">
              <a:buNone/>
            </a:pPr>
            <a:r>
              <a:rPr lang="en-US" sz="1400" b="1" dirty="0">
                <a:solidFill>
                  <a:srgbClr val="0B2C4A"/>
                </a:solidFill>
                <a:latin typeface="Inter" pitchFamily="34" charset="0"/>
                <a:ea typeface="Inter" pitchFamily="34" charset="-122"/>
                <a:cs typeface="Inter" pitchFamily="34" charset="-120"/>
              </a:rPr>
              <a:t>10%</a:t>
            </a:r>
            <a:endParaRPr lang="en-US" sz="1400" dirty="0"/>
          </a:p>
        </p:txBody>
      </p:sp>
      <p:sp>
        <p:nvSpPr>
          <p:cNvPr id="15" name="Shape 13"/>
          <p:cNvSpPr/>
          <p:nvPr/>
        </p:nvSpPr>
        <p:spPr>
          <a:xfrm>
            <a:off x="9452610" y="2340864"/>
            <a:ext cx="2279142" cy="457200"/>
          </a:xfrm>
          <a:prstGeom prst="rect">
            <a:avLst/>
          </a:prstGeom>
          <a:solidFill>
            <a:srgbClr val="FFFFFF"/>
          </a:solidFill>
          <a:ln w="9525">
            <a:solidFill>
              <a:srgbClr val="D9D9D9"/>
            </a:solidFill>
            <a:prstDash val="solid"/>
          </a:ln>
        </p:spPr>
      </p:sp>
      <p:sp>
        <p:nvSpPr>
          <p:cNvPr id="16" name="Text 14"/>
          <p:cNvSpPr txBox="1"/>
          <p:nvPr/>
        </p:nvSpPr>
        <p:spPr>
          <a:xfrm>
            <a:off x="952576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Fuel service  </a:t>
            </a:r>
            <a:pPr algn="ctr" indent="0" marL="0">
              <a:buNone/>
            </a:pPr>
            <a:r>
              <a:rPr lang="en-US" sz="1400" b="1" dirty="0">
                <a:solidFill>
                  <a:srgbClr val="0B2C4A"/>
                </a:solidFill>
                <a:latin typeface="Inter" pitchFamily="34" charset="0"/>
                <a:ea typeface="Inter" pitchFamily="34" charset="-122"/>
                <a:cs typeface="Inter" pitchFamily="34" charset="-120"/>
              </a:rPr>
              <a:t>7.5%</a:t>
            </a:r>
            <a:endParaRPr lang="en-US" sz="1400" dirty="0"/>
          </a:p>
        </p:txBody>
      </p:sp>
      <p:sp>
        <p:nvSpPr>
          <p:cNvPr id="17" name="Shape 15"/>
          <p:cNvSpPr/>
          <p:nvPr/>
        </p:nvSpPr>
        <p:spPr>
          <a:xfrm>
            <a:off x="457200" y="2907792"/>
            <a:ext cx="4343400" cy="3081528"/>
          </a:xfrm>
          <a:prstGeom prst="rect">
            <a:avLst/>
          </a:prstGeom>
          <a:solidFill>
            <a:srgbClr val="FFFFFF"/>
          </a:solidFill>
          <a:ln/>
        </p:spPr>
      </p:sp>
      <p:sp>
        <p:nvSpPr>
          <p:cNvPr id="18" name="Shape 16"/>
          <p:cNvSpPr/>
          <p:nvPr/>
        </p:nvSpPr>
        <p:spPr>
          <a:xfrm>
            <a:off x="4937760" y="2907792"/>
            <a:ext cx="6793992" cy="3081528"/>
          </a:xfrm>
          <a:prstGeom prst="rect">
            <a:avLst/>
          </a:prstGeom>
          <a:solidFill>
            <a:srgbClr val="FFFFFF"/>
          </a:solidFill>
          <a:ln/>
        </p:spPr>
      </p:sp>
      <p:sp>
        <p:nvSpPr>
          <p:cNvPr id="19" name="Text 17"/>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20" name="Text 18"/>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21" name="Text 19"/>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These cars are already in our service drives: the rate shows how well we use the opportunities we already have.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Like labor dollars per RO, it is a direct reflection of the job we are doing on every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Each point is worth thousands of services across the group.</a:t>
            </a:r>
            <a:endParaRPr lang="en-US" sz="1500" dirty="0"/>
          </a:p>
        </p:txBody>
      </p:sp>
      <p:sp>
        <p:nvSpPr>
          <p:cNvPr id="22" name="Shape 20"/>
          <p:cNvSpPr/>
          <p:nvPr/>
        </p:nvSpPr>
        <p:spPr>
          <a:xfrm>
            <a:off x="5138928" y="3410712"/>
            <a:ext cx="45720" cy="948641"/>
          </a:xfrm>
          <a:prstGeom prst="rect">
            <a:avLst/>
          </a:prstGeom>
          <a:solidFill>
            <a:srgbClr val="2587C5"/>
          </a:solidFill>
          <a:ln/>
        </p:spPr>
      </p:sp>
      <p:sp>
        <p:nvSpPr>
          <p:cNvPr id="23" name="Text 21"/>
          <p:cNvSpPr txBox="1"/>
          <p:nvPr/>
        </p:nvSpPr>
        <p:spPr>
          <a:xfrm>
            <a:off x="5266944" y="3410712"/>
            <a:ext cx="2962656" cy="94864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MPI on every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Find the need and show the customer</a:t>
            </a:r>
            <a:endParaRPr lang="en-US" sz="1400" dirty="0"/>
          </a:p>
        </p:txBody>
      </p:sp>
      <p:sp>
        <p:nvSpPr>
          <p:cNvPr id="24" name="Shape 22"/>
          <p:cNvSpPr/>
          <p:nvPr/>
        </p:nvSpPr>
        <p:spPr>
          <a:xfrm>
            <a:off x="8394192" y="3410712"/>
            <a:ext cx="45720" cy="948641"/>
          </a:xfrm>
          <a:prstGeom prst="rect">
            <a:avLst/>
          </a:prstGeom>
          <a:solidFill>
            <a:srgbClr val="2587C5"/>
          </a:solidFill>
          <a:ln/>
        </p:spPr>
      </p:sp>
      <p:sp>
        <p:nvSpPr>
          <p:cNvPr id="25" name="Text 23"/>
          <p:cNvSpPr txBox="1"/>
          <p:nvPr/>
        </p:nvSpPr>
        <p:spPr>
          <a:xfrm>
            <a:off x="8522208" y="3410712"/>
            <a:ext cx="2962656" cy="94864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at write-up</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Time and mileage recommendations, every customer</a:t>
            </a:r>
            <a:endParaRPr lang="en-US" sz="1400" dirty="0"/>
          </a:p>
        </p:txBody>
      </p:sp>
      <p:sp>
        <p:nvSpPr>
          <p:cNvPr id="26" name="Shape 24"/>
          <p:cNvSpPr/>
          <p:nvPr/>
        </p:nvSpPr>
        <p:spPr>
          <a:xfrm>
            <a:off x="5138928" y="4469081"/>
            <a:ext cx="45720" cy="1319071"/>
          </a:xfrm>
          <a:prstGeom prst="rect">
            <a:avLst/>
          </a:prstGeom>
          <a:solidFill>
            <a:srgbClr val="2587C5"/>
          </a:solidFill>
          <a:ln/>
        </p:spPr>
      </p:sp>
      <p:sp>
        <p:nvSpPr>
          <p:cNvPr id="27" name="Text 25"/>
          <p:cNvSpPr txBox="1"/>
          <p:nvPr/>
        </p:nvSpPr>
        <p:spPr>
          <a:xfrm>
            <a:off x="5266944" y="4469081"/>
            <a:ext cx="2962656" cy="131907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Consistency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Present it every visit, no exceptions. Say it once and skip it the next time, and we lose credibility</a:t>
            </a:r>
            <a:endParaRPr lang="en-US" sz="1400" dirty="0"/>
          </a:p>
        </p:txBody>
      </p:sp>
      <p:sp>
        <p:nvSpPr>
          <p:cNvPr id="28" name="Shape 26"/>
          <p:cNvSpPr/>
          <p:nvPr/>
        </p:nvSpPr>
        <p:spPr>
          <a:xfrm>
            <a:off x="8394192" y="4469081"/>
            <a:ext cx="45720" cy="1319071"/>
          </a:xfrm>
          <a:prstGeom prst="rect">
            <a:avLst/>
          </a:prstGeom>
          <a:solidFill>
            <a:srgbClr val="2587C5"/>
          </a:solidFill>
          <a:ln/>
        </p:spPr>
      </p:sp>
      <p:sp>
        <p:nvSpPr>
          <p:cNvPr id="29" name="Text 27"/>
          <p:cNvSpPr txBox="1"/>
          <p:nvPr/>
        </p:nvSpPr>
        <p:spPr>
          <a:xfrm>
            <a:off x="8522208" y="4469081"/>
            <a:ext cx="2962656" cy="131907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Tracking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Daily Viz Op Code report; feedback before the 15th</a:t>
            </a:r>
            <a:endParaRPr lang="en-US" sz="1400" dirty="0"/>
          </a:p>
        </p:txBody>
      </p:sp>
      <p:sp>
        <p:nvSpPr>
          <p:cNvPr id="30" name="Shape 28"/>
          <p:cNvSpPr/>
          <p:nvPr/>
        </p:nvSpPr>
        <p:spPr>
          <a:xfrm>
            <a:off x="457200" y="6126480"/>
            <a:ext cx="11274552" cy="348996"/>
          </a:xfrm>
          <a:prstGeom prst="rect">
            <a:avLst/>
          </a:prstGeom>
          <a:solidFill>
            <a:srgbClr val="EDF4FA"/>
          </a:solidFill>
          <a:ln/>
        </p:spPr>
      </p:sp>
      <p:sp>
        <p:nvSpPr>
          <p:cNvPr id="31" name="Text 29"/>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All four rose 1.2-1.4 pts and beat 2025 every month. Balance is furthest off, at 8.3%: 18,493 short of 15%.</a:t>
            </a:r>
            <a:endParaRPr lang="en-US" sz="14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 Proficiency</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Proficiency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flagged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clocked hours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many hours a technician produces for every hour they are on the clock. 85% is on target; 100% or more is above.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 40-HOUR WEEK</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Clocks 40 hours  </a:t>
            </a:r>
            <a:pPr algn="ctr" indent="0" marL="0">
              <a:buNone/>
            </a:pPr>
            <a:r>
              <a:rPr lang="en-US" sz="1400" b="1" dirty="0">
                <a:solidFill>
                  <a:srgbClr val="0B2C4A"/>
                </a:solidFill>
                <a:latin typeface="Inter" pitchFamily="34" charset="0"/>
                <a:ea typeface="Inter" pitchFamily="34" charset="-122"/>
                <a:cs typeface="Inter" pitchFamily="34" charset="-120"/>
              </a:rPr>
              <a:t>flags 34</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Proficiency  </a:t>
            </a:r>
            <a:pPr algn="ctr" indent="0" marL="0">
              <a:buNone/>
            </a:pPr>
            <a:r>
              <a:rPr lang="en-US" sz="1400" b="1" dirty="0">
                <a:solidFill>
                  <a:srgbClr val="0B2C4A"/>
                </a:solidFill>
                <a:latin typeface="Inter" pitchFamily="34" charset="0"/>
                <a:ea typeface="Inter" pitchFamily="34" charset="-122"/>
                <a:cs typeface="Inter" pitchFamily="34" charset="-120"/>
              </a:rPr>
              <a:t>85%</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Flags 40  </a:t>
            </a:r>
            <a:pPr algn="ctr" indent="0" marL="0">
              <a:buNone/>
            </a:pPr>
            <a:r>
              <a:rPr lang="en-US" sz="1400" b="1" dirty="0">
                <a:solidFill>
                  <a:srgbClr val="0B2C4A"/>
                </a:solidFill>
                <a:latin typeface="Inter" pitchFamily="34" charset="0"/>
                <a:ea typeface="Inter" pitchFamily="34" charset="-122"/>
                <a:cs typeface="Inter" pitchFamily="34" charset="-120"/>
              </a:rPr>
              <a:t>100%</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 service department is a production facility. What we produce is hours.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Any production floor knows what it made today and what each person made. So should we.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takes someone actively managing production, every day.</a:t>
            </a:r>
            <a:endParaRPr lang="en-US" sz="1500" dirty="0"/>
          </a:p>
        </p:txBody>
      </p:sp>
      <p:sp>
        <p:nvSpPr>
          <p:cNvPr id="20" name="Shape 18"/>
          <p:cNvSpPr/>
          <p:nvPr/>
        </p:nvSpPr>
        <p:spPr>
          <a:xfrm>
            <a:off x="5138928" y="3410712"/>
            <a:ext cx="45720" cy="1133856"/>
          </a:xfrm>
          <a:prstGeom prst="rect">
            <a:avLst/>
          </a:prstGeom>
          <a:solidFill>
            <a:srgbClr val="2587C5"/>
          </a:solidFill>
          <a:ln/>
        </p:spPr>
      </p:sp>
      <p:sp>
        <p:nvSpPr>
          <p:cNvPr id="21" name="Text 19"/>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Dispatch</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Work waiting at the bay; the right job to the right tech</a:t>
            </a:r>
            <a:endParaRPr lang="en-US" sz="1400" dirty="0"/>
          </a:p>
        </p:txBody>
      </p:sp>
      <p:sp>
        <p:nvSpPr>
          <p:cNvPr id="22" name="Shape 20"/>
          <p:cNvSpPr/>
          <p:nvPr/>
        </p:nvSpPr>
        <p:spPr>
          <a:xfrm>
            <a:off x="7309104" y="3410712"/>
            <a:ext cx="45720" cy="1133856"/>
          </a:xfrm>
          <a:prstGeom prst="rect">
            <a:avLst/>
          </a:prstGeom>
          <a:solidFill>
            <a:srgbClr val="2587C5"/>
          </a:solidFill>
          <a:ln/>
        </p:spPr>
      </p:sp>
      <p:sp>
        <p:nvSpPr>
          <p:cNvPr id="23" name="Text 21"/>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Car count</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Not enough work leaves techs waiting</a:t>
            </a:r>
            <a:endParaRPr lang="en-US" sz="1400" dirty="0"/>
          </a:p>
        </p:txBody>
      </p:sp>
      <p:sp>
        <p:nvSpPr>
          <p:cNvPr id="24" name="Shape 22"/>
          <p:cNvSpPr/>
          <p:nvPr/>
        </p:nvSpPr>
        <p:spPr>
          <a:xfrm>
            <a:off x="9479280" y="3410712"/>
            <a:ext cx="45720" cy="1133856"/>
          </a:xfrm>
          <a:prstGeom prst="rect">
            <a:avLst/>
          </a:prstGeom>
          <a:solidFill>
            <a:srgbClr val="2587C5"/>
          </a:solidFill>
          <a:ln/>
        </p:spPr>
      </p:sp>
      <p:sp>
        <p:nvSpPr>
          <p:cNvPr id="25" name="Text 23"/>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staging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Parts at the bay before the tech needs them</a:t>
            </a:r>
            <a:endParaRPr lang="en-US" sz="1400" dirty="0"/>
          </a:p>
        </p:txBody>
      </p:sp>
      <p:sp>
        <p:nvSpPr>
          <p:cNvPr id="26" name="Shape 24"/>
          <p:cNvSpPr/>
          <p:nvPr/>
        </p:nvSpPr>
        <p:spPr>
          <a:xfrm>
            <a:off x="5138928" y="4654296"/>
            <a:ext cx="45720" cy="1133856"/>
          </a:xfrm>
          <a:prstGeom prst="rect">
            <a:avLst/>
          </a:prstGeom>
          <a:solidFill>
            <a:srgbClr val="2587C5"/>
          </a:solidFill>
          <a:ln/>
        </p:spPr>
      </p:sp>
      <p:sp>
        <p:nvSpPr>
          <p:cNvPr id="27" name="Text 25"/>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Approvals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Fast customer approval on the inspection</a:t>
            </a:r>
            <a:endParaRPr lang="en-US" sz="1400" dirty="0"/>
          </a:p>
        </p:txBody>
      </p:sp>
      <p:sp>
        <p:nvSpPr>
          <p:cNvPr id="28" name="Shape 26"/>
          <p:cNvSpPr/>
          <p:nvPr/>
        </p:nvSpPr>
        <p:spPr>
          <a:xfrm>
            <a:off x="7309104" y="4654296"/>
            <a:ext cx="45720" cy="1133856"/>
          </a:xfrm>
          <a:prstGeom prst="rect">
            <a:avLst/>
          </a:prstGeom>
          <a:solidFill>
            <a:srgbClr val="2587C5"/>
          </a:solidFill>
          <a:ln/>
        </p:spPr>
      </p:sp>
      <p:sp>
        <p:nvSpPr>
          <p:cNvPr id="29" name="Text 27"/>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Skill and training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Tech level in line with job skill</a:t>
            </a:r>
            <a:endParaRPr lang="en-US" sz="1400" dirty="0"/>
          </a:p>
        </p:txBody>
      </p:sp>
      <p:sp>
        <p:nvSpPr>
          <p:cNvPr id="30" name="Shape 28"/>
          <p:cNvSpPr/>
          <p:nvPr/>
        </p:nvSpPr>
        <p:spPr>
          <a:xfrm>
            <a:off x="9479280" y="4654296"/>
            <a:ext cx="45720" cy="1133856"/>
          </a:xfrm>
          <a:prstGeom prst="rect">
            <a:avLst/>
          </a:prstGeom>
          <a:solidFill>
            <a:srgbClr val="2587C5"/>
          </a:solidFill>
          <a:ln/>
        </p:spPr>
      </p:sp>
      <p:sp>
        <p:nvSpPr>
          <p:cNvPr id="31" name="Text 29"/>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Proficiency vs efficiency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Efficiency divides by time clocked to ROs, not all clocked hours</a:t>
            </a:r>
            <a:endParaRPr lang="en-US" sz="1400" dirty="0"/>
          </a:p>
        </p:txBody>
      </p:sp>
      <p:sp>
        <p:nvSpPr>
          <p:cNvPr id="32" name="Shape 30"/>
          <p:cNvSpPr/>
          <p:nvPr/>
        </p:nvSpPr>
        <p:spPr>
          <a:xfrm>
            <a:off x="457200" y="6126480"/>
            <a:ext cx="11274552" cy="371856"/>
          </a:xfrm>
          <a:prstGeom prst="rect">
            <a:avLst/>
          </a:prstGeom>
          <a:solidFill>
            <a:srgbClr val="EDF4FA"/>
          </a:solidFill>
          <a:ln/>
        </p:spPr>
      </p:sp>
      <p:sp>
        <p:nvSpPr>
          <p:cNvPr id="33" name="Text 31"/>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94.7%. 20 of 33 stores at or above 85%; 262 of 583 counted techs below it.</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How We Measured It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Hours flagged (Qlik)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clocked hours (ADP, regular + overtime)</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January through September 2026, year to date. Vacation, paid time off and holiday pay are excluded from clocked hours. Store = total hours flagged ÷ total clocked hours.</a:t>
            </a:r>
            <a:endParaRPr lang="en-US" sz="14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WHO COUNTS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THE RULES</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Service technicians and express technicians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Service team leaders and shop foremen</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Everyone whose job is to produce flagged hours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Not counted: body shop, detail and tint</a:t>
            </a:r>
            <a:endParaRPr lang="en-US" sz="1500" dirty="0"/>
          </a:p>
        </p:txBody>
      </p:sp>
      <p:sp>
        <p:nvSpPr>
          <p:cNvPr id="13" name="Shape 11"/>
          <p:cNvSpPr/>
          <p:nvPr/>
        </p:nvSpPr>
        <p:spPr>
          <a:xfrm>
            <a:off x="5138928" y="2843784"/>
            <a:ext cx="45720" cy="908304"/>
          </a:xfrm>
          <a:prstGeom prst="rect">
            <a:avLst/>
          </a:prstGeom>
          <a:solidFill>
            <a:srgbClr val="2587C5"/>
          </a:solidFill>
          <a:ln/>
        </p:spPr>
      </p:sp>
      <p:sp>
        <p:nvSpPr>
          <p:cNvPr id="14" name="Text 12"/>
          <p:cNvSpPr txBox="1"/>
          <p:nvPr/>
        </p:nvSpPr>
        <p:spPr>
          <a:xfrm>
            <a:off x="5266944"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Shop foremen above 30%</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Below that, a foreman is mainly dispatching</a:t>
            </a:r>
            <a:endParaRPr lang="en-US" sz="1400" dirty="0"/>
          </a:p>
        </p:txBody>
      </p:sp>
      <p:sp>
        <p:nvSpPr>
          <p:cNvPr id="15" name="Shape 13"/>
          <p:cNvSpPr/>
          <p:nvPr/>
        </p:nvSpPr>
        <p:spPr>
          <a:xfrm>
            <a:off x="8394192" y="2843784"/>
            <a:ext cx="45720" cy="908304"/>
          </a:xfrm>
          <a:prstGeom prst="rect">
            <a:avLst/>
          </a:prstGeom>
          <a:solidFill>
            <a:srgbClr val="2587C5"/>
          </a:solidFill>
          <a:ln/>
        </p:spPr>
      </p:sp>
      <p:sp>
        <p:nvSpPr>
          <p:cNvPr id="16" name="Text 14"/>
          <p:cNvSpPr txBox="1"/>
          <p:nvPr/>
        </p:nvSpPr>
        <p:spPr>
          <a:xfrm>
            <a:off x="8522208"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Techs above 10%</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Below that, they are not working as a line tech</a:t>
            </a:r>
            <a:endParaRPr lang="en-US" sz="1400" dirty="0"/>
          </a:p>
        </p:txBody>
      </p:sp>
      <p:sp>
        <p:nvSpPr>
          <p:cNvPr id="17" name="Shape 15"/>
          <p:cNvSpPr/>
          <p:nvPr/>
        </p:nvSpPr>
        <p:spPr>
          <a:xfrm>
            <a:off x="5138928" y="3861816"/>
            <a:ext cx="45720" cy="908304"/>
          </a:xfrm>
          <a:prstGeom prst="rect">
            <a:avLst/>
          </a:prstGeom>
          <a:solidFill>
            <a:srgbClr val="2587C5"/>
          </a:solidFill>
          <a:ln/>
        </p:spPr>
      </p:sp>
      <p:sp>
        <p:nvSpPr>
          <p:cNvPr id="18" name="Text 16"/>
          <p:cNvSpPr txBox="1"/>
          <p:nvPr/>
        </p:nvSpPr>
        <p:spPr>
          <a:xfrm>
            <a:off x="5266944"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Role changes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Clocked hours trimmed to the months a tech actually flagged</a:t>
            </a:r>
            <a:endParaRPr lang="en-US" sz="1400" dirty="0"/>
          </a:p>
        </p:txBody>
      </p:sp>
      <p:sp>
        <p:nvSpPr>
          <p:cNvPr id="19" name="Shape 17"/>
          <p:cNvSpPr/>
          <p:nvPr/>
        </p:nvSpPr>
        <p:spPr>
          <a:xfrm>
            <a:off x="8394192" y="3861816"/>
            <a:ext cx="45720" cy="908304"/>
          </a:xfrm>
          <a:prstGeom prst="rect">
            <a:avLst/>
          </a:prstGeom>
          <a:solidFill>
            <a:srgbClr val="2587C5"/>
          </a:solidFill>
          <a:ln/>
        </p:spPr>
      </p:sp>
      <p:sp>
        <p:nvSpPr>
          <p:cNvPr id="20" name="Text 18"/>
          <p:cNvSpPr txBox="1"/>
          <p:nvPr/>
        </p:nvSpPr>
        <p:spPr>
          <a:xfrm>
            <a:off x="8522208"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Keying errors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Example: 940 hours keyed on a single $0 line</a:t>
            </a:r>
            <a:endParaRPr lang="en-US" sz="1400" dirty="0"/>
          </a:p>
        </p:txBody>
      </p:sp>
      <p:sp>
        <p:nvSpPr>
          <p:cNvPr id="21" name="Shape 19"/>
          <p:cNvSpPr/>
          <p:nvPr/>
        </p:nvSpPr>
        <p:spPr>
          <a:xfrm>
            <a:off x="5138928" y="4879848"/>
            <a:ext cx="45720" cy="908304"/>
          </a:xfrm>
          <a:prstGeom prst="rect">
            <a:avLst/>
          </a:prstGeom>
          <a:solidFill>
            <a:srgbClr val="2587C5"/>
          </a:solidFill>
          <a:ln/>
        </p:spPr>
      </p:sp>
      <p:sp>
        <p:nvSpPr>
          <p:cNvPr id="22" name="Text 20"/>
          <p:cNvSpPr txBox="1"/>
          <p:nvPr/>
        </p:nvSpPr>
        <p:spPr>
          <a:xfrm>
            <a:off x="5266944"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Shared tech numbers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Example: hours flagged to a shop code like 999, not a person</a:t>
            </a:r>
            <a:endParaRPr lang="en-US" sz="1400" dirty="0"/>
          </a:p>
        </p:txBody>
      </p:sp>
      <p:sp>
        <p:nvSpPr>
          <p:cNvPr id="23" name="Shape 21"/>
          <p:cNvSpPr/>
          <p:nvPr/>
        </p:nvSpPr>
        <p:spPr>
          <a:xfrm>
            <a:off x="8394192" y="4879848"/>
            <a:ext cx="45720" cy="908304"/>
          </a:xfrm>
          <a:prstGeom prst="rect">
            <a:avLst/>
          </a:prstGeom>
          <a:solidFill>
            <a:srgbClr val="2587C5"/>
          </a:solidFill>
          <a:ln/>
        </p:spPr>
      </p:sp>
      <p:sp>
        <p:nvSpPr>
          <p:cNvPr id="24" name="Text 22"/>
          <p:cNvSpPr txBox="1"/>
          <p:nvPr/>
        </p:nvSpPr>
        <p:spPr>
          <a:xfrm>
            <a:off x="8522208"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Opportunity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Each tech under 85% raised to 85% of their own clocked hours</a:t>
            </a:r>
            <a:endParaRPr lang="en-US" sz="1400" dirty="0"/>
          </a:p>
        </p:txBody>
      </p:sp>
      <p:sp>
        <p:nvSpPr>
          <p:cNvPr id="25" name="Shape 23"/>
          <p:cNvSpPr/>
          <p:nvPr/>
        </p:nvSpPr>
        <p:spPr>
          <a:xfrm>
            <a:off x="457200" y="6126480"/>
            <a:ext cx="11274552" cy="356616"/>
          </a:xfrm>
          <a:prstGeom prst="rect">
            <a:avLst/>
          </a:prstGeom>
          <a:solidFill>
            <a:srgbClr val="EDF4FA"/>
          </a:solidFill>
          <a:ln/>
        </p:spPr>
      </p:sp>
      <p:sp>
        <p:nvSpPr>
          <p:cNvPr id="26" name="Text 24"/>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The rules keep non-tech time and data errors out of the numbers, and every store is measured the same way.</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Gross</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Fixed ops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service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parts gross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What each department keeps after the cost of what it sold: labor sale less technician cost, parts sale less parts cost.</a:t>
            </a:r>
            <a:endParaRPr lang="en-US" sz="14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JAN–SEP 2026</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Service  </a:t>
            </a:r>
            <a:pPr algn="ctr" indent="0" marL="0">
              <a:buNone/>
            </a:pPr>
            <a:r>
              <a:rPr lang="en-US" sz="1400" b="1" dirty="0">
                <a:solidFill>
                  <a:srgbClr val="0B2C4A"/>
                </a:solidFill>
                <a:latin typeface="Inter" pitchFamily="34" charset="0"/>
                <a:ea typeface="Inter" pitchFamily="34" charset="-122"/>
                <a:cs typeface="Inter" pitchFamily="34" charset="-120"/>
              </a:rPr>
              <a:t>$126.87M</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Parts  </a:t>
            </a:r>
            <a:pPr algn="ctr" indent="0" marL="0">
              <a:buNone/>
            </a:pPr>
            <a:r>
              <a:rPr lang="en-US" sz="1400" b="1" dirty="0">
                <a:solidFill>
                  <a:srgbClr val="0B2C4A"/>
                </a:solidFill>
                <a:latin typeface="Inter" pitchFamily="34" charset="0"/>
                <a:ea typeface="Inter" pitchFamily="34" charset="-122"/>
                <a:cs typeface="Inter" pitchFamily="34" charset="-120"/>
              </a:rPr>
              <a:t>$61.93M</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Fixed ops  </a:t>
            </a:r>
            <a:pPr algn="ctr" indent="0" marL="0">
              <a:buNone/>
            </a:pPr>
            <a:r>
              <a:rPr lang="en-US" sz="1400" b="1" dirty="0">
                <a:solidFill>
                  <a:srgbClr val="0B2C4A"/>
                </a:solidFill>
                <a:latin typeface="Inter" pitchFamily="34" charset="0"/>
                <a:ea typeface="Inter" pitchFamily="34" charset="-122"/>
                <a:cs typeface="Inter" pitchFamily="34" charset="-120"/>
              </a:rPr>
              <a:t>$188.80M</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HOW EACH IS BUILT</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Service earns only on labor hours sold: the labor sale less what the technician is paid for the job.</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Parts sold on a service RO are parts gross, not service gross.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Both include customer pay, warranty and internal work.</a:t>
            </a:r>
            <a:endParaRPr lang="en-US" sz="1500" dirty="0"/>
          </a:p>
        </p:txBody>
      </p:sp>
      <p:sp>
        <p:nvSpPr>
          <p:cNvPr id="20" name="Shape 18"/>
          <p:cNvSpPr/>
          <p:nvPr/>
        </p:nvSpPr>
        <p:spPr>
          <a:xfrm>
            <a:off x="5138928" y="3410712"/>
            <a:ext cx="45720" cy="1262503"/>
          </a:xfrm>
          <a:prstGeom prst="rect">
            <a:avLst/>
          </a:prstGeom>
          <a:solidFill>
            <a:srgbClr val="2587C5"/>
          </a:solidFill>
          <a:ln/>
        </p:spPr>
      </p:sp>
      <p:sp>
        <p:nvSpPr>
          <p:cNvPr id="21" name="Text 19"/>
          <p:cNvSpPr txBox="1"/>
          <p:nvPr/>
        </p:nvSpPr>
        <p:spPr>
          <a:xfrm>
            <a:off x="5266944" y="3410712"/>
            <a:ext cx="2962656" cy="126250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labor sale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A written process, followed on every car, every time, tracked and managed daily</a:t>
            </a:r>
            <a:endParaRPr lang="en-US" sz="1400" dirty="0"/>
          </a:p>
        </p:txBody>
      </p:sp>
      <p:sp>
        <p:nvSpPr>
          <p:cNvPr id="22" name="Shape 20"/>
          <p:cNvSpPr/>
          <p:nvPr/>
        </p:nvSpPr>
        <p:spPr>
          <a:xfrm>
            <a:off x="8394192" y="3410712"/>
            <a:ext cx="45720" cy="1262503"/>
          </a:xfrm>
          <a:prstGeom prst="rect">
            <a:avLst/>
          </a:prstGeom>
          <a:solidFill>
            <a:srgbClr val="2587C5"/>
          </a:solidFill>
          <a:ln/>
        </p:spPr>
      </p:sp>
      <p:sp>
        <p:nvSpPr>
          <p:cNvPr id="23" name="Text 21"/>
          <p:cNvSpPr txBox="1"/>
          <p:nvPr/>
        </p:nvSpPr>
        <p:spPr>
          <a:xfrm>
            <a:off x="8522208" y="3410712"/>
            <a:ext cx="2962656" cy="126250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technician cost</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Right work, right tech. Hourly pay, guarantees and bonuses paid off the RO are unapplied labor and lower gross</a:t>
            </a:r>
            <a:endParaRPr lang="en-US" sz="1400" dirty="0"/>
          </a:p>
        </p:txBody>
      </p:sp>
      <p:sp>
        <p:nvSpPr>
          <p:cNvPr id="24" name="Shape 22"/>
          <p:cNvSpPr/>
          <p:nvPr/>
        </p:nvSpPr>
        <p:spPr>
          <a:xfrm>
            <a:off x="5138928" y="4782943"/>
            <a:ext cx="45720" cy="1005209"/>
          </a:xfrm>
          <a:prstGeom prst="rect">
            <a:avLst/>
          </a:prstGeom>
          <a:solidFill>
            <a:srgbClr val="2587C5"/>
          </a:solidFill>
          <a:ln/>
        </p:spPr>
      </p:sp>
      <p:sp>
        <p:nvSpPr>
          <p:cNvPr id="25" name="Text 23"/>
          <p:cNvSpPr txBox="1"/>
          <p:nvPr/>
        </p:nvSpPr>
        <p:spPr>
          <a:xfrm>
            <a:off x="5266944" y="4782943"/>
            <a:ext cx="2962656" cy="100520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on the RO</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dollar of labor sold brings more parts gross with it</a:t>
            </a:r>
            <a:endParaRPr lang="en-US" sz="1400" dirty="0"/>
          </a:p>
        </p:txBody>
      </p:sp>
      <p:sp>
        <p:nvSpPr>
          <p:cNvPr id="26" name="Shape 24"/>
          <p:cNvSpPr/>
          <p:nvPr/>
        </p:nvSpPr>
        <p:spPr>
          <a:xfrm>
            <a:off x="8394192" y="4782943"/>
            <a:ext cx="45720" cy="1005209"/>
          </a:xfrm>
          <a:prstGeom prst="rect">
            <a:avLst/>
          </a:prstGeom>
          <a:solidFill>
            <a:srgbClr val="2587C5"/>
          </a:solidFill>
          <a:ln/>
        </p:spPr>
      </p:sp>
      <p:sp>
        <p:nvSpPr>
          <p:cNvPr id="27" name="Text 25"/>
          <p:cNvSpPr txBox="1"/>
          <p:nvPr/>
        </p:nvSpPr>
        <p:spPr>
          <a:xfrm>
            <a:off x="8522208" y="4782943"/>
            <a:ext cx="2962656" cy="100520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over the counter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Retail, wholesale, tires and oil. Wholesale has to make sense: its gross must cover what it costs to run</a:t>
            </a:r>
            <a:endParaRPr lang="en-US" sz="1400" dirty="0"/>
          </a:p>
        </p:txBody>
      </p:sp>
      <p:sp>
        <p:nvSpPr>
          <p:cNvPr id="28" name="Shape 26"/>
          <p:cNvSpPr/>
          <p:nvPr/>
        </p:nvSpPr>
        <p:spPr>
          <a:xfrm>
            <a:off x="457200" y="6126480"/>
            <a:ext cx="11274552" cy="371856"/>
          </a:xfrm>
          <a:prstGeom prst="rect">
            <a:avLst/>
          </a:prstGeom>
          <a:solidFill>
            <a:srgbClr val="E6F6EE"/>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$188.80M fixed ops gross Jan–Sep 2026, up $7.47M (4.1%): service +$6.30M, parts +$1.17M.</a:t>
            </a:r>
            <a:endParaRPr lang="en-US" sz="16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Proficiency, Efficiency and Productivity</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713232" y="1463040"/>
            <a:ext cx="3453384" cy="3063240"/>
          </a:xfrm>
          <a:prstGeom prst="rect">
            <a:avLst/>
          </a:prstGeom>
          <a:solidFill>
            <a:srgbClr val="F7F7F7"/>
          </a:solidFill>
          <a:ln/>
        </p:spPr>
      </p:sp>
      <p:sp>
        <p:nvSpPr>
          <p:cNvPr id="7" name="Shape 5"/>
          <p:cNvSpPr/>
          <p:nvPr/>
        </p:nvSpPr>
        <p:spPr>
          <a:xfrm>
            <a:off x="713232" y="1463040"/>
            <a:ext cx="3453384" cy="64008"/>
          </a:xfrm>
          <a:prstGeom prst="rect">
            <a:avLst/>
          </a:prstGeom>
          <a:solidFill>
            <a:srgbClr val="2587C5"/>
          </a:solidFill>
          <a:ln/>
        </p:spPr>
      </p:sp>
      <p:sp>
        <p:nvSpPr>
          <p:cNvPr id="8" name="Text 6"/>
          <p:cNvSpPr txBox="1"/>
          <p:nvPr/>
        </p:nvSpPr>
        <p:spPr>
          <a:xfrm>
            <a:off x="896112" y="1645920"/>
            <a:ext cx="3087624" cy="27432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PRODUCTIVITY</a:t>
            </a:r>
            <a:endParaRPr lang="en-US" sz="1400" dirty="0"/>
          </a:p>
        </p:txBody>
      </p:sp>
      <p:sp>
        <p:nvSpPr>
          <p:cNvPr id="9" name="Text 7"/>
          <p:cNvSpPr txBox="1"/>
          <p:nvPr/>
        </p:nvSpPr>
        <p:spPr>
          <a:xfrm>
            <a:off x="896112" y="1965960"/>
            <a:ext cx="3087624" cy="749808"/>
          </a:xfrm>
          <a:prstGeom prst="rect">
            <a:avLst/>
          </a:prstGeom>
          <a:noFill/>
          <a:ln/>
        </p:spPr>
        <p:txBody>
          <a:bodyPr wrap="square" lIns="0" tIns="0" rIns="0" bIns="0" rtlCol="0" anchor="t"/>
          <a:lstStyle/>
          <a:p>
            <a:pPr indent="0" marL="0">
              <a:buNone/>
            </a:pPr>
            <a:r>
              <a:rPr lang="en-US" sz="2000" b="1" dirty="0">
                <a:solidFill>
                  <a:srgbClr val="0B2C4A"/>
                </a:solidFill>
                <a:latin typeface="Inter" pitchFamily="34" charset="0"/>
                <a:ea typeface="Inter" pitchFamily="34" charset="-122"/>
                <a:cs typeface="Inter" pitchFamily="34" charset="-120"/>
              </a:rPr>
              <a:t>Hours clocked to repair orders ÷ clocked hours</a:t>
            </a:r>
            <a:endParaRPr lang="en-US" sz="2000" dirty="0"/>
          </a:p>
        </p:txBody>
      </p:sp>
      <p:sp>
        <p:nvSpPr>
          <p:cNvPr id="10" name="Text 8"/>
          <p:cNvSpPr txBox="1"/>
          <p:nvPr/>
        </p:nvSpPr>
        <p:spPr>
          <a:xfrm>
            <a:off x="896112" y="2807208"/>
            <a:ext cx="3087624" cy="960120"/>
          </a:xfrm>
          <a:prstGeom prst="rect">
            <a:avLst/>
          </a:prstGeom>
          <a:noFill/>
          <a:ln/>
        </p:spPr>
        <p:txBody>
          <a:bodyPr wrap="square" lIns="0" tIns="0" rIns="0" bIns="0" rtlCol="0" anchor="t"/>
          <a:lstStyle/>
          <a:p>
            <a:pPr indent="0" marL="0">
              <a:buNone/>
            </a:pPr>
            <a:r>
              <a:rPr lang="en-US" sz="1600" dirty="0">
                <a:solidFill>
                  <a:srgbClr val="1A1A1A"/>
                </a:solidFill>
                <a:latin typeface="Inter" pitchFamily="34" charset="0"/>
                <a:ea typeface="Inter" pitchFamily="34" charset="-122"/>
                <a:cs typeface="Inter" pitchFamily="34" charset="-120"/>
              </a:rPr>
              <a:t>How much of the technician's clocked time was spent on repair orders?</a:t>
            </a:r>
            <a:endParaRPr lang="en-US" sz="1600" dirty="0"/>
          </a:p>
        </p:txBody>
      </p:sp>
      <p:sp>
        <p:nvSpPr>
          <p:cNvPr id="11" name="Shape 9"/>
          <p:cNvSpPr/>
          <p:nvPr/>
        </p:nvSpPr>
        <p:spPr>
          <a:xfrm>
            <a:off x="896112" y="3858768"/>
            <a:ext cx="3087624" cy="10973"/>
          </a:xfrm>
          <a:prstGeom prst="rect">
            <a:avLst/>
          </a:prstGeom>
          <a:solidFill>
            <a:srgbClr val="D9D9D9"/>
          </a:solidFill>
          <a:ln/>
        </p:spPr>
      </p:sp>
      <p:sp>
        <p:nvSpPr>
          <p:cNvPr id="12" name="Text 10"/>
          <p:cNvSpPr txBox="1"/>
          <p:nvPr/>
        </p:nvSpPr>
        <p:spPr>
          <a:xfrm>
            <a:off x="896112" y="3950208"/>
            <a:ext cx="3087624" cy="411480"/>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Example: 6 ÷ 8 = 75%</a:t>
            </a:r>
            <a:endParaRPr lang="en-US" sz="1800" dirty="0"/>
          </a:p>
        </p:txBody>
      </p:sp>
      <p:sp>
        <p:nvSpPr>
          <p:cNvPr id="13" name="Shape 11"/>
          <p:cNvSpPr/>
          <p:nvPr/>
        </p:nvSpPr>
        <p:spPr>
          <a:xfrm>
            <a:off x="4367784" y="1463040"/>
            <a:ext cx="3453384" cy="3063240"/>
          </a:xfrm>
          <a:prstGeom prst="rect">
            <a:avLst/>
          </a:prstGeom>
          <a:solidFill>
            <a:srgbClr val="F7F7F7"/>
          </a:solidFill>
          <a:ln/>
        </p:spPr>
      </p:sp>
      <p:sp>
        <p:nvSpPr>
          <p:cNvPr id="14" name="Shape 12"/>
          <p:cNvSpPr/>
          <p:nvPr/>
        </p:nvSpPr>
        <p:spPr>
          <a:xfrm>
            <a:off x="4367784" y="1463040"/>
            <a:ext cx="3453384" cy="64008"/>
          </a:xfrm>
          <a:prstGeom prst="rect">
            <a:avLst/>
          </a:prstGeom>
          <a:solidFill>
            <a:srgbClr val="2587C5"/>
          </a:solidFill>
          <a:ln/>
        </p:spPr>
      </p:sp>
      <p:sp>
        <p:nvSpPr>
          <p:cNvPr id="15" name="Text 13"/>
          <p:cNvSpPr txBox="1"/>
          <p:nvPr/>
        </p:nvSpPr>
        <p:spPr>
          <a:xfrm>
            <a:off x="4550664" y="1645920"/>
            <a:ext cx="3087624" cy="27432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EFFICIENCY</a:t>
            </a:r>
            <a:endParaRPr lang="en-US" sz="1400" dirty="0"/>
          </a:p>
        </p:txBody>
      </p:sp>
      <p:sp>
        <p:nvSpPr>
          <p:cNvPr id="16" name="Text 14"/>
          <p:cNvSpPr txBox="1"/>
          <p:nvPr/>
        </p:nvSpPr>
        <p:spPr>
          <a:xfrm>
            <a:off x="4550664" y="1965960"/>
            <a:ext cx="3087624" cy="749808"/>
          </a:xfrm>
          <a:prstGeom prst="rect">
            <a:avLst/>
          </a:prstGeom>
          <a:noFill/>
          <a:ln/>
        </p:spPr>
        <p:txBody>
          <a:bodyPr wrap="square" lIns="0" tIns="0" rIns="0" bIns="0" rtlCol="0" anchor="t"/>
          <a:lstStyle/>
          <a:p>
            <a:pPr indent="0" marL="0">
              <a:buNone/>
            </a:pPr>
            <a:r>
              <a:rPr lang="en-US" sz="2000" b="1" dirty="0">
                <a:solidFill>
                  <a:srgbClr val="0B2C4A"/>
                </a:solidFill>
                <a:latin typeface="Inter" pitchFamily="34" charset="0"/>
                <a:ea typeface="Inter" pitchFamily="34" charset="-122"/>
                <a:cs typeface="Inter" pitchFamily="34" charset="-120"/>
              </a:rPr>
              <a:t>Hours flagged ÷ hours clocked to repair orders</a:t>
            </a:r>
            <a:endParaRPr lang="en-US" sz="2000" dirty="0"/>
          </a:p>
        </p:txBody>
      </p:sp>
      <p:sp>
        <p:nvSpPr>
          <p:cNvPr id="17" name="Text 15"/>
          <p:cNvSpPr txBox="1"/>
          <p:nvPr/>
        </p:nvSpPr>
        <p:spPr>
          <a:xfrm>
            <a:off x="4550664" y="2807208"/>
            <a:ext cx="3087624" cy="960120"/>
          </a:xfrm>
          <a:prstGeom prst="rect">
            <a:avLst/>
          </a:prstGeom>
          <a:noFill/>
          <a:ln/>
        </p:spPr>
        <p:txBody>
          <a:bodyPr wrap="square" lIns="0" tIns="0" rIns="0" bIns="0" rtlCol="0" anchor="t"/>
          <a:lstStyle/>
          <a:p>
            <a:pPr indent="0" marL="0">
              <a:buNone/>
            </a:pPr>
            <a:r>
              <a:rPr lang="en-US" sz="1600" dirty="0">
                <a:solidFill>
                  <a:srgbClr val="1A1A1A"/>
                </a:solidFill>
                <a:latin typeface="Inter" pitchFamily="34" charset="0"/>
                <a:ea typeface="Inter" pitchFamily="34" charset="-122"/>
                <a:cs typeface="Inter" pitchFamily="34" charset="-120"/>
              </a:rPr>
              <a:t>How many labor hours did the technician produce for each hour clocked to repair orders?</a:t>
            </a:r>
            <a:endParaRPr lang="en-US" sz="1600" dirty="0"/>
          </a:p>
        </p:txBody>
      </p:sp>
      <p:sp>
        <p:nvSpPr>
          <p:cNvPr id="18" name="Shape 16"/>
          <p:cNvSpPr/>
          <p:nvPr/>
        </p:nvSpPr>
        <p:spPr>
          <a:xfrm>
            <a:off x="4550664" y="3858768"/>
            <a:ext cx="3087624" cy="10973"/>
          </a:xfrm>
          <a:prstGeom prst="rect">
            <a:avLst/>
          </a:prstGeom>
          <a:solidFill>
            <a:srgbClr val="D9D9D9"/>
          </a:solidFill>
          <a:ln/>
        </p:spPr>
      </p:sp>
      <p:sp>
        <p:nvSpPr>
          <p:cNvPr id="19" name="Text 17"/>
          <p:cNvSpPr txBox="1"/>
          <p:nvPr/>
        </p:nvSpPr>
        <p:spPr>
          <a:xfrm>
            <a:off x="4550664" y="3950208"/>
            <a:ext cx="3087624" cy="411480"/>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Example: 7.5 ÷ 6 = 125%</a:t>
            </a:r>
            <a:endParaRPr lang="en-US" sz="1800" dirty="0"/>
          </a:p>
        </p:txBody>
      </p:sp>
      <p:sp>
        <p:nvSpPr>
          <p:cNvPr id="20" name="Shape 18"/>
          <p:cNvSpPr/>
          <p:nvPr/>
        </p:nvSpPr>
        <p:spPr>
          <a:xfrm>
            <a:off x="8022336" y="1463040"/>
            <a:ext cx="3453384" cy="3063240"/>
          </a:xfrm>
          <a:prstGeom prst="rect">
            <a:avLst/>
          </a:prstGeom>
          <a:solidFill>
            <a:srgbClr val="F7F7F7"/>
          </a:solidFill>
          <a:ln/>
        </p:spPr>
      </p:sp>
      <p:sp>
        <p:nvSpPr>
          <p:cNvPr id="21" name="Shape 19"/>
          <p:cNvSpPr/>
          <p:nvPr/>
        </p:nvSpPr>
        <p:spPr>
          <a:xfrm>
            <a:off x="8022336" y="1463040"/>
            <a:ext cx="3453384" cy="64008"/>
          </a:xfrm>
          <a:prstGeom prst="rect">
            <a:avLst/>
          </a:prstGeom>
          <a:solidFill>
            <a:srgbClr val="2587C5"/>
          </a:solidFill>
          <a:ln/>
        </p:spPr>
      </p:sp>
      <p:sp>
        <p:nvSpPr>
          <p:cNvPr id="22" name="Text 20"/>
          <p:cNvSpPr txBox="1"/>
          <p:nvPr/>
        </p:nvSpPr>
        <p:spPr>
          <a:xfrm>
            <a:off x="8205216" y="1645920"/>
            <a:ext cx="3087624" cy="27432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PROFICIENCY</a:t>
            </a:r>
            <a:endParaRPr lang="en-US" sz="1400" dirty="0"/>
          </a:p>
        </p:txBody>
      </p:sp>
      <p:sp>
        <p:nvSpPr>
          <p:cNvPr id="23" name="Text 21"/>
          <p:cNvSpPr txBox="1"/>
          <p:nvPr/>
        </p:nvSpPr>
        <p:spPr>
          <a:xfrm>
            <a:off x="8205216" y="1965960"/>
            <a:ext cx="3087624" cy="749808"/>
          </a:xfrm>
          <a:prstGeom prst="rect">
            <a:avLst/>
          </a:prstGeom>
          <a:noFill/>
          <a:ln/>
        </p:spPr>
        <p:txBody>
          <a:bodyPr wrap="square" lIns="0" tIns="0" rIns="0" bIns="0" rtlCol="0" anchor="t"/>
          <a:lstStyle/>
          <a:p>
            <a:pPr indent="0" marL="0">
              <a:buNone/>
            </a:pPr>
            <a:r>
              <a:rPr lang="en-US" sz="2000" b="1" dirty="0">
                <a:solidFill>
                  <a:srgbClr val="0B2C4A"/>
                </a:solidFill>
                <a:latin typeface="Inter" pitchFamily="34" charset="0"/>
                <a:ea typeface="Inter" pitchFamily="34" charset="-122"/>
                <a:cs typeface="Inter" pitchFamily="34" charset="-120"/>
              </a:rPr>
              <a:t>Hours flagged ÷ clocked hours</a:t>
            </a:r>
            <a:endParaRPr lang="en-US" sz="2000" dirty="0"/>
          </a:p>
        </p:txBody>
      </p:sp>
      <p:sp>
        <p:nvSpPr>
          <p:cNvPr id="24" name="Text 22"/>
          <p:cNvSpPr txBox="1"/>
          <p:nvPr/>
        </p:nvSpPr>
        <p:spPr>
          <a:xfrm>
            <a:off x="8205216" y="2807208"/>
            <a:ext cx="3087624" cy="960120"/>
          </a:xfrm>
          <a:prstGeom prst="rect">
            <a:avLst/>
          </a:prstGeom>
          <a:noFill/>
          <a:ln/>
        </p:spPr>
        <p:txBody>
          <a:bodyPr wrap="square" lIns="0" tIns="0" rIns="0" bIns="0" rtlCol="0" anchor="t"/>
          <a:lstStyle/>
          <a:p>
            <a:pPr indent="0" marL="0">
              <a:buNone/>
            </a:pPr>
            <a:r>
              <a:rPr lang="en-US" sz="1600" dirty="0">
                <a:solidFill>
                  <a:srgbClr val="1A1A1A"/>
                </a:solidFill>
                <a:latin typeface="Inter" pitchFamily="34" charset="0"/>
                <a:ea typeface="Inter" pitchFamily="34" charset="-122"/>
                <a:cs typeface="Inter" pitchFamily="34" charset="-120"/>
              </a:rPr>
              <a:t>How many labor hours did the technician produce compared with their total clocked time?</a:t>
            </a:r>
            <a:endParaRPr lang="en-US" sz="1600" dirty="0"/>
          </a:p>
        </p:txBody>
      </p:sp>
      <p:sp>
        <p:nvSpPr>
          <p:cNvPr id="25" name="Shape 23"/>
          <p:cNvSpPr/>
          <p:nvPr/>
        </p:nvSpPr>
        <p:spPr>
          <a:xfrm>
            <a:off x="8205216" y="3858768"/>
            <a:ext cx="3087624" cy="10973"/>
          </a:xfrm>
          <a:prstGeom prst="rect">
            <a:avLst/>
          </a:prstGeom>
          <a:solidFill>
            <a:srgbClr val="D9D9D9"/>
          </a:solidFill>
          <a:ln/>
        </p:spPr>
      </p:sp>
      <p:sp>
        <p:nvSpPr>
          <p:cNvPr id="26" name="Text 24"/>
          <p:cNvSpPr txBox="1"/>
          <p:nvPr/>
        </p:nvSpPr>
        <p:spPr>
          <a:xfrm>
            <a:off x="8205216" y="3950208"/>
            <a:ext cx="3087624" cy="411480"/>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Example: 7.5 ÷ 8 = 93.75%</a:t>
            </a:r>
            <a:endParaRPr lang="en-US" sz="1800" dirty="0"/>
          </a:p>
        </p:txBody>
      </p:sp>
      <p:sp>
        <p:nvSpPr>
          <p:cNvPr id="27" name="Shape 25"/>
          <p:cNvSpPr/>
          <p:nvPr/>
        </p:nvSpPr>
        <p:spPr>
          <a:xfrm>
            <a:off x="713232" y="4709160"/>
            <a:ext cx="10762488" cy="1572768"/>
          </a:xfrm>
          <a:prstGeom prst="rect">
            <a:avLst/>
          </a:prstGeom>
          <a:solidFill>
            <a:srgbClr val="EDF4FA"/>
          </a:solidFill>
          <a:ln/>
        </p:spPr>
      </p:sp>
      <p:sp>
        <p:nvSpPr>
          <p:cNvPr id="28" name="Text 26"/>
          <p:cNvSpPr txBox="1"/>
          <p:nvPr/>
        </p:nvSpPr>
        <p:spPr>
          <a:xfrm>
            <a:off x="896112" y="4855464"/>
            <a:ext cx="10396728" cy="256032"/>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PUTTING IT TOGETHER: ONE TECHNICIAN, ONE DAY</a:t>
            </a:r>
            <a:endParaRPr lang="en-US" sz="1400" dirty="0"/>
          </a:p>
        </p:txBody>
      </p:sp>
      <p:sp>
        <p:nvSpPr>
          <p:cNvPr id="29" name="Text 27"/>
          <p:cNvSpPr txBox="1"/>
          <p:nvPr/>
        </p:nvSpPr>
        <p:spPr>
          <a:xfrm>
            <a:off x="896112" y="5166360"/>
            <a:ext cx="10396728" cy="329184"/>
          </a:xfrm>
          <a:prstGeom prst="rect">
            <a:avLst/>
          </a:prstGeom>
          <a:noFill/>
          <a:ln/>
        </p:spPr>
        <p:txBody>
          <a:bodyPr wrap="square" lIns="0" tIns="0" rIns="0" bIns="0" rtlCol="0" anchor="ctr"/>
          <a:lstStyle/>
          <a:p>
            <a:pPr indent="0" marL="0">
              <a:buNone/>
            </a:pPr>
            <a:r>
              <a:rPr lang="en-US" sz="1800" dirty="0">
                <a:solidFill>
                  <a:srgbClr val="1A1A1A"/>
                </a:solidFill>
                <a:latin typeface="Inter" pitchFamily="34" charset="0"/>
                <a:ea typeface="Inter" pitchFamily="34" charset="-122"/>
                <a:cs typeface="Inter" pitchFamily="34" charset="-120"/>
              </a:rPr>
              <a:t>A technician clocks in for 8 hours, clocks 6 of them to repair orders and flags 7.5 hours.</a:t>
            </a:r>
            <a:endParaRPr lang="en-US" sz="1800" dirty="0"/>
          </a:p>
        </p:txBody>
      </p:sp>
      <p:sp>
        <p:nvSpPr>
          <p:cNvPr id="30" name="Text 28"/>
          <p:cNvSpPr txBox="1"/>
          <p:nvPr/>
        </p:nvSpPr>
        <p:spPr>
          <a:xfrm>
            <a:off x="896112" y="5532120"/>
            <a:ext cx="10396728" cy="329184"/>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Productivity × efficiency = proficiency:  75% × 125% = 93.75%</a:t>
            </a:r>
            <a:endParaRPr lang="en-US" sz="1800" dirty="0"/>
          </a:p>
        </p:txBody>
      </p:sp>
      <p:sp>
        <p:nvSpPr>
          <p:cNvPr id="31" name="Text 29"/>
          <p:cNvSpPr txBox="1"/>
          <p:nvPr/>
        </p:nvSpPr>
        <p:spPr>
          <a:xfrm>
            <a:off x="896112" y="5897880"/>
            <a:ext cx="10396728" cy="292608"/>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Clocked hours exclude vacation, paid time off and holiday pay.</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2026-10-28T18:18:08Z</dcterms:created>
  <dcterms:modified xsi:type="dcterms:W3CDTF">2026-10-28T18:18:09Z</dcterms:modified>
</cp:coreProperties>
</file>