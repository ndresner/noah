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$6,602,564 a year = 0.1 x each store's CP RO count x its own CP labor + parts gross per sold hour, Jan-Sep x 12/9 (279,756 CP ROs: 27,976 hours Jan-Sep, 37,301 a year; about $177 an hour on that mix). Same figure as What 0.1 Hour per RO Is Worth and Where the Money Is (Oct 28 audit; was $4,543,691 Jan-Sep labor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
Roundtable worked example removed from the slide (Noah, Oct 21).
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 Parts line (Noah, Oct 23: the parts $ per RO section is out of the deck, so the link lives here): CP parts per RO $228.50 -&gt; $237.96 Jan-Sep 2025 -&gt; 2026 while CP labor per RO rose $286.67 -&gt; $303.72 (Qlik Closed RO, m5.json).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(Noah, Oct 23: replaces the Roundtable table): one CP hour at the group's Jan-Sep 2026 averages, $162.42 ELR, $31.21 tech cost per hour sold, $131.21 kept = 80.8%; rounded on the slide.
Oct 23 (Noah): The Goldilocks Margin talking point is folded into this slide (it repeated it): no Goldilocks or Roundtable wording; its ask (match the tech to the job, not squeeze tech pay) is the first Why It Matters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
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
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
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Profit &amp; Loss (GM and Detail statements), Jan-Sep 2026 vs 2025, same-store, 33 stores, GMC Prescott body shop out.PLACE: Profitability, in front of Fixed Ops Absorption %.
P&amp;L definition: line 254 Total Gross Profit - Fixed Ops / line 258 Fixed Expenses (the stored line 257 returns a dollar value, so the slide derives it). GMC Prescott body shop taken out (its gross and its body shop fixed expenses), as everywhere in the deck (Noah, Oct 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Profit &amp; Loss (GM and Detail statements), Jan-Sep 2026 vs 2025, same-store, 33 stores, GMC Prescott body shop out.PLACE: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
Period: pay periods Dec 25, 2025 to Oct 9, 2026, matched by tech number, all pay types; labelled Jan-Sep 2026 YTD on the slide (Noah, Oct 26: closest the pay periods allow).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Profit &amp; Loss (GM and Detail statements), Jan-Sep 2026 vs 2025, same-store, 33 stores, GMC Prescott body shop out.PLACE: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
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37,301 hours a year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each store's gross per hour  </a:t>
            </a:r>
            <a:pPr algn="ctr" indent="0" marL="0">
              <a:buNone/>
            </a:pPr>
            <a:r>
              <a:rPr lang="en-US" sz="1400" b="1" dirty="0">
                <a:solidFill>
                  <a:srgbClr val="0B2C4A"/>
                </a:solidFill>
                <a:latin typeface="Inter" pitchFamily="34" charset="0"/>
                <a:ea typeface="Inter" pitchFamily="34" charset="-122"/>
                <a:cs typeface="Inter" pitchFamily="34" charset="-120"/>
              </a:rPr>
              <a:t>= $6.6M a year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77.9%</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77.9% absorption, up 2.1 pts. Fixed gross grew 4.1%; fixed expenses 1.4%.</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Vacation, paid time off and holiday pay are excluded from clocked hours.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572768"/>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
        <p:nvSpPr>
          <p:cNvPr id="31" name="Text 29"/>
          <p:cNvSpPr txBox="1"/>
          <p:nvPr/>
        </p:nvSpPr>
        <p:spPr>
          <a:xfrm>
            <a:off x="896112" y="5897880"/>
            <a:ext cx="10396728" cy="292608"/>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Clocked hours exclude vacation, paid time off and holiday pay.</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2026-10-28T17:01:53Z</dcterms:created>
  <dcterms:modified xsi:type="dcterms:W3CDTF">2026-10-28T17:01:53Z</dcterms:modified>
</cp:coreProperties>
</file>