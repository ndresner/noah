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
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
$4,543,691 = 0.1 x 279,756 CP ROs (27,976 hours) x $162.42 CP ELR (on the Hours per RO data slide). Slide rounds to $162 and $4.5M so the room can follow it (Noah, Oct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Customer Pay, after CP Hours per RO and ahead of Labor Sale by Pay Type and the CP ELR slides.
Roundtable worked example removed from the slide (Noah, Oct 21).
Talk track (Noah, Oct 23): to understand your ELR you have to understand your work mix. A shop that does more repair than maintenance will run a higher ELR, because the repair rate is higher; a shop that is mostly maintenance will run lower. There is nothing wrong with that, but you need to know your mix to know why your ELR is what it is. Raising the repair rate may do less than raising the maintenance rate if most of your work is maintenance. Know your ELR for every labor operation.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
1.87 x $162.42 = $303.73, which rounds to the $304 on the data slide. Parts line (Noah, Oct 23: the parts $ per RO section is out of the deck, so the link lives here): CP parts per RO $228.50 -&gt; $237.96 Jan-Sep 2025 -&gt; 2026 while CP labor per RO rose $286.67 -&gt; $303.72 (Qlik Closed RO, m5.json).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 per 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
Example (Noah, Oct 23: replaces the Roundtable table): one CP hour at the group's Jan-Sep 2026 averages, $162.42 ELR, $31.21 tech cost per hour sold, $131.21 kept = 80.8%; rounded on the slide.
Oct 23 (Noah): The Goldilocks Margin talking point is folded into this slide (it repeated it): no Goldilocks or Roundtable wording; its ask (match the tech to the job, not squeeze tech pay) is the first Why It Matters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
Why understand your parts pricing matrix (Noah, Oct 26): (1) Maximize gross profit: price parts to maximize profitability; find gross without more volume. (2) Consistent pricing: every customer charged the same for the same part; no incorrect prices from bad setups or manual overrides. (3) Stay competitive: avoid markups that make repairs too expensive; balance profit with price on higher-cost parts. (4) Check the matrix is applied: parts actually sell at matrix prices; find parts, labor types or transactions that bypass it. (5) Warranty reimbursement: customer-pay parts pricing drives the warranty parts reimbursement rate, so good pricing supports a higher rate and more warranty gross. (6) Control the strategy: know how your matrix is configured and review it against your gross profit goals. Takeaway: the matrix is one of the most effective tools for improving profit without more volume.
5 reasons parts gross profit % matters (Noah, Oct 26): (1) Maximizes profitability: higher GP % earns more from the same volume; small improvements add up over a year. (2) Measures pricing effectiveness: are parts sold at the right prices; where to improve matrices, discounts and markups. (3) Controls discounts and cost increases: shows when discounting cuts profit, and when rising parts costs are not reflected in selling prices. (4) Supports dealership profit: parts gross covers department expenses, adds to net profit and helps fixed ops absorb store overhead. (5) Identifies opportunities: compare against targets, history and other stores; find weak categories (customer pay, wholesale, warranty, internal). Takeaway: parts GP % measures how well we turn parts sales into profit; raising it is one of the most direct ways to grow profit without more volume.
37 cents (Oct 26): P&amp;L Detail, Jan-Sep 2026 same-store, parts department profit $22.75M / parts gross $61.93M = 36.7% (2025 37.1%); service 21.8% (2025 18.9%); new and used lose money at the department level; parts beats service in 31 of 33 stores (not Honda Henderson, VW Henderson). F&amp;I income less F&amp;I commissions is higher (about 80%) but F&amp;I is not a P&amp;L department and its other costs sit in new and used, so say 'department'. Department view: about $87M of other income (doc fees, packs, factory money, holdback) is booked outside the departments.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Profitability, in front of Fixed Ops Absorption %.
P&amp;L definition: line 254 Total Gross Profit - Fixed Ops / line 258 Fixed Expenses (the stored line 257 returns a dollar value, so the slide derives it). GMC Prescott includes its body shop, as on the P&amp;L.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Profitability, in front of Service Net to Gross %.
P&amp;L Detail statement: DEPARTMENT PROFIT OR LOSS / GROSS PROFIT / INCOME, Mechanical Dept (service) and P&amp;A Dept (parts).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
Denominator: CP ROs on the op code report basis (excluding ROs flagged out of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
Proficiency uses ADP worked hours (regular + overtime), so it includes time not on an RO. Efficiency would use DMS time punched on jobs, which this data does not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right after 'What Is Technician Proficiency?'.
Period: pay periods Dec 25, 2025 to Oct 9, 2026, matched by tech number, all pay types; labelled Jan-Sep 2026 YTD on the slide (Noah, Oct 26: closest the pay periods allow).
Rules as applied on the proficiency slides (Oct 16 2026). Express techs at stores that pool express hours are mostly excluded by the 10%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Gross section, after Service Is Sales 2.0 and in front of Total Gross Profit - Fixed Ops.
Source: Qlik Profit &amp; Loss, Total Gross Profit - Service and Total Gross Profit - Parts, same-store, INEOS excluded, GMC Prescott body shop gross excluded (as on the gross slides). Hourly technician pay, guarantees and bonuses paid off the RO post as unapplied labor: not charged on any repair order, a cost-of-sale adjustment that reduces service gross (Noah, Oct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Every RO with a customer-pay line. One RO counts once, however many lines it has.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Everything else starts here: hours, ELR and $ per RO all multiply off the RO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the business is expanding or contracting: are customers coming back?</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801942"/>
          </a:xfrm>
          <a:prstGeom prst="rect">
            <a:avLst/>
          </a:prstGeom>
          <a:solidFill>
            <a:srgbClr val="2587C5"/>
          </a:solidFill>
          <a:ln/>
        </p:spPr>
      </p:sp>
      <p:sp>
        <p:nvSpPr>
          <p:cNvPr id="14" name="Text 12"/>
          <p:cNvSpPr txBox="1"/>
          <p:nvPr/>
        </p:nvSpPr>
        <p:spPr>
          <a:xfrm>
            <a:off x="5266944"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801942"/>
          </a:xfrm>
          <a:prstGeom prst="rect">
            <a:avLst/>
          </a:prstGeom>
          <a:solidFill>
            <a:srgbClr val="2587C5"/>
          </a:solidFill>
          <a:ln/>
        </p:spPr>
      </p:sp>
      <p:sp>
        <p:nvSpPr>
          <p:cNvPr id="16" name="Text 14"/>
          <p:cNvSpPr txBox="1"/>
          <p:nvPr/>
        </p:nvSpPr>
        <p:spPr>
          <a:xfrm>
            <a:off x="8522208"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755454"/>
            <a:ext cx="45720" cy="1121027"/>
          </a:xfrm>
          <a:prstGeom prst="rect">
            <a:avLst/>
          </a:prstGeom>
          <a:solidFill>
            <a:srgbClr val="2587C5"/>
          </a:solidFill>
          <a:ln/>
        </p:spPr>
      </p:sp>
      <p:sp>
        <p:nvSpPr>
          <p:cNvPr id="18" name="Text 16"/>
          <p:cNvSpPr txBox="1"/>
          <p:nvPr/>
        </p:nvSpPr>
        <p:spPr>
          <a:xfrm>
            <a:off x="5266944"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Proactive outreach and ongoing engagement: lapsed, inactive and sold-not-serviced customers (VizAuto retention app)</a:t>
            </a:r>
            <a:endParaRPr lang="en-US" sz="1400" dirty="0"/>
          </a:p>
        </p:txBody>
      </p:sp>
      <p:sp>
        <p:nvSpPr>
          <p:cNvPr id="19" name="Shape 17"/>
          <p:cNvSpPr/>
          <p:nvPr/>
        </p:nvSpPr>
        <p:spPr>
          <a:xfrm>
            <a:off x="8394192" y="3755454"/>
            <a:ext cx="45720" cy="1121027"/>
          </a:xfrm>
          <a:prstGeom prst="rect">
            <a:avLst/>
          </a:prstGeom>
          <a:solidFill>
            <a:srgbClr val="2587C5"/>
          </a:solidFill>
          <a:ln/>
        </p:spPr>
      </p:sp>
      <p:sp>
        <p:nvSpPr>
          <p:cNvPr id="20" name="Text 18"/>
          <p:cNvSpPr txBox="1"/>
          <p:nvPr/>
        </p:nvSpPr>
        <p:spPr>
          <a:xfrm>
            <a:off x="8522208"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Quick maintenance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available on demand, done quickly and efficiently, keeps customers coming back</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
        <p:nvSpPr>
          <p:cNvPr id="25" name="Shape 23"/>
          <p:cNvSpPr/>
          <p:nvPr/>
        </p:nvSpPr>
        <p:spPr>
          <a:xfrm>
            <a:off x="457200" y="6126480"/>
            <a:ext cx="11274552" cy="371856"/>
          </a:xfrm>
          <a:prstGeom prst="rect">
            <a:avLst/>
          </a:prstGeom>
          <a:solidFill>
            <a:srgbClr val="EDF4FA"/>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279,756 CP ROs, up 456 from 2025. Volume is flat.</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labor hours we sell, on average, every time a customer-pay car comes through the drive.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on every RO  </a:t>
            </a:r>
            <a:pPr algn="ctr" indent="0" marL="0">
              <a:buNone/>
            </a:pPr>
            <a:r>
              <a:rPr lang="en-US" sz="1400" b="1" dirty="0">
                <a:solidFill>
                  <a:srgbClr val="0B2C4A"/>
                </a:solidFill>
                <a:latin typeface="Inter" pitchFamily="34" charset="0"/>
                <a:ea typeface="Inter" pitchFamily="34" charset="-122"/>
                <a:cs typeface="Inter" pitchFamily="34" charset="-120"/>
              </a:rPr>
              <a:t>= 27,976 more hours</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$162 an hour (our ELR)  </a:t>
            </a:r>
            <a:pPr algn="ctr" indent="0" marL="0">
              <a:buNone/>
            </a:pPr>
            <a:r>
              <a:rPr lang="en-US" sz="1400" b="1" dirty="0">
                <a:solidFill>
                  <a:srgbClr val="0B2C4A"/>
                </a:solidFill>
                <a:latin typeface="Inter" pitchFamily="34" charset="0"/>
                <a:ea typeface="Inter" pitchFamily="34" charset="-122"/>
                <a:cs typeface="Inter" pitchFamily="34" charset="-120"/>
              </a:rPr>
              <a:t>= $4.5M more labor</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cannot be manipulated: it is the work we sell.</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where the lift came from: if labor sales per RO go up but hours per RO stay flat, we are charging more, not selling more.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Selling more hours also sells parts.</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7309104" y="3410712"/>
            <a:ext cx="45720" cy="1133856"/>
          </a:xfrm>
          <a:prstGeom prst="rect">
            <a:avLst/>
          </a:prstGeom>
          <a:solidFill>
            <a:srgbClr val="2587C5"/>
          </a:solidFill>
          <a:ln/>
        </p:spPr>
      </p:sp>
      <p:sp>
        <p:nvSpPr>
          <p:cNvPr id="21" name="Text 19"/>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9479280" y="3410712"/>
            <a:ext cx="45720" cy="1133856"/>
          </a:xfrm>
          <a:prstGeom prst="rect">
            <a:avLst/>
          </a:prstGeom>
          <a:solidFill>
            <a:srgbClr val="2587C5"/>
          </a:solidFill>
          <a:ln/>
        </p:spPr>
      </p:sp>
      <p:sp>
        <p:nvSpPr>
          <p:cNvPr id="23" name="Text 21"/>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7309104" y="4654296"/>
            <a:ext cx="45720" cy="1133856"/>
          </a:xfrm>
          <a:prstGeom prst="rect">
            <a:avLst/>
          </a:prstGeom>
          <a:solidFill>
            <a:srgbClr val="2587C5"/>
          </a:solidFill>
          <a:ln/>
        </p:spPr>
      </p:sp>
      <p:sp>
        <p:nvSpPr>
          <p:cNvPr id="27" name="Text 25"/>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9479280" y="4654296"/>
            <a:ext cx="45720" cy="1133856"/>
          </a:xfrm>
          <a:prstGeom prst="rect">
            <a:avLst/>
          </a:prstGeom>
          <a:solidFill>
            <a:srgbClr val="2587C5"/>
          </a:solidFill>
          <a:ln/>
        </p:spPr>
      </p:sp>
      <p:sp>
        <p:nvSpPr>
          <p:cNvPr id="29" name="Text 27"/>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
        <p:nvSpPr>
          <p:cNvPr id="30" name="Shape 28"/>
          <p:cNvSpPr/>
          <p:nvPr/>
        </p:nvSpPr>
        <p:spPr>
          <a:xfrm>
            <a:off x="457200" y="6126480"/>
            <a:ext cx="11274552" cy="371856"/>
          </a:xfrm>
          <a:prstGeom prst="rect">
            <a:avLst/>
          </a:prstGeom>
          <a:solidFill>
            <a:srgbClr val="E6F6EE"/>
          </a:solidFill>
          <a:ln/>
        </p:spPr>
      </p:sp>
      <p:sp>
        <p:nvSpPr>
          <p:cNvPr id="31" name="Text 29"/>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1.87 CP hours per RO, up 0.07 and ahead of 2025 in all nine months.</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average amount we collect for each hour of customer-pay labor we sell.</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what the shop actually collects per hour, and it shows whether a pricing change did what it was meant to do.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Look past the total: by work type and by op code there can be room to raise a rate, or a reason to lower one.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Benchmark: CP ELR at least 70% of door rate.</a:t>
            </a:r>
            <a:endParaRPr lang="en-US" sz="1600" dirty="0"/>
          </a:p>
        </p:txBody>
      </p:sp>
      <p:sp>
        <p:nvSpPr>
          <p:cNvPr id="13" name="Shape 11"/>
          <p:cNvSpPr/>
          <p:nvPr/>
        </p:nvSpPr>
        <p:spPr>
          <a:xfrm>
            <a:off x="5138928" y="2843784"/>
            <a:ext cx="45720" cy="1064924"/>
          </a:xfrm>
          <a:prstGeom prst="rect">
            <a:avLst/>
          </a:prstGeom>
          <a:solidFill>
            <a:srgbClr val="2587C5"/>
          </a:solidFill>
          <a:ln/>
        </p:spPr>
      </p:sp>
      <p:sp>
        <p:nvSpPr>
          <p:cNvPr id="14" name="Text 12"/>
          <p:cNvSpPr txBox="1"/>
          <p:nvPr/>
        </p:nvSpPr>
        <p:spPr>
          <a:xfrm>
            <a:off x="5266944" y="2843784"/>
            <a:ext cx="2962656" cy="106492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is priced above maintenance: repair-heavy shops run a higher ELR, maintenance-heavy lower. Neither is wrong.</a:t>
            </a:r>
            <a:endParaRPr lang="en-US" sz="1400" dirty="0"/>
          </a:p>
        </p:txBody>
      </p:sp>
      <p:sp>
        <p:nvSpPr>
          <p:cNvPr id="15" name="Shape 13"/>
          <p:cNvSpPr/>
          <p:nvPr/>
        </p:nvSpPr>
        <p:spPr>
          <a:xfrm>
            <a:off x="8394192" y="2843784"/>
            <a:ext cx="45720" cy="1064924"/>
          </a:xfrm>
          <a:prstGeom prst="rect">
            <a:avLst/>
          </a:prstGeom>
          <a:solidFill>
            <a:srgbClr val="2587C5"/>
          </a:solidFill>
          <a:ln/>
        </p:spPr>
      </p:sp>
      <p:sp>
        <p:nvSpPr>
          <p:cNvPr id="16" name="Text 14"/>
          <p:cNvSpPr txBox="1"/>
          <p:nvPr/>
        </p:nvSpPr>
        <p:spPr>
          <a:xfrm>
            <a:off x="8522208" y="2843784"/>
            <a:ext cx="2962656" cy="106492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If most of your hours are maintenance, the maintenance rate moves ELR more than the repair rate</a:t>
            </a:r>
            <a:endParaRPr lang="en-US" sz="1400" dirty="0"/>
          </a:p>
        </p:txBody>
      </p:sp>
      <p:sp>
        <p:nvSpPr>
          <p:cNvPr id="17" name="Shape 15"/>
          <p:cNvSpPr/>
          <p:nvPr/>
        </p:nvSpPr>
        <p:spPr>
          <a:xfrm>
            <a:off x="5138928" y="4018436"/>
            <a:ext cx="45720" cy="829994"/>
          </a:xfrm>
          <a:prstGeom prst="rect">
            <a:avLst/>
          </a:prstGeom>
          <a:solidFill>
            <a:srgbClr val="2587C5"/>
          </a:solidFill>
          <a:ln/>
        </p:spPr>
      </p:sp>
      <p:sp>
        <p:nvSpPr>
          <p:cNvPr id="18" name="Text 16"/>
          <p:cNvSpPr txBox="1"/>
          <p:nvPr/>
        </p:nvSpPr>
        <p:spPr>
          <a:xfrm>
            <a:off x="5266944" y="4018436"/>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ELR by labor operation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what every op code collects per hour, not just the store total</a:t>
            </a:r>
            <a:endParaRPr lang="en-US" sz="1400" dirty="0"/>
          </a:p>
        </p:txBody>
      </p:sp>
      <p:sp>
        <p:nvSpPr>
          <p:cNvPr id="19" name="Shape 17"/>
          <p:cNvSpPr/>
          <p:nvPr/>
        </p:nvSpPr>
        <p:spPr>
          <a:xfrm>
            <a:off x="8394192" y="4018436"/>
            <a:ext cx="45720" cy="829994"/>
          </a:xfrm>
          <a:prstGeom prst="rect">
            <a:avLst/>
          </a:prstGeom>
          <a:solidFill>
            <a:srgbClr val="2587C5"/>
          </a:solidFill>
          <a:ln/>
        </p:spPr>
      </p:sp>
      <p:sp>
        <p:nvSpPr>
          <p:cNvPr id="20" name="Text 18"/>
          <p:cNvSpPr txBox="1"/>
          <p:nvPr/>
        </p:nvSpPr>
        <p:spPr>
          <a:xfrm>
            <a:off x="8522208" y="4018436"/>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 and repair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Posted rate from a market labor study, and how repair jobs are priced against it</a:t>
            </a:r>
            <a:endParaRPr lang="en-US" sz="1400" dirty="0"/>
          </a:p>
        </p:txBody>
      </p:sp>
      <p:sp>
        <p:nvSpPr>
          <p:cNvPr id="21" name="Shape 19"/>
          <p:cNvSpPr/>
          <p:nvPr/>
        </p:nvSpPr>
        <p:spPr>
          <a:xfrm>
            <a:off x="5138928" y="4958158"/>
            <a:ext cx="45720" cy="829994"/>
          </a:xfrm>
          <a:prstGeom prst="rect">
            <a:avLst/>
          </a:prstGeom>
          <a:solidFill>
            <a:srgbClr val="2587C5"/>
          </a:solidFill>
          <a:ln/>
        </p:spPr>
      </p:sp>
      <p:sp>
        <p:nvSpPr>
          <p:cNvPr id="22" name="Text 20"/>
          <p:cNvSpPr txBox="1"/>
          <p:nvPr/>
        </p:nvSpPr>
        <p:spPr>
          <a:xfrm>
            <a:off x="5266944" y="4958158"/>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3" name="Shape 21"/>
          <p:cNvSpPr/>
          <p:nvPr/>
        </p:nvSpPr>
        <p:spPr>
          <a:xfrm>
            <a:off x="8394192" y="4958158"/>
            <a:ext cx="45720" cy="829994"/>
          </a:xfrm>
          <a:prstGeom prst="rect">
            <a:avLst/>
          </a:prstGeom>
          <a:solidFill>
            <a:srgbClr val="2587C5"/>
          </a:solidFill>
          <a:ln/>
        </p:spPr>
      </p:sp>
      <p:sp>
        <p:nvSpPr>
          <p:cNvPr id="24" name="Text 22"/>
          <p:cNvSpPr txBox="1"/>
          <p:nvPr/>
        </p:nvSpPr>
        <p:spPr>
          <a:xfrm>
            <a:off x="8522208" y="4958158"/>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labor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hours we set and pay the tech on menu jobs; repair times come from labor guides</a:t>
            </a:r>
            <a:endParaRPr lang="en-US" sz="1400" dirty="0"/>
          </a:p>
        </p:txBody>
      </p:sp>
      <p:sp>
        <p:nvSpPr>
          <p:cNvPr id="25" name="Shape 23"/>
          <p:cNvSpPr/>
          <p:nvPr/>
        </p:nvSpPr>
        <p:spPr>
          <a:xfrm>
            <a:off x="457200" y="6126480"/>
            <a:ext cx="11274552" cy="364236"/>
          </a:xfrm>
          <a:prstGeom prst="rect">
            <a:avLst/>
          </a:prstGeom>
          <a:solidFill>
            <a:srgbClr val="E6F6EE"/>
          </a:solidFill>
          <a:ln/>
        </p:spPr>
      </p:sp>
      <p:sp>
        <p:nvSpPr>
          <p:cNvPr id="26" name="Text 24"/>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Group: $162.42 CP ELR, up $3.56. Jul-Sep it ran 74.7% of door rate; 25 of 33 stores at or above 70%.</a:t>
            </a:r>
            <a:endParaRPr lang="en-US" sz="15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Focus on CP labor dollars per RO and every other metric rises with it.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With additional labor sales come additional parts sales.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single best metric to measure a service advisor's performance.</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Written process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Follow it on every car: a multi-point inspection every time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menu</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the menu and its recommendations, consistently, every customer</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Reward advisors for CP labor sales and gross: what they control, and a true measure of their performance</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 and accountability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gets tracked gets improved: accountability through visibility</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Parts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parts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parts sold through the service drive, per visit.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Parts follow labor: sell the hour and the parts come with it.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adds parts gross on the same car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Luxury stores run more than twice the rest, so compare a store with its own segment.</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repair and maintenance hours carry more parts</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bundles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Group-priced maintenance parts for dealer and customer</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we charge relative to cost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Staging and special orders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ready at the bay; special orders followed up</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$238 CP parts per RO, up $9 and ahead of 2025 in all nine months.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ONE HOUR SOLD</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 1 hour at  </a:t>
            </a:r>
            <a:pPr algn="ctr" indent="0" marL="0">
              <a:buNone/>
            </a:pPr>
            <a:r>
              <a:rPr lang="en-US" sz="1400" b="1" dirty="0">
                <a:solidFill>
                  <a:srgbClr val="0B2C4A"/>
                </a:solidFill>
                <a:latin typeface="Inter" pitchFamily="34" charset="0"/>
                <a:ea typeface="Inter" pitchFamily="34" charset="-122"/>
                <a:cs typeface="Inter" pitchFamily="34" charset="-120"/>
              </a:rPr>
              <a:t>$162</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Pay the tech  </a:t>
            </a:r>
            <a:pPr algn="ctr" indent="0" marL="0">
              <a:buNone/>
            </a:pPr>
            <a:r>
              <a:rPr lang="en-US" sz="1400" b="1" dirty="0">
                <a:solidFill>
                  <a:srgbClr val="0B2C4A"/>
                </a:solidFill>
                <a:latin typeface="Inter" pitchFamily="34" charset="0"/>
                <a:ea typeface="Inter" pitchFamily="34" charset="-122"/>
                <a:cs typeface="Inter" pitchFamily="34" charset="-120"/>
              </a:rPr>
              <a:t>$31</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We keep  </a:t>
            </a:r>
            <a:pPr algn="ctr" indent="0" marL="0">
              <a:buNone/>
            </a:pPr>
            <a:r>
              <a:rPr lang="en-US" sz="1400" b="1" dirty="0">
                <a:solidFill>
                  <a:srgbClr val="0B2C4A"/>
                </a:solidFill>
                <a:latin typeface="Inter" pitchFamily="34" charset="0"/>
                <a:ea typeface="Inter" pitchFamily="34" charset="-122"/>
                <a:cs typeface="Inter" pitchFamily="34" charset="-120"/>
              </a:rPr>
              <a:t>$131</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$131 ÷ $162  </a:t>
            </a:r>
            <a:pPr algn="ctr" indent="0" marL="0">
              <a:buNone/>
            </a:pPr>
            <a:r>
              <a:rPr lang="en-US" sz="1400" b="1" dirty="0">
                <a:solidFill>
                  <a:srgbClr val="0B2C4A"/>
                </a:solidFill>
                <a:latin typeface="Inter" pitchFamily="34" charset="0"/>
                <a:ea typeface="Inter" pitchFamily="34" charset="-122"/>
                <a:cs typeface="Inter" pitchFamily="34" charset="-120"/>
              </a:rPr>
              <a:t>81%</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target range is 78% to 80%: not too high, not too low. Hold it by matching the tech to the work, not by squeezing tech pay.</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our labor price is too low for what we pay the tech, or tech cost is too high for what we charge.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which can cost us technicians and hurt retention.</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4" name="Shape 22"/>
          <p:cNvSpPr/>
          <p:nvPr/>
        </p:nvSpPr>
        <p:spPr>
          <a:xfrm>
            <a:off x="7309104" y="3410712"/>
            <a:ext cx="45720" cy="1133856"/>
          </a:xfrm>
          <a:prstGeom prst="rect">
            <a:avLst/>
          </a:prstGeom>
          <a:solidFill>
            <a:srgbClr val="2587C5"/>
          </a:solidFill>
          <a:ln/>
        </p:spPr>
      </p:sp>
      <p:sp>
        <p:nvSpPr>
          <p:cNvPr id="25" name="Text 23"/>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6" name="Shape 24"/>
          <p:cNvSpPr/>
          <p:nvPr/>
        </p:nvSpPr>
        <p:spPr>
          <a:xfrm>
            <a:off x="9479280" y="3410712"/>
            <a:ext cx="45720" cy="1133856"/>
          </a:xfrm>
          <a:prstGeom prst="rect">
            <a:avLst/>
          </a:prstGeom>
          <a:solidFill>
            <a:srgbClr val="2587C5"/>
          </a:solidFill>
          <a:ln/>
        </p:spPr>
      </p:sp>
      <p:sp>
        <p:nvSpPr>
          <p:cNvPr id="27" name="Text 25"/>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28" name="Shape 26"/>
          <p:cNvSpPr/>
          <p:nvPr/>
        </p:nvSpPr>
        <p:spPr>
          <a:xfrm>
            <a:off x="5138928" y="4654296"/>
            <a:ext cx="45720" cy="1133856"/>
          </a:xfrm>
          <a:prstGeom prst="rect">
            <a:avLst/>
          </a:prstGeom>
          <a:solidFill>
            <a:srgbClr val="2587C5"/>
          </a:solidFill>
          <a:ln/>
        </p:spPr>
      </p:sp>
      <p:sp>
        <p:nvSpPr>
          <p:cNvPr id="29" name="Text 27"/>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Type of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runs a lower margin than repair at full door rate</a:t>
            </a:r>
            <a:endParaRPr lang="en-US" sz="1400" dirty="0"/>
          </a:p>
        </p:txBody>
      </p:sp>
      <p:sp>
        <p:nvSpPr>
          <p:cNvPr id="30" name="Shape 28"/>
          <p:cNvSpPr/>
          <p:nvPr/>
        </p:nvSpPr>
        <p:spPr>
          <a:xfrm>
            <a:off x="7309104" y="4654296"/>
            <a:ext cx="45720" cy="1133856"/>
          </a:xfrm>
          <a:prstGeom prst="rect">
            <a:avLst/>
          </a:prstGeom>
          <a:solidFill>
            <a:srgbClr val="2587C5"/>
          </a:solidFill>
          <a:ln/>
        </p:spPr>
      </p:sp>
      <p:sp>
        <p:nvSpPr>
          <p:cNvPr id="31" name="Text 29"/>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Low-rate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Internal detail and other low-dollar-per-hour work pull the margin down</a:t>
            </a:r>
            <a:endParaRPr lang="en-US" sz="1400" dirty="0"/>
          </a:p>
        </p:txBody>
      </p:sp>
      <p:sp>
        <p:nvSpPr>
          <p:cNvPr id="32" name="Shape 30"/>
          <p:cNvSpPr/>
          <p:nvPr/>
        </p:nvSpPr>
        <p:spPr>
          <a:xfrm>
            <a:off x="9479280" y="4654296"/>
            <a:ext cx="45720" cy="1133856"/>
          </a:xfrm>
          <a:prstGeom prst="rect">
            <a:avLst/>
          </a:prstGeom>
          <a:solidFill>
            <a:srgbClr val="2587C5"/>
          </a:solidFill>
          <a:ln/>
        </p:spPr>
      </p:sp>
      <p:sp>
        <p:nvSpPr>
          <p:cNvPr id="33" name="Text 31"/>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it and keep controls in place</a:t>
            </a:r>
            <a:endParaRPr lang="en-US" sz="1400" dirty="0"/>
          </a:p>
        </p:txBody>
      </p:sp>
      <p:sp>
        <p:nvSpPr>
          <p:cNvPr id="34" name="Shape 32"/>
          <p:cNvSpPr/>
          <p:nvPr/>
        </p:nvSpPr>
        <p:spPr>
          <a:xfrm>
            <a:off x="457200" y="6126480"/>
            <a:ext cx="11274552" cy="371856"/>
          </a:xfrm>
          <a:prstGeom prst="rect">
            <a:avLst/>
          </a:prstGeom>
          <a:solidFill>
            <a:srgbClr val="EDF4FA"/>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 range.</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less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keeps about 37¢ of every gross dollar after its own expenses, the most of any department (service 22¢): margin goes almost straight to the bottom line.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whether parts sell at the right price: matrix, markups and discounts.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flags heavy discounting, or cost increases we have not passed on.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CP parts pricing supports the warranty parts reimbursement rate.</a:t>
            </a:r>
            <a:endParaRPr lang="en-US" sz="1500" dirty="0"/>
          </a:p>
        </p:txBody>
      </p:sp>
      <p:sp>
        <p:nvSpPr>
          <p:cNvPr id="13" name="Shape 11"/>
          <p:cNvSpPr/>
          <p:nvPr/>
        </p:nvSpPr>
        <p:spPr>
          <a:xfrm>
            <a:off x="5138928" y="2843784"/>
            <a:ext cx="45720" cy="1121027"/>
          </a:xfrm>
          <a:prstGeom prst="rect">
            <a:avLst/>
          </a:prstGeom>
          <a:solidFill>
            <a:srgbClr val="2587C5"/>
          </a:solidFill>
          <a:ln/>
        </p:spPr>
      </p:sp>
      <p:sp>
        <p:nvSpPr>
          <p:cNvPr id="14" name="Text 12"/>
          <p:cNvSpPr txBox="1"/>
          <p:nvPr/>
        </p:nvSpPr>
        <p:spPr>
          <a:xfrm>
            <a:off x="5266944"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how it is set up, make sure pricing follows the matrix setup, and review it against your gross goals</a:t>
            </a:r>
            <a:endParaRPr lang="en-US" sz="1400" dirty="0"/>
          </a:p>
        </p:txBody>
      </p:sp>
      <p:sp>
        <p:nvSpPr>
          <p:cNvPr id="15" name="Shape 13"/>
          <p:cNvSpPr/>
          <p:nvPr/>
        </p:nvSpPr>
        <p:spPr>
          <a:xfrm>
            <a:off x="8394192" y="2843784"/>
            <a:ext cx="45720" cy="1121027"/>
          </a:xfrm>
          <a:prstGeom prst="rect">
            <a:avLst/>
          </a:prstGeom>
          <a:solidFill>
            <a:srgbClr val="2587C5"/>
          </a:solidFill>
          <a:ln/>
        </p:spPr>
      </p:sp>
      <p:sp>
        <p:nvSpPr>
          <p:cNvPr id="16" name="Text 14"/>
          <p:cNvSpPr txBox="1"/>
          <p:nvPr/>
        </p:nvSpPr>
        <p:spPr>
          <a:xfrm>
            <a:off x="8522208"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 and overrides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discounts and manual price changes; keep safeguards in place</a:t>
            </a:r>
            <a:endParaRPr lang="en-US" sz="1400" dirty="0"/>
          </a:p>
        </p:txBody>
      </p:sp>
      <p:sp>
        <p:nvSpPr>
          <p:cNvPr id="17" name="Shape 15"/>
          <p:cNvSpPr/>
          <p:nvPr/>
        </p:nvSpPr>
        <p:spPr>
          <a:xfrm>
            <a:off x="5138928" y="4074539"/>
            <a:ext cx="45720" cy="801942"/>
          </a:xfrm>
          <a:prstGeom prst="rect">
            <a:avLst/>
          </a:prstGeom>
          <a:solidFill>
            <a:srgbClr val="2587C5"/>
          </a:solidFill>
          <a:ln/>
        </p:spPr>
      </p:sp>
      <p:sp>
        <p:nvSpPr>
          <p:cNvPr id="18" name="Text 16"/>
          <p:cNvSpPr txBox="1"/>
          <p:nvPr/>
        </p:nvSpPr>
        <p:spPr>
          <a:xfrm>
            <a:off x="5266944"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Stay competitive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Balance margin with price, especially on high-cost parts</a:t>
            </a:r>
            <a:endParaRPr lang="en-US" sz="1400" dirty="0"/>
          </a:p>
        </p:txBody>
      </p:sp>
      <p:sp>
        <p:nvSpPr>
          <p:cNvPr id="19" name="Shape 17"/>
          <p:cNvSpPr/>
          <p:nvPr/>
        </p:nvSpPr>
        <p:spPr>
          <a:xfrm>
            <a:off x="8394192" y="4074539"/>
            <a:ext cx="45720" cy="801942"/>
          </a:xfrm>
          <a:prstGeom prst="rect">
            <a:avLst/>
          </a:prstGeom>
          <a:solidFill>
            <a:srgbClr val="2587C5"/>
          </a:solidFill>
          <a:ln/>
        </p:spPr>
      </p:sp>
      <p:sp>
        <p:nvSpPr>
          <p:cNvPr id="20" name="Text 18"/>
          <p:cNvSpPr txBox="1"/>
          <p:nvPr/>
        </p:nvSpPr>
        <p:spPr>
          <a:xfrm>
            <a:off x="8522208"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and actively manage your parts GP %: know where you stand and adjust as needed</a:t>
            </a:r>
            <a:endParaRPr lang="en-US" sz="1400" dirty="0"/>
          </a:p>
        </p:txBody>
      </p:sp>
      <p:sp>
        <p:nvSpPr>
          <p:cNvPr id="25" name="Shape 23"/>
          <p:cNvSpPr/>
          <p:nvPr/>
        </p:nvSpPr>
        <p:spPr>
          <a:xfrm>
            <a:off x="457200" y="6126480"/>
            <a:ext cx="11274552" cy="371856"/>
          </a:xfrm>
          <a:prstGeom prst="rect">
            <a:avLst/>
          </a:prstGeom>
          <a:solidFill>
            <a:srgbClr val="E6F6EE"/>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How much of the whole store's fixed expenses, not just service and parts expenses, the service and parts gross pays for.</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ops 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Everything on the customer-pay slides: ROs, hours, ELR, margin</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Store 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whole store's rent, facility and other fixed costs</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Warranty and internal</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Gross from warranty and reconditioning counts too</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and wholesale parts gross counts as well</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true measure of how the department performs.</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is what we make; net is what we keep.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can grow while net falls if expenses grow faster.</a:t>
            </a:r>
            <a:endParaRPr lang="en-US" sz="1600" dirty="0"/>
          </a:p>
        </p:txBody>
      </p:sp>
      <p:sp>
        <p:nvSpPr>
          <p:cNvPr id="13" name="Shape 11"/>
          <p:cNvSpPr/>
          <p:nvPr/>
        </p:nvSpPr>
        <p:spPr>
          <a:xfrm>
            <a:off x="5138928" y="2843784"/>
            <a:ext cx="45720" cy="1189887"/>
          </a:xfrm>
          <a:prstGeom prst="rect">
            <a:avLst/>
          </a:prstGeom>
          <a:solidFill>
            <a:srgbClr val="2587C5"/>
          </a:solidFill>
          <a:ln/>
        </p:spPr>
      </p:sp>
      <p:sp>
        <p:nvSpPr>
          <p:cNvPr id="14" name="Text 12"/>
          <p:cNvSpPr txBox="1"/>
          <p:nvPr/>
        </p:nvSpPr>
        <p:spPr>
          <a:xfrm>
            <a:off x="5266944"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189887"/>
          </a:xfrm>
          <a:prstGeom prst="rect">
            <a:avLst/>
          </a:prstGeom>
          <a:solidFill>
            <a:srgbClr val="2587C5"/>
          </a:solidFill>
          <a:ln/>
        </p:spPr>
      </p:sp>
      <p:sp>
        <p:nvSpPr>
          <p:cNvPr id="16" name="Text 14"/>
          <p:cNvSpPr txBox="1"/>
          <p:nvPr/>
        </p:nvSpPr>
        <p:spPr>
          <a:xfrm>
            <a:off x="8522208"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shop tools and equipment, training, advertising, outside services, data processing</a:t>
            </a:r>
            <a:endParaRPr lang="en-US" sz="1400" dirty="0"/>
          </a:p>
        </p:txBody>
      </p:sp>
      <p:sp>
        <p:nvSpPr>
          <p:cNvPr id="17" name="Shape 15"/>
          <p:cNvSpPr/>
          <p:nvPr/>
        </p:nvSpPr>
        <p:spPr>
          <a:xfrm>
            <a:off x="5138928" y="4143399"/>
            <a:ext cx="45720" cy="1644753"/>
          </a:xfrm>
          <a:prstGeom prst="rect">
            <a:avLst/>
          </a:prstGeom>
          <a:solidFill>
            <a:srgbClr val="2587C5"/>
          </a:solidFill>
          <a:ln/>
        </p:spPr>
      </p:sp>
      <p:sp>
        <p:nvSpPr>
          <p:cNvPr id="18" name="Text 16"/>
          <p:cNvSpPr txBox="1"/>
          <p:nvPr/>
        </p:nvSpPr>
        <p:spPr>
          <a:xfrm>
            <a:off x="5266944"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Service policy (work done at no charge to the customer) and warranty claims the manufacturer won't pay</a:t>
            </a:r>
            <a:endParaRPr lang="en-US" sz="1400" dirty="0"/>
          </a:p>
        </p:txBody>
      </p:sp>
      <p:sp>
        <p:nvSpPr>
          <p:cNvPr id="19" name="Shape 17"/>
          <p:cNvSpPr/>
          <p:nvPr/>
        </p:nvSpPr>
        <p:spPr>
          <a:xfrm>
            <a:off x="8394192" y="4143399"/>
            <a:ext cx="45720" cy="1644753"/>
          </a:xfrm>
          <a:prstGeom prst="rect">
            <a:avLst/>
          </a:prstGeom>
          <a:solidFill>
            <a:srgbClr val="2587C5"/>
          </a:solidFill>
          <a:ln/>
        </p:spPr>
      </p:sp>
      <p:sp>
        <p:nvSpPr>
          <p:cNvPr id="20" name="Text 18"/>
          <p:cNvSpPr txBox="1"/>
          <p:nvPr/>
        </p:nvSpPr>
        <p:spPr>
          <a:xfrm>
            <a:off x="8522208"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Outrun your expenses: when net is low, it is either an expense problem or a gross problem</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Tracked Opcode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cars are already in our service drives: the rate shows how well we use the opportunities we already have.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Like labor dollars per RO, it is a direct reflection of the job we are doing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services across the group.</a:t>
            </a:r>
            <a:endParaRPr lang="en-US" sz="1500" dirty="0"/>
          </a:p>
        </p:txBody>
      </p:sp>
      <p:sp>
        <p:nvSpPr>
          <p:cNvPr id="22" name="Shape 20"/>
          <p:cNvSpPr/>
          <p:nvPr/>
        </p:nvSpPr>
        <p:spPr>
          <a:xfrm>
            <a:off x="5138928" y="3410712"/>
            <a:ext cx="45720" cy="948641"/>
          </a:xfrm>
          <a:prstGeom prst="rect">
            <a:avLst/>
          </a:prstGeom>
          <a:solidFill>
            <a:srgbClr val="2587C5"/>
          </a:solidFill>
          <a:ln/>
        </p:spPr>
      </p:sp>
      <p:sp>
        <p:nvSpPr>
          <p:cNvPr id="23" name="Text 21"/>
          <p:cNvSpPr txBox="1"/>
          <p:nvPr/>
        </p:nvSpPr>
        <p:spPr>
          <a:xfrm>
            <a:off x="5266944"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948641"/>
          </a:xfrm>
          <a:prstGeom prst="rect">
            <a:avLst/>
          </a:prstGeom>
          <a:solidFill>
            <a:srgbClr val="2587C5"/>
          </a:solidFill>
          <a:ln/>
        </p:spPr>
      </p:sp>
      <p:sp>
        <p:nvSpPr>
          <p:cNvPr id="25" name="Text 23"/>
          <p:cNvSpPr txBox="1"/>
          <p:nvPr/>
        </p:nvSpPr>
        <p:spPr>
          <a:xfrm>
            <a:off x="8522208"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469081"/>
            <a:ext cx="45720" cy="1319071"/>
          </a:xfrm>
          <a:prstGeom prst="rect">
            <a:avLst/>
          </a:prstGeom>
          <a:solidFill>
            <a:srgbClr val="2587C5"/>
          </a:solidFill>
          <a:ln/>
        </p:spPr>
      </p:sp>
      <p:sp>
        <p:nvSpPr>
          <p:cNvPr id="27" name="Text 25"/>
          <p:cNvSpPr txBox="1"/>
          <p:nvPr/>
        </p:nvSpPr>
        <p:spPr>
          <a:xfrm>
            <a:off x="5266944"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Consistency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every visit, no exceptions. Say it once and skip it the next time, and we lose credibility</a:t>
            </a:r>
            <a:endParaRPr lang="en-US" sz="1400" dirty="0"/>
          </a:p>
        </p:txBody>
      </p:sp>
      <p:sp>
        <p:nvSpPr>
          <p:cNvPr id="28" name="Shape 26"/>
          <p:cNvSpPr/>
          <p:nvPr/>
        </p:nvSpPr>
        <p:spPr>
          <a:xfrm>
            <a:off x="8394192" y="4469081"/>
            <a:ext cx="45720" cy="1319071"/>
          </a:xfrm>
          <a:prstGeom prst="rect">
            <a:avLst/>
          </a:prstGeom>
          <a:solidFill>
            <a:srgbClr val="2587C5"/>
          </a:solidFill>
          <a:ln/>
        </p:spPr>
      </p:sp>
      <p:sp>
        <p:nvSpPr>
          <p:cNvPr id="29" name="Text 27"/>
          <p:cNvSpPr txBox="1"/>
          <p:nvPr/>
        </p:nvSpPr>
        <p:spPr>
          <a:xfrm>
            <a:off x="8522208"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sold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worked (clocked)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Works 40 hours  </a:t>
            </a:r>
            <a:pPr algn="ctr" indent="0" marL="0">
              <a:buNone/>
            </a:pPr>
            <a:r>
              <a:rPr lang="en-US" sz="1400" b="1" dirty="0">
                <a:solidFill>
                  <a:srgbClr val="0B2C4A"/>
                </a:solidFill>
                <a:latin typeface="Inter" pitchFamily="34" charset="0"/>
                <a:ea typeface="Inter" pitchFamily="34" charset="-122"/>
                <a:cs typeface="Inter" pitchFamily="34" charset="-120"/>
              </a:rPr>
              <a:t>sells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 service department is a production facility. What we produce is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Any production floor knows what it made today and what each person made. So should we.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takes someone actively managing production, every day.</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on ROs, not all hours worked</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Sold hours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worked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January through September 2026, year to date. Store = total sold hours / total worked hours.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technicians and express technicians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team leaders and shop foremen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Everyone whose job is to produce sold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Not counted: body shop, detail and tint</a:t>
            </a:r>
            <a:endParaRPr lang="en-US" sz="15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940 hours keyed on a single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tech numbers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hours flagged to a shop code like 999, not a person</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worked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262503"/>
          </a:xfrm>
          <a:prstGeom prst="rect">
            <a:avLst/>
          </a:prstGeom>
          <a:solidFill>
            <a:srgbClr val="2587C5"/>
          </a:solidFill>
          <a:ln/>
        </p:spPr>
      </p:sp>
      <p:sp>
        <p:nvSpPr>
          <p:cNvPr id="21" name="Text 19"/>
          <p:cNvSpPr txBox="1"/>
          <p:nvPr/>
        </p:nvSpPr>
        <p:spPr>
          <a:xfrm>
            <a:off x="5266944"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written process, followed on every car, every time, tracked and managed daily</a:t>
            </a:r>
            <a:endParaRPr lang="en-US" sz="1400" dirty="0"/>
          </a:p>
        </p:txBody>
      </p:sp>
      <p:sp>
        <p:nvSpPr>
          <p:cNvPr id="22" name="Shape 20"/>
          <p:cNvSpPr/>
          <p:nvPr/>
        </p:nvSpPr>
        <p:spPr>
          <a:xfrm>
            <a:off x="8394192" y="3410712"/>
            <a:ext cx="45720" cy="1262503"/>
          </a:xfrm>
          <a:prstGeom prst="rect">
            <a:avLst/>
          </a:prstGeom>
          <a:solidFill>
            <a:srgbClr val="2587C5"/>
          </a:solidFill>
          <a:ln/>
        </p:spPr>
      </p:sp>
      <p:sp>
        <p:nvSpPr>
          <p:cNvPr id="23" name="Text 21"/>
          <p:cNvSpPr txBox="1"/>
          <p:nvPr/>
        </p:nvSpPr>
        <p:spPr>
          <a:xfrm>
            <a:off x="8522208"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Right work, right tech. Hourly pay, guarantees and bonuses paid off the RO are unapplied labor and lower gross</a:t>
            </a:r>
            <a:endParaRPr lang="en-US" sz="1400" dirty="0"/>
          </a:p>
        </p:txBody>
      </p:sp>
      <p:sp>
        <p:nvSpPr>
          <p:cNvPr id="24" name="Shape 22"/>
          <p:cNvSpPr/>
          <p:nvPr/>
        </p:nvSpPr>
        <p:spPr>
          <a:xfrm>
            <a:off x="5138928" y="4782943"/>
            <a:ext cx="45720" cy="1005209"/>
          </a:xfrm>
          <a:prstGeom prst="rect">
            <a:avLst/>
          </a:prstGeom>
          <a:solidFill>
            <a:srgbClr val="2587C5"/>
          </a:solidFill>
          <a:ln/>
        </p:spPr>
      </p:sp>
      <p:sp>
        <p:nvSpPr>
          <p:cNvPr id="25" name="Text 23"/>
          <p:cNvSpPr txBox="1"/>
          <p:nvPr/>
        </p:nvSpPr>
        <p:spPr>
          <a:xfrm>
            <a:off x="5266944"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dollar of labor sold brings more parts gross with it</a:t>
            </a:r>
            <a:endParaRPr lang="en-US" sz="1400" dirty="0"/>
          </a:p>
        </p:txBody>
      </p:sp>
      <p:sp>
        <p:nvSpPr>
          <p:cNvPr id="26" name="Shape 24"/>
          <p:cNvSpPr/>
          <p:nvPr/>
        </p:nvSpPr>
        <p:spPr>
          <a:xfrm>
            <a:off x="8394192" y="4782943"/>
            <a:ext cx="45720" cy="1005209"/>
          </a:xfrm>
          <a:prstGeom prst="rect">
            <a:avLst/>
          </a:prstGeom>
          <a:solidFill>
            <a:srgbClr val="2587C5"/>
          </a:solidFill>
          <a:ln/>
        </p:spPr>
      </p:sp>
      <p:sp>
        <p:nvSpPr>
          <p:cNvPr id="27" name="Text 25"/>
          <p:cNvSpPr txBox="1"/>
          <p:nvPr/>
        </p:nvSpPr>
        <p:spPr>
          <a:xfrm>
            <a:off x="8522208"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Retail, wholesale, tires and oil. Wholesale has to make sense: its gross must cover what it costs to run</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2026-10-27T16:25:04Z</dcterms:created>
  <dcterms:modified xsi:type="dcterms:W3CDTF">2026-10-27T16:25:04Z</dcterms:modified>
</cp:coreProperties>
</file>