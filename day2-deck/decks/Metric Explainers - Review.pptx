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
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
$4,543,691 = 0.1 x 279,756 CP ROs (27,976 hours) x $162.42 CP ELR (on the Hours per RO data slide). Slide rounds to $162 and $4.5M so the room can follow it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
Roundtable worked example removed from the slide (Noah, Oct 21).
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
1.87 x $162.42 = $303.73, which rounds to the $304 on the data slide. Parts line (Noah, Oct 23: the parts $ per RO section is out of the deck, so the link lives here): CP parts per RO $228.50 -&gt; $237.96 Jan-Sep 2025 -&gt; 2026 while CP labor per RO rose $286.67 -&gt; $303.72 (Qlik Closed RO, m5.json).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
Example (Noah, Oct 23: replaces the Roundtable table): one CP hour at the group's Jan-Sep 2026 averages, $162.42 ELR, $31.21 tech cost per hour sold, $131.21 kept = 80.8%; rounded on the slide.
Oct 23 (Noah): The Goldilocks Margin talking point is folded into this slide (it repeated it): no Goldilocks or Roundtable wording; its ask (match the tech to the job, not squeeze tech pay) is the first Why It Matters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
P&amp;L definition: line 254 Total Gross Profit - Fixed Ops / line 258 Fixed Expenses (the stored line 257 returns a dollar value, so the slide derives it). GMC Prescott includes its body shop, as on the P&amp;L.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
P&amp;L Detail statement: DEPARTMENT PROFIT OR LOSS / GROSS PROFIT / INCOME, Mechanical Dept (service) and P&amp;A Dept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
Denominator: CP ROs on the op code report basis (excluding ROs flagged out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
Proficiency uses ADP worked hours (regular + overtime), so it includes time not on an RO. Efficiency would use DMS time punched on jobs, which this data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
Rules as applied on the proficiency slides (Oct 16 2026). Express techs at stores that pool express hours are mostly excluded by the 10%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
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 Know what you are charging.</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job,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true measure of how the department performs.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is what we make; net is what we keep.</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net falls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ties staffing and pay plans to results.</a:t>
            </a:r>
            <a:endParaRPr lang="en-US" sz="15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 even when an advisor sells them.</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420837"/>
          </a:xfrm>
          <a:prstGeom prst="rect">
            <a:avLst/>
          </a:prstGeom>
          <a:solidFill>
            <a:srgbClr val="2587C5"/>
          </a:solidFill>
          <a:ln/>
        </p:spPr>
      </p:sp>
      <p:sp>
        <p:nvSpPr>
          <p:cNvPr id="21" name="Text 19"/>
          <p:cNvSpPr txBox="1"/>
          <p:nvPr/>
        </p:nvSpPr>
        <p:spPr>
          <a:xfrm>
            <a:off x="5266944"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Hours sold times the rate collected (ELR)</a:t>
            </a:r>
            <a:endParaRPr lang="en-US" sz="1400" dirty="0"/>
          </a:p>
        </p:txBody>
      </p:sp>
      <p:sp>
        <p:nvSpPr>
          <p:cNvPr id="22" name="Shape 20"/>
          <p:cNvSpPr/>
          <p:nvPr/>
        </p:nvSpPr>
        <p:spPr>
          <a:xfrm>
            <a:off x="8394192" y="3410712"/>
            <a:ext cx="45720" cy="1420837"/>
          </a:xfrm>
          <a:prstGeom prst="rect">
            <a:avLst/>
          </a:prstGeom>
          <a:solidFill>
            <a:srgbClr val="2587C5"/>
          </a:solidFill>
          <a:ln/>
        </p:spPr>
      </p:sp>
      <p:sp>
        <p:nvSpPr>
          <p:cNvPr id="23" name="Text 21"/>
          <p:cNvSpPr txBox="1"/>
          <p:nvPr/>
        </p:nvSpPr>
        <p:spPr>
          <a:xfrm>
            <a:off x="8522208"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on the RO. Hourly pay, guarantees and bonuses paid off the RO are unapplied labor: not on the RO, but they lower gross</a:t>
            </a:r>
            <a:endParaRPr lang="en-US" sz="1400" dirty="0"/>
          </a:p>
        </p:txBody>
      </p:sp>
      <p:sp>
        <p:nvSpPr>
          <p:cNvPr id="24" name="Shape 22"/>
          <p:cNvSpPr/>
          <p:nvPr/>
        </p:nvSpPr>
        <p:spPr>
          <a:xfrm>
            <a:off x="5138928" y="4941277"/>
            <a:ext cx="45720" cy="846875"/>
          </a:xfrm>
          <a:prstGeom prst="rect">
            <a:avLst/>
          </a:prstGeom>
          <a:solidFill>
            <a:srgbClr val="2587C5"/>
          </a:solidFill>
          <a:ln/>
        </p:spPr>
      </p:sp>
      <p:sp>
        <p:nvSpPr>
          <p:cNvPr id="25" name="Text 23"/>
          <p:cNvSpPr txBox="1"/>
          <p:nvPr/>
        </p:nvSpPr>
        <p:spPr>
          <a:xfrm>
            <a:off x="5266944"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Customer pay, warranty and internal parts sold through service</a:t>
            </a:r>
            <a:endParaRPr lang="en-US" sz="1400" dirty="0"/>
          </a:p>
        </p:txBody>
      </p:sp>
      <p:sp>
        <p:nvSpPr>
          <p:cNvPr id="26" name="Shape 24"/>
          <p:cNvSpPr/>
          <p:nvPr/>
        </p:nvSpPr>
        <p:spPr>
          <a:xfrm>
            <a:off x="8394192" y="4941277"/>
            <a:ext cx="45720" cy="846875"/>
          </a:xfrm>
          <a:prstGeom prst="rect">
            <a:avLst/>
          </a:prstGeom>
          <a:solidFill>
            <a:srgbClr val="2587C5"/>
          </a:solidFill>
          <a:ln/>
        </p:spPr>
      </p:sp>
      <p:sp>
        <p:nvSpPr>
          <p:cNvPr id="27" name="Text 25"/>
          <p:cNvSpPr txBox="1"/>
          <p:nvPr/>
        </p:nvSpPr>
        <p:spPr>
          <a:xfrm>
            <a:off x="8522208"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retail, wholesale, tires and oil</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2026-10-24T00:53:02Z</dcterms:created>
  <dcterms:modified xsi:type="dcterms:W3CDTF">2026-10-24T00:53:02Z</dcterms:modified>
</cp:coreProperties>
</file>