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$1.05M a year. Store proficiency 103%. Each tech under 85% raised to 85% of their own clocked hours, valued at the store's labor + parts gross per flagged hour: $87K a month x 12.
2. CP ELR - $671K a year. Jul–Sep CP ELR $146 vs 70% of the $225 door rate = $157; gap x 15,019 CP hours x 4.
3. Service gross - $526K a year. Service gross $10,497,259 vs $10,892,101 Jan–Sep 2025, x 12/9. Overlaps the CP lines.
4. CP RO count - $434K a year. 952 fewer CP ROs than Jan–Sep 2025 x $342 a RO x 12/9.
5. CP parts GP % - $314K a year. 36.2% vs the non-luxury 40.5% x $5.47M CP parts sale x 12/9.
6. Brake fluid - $151K a year. Brake fluid 5.8% vs 10%: 1,093 more a year (Jan–Sep x 12/9) x $138 gross a service.
7. Fuel service - $142K a year. Fuel service 5.3% vs 7.5%: 585 more a year (Jan–Sep x 12/9) x $243 gross a service.
8. Tire balance - $106K a year. Tire balance 7.3% vs 15%: 2,001 more a year (Jan–Sep x 12/9) x $53 gross a service.
9. Alignment - $75K a year. Alignment 12.9% vs 15%: 556 more a year (Jan–Sep x 12/9) x $136 gross a service.
10. Parts gross - $56K a year. Parts gross $6,047,818 vs $6,089,964 Jan–Sep 2025, x 12/9. Overlaps CP parts GP.
11. Video completion - not priced. 40.2% vs the group's 57.8% on 9,387 CP &amp; W ROs Jul–Sep: 6,624 more a year (x 4). Not priced.
12. MPI completion - not priced. 84.5% of 9,387 CP &amp; W ROs Jul–Sep vs 90%: 2,065 more a year (x 4). Not priced.
13. Fixed gross/head - not priced. $12,042 a month (Jan–Sep gross ÷ 1,374 head-months, ADP) vs the non-luxury $12,714: 8.1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RO count - $456K a year. 999 fewer CP ROs than Jan–Sep 2025 x $342 a RO x 12/9.
2. Tire balance - $80K a year. Tire balance 2.2% vs 15%: 1,526 more a year (Jan–Sep x 12/9) x $52 gross a service.
3. Fuel service - $75K a year. Fuel service 3.2% vs 7.5%: 509 more a year (Jan–Sep x 12/9) x $147 gross a service.
4. Alignment - $36K a year. Alignment 12.5% vs 15%: 294 more a year (Jan–Sep x 12/9) x $124 gross a service.
5. Parts gross - $15K a year. Parts gross $1,394,258 vs $1,405,777 Jan–Sep 2025, x 12/9. Overlaps CP parts GP.
6. Techs under 85% - $12K a year. Store proficiency 109%. Each tech under 85% raised to 85% of their own clocked hours, valued at the store's labor + parts gross per flagged hour: $1K a month x 12.
7. MPI completion - not priced. 49.6% of 3,553 CP &amp; W ROs Jul–Sep vs 90%: 5,742 more a year (x 4). Not priced.
8. Video completion - not priced. 49.6% vs the group's 57.8% on 3,553 CP &amp; W ROs Jul–Sep: 1,171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$16.55M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−$437K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−$643K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68.9%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202424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Shape 13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19,520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−952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89878" y="658368"/>
            <a:ext cx="534187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7894" y="658368"/>
            <a:ext cx="50858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9th · Hours per RO 2.30   ·   10th · Proficiency 103%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2414016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2414016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990088" y="2414016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51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087368" y="2414016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2414016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$1.05M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14016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16 under 85%: dispatch, parts.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2712954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271295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271295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990088" y="271295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087368" y="271295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989320" y="271295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$671K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59168" y="271295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011893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" y="3011893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2990088" y="3011893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$10.50M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087368" y="3011893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$10.89M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989320" y="3011893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$526K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059168" y="3011893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8368" y="3310831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58368" y="331083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24128" y="331083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2990088" y="331083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19,520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4087368" y="331083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20,472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989320" y="331083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$434K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059168" y="331083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1,269 more ROs.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609770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24128" y="3609770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2990088" y="3609770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36.2%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087368" y="3609770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989320" y="3609770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$314K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7059168" y="3609770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58368" y="3908708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58368" y="390870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1024128" y="390870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2990088" y="390870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4087368" y="390870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5989320" y="390870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7059168" y="390870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1,093 more a year.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207647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1024128" y="4207647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2990088" y="4207647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5.3%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087368" y="4207647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5989320" y="4207647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7059168" y="4207647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585 more a year.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58368" y="4506585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58368" y="4506585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1024128" y="4506585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2990088" y="4506585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4087368" y="4506585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5989320" y="4506585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$106K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7059168" y="4506585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2,001 more a year.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480552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24128" y="480552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2990088" y="480552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12.9%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4087368" y="480552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5989320" y="480552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480552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556 more a year.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58368" y="5104462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58368" y="5104462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1024128" y="5104462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2990088" y="5104462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$6.05M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4087368" y="5104462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$6.09M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5989320" y="5104462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$56K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7059168" y="5104462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658368" y="539791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658368" y="540340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1024128" y="540340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2990088" y="540340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4087368" y="540340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5989320" y="540340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7059168" y="540340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6,624 more a year.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658368" y="5702339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658368" y="5702339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1024128" y="5702339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2990088" y="5702339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84.5%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4087368" y="5702339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5989320" y="5702339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7059168" y="5702339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2,065 more a year.</a:t>
            </a:r>
            <a:endParaRPr lang="en-US" sz="1400" dirty="0"/>
          </a:p>
        </p:txBody>
      </p:sp>
      <p:sp>
        <p:nvSpPr>
          <p:cNvPr id="107" name="Text 105"/>
          <p:cNvSpPr txBox="1"/>
          <p:nvPr/>
        </p:nvSpPr>
        <p:spPr>
          <a:xfrm>
            <a:off x="658368" y="600127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400" dirty="0"/>
          </a:p>
        </p:txBody>
      </p:sp>
      <p:sp>
        <p:nvSpPr>
          <p:cNvPr id="108" name="Text 106"/>
          <p:cNvSpPr txBox="1"/>
          <p:nvPr/>
        </p:nvSpPr>
        <p:spPr>
          <a:xfrm>
            <a:off x="1024128" y="600127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2990088" y="600127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$12,042</a:t>
            </a:r>
            <a:endParaRPr lang="en-US" sz="1400" dirty="0"/>
          </a:p>
        </p:txBody>
      </p:sp>
      <p:sp>
        <p:nvSpPr>
          <p:cNvPr id="110" name="Text 108"/>
          <p:cNvSpPr txBox="1"/>
          <p:nvPr/>
        </p:nvSpPr>
        <p:spPr>
          <a:xfrm>
            <a:off x="4087368" y="600127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111" name="Text 109"/>
          <p:cNvSpPr txBox="1"/>
          <p:nvPr/>
        </p:nvSpPr>
        <p:spPr>
          <a:xfrm>
            <a:off x="5989320" y="600127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12" name="Text 110"/>
          <p:cNvSpPr txBox="1"/>
          <p:nvPr/>
        </p:nvSpPr>
        <p:spPr>
          <a:xfrm>
            <a:off x="7059168" y="600127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8.1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+$373K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202424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Shape 13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8,930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−999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237984" y="658368"/>
            <a:ext cx="449376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66000" y="658368"/>
            <a:ext cx="4237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Parts GP 47.0%   ·   3rd · CP ELR +$27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8,930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9,929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$456K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1,332 more ROs.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1,526 more a year.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509 more a year.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294 more a year.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$1.39M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15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2 under 85%: dispatch, parts.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58368" y="438363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5,742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1,171 more a year.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2026-10-28T00:50:31Z</dcterms:created>
  <dcterms:modified xsi:type="dcterms:W3CDTF">2026-10-28T00:50:31Z</dcterms:modified>
</cp:coreProperties>
</file>