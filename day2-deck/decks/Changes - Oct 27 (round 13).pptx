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  <p:sldId id="271" r:id="rId22"/>
    <p:sldId id="273" r:id="rId24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4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Profit &amp; Loss, Detail statement. Same-store, INEOS excluded (opened 2026). Fixed ops net profit = service (Mechanical) + parts (P&amp;A) department profit: department gross less the department's own expenses; GMC Prescott body shop is its own department and is not included. Jan-Sep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 with the store call-outs (off the slide): Lincoln, Subaru Prescott and GMC Prescott turned a 2025 loss into a profit (green rows); VW St George went from a profit to a loss (red row). 24 of 33 stores grew fixed ops net profit, January through September year to date.Source: Qlik - Profit &amp; Loss, Detail statement. Same-store, INEOS excluded (opened 2026). Fixed ops net profit = service (Mechanical) + parts (P&amp;A) department profit: department gross less the department's own expenses; GMC Prescott body shop is its own department and is not included. Ranked by dollar change, Jan-Sep 2026 vs Jan-Sep 2025; percent change alongside, top three and bottom three by percent marked. Percent change = dollar change / 2025 profit; where 2025 was a loss, divided by the size of the loss, so an improvement reads as positive.Green band: lost money in fixed ops in 2025, made money in 2026 (Lincoln −$389K to $94K, Subaru Prescott −$55K to $129K and GMC Prescott −$125K to $20K). Red band: made money in 2025, lost money in 2026 (VW St George $153K to −$59K).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Qlik - Fixed Ops Accounting TB, fixed gross (service and parts), monthly by store, January 2021 - September 2026. A record = the store's highest month on file; months before a store opened are ignored. GMC Prescott service on the TB includes body shop gross.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5148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49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13760" y="1335024"/>
            <a:ext cx="463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9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SEPTEMBER 2026 YTD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$50.45M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847088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14984" y="1847088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980944" y="1917669"/>
            <a:ext cx="1828800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855464" y="1847088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$7.83M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108499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108499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980944" y="2179080"/>
            <a:ext cx="1419699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55464" y="2108499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$6.08M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" y="2369910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" y="2369910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980944" y="2440491"/>
            <a:ext cx="1154907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855464" y="2369910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$4.94M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2631320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" y="2631320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980944" y="2701901"/>
            <a:ext cx="775885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855464" y="2631320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$3.32M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2892731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14984" y="2892731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980944" y="2963312"/>
            <a:ext cx="686722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855464" y="2892731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$2.94M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3154142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" y="3154142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980944" y="3224723"/>
            <a:ext cx="606903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55464" y="3154142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$2.60M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58368" y="3415553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14984" y="3415553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980944" y="3486134"/>
            <a:ext cx="529462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855464" y="3415553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$2.27M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3676964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14984" y="3676964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980944" y="3747545"/>
            <a:ext cx="477227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855464" y="3676964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$2.04M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3938375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1014984" y="3938375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980944" y="4008956"/>
            <a:ext cx="424033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4855464" y="3938375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$1.82M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58368" y="4199785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1014984" y="4199785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2980944" y="4270366"/>
            <a:ext cx="421495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855464" y="4199785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$1.80M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4461196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4461196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2980944" y="4531777"/>
            <a:ext cx="310696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855464" y="4461196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$1.33M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58368" y="4722607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14984" y="4722607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980944" y="4793188"/>
            <a:ext cx="308094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855464" y="4722607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$1.32M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58368" y="4984018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60" name="Text 58"/>
          <p:cNvSpPr txBox="1"/>
          <p:nvPr/>
        </p:nvSpPr>
        <p:spPr>
          <a:xfrm>
            <a:off x="1014984" y="4984018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2980944" y="5054599"/>
            <a:ext cx="279934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4855464" y="4984018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$1.20M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58368" y="5245429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1014984" y="5245429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2980944" y="5316010"/>
            <a:ext cx="273031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4855464" y="5245429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$1.17M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5506840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5506840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2980944" y="5577420"/>
            <a:ext cx="272418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855464" y="5506840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$1.17M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58368" y="5768250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1014984" y="5768250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980944" y="5838831"/>
            <a:ext cx="261785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4855464" y="5768250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$1.12M</a:t>
            </a:r>
            <a:endParaRPr lang="en-US" sz="1200" dirty="0"/>
          </a:p>
        </p:txBody>
      </p:sp>
      <p:sp>
        <p:nvSpPr>
          <p:cNvPr id="75" name="Text 73"/>
          <p:cNvSpPr txBox="1"/>
          <p:nvPr/>
        </p:nvSpPr>
        <p:spPr>
          <a:xfrm>
            <a:off x="658368" y="6029661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76" name="Text 74"/>
          <p:cNvSpPr txBox="1"/>
          <p:nvPr/>
        </p:nvSpPr>
        <p:spPr>
          <a:xfrm>
            <a:off x="1014984" y="6029661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2980944" y="6100242"/>
            <a:ext cx="254692" cy="120249"/>
          </a:xfrm>
          <a:prstGeom prst="rect">
            <a:avLst/>
          </a:prstGeom>
          <a:solidFill>
            <a:srgbClr val="2587C5"/>
          </a:solidFill>
          <a:ln/>
        </p:spPr>
        <p:txBody>
          <a:bodyPr/>
          <a:p/>
        </p:txBody>
      </p:sp>
      <p:sp>
        <p:nvSpPr>
          <p:cNvPr id="78" name="Text 76"/>
          <p:cNvSpPr txBox="1"/>
          <p:nvPr/>
        </p:nvSpPr>
        <p:spPr>
          <a:xfrm>
            <a:off x="4855464" y="6029661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$1.09M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208776" y="1847088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565392" y="1847088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8531352" y="1917669"/>
            <a:ext cx="230085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405872" y="1847088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$985,141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6208776" y="2108499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65392" y="2108499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8531352" y="2179080"/>
            <a:ext cx="210561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405872" y="2108499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$901,549</a:t>
            </a:r>
            <a:endParaRPr lang="en-US" sz="1200" dirty="0"/>
          </a:p>
        </p:txBody>
      </p:sp>
      <p:sp>
        <p:nvSpPr>
          <p:cNvPr id="87" name="Text 85"/>
          <p:cNvSpPr txBox="1"/>
          <p:nvPr/>
        </p:nvSpPr>
        <p:spPr>
          <a:xfrm>
            <a:off x="6208776" y="2369910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6565392" y="2369910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531352" y="2440491"/>
            <a:ext cx="186954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10405872" y="2369910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$800,469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6208776" y="2631320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92" name="Text 90"/>
          <p:cNvSpPr txBox="1"/>
          <p:nvPr/>
        </p:nvSpPr>
        <p:spPr>
          <a:xfrm>
            <a:off x="6565392" y="2631320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531352" y="2701901"/>
            <a:ext cx="164685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10405872" y="2631320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$705,121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208776" y="2892731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6565392" y="2892731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8531352" y="2963312"/>
            <a:ext cx="163331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10405872" y="2892731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$699,325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6208776" y="3154142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65392" y="3154142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101" name="Shape 99"/>
          <p:cNvSpPr/>
          <p:nvPr/>
        </p:nvSpPr>
        <p:spPr>
          <a:xfrm>
            <a:off x="8531352" y="3224723"/>
            <a:ext cx="158180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0405872" y="3154142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$677,269</a:t>
            </a:r>
            <a:endParaRPr lang="en-US" sz="1200" dirty="0"/>
          </a:p>
        </p:txBody>
      </p:sp>
      <p:sp>
        <p:nvSpPr>
          <p:cNvPr id="103" name="Text 101"/>
          <p:cNvSpPr txBox="1"/>
          <p:nvPr/>
        </p:nvSpPr>
        <p:spPr>
          <a:xfrm>
            <a:off x="6208776" y="3415553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6565392" y="3415553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8531352" y="3486134"/>
            <a:ext cx="117270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0405872" y="3415553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$502,109</a:t>
            </a:r>
            <a:endParaRPr lang="en-US" sz="1200" dirty="0"/>
          </a:p>
        </p:txBody>
      </p:sp>
      <p:sp>
        <p:nvSpPr>
          <p:cNvPr id="107" name="Text 105"/>
          <p:cNvSpPr txBox="1"/>
          <p:nvPr/>
        </p:nvSpPr>
        <p:spPr>
          <a:xfrm>
            <a:off x="6208776" y="3676964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6565392" y="3676964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8531352" y="3747545"/>
            <a:ext cx="111208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10405872" y="3676964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$476,154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208776" y="3938375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12" name="Text 110"/>
          <p:cNvSpPr txBox="1"/>
          <p:nvPr/>
        </p:nvSpPr>
        <p:spPr>
          <a:xfrm>
            <a:off x="6565392" y="3938375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8531352" y="4008956"/>
            <a:ext cx="99951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10405872" y="3938375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$427,953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4199785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4199785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8531352" y="4270366"/>
            <a:ext cx="30021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10405872" y="4199785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$128,541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6208776" y="4461196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565392" y="4461196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21" name="Shape 119"/>
          <p:cNvSpPr/>
          <p:nvPr/>
        </p:nvSpPr>
        <p:spPr>
          <a:xfrm>
            <a:off x="8531352" y="4531777"/>
            <a:ext cx="25197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2" name="Text 120"/>
          <p:cNvSpPr txBox="1"/>
          <p:nvPr/>
        </p:nvSpPr>
        <p:spPr>
          <a:xfrm>
            <a:off x="10405872" y="4461196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$107,886</a:t>
            </a:r>
            <a:endParaRPr lang="en-US" sz="1200" dirty="0"/>
          </a:p>
        </p:txBody>
      </p:sp>
      <p:sp>
        <p:nvSpPr>
          <p:cNvPr id="123" name="Text 121"/>
          <p:cNvSpPr txBox="1"/>
          <p:nvPr/>
        </p:nvSpPr>
        <p:spPr>
          <a:xfrm>
            <a:off x="6208776" y="4722607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6565392" y="4722607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8531352" y="4793188"/>
            <a:ext cx="22055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10405872" y="4722607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$94,430</a:t>
            </a:r>
            <a:endParaRPr lang="en-US" sz="1200" dirty="0"/>
          </a:p>
        </p:txBody>
      </p:sp>
      <p:sp>
        <p:nvSpPr>
          <p:cNvPr id="127" name="Text 125"/>
          <p:cNvSpPr txBox="1"/>
          <p:nvPr/>
        </p:nvSpPr>
        <p:spPr>
          <a:xfrm>
            <a:off x="6208776" y="4984018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28" name="Text 126"/>
          <p:cNvSpPr txBox="1"/>
          <p:nvPr/>
        </p:nvSpPr>
        <p:spPr>
          <a:xfrm>
            <a:off x="6565392" y="4984018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29" name="Shape 127"/>
          <p:cNvSpPr/>
          <p:nvPr/>
        </p:nvSpPr>
        <p:spPr>
          <a:xfrm>
            <a:off x="8531352" y="5054599"/>
            <a:ext cx="18567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0" name="Text 128"/>
          <p:cNvSpPr txBox="1"/>
          <p:nvPr/>
        </p:nvSpPr>
        <p:spPr>
          <a:xfrm>
            <a:off x="10405872" y="4984018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$79,496</a:t>
            </a:r>
            <a:endParaRPr lang="en-US" sz="1200" dirty="0"/>
          </a:p>
        </p:txBody>
      </p:sp>
      <p:sp>
        <p:nvSpPr>
          <p:cNvPr id="131" name="Text 129"/>
          <p:cNvSpPr txBox="1"/>
          <p:nvPr/>
        </p:nvSpPr>
        <p:spPr>
          <a:xfrm>
            <a:off x="6208776" y="5245429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5245429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8531352" y="5316010"/>
            <a:ext cx="18288" cy="120249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10405872" y="5245429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$19,561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6208776" y="5506840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565392" y="5506840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37" name="Shape 135"/>
          <p:cNvSpPr/>
          <p:nvPr/>
        </p:nvSpPr>
        <p:spPr>
          <a:xfrm>
            <a:off x="8531352" y="5577420"/>
            <a:ext cx="18288" cy="12024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38" name="Text 136"/>
          <p:cNvSpPr txBox="1"/>
          <p:nvPr/>
        </p:nvSpPr>
        <p:spPr>
          <a:xfrm>
            <a:off x="10405872" y="5506840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−$58,644</a:t>
            </a:r>
            <a:endParaRPr lang="en-US" sz="1200" dirty="0"/>
          </a:p>
        </p:txBody>
      </p:sp>
      <p:sp>
        <p:nvSpPr>
          <p:cNvPr id="139" name="Text 137"/>
          <p:cNvSpPr txBox="1"/>
          <p:nvPr/>
        </p:nvSpPr>
        <p:spPr>
          <a:xfrm>
            <a:off x="6208776" y="5768250"/>
            <a:ext cx="310896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6565392" y="5768250"/>
            <a:ext cx="192024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41" name="Shape 139"/>
          <p:cNvSpPr/>
          <p:nvPr/>
        </p:nvSpPr>
        <p:spPr>
          <a:xfrm>
            <a:off x="8531352" y="5838831"/>
            <a:ext cx="31883" cy="12024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2" name="Text 140"/>
          <p:cNvSpPr txBox="1"/>
          <p:nvPr/>
        </p:nvSpPr>
        <p:spPr>
          <a:xfrm>
            <a:off x="10405872" y="5768250"/>
            <a:ext cx="1097280" cy="2614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−$136,511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6085332" y="1847088"/>
            <a:ext cx="10973" cy="4443984"/>
          </a:xfrm>
          <a:prstGeom prst="rect">
            <a:avLst/>
          </a:prstGeom>
          <a:solidFill>
            <a:srgbClr val="D9D9D9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658368" y="1335024"/>
            <a:ext cx="10872216" cy="420624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335024"/>
            <a:ext cx="59436" cy="420624"/>
          </a:xfrm>
          <a:prstGeom prst="rect">
            <a:avLst/>
          </a:prstGeom>
          <a:solidFill>
            <a:srgbClr val="0B2C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9536" y="1335024"/>
            <a:ext cx="2499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413760" y="1335024"/>
            <a:ext cx="463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9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YEAR-OVER-YEAR CHANGE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335024"/>
            <a:ext cx="3291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+$5.11M  ·  +11.3%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983480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756648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33888" y="182880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14984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79876" y="2181823"/>
            <a:ext cx="57150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206240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+$1.42M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983480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+22.1%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014984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579876" y="2405582"/>
            <a:ext cx="33838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06240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+$838K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983480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+20.4%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79876" y="2629341"/>
            <a:ext cx="30910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206240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+$766K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+41.8%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14984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579876" y="2853100"/>
            <a:ext cx="27942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206240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+$692K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983480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+12.9%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2648" y="3025588"/>
            <a:ext cx="5138928" cy="205471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58368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14984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79876" y="3076859"/>
            <a:ext cx="19525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206240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+$484K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4983480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+124.3%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658368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1014984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579876" y="3300618"/>
            <a:ext cx="17039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206240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+$422K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983480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+30.5%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658368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579876" y="3524377"/>
            <a:ext cx="136037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4206240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+$337K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4983480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+43.0%</a:t>
            </a:r>
            <a:endParaRPr lang="en-US" sz="12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1014984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579876" y="3748136"/>
            <a:ext cx="117971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4206240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+$292K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4983480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+215.4%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907024" y="3733441"/>
            <a:ext cx="54864" cy="13231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58368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  <p:sp>
        <p:nvSpPr>
          <p:cNvPr id="58" name="Text 56"/>
          <p:cNvSpPr txBox="1"/>
          <p:nvPr/>
        </p:nvSpPr>
        <p:spPr>
          <a:xfrm>
            <a:off x="1014984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579876" y="3971895"/>
            <a:ext cx="11504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4206240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+$285K</a:t>
            </a:r>
            <a:endParaRPr lang="en-US" sz="1200" dirty="0"/>
          </a:p>
        </p:txBody>
      </p:sp>
      <p:sp>
        <p:nvSpPr>
          <p:cNvPr id="61" name="Text 59"/>
          <p:cNvSpPr txBox="1"/>
          <p:nvPr/>
        </p:nvSpPr>
        <p:spPr>
          <a:xfrm>
            <a:off x="4983480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+32.3%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58368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1014984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579876" y="4195654"/>
            <a:ext cx="87555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206240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+$217K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4983480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+83.7%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658368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3579876" y="4419414"/>
            <a:ext cx="8315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4206240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+$206K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4983480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+20.8%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612648" y="4591902"/>
            <a:ext cx="5138928" cy="205471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  <p:sp>
        <p:nvSpPr>
          <p:cNvPr id="74" name="Text 72"/>
          <p:cNvSpPr txBox="1"/>
          <p:nvPr/>
        </p:nvSpPr>
        <p:spPr>
          <a:xfrm>
            <a:off x="1014984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200" dirty="0"/>
          </a:p>
        </p:txBody>
      </p:sp>
      <p:sp>
        <p:nvSpPr>
          <p:cNvPr id="75" name="Shape 73"/>
          <p:cNvSpPr/>
          <p:nvPr/>
        </p:nvSpPr>
        <p:spPr>
          <a:xfrm>
            <a:off x="3579876" y="4643173"/>
            <a:ext cx="73936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206240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+$183K</a:t>
            </a:r>
            <a:endParaRPr lang="en-US" sz="1200" dirty="0"/>
          </a:p>
        </p:txBody>
      </p:sp>
      <p:sp>
        <p:nvSpPr>
          <p:cNvPr id="77" name="Text 75"/>
          <p:cNvSpPr txBox="1"/>
          <p:nvPr/>
        </p:nvSpPr>
        <p:spPr>
          <a:xfrm>
            <a:off x="4983480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+335.3%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907024" y="4628478"/>
            <a:ext cx="54864" cy="13231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658368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1014984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3579876" y="4866932"/>
            <a:ext cx="6260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4206240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+$155K</a:t>
            </a:r>
            <a:endParaRPr lang="en-US" sz="1200" dirty="0"/>
          </a:p>
        </p:txBody>
      </p:sp>
      <p:sp>
        <p:nvSpPr>
          <p:cNvPr id="83" name="Text 81"/>
          <p:cNvSpPr txBox="1"/>
          <p:nvPr/>
        </p:nvSpPr>
        <p:spPr>
          <a:xfrm>
            <a:off x="4983480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+13.2%</a:t>
            </a:r>
            <a:endParaRPr lang="en-US" sz="1200" dirty="0"/>
          </a:p>
        </p:txBody>
      </p:sp>
      <p:sp>
        <p:nvSpPr>
          <p:cNvPr id="84" name="Text 82"/>
          <p:cNvSpPr txBox="1"/>
          <p:nvPr/>
        </p:nvSpPr>
        <p:spPr>
          <a:xfrm>
            <a:off x="658368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1014984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3579876" y="5090691"/>
            <a:ext cx="61490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4206240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+$152K</a:t>
            </a:r>
            <a:endParaRPr lang="en-US" sz="1200" dirty="0"/>
          </a:p>
        </p:txBody>
      </p:sp>
      <p:sp>
        <p:nvSpPr>
          <p:cNvPr id="88" name="Text 86"/>
          <p:cNvSpPr txBox="1"/>
          <p:nvPr/>
        </p:nvSpPr>
        <p:spPr>
          <a:xfrm>
            <a:off x="4983480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+8.1%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612648" y="5263179"/>
            <a:ext cx="5138928" cy="205471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658368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  <p:sp>
        <p:nvSpPr>
          <p:cNvPr id="91" name="Text 89"/>
          <p:cNvSpPr txBox="1"/>
          <p:nvPr/>
        </p:nvSpPr>
        <p:spPr>
          <a:xfrm>
            <a:off x="1014984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3579876" y="5314450"/>
            <a:ext cx="5816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4206240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+$144K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4983480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+115.7%</a:t>
            </a:r>
            <a:endParaRPr lang="en-US" sz="1200" dirty="0"/>
          </a:p>
        </p:txBody>
      </p:sp>
      <p:sp>
        <p:nvSpPr>
          <p:cNvPr id="95" name="Text 93"/>
          <p:cNvSpPr txBox="1"/>
          <p:nvPr/>
        </p:nvSpPr>
        <p:spPr>
          <a:xfrm>
            <a:off x="658368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  <p:sp>
        <p:nvSpPr>
          <p:cNvPr id="96" name="Text 94"/>
          <p:cNvSpPr txBox="1"/>
          <p:nvPr/>
        </p:nvSpPr>
        <p:spPr>
          <a:xfrm>
            <a:off x="1014984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200" dirty="0"/>
          </a:p>
        </p:txBody>
      </p:sp>
      <p:sp>
        <p:nvSpPr>
          <p:cNvPr id="97" name="Shape 95"/>
          <p:cNvSpPr/>
          <p:nvPr/>
        </p:nvSpPr>
        <p:spPr>
          <a:xfrm>
            <a:off x="3579876" y="5538209"/>
            <a:ext cx="54233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4206240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+$134K</a:t>
            </a:r>
            <a:endParaRPr lang="en-US" sz="1200" dirty="0"/>
          </a:p>
        </p:txBody>
      </p:sp>
      <p:sp>
        <p:nvSpPr>
          <p:cNvPr id="99" name="Text 97"/>
          <p:cNvSpPr txBox="1"/>
          <p:nvPr/>
        </p:nvSpPr>
        <p:spPr>
          <a:xfrm>
            <a:off x="4983480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+24.7%</a:t>
            </a:r>
            <a:endParaRPr lang="en-US" sz="1200" dirty="0"/>
          </a:p>
        </p:txBody>
      </p:sp>
      <p:sp>
        <p:nvSpPr>
          <p:cNvPr id="100" name="Text 98"/>
          <p:cNvSpPr txBox="1"/>
          <p:nvPr/>
        </p:nvSpPr>
        <p:spPr>
          <a:xfrm>
            <a:off x="658368" y="570155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  <p:sp>
        <p:nvSpPr>
          <p:cNvPr id="101" name="Text 99"/>
          <p:cNvSpPr txBox="1"/>
          <p:nvPr/>
        </p:nvSpPr>
        <p:spPr>
          <a:xfrm>
            <a:off x="1014984" y="570155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1200" dirty="0"/>
          </a:p>
        </p:txBody>
      </p:sp>
      <p:sp>
        <p:nvSpPr>
          <p:cNvPr id="102" name="Shape 100"/>
          <p:cNvSpPr/>
          <p:nvPr/>
        </p:nvSpPr>
        <p:spPr>
          <a:xfrm>
            <a:off x="3579876" y="5761968"/>
            <a:ext cx="5268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4206240" y="570155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+$131K</a:t>
            </a:r>
            <a:endParaRPr lang="en-US" sz="1200" dirty="0"/>
          </a:p>
        </p:txBody>
      </p:sp>
      <p:sp>
        <p:nvSpPr>
          <p:cNvPr id="104" name="Text 102"/>
          <p:cNvSpPr txBox="1"/>
          <p:nvPr/>
        </p:nvSpPr>
        <p:spPr>
          <a:xfrm>
            <a:off x="4983480" y="570155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+16.9%</a:t>
            </a:r>
            <a:endParaRPr lang="en-US" sz="1200" dirty="0"/>
          </a:p>
        </p:txBody>
      </p:sp>
      <p:sp>
        <p:nvSpPr>
          <p:cNvPr id="105" name="Text 103"/>
          <p:cNvSpPr txBox="1"/>
          <p:nvPr/>
        </p:nvSpPr>
        <p:spPr>
          <a:xfrm>
            <a:off x="6208776" y="212140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  <p:sp>
        <p:nvSpPr>
          <p:cNvPr id="106" name="Text 104"/>
          <p:cNvSpPr txBox="1"/>
          <p:nvPr/>
        </p:nvSpPr>
        <p:spPr>
          <a:xfrm>
            <a:off x="6565392" y="212140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200" dirty="0"/>
          </a:p>
        </p:txBody>
      </p:sp>
      <p:sp>
        <p:nvSpPr>
          <p:cNvPr id="107" name="Shape 105"/>
          <p:cNvSpPr/>
          <p:nvPr/>
        </p:nvSpPr>
        <p:spPr>
          <a:xfrm>
            <a:off x="9130284" y="2181823"/>
            <a:ext cx="45718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9756648" y="212140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+$113K</a:t>
            </a:r>
            <a:endParaRPr lang="en-US" sz="1200" dirty="0"/>
          </a:p>
        </p:txBody>
      </p:sp>
      <p:sp>
        <p:nvSpPr>
          <p:cNvPr id="109" name="Text 107"/>
          <p:cNvSpPr txBox="1"/>
          <p:nvPr/>
        </p:nvSpPr>
        <p:spPr>
          <a:xfrm>
            <a:off x="10533888" y="212140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+10.7%</a:t>
            </a:r>
            <a:endParaRPr lang="en-US" sz="1200" dirty="0"/>
          </a:p>
        </p:txBody>
      </p:sp>
      <p:sp>
        <p:nvSpPr>
          <p:cNvPr id="110" name="Text 108"/>
          <p:cNvSpPr txBox="1"/>
          <p:nvPr/>
        </p:nvSpPr>
        <p:spPr>
          <a:xfrm>
            <a:off x="6208776" y="234516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  <p:sp>
        <p:nvSpPr>
          <p:cNvPr id="111" name="Text 109"/>
          <p:cNvSpPr txBox="1"/>
          <p:nvPr/>
        </p:nvSpPr>
        <p:spPr>
          <a:xfrm>
            <a:off x="6565392" y="234516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200" dirty="0"/>
          </a:p>
        </p:txBody>
      </p:sp>
      <p:sp>
        <p:nvSpPr>
          <p:cNvPr id="112" name="Shape 110"/>
          <p:cNvSpPr/>
          <p:nvPr/>
        </p:nvSpPr>
        <p:spPr>
          <a:xfrm>
            <a:off x="9130284" y="2405582"/>
            <a:ext cx="39446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3" name="Text 111"/>
          <p:cNvSpPr txBox="1"/>
          <p:nvPr/>
        </p:nvSpPr>
        <p:spPr>
          <a:xfrm>
            <a:off x="9756648" y="234516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+$98K</a:t>
            </a:r>
            <a:endParaRPr lang="en-US" sz="1200" dirty="0"/>
          </a:p>
        </p:txBody>
      </p:sp>
      <p:sp>
        <p:nvSpPr>
          <p:cNvPr id="114" name="Text 112"/>
          <p:cNvSpPr txBox="1"/>
          <p:nvPr/>
        </p:nvSpPr>
        <p:spPr>
          <a:xfrm>
            <a:off x="10533888" y="234516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+16.1%</a:t>
            </a:r>
            <a:endParaRPr lang="en-US" sz="1200" dirty="0"/>
          </a:p>
        </p:txBody>
      </p:sp>
      <p:sp>
        <p:nvSpPr>
          <p:cNvPr id="115" name="Text 113"/>
          <p:cNvSpPr txBox="1"/>
          <p:nvPr/>
        </p:nvSpPr>
        <p:spPr>
          <a:xfrm>
            <a:off x="6208776" y="256892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  <p:sp>
        <p:nvSpPr>
          <p:cNvPr id="116" name="Text 114"/>
          <p:cNvSpPr txBox="1"/>
          <p:nvPr/>
        </p:nvSpPr>
        <p:spPr>
          <a:xfrm>
            <a:off x="6565392" y="256892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9130284" y="2629341"/>
            <a:ext cx="38729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9756648" y="256892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+$96K</a:t>
            </a:r>
            <a:endParaRPr lang="en-US" sz="1200" dirty="0"/>
          </a:p>
        </p:txBody>
      </p:sp>
      <p:sp>
        <p:nvSpPr>
          <p:cNvPr id="119" name="Text 117"/>
          <p:cNvSpPr txBox="1"/>
          <p:nvPr/>
        </p:nvSpPr>
        <p:spPr>
          <a:xfrm>
            <a:off x="10533888" y="256892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+41.3%</a:t>
            </a:r>
            <a:endParaRPr lang="en-US" sz="1200" dirty="0"/>
          </a:p>
        </p:txBody>
      </p:sp>
      <p:sp>
        <p:nvSpPr>
          <p:cNvPr id="120" name="Text 118"/>
          <p:cNvSpPr txBox="1"/>
          <p:nvPr/>
        </p:nvSpPr>
        <p:spPr>
          <a:xfrm>
            <a:off x="6208776" y="279268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  <p:sp>
        <p:nvSpPr>
          <p:cNvPr id="121" name="Text 119"/>
          <p:cNvSpPr txBox="1"/>
          <p:nvPr/>
        </p:nvSpPr>
        <p:spPr>
          <a:xfrm>
            <a:off x="6565392" y="279268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200" dirty="0"/>
          </a:p>
        </p:txBody>
      </p:sp>
      <p:sp>
        <p:nvSpPr>
          <p:cNvPr id="122" name="Shape 120"/>
          <p:cNvSpPr/>
          <p:nvPr/>
        </p:nvSpPr>
        <p:spPr>
          <a:xfrm>
            <a:off x="9130284" y="2853100"/>
            <a:ext cx="21715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9756648" y="279268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+$54K</a:t>
            </a:r>
            <a:endParaRPr lang="en-US" sz="1200" dirty="0"/>
          </a:p>
        </p:txBody>
      </p:sp>
      <p:sp>
        <p:nvSpPr>
          <p:cNvPr id="124" name="Text 122"/>
          <p:cNvSpPr txBox="1"/>
          <p:nvPr/>
        </p:nvSpPr>
        <p:spPr>
          <a:xfrm>
            <a:off x="10533888" y="279268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+7.2%</a:t>
            </a:r>
            <a:endParaRPr lang="en-US" sz="1200" dirty="0"/>
          </a:p>
        </p:txBody>
      </p:sp>
      <p:sp>
        <p:nvSpPr>
          <p:cNvPr id="125" name="Text 123"/>
          <p:cNvSpPr txBox="1"/>
          <p:nvPr/>
        </p:nvSpPr>
        <p:spPr>
          <a:xfrm>
            <a:off x="6208776" y="301644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  <p:sp>
        <p:nvSpPr>
          <p:cNvPr id="126" name="Text 124"/>
          <p:cNvSpPr txBox="1"/>
          <p:nvPr/>
        </p:nvSpPr>
        <p:spPr>
          <a:xfrm>
            <a:off x="6565392" y="301644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200" dirty="0"/>
          </a:p>
        </p:txBody>
      </p:sp>
      <p:sp>
        <p:nvSpPr>
          <p:cNvPr id="127" name="Shape 125"/>
          <p:cNvSpPr/>
          <p:nvPr/>
        </p:nvSpPr>
        <p:spPr>
          <a:xfrm>
            <a:off x="9130284" y="3076859"/>
            <a:ext cx="21414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28" name="Text 126"/>
          <p:cNvSpPr txBox="1"/>
          <p:nvPr/>
        </p:nvSpPr>
        <p:spPr>
          <a:xfrm>
            <a:off x="9756648" y="301644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+$53K</a:t>
            </a:r>
            <a:endParaRPr lang="en-US" sz="1200" dirty="0"/>
          </a:p>
        </p:txBody>
      </p:sp>
      <p:sp>
        <p:nvSpPr>
          <p:cNvPr id="129" name="Text 127"/>
          <p:cNvSpPr txBox="1"/>
          <p:nvPr/>
        </p:nvSpPr>
        <p:spPr>
          <a:xfrm>
            <a:off x="10533888" y="301644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+200.6%</a:t>
            </a:r>
            <a:endParaRPr lang="en-US" sz="1200" dirty="0"/>
          </a:p>
        </p:txBody>
      </p:sp>
      <p:sp>
        <p:nvSpPr>
          <p:cNvPr id="130" name="Shape 128"/>
          <p:cNvSpPr/>
          <p:nvPr/>
        </p:nvSpPr>
        <p:spPr>
          <a:xfrm>
            <a:off x="11457432" y="3062164"/>
            <a:ext cx="54864" cy="13231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6208776" y="3240203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1200" dirty="0"/>
          </a:p>
        </p:txBody>
      </p:sp>
      <p:sp>
        <p:nvSpPr>
          <p:cNvPr id="132" name="Text 130"/>
          <p:cNvSpPr txBox="1"/>
          <p:nvPr/>
        </p:nvSpPr>
        <p:spPr>
          <a:xfrm>
            <a:off x="6565392" y="3240203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1200" dirty="0"/>
          </a:p>
        </p:txBody>
      </p:sp>
      <p:sp>
        <p:nvSpPr>
          <p:cNvPr id="133" name="Shape 131"/>
          <p:cNvSpPr/>
          <p:nvPr/>
        </p:nvSpPr>
        <p:spPr>
          <a:xfrm>
            <a:off x="9130284" y="3300618"/>
            <a:ext cx="1280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4" name="Text 132"/>
          <p:cNvSpPr txBox="1"/>
          <p:nvPr/>
        </p:nvSpPr>
        <p:spPr>
          <a:xfrm>
            <a:off x="9756648" y="3240203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+$6K</a:t>
            </a:r>
            <a:endParaRPr lang="en-US" sz="1200" dirty="0"/>
          </a:p>
        </p:txBody>
      </p:sp>
      <p:sp>
        <p:nvSpPr>
          <p:cNvPr id="135" name="Text 133"/>
          <p:cNvSpPr txBox="1"/>
          <p:nvPr/>
        </p:nvSpPr>
        <p:spPr>
          <a:xfrm>
            <a:off x="10533888" y="3240203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+0.2%</a:t>
            </a:r>
            <a:endParaRPr lang="en-US" sz="1200" dirty="0"/>
          </a:p>
        </p:txBody>
      </p:sp>
      <p:sp>
        <p:nvSpPr>
          <p:cNvPr id="136" name="Text 134"/>
          <p:cNvSpPr txBox="1"/>
          <p:nvPr/>
        </p:nvSpPr>
        <p:spPr>
          <a:xfrm>
            <a:off x="6208776" y="3463962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</a:t>
            </a:r>
            <a:endParaRPr lang="en-US" sz="1200" dirty="0"/>
          </a:p>
        </p:txBody>
      </p:sp>
      <p:sp>
        <p:nvSpPr>
          <p:cNvPr id="137" name="Text 135"/>
          <p:cNvSpPr txBox="1"/>
          <p:nvPr/>
        </p:nvSpPr>
        <p:spPr>
          <a:xfrm>
            <a:off x="6565392" y="3463962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200" dirty="0"/>
          </a:p>
        </p:txBody>
      </p:sp>
      <p:sp>
        <p:nvSpPr>
          <p:cNvPr id="138" name="Shape 136"/>
          <p:cNvSpPr/>
          <p:nvPr/>
        </p:nvSpPr>
        <p:spPr>
          <a:xfrm>
            <a:off x="9130284" y="3524377"/>
            <a:ext cx="12802" cy="102929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9" name="Text 137"/>
          <p:cNvSpPr txBox="1"/>
          <p:nvPr/>
        </p:nvSpPr>
        <p:spPr>
          <a:xfrm>
            <a:off x="9756648" y="3463962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+$3K</a:t>
            </a:r>
            <a:endParaRPr lang="en-US" sz="1200" dirty="0"/>
          </a:p>
        </p:txBody>
      </p:sp>
      <p:sp>
        <p:nvSpPr>
          <p:cNvPr id="140" name="Text 138"/>
          <p:cNvSpPr txBox="1"/>
          <p:nvPr/>
        </p:nvSpPr>
        <p:spPr>
          <a:xfrm>
            <a:off x="10533888" y="3463962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+0.2%</a:t>
            </a:r>
            <a:endParaRPr lang="en-US" sz="1200" dirty="0"/>
          </a:p>
        </p:txBody>
      </p:sp>
      <p:sp>
        <p:nvSpPr>
          <p:cNvPr id="141" name="Text 139"/>
          <p:cNvSpPr txBox="1"/>
          <p:nvPr/>
        </p:nvSpPr>
        <p:spPr>
          <a:xfrm>
            <a:off x="6208776" y="3687721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1200" dirty="0"/>
          </a:p>
        </p:txBody>
      </p:sp>
      <p:sp>
        <p:nvSpPr>
          <p:cNvPr id="142" name="Text 140"/>
          <p:cNvSpPr txBox="1"/>
          <p:nvPr/>
        </p:nvSpPr>
        <p:spPr>
          <a:xfrm>
            <a:off x="6565392" y="3687721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200" dirty="0"/>
          </a:p>
        </p:txBody>
      </p:sp>
      <p:sp>
        <p:nvSpPr>
          <p:cNvPr id="143" name="Shape 141"/>
          <p:cNvSpPr/>
          <p:nvPr/>
        </p:nvSpPr>
        <p:spPr>
          <a:xfrm>
            <a:off x="9099640" y="3748136"/>
            <a:ext cx="30644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4" name="Text 142"/>
          <p:cNvSpPr txBox="1"/>
          <p:nvPr/>
        </p:nvSpPr>
        <p:spPr>
          <a:xfrm>
            <a:off x="9756648" y="3687721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−$76K</a:t>
            </a:r>
            <a:endParaRPr lang="en-US" sz="1200" dirty="0"/>
          </a:p>
        </p:txBody>
      </p:sp>
      <p:sp>
        <p:nvSpPr>
          <p:cNvPr id="145" name="Text 143"/>
          <p:cNvSpPr txBox="1"/>
          <p:nvPr/>
        </p:nvSpPr>
        <p:spPr>
          <a:xfrm>
            <a:off x="10533888" y="3687721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−2.2%</a:t>
            </a:r>
            <a:endParaRPr lang="en-US" sz="1200" dirty="0"/>
          </a:p>
        </p:txBody>
      </p:sp>
      <p:sp>
        <p:nvSpPr>
          <p:cNvPr id="146" name="Text 144"/>
          <p:cNvSpPr txBox="1"/>
          <p:nvPr/>
        </p:nvSpPr>
        <p:spPr>
          <a:xfrm>
            <a:off x="6208776" y="391148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</a:t>
            </a:r>
            <a:endParaRPr lang="en-US" sz="1200" dirty="0"/>
          </a:p>
        </p:txBody>
      </p:sp>
      <p:sp>
        <p:nvSpPr>
          <p:cNvPr id="147" name="Text 145"/>
          <p:cNvSpPr txBox="1"/>
          <p:nvPr/>
        </p:nvSpPr>
        <p:spPr>
          <a:xfrm>
            <a:off x="6565392" y="391148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200" dirty="0"/>
          </a:p>
        </p:txBody>
      </p:sp>
      <p:sp>
        <p:nvSpPr>
          <p:cNvPr id="148" name="Shape 146"/>
          <p:cNvSpPr/>
          <p:nvPr/>
        </p:nvSpPr>
        <p:spPr>
          <a:xfrm>
            <a:off x="9095358" y="3971895"/>
            <a:ext cx="34926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9" name="Text 147"/>
          <p:cNvSpPr txBox="1"/>
          <p:nvPr/>
        </p:nvSpPr>
        <p:spPr>
          <a:xfrm>
            <a:off x="9756648" y="391148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−$87K</a:t>
            </a:r>
            <a:endParaRPr lang="en-US" sz="1200" dirty="0"/>
          </a:p>
        </p:txBody>
      </p:sp>
      <p:sp>
        <p:nvSpPr>
          <p:cNvPr id="150" name="Text 148"/>
          <p:cNvSpPr txBox="1"/>
          <p:nvPr/>
        </p:nvSpPr>
        <p:spPr>
          <a:xfrm>
            <a:off x="10533888" y="391148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−8.1%</a:t>
            </a:r>
            <a:endParaRPr lang="en-US" sz="1200" dirty="0"/>
          </a:p>
        </p:txBody>
      </p:sp>
      <p:sp>
        <p:nvSpPr>
          <p:cNvPr id="151" name="Text 149"/>
          <p:cNvSpPr txBox="1"/>
          <p:nvPr/>
        </p:nvSpPr>
        <p:spPr>
          <a:xfrm>
            <a:off x="6208776" y="4135240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</a:t>
            </a:r>
            <a:endParaRPr lang="en-US" sz="1200" dirty="0"/>
          </a:p>
        </p:txBody>
      </p:sp>
      <p:sp>
        <p:nvSpPr>
          <p:cNvPr id="152" name="Text 150"/>
          <p:cNvSpPr txBox="1"/>
          <p:nvPr/>
        </p:nvSpPr>
        <p:spPr>
          <a:xfrm>
            <a:off x="6565392" y="4135240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200" dirty="0"/>
          </a:p>
        </p:txBody>
      </p:sp>
      <p:sp>
        <p:nvSpPr>
          <p:cNvPr id="153" name="Shape 151"/>
          <p:cNvSpPr/>
          <p:nvPr/>
        </p:nvSpPr>
        <p:spPr>
          <a:xfrm>
            <a:off x="9091461" y="4195654"/>
            <a:ext cx="38823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4" name="Text 152"/>
          <p:cNvSpPr txBox="1"/>
          <p:nvPr/>
        </p:nvSpPr>
        <p:spPr>
          <a:xfrm>
            <a:off x="9756648" y="4135240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−$96K</a:t>
            </a:r>
            <a:endParaRPr lang="en-US" sz="1200" dirty="0"/>
          </a:p>
        </p:txBody>
      </p:sp>
      <p:sp>
        <p:nvSpPr>
          <p:cNvPr id="155" name="Text 153"/>
          <p:cNvSpPr txBox="1"/>
          <p:nvPr/>
        </p:nvSpPr>
        <p:spPr>
          <a:xfrm>
            <a:off x="10533888" y="4135240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−47.1%</a:t>
            </a:r>
            <a:endParaRPr lang="en-US" sz="1200" dirty="0"/>
          </a:p>
        </p:txBody>
      </p:sp>
      <p:sp>
        <p:nvSpPr>
          <p:cNvPr id="156" name="Shape 154"/>
          <p:cNvSpPr/>
          <p:nvPr/>
        </p:nvSpPr>
        <p:spPr>
          <a:xfrm>
            <a:off x="11457432" y="4180960"/>
            <a:ext cx="54864" cy="13231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57" name="Text 155"/>
          <p:cNvSpPr txBox="1"/>
          <p:nvPr/>
        </p:nvSpPr>
        <p:spPr>
          <a:xfrm>
            <a:off x="6208776" y="4358999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</a:t>
            </a:r>
            <a:endParaRPr lang="en-US" sz="1200" dirty="0"/>
          </a:p>
        </p:txBody>
      </p:sp>
      <p:sp>
        <p:nvSpPr>
          <p:cNvPr id="158" name="Text 156"/>
          <p:cNvSpPr txBox="1"/>
          <p:nvPr/>
        </p:nvSpPr>
        <p:spPr>
          <a:xfrm>
            <a:off x="6565392" y="4358999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200" dirty="0"/>
          </a:p>
        </p:txBody>
      </p:sp>
      <p:sp>
        <p:nvSpPr>
          <p:cNvPr id="159" name="Shape 157"/>
          <p:cNvSpPr/>
          <p:nvPr/>
        </p:nvSpPr>
        <p:spPr>
          <a:xfrm>
            <a:off x="9071103" y="4419414"/>
            <a:ext cx="59181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0" name="Text 158"/>
          <p:cNvSpPr txBox="1"/>
          <p:nvPr/>
        </p:nvSpPr>
        <p:spPr>
          <a:xfrm>
            <a:off x="9756648" y="4358999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−$147K</a:t>
            </a:r>
            <a:endParaRPr lang="en-US" sz="1200" dirty="0"/>
          </a:p>
        </p:txBody>
      </p:sp>
      <p:sp>
        <p:nvSpPr>
          <p:cNvPr id="161" name="Text 159"/>
          <p:cNvSpPr txBox="1"/>
          <p:nvPr/>
        </p:nvSpPr>
        <p:spPr>
          <a:xfrm>
            <a:off x="10533888" y="4358999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−22.6%</a:t>
            </a:r>
            <a:endParaRPr lang="en-US" sz="1200" dirty="0"/>
          </a:p>
        </p:txBody>
      </p:sp>
      <p:sp>
        <p:nvSpPr>
          <p:cNvPr id="162" name="Text 160"/>
          <p:cNvSpPr txBox="1"/>
          <p:nvPr/>
        </p:nvSpPr>
        <p:spPr>
          <a:xfrm>
            <a:off x="6208776" y="4582758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29</a:t>
            </a:r>
            <a:endParaRPr lang="en-US" sz="1200" dirty="0"/>
          </a:p>
        </p:txBody>
      </p:sp>
      <p:sp>
        <p:nvSpPr>
          <p:cNvPr id="163" name="Text 161"/>
          <p:cNvSpPr txBox="1"/>
          <p:nvPr/>
        </p:nvSpPr>
        <p:spPr>
          <a:xfrm>
            <a:off x="6565392" y="4582758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200" dirty="0"/>
          </a:p>
        </p:txBody>
      </p:sp>
      <p:sp>
        <p:nvSpPr>
          <p:cNvPr id="164" name="Shape 162"/>
          <p:cNvSpPr/>
          <p:nvPr/>
        </p:nvSpPr>
        <p:spPr>
          <a:xfrm>
            <a:off x="9058567" y="4643173"/>
            <a:ext cx="71717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9756648" y="4582758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−$178K</a:t>
            </a:r>
            <a:endParaRPr lang="en-US" sz="1200" dirty="0"/>
          </a:p>
        </p:txBody>
      </p:sp>
      <p:sp>
        <p:nvSpPr>
          <p:cNvPr id="166" name="Text 164"/>
          <p:cNvSpPr txBox="1"/>
          <p:nvPr/>
        </p:nvSpPr>
        <p:spPr>
          <a:xfrm>
            <a:off x="10533888" y="4582758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−8.9%</a:t>
            </a:r>
            <a:endParaRPr lang="en-US" sz="1200" dirty="0"/>
          </a:p>
        </p:txBody>
      </p:sp>
      <p:sp>
        <p:nvSpPr>
          <p:cNvPr id="167" name="Shape 165"/>
          <p:cNvSpPr/>
          <p:nvPr/>
        </p:nvSpPr>
        <p:spPr>
          <a:xfrm>
            <a:off x="6163056" y="4815661"/>
            <a:ext cx="5138928" cy="205471"/>
          </a:xfrm>
          <a:prstGeom prst="rect">
            <a:avLst/>
          </a:prstGeom>
          <a:solidFill>
            <a:srgbClr val="FBEBEA"/>
          </a:solidFill>
          <a:ln/>
        </p:spPr>
      </p:sp>
      <p:sp>
        <p:nvSpPr>
          <p:cNvPr id="168" name="Text 166"/>
          <p:cNvSpPr txBox="1"/>
          <p:nvPr/>
        </p:nvSpPr>
        <p:spPr>
          <a:xfrm>
            <a:off x="6208776" y="4806517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</a:t>
            </a:r>
            <a:endParaRPr lang="en-US" sz="1200" dirty="0"/>
          </a:p>
        </p:txBody>
      </p:sp>
      <p:sp>
        <p:nvSpPr>
          <p:cNvPr id="169" name="Text 167"/>
          <p:cNvSpPr txBox="1"/>
          <p:nvPr/>
        </p:nvSpPr>
        <p:spPr>
          <a:xfrm>
            <a:off x="6565392" y="4806517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200" dirty="0"/>
          </a:p>
        </p:txBody>
      </p:sp>
      <p:sp>
        <p:nvSpPr>
          <p:cNvPr id="170" name="Shape 168"/>
          <p:cNvSpPr/>
          <p:nvPr/>
        </p:nvSpPr>
        <p:spPr>
          <a:xfrm>
            <a:off x="9044670" y="4866932"/>
            <a:ext cx="85614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1" name="Text 169"/>
          <p:cNvSpPr txBox="1"/>
          <p:nvPr/>
        </p:nvSpPr>
        <p:spPr>
          <a:xfrm>
            <a:off x="9756648" y="4806517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−$212K</a:t>
            </a:r>
            <a:endParaRPr lang="en-US" sz="1200" dirty="0"/>
          </a:p>
        </p:txBody>
      </p:sp>
      <p:sp>
        <p:nvSpPr>
          <p:cNvPr id="172" name="Text 170"/>
          <p:cNvSpPr txBox="1"/>
          <p:nvPr/>
        </p:nvSpPr>
        <p:spPr>
          <a:xfrm>
            <a:off x="10533888" y="4806517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−138.2%</a:t>
            </a:r>
            <a:endParaRPr lang="en-US" sz="1200" dirty="0"/>
          </a:p>
        </p:txBody>
      </p:sp>
      <p:sp>
        <p:nvSpPr>
          <p:cNvPr id="173" name="Shape 171"/>
          <p:cNvSpPr/>
          <p:nvPr/>
        </p:nvSpPr>
        <p:spPr>
          <a:xfrm>
            <a:off x="11457432" y="4852237"/>
            <a:ext cx="54864" cy="13231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4" name="Text 172"/>
          <p:cNvSpPr txBox="1"/>
          <p:nvPr/>
        </p:nvSpPr>
        <p:spPr>
          <a:xfrm>
            <a:off x="6208776" y="5030276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200" dirty="0"/>
          </a:p>
        </p:txBody>
      </p:sp>
      <p:sp>
        <p:nvSpPr>
          <p:cNvPr id="175" name="Text 173"/>
          <p:cNvSpPr txBox="1"/>
          <p:nvPr/>
        </p:nvSpPr>
        <p:spPr>
          <a:xfrm>
            <a:off x="6565392" y="5030276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200" dirty="0"/>
          </a:p>
        </p:txBody>
      </p:sp>
      <p:sp>
        <p:nvSpPr>
          <p:cNvPr id="176" name="Shape 174"/>
          <p:cNvSpPr/>
          <p:nvPr/>
        </p:nvSpPr>
        <p:spPr>
          <a:xfrm>
            <a:off x="9022168" y="5090691"/>
            <a:ext cx="108116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7" name="Text 175"/>
          <p:cNvSpPr txBox="1"/>
          <p:nvPr/>
        </p:nvSpPr>
        <p:spPr>
          <a:xfrm>
            <a:off x="9756648" y="5030276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−$268K</a:t>
            </a:r>
            <a:endParaRPr lang="en-US" sz="1200" dirty="0"/>
          </a:p>
        </p:txBody>
      </p:sp>
      <p:sp>
        <p:nvSpPr>
          <p:cNvPr id="178" name="Text 176"/>
          <p:cNvSpPr txBox="1"/>
          <p:nvPr/>
        </p:nvSpPr>
        <p:spPr>
          <a:xfrm>
            <a:off x="10533888" y="5030276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−27.7%</a:t>
            </a:r>
            <a:endParaRPr lang="en-US" sz="1200" dirty="0"/>
          </a:p>
        </p:txBody>
      </p:sp>
      <p:sp>
        <p:nvSpPr>
          <p:cNvPr id="179" name="Text 177"/>
          <p:cNvSpPr txBox="1"/>
          <p:nvPr/>
        </p:nvSpPr>
        <p:spPr>
          <a:xfrm>
            <a:off x="6208776" y="5254035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200" dirty="0"/>
          </a:p>
        </p:txBody>
      </p:sp>
      <p:sp>
        <p:nvSpPr>
          <p:cNvPr id="180" name="Text 178"/>
          <p:cNvSpPr txBox="1"/>
          <p:nvPr/>
        </p:nvSpPr>
        <p:spPr>
          <a:xfrm>
            <a:off x="6565392" y="5254035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200" dirty="0"/>
          </a:p>
        </p:txBody>
      </p:sp>
      <p:sp>
        <p:nvSpPr>
          <p:cNvPr id="181" name="Shape 179"/>
          <p:cNvSpPr/>
          <p:nvPr/>
        </p:nvSpPr>
        <p:spPr>
          <a:xfrm>
            <a:off x="8945616" y="5314450"/>
            <a:ext cx="184668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2" name="Text 180"/>
          <p:cNvSpPr txBox="1"/>
          <p:nvPr/>
        </p:nvSpPr>
        <p:spPr>
          <a:xfrm>
            <a:off x="9756648" y="5254035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−$457K</a:t>
            </a:r>
            <a:endParaRPr lang="en-US" sz="1200" dirty="0"/>
          </a:p>
        </p:txBody>
      </p:sp>
      <p:sp>
        <p:nvSpPr>
          <p:cNvPr id="183" name="Text 181"/>
          <p:cNvSpPr txBox="1"/>
          <p:nvPr/>
        </p:nvSpPr>
        <p:spPr>
          <a:xfrm>
            <a:off x="10533888" y="5254035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−29.6%</a:t>
            </a:r>
            <a:endParaRPr lang="en-US" sz="1200" dirty="0"/>
          </a:p>
        </p:txBody>
      </p:sp>
      <p:sp>
        <p:nvSpPr>
          <p:cNvPr id="184" name="Shape 182"/>
          <p:cNvSpPr/>
          <p:nvPr/>
        </p:nvSpPr>
        <p:spPr>
          <a:xfrm>
            <a:off x="11457432" y="5299755"/>
            <a:ext cx="54864" cy="13231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5" name="Text 183"/>
          <p:cNvSpPr txBox="1"/>
          <p:nvPr/>
        </p:nvSpPr>
        <p:spPr>
          <a:xfrm>
            <a:off x="6208776" y="5477794"/>
            <a:ext cx="310896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200" dirty="0"/>
          </a:p>
        </p:txBody>
      </p:sp>
      <p:sp>
        <p:nvSpPr>
          <p:cNvPr id="186" name="Text 184"/>
          <p:cNvSpPr txBox="1"/>
          <p:nvPr/>
        </p:nvSpPr>
        <p:spPr>
          <a:xfrm>
            <a:off x="6565392" y="5477794"/>
            <a:ext cx="1920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200" dirty="0"/>
          </a:p>
        </p:txBody>
      </p:sp>
      <p:sp>
        <p:nvSpPr>
          <p:cNvPr id="187" name="Shape 185"/>
          <p:cNvSpPr/>
          <p:nvPr/>
        </p:nvSpPr>
        <p:spPr>
          <a:xfrm>
            <a:off x="8870602" y="5538209"/>
            <a:ext cx="259682" cy="102929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88" name="Text 186"/>
          <p:cNvSpPr txBox="1"/>
          <p:nvPr/>
        </p:nvSpPr>
        <p:spPr>
          <a:xfrm>
            <a:off x="9756648" y="5477794"/>
            <a:ext cx="77724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−$643K</a:t>
            </a:r>
            <a:endParaRPr lang="en-US" sz="1200" dirty="0"/>
          </a:p>
        </p:txBody>
      </p:sp>
      <p:sp>
        <p:nvSpPr>
          <p:cNvPr id="189" name="Text 187"/>
          <p:cNvSpPr txBox="1"/>
          <p:nvPr/>
        </p:nvSpPr>
        <p:spPr>
          <a:xfrm>
            <a:off x="10533888" y="5477794"/>
            <a:ext cx="868680" cy="2237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−22.1%</a:t>
            </a:r>
            <a:endParaRPr lang="en-US" sz="1200" dirty="0"/>
          </a:p>
        </p:txBody>
      </p:sp>
      <p:sp>
        <p:nvSpPr>
          <p:cNvPr id="190" name="Shape 188"/>
          <p:cNvSpPr/>
          <p:nvPr/>
        </p:nvSpPr>
        <p:spPr>
          <a:xfrm>
            <a:off x="3574390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91" name="Shape 189"/>
          <p:cNvSpPr/>
          <p:nvPr/>
        </p:nvSpPr>
        <p:spPr>
          <a:xfrm>
            <a:off x="9124798" y="2121408"/>
            <a:ext cx="10973" cy="3803904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192" name="Shape 190"/>
          <p:cNvSpPr/>
          <p:nvPr/>
        </p:nvSpPr>
        <p:spPr>
          <a:xfrm>
            <a:off x="6085332" y="2121408"/>
            <a:ext cx="10973" cy="3803904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94" name="Shape 191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  <p:txBody>
          <a:bodyPr/>
          <a:p/>
        </p:txBody>
      </p:sp>
      <p:sp>
        <p:nvSpPr>
          <p:cNvPr id="195" name="Text 192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24 of 33 stores grew fixed ops net profit, January through September year to date.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RECORDS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Record Year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" name="Shape 5"/>
          <p:cNvSpPr/>
          <p:nvPr/>
        </p:nvSpPr>
        <p:spPr>
          <a:xfrm>
            <a:off x="713232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WITH ALL-TIME RECORD MONTHS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33 set their best month ever in service, parts or combined during 2026.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454146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Shape 10"/>
          <p:cNvSpPr/>
          <p:nvPr/>
        </p:nvSpPr>
        <p:spPr>
          <a:xfrm>
            <a:off x="3454146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37026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RECORDS SET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37026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98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3637026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all-time monthly records across those stores: service, parts and combined counted separately.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95060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6195060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77940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JANUARY–SEPTEMBER EVER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77940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6377940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had their best January–September ever in combined fixed gross.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935974" y="1481328"/>
            <a:ext cx="2539746" cy="301752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2" name="Shape 20"/>
          <p:cNvSpPr/>
          <p:nvPr/>
        </p:nvSpPr>
        <p:spPr>
          <a:xfrm>
            <a:off x="8935974" y="1481328"/>
            <a:ext cx="2539746" cy="64008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18854" y="1691640"/>
            <a:ext cx="21739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WHO SET A RECORD AND THEN RESET IT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118854" y="2286000"/>
            <a:ext cx="21739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9118854" y="3200400"/>
            <a:ext cx="2173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stores set a record and then topped it again later in the year.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13232" y="4709160"/>
            <a:ext cx="10762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records set this year: Honda Spokane 9, Nissan 9, Toyota Henderson 8, Honda Henderson 7 and Subaru St George 7.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 alone brought 11 combined store records.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2026-10-27T21:57:51Z</dcterms:created>
  <dcterms:modified xsi:type="dcterms:W3CDTF">2026-10-27T21:57:51Z</dcterms:modified>
</cp:coreProperties>
</file>