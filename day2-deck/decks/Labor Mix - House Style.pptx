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52.3</c:v>
                </c:pt>
                <c:pt idx="1">
                  <c:v>51.7</c:v>
                </c:pt>
                <c:pt idx="2">
                  <c:v>53.3</c:v>
                </c:pt>
                <c:pt idx="3">
                  <c:v>51.8</c:v>
                </c:pt>
                <c:pt idx="4">
                  <c:v>53.6</c:v>
                </c:pt>
                <c:pt idx="5">
                  <c:v>53.4</c:v>
                </c:pt>
                <c:pt idx="6">
                  <c:v>52.4</c:v>
                </c:pt>
                <c:pt idx="7">
                  <c:v>53.1</c:v>
                </c:pt>
                <c:pt idx="8">
                  <c:v>50.7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56"/>
          <c:min val="48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>
              <a:noFill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52.3</c:v>
                </c:pt>
                <c:pt idx="1">
                  <c:v>51.7</c:v>
                </c:pt>
                <c:pt idx="2">
                  <c:v>53.3</c:v>
                </c:pt>
                <c:pt idx="3">
                  <c:v/>
                </c:pt>
                <c:pt idx="4">
                  <c:v/>
                </c:pt>
                <c:pt idx="5">
                  <c:v>53.4</c:v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56"/>
          <c:min val="48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>
              <a:noFill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>51.8</c:v>
                </c:pt>
                <c:pt idx="4">
                  <c:v>53.6</c:v>
                </c:pt>
                <c:pt idx="5">
                  <c:v/>
                </c:pt>
                <c:pt idx="6">
                  <c:v>52.4</c:v>
                </c:pt>
                <c:pt idx="7">
                  <c:v>53.1</c:v>
                </c:pt>
                <c:pt idx="8">
                  <c:v>50.7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b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56"/>
          <c:min val="48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>
              <a:noFill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>52.5</c:v>
                </c:pt>
                <c:pt idx="4">
                  <c:v>53.9</c:v>
                </c:pt>
                <c:pt idx="5">
                  <c:v/>
                </c:pt>
                <c:pt idx="6">
                  <c:v>52.8</c:v>
                </c:pt>
                <c:pt idx="7">
                  <c:v>53.4</c:v>
                </c:pt>
                <c:pt idx="8">
                  <c:v>53.4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56"/>
          <c:min val="48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>
              <a:noFill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51.3</c:v>
                </c:pt>
                <c:pt idx="1">
                  <c:v>51.4</c:v>
                </c:pt>
                <c:pt idx="2">
                  <c:v>52.8</c:v>
                </c:pt>
                <c:pt idx="3">
                  <c:v/>
                </c:pt>
                <c:pt idx="4">
                  <c:v/>
                </c:pt>
                <c:pt idx="5">
                  <c:v>53.3</c:v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b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56"/>
          <c:min val="48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51.3</c:v>
                </c:pt>
                <c:pt idx="1">
                  <c:v>51.4</c:v>
                </c:pt>
                <c:pt idx="2">
                  <c:v>52.8</c:v>
                </c:pt>
                <c:pt idx="3">
                  <c:v>52.5</c:v>
                </c:pt>
                <c:pt idx="4">
                  <c:v>53.9</c:v>
                </c:pt>
                <c:pt idx="5">
                  <c:v>53.3</c:v>
                </c:pt>
                <c:pt idx="6">
                  <c:v>52.8</c:v>
                </c:pt>
                <c:pt idx="7">
                  <c:v>53.4</c:v>
                </c:pt>
                <c:pt idx="8">
                  <c:v>53.4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56"/>
          <c:min val="48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Labor sale by pay type, Jan-Sep by close month. Same-store, INEOS excluded. GMC Prescott body shop labor types excluded. Jan-Sep 2026 shares of labor sale; sorted by customer-pay share. Bar labels are percent of labor sale; every value is also listed here.
HONDA SPOKANE: CP 70.3%, W 8.0%, I 21.6%
TOYOTA SPOKANE: CP 65.3%, W 15.5%, I 19.2%
TOYOTA FLAGSTAFF: CP 65.1%, W 11.2%, I 23.7%
HONDA FLAGSTAFF: CP 65.1%, W 11.9%, I 23.0%
LR LV: CP 64.9%, W 25.2%, I 10.0%
VOLVO: CP 62.9%, W 23.1%, I 14.0%
LR RENO: CP 61.5%, W 17.2%, I 21.3%
TOYOTA PRESCOTT: CP 60.5%, W 13.8%, I 25.8%
AUDI RENO: CP 59.7%, W 29.1%, I 11.2%
CDJR POST FALLS: CP 59.5%, W 23.6%, I 16.9%
NISSAN: CP 59.4%, W 17.7%, I 22.9%
SUBARU ST GEORGE: CP 59.0%, W 23.5%, I 17.5%
SUBARU LV: CP 58.0%, W 24.2%, I 17.7%
HONDA NORTH: CP 57.9%, W 13.5%, I 28.6%
TOYOTA HENDERSON: CP 57.3%, W 14.8%, I 27.9%
MAZDA: CP 56.6%, W 12.4%, I 31.0%
HONDA HENDERSON: CP 56.6%, W 10.2%, I 33.3%
VW ST GEORGE: CP 55.8%, W 31.0%, I 13.2%
LR HENDERSON: CP 55.3%, W 20.2%, I 24.5%
LEXUS: CP 54.5%, W 13.1%, I 32.4%
SUBARU PRESCOTT: CP 50.8%, W 19.2%, I 30.0%
ACURA: CP 48.7%, W 15.5%, I 35.8%
GMC PRESCOTT: CP 48.0%, W 23.1%, I 29.0%
VW HENDERSON: CP 47.2%, W 40.1%, I 12.8%
CHEVY LV: CP 47.0%, W 28.1%, I 24.9%
CHEVY GMC BULLHEAD: CP 45.3%, W 14.3%, I 40.4%
LINCOLN: CP 44.6%, W 37.5%, I 17.8%
HYUNDAI ST GEORGE: CP 40.3%, W 34.9%, I 24.8%
KIA ST GEORGE: CP 40.0%, W 38.4%, I 21.7%
KIA LV: CP 39.2%, W 31.5%, I 29.2%
AUDI HENDERSON: CP 34.1%, W 52.2%, I 13.7%
HYUNDAI PRESCOTT: CP 28.5%, W 35.7%, I 35.8%
CADILLAC: CP 27.9%, W 51.3%, I 20.7%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Labor sale by pay type, Jan-Sep by close month. Same-store, INEOS excluded. GMC Prescott body shop labor types excluded. Customer-pay labor sale / total labor sale (customer pay + warranty + internal). YTD from YTD totals, not the mean of months. Store rows reconcile to the group on every input, both years.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Labor sale by pay type, Jan-Sep by close month. Same-store, INEOS excluded. GMC Prescott body shop labor types excluded. Change in Customer Pay Share of Labor Sale, Jan-Sep 2026 vs 2025, best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Customer-pay labor sale by op code description, Jan-Sep. Same-store, INEOS excluded. GMC Prescott body shop labor types excluded. Maintenance = descriptions naming oil and filter, rotation, brake pads, rotors and brake service, scheduled/interval/mileage service, OEM care plans, alignment, balance, fluid exchanges and flushes, fuel induction, transmission/differential/transfer case/coolant service, spark plugs, filters, wipers, multi-point inspection, timing belt, BG and refresh services, smog/emissions inspection, fluid services, tune-ups, tire promotions (buy 3 get 1), CVT, EGR, 4x4, AWD, intermediate and transmission services, and any coolant replacement or change. Repair = repair, replace, R&amp;R, diagnosis, leak, noise, inoperative, check engine, warning light, struts, shocks, alternator, starter, water pump, reseal, gasket, calibration, overhaul, engine light, drive belt, belt and hose kit. Descriptions that are only a placeholder (exactly MISC, DEFAULT, STANDARD, GENERAL, GENERAL REPAIR, CUSTOMER STATES, GENERAL CONCERN, ADD DESCRIPTION, TELL US MORE and similar) are left unclassified; a placeholder followed by real detail is classified by that detail.
HONDA HENDERSON: M 71.2%, R 24.6%, U 4.2%
TOYOTA PRESCOTT: M 69.4%, R 25.1%, U 5.5%
TOYOTA HENDERSON: M 68.0%, R 24.7%, U 7.3%
LEXUS: M 67.1%, R 22.0%, U 10.9%
HONDA FLAGSTAFF: M 66.4%, R 25.5%, U 8.1%
HONDA NORTH: M 65.9%, R 29.5%, U 4.6%
MAZDA: M 63.9%, R 21.3%, U 14.8%
ACURA: M 62.0%, R 25.6%, U 12.4%
TOYOTA FLAGSTAFF: M 61.6%, R 13.1%, U 25.3%
TOYOTA SPOKANE: M 60.0%, R 26.4%, U 13.6%
KIA LV: M 59.7%, R 31.1%, U 9.2%
SUBARU PRESCOTT: M 59.2%, R 1.5%, U 39.3%
SUBARU ST GEORGE: M 59.0%, R 26.6%, U 14.4%
LR HENDERSON: M 58.8%, R 32.2%, U 9.0%
HYUNDAI ST GEORGE: M 58.3%, R 18.2%, U 23.5%
HYUNDAI PRESCOTT: M 56.8%, R 23.9%, U 19.3%
LR RENO: M 56.8%, R 23.9%, U 19.3%
SUBARU LV: M 55.1%, R 35.4%, U 9.5%
KIA ST GEORGE: M 55.1%, R 29.6%, U 15.3%
HONDA SPOKANE: M 48.6%, R 41.4%, U 10.0%
VOLVO: M 43.9%, R 41.7%, U 14.4%
LR LV: M 43.0%, R 30.0%, U 27.0%
LINCOLN: M 42.8%, R 28.9%, U 28.3%
VW HENDERSON: M 41.0%, R 51.3%, U 7.7%
CHEVY LV: M 40.6%, R 48.3%, U 11.1%
NISSAN: M 40.2%, R 41.9%, U 17.9%
CHEVY GMC BULLHEAD: M 38.4%, R 32.6%, U 29.0%
AUDI HENDERSON: M 35.1%, R 37.8%, U 27.1%
GMC PRESCOTT: M 33.9%, R 2.6%, U 63.5%
CADILLAC: M 32.8%, R 54.6%, U 12.6%
AUDI RENO: M 32.2%, R 29.7%, U 38.1%
VW ST GEORGE: M 27.5%, R 27.4%, U 45.1%
CDJR POST FALLS: M 26.5%, R 21.7%, U 51.8%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Customer-pay labor sale by op code description, Jan-Sep. Same-store, INEOS excluded. GMC Prescott body shop labor types excluded. Share of CP labor sale whose op code description matches neither the maintenance nor the repair rules, Jan-Sep 2026. Lower is better: green at or below the group, red above. Maintenance = descriptions naming oil and filter, rotation, brake pads, rotors and brake service, scheduled/interval/mileage service, OEM care plans, alignment, balance, fluid exchanges and flushes, fuel induction, transmission/differential/transfer case/coolant service, spark plugs, filters, wipers, multi-point inspection, timing belt, BG and refresh services, smog/emissions inspection, fluid services, tune-ups, tire promotions (buy 3 get 1), CVT, EGR, 4x4, AWD, intermediate and transmission services, and any coolant replacement or change. Repair = repair, replace, R&amp;R, diagnosis, leak, noise, inoperative, check engine, warning light, struts, shocks, alternator, starter, water pump, reseal, gasket, calibration, overhaul, engine light, drive belt, belt and hose kit. Descriptions that are only a placeholder (exactly MISC, DEFAULT, STANDARD, GENERAL, GENERAL REPAIR, CUSTOMER STATES, GENERAL CONCERN, ADD DESCRIPTION, TELL US MORE and similar) are left unclassified; a placeholder followed by real detail is classified by that detail.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chart" Target="/ppt/charts/chart4.xml"/><Relationship Id="rId5" Type="http://schemas.openxmlformats.org/officeDocument/2006/relationships/chart" Target="/ppt/charts/chart5.xml"/><Relationship Id="rId6" Type="http://schemas.openxmlformats.org/officeDocument/2006/relationships/chart" Target="/ppt/charts/chart6.xml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7600" dirty="0"/>
          </a:p>
        </p:txBody>
      </p:sp>
      <p:sp>
        <p:nvSpPr>
          <p:cNvPr id="4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Pay type   ·   Work type   ·   Op code descriptions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Sale by Pay Type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71600"/>
            <a:ext cx="201168" cy="20116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32688" y="129844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%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624328" y="1371600"/>
            <a:ext cx="201168" cy="201168"/>
          </a:xfrm>
          <a:prstGeom prst="rect">
            <a:avLst/>
          </a:prstGeom>
          <a:solidFill>
            <a:srgbClr val="8FBEE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898648" y="129844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%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90288" y="1371600"/>
            <a:ext cx="201168" cy="201168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64608" y="129844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%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675120" y="1298448"/>
            <a:ext cx="4855464" cy="38404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766560" y="1298448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726680" y="1344168"/>
            <a:ext cx="1948645" cy="29260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726680" y="1344168"/>
            <a:ext cx="1948645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52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9675325" y="1344168"/>
            <a:ext cx="882937" cy="292608"/>
          </a:xfrm>
          <a:prstGeom prst="rect">
            <a:avLst/>
          </a:prstGeom>
          <a:solidFill>
            <a:srgbClr val="8FBE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675325" y="1344168"/>
            <a:ext cx="882937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10558262" y="1344168"/>
            <a:ext cx="880882" cy="29260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558262" y="1344168"/>
            <a:ext cx="880882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58368" y="1828800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2807208" y="1857717"/>
            <a:ext cx="2219218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2807208" y="1857717"/>
            <a:ext cx="2219218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026426" y="1857717"/>
            <a:ext cx="252542" cy="183138"/>
          </a:xfrm>
          <a:prstGeom prst="rect">
            <a:avLst/>
          </a:prstGeom>
          <a:solidFill>
            <a:srgbClr val="8FBE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026426" y="1857717"/>
            <a:ext cx="252542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278968" y="1857717"/>
            <a:ext cx="682920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278968" y="1857717"/>
            <a:ext cx="682920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069771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2807208" y="2098688"/>
            <a:ext cx="2060840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807208" y="2098688"/>
            <a:ext cx="2060840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65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4868048" y="2098688"/>
            <a:ext cx="489573" cy="183138"/>
          </a:xfrm>
          <a:prstGeom prst="rect">
            <a:avLst/>
          </a:prstGeom>
          <a:solidFill>
            <a:srgbClr val="8FBE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868048" y="2098688"/>
            <a:ext cx="489573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357621" y="2098688"/>
            <a:ext cx="604267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357621" y="2098688"/>
            <a:ext cx="604267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658368" y="2310743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807208" y="2339659"/>
            <a:ext cx="2054762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2807208" y="2339659"/>
            <a:ext cx="2054762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65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4861970" y="2339659"/>
            <a:ext cx="352121" cy="183138"/>
          </a:xfrm>
          <a:prstGeom prst="rect">
            <a:avLst/>
          </a:prstGeom>
          <a:solidFill>
            <a:srgbClr val="8FBE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4861970" y="2339659"/>
            <a:ext cx="352121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5214091" y="2339659"/>
            <a:ext cx="747797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214091" y="2339659"/>
            <a:ext cx="747797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658368" y="2551714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2807208" y="2580630"/>
            <a:ext cx="2053161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2807208" y="2580630"/>
            <a:ext cx="2053161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65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4860369" y="2580630"/>
            <a:ext cx="375876" cy="183138"/>
          </a:xfrm>
          <a:prstGeom prst="rect">
            <a:avLst/>
          </a:prstGeom>
          <a:solidFill>
            <a:srgbClr val="8FBE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4860369" y="2580630"/>
            <a:ext cx="375876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5236245" y="2580630"/>
            <a:ext cx="725643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5236245" y="2580630"/>
            <a:ext cx="725643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658368" y="2792685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2807208" y="2821602"/>
            <a:ext cx="2046848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807208" y="2821602"/>
            <a:ext cx="2046848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65</a:t>
            </a:r>
            <a:endParaRPr lang="en-US" sz="1300" dirty="0"/>
          </a:p>
        </p:txBody>
      </p:sp>
      <p:sp>
        <p:nvSpPr>
          <p:cNvPr id="51" name="Shape 49"/>
          <p:cNvSpPr/>
          <p:nvPr/>
        </p:nvSpPr>
        <p:spPr>
          <a:xfrm>
            <a:off x="4854056" y="2821602"/>
            <a:ext cx="793865" cy="183138"/>
          </a:xfrm>
          <a:prstGeom prst="rect">
            <a:avLst/>
          </a:prstGeom>
          <a:solidFill>
            <a:srgbClr val="8FBE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4854056" y="2821602"/>
            <a:ext cx="793865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5647921" y="2821602"/>
            <a:ext cx="313967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5647921" y="2821602"/>
            <a:ext cx="313967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033656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56" name="Shape 54"/>
          <p:cNvSpPr/>
          <p:nvPr/>
        </p:nvSpPr>
        <p:spPr>
          <a:xfrm>
            <a:off x="2807208" y="3062573"/>
            <a:ext cx="1985155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2807208" y="3062573"/>
            <a:ext cx="1985155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63</a:t>
            </a:r>
            <a:endParaRPr lang="en-US" sz="1300" dirty="0"/>
          </a:p>
        </p:txBody>
      </p:sp>
      <p:sp>
        <p:nvSpPr>
          <p:cNvPr id="58" name="Shape 56"/>
          <p:cNvSpPr/>
          <p:nvPr/>
        </p:nvSpPr>
        <p:spPr>
          <a:xfrm>
            <a:off x="4792363" y="3062573"/>
            <a:ext cx="729180" cy="183138"/>
          </a:xfrm>
          <a:prstGeom prst="rect">
            <a:avLst/>
          </a:prstGeom>
          <a:solidFill>
            <a:srgbClr val="8FBE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4792363" y="3062573"/>
            <a:ext cx="729180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300" dirty="0"/>
          </a:p>
        </p:txBody>
      </p:sp>
      <p:sp>
        <p:nvSpPr>
          <p:cNvPr id="60" name="Shape 58"/>
          <p:cNvSpPr/>
          <p:nvPr/>
        </p:nvSpPr>
        <p:spPr>
          <a:xfrm>
            <a:off x="5521542" y="3062573"/>
            <a:ext cx="440346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521542" y="3062573"/>
            <a:ext cx="440346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658368" y="3274628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2807208" y="3303544"/>
            <a:ext cx="1940199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2807208" y="3303544"/>
            <a:ext cx="1940199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62</a:t>
            </a:r>
            <a:endParaRPr lang="en-US" sz="1300" dirty="0"/>
          </a:p>
        </p:txBody>
      </p:sp>
      <p:sp>
        <p:nvSpPr>
          <p:cNvPr id="65" name="Shape 63"/>
          <p:cNvSpPr/>
          <p:nvPr/>
        </p:nvSpPr>
        <p:spPr>
          <a:xfrm>
            <a:off x="4747407" y="3303544"/>
            <a:ext cx="542990" cy="183138"/>
          </a:xfrm>
          <a:prstGeom prst="rect">
            <a:avLst/>
          </a:prstGeom>
          <a:solidFill>
            <a:srgbClr val="8FBE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4747407" y="3303544"/>
            <a:ext cx="542990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300" dirty="0"/>
          </a:p>
        </p:txBody>
      </p:sp>
      <p:sp>
        <p:nvSpPr>
          <p:cNvPr id="67" name="Shape 65"/>
          <p:cNvSpPr/>
          <p:nvPr/>
        </p:nvSpPr>
        <p:spPr>
          <a:xfrm>
            <a:off x="5290397" y="3303544"/>
            <a:ext cx="671491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5290397" y="3303544"/>
            <a:ext cx="671491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300" dirty="0"/>
          </a:p>
        </p:txBody>
      </p:sp>
      <p:sp>
        <p:nvSpPr>
          <p:cNvPr id="69" name="Text 67"/>
          <p:cNvSpPr txBox="1"/>
          <p:nvPr/>
        </p:nvSpPr>
        <p:spPr>
          <a:xfrm>
            <a:off x="658368" y="3515599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70" name="Shape 68"/>
          <p:cNvSpPr/>
          <p:nvPr/>
        </p:nvSpPr>
        <p:spPr>
          <a:xfrm>
            <a:off x="2807208" y="3544516"/>
            <a:ext cx="1907392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2807208" y="3544516"/>
            <a:ext cx="1907392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60</a:t>
            </a:r>
            <a:endParaRPr lang="en-US" sz="1300" dirty="0"/>
          </a:p>
        </p:txBody>
      </p:sp>
      <p:sp>
        <p:nvSpPr>
          <p:cNvPr id="72" name="Shape 70"/>
          <p:cNvSpPr/>
          <p:nvPr/>
        </p:nvSpPr>
        <p:spPr>
          <a:xfrm>
            <a:off x="4714600" y="3544516"/>
            <a:ext cx="434501" cy="183138"/>
          </a:xfrm>
          <a:prstGeom prst="rect">
            <a:avLst/>
          </a:prstGeom>
          <a:solidFill>
            <a:srgbClr val="8FBE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4714600" y="3544516"/>
            <a:ext cx="434501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300" dirty="0"/>
          </a:p>
        </p:txBody>
      </p:sp>
      <p:sp>
        <p:nvSpPr>
          <p:cNvPr id="74" name="Shape 72"/>
          <p:cNvSpPr/>
          <p:nvPr/>
        </p:nvSpPr>
        <p:spPr>
          <a:xfrm>
            <a:off x="5149102" y="3544516"/>
            <a:ext cx="812786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149102" y="3544516"/>
            <a:ext cx="812786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658368" y="3756570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77" name="Shape 75"/>
          <p:cNvSpPr/>
          <p:nvPr/>
        </p:nvSpPr>
        <p:spPr>
          <a:xfrm>
            <a:off x="2807208" y="3785487"/>
            <a:ext cx="1883011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2807208" y="3785487"/>
            <a:ext cx="1883011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60</a:t>
            </a:r>
            <a:endParaRPr lang="en-US" sz="1300" dirty="0"/>
          </a:p>
        </p:txBody>
      </p:sp>
      <p:sp>
        <p:nvSpPr>
          <p:cNvPr id="79" name="Shape 77"/>
          <p:cNvSpPr/>
          <p:nvPr/>
        </p:nvSpPr>
        <p:spPr>
          <a:xfrm>
            <a:off x="4690219" y="3785487"/>
            <a:ext cx="918142" cy="183138"/>
          </a:xfrm>
          <a:prstGeom prst="rect">
            <a:avLst/>
          </a:prstGeom>
          <a:solidFill>
            <a:srgbClr val="8FBE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4690219" y="3785487"/>
            <a:ext cx="918142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300" dirty="0"/>
          </a:p>
        </p:txBody>
      </p:sp>
      <p:sp>
        <p:nvSpPr>
          <p:cNvPr id="81" name="Shape 79"/>
          <p:cNvSpPr/>
          <p:nvPr/>
        </p:nvSpPr>
        <p:spPr>
          <a:xfrm>
            <a:off x="5608361" y="3785487"/>
            <a:ext cx="353527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5608361" y="3785487"/>
            <a:ext cx="353527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300" dirty="0"/>
          </a:p>
        </p:txBody>
      </p:sp>
      <p:sp>
        <p:nvSpPr>
          <p:cNvPr id="83" name="Text 81"/>
          <p:cNvSpPr txBox="1"/>
          <p:nvPr/>
        </p:nvSpPr>
        <p:spPr>
          <a:xfrm>
            <a:off x="658368" y="3997542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2807208" y="4026458"/>
            <a:ext cx="1876032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2807208" y="4026458"/>
            <a:ext cx="1876032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59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4683240" y="4026458"/>
            <a:ext cx="744656" cy="183138"/>
          </a:xfrm>
          <a:prstGeom prst="rect">
            <a:avLst/>
          </a:prstGeom>
          <a:solidFill>
            <a:srgbClr val="8FBE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4683240" y="4026458"/>
            <a:ext cx="744656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300" dirty="0"/>
          </a:p>
        </p:txBody>
      </p:sp>
      <p:sp>
        <p:nvSpPr>
          <p:cNvPr id="88" name="Shape 86"/>
          <p:cNvSpPr/>
          <p:nvPr/>
        </p:nvSpPr>
        <p:spPr>
          <a:xfrm>
            <a:off x="5427896" y="4026458"/>
            <a:ext cx="533992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9" name="Text 87"/>
          <p:cNvSpPr txBox="1"/>
          <p:nvPr/>
        </p:nvSpPr>
        <p:spPr>
          <a:xfrm>
            <a:off x="5427896" y="4026458"/>
            <a:ext cx="533992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658368" y="4238513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91" name="Shape 89"/>
          <p:cNvSpPr/>
          <p:nvPr/>
        </p:nvSpPr>
        <p:spPr>
          <a:xfrm>
            <a:off x="2807208" y="4267429"/>
            <a:ext cx="1874405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2" name="Text 90"/>
          <p:cNvSpPr txBox="1"/>
          <p:nvPr/>
        </p:nvSpPr>
        <p:spPr>
          <a:xfrm>
            <a:off x="2807208" y="4267429"/>
            <a:ext cx="1874405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59</a:t>
            </a:r>
            <a:endParaRPr lang="en-US" sz="1300" dirty="0"/>
          </a:p>
        </p:txBody>
      </p:sp>
      <p:sp>
        <p:nvSpPr>
          <p:cNvPr id="93" name="Shape 91"/>
          <p:cNvSpPr/>
          <p:nvPr/>
        </p:nvSpPr>
        <p:spPr>
          <a:xfrm>
            <a:off x="4681613" y="4267429"/>
            <a:ext cx="558160" cy="183138"/>
          </a:xfrm>
          <a:prstGeom prst="rect">
            <a:avLst/>
          </a:prstGeom>
          <a:solidFill>
            <a:srgbClr val="8FBE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4" name="Text 92"/>
          <p:cNvSpPr txBox="1"/>
          <p:nvPr/>
        </p:nvSpPr>
        <p:spPr>
          <a:xfrm>
            <a:off x="4681613" y="4267429"/>
            <a:ext cx="558160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300" dirty="0"/>
          </a:p>
        </p:txBody>
      </p:sp>
      <p:sp>
        <p:nvSpPr>
          <p:cNvPr id="95" name="Shape 93"/>
          <p:cNvSpPr/>
          <p:nvPr/>
        </p:nvSpPr>
        <p:spPr>
          <a:xfrm>
            <a:off x="5239773" y="4267429"/>
            <a:ext cx="722115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6" name="Text 94"/>
          <p:cNvSpPr txBox="1"/>
          <p:nvPr/>
        </p:nvSpPr>
        <p:spPr>
          <a:xfrm>
            <a:off x="5239773" y="4267429"/>
            <a:ext cx="722115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658368" y="4479484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98" name="Shape 96"/>
          <p:cNvSpPr/>
          <p:nvPr/>
        </p:nvSpPr>
        <p:spPr>
          <a:xfrm>
            <a:off x="2807208" y="4508401"/>
            <a:ext cx="1862814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2807208" y="4508401"/>
            <a:ext cx="1862814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59</a:t>
            </a:r>
            <a:endParaRPr lang="en-US" sz="1300" dirty="0"/>
          </a:p>
        </p:txBody>
      </p:sp>
      <p:sp>
        <p:nvSpPr>
          <p:cNvPr id="100" name="Shape 98"/>
          <p:cNvSpPr/>
          <p:nvPr/>
        </p:nvSpPr>
        <p:spPr>
          <a:xfrm>
            <a:off x="4670022" y="4508401"/>
            <a:ext cx="740644" cy="183138"/>
          </a:xfrm>
          <a:prstGeom prst="rect">
            <a:avLst/>
          </a:prstGeom>
          <a:solidFill>
            <a:srgbClr val="8FBE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4670022" y="4508401"/>
            <a:ext cx="740644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300" dirty="0"/>
          </a:p>
        </p:txBody>
      </p:sp>
      <p:sp>
        <p:nvSpPr>
          <p:cNvPr id="102" name="Shape 100"/>
          <p:cNvSpPr/>
          <p:nvPr/>
        </p:nvSpPr>
        <p:spPr>
          <a:xfrm>
            <a:off x="5410666" y="4508401"/>
            <a:ext cx="551222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5410666" y="4508401"/>
            <a:ext cx="551222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300" dirty="0"/>
          </a:p>
        </p:txBody>
      </p:sp>
      <p:sp>
        <p:nvSpPr>
          <p:cNvPr id="104" name="Text 102"/>
          <p:cNvSpPr txBox="1"/>
          <p:nvPr/>
        </p:nvSpPr>
        <p:spPr>
          <a:xfrm>
            <a:off x="658368" y="4720456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300" dirty="0"/>
          </a:p>
        </p:txBody>
      </p:sp>
      <p:sp>
        <p:nvSpPr>
          <p:cNvPr id="105" name="Shape 103"/>
          <p:cNvSpPr/>
          <p:nvPr/>
        </p:nvSpPr>
        <p:spPr>
          <a:xfrm>
            <a:off x="2807208" y="4749372"/>
            <a:ext cx="1831119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6" name="Text 104"/>
          <p:cNvSpPr txBox="1"/>
          <p:nvPr/>
        </p:nvSpPr>
        <p:spPr>
          <a:xfrm>
            <a:off x="2807208" y="4749372"/>
            <a:ext cx="1831119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58</a:t>
            </a:r>
            <a:endParaRPr lang="en-US" sz="1300" dirty="0"/>
          </a:p>
        </p:txBody>
      </p:sp>
      <p:sp>
        <p:nvSpPr>
          <p:cNvPr id="107" name="Shape 105"/>
          <p:cNvSpPr/>
          <p:nvPr/>
        </p:nvSpPr>
        <p:spPr>
          <a:xfrm>
            <a:off x="4638327" y="4749372"/>
            <a:ext cx="764127" cy="183138"/>
          </a:xfrm>
          <a:prstGeom prst="rect">
            <a:avLst/>
          </a:prstGeom>
          <a:solidFill>
            <a:srgbClr val="8FBE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8" name="Text 106"/>
          <p:cNvSpPr txBox="1"/>
          <p:nvPr/>
        </p:nvSpPr>
        <p:spPr>
          <a:xfrm>
            <a:off x="4638327" y="4749372"/>
            <a:ext cx="764127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300" dirty="0"/>
          </a:p>
        </p:txBody>
      </p:sp>
      <p:sp>
        <p:nvSpPr>
          <p:cNvPr id="109" name="Shape 107"/>
          <p:cNvSpPr/>
          <p:nvPr/>
        </p:nvSpPr>
        <p:spPr>
          <a:xfrm>
            <a:off x="5402455" y="4749372"/>
            <a:ext cx="559433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0" name="Text 108"/>
          <p:cNvSpPr txBox="1"/>
          <p:nvPr/>
        </p:nvSpPr>
        <p:spPr>
          <a:xfrm>
            <a:off x="5402455" y="4749372"/>
            <a:ext cx="559433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300" dirty="0"/>
          </a:p>
        </p:txBody>
      </p:sp>
      <p:sp>
        <p:nvSpPr>
          <p:cNvPr id="111" name="Text 109"/>
          <p:cNvSpPr txBox="1"/>
          <p:nvPr/>
        </p:nvSpPr>
        <p:spPr>
          <a:xfrm>
            <a:off x="658368" y="4961427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300" dirty="0"/>
          </a:p>
        </p:txBody>
      </p:sp>
      <p:sp>
        <p:nvSpPr>
          <p:cNvPr id="112" name="Shape 110"/>
          <p:cNvSpPr/>
          <p:nvPr/>
        </p:nvSpPr>
        <p:spPr>
          <a:xfrm>
            <a:off x="2807208" y="4990343"/>
            <a:ext cx="1825486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3" name="Text 111"/>
          <p:cNvSpPr txBox="1"/>
          <p:nvPr/>
        </p:nvSpPr>
        <p:spPr>
          <a:xfrm>
            <a:off x="2807208" y="4990343"/>
            <a:ext cx="1825486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58</a:t>
            </a:r>
            <a:endParaRPr lang="en-US" sz="1300" dirty="0"/>
          </a:p>
        </p:txBody>
      </p:sp>
      <p:sp>
        <p:nvSpPr>
          <p:cNvPr id="114" name="Shape 112"/>
          <p:cNvSpPr/>
          <p:nvPr/>
        </p:nvSpPr>
        <p:spPr>
          <a:xfrm>
            <a:off x="4632694" y="4990343"/>
            <a:ext cx="426634" cy="183138"/>
          </a:xfrm>
          <a:prstGeom prst="rect">
            <a:avLst/>
          </a:prstGeom>
          <a:solidFill>
            <a:srgbClr val="8FBE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5" name="Text 113"/>
          <p:cNvSpPr txBox="1"/>
          <p:nvPr/>
        </p:nvSpPr>
        <p:spPr>
          <a:xfrm>
            <a:off x="4632694" y="4990343"/>
            <a:ext cx="426634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300" dirty="0"/>
          </a:p>
        </p:txBody>
      </p:sp>
      <p:sp>
        <p:nvSpPr>
          <p:cNvPr id="116" name="Shape 114"/>
          <p:cNvSpPr/>
          <p:nvPr/>
        </p:nvSpPr>
        <p:spPr>
          <a:xfrm>
            <a:off x="5059328" y="4990343"/>
            <a:ext cx="902560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7" name="Text 115"/>
          <p:cNvSpPr txBox="1"/>
          <p:nvPr/>
        </p:nvSpPr>
        <p:spPr>
          <a:xfrm>
            <a:off x="5059328" y="4990343"/>
            <a:ext cx="902560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300" dirty="0"/>
          </a:p>
        </p:txBody>
      </p:sp>
      <p:sp>
        <p:nvSpPr>
          <p:cNvPr id="118" name="Text 116"/>
          <p:cNvSpPr txBox="1"/>
          <p:nvPr/>
        </p:nvSpPr>
        <p:spPr>
          <a:xfrm>
            <a:off x="658368" y="5202398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119" name="Shape 117"/>
          <p:cNvSpPr/>
          <p:nvPr/>
        </p:nvSpPr>
        <p:spPr>
          <a:xfrm>
            <a:off x="2807208" y="5231315"/>
            <a:ext cx="1807555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0" name="Text 118"/>
          <p:cNvSpPr txBox="1"/>
          <p:nvPr/>
        </p:nvSpPr>
        <p:spPr>
          <a:xfrm>
            <a:off x="2807208" y="5231315"/>
            <a:ext cx="1807555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</a:t>
            </a:r>
            <a:endParaRPr lang="en-US" sz="1300" dirty="0"/>
          </a:p>
        </p:txBody>
      </p:sp>
      <p:sp>
        <p:nvSpPr>
          <p:cNvPr id="121" name="Shape 119"/>
          <p:cNvSpPr/>
          <p:nvPr/>
        </p:nvSpPr>
        <p:spPr>
          <a:xfrm>
            <a:off x="4614763" y="5231315"/>
            <a:ext cx="466810" cy="183138"/>
          </a:xfrm>
          <a:prstGeom prst="rect">
            <a:avLst/>
          </a:prstGeom>
          <a:solidFill>
            <a:srgbClr val="8FBE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2" name="Text 120"/>
          <p:cNvSpPr txBox="1"/>
          <p:nvPr/>
        </p:nvSpPr>
        <p:spPr>
          <a:xfrm>
            <a:off x="4614763" y="5231315"/>
            <a:ext cx="466810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300" dirty="0"/>
          </a:p>
        </p:txBody>
      </p:sp>
      <p:sp>
        <p:nvSpPr>
          <p:cNvPr id="123" name="Shape 121"/>
          <p:cNvSpPr/>
          <p:nvPr/>
        </p:nvSpPr>
        <p:spPr>
          <a:xfrm>
            <a:off x="5081573" y="5231315"/>
            <a:ext cx="880315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4" name="Text 122"/>
          <p:cNvSpPr txBox="1"/>
          <p:nvPr/>
        </p:nvSpPr>
        <p:spPr>
          <a:xfrm>
            <a:off x="5081573" y="5231315"/>
            <a:ext cx="880315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300" dirty="0"/>
          </a:p>
        </p:txBody>
      </p:sp>
      <p:sp>
        <p:nvSpPr>
          <p:cNvPr id="125" name="Text 123"/>
          <p:cNvSpPr txBox="1"/>
          <p:nvPr/>
        </p:nvSpPr>
        <p:spPr>
          <a:xfrm>
            <a:off x="658368" y="5443369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126" name="Shape 124"/>
          <p:cNvSpPr/>
          <p:nvPr/>
        </p:nvSpPr>
        <p:spPr>
          <a:xfrm>
            <a:off x="2807208" y="5472286"/>
            <a:ext cx="1784948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7" name="Text 125"/>
          <p:cNvSpPr txBox="1"/>
          <p:nvPr/>
        </p:nvSpPr>
        <p:spPr>
          <a:xfrm>
            <a:off x="2807208" y="5472286"/>
            <a:ext cx="1784948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</a:t>
            </a:r>
            <a:endParaRPr lang="en-US" sz="1300" dirty="0"/>
          </a:p>
        </p:txBody>
      </p:sp>
      <p:sp>
        <p:nvSpPr>
          <p:cNvPr id="128" name="Shape 126"/>
          <p:cNvSpPr/>
          <p:nvPr/>
        </p:nvSpPr>
        <p:spPr>
          <a:xfrm>
            <a:off x="4592156" y="5472286"/>
            <a:ext cx="390376" cy="183138"/>
          </a:xfrm>
          <a:prstGeom prst="rect">
            <a:avLst/>
          </a:prstGeom>
          <a:solidFill>
            <a:srgbClr val="8FBE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9" name="Text 127"/>
          <p:cNvSpPr txBox="1"/>
          <p:nvPr/>
        </p:nvSpPr>
        <p:spPr>
          <a:xfrm>
            <a:off x="4592156" y="5472286"/>
            <a:ext cx="390376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300" dirty="0"/>
          </a:p>
        </p:txBody>
      </p:sp>
      <p:sp>
        <p:nvSpPr>
          <p:cNvPr id="130" name="Shape 128"/>
          <p:cNvSpPr/>
          <p:nvPr/>
        </p:nvSpPr>
        <p:spPr>
          <a:xfrm>
            <a:off x="4982532" y="5472286"/>
            <a:ext cx="979356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1" name="Text 129"/>
          <p:cNvSpPr txBox="1"/>
          <p:nvPr/>
        </p:nvSpPr>
        <p:spPr>
          <a:xfrm>
            <a:off x="4982532" y="5472286"/>
            <a:ext cx="979356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658368" y="5684341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133" name="Shape 131"/>
          <p:cNvSpPr/>
          <p:nvPr/>
        </p:nvSpPr>
        <p:spPr>
          <a:xfrm>
            <a:off x="2807208" y="5713257"/>
            <a:ext cx="1784687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4" name="Text 132"/>
          <p:cNvSpPr txBox="1"/>
          <p:nvPr/>
        </p:nvSpPr>
        <p:spPr>
          <a:xfrm>
            <a:off x="2807208" y="5713257"/>
            <a:ext cx="1784687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</a:t>
            </a:r>
            <a:endParaRPr lang="en-US" sz="1300" dirty="0"/>
          </a:p>
        </p:txBody>
      </p:sp>
      <p:sp>
        <p:nvSpPr>
          <p:cNvPr id="135" name="Shape 133"/>
          <p:cNvSpPr/>
          <p:nvPr/>
        </p:nvSpPr>
        <p:spPr>
          <a:xfrm>
            <a:off x="4591895" y="5713257"/>
            <a:ext cx="320373" cy="183138"/>
          </a:xfrm>
          <a:prstGeom prst="rect">
            <a:avLst/>
          </a:prstGeom>
          <a:solidFill>
            <a:srgbClr val="8FBE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6" name="Text 134"/>
          <p:cNvSpPr txBox="1"/>
          <p:nvPr/>
        </p:nvSpPr>
        <p:spPr>
          <a:xfrm>
            <a:off x="4591895" y="5713257"/>
            <a:ext cx="320373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300" dirty="0"/>
          </a:p>
        </p:txBody>
      </p:sp>
      <p:sp>
        <p:nvSpPr>
          <p:cNvPr id="137" name="Shape 135"/>
          <p:cNvSpPr/>
          <p:nvPr/>
        </p:nvSpPr>
        <p:spPr>
          <a:xfrm>
            <a:off x="4912268" y="5713257"/>
            <a:ext cx="1049620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8" name="Text 136"/>
          <p:cNvSpPr txBox="1"/>
          <p:nvPr/>
        </p:nvSpPr>
        <p:spPr>
          <a:xfrm>
            <a:off x="4912268" y="5713257"/>
            <a:ext cx="1049620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3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1828800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140" name="Shape 138"/>
          <p:cNvSpPr/>
          <p:nvPr/>
        </p:nvSpPr>
        <p:spPr>
          <a:xfrm>
            <a:off x="8357616" y="1857717"/>
            <a:ext cx="1759183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1" name="Text 139"/>
          <p:cNvSpPr txBox="1"/>
          <p:nvPr/>
        </p:nvSpPr>
        <p:spPr>
          <a:xfrm>
            <a:off x="8357616" y="1857717"/>
            <a:ext cx="1759183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56</a:t>
            </a:r>
            <a:endParaRPr lang="en-US" sz="1300" dirty="0"/>
          </a:p>
        </p:txBody>
      </p:sp>
      <p:sp>
        <p:nvSpPr>
          <p:cNvPr id="142" name="Shape 140"/>
          <p:cNvSpPr/>
          <p:nvPr/>
        </p:nvSpPr>
        <p:spPr>
          <a:xfrm>
            <a:off x="10116799" y="1857717"/>
            <a:ext cx="978643" cy="183138"/>
          </a:xfrm>
          <a:prstGeom prst="rect">
            <a:avLst/>
          </a:prstGeom>
          <a:solidFill>
            <a:srgbClr val="8FBE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3" name="Text 141"/>
          <p:cNvSpPr txBox="1"/>
          <p:nvPr/>
        </p:nvSpPr>
        <p:spPr>
          <a:xfrm>
            <a:off x="10116799" y="1857717"/>
            <a:ext cx="978643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300" dirty="0"/>
          </a:p>
        </p:txBody>
      </p:sp>
      <p:sp>
        <p:nvSpPr>
          <p:cNvPr id="144" name="Shape 142"/>
          <p:cNvSpPr/>
          <p:nvPr/>
        </p:nvSpPr>
        <p:spPr>
          <a:xfrm>
            <a:off x="11095442" y="1857717"/>
            <a:ext cx="416854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5" name="Text 143"/>
          <p:cNvSpPr txBox="1"/>
          <p:nvPr/>
        </p:nvSpPr>
        <p:spPr>
          <a:xfrm>
            <a:off x="11095442" y="1857717"/>
            <a:ext cx="416854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300" dirty="0"/>
          </a:p>
        </p:txBody>
      </p:sp>
      <p:sp>
        <p:nvSpPr>
          <p:cNvPr id="146" name="Text 144"/>
          <p:cNvSpPr txBox="1"/>
          <p:nvPr/>
        </p:nvSpPr>
        <p:spPr>
          <a:xfrm>
            <a:off x="6208776" y="2069771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147" name="Shape 145"/>
          <p:cNvSpPr/>
          <p:nvPr/>
        </p:nvSpPr>
        <p:spPr>
          <a:xfrm>
            <a:off x="8357616" y="2098688"/>
            <a:ext cx="1743709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8" name="Text 146"/>
          <p:cNvSpPr txBox="1"/>
          <p:nvPr/>
        </p:nvSpPr>
        <p:spPr>
          <a:xfrm>
            <a:off x="8357616" y="2098688"/>
            <a:ext cx="1743709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55</a:t>
            </a:r>
            <a:endParaRPr lang="en-US" sz="1300" dirty="0"/>
          </a:p>
        </p:txBody>
      </p:sp>
      <p:sp>
        <p:nvSpPr>
          <p:cNvPr id="149" name="Shape 147"/>
          <p:cNvSpPr/>
          <p:nvPr/>
        </p:nvSpPr>
        <p:spPr>
          <a:xfrm>
            <a:off x="10101325" y="2098688"/>
            <a:ext cx="638330" cy="183138"/>
          </a:xfrm>
          <a:prstGeom prst="rect">
            <a:avLst/>
          </a:prstGeom>
          <a:solidFill>
            <a:srgbClr val="8FBE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0" name="Text 148"/>
          <p:cNvSpPr txBox="1"/>
          <p:nvPr/>
        </p:nvSpPr>
        <p:spPr>
          <a:xfrm>
            <a:off x="10101325" y="2098688"/>
            <a:ext cx="638330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300" dirty="0"/>
          </a:p>
        </p:txBody>
      </p:sp>
      <p:sp>
        <p:nvSpPr>
          <p:cNvPr id="151" name="Shape 149"/>
          <p:cNvSpPr/>
          <p:nvPr/>
        </p:nvSpPr>
        <p:spPr>
          <a:xfrm>
            <a:off x="10739655" y="2098688"/>
            <a:ext cx="772641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2" name="Text 150"/>
          <p:cNvSpPr txBox="1"/>
          <p:nvPr/>
        </p:nvSpPr>
        <p:spPr>
          <a:xfrm>
            <a:off x="10739655" y="2098688"/>
            <a:ext cx="772641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300" dirty="0"/>
          </a:p>
        </p:txBody>
      </p:sp>
      <p:sp>
        <p:nvSpPr>
          <p:cNvPr id="153" name="Text 151"/>
          <p:cNvSpPr txBox="1"/>
          <p:nvPr/>
        </p:nvSpPr>
        <p:spPr>
          <a:xfrm>
            <a:off x="6208776" y="2310743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154" name="Shape 152"/>
          <p:cNvSpPr/>
          <p:nvPr/>
        </p:nvSpPr>
        <p:spPr>
          <a:xfrm>
            <a:off x="8357616" y="2339659"/>
            <a:ext cx="1719908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5" name="Text 153"/>
          <p:cNvSpPr txBox="1"/>
          <p:nvPr/>
        </p:nvSpPr>
        <p:spPr>
          <a:xfrm>
            <a:off x="8357616" y="2339659"/>
            <a:ext cx="1719908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55</a:t>
            </a:r>
            <a:endParaRPr lang="en-US" sz="1300" dirty="0"/>
          </a:p>
        </p:txBody>
      </p:sp>
      <p:sp>
        <p:nvSpPr>
          <p:cNvPr id="156" name="Shape 154"/>
          <p:cNvSpPr/>
          <p:nvPr/>
        </p:nvSpPr>
        <p:spPr>
          <a:xfrm>
            <a:off x="10077524" y="2339659"/>
            <a:ext cx="412555" cy="183138"/>
          </a:xfrm>
          <a:prstGeom prst="rect">
            <a:avLst/>
          </a:prstGeom>
          <a:solidFill>
            <a:srgbClr val="8FBE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7" name="Text 155"/>
          <p:cNvSpPr txBox="1"/>
          <p:nvPr/>
        </p:nvSpPr>
        <p:spPr>
          <a:xfrm>
            <a:off x="10077524" y="2339659"/>
            <a:ext cx="412555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300" dirty="0"/>
          </a:p>
        </p:txBody>
      </p:sp>
      <p:sp>
        <p:nvSpPr>
          <p:cNvPr id="158" name="Shape 156"/>
          <p:cNvSpPr/>
          <p:nvPr/>
        </p:nvSpPr>
        <p:spPr>
          <a:xfrm>
            <a:off x="10490079" y="2339659"/>
            <a:ext cx="1022217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9" name="Text 157"/>
          <p:cNvSpPr txBox="1"/>
          <p:nvPr/>
        </p:nvSpPr>
        <p:spPr>
          <a:xfrm>
            <a:off x="10490079" y="2339659"/>
            <a:ext cx="1022217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300" dirty="0"/>
          </a:p>
        </p:txBody>
      </p:sp>
      <p:sp>
        <p:nvSpPr>
          <p:cNvPr id="160" name="Text 158"/>
          <p:cNvSpPr txBox="1"/>
          <p:nvPr/>
        </p:nvSpPr>
        <p:spPr>
          <a:xfrm>
            <a:off x="6208776" y="2551714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161" name="Shape 159"/>
          <p:cNvSpPr/>
          <p:nvPr/>
        </p:nvSpPr>
        <p:spPr>
          <a:xfrm>
            <a:off x="8357616" y="2580630"/>
            <a:ext cx="1601041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2" name="Text 160"/>
          <p:cNvSpPr txBox="1"/>
          <p:nvPr/>
        </p:nvSpPr>
        <p:spPr>
          <a:xfrm>
            <a:off x="8357616" y="2580630"/>
            <a:ext cx="1601041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51</a:t>
            </a:r>
            <a:endParaRPr lang="en-US" sz="1300" dirty="0"/>
          </a:p>
        </p:txBody>
      </p:sp>
      <p:sp>
        <p:nvSpPr>
          <p:cNvPr id="163" name="Shape 161"/>
          <p:cNvSpPr/>
          <p:nvPr/>
        </p:nvSpPr>
        <p:spPr>
          <a:xfrm>
            <a:off x="9958657" y="2580630"/>
            <a:ext cx="606875" cy="183138"/>
          </a:xfrm>
          <a:prstGeom prst="rect">
            <a:avLst/>
          </a:prstGeom>
          <a:solidFill>
            <a:srgbClr val="8FBE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4" name="Text 162"/>
          <p:cNvSpPr txBox="1"/>
          <p:nvPr/>
        </p:nvSpPr>
        <p:spPr>
          <a:xfrm>
            <a:off x="9958657" y="2580630"/>
            <a:ext cx="606875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300" dirty="0"/>
          </a:p>
        </p:txBody>
      </p:sp>
      <p:sp>
        <p:nvSpPr>
          <p:cNvPr id="165" name="Shape 163"/>
          <p:cNvSpPr/>
          <p:nvPr/>
        </p:nvSpPr>
        <p:spPr>
          <a:xfrm>
            <a:off x="10565532" y="2580630"/>
            <a:ext cx="946764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6" name="Text 164"/>
          <p:cNvSpPr txBox="1"/>
          <p:nvPr/>
        </p:nvSpPr>
        <p:spPr>
          <a:xfrm>
            <a:off x="10565532" y="2580630"/>
            <a:ext cx="946764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300" dirty="0"/>
          </a:p>
        </p:txBody>
      </p:sp>
      <p:sp>
        <p:nvSpPr>
          <p:cNvPr id="167" name="Text 165"/>
          <p:cNvSpPr txBox="1"/>
          <p:nvPr/>
        </p:nvSpPr>
        <p:spPr>
          <a:xfrm>
            <a:off x="6208776" y="2792685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168" name="Shape 166"/>
          <p:cNvSpPr/>
          <p:nvPr/>
        </p:nvSpPr>
        <p:spPr>
          <a:xfrm>
            <a:off x="8357616" y="2821602"/>
            <a:ext cx="1536222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9" name="Text 167"/>
          <p:cNvSpPr txBox="1"/>
          <p:nvPr/>
        </p:nvSpPr>
        <p:spPr>
          <a:xfrm>
            <a:off x="8357616" y="2821602"/>
            <a:ext cx="1536222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49</a:t>
            </a:r>
            <a:endParaRPr lang="en-US" sz="1300" dirty="0"/>
          </a:p>
        </p:txBody>
      </p:sp>
      <p:sp>
        <p:nvSpPr>
          <p:cNvPr id="170" name="Shape 168"/>
          <p:cNvSpPr/>
          <p:nvPr/>
        </p:nvSpPr>
        <p:spPr>
          <a:xfrm>
            <a:off x="9893838" y="2821602"/>
            <a:ext cx="488153" cy="183138"/>
          </a:xfrm>
          <a:prstGeom prst="rect">
            <a:avLst/>
          </a:prstGeom>
          <a:solidFill>
            <a:srgbClr val="8FBE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1" name="Text 169"/>
          <p:cNvSpPr txBox="1"/>
          <p:nvPr/>
        </p:nvSpPr>
        <p:spPr>
          <a:xfrm>
            <a:off x="9893838" y="2821602"/>
            <a:ext cx="488153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300" dirty="0"/>
          </a:p>
        </p:txBody>
      </p:sp>
      <p:sp>
        <p:nvSpPr>
          <p:cNvPr id="172" name="Shape 170"/>
          <p:cNvSpPr/>
          <p:nvPr/>
        </p:nvSpPr>
        <p:spPr>
          <a:xfrm>
            <a:off x="10381990" y="2821602"/>
            <a:ext cx="1130306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3" name="Text 171"/>
          <p:cNvSpPr txBox="1"/>
          <p:nvPr/>
        </p:nvSpPr>
        <p:spPr>
          <a:xfrm>
            <a:off x="10381990" y="2821602"/>
            <a:ext cx="1130306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</a:t>
            </a:r>
            <a:endParaRPr lang="en-US" sz="1300" dirty="0"/>
          </a:p>
        </p:txBody>
      </p:sp>
      <p:sp>
        <p:nvSpPr>
          <p:cNvPr id="174" name="Text 172"/>
          <p:cNvSpPr txBox="1"/>
          <p:nvPr/>
        </p:nvSpPr>
        <p:spPr>
          <a:xfrm>
            <a:off x="6208776" y="3033656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175" name="Shape 173"/>
          <p:cNvSpPr/>
          <p:nvPr/>
        </p:nvSpPr>
        <p:spPr>
          <a:xfrm>
            <a:off x="8357616" y="3062573"/>
            <a:ext cx="1513638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6" name="Text 174"/>
          <p:cNvSpPr txBox="1"/>
          <p:nvPr/>
        </p:nvSpPr>
        <p:spPr>
          <a:xfrm>
            <a:off x="8357616" y="3062573"/>
            <a:ext cx="1513638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48</a:t>
            </a:r>
            <a:endParaRPr lang="en-US" sz="1300" dirty="0"/>
          </a:p>
        </p:txBody>
      </p:sp>
      <p:sp>
        <p:nvSpPr>
          <p:cNvPr id="177" name="Shape 175"/>
          <p:cNvSpPr/>
          <p:nvPr/>
        </p:nvSpPr>
        <p:spPr>
          <a:xfrm>
            <a:off x="9871254" y="3062573"/>
            <a:ext cx="727538" cy="183138"/>
          </a:xfrm>
          <a:prstGeom prst="rect">
            <a:avLst/>
          </a:prstGeom>
          <a:solidFill>
            <a:srgbClr val="8FBE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8" name="Text 176"/>
          <p:cNvSpPr txBox="1"/>
          <p:nvPr/>
        </p:nvSpPr>
        <p:spPr>
          <a:xfrm>
            <a:off x="9871254" y="3062573"/>
            <a:ext cx="727538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300" dirty="0"/>
          </a:p>
        </p:txBody>
      </p:sp>
      <p:sp>
        <p:nvSpPr>
          <p:cNvPr id="179" name="Shape 177"/>
          <p:cNvSpPr/>
          <p:nvPr/>
        </p:nvSpPr>
        <p:spPr>
          <a:xfrm>
            <a:off x="10598793" y="3062573"/>
            <a:ext cx="913503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0" name="Text 178"/>
          <p:cNvSpPr txBox="1"/>
          <p:nvPr/>
        </p:nvSpPr>
        <p:spPr>
          <a:xfrm>
            <a:off x="10598793" y="3062573"/>
            <a:ext cx="913503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300" dirty="0"/>
          </a:p>
        </p:txBody>
      </p:sp>
      <p:sp>
        <p:nvSpPr>
          <p:cNvPr id="181" name="Text 179"/>
          <p:cNvSpPr txBox="1"/>
          <p:nvPr/>
        </p:nvSpPr>
        <p:spPr>
          <a:xfrm>
            <a:off x="6208776" y="3274628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182" name="Shape 180"/>
          <p:cNvSpPr/>
          <p:nvPr/>
        </p:nvSpPr>
        <p:spPr>
          <a:xfrm>
            <a:off x="8357616" y="3303544"/>
            <a:ext cx="1487709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3" name="Text 181"/>
          <p:cNvSpPr txBox="1"/>
          <p:nvPr/>
        </p:nvSpPr>
        <p:spPr>
          <a:xfrm>
            <a:off x="8357616" y="3303544"/>
            <a:ext cx="1487709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47</a:t>
            </a:r>
            <a:endParaRPr lang="en-US" sz="1300" dirty="0"/>
          </a:p>
        </p:txBody>
      </p:sp>
      <p:sp>
        <p:nvSpPr>
          <p:cNvPr id="184" name="Shape 182"/>
          <p:cNvSpPr/>
          <p:nvPr/>
        </p:nvSpPr>
        <p:spPr>
          <a:xfrm>
            <a:off x="9845325" y="3303544"/>
            <a:ext cx="1263575" cy="183138"/>
          </a:xfrm>
          <a:prstGeom prst="rect">
            <a:avLst/>
          </a:prstGeom>
          <a:solidFill>
            <a:srgbClr val="8FBE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5" name="Text 183"/>
          <p:cNvSpPr txBox="1"/>
          <p:nvPr/>
        </p:nvSpPr>
        <p:spPr>
          <a:xfrm>
            <a:off x="9845325" y="3303544"/>
            <a:ext cx="1263575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</a:t>
            </a:r>
            <a:endParaRPr lang="en-US" sz="1300" dirty="0"/>
          </a:p>
        </p:txBody>
      </p:sp>
      <p:sp>
        <p:nvSpPr>
          <p:cNvPr id="186" name="Shape 184"/>
          <p:cNvSpPr/>
          <p:nvPr/>
        </p:nvSpPr>
        <p:spPr>
          <a:xfrm>
            <a:off x="11108900" y="3303544"/>
            <a:ext cx="403396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7" name="Text 185"/>
          <p:cNvSpPr txBox="1"/>
          <p:nvPr/>
        </p:nvSpPr>
        <p:spPr>
          <a:xfrm>
            <a:off x="11108900" y="3303544"/>
            <a:ext cx="403396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300" dirty="0"/>
          </a:p>
        </p:txBody>
      </p:sp>
      <p:sp>
        <p:nvSpPr>
          <p:cNvPr id="188" name="Text 186"/>
          <p:cNvSpPr txBox="1"/>
          <p:nvPr/>
        </p:nvSpPr>
        <p:spPr>
          <a:xfrm>
            <a:off x="6208776" y="3515599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189" name="Shape 187"/>
          <p:cNvSpPr/>
          <p:nvPr/>
        </p:nvSpPr>
        <p:spPr>
          <a:xfrm>
            <a:off x="8357616" y="3544516"/>
            <a:ext cx="1483116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0" name="Text 188"/>
          <p:cNvSpPr txBox="1"/>
          <p:nvPr/>
        </p:nvSpPr>
        <p:spPr>
          <a:xfrm>
            <a:off x="8357616" y="3544516"/>
            <a:ext cx="1483116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47</a:t>
            </a:r>
            <a:endParaRPr lang="en-US" sz="1300" dirty="0"/>
          </a:p>
        </p:txBody>
      </p:sp>
      <p:sp>
        <p:nvSpPr>
          <p:cNvPr id="191" name="Shape 189"/>
          <p:cNvSpPr/>
          <p:nvPr/>
        </p:nvSpPr>
        <p:spPr>
          <a:xfrm>
            <a:off x="9840732" y="3544516"/>
            <a:ext cx="885736" cy="183138"/>
          </a:xfrm>
          <a:prstGeom prst="rect">
            <a:avLst/>
          </a:prstGeom>
          <a:solidFill>
            <a:srgbClr val="8FBE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2" name="Text 190"/>
          <p:cNvSpPr txBox="1"/>
          <p:nvPr/>
        </p:nvSpPr>
        <p:spPr>
          <a:xfrm>
            <a:off x="9840732" y="3544516"/>
            <a:ext cx="885736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300" dirty="0"/>
          </a:p>
        </p:txBody>
      </p:sp>
      <p:sp>
        <p:nvSpPr>
          <p:cNvPr id="193" name="Shape 191"/>
          <p:cNvSpPr/>
          <p:nvPr/>
        </p:nvSpPr>
        <p:spPr>
          <a:xfrm>
            <a:off x="10726468" y="3544516"/>
            <a:ext cx="785828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4" name="Text 192"/>
          <p:cNvSpPr txBox="1"/>
          <p:nvPr/>
        </p:nvSpPr>
        <p:spPr>
          <a:xfrm>
            <a:off x="10726468" y="3544516"/>
            <a:ext cx="785828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300" dirty="0"/>
          </a:p>
        </p:txBody>
      </p:sp>
      <p:sp>
        <p:nvSpPr>
          <p:cNvPr id="195" name="Text 193"/>
          <p:cNvSpPr txBox="1"/>
          <p:nvPr/>
        </p:nvSpPr>
        <p:spPr>
          <a:xfrm>
            <a:off x="6208776" y="3756570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196" name="Shape 194"/>
          <p:cNvSpPr/>
          <p:nvPr/>
        </p:nvSpPr>
        <p:spPr>
          <a:xfrm>
            <a:off x="8357616" y="3785487"/>
            <a:ext cx="1429900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7" name="Text 195"/>
          <p:cNvSpPr txBox="1"/>
          <p:nvPr/>
        </p:nvSpPr>
        <p:spPr>
          <a:xfrm>
            <a:off x="8357616" y="3785487"/>
            <a:ext cx="1429900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</a:t>
            </a:r>
            <a:endParaRPr lang="en-US" sz="1300" dirty="0"/>
          </a:p>
        </p:txBody>
      </p:sp>
      <p:sp>
        <p:nvSpPr>
          <p:cNvPr id="198" name="Shape 196"/>
          <p:cNvSpPr/>
          <p:nvPr/>
        </p:nvSpPr>
        <p:spPr>
          <a:xfrm>
            <a:off x="9787516" y="3785487"/>
            <a:ext cx="450296" cy="183138"/>
          </a:xfrm>
          <a:prstGeom prst="rect">
            <a:avLst/>
          </a:prstGeom>
          <a:solidFill>
            <a:srgbClr val="8FBE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9" name="Text 197"/>
          <p:cNvSpPr txBox="1"/>
          <p:nvPr/>
        </p:nvSpPr>
        <p:spPr>
          <a:xfrm>
            <a:off x="9787516" y="3785487"/>
            <a:ext cx="450296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300" dirty="0"/>
          </a:p>
        </p:txBody>
      </p:sp>
      <p:sp>
        <p:nvSpPr>
          <p:cNvPr id="200" name="Shape 198"/>
          <p:cNvSpPr/>
          <p:nvPr/>
        </p:nvSpPr>
        <p:spPr>
          <a:xfrm>
            <a:off x="10237812" y="3785487"/>
            <a:ext cx="1274484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01" name="Text 199"/>
          <p:cNvSpPr txBox="1"/>
          <p:nvPr/>
        </p:nvSpPr>
        <p:spPr>
          <a:xfrm>
            <a:off x="10237812" y="3785487"/>
            <a:ext cx="1274484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</a:t>
            </a:r>
            <a:endParaRPr lang="en-US" sz="1300" dirty="0"/>
          </a:p>
        </p:txBody>
      </p:sp>
      <p:sp>
        <p:nvSpPr>
          <p:cNvPr id="202" name="Text 200"/>
          <p:cNvSpPr txBox="1"/>
          <p:nvPr/>
        </p:nvSpPr>
        <p:spPr>
          <a:xfrm>
            <a:off x="6208776" y="3997542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203" name="Shape 201"/>
          <p:cNvSpPr/>
          <p:nvPr/>
        </p:nvSpPr>
        <p:spPr>
          <a:xfrm>
            <a:off x="8357616" y="4026458"/>
            <a:ext cx="1407663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04" name="Text 202"/>
          <p:cNvSpPr txBox="1"/>
          <p:nvPr/>
        </p:nvSpPr>
        <p:spPr>
          <a:xfrm>
            <a:off x="8357616" y="4026458"/>
            <a:ext cx="1407663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</a:t>
            </a:r>
            <a:endParaRPr lang="en-US" sz="1300" dirty="0"/>
          </a:p>
        </p:txBody>
      </p:sp>
      <p:sp>
        <p:nvSpPr>
          <p:cNvPr id="205" name="Shape 203"/>
          <p:cNvSpPr/>
          <p:nvPr/>
        </p:nvSpPr>
        <p:spPr>
          <a:xfrm>
            <a:off x="9765279" y="4026458"/>
            <a:ext cx="1184133" cy="183138"/>
          </a:xfrm>
          <a:prstGeom prst="rect">
            <a:avLst/>
          </a:prstGeom>
          <a:solidFill>
            <a:srgbClr val="8FBE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06" name="Text 204"/>
          <p:cNvSpPr txBox="1"/>
          <p:nvPr/>
        </p:nvSpPr>
        <p:spPr>
          <a:xfrm>
            <a:off x="9765279" y="4026458"/>
            <a:ext cx="1184133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38</a:t>
            </a:r>
            <a:endParaRPr lang="en-US" sz="1300" dirty="0"/>
          </a:p>
        </p:txBody>
      </p:sp>
      <p:sp>
        <p:nvSpPr>
          <p:cNvPr id="207" name="Shape 205"/>
          <p:cNvSpPr/>
          <p:nvPr/>
        </p:nvSpPr>
        <p:spPr>
          <a:xfrm>
            <a:off x="10949412" y="4026458"/>
            <a:ext cx="562884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08" name="Text 206"/>
          <p:cNvSpPr txBox="1"/>
          <p:nvPr/>
        </p:nvSpPr>
        <p:spPr>
          <a:xfrm>
            <a:off x="10949412" y="4026458"/>
            <a:ext cx="562884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300" dirty="0"/>
          </a:p>
        </p:txBody>
      </p:sp>
      <p:sp>
        <p:nvSpPr>
          <p:cNvPr id="209" name="Text 207"/>
          <p:cNvSpPr txBox="1"/>
          <p:nvPr/>
        </p:nvSpPr>
        <p:spPr>
          <a:xfrm>
            <a:off x="6208776" y="4238513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210" name="Shape 208"/>
          <p:cNvSpPr/>
          <p:nvPr/>
        </p:nvSpPr>
        <p:spPr>
          <a:xfrm>
            <a:off x="8357616" y="4267429"/>
            <a:ext cx="1272315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1" name="Text 209"/>
          <p:cNvSpPr txBox="1"/>
          <p:nvPr/>
        </p:nvSpPr>
        <p:spPr>
          <a:xfrm>
            <a:off x="8357616" y="4267429"/>
            <a:ext cx="1272315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</a:t>
            </a:r>
            <a:endParaRPr lang="en-US" sz="1300" dirty="0"/>
          </a:p>
        </p:txBody>
      </p:sp>
      <p:sp>
        <p:nvSpPr>
          <p:cNvPr id="212" name="Shape 210"/>
          <p:cNvSpPr/>
          <p:nvPr/>
        </p:nvSpPr>
        <p:spPr>
          <a:xfrm>
            <a:off x="9629931" y="4267429"/>
            <a:ext cx="1101342" cy="183138"/>
          </a:xfrm>
          <a:prstGeom prst="rect">
            <a:avLst/>
          </a:prstGeom>
          <a:solidFill>
            <a:srgbClr val="8FBE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3" name="Text 211"/>
          <p:cNvSpPr txBox="1"/>
          <p:nvPr/>
        </p:nvSpPr>
        <p:spPr>
          <a:xfrm>
            <a:off x="9629931" y="4267429"/>
            <a:ext cx="1101342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</a:t>
            </a:r>
            <a:endParaRPr lang="en-US" sz="1300" dirty="0"/>
          </a:p>
        </p:txBody>
      </p:sp>
      <p:sp>
        <p:nvSpPr>
          <p:cNvPr id="214" name="Shape 212"/>
          <p:cNvSpPr/>
          <p:nvPr/>
        </p:nvSpPr>
        <p:spPr>
          <a:xfrm>
            <a:off x="10731273" y="4267429"/>
            <a:ext cx="781023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5" name="Text 213"/>
          <p:cNvSpPr txBox="1"/>
          <p:nvPr/>
        </p:nvSpPr>
        <p:spPr>
          <a:xfrm>
            <a:off x="10731273" y="4267429"/>
            <a:ext cx="781023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300" dirty="0"/>
          </a:p>
        </p:txBody>
      </p:sp>
      <p:sp>
        <p:nvSpPr>
          <p:cNvPr id="216" name="Text 214"/>
          <p:cNvSpPr txBox="1"/>
          <p:nvPr/>
        </p:nvSpPr>
        <p:spPr>
          <a:xfrm>
            <a:off x="6208776" y="4479484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217" name="Shape 215"/>
          <p:cNvSpPr/>
          <p:nvPr/>
        </p:nvSpPr>
        <p:spPr>
          <a:xfrm>
            <a:off x="8357616" y="4508401"/>
            <a:ext cx="1260841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8" name="Text 216"/>
          <p:cNvSpPr txBox="1"/>
          <p:nvPr/>
        </p:nvSpPr>
        <p:spPr>
          <a:xfrm>
            <a:off x="8357616" y="4508401"/>
            <a:ext cx="1260841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</a:t>
            </a:r>
            <a:endParaRPr lang="en-US" sz="1300" dirty="0"/>
          </a:p>
        </p:txBody>
      </p:sp>
      <p:sp>
        <p:nvSpPr>
          <p:cNvPr id="219" name="Shape 217"/>
          <p:cNvSpPr/>
          <p:nvPr/>
        </p:nvSpPr>
        <p:spPr>
          <a:xfrm>
            <a:off x="9618457" y="4508401"/>
            <a:ext cx="1210006" cy="183138"/>
          </a:xfrm>
          <a:prstGeom prst="rect">
            <a:avLst/>
          </a:prstGeom>
          <a:solidFill>
            <a:srgbClr val="8FBE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20" name="Text 218"/>
          <p:cNvSpPr txBox="1"/>
          <p:nvPr/>
        </p:nvSpPr>
        <p:spPr>
          <a:xfrm>
            <a:off x="9618457" y="4508401"/>
            <a:ext cx="1210006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38</a:t>
            </a:r>
            <a:endParaRPr lang="en-US" sz="1300" dirty="0"/>
          </a:p>
        </p:txBody>
      </p:sp>
      <p:sp>
        <p:nvSpPr>
          <p:cNvPr id="221" name="Shape 219"/>
          <p:cNvSpPr/>
          <p:nvPr/>
        </p:nvSpPr>
        <p:spPr>
          <a:xfrm>
            <a:off x="10828463" y="4508401"/>
            <a:ext cx="683833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22" name="Text 220"/>
          <p:cNvSpPr txBox="1"/>
          <p:nvPr/>
        </p:nvSpPr>
        <p:spPr>
          <a:xfrm>
            <a:off x="10828463" y="4508401"/>
            <a:ext cx="683833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300" dirty="0"/>
          </a:p>
        </p:txBody>
      </p:sp>
      <p:sp>
        <p:nvSpPr>
          <p:cNvPr id="223" name="Text 221"/>
          <p:cNvSpPr txBox="1"/>
          <p:nvPr/>
        </p:nvSpPr>
        <p:spPr>
          <a:xfrm>
            <a:off x="6208776" y="4720456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224" name="Shape 222"/>
          <p:cNvSpPr/>
          <p:nvPr/>
        </p:nvSpPr>
        <p:spPr>
          <a:xfrm>
            <a:off x="8357616" y="4749372"/>
            <a:ext cx="1237324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25" name="Text 223"/>
          <p:cNvSpPr txBox="1"/>
          <p:nvPr/>
        </p:nvSpPr>
        <p:spPr>
          <a:xfrm>
            <a:off x="8357616" y="4749372"/>
            <a:ext cx="1237324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</a:t>
            </a:r>
            <a:endParaRPr lang="en-US" sz="1300" dirty="0"/>
          </a:p>
        </p:txBody>
      </p:sp>
      <p:sp>
        <p:nvSpPr>
          <p:cNvPr id="226" name="Shape 224"/>
          <p:cNvSpPr/>
          <p:nvPr/>
        </p:nvSpPr>
        <p:spPr>
          <a:xfrm>
            <a:off x="9594940" y="4749372"/>
            <a:ext cx="995080" cy="183138"/>
          </a:xfrm>
          <a:prstGeom prst="rect">
            <a:avLst/>
          </a:prstGeom>
          <a:solidFill>
            <a:srgbClr val="8FBE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27" name="Text 225"/>
          <p:cNvSpPr txBox="1"/>
          <p:nvPr/>
        </p:nvSpPr>
        <p:spPr>
          <a:xfrm>
            <a:off x="9594940" y="4749372"/>
            <a:ext cx="995080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300" dirty="0"/>
          </a:p>
        </p:txBody>
      </p:sp>
      <p:sp>
        <p:nvSpPr>
          <p:cNvPr id="228" name="Shape 226"/>
          <p:cNvSpPr/>
          <p:nvPr/>
        </p:nvSpPr>
        <p:spPr>
          <a:xfrm>
            <a:off x="10590020" y="4749372"/>
            <a:ext cx="922276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29" name="Text 227"/>
          <p:cNvSpPr txBox="1"/>
          <p:nvPr/>
        </p:nvSpPr>
        <p:spPr>
          <a:xfrm>
            <a:off x="10590020" y="4749372"/>
            <a:ext cx="922276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300" dirty="0"/>
          </a:p>
        </p:txBody>
      </p:sp>
      <p:sp>
        <p:nvSpPr>
          <p:cNvPr id="230" name="Text 228"/>
          <p:cNvSpPr txBox="1"/>
          <p:nvPr/>
        </p:nvSpPr>
        <p:spPr>
          <a:xfrm>
            <a:off x="6208776" y="4961427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231" name="Shape 229"/>
          <p:cNvSpPr/>
          <p:nvPr/>
        </p:nvSpPr>
        <p:spPr>
          <a:xfrm>
            <a:off x="8357616" y="4990343"/>
            <a:ext cx="1075368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2" name="Text 230"/>
          <p:cNvSpPr txBox="1"/>
          <p:nvPr/>
        </p:nvSpPr>
        <p:spPr>
          <a:xfrm>
            <a:off x="8357616" y="4990343"/>
            <a:ext cx="1075368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</a:t>
            </a:r>
            <a:endParaRPr lang="en-US" sz="1300" dirty="0"/>
          </a:p>
        </p:txBody>
      </p:sp>
      <p:sp>
        <p:nvSpPr>
          <p:cNvPr id="233" name="Shape 231"/>
          <p:cNvSpPr/>
          <p:nvPr/>
        </p:nvSpPr>
        <p:spPr>
          <a:xfrm>
            <a:off x="9432984" y="4990343"/>
            <a:ext cx="1647182" cy="183138"/>
          </a:xfrm>
          <a:prstGeom prst="rect">
            <a:avLst/>
          </a:prstGeom>
          <a:solidFill>
            <a:srgbClr val="8FBE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4" name="Text 232"/>
          <p:cNvSpPr txBox="1"/>
          <p:nvPr/>
        </p:nvSpPr>
        <p:spPr>
          <a:xfrm>
            <a:off x="9432984" y="4990343"/>
            <a:ext cx="1647182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52</a:t>
            </a:r>
            <a:endParaRPr lang="en-US" sz="1300" dirty="0"/>
          </a:p>
        </p:txBody>
      </p:sp>
      <p:sp>
        <p:nvSpPr>
          <p:cNvPr id="235" name="Shape 233"/>
          <p:cNvSpPr/>
          <p:nvPr/>
        </p:nvSpPr>
        <p:spPr>
          <a:xfrm>
            <a:off x="11080165" y="4990343"/>
            <a:ext cx="432131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6" name="Text 234"/>
          <p:cNvSpPr txBox="1"/>
          <p:nvPr/>
        </p:nvSpPr>
        <p:spPr>
          <a:xfrm>
            <a:off x="11080165" y="4990343"/>
            <a:ext cx="432131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300" dirty="0"/>
          </a:p>
        </p:txBody>
      </p:sp>
      <p:sp>
        <p:nvSpPr>
          <p:cNvPr id="237" name="Text 235"/>
          <p:cNvSpPr txBox="1"/>
          <p:nvPr/>
        </p:nvSpPr>
        <p:spPr>
          <a:xfrm>
            <a:off x="6208776" y="5202398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238" name="Shape 236"/>
          <p:cNvSpPr/>
          <p:nvPr/>
        </p:nvSpPr>
        <p:spPr>
          <a:xfrm>
            <a:off x="8357616" y="5231315"/>
            <a:ext cx="898846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9" name="Text 237"/>
          <p:cNvSpPr txBox="1"/>
          <p:nvPr/>
        </p:nvSpPr>
        <p:spPr>
          <a:xfrm>
            <a:off x="8357616" y="5231315"/>
            <a:ext cx="898846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300" dirty="0"/>
          </a:p>
        </p:txBody>
      </p:sp>
      <p:sp>
        <p:nvSpPr>
          <p:cNvPr id="240" name="Shape 238"/>
          <p:cNvSpPr/>
          <p:nvPr/>
        </p:nvSpPr>
        <p:spPr>
          <a:xfrm>
            <a:off x="9256462" y="5231315"/>
            <a:ext cx="1126586" cy="183138"/>
          </a:xfrm>
          <a:prstGeom prst="rect">
            <a:avLst/>
          </a:prstGeom>
          <a:solidFill>
            <a:srgbClr val="8FBE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41" name="Text 239"/>
          <p:cNvSpPr txBox="1"/>
          <p:nvPr/>
        </p:nvSpPr>
        <p:spPr>
          <a:xfrm>
            <a:off x="9256462" y="5231315"/>
            <a:ext cx="1126586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</a:t>
            </a:r>
            <a:endParaRPr lang="en-US" sz="1300" dirty="0"/>
          </a:p>
        </p:txBody>
      </p:sp>
      <p:sp>
        <p:nvSpPr>
          <p:cNvPr id="242" name="Shape 240"/>
          <p:cNvSpPr/>
          <p:nvPr/>
        </p:nvSpPr>
        <p:spPr>
          <a:xfrm>
            <a:off x="10383048" y="5231315"/>
            <a:ext cx="1129248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43" name="Text 241"/>
          <p:cNvSpPr txBox="1"/>
          <p:nvPr/>
        </p:nvSpPr>
        <p:spPr>
          <a:xfrm>
            <a:off x="10383048" y="5231315"/>
            <a:ext cx="1129248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</a:t>
            </a:r>
            <a:endParaRPr lang="en-US" sz="1300" dirty="0"/>
          </a:p>
        </p:txBody>
      </p:sp>
      <p:sp>
        <p:nvSpPr>
          <p:cNvPr id="244" name="Text 242"/>
          <p:cNvSpPr txBox="1"/>
          <p:nvPr/>
        </p:nvSpPr>
        <p:spPr>
          <a:xfrm>
            <a:off x="6208776" y="5443369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245" name="Shape 243"/>
          <p:cNvSpPr/>
          <p:nvPr/>
        </p:nvSpPr>
        <p:spPr>
          <a:xfrm>
            <a:off x="8357616" y="5472286"/>
            <a:ext cx="880673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46" name="Text 244"/>
          <p:cNvSpPr txBox="1"/>
          <p:nvPr/>
        </p:nvSpPr>
        <p:spPr>
          <a:xfrm>
            <a:off x="8357616" y="5472286"/>
            <a:ext cx="880673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300" dirty="0"/>
          </a:p>
        </p:txBody>
      </p:sp>
      <p:sp>
        <p:nvSpPr>
          <p:cNvPr id="247" name="Shape 245"/>
          <p:cNvSpPr/>
          <p:nvPr/>
        </p:nvSpPr>
        <p:spPr>
          <a:xfrm>
            <a:off x="9238289" y="5472286"/>
            <a:ext cx="1619914" cy="183138"/>
          </a:xfrm>
          <a:prstGeom prst="rect">
            <a:avLst/>
          </a:prstGeom>
          <a:solidFill>
            <a:srgbClr val="8FBE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48" name="Text 246"/>
          <p:cNvSpPr txBox="1"/>
          <p:nvPr/>
        </p:nvSpPr>
        <p:spPr>
          <a:xfrm>
            <a:off x="9238289" y="5472286"/>
            <a:ext cx="1619914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51</a:t>
            </a:r>
            <a:endParaRPr lang="en-US" sz="1300" dirty="0"/>
          </a:p>
        </p:txBody>
      </p:sp>
      <p:sp>
        <p:nvSpPr>
          <p:cNvPr id="249" name="Shape 247"/>
          <p:cNvSpPr/>
          <p:nvPr/>
        </p:nvSpPr>
        <p:spPr>
          <a:xfrm>
            <a:off x="10858202" y="5472286"/>
            <a:ext cx="654094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50" name="Text 248"/>
          <p:cNvSpPr txBox="1"/>
          <p:nvPr/>
        </p:nvSpPr>
        <p:spPr>
          <a:xfrm>
            <a:off x="10858202" y="5472286"/>
            <a:ext cx="654094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300" dirty="0"/>
          </a:p>
        </p:txBody>
      </p:sp>
      <p:sp>
        <p:nvSpPr>
          <p:cNvPr id="251" name="Shape 249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52" name="Text 250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is 52.5% of labor sale (52.8% in 2025), warranty 23.8%, internal 23.7%. Honda Spokane is most customer-pay at 70.3%.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Share of Labor Sale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0058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YTD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52.8%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YTD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52.5%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26364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−0.3 pts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905256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−0.5%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457200" y="2322576"/>
            <a:ext cx="11274552" cy="3666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5800" y="2459736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Share of Labor Sale by month, 2025 against 2026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2807208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17" name="Chart 0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8" name="Chart 1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9" name="Chart 2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20" name="Chart 3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21" name="Chart 4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graphicFrame>
        <p:nvGraphicFramePr>
          <p:cNvPr id="22" name="Chart 5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23" name="Shape 15"/>
          <p:cNvSpPr/>
          <p:nvPr/>
        </p:nvSpPr>
        <p:spPr>
          <a:xfrm>
            <a:off x="4951476" y="3049524"/>
            <a:ext cx="310896" cy="45720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24" name="Shape 16"/>
          <p:cNvSpPr/>
          <p:nvPr/>
        </p:nvSpPr>
        <p:spPr>
          <a:xfrm>
            <a:off x="5052060" y="3017520"/>
            <a:ext cx="109728" cy="109728"/>
          </a:xfrm>
          <a:prstGeom prst="ellipse">
            <a:avLst/>
          </a:prstGeom>
          <a:solidFill>
            <a:srgbClr val="9AA3AD"/>
          </a:solidFill>
          <a:ln/>
        </p:spPr>
      </p:sp>
      <p:sp>
        <p:nvSpPr>
          <p:cNvPr id="25" name="Text 17"/>
          <p:cNvSpPr txBox="1"/>
          <p:nvPr/>
        </p:nvSpPr>
        <p:spPr>
          <a:xfrm>
            <a:off x="533552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26" name="Shape 18"/>
          <p:cNvSpPr/>
          <p:nvPr/>
        </p:nvSpPr>
        <p:spPr>
          <a:xfrm>
            <a:off x="6185916" y="3049524"/>
            <a:ext cx="310896" cy="457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7" name="Shape 19"/>
          <p:cNvSpPr/>
          <p:nvPr/>
        </p:nvSpPr>
        <p:spPr>
          <a:xfrm>
            <a:off x="6286500" y="3017520"/>
            <a:ext cx="109728" cy="109728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28" name="Text 20"/>
          <p:cNvSpPr txBox="1"/>
          <p:nvPr/>
        </p:nvSpPr>
        <p:spPr>
          <a:xfrm>
            <a:off x="656996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29" name="Shape 21"/>
          <p:cNvSpPr/>
          <p:nvPr/>
        </p:nvSpPr>
        <p:spPr>
          <a:xfrm>
            <a:off x="457200" y="6126480"/>
            <a:ext cx="11274552" cy="356616"/>
          </a:xfrm>
          <a:prstGeom prst="rect">
            <a:avLst/>
          </a:prstGeom>
          <a:solidFill>
            <a:srgbClr val="FBEBEA"/>
          </a:solidFill>
          <a:ln/>
        </p:spPr>
      </p:sp>
      <p:sp>
        <p:nvSpPr>
          <p:cNvPr id="30" name="Text 22"/>
          <p:cNvSpPr txBox="1"/>
          <p:nvPr/>
        </p:nvSpPr>
        <p:spPr>
          <a:xfrm>
            <a:off x="658368" y="6144768"/>
            <a:ext cx="10927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Down 0.3 pts to 52.5%, behind 2025 in five of nine months. Warranty labor rose 8.8%, internal rose 5.8%.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Share of Labor Sale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3916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SHARE OF LABOR SALE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831080" y="1335024"/>
            <a:ext cx="3215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9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YEAR-OVER-YEAR CHANGE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−0.3 pts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785616" y="1911860"/>
            <a:ext cx="77724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617720" y="184708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+10.8 pts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785616" y="2151755"/>
            <a:ext cx="701821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617720" y="208698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+9.7 pts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14984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785616" y="2391651"/>
            <a:ext cx="68745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617720" y="232687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+9.5 pts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14984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785616" y="2631546"/>
            <a:ext cx="66778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617720" y="256677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+9.3 pts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785616" y="2871442"/>
            <a:ext cx="64275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617720" y="280667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+8.9 pts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785616" y="3111337"/>
            <a:ext cx="45795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617720" y="304656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+6.4 pts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785616" y="3351233"/>
            <a:ext cx="38589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617720" y="328646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+5.4 pts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014984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785616" y="3591128"/>
            <a:ext cx="311681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617720" y="3526357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+4.3 pts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14984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785616" y="3831024"/>
            <a:ext cx="30560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617720" y="3766252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+4.2 pts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785616" y="4070920"/>
            <a:ext cx="28414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617720" y="400614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+3.9 pts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785616" y="4310815"/>
            <a:ext cx="23156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4617720" y="4246043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+3.2 pts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785616" y="4550711"/>
            <a:ext cx="18196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617720" y="448593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+2.5 pts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1014984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3785616" y="4790606"/>
            <a:ext cx="17535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617720" y="472583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+2.4 pts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3785616" y="5030502"/>
            <a:ext cx="92081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4617720" y="496573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+1.3 pts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3785616" y="5270397"/>
            <a:ext cx="7407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617720" y="520562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+1.0 pts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785616" y="5510293"/>
            <a:ext cx="5436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4617720" y="544552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+0.8 pts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568541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568541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3785616" y="5750188"/>
            <a:ext cx="1662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617720" y="568541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+0.2 pts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208776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65392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9336024" y="1911860"/>
            <a:ext cx="1280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168128" y="184708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+0.1 pts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565392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9336024" y="2151755"/>
            <a:ext cx="1280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0168128" y="208698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+0.1 pts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6565392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9331272" y="2391651"/>
            <a:ext cx="12802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10168128" y="232687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−0.1 pts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9318561" y="2631546"/>
            <a:ext cx="17463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168128" y="256677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−0.2 pts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565392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9312447" y="2871442"/>
            <a:ext cx="23577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10168128" y="280667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−0.3 pts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208776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565392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9255154" y="3111337"/>
            <a:ext cx="80870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0168128" y="304656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−1.1 pts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208776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6565392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9239288" y="3351233"/>
            <a:ext cx="96736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168128" y="328646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−1.3 pts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9234185" y="3591128"/>
            <a:ext cx="101839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10168128" y="3526357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−1.4 pts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9169807" y="3831024"/>
            <a:ext cx="166217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10168128" y="3766252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−2.3 pts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9092399" y="4070920"/>
            <a:ext cx="243625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10168128" y="400614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−3.4 pts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9057340" y="4310815"/>
            <a:ext cx="278684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10168128" y="4246043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−3.9 pts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208776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6565392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125" name="Shape 123"/>
          <p:cNvSpPr/>
          <p:nvPr/>
        </p:nvSpPr>
        <p:spPr>
          <a:xfrm>
            <a:off x="9043690" y="4550711"/>
            <a:ext cx="292334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10168128" y="448593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−4.1 pts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8923753" y="4790606"/>
            <a:ext cx="412271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10168128" y="472583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−5.7 pts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868856" y="5030502"/>
            <a:ext cx="467168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10168128" y="496573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−6.5 pts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8843092" y="5270397"/>
            <a:ext cx="492932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10168128" y="520562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−6.8 pts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565392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141" name="Shape 139"/>
          <p:cNvSpPr/>
          <p:nvPr/>
        </p:nvSpPr>
        <p:spPr>
          <a:xfrm>
            <a:off x="8752645" y="5510293"/>
            <a:ext cx="583379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10168128" y="544552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−8.1 pts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3780130" y="1847088"/>
            <a:ext cx="10973" cy="407822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4" name="Shape 142"/>
          <p:cNvSpPr/>
          <p:nvPr/>
        </p:nvSpPr>
        <p:spPr>
          <a:xfrm>
            <a:off x="9330538" y="1847088"/>
            <a:ext cx="10973" cy="407822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085332" y="1847088"/>
            <a:ext cx="10973" cy="407822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6" name="Shape 144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FBEBEA"/>
          </a:solidFill>
          <a:ln/>
        </p:spPr>
      </p:sp>
      <p:sp>
        <p:nvSpPr>
          <p:cNvPr id="147" name="Text 145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 of 33 stores raised customer-pay share, led by Mazda at +10.8 pts to 56.6%. 14 declined; LR Reno fell most at −8.1 pts.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Customer-Pay Labor by Work Type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71600"/>
            <a:ext cx="201168" cy="20116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32688" y="129844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Maintenance %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624328" y="1371600"/>
            <a:ext cx="201168" cy="201168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898648" y="129844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Repair %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90288" y="1371600"/>
            <a:ext cx="201168" cy="201168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64608" y="129844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Unclassified %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675120" y="1298448"/>
            <a:ext cx="4855464" cy="38404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766560" y="1298448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726680" y="1344168"/>
            <a:ext cx="2015868" cy="29260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726680" y="1344168"/>
            <a:ext cx="2015868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54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9742548" y="1344168"/>
            <a:ext cx="1132302" cy="292608"/>
          </a:xfrm>
          <a:prstGeom prst="rect">
            <a:avLst/>
          </a:prstGeom>
          <a:solidFill>
            <a:srgbClr val="0B2C4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742548" y="1344168"/>
            <a:ext cx="1132302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10874849" y="1344168"/>
            <a:ext cx="564295" cy="29260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874849" y="1344168"/>
            <a:ext cx="564295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58368" y="1828800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2807208" y="1857717"/>
            <a:ext cx="2246132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2807208" y="1857717"/>
            <a:ext cx="2246132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71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053340" y="1857717"/>
            <a:ext cx="776051" cy="183138"/>
          </a:xfrm>
          <a:prstGeom prst="rect">
            <a:avLst/>
          </a:prstGeom>
          <a:solidFill>
            <a:srgbClr val="0B2C4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053340" y="1857717"/>
            <a:ext cx="776051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829391" y="1857717"/>
            <a:ext cx="132497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58368" y="2069771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2807208" y="2098688"/>
            <a:ext cx="2189348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2807208" y="2098688"/>
            <a:ext cx="2189348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69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4996556" y="2098688"/>
            <a:ext cx="791825" cy="183138"/>
          </a:xfrm>
          <a:prstGeom prst="rect">
            <a:avLst/>
          </a:prstGeom>
          <a:solidFill>
            <a:srgbClr val="0B2C4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996556" y="2098688"/>
            <a:ext cx="791825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788381" y="2098688"/>
            <a:ext cx="173507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788381" y="2098688"/>
            <a:ext cx="173507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658368" y="2310743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2807208" y="2339659"/>
            <a:ext cx="2145182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807208" y="2339659"/>
            <a:ext cx="2145182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68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4952390" y="2339659"/>
            <a:ext cx="779206" cy="183138"/>
          </a:xfrm>
          <a:prstGeom prst="rect">
            <a:avLst/>
          </a:prstGeom>
          <a:solidFill>
            <a:srgbClr val="0B2C4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952390" y="2339659"/>
            <a:ext cx="779206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5731596" y="2339659"/>
            <a:ext cx="230292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731596" y="2339659"/>
            <a:ext cx="230292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" y="2551714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807208" y="2580630"/>
            <a:ext cx="2116790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2807208" y="2580630"/>
            <a:ext cx="2116790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67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4923998" y="2580630"/>
            <a:ext cx="694030" cy="183138"/>
          </a:xfrm>
          <a:prstGeom prst="rect">
            <a:avLst/>
          </a:prstGeom>
          <a:solidFill>
            <a:srgbClr val="0B2C4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4923998" y="2580630"/>
            <a:ext cx="694030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5618028" y="2580630"/>
            <a:ext cx="343860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5618028" y="2580630"/>
            <a:ext cx="343860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2792685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2807208" y="2821602"/>
            <a:ext cx="2094708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807208" y="2821602"/>
            <a:ext cx="2094708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66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4901916" y="2821602"/>
            <a:ext cx="804443" cy="183138"/>
          </a:xfrm>
          <a:prstGeom prst="rect">
            <a:avLst/>
          </a:prstGeom>
          <a:solidFill>
            <a:srgbClr val="0B2C4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4901916" y="2821602"/>
            <a:ext cx="804443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5706359" y="2821602"/>
            <a:ext cx="255529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5706359" y="2821602"/>
            <a:ext cx="255529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658368" y="3033656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300" dirty="0"/>
          </a:p>
        </p:txBody>
      </p:sp>
      <p:sp>
        <p:nvSpPr>
          <p:cNvPr id="55" name="Shape 53"/>
          <p:cNvSpPr/>
          <p:nvPr/>
        </p:nvSpPr>
        <p:spPr>
          <a:xfrm>
            <a:off x="2807208" y="3062573"/>
            <a:ext cx="2078934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2807208" y="3062573"/>
            <a:ext cx="2078934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66</a:t>
            </a:r>
            <a:endParaRPr lang="en-US" sz="1300" dirty="0"/>
          </a:p>
        </p:txBody>
      </p:sp>
      <p:sp>
        <p:nvSpPr>
          <p:cNvPr id="57" name="Shape 55"/>
          <p:cNvSpPr/>
          <p:nvPr/>
        </p:nvSpPr>
        <p:spPr>
          <a:xfrm>
            <a:off x="4886142" y="3062573"/>
            <a:ext cx="930631" cy="183138"/>
          </a:xfrm>
          <a:prstGeom prst="rect">
            <a:avLst/>
          </a:prstGeom>
          <a:solidFill>
            <a:srgbClr val="0B2C4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4886142" y="3062573"/>
            <a:ext cx="930631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5816773" y="3062573"/>
            <a:ext cx="145115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658368" y="3274628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61" name="Shape 59"/>
          <p:cNvSpPr/>
          <p:nvPr/>
        </p:nvSpPr>
        <p:spPr>
          <a:xfrm>
            <a:off x="2807208" y="3303544"/>
            <a:ext cx="2015841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2807208" y="3303544"/>
            <a:ext cx="2015841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64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4823049" y="3303544"/>
            <a:ext cx="671947" cy="183138"/>
          </a:xfrm>
          <a:prstGeom prst="rect">
            <a:avLst/>
          </a:prstGeom>
          <a:solidFill>
            <a:srgbClr val="0B2C4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4823049" y="3303544"/>
            <a:ext cx="671947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300" dirty="0"/>
          </a:p>
        </p:txBody>
      </p:sp>
      <p:sp>
        <p:nvSpPr>
          <p:cNvPr id="65" name="Shape 63"/>
          <p:cNvSpPr/>
          <p:nvPr/>
        </p:nvSpPr>
        <p:spPr>
          <a:xfrm>
            <a:off x="5494995" y="3303544"/>
            <a:ext cx="466893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5494995" y="3303544"/>
            <a:ext cx="466893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3515599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68" name="Shape 66"/>
          <p:cNvSpPr/>
          <p:nvPr/>
        </p:nvSpPr>
        <p:spPr>
          <a:xfrm>
            <a:off x="2807208" y="3544516"/>
            <a:ext cx="1955902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2807208" y="3544516"/>
            <a:ext cx="1955902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62</a:t>
            </a:r>
            <a:endParaRPr lang="en-US" sz="1300" dirty="0"/>
          </a:p>
        </p:txBody>
      </p:sp>
      <p:sp>
        <p:nvSpPr>
          <p:cNvPr id="70" name="Shape 68"/>
          <p:cNvSpPr/>
          <p:nvPr/>
        </p:nvSpPr>
        <p:spPr>
          <a:xfrm>
            <a:off x="4763110" y="3544516"/>
            <a:ext cx="807598" cy="183138"/>
          </a:xfrm>
          <a:prstGeom prst="rect">
            <a:avLst/>
          </a:prstGeom>
          <a:solidFill>
            <a:srgbClr val="0B2C4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4763110" y="3544516"/>
            <a:ext cx="807598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300" dirty="0"/>
          </a:p>
        </p:txBody>
      </p:sp>
      <p:sp>
        <p:nvSpPr>
          <p:cNvPr id="72" name="Shape 70"/>
          <p:cNvSpPr/>
          <p:nvPr/>
        </p:nvSpPr>
        <p:spPr>
          <a:xfrm>
            <a:off x="5570708" y="3544516"/>
            <a:ext cx="391180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5570708" y="3544516"/>
            <a:ext cx="391180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658368" y="3756570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75" name="Shape 73"/>
          <p:cNvSpPr/>
          <p:nvPr/>
        </p:nvSpPr>
        <p:spPr>
          <a:xfrm>
            <a:off x="2807208" y="3785487"/>
            <a:ext cx="1943283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6" name="Text 74"/>
          <p:cNvSpPr txBox="1"/>
          <p:nvPr/>
        </p:nvSpPr>
        <p:spPr>
          <a:xfrm>
            <a:off x="2807208" y="3785487"/>
            <a:ext cx="1943283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62</a:t>
            </a:r>
            <a:endParaRPr lang="en-US" sz="1300" dirty="0"/>
          </a:p>
        </p:txBody>
      </p:sp>
      <p:sp>
        <p:nvSpPr>
          <p:cNvPr id="77" name="Shape 75"/>
          <p:cNvSpPr/>
          <p:nvPr/>
        </p:nvSpPr>
        <p:spPr>
          <a:xfrm>
            <a:off x="4750491" y="3785487"/>
            <a:ext cx="413263" cy="183138"/>
          </a:xfrm>
          <a:prstGeom prst="rect">
            <a:avLst/>
          </a:prstGeom>
          <a:solidFill>
            <a:srgbClr val="0B2C4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4750491" y="3785487"/>
            <a:ext cx="413263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300" dirty="0"/>
          </a:p>
        </p:txBody>
      </p:sp>
      <p:sp>
        <p:nvSpPr>
          <p:cNvPr id="79" name="Shape 77"/>
          <p:cNvSpPr/>
          <p:nvPr/>
        </p:nvSpPr>
        <p:spPr>
          <a:xfrm>
            <a:off x="5163754" y="3785487"/>
            <a:ext cx="798134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5163754" y="3785487"/>
            <a:ext cx="798134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658368" y="3997542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82" name="Shape 80"/>
          <p:cNvSpPr/>
          <p:nvPr/>
        </p:nvSpPr>
        <p:spPr>
          <a:xfrm>
            <a:off x="2807208" y="4026458"/>
            <a:ext cx="1892808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2807208" y="4026458"/>
            <a:ext cx="1892808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60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4700016" y="4026458"/>
            <a:ext cx="832836" cy="183138"/>
          </a:xfrm>
          <a:prstGeom prst="rect">
            <a:avLst/>
          </a:prstGeom>
          <a:solidFill>
            <a:srgbClr val="0B2C4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4700016" y="4026458"/>
            <a:ext cx="832836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532852" y="4026458"/>
            <a:ext cx="429036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5532852" y="4026458"/>
            <a:ext cx="429036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300" dirty="0"/>
          </a:p>
        </p:txBody>
      </p:sp>
      <p:sp>
        <p:nvSpPr>
          <p:cNvPr id="88" name="Text 86"/>
          <p:cNvSpPr txBox="1"/>
          <p:nvPr/>
        </p:nvSpPr>
        <p:spPr>
          <a:xfrm>
            <a:off x="658368" y="4238513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89" name="Shape 87"/>
          <p:cNvSpPr/>
          <p:nvPr/>
        </p:nvSpPr>
        <p:spPr>
          <a:xfrm>
            <a:off x="2807208" y="4267429"/>
            <a:ext cx="1883344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0" name="Text 88"/>
          <p:cNvSpPr txBox="1"/>
          <p:nvPr/>
        </p:nvSpPr>
        <p:spPr>
          <a:xfrm>
            <a:off x="2807208" y="4267429"/>
            <a:ext cx="1883344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60</a:t>
            </a:r>
            <a:endParaRPr lang="en-US" sz="1300" dirty="0"/>
          </a:p>
        </p:txBody>
      </p:sp>
      <p:sp>
        <p:nvSpPr>
          <p:cNvPr id="91" name="Shape 89"/>
          <p:cNvSpPr/>
          <p:nvPr/>
        </p:nvSpPr>
        <p:spPr>
          <a:xfrm>
            <a:off x="4690552" y="4267429"/>
            <a:ext cx="981105" cy="183138"/>
          </a:xfrm>
          <a:prstGeom prst="rect">
            <a:avLst/>
          </a:prstGeom>
          <a:solidFill>
            <a:srgbClr val="0B2C4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2" name="Text 90"/>
          <p:cNvSpPr txBox="1"/>
          <p:nvPr/>
        </p:nvSpPr>
        <p:spPr>
          <a:xfrm>
            <a:off x="4690552" y="4267429"/>
            <a:ext cx="981105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300" dirty="0"/>
          </a:p>
        </p:txBody>
      </p:sp>
      <p:sp>
        <p:nvSpPr>
          <p:cNvPr id="93" name="Shape 91"/>
          <p:cNvSpPr/>
          <p:nvPr/>
        </p:nvSpPr>
        <p:spPr>
          <a:xfrm>
            <a:off x="5671657" y="4267429"/>
            <a:ext cx="290231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4" name="Text 92"/>
          <p:cNvSpPr txBox="1"/>
          <p:nvPr/>
        </p:nvSpPr>
        <p:spPr>
          <a:xfrm>
            <a:off x="5671657" y="4267429"/>
            <a:ext cx="290231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658368" y="4479484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96" name="Shape 94"/>
          <p:cNvSpPr/>
          <p:nvPr/>
        </p:nvSpPr>
        <p:spPr>
          <a:xfrm>
            <a:off x="2807208" y="4508401"/>
            <a:ext cx="1867571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2807208" y="4508401"/>
            <a:ext cx="1867571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59</a:t>
            </a:r>
            <a:endParaRPr lang="en-US" sz="1300" dirty="0"/>
          </a:p>
        </p:txBody>
      </p:sp>
      <p:sp>
        <p:nvSpPr>
          <p:cNvPr id="98" name="Shape 96"/>
          <p:cNvSpPr/>
          <p:nvPr/>
        </p:nvSpPr>
        <p:spPr>
          <a:xfrm>
            <a:off x="4674779" y="4508401"/>
            <a:ext cx="47320" cy="183138"/>
          </a:xfrm>
          <a:prstGeom prst="rect">
            <a:avLst/>
          </a:prstGeom>
          <a:solidFill>
            <a:srgbClr val="0B2C4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4722099" y="4508401"/>
            <a:ext cx="1239789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0" name="Text 98"/>
          <p:cNvSpPr txBox="1"/>
          <p:nvPr/>
        </p:nvSpPr>
        <p:spPr>
          <a:xfrm>
            <a:off x="4722099" y="4508401"/>
            <a:ext cx="1239789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658368" y="4720456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102" name="Shape 100"/>
          <p:cNvSpPr/>
          <p:nvPr/>
        </p:nvSpPr>
        <p:spPr>
          <a:xfrm>
            <a:off x="2807208" y="4749372"/>
            <a:ext cx="1861261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2807208" y="4749372"/>
            <a:ext cx="1861261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59</a:t>
            </a:r>
            <a:endParaRPr lang="en-US" sz="1300" dirty="0"/>
          </a:p>
        </p:txBody>
      </p:sp>
      <p:sp>
        <p:nvSpPr>
          <p:cNvPr id="104" name="Shape 102"/>
          <p:cNvSpPr/>
          <p:nvPr/>
        </p:nvSpPr>
        <p:spPr>
          <a:xfrm>
            <a:off x="4668469" y="4749372"/>
            <a:ext cx="839145" cy="183138"/>
          </a:xfrm>
          <a:prstGeom prst="rect">
            <a:avLst/>
          </a:prstGeom>
          <a:solidFill>
            <a:srgbClr val="0B2C4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5" name="Text 103"/>
          <p:cNvSpPr txBox="1"/>
          <p:nvPr/>
        </p:nvSpPr>
        <p:spPr>
          <a:xfrm>
            <a:off x="4668469" y="4749372"/>
            <a:ext cx="839145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300" dirty="0"/>
          </a:p>
        </p:txBody>
      </p:sp>
      <p:sp>
        <p:nvSpPr>
          <p:cNvPr id="106" name="Shape 104"/>
          <p:cNvSpPr/>
          <p:nvPr/>
        </p:nvSpPr>
        <p:spPr>
          <a:xfrm>
            <a:off x="5507614" y="4749372"/>
            <a:ext cx="454274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7" name="Text 105"/>
          <p:cNvSpPr txBox="1"/>
          <p:nvPr/>
        </p:nvSpPr>
        <p:spPr>
          <a:xfrm>
            <a:off x="5507614" y="4749372"/>
            <a:ext cx="454274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300" dirty="0"/>
          </a:p>
        </p:txBody>
      </p:sp>
      <p:sp>
        <p:nvSpPr>
          <p:cNvPr id="108" name="Text 106"/>
          <p:cNvSpPr txBox="1"/>
          <p:nvPr/>
        </p:nvSpPr>
        <p:spPr>
          <a:xfrm>
            <a:off x="658368" y="4961427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109" name="Shape 107"/>
          <p:cNvSpPr/>
          <p:nvPr/>
        </p:nvSpPr>
        <p:spPr>
          <a:xfrm>
            <a:off x="2807208" y="4990343"/>
            <a:ext cx="1854952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0" name="Text 108"/>
          <p:cNvSpPr txBox="1"/>
          <p:nvPr/>
        </p:nvSpPr>
        <p:spPr>
          <a:xfrm>
            <a:off x="2807208" y="4990343"/>
            <a:ext cx="1854952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59</a:t>
            </a:r>
            <a:endParaRPr lang="en-US" sz="1300" dirty="0"/>
          </a:p>
        </p:txBody>
      </p:sp>
      <p:sp>
        <p:nvSpPr>
          <p:cNvPr id="111" name="Shape 109"/>
          <p:cNvSpPr/>
          <p:nvPr/>
        </p:nvSpPr>
        <p:spPr>
          <a:xfrm>
            <a:off x="4662160" y="4990343"/>
            <a:ext cx="1015807" cy="183138"/>
          </a:xfrm>
          <a:prstGeom prst="rect">
            <a:avLst/>
          </a:prstGeom>
          <a:solidFill>
            <a:srgbClr val="0B2C4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2" name="Text 110"/>
          <p:cNvSpPr txBox="1"/>
          <p:nvPr/>
        </p:nvSpPr>
        <p:spPr>
          <a:xfrm>
            <a:off x="4662160" y="4990343"/>
            <a:ext cx="1015807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300" dirty="0"/>
          </a:p>
        </p:txBody>
      </p:sp>
      <p:sp>
        <p:nvSpPr>
          <p:cNvPr id="113" name="Shape 111"/>
          <p:cNvSpPr/>
          <p:nvPr/>
        </p:nvSpPr>
        <p:spPr>
          <a:xfrm>
            <a:off x="5677967" y="4990343"/>
            <a:ext cx="283921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4" name="Text 112"/>
          <p:cNvSpPr txBox="1"/>
          <p:nvPr/>
        </p:nvSpPr>
        <p:spPr>
          <a:xfrm>
            <a:off x="5677967" y="4990343"/>
            <a:ext cx="283921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300" dirty="0"/>
          </a:p>
        </p:txBody>
      </p:sp>
      <p:sp>
        <p:nvSpPr>
          <p:cNvPr id="115" name="Text 113"/>
          <p:cNvSpPr txBox="1"/>
          <p:nvPr/>
        </p:nvSpPr>
        <p:spPr>
          <a:xfrm>
            <a:off x="658368" y="5202398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116" name="Shape 114"/>
          <p:cNvSpPr/>
          <p:nvPr/>
        </p:nvSpPr>
        <p:spPr>
          <a:xfrm>
            <a:off x="2807208" y="5231315"/>
            <a:ext cx="1839178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7" name="Text 115"/>
          <p:cNvSpPr txBox="1"/>
          <p:nvPr/>
        </p:nvSpPr>
        <p:spPr>
          <a:xfrm>
            <a:off x="2807208" y="5231315"/>
            <a:ext cx="1839178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58</a:t>
            </a:r>
            <a:endParaRPr lang="en-US" sz="1300" dirty="0"/>
          </a:p>
        </p:txBody>
      </p:sp>
      <p:sp>
        <p:nvSpPr>
          <p:cNvPr id="118" name="Shape 116"/>
          <p:cNvSpPr/>
          <p:nvPr/>
        </p:nvSpPr>
        <p:spPr>
          <a:xfrm>
            <a:off x="4646386" y="5231315"/>
            <a:ext cx="574152" cy="183138"/>
          </a:xfrm>
          <a:prstGeom prst="rect">
            <a:avLst/>
          </a:prstGeom>
          <a:solidFill>
            <a:srgbClr val="0B2C4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9" name="Text 117"/>
          <p:cNvSpPr txBox="1"/>
          <p:nvPr/>
        </p:nvSpPr>
        <p:spPr>
          <a:xfrm>
            <a:off x="4646386" y="5231315"/>
            <a:ext cx="574152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300" dirty="0"/>
          </a:p>
        </p:txBody>
      </p:sp>
      <p:sp>
        <p:nvSpPr>
          <p:cNvPr id="120" name="Shape 118"/>
          <p:cNvSpPr/>
          <p:nvPr/>
        </p:nvSpPr>
        <p:spPr>
          <a:xfrm>
            <a:off x="5220538" y="5231315"/>
            <a:ext cx="741350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1" name="Text 119"/>
          <p:cNvSpPr txBox="1"/>
          <p:nvPr/>
        </p:nvSpPr>
        <p:spPr>
          <a:xfrm>
            <a:off x="5220538" y="5231315"/>
            <a:ext cx="741350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300" dirty="0"/>
          </a:p>
        </p:txBody>
      </p:sp>
      <p:sp>
        <p:nvSpPr>
          <p:cNvPr id="122" name="Text 120"/>
          <p:cNvSpPr txBox="1"/>
          <p:nvPr/>
        </p:nvSpPr>
        <p:spPr>
          <a:xfrm>
            <a:off x="658368" y="5443369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123" name="Shape 121"/>
          <p:cNvSpPr/>
          <p:nvPr/>
        </p:nvSpPr>
        <p:spPr>
          <a:xfrm>
            <a:off x="2807208" y="5472286"/>
            <a:ext cx="1791858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4" name="Text 122"/>
          <p:cNvSpPr txBox="1"/>
          <p:nvPr/>
        </p:nvSpPr>
        <p:spPr>
          <a:xfrm>
            <a:off x="2807208" y="5472286"/>
            <a:ext cx="1791858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</a:t>
            </a:r>
            <a:endParaRPr lang="en-US" sz="1300" dirty="0"/>
          </a:p>
        </p:txBody>
      </p:sp>
      <p:sp>
        <p:nvSpPr>
          <p:cNvPr id="125" name="Shape 123"/>
          <p:cNvSpPr/>
          <p:nvPr/>
        </p:nvSpPr>
        <p:spPr>
          <a:xfrm>
            <a:off x="4599066" y="5472286"/>
            <a:ext cx="753969" cy="183138"/>
          </a:xfrm>
          <a:prstGeom prst="rect">
            <a:avLst/>
          </a:prstGeom>
          <a:solidFill>
            <a:srgbClr val="0B2C4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6" name="Text 124"/>
          <p:cNvSpPr txBox="1"/>
          <p:nvPr/>
        </p:nvSpPr>
        <p:spPr>
          <a:xfrm>
            <a:off x="4599066" y="5472286"/>
            <a:ext cx="753969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300" dirty="0"/>
          </a:p>
        </p:txBody>
      </p:sp>
      <p:sp>
        <p:nvSpPr>
          <p:cNvPr id="127" name="Shape 125"/>
          <p:cNvSpPr/>
          <p:nvPr/>
        </p:nvSpPr>
        <p:spPr>
          <a:xfrm>
            <a:off x="5353035" y="5472286"/>
            <a:ext cx="608853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8" name="Text 126"/>
          <p:cNvSpPr txBox="1"/>
          <p:nvPr/>
        </p:nvSpPr>
        <p:spPr>
          <a:xfrm>
            <a:off x="5353035" y="5472286"/>
            <a:ext cx="608853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300" dirty="0"/>
          </a:p>
        </p:txBody>
      </p:sp>
      <p:sp>
        <p:nvSpPr>
          <p:cNvPr id="129" name="Text 127"/>
          <p:cNvSpPr txBox="1"/>
          <p:nvPr/>
        </p:nvSpPr>
        <p:spPr>
          <a:xfrm>
            <a:off x="658368" y="5684341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130" name="Shape 128"/>
          <p:cNvSpPr/>
          <p:nvPr/>
        </p:nvSpPr>
        <p:spPr>
          <a:xfrm>
            <a:off x="2807208" y="5713257"/>
            <a:ext cx="1791858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1" name="Text 129"/>
          <p:cNvSpPr txBox="1"/>
          <p:nvPr/>
        </p:nvSpPr>
        <p:spPr>
          <a:xfrm>
            <a:off x="2807208" y="5713257"/>
            <a:ext cx="1791858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</a:t>
            </a:r>
            <a:endParaRPr lang="en-US" sz="1300" dirty="0"/>
          </a:p>
        </p:txBody>
      </p:sp>
      <p:sp>
        <p:nvSpPr>
          <p:cNvPr id="132" name="Shape 130"/>
          <p:cNvSpPr/>
          <p:nvPr/>
        </p:nvSpPr>
        <p:spPr>
          <a:xfrm>
            <a:off x="4599066" y="5713257"/>
            <a:ext cx="753969" cy="183138"/>
          </a:xfrm>
          <a:prstGeom prst="rect">
            <a:avLst/>
          </a:prstGeom>
          <a:solidFill>
            <a:srgbClr val="0B2C4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3" name="Text 131"/>
          <p:cNvSpPr txBox="1"/>
          <p:nvPr/>
        </p:nvSpPr>
        <p:spPr>
          <a:xfrm>
            <a:off x="4599066" y="5713257"/>
            <a:ext cx="753969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300" dirty="0"/>
          </a:p>
        </p:txBody>
      </p:sp>
      <p:sp>
        <p:nvSpPr>
          <p:cNvPr id="134" name="Shape 132"/>
          <p:cNvSpPr/>
          <p:nvPr/>
        </p:nvSpPr>
        <p:spPr>
          <a:xfrm>
            <a:off x="5353035" y="5713257"/>
            <a:ext cx="608853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5" name="Text 133"/>
          <p:cNvSpPr txBox="1"/>
          <p:nvPr/>
        </p:nvSpPr>
        <p:spPr>
          <a:xfrm>
            <a:off x="5353035" y="5713257"/>
            <a:ext cx="608853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6208776" y="1828800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300" dirty="0"/>
          </a:p>
        </p:txBody>
      </p:sp>
      <p:sp>
        <p:nvSpPr>
          <p:cNvPr id="137" name="Shape 135"/>
          <p:cNvSpPr/>
          <p:nvPr/>
        </p:nvSpPr>
        <p:spPr>
          <a:xfrm>
            <a:off x="8357616" y="1857717"/>
            <a:ext cx="1738229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8" name="Text 136"/>
          <p:cNvSpPr txBox="1"/>
          <p:nvPr/>
        </p:nvSpPr>
        <p:spPr>
          <a:xfrm>
            <a:off x="8357616" y="1857717"/>
            <a:ext cx="1738229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55</a:t>
            </a:r>
            <a:endParaRPr lang="en-US" sz="1300" dirty="0"/>
          </a:p>
        </p:txBody>
      </p:sp>
      <p:sp>
        <p:nvSpPr>
          <p:cNvPr id="139" name="Shape 137"/>
          <p:cNvSpPr/>
          <p:nvPr/>
        </p:nvSpPr>
        <p:spPr>
          <a:xfrm>
            <a:off x="10095845" y="1857717"/>
            <a:ext cx="1116757" cy="183138"/>
          </a:xfrm>
          <a:prstGeom prst="rect">
            <a:avLst/>
          </a:prstGeom>
          <a:solidFill>
            <a:srgbClr val="0B2C4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0" name="Text 138"/>
          <p:cNvSpPr txBox="1"/>
          <p:nvPr/>
        </p:nvSpPr>
        <p:spPr>
          <a:xfrm>
            <a:off x="10095845" y="1857717"/>
            <a:ext cx="1116757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</a:t>
            </a:r>
            <a:endParaRPr lang="en-US" sz="1300" dirty="0"/>
          </a:p>
        </p:txBody>
      </p:sp>
      <p:sp>
        <p:nvSpPr>
          <p:cNvPr id="141" name="Shape 139"/>
          <p:cNvSpPr/>
          <p:nvPr/>
        </p:nvSpPr>
        <p:spPr>
          <a:xfrm>
            <a:off x="11212601" y="1857717"/>
            <a:ext cx="299695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2" name="Text 140"/>
          <p:cNvSpPr txBox="1"/>
          <p:nvPr/>
        </p:nvSpPr>
        <p:spPr>
          <a:xfrm>
            <a:off x="11212601" y="1857717"/>
            <a:ext cx="299695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300" dirty="0"/>
          </a:p>
        </p:txBody>
      </p:sp>
      <p:sp>
        <p:nvSpPr>
          <p:cNvPr id="143" name="Text 141"/>
          <p:cNvSpPr txBox="1"/>
          <p:nvPr/>
        </p:nvSpPr>
        <p:spPr>
          <a:xfrm>
            <a:off x="6208776" y="2069771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144" name="Shape 142"/>
          <p:cNvSpPr/>
          <p:nvPr/>
        </p:nvSpPr>
        <p:spPr>
          <a:xfrm>
            <a:off x="8357616" y="2098688"/>
            <a:ext cx="1738229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5" name="Text 143"/>
          <p:cNvSpPr txBox="1"/>
          <p:nvPr/>
        </p:nvSpPr>
        <p:spPr>
          <a:xfrm>
            <a:off x="8357616" y="2098688"/>
            <a:ext cx="1738229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55</a:t>
            </a:r>
            <a:endParaRPr lang="en-US" sz="1300" dirty="0"/>
          </a:p>
        </p:txBody>
      </p:sp>
      <p:sp>
        <p:nvSpPr>
          <p:cNvPr id="146" name="Shape 144"/>
          <p:cNvSpPr/>
          <p:nvPr/>
        </p:nvSpPr>
        <p:spPr>
          <a:xfrm>
            <a:off x="10095845" y="2098688"/>
            <a:ext cx="933785" cy="183138"/>
          </a:xfrm>
          <a:prstGeom prst="rect">
            <a:avLst/>
          </a:prstGeom>
          <a:solidFill>
            <a:srgbClr val="0B2C4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7" name="Text 145"/>
          <p:cNvSpPr txBox="1"/>
          <p:nvPr/>
        </p:nvSpPr>
        <p:spPr>
          <a:xfrm>
            <a:off x="10095845" y="2098688"/>
            <a:ext cx="933785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300" dirty="0"/>
          </a:p>
        </p:txBody>
      </p:sp>
      <p:sp>
        <p:nvSpPr>
          <p:cNvPr id="148" name="Shape 146"/>
          <p:cNvSpPr/>
          <p:nvPr/>
        </p:nvSpPr>
        <p:spPr>
          <a:xfrm>
            <a:off x="11029630" y="2098688"/>
            <a:ext cx="482666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9" name="Text 147"/>
          <p:cNvSpPr txBox="1"/>
          <p:nvPr/>
        </p:nvSpPr>
        <p:spPr>
          <a:xfrm>
            <a:off x="11029630" y="2098688"/>
            <a:ext cx="482666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300" dirty="0"/>
          </a:p>
        </p:txBody>
      </p:sp>
      <p:sp>
        <p:nvSpPr>
          <p:cNvPr id="150" name="Text 148"/>
          <p:cNvSpPr txBox="1"/>
          <p:nvPr/>
        </p:nvSpPr>
        <p:spPr>
          <a:xfrm>
            <a:off x="6208776" y="2310743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151" name="Shape 149"/>
          <p:cNvSpPr/>
          <p:nvPr/>
        </p:nvSpPr>
        <p:spPr>
          <a:xfrm>
            <a:off x="8357616" y="2339659"/>
            <a:ext cx="1533174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2" name="Text 150"/>
          <p:cNvSpPr txBox="1"/>
          <p:nvPr/>
        </p:nvSpPr>
        <p:spPr>
          <a:xfrm>
            <a:off x="8357616" y="2339659"/>
            <a:ext cx="1533174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49</a:t>
            </a:r>
            <a:endParaRPr lang="en-US" sz="1300" dirty="0"/>
          </a:p>
        </p:txBody>
      </p:sp>
      <p:sp>
        <p:nvSpPr>
          <p:cNvPr id="153" name="Shape 151"/>
          <p:cNvSpPr/>
          <p:nvPr/>
        </p:nvSpPr>
        <p:spPr>
          <a:xfrm>
            <a:off x="9890790" y="2339659"/>
            <a:ext cx="1306038" cy="183138"/>
          </a:xfrm>
          <a:prstGeom prst="rect">
            <a:avLst/>
          </a:prstGeom>
          <a:solidFill>
            <a:srgbClr val="0B2C4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4" name="Text 152"/>
          <p:cNvSpPr txBox="1"/>
          <p:nvPr/>
        </p:nvSpPr>
        <p:spPr>
          <a:xfrm>
            <a:off x="9890790" y="2339659"/>
            <a:ext cx="1306038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</a:t>
            </a:r>
            <a:endParaRPr lang="en-US" sz="1300" dirty="0"/>
          </a:p>
        </p:txBody>
      </p:sp>
      <p:sp>
        <p:nvSpPr>
          <p:cNvPr id="155" name="Shape 153"/>
          <p:cNvSpPr/>
          <p:nvPr/>
        </p:nvSpPr>
        <p:spPr>
          <a:xfrm>
            <a:off x="11196828" y="2339659"/>
            <a:ext cx="315468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6" name="Text 154"/>
          <p:cNvSpPr txBox="1"/>
          <p:nvPr/>
        </p:nvSpPr>
        <p:spPr>
          <a:xfrm>
            <a:off x="11196828" y="2339659"/>
            <a:ext cx="315468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300" dirty="0"/>
          </a:p>
        </p:txBody>
      </p:sp>
      <p:sp>
        <p:nvSpPr>
          <p:cNvPr id="157" name="Text 155"/>
          <p:cNvSpPr txBox="1"/>
          <p:nvPr/>
        </p:nvSpPr>
        <p:spPr>
          <a:xfrm>
            <a:off x="6208776" y="2551714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158" name="Shape 156"/>
          <p:cNvSpPr/>
          <p:nvPr/>
        </p:nvSpPr>
        <p:spPr>
          <a:xfrm>
            <a:off x="8357616" y="2580630"/>
            <a:ext cx="1384905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9" name="Text 157"/>
          <p:cNvSpPr txBox="1"/>
          <p:nvPr/>
        </p:nvSpPr>
        <p:spPr>
          <a:xfrm>
            <a:off x="8357616" y="2580630"/>
            <a:ext cx="1384905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</a:t>
            </a:r>
            <a:endParaRPr lang="en-US" sz="1300" dirty="0"/>
          </a:p>
        </p:txBody>
      </p:sp>
      <p:sp>
        <p:nvSpPr>
          <p:cNvPr id="160" name="Shape 158"/>
          <p:cNvSpPr/>
          <p:nvPr/>
        </p:nvSpPr>
        <p:spPr>
          <a:xfrm>
            <a:off x="9742521" y="2580630"/>
            <a:ext cx="1315502" cy="183138"/>
          </a:xfrm>
          <a:prstGeom prst="rect">
            <a:avLst/>
          </a:prstGeom>
          <a:solidFill>
            <a:srgbClr val="0B2C4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1" name="Text 159"/>
          <p:cNvSpPr txBox="1"/>
          <p:nvPr/>
        </p:nvSpPr>
        <p:spPr>
          <a:xfrm>
            <a:off x="9742521" y="2580630"/>
            <a:ext cx="1315502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</a:t>
            </a:r>
            <a:endParaRPr lang="en-US" sz="1300" dirty="0"/>
          </a:p>
        </p:txBody>
      </p:sp>
      <p:sp>
        <p:nvSpPr>
          <p:cNvPr id="162" name="Shape 160"/>
          <p:cNvSpPr/>
          <p:nvPr/>
        </p:nvSpPr>
        <p:spPr>
          <a:xfrm>
            <a:off x="11058022" y="2580630"/>
            <a:ext cx="454274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3" name="Text 161"/>
          <p:cNvSpPr txBox="1"/>
          <p:nvPr/>
        </p:nvSpPr>
        <p:spPr>
          <a:xfrm>
            <a:off x="11058022" y="2580630"/>
            <a:ext cx="454274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300" dirty="0"/>
          </a:p>
        </p:txBody>
      </p:sp>
      <p:sp>
        <p:nvSpPr>
          <p:cNvPr id="164" name="Text 162"/>
          <p:cNvSpPr txBox="1"/>
          <p:nvPr/>
        </p:nvSpPr>
        <p:spPr>
          <a:xfrm>
            <a:off x="6208776" y="2792685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165" name="Shape 163"/>
          <p:cNvSpPr/>
          <p:nvPr/>
        </p:nvSpPr>
        <p:spPr>
          <a:xfrm>
            <a:off x="8357616" y="2821602"/>
            <a:ext cx="1356512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6" name="Text 164"/>
          <p:cNvSpPr txBox="1"/>
          <p:nvPr/>
        </p:nvSpPr>
        <p:spPr>
          <a:xfrm>
            <a:off x="8357616" y="2821602"/>
            <a:ext cx="1356512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</a:t>
            </a:r>
            <a:endParaRPr lang="en-US" sz="1300" dirty="0"/>
          </a:p>
        </p:txBody>
      </p:sp>
      <p:sp>
        <p:nvSpPr>
          <p:cNvPr id="167" name="Shape 165"/>
          <p:cNvSpPr/>
          <p:nvPr/>
        </p:nvSpPr>
        <p:spPr>
          <a:xfrm>
            <a:off x="9714128" y="2821602"/>
            <a:ext cx="946404" cy="183138"/>
          </a:xfrm>
          <a:prstGeom prst="rect">
            <a:avLst/>
          </a:prstGeom>
          <a:solidFill>
            <a:srgbClr val="0B2C4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8" name="Text 166"/>
          <p:cNvSpPr txBox="1"/>
          <p:nvPr/>
        </p:nvSpPr>
        <p:spPr>
          <a:xfrm>
            <a:off x="9714128" y="2821602"/>
            <a:ext cx="946404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300" dirty="0"/>
          </a:p>
        </p:txBody>
      </p:sp>
      <p:sp>
        <p:nvSpPr>
          <p:cNvPr id="169" name="Shape 167"/>
          <p:cNvSpPr/>
          <p:nvPr/>
        </p:nvSpPr>
        <p:spPr>
          <a:xfrm>
            <a:off x="10660532" y="2821602"/>
            <a:ext cx="851764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0" name="Text 168"/>
          <p:cNvSpPr txBox="1"/>
          <p:nvPr/>
        </p:nvSpPr>
        <p:spPr>
          <a:xfrm>
            <a:off x="10660532" y="2821602"/>
            <a:ext cx="851764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300" dirty="0"/>
          </a:p>
        </p:txBody>
      </p:sp>
      <p:sp>
        <p:nvSpPr>
          <p:cNvPr id="171" name="Text 169"/>
          <p:cNvSpPr txBox="1"/>
          <p:nvPr/>
        </p:nvSpPr>
        <p:spPr>
          <a:xfrm>
            <a:off x="6208776" y="3033656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172" name="Shape 170"/>
          <p:cNvSpPr/>
          <p:nvPr/>
        </p:nvSpPr>
        <p:spPr>
          <a:xfrm>
            <a:off x="8357616" y="3062573"/>
            <a:ext cx="1350203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3" name="Text 171"/>
          <p:cNvSpPr txBox="1"/>
          <p:nvPr/>
        </p:nvSpPr>
        <p:spPr>
          <a:xfrm>
            <a:off x="8357616" y="3062573"/>
            <a:ext cx="1350203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</a:t>
            </a:r>
            <a:endParaRPr lang="en-US" sz="1300" dirty="0"/>
          </a:p>
        </p:txBody>
      </p:sp>
      <p:sp>
        <p:nvSpPr>
          <p:cNvPr id="174" name="Shape 172"/>
          <p:cNvSpPr/>
          <p:nvPr/>
        </p:nvSpPr>
        <p:spPr>
          <a:xfrm>
            <a:off x="9707819" y="3062573"/>
            <a:ext cx="911703" cy="183138"/>
          </a:xfrm>
          <a:prstGeom prst="rect">
            <a:avLst/>
          </a:prstGeom>
          <a:solidFill>
            <a:srgbClr val="0B2C4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5" name="Text 173"/>
          <p:cNvSpPr txBox="1"/>
          <p:nvPr/>
        </p:nvSpPr>
        <p:spPr>
          <a:xfrm>
            <a:off x="9707819" y="3062573"/>
            <a:ext cx="911703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300" dirty="0"/>
          </a:p>
        </p:txBody>
      </p:sp>
      <p:sp>
        <p:nvSpPr>
          <p:cNvPr id="176" name="Shape 174"/>
          <p:cNvSpPr/>
          <p:nvPr/>
        </p:nvSpPr>
        <p:spPr>
          <a:xfrm>
            <a:off x="10619522" y="3062573"/>
            <a:ext cx="892774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7" name="Text 175"/>
          <p:cNvSpPr txBox="1"/>
          <p:nvPr/>
        </p:nvSpPr>
        <p:spPr>
          <a:xfrm>
            <a:off x="10619522" y="3062573"/>
            <a:ext cx="892774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300" dirty="0"/>
          </a:p>
        </p:txBody>
      </p:sp>
      <p:sp>
        <p:nvSpPr>
          <p:cNvPr id="178" name="Text 176"/>
          <p:cNvSpPr txBox="1"/>
          <p:nvPr/>
        </p:nvSpPr>
        <p:spPr>
          <a:xfrm>
            <a:off x="6208776" y="3274628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179" name="Shape 177"/>
          <p:cNvSpPr/>
          <p:nvPr/>
        </p:nvSpPr>
        <p:spPr>
          <a:xfrm>
            <a:off x="8357616" y="3303544"/>
            <a:ext cx="1293419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0" name="Text 178"/>
          <p:cNvSpPr txBox="1"/>
          <p:nvPr/>
        </p:nvSpPr>
        <p:spPr>
          <a:xfrm>
            <a:off x="8357616" y="3303544"/>
            <a:ext cx="1293419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</a:t>
            </a:r>
            <a:endParaRPr lang="en-US" sz="1300" dirty="0"/>
          </a:p>
        </p:txBody>
      </p:sp>
      <p:sp>
        <p:nvSpPr>
          <p:cNvPr id="181" name="Shape 179"/>
          <p:cNvSpPr/>
          <p:nvPr/>
        </p:nvSpPr>
        <p:spPr>
          <a:xfrm>
            <a:off x="9651035" y="3303544"/>
            <a:ext cx="1618351" cy="183138"/>
          </a:xfrm>
          <a:prstGeom prst="rect">
            <a:avLst/>
          </a:prstGeom>
          <a:solidFill>
            <a:srgbClr val="0B2C4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2" name="Text 180"/>
          <p:cNvSpPr txBox="1"/>
          <p:nvPr/>
        </p:nvSpPr>
        <p:spPr>
          <a:xfrm>
            <a:off x="9651035" y="3303544"/>
            <a:ext cx="1618351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51</a:t>
            </a:r>
            <a:endParaRPr lang="en-US" sz="1300" dirty="0"/>
          </a:p>
        </p:txBody>
      </p:sp>
      <p:sp>
        <p:nvSpPr>
          <p:cNvPr id="183" name="Shape 181"/>
          <p:cNvSpPr/>
          <p:nvPr/>
        </p:nvSpPr>
        <p:spPr>
          <a:xfrm>
            <a:off x="11269386" y="3303544"/>
            <a:ext cx="242910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4" name="Text 182"/>
          <p:cNvSpPr txBox="1"/>
          <p:nvPr/>
        </p:nvSpPr>
        <p:spPr>
          <a:xfrm>
            <a:off x="11269386" y="3303544"/>
            <a:ext cx="242910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300" dirty="0"/>
          </a:p>
        </p:txBody>
      </p:sp>
      <p:sp>
        <p:nvSpPr>
          <p:cNvPr id="185" name="Text 183"/>
          <p:cNvSpPr txBox="1"/>
          <p:nvPr/>
        </p:nvSpPr>
        <p:spPr>
          <a:xfrm>
            <a:off x="6208776" y="3515599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186" name="Shape 184"/>
          <p:cNvSpPr/>
          <p:nvPr/>
        </p:nvSpPr>
        <p:spPr>
          <a:xfrm>
            <a:off x="8357616" y="3544516"/>
            <a:ext cx="1280800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7" name="Text 185"/>
          <p:cNvSpPr txBox="1"/>
          <p:nvPr/>
        </p:nvSpPr>
        <p:spPr>
          <a:xfrm>
            <a:off x="8357616" y="3544516"/>
            <a:ext cx="1280800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</a:t>
            </a:r>
            <a:endParaRPr lang="en-US" sz="1300" dirty="0"/>
          </a:p>
        </p:txBody>
      </p:sp>
      <p:sp>
        <p:nvSpPr>
          <p:cNvPr id="188" name="Shape 186"/>
          <p:cNvSpPr/>
          <p:nvPr/>
        </p:nvSpPr>
        <p:spPr>
          <a:xfrm>
            <a:off x="9638416" y="3544516"/>
            <a:ext cx="1523710" cy="183138"/>
          </a:xfrm>
          <a:prstGeom prst="rect">
            <a:avLst/>
          </a:prstGeom>
          <a:solidFill>
            <a:srgbClr val="0B2C4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9" name="Text 187"/>
          <p:cNvSpPr txBox="1"/>
          <p:nvPr/>
        </p:nvSpPr>
        <p:spPr>
          <a:xfrm>
            <a:off x="9638416" y="3544516"/>
            <a:ext cx="1523710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48</a:t>
            </a:r>
            <a:endParaRPr lang="en-US" sz="1300" dirty="0"/>
          </a:p>
        </p:txBody>
      </p:sp>
      <p:sp>
        <p:nvSpPr>
          <p:cNvPr id="190" name="Shape 188"/>
          <p:cNvSpPr/>
          <p:nvPr/>
        </p:nvSpPr>
        <p:spPr>
          <a:xfrm>
            <a:off x="11162127" y="3544516"/>
            <a:ext cx="350169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1" name="Text 189"/>
          <p:cNvSpPr txBox="1"/>
          <p:nvPr/>
        </p:nvSpPr>
        <p:spPr>
          <a:xfrm>
            <a:off x="11162127" y="3544516"/>
            <a:ext cx="350169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300" dirty="0"/>
          </a:p>
        </p:txBody>
      </p:sp>
      <p:sp>
        <p:nvSpPr>
          <p:cNvPr id="192" name="Text 190"/>
          <p:cNvSpPr txBox="1"/>
          <p:nvPr/>
        </p:nvSpPr>
        <p:spPr>
          <a:xfrm>
            <a:off x="6208776" y="3756570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193" name="Shape 191"/>
          <p:cNvSpPr/>
          <p:nvPr/>
        </p:nvSpPr>
        <p:spPr>
          <a:xfrm>
            <a:off x="8357616" y="3785487"/>
            <a:ext cx="1268181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4" name="Text 192"/>
          <p:cNvSpPr txBox="1"/>
          <p:nvPr/>
        </p:nvSpPr>
        <p:spPr>
          <a:xfrm>
            <a:off x="8357616" y="3785487"/>
            <a:ext cx="1268181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</a:t>
            </a:r>
            <a:endParaRPr lang="en-US" sz="1300" dirty="0"/>
          </a:p>
        </p:txBody>
      </p:sp>
      <p:sp>
        <p:nvSpPr>
          <p:cNvPr id="195" name="Shape 193"/>
          <p:cNvSpPr/>
          <p:nvPr/>
        </p:nvSpPr>
        <p:spPr>
          <a:xfrm>
            <a:off x="9625797" y="3785487"/>
            <a:ext cx="1321811" cy="183138"/>
          </a:xfrm>
          <a:prstGeom prst="rect">
            <a:avLst/>
          </a:prstGeom>
          <a:solidFill>
            <a:srgbClr val="0B2C4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6" name="Text 194"/>
          <p:cNvSpPr txBox="1"/>
          <p:nvPr/>
        </p:nvSpPr>
        <p:spPr>
          <a:xfrm>
            <a:off x="9625797" y="3785487"/>
            <a:ext cx="1321811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</a:t>
            </a:r>
            <a:endParaRPr lang="en-US" sz="1300" dirty="0"/>
          </a:p>
        </p:txBody>
      </p:sp>
      <p:sp>
        <p:nvSpPr>
          <p:cNvPr id="197" name="Shape 195"/>
          <p:cNvSpPr/>
          <p:nvPr/>
        </p:nvSpPr>
        <p:spPr>
          <a:xfrm>
            <a:off x="10947608" y="3785487"/>
            <a:ext cx="564688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8" name="Text 196"/>
          <p:cNvSpPr txBox="1"/>
          <p:nvPr/>
        </p:nvSpPr>
        <p:spPr>
          <a:xfrm>
            <a:off x="10947608" y="3785487"/>
            <a:ext cx="564688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300" dirty="0"/>
          </a:p>
        </p:txBody>
      </p:sp>
      <p:sp>
        <p:nvSpPr>
          <p:cNvPr id="199" name="Text 197"/>
          <p:cNvSpPr txBox="1"/>
          <p:nvPr/>
        </p:nvSpPr>
        <p:spPr>
          <a:xfrm>
            <a:off x="6208776" y="3997542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200" name="Shape 198"/>
          <p:cNvSpPr/>
          <p:nvPr/>
        </p:nvSpPr>
        <p:spPr>
          <a:xfrm>
            <a:off x="8357616" y="4026458"/>
            <a:ext cx="1211397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01" name="Text 199"/>
          <p:cNvSpPr txBox="1"/>
          <p:nvPr/>
        </p:nvSpPr>
        <p:spPr>
          <a:xfrm>
            <a:off x="8357616" y="4026458"/>
            <a:ext cx="1211397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38</a:t>
            </a:r>
            <a:endParaRPr lang="en-US" sz="1300" dirty="0"/>
          </a:p>
        </p:txBody>
      </p:sp>
      <p:sp>
        <p:nvSpPr>
          <p:cNvPr id="202" name="Shape 200"/>
          <p:cNvSpPr/>
          <p:nvPr/>
        </p:nvSpPr>
        <p:spPr>
          <a:xfrm>
            <a:off x="9569013" y="4026458"/>
            <a:ext cx="1028426" cy="183138"/>
          </a:xfrm>
          <a:prstGeom prst="rect">
            <a:avLst/>
          </a:prstGeom>
          <a:solidFill>
            <a:srgbClr val="0B2C4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03" name="Text 201"/>
          <p:cNvSpPr txBox="1"/>
          <p:nvPr/>
        </p:nvSpPr>
        <p:spPr>
          <a:xfrm>
            <a:off x="9569013" y="4026458"/>
            <a:ext cx="1028426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300" dirty="0"/>
          </a:p>
        </p:txBody>
      </p:sp>
      <p:sp>
        <p:nvSpPr>
          <p:cNvPr id="204" name="Shape 202"/>
          <p:cNvSpPr/>
          <p:nvPr/>
        </p:nvSpPr>
        <p:spPr>
          <a:xfrm>
            <a:off x="10597439" y="4026458"/>
            <a:ext cx="914857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05" name="Text 203"/>
          <p:cNvSpPr txBox="1"/>
          <p:nvPr/>
        </p:nvSpPr>
        <p:spPr>
          <a:xfrm>
            <a:off x="10597439" y="4026458"/>
            <a:ext cx="914857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300" dirty="0"/>
          </a:p>
        </p:txBody>
      </p:sp>
      <p:sp>
        <p:nvSpPr>
          <p:cNvPr id="206" name="Text 204"/>
          <p:cNvSpPr txBox="1"/>
          <p:nvPr/>
        </p:nvSpPr>
        <p:spPr>
          <a:xfrm>
            <a:off x="6208776" y="4238513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207" name="Shape 205"/>
          <p:cNvSpPr/>
          <p:nvPr/>
        </p:nvSpPr>
        <p:spPr>
          <a:xfrm>
            <a:off x="8357616" y="4267429"/>
            <a:ext cx="1107293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08" name="Text 206"/>
          <p:cNvSpPr txBox="1"/>
          <p:nvPr/>
        </p:nvSpPr>
        <p:spPr>
          <a:xfrm>
            <a:off x="8357616" y="4267429"/>
            <a:ext cx="1107293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</a:t>
            </a:r>
            <a:endParaRPr lang="en-US" sz="1300" dirty="0"/>
          </a:p>
        </p:txBody>
      </p:sp>
      <p:sp>
        <p:nvSpPr>
          <p:cNvPr id="209" name="Shape 207"/>
          <p:cNvSpPr/>
          <p:nvPr/>
        </p:nvSpPr>
        <p:spPr>
          <a:xfrm>
            <a:off x="9464909" y="4267429"/>
            <a:ext cx="1192469" cy="183138"/>
          </a:xfrm>
          <a:prstGeom prst="rect">
            <a:avLst/>
          </a:prstGeom>
          <a:solidFill>
            <a:srgbClr val="0B2C4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0" name="Text 208"/>
          <p:cNvSpPr txBox="1"/>
          <p:nvPr/>
        </p:nvSpPr>
        <p:spPr>
          <a:xfrm>
            <a:off x="9464909" y="4267429"/>
            <a:ext cx="1192469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38</a:t>
            </a:r>
            <a:endParaRPr lang="en-US" sz="1300" dirty="0"/>
          </a:p>
        </p:txBody>
      </p:sp>
      <p:sp>
        <p:nvSpPr>
          <p:cNvPr id="211" name="Shape 209"/>
          <p:cNvSpPr/>
          <p:nvPr/>
        </p:nvSpPr>
        <p:spPr>
          <a:xfrm>
            <a:off x="10657378" y="4267429"/>
            <a:ext cx="854918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2" name="Text 210"/>
          <p:cNvSpPr txBox="1"/>
          <p:nvPr/>
        </p:nvSpPr>
        <p:spPr>
          <a:xfrm>
            <a:off x="10657378" y="4267429"/>
            <a:ext cx="854918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300" dirty="0"/>
          </a:p>
        </p:txBody>
      </p:sp>
      <p:sp>
        <p:nvSpPr>
          <p:cNvPr id="213" name="Text 211"/>
          <p:cNvSpPr txBox="1"/>
          <p:nvPr/>
        </p:nvSpPr>
        <p:spPr>
          <a:xfrm>
            <a:off x="6208776" y="4479484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214" name="Shape 212"/>
          <p:cNvSpPr/>
          <p:nvPr/>
        </p:nvSpPr>
        <p:spPr>
          <a:xfrm>
            <a:off x="8357616" y="4508401"/>
            <a:ext cx="1069437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5" name="Text 213"/>
          <p:cNvSpPr txBox="1"/>
          <p:nvPr/>
        </p:nvSpPr>
        <p:spPr>
          <a:xfrm>
            <a:off x="8357616" y="4508401"/>
            <a:ext cx="1069437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</a:t>
            </a:r>
            <a:endParaRPr lang="en-US" sz="1300" dirty="0"/>
          </a:p>
        </p:txBody>
      </p:sp>
      <p:sp>
        <p:nvSpPr>
          <p:cNvPr id="216" name="Shape 214"/>
          <p:cNvSpPr/>
          <p:nvPr/>
        </p:nvSpPr>
        <p:spPr>
          <a:xfrm>
            <a:off x="9427053" y="4508401"/>
            <a:ext cx="82022" cy="183138"/>
          </a:xfrm>
          <a:prstGeom prst="rect">
            <a:avLst/>
          </a:prstGeom>
          <a:solidFill>
            <a:srgbClr val="0B2C4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9509074" y="4508401"/>
            <a:ext cx="2003222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8" name="Text 216"/>
          <p:cNvSpPr txBox="1"/>
          <p:nvPr/>
        </p:nvSpPr>
        <p:spPr>
          <a:xfrm>
            <a:off x="9509074" y="4508401"/>
            <a:ext cx="2003222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64</a:t>
            </a:r>
            <a:endParaRPr lang="en-US" sz="1300" dirty="0"/>
          </a:p>
        </p:txBody>
      </p:sp>
      <p:sp>
        <p:nvSpPr>
          <p:cNvPr id="219" name="Text 217"/>
          <p:cNvSpPr txBox="1"/>
          <p:nvPr/>
        </p:nvSpPr>
        <p:spPr>
          <a:xfrm>
            <a:off x="6208776" y="4720456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220" name="Shape 218"/>
          <p:cNvSpPr/>
          <p:nvPr/>
        </p:nvSpPr>
        <p:spPr>
          <a:xfrm>
            <a:off x="8357616" y="4749372"/>
            <a:ext cx="1034735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21" name="Text 219"/>
          <p:cNvSpPr txBox="1"/>
          <p:nvPr/>
        </p:nvSpPr>
        <p:spPr>
          <a:xfrm>
            <a:off x="8357616" y="4749372"/>
            <a:ext cx="1034735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300" dirty="0"/>
          </a:p>
        </p:txBody>
      </p:sp>
      <p:sp>
        <p:nvSpPr>
          <p:cNvPr id="222" name="Shape 220"/>
          <p:cNvSpPr/>
          <p:nvPr/>
        </p:nvSpPr>
        <p:spPr>
          <a:xfrm>
            <a:off x="9392351" y="4749372"/>
            <a:ext cx="1722455" cy="183138"/>
          </a:xfrm>
          <a:prstGeom prst="rect">
            <a:avLst/>
          </a:prstGeom>
          <a:solidFill>
            <a:srgbClr val="0B2C4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23" name="Text 221"/>
          <p:cNvSpPr txBox="1"/>
          <p:nvPr/>
        </p:nvSpPr>
        <p:spPr>
          <a:xfrm>
            <a:off x="9392351" y="4749372"/>
            <a:ext cx="1722455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55</a:t>
            </a:r>
            <a:endParaRPr lang="en-US" sz="1300" dirty="0"/>
          </a:p>
        </p:txBody>
      </p:sp>
      <p:sp>
        <p:nvSpPr>
          <p:cNvPr id="224" name="Shape 222"/>
          <p:cNvSpPr/>
          <p:nvPr/>
        </p:nvSpPr>
        <p:spPr>
          <a:xfrm>
            <a:off x="11114806" y="4749372"/>
            <a:ext cx="397490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25" name="Text 223"/>
          <p:cNvSpPr txBox="1"/>
          <p:nvPr/>
        </p:nvSpPr>
        <p:spPr>
          <a:xfrm>
            <a:off x="11114806" y="4749372"/>
            <a:ext cx="397490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300" dirty="0"/>
          </a:p>
        </p:txBody>
      </p:sp>
      <p:sp>
        <p:nvSpPr>
          <p:cNvPr id="226" name="Text 224"/>
          <p:cNvSpPr txBox="1"/>
          <p:nvPr/>
        </p:nvSpPr>
        <p:spPr>
          <a:xfrm>
            <a:off x="6208776" y="4961427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227" name="Shape 225"/>
          <p:cNvSpPr/>
          <p:nvPr/>
        </p:nvSpPr>
        <p:spPr>
          <a:xfrm>
            <a:off x="8357616" y="4990343"/>
            <a:ext cx="1015807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28" name="Text 226"/>
          <p:cNvSpPr txBox="1"/>
          <p:nvPr/>
        </p:nvSpPr>
        <p:spPr>
          <a:xfrm>
            <a:off x="8357616" y="4990343"/>
            <a:ext cx="1015807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300" dirty="0"/>
          </a:p>
        </p:txBody>
      </p:sp>
      <p:sp>
        <p:nvSpPr>
          <p:cNvPr id="229" name="Shape 227"/>
          <p:cNvSpPr/>
          <p:nvPr/>
        </p:nvSpPr>
        <p:spPr>
          <a:xfrm>
            <a:off x="9373423" y="4990343"/>
            <a:ext cx="936940" cy="183138"/>
          </a:xfrm>
          <a:prstGeom prst="rect">
            <a:avLst/>
          </a:prstGeom>
          <a:solidFill>
            <a:srgbClr val="0B2C4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0" name="Text 228"/>
          <p:cNvSpPr txBox="1"/>
          <p:nvPr/>
        </p:nvSpPr>
        <p:spPr>
          <a:xfrm>
            <a:off x="9373423" y="4990343"/>
            <a:ext cx="936940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300" dirty="0"/>
          </a:p>
        </p:txBody>
      </p:sp>
      <p:sp>
        <p:nvSpPr>
          <p:cNvPr id="231" name="Shape 229"/>
          <p:cNvSpPr/>
          <p:nvPr/>
        </p:nvSpPr>
        <p:spPr>
          <a:xfrm>
            <a:off x="10310363" y="4990343"/>
            <a:ext cx="1201933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2" name="Text 230"/>
          <p:cNvSpPr txBox="1"/>
          <p:nvPr/>
        </p:nvSpPr>
        <p:spPr>
          <a:xfrm>
            <a:off x="10310363" y="4990343"/>
            <a:ext cx="1201933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38</a:t>
            </a:r>
            <a:endParaRPr lang="en-US" sz="1300" dirty="0"/>
          </a:p>
        </p:txBody>
      </p:sp>
      <p:sp>
        <p:nvSpPr>
          <p:cNvPr id="233" name="Text 231"/>
          <p:cNvSpPr txBox="1"/>
          <p:nvPr/>
        </p:nvSpPr>
        <p:spPr>
          <a:xfrm>
            <a:off x="6208776" y="5202398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234" name="Shape 232"/>
          <p:cNvSpPr/>
          <p:nvPr/>
        </p:nvSpPr>
        <p:spPr>
          <a:xfrm>
            <a:off x="8357616" y="5231315"/>
            <a:ext cx="867537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5" name="Text 233"/>
          <p:cNvSpPr txBox="1"/>
          <p:nvPr/>
        </p:nvSpPr>
        <p:spPr>
          <a:xfrm>
            <a:off x="8357616" y="5231315"/>
            <a:ext cx="867537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300" dirty="0"/>
          </a:p>
        </p:txBody>
      </p:sp>
      <p:sp>
        <p:nvSpPr>
          <p:cNvPr id="236" name="Shape 234"/>
          <p:cNvSpPr/>
          <p:nvPr/>
        </p:nvSpPr>
        <p:spPr>
          <a:xfrm>
            <a:off x="9225153" y="5231315"/>
            <a:ext cx="864382" cy="183138"/>
          </a:xfrm>
          <a:prstGeom prst="rect">
            <a:avLst/>
          </a:prstGeom>
          <a:solidFill>
            <a:srgbClr val="0B2C4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7" name="Text 235"/>
          <p:cNvSpPr txBox="1"/>
          <p:nvPr/>
        </p:nvSpPr>
        <p:spPr>
          <a:xfrm>
            <a:off x="9225153" y="5231315"/>
            <a:ext cx="864382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300" dirty="0"/>
          </a:p>
        </p:txBody>
      </p:sp>
      <p:sp>
        <p:nvSpPr>
          <p:cNvPr id="238" name="Shape 236"/>
          <p:cNvSpPr/>
          <p:nvPr/>
        </p:nvSpPr>
        <p:spPr>
          <a:xfrm>
            <a:off x="10089535" y="5231315"/>
            <a:ext cx="1422761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9" name="Text 237"/>
          <p:cNvSpPr txBox="1"/>
          <p:nvPr/>
        </p:nvSpPr>
        <p:spPr>
          <a:xfrm>
            <a:off x="10089535" y="5231315"/>
            <a:ext cx="1422761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</a:t>
            </a:r>
            <a:endParaRPr lang="en-US" sz="1300" dirty="0"/>
          </a:p>
        </p:txBody>
      </p:sp>
      <p:sp>
        <p:nvSpPr>
          <p:cNvPr id="240" name="Text 238"/>
          <p:cNvSpPr txBox="1"/>
          <p:nvPr/>
        </p:nvSpPr>
        <p:spPr>
          <a:xfrm>
            <a:off x="6208776" y="5443369"/>
            <a:ext cx="2103120" cy="240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241" name="Shape 239"/>
          <p:cNvSpPr/>
          <p:nvPr/>
        </p:nvSpPr>
        <p:spPr>
          <a:xfrm>
            <a:off x="8357616" y="5472286"/>
            <a:ext cx="835990" cy="183138"/>
          </a:xfrm>
          <a:prstGeom prst="rect">
            <a:avLst/>
          </a:prstGeom>
          <a:solidFill>
            <a:srgbClr val="2587C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42" name="Text 240"/>
          <p:cNvSpPr txBox="1"/>
          <p:nvPr/>
        </p:nvSpPr>
        <p:spPr>
          <a:xfrm>
            <a:off x="8357616" y="5472286"/>
            <a:ext cx="835990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300" dirty="0"/>
          </a:p>
        </p:txBody>
      </p:sp>
      <p:sp>
        <p:nvSpPr>
          <p:cNvPr id="243" name="Shape 241"/>
          <p:cNvSpPr/>
          <p:nvPr/>
        </p:nvSpPr>
        <p:spPr>
          <a:xfrm>
            <a:off x="9193606" y="5472286"/>
            <a:ext cx="684566" cy="183138"/>
          </a:xfrm>
          <a:prstGeom prst="rect">
            <a:avLst/>
          </a:prstGeom>
          <a:solidFill>
            <a:srgbClr val="0B2C4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44" name="Text 242"/>
          <p:cNvSpPr txBox="1"/>
          <p:nvPr/>
        </p:nvSpPr>
        <p:spPr>
          <a:xfrm>
            <a:off x="9193606" y="5472286"/>
            <a:ext cx="684566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300" dirty="0"/>
          </a:p>
        </p:txBody>
      </p:sp>
      <p:sp>
        <p:nvSpPr>
          <p:cNvPr id="245" name="Shape 243"/>
          <p:cNvSpPr/>
          <p:nvPr/>
        </p:nvSpPr>
        <p:spPr>
          <a:xfrm>
            <a:off x="9878172" y="5472286"/>
            <a:ext cx="1634124" cy="183138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46" name="Text 244"/>
          <p:cNvSpPr txBox="1"/>
          <p:nvPr/>
        </p:nvSpPr>
        <p:spPr>
          <a:xfrm>
            <a:off x="9878172" y="5472286"/>
            <a:ext cx="1634124" cy="183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52</a:t>
            </a:r>
            <a:endParaRPr lang="en-US" sz="1300" dirty="0"/>
          </a:p>
        </p:txBody>
      </p:sp>
      <p:sp>
        <p:nvSpPr>
          <p:cNvPr id="247" name="Shape 245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48" name="Text 246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Maintenance is 54.3% of customer-pay labor, repair 30.5%, and 15.2% cannot be classified from its description (19.0% in 2025).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Unclassified Customer-Pay Labor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379857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UNCLASSIFIED CUSTOMER-PAY LABOR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712970" y="1335024"/>
            <a:ext cx="333375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SEPTEMBER 2026 YTD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15.2%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008376" y="1907062"/>
            <a:ext cx="111888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754880" y="184708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4.2%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008376" y="2146957"/>
            <a:ext cx="122544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754880" y="208698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4.6%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14984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008376" y="2386853"/>
            <a:ext cx="146520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754880" y="232687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5.5%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14984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008376" y="2626748"/>
            <a:ext cx="194472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754880" y="256677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7.3%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008376" y="2866644"/>
            <a:ext cx="205128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754880" y="280667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7.7%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008376" y="3106540"/>
            <a:ext cx="215784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754880" y="3046566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8.1%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008376" y="3346435"/>
            <a:ext cx="239760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754880" y="328646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9.0%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014984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008376" y="3586331"/>
            <a:ext cx="245088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754880" y="3526357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9.2%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14984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008376" y="3826226"/>
            <a:ext cx="253080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754880" y="3766252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9.5%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008376" y="4066122"/>
            <a:ext cx="266400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754880" y="400614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10.0%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008376" y="4306017"/>
            <a:ext cx="290376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4754880" y="4246043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10.9%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008376" y="4545913"/>
            <a:ext cx="295704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754880" y="448593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11.1%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1014984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3008376" y="4785808"/>
            <a:ext cx="330336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754880" y="472583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12.4%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3008376" y="5025704"/>
            <a:ext cx="335664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4754880" y="496573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12.6%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3008376" y="5265599"/>
            <a:ext cx="362304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754880" y="520562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13.6%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008376" y="5505495"/>
            <a:ext cx="383616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4754880" y="544552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14.4%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568541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568541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3008376" y="5745390"/>
            <a:ext cx="383616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754880" y="5685416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14.4%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208776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65392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8558784" y="1907062"/>
            <a:ext cx="394272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305288" y="184708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14.8%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565392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8558784" y="2146957"/>
            <a:ext cx="407592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0305288" y="208698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15.3%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6565392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8558784" y="2386853"/>
            <a:ext cx="476856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10305288" y="232687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17.9%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558784" y="2626748"/>
            <a:ext cx="514152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305288" y="256677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19.3%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565392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8558784" y="2866644"/>
            <a:ext cx="514152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10305288" y="280667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19.3%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208776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565392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8558784" y="3106540"/>
            <a:ext cx="626040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0305288" y="3046566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23.5%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208776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6565392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8558784" y="3346435"/>
            <a:ext cx="673992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305288" y="328646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25.3%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8558784" y="3586331"/>
            <a:ext cx="719280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10305288" y="3526357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27.0%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558784" y="3826226"/>
            <a:ext cx="721944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10305288" y="3766252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27.1%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8558784" y="4066122"/>
            <a:ext cx="753912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10305288" y="400614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28.3%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8558784" y="4306017"/>
            <a:ext cx="772560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10305288" y="4246043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29.0%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208776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6565392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125" name="Shape 123"/>
          <p:cNvSpPr/>
          <p:nvPr/>
        </p:nvSpPr>
        <p:spPr>
          <a:xfrm>
            <a:off x="8558784" y="4545913"/>
            <a:ext cx="1014984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10305288" y="448593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38.1%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8558784" y="4785808"/>
            <a:ext cx="1046952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10305288" y="472583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39.3%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558784" y="5025704"/>
            <a:ext cx="1201464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10305288" y="496573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45.1%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8558784" y="5265599"/>
            <a:ext cx="1379952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10305288" y="520562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51.8%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565392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41" name="Shape 139"/>
          <p:cNvSpPr/>
          <p:nvPr/>
        </p:nvSpPr>
        <p:spPr>
          <a:xfrm>
            <a:off x="8558784" y="5505495"/>
            <a:ext cx="1691640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10305288" y="544552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63.5%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3405989" y="1847088"/>
            <a:ext cx="14630" cy="40782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8956397" y="1847088"/>
            <a:ext cx="14630" cy="40782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085332" y="1847088"/>
            <a:ext cx="10973" cy="407822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6" name="Shape 144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47" name="Text 145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 can't classify 63.5% of its customer-pay labor from the description; Honda Henderson only 4.2%. Vague op code descriptions hide what the shop sells.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2026-10-21T21:13:50Z</dcterms:created>
  <dcterms:modified xsi:type="dcterms:W3CDTF">2026-10-21T21:13:50Z</dcterms:modified>
</cp:coreProperties>
</file>