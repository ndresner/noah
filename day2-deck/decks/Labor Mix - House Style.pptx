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51.8</c:v>
                </c:pt>
                <c:pt idx="4">
                  <c:v>53.6</c:v>
                </c:pt>
                <c:pt idx="5">
                  <c:v>53.4</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
                </c:pt>
                <c:pt idx="4">
                  <c:v/>
                </c:pt>
                <c:pt idx="5">
                  <c:v>53.4</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51.8</c:v>
                </c:pt>
                <c:pt idx="4">
                  <c:v>53.6</c:v>
                </c:pt>
                <c:pt idx="5">
                  <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52.5</c:v>
                </c:pt>
                <c:pt idx="4">
                  <c:v>53.9</c:v>
                </c:pt>
                <c:pt idx="5">
                  <c:v/>
                </c:pt>
                <c:pt idx="6">
                  <c:v>52.8</c:v>
                </c:pt>
                <c:pt idx="7">
                  <c:v>53.4</c:v>
                </c:pt>
                <c:pt idx="8">
                  <c:v>53.4</c:v>
                </c:pt>
                <c:pt idx="9">
                  <c:v/>
                </c:pt>
                <c:pt idx="10">
                  <c:v>54.1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
                </c:pt>
                <c:pt idx="4">
                  <c:v/>
                </c:pt>
                <c:pt idx="5">
                  <c:v>53.3</c:v>
                </c:pt>
                <c:pt idx="6">
                  <c:v/>
                </c:pt>
                <c:pt idx="7">
                  <c:v/>
                </c:pt>
                <c:pt idx="8">
                  <c:v/>
                </c:pt>
                <c:pt idx="9">
                  <c:v>52.6</c:v>
                </c:pt>
                <c:pt idx="10">
                  <c:v/>
                </c:pt>
                <c:pt idx="11">
                  <c:v>52</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52.5</c:v>
                </c:pt>
                <c:pt idx="4">
                  <c:v>53.9</c:v>
                </c:pt>
                <c:pt idx="5">
                  <c:v>53.3</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Customer pay is 52.5% of labor sale (52.8% in 2025), warranty 23.8%, internal 23.7%. Honda Spokane is most customer-pay at 70.3%.Source: Qlik - Closed Repair Orders. Labor sale by pay type, Jan-Sep by close month. Same-store, INEOS excluded. GMC Prescott body shop labor types excluded. Jan-Sep 2026 shares of labor sale; sorted by customer-pay share. Bar labels are percent of labor sale; every value is also listed here.
HONDA SPOKANE: CP 70.3%, W 8.0%, I 21.6%
TOYOTA SPOKANE: CP 65.3%, W 15.5%, I 19.2%
TOYOTA FLAGSTAFF: CP 65.1%, W 11.2%, I 23.7%
HONDA FLAGSTAFF: CP 65.1%, W 11.9%, I 23.0%
LR LV: CP 64.9%, W 25.2%, I 10.0%
VOLVO: CP 62.9%, W 23.1%, I 14.0%
LR RENO: CP 61.5%, W 17.2%, I 21.3%
TOYOTA PRESCOTT: CP 60.5%, W 13.8%, I 25.8%
AUDI RENO: CP 59.7%, W 29.1%, I 11.2%
CDJR POST FALLS: CP 59.5%, W 23.6%, I 16.9%
NISSAN: CP 59.4%, W 17.7%, I 22.9%
SUBARU ST GEORGE: CP 59.0%, W 23.5%, I 17.5%
SUBARU LV: CP 58.0%, W 24.2%, I 17.7%
HONDA NORTH: CP 57.9%, W 13.5%, I 28.6%
TOYOTA HENDERSON: CP 57.3%, W 14.8%, I 27.9%
MAZDA: CP 56.6%, W 12.4%, I 31.0%
HONDA HENDERSON: CP 56.6%, W 10.2%, I 33.3%
VW ST GEORGE: CP 55.8%, W 31.0%, I 13.2%
LR HENDERSON: CP 55.3%, W 20.2%, I 24.5%
LEXUS: CP 54.5%, W 13.1%, I 32.4%
SUBARU PRESCOTT: CP 50.8%, W 19.2%, I 30.0%
ACURA: CP 48.7%, W 15.5%, I 35.8%
GMC PRESCOTT: CP 48.0%, W 23.1%, I 29.0%
VW HENDERSON: CP 47.2%, W 40.1%, I 12.8%
CHEVY LV: CP 47.0%, W 28.1%, I 24.9%
CHEVY GMC BULLHEAD: CP 45.3%, W 14.3%, I 40.4%
LINCOLN: CP 44.6%, W 37.5%, I 17.8%
HYUNDAI ST GEORGE: CP 40.3%, W 34.9%, I 24.8%
KIA ST GEORGE: CP 40.0%, W 38.4%, I 21.7%
KIA LV: CP 39.2%, W 31.5%, I 29.2%
AUDI HENDERSON: CP 34.1%, W 52.2%, I 13.7%
HYUNDAI PRESCOTT: CP 28.5%, W 35.7%, I 35.8%
CADILLAC: CP 27.9%, W 51.3%, I 20.7%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19 of 33 stores raised customer-pay share, led by Mazda at +10.8 pts to 56.6%. 14 declined; LR Reno fell most at −8.1 pts.Source: Qlik - Closed Repair Orders. Labor sale by pay type, Jan-Sep by close month. Same-store, INEOS excluded. GMC Prescott body shop labor types excluded. Change in Customer Pay Share of Labor Sale,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Mazda, VW Henderson and Acura what changed. Ask LR Reno, Hyundai Prescott and Toyota Henderson what got in the way. Ask Lexus, Acura and Chevy GMC Bullhead what they started this year.Source: Qlik - Closed Repair Orders. Labor sale by pay type, Jan-Sep by close month. Same-store, INEOS excluded. GMC Prescott body shop labor types excluded. Customer-pay labor sale / total labor sale (customer pay + warranty + internal). Top and bottom three stores by change in Customer Pay Share of Labor Sale, Jan-Sep 2026 vs 2025. Moving now: Jul-Sep 2026 vs Jan-Mar 2026, each store against itself; the group moved −0.3 pts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
HONDA HENDERSON: M 71.2%, R 24.6%, U 4.2%
TOYOTA PRESCOTT: M 69.4%, R 25.1%, U 5.5%
TOYOTA HENDERSON: M 68.0%, R 24.7%, U 7.3%
LEXUS: M 67.1%, R 22.0%, U 10.9%
HONDA FLAGSTAFF: M 66.4%, R 25.5%, U 8.1%
HONDA NORTH: M 65.9%, R 29.5%, U 4.6%
MAZDA: M 63.9%, R 21.3%, U 14.8%
ACURA: M 62.0%, R 25.6%, U 12.4%
TOYOTA FLAGSTAFF: M 61.6%, R 13.1%, U 25.3%
TOYOTA SPOKANE: M 60.0%, R 26.4%, U 13.6%
KIA LV: M 59.7%, R 31.1%, U 9.2%
SUBARU PRESCOTT: M 59.2%, R 1.5%, U 39.3%
SUBARU ST GEORGE: M 59.0%, R 26.6%, U 14.4%
LR HENDERSON: M 58.8%, R 32.2%, U 9.0%
HYUNDAI ST GEORGE: M 58.3%, R 18.2%, U 23.5%
HYUNDAI PRESCOTT: M 56.8%, R 23.9%, U 19.3%
LR RENO: M 56.8%, R 23.9%, U 19.3%
SUBARU LV: M 55.1%, R 35.4%, U 9.5%
KIA ST GEORGE: M 55.1%, R 29.6%, U 15.3%
HONDA SPOKANE: M 48.6%, R 41.4%, U 10.0%
VOLVO: M 43.9%, R 41.7%, U 14.4%
LR LV: M 43.0%, R 30.0%, U 27.0%
LINCOLN: M 42.8%, R 28.9%, U 28.3%
VW HENDERSON: M 41.0%, R 51.3%, U 7.7%
CHEVY LV: M 40.6%, R 48.3%, U 11.1%
NISSAN: M 40.2%, R 41.9%, U 17.9%
CHEVY GMC BULLHEAD: M 38.4%, R 32.6%, U 29.0%
AUDI HENDERSON: M 35.1%, R 37.8%, U 27.1%
GMC PRESCOTT: M 33.9%, R 2.6%, U 63.5%
CADILLAC: M 32.8%, R 54.6%, U 12.6%
AUDI RENO: M 32.2%, R 29.7%, U 38.1%
VW ST GEORGE: M 27.5%, R 27.4%, U 45.1%
CDJR POST FALLS: M 26.5%, R 21.7%, U 51.8%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GMC Prescott can't classify 63.5% of its customer-pay labor from the description; Honda Henderson only 4.2%. Vague op code descriptions hide what the shop sells.Source: Qlik - Closed Repair Orders. Customer-pay labor sale by op code description, Jan-Sep. Same-store, INEOS excluded. GMC Prescott body shop labor types excluded. Share of CP labor sale whose op code description matches neither the maintenance nor the repair rules, Jan-Sep 2026. Lower is better: green at or below the group, red above.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Work type   ·   Op code descriptions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2" name="Shape 249"/>
          <p:cNvSpPr/>
          <p:nvPr/>
        </p:nvSpPr>
        <p:spPr>
          <a:xfrm>
            <a:off x="457200" y="6126480"/>
            <a:ext cx="11274552" cy="371856"/>
          </a:xfrm>
          <a:prstGeom prst="rect">
            <a:avLst/>
          </a:prstGeom>
          <a:solidFill>
            <a:srgbClr val="EDF4FA"/>
          </a:solidFill>
          <a:ln/>
        </p:spPr>
      </p:sp>
      <p:sp>
        <p:nvSpPr>
          <p:cNvPr id="253" name="Text 25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527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368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209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770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605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862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665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226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067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029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7991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27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3557"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196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0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590"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28827"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1631" y="2631546"/>
            <a:ext cx="1439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4434" y="2871442"/>
            <a:ext cx="21590"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49664" y="3111337"/>
            <a:ext cx="8636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5271" y="3351233"/>
            <a:ext cx="100753"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5271" y="3591128"/>
            <a:ext cx="10075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70501" y="3831024"/>
            <a:ext cx="16552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8534" y="4070920"/>
            <a:ext cx="23749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5354" y="4310815"/>
            <a:ext cx="2806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0961" y="4550711"/>
            <a:ext cx="29506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5814" y="4790606"/>
            <a:ext cx="41021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241" y="5030502"/>
            <a:ext cx="467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6651" y="5270397"/>
            <a:ext cx="48937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3094" y="5510293"/>
            <a:ext cx="58293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14 declined.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1380744"/>
          </a:xfrm>
          <a:prstGeom prst="rect">
            <a:avLst/>
          </a:prstGeom>
          <a:solidFill>
            <a:srgbClr val="F7F7F7"/>
          </a:solidFill>
          <a:ln/>
        </p:spPr>
      </p:sp>
      <p:sp>
        <p:nvSpPr>
          <p:cNvPr id="10" name="Text 8"/>
          <p:cNvSpPr txBox="1"/>
          <p:nvPr/>
        </p:nvSpPr>
        <p:spPr>
          <a:xfrm>
            <a:off x="749808" y="2103120"/>
            <a:ext cx="365760" cy="1380744"/>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1" name="Text 9"/>
          <p:cNvSpPr txBox="1"/>
          <p:nvPr/>
        </p:nvSpPr>
        <p:spPr>
          <a:xfrm>
            <a:off x="1161288" y="2103120"/>
            <a:ext cx="1917192" cy="1380744"/>
          </a:xfrm>
          <a:prstGeom prst="rect">
            <a:avLst/>
          </a:prstGeom>
          <a:noFill/>
          <a:ln/>
        </p:spPr>
        <p:txBody>
          <a:bodyPr wrap="square" lIns="0" tIns="0" rIns="0" bIns="0" rtlCol="0" anchor="ctr"/>
          <a:lstStyle/>
          <a:p>
            <a:pPr indent="0" marL="0">
              <a:spcAft>
                <a:spcPts val="200"/>
              </a:spcAft>
              <a:buNone/>
            </a:pPr>
            <a:r>
              <a:rPr lang="en-US" sz="1700" b="1" dirty="0">
                <a:solidFill>
                  <a:srgbClr val="1A1A1A"/>
                </a:solidFill>
                <a:latin typeface="Inter" pitchFamily="34" charset="0"/>
                <a:ea typeface="Inter" pitchFamily="34" charset="-122"/>
                <a:cs typeface="Inter" pitchFamily="34" charset="-120"/>
              </a:rPr>
              <a:t>Mazda</a:t>
            </a:r>
            <a:endParaRPr lang="en-US" sz="1700" dirty="0"/>
          </a:p>
          <a:p>
            <a:pPr indent="0" marL="0">
              <a:spcAft>
                <a:spcPts val="200"/>
              </a:spcAft>
              <a:buNone/>
            </a:pPr>
            <a:r>
              <a:rPr lang="en-US" sz="1400" dirty="0">
                <a:solidFill>
                  <a:srgbClr val="595959"/>
                </a:solidFill>
                <a:latin typeface="Inter" pitchFamily="34" charset="0"/>
                <a:ea typeface="Inter" pitchFamily="34" charset="-122"/>
                <a:cs typeface="Inter" pitchFamily="34" charset="-120"/>
              </a:rPr>
              <a:t>45.8%  →  </a:t>
            </a:r>
            <a:pPr indent="0" marL="0">
              <a:spcAft>
                <a:spcPts val="200"/>
              </a:spcAft>
              <a:buNone/>
            </a:pPr>
            <a:r>
              <a:rPr lang="en-US" sz="1400" b="1" dirty="0">
                <a:solidFill>
                  <a:srgbClr val="0B7A4A"/>
                </a:solidFill>
                <a:latin typeface="Inter" pitchFamily="34" charset="0"/>
                <a:ea typeface="Inter" pitchFamily="34" charset="-122"/>
                <a:cs typeface="Inter" pitchFamily="34" charset="-120"/>
              </a:rPr>
              <a:t>56.6%</a:t>
            </a:r>
            <a:endParaRPr lang="en-US" sz="1700" dirty="0"/>
          </a:p>
        </p:txBody>
      </p:sp>
      <p:sp>
        <p:nvSpPr>
          <p:cNvPr id="12" name="Text 10"/>
          <p:cNvSpPr txBox="1"/>
          <p:nvPr/>
        </p:nvSpPr>
        <p:spPr>
          <a:xfrm>
            <a:off x="3124200" y="2103120"/>
            <a:ext cx="932688" cy="1380744"/>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+10.8 pts</a:t>
            </a:r>
            <a:endParaRPr lang="en-US" sz="1800" dirty="0"/>
          </a:p>
        </p:txBody>
      </p:sp>
      <p:sp>
        <p:nvSpPr>
          <p:cNvPr id="13" name="Text 11"/>
          <p:cNvSpPr txBox="1"/>
          <p:nvPr/>
        </p:nvSpPr>
        <p:spPr>
          <a:xfrm>
            <a:off x="749808" y="3483864"/>
            <a:ext cx="365760" cy="1380744"/>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4" name="Text 12"/>
          <p:cNvSpPr txBox="1"/>
          <p:nvPr/>
        </p:nvSpPr>
        <p:spPr>
          <a:xfrm>
            <a:off x="1161288" y="3483864"/>
            <a:ext cx="1917192" cy="1380744"/>
          </a:xfrm>
          <a:prstGeom prst="rect">
            <a:avLst/>
          </a:prstGeom>
          <a:noFill/>
          <a:ln/>
        </p:spPr>
        <p:txBody>
          <a:bodyPr wrap="square" lIns="0" tIns="0" rIns="0" bIns="0" rtlCol="0" anchor="ctr"/>
          <a:lstStyle/>
          <a:p>
            <a:pPr indent="0" marL="0">
              <a:spcAft>
                <a:spcPts val="200"/>
              </a:spcAft>
              <a:buNone/>
            </a:pPr>
            <a:r>
              <a:rPr lang="en-US" sz="1700" b="1" dirty="0">
                <a:solidFill>
                  <a:srgbClr val="1A1A1A"/>
                </a:solidFill>
                <a:latin typeface="Inter" pitchFamily="34" charset="0"/>
                <a:ea typeface="Inter" pitchFamily="34" charset="-122"/>
                <a:cs typeface="Inter" pitchFamily="34" charset="-120"/>
              </a:rPr>
              <a:t>VW Henderson</a:t>
            </a:r>
            <a:endParaRPr lang="en-US" sz="1700" dirty="0"/>
          </a:p>
          <a:p>
            <a:pPr indent="0" marL="0">
              <a:spcAft>
                <a:spcPts val="200"/>
              </a:spcAft>
              <a:buNone/>
            </a:pPr>
            <a:r>
              <a:rPr lang="en-US" sz="14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400" b="1" dirty="0">
                <a:solidFill>
                  <a:srgbClr val="0B7A4A"/>
                </a:solidFill>
                <a:latin typeface="Inter" pitchFamily="34" charset="0"/>
                <a:ea typeface="Inter" pitchFamily="34" charset="-122"/>
                <a:cs typeface="Inter" pitchFamily="34" charset="-120"/>
              </a:rPr>
              <a:t>47.2%</a:t>
            </a:r>
            <a:endParaRPr lang="en-US" sz="1700" dirty="0"/>
          </a:p>
        </p:txBody>
      </p:sp>
      <p:sp>
        <p:nvSpPr>
          <p:cNvPr id="15" name="Text 13"/>
          <p:cNvSpPr txBox="1"/>
          <p:nvPr/>
        </p:nvSpPr>
        <p:spPr>
          <a:xfrm>
            <a:off x="3124200" y="3483864"/>
            <a:ext cx="932688" cy="1380744"/>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+9.8 pts</a:t>
            </a:r>
            <a:endParaRPr lang="en-US" sz="1800" dirty="0"/>
          </a:p>
        </p:txBody>
      </p:sp>
      <p:sp>
        <p:nvSpPr>
          <p:cNvPr id="16" name="Shape 14"/>
          <p:cNvSpPr/>
          <p:nvPr/>
        </p:nvSpPr>
        <p:spPr>
          <a:xfrm>
            <a:off x="658368" y="4864608"/>
            <a:ext cx="3489960" cy="1380744"/>
          </a:xfrm>
          <a:prstGeom prst="rect">
            <a:avLst/>
          </a:prstGeom>
          <a:solidFill>
            <a:srgbClr val="F7F7F7"/>
          </a:solidFill>
          <a:ln/>
        </p:spPr>
      </p:sp>
      <p:sp>
        <p:nvSpPr>
          <p:cNvPr id="17" name="Shape 15"/>
          <p:cNvSpPr/>
          <p:nvPr/>
        </p:nvSpPr>
        <p:spPr>
          <a:xfrm>
            <a:off x="4084320" y="4901184"/>
            <a:ext cx="64008" cy="1307592"/>
          </a:xfrm>
          <a:prstGeom prst="rect">
            <a:avLst/>
          </a:prstGeom>
          <a:solidFill>
            <a:srgbClr val="12A566"/>
          </a:solidFill>
          <a:ln/>
        </p:spPr>
      </p:sp>
      <p:sp>
        <p:nvSpPr>
          <p:cNvPr id="18" name="Text 16"/>
          <p:cNvSpPr txBox="1"/>
          <p:nvPr/>
        </p:nvSpPr>
        <p:spPr>
          <a:xfrm>
            <a:off x="749808" y="4864608"/>
            <a:ext cx="365760" cy="1380744"/>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19" name="Text 17"/>
          <p:cNvSpPr txBox="1"/>
          <p:nvPr/>
        </p:nvSpPr>
        <p:spPr>
          <a:xfrm>
            <a:off x="1161288" y="4864608"/>
            <a:ext cx="1917192" cy="1380744"/>
          </a:xfrm>
          <a:prstGeom prst="rect">
            <a:avLst/>
          </a:prstGeom>
          <a:noFill/>
          <a:ln/>
        </p:spPr>
        <p:txBody>
          <a:bodyPr wrap="square" lIns="0" tIns="0" rIns="0" bIns="0" rtlCol="0" anchor="ctr"/>
          <a:lstStyle/>
          <a:p>
            <a:pPr indent="0" marL="0">
              <a:spcAft>
                <a:spcPts val="200"/>
              </a:spcAft>
              <a:buNone/>
            </a:pPr>
            <a:r>
              <a:rPr lang="en-US" sz="1700" b="1" dirty="0">
                <a:solidFill>
                  <a:srgbClr val="1A1A1A"/>
                </a:solidFill>
                <a:latin typeface="Inter" pitchFamily="34" charset="0"/>
                <a:ea typeface="Inter" pitchFamily="34" charset="-122"/>
                <a:cs typeface="Inter" pitchFamily="34" charset="-120"/>
              </a:rPr>
              <a:t>Acura</a:t>
            </a:r>
            <a:endParaRPr lang="en-US" sz="1700" dirty="0"/>
          </a:p>
          <a:p>
            <a:pPr indent="0" marL="0">
              <a:spcAft>
                <a:spcPts val="200"/>
              </a:spcAft>
              <a:buNone/>
            </a:pPr>
            <a:r>
              <a:rPr lang="en-US" sz="1400" dirty="0">
                <a:solidFill>
                  <a:srgbClr val="595959"/>
                </a:solidFill>
                <a:latin typeface="Inter" pitchFamily="34" charset="0"/>
                <a:ea typeface="Inter" pitchFamily="34" charset="-122"/>
                <a:cs typeface="Inter" pitchFamily="34" charset="-120"/>
              </a:rPr>
              <a:t>39.2%  →  </a:t>
            </a:r>
            <a:pPr indent="0" marL="0">
              <a:spcAft>
                <a:spcPts val="200"/>
              </a:spcAft>
              <a:buNone/>
            </a:pPr>
            <a:r>
              <a:rPr lang="en-US" sz="1400" b="1" dirty="0">
                <a:solidFill>
                  <a:srgbClr val="0B7A4A"/>
                </a:solidFill>
                <a:latin typeface="Inter" pitchFamily="34" charset="0"/>
                <a:ea typeface="Inter" pitchFamily="34" charset="-122"/>
                <a:cs typeface="Inter" pitchFamily="34" charset="-120"/>
              </a:rPr>
              <a:t>48.7%</a:t>
            </a:r>
            <a:endParaRPr lang="en-US" sz="1700" dirty="0"/>
          </a:p>
        </p:txBody>
      </p:sp>
      <p:sp>
        <p:nvSpPr>
          <p:cNvPr id="20" name="Text 18"/>
          <p:cNvSpPr txBox="1"/>
          <p:nvPr/>
        </p:nvSpPr>
        <p:spPr>
          <a:xfrm>
            <a:off x="3124200" y="4864608"/>
            <a:ext cx="932688" cy="1380744"/>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+9.5 pts</a:t>
            </a:r>
            <a:endParaRPr lang="en-US" sz="1800" dirty="0"/>
          </a:p>
        </p:txBody>
      </p:sp>
      <p:sp>
        <p:nvSpPr>
          <p:cNvPr id="21" name="Shape 19"/>
          <p:cNvSpPr/>
          <p:nvPr/>
        </p:nvSpPr>
        <p:spPr>
          <a:xfrm>
            <a:off x="4349496" y="1371600"/>
            <a:ext cx="3489960" cy="45720"/>
          </a:xfrm>
          <a:prstGeom prst="rect">
            <a:avLst/>
          </a:prstGeom>
          <a:solidFill>
            <a:srgbClr val="C2352F"/>
          </a:solidFill>
          <a:ln/>
        </p:spPr>
      </p:sp>
      <p:sp>
        <p:nvSpPr>
          <p:cNvPr id="22" name="Text 20"/>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3" name="Text 21"/>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24" name="Shape 22"/>
          <p:cNvSpPr/>
          <p:nvPr/>
        </p:nvSpPr>
        <p:spPr>
          <a:xfrm>
            <a:off x="4349496" y="2103120"/>
            <a:ext cx="3489960" cy="1380744"/>
          </a:xfrm>
          <a:prstGeom prst="rect">
            <a:avLst/>
          </a:prstGeom>
          <a:solidFill>
            <a:srgbClr val="F7F7F7"/>
          </a:solidFill>
          <a:ln/>
        </p:spPr>
      </p:sp>
      <p:sp>
        <p:nvSpPr>
          <p:cNvPr id="25" name="Text 23"/>
          <p:cNvSpPr txBox="1"/>
          <p:nvPr/>
        </p:nvSpPr>
        <p:spPr>
          <a:xfrm>
            <a:off x="4440936" y="2103120"/>
            <a:ext cx="365760" cy="1380744"/>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26" name="Text 24"/>
          <p:cNvSpPr txBox="1"/>
          <p:nvPr/>
        </p:nvSpPr>
        <p:spPr>
          <a:xfrm>
            <a:off x="4852416" y="2103120"/>
            <a:ext cx="1917192" cy="1380744"/>
          </a:xfrm>
          <a:prstGeom prst="rect">
            <a:avLst/>
          </a:prstGeom>
          <a:noFill/>
          <a:ln/>
        </p:spPr>
        <p:txBody>
          <a:bodyPr wrap="square" lIns="0" tIns="0" rIns="0" bIns="0" rtlCol="0" anchor="ctr"/>
          <a:lstStyle/>
          <a:p>
            <a:pPr indent="0" marL="0">
              <a:spcAft>
                <a:spcPts val="200"/>
              </a:spcAft>
              <a:buNone/>
            </a:pPr>
            <a:r>
              <a:rPr lang="en-US" sz="1700" b="1" dirty="0">
                <a:solidFill>
                  <a:srgbClr val="1A1A1A"/>
                </a:solidFill>
                <a:latin typeface="Inter" pitchFamily="34" charset="0"/>
                <a:ea typeface="Inter" pitchFamily="34" charset="-122"/>
                <a:cs typeface="Inter" pitchFamily="34" charset="-120"/>
              </a:rPr>
              <a:t>LR Reno</a:t>
            </a:r>
            <a:endParaRPr lang="en-US" sz="1700" dirty="0"/>
          </a:p>
          <a:p>
            <a:pPr indent="0" marL="0">
              <a:spcAft>
                <a:spcPts val="200"/>
              </a:spcAft>
              <a:buNone/>
            </a:pPr>
            <a:r>
              <a:rPr lang="en-US" sz="1400" dirty="0">
                <a:solidFill>
                  <a:srgbClr val="595959"/>
                </a:solidFill>
                <a:latin typeface="Inter" pitchFamily="34" charset="0"/>
                <a:ea typeface="Inter" pitchFamily="34" charset="-122"/>
                <a:cs typeface="Inter" pitchFamily="34" charset="-120"/>
              </a:rPr>
              <a:t>69.6%  →  </a:t>
            </a:r>
            <a:pPr indent="0" marL="0">
              <a:spcAft>
                <a:spcPts val="200"/>
              </a:spcAft>
              <a:buNone/>
            </a:pPr>
            <a:r>
              <a:rPr lang="en-US" sz="1400" b="1" dirty="0">
                <a:solidFill>
                  <a:srgbClr val="A82B26"/>
                </a:solidFill>
                <a:latin typeface="Inter" pitchFamily="34" charset="0"/>
                <a:ea typeface="Inter" pitchFamily="34" charset="-122"/>
                <a:cs typeface="Inter" pitchFamily="34" charset="-120"/>
              </a:rPr>
              <a:t>61.5%</a:t>
            </a:r>
            <a:endParaRPr lang="en-US" sz="1700" dirty="0"/>
          </a:p>
        </p:txBody>
      </p:sp>
      <p:sp>
        <p:nvSpPr>
          <p:cNvPr id="27" name="Text 25"/>
          <p:cNvSpPr txBox="1"/>
          <p:nvPr/>
        </p:nvSpPr>
        <p:spPr>
          <a:xfrm>
            <a:off x="6815328" y="2103120"/>
            <a:ext cx="932688" cy="1380744"/>
          </a:xfrm>
          <a:prstGeom prst="rect">
            <a:avLst/>
          </a:prstGeom>
          <a:noFill/>
          <a:ln/>
        </p:spPr>
        <p:txBody>
          <a:bodyPr wrap="square" lIns="0" tIns="0" rIns="0" bIns="0" rtlCol="0" anchor="ctr"/>
          <a:lstStyle/>
          <a:p>
            <a:pPr algn="r" indent="0" marL="0">
              <a:buNone/>
            </a:pPr>
            <a:r>
              <a:rPr lang="en-US" sz="1800" b="1" dirty="0">
                <a:solidFill>
                  <a:srgbClr val="A82B26"/>
                </a:solidFill>
                <a:latin typeface="Inter" pitchFamily="34" charset="0"/>
                <a:ea typeface="Inter" pitchFamily="34" charset="-122"/>
                <a:cs typeface="Inter" pitchFamily="34" charset="-120"/>
              </a:rPr>
              <a:t>−8.1 pts</a:t>
            </a:r>
            <a:endParaRPr lang="en-US" sz="1800" dirty="0"/>
          </a:p>
        </p:txBody>
      </p:sp>
      <p:sp>
        <p:nvSpPr>
          <p:cNvPr id="28" name="Text 26"/>
          <p:cNvSpPr txBox="1"/>
          <p:nvPr/>
        </p:nvSpPr>
        <p:spPr>
          <a:xfrm>
            <a:off x="4440936" y="3483864"/>
            <a:ext cx="365760" cy="1380744"/>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29" name="Text 27"/>
          <p:cNvSpPr txBox="1"/>
          <p:nvPr/>
        </p:nvSpPr>
        <p:spPr>
          <a:xfrm>
            <a:off x="4852416" y="3483864"/>
            <a:ext cx="1917192" cy="1380744"/>
          </a:xfrm>
          <a:prstGeom prst="rect">
            <a:avLst/>
          </a:prstGeom>
          <a:noFill/>
          <a:ln/>
        </p:spPr>
        <p:txBody>
          <a:bodyPr wrap="square" lIns="0" tIns="0" rIns="0" bIns="0" rtlCol="0" anchor="ctr"/>
          <a:lstStyle/>
          <a:p>
            <a:pPr indent="0" marL="0">
              <a:spcAft>
                <a:spcPts val="200"/>
              </a:spcAft>
              <a:buNone/>
            </a:pPr>
            <a:r>
              <a:rPr lang="en-US" sz="1700" b="1" dirty="0">
                <a:solidFill>
                  <a:srgbClr val="1A1A1A"/>
                </a:solidFill>
                <a:latin typeface="Inter" pitchFamily="34" charset="0"/>
                <a:ea typeface="Inter" pitchFamily="34" charset="-122"/>
                <a:cs typeface="Inter" pitchFamily="34" charset="-120"/>
              </a:rPr>
              <a:t>Hyundai Prescott</a:t>
            </a:r>
            <a:endParaRPr lang="en-US" sz="1700" dirty="0"/>
          </a:p>
          <a:p>
            <a:pPr indent="0" marL="0">
              <a:spcAft>
                <a:spcPts val="200"/>
              </a:spcAft>
              <a:buNone/>
            </a:pPr>
            <a:r>
              <a:rPr lang="en-US" sz="14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400" b="1" dirty="0">
                <a:solidFill>
                  <a:srgbClr val="A82B26"/>
                </a:solidFill>
                <a:latin typeface="Inter" pitchFamily="34" charset="0"/>
                <a:ea typeface="Inter" pitchFamily="34" charset="-122"/>
                <a:cs typeface="Inter" pitchFamily="34" charset="-120"/>
              </a:rPr>
              <a:t>28.5%</a:t>
            </a:r>
            <a:endParaRPr lang="en-US" sz="1700" dirty="0"/>
          </a:p>
        </p:txBody>
      </p:sp>
      <p:sp>
        <p:nvSpPr>
          <p:cNvPr id="30" name="Text 28"/>
          <p:cNvSpPr txBox="1"/>
          <p:nvPr/>
        </p:nvSpPr>
        <p:spPr>
          <a:xfrm>
            <a:off x="6815328" y="3483864"/>
            <a:ext cx="932688" cy="1380744"/>
          </a:xfrm>
          <a:prstGeom prst="rect">
            <a:avLst/>
          </a:prstGeom>
          <a:noFill/>
          <a:ln/>
        </p:spPr>
        <p:txBody>
          <a:bodyPr wrap="square" lIns="0" tIns="0" rIns="0" bIns="0" rtlCol="0" anchor="ctr"/>
          <a:lstStyle/>
          <a:p>
            <a:pPr algn="r" indent="0" marL="0">
              <a:buNone/>
            </a:pPr>
            <a:r>
              <a:rPr lang="en-US" sz="1800" b="1" dirty="0">
                <a:solidFill>
                  <a:srgbClr val="A82B26"/>
                </a:solidFill>
                <a:latin typeface="Inter" pitchFamily="34" charset="0"/>
                <a:ea typeface="Inter" pitchFamily="34" charset="-122"/>
                <a:cs typeface="Inter" pitchFamily="34" charset="-120"/>
              </a:rPr>
              <a:t>−6.8 pts</a:t>
            </a:r>
            <a:endParaRPr lang="en-US" sz="1800" dirty="0"/>
          </a:p>
        </p:txBody>
      </p:sp>
      <p:sp>
        <p:nvSpPr>
          <p:cNvPr id="31" name="Shape 29"/>
          <p:cNvSpPr/>
          <p:nvPr/>
        </p:nvSpPr>
        <p:spPr>
          <a:xfrm>
            <a:off x="4349496" y="4864608"/>
            <a:ext cx="3489960" cy="1380744"/>
          </a:xfrm>
          <a:prstGeom prst="rect">
            <a:avLst/>
          </a:prstGeom>
          <a:solidFill>
            <a:srgbClr val="F7F7F7"/>
          </a:solidFill>
          <a:ln/>
        </p:spPr>
      </p:sp>
      <p:sp>
        <p:nvSpPr>
          <p:cNvPr id="32" name="Text 30"/>
          <p:cNvSpPr txBox="1"/>
          <p:nvPr/>
        </p:nvSpPr>
        <p:spPr>
          <a:xfrm>
            <a:off x="4440936" y="4864608"/>
            <a:ext cx="365760" cy="1380744"/>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33" name="Text 31"/>
          <p:cNvSpPr txBox="1"/>
          <p:nvPr/>
        </p:nvSpPr>
        <p:spPr>
          <a:xfrm>
            <a:off x="4852416" y="4864608"/>
            <a:ext cx="1917192" cy="1380744"/>
          </a:xfrm>
          <a:prstGeom prst="rect">
            <a:avLst/>
          </a:prstGeom>
          <a:noFill/>
          <a:ln/>
        </p:spPr>
        <p:txBody>
          <a:bodyPr wrap="square" lIns="0" tIns="0" rIns="0" bIns="0" rtlCol="0" anchor="ctr"/>
          <a:lstStyle/>
          <a:p>
            <a:pPr indent="0" marL="0">
              <a:spcAft>
                <a:spcPts val="200"/>
              </a:spcAft>
              <a:buNone/>
            </a:pPr>
            <a:r>
              <a:rPr lang="en-US" sz="1700" b="1" dirty="0">
                <a:solidFill>
                  <a:srgbClr val="1A1A1A"/>
                </a:solidFill>
                <a:latin typeface="Inter" pitchFamily="34" charset="0"/>
                <a:ea typeface="Inter" pitchFamily="34" charset="-122"/>
                <a:cs typeface="Inter" pitchFamily="34" charset="-120"/>
              </a:rPr>
              <a:t>Toyota Henderson</a:t>
            </a:r>
            <a:endParaRPr lang="en-US" sz="1700" dirty="0"/>
          </a:p>
          <a:p>
            <a:pPr indent="0" marL="0">
              <a:spcAft>
                <a:spcPts val="200"/>
              </a:spcAft>
              <a:buNone/>
            </a:pPr>
            <a:r>
              <a:rPr lang="en-US" sz="1400" dirty="0">
                <a:solidFill>
                  <a:srgbClr val="595959"/>
                </a:solidFill>
                <a:latin typeface="Inter" pitchFamily="34" charset="0"/>
                <a:ea typeface="Inter" pitchFamily="34" charset="-122"/>
                <a:cs typeface="Inter" pitchFamily="34" charset="-120"/>
              </a:rPr>
              <a:t>63.8%  →  </a:t>
            </a:r>
            <a:pPr indent="0" marL="0">
              <a:spcAft>
                <a:spcPts val="200"/>
              </a:spcAft>
              <a:buNone/>
            </a:pPr>
            <a:r>
              <a:rPr lang="en-US" sz="1400" b="1" dirty="0">
                <a:solidFill>
                  <a:srgbClr val="A82B26"/>
                </a:solidFill>
                <a:latin typeface="Inter" pitchFamily="34" charset="0"/>
                <a:ea typeface="Inter" pitchFamily="34" charset="-122"/>
                <a:cs typeface="Inter" pitchFamily="34" charset="-120"/>
              </a:rPr>
              <a:t>57.3%</a:t>
            </a:r>
            <a:endParaRPr lang="en-US" sz="1700" dirty="0"/>
          </a:p>
        </p:txBody>
      </p:sp>
      <p:sp>
        <p:nvSpPr>
          <p:cNvPr id="34" name="Text 32"/>
          <p:cNvSpPr txBox="1"/>
          <p:nvPr/>
        </p:nvSpPr>
        <p:spPr>
          <a:xfrm>
            <a:off x="6815328" y="4864608"/>
            <a:ext cx="932688" cy="1380744"/>
          </a:xfrm>
          <a:prstGeom prst="rect">
            <a:avLst/>
          </a:prstGeom>
          <a:noFill/>
          <a:ln/>
        </p:spPr>
        <p:txBody>
          <a:bodyPr wrap="square" lIns="0" tIns="0" rIns="0" bIns="0" rtlCol="0" anchor="ctr"/>
          <a:lstStyle/>
          <a:p>
            <a:pPr algn="r" indent="0" marL="0">
              <a:buNone/>
            </a:pPr>
            <a:r>
              <a:rPr lang="en-US" sz="1800" b="1" dirty="0">
                <a:solidFill>
                  <a:srgbClr val="A82B26"/>
                </a:solidFill>
                <a:latin typeface="Inter" pitchFamily="34" charset="0"/>
                <a:ea typeface="Inter" pitchFamily="34" charset="-122"/>
                <a:cs typeface="Inter" pitchFamily="34" charset="-120"/>
              </a:rPr>
              <a:t>−6.5 pts</a:t>
            </a:r>
            <a:endParaRPr lang="en-US" sz="1800" dirty="0"/>
          </a:p>
        </p:txBody>
      </p:sp>
      <p:sp>
        <p:nvSpPr>
          <p:cNvPr id="35" name="Shape 33"/>
          <p:cNvSpPr/>
          <p:nvPr/>
        </p:nvSpPr>
        <p:spPr>
          <a:xfrm>
            <a:off x="8040624" y="1371600"/>
            <a:ext cx="3489960" cy="45720"/>
          </a:xfrm>
          <a:prstGeom prst="rect">
            <a:avLst/>
          </a:prstGeom>
          <a:solidFill>
            <a:srgbClr val="2587C5"/>
          </a:solidFill>
          <a:ln/>
        </p:spPr>
      </p:sp>
      <p:sp>
        <p:nvSpPr>
          <p:cNvPr id="36" name="Text 34"/>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37" name="Text 35"/>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38" name="Shape 36"/>
          <p:cNvSpPr/>
          <p:nvPr/>
        </p:nvSpPr>
        <p:spPr>
          <a:xfrm>
            <a:off x="8040624" y="2103120"/>
            <a:ext cx="3489960" cy="1380744"/>
          </a:xfrm>
          <a:prstGeom prst="rect">
            <a:avLst/>
          </a:prstGeom>
          <a:solidFill>
            <a:srgbClr val="F7F7F7"/>
          </a:solidFill>
          <a:ln/>
        </p:spPr>
      </p:sp>
      <p:sp>
        <p:nvSpPr>
          <p:cNvPr id="39" name="Text 37"/>
          <p:cNvSpPr txBox="1"/>
          <p:nvPr/>
        </p:nvSpPr>
        <p:spPr>
          <a:xfrm>
            <a:off x="8132064" y="2103120"/>
            <a:ext cx="365760" cy="1380744"/>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40" name="Text 38"/>
          <p:cNvSpPr txBox="1"/>
          <p:nvPr/>
        </p:nvSpPr>
        <p:spPr>
          <a:xfrm>
            <a:off x="8543544" y="2103120"/>
            <a:ext cx="1917192" cy="1380744"/>
          </a:xfrm>
          <a:prstGeom prst="rect">
            <a:avLst/>
          </a:prstGeom>
          <a:noFill/>
          <a:ln/>
        </p:spPr>
        <p:txBody>
          <a:bodyPr wrap="square" lIns="0" tIns="0" rIns="0" bIns="0" rtlCol="0" anchor="ctr"/>
          <a:lstStyle/>
          <a:p>
            <a:pPr indent="0" marL="0">
              <a:spcAft>
                <a:spcPts val="200"/>
              </a:spcAft>
              <a:buNone/>
            </a:pPr>
            <a:r>
              <a:rPr lang="en-US" sz="1700" b="1" dirty="0">
                <a:solidFill>
                  <a:srgbClr val="1A1A1A"/>
                </a:solidFill>
                <a:latin typeface="Inter" pitchFamily="34" charset="0"/>
                <a:ea typeface="Inter" pitchFamily="34" charset="-122"/>
                <a:cs typeface="Inter" pitchFamily="34" charset="-120"/>
              </a:rPr>
              <a:t>Lexus</a:t>
            </a:r>
            <a:endParaRPr lang="en-US" sz="1700" dirty="0"/>
          </a:p>
          <a:p>
            <a:pPr indent="0" marL="0">
              <a:spcAft>
                <a:spcPts val="200"/>
              </a:spcAft>
              <a:buNone/>
            </a:pPr>
            <a:r>
              <a:rPr lang="en-US" sz="1400" dirty="0">
                <a:solidFill>
                  <a:srgbClr val="595959"/>
                </a:solidFill>
                <a:latin typeface="Inter" pitchFamily="34" charset="0"/>
                <a:ea typeface="Inter" pitchFamily="34" charset="-122"/>
                <a:cs typeface="Inter" pitchFamily="34" charset="-120"/>
              </a:rPr>
              <a:t>48.9%  →  </a:t>
            </a:r>
            <a:pPr indent="0" marL="0">
              <a:spcAft>
                <a:spcPts val="200"/>
              </a:spcAft>
              <a:buNone/>
            </a:pPr>
            <a:r>
              <a:rPr lang="en-US" sz="1400" b="1" dirty="0">
                <a:solidFill>
                  <a:srgbClr val="0B7A4A"/>
                </a:solidFill>
                <a:latin typeface="Inter" pitchFamily="34" charset="0"/>
                <a:ea typeface="Inter" pitchFamily="34" charset="-122"/>
                <a:cs typeface="Inter" pitchFamily="34" charset="-120"/>
              </a:rPr>
              <a:t>57.7%</a:t>
            </a:r>
            <a:endParaRPr lang="en-US" sz="1700" dirty="0"/>
          </a:p>
        </p:txBody>
      </p:sp>
      <p:sp>
        <p:nvSpPr>
          <p:cNvPr id="41" name="Text 39"/>
          <p:cNvSpPr txBox="1"/>
          <p:nvPr/>
        </p:nvSpPr>
        <p:spPr>
          <a:xfrm>
            <a:off x="10506456" y="2103120"/>
            <a:ext cx="932688" cy="1380744"/>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+8.8 pts</a:t>
            </a:r>
            <a:endParaRPr lang="en-US" sz="1800" dirty="0"/>
          </a:p>
        </p:txBody>
      </p:sp>
      <p:sp>
        <p:nvSpPr>
          <p:cNvPr id="42" name="Shape 40"/>
          <p:cNvSpPr/>
          <p:nvPr/>
        </p:nvSpPr>
        <p:spPr>
          <a:xfrm>
            <a:off x="11466576" y="3520440"/>
            <a:ext cx="64008" cy="1307592"/>
          </a:xfrm>
          <a:prstGeom prst="rect">
            <a:avLst/>
          </a:prstGeom>
          <a:solidFill>
            <a:srgbClr val="12A566"/>
          </a:solidFill>
          <a:ln/>
        </p:spPr>
      </p:sp>
      <p:sp>
        <p:nvSpPr>
          <p:cNvPr id="43" name="Text 41"/>
          <p:cNvSpPr txBox="1"/>
          <p:nvPr/>
        </p:nvSpPr>
        <p:spPr>
          <a:xfrm>
            <a:off x="8132064" y="3483864"/>
            <a:ext cx="365760" cy="1380744"/>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44" name="Text 42"/>
          <p:cNvSpPr txBox="1"/>
          <p:nvPr/>
        </p:nvSpPr>
        <p:spPr>
          <a:xfrm>
            <a:off x="8543544" y="3483864"/>
            <a:ext cx="1917192" cy="1380744"/>
          </a:xfrm>
          <a:prstGeom prst="rect">
            <a:avLst/>
          </a:prstGeom>
          <a:noFill/>
          <a:ln/>
        </p:spPr>
        <p:txBody>
          <a:bodyPr wrap="square" lIns="0" tIns="0" rIns="0" bIns="0" rtlCol="0" anchor="ctr"/>
          <a:lstStyle/>
          <a:p>
            <a:pPr indent="0" marL="0">
              <a:spcAft>
                <a:spcPts val="200"/>
              </a:spcAft>
              <a:buNone/>
            </a:pPr>
            <a:r>
              <a:rPr lang="en-US" sz="1700" b="1" dirty="0">
                <a:solidFill>
                  <a:srgbClr val="1A1A1A"/>
                </a:solidFill>
                <a:latin typeface="Inter" pitchFamily="34" charset="0"/>
                <a:ea typeface="Inter" pitchFamily="34" charset="-122"/>
                <a:cs typeface="Inter" pitchFamily="34" charset="-120"/>
              </a:rPr>
              <a:t>Acura</a:t>
            </a:r>
            <a:endParaRPr lang="en-US" sz="1700" dirty="0"/>
          </a:p>
          <a:p>
            <a:pPr indent="0" marL="0">
              <a:spcAft>
                <a:spcPts val="200"/>
              </a:spcAft>
              <a:buNone/>
            </a:pPr>
            <a:r>
              <a:rPr lang="en-US" sz="1400" dirty="0">
                <a:solidFill>
                  <a:srgbClr val="595959"/>
                </a:solidFill>
                <a:latin typeface="Inter" pitchFamily="34" charset="0"/>
                <a:ea typeface="Inter" pitchFamily="34" charset="-122"/>
                <a:cs typeface="Inter" pitchFamily="34" charset="-120"/>
              </a:rPr>
              <a:t>45.7%  →  </a:t>
            </a:r>
            <a:pPr indent="0" marL="0">
              <a:spcAft>
                <a:spcPts val="200"/>
              </a:spcAft>
              <a:buNone/>
            </a:pPr>
            <a:r>
              <a:rPr lang="en-US" sz="1400" b="1" dirty="0">
                <a:solidFill>
                  <a:srgbClr val="0B7A4A"/>
                </a:solidFill>
                <a:latin typeface="Inter" pitchFamily="34" charset="0"/>
                <a:ea typeface="Inter" pitchFamily="34" charset="-122"/>
                <a:cs typeface="Inter" pitchFamily="34" charset="-120"/>
              </a:rPr>
              <a:t>52.5%</a:t>
            </a:r>
            <a:endParaRPr lang="en-US" sz="1700" dirty="0"/>
          </a:p>
        </p:txBody>
      </p:sp>
      <p:sp>
        <p:nvSpPr>
          <p:cNvPr id="45" name="Text 43"/>
          <p:cNvSpPr txBox="1"/>
          <p:nvPr/>
        </p:nvSpPr>
        <p:spPr>
          <a:xfrm>
            <a:off x="10506456" y="3483864"/>
            <a:ext cx="932688" cy="1380744"/>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+6.8 pts</a:t>
            </a:r>
            <a:endParaRPr lang="en-US" sz="1800" dirty="0"/>
          </a:p>
        </p:txBody>
      </p:sp>
      <p:sp>
        <p:nvSpPr>
          <p:cNvPr id="46" name="Shape 44"/>
          <p:cNvSpPr/>
          <p:nvPr/>
        </p:nvSpPr>
        <p:spPr>
          <a:xfrm>
            <a:off x="8040624" y="4864608"/>
            <a:ext cx="3489960" cy="1380744"/>
          </a:xfrm>
          <a:prstGeom prst="rect">
            <a:avLst/>
          </a:prstGeom>
          <a:solidFill>
            <a:srgbClr val="F7F7F7"/>
          </a:solidFill>
          <a:ln/>
        </p:spPr>
      </p:sp>
      <p:sp>
        <p:nvSpPr>
          <p:cNvPr id="47" name="Text 45"/>
          <p:cNvSpPr txBox="1"/>
          <p:nvPr/>
        </p:nvSpPr>
        <p:spPr>
          <a:xfrm>
            <a:off x="8132064" y="4864608"/>
            <a:ext cx="365760" cy="1380744"/>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48" name="Text 46"/>
          <p:cNvSpPr txBox="1"/>
          <p:nvPr/>
        </p:nvSpPr>
        <p:spPr>
          <a:xfrm>
            <a:off x="8543544" y="4864608"/>
            <a:ext cx="1917192" cy="1380744"/>
          </a:xfrm>
          <a:prstGeom prst="rect">
            <a:avLst/>
          </a:prstGeom>
          <a:noFill/>
          <a:ln/>
        </p:spPr>
        <p:txBody>
          <a:bodyPr wrap="square" lIns="0" tIns="0" rIns="0" bIns="0" rtlCol="0" anchor="ctr"/>
          <a:lstStyle/>
          <a:p>
            <a:pPr indent="0" marL="0">
              <a:spcAft>
                <a:spcPts val="200"/>
              </a:spcAft>
              <a:buNone/>
            </a:pPr>
            <a:r>
              <a:rPr lang="en-US" sz="1700" b="1" dirty="0">
                <a:solidFill>
                  <a:srgbClr val="1A1A1A"/>
                </a:solidFill>
                <a:latin typeface="Inter" pitchFamily="34" charset="0"/>
                <a:ea typeface="Inter" pitchFamily="34" charset="-122"/>
                <a:cs typeface="Inter" pitchFamily="34" charset="-120"/>
              </a:rPr>
              <a:t>Chevy GMC Bullhead</a:t>
            </a:r>
            <a:endParaRPr lang="en-US" sz="1700" dirty="0"/>
          </a:p>
          <a:p>
            <a:pPr indent="0" marL="0">
              <a:spcAft>
                <a:spcPts val="200"/>
              </a:spcAft>
              <a:buNone/>
            </a:pPr>
            <a:r>
              <a:rPr lang="en-US" sz="14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400" b="1" dirty="0">
                <a:solidFill>
                  <a:srgbClr val="0B7A4A"/>
                </a:solidFill>
                <a:latin typeface="Inter" pitchFamily="34" charset="0"/>
                <a:ea typeface="Inter" pitchFamily="34" charset="-122"/>
                <a:cs typeface="Inter" pitchFamily="34" charset="-120"/>
              </a:rPr>
              <a:t>48.3%</a:t>
            </a:r>
            <a:endParaRPr lang="en-US" sz="1700" dirty="0"/>
          </a:p>
        </p:txBody>
      </p:sp>
      <p:sp>
        <p:nvSpPr>
          <p:cNvPr id="49" name="Text 47"/>
          <p:cNvSpPr txBox="1"/>
          <p:nvPr/>
        </p:nvSpPr>
        <p:spPr>
          <a:xfrm>
            <a:off x="10506456" y="4864608"/>
            <a:ext cx="932688" cy="1380744"/>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Unclassified Customer-Pay Labor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7985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UNCLASSIFIED CUSTOMER-PAY LABOR</a:t>
            </a:r>
            <a:endParaRPr lang="en-US" sz="1500" dirty="0"/>
          </a:p>
        </p:txBody>
      </p:sp>
      <p:sp>
        <p:nvSpPr>
          <p:cNvPr id="9" name="Text 7"/>
          <p:cNvSpPr txBox="1"/>
          <p:nvPr/>
        </p:nvSpPr>
        <p:spPr>
          <a:xfrm>
            <a:off x="4712970" y="1335024"/>
            <a:ext cx="333375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15.2%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11888"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 name="Shape 15"/>
          <p:cNvSpPr/>
          <p:nvPr/>
        </p:nvSpPr>
        <p:spPr>
          <a:xfrm>
            <a:off x="3008376" y="2146957"/>
            <a:ext cx="12254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008376" y="2386853"/>
            <a:ext cx="1465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008376" y="2626748"/>
            <a:ext cx="19447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008376" y="2866644"/>
            <a:ext cx="20512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008376" y="3106540"/>
            <a:ext cx="21578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23976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245088"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253080"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26640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29037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7" name="Shape 55"/>
          <p:cNvSpPr/>
          <p:nvPr/>
        </p:nvSpPr>
        <p:spPr>
          <a:xfrm>
            <a:off x="3008376" y="4545913"/>
            <a:ext cx="29570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08376" y="4785808"/>
            <a:ext cx="33033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5" name="Shape 63"/>
          <p:cNvSpPr/>
          <p:nvPr/>
        </p:nvSpPr>
        <p:spPr>
          <a:xfrm>
            <a:off x="3008376" y="5025704"/>
            <a:ext cx="33566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008376" y="5265599"/>
            <a:ext cx="362304"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08376" y="5505495"/>
            <a:ext cx="383616"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38361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394272"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40759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47685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3" name="Shape 91"/>
          <p:cNvSpPr/>
          <p:nvPr/>
        </p:nvSpPr>
        <p:spPr>
          <a:xfrm>
            <a:off x="8558784" y="2626748"/>
            <a:ext cx="5141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51415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62604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67399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58784" y="3586331"/>
            <a:ext cx="7192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3" name="Shape 111"/>
          <p:cNvSpPr/>
          <p:nvPr/>
        </p:nvSpPr>
        <p:spPr>
          <a:xfrm>
            <a:off x="8558784" y="3826226"/>
            <a:ext cx="72194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91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77256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1498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104695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12014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8558784" y="5265599"/>
            <a:ext cx="13799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58784" y="5505495"/>
            <a:ext cx="169164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63.5%</a:t>
            </a:r>
            <a:endParaRPr lang="en-US" sz="1200" dirty="0"/>
          </a:p>
        </p:txBody>
      </p:sp>
      <p:sp>
        <p:nvSpPr>
          <p:cNvPr id="143" name="Shape 141"/>
          <p:cNvSpPr/>
          <p:nvPr/>
        </p:nvSpPr>
        <p:spPr>
          <a:xfrm>
            <a:off x="3405989" y="1847088"/>
            <a:ext cx="14630" cy="4078224"/>
          </a:xfrm>
          <a:prstGeom prst="rect">
            <a:avLst/>
          </a:prstGeom>
          <a:solidFill>
            <a:srgbClr val="0B2C4A"/>
          </a:solidFill>
          <a:ln/>
        </p:spPr>
      </p:sp>
      <p:sp>
        <p:nvSpPr>
          <p:cNvPr id="144" name="Shape 142"/>
          <p:cNvSpPr/>
          <p:nvPr/>
        </p:nvSpPr>
        <p:spPr>
          <a:xfrm>
            <a:off x="895639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Vague op code descriptions hide what the shop sells.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2026-10-29T16:33:51Z</dcterms:created>
  <dcterms:modified xsi:type="dcterms:W3CDTF">2026-10-29T16:33:51Z</dcterms:modified>
</cp:coreProperties>
</file>