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
                </c:pt>
                <c:pt idx="10">
                  <c:v>54.1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52.6</c:v>
                </c:pt>
                <c:pt idx="10">
                  <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
HONDA SPOKANE: CP 70.3%, W 8.0%, I 21.6%
TOYOTA SPOKANE: CP 65.3%, W 15.5%, I 19.2%
TOYOTA FLAGSTAFF: CP 65.1%, W 11.2%, I 23.7%
HONDA FLAGSTAFF: CP 65.1%, W 11.9%, I 23.0%
LR LV: CP 64.9%, W 25.2%, I 10.0%
VOLVO: CP 62.9%, W 23.1%, I 14.0%
LR RENO: CP 61.5%, W 17.2%, I 21.3%
TOYOTA PRESCOTT: CP 60.5%, W 13.8%, I 25.8%
AUDI RENO: CP 59.7%, W 29.1%, I 11.2%
CDJR POST FALLS: CP 59.5%, W 23.6%, I 16.9%
NISSAN: CP 59.4%, W 17.7%, I 22.9%
SUBARU ST GEORGE: CP 59.0%, W 23.5%, I 17.5%
SUBARU LV: CP 58.0%, W 24.2%, I 17.7%
HONDA NORTH: CP 57.9%, W 13.5%, I 28.6%
TOYOTA HENDERSON: CP 57.3%, W 14.8%, I 27.9%
MAZDA: CP 56.6%, W 12.4%, I 31.0%
HONDA HENDERSON: CP 56.6%, W 10.2%, I 33.3%
VW ST GEORGE: CP 55.8%, W 31.0%, I 13.2%
LR HENDERSON: CP 55.3%, W 20.2%, I 24.5%
LEXUS: CP 54.5%, W 13.1%, I 32.4%
SUBARU PRESCOTT: CP 50.8%, W 19.2%, I 30.0%
ACURA: CP 48.7%, W 15.5%, I 35.8%
GMC PRESCOTT: CP 48.0%, W 23.1%, I 29.0%
VW HENDERSON: CP 47.2%, W 40.1%, I 12.8%
CHEVY LV: CP 47.0%, W 28.1%, I 24.9%
CHEVY GMC BULLHEAD: CP 45.3%, W 14.3%, I 40.4%
LINCOLN: CP 44.6%, W 37.5%, I 17.8%
HYUNDAI ST GEORGE: CP 40.3%, W 34.9%, I 24.8%
KIA ST GEORGE: CP 40.0%, W 38.4%, I 21.7%
KIA LV: CP 39.2%, W 31.5%, I 29.2%
AUDI HENDERSON: CP 34.1%, W 52.2%, I 13.7%
HYUNDAI PRESCOTT: CP 28.5%, W 35.7%, I 35.8%
CADILLAC: CP 27.9%, W 51.3%, I 20.7%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customer-pay share, led by Mazda at +10.8 pts to 56.6%. 14 declined; LR Reno fell most at −8.1 pts.Source: Qlik - Closed Repair Orders. Labor sale by pay type, Jan-Sep by close month. Same-store, INEOS excluded. GMC Prescott body shop labor types excluded. Change in Customer Pay Share of Labor Sale,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Mazda, VW Henderson and Acura what changed. Ask LR Reno, Hyundai Prescott and Toyota Henderson what got in the way. Ask Lexus, Acura and Chevy GMC Bullhead what they started this year.Source: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
HONDA HENDERSON: M 71.2%, R 24.6%, U 4.2%
TOYOTA PRESCOTT: M 69.4%, R 25.1%, U 5.5%
TOYOTA HENDERSON: M 68.0%, R 24.7%, U 7.3%
LEXUS: M 67.1%, R 22.0%, U 10.9%
HONDA FLAGSTAFF: M 66.4%, R 25.5%, U 8.1%
HONDA NORTH: M 65.9%, R 29.5%, U 4.6%
MAZDA: M 63.9%, R 21.3%, U 14.8%
ACURA: M 62.0%, R 25.6%, U 12.4%
TOYOTA FLAGSTAFF: M 61.6%, R 13.1%, U 25.3%
TOYOTA SPOKANE: M 60.0%, R 26.4%, U 13.6%
KIA LV: M 59.7%, R 31.1%, U 9.2%
SUBARU PRESCOTT: M 59.2%, R 1.5%, U 39.3%
SUBARU ST GEORGE: M 59.0%, R 26.6%, U 14.4%
LR HENDERSON: M 58.8%, R 32.2%, U 9.0%
HYUNDAI ST GEORGE: M 58.3%, R 18.2%, U 23.5%
HYUNDAI PRESCOTT: M 56.8%, R 23.9%, U 19.3%
LR RENO: M 56.8%, R 23.9%, U 19.3%
SUBARU LV: M 55.1%, R 35.4%, U 9.5%
KIA ST GEORGE: M 55.1%, R 29.6%, U 15.3%
HONDA SPOKANE: M 48.6%, R 41.4%, U 10.0%
VOLVO: M 43.9%, R 41.7%, U 14.4%
LR LV: M 43.0%, R 30.0%, U 27.0%
LINCOLN: M 42.8%, R 28.9%, U 28.3%
VW HENDERSON: M 41.0%, R 51.3%, U 7.7%
CHEVY LV: M 40.6%, R 48.3%, U 11.1%
NISSAN: M 40.2%, R 41.9%, U 17.9%
CHEVY GMC BULLHEAD: M 38.4%, R 32.6%, U 29.0%
AUDI HENDERSON: M 35.1%, R 37.8%, U 27.1%
GMC PRESCOTT: M 33.9%, R 2.6%, U 63.5%
CADILLAC: M 32.8%, R 54.6%, U 12.6%
AUDI RENO: M 32.2%, R 29.7%, U 38.1%
VW ST GEORGE: M 27.5%, R 27.4%, U 45.1%
CDJR POST FALLS: M 26.5%, R 21.7%, U 51.8%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GMC Prescott can't classify 63.5% of its customer-pay labor from the description; Honda Henderson only 4.2%. Vague op code descriptions hide what the shop sells.Source: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527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368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209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770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605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862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665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226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067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029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799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27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3557"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196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0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590"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28827"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1631" y="2631546"/>
            <a:ext cx="1439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4434" y="2871442"/>
            <a:ext cx="21590"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49664" y="3111337"/>
            <a:ext cx="8636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5271" y="3351233"/>
            <a:ext cx="100753"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5271" y="3591128"/>
            <a:ext cx="10075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70501" y="3831024"/>
            <a:ext cx="16552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8534" y="4070920"/>
            <a:ext cx="23749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5354" y="4310815"/>
            <a:ext cx="2806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0961" y="4550711"/>
            <a:ext cx="29506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5814" y="4790606"/>
            <a:ext cx="41021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241" y="5030502"/>
            <a:ext cx="467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6651" y="5270397"/>
            <a:ext cx="48937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3094" y="5510293"/>
            <a:ext cx="58293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14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2" name="Shape 40"/>
          <p:cNvSpPr/>
          <p:nvPr/>
        </p:nvSpPr>
        <p:spPr>
          <a:xfrm>
            <a:off x="7775448" y="4625035"/>
            <a:ext cx="64008" cy="755294"/>
          </a:xfrm>
          <a:prstGeom prst="rect">
            <a:avLst/>
          </a:prstGeom>
          <a:solidFill>
            <a:srgbClr val="2587C5"/>
          </a:solidFill>
          <a:ln/>
        </p:spPr>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+8.8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Vague op code descriptions hide what the shop sells.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2026-10-28T15:31:23Z</dcterms:created>
  <dcterms:modified xsi:type="dcterms:W3CDTF">2026-10-28T15:31:23Z</dcterms:modified>
</cp:coreProperties>
</file>