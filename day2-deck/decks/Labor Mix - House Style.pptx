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>51.8</c:v>
                </c:pt>
                <c:pt idx="4">
                  <c:v>53.6</c:v>
                </c:pt>
                <c:pt idx="5">
                  <c:v>53.4</c:v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/>
                </c:pt>
                <c:pt idx="4">
                  <c:v/>
                </c:pt>
                <c:pt idx="5">
                  <c:v>53.4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51.8</c:v>
                </c:pt>
                <c:pt idx="4">
                  <c:v>53.6</c:v>
                </c:pt>
                <c:pt idx="5">
                  <c:v/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52.5</c:v>
                </c:pt>
                <c:pt idx="4">
                  <c:v>53.9</c:v>
                </c:pt>
                <c:pt idx="5">
                  <c:v/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  <c:pt idx="9">
                  <c:v>52.6</c:v>
                </c:pt>
                <c:pt idx="10">
                  <c:v>54.1</c:v>
                </c:pt>
                <c:pt idx="11">
                  <c:v>52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/>
                </c:pt>
                <c:pt idx="4">
                  <c:v/>
                </c:pt>
                <c:pt idx="5">
                  <c:v>53.3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>52.5</c:v>
                </c:pt>
                <c:pt idx="4">
                  <c:v>53.9</c:v>
                </c:pt>
                <c:pt idx="5">
                  <c:v>53.3</c:v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  <c:pt idx="9">
                  <c:v>52.6</c:v>
                </c:pt>
                <c:pt idx="10">
                  <c:v>54.1</c:v>
                </c:pt>
                <c:pt idx="11">
                  <c:v>52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Jan-Sep 2026 shares of labor sale; sorted by customer-pay share. Bar labels are percent of labor sale; every value is also listed here.
HONDA SPOKANE: CP 70.3%, W 8.0%, I 21.6%
TOYOTA SPOKANE: CP 65.3%, W 15.5%, I 19.2%
TOYOTA FLAGSTAFF: CP 65.1%, W 11.2%, I 23.7%
HONDA FLAGSTAFF: CP 65.1%, W 11.9%, I 23.0%
LR LV: CP 64.9%, W 25.2%, I 10.0%
VOLVO: CP 62.9%, W 23.1%, I 14.0%
LR RENO: CP 61.5%, W 17.2%, I 21.3%
TOYOTA PRESCOTT: CP 60.5%, W 13.8%, I 25.8%
AUDI RENO: CP 59.7%, W 29.1%, I 11.2%
CDJR POST FALLS: CP 59.5%, W 23.6%, I 16.9%
NISSAN: CP 59.4%, W 17.7%, I 22.9%
SUBARU ST GEORGE: CP 59.0%, W 23.5%, I 17.5%
SUBARU LV: CP 58.0%, W 24.2%, I 17.7%
HONDA NORTH: CP 57.9%, W 13.5%, I 28.6%
TOYOTA HENDERSON: CP 57.3%, W 14.8%, I 27.9%
MAZDA: CP 56.6%, W 12.4%, I 31.0%
HONDA HENDERSON: CP 56.6%, W 10.2%, I 33.3%
VW ST GEORGE: CP 55.8%, W 31.0%, I 13.2%
LR HENDERSON: CP 55.3%, W 20.2%, I 24.5%
LEXUS: CP 54.5%, W 13.1%, I 32.4%
SUBARU PRESCOTT: CP 50.8%, W 19.2%, I 30.0%
ACURA: CP 48.7%, W 15.5%, I 35.8%
GMC PRESCOTT: CP 48.0%, W 23.1%, I 29.0%
VW HENDERSON: CP 47.2%, W 40.1%, I 12.8%
CHEVY LV: CP 47.0%, W 28.1%, I 24.9%
CHEVY GMC BULLHEAD: CP 45.3%, W 14.3%, I 40.4%
LINCOLN: CP 44.6%, W 37.5%, I 17.8%
HYUNDAI ST GEORGE: CP 40.3%, W 34.9%, I 24.8%
KIA ST GEORGE: CP 40.0%, W 38.4%, I 21.7%
KIA LV: CP 39.2%, W 31.5%, I 29.2%
AUDI HENDERSON: CP 34.1%, W 52.2%, I 13.7%
HYUNDAI PRESCOTT: CP 28.5%, W 35.7%, I 35.8%
CADILLAC: CP 27.9%, W 51.3%, I 20.7%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Customer-pay labor sale / total labor sale (customer pay + warranty + internal).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Change in Customer Pay Share of Labor Sale,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
HONDA HENDERSON: M 71.2%, R 24.6%, U 4.2%
TOYOTA PRESCOTT: M 69.4%, R 25.1%, U 5.5%
TOYOTA HENDERSON: M 68.0%, R 24.7%, U 7.3%
LEXUS: M 67.1%, R 22.0%, U 10.9%
HONDA FLAGSTAFF: M 66.4%, R 25.5%, U 8.1%
HONDA NORTH: M 65.9%, R 29.5%, U 4.6%
MAZDA: M 63.9%, R 21.3%, U 14.8%
ACURA: M 62.0%, R 25.6%, U 12.4%
TOYOTA FLAGSTAFF: M 61.6%, R 13.1%, U 25.3%
TOYOTA SPOKANE: M 60.0%, R 26.4%, U 13.6%
KIA LV: M 59.7%, R 31.1%, U 9.2%
SUBARU PRESCOTT: M 59.2%, R 1.5%, U 39.3%
SUBARU ST GEORGE: M 59.0%, R 26.6%, U 14.4%
LR HENDERSON: M 58.8%, R 32.2%, U 9.0%
HYUNDAI ST GEORGE: M 58.3%, R 18.2%, U 23.5%
HYUNDAI PRESCOTT: M 56.8%, R 23.9%, U 19.3%
LR RENO: M 56.8%, R 23.9%, U 19.3%
SUBARU LV: M 55.1%, R 35.4%, U 9.5%
KIA ST GEORGE: M 55.1%, R 29.6%, U 15.3%
HONDA SPOKANE: M 48.6%, R 41.4%, U 10.0%
VOLVO: M 43.9%, R 41.7%, U 14.4%
LR LV: M 43.0%, R 30.0%, U 27.0%
LINCOLN: M 42.8%, R 28.9%, U 28.3%
VW HENDERSON: M 41.0%, R 51.3%, U 7.7%
CHEVY LV: M 40.6%, R 48.3%, U 11.1%
NISSAN: M 40.2%, R 41.9%, U 17.9%
CHEVY GMC BULLHEAD: M 38.4%, R 32.6%, U 29.0%
AUDI HENDERSON: M 35.1%, R 37.8%, U 27.1%
GMC PRESCOTT: M 33.9%, R 2.6%, U 63.5%
CADILLAC: M 32.8%, R 54.6%, U 12.6%
AUDI RENO: M 32.2%, R 29.7%, U 38.1%
VW ST GEORGE: M 27.5%, R 27.4%, U 45.1%
CDJR POST FALLS: M 26.5%, R 21.7%, U 51.8%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Share of CP labor sale whose op code description matches neither the maintenance nor the repair rules, Jan-Sep 2026. Lower is better: green at or below the group, red above.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Sale by Pay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8FBE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5" name="Shape 133"/>
          <p:cNvSpPr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1" name="Shape 159"/>
          <p:cNvSpPr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9" name="Shape 187"/>
          <p:cNvSpPr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 txBox="1"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Text 195"/>
          <p:cNvSpPr txBox="1"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Text 197"/>
          <p:cNvSpPr txBox="1"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03" name="Shape 201"/>
          <p:cNvSpPr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 txBox="1"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17" name="Shape 215"/>
          <p:cNvSpPr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9" name="Shape 217"/>
          <p:cNvSpPr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21" name="Shape 219"/>
          <p:cNvSpPr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23" name="Text 221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7" name="Text 225"/>
          <p:cNvSpPr txBox="1"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30" name="Text 228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33" name="Shape 231"/>
          <p:cNvSpPr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37" name="Text 235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0" name="Shape 238"/>
          <p:cNvSpPr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1" name="Text 239"/>
          <p:cNvSpPr txBox="1"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2" name="Shape 240"/>
          <p:cNvSpPr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3" name="Text 241"/>
          <p:cNvSpPr txBox="1"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4" name="Text 242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 txBox="1"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49" name="Shape 247"/>
          <p:cNvSpPr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 txBox="1"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251" name="Shape 2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is 52.5% of labor sale (52.8% in 2025), warranty 23.8%, internal 23.7%. Honda Spokane is most customer-pay at 70.3%.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0.3 pts to 52.5%, behind 2025 in five of nine months. Warranty labor rose 8.8%, internal rose 5.8%.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916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31080" y="1335024"/>
            <a:ext cx="321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+10.8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018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6874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6677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6427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579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+6.4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858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+5.4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16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5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841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315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819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75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92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740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+1.0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3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66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1272" y="2391651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18561" y="2631546"/>
            <a:ext cx="1746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2447" y="2871442"/>
            <a:ext cx="235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55154" y="3111337"/>
            <a:ext cx="808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39288" y="3351233"/>
            <a:ext cx="967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34185" y="3591128"/>
            <a:ext cx="10183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169807" y="3831024"/>
            <a:ext cx="16621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2399" y="4070920"/>
            <a:ext cx="2436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57340" y="4310815"/>
            <a:ext cx="27868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043690" y="4550711"/>
            <a:ext cx="2923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−4.1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3753" y="4790606"/>
            <a:ext cx="412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8856" y="5030502"/>
            <a:ext cx="46716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3092" y="5270397"/>
            <a:ext cx="4929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52645" y="5510293"/>
            <a:ext cx="5833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customer-pay share, led by Mazda at +10.8 pts to 56.6%. 14 declined; LR Reno fell most at −8.1 pts.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by Work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Repair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29391" y="1857717"/>
            <a:ext cx="1324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16773" y="3062573"/>
            <a:ext cx="145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4674779" y="4508401"/>
            <a:ext cx="4732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5" name="Shape 123"/>
          <p:cNvSpPr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55" name="Shape 153"/>
          <p:cNvSpPr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62" name="Shape 160"/>
          <p:cNvSpPr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67" name="Shape 165"/>
          <p:cNvSpPr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 txBox="1"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97" name="Shape 195"/>
          <p:cNvSpPr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 txBox="1"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09" name="Shape 207"/>
          <p:cNvSpPr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 txBox="1"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13" name="Text 211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16" name="Shape 214"/>
          <p:cNvSpPr/>
          <p:nvPr/>
        </p:nvSpPr>
        <p:spPr>
          <a:xfrm>
            <a:off x="9427053" y="4508401"/>
            <a:ext cx="8202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22" name="Shape 220"/>
          <p:cNvSpPr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27" name="Shape 225"/>
          <p:cNvSpPr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 txBox="1"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9" name="Shape 227"/>
          <p:cNvSpPr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34" name="Shape 232"/>
          <p:cNvSpPr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36" name="Shape 234"/>
          <p:cNvSpPr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 txBox="1"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 txBox="1"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is 54.3% of customer-pay labor, repair 30.5%, and 15.2% cannot be classified from its description (19.0% in 2025).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7985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12970" y="1335024"/>
            <a:ext cx="33337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118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254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65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944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2051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21578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23976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2450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2530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26640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2903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10.9%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2957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33033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3356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3623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942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40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4768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17.9%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260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23.5%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739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192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2194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27.1%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53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28.3%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7725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149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38.1%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1046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2014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379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6916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63.5%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40598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95639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 can't classify 63.5% of its customer-pay labor from the description; Honda Henderson only 4.2%. Vague op code descriptions hide what the shop sells.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2026-10-22T00:52:30Z</dcterms:created>
  <dcterms:modified xsi:type="dcterms:W3CDTF">2026-10-22T00:52:30Z</dcterms:modified>
</cp:coreProperties>
</file>