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52.3</c:v>
                </c:pt>
                <c:pt idx="1">
                  <c:v>51.7</c:v>
                </c:pt>
                <c:pt idx="2">
                  <c:v>53.3</c:v>
                </c:pt>
                <c:pt idx="3">
                  <c:v>51.8</c:v>
                </c:pt>
                <c:pt idx="4">
                  <c:v>53.6</c:v>
                </c:pt>
                <c:pt idx="5">
                  <c:v>53.4</c:v>
                </c:pt>
                <c:pt idx="6">
                  <c:v>52.4</c:v>
                </c:pt>
                <c:pt idx="7">
                  <c:v>53.1</c:v>
                </c:pt>
                <c:pt idx="8">
                  <c:v>50.7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52.3</c:v>
                </c:pt>
                <c:pt idx="1">
                  <c:v>51.7</c:v>
                </c:pt>
                <c:pt idx="2">
                  <c:v>53.3</c:v>
                </c:pt>
                <c:pt idx="3">
                  <c:v/>
                </c:pt>
                <c:pt idx="4">
                  <c:v/>
                </c:pt>
                <c:pt idx="5">
                  <c:v>53.4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51.8</c:v>
                </c:pt>
                <c:pt idx="4">
                  <c:v>53.6</c:v>
                </c:pt>
                <c:pt idx="5">
                  <c:v/>
                </c:pt>
                <c:pt idx="6">
                  <c:v>52.4</c:v>
                </c:pt>
                <c:pt idx="7">
                  <c:v>53.1</c:v>
                </c:pt>
                <c:pt idx="8">
                  <c:v>50.7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52.5</c:v>
                </c:pt>
                <c:pt idx="4">
                  <c:v>53.9</c:v>
                </c:pt>
                <c:pt idx="5">
                  <c:v/>
                </c:pt>
                <c:pt idx="6">
                  <c:v>52.8</c:v>
                </c:pt>
                <c:pt idx="7">
                  <c:v>53.4</c:v>
                </c:pt>
                <c:pt idx="8">
                  <c:v>53.4</c:v>
                </c:pt>
                <c:pt idx="9">
                  <c:v>52.6</c:v>
                </c:pt>
                <c:pt idx="10">
                  <c:v>54.1</c:v>
                </c:pt>
                <c:pt idx="11">
                  <c:v>52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51.3</c:v>
                </c:pt>
                <c:pt idx="1">
                  <c:v>51.4</c:v>
                </c:pt>
                <c:pt idx="2">
                  <c:v>52.8</c:v>
                </c:pt>
                <c:pt idx="3">
                  <c:v/>
                </c:pt>
                <c:pt idx="4">
                  <c:v/>
                </c:pt>
                <c:pt idx="5">
                  <c:v>53.3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51.3</c:v>
                </c:pt>
                <c:pt idx="1">
                  <c:v>51.4</c:v>
                </c:pt>
                <c:pt idx="2">
                  <c:v>52.8</c:v>
                </c:pt>
                <c:pt idx="3">
                  <c:v>52.5</c:v>
                </c:pt>
                <c:pt idx="4">
                  <c:v>53.9</c:v>
                </c:pt>
                <c:pt idx="5">
                  <c:v>53.3</c:v>
                </c:pt>
                <c:pt idx="6">
                  <c:v>52.8</c:v>
                </c:pt>
                <c:pt idx="7">
                  <c:v>53.4</c:v>
                </c:pt>
                <c:pt idx="8">
                  <c:v>53.4</c:v>
                </c:pt>
                <c:pt idx="9">
                  <c:v>52.6</c:v>
                </c:pt>
                <c:pt idx="10">
                  <c:v>54.1</c:v>
                </c:pt>
                <c:pt idx="11">
                  <c:v>52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Labor sale by pay type, Jan-Sep by close month. Same-store, INEOS excluded. GMC Prescott body shop labor types excluded. Jan-Sep 2026 shares of labor sale; sorted by customer-pay share. Bar labels are percent of labor sale; every value is also listed here.
HONDA SPOKANE: CP 70.3%, W 8.0%, I 21.6%
TOYOTA SPOKANE: CP 65.3%, W 15.5%, I 19.2%
TOYOTA FLAGSTAFF: CP 65.1%, W 11.2%, I 23.7%
HONDA FLAGSTAFF: CP 65.1%, W 11.9%, I 23.0%
LR LV: CP 64.9%, W 25.2%, I 10.0%
VOLVO: CP 62.9%, W 23.1%, I 14.0%
LR RENO: CP 61.5%, W 17.2%, I 21.3%
TOYOTA PRESCOTT: CP 60.5%, W 13.8%, I 25.8%
AUDI RENO: CP 59.7%, W 29.1%, I 11.2%
CDJR POST FALLS: CP 59.5%, W 23.6%, I 16.9%
NISSAN: CP 59.4%, W 17.7%, I 22.9%
SUBARU ST GEORGE: CP 59.0%, W 23.5%, I 17.5%
SUBARU LV: CP 58.0%, W 24.2%, I 17.7%
HONDA NORTH: CP 57.9%, W 13.5%, I 28.6%
TOYOTA HENDERSON: CP 57.3%, W 14.8%, I 27.9%
MAZDA: CP 56.6%, W 12.4%, I 31.0%
HONDA HENDERSON: CP 56.6%, W 10.2%, I 33.3%
VW ST GEORGE: CP 55.8%, W 31.0%, I 13.2%
LR HENDERSON: CP 55.3%, W 20.2%, I 24.5%
LEXUS: CP 54.5%, W 13.1%, I 32.4%
SUBARU PRESCOTT: CP 50.8%, W 19.2%, I 30.0%
ACURA: CP 48.7%, W 15.5%, I 35.8%
GMC PRESCOTT: CP 48.0%, W 23.1%, I 29.0%
VW HENDERSON: CP 47.2%, W 40.1%, I 12.8%
CHEVY LV: CP 47.0%, W 28.1%, I 24.9%
CHEVY GMC BULLHEAD: CP 45.3%, W 14.3%, I 40.4%
LINCOLN: CP 44.6%, W 37.5%, I 17.8%
HYUNDAI ST GEORGE: CP 40.3%, W 34.9%, I 24.8%
KIA ST GEORGE: CP 40.0%, W 38.4%, I 21.7%
KIA LV: CP 39.2%, W 31.5%, I 29.2%
AUDI HENDERSON: CP 34.1%, W 52.2%, I 13.7%
HYUNDAI PRESCOTT: CP 28.5%, W 35.7%, I 35.8%
CADILLAC: CP 27.9%, W 51.3%, I 20.7%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Labor sale by pay type, Jan-Sep by close month. Same-store, INEOS excluded. GMC Prescott body shop labor types excluded. Customer-pay labor sale / total labor sale (customer pay + warranty + internal).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Labor sale by pay type, Jan-Sep by close month. Same-store, INEOS excluded. GMC Prescott body shop labor types excluded. Change in Customer Pay Share of Labor Sale,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Labor sale by pay type, Jan-Sep by close month. Same-store, INEOS excluded. GMC Prescott body shop labor types excluded. Customer-pay labor sale / total labor sale (customer pay + warranty + internal). Top and bottom five stores by change in Customer Pay Share of Labor Sale,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Customer-pay labor sale by op code description, Jan-Sep. Same-store, INEOS excluded. GMC Prescott body shop labor types excluded. Maintenance = descriptions naming oil and filter, rotation, brake pads, rotors and brake service, scheduled/interval/mileage service, OEM care plans, alignment, balance, fluid exchanges and flushes, fuel induction, transmission/differential/transfer case/coolant service, spark plugs, filters, wipers, multi-point inspection, timing belt, BG and refresh services, smog/emissions inspection, fluid services, tune-ups, tire promotions (buy 3 get 1), CVT, EGR, 4x4, AWD, intermediate and transmission services, and any coolant replacement or change. Repair = repair, replace, R&amp;R, diagnosis, leak, noise, inoperative, check engine, warning light, struts, shocks, alternator, starter, water pump, reseal, gasket, calibration, overhaul, engine light, drive belt, belt and hose kit. Descriptions that are only a placeholder (exactly MISC, DEFAULT, STANDARD, GENERAL, GENERAL REPAIR, CUSTOMER STATES, GENERAL CONCERN, ADD DESCRIPTION, TELL US MORE and similar) are left unclassified; a placeholder followed by real detail is classified by that detail.
HONDA HENDERSON: M 71.2%, R 24.6%, U 4.2%
TOYOTA PRESCOTT: M 69.4%, R 25.1%, U 5.5%
TOYOTA HENDERSON: M 68.0%, R 24.7%, U 7.3%
LEXUS: M 67.1%, R 22.0%, U 10.9%
HONDA FLAGSTAFF: M 66.4%, R 25.5%, U 8.1%
HONDA NORTH: M 65.9%, R 29.5%, U 4.6%
MAZDA: M 63.9%, R 21.3%, U 14.8%
ACURA: M 62.0%, R 25.6%, U 12.4%
TOYOTA FLAGSTAFF: M 61.6%, R 13.1%, U 25.3%
TOYOTA SPOKANE: M 60.0%, R 26.4%, U 13.6%
KIA LV: M 59.7%, R 31.1%, U 9.2%
SUBARU PRESCOTT: M 59.2%, R 1.5%, U 39.3%
SUBARU ST GEORGE: M 59.0%, R 26.6%, U 14.4%
LR HENDERSON: M 58.8%, R 32.2%, U 9.0%
HYUNDAI ST GEORGE: M 58.3%, R 18.2%, U 23.5%
HYUNDAI PRESCOTT: M 56.8%, R 23.9%, U 19.3%
LR RENO: M 56.8%, R 23.9%, U 19.3%
SUBARU LV: M 55.1%, R 35.4%, U 9.5%
KIA ST GEORGE: M 55.1%, R 29.6%, U 15.3%
HONDA SPOKANE: M 48.6%, R 41.4%, U 10.0%
VOLVO: M 43.9%, R 41.7%, U 14.4%
LR LV: M 43.0%, R 30.0%, U 27.0%
LINCOLN: M 42.8%, R 28.9%, U 28.3%
VW HENDERSON: M 41.0%, R 51.3%, U 7.7%
CHEVY LV: M 40.6%, R 48.3%, U 11.1%
NISSAN: M 40.2%, R 41.9%, U 17.9%
CHEVY GMC BULLHEAD: M 38.4%, R 32.6%, U 29.0%
AUDI HENDERSON: M 35.1%, R 37.8%, U 27.1%
GMC PRESCOTT: M 33.9%, R 2.6%, U 63.5%
CADILLAC: M 32.8%, R 54.6%, U 12.6%
AUDI RENO: M 32.2%, R 29.7%, U 38.1%
VW ST GEORGE: M 27.5%, R 27.4%, U 45.1%
CDJR POST FALLS: M 26.5%, R 21.7%, U 51.8%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Customer-pay labor sale by op code description, Jan-Sep. Same-store, INEOS excluded. GMC Prescott body shop labor types excluded. Share of CP labor sale whose op code description matches neither the maintenance nor the repair rules, Jan-Sep 2026. Lower is better: green at or below the group, red above. Maintenance = descriptions naming oil and filter, rotation, brake pads, rotors and brake service, scheduled/interval/mileage service, OEM care plans, alignment, balance, fluid exchanges and flushes, fuel induction, transmission/differential/transfer case/coolant service, spark plugs, filters, wipers, multi-point inspection, timing belt, BG and refresh services, smog/emissions inspection, fluid services, tune-ups, tire promotions (buy 3 get 1), CVT, EGR, 4x4, AWD, intermediate and transmission services, and any coolant replacement or change. Repair = repair, replace, R&amp;R, diagnosis, leak, noise, inoperative, check engine, warning light, struts, shocks, alternator, starter, water pump, reseal, gasket, calibration, overhaul, engine light, drive belt, belt and hose kit. Descriptions that are only a placeholder (exactly MISC, DEFAULT, STANDARD, GENERAL, GENERAL REPAIR, CUSTOMER STATES, GENERAL CONCERN, ADD DESCRIPTION, TELL US MORE and similar) are left unclassified; a placeholder followed by real detail is classified by that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Work type   ·   Op code descriptions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Sale by Pay Type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201168" cy="201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24328" y="1371600"/>
            <a:ext cx="201168" cy="201168"/>
          </a:xfrm>
          <a:prstGeom prst="rect">
            <a:avLst/>
          </a:prstGeom>
          <a:solidFill>
            <a:srgbClr val="8FBEE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9864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90288" y="1371600"/>
            <a:ext cx="201168" cy="20116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75120" y="1298448"/>
            <a:ext cx="4855464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2984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26680" y="1344168"/>
            <a:ext cx="1948645" cy="29260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26680" y="1344168"/>
            <a:ext cx="1948645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75325" y="1344168"/>
            <a:ext cx="882937" cy="29260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75325" y="1344168"/>
            <a:ext cx="882937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558262" y="1344168"/>
            <a:ext cx="880882" cy="29260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58262" y="1344168"/>
            <a:ext cx="880882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82880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807208" y="1857717"/>
            <a:ext cx="221921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807208" y="1857717"/>
            <a:ext cx="221921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6426" y="1857717"/>
            <a:ext cx="252542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6426" y="1857717"/>
            <a:ext cx="25254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278968" y="1857717"/>
            <a:ext cx="68292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78968" y="1857717"/>
            <a:ext cx="68292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06977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807208" y="2098688"/>
            <a:ext cx="206084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07208" y="2098688"/>
            <a:ext cx="206084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868048" y="2098688"/>
            <a:ext cx="48957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68048" y="2098688"/>
            <a:ext cx="48957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357621" y="2098688"/>
            <a:ext cx="60426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7621" y="2098688"/>
            <a:ext cx="60426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31074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807208" y="2339659"/>
            <a:ext cx="205476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07208" y="2339659"/>
            <a:ext cx="205476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861970" y="2339659"/>
            <a:ext cx="352121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61970" y="2339659"/>
            <a:ext cx="35212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14091" y="2339659"/>
            <a:ext cx="74779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214091" y="2339659"/>
            <a:ext cx="74779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255171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807208" y="2580630"/>
            <a:ext cx="205316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807208" y="2580630"/>
            <a:ext cx="205316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860369" y="2580630"/>
            <a:ext cx="37587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60369" y="2580630"/>
            <a:ext cx="37587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236245" y="2580630"/>
            <a:ext cx="72564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236245" y="2580630"/>
            <a:ext cx="72564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2792685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807208" y="2821602"/>
            <a:ext cx="204684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07208" y="2821602"/>
            <a:ext cx="204684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854056" y="2821602"/>
            <a:ext cx="793865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854056" y="2821602"/>
            <a:ext cx="79386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647921" y="2821602"/>
            <a:ext cx="31396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647921" y="2821602"/>
            <a:ext cx="31396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0336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07208" y="3062573"/>
            <a:ext cx="198515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807208" y="3062573"/>
            <a:ext cx="198515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4792363" y="3062573"/>
            <a:ext cx="72918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792363" y="3062573"/>
            <a:ext cx="72918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5521542" y="3062573"/>
            <a:ext cx="44034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521542" y="3062573"/>
            <a:ext cx="44034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27462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07208" y="3303544"/>
            <a:ext cx="194019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807208" y="3303544"/>
            <a:ext cx="194019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4747407" y="3303544"/>
            <a:ext cx="54299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747407" y="3303544"/>
            <a:ext cx="54299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5290397" y="3303544"/>
            <a:ext cx="67149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290397" y="3303544"/>
            <a:ext cx="67149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658368" y="351559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2807208" y="3544516"/>
            <a:ext cx="190739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2807208" y="3544516"/>
            <a:ext cx="190739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4714600" y="3544516"/>
            <a:ext cx="434501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714600" y="3544516"/>
            <a:ext cx="43450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149102" y="3544516"/>
            <a:ext cx="81278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149102" y="3544516"/>
            <a:ext cx="81278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375657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2807208" y="3785487"/>
            <a:ext cx="188301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2807208" y="3785487"/>
            <a:ext cx="188301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4690219" y="3785487"/>
            <a:ext cx="918142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690219" y="3785487"/>
            <a:ext cx="91814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608361" y="3785487"/>
            <a:ext cx="35352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5608361" y="3785487"/>
            <a:ext cx="35352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58368" y="3997542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2807208" y="4026458"/>
            <a:ext cx="187603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807208" y="4026458"/>
            <a:ext cx="187603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4683240" y="4026458"/>
            <a:ext cx="74465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683240" y="4026458"/>
            <a:ext cx="74465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5427896" y="4026458"/>
            <a:ext cx="533992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5427896" y="4026458"/>
            <a:ext cx="53399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23851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807208" y="4267429"/>
            <a:ext cx="187440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2807208" y="4267429"/>
            <a:ext cx="187440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4681613" y="4267429"/>
            <a:ext cx="55816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4681613" y="4267429"/>
            <a:ext cx="55816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239773" y="4267429"/>
            <a:ext cx="722115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39773" y="4267429"/>
            <a:ext cx="72211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58368" y="447948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2807208" y="4508401"/>
            <a:ext cx="186281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2807208" y="4508401"/>
            <a:ext cx="186281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4670022" y="4508401"/>
            <a:ext cx="740644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4670022" y="4508401"/>
            <a:ext cx="74064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5410666" y="4508401"/>
            <a:ext cx="551222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5410666" y="4508401"/>
            <a:ext cx="55122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58368" y="47204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2807208" y="4749372"/>
            <a:ext cx="183111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2807208" y="4749372"/>
            <a:ext cx="183111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4638327" y="4749372"/>
            <a:ext cx="764127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4638327" y="4749372"/>
            <a:ext cx="76412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5402455" y="4749372"/>
            <a:ext cx="55943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5402455" y="4749372"/>
            <a:ext cx="55943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658368" y="4961427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2807208" y="4990343"/>
            <a:ext cx="1825486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2807208" y="4990343"/>
            <a:ext cx="182548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4632694" y="4990343"/>
            <a:ext cx="426634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632694" y="4990343"/>
            <a:ext cx="42663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5059328" y="4990343"/>
            <a:ext cx="90256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5059328" y="4990343"/>
            <a:ext cx="90256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658368" y="520239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2807208" y="5231315"/>
            <a:ext cx="180755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2807208" y="5231315"/>
            <a:ext cx="180755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4614763" y="5231315"/>
            <a:ext cx="46681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4614763" y="5231315"/>
            <a:ext cx="46681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5081573" y="5231315"/>
            <a:ext cx="880315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5081573" y="5231315"/>
            <a:ext cx="88031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58368" y="544336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2807208" y="5472286"/>
            <a:ext cx="178494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2807208" y="5472286"/>
            <a:ext cx="178494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4592156" y="5472286"/>
            <a:ext cx="39037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92156" y="5472286"/>
            <a:ext cx="39037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4982532" y="5472286"/>
            <a:ext cx="97935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982532" y="5472286"/>
            <a:ext cx="97935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58368" y="568434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2807208" y="5713257"/>
            <a:ext cx="178468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2807208" y="5713257"/>
            <a:ext cx="178468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35" name="Shape 133"/>
          <p:cNvSpPr/>
          <p:nvPr/>
        </p:nvSpPr>
        <p:spPr>
          <a:xfrm>
            <a:off x="4591895" y="5713257"/>
            <a:ext cx="32037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4591895" y="5713257"/>
            <a:ext cx="32037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4912268" y="5713257"/>
            <a:ext cx="104962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4912268" y="5713257"/>
            <a:ext cx="104962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182880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357616" y="1857717"/>
            <a:ext cx="175918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8357616" y="1857717"/>
            <a:ext cx="175918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56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10116799" y="1857717"/>
            <a:ext cx="97864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10116799" y="1857717"/>
            <a:ext cx="97864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11095442" y="1857717"/>
            <a:ext cx="41685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11095442" y="1857717"/>
            <a:ext cx="41685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206977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357616" y="2098688"/>
            <a:ext cx="174370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 txBox="1"/>
          <p:nvPr/>
        </p:nvSpPr>
        <p:spPr>
          <a:xfrm>
            <a:off x="8357616" y="2098688"/>
            <a:ext cx="174370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10101325" y="2098688"/>
            <a:ext cx="63833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10101325" y="2098688"/>
            <a:ext cx="63833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10739655" y="2098688"/>
            <a:ext cx="77264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10739655" y="2098688"/>
            <a:ext cx="77264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6208776" y="231074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357616" y="2339659"/>
            <a:ext cx="171990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8357616" y="2339659"/>
            <a:ext cx="171990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56" name="Shape 154"/>
          <p:cNvSpPr/>
          <p:nvPr/>
        </p:nvSpPr>
        <p:spPr>
          <a:xfrm>
            <a:off x="10077524" y="2339659"/>
            <a:ext cx="412555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077524" y="2339659"/>
            <a:ext cx="41255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10490079" y="2339659"/>
            <a:ext cx="102221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10490079" y="2339659"/>
            <a:ext cx="102221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255171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61" name="Shape 159"/>
          <p:cNvSpPr/>
          <p:nvPr/>
        </p:nvSpPr>
        <p:spPr>
          <a:xfrm>
            <a:off x="8357616" y="2580630"/>
            <a:ext cx="160104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8357616" y="2580630"/>
            <a:ext cx="160104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9958657" y="2580630"/>
            <a:ext cx="606875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9958657" y="2580630"/>
            <a:ext cx="60687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10565532" y="2580630"/>
            <a:ext cx="94676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10565532" y="2580630"/>
            <a:ext cx="94676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2792685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357616" y="2821602"/>
            <a:ext cx="153622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8357616" y="2821602"/>
            <a:ext cx="153622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9893838" y="2821602"/>
            <a:ext cx="48815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9893838" y="2821602"/>
            <a:ext cx="48815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2" name="Shape 170"/>
          <p:cNvSpPr/>
          <p:nvPr/>
        </p:nvSpPr>
        <p:spPr>
          <a:xfrm>
            <a:off x="10381990" y="2821602"/>
            <a:ext cx="113030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10381990" y="2821602"/>
            <a:ext cx="113030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0336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8357616" y="3062573"/>
            <a:ext cx="151363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8357616" y="3062573"/>
            <a:ext cx="151363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9871254" y="3062573"/>
            <a:ext cx="727538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9871254" y="3062573"/>
            <a:ext cx="72753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179" name="Shape 177"/>
          <p:cNvSpPr/>
          <p:nvPr/>
        </p:nvSpPr>
        <p:spPr>
          <a:xfrm>
            <a:off x="10598793" y="3062573"/>
            <a:ext cx="91350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10598793" y="3062573"/>
            <a:ext cx="91350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6208776" y="327462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82" name="Shape 180"/>
          <p:cNvSpPr/>
          <p:nvPr/>
        </p:nvSpPr>
        <p:spPr>
          <a:xfrm>
            <a:off x="8357616" y="3303544"/>
            <a:ext cx="148770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3" name="Text 181"/>
          <p:cNvSpPr txBox="1"/>
          <p:nvPr/>
        </p:nvSpPr>
        <p:spPr>
          <a:xfrm>
            <a:off x="8357616" y="3303544"/>
            <a:ext cx="148770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9845325" y="3303544"/>
            <a:ext cx="1263575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845325" y="3303544"/>
            <a:ext cx="126357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186" name="Shape 184"/>
          <p:cNvSpPr/>
          <p:nvPr/>
        </p:nvSpPr>
        <p:spPr>
          <a:xfrm>
            <a:off x="11108900" y="3303544"/>
            <a:ext cx="40339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11108900" y="3303544"/>
            <a:ext cx="40339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6208776" y="351559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9" name="Shape 187"/>
          <p:cNvSpPr/>
          <p:nvPr/>
        </p:nvSpPr>
        <p:spPr>
          <a:xfrm>
            <a:off x="8357616" y="3544516"/>
            <a:ext cx="1483116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0" name="Text 188"/>
          <p:cNvSpPr txBox="1"/>
          <p:nvPr/>
        </p:nvSpPr>
        <p:spPr>
          <a:xfrm>
            <a:off x="8357616" y="3544516"/>
            <a:ext cx="148311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</a:t>
            </a:r>
            <a:endParaRPr lang="en-US" sz="1300" dirty="0"/>
          </a:p>
        </p:txBody>
      </p:sp>
      <p:sp>
        <p:nvSpPr>
          <p:cNvPr id="191" name="Shape 189"/>
          <p:cNvSpPr/>
          <p:nvPr/>
        </p:nvSpPr>
        <p:spPr>
          <a:xfrm>
            <a:off x="9840732" y="3544516"/>
            <a:ext cx="88573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 txBox="1"/>
          <p:nvPr/>
        </p:nvSpPr>
        <p:spPr>
          <a:xfrm>
            <a:off x="9840732" y="3544516"/>
            <a:ext cx="88573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193" name="Shape 191"/>
          <p:cNvSpPr/>
          <p:nvPr/>
        </p:nvSpPr>
        <p:spPr>
          <a:xfrm>
            <a:off x="10726468" y="3544516"/>
            <a:ext cx="78582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 txBox="1"/>
          <p:nvPr/>
        </p:nvSpPr>
        <p:spPr>
          <a:xfrm>
            <a:off x="10726468" y="3544516"/>
            <a:ext cx="78582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6208776" y="375657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8357616" y="3785487"/>
            <a:ext cx="142990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7" name="Text 195"/>
          <p:cNvSpPr txBox="1"/>
          <p:nvPr/>
        </p:nvSpPr>
        <p:spPr>
          <a:xfrm>
            <a:off x="8357616" y="3785487"/>
            <a:ext cx="142990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9787516" y="3785487"/>
            <a:ext cx="45029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9" name="Text 197"/>
          <p:cNvSpPr txBox="1"/>
          <p:nvPr/>
        </p:nvSpPr>
        <p:spPr>
          <a:xfrm>
            <a:off x="9787516" y="3785487"/>
            <a:ext cx="45029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10237812" y="3785487"/>
            <a:ext cx="127448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1" name="Text 199"/>
          <p:cNvSpPr txBox="1"/>
          <p:nvPr/>
        </p:nvSpPr>
        <p:spPr>
          <a:xfrm>
            <a:off x="10237812" y="3785487"/>
            <a:ext cx="127448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6208776" y="3997542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03" name="Shape 201"/>
          <p:cNvSpPr/>
          <p:nvPr/>
        </p:nvSpPr>
        <p:spPr>
          <a:xfrm>
            <a:off x="8357616" y="4026458"/>
            <a:ext cx="140766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4" name="Text 202"/>
          <p:cNvSpPr txBox="1"/>
          <p:nvPr/>
        </p:nvSpPr>
        <p:spPr>
          <a:xfrm>
            <a:off x="8357616" y="4026458"/>
            <a:ext cx="140766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9765279" y="4026458"/>
            <a:ext cx="118413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6" name="Text 204"/>
          <p:cNvSpPr txBox="1"/>
          <p:nvPr/>
        </p:nvSpPr>
        <p:spPr>
          <a:xfrm>
            <a:off x="9765279" y="4026458"/>
            <a:ext cx="118413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07" name="Shape 205"/>
          <p:cNvSpPr/>
          <p:nvPr/>
        </p:nvSpPr>
        <p:spPr>
          <a:xfrm>
            <a:off x="10949412" y="4026458"/>
            <a:ext cx="56288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8" name="Text 206"/>
          <p:cNvSpPr txBox="1"/>
          <p:nvPr/>
        </p:nvSpPr>
        <p:spPr>
          <a:xfrm>
            <a:off x="10949412" y="4026458"/>
            <a:ext cx="56288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6208776" y="423851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8357616" y="4267429"/>
            <a:ext cx="127231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1" name="Text 209"/>
          <p:cNvSpPr txBox="1"/>
          <p:nvPr/>
        </p:nvSpPr>
        <p:spPr>
          <a:xfrm>
            <a:off x="8357616" y="4267429"/>
            <a:ext cx="127231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212" name="Shape 210"/>
          <p:cNvSpPr/>
          <p:nvPr/>
        </p:nvSpPr>
        <p:spPr>
          <a:xfrm>
            <a:off x="9629931" y="4267429"/>
            <a:ext cx="1101342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3" name="Text 211"/>
          <p:cNvSpPr txBox="1"/>
          <p:nvPr/>
        </p:nvSpPr>
        <p:spPr>
          <a:xfrm>
            <a:off x="9629931" y="4267429"/>
            <a:ext cx="110134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214" name="Shape 212"/>
          <p:cNvSpPr/>
          <p:nvPr/>
        </p:nvSpPr>
        <p:spPr>
          <a:xfrm>
            <a:off x="10731273" y="4267429"/>
            <a:ext cx="78102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 txBox="1"/>
          <p:nvPr/>
        </p:nvSpPr>
        <p:spPr>
          <a:xfrm>
            <a:off x="10731273" y="4267429"/>
            <a:ext cx="78102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216" name="Text 214"/>
          <p:cNvSpPr txBox="1"/>
          <p:nvPr/>
        </p:nvSpPr>
        <p:spPr>
          <a:xfrm>
            <a:off x="6208776" y="447948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17" name="Shape 215"/>
          <p:cNvSpPr/>
          <p:nvPr/>
        </p:nvSpPr>
        <p:spPr>
          <a:xfrm>
            <a:off x="8357616" y="4508401"/>
            <a:ext cx="126084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8357616" y="4508401"/>
            <a:ext cx="126084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219" name="Shape 217"/>
          <p:cNvSpPr/>
          <p:nvPr/>
        </p:nvSpPr>
        <p:spPr>
          <a:xfrm>
            <a:off x="9618457" y="4508401"/>
            <a:ext cx="121000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9618457" y="4508401"/>
            <a:ext cx="121000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21" name="Shape 219"/>
          <p:cNvSpPr/>
          <p:nvPr/>
        </p:nvSpPr>
        <p:spPr>
          <a:xfrm>
            <a:off x="10828463" y="4508401"/>
            <a:ext cx="68383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10828463" y="4508401"/>
            <a:ext cx="68383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223" name="Text 221"/>
          <p:cNvSpPr txBox="1"/>
          <p:nvPr/>
        </p:nvSpPr>
        <p:spPr>
          <a:xfrm>
            <a:off x="6208776" y="47204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224" name="Shape 222"/>
          <p:cNvSpPr/>
          <p:nvPr/>
        </p:nvSpPr>
        <p:spPr>
          <a:xfrm>
            <a:off x="8357616" y="4749372"/>
            <a:ext cx="123732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5" name="Text 223"/>
          <p:cNvSpPr txBox="1"/>
          <p:nvPr/>
        </p:nvSpPr>
        <p:spPr>
          <a:xfrm>
            <a:off x="8357616" y="4749372"/>
            <a:ext cx="123732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226" name="Shape 224"/>
          <p:cNvSpPr/>
          <p:nvPr/>
        </p:nvSpPr>
        <p:spPr>
          <a:xfrm>
            <a:off x="9594940" y="4749372"/>
            <a:ext cx="99508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7" name="Text 225"/>
          <p:cNvSpPr txBox="1"/>
          <p:nvPr/>
        </p:nvSpPr>
        <p:spPr>
          <a:xfrm>
            <a:off x="9594940" y="4749372"/>
            <a:ext cx="99508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10590020" y="4749372"/>
            <a:ext cx="92227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9" name="Text 227"/>
          <p:cNvSpPr txBox="1"/>
          <p:nvPr/>
        </p:nvSpPr>
        <p:spPr>
          <a:xfrm>
            <a:off x="10590020" y="4749372"/>
            <a:ext cx="92227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30" name="Text 228"/>
          <p:cNvSpPr txBox="1"/>
          <p:nvPr/>
        </p:nvSpPr>
        <p:spPr>
          <a:xfrm>
            <a:off x="6208776" y="4961427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31" name="Shape 229"/>
          <p:cNvSpPr/>
          <p:nvPr/>
        </p:nvSpPr>
        <p:spPr>
          <a:xfrm>
            <a:off x="8357616" y="4990343"/>
            <a:ext cx="107536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2" name="Text 230"/>
          <p:cNvSpPr txBox="1"/>
          <p:nvPr/>
        </p:nvSpPr>
        <p:spPr>
          <a:xfrm>
            <a:off x="8357616" y="4990343"/>
            <a:ext cx="107536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1300" dirty="0"/>
          </a:p>
        </p:txBody>
      </p:sp>
      <p:sp>
        <p:nvSpPr>
          <p:cNvPr id="233" name="Shape 231"/>
          <p:cNvSpPr/>
          <p:nvPr/>
        </p:nvSpPr>
        <p:spPr>
          <a:xfrm>
            <a:off x="9432984" y="4990343"/>
            <a:ext cx="1647182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4" name="Text 232"/>
          <p:cNvSpPr txBox="1"/>
          <p:nvPr/>
        </p:nvSpPr>
        <p:spPr>
          <a:xfrm>
            <a:off x="9432984" y="4990343"/>
            <a:ext cx="164718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235" name="Shape 233"/>
          <p:cNvSpPr/>
          <p:nvPr/>
        </p:nvSpPr>
        <p:spPr>
          <a:xfrm>
            <a:off x="11080165" y="4990343"/>
            <a:ext cx="43213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11080165" y="4990343"/>
            <a:ext cx="43213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237" name="Text 235"/>
          <p:cNvSpPr txBox="1"/>
          <p:nvPr/>
        </p:nvSpPr>
        <p:spPr>
          <a:xfrm>
            <a:off x="6208776" y="520239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38" name="Shape 236"/>
          <p:cNvSpPr/>
          <p:nvPr/>
        </p:nvSpPr>
        <p:spPr>
          <a:xfrm>
            <a:off x="8357616" y="5231315"/>
            <a:ext cx="898846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8357616" y="5231315"/>
            <a:ext cx="89884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240" name="Shape 238"/>
          <p:cNvSpPr/>
          <p:nvPr/>
        </p:nvSpPr>
        <p:spPr>
          <a:xfrm>
            <a:off x="9256462" y="5231315"/>
            <a:ext cx="112658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1" name="Text 239"/>
          <p:cNvSpPr txBox="1"/>
          <p:nvPr/>
        </p:nvSpPr>
        <p:spPr>
          <a:xfrm>
            <a:off x="9256462" y="5231315"/>
            <a:ext cx="112658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300" dirty="0"/>
          </a:p>
        </p:txBody>
      </p:sp>
      <p:sp>
        <p:nvSpPr>
          <p:cNvPr id="242" name="Shape 240"/>
          <p:cNvSpPr/>
          <p:nvPr/>
        </p:nvSpPr>
        <p:spPr>
          <a:xfrm>
            <a:off x="10383048" y="5231315"/>
            <a:ext cx="112924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3" name="Text 241"/>
          <p:cNvSpPr txBox="1"/>
          <p:nvPr/>
        </p:nvSpPr>
        <p:spPr>
          <a:xfrm>
            <a:off x="10383048" y="5231315"/>
            <a:ext cx="112924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300" dirty="0"/>
          </a:p>
        </p:txBody>
      </p:sp>
      <p:sp>
        <p:nvSpPr>
          <p:cNvPr id="244" name="Text 242"/>
          <p:cNvSpPr txBox="1"/>
          <p:nvPr/>
        </p:nvSpPr>
        <p:spPr>
          <a:xfrm>
            <a:off x="6208776" y="544336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45" name="Shape 243"/>
          <p:cNvSpPr/>
          <p:nvPr/>
        </p:nvSpPr>
        <p:spPr>
          <a:xfrm>
            <a:off x="8357616" y="5472286"/>
            <a:ext cx="88067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6" name="Text 244"/>
          <p:cNvSpPr txBox="1"/>
          <p:nvPr/>
        </p:nvSpPr>
        <p:spPr>
          <a:xfrm>
            <a:off x="8357616" y="5472286"/>
            <a:ext cx="88067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247" name="Shape 245"/>
          <p:cNvSpPr/>
          <p:nvPr/>
        </p:nvSpPr>
        <p:spPr>
          <a:xfrm>
            <a:off x="9238289" y="5472286"/>
            <a:ext cx="1619914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8" name="Text 246"/>
          <p:cNvSpPr txBox="1"/>
          <p:nvPr/>
        </p:nvSpPr>
        <p:spPr>
          <a:xfrm>
            <a:off x="9238289" y="5472286"/>
            <a:ext cx="161991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49" name="Shape 247"/>
          <p:cNvSpPr/>
          <p:nvPr/>
        </p:nvSpPr>
        <p:spPr>
          <a:xfrm>
            <a:off x="10858202" y="5472286"/>
            <a:ext cx="65409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0" name="Text 248"/>
          <p:cNvSpPr txBox="1"/>
          <p:nvPr/>
        </p:nvSpPr>
        <p:spPr>
          <a:xfrm>
            <a:off x="10858202" y="5472286"/>
            <a:ext cx="65409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300" dirty="0"/>
          </a:p>
        </p:txBody>
      </p:sp>
      <p:sp>
        <p:nvSpPr>
          <p:cNvPr id="251" name="Shape 2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52" name="Text 2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is 52.5% of labor sale (52.8% in 2025), warranty 23.8%, internal 23.7%. Honda Spokane is most customer-pay at 70.3%.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Share of Labor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52.8%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Share of Labor Sale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 0.3 pts to 52.5%, behind 2025 in five of nine months. Warranty labor rose 8.8%, internal rose 5.8%.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Share of Labor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916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SHARE OF LABOR SALE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31080" y="1335024"/>
            <a:ext cx="321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+10.8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0182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6874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+9.5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66778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+9.3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6427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579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+6.4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858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+5.4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116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+4.3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056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841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315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819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753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920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740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+1.0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543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66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1272" y="2391651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18561" y="2631546"/>
            <a:ext cx="1746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12447" y="2871442"/>
            <a:ext cx="2357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55154" y="3111337"/>
            <a:ext cx="808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39288" y="3351233"/>
            <a:ext cx="9673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−1.3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34185" y="3591128"/>
            <a:ext cx="10183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169807" y="3831024"/>
            <a:ext cx="16621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92399" y="4070920"/>
            <a:ext cx="24362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057340" y="4310815"/>
            <a:ext cx="27868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043690" y="4550711"/>
            <a:ext cx="2923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−4.1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923753" y="4790606"/>
            <a:ext cx="4122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68856" y="5030502"/>
            <a:ext cx="46716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43092" y="5270397"/>
            <a:ext cx="49293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752645" y="5510293"/>
            <a:ext cx="58337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−8.1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of 33 stores raised customer-pay share, led by Mazda at +10.8 pts to 56.6%. 14 declined; LR Reno fell most at −8.1 pts.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Share of Labor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52.8% → 52.5% (−0.3 pts). Ranked by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56.6%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+10.8 pts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47.2%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 pts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48.7%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+9.5 pts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59.0%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+9.3 pts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50.8%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69.6%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61.5%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−8.1 pts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28.5%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 pts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63.8%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57.3%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 pts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39.8%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34.1%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27.9%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−4.1 pts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Mazda, VW Henderson and Acura what changed. Ask LR Reno, Hyundai Prescott and Toyota Henderson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by Work Type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201168" cy="201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24328" y="1371600"/>
            <a:ext cx="201168" cy="20116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9864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Repair 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90288" y="1371600"/>
            <a:ext cx="201168" cy="20116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Unclassified 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75120" y="1298448"/>
            <a:ext cx="4855464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2984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26680" y="1344168"/>
            <a:ext cx="2015868" cy="29260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26680" y="1344168"/>
            <a:ext cx="201586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42548" y="1344168"/>
            <a:ext cx="1132302" cy="29260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42548" y="1344168"/>
            <a:ext cx="1132302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874849" y="1344168"/>
            <a:ext cx="564295" cy="29260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874849" y="1344168"/>
            <a:ext cx="564295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82880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807208" y="1857717"/>
            <a:ext cx="224613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807208" y="1857717"/>
            <a:ext cx="224613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53340" y="1857717"/>
            <a:ext cx="776051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53340" y="1857717"/>
            <a:ext cx="77605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829391" y="1857717"/>
            <a:ext cx="13249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206977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807208" y="2098688"/>
            <a:ext cx="218934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07208" y="2098688"/>
            <a:ext cx="218934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996556" y="2098688"/>
            <a:ext cx="79182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996556" y="2098688"/>
            <a:ext cx="79182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788381" y="2098688"/>
            <a:ext cx="17350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788381" y="2098688"/>
            <a:ext cx="17350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231074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807208" y="2339659"/>
            <a:ext cx="214518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807208" y="2339659"/>
            <a:ext cx="214518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952390" y="2339659"/>
            <a:ext cx="779206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952390" y="2339659"/>
            <a:ext cx="77920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731596" y="2339659"/>
            <a:ext cx="230292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731596" y="2339659"/>
            <a:ext cx="23029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255171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807208" y="2580630"/>
            <a:ext cx="211679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807208" y="2580630"/>
            <a:ext cx="211679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923998" y="2580630"/>
            <a:ext cx="694030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923998" y="2580630"/>
            <a:ext cx="69403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618028" y="2580630"/>
            <a:ext cx="34386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618028" y="2580630"/>
            <a:ext cx="34386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2792685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807208" y="2821602"/>
            <a:ext cx="209470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807208" y="2821602"/>
            <a:ext cx="209470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4901916" y="2821602"/>
            <a:ext cx="804443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901916" y="2821602"/>
            <a:ext cx="80444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706359" y="2821602"/>
            <a:ext cx="255529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706359" y="2821602"/>
            <a:ext cx="25552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0336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807208" y="3062573"/>
            <a:ext cx="207893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807208" y="3062573"/>
            <a:ext cx="207893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886142" y="3062573"/>
            <a:ext cx="930631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886142" y="3062573"/>
            <a:ext cx="93063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16773" y="3062573"/>
            <a:ext cx="145115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8368" y="327462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2807208" y="3303544"/>
            <a:ext cx="201584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2807208" y="3303544"/>
            <a:ext cx="201584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4823049" y="3303544"/>
            <a:ext cx="671947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823049" y="3303544"/>
            <a:ext cx="67194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5494995" y="3303544"/>
            <a:ext cx="46689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494995" y="3303544"/>
            <a:ext cx="46689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351559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807208" y="3544516"/>
            <a:ext cx="195590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2807208" y="3544516"/>
            <a:ext cx="195590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4763110" y="3544516"/>
            <a:ext cx="807598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763110" y="3544516"/>
            <a:ext cx="80759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5570708" y="3544516"/>
            <a:ext cx="39118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570708" y="3544516"/>
            <a:ext cx="39118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75657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807208" y="3785487"/>
            <a:ext cx="194328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2807208" y="3785487"/>
            <a:ext cx="194328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4750491" y="3785487"/>
            <a:ext cx="413263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4750491" y="3785487"/>
            <a:ext cx="41326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5163754" y="3785487"/>
            <a:ext cx="79813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5163754" y="3785487"/>
            <a:ext cx="79813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3997542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07208" y="4026458"/>
            <a:ext cx="189280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2807208" y="4026458"/>
            <a:ext cx="189280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4700016" y="4026458"/>
            <a:ext cx="832836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700016" y="4026458"/>
            <a:ext cx="83283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532852" y="4026458"/>
            <a:ext cx="42903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5532852" y="4026458"/>
            <a:ext cx="42903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58368" y="423851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07208" y="4267429"/>
            <a:ext cx="188334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2807208" y="4267429"/>
            <a:ext cx="188334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90552" y="4267429"/>
            <a:ext cx="98110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690552" y="4267429"/>
            <a:ext cx="98110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5671657" y="4267429"/>
            <a:ext cx="29023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5671657" y="4267429"/>
            <a:ext cx="29023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447948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807208" y="4508401"/>
            <a:ext cx="186757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2807208" y="4508401"/>
            <a:ext cx="186757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4674779" y="4508401"/>
            <a:ext cx="47320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722099" y="4508401"/>
            <a:ext cx="1239789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4722099" y="4508401"/>
            <a:ext cx="123978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58368" y="47204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2807208" y="4749372"/>
            <a:ext cx="186126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2807208" y="4749372"/>
            <a:ext cx="186126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4668469" y="4749372"/>
            <a:ext cx="83914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668469" y="4749372"/>
            <a:ext cx="83914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5507614" y="4749372"/>
            <a:ext cx="45427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507614" y="4749372"/>
            <a:ext cx="45427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4961427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2807208" y="4990343"/>
            <a:ext cx="185495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2807208" y="4990343"/>
            <a:ext cx="185495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11" name="Shape 109"/>
          <p:cNvSpPr/>
          <p:nvPr/>
        </p:nvSpPr>
        <p:spPr>
          <a:xfrm>
            <a:off x="4662160" y="4990343"/>
            <a:ext cx="1015807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4662160" y="4990343"/>
            <a:ext cx="101580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5677967" y="4990343"/>
            <a:ext cx="28392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5677967" y="4990343"/>
            <a:ext cx="28392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658368" y="520239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2807208" y="5231315"/>
            <a:ext cx="183917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807208" y="5231315"/>
            <a:ext cx="183917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4646386" y="5231315"/>
            <a:ext cx="574152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4646386" y="5231315"/>
            <a:ext cx="57415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5220538" y="5231315"/>
            <a:ext cx="74135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5220538" y="5231315"/>
            <a:ext cx="74135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58368" y="544336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2807208" y="5472286"/>
            <a:ext cx="179185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2807208" y="5472286"/>
            <a:ext cx="179185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25" name="Shape 123"/>
          <p:cNvSpPr/>
          <p:nvPr/>
        </p:nvSpPr>
        <p:spPr>
          <a:xfrm>
            <a:off x="4599066" y="5472286"/>
            <a:ext cx="753969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4599066" y="5472286"/>
            <a:ext cx="75396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5353035" y="5472286"/>
            <a:ext cx="60885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 txBox="1"/>
          <p:nvPr/>
        </p:nvSpPr>
        <p:spPr>
          <a:xfrm>
            <a:off x="5353035" y="5472286"/>
            <a:ext cx="60885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58368" y="568434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2807208" y="5713257"/>
            <a:ext cx="179185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2807208" y="5713257"/>
            <a:ext cx="179185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4599066" y="5713257"/>
            <a:ext cx="753969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4599066" y="5713257"/>
            <a:ext cx="75396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5353035" y="5713257"/>
            <a:ext cx="60885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3035" y="5713257"/>
            <a:ext cx="60885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182880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357616" y="1857717"/>
            <a:ext cx="173822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8357616" y="1857717"/>
            <a:ext cx="173822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10095845" y="1857717"/>
            <a:ext cx="1116757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10095845" y="1857717"/>
            <a:ext cx="111675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11212601" y="1857717"/>
            <a:ext cx="299695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 txBox="1"/>
          <p:nvPr/>
        </p:nvSpPr>
        <p:spPr>
          <a:xfrm>
            <a:off x="11212601" y="1857717"/>
            <a:ext cx="29969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6208776" y="206977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357616" y="2098688"/>
            <a:ext cx="173822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357616" y="2098688"/>
            <a:ext cx="173822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46" name="Shape 144"/>
          <p:cNvSpPr/>
          <p:nvPr/>
        </p:nvSpPr>
        <p:spPr>
          <a:xfrm>
            <a:off x="10095845" y="2098688"/>
            <a:ext cx="93378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10095845" y="2098688"/>
            <a:ext cx="93378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11029630" y="2098688"/>
            <a:ext cx="48266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11029630" y="2098688"/>
            <a:ext cx="48266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231074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8357616" y="2339659"/>
            <a:ext cx="153317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8357616" y="2339659"/>
            <a:ext cx="153317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9890790" y="2339659"/>
            <a:ext cx="1306038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9890790" y="2339659"/>
            <a:ext cx="130603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</a:t>
            </a:r>
            <a:endParaRPr lang="en-US" sz="1300" dirty="0"/>
          </a:p>
        </p:txBody>
      </p:sp>
      <p:sp>
        <p:nvSpPr>
          <p:cNvPr id="155" name="Shape 153"/>
          <p:cNvSpPr/>
          <p:nvPr/>
        </p:nvSpPr>
        <p:spPr>
          <a:xfrm>
            <a:off x="11196828" y="2339659"/>
            <a:ext cx="31546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11196828" y="2339659"/>
            <a:ext cx="31546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255171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357616" y="2580630"/>
            <a:ext cx="138490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8357616" y="2580630"/>
            <a:ext cx="138490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9742521" y="2580630"/>
            <a:ext cx="1315502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9742521" y="2580630"/>
            <a:ext cx="131550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</a:t>
            </a:r>
            <a:endParaRPr lang="en-US" sz="1300" dirty="0"/>
          </a:p>
        </p:txBody>
      </p:sp>
      <p:sp>
        <p:nvSpPr>
          <p:cNvPr id="162" name="Shape 160"/>
          <p:cNvSpPr/>
          <p:nvPr/>
        </p:nvSpPr>
        <p:spPr>
          <a:xfrm>
            <a:off x="11058022" y="2580630"/>
            <a:ext cx="45427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11058022" y="2580630"/>
            <a:ext cx="45427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6208776" y="2792685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357616" y="2821602"/>
            <a:ext cx="135651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8357616" y="2821602"/>
            <a:ext cx="135651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</a:t>
            </a:r>
            <a:endParaRPr lang="en-US" sz="1300" dirty="0"/>
          </a:p>
        </p:txBody>
      </p:sp>
      <p:sp>
        <p:nvSpPr>
          <p:cNvPr id="167" name="Shape 165"/>
          <p:cNvSpPr/>
          <p:nvPr/>
        </p:nvSpPr>
        <p:spPr>
          <a:xfrm>
            <a:off x="9714128" y="2821602"/>
            <a:ext cx="946404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9714128" y="2821602"/>
            <a:ext cx="94640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10660532" y="2821602"/>
            <a:ext cx="85176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10660532" y="2821602"/>
            <a:ext cx="85176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30336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72" name="Shape 170"/>
          <p:cNvSpPr/>
          <p:nvPr/>
        </p:nvSpPr>
        <p:spPr>
          <a:xfrm>
            <a:off x="8357616" y="3062573"/>
            <a:ext cx="135020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8357616" y="3062573"/>
            <a:ext cx="135020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9707819" y="3062573"/>
            <a:ext cx="911703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707819" y="3062573"/>
            <a:ext cx="91170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10619522" y="3062573"/>
            <a:ext cx="89277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10619522" y="3062573"/>
            <a:ext cx="89277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6208776" y="327462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9" name="Shape 177"/>
          <p:cNvSpPr/>
          <p:nvPr/>
        </p:nvSpPr>
        <p:spPr>
          <a:xfrm>
            <a:off x="8357616" y="3303544"/>
            <a:ext cx="129341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8357616" y="3303544"/>
            <a:ext cx="129341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9651035" y="3303544"/>
            <a:ext cx="1618351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 txBox="1"/>
          <p:nvPr/>
        </p:nvSpPr>
        <p:spPr>
          <a:xfrm>
            <a:off x="9651035" y="3303544"/>
            <a:ext cx="161835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183" name="Shape 181"/>
          <p:cNvSpPr/>
          <p:nvPr/>
        </p:nvSpPr>
        <p:spPr>
          <a:xfrm>
            <a:off x="11269386" y="3303544"/>
            <a:ext cx="24291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 txBox="1"/>
          <p:nvPr/>
        </p:nvSpPr>
        <p:spPr>
          <a:xfrm>
            <a:off x="11269386" y="3303544"/>
            <a:ext cx="24291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6208776" y="351559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6" name="Shape 184"/>
          <p:cNvSpPr/>
          <p:nvPr/>
        </p:nvSpPr>
        <p:spPr>
          <a:xfrm>
            <a:off x="8357616" y="3544516"/>
            <a:ext cx="128080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8357616" y="3544516"/>
            <a:ext cx="128080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</a:t>
            </a:r>
            <a:endParaRPr lang="en-US" sz="1300" dirty="0"/>
          </a:p>
        </p:txBody>
      </p:sp>
      <p:sp>
        <p:nvSpPr>
          <p:cNvPr id="188" name="Shape 186"/>
          <p:cNvSpPr/>
          <p:nvPr/>
        </p:nvSpPr>
        <p:spPr>
          <a:xfrm>
            <a:off x="9638416" y="3544516"/>
            <a:ext cx="1523710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9638416" y="3544516"/>
            <a:ext cx="152371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11162127" y="3544516"/>
            <a:ext cx="350169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11162127" y="3544516"/>
            <a:ext cx="35016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375657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93" name="Shape 191"/>
          <p:cNvSpPr/>
          <p:nvPr/>
        </p:nvSpPr>
        <p:spPr>
          <a:xfrm>
            <a:off x="8357616" y="3785487"/>
            <a:ext cx="126818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 txBox="1"/>
          <p:nvPr/>
        </p:nvSpPr>
        <p:spPr>
          <a:xfrm>
            <a:off x="8357616" y="3785487"/>
            <a:ext cx="126818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9625797" y="3785487"/>
            <a:ext cx="1321811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6" name="Text 194"/>
          <p:cNvSpPr txBox="1"/>
          <p:nvPr/>
        </p:nvSpPr>
        <p:spPr>
          <a:xfrm>
            <a:off x="9625797" y="3785487"/>
            <a:ext cx="132181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</a:t>
            </a:r>
            <a:endParaRPr lang="en-US" sz="1300" dirty="0"/>
          </a:p>
        </p:txBody>
      </p:sp>
      <p:sp>
        <p:nvSpPr>
          <p:cNvPr id="197" name="Shape 195"/>
          <p:cNvSpPr/>
          <p:nvPr/>
        </p:nvSpPr>
        <p:spPr>
          <a:xfrm>
            <a:off x="10947608" y="3785487"/>
            <a:ext cx="56468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8" name="Text 196"/>
          <p:cNvSpPr txBox="1"/>
          <p:nvPr/>
        </p:nvSpPr>
        <p:spPr>
          <a:xfrm>
            <a:off x="10947608" y="3785487"/>
            <a:ext cx="56468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6208776" y="3997542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8357616" y="4026458"/>
            <a:ext cx="121139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1" name="Text 199"/>
          <p:cNvSpPr txBox="1"/>
          <p:nvPr/>
        </p:nvSpPr>
        <p:spPr>
          <a:xfrm>
            <a:off x="8357616" y="4026458"/>
            <a:ext cx="121139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9569013" y="4026458"/>
            <a:ext cx="1028426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3" name="Text 201"/>
          <p:cNvSpPr txBox="1"/>
          <p:nvPr/>
        </p:nvSpPr>
        <p:spPr>
          <a:xfrm>
            <a:off x="9569013" y="4026458"/>
            <a:ext cx="102842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300" dirty="0"/>
          </a:p>
        </p:txBody>
      </p:sp>
      <p:sp>
        <p:nvSpPr>
          <p:cNvPr id="204" name="Shape 202"/>
          <p:cNvSpPr/>
          <p:nvPr/>
        </p:nvSpPr>
        <p:spPr>
          <a:xfrm>
            <a:off x="10597439" y="4026458"/>
            <a:ext cx="91485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5" name="Text 203"/>
          <p:cNvSpPr txBox="1"/>
          <p:nvPr/>
        </p:nvSpPr>
        <p:spPr>
          <a:xfrm>
            <a:off x="10597439" y="4026458"/>
            <a:ext cx="91485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06" name="Text 204"/>
          <p:cNvSpPr txBox="1"/>
          <p:nvPr/>
        </p:nvSpPr>
        <p:spPr>
          <a:xfrm>
            <a:off x="6208776" y="423851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07" name="Shape 205"/>
          <p:cNvSpPr/>
          <p:nvPr/>
        </p:nvSpPr>
        <p:spPr>
          <a:xfrm>
            <a:off x="8357616" y="4267429"/>
            <a:ext cx="110729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8" name="Text 206"/>
          <p:cNvSpPr txBox="1"/>
          <p:nvPr/>
        </p:nvSpPr>
        <p:spPr>
          <a:xfrm>
            <a:off x="8357616" y="4267429"/>
            <a:ext cx="110729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209" name="Shape 207"/>
          <p:cNvSpPr/>
          <p:nvPr/>
        </p:nvSpPr>
        <p:spPr>
          <a:xfrm>
            <a:off x="9464909" y="4267429"/>
            <a:ext cx="1192469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0" name="Text 208"/>
          <p:cNvSpPr txBox="1"/>
          <p:nvPr/>
        </p:nvSpPr>
        <p:spPr>
          <a:xfrm>
            <a:off x="9464909" y="4267429"/>
            <a:ext cx="119246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11" name="Shape 209"/>
          <p:cNvSpPr/>
          <p:nvPr/>
        </p:nvSpPr>
        <p:spPr>
          <a:xfrm>
            <a:off x="10657378" y="4267429"/>
            <a:ext cx="85491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10657378" y="4267429"/>
            <a:ext cx="85491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213" name="Text 211"/>
          <p:cNvSpPr txBox="1"/>
          <p:nvPr/>
        </p:nvSpPr>
        <p:spPr>
          <a:xfrm>
            <a:off x="6208776" y="447948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214" name="Shape 212"/>
          <p:cNvSpPr/>
          <p:nvPr/>
        </p:nvSpPr>
        <p:spPr>
          <a:xfrm>
            <a:off x="8357616" y="4508401"/>
            <a:ext cx="106943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 txBox="1"/>
          <p:nvPr/>
        </p:nvSpPr>
        <p:spPr>
          <a:xfrm>
            <a:off x="8357616" y="4508401"/>
            <a:ext cx="106943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1300" dirty="0"/>
          </a:p>
        </p:txBody>
      </p:sp>
      <p:sp>
        <p:nvSpPr>
          <p:cNvPr id="216" name="Shape 214"/>
          <p:cNvSpPr/>
          <p:nvPr/>
        </p:nvSpPr>
        <p:spPr>
          <a:xfrm>
            <a:off x="9427053" y="4508401"/>
            <a:ext cx="82022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9509074" y="4508401"/>
            <a:ext cx="2003222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9509074" y="4508401"/>
            <a:ext cx="200322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</a:t>
            </a:r>
            <a:endParaRPr lang="en-US" sz="1300" dirty="0"/>
          </a:p>
        </p:txBody>
      </p:sp>
      <p:sp>
        <p:nvSpPr>
          <p:cNvPr id="219" name="Text 217"/>
          <p:cNvSpPr txBox="1"/>
          <p:nvPr/>
        </p:nvSpPr>
        <p:spPr>
          <a:xfrm>
            <a:off x="6208776" y="47204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20" name="Shape 218"/>
          <p:cNvSpPr/>
          <p:nvPr/>
        </p:nvSpPr>
        <p:spPr>
          <a:xfrm>
            <a:off x="8357616" y="4749372"/>
            <a:ext cx="103473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1" name="Text 219"/>
          <p:cNvSpPr txBox="1"/>
          <p:nvPr/>
        </p:nvSpPr>
        <p:spPr>
          <a:xfrm>
            <a:off x="8357616" y="4749372"/>
            <a:ext cx="103473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300" dirty="0"/>
          </a:p>
        </p:txBody>
      </p:sp>
      <p:sp>
        <p:nvSpPr>
          <p:cNvPr id="222" name="Shape 220"/>
          <p:cNvSpPr/>
          <p:nvPr/>
        </p:nvSpPr>
        <p:spPr>
          <a:xfrm>
            <a:off x="9392351" y="4749372"/>
            <a:ext cx="172245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3" name="Text 221"/>
          <p:cNvSpPr txBox="1"/>
          <p:nvPr/>
        </p:nvSpPr>
        <p:spPr>
          <a:xfrm>
            <a:off x="9392351" y="4749372"/>
            <a:ext cx="172245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224" name="Shape 222"/>
          <p:cNvSpPr/>
          <p:nvPr/>
        </p:nvSpPr>
        <p:spPr>
          <a:xfrm>
            <a:off x="11114806" y="4749372"/>
            <a:ext cx="39749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5" name="Text 223"/>
          <p:cNvSpPr txBox="1"/>
          <p:nvPr/>
        </p:nvSpPr>
        <p:spPr>
          <a:xfrm>
            <a:off x="11114806" y="4749372"/>
            <a:ext cx="39749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226" name="Text 224"/>
          <p:cNvSpPr txBox="1"/>
          <p:nvPr/>
        </p:nvSpPr>
        <p:spPr>
          <a:xfrm>
            <a:off x="6208776" y="4961427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27" name="Shape 225"/>
          <p:cNvSpPr/>
          <p:nvPr/>
        </p:nvSpPr>
        <p:spPr>
          <a:xfrm>
            <a:off x="8357616" y="4990343"/>
            <a:ext cx="101580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8" name="Text 226"/>
          <p:cNvSpPr txBox="1"/>
          <p:nvPr/>
        </p:nvSpPr>
        <p:spPr>
          <a:xfrm>
            <a:off x="8357616" y="4990343"/>
            <a:ext cx="101580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300" dirty="0"/>
          </a:p>
        </p:txBody>
      </p:sp>
      <p:sp>
        <p:nvSpPr>
          <p:cNvPr id="229" name="Shape 227"/>
          <p:cNvSpPr/>
          <p:nvPr/>
        </p:nvSpPr>
        <p:spPr>
          <a:xfrm>
            <a:off x="9373423" y="4990343"/>
            <a:ext cx="936940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 txBox="1"/>
          <p:nvPr/>
        </p:nvSpPr>
        <p:spPr>
          <a:xfrm>
            <a:off x="9373423" y="4990343"/>
            <a:ext cx="93694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231" name="Shape 229"/>
          <p:cNvSpPr/>
          <p:nvPr/>
        </p:nvSpPr>
        <p:spPr>
          <a:xfrm>
            <a:off x="10310363" y="4990343"/>
            <a:ext cx="120193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2" name="Text 230"/>
          <p:cNvSpPr txBox="1"/>
          <p:nvPr/>
        </p:nvSpPr>
        <p:spPr>
          <a:xfrm>
            <a:off x="10310363" y="4990343"/>
            <a:ext cx="120193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33" name="Text 231"/>
          <p:cNvSpPr txBox="1"/>
          <p:nvPr/>
        </p:nvSpPr>
        <p:spPr>
          <a:xfrm>
            <a:off x="6208776" y="520239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234" name="Shape 232"/>
          <p:cNvSpPr/>
          <p:nvPr/>
        </p:nvSpPr>
        <p:spPr>
          <a:xfrm>
            <a:off x="8357616" y="5231315"/>
            <a:ext cx="86753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8357616" y="5231315"/>
            <a:ext cx="86753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236" name="Shape 234"/>
          <p:cNvSpPr/>
          <p:nvPr/>
        </p:nvSpPr>
        <p:spPr>
          <a:xfrm>
            <a:off x="9225153" y="5231315"/>
            <a:ext cx="864382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9225153" y="5231315"/>
            <a:ext cx="86438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238" name="Shape 236"/>
          <p:cNvSpPr/>
          <p:nvPr/>
        </p:nvSpPr>
        <p:spPr>
          <a:xfrm>
            <a:off x="10089535" y="5231315"/>
            <a:ext cx="142276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10089535" y="5231315"/>
            <a:ext cx="142276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6208776" y="544336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41" name="Shape 239"/>
          <p:cNvSpPr/>
          <p:nvPr/>
        </p:nvSpPr>
        <p:spPr>
          <a:xfrm>
            <a:off x="8357616" y="5472286"/>
            <a:ext cx="83599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2" name="Text 240"/>
          <p:cNvSpPr txBox="1"/>
          <p:nvPr/>
        </p:nvSpPr>
        <p:spPr>
          <a:xfrm>
            <a:off x="8357616" y="5472286"/>
            <a:ext cx="83599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243" name="Shape 241"/>
          <p:cNvSpPr/>
          <p:nvPr/>
        </p:nvSpPr>
        <p:spPr>
          <a:xfrm>
            <a:off x="9193606" y="5472286"/>
            <a:ext cx="684566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4" name="Text 242"/>
          <p:cNvSpPr txBox="1"/>
          <p:nvPr/>
        </p:nvSpPr>
        <p:spPr>
          <a:xfrm>
            <a:off x="9193606" y="5472286"/>
            <a:ext cx="68456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245" name="Shape 243"/>
          <p:cNvSpPr/>
          <p:nvPr/>
        </p:nvSpPr>
        <p:spPr>
          <a:xfrm>
            <a:off x="9878172" y="5472286"/>
            <a:ext cx="163412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6" name="Text 244"/>
          <p:cNvSpPr txBox="1"/>
          <p:nvPr/>
        </p:nvSpPr>
        <p:spPr>
          <a:xfrm>
            <a:off x="9878172" y="5472286"/>
            <a:ext cx="163412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247" name="Shape 24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48" name="Text 24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is 54.3% of customer-pay labor, repair 30.5%, and 15.2% cannot be classified from its description (19.0% in 2025).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Unclassified Customer-Pay Labor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7985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UNCLASSIFIED CUSTOMER-PAY LABOR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12970" y="1335024"/>
            <a:ext cx="33337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118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2254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4652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9447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2051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21578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23976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2450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9.2%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2530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26640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29037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10.9%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29570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33033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12.4%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33566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36230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38361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38361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39427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40759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15.3%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47685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17.9%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5141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5141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62604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23.5%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67399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71928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2194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27.1%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7539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28.3%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77256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29.0%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101498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38.1%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10469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39.3%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12014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13799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51.8%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69164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63.5%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405989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95639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 can't classify 63.5% of its customer-pay labor from the description; Honda Henderson only 4.2%. Vague op code descriptions hide what the shop sells.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2026-10-22T22:23:04Z</dcterms:created>
  <dcterms:modified xsi:type="dcterms:W3CDTF">2026-10-22T22:23:04Z</dcterms:modified>
</cp:coreProperties>
</file>