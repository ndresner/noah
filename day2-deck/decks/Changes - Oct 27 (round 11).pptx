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1.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56.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7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7.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54.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293" r:id="rId44"/>
    <p:sldId id="298" r:id="rId49"/>
    <p:sldId id="302" r:id="rId53"/>
    <p:sldId id="331" r:id="rId82"/>
    <p:sldId id="376" r:id="rId127"/>
    <p:sldId id="392" r:id="rId143"/>
    <p:sldId id="393" r:id="rId144"/>
    <p:sldId id="394" r:id="rId145"/>
    <p:sldId id="395" r:id="rId146"/>
    <p:sldId id="396" r:id="rId147"/>
    <p:sldId id="411" r:id="rId16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44" Type="http://schemas.openxmlformats.org/officeDocument/2006/relationships/slide" Target="slides/slide31.xml"/><Relationship Id="rId49" Type="http://schemas.openxmlformats.org/officeDocument/2006/relationships/slide" Target="slides/slide36.xml"/><Relationship Id="rId53" Type="http://schemas.openxmlformats.org/officeDocument/2006/relationships/slide" Target="slides/slide40.xml"/><Relationship Id="rId82" Type="http://schemas.openxmlformats.org/officeDocument/2006/relationships/slide" Target="slides/slide70.xml"/><Relationship Id="rId127" Type="http://schemas.openxmlformats.org/officeDocument/2006/relationships/slide" Target="slides/slide117.xml"/><Relationship Id="rId143" Type="http://schemas.openxmlformats.org/officeDocument/2006/relationships/slide" Target="slides/slide134.xml"/><Relationship Id="rId144" Type="http://schemas.openxmlformats.org/officeDocument/2006/relationships/slide" Target="slides/slide135.xml"/><Relationship Id="rId145" Type="http://schemas.openxmlformats.org/officeDocument/2006/relationships/slide" Target="slides/slide136.xml"/><Relationship Id="rId146" Type="http://schemas.openxmlformats.org/officeDocument/2006/relationships/slide" Target="slides/slide137.xml"/><Relationship Id="rId147" Type="http://schemas.openxmlformats.org/officeDocument/2006/relationships/slide" Target="slides/slide138.xml"/><Relationship Id="rId162"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includes its body shop, as on the P&amp;L. Top and bottom five stores by change in Fixed Ops Absorption %, Jan-Sep 2026 vs 2025. Moving now: Jul-Sep 2026 vs Jan-Mar 2026, each store against itself; the group moved +4.2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LR Reno what changed. Ask VW St George, Kia St George and Mazda what got in the way. Ask Hyundai Prescott, LR Henderson and LR Reno what they started this year.Source: Qlik - Profit &amp; Loss. Jan-Sep. Same-store, INEOS excluded (opened 2026). Mechanical department profit / mechanical department gross (P&amp;L Detail statement). Body shop is its own department and is not included. Top and bottom five stores by change in Service Net to Gross %, Jan-Sep 2026 vs 2025. Moving now: Jul-Sep 2026 vs Jan-Mar 2026, each store against itself; the group moved +1.0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Acura and Nissan what changed. Ask Hyundai Prescott, Hyundai St George and VW St George what got in the way. Ask LR Reno, VW St George and Mazda what they started this year.Source: Qlik - Profit &amp; Loss. Jan-Sep. Same-store, INEOS excluded (opened 2026). P&amp;A department profit / P&amp;A department gross (P&amp;L Detail statement). Top and bottom five stores by change in Parts Net to Gross %, Jan-Sep 2026 vs 2025. Moving now: Jul-Sep 2026 vs Jan-Mar 2026, each store against itself; the group moved +5.3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Spokane, Volvo and Lincoln what changed. Ask Kia LV, Subaru St George and Acura what got in the way. Ask VW St George, Audi Reno and Honda Spokane what they started this year.Source: Qlik - Closed Repair Orders. Customer pay, Jan-Sep by close month. Same-store, INEOS excluded (opened 2026). GMC Prescott body shop labor types excluded. Customer-pay labor sale / customer-pay sold hours. Top and bottom five stores by change in CP ELR, Jan-Sep 2026 vs 2025. Moving now: Jul-Sep 2026 vs Jan-Mar 2026, each store against itself; the group moved +1.1%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LR Reno and Lincoln what changed. Ask Nissan, Kia LV and Mazda what got in the way. Ask Acura, Hyundai St George and Toyota Henderson what they started this year.Source: Qlik - Closed Repair Orders. Jan-Sep by close month. Same-store, INEOS excluded (opened 2026). GMC Prescott body shop labor types excluded. Internal labor sale / internal sold hours. A higher internal rate adds service gross but is a cost to used cars. Top and bottom five stores by change in Internal ELR, Jan-Sep 2026 vs 2025. Moving now: Jul-Sep 2026 vs Jan-Mar 2026, each store against itself; the group moved +4.1%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Hyundai Prescott and Lincoln what changed. Ask VW St George, Kia St George and Cadillac what got in the way. Ask LR Henderson, Subaru St George and LR Reno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Top and bottom five stores by change in Fixed Gross per Fixed Employee, Jan-Sep 2026 vs 2025. Moving now: Jul-Sep 2026 vs Jan-Mar 2026, each store against itself; the group moved +$1,107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Technician Proficiency section, after the section break and before the store proficiency ranker.</a:t>
            </a:r>
          </a:p>
          <a:p>
            <a:r>
              <a:t>Said: Roundtable slide 22 (Technicians &amp; Stalls); Jan GM slide 52 / May GM slide 16 (MPI Completion and Tech Efficiency).</a:t>
            </a:r>
          </a:p>
          <a:p>
            <a:r>
              <a:t>Now: proficiency slides (ADP worked hours + Qlik sold hours, Dec 25-Oct 9, with the foreman 30%, tech 10%, role-change and keying-error rules).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Technician Proficiency, after the section break, in front of the store ranker.</a:t>
            </a:r>
          </a:p>
          <a:p>
            <a:r>
              <a:t>Proficiency uses ADP worked hours (regular + overtime), so it includes time not on an RO. Efficiency would use DMS time punched on jobs, which this data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service-department definitions. On the store slides, proficiency = Qlik hours flagged (sold hours) ÷ ADP regular + overtime hours, = clocked hours (vacation, PTO and holiday pay excluded). Efficiency and productivity need DMS time clocked to repair orders, which this data does not include, so they are defined here but not measured. The example is illustrative, not a store or technician.PLACE: right after the Technician Proficiency explainer, before How We Measured It (Noah, Oct 27).</a:t>
            </a:r>
          </a:p>
          <a:p>
            <a:r>
              <a:t>Talk track: walk the example left to right. The tech was on repair orders 6 of 8 hours (75% productive) and flagged 7.5 hours in those 6 (125% efficient), so 7.5 flagged hours for 8 clocked (93.75% proficient). Proficiency is the one we measure: 85% target, group 94.7%. 'Productivity' here is the technician measure, not the Fixed Ops Productivity section (gross and ROs per employee).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right after 'Technician Proficiency' (explainer).</a:t>
            </a:r>
          </a:p>
          <a:p>
            <a:r>
              <a:t>Period: pay periods Dec 25, 2025 to Oct 9, 2026, matched by tech number, all pay types; labelled Jan-Sep 2026 YTD on the slide (Noah, Oct 26: closest the pay periods allow).</a:t>
            </a:r>
          </a:p>
          <a:p>
            <a:r>
              <a:t>Rules as applied on the proficiency slides (Oct 16 2026). Express techs at stores that pool express hours are mostly excluded by the 10% rule.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Lexus and Audi Henderson what changed. Ask Acura, Honda Flagstaff and VW Henderson what got in the way. Ask Honda North, LR LV and Nissan what they started this year.Source: Qlik - Profit &amp; Loss, Gross Profit - Fixed Ops Warranty (service + parts warranty gross). Same-store, INEOS excluded (opened 2026); no body shop. Top and bottom five stores by percent change in warranty gross, Jan-Sep 2026 vs 2025. Moving now: Jul-Sep 2026 vs Jan-Mar 2026, each store against itself (monthly averages); the group moved +9.3%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1" name="Shape 19"/>
          <p:cNvSpPr/>
          <p:nvPr/>
        </p:nvSpPr>
        <p:spPr>
          <a:xfrm>
            <a:off x="4084320" y="4625035"/>
            <a:ext cx="64008" cy="755294"/>
          </a:xfrm>
          <a:prstGeom prst="rect">
            <a:avLst/>
          </a:prstGeom>
          <a:solidFill>
            <a:srgbClr val="12A566"/>
          </a:solidFill>
          <a:ln/>
        </p:spPr>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5" name="Shape 23"/>
          <p:cNvSpPr/>
          <p:nvPr/>
        </p:nvSpPr>
        <p:spPr>
          <a:xfrm>
            <a:off x="658368" y="5416906"/>
            <a:ext cx="3489960" cy="828446"/>
          </a:xfrm>
          <a:prstGeom prst="rect">
            <a:avLst/>
          </a:prstGeom>
          <a:solidFill>
            <a:srgbClr val="F7F7F7"/>
          </a:solidFill>
          <a:ln/>
        </p:spPr>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29" name="Shape 27"/>
          <p:cNvSpPr/>
          <p:nvPr/>
        </p:nvSpPr>
        <p:spPr>
          <a:xfrm>
            <a:off x="4349496" y="1371600"/>
            <a:ext cx="3489960" cy="45720"/>
          </a:xfrm>
          <a:prstGeom prst="rect">
            <a:avLst/>
          </a:prstGeom>
          <a:solidFill>
            <a:srgbClr val="C2352F"/>
          </a:solidFill>
          <a:ln/>
        </p:spPr>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sp>
      <p:sp>
        <p:nvSpPr>
          <p:cNvPr id="33" name="Shape 31"/>
          <p:cNvSpPr/>
          <p:nvPr/>
        </p:nvSpPr>
        <p:spPr>
          <a:xfrm>
            <a:off x="7775448" y="2139696"/>
            <a:ext cx="64008" cy="755294"/>
          </a:xfrm>
          <a:prstGeom prst="rect">
            <a:avLst/>
          </a:prstGeom>
          <a:solidFill>
            <a:srgbClr val="2587C5"/>
          </a:solidFill>
          <a:ln/>
        </p:spPr>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0" name="Shape 38"/>
          <p:cNvSpPr/>
          <p:nvPr/>
        </p:nvSpPr>
        <p:spPr>
          <a:xfrm>
            <a:off x="4349496" y="3760013"/>
            <a:ext cx="3489960" cy="828446"/>
          </a:xfrm>
          <a:prstGeom prst="rect">
            <a:avLst/>
          </a:prstGeom>
          <a:solidFill>
            <a:srgbClr val="F7F7F7"/>
          </a:solidFill>
          <a:ln/>
        </p:spPr>
      </p:sp>
      <p:sp>
        <p:nvSpPr>
          <p:cNvPr id="41" name="Text 39"/>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2" name="Text 40"/>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43" name="Text 41"/>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4" name="Text 42"/>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5" name="Text 43"/>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46" name="Text 44"/>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47" name="Shape 45"/>
          <p:cNvSpPr/>
          <p:nvPr/>
        </p:nvSpPr>
        <p:spPr>
          <a:xfrm>
            <a:off x="4349496" y="5416906"/>
            <a:ext cx="3489960" cy="828446"/>
          </a:xfrm>
          <a:prstGeom prst="rect">
            <a:avLst/>
          </a:prstGeom>
          <a:solidFill>
            <a:srgbClr val="F7F7F7"/>
          </a:solidFill>
          <a:ln/>
        </p:spPr>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51" name="Shape 49"/>
          <p:cNvSpPr/>
          <p:nvPr/>
        </p:nvSpPr>
        <p:spPr>
          <a:xfrm>
            <a:off x="8040624" y="1371600"/>
            <a:ext cx="3489960" cy="45720"/>
          </a:xfrm>
          <a:prstGeom prst="rect">
            <a:avLst/>
          </a:prstGeom>
          <a:solidFill>
            <a:srgbClr val="2587C5"/>
          </a:solidFill>
          <a:ln/>
        </p:spPr>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4" name="Shape 52"/>
          <p:cNvSpPr/>
          <p:nvPr/>
        </p:nvSpPr>
        <p:spPr>
          <a:xfrm>
            <a:off x="8040624" y="2103120"/>
            <a:ext cx="3489960" cy="828446"/>
          </a:xfrm>
          <a:prstGeom prst="rect">
            <a:avLst/>
          </a:prstGeom>
          <a:solidFill>
            <a:srgbClr val="F7F7F7"/>
          </a:solidFill>
          <a:ln/>
        </p:spPr>
      </p:sp>
      <p:sp>
        <p:nvSpPr>
          <p:cNvPr id="55" name="Shape 53"/>
          <p:cNvSpPr/>
          <p:nvPr/>
        </p:nvSpPr>
        <p:spPr>
          <a:xfrm>
            <a:off x="11466576" y="2139696"/>
            <a:ext cx="64008" cy="755294"/>
          </a:xfrm>
          <a:prstGeom prst="rect">
            <a:avLst/>
          </a:prstGeom>
          <a:solidFill>
            <a:srgbClr val="12A566"/>
          </a:solidFill>
          <a:ln/>
        </p:spPr>
      </p:sp>
      <p:sp>
        <p:nvSpPr>
          <p:cNvPr id="56" name="Text 5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7" name="Text 5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58" name="Text 56"/>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9" name="Shape 57"/>
          <p:cNvSpPr/>
          <p:nvPr/>
        </p:nvSpPr>
        <p:spPr>
          <a:xfrm>
            <a:off x="11466576" y="2968142"/>
            <a:ext cx="64008" cy="755294"/>
          </a:xfrm>
          <a:prstGeom prst="rect">
            <a:avLst/>
          </a:prstGeom>
          <a:solidFill>
            <a:srgbClr val="12A566"/>
          </a:solidFill>
          <a:ln/>
        </p:spPr>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3" name="Shape 61"/>
          <p:cNvSpPr/>
          <p:nvPr/>
        </p:nvSpPr>
        <p:spPr>
          <a:xfrm>
            <a:off x="8040624" y="3760013"/>
            <a:ext cx="3489960" cy="828446"/>
          </a:xfrm>
          <a:prstGeom prst="rect">
            <a:avLst/>
          </a:prstGeom>
          <a:solidFill>
            <a:srgbClr val="F7F7F7"/>
          </a:solidFill>
          <a:ln/>
        </p:spPr>
      </p:sp>
      <p:sp>
        <p:nvSpPr>
          <p:cNvPr id="64" name="Shape 62"/>
          <p:cNvSpPr/>
          <p:nvPr/>
        </p:nvSpPr>
        <p:spPr>
          <a:xfrm>
            <a:off x="11466576" y="3796589"/>
            <a:ext cx="64008" cy="755294"/>
          </a:xfrm>
          <a:prstGeom prst="rect">
            <a:avLst/>
          </a:prstGeom>
          <a:solidFill>
            <a:srgbClr val="2587C5"/>
          </a:solidFill>
          <a:ln/>
        </p:spPr>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68" name="Text 66"/>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9" name="Text 67"/>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70" name="Text 68"/>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71" name="Shape 69"/>
          <p:cNvSpPr/>
          <p:nvPr/>
        </p:nvSpPr>
        <p:spPr>
          <a:xfrm>
            <a:off x="8040624" y="5416906"/>
            <a:ext cx="3489960" cy="828446"/>
          </a:xfrm>
          <a:prstGeom prst="rect">
            <a:avLst/>
          </a:prstGeom>
          <a:solidFill>
            <a:srgbClr val="F7F7F7"/>
          </a:solidFill>
          <a:ln/>
        </p:spPr>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Shape 15"/>
          <p:cNvSpPr/>
          <p:nvPr/>
        </p:nvSpPr>
        <p:spPr>
          <a:xfrm>
            <a:off x="4084320" y="3796589"/>
            <a:ext cx="64008" cy="755294"/>
          </a:xfrm>
          <a:prstGeom prst="rect">
            <a:avLst/>
          </a:prstGeom>
          <a:solidFill>
            <a:srgbClr val="12A566"/>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78.4%</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75.6%</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+5.4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35" name="Shape 33"/>
          <p:cNvSpPr/>
          <p:nvPr/>
        </p:nvSpPr>
        <p:spPr>
          <a:xfrm>
            <a:off x="7775448" y="2968142"/>
            <a:ext cx="64008" cy="755294"/>
          </a:xfrm>
          <a:prstGeom prst="rect">
            <a:avLst/>
          </a:prstGeom>
          <a:solidFill>
            <a:srgbClr val="2587C5"/>
          </a:solidFill>
          <a:ln/>
        </p:spPr>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39" name="Shape 37"/>
          <p:cNvSpPr/>
          <p:nvPr/>
        </p:nvSpPr>
        <p:spPr>
          <a:xfrm>
            <a:off x="4349496" y="3760013"/>
            <a:ext cx="3489960" cy="828446"/>
          </a:xfrm>
          <a:prstGeom prst="rect">
            <a:avLst/>
          </a:prstGeom>
          <a:solidFill>
            <a:srgbClr val="F7F7F7"/>
          </a:solidFill>
          <a:ln/>
        </p:spPr>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103.6%</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46" name="Shape 44"/>
          <p:cNvSpPr/>
          <p:nvPr/>
        </p:nvSpPr>
        <p:spPr>
          <a:xfrm>
            <a:off x="4349496" y="5416906"/>
            <a:ext cx="3489960" cy="828446"/>
          </a:xfrm>
          <a:prstGeom prst="rect">
            <a:avLst/>
          </a:prstGeom>
          <a:solidFill>
            <a:srgbClr val="F7F7F7"/>
          </a:solidFill>
          <a:ln/>
        </p:spPr>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63.1%</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−2.3 pts</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3" name="Shape 51"/>
          <p:cNvSpPr/>
          <p:nvPr/>
        </p:nvSpPr>
        <p:spPr>
          <a:xfrm>
            <a:off x="8040624" y="2103120"/>
            <a:ext cx="3489960" cy="828446"/>
          </a:xfrm>
          <a:prstGeom prst="rect">
            <a:avLst/>
          </a:prstGeom>
          <a:solidFill>
            <a:srgbClr val="F7F7F7"/>
          </a:solidFill>
          <a:ln/>
        </p:spPr>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+16.3 pts</a:t>
            </a:r>
            <a:endParaRPr lang="en-US" sz="1600" dirty="0"/>
          </a:p>
        </p:txBody>
      </p:sp>
      <p:sp>
        <p:nvSpPr>
          <p:cNvPr id="57" name="Shape 55"/>
          <p:cNvSpPr/>
          <p:nvPr/>
        </p:nvSpPr>
        <p:spPr>
          <a:xfrm>
            <a:off x="11466576" y="2968142"/>
            <a:ext cx="64008" cy="755294"/>
          </a:xfrm>
          <a:prstGeom prst="rect">
            <a:avLst/>
          </a:prstGeom>
          <a:solidFill>
            <a:srgbClr val="12A566"/>
          </a:solidFill>
          <a:ln/>
        </p:spPr>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61" name="Shape 59"/>
          <p:cNvSpPr/>
          <p:nvPr/>
        </p:nvSpPr>
        <p:spPr>
          <a:xfrm>
            <a:off x="8040624" y="3760013"/>
            <a:ext cx="3489960" cy="828446"/>
          </a:xfrm>
          <a:prstGeom prst="rect">
            <a:avLst/>
          </a:prstGeom>
          <a:solidFill>
            <a:srgbClr val="F7F7F7"/>
          </a:solidFill>
          <a:ln/>
        </p:spPr>
      </p:sp>
      <p:sp>
        <p:nvSpPr>
          <p:cNvPr id="62" name="Shape 60"/>
          <p:cNvSpPr/>
          <p:nvPr/>
        </p:nvSpPr>
        <p:spPr>
          <a:xfrm>
            <a:off x="11466576" y="3796589"/>
            <a:ext cx="64008" cy="755294"/>
          </a:xfrm>
          <a:prstGeom prst="rect">
            <a:avLst/>
          </a:prstGeom>
          <a:solidFill>
            <a:srgbClr val="2587C5"/>
          </a:solidFill>
          <a:ln/>
        </p:spPr>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94.4%</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69" name="Shape 67"/>
          <p:cNvSpPr/>
          <p:nvPr/>
        </p:nvSpPr>
        <p:spPr>
          <a:xfrm>
            <a:off x="8040624" y="5416906"/>
            <a:ext cx="3489960" cy="828446"/>
          </a:xfrm>
          <a:prstGeom prst="rect">
            <a:avLst/>
          </a:prstGeom>
          <a:solidFill>
            <a:srgbClr val="F7F7F7"/>
          </a:solidFill>
          <a:ln/>
        </p:spPr>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+10.0 pts</a:t>
            </a:r>
            <a:endParaRPr lang="en-US" sz="16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+33.5 pts</a:t>
            </a:r>
            <a:endParaRPr lang="en-US" sz="1600" dirty="0"/>
          </a:p>
        </p:txBody>
      </p:sp>
      <p:sp>
        <p:nvSpPr>
          <p:cNvPr id="14" name="Shape 12"/>
          <p:cNvSpPr/>
          <p:nvPr/>
        </p:nvSpPr>
        <p:spPr>
          <a:xfrm>
            <a:off x="4084320" y="2968142"/>
            <a:ext cx="64008" cy="755294"/>
          </a:xfrm>
          <a:prstGeom prst="rect">
            <a:avLst/>
          </a:prstGeom>
          <a:solidFill>
            <a:srgbClr val="12A566"/>
          </a:solidFill>
          <a:ln/>
        </p:spPr>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a:t>
            </a:r>
            <a:endParaRPr lang="en-US" sz="1400" dirty="0"/>
          </a:p>
        </p:txBody>
      </p:sp>
      <p:sp>
        <p:nvSpPr>
          <p:cNvPr id="17" name="Text 15"/>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+22.5 pts</a:t>
            </a:r>
            <a:endParaRPr lang="en-US" sz="1600" dirty="0"/>
          </a:p>
        </p:txBody>
      </p:sp>
      <p:sp>
        <p:nvSpPr>
          <p:cNvPr id="18" name="Shape 16"/>
          <p:cNvSpPr/>
          <p:nvPr/>
        </p:nvSpPr>
        <p:spPr>
          <a:xfrm>
            <a:off x="658368" y="3760013"/>
            <a:ext cx="3489960" cy="828446"/>
          </a:xfrm>
          <a:prstGeom prst="rect">
            <a:avLst/>
          </a:prstGeom>
          <a:solidFill>
            <a:srgbClr val="F7F7F7"/>
          </a:solidFill>
          <a:ln/>
        </p:spPr>
      </p:sp>
      <p:sp>
        <p:nvSpPr>
          <p:cNvPr id="19" name="Shape 17"/>
          <p:cNvSpPr/>
          <p:nvPr/>
        </p:nvSpPr>
        <p:spPr>
          <a:xfrm>
            <a:off x="4084320" y="3796589"/>
            <a:ext cx="64008" cy="755294"/>
          </a:xfrm>
          <a:prstGeom prst="rect">
            <a:avLst/>
          </a:prstGeom>
          <a:solidFill>
            <a:srgbClr val="12A566"/>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sp>
        <p:nvSpPr>
          <p:cNvPr id="22" name="Text 20"/>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25" name="Text 23"/>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+13.7 pts</a:t>
            </a:r>
            <a:endParaRPr lang="en-US" sz="1600" dirty="0"/>
          </a:p>
        </p:txBody>
      </p:sp>
      <p:sp>
        <p:nvSpPr>
          <p:cNvPr id="26" name="Shape 24"/>
          <p:cNvSpPr/>
          <p:nvPr/>
        </p:nvSpPr>
        <p:spPr>
          <a:xfrm>
            <a:off x="658368" y="5416906"/>
            <a:ext cx="3489960" cy="828446"/>
          </a:xfrm>
          <a:prstGeom prst="rect">
            <a:avLst/>
          </a:prstGeom>
          <a:solidFill>
            <a:srgbClr val="F7F7F7"/>
          </a:solidFill>
          <a:ln/>
        </p:spPr>
      </p:sp>
      <p:sp>
        <p:nvSpPr>
          <p:cNvPr id="27" name="Text 2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8" name="Text 26"/>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29" name="Text 27"/>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 pts</a:t>
            </a:r>
            <a:endParaRPr lang="en-US" sz="1600" dirty="0"/>
          </a:p>
        </p:txBody>
      </p:sp>
      <p:sp>
        <p:nvSpPr>
          <p:cNvPr id="30" name="Shape 28"/>
          <p:cNvSpPr/>
          <p:nvPr/>
        </p:nvSpPr>
        <p:spPr>
          <a:xfrm>
            <a:off x="4349496" y="1371600"/>
            <a:ext cx="3489960" cy="45720"/>
          </a:xfrm>
          <a:prstGeom prst="rect">
            <a:avLst/>
          </a:prstGeom>
          <a:solidFill>
            <a:srgbClr val="C2352F"/>
          </a:solidFill>
          <a:ln/>
        </p:spPr>
      </p:sp>
      <p:sp>
        <p:nvSpPr>
          <p:cNvPr id="31"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2" name="Text 3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3" name="Shape 31"/>
          <p:cNvSpPr/>
          <p:nvPr/>
        </p:nvSpPr>
        <p:spPr>
          <a:xfrm>
            <a:off x="4349496" y="2103120"/>
            <a:ext cx="3489960" cy="828446"/>
          </a:xfrm>
          <a:prstGeom prst="rect">
            <a:avLst/>
          </a:prstGeom>
          <a:solidFill>
            <a:srgbClr val="F7F7F7"/>
          </a:solidFill>
          <a:ln/>
        </p:spPr>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 pts</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−10.9 pts</a:t>
            </a:r>
            <a:endParaRPr lang="en-US" sz="1600" dirty="0"/>
          </a:p>
        </p:txBody>
      </p:sp>
      <p:sp>
        <p:nvSpPr>
          <p:cNvPr id="40" name="Shape 38"/>
          <p:cNvSpPr/>
          <p:nvPr/>
        </p:nvSpPr>
        <p:spPr>
          <a:xfrm>
            <a:off x="4349496" y="3760013"/>
            <a:ext cx="3489960" cy="828446"/>
          </a:xfrm>
          <a:prstGeom prst="rect">
            <a:avLst/>
          </a:prstGeom>
          <a:solidFill>
            <a:srgbClr val="F7F7F7"/>
          </a:solidFill>
          <a:ln/>
        </p:spPr>
      </p:sp>
      <p:sp>
        <p:nvSpPr>
          <p:cNvPr id="41" name="Shape 39"/>
          <p:cNvSpPr/>
          <p:nvPr/>
        </p:nvSpPr>
        <p:spPr>
          <a:xfrm>
            <a:off x="7775448" y="3796589"/>
            <a:ext cx="64008" cy="755294"/>
          </a:xfrm>
          <a:prstGeom prst="rect">
            <a:avLst/>
          </a:prstGeom>
          <a:solidFill>
            <a:srgbClr val="2587C5"/>
          </a:solidFill>
          <a:ln/>
        </p:spPr>
      </p:sp>
      <p:sp>
        <p:nvSpPr>
          <p:cNvPr id="42" name="Text 40"/>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3" name="Text 41"/>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27.2%</a:t>
            </a:r>
            <a:endParaRPr lang="en-US" sz="1400" dirty="0"/>
          </a:p>
        </p:txBody>
      </p:sp>
      <p:sp>
        <p:nvSpPr>
          <p:cNvPr id="44" name="Text 42"/>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−8.4 pts</a:t>
            </a:r>
            <a:endParaRPr lang="en-US" sz="1600" dirty="0"/>
          </a:p>
        </p:txBody>
      </p:sp>
      <p:sp>
        <p:nvSpPr>
          <p:cNvPr id="45" name="Text 43"/>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6" name="Text 44"/>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18.1%</a:t>
            </a:r>
            <a:endParaRPr lang="en-US" sz="1400" dirty="0"/>
          </a:p>
        </p:txBody>
      </p:sp>
      <p:sp>
        <p:nvSpPr>
          <p:cNvPr id="47" name="Text 45"/>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 pts</a:t>
            </a:r>
            <a:endParaRPr lang="en-US" sz="1600" dirty="0"/>
          </a:p>
        </p:txBody>
      </p:sp>
      <p:sp>
        <p:nvSpPr>
          <p:cNvPr id="48" name="Shape 46"/>
          <p:cNvSpPr/>
          <p:nvPr/>
        </p:nvSpPr>
        <p:spPr>
          <a:xfrm>
            <a:off x="4349496" y="5416906"/>
            <a:ext cx="3489960" cy="828446"/>
          </a:xfrm>
          <a:prstGeom prst="rect">
            <a:avLst/>
          </a:prstGeom>
          <a:solidFill>
            <a:srgbClr val="F7F7F7"/>
          </a:solidFill>
          <a:ln/>
        </p:spPr>
      </p:sp>
      <p:sp>
        <p:nvSpPr>
          <p:cNvPr id="49" name="Text 47"/>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0" name="Text 48"/>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51" name="Text 49"/>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 pts</a:t>
            </a:r>
            <a:endParaRPr lang="en-US" sz="1600" dirty="0"/>
          </a:p>
        </p:txBody>
      </p:sp>
      <p:sp>
        <p:nvSpPr>
          <p:cNvPr id="52" name="Shape 50"/>
          <p:cNvSpPr/>
          <p:nvPr/>
        </p:nvSpPr>
        <p:spPr>
          <a:xfrm>
            <a:off x="8040624" y="1371600"/>
            <a:ext cx="3489960" cy="45720"/>
          </a:xfrm>
          <a:prstGeom prst="rect">
            <a:avLst/>
          </a:prstGeom>
          <a:solidFill>
            <a:srgbClr val="2587C5"/>
          </a:solidFill>
          <a:ln/>
        </p:spPr>
      </p:sp>
      <p:sp>
        <p:nvSpPr>
          <p:cNvPr id="53" name="Text 51"/>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4" name="Text 52"/>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5" name="Shape 53"/>
          <p:cNvSpPr/>
          <p:nvPr/>
        </p:nvSpPr>
        <p:spPr>
          <a:xfrm>
            <a:off x="8040624" y="2103120"/>
            <a:ext cx="3489960" cy="828446"/>
          </a:xfrm>
          <a:prstGeom prst="rect">
            <a:avLst/>
          </a:prstGeom>
          <a:solidFill>
            <a:srgbClr val="F7F7F7"/>
          </a:solidFill>
          <a:ln/>
        </p:spPr>
      </p:sp>
      <p:sp>
        <p:nvSpPr>
          <p:cNvPr id="56" name="Shape 54"/>
          <p:cNvSpPr/>
          <p:nvPr/>
        </p:nvSpPr>
        <p:spPr>
          <a:xfrm>
            <a:off x="11466576" y="2139696"/>
            <a:ext cx="64008" cy="755294"/>
          </a:xfrm>
          <a:prstGeom prst="rect">
            <a:avLst/>
          </a:prstGeom>
          <a:solidFill>
            <a:srgbClr val="12A566"/>
          </a:solidFill>
          <a:ln/>
        </p:spPr>
      </p:sp>
      <p:sp>
        <p:nvSpPr>
          <p:cNvPr id="57" name="Text 55"/>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8" name="Text 56"/>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a:t>
            </a:r>
            <a:endParaRPr lang="en-US" sz="1400" dirty="0"/>
          </a:p>
        </p:txBody>
      </p:sp>
      <p:sp>
        <p:nvSpPr>
          <p:cNvPr id="59" name="Text 57"/>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+23.6 pts</a:t>
            </a:r>
            <a:endParaRPr lang="en-US" sz="1600" dirty="0"/>
          </a:p>
        </p:txBody>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 pts</a:t>
            </a:r>
            <a:endParaRPr lang="en-US" sz="1600" dirty="0"/>
          </a:p>
        </p:txBody>
      </p:sp>
      <p:sp>
        <p:nvSpPr>
          <p:cNvPr id="63" name="Shape 61"/>
          <p:cNvSpPr/>
          <p:nvPr/>
        </p:nvSpPr>
        <p:spPr>
          <a:xfrm>
            <a:off x="8040624" y="3760013"/>
            <a:ext cx="3489960" cy="828446"/>
          </a:xfrm>
          <a:prstGeom prst="rect">
            <a:avLst/>
          </a:prstGeom>
          <a:solidFill>
            <a:srgbClr val="F7F7F7"/>
          </a:solidFill>
          <a:ln/>
        </p:spPr>
      </p:sp>
      <p:sp>
        <p:nvSpPr>
          <p:cNvPr id="64" name="Shape 62"/>
          <p:cNvSpPr/>
          <p:nvPr/>
        </p:nvSpPr>
        <p:spPr>
          <a:xfrm>
            <a:off x="11466576" y="3796589"/>
            <a:ext cx="64008" cy="755294"/>
          </a:xfrm>
          <a:prstGeom prst="rect">
            <a:avLst/>
          </a:prstGeom>
          <a:solidFill>
            <a:srgbClr val="12A566"/>
          </a:solidFill>
          <a:ln/>
        </p:spPr>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21.6%</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68" name="Shape 66"/>
          <p:cNvSpPr/>
          <p:nvPr/>
        </p:nvSpPr>
        <p:spPr>
          <a:xfrm>
            <a:off x="11466576" y="4625035"/>
            <a:ext cx="64008" cy="755294"/>
          </a:xfrm>
          <a:prstGeom prst="rect">
            <a:avLst/>
          </a:prstGeom>
          <a:solidFill>
            <a:srgbClr val="2587C5"/>
          </a:solidFill>
          <a:ln/>
        </p:spPr>
      </p:sp>
      <p:sp>
        <p:nvSpPr>
          <p:cNvPr id="69" name="Text 6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0" name="Text 6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71" name="Text 69"/>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+12.6 pts</a:t>
            </a:r>
            <a:endParaRPr lang="en-US" sz="1600" dirty="0"/>
          </a:p>
        </p:txBody>
      </p:sp>
      <p:sp>
        <p:nvSpPr>
          <p:cNvPr id="72" name="Shape 70"/>
          <p:cNvSpPr/>
          <p:nvPr/>
        </p:nvSpPr>
        <p:spPr>
          <a:xfrm>
            <a:off x="8040624" y="5416906"/>
            <a:ext cx="3489960" cy="828446"/>
          </a:xfrm>
          <a:prstGeom prst="rect">
            <a:avLst/>
          </a:prstGeom>
          <a:solidFill>
            <a:srgbClr val="F7F7F7"/>
          </a:solidFill>
          <a:ln/>
        </p:spPr>
      </p:sp>
      <p:sp>
        <p:nvSpPr>
          <p:cNvPr id="73" name="Shape 71"/>
          <p:cNvSpPr/>
          <p:nvPr/>
        </p:nvSpPr>
        <p:spPr>
          <a:xfrm>
            <a:off x="11466576" y="5453482"/>
            <a:ext cx="64008" cy="755294"/>
          </a:xfrm>
          <a:prstGeom prst="rect">
            <a:avLst/>
          </a:prstGeom>
          <a:solidFill>
            <a:srgbClr val="12A566"/>
          </a:solidFill>
          <a:ln/>
        </p:spPr>
      </p:sp>
      <p:sp>
        <p:nvSpPr>
          <p:cNvPr id="74" name="Text 7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5" name="Text 7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76" name="Text 74"/>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 pts</a:t>
            </a:r>
            <a:endParaRPr lang="en-US" sz="16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 pts</a:t>
            </a:r>
            <a:endParaRPr lang="en-US" sz="1600" dirty="0"/>
          </a:p>
        </p:txBody>
      </p:sp>
      <p:sp>
        <p:nvSpPr>
          <p:cNvPr id="13" name="Shape 11"/>
          <p:cNvSpPr/>
          <p:nvPr/>
        </p:nvSpPr>
        <p:spPr>
          <a:xfrm>
            <a:off x="4084320" y="2968142"/>
            <a:ext cx="64008" cy="755294"/>
          </a:xfrm>
          <a:prstGeom prst="rect">
            <a:avLst/>
          </a:prstGeom>
          <a:solidFill>
            <a:srgbClr val="12A566"/>
          </a:solidFill>
          <a:ln/>
        </p:spPr>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 pts</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32.9%</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26.6%</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 pts</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44.4%</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+7.0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−12.5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37.5%</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−11.8 pts</a:t>
            </a:r>
            <a:endParaRPr lang="en-US" sz="1600" dirty="0"/>
          </a:p>
        </p:txBody>
      </p:sp>
      <p:sp>
        <p:nvSpPr>
          <p:cNvPr id="38" name="Shape 36"/>
          <p:cNvSpPr/>
          <p:nvPr/>
        </p:nvSpPr>
        <p:spPr>
          <a:xfrm>
            <a:off x="4349496" y="3760013"/>
            <a:ext cx="3489960" cy="828446"/>
          </a:xfrm>
          <a:prstGeom prst="rect">
            <a:avLst/>
          </a:prstGeom>
          <a:solidFill>
            <a:srgbClr val="F7F7F7"/>
          </a:solidFill>
          <a:ln/>
        </p:spPr>
      </p:sp>
      <p:sp>
        <p:nvSpPr>
          <p:cNvPr id="39" name="Shape 37"/>
          <p:cNvSpPr/>
          <p:nvPr/>
        </p:nvSpPr>
        <p:spPr>
          <a:xfrm>
            <a:off x="7775448" y="3796589"/>
            <a:ext cx="64008" cy="755294"/>
          </a:xfrm>
          <a:prstGeom prst="rect">
            <a:avLst/>
          </a:prstGeom>
          <a:solidFill>
            <a:srgbClr val="2587C5"/>
          </a:solidFill>
          <a:ln/>
        </p:spPr>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23.6%</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−9.9 pts</a:t>
            </a:r>
            <a:endParaRPr lang="en-US" sz="1600" dirty="0"/>
          </a:p>
        </p:txBody>
      </p:sp>
      <p:sp>
        <p:nvSpPr>
          <p:cNvPr id="46" name="Shape 44"/>
          <p:cNvSpPr/>
          <p:nvPr/>
        </p:nvSpPr>
        <p:spPr>
          <a:xfrm>
            <a:off x="4349496" y="5416906"/>
            <a:ext cx="3489960" cy="828446"/>
          </a:xfrm>
          <a:prstGeom prst="rect">
            <a:avLst/>
          </a:prstGeom>
          <a:solidFill>
            <a:srgbClr val="F7F7F7"/>
          </a:solidFill>
          <a:ln/>
        </p:spPr>
      </p:sp>
      <p:sp>
        <p:nvSpPr>
          <p:cNvPr id="47" name="Shape 45"/>
          <p:cNvSpPr/>
          <p:nvPr/>
        </p:nvSpPr>
        <p:spPr>
          <a:xfrm>
            <a:off x="7775448" y="5453482"/>
            <a:ext cx="64008" cy="755294"/>
          </a:xfrm>
          <a:prstGeom prst="rect">
            <a:avLst/>
          </a:prstGeom>
          <a:solidFill>
            <a:srgbClr val="2587C5"/>
          </a:solidFill>
          <a:ln/>
        </p:spPr>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15.8%</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−8.3 pts</a:t>
            </a:r>
            <a:endParaRPr lang="en-US" sz="1600" dirty="0"/>
          </a:p>
        </p:txBody>
      </p:sp>
      <p:sp>
        <p:nvSpPr>
          <p:cNvPr id="51" name="Shape 49"/>
          <p:cNvSpPr/>
          <p:nvPr/>
        </p:nvSpPr>
        <p:spPr>
          <a:xfrm>
            <a:off x="8040624" y="1371600"/>
            <a:ext cx="3489960" cy="45720"/>
          </a:xfrm>
          <a:prstGeom prst="rect">
            <a:avLst/>
          </a:prstGeom>
          <a:solidFill>
            <a:srgbClr val="2587C5"/>
          </a:solidFill>
          <a:ln/>
        </p:spPr>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4" name="Shape 52"/>
          <p:cNvSpPr/>
          <p:nvPr/>
        </p:nvSpPr>
        <p:spPr>
          <a:xfrm>
            <a:off x="8040624" y="2103120"/>
            <a:ext cx="3489960" cy="828446"/>
          </a:xfrm>
          <a:prstGeom prst="rect">
            <a:avLst/>
          </a:prstGeom>
          <a:solidFill>
            <a:srgbClr val="F7F7F7"/>
          </a:solidFill>
          <a:ln/>
        </p:spPr>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35.8%</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58" name="Shape 56"/>
          <p:cNvSpPr/>
          <p:nvPr/>
        </p:nvSpPr>
        <p:spPr>
          <a:xfrm>
            <a:off x="11466576" y="2968142"/>
            <a:ext cx="64008" cy="755294"/>
          </a:xfrm>
          <a:prstGeom prst="rect">
            <a:avLst/>
          </a:prstGeom>
          <a:solidFill>
            <a:srgbClr val="2587C5"/>
          </a:solidFill>
          <a:ln/>
        </p:spPr>
      </p:sp>
      <p:sp>
        <p:nvSpPr>
          <p:cNvPr id="59" name="Text 5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61" name="Text 59"/>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62" name="Shape 60"/>
          <p:cNvSpPr/>
          <p:nvPr/>
        </p:nvSpPr>
        <p:spPr>
          <a:xfrm>
            <a:off x="8040624" y="3760013"/>
            <a:ext cx="3489960" cy="828446"/>
          </a:xfrm>
          <a:prstGeom prst="rect">
            <a:avLst/>
          </a:prstGeom>
          <a:solidFill>
            <a:srgbClr val="F7F7F7"/>
          </a:solidFill>
          <a:ln/>
        </p:spPr>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40.6%</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+16.5 pts</a:t>
            </a:r>
            <a:endParaRPr lang="en-US" sz="1600" dirty="0"/>
          </a:p>
        </p:txBody>
      </p:sp>
      <p:sp>
        <p:nvSpPr>
          <p:cNvPr id="66" name="Shape 64"/>
          <p:cNvSpPr/>
          <p:nvPr/>
        </p:nvSpPr>
        <p:spPr>
          <a:xfrm>
            <a:off x="11466576" y="4625035"/>
            <a:ext cx="64008" cy="755294"/>
          </a:xfrm>
          <a:prstGeom prst="rect">
            <a:avLst/>
          </a:prstGeom>
          <a:solidFill>
            <a:srgbClr val="12A566"/>
          </a:solidFill>
          <a:ln/>
        </p:spPr>
      </p:sp>
      <p:sp>
        <p:nvSpPr>
          <p:cNvPr id="67" name="Text 6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8" name="Text 6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a:t>
            </a:r>
            <a:endParaRPr lang="en-US" sz="1400" dirty="0"/>
          </a:p>
        </p:txBody>
      </p:sp>
      <p:sp>
        <p:nvSpPr>
          <p:cNvPr id="69" name="Text 67"/>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+15.4 pts</a:t>
            </a:r>
            <a:endParaRPr lang="en-US" sz="1600" dirty="0"/>
          </a:p>
        </p:txBody>
      </p:sp>
      <p:sp>
        <p:nvSpPr>
          <p:cNvPr id="70" name="Shape 68"/>
          <p:cNvSpPr/>
          <p:nvPr/>
        </p:nvSpPr>
        <p:spPr>
          <a:xfrm>
            <a:off x="8040624" y="5416906"/>
            <a:ext cx="3489960" cy="828446"/>
          </a:xfrm>
          <a:prstGeom prst="rect">
            <a:avLst/>
          </a:prstGeom>
          <a:solidFill>
            <a:srgbClr val="F7F7F7"/>
          </a:solidFill>
          <a:ln/>
        </p:spPr>
      </p:sp>
      <p:sp>
        <p:nvSpPr>
          <p:cNvPr id="71" name="Shape 69"/>
          <p:cNvSpPr/>
          <p:nvPr/>
        </p:nvSpPr>
        <p:spPr>
          <a:xfrm>
            <a:off x="11466576" y="5453482"/>
            <a:ext cx="64008" cy="755294"/>
          </a:xfrm>
          <a:prstGeom prst="rect">
            <a:avLst/>
          </a:prstGeom>
          <a:solidFill>
            <a:srgbClr val="2587C5"/>
          </a:solidFill>
          <a:ln/>
        </p:spPr>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24.1%</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 pts</a:t>
            </a:r>
            <a:endParaRPr lang="en-US" sz="16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$168</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+14.3%</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28" name="Shape 26"/>
          <p:cNvSpPr/>
          <p:nvPr/>
        </p:nvSpPr>
        <p:spPr>
          <a:xfrm>
            <a:off x="658368" y="5416906"/>
            <a:ext cx="3489960" cy="828446"/>
          </a:xfrm>
          <a:prstGeom prst="rect">
            <a:avLst/>
          </a:prstGeom>
          <a:solidFill>
            <a:srgbClr val="F7F7F7"/>
          </a:solidFill>
          <a:ln/>
        </p:spPr>
      </p:sp>
      <p:sp>
        <p:nvSpPr>
          <p:cNvPr id="29" name="Text 27"/>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8"/>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a:t>
            </a:r>
            <a:endParaRPr lang="en-US" sz="1400" dirty="0"/>
          </a:p>
        </p:txBody>
      </p:sp>
      <p:sp>
        <p:nvSpPr>
          <p:cNvPr id="31" name="Text 29"/>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32" name="Text 30"/>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3" name="Shape 31"/>
          <p:cNvSpPr/>
          <p:nvPr/>
        </p:nvSpPr>
        <p:spPr>
          <a:xfrm>
            <a:off x="4349496" y="1371600"/>
            <a:ext cx="3489960" cy="45720"/>
          </a:xfrm>
          <a:prstGeom prst="rect">
            <a:avLst/>
          </a:prstGeom>
          <a:solidFill>
            <a:srgbClr val="C2352F"/>
          </a:solidFill>
          <a:ln/>
        </p:spPr>
      </p:sp>
      <p:sp>
        <p:nvSpPr>
          <p:cNvPr id="34"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Text 3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6" name="Shape 34"/>
          <p:cNvSpPr/>
          <p:nvPr/>
        </p:nvSpPr>
        <p:spPr>
          <a:xfrm>
            <a:off x="4349496" y="2103120"/>
            <a:ext cx="3489960" cy="828446"/>
          </a:xfrm>
          <a:prstGeom prst="rect">
            <a:avLst/>
          </a:prstGeom>
          <a:solidFill>
            <a:srgbClr val="F7F7F7"/>
          </a:solidFill>
          <a:ln/>
        </p:spPr>
      </p:sp>
      <p:sp>
        <p:nvSpPr>
          <p:cNvPr id="37" name="Shape 35"/>
          <p:cNvSpPr/>
          <p:nvPr/>
        </p:nvSpPr>
        <p:spPr>
          <a:xfrm>
            <a:off x="7775448" y="2139696"/>
            <a:ext cx="64008" cy="755294"/>
          </a:xfrm>
          <a:prstGeom prst="rect">
            <a:avLst/>
          </a:prstGeom>
          <a:solidFill>
            <a:srgbClr val="2587C5"/>
          </a:solidFill>
          <a:ln/>
        </p:spPr>
      </p:sp>
      <p:sp>
        <p:nvSpPr>
          <p:cNvPr id="38" name="Text 36"/>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7"/>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a:t>
            </a:r>
            <a:endParaRPr lang="en-US" sz="1400" dirty="0"/>
          </a:p>
        </p:txBody>
      </p:sp>
      <p:sp>
        <p:nvSpPr>
          <p:cNvPr id="40" name="Text 38"/>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41" name="Text 39"/>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42" name="Text 4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41"/>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a:t>
            </a:r>
            <a:endParaRPr lang="en-US" sz="1400" dirty="0"/>
          </a:p>
        </p:txBody>
      </p:sp>
      <p:sp>
        <p:nvSpPr>
          <p:cNvPr id="44" name="Text 42"/>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45" name="Text 43"/>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46" name="Shape 44"/>
          <p:cNvSpPr/>
          <p:nvPr/>
        </p:nvSpPr>
        <p:spPr>
          <a:xfrm>
            <a:off x="4349496" y="3760013"/>
            <a:ext cx="3489960" cy="828446"/>
          </a:xfrm>
          <a:prstGeom prst="rect">
            <a:avLst/>
          </a:prstGeom>
          <a:solidFill>
            <a:srgbClr val="F7F7F7"/>
          </a:solidFill>
          <a:ln/>
        </p:spPr>
      </p:sp>
      <p:sp>
        <p:nvSpPr>
          <p:cNvPr id="47" name="Text 45"/>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46"/>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$211</a:t>
            </a:r>
            <a:endParaRPr lang="en-US" sz="1400" dirty="0"/>
          </a:p>
        </p:txBody>
      </p:sp>
      <p:sp>
        <p:nvSpPr>
          <p:cNvPr id="49" name="Text 47"/>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50" name="Text 48"/>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1" name="Text 49"/>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50"/>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$130</a:t>
            </a:r>
            <a:endParaRPr lang="en-US" sz="1400" dirty="0"/>
          </a:p>
        </p:txBody>
      </p:sp>
      <p:sp>
        <p:nvSpPr>
          <p:cNvPr id="53" name="Text 51"/>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−4.6%</a:t>
            </a:r>
            <a:endParaRPr lang="en-US" sz="1600" dirty="0"/>
          </a:p>
        </p:txBody>
      </p:sp>
      <p:sp>
        <p:nvSpPr>
          <p:cNvPr id="54" name="Text 52"/>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55" name="Shape 53"/>
          <p:cNvSpPr/>
          <p:nvPr/>
        </p:nvSpPr>
        <p:spPr>
          <a:xfrm>
            <a:off x="4349496" y="5416906"/>
            <a:ext cx="3489960" cy="828446"/>
          </a:xfrm>
          <a:prstGeom prst="rect">
            <a:avLst/>
          </a:prstGeom>
          <a:solidFill>
            <a:srgbClr val="F7F7F7"/>
          </a:solidFill>
          <a:ln/>
        </p:spPr>
      </p:sp>
      <p:sp>
        <p:nvSpPr>
          <p:cNvPr id="56" name="Text 5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5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$266</a:t>
            </a:r>
            <a:endParaRPr lang="en-US" sz="1400" dirty="0"/>
          </a:p>
        </p:txBody>
      </p:sp>
      <p:sp>
        <p:nvSpPr>
          <p:cNvPr id="58" name="Text 56"/>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a:t>
            </a:r>
            <a:endParaRPr lang="en-US" sz="1600" dirty="0"/>
          </a:p>
        </p:txBody>
      </p:sp>
      <p:sp>
        <p:nvSpPr>
          <p:cNvPr id="59" name="Text 57"/>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60" name="Shape 58"/>
          <p:cNvSpPr/>
          <p:nvPr/>
        </p:nvSpPr>
        <p:spPr>
          <a:xfrm>
            <a:off x="8040624" y="1371600"/>
            <a:ext cx="3489960" cy="45720"/>
          </a:xfrm>
          <a:prstGeom prst="rect">
            <a:avLst/>
          </a:prstGeom>
          <a:solidFill>
            <a:srgbClr val="2587C5"/>
          </a:solidFill>
          <a:ln/>
        </p:spPr>
      </p:sp>
      <p:sp>
        <p:nvSpPr>
          <p:cNvPr id="6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Text 6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63" name="Shape 61"/>
          <p:cNvSpPr/>
          <p:nvPr/>
        </p:nvSpPr>
        <p:spPr>
          <a:xfrm>
            <a:off x="8040624" y="2103120"/>
            <a:ext cx="3489960" cy="828446"/>
          </a:xfrm>
          <a:prstGeom prst="rect">
            <a:avLst/>
          </a:prstGeom>
          <a:solidFill>
            <a:srgbClr val="F7F7F7"/>
          </a:solidFill>
          <a:ln/>
        </p:spPr>
      </p:sp>
      <p:sp>
        <p:nvSpPr>
          <p:cNvPr id="64" name="Text 6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6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a:t>
            </a:r>
            <a:endParaRPr lang="en-US" sz="1400" dirty="0"/>
          </a:p>
        </p:txBody>
      </p:sp>
      <p:sp>
        <p:nvSpPr>
          <p:cNvPr id="66" name="Text 64"/>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67" name="Text 65"/>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68" name="Text 6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6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a:t>
            </a:r>
            <a:endParaRPr lang="en-US" sz="1400" dirty="0"/>
          </a:p>
        </p:txBody>
      </p:sp>
      <p:sp>
        <p:nvSpPr>
          <p:cNvPr id="70" name="Text 68"/>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71" name="Text 69"/>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72" name="Shape 70"/>
          <p:cNvSpPr/>
          <p:nvPr/>
        </p:nvSpPr>
        <p:spPr>
          <a:xfrm>
            <a:off x="8040624" y="3760013"/>
            <a:ext cx="3489960" cy="828446"/>
          </a:xfrm>
          <a:prstGeom prst="rect">
            <a:avLst/>
          </a:prstGeom>
          <a:solidFill>
            <a:srgbClr val="F7F7F7"/>
          </a:solidFill>
          <a:ln/>
        </p:spPr>
      </p:sp>
      <p:sp>
        <p:nvSpPr>
          <p:cNvPr id="73" name="Shape 71"/>
          <p:cNvSpPr/>
          <p:nvPr/>
        </p:nvSpPr>
        <p:spPr>
          <a:xfrm>
            <a:off x="11466576" y="3796589"/>
            <a:ext cx="64008" cy="755294"/>
          </a:xfrm>
          <a:prstGeom prst="rect">
            <a:avLst/>
          </a:prstGeom>
          <a:solidFill>
            <a:srgbClr val="12A566"/>
          </a:solidFill>
          <a:ln/>
        </p:spPr>
      </p:sp>
      <p:sp>
        <p:nvSpPr>
          <p:cNvPr id="74" name="Text 72"/>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73"/>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sp>
        <p:nvSpPr>
          <p:cNvPr id="76" name="Text 74"/>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77" name="Text 75"/>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78" name="Shape 76"/>
          <p:cNvSpPr/>
          <p:nvPr/>
        </p:nvSpPr>
        <p:spPr>
          <a:xfrm>
            <a:off x="11466576" y="4625035"/>
            <a:ext cx="64008" cy="755294"/>
          </a:xfrm>
          <a:prstGeom prst="rect">
            <a:avLst/>
          </a:prstGeom>
          <a:solidFill>
            <a:srgbClr val="2587C5"/>
          </a:solidFill>
          <a:ln/>
        </p:spPr>
      </p:sp>
      <p:sp>
        <p:nvSpPr>
          <p:cNvPr id="79" name="Text 7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0" name="Text 7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$151</a:t>
            </a:r>
            <a:endParaRPr lang="en-US" sz="1400" dirty="0"/>
          </a:p>
        </p:txBody>
      </p:sp>
      <p:sp>
        <p:nvSpPr>
          <p:cNvPr id="81" name="Text 79"/>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82" name="Text 80"/>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83" name="Shape 81"/>
          <p:cNvSpPr/>
          <p:nvPr/>
        </p:nvSpPr>
        <p:spPr>
          <a:xfrm>
            <a:off x="8040624" y="5416906"/>
            <a:ext cx="3489960" cy="828446"/>
          </a:xfrm>
          <a:prstGeom prst="rect">
            <a:avLst/>
          </a:prstGeom>
          <a:solidFill>
            <a:srgbClr val="F7F7F7"/>
          </a:solidFill>
          <a:ln/>
        </p:spPr>
      </p:sp>
      <p:sp>
        <p:nvSpPr>
          <p:cNvPr id="84" name="Text 8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8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a:t>
            </a:r>
            <a:endParaRPr lang="en-US" sz="1400" dirty="0"/>
          </a:p>
        </p:txBody>
      </p:sp>
      <p:sp>
        <p:nvSpPr>
          <p:cNvPr id="86" name="Text 84"/>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87" name="Text 85"/>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$205</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+23.6%</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+19.6%</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$134</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+18.3%</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28" name="Shape 26"/>
          <p:cNvSpPr/>
          <p:nvPr/>
        </p:nvSpPr>
        <p:spPr>
          <a:xfrm>
            <a:off x="658368" y="5416906"/>
            <a:ext cx="3489960" cy="828446"/>
          </a:xfrm>
          <a:prstGeom prst="rect">
            <a:avLst/>
          </a:prstGeom>
          <a:solidFill>
            <a:srgbClr val="F7F7F7"/>
          </a:solidFill>
          <a:ln/>
        </p:spPr>
      </p:sp>
      <p:sp>
        <p:nvSpPr>
          <p:cNvPr id="29" name="Shape 27"/>
          <p:cNvSpPr/>
          <p:nvPr/>
        </p:nvSpPr>
        <p:spPr>
          <a:xfrm>
            <a:off x="4084320" y="5453482"/>
            <a:ext cx="64008" cy="755294"/>
          </a:xfrm>
          <a:prstGeom prst="rect">
            <a:avLst/>
          </a:prstGeom>
          <a:solidFill>
            <a:srgbClr val="12A566"/>
          </a:solidFill>
          <a:ln/>
        </p:spPr>
      </p:sp>
      <p:sp>
        <p:nvSpPr>
          <p:cNvPr id="30" name="Text 28"/>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9"/>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$115</a:t>
            </a:r>
            <a:endParaRPr lang="en-US" sz="1400" dirty="0"/>
          </a:p>
        </p:txBody>
      </p:sp>
      <p:sp>
        <p:nvSpPr>
          <p:cNvPr id="32" name="Text 30"/>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+17.9%</a:t>
            </a:r>
            <a:endParaRPr lang="en-US" sz="1600" dirty="0"/>
          </a:p>
        </p:txBody>
      </p:sp>
      <p:sp>
        <p:nvSpPr>
          <p:cNvPr id="33" name="Text 31"/>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4" name="Shape 32"/>
          <p:cNvSpPr/>
          <p:nvPr/>
        </p:nvSpPr>
        <p:spPr>
          <a:xfrm>
            <a:off x="4349496" y="1371600"/>
            <a:ext cx="3489960" cy="45720"/>
          </a:xfrm>
          <a:prstGeom prst="rect">
            <a:avLst/>
          </a:prstGeom>
          <a:solidFill>
            <a:srgbClr val="C2352F"/>
          </a:solidFill>
          <a:ln/>
        </p:spPr>
      </p:sp>
      <p:sp>
        <p:nvSpPr>
          <p:cNvPr id="35"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Text 34"/>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7" name="Shape 35"/>
          <p:cNvSpPr/>
          <p:nvPr/>
        </p:nvSpPr>
        <p:spPr>
          <a:xfrm>
            <a:off x="4349496" y="2103120"/>
            <a:ext cx="3489960" cy="828446"/>
          </a:xfrm>
          <a:prstGeom prst="rect">
            <a:avLst/>
          </a:prstGeom>
          <a:solidFill>
            <a:srgbClr val="F7F7F7"/>
          </a:solidFill>
          <a:ln/>
        </p:spPr>
      </p:sp>
      <p:sp>
        <p:nvSpPr>
          <p:cNvPr id="38" name="Text 36"/>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7"/>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$87</a:t>
            </a:r>
            <a:endParaRPr lang="en-US" sz="1400" dirty="0"/>
          </a:p>
        </p:txBody>
      </p:sp>
      <p:sp>
        <p:nvSpPr>
          <p:cNvPr id="40" name="Text 38"/>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−27.2%</a:t>
            </a:r>
            <a:endParaRPr lang="en-US" sz="1600" dirty="0"/>
          </a:p>
        </p:txBody>
      </p:sp>
      <p:sp>
        <p:nvSpPr>
          <p:cNvPr id="41" name="Text 39"/>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42" name="Text 4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41"/>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$167</a:t>
            </a:r>
            <a:endParaRPr lang="en-US" sz="1400" dirty="0"/>
          </a:p>
        </p:txBody>
      </p:sp>
      <p:sp>
        <p:nvSpPr>
          <p:cNvPr id="44" name="Text 42"/>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−26.6%</a:t>
            </a:r>
            <a:endParaRPr lang="en-US" sz="1600" dirty="0"/>
          </a:p>
        </p:txBody>
      </p:sp>
      <p:sp>
        <p:nvSpPr>
          <p:cNvPr id="45" name="Text 43"/>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46" name="Shape 44"/>
          <p:cNvSpPr/>
          <p:nvPr/>
        </p:nvSpPr>
        <p:spPr>
          <a:xfrm>
            <a:off x="4349496" y="3760013"/>
            <a:ext cx="3489960" cy="828446"/>
          </a:xfrm>
          <a:prstGeom prst="rect">
            <a:avLst/>
          </a:prstGeom>
          <a:solidFill>
            <a:srgbClr val="F7F7F7"/>
          </a:solidFill>
          <a:ln/>
        </p:spPr>
      </p:sp>
      <p:sp>
        <p:nvSpPr>
          <p:cNvPr id="47" name="Text 45"/>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46"/>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a:t>
            </a:r>
            <a:endParaRPr lang="en-US" sz="1400" dirty="0"/>
          </a:p>
        </p:txBody>
      </p:sp>
      <p:sp>
        <p:nvSpPr>
          <p:cNvPr id="49" name="Text 47"/>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−22.4%</a:t>
            </a:r>
            <a:endParaRPr lang="en-US" sz="1600" dirty="0"/>
          </a:p>
        </p:txBody>
      </p:sp>
      <p:sp>
        <p:nvSpPr>
          <p:cNvPr id="50" name="Text 48"/>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51" name="Shape 49"/>
          <p:cNvSpPr/>
          <p:nvPr/>
        </p:nvSpPr>
        <p:spPr>
          <a:xfrm>
            <a:off x="7775448" y="4625035"/>
            <a:ext cx="64008" cy="755294"/>
          </a:xfrm>
          <a:prstGeom prst="rect">
            <a:avLst/>
          </a:prstGeom>
          <a:solidFill>
            <a:srgbClr val="2587C5"/>
          </a:solidFill>
          <a:ln/>
        </p:spPr>
      </p:sp>
      <p:sp>
        <p:nvSpPr>
          <p:cNvPr id="52" name="Text 5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3" name="Text 5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a:t>
            </a:r>
            <a:endParaRPr lang="en-US" sz="1400" dirty="0"/>
          </a:p>
        </p:txBody>
      </p:sp>
      <p:sp>
        <p:nvSpPr>
          <p:cNvPr id="54" name="Text 52"/>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−12.0%</a:t>
            </a:r>
            <a:endParaRPr lang="en-US" sz="1600" dirty="0"/>
          </a:p>
        </p:txBody>
      </p:sp>
      <p:sp>
        <p:nvSpPr>
          <p:cNvPr id="55" name="Text 53"/>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56" name="Shape 54"/>
          <p:cNvSpPr/>
          <p:nvPr/>
        </p:nvSpPr>
        <p:spPr>
          <a:xfrm>
            <a:off x="4349496" y="5416906"/>
            <a:ext cx="3489960" cy="828446"/>
          </a:xfrm>
          <a:prstGeom prst="rect">
            <a:avLst/>
          </a:prstGeom>
          <a:solidFill>
            <a:srgbClr val="F7F7F7"/>
          </a:solidFill>
          <a:ln/>
        </p:spPr>
      </p:sp>
      <p:sp>
        <p:nvSpPr>
          <p:cNvPr id="57" name="Text 5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8" name="Text 5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sp>
        <p:nvSpPr>
          <p:cNvPr id="59" name="Text 57"/>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−11.3%</a:t>
            </a:r>
            <a:endParaRPr lang="en-US" sz="1600" dirty="0"/>
          </a:p>
        </p:txBody>
      </p:sp>
      <p:sp>
        <p:nvSpPr>
          <p:cNvPr id="60" name="Text 58"/>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61" name="Shape 59"/>
          <p:cNvSpPr/>
          <p:nvPr/>
        </p:nvSpPr>
        <p:spPr>
          <a:xfrm>
            <a:off x="8040624" y="1371600"/>
            <a:ext cx="3489960" cy="45720"/>
          </a:xfrm>
          <a:prstGeom prst="rect">
            <a:avLst/>
          </a:prstGeom>
          <a:solidFill>
            <a:srgbClr val="2587C5"/>
          </a:solidFill>
          <a:ln/>
        </p:spPr>
      </p:sp>
      <p:sp>
        <p:nvSpPr>
          <p:cNvPr id="62" name="Text 6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3" name="Text 6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64" name="Shape 62"/>
          <p:cNvSpPr/>
          <p:nvPr/>
        </p:nvSpPr>
        <p:spPr>
          <a:xfrm>
            <a:off x="8040624" y="2103120"/>
            <a:ext cx="3489960" cy="828446"/>
          </a:xfrm>
          <a:prstGeom prst="rect">
            <a:avLst/>
          </a:prstGeom>
          <a:solidFill>
            <a:srgbClr val="F7F7F7"/>
          </a:solidFill>
          <a:ln/>
        </p:spPr>
      </p:sp>
      <p:sp>
        <p:nvSpPr>
          <p:cNvPr id="65" name="Shape 63"/>
          <p:cNvSpPr/>
          <p:nvPr/>
        </p:nvSpPr>
        <p:spPr>
          <a:xfrm>
            <a:off x="11466576" y="2139696"/>
            <a:ext cx="64008" cy="755294"/>
          </a:xfrm>
          <a:prstGeom prst="rect">
            <a:avLst/>
          </a:prstGeom>
          <a:solidFill>
            <a:srgbClr val="2587C5"/>
          </a:solidFill>
          <a:ln/>
        </p:spPr>
      </p:sp>
      <p:sp>
        <p:nvSpPr>
          <p:cNvPr id="66" name="Text 6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7" name="Text 6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$183</a:t>
            </a:r>
            <a:endParaRPr lang="en-US" sz="1400" dirty="0"/>
          </a:p>
        </p:txBody>
      </p:sp>
      <p:sp>
        <p:nvSpPr>
          <p:cNvPr id="68" name="Text 66"/>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69" name="Text 67"/>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0" name="Shape 68"/>
          <p:cNvSpPr/>
          <p:nvPr/>
        </p:nvSpPr>
        <p:spPr>
          <a:xfrm>
            <a:off x="11466576" y="2968142"/>
            <a:ext cx="64008" cy="755294"/>
          </a:xfrm>
          <a:prstGeom prst="rect">
            <a:avLst/>
          </a:prstGeom>
          <a:solidFill>
            <a:srgbClr val="12A566"/>
          </a:solidFill>
          <a:ln/>
        </p:spPr>
      </p:sp>
      <p:sp>
        <p:nvSpPr>
          <p:cNvPr id="71" name="Text 69"/>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2" name="Text 70"/>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$233</a:t>
            </a:r>
            <a:endParaRPr lang="en-US" sz="1400" dirty="0"/>
          </a:p>
        </p:txBody>
      </p:sp>
      <p:sp>
        <p:nvSpPr>
          <p:cNvPr id="73" name="Text 71"/>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+31.8%</a:t>
            </a:r>
            <a:endParaRPr lang="en-US" sz="1600" dirty="0"/>
          </a:p>
        </p:txBody>
      </p:sp>
      <p:sp>
        <p:nvSpPr>
          <p:cNvPr id="74" name="Text 72"/>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75" name="Shape 73"/>
          <p:cNvSpPr/>
          <p:nvPr/>
        </p:nvSpPr>
        <p:spPr>
          <a:xfrm>
            <a:off x="8040624" y="3760013"/>
            <a:ext cx="3489960" cy="828446"/>
          </a:xfrm>
          <a:prstGeom prst="rect">
            <a:avLst/>
          </a:prstGeom>
          <a:solidFill>
            <a:srgbClr val="F7F7F7"/>
          </a:solidFill>
          <a:ln/>
        </p:spPr>
      </p:sp>
      <p:sp>
        <p:nvSpPr>
          <p:cNvPr id="76" name="Shape 74"/>
          <p:cNvSpPr/>
          <p:nvPr/>
        </p:nvSpPr>
        <p:spPr>
          <a:xfrm>
            <a:off x="11466576" y="3796589"/>
            <a:ext cx="64008" cy="755294"/>
          </a:xfrm>
          <a:prstGeom prst="rect">
            <a:avLst/>
          </a:prstGeom>
          <a:solidFill>
            <a:srgbClr val="12A566"/>
          </a:solidFill>
          <a:ln/>
        </p:spPr>
      </p:sp>
      <p:sp>
        <p:nvSpPr>
          <p:cNvPr id="77" name="Text 75"/>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8" name="Text 76"/>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79" name="Text 77"/>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+25.2%</a:t>
            </a:r>
            <a:endParaRPr lang="en-US" sz="1600" dirty="0"/>
          </a:p>
        </p:txBody>
      </p:sp>
      <p:sp>
        <p:nvSpPr>
          <p:cNvPr id="80" name="Text 78"/>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+$26</a:t>
            </a:r>
            <a:endParaRPr lang="en-US" sz="1300" dirty="0"/>
          </a:p>
        </p:txBody>
      </p:sp>
      <p:sp>
        <p:nvSpPr>
          <p:cNvPr id="81" name="Text 79"/>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80"/>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$119</a:t>
            </a:r>
            <a:endParaRPr lang="en-US" sz="1400" dirty="0"/>
          </a:p>
        </p:txBody>
      </p:sp>
      <p:sp>
        <p:nvSpPr>
          <p:cNvPr id="83" name="Text 81"/>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+23.3%</a:t>
            </a:r>
            <a:endParaRPr lang="en-US" sz="1600" dirty="0"/>
          </a:p>
        </p:txBody>
      </p:sp>
      <p:sp>
        <p:nvSpPr>
          <p:cNvPr id="84" name="Text 82"/>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85" name="Shape 83"/>
          <p:cNvSpPr/>
          <p:nvPr/>
        </p:nvSpPr>
        <p:spPr>
          <a:xfrm>
            <a:off x="8040624" y="5416906"/>
            <a:ext cx="3489960" cy="828446"/>
          </a:xfrm>
          <a:prstGeom prst="rect">
            <a:avLst/>
          </a:prstGeom>
          <a:solidFill>
            <a:srgbClr val="F7F7F7"/>
          </a:solidFill>
          <a:ln/>
        </p:spPr>
      </p:sp>
      <p:sp>
        <p:nvSpPr>
          <p:cNvPr id="86" name="Text 84"/>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85"/>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$187</a:t>
            </a:r>
            <a:endParaRPr lang="en-US" sz="1400" dirty="0"/>
          </a:p>
        </p:txBody>
      </p:sp>
      <p:sp>
        <p:nvSpPr>
          <p:cNvPr id="88" name="Text 86"/>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+17.6%</a:t>
            </a:r>
            <a:endParaRPr lang="en-US" sz="1600" dirty="0"/>
          </a:p>
        </p:txBody>
      </p:sp>
      <p:sp>
        <p:nvSpPr>
          <p:cNvPr id="89" name="Text 87"/>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$15,556</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+$4,158</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$11,631</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+$2,933</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$10,963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+$2,545</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$10,881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$13,289</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+$2,409</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$23,461</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+$2,359</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$9,878</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−$1,319</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$12,103</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−$1,230</a:t>
            </a:r>
            <a:endParaRPr lang="en-US" sz="1600" dirty="0"/>
          </a:p>
        </p:txBody>
      </p:sp>
      <p:sp>
        <p:nvSpPr>
          <p:cNvPr id="38" name="Shape 36"/>
          <p:cNvSpPr/>
          <p:nvPr/>
        </p:nvSpPr>
        <p:spPr>
          <a:xfrm>
            <a:off x="4349496" y="3760013"/>
            <a:ext cx="3489960" cy="828446"/>
          </a:xfrm>
          <a:prstGeom prst="rect">
            <a:avLst/>
          </a:prstGeom>
          <a:solidFill>
            <a:srgbClr val="F7F7F7"/>
          </a:solidFill>
          <a:ln/>
        </p:spPr>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$14,765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$14,260</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−$505</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$12,006</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−$414</a:t>
            </a:r>
            <a:endParaRPr lang="en-US" sz="1600" dirty="0"/>
          </a:p>
        </p:txBody>
      </p:sp>
      <p:sp>
        <p:nvSpPr>
          <p:cNvPr id="45" name="Shape 43"/>
          <p:cNvSpPr/>
          <p:nvPr/>
        </p:nvSpPr>
        <p:spPr>
          <a:xfrm>
            <a:off x="4349496" y="5416906"/>
            <a:ext cx="3489960" cy="828446"/>
          </a:xfrm>
          <a:prstGeom prst="rect">
            <a:avLst/>
          </a:prstGeom>
          <a:solidFill>
            <a:srgbClr val="F7F7F7"/>
          </a:solidFill>
          <a:ln/>
        </p:spPr>
      </p:sp>
      <p:sp>
        <p:nvSpPr>
          <p:cNvPr id="46" name="Shape 44"/>
          <p:cNvSpPr/>
          <p:nvPr/>
        </p:nvSpPr>
        <p:spPr>
          <a:xfrm>
            <a:off x="7775448" y="5453482"/>
            <a:ext cx="64008" cy="755294"/>
          </a:xfrm>
          <a:prstGeom prst="rect">
            <a:avLst/>
          </a:prstGeom>
          <a:solidFill>
            <a:srgbClr val="2587C5"/>
          </a:solidFill>
          <a:ln/>
        </p:spPr>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$16,088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$15,966</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−$121</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3" name="Shape 51"/>
          <p:cNvSpPr/>
          <p:nvPr/>
        </p:nvSpPr>
        <p:spPr>
          <a:xfrm>
            <a:off x="8040624" y="2103120"/>
            <a:ext cx="3489960" cy="828446"/>
          </a:xfrm>
          <a:prstGeom prst="rect">
            <a:avLst/>
          </a:prstGeom>
          <a:solidFill>
            <a:srgbClr val="F7F7F7"/>
          </a:solidFill>
          <a:ln/>
        </p:spPr>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$20,761</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+$4,936</a:t>
            </a:r>
            <a:endParaRPr lang="en-US" sz="1600" dirty="0"/>
          </a:p>
        </p:txBody>
      </p:sp>
      <p:sp>
        <p:nvSpPr>
          <p:cNvPr id="57" name="Shape 55"/>
          <p:cNvSpPr/>
          <p:nvPr/>
        </p:nvSpPr>
        <p:spPr>
          <a:xfrm>
            <a:off x="11466576" y="2968142"/>
            <a:ext cx="64008" cy="755294"/>
          </a:xfrm>
          <a:prstGeom prst="rect">
            <a:avLst/>
          </a:prstGeom>
          <a:solidFill>
            <a:srgbClr val="12A566"/>
          </a:solidFill>
          <a:ln/>
        </p:spPr>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+$4,856</a:t>
            </a:r>
            <a:endParaRPr lang="en-US" sz="1600" dirty="0"/>
          </a:p>
        </p:txBody>
      </p:sp>
      <p:sp>
        <p:nvSpPr>
          <p:cNvPr id="61" name="Shape 59"/>
          <p:cNvSpPr/>
          <p:nvPr/>
        </p:nvSpPr>
        <p:spPr>
          <a:xfrm>
            <a:off x="8040624" y="3760013"/>
            <a:ext cx="3489960" cy="828446"/>
          </a:xfrm>
          <a:prstGeom prst="rect">
            <a:avLst/>
          </a:prstGeom>
          <a:solidFill>
            <a:srgbClr val="F7F7F7"/>
          </a:solidFill>
          <a:ln/>
        </p:spPr>
      </p:sp>
      <p:sp>
        <p:nvSpPr>
          <p:cNvPr id="62" name="Text 60"/>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3" name="Text 61"/>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$13,709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sp>
        <p:nvSpPr>
          <p:cNvPr id="64" name="Text 62"/>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+$3,587</a:t>
            </a:r>
            <a:endParaRPr lang="en-US" sz="1600" dirty="0"/>
          </a:p>
        </p:txBody>
      </p:sp>
      <p:sp>
        <p:nvSpPr>
          <p:cNvPr id="65" name="Text 63"/>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6" name="Text 64"/>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$12,004</a:t>
            </a:r>
            <a:endParaRPr lang="en-US" sz="1400" dirty="0"/>
          </a:p>
        </p:txBody>
      </p:sp>
      <p:sp>
        <p:nvSpPr>
          <p:cNvPr id="67" name="Text 65"/>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+$3,479</a:t>
            </a:r>
            <a:endParaRPr lang="en-US" sz="1600" dirty="0"/>
          </a:p>
        </p:txBody>
      </p:sp>
      <p:sp>
        <p:nvSpPr>
          <p:cNvPr id="68" name="Shape 66"/>
          <p:cNvSpPr/>
          <p:nvPr/>
        </p:nvSpPr>
        <p:spPr>
          <a:xfrm>
            <a:off x="8040624" y="5416906"/>
            <a:ext cx="3489960" cy="828446"/>
          </a:xfrm>
          <a:prstGeom prst="rect">
            <a:avLst/>
          </a:prstGeom>
          <a:solidFill>
            <a:srgbClr val="F7F7F7"/>
          </a:solidFill>
          <a:ln/>
        </p:spPr>
      </p:sp>
      <p:sp>
        <p:nvSpPr>
          <p:cNvPr id="69" name="Shape 67"/>
          <p:cNvSpPr/>
          <p:nvPr/>
        </p:nvSpPr>
        <p:spPr>
          <a:xfrm>
            <a:off x="11466576" y="5453482"/>
            <a:ext cx="64008" cy="755294"/>
          </a:xfrm>
          <a:prstGeom prst="rect">
            <a:avLst/>
          </a:prstGeom>
          <a:solidFill>
            <a:srgbClr val="2587C5"/>
          </a:solidFill>
          <a:ln/>
        </p:spPr>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$16,995</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+$2,972</a:t>
            </a:r>
            <a:endParaRPr lang="en-US" sz="1600" dirty="0"/>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Technicians &amp; Stalls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1:1 tech to stall unless you run on-demand appointments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Tech level in line with job skill: right tech, right job</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5/6 of staff on schedule at all times, Saturdays included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90%+ MPI completion; track and report technician efficiency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Use scoreboarding and communicate to techs where they stand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Set clear objectives and give feedback: no one can be held to a goal they don't know. We're responsible for the knowing</a:t>
            </a:r>
            <a:endParaRPr lang="en-US" sz="18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Group technician proficiency (hours flagged / clocked hours). 20 of 33 stores at or above 85%.</a:t>
            </a:r>
            <a:endParaRPr lang="en-US" sz="1400" dirty="0"/>
          </a:p>
        </p:txBody>
      </p:sp>
      <p:sp>
        <p:nvSpPr>
          <p:cNvPr id="13" name="Shape 11"/>
          <p:cNvSpPr/>
          <p:nvPr/>
        </p:nvSpPr>
        <p:spPr>
          <a:xfrm>
            <a:off x="7269480" y="3261360"/>
            <a:ext cx="54864" cy="1112520"/>
          </a:xfrm>
          <a:prstGeom prst="rect">
            <a:avLst/>
          </a:prstGeom>
          <a:solidFill>
            <a:srgbClr val="C2352F"/>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262 of 583</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Counted technicians under 85%. Every store has at least one.</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missed if each of them reached 85%: no extra hours, techs or bays.</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set clear goals, show every tech where they stand every week, and give feedback. The best techs in each store already prove 85% is possible.</a:t>
            </a:r>
            <a:endParaRPr lang="en-US" sz="1600" dirty="0"/>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Proficiency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flagged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clocked hours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many hours a technician produces for every hour they are on the clock. 85% is on target; 100% or more is above.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 40-HOUR WEEK</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Clocks 40 hours  </a:t>
            </a:r>
            <a:pPr algn="ctr" indent="0" marL="0">
              <a:buNone/>
            </a:pPr>
            <a:r>
              <a:rPr lang="en-US" sz="1400" b="1" dirty="0">
                <a:solidFill>
                  <a:srgbClr val="0B2C4A"/>
                </a:solidFill>
                <a:latin typeface="Inter" pitchFamily="34" charset="0"/>
                <a:ea typeface="Inter" pitchFamily="34" charset="-122"/>
                <a:cs typeface="Inter" pitchFamily="34" charset="-120"/>
              </a:rPr>
              <a:t>flags 34</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Proficiency  </a:t>
            </a:r>
            <a:pPr algn="ctr" indent="0" marL="0">
              <a:buNone/>
            </a:pPr>
            <a:r>
              <a:rPr lang="en-US" sz="1400" b="1" dirty="0">
                <a:solidFill>
                  <a:srgbClr val="0B2C4A"/>
                </a:solidFill>
                <a:latin typeface="Inter" pitchFamily="34" charset="0"/>
                <a:ea typeface="Inter" pitchFamily="34" charset="-122"/>
                <a:cs typeface="Inter" pitchFamily="34" charset="-120"/>
              </a:rPr>
              <a:t>85%</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Flags 40  </a:t>
            </a:r>
            <a:pPr algn="ctr" indent="0" marL="0">
              <a:buNone/>
            </a:pPr>
            <a:r>
              <a:rPr lang="en-US" sz="1400" b="1" dirty="0">
                <a:solidFill>
                  <a:srgbClr val="0B2C4A"/>
                </a:solidFill>
                <a:latin typeface="Inter" pitchFamily="34" charset="0"/>
                <a:ea typeface="Inter" pitchFamily="34" charset="-122"/>
                <a:cs typeface="Inter" pitchFamily="34" charset="-120"/>
              </a:rPr>
              <a:t>100%</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 service department is a production facility. What we produce is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Any production floor knows what it made today and what each person made. So should we.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takes someone actively managing production, every day.</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Dispatch</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waiting at the bay; the right job to the right tech</a:t>
            </a:r>
            <a:endParaRPr lang="en-US" sz="1400" dirty="0"/>
          </a:p>
        </p:txBody>
      </p:sp>
      <p:sp>
        <p:nvSpPr>
          <p:cNvPr id="22" name="Shape 20"/>
          <p:cNvSpPr/>
          <p:nvPr/>
        </p:nvSpPr>
        <p:spPr>
          <a:xfrm>
            <a:off x="7309104" y="3410712"/>
            <a:ext cx="45720" cy="1133856"/>
          </a:xfrm>
          <a:prstGeom prst="rect">
            <a:avLst/>
          </a:prstGeom>
          <a:solidFill>
            <a:srgbClr val="2587C5"/>
          </a:solidFill>
          <a:ln/>
        </p:spPr>
      </p:sp>
      <p:sp>
        <p:nvSpPr>
          <p:cNvPr id="23" name="Text 21"/>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Car count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Not enough work leaves techs waiting</a:t>
            </a:r>
            <a:endParaRPr lang="en-US" sz="1400" dirty="0"/>
          </a:p>
        </p:txBody>
      </p:sp>
      <p:sp>
        <p:nvSpPr>
          <p:cNvPr id="24" name="Shape 22"/>
          <p:cNvSpPr/>
          <p:nvPr/>
        </p:nvSpPr>
        <p:spPr>
          <a:xfrm>
            <a:off x="9479280" y="3410712"/>
            <a:ext cx="45720" cy="1133856"/>
          </a:xfrm>
          <a:prstGeom prst="rect">
            <a:avLst/>
          </a:prstGeom>
          <a:solidFill>
            <a:srgbClr val="2587C5"/>
          </a:solidFill>
          <a:ln/>
        </p:spPr>
      </p:sp>
      <p:sp>
        <p:nvSpPr>
          <p:cNvPr id="25" name="Text 23"/>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staging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at the bay before the tech needs them</a:t>
            </a:r>
            <a:endParaRPr lang="en-US" sz="1400" dirty="0"/>
          </a:p>
        </p:txBody>
      </p:sp>
      <p:sp>
        <p:nvSpPr>
          <p:cNvPr id="26" name="Shape 24"/>
          <p:cNvSpPr/>
          <p:nvPr/>
        </p:nvSpPr>
        <p:spPr>
          <a:xfrm>
            <a:off x="5138928" y="4654296"/>
            <a:ext cx="45720" cy="1133856"/>
          </a:xfrm>
          <a:prstGeom prst="rect">
            <a:avLst/>
          </a:prstGeom>
          <a:solidFill>
            <a:srgbClr val="2587C5"/>
          </a:solidFill>
          <a:ln/>
        </p:spPr>
      </p:sp>
      <p:sp>
        <p:nvSpPr>
          <p:cNvPr id="27" name="Text 25"/>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Approvals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customer approval on the inspection</a:t>
            </a:r>
            <a:endParaRPr lang="en-US" sz="1400" dirty="0"/>
          </a:p>
        </p:txBody>
      </p:sp>
      <p:sp>
        <p:nvSpPr>
          <p:cNvPr id="28" name="Shape 26"/>
          <p:cNvSpPr/>
          <p:nvPr/>
        </p:nvSpPr>
        <p:spPr>
          <a:xfrm>
            <a:off x="7309104" y="4654296"/>
            <a:ext cx="45720" cy="1133856"/>
          </a:xfrm>
          <a:prstGeom prst="rect">
            <a:avLst/>
          </a:prstGeom>
          <a:solidFill>
            <a:srgbClr val="2587C5"/>
          </a:solidFill>
          <a:ln/>
        </p:spPr>
      </p:sp>
      <p:sp>
        <p:nvSpPr>
          <p:cNvPr id="29" name="Text 27"/>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Skill and training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 level in line with job skill</a:t>
            </a:r>
            <a:endParaRPr lang="en-US" sz="1400" dirty="0"/>
          </a:p>
        </p:txBody>
      </p:sp>
      <p:sp>
        <p:nvSpPr>
          <p:cNvPr id="30" name="Shape 28"/>
          <p:cNvSpPr/>
          <p:nvPr/>
        </p:nvSpPr>
        <p:spPr>
          <a:xfrm>
            <a:off x="9479280" y="4654296"/>
            <a:ext cx="45720" cy="1133856"/>
          </a:xfrm>
          <a:prstGeom prst="rect">
            <a:avLst/>
          </a:prstGeom>
          <a:solidFill>
            <a:srgbClr val="2587C5"/>
          </a:solidFill>
          <a:ln/>
        </p:spPr>
      </p:sp>
      <p:sp>
        <p:nvSpPr>
          <p:cNvPr id="31" name="Text 29"/>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Proficiency vs efficiency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Efficiency divides by time clocked to ROs, not all clocked hours</a:t>
            </a:r>
            <a:endParaRPr lang="en-US" sz="1400" dirty="0"/>
          </a:p>
        </p:txBody>
      </p:sp>
      <p:sp>
        <p:nvSpPr>
          <p:cNvPr id="32" name="Shape 30"/>
          <p:cNvSpPr/>
          <p:nvPr/>
        </p:nvSpPr>
        <p:spPr>
          <a:xfrm>
            <a:off x="457200" y="6126480"/>
            <a:ext cx="11274552" cy="371856"/>
          </a:xfrm>
          <a:prstGeom prst="rect">
            <a:avLst/>
          </a:prstGeom>
          <a:solidFill>
            <a:srgbClr val="EDF4FA"/>
          </a:solidFill>
          <a:ln/>
        </p:spPr>
      </p:sp>
      <p:sp>
        <p:nvSpPr>
          <p:cNvPr id="33" name="Text 31"/>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94.7%. 20 of 33 stores at or above 85%; 262 of 583 counted techs below it.</a:t>
            </a:r>
            <a:endParaRPr lang="en-US" sz="160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713232" y="1463040"/>
            <a:ext cx="3453384" cy="3063240"/>
          </a:xfrm>
          <a:prstGeom prst="rect">
            <a:avLst/>
          </a:prstGeom>
          <a:solidFill>
            <a:srgbClr val="F7F7F7"/>
          </a:solidFill>
          <a:ln/>
        </p:spPr>
      </p:sp>
      <p:sp>
        <p:nvSpPr>
          <p:cNvPr id="7" name="Shape 5"/>
          <p:cNvSpPr/>
          <p:nvPr/>
        </p:nvSpPr>
        <p:spPr>
          <a:xfrm>
            <a:off x="713232" y="1463040"/>
            <a:ext cx="3453384" cy="64008"/>
          </a:xfrm>
          <a:prstGeom prst="rect">
            <a:avLst/>
          </a:prstGeom>
          <a:solidFill>
            <a:srgbClr val="2587C5"/>
          </a:solidFill>
          <a:ln/>
        </p:spPr>
      </p:sp>
      <p:sp>
        <p:nvSpPr>
          <p:cNvPr id="8" name="Text 6"/>
          <p:cNvSpPr txBox="1"/>
          <p:nvPr/>
        </p:nvSpPr>
        <p:spPr>
          <a:xfrm>
            <a:off x="896112"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9" name="Text 7"/>
          <p:cNvSpPr txBox="1"/>
          <p:nvPr/>
        </p:nvSpPr>
        <p:spPr>
          <a:xfrm>
            <a:off x="896112"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clocked to repair orders ÷ clocked hours</a:t>
            </a:r>
            <a:endParaRPr lang="en-US" sz="2000" dirty="0"/>
          </a:p>
        </p:txBody>
      </p:sp>
      <p:sp>
        <p:nvSpPr>
          <p:cNvPr id="10" name="Text 8"/>
          <p:cNvSpPr txBox="1"/>
          <p:nvPr/>
        </p:nvSpPr>
        <p:spPr>
          <a:xfrm>
            <a:off x="896112"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much of the technician's clocked time was spent on repair orders?</a:t>
            </a:r>
            <a:endParaRPr lang="en-US" sz="1600" dirty="0"/>
          </a:p>
        </p:txBody>
      </p:sp>
      <p:sp>
        <p:nvSpPr>
          <p:cNvPr id="11" name="Shape 9"/>
          <p:cNvSpPr/>
          <p:nvPr/>
        </p:nvSpPr>
        <p:spPr>
          <a:xfrm>
            <a:off x="896112" y="3858768"/>
            <a:ext cx="3087624" cy="10973"/>
          </a:xfrm>
          <a:prstGeom prst="rect">
            <a:avLst/>
          </a:prstGeom>
          <a:solidFill>
            <a:srgbClr val="D9D9D9"/>
          </a:solidFill>
          <a:ln/>
        </p:spPr>
      </p:sp>
      <p:sp>
        <p:nvSpPr>
          <p:cNvPr id="12" name="Text 10"/>
          <p:cNvSpPr txBox="1"/>
          <p:nvPr/>
        </p:nvSpPr>
        <p:spPr>
          <a:xfrm>
            <a:off x="896112"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6 ÷ 8 = 75%</a:t>
            </a:r>
            <a:endParaRPr lang="en-US" sz="1800" dirty="0"/>
          </a:p>
        </p:txBody>
      </p:sp>
      <p:sp>
        <p:nvSpPr>
          <p:cNvPr id="13" name="Shape 11"/>
          <p:cNvSpPr/>
          <p:nvPr/>
        </p:nvSpPr>
        <p:spPr>
          <a:xfrm>
            <a:off x="4367784" y="1463040"/>
            <a:ext cx="3453384" cy="3063240"/>
          </a:xfrm>
          <a:prstGeom prst="rect">
            <a:avLst/>
          </a:prstGeom>
          <a:solidFill>
            <a:srgbClr val="F7F7F7"/>
          </a:solidFill>
          <a:ln/>
        </p:spPr>
      </p:sp>
      <p:sp>
        <p:nvSpPr>
          <p:cNvPr id="14" name="Shape 12"/>
          <p:cNvSpPr/>
          <p:nvPr/>
        </p:nvSpPr>
        <p:spPr>
          <a:xfrm>
            <a:off x="4367784" y="1463040"/>
            <a:ext cx="3453384" cy="64008"/>
          </a:xfrm>
          <a:prstGeom prst="rect">
            <a:avLst/>
          </a:prstGeom>
          <a:solidFill>
            <a:srgbClr val="2587C5"/>
          </a:solidFill>
          <a:ln/>
        </p:spPr>
      </p:sp>
      <p:sp>
        <p:nvSpPr>
          <p:cNvPr id="15" name="Text 13"/>
          <p:cNvSpPr txBox="1"/>
          <p:nvPr/>
        </p:nvSpPr>
        <p:spPr>
          <a:xfrm>
            <a:off x="4550664"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6" name="Text 14"/>
          <p:cNvSpPr txBox="1"/>
          <p:nvPr/>
        </p:nvSpPr>
        <p:spPr>
          <a:xfrm>
            <a:off x="4550664"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hours clocked to repair orders</a:t>
            </a:r>
            <a:endParaRPr lang="en-US" sz="2000" dirty="0"/>
          </a:p>
        </p:txBody>
      </p:sp>
      <p:sp>
        <p:nvSpPr>
          <p:cNvPr id="17" name="Text 15"/>
          <p:cNvSpPr txBox="1"/>
          <p:nvPr/>
        </p:nvSpPr>
        <p:spPr>
          <a:xfrm>
            <a:off x="4550664"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for each hour clocked to repair orders?</a:t>
            </a:r>
            <a:endParaRPr lang="en-US" sz="1600" dirty="0"/>
          </a:p>
        </p:txBody>
      </p:sp>
      <p:sp>
        <p:nvSpPr>
          <p:cNvPr id="18" name="Shape 16"/>
          <p:cNvSpPr/>
          <p:nvPr/>
        </p:nvSpPr>
        <p:spPr>
          <a:xfrm>
            <a:off x="4550664" y="3858768"/>
            <a:ext cx="3087624" cy="10973"/>
          </a:xfrm>
          <a:prstGeom prst="rect">
            <a:avLst/>
          </a:prstGeom>
          <a:solidFill>
            <a:srgbClr val="D9D9D9"/>
          </a:solidFill>
          <a:ln/>
        </p:spPr>
      </p:sp>
      <p:sp>
        <p:nvSpPr>
          <p:cNvPr id="19" name="Text 17"/>
          <p:cNvSpPr txBox="1"/>
          <p:nvPr/>
        </p:nvSpPr>
        <p:spPr>
          <a:xfrm>
            <a:off x="4550664"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6 = 125%</a:t>
            </a:r>
            <a:endParaRPr lang="en-US" sz="1800" dirty="0"/>
          </a:p>
        </p:txBody>
      </p:sp>
      <p:sp>
        <p:nvSpPr>
          <p:cNvPr id="20" name="Shape 18"/>
          <p:cNvSpPr/>
          <p:nvPr/>
        </p:nvSpPr>
        <p:spPr>
          <a:xfrm>
            <a:off x="8022336" y="1463040"/>
            <a:ext cx="3453384" cy="3063240"/>
          </a:xfrm>
          <a:prstGeom prst="rect">
            <a:avLst/>
          </a:prstGeom>
          <a:solidFill>
            <a:srgbClr val="F7F7F7"/>
          </a:solidFill>
          <a:ln/>
        </p:spPr>
      </p:sp>
      <p:sp>
        <p:nvSpPr>
          <p:cNvPr id="21" name="Shape 19"/>
          <p:cNvSpPr/>
          <p:nvPr/>
        </p:nvSpPr>
        <p:spPr>
          <a:xfrm>
            <a:off x="8022336" y="1463040"/>
            <a:ext cx="3453384" cy="64008"/>
          </a:xfrm>
          <a:prstGeom prst="rect">
            <a:avLst/>
          </a:prstGeom>
          <a:solidFill>
            <a:srgbClr val="2587C5"/>
          </a:solidFill>
          <a:ln/>
        </p:spPr>
      </p:sp>
      <p:sp>
        <p:nvSpPr>
          <p:cNvPr id="22" name="Text 20"/>
          <p:cNvSpPr txBox="1"/>
          <p:nvPr/>
        </p:nvSpPr>
        <p:spPr>
          <a:xfrm>
            <a:off x="8205216"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23" name="Text 21"/>
          <p:cNvSpPr txBox="1"/>
          <p:nvPr/>
        </p:nvSpPr>
        <p:spPr>
          <a:xfrm>
            <a:off x="8205216"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clocked hours</a:t>
            </a:r>
            <a:endParaRPr lang="en-US" sz="2000" dirty="0"/>
          </a:p>
        </p:txBody>
      </p:sp>
      <p:sp>
        <p:nvSpPr>
          <p:cNvPr id="24" name="Text 22"/>
          <p:cNvSpPr txBox="1"/>
          <p:nvPr/>
        </p:nvSpPr>
        <p:spPr>
          <a:xfrm>
            <a:off x="8205216"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compared with their total clocked time?</a:t>
            </a:r>
            <a:endParaRPr lang="en-US" sz="1600" dirty="0"/>
          </a:p>
        </p:txBody>
      </p:sp>
      <p:sp>
        <p:nvSpPr>
          <p:cNvPr id="25" name="Shape 23"/>
          <p:cNvSpPr/>
          <p:nvPr/>
        </p:nvSpPr>
        <p:spPr>
          <a:xfrm>
            <a:off x="8205216" y="3858768"/>
            <a:ext cx="3087624" cy="10973"/>
          </a:xfrm>
          <a:prstGeom prst="rect">
            <a:avLst/>
          </a:prstGeom>
          <a:solidFill>
            <a:srgbClr val="D9D9D9"/>
          </a:solidFill>
          <a:ln/>
        </p:spPr>
      </p:sp>
      <p:sp>
        <p:nvSpPr>
          <p:cNvPr id="26" name="Text 24"/>
          <p:cNvSpPr txBox="1"/>
          <p:nvPr/>
        </p:nvSpPr>
        <p:spPr>
          <a:xfrm>
            <a:off x="8205216"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8 = 93.75%</a:t>
            </a:r>
            <a:endParaRPr lang="en-US" sz="1800" dirty="0"/>
          </a:p>
        </p:txBody>
      </p:sp>
      <p:sp>
        <p:nvSpPr>
          <p:cNvPr id="27" name="Shape 25"/>
          <p:cNvSpPr/>
          <p:nvPr/>
        </p:nvSpPr>
        <p:spPr>
          <a:xfrm>
            <a:off x="713232" y="4709160"/>
            <a:ext cx="10762488" cy="1572768"/>
          </a:xfrm>
          <a:prstGeom prst="rect">
            <a:avLst/>
          </a:prstGeom>
          <a:solidFill>
            <a:srgbClr val="EDF4FA"/>
          </a:solidFill>
          <a:ln/>
        </p:spPr>
      </p:sp>
      <p:sp>
        <p:nvSpPr>
          <p:cNvPr id="28" name="Text 26"/>
          <p:cNvSpPr txBox="1"/>
          <p:nvPr/>
        </p:nvSpPr>
        <p:spPr>
          <a:xfrm>
            <a:off x="896112" y="4855464"/>
            <a:ext cx="10396728" cy="256032"/>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PUTTING IT TOGETHER: ONE TECHNICIAN, ONE DAY</a:t>
            </a:r>
            <a:endParaRPr lang="en-US" sz="1400" dirty="0"/>
          </a:p>
        </p:txBody>
      </p:sp>
      <p:sp>
        <p:nvSpPr>
          <p:cNvPr id="29" name="Text 27"/>
          <p:cNvSpPr txBox="1"/>
          <p:nvPr/>
        </p:nvSpPr>
        <p:spPr>
          <a:xfrm>
            <a:off x="896112" y="5166360"/>
            <a:ext cx="10396728" cy="329184"/>
          </a:xfrm>
          <a:prstGeom prst="rect">
            <a:avLst/>
          </a:prstGeom>
          <a:noFill/>
          <a:ln/>
        </p:spPr>
        <p:txBody>
          <a:bodyPr wrap="square" lIns="0" tIns="0" rIns="0" bIns="0" rtlCol="0" anchor="ctr"/>
          <a:lstStyle/>
          <a:p>
            <a:pPr indent="0" marL="0">
              <a:buNone/>
            </a:pPr>
            <a:r>
              <a:rPr lang="en-US" sz="1800" dirty="0">
                <a:solidFill>
                  <a:srgbClr val="1A1A1A"/>
                </a:solidFill>
                <a:latin typeface="Inter" pitchFamily="34" charset="0"/>
                <a:ea typeface="Inter" pitchFamily="34" charset="-122"/>
                <a:cs typeface="Inter" pitchFamily="34" charset="-120"/>
              </a:rPr>
              <a:t>A technician clocks in for 8 hours, clocks 6 of them to repair orders and flags 7.5 hours.</a:t>
            </a:r>
            <a:endParaRPr lang="en-US" sz="1800" dirty="0"/>
          </a:p>
        </p:txBody>
      </p:sp>
      <p:sp>
        <p:nvSpPr>
          <p:cNvPr id="30" name="Text 28"/>
          <p:cNvSpPr txBox="1"/>
          <p:nvPr/>
        </p:nvSpPr>
        <p:spPr>
          <a:xfrm>
            <a:off x="896112" y="5532120"/>
            <a:ext cx="10396728" cy="329184"/>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Productivity × efficiency = proficiency:  75% × 125% = 93.75%</a:t>
            </a:r>
            <a:endParaRPr lang="en-US" sz="1800" dirty="0"/>
          </a:p>
        </p:txBody>
      </p:sp>
      <p:sp>
        <p:nvSpPr>
          <p:cNvPr id="31" name="Text 29"/>
          <p:cNvSpPr txBox="1"/>
          <p:nvPr/>
        </p:nvSpPr>
        <p:spPr>
          <a:xfrm>
            <a:off x="896112" y="5897880"/>
            <a:ext cx="10396728" cy="292608"/>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Clocked hours exclude vacation, paid time off and holiday pay.</a:t>
            </a:r>
            <a:endParaRPr lang="en-US" sz="1500" dirty="0"/>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Hours flagged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clocked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January through September 2026, year to date. Vacation, paid time off and holiday pay are excluded from clocked hours. Store = total hours flagged ÷ total clocked hours.</a:t>
            </a:r>
            <a:endParaRPr lang="en-US" sz="14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technicians and express technicians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team leaders and shop foremen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Everyone whose job is to produce flagged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Not counted: body shop, detail and tint</a:t>
            </a:r>
            <a:endParaRPr lang="en-US" sz="1500" dirty="0"/>
          </a:p>
        </p:txBody>
      </p:sp>
      <p:sp>
        <p:nvSpPr>
          <p:cNvPr id="13" name="Shape 11"/>
          <p:cNvSpPr/>
          <p:nvPr/>
        </p:nvSpPr>
        <p:spPr>
          <a:xfrm>
            <a:off x="5138928" y="2843784"/>
            <a:ext cx="45720" cy="908304"/>
          </a:xfrm>
          <a:prstGeom prst="rect">
            <a:avLst/>
          </a:prstGeom>
          <a:solidFill>
            <a:srgbClr val="2587C5"/>
          </a:solidFill>
          <a:ln/>
        </p:spPr>
      </p:sp>
      <p:sp>
        <p:nvSpPr>
          <p:cNvPr id="14" name="Text 12"/>
          <p:cNvSpPr txBox="1"/>
          <p:nvPr/>
        </p:nvSpPr>
        <p:spPr>
          <a:xfrm>
            <a:off x="5266944"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908304"/>
          </a:xfrm>
          <a:prstGeom prst="rect">
            <a:avLst/>
          </a:prstGeom>
          <a:solidFill>
            <a:srgbClr val="2587C5"/>
          </a:solidFill>
          <a:ln/>
        </p:spPr>
      </p:sp>
      <p:sp>
        <p:nvSpPr>
          <p:cNvPr id="16" name="Text 14"/>
          <p:cNvSpPr txBox="1"/>
          <p:nvPr/>
        </p:nvSpPr>
        <p:spPr>
          <a:xfrm>
            <a:off x="8522208"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61816"/>
            <a:ext cx="45720" cy="908304"/>
          </a:xfrm>
          <a:prstGeom prst="rect">
            <a:avLst/>
          </a:prstGeom>
          <a:solidFill>
            <a:srgbClr val="2587C5"/>
          </a:solidFill>
          <a:ln/>
        </p:spPr>
      </p:sp>
      <p:sp>
        <p:nvSpPr>
          <p:cNvPr id="18" name="Text 16"/>
          <p:cNvSpPr txBox="1"/>
          <p:nvPr/>
        </p:nvSpPr>
        <p:spPr>
          <a:xfrm>
            <a:off x="5266944"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Clocked hours trimmed to the months a tech actually flagged</a:t>
            </a:r>
            <a:endParaRPr lang="en-US" sz="1400" dirty="0"/>
          </a:p>
        </p:txBody>
      </p:sp>
      <p:sp>
        <p:nvSpPr>
          <p:cNvPr id="19" name="Shape 17"/>
          <p:cNvSpPr/>
          <p:nvPr/>
        </p:nvSpPr>
        <p:spPr>
          <a:xfrm>
            <a:off x="8394192" y="3861816"/>
            <a:ext cx="45720" cy="908304"/>
          </a:xfrm>
          <a:prstGeom prst="rect">
            <a:avLst/>
          </a:prstGeom>
          <a:solidFill>
            <a:srgbClr val="2587C5"/>
          </a:solidFill>
          <a:ln/>
        </p:spPr>
      </p:sp>
      <p:sp>
        <p:nvSpPr>
          <p:cNvPr id="20" name="Text 18"/>
          <p:cNvSpPr txBox="1"/>
          <p:nvPr/>
        </p:nvSpPr>
        <p:spPr>
          <a:xfrm>
            <a:off x="8522208"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940 hours keyed on a single $0 line</a:t>
            </a:r>
            <a:endParaRPr lang="en-US" sz="1400" dirty="0"/>
          </a:p>
        </p:txBody>
      </p:sp>
      <p:sp>
        <p:nvSpPr>
          <p:cNvPr id="21" name="Shape 19"/>
          <p:cNvSpPr/>
          <p:nvPr/>
        </p:nvSpPr>
        <p:spPr>
          <a:xfrm>
            <a:off x="5138928" y="4879848"/>
            <a:ext cx="45720" cy="908304"/>
          </a:xfrm>
          <a:prstGeom prst="rect">
            <a:avLst/>
          </a:prstGeom>
          <a:solidFill>
            <a:srgbClr val="2587C5"/>
          </a:solidFill>
          <a:ln/>
        </p:spPr>
      </p:sp>
      <p:sp>
        <p:nvSpPr>
          <p:cNvPr id="22" name="Text 20"/>
          <p:cNvSpPr txBox="1"/>
          <p:nvPr/>
        </p:nvSpPr>
        <p:spPr>
          <a:xfrm>
            <a:off x="5266944"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tech numbers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hours flagged to a shop code like 999, not a person</a:t>
            </a:r>
            <a:endParaRPr lang="en-US" sz="1400" dirty="0"/>
          </a:p>
        </p:txBody>
      </p:sp>
      <p:sp>
        <p:nvSpPr>
          <p:cNvPr id="23" name="Shape 21"/>
          <p:cNvSpPr/>
          <p:nvPr/>
        </p:nvSpPr>
        <p:spPr>
          <a:xfrm>
            <a:off x="8394192" y="4879848"/>
            <a:ext cx="45720" cy="908304"/>
          </a:xfrm>
          <a:prstGeom prst="rect">
            <a:avLst/>
          </a:prstGeom>
          <a:solidFill>
            <a:srgbClr val="2587C5"/>
          </a:solidFill>
          <a:ln/>
        </p:spPr>
      </p:sp>
      <p:sp>
        <p:nvSpPr>
          <p:cNvPr id="24" name="Text 22"/>
          <p:cNvSpPr txBox="1"/>
          <p:nvPr/>
        </p:nvSpPr>
        <p:spPr>
          <a:xfrm>
            <a:off x="8522208"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clocked hours</a:t>
            </a:r>
            <a:endParaRPr lang="en-US" sz="1400" dirty="0"/>
          </a:p>
        </p:txBody>
      </p:sp>
      <p:sp>
        <p:nvSpPr>
          <p:cNvPr id="25" name="Shape 23"/>
          <p:cNvSpPr/>
          <p:nvPr/>
        </p:nvSpPr>
        <p:spPr>
          <a:xfrm>
            <a:off x="457200" y="6126480"/>
            <a:ext cx="11274552" cy="356616"/>
          </a:xfrm>
          <a:prstGeom prst="rect">
            <a:avLst/>
          </a:prstGeom>
          <a:solidFill>
            <a:srgbClr val="EDF4FA"/>
          </a:solidFill>
          <a:ln/>
        </p:spPr>
      </p:sp>
      <p:sp>
        <p:nvSpPr>
          <p:cNvPr id="26" name="Text 24"/>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500" dirty="0"/>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$4.10M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$6.13M</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+49.5%</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$704K</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Text 15"/>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$4.23M</a:t>
            </a:r>
            <a:endParaRPr lang="en-US" sz="1400" dirty="0"/>
          </a:p>
        </p:txBody>
      </p:sp>
      <p:sp>
        <p:nvSpPr>
          <p:cNvPr id="19" name="Text 17"/>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+30.4%</a:t>
            </a:r>
            <a:endParaRPr lang="en-US" sz="1600" dirty="0"/>
          </a:p>
        </p:txBody>
      </p:sp>
      <p:sp>
        <p:nvSpPr>
          <p:cNvPr id="20" name="Text 1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$572K</a:t>
            </a:r>
            <a:endParaRPr lang="en-US" sz="1400" dirty="0"/>
          </a:p>
        </p:txBody>
      </p:sp>
      <p:sp>
        <p:nvSpPr>
          <p:cNvPr id="22" name="Text 20"/>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+29.0%</a:t>
            </a:r>
            <a:endParaRPr lang="en-US" sz="1600" dirty="0"/>
          </a:p>
        </p:txBody>
      </p:sp>
      <p:sp>
        <p:nvSpPr>
          <p:cNvPr id="23" name="Shape 21"/>
          <p:cNvSpPr/>
          <p:nvPr/>
        </p:nvSpPr>
        <p:spPr>
          <a:xfrm>
            <a:off x="658368" y="5416906"/>
            <a:ext cx="3489960" cy="828446"/>
          </a:xfrm>
          <a:prstGeom prst="rect">
            <a:avLst/>
          </a:prstGeom>
          <a:solidFill>
            <a:srgbClr val="F7F7F7"/>
          </a:solidFill>
          <a:ln/>
        </p:spPr>
      </p:sp>
      <p:sp>
        <p:nvSpPr>
          <p:cNvPr id="24" name="Text 22"/>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$837K</a:t>
            </a:r>
            <a:endParaRPr lang="en-US" sz="1400" dirty="0"/>
          </a:p>
        </p:txBody>
      </p:sp>
      <p:sp>
        <p:nvSpPr>
          <p:cNvPr id="26" name="Text 24"/>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0" name="Shape 28"/>
          <p:cNvSpPr/>
          <p:nvPr/>
        </p:nvSpPr>
        <p:spPr>
          <a:xfrm>
            <a:off x="4349496" y="2103120"/>
            <a:ext cx="3489960" cy="828446"/>
          </a:xfrm>
          <a:prstGeom prst="rect">
            <a:avLst/>
          </a:prstGeom>
          <a:solidFill>
            <a:srgbClr val="F7F7F7"/>
          </a:solidFill>
          <a:ln/>
        </p:spPr>
      </p:sp>
      <p:sp>
        <p:nvSpPr>
          <p:cNvPr id="31" name="Text 29"/>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sp>
        <p:nvSpPr>
          <p:cNvPr id="33" name="Text 31"/>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−41.7%</a:t>
            </a:r>
            <a:endParaRPr lang="en-US" sz="1600" dirty="0"/>
          </a:p>
        </p:txBody>
      </p:sp>
      <p:sp>
        <p:nvSpPr>
          <p:cNvPr id="34" name="Text 32"/>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$135K</a:t>
            </a:r>
            <a:endParaRPr lang="en-US" sz="1400" dirty="0"/>
          </a:p>
        </p:txBody>
      </p:sp>
      <p:sp>
        <p:nvSpPr>
          <p:cNvPr id="36" name="Text 34"/>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−38.1%</a:t>
            </a:r>
            <a:endParaRPr lang="en-US" sz="1600" dirty="0"/>
          </a:p>
        </p:txBody>
      </p:sp>
      <p:sp>
        <p:nvSpPr>
          <p:cNvPr id="37" name="Shape 35"/>
          <p:cNvSpPr/>
          <p:nvPr/>
        </p:nvSpPr>
        <p:spPr>
          <a:xfrm>
            <a:off x="4349496" y="3760013"/>
            <a:ext cx="3489960" cy="828446"/>
          </a:xfrm>
          <a:prstGeom prst="rect">
            <a:avLst/>
          </a:prstGeom>
          <a:solidFill>
            <a:srgbClr val="F7F7F7"/>
          </a:solidFill>
          <a:ln/>
        </p:spPr>
      </p:sp>
      <p:sp>
        <p:nvSpPr>
          <p:cNvPr id="38" name="Text 36"/>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$1.52M</a:t>
            </a:r>
            <a:endParaRPr lang="en-US" sz="1400" dirty="0"/>
          </a:p>
        </p:txBody>
      </p:sp>
      <p:sp>
        <p:nvSpPr>
          <p:cNvPr id="40" name="Text 38"/>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−35.0%</a:t>
            </a:r>
            <a:endParaRPr lang="en-US" sz="1600" dirty="0"/>
          </a:p>
        </p:txBody>
      </p:sp>
      <p:sp>
        <p:nvSpPr>
          <p:cNvPr id="41" name="Shape 39"/>
          <p:cNvSpPr/>
          <p:nvPr/>
        </p:nvSpPr>
        <p:spPr>
          <a:xfrm>
            <a:off x="7775448" y="4625035"/>
            <a:ext cx="64008" cy="755294"/>
          </a:xfrm>
          <a:prstGeom prst="rect">
            <a:avLst/>
          </a:prstGeom>
          <a:solidFill>
            <a:srgbClr val="2587C5"/>
          </a:solidFill>
          <a:ln/>
        </p:spPr>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$1.10M</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−34.8%</a:t>
            </a:r>
            <a:endParaRPr lang="en-US" sz="1600" dirty="0"/>
          </a:p>
        </p:txBody>
      </p:sp>
      <p:sp>
        <p:nvSpPr>
          <p:cNvPr id="45" name="Shape 43"/>
          <p:cNvSpPr/>
          <p:nvPr/>
        </p:nvSpPr>
        <p:spPr>
          <a:xfrm>
            <a:off x="4349496" y="5416906"/>
            <a:ext cx="3489960" cy="828446"/>
          </a:xfrm>
          <a:prstGeom prst="rect">
            <a:avLst/>
          </a:prstGeom>
          <a:solidFill>
            <a:srgbClr val="F7F7F7"/>
          </a:solidFill>
          <a:ln/>
        </p:spPr>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$403K</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−28.9%</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2" name="Shape 50"/>
          <p:cNvSpPr/>
          <p:nvPr/>
        </p:nvSpPr>
        <p:spPr>
          <a:xfrm>
            <a:off x="8040624" y="2103120"/>
            <a:ext cx="3489960" cy="828446"/>
          </a:xfrm>
          <a:prstGeom prst="rect">
            <a:avLst/>
          </a:prstGeom>
          <a:solidFill>
            <a:srgbClr val="F7F7F7"/>
          </a:solidFill>
          <a:ln/>
        </p:spPr>
      </p:sp>
      <p:sp>
        <p:nvSpPr>
          <p:cNvPr id="53" name="Shape 51"/>
          <p:cNvSpPr/>
          <p:nvPr/>
        </p:nvSpPr>
        <p:spPr>
          <a:xfrm>
            <a:off x="11466576" y="2139696"/>
            <a:ext cx="64008" cy="755294"/>
          </a:xfrm>
          <a:prstGeom prst="rect">
            <a:avLst/>
          </a:prstGeom>
          <a:solidFill>
            <a:srgbClr val="2587C5"/>
          </a:solidFill>
          <a:ln/>
        </p:spPr>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$156K</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+57.0%</a:t>
            </a:r>
            <a:endParaRPr lang="en-US" sz="1600" dirty="0"/>
          </a:p>
        </p:txBody>
      </p:sp>
      <p:sp>
        <p:nvSpPr>
          <p:cNvPr id="57" name="Text 5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8" name="Text 5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$244K</a:t>
            </a:r>
            <a:endParaRPr lang="en-US" sz="1400" dirty="0"/>
          </a:p>
        </p:txBody>
      </p:sp>
      <p:sp>
        <p:nvSpPr>
          <p:cNvPr id="59" name="Text 57"/>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+49.6%</a:t>
            </a:r>
            <a:endParaRPr lang="en-US" sz="1600" dirty="0"/>
          </a:p>
        </p:txBody>
      </p:sp>
      <p:sp>
        <p:nvSpPr>
          <p:cNvPr id="60" name="Shape 58"/>
          <p:cNvSpPr/>
          <p:nvPr/>
        </p:nvSpPr>
        <p:spPr>
          <a:xfrm>
            <a:off x="8040624" y="3760013"/>
            <a:ext cx="3489960" cy="828446"/>
          </a:xfrm>
          <a:prstGeom prst="rect">
            <a:avLst/>
          </a:prstGeom>
          <a:solidFill>
            <a:srgbClr val="F7F7F7"/>
          </a:solidFill>
          <a:ln/>
        </p:spPr>
      </p:sp>
      <p:sp>
        <p:nvSpPr>
          <p:cNvPr id="61" name="Text 5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$135K</a:t>
            </a:r>
            <a:endParaRPr lang="en-US" sz="1400" dirty="0"/>
          </a:p>
        </p:txBody>
      </p:sp>
      <p:sp>
        <p:nvSpPr>
          <p:cNvPr id="63" name="Text 61"/>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+41.6%</a:t>
            </a:r>
            <a:endParaRPr lang="en-US" sz="1600" dirty="0"/>
          </a:p>
        </p:txBody>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$139K</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+38.2%</a:t>
            </a:r>
            <a:endParaRPr lang="en-US" sz="1600" dirty="0"/>
          </a:p>
        </p:txBody>
      </p:sp>
      <p:sp>
        <p:nvSpPr>
          <p:cNvPr id="67" name="Shape 65"/>
          <p:cNvSpPr/>
          <p:nvPr/>
        </p:nvSpPr>
        <p:spPr>
          <a:xfrm>
            <a:off x="8040624" y="5416906"/>
            <a:ext cx="3489960" cy="828446"/>
          </a:xfrm>
          <a:prstGeom prst="rect">
            <a:avLst/>
          </a:prstGeom>
          <a:solidFill>
            <a:srgbClr val="F7F7F7"/>
          </a:solidFill>
          <a:ln/>
        </p:spPr>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$125K</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2026-10-27T21:57:51Z</dcterms:created>
  <dcterms:modified xsi:type="dcterms:W3CDTF">2026-10-27T21:57:51Z</dcterms:modified>
</cp:coreProperties>
</file>