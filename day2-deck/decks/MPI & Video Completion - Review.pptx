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Store-reported from each store's MPI tool (MPI_Video_Completion_Jul-Sep_2026.xlsx): CP + warranty ROs closed Jul 1 - Sep 30, 2026, including $0 ROs; % of ROs, not of MPIs. Group = RO-weighted by each store's CP+W ROs (Qlik Closed Repair Orders, 128,726). Tools differ by store; GMC Prescott's report is not filtered to CP+W; Volvo and VW St George did not say. Honda Spokane and Toyota Spokane report the same figure for MPI and video. MPI % = CP+W ROs with a completed technician multi-point inspection / CP+W ROs closed. Benchmark 90% (Roundtable: 90%+ MPI completion). Green at or above the benchmark, red below.Every car, every time: the MPI is where the hours on the opcode slides come from. Cadillac switched to Auto.live during the quarter, so its number may understate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Store-reported from each store's MPI tool (MPI_Video_Completion_Jul-Sep_2026.xlsx): CP + warranty ROs closed Jul 1 - Sep 30, 2026, including $0 ROs; % of ROs, not of MPIs. Group = RO-weighted by each store's CP+W ROs (Qlik Closed Repair Orders, 128,726). Tools differ by store; GMC Prescott's report is not filtered to CP+W; Volvo and VW St George did not say. Honda Spokane and Toyota Spokane report the same figure for MPI and video. Video % = CP+W ROs with a technician video attached to the MPI / CP+W ROs closed. No benchmark set; scored against the group. Green at or above the group, red below.Video is what turns an inspection into a sale the customer can see. MPI at 80% or more but video under 45%, so the inspection is done and not shown: CDJR Post Falls (81.7% MPI, 16.0% video); Chevy GMC Bullhead (87.6% MPI, 21.8% video); Chevy LV (84.5% MPI, 40.2% video); GMC Prescott (93.2% MPI, 35.1% video); Nissan (97.0% MPI, 41.9% video).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Store-reported from each store's MPI tool (MPI_Video_Completion_Jul-Sep_2026.xlsx): CP + warranty ROs closed Jul 1 - Sep 30, 2026, including $0 ROs; % of ROs, not of MPIs. Group = RO-weighted by each store's CP+W ROs (Qlik Closed Repair Orders, 128,726). Tools differ by store; GMC Prescott's report is not filtered to CP+W; Volvo and VW St George did not say. Honda Spokane and Toyota Spokane report the same figure for MPI and video. Photo % (optional on the form) = CP+W ROs with at least one technician photo on the MPI / CP+W ROs closed. Scored against the group. Green at or above the group, red below. 5 stores do not report it (N/A or blank).Optional measure: five stores do not report it, so it is a review slide, not a meeting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 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90.0%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177348"/>
            <a:ext cx="86868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99.0%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12140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08376" y="2401107"/>
            <a:ext cx="86868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31920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99.0%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234516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08376" y="2624866"/>
            <a:ext cx="86166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31920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56892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Service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2848625"/>
            <a:ext cx="859905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31920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98.0%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279268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072384"/>
            <a:ext cx="85113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931920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301644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08376" y="3296143"/>
            <a:ext cx="85113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31920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08576" y="324020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08376" y="3519902"/>
            <a:ext cx="843234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931920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96.1%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608576" y="3463962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3743661"/>
            <a:ext cx="830949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931920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94.7%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608576" y="3687721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3967420"/>
            <a:ext cx="822175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931920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93.7%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608576" y="391148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UpdatePromise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191179"/>
            <a:ext cx="81778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931920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93.2%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608576" y="413524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414938"/>
            <a:ext cx="805503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931920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91.8%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608576" y="4358999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008376" y="4638697"/>
            <a:ext cx="80462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931920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91.7%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608576" y="458275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4862456"/>
            <a:ext cx="780935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931920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608576" y="480651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086216"/>
            <a:ext cx="76865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931920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4608576" y="503027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3008376" y="5309975"/>
            <a:ext cx="757243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931920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4608576" y="525403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08376" y="5533734"/>
            <a:ext cx="74144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931920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4608576" y="547779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008376" y="5757493"/>
            <a:ext cx="73179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931920" y="570155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83.4%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4608576" y="570155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2177348"/>
            <a:ext cx="72390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482328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82.5%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0158984" y="212140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2401107"/>
            <a:ext cx="71688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482328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81.7%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58984" y="234516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WiAdvisor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558784" y="2624866"/>
            <a:ext cx="715125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9482328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10158984" y="256892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2848625"/>
            <a:ext cx="714248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482328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81.4%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10158984" y="279268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3072384"/>
            <a:ext cx="713371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9482328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10158984" y="301644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Service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3296143"/>
            <a:ext cx="69318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482328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10158984" y="324020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558784" y="3519902"/>
            <a:ext cx="667743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482328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76.1%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10158984" y="3463962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3743661"/>
            <a:ext cx="64054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482328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73.0%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10158984" y="3687721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558784" y="3967420"/>
            <a:ext cx="624748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482328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71.2%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10158984" y="391148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4191179"/>
            <a:ext cx="62387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482328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71.1%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10158984" y="413524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58784" y="4414938"/>
            <a:ext cx="601056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482328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10158984" y="4358999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8558784" y="4638697"/>
            <a:ext cx="550164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482328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62.7%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10158984" y="458275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7" name="Text 155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558784" y="4862456"/>
            <a:ext cx="53437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482328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60.9%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10158984" y="480651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558784" y="5086216"/>
            <a:ext cx="43521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482328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10158984" y="503027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Service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7" name="Text 165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8558784" y="5309975"/>
            <a:ext cx="40099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9482328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45.7%</a:t>
            </a:r>
            <a:endParaRPr lang="en-US" sz="1200" dirty="0"/>
          </a:p>
        </p:txBody>
      </p:sp>
      <p:sp>
        <p:nvSpPr>
          <p:cNvPr id="170" name="Text 168"/>
          <p:cNvSpPr txBox="1"/>
          <p:nvPr/>
        </p:nvSpPr>
        <p:spPr>
          <a:xfrm>
            <a:off x="10158984" y="525403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2" name="Text 170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73" name="Shape 171"/>
          <p:cNvSpPr/>
          <p:nvPr/>
        </p:nvSpPr>
        <p:spPr>
          <a:xfrm>
            <a:off x="8558784" y="5533734"/>
            <a:ext cx="35536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9482328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10158984" y="547779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3931920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77" name="Text 175"/>
          <p:cNvSpPr txBox="1"/>
          <p:nvPr/>
        </p:nvSpPr>
        <p:spPr>
          <a:xfrm>
            <a:off x="4608576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78" name="Text 176"/>
          <p:cNvSpPr txBox="1"/>
          <p:nvPr/>
        </p:nvSpPr>
        <p:spPr>
          <a:xfrm>
            <a:off x="9482328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79" name="Text 177"/>
          <p:cNvSpPr txBox="1"/>
          <p:nvPr/>
        </p:nvSpPr>
        <p:spPr>
          <a:xfrm>
            <a:off x="10158984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3790770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341178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33 stores at or above the 90.0% benchmark; the group is at 81.3%. LR Reno and VW Henderson lead at 99.0%; Cadillac is lowest at 40.5%.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 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JULY–SEPTEMBER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177348"/>
            <a:ext cx="86868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96.0%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12140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08376" y="2401107"/>
            <a:ext cx="832485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31920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92.0%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234516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08376" y="2624866"/>
            <a:ext cx="82524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31920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91.2%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56892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2848625"/>
            <a:ext cx="805339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31920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279268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072384"/>
            <a:ext cx="805339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931920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301644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myKaarma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08376" y="3296143"/>
            <a:ext cx="805339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31920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08576" y="324020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08376" y="3519902"/>
            <a:ext cx="78633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931920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86.9%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608576" y="3463962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3743661"/>
            <a:ext cx="77366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931920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85.5%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608576" y="3687721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3967420"/>
            <a:ext cx="74018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931920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81.8%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608576" y="391148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191179"/>
            <a:ext cx="735663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931920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608576" y="413524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/ TruVideo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414938"/>
            <a:ext cx="71847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931920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608576" y="4358999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008376" y="4638697"/>
            <a:ext cx="71394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931920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608576" y="458275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UpdatePromise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4862456"/>
            <a:ext cx="702183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931920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77.6%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608576" y="480651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086216"/>
            <a:ext cx="668703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931920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4608576" y="503027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3008376" y="5309975"/>
            <a:ext cx="63793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931920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70.5%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4608576" y="525403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08376" y="5533734"/>
            <a:ext cx="60626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931920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67.0%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4608576" y="547779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008376" y="5757493"/>
            <a:ext cx="60264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931920" y="570155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66.6%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4608576" y="570155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2177348"/>
            <a:ext cx="49044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482328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54.2%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0158984" y="212140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2401107"/>
            <a:ext cx="48048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482328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53.1%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58984" y="234516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558784" y="2624866"/>
            <a:ext cx="47505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9482328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52.5%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10158984" y="256892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/ TruVideo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2848625"/>
            <a:ext cx="45243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482328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10158984" y="279268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3072384"/>
            <a:ext cx="448818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9482328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10158984" y="301644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/ TruVideo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3296143"/>
            <a:ext cx="438864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482328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48.5%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10158984" y="3240203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558784" y="3519902"/>
            <a:ext cx="38638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482328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10158984" y="3463962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3743661"/>
            <a:ext cx="38638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482328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10158984" y="3687721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558784" y="3967420"/>
            <a:ext cx="379143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482328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10158984" y="391148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4191179"/>
            <a:ext cx="36376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482328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10158984" y="4135240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58784" y="4414938"/>
            <a:ext cx="317611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482328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10158984" y="4358999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8558784" y="4638697"/>
            <a:ext cx="286845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482328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10158984" y="4582758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7" name="Text 155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558784" y="4862456"/>
            <a:ext cx="285036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482328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31.5%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10158984" y="4806517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558784" y="5086216"/>
            <a:ext cx="197263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482328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21.8%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10158984" y="5030276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7" name="Text 165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8558784" y="5309975"/>
            <a:ext cx="144780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9482328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1200" dirty="0"/>
          </a:p>
        </p:txBody>
      </p:sp>
      <p:sp>
        <p:nvSpPr>
          <p:cNvPr id="170" name="Text 168"/>
          <p:cNvSpPr txBox="1"/>
          <p:nvPr/>
        </p:nvSpPr>
        <p:spPr>
          <a:xfrm>
            <a:off x="10158984" y="5254035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WiAdvisor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2" name="Text 170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73" name="Shape 171"/>
          <p:cNvSpPr/>
          <p:nvPr/>
        </p:nvSpPr>
        <p:spPr>
          <a:xfrm>
            <a:off x="8558784" y="5533734"/>
            <a:ext cx="47053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9482328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10158984" y="5477794"/>
            <a:ext cx="118872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3931920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77" name="Text 175"/>
          <p:cNvSpPr txBox="1"/>
          <p:nvPr/>
        </p:nvSpPr>
        <p:spPr>
          <a:xfrm>
            <a:off x="4608576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78" name="Text 176"/>
          <p:cNvSpPr txBox="1"/>
          <p:nvPr/>
        </p:nvSpPr>
        <p:spPr>
          <a:xfrm>
            <a:off x="9482328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79" name="Text 177"/>
          <p:cNvSpPr txBox="1"/>
          <p:nvPr/>
        </p:nvSpPr>
        <p:spPr>
          <a:xfrm>
            <a:off x="10158984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3524446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074854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33 stores at or above the 57.8% group. VW Henderson leads at 96.0%; Kia St George is lowest at 5.2%.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Completion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COMPLETION 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JULY–SEPTEMBER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21408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121408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189335"/>
            <a:ext cx="868680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121408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91.2%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121408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39311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239311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08376" y="2461042"/>
            <a:ext cx="862965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31920" y="239311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90.6%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239311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UpdatePromise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664823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664823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08376" y="2732750"/>
            <a:ext cx="847725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31920" y="2664823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664823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93653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93653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04457"/>
            <a:ext cx="845820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31920" y="293653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88.8%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293653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208238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208238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276165"/>
            <a:ext cx="755333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931920" y="3208238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79.3%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3208238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47994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47994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08376" y="3547872"/>
            <a:ext cx="687705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31920" y="347994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08576" y="347994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751653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751653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08376" y="3819579"/>
            <a:ext cx="666750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931920" y="3751653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608576" y="3751653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2336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2336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091287"/>
            <a:ext cx="658178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931920" y="402336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69.1%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608576" y="402336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95067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95067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62994"/>
            <a:ext cx="578168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931920" y="4295067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60.7%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608576" y="4295067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56677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56677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634702"/>
            <a:ext cx="571500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931920" y="456677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608576" y="456677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CDK / TruVideo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38482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38482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06409"/>
            <a:ext cx="476250" cy="13585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931920" y="4838482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608576" y="4838482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Xtime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511019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511019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008376" y="5178117"/>
            <a:ext cx="419100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931920" y="511019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608576" y="511019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381897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381897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5449824"/>
            <a:ext cx="416338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931920" y="5381897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43.7%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608576" y="5381897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65360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65360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21531"/>
            <a:ext cx="37528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931920" y="565360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4608576" y="565360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21408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21408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189335"/>
            <a:ext cx="34861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482328" y="2121408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58984" y="2121408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208776" y="239311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565392" y="239311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558784" y="2461042"/>
            <a:ext cx="332422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482328" y="239311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34.9%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0158984" y="239311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664823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664823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58784" y="2732750"/>
            <a:ext cx="32956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9482328" y="2664823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34.6%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10158984" y="2664823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293653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293653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04457"/>
            <a:ext cx="304800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482328" y="293653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0158984" y="293653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WiAdvisor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08238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08238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76165"/>
            <a:ext cx="297180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482328" y="3208238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31.2%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58984" y="3208238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347994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65392" y="347994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558784" y="3547872"/>
            <a:ext cx="240983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9482328" y="347994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10158984" y="347994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51653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51653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3819579"/>
            <a:ext cx="22288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482328" y="3751653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23.4%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10158984" y="3751653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2336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2336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091287"/>
            <a:ext cx="216217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9482328" y="402336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22.7%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10158984" y="402336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95067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95067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62994"/>
            <a:ext cx="216217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482328" y="4295067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22.7%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10158984" y="4295067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456677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456677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558784" y="4634702"/>
            <a:ext cx="183833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482328" y="456677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19.3%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10158984" y="456677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838482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838482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4906409"/>
            <a:ext cx="15049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482328" y="4838482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15.8%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10158984" y="4838482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5110190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5110190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558784" y="5178117"/>
            <a:ext cx="137160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482328" y="5110190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14.4%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10158984" y="5110190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81897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81897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449824"/>
            <a:ext cx="13525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482328" y="5381897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14.2%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10158984" y="5381897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Auto.live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5653605"/>
            <a:ext cx="31089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5653605"/>
            <a:ext cx="192024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58784" y="5721531"/>
            <a:ext cx="112395" cy="13585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482328" y="5653605"/>
            <a:ext cx="6766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10158984" y="5653605"/>
            <a:ext cx="1188720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DealerLogix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3931920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52" name="Text 150"/>
          <p:cNvSpPr txBox="1"/>
          <p:nvPr/>
        </p:nvSpPr>
        <p:spPr>
          <a:xfrm>
            <a:off x="4608576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53" name="Text 151"/>
          <p:cNvSpPr txBox="1"/>
          <p:nvPr/>
        </p:nvSpPr>
        <p:spPr>
          <a:xfrm>
            <a:off x="9482328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54" name="Text 152"/>
          <p:cNvSpPr txBox="1"/>
          <p:nvPr/>
        </p:nvSpPr>
        <p:spPr>
          <a:xfrm>
            <a:off x="10158984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3432502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982910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7" name="Shape 155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28 stores at or above the 45.3% group. Hyundai Prescott leads at 91.2%; Kia St George is lowest at 11.8%.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2026-10-24T00:53:05Z</dcterms:created>
  <dcterms:modified xsi:type="dcterms:W3CDTF">2026-10-24T00:53:05Z</dcterms:modified>
</cp:coreProperties>
</file>