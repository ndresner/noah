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12 of 33 stores at or above the 90.0% benchmark; the group is at 81.3%. LR Reno and VW Henderson lead at 99.0%; Cadillac is lowest at 40.5%.Source: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MPI % = CP+W ROs with a completed technician multi-point inspection / CP+W ROs closed. Benchmark 90% (Roundtable: 90%+ MPI completion). Green at or above the benchmark, red below.Every car, every time: the MPI is where the hours on the opcode slides come from. Cadillac switched to Auto.live during the quarter, so its number may understate the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17 of 33 stores at or above the 57.8% group. VW Henderson leads at 96.0%; Kia St George is lowest at 5.2%.Source: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Video % = CP+W ROs with a technician video attached to the MPI / CP+W ROs closed. No benchmark set; scored against the group. Green at or above the group, red below.Video is what turns an inspection into a sale the customer can see. MPI at 80% or more but video under 45%, so the inspection is done and not shown: CDJR Post Falls (81.7% MPI, 16.0% video); Chevy GMC Bullhead (87.6% MPI, 21.8% video); Chevy LV (84.5% MPI, 40.2% video); GMC Prescott (93.2% MPI, 35.1% video); Nissan (97.0% MPI, 41.9% video).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11 of 28 stores at or above the 45.3% group. Hyundai Prescott leads at 91.2%; Kia St George is lowest at 11.8%.Source: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Photo % (optional on the form) = CP+W ROs with at least one technician photo on the MPI / CP+W ROs closed. Scored against the group. Green at or above the group, red below. 5 stores do not report it (N/A or blank).Five stores do not report photo completion, so the group here is weighted on the 28 stores that do (109,881 CP + warranty ROs, not the 128,726 used for MPI and video).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90.0%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77348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99.0%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01107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99.0%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624866"/>
            <a:ext cx="86166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98.2%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2848625"/>
            <a:ext cx="85990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98.0%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072384"/>
            <a:ext cx="85113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97.0%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296143"/>
            <a:ext cx="85113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97.0%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519902"/>
            <a:ext cx="843234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96.1%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3743661"/>
            <a:ext cx="83094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3967420"/>
            <a:ext cx="82217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191179"/>
            <a:ext cx="81778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93.2%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414938"/>
            <a:ext cx="80550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91.8%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4638697"/>
            <a:ext cx="80462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91.7%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4862456"/>
            <a:ext cx="78093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086216"/>
            <a:ext cx="76865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87.6%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3008376" y="5309975"/>
            <a:ext cx="7572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931920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86.3%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4608576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3008376" y="5533734"/>
            <a:ext cx="74144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931920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84.5%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608576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008376" y="5757493"/>
            <a:ext cx="73179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931920" y="570155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83.4%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4608576" y="570155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2177348"/>
            <a:ext cx="72390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82.5%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2401107"/>
            <a:ext cx="71688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81.7%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2624866"/>
            <a:ext cx="71512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2848625"/>
            <a:ext cx="71424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81.4%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3072384"/>
            <a:ext cx="713371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3296143"/>
            <a:ext cx="69318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3519902"/>
            <a:ext cx="6677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76.1%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3743661"/>
            <a:ext cx="64054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73.0%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3967420"/>
            <a:ext cx="62474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71.2%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4191179"/>
            <a:ext cx="62387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71.1%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4414938"/>
            <a:ext cx="601056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68.5%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2" name="Text 150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53" name="Shape 151"/>
          <p:cNvSpPr/>
          <p:nvPr/>
        </p:nvSpPr>
        <p:spPr>
          <a:xfrm>
            <a:off x="8558784" y="4638697"/>
            <a:ext cx="550164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482328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62.7%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10158984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558784" y="4862456"/>
            <a:ext cx="53437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482328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60.9%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10158984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558784" y="5086216"/>
            <a:ext cx="43521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482328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10158984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7" name="Text 165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68" name="Shape 166"/>
          <p:cNvSpPr/>
          <p:nvPr/>
        </p:nvSpPr>
        <p:spPr>
          <a:xfrm>
            <a:off x="8558784" y="5309975"/>
            <a:ext cx="40099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482328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45.7%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10158984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2" name="Text 170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73" name="Shape 171"/>
          <p:cNvSpPr/>
          <p:nvPr/>
        </p:nvSpPr>
        <p:spPr>
          <a:xfrm>
            <a:off x="8558784" y="5533734"/>
            <a:ext cx="35536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482328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10158984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7" name="Text 175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78" name="Text 176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9" name="Text 177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80" name="Shape 178"/>
          <p:cNvSpPr/>
          <p:nvPr/>
        </p:nvSpPr>
        <p:spPr>
          <a:xfrm>
            <a:off x="3790770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341178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4" name="Shape 18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5" name="Text 18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of 33 stores at or above the 90.0% benchmark; the group is at 81.3%.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JULY–SEPTEMBER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77348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96.0%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01107"/>
            <a:ext cx="83248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92.0%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624866"/>
            <a:ext cx="82524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91.2%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2848625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072384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296143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519902"/>
            <a:ext cx="78633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86.9%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3743661"/>
            <a:ext cx="77366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85.5%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3967420"/>
            <a:ext cx="74018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81.8%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191179"/>
            <a:ext cx="73566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414938"/>
            <a:ext cx="71847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4638697"/>
            <a:ext cx="71394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78.9%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4862456"/>
            <a:ext cx="70218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77.6%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086216"/>
            <a:ext cx="66870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3008376" y="5309975"/>
            <a:ext cx="637937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931920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70.5%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4608576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3008376" y="5533734"/>
            <a:ext cx="60626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931920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67.0%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608576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008376" y="5757493"/>
            <a:ext cx="602647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931920" y="570155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66.6%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4608576" y="570155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2177348"/>
            <a:ext cx="49044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54.2%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2401107"/>
            <a:ext cx="48048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53.1%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2624866"/>
            <a:ext cx="47505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2848625"/>
            <a:ext cx="45243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3072384"/>
            <a:ext cx="44881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3296143"/>
            <a:ext cx="438864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48.5%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3519902"/>
            <a:ext cx="38638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3743661"/>
            <a:ext cx="38638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3967420"/>
            <a:ext cx="3791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4191179"/>
            <a:ext cx="36376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4414938"/>
            <a:ext cx="317611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2" name="Text 150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53" name="Shape 151"/>
          <p:cNvSpPr/>
          <p:nvPr/>
        </p:nvSpPr>
        <p:spPr>
          <a:xfrm>
            <a:off x="8558784" y="4638697"/>
            <a:ext cx="28684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482328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10158984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558784" y="4862456"/>
            <a:ext cx="285036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482328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31.5%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10158984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558784" y="5086216"/>
            <a:ext cx="19726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482328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10158984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7" name="Text 165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68" name="Shape 166"/>
          <p:cNvSpPr/>
          <p:nvPr/>
        </p:nvSpPr>
        <p:spPr>
          <a:xfrm>
            <a:off x="8558784" y="5309975"/>
            <a:ext cx="14478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482328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16.0%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10158984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2" name="Text 170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73" name="Shape 171"/>
          <p:cNvSpPr/>
          <p:nvPr/>
        </p:nvSpPr>
        <p:spPr>
          <a:xfrm>
            <a:off x="8558784" y="5533734"/>
            <a:ext cx="4705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482328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10158984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7" name="Text 175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78" name="Text 176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9" name="Text 177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80" name="Shape 178"/>
          <p:cNvSpPr/>
          <p:nvPr/>
        </p:nvSpPr>
        <p:spPr>
          <a:xfrm>
            <a:off x="3524446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074854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4" name="Shape 18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5" name="Text 18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of 33 stores at or above the 57.8% group.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JULY–SEPTEMBER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45.3%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89335"/>
            <a:ext cx="86868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91.2%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9311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9311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61042"/>
            <a:ext cx="86296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9311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90.6%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9311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66482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66482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732750"/>
            <a:ext cx="84772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66482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66482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93653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93653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3004457"/>
            <a:ext cx="84582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93653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88.8%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93653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20823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20823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276165"/>
            <a:ext cx="755333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20823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79.3%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20823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47994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47994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547872"/>
            <a:ext cx="68770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47994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47994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75165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75165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819579"/>
            <a:ext cx="66675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75165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75165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402336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402336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4091287"/>
            <a:ext cx="658178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402336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69.1%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402336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9506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9506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62994"/>
            <a:ext cx="578168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429506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429506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56677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56677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634702"/>
            <a:ext cx="57150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56677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60.0%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56677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838482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838482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906409"/>
            <a:ext cx="47625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838482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838482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511019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511019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5178117"/>
            <a:ext cx="41910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511019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44.0%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511019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38189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38189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449824"/>
            <a:ext cx="416338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538189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43.7%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538189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65360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65360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721531"/>
            <a:ext cx="37528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65360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65360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208776" y="212140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6565392" y="212140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8558784" y="2189335"/>
            <a:ext cx="34861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482328" y="212140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58984" y="212140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208776" y="239311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565392" y="239311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8558784" y="2461042"/>
            <a:ext cx="332422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9482328" y="239311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34.9%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10158984" y="239311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66482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66482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732750"/>
            <a:ext cx="32956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482328" y="266482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34.6%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10158984" y="266482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93653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93653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3004457"/>
            <a:ext cx="30480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93653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32.0%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93653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320823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320823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3276165"/>
            <a:ext cx="29718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320823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31.2%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320823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347994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347994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3547872"/>
            <a:ext cx="240983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347994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25.3%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347994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5165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5165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19579"/>
            <a:ext cx="22288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375165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23.4%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375165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402336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402336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4091287"/>
            <a:ext cx="216217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402336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22.7%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402336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429506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429506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4362994"/>
            <a:ext cx="216217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429506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22.7%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429506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456677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456677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4634702"/>
            <a:ext cx="183833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456677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19.3%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456677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838482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838482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4906409"/>
            <a:ext cx="15049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4838482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15.8%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4838482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511019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511019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5178117"/>
            <a:ext cx="13716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511019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14.4%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511019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538189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538189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5449824"/>
            <a:ext cx="13525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538189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14.2%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538189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565360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565360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5721531"/>
            <a:ext cx="11239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565360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565360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52" name="Text 150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53" name="Text 151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54" name="Text 152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55" name="Shape 153"/>
          <p:cNvSpPr/>
          <p:nvPr/>
        </p:nvSpPr>
        <p:spPr>
          <a:xfrm>
            <a:off x="3432502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8982910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9" name="Shape 15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60" name="Text 15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28 stores at or above the 45.3% group.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2026-10-28T17:01:54Z</dcterms:created>
  <dcterms:modified xsi:type="dcterms:W3CDTF">2026-10-28T17:01:54Z</dcterms:modified>
</cp:coreProperties>
</file>