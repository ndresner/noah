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4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3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95" r:id="rId146"/>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46" Type="http://schemas.openxmlformats.org/officeDocument/2006/relationships/slide" Target="slides/slide1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Standard service-department definitions. On the store slides, proficiency = Qlik hours flagged (sold hours) ÷ ADP regular + overtime hours, which stand in for available hours. Efficiency and productivity need DMS time clocked to repair orders, which this data does not include, so they are defined here but not measured. The example is illustrative, not a store or technician.PLACE: right after the Technician Proficiency explainer, before How We Measured It (Noah, Oct 27).</a:t>
            </a:r>
          </a:p>
          <a:p>
            <a:r>
              <a:t>Talk track: walk the example left to right. The tech was on repair orders 6 of 8 hours (75% productive) and flagged 7.5 hours in those 6 (125% efficient), so 7.5 flagged hours for 8 available (93.75% proficient). Proficiency is the one we measure: 85% target, group 94.7%. 'Productivity' here is the technician measure, not the Fixed Ops Productivity section (gross and ROs per employee).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TECHNICIAN PROFICIENCY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Proficiency, Efficiency and Productivity</a:t>
            </a:r>
            <a:endParaRPr lang="en-US" sz="2800" dirty="0"/>
          </a:p>
        </p:txBody>
      </p:sp>
      <p:sp>
        <p:nvSpPr>
          <p:cNvPr id="5" name="Shape 3"/>
          <p:cNvSpPr/>
          <p:nvPr/>
        </p:nvSpPr>
        <p:spPr>
          <a:xfrm>
            <a:off x="457200" y="1207008"/>
            <a:ext cx="11274552" cy="4782312"/>
          </a:xfrm>
          <a:prstGeom prst="rect">
            <a:avLst/>
          </a:prstGeom>
          <a:solidFill>
            <a:srgbClr val="FFFFFF"/>
          </a:solidFill>
          <a:ln/>
        </p:spPr>
      </p:sp>
      <p:sp>
        <p:nvSpPr>
          <p:cNvPr id="6" name="Shape 4"/>
          <p:cNvSpPr/>
          <p:nvPr/>
        </p:nvSpPr>
        <p:spPr>
          <a:xfrm>
            <a:off x="713232" y="1417320"/>
            <a:ext cx="3453384" cy="2926080"/>
          </a:xfrm>
          <a:prstGeom prst="rect">
            <a:avLst/>
          </a:prstGeom>
          <a:solidFill>
            <a:srgbClr val="F7F7F7"/>
          </a:solidFill>
          <a:ln/>
        </p:spPr>
      </p:sp>
      <p:sp>
        <p:nvSpPr>
          <p:cNvPr id="7" name="Shape 5"/>
          <p:cNvSpPr/>
          <p:nvPr/>
        </p:nvSpPr>
        <p:spPr>
          <a:xfrm>
            <a:off x="713232" y="1417320"/>
            <a:ext cx="3453384" cy="64008"/>
          </a:xfrm>
          <a:prstGeom prst="rect">
            <a:avLst/>
          </a:prstGeom>
          <a:solidFill>
            <a:srgbClr val="2587C5"/>
          </a:solidFill>
          <a:ln/>
        </p:spPr>
      </p:sp>
      <p:sp>
        <p:nvSpPr>
          <p:cNvPr id="8" name="Text 6"/>
          <p:cNvSpPr txBox="1"/>
          <p:nvPr/>
        </p:nvSpPr>
        <p:spPr>
          <a:xfrm>
            <a:off x="896112" y="1600200"/>
            <a:ext cx="3087624" cy="27432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PRODUCTIVITY</a:t>
            </a:r>
            <a:endParaRPr lang="en-US" sz="1400" dirty="0"/>
          </a:p>
        </p:txBody>
      </p:sp>
      <p:sp>
        <p:nvSpPr>
          <p:cNvPr id="9" name="Text 7"/>
          <p:cNvSpPr txBox="1"/>
          <p:nvPr/>
        </p:nvSpPr>
        <p:spPr>
          <a:xfrm>
            <a:off x="896112" y="1920240"/>
            <a:ext cx="3087624" cy="685800"/>
          </a:xfrm>
          <a:prstGeom prst="rect">
            <a:avLst/>
          </a:prstGeom>
          <a:noFill/>
          <a:ln/>
        </p:spPr>
        <p:txBody>
          <a:bodyPr wrap="square" lIns="0" tIns="0" rIns="0" bIns="0" rtlCol="0" anchor="t"/>
          <a:lstStyle/>
          <a:p>
            <a:pPr indent="0" marL="0">
              <a:buNone/>
            </a:pPr>
            <a:r>
              <a:rPr lang="en-US" sz="1800" b="1" dirty="0">
                <a:solidFill>
                  <a:srgbClr val="0B2C4A"/>
                </a:solidFill>
                <a:latin typeface="Inter" pitchFamily="34" charset="0"/>
                <a:ea typeface="Inter" pitchFamily="34" charset="-122"/>
                <a:cs typeface="Inter" pitchFamily="34" charset="-120"/>
              </a:rPr>
              <a:t>Hours clocked to repair orders ÷ available hours</a:t>
            </a:r>
            <a:endParaRPr lang="en-US" sz="1800" dirty="0"/>
          </a:p>
        </p:txBody>
      </p:sp>
      <p:sp>
        <p:nvSpPr>
          <p:cNvPr id="10" name="Text 8"/>
          <p:cNvSpPr txBox="1"/>
          <p:nvPr/>
        </p:nvSpPr>
        <p:spPr>
          <a:xfrm>
            <a:off x="896112" y="2679192"/>
            <a:ext cx="3087624" cy="86868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How much of the technician's available time was spent on repair orders?</a:t>
            </a:r>
            <a:endParaRPr lang="en-US" sz="1500" dirty="0"/>
          </a:p>
        </p:txBody>
      </p:sp>
      <p:sp>
        <p:nvSpPr>
          <p:cNvPr id="11" name="Shape 9"/>
          <p:cNvSpPr/>
          <p:nvPr/>
        </p:nvSpPr>
        <p:spPr>
          <a:xfrm>
            <a:off x="896112" y="3584448"/>
            <a:ext cx="3087624" cy="10973"/>
          </a:xfrm>
          <a:prstGeom prst="rect">
            <a:avLst/>
          </a:prstGeom>
          <a:solidFill>
            <a:srgbClr val="D9D9D9"/>
          </a:solidFill>
          <a:ln/>
        </p:spPr>
      </p:sp>
      <p:sp>
        <p:nvSpPr>
          <p:cNvPr id="12" name="Text 10"/>
          <p:cNvSpPr txBox="1"/>
          <p:nvPr/>
        </p:nvSpPr>
        <p:spPr>
          <a:xfrm>
            <a:off x="896112" y="3657600"/>
            <a:ext cx="3087624" cy="310896"/>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Example: 6 ÷ 8 = 75%</a:t>
            </a:r>
            <a:endParaRPr lang="en-US" sz="1600" dirty="0"/>
          </a:p>
        </p:txBody>
      </p:sp>
      <p:sp>
        <p:nvSpPr>
          <p:cNvPr id="13" name="Text 11"/>
          <p:cNvSpPr txBox="1"/>
          <p:nvPr/>
        </p:nvSpPr>
        <p:spPr>
          <a:xfrm>
            <a:off x="896112" y="3977640"/>
            <a:ext cx="3087624" cy="2743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Not measured in our data</a:t>
            </a:r>
            <a:endParaRPr lang="en-US" sz="1400" dirty="0"/>
          </a:p>
        </p:txBody>
      </p:sp>
      <p:sp>
        <p:nvSpPr>
          <p:cNvPr id="14" name="Shape 12"/>
          <p:cNvSpPr/>
          <p:nvPr/>
        </p:nvSpPr>
        <p:spPr>
          <a:xfrm>
            <a:off x="4367784" y="1417320"/>
            <a:ext cx="3453384" cy="2926080"/>
          </a:xfrm>
          <a:prstGeom prst="rect">
            <a:avLst/>
          </a:prstGeom>
          <a:solidFill>
            <a:srgbClr val="F7F7F7"/>
          </a:solidFill>
          <a:ln/>
        </p:spPr>
      </p:sp>
      <p:sp>
        <p:nvSpPr>
          <p:cNvPr id="15" name="Shape 13"/>
          <p:cNvSpPr/>
          <p:nvPr/>
        </p:nvSpPr>
        <p:spPr>
          <a:xfrm>
            <a:off x="4367784" y="1417320"/>
            <a:ext cx="3453384" cy="64008"/>
          </a:xfrm>
          <a:prstGeom prst="rect">
            <a:avLst/>
          </a:prstGeom>
          <a:solidFill>
            <a:srgbClr val="2587C5"/>
          </a:solidFill>
          <a:ln/>
        </p:spPr>
      </p:sp>
      <p:sp>
        <p:nvSpPr>
          <p:cNvPr id="16" name="Text 14"/>
          <p:cNvSpPr txBox="1"/>
          <p:nvPr/>
        </p:nvSpPr>
        <p:spPr>
          <a:xfrm>
            <a:off x="4550664" y="1600200"/>
            <a:ext cx="3087624" cy="27432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EFFICIENCY</a:t>
            </a:r>
            <a:endParaRPr lang="en-US" sz="1400" dirty="0"/>
          </a:p>
        </p:txBody>
      </p:sp>
      <p:sp>
        <p:nvSpPr>
          <p:cNvPr id="17" name="Text 15"/>
          <p:cNvSpPr txBox="1"/>
          <p:nvPr/>
        </p:nvSpPr>
        <p:spPr>
          <a:xfrm>
            <a:off x="4550664" y="1920240"/>
            <a:ext cx="3087624" cy="685800"/>
          </a:xfrm>
          <a:prstGeom prst="rect">
            <a:avLst/>
          </a:prstGeom>
          <a:noFill/>
          <a:ln/>
        </p:spPr>
        <p:txBody>
          <a:bodyPr wrap="square" lIns="0" tIns="0" rIns="0" bIns="0" rtlCol="0" anchor="t"/>
          <a:lstStyle/>
          <a:p>
            <a:pPr indent="0" marL="0">
              <a:buNone/>
            </a:pPr>
            <a:r>
              <a:rPr lang="en-US" sz="1800" b="1" dirty="0">
                <a:solidFill>
                  <a:srgbClr val="0B2C4A"/>
                </a:solidFill>
                <a:latin typeface="Inter" pitchFamily="34" charset="0"/>
                <a:ea typeface="Inter" pitchFamily="34" charset="-122"/>
                <a:cs typeface="Inter" pitchFamily="34" charset="-120"/>
              </a:rPr>
              <a:t>Hours flagged ÷ hours clocked to repair orders</a:t>
            </a:r>
            <a:endParaRPr lang="en-US" sz="1800" dirty="0"/>
          </a:p>
        </p:txBody>
      </p:sp>
      <p:sp>
        <p:nvSpPr>
          <p:cNvPr id="18" name="Text 16"/>
          <p:cNvSpPr txBox="1"/>
          <p:nvPr/>
        </p:nvSpPr>
        <p:spPr>
          <a:xfrm>
            <a:off x="4550664" y="2679192"/>
            <a:ext cx="3087624" cy="86868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How many labor hours did the technician produce for each hour clocked to repair orders?</a:t>
            </a:r>
            <a:endParaRPr lang="en-US" sz="1500" dirty="0"/>
          </a:p>
        </p:txBody>
      </p:sp>
      <p:sp>
        <p:nvSpPr>
          <p:cNvPr id="19" name="Shape 17"/>
          <p:cNvSpPr/>
          <p:nvPr/>
        </p:nvSpPr>
        <p:spPr>
          <a:xfrm>
            <a:off x="4550664" y="3584448"/>
            <a:ext cx="3087624" cy="10973"/>
          </a:xfrm>
          <a:prstGeom prst="rect">
            <a:avLst/>
          </a:prstGeom>
          <a:solidFill>
            <a:srgbClr val="D9D9D9"/>
          </a:solidFill>
          <a:ln/>
        </p:spPr>
      </p:sp>
      <p:sp>
        <p:nvSpPr>
          <p:cNvPr id="20" name="Text 18"/>
          <p:cNvSpPr txBox="1"/>
          <p:nvPr/>
        </p:nvSpPr>
        <p:spPr>
          <a:xfrm>
            <a:off x="4550664" y="3657600"/>
            <a:ext cx="3087624" cy="310896"/>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Example: 7.5 ÷ 6 = 125%</a:t>
            </a:r>
            <a:endParaRPr lang="en-US" sz="1600" dirty="0"/>
          </a:p>
        </p:txBody>
      </p:sp>
      <p:sp>
        <p:nvSpPr>
          <p:cNvPr id="21" name="Text 19"/>
          <p:cNvSpPr txBox="1"/>
          <p:nvPr/>
        </p:nvSpPr>
        <p:spPr>
          <a:xfrm>
            <a:off x="4550664" y="3977640"/>
            <a:ext cx="3087624" cy="274320"/>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Not measured in our data</a:t>
            </a:r>
            <a:endParaRPr lang="en-US" sz="1400" dirty="0"/>
          </a:p>
        </p:txBody>
      </p:sp>
      <p:sp>
        <p:nvSpPr>
          <p:cNvPr id="22" name="Shape 20"/>
          <p:cNvSpPr/>
          <p:nvPr/>
        </p:nvSpPr>
        <p:spPr>
          <a:xfrm>
            <a:off x="8022336" y="1417320"/>
            <a:ext cx="3453384" cy="2926080"/>
          </a:xfrm>
          <a:prstGeom prst="rect">
            <a:avLst/>
          </a:prstGeom>
          <a:solidFill>
            <a:srgbClr val="F7F7F7"/>
          </a:solidFill>
          <a:ln/>
        </p:spPr>
      </p:sp>
      <p:sp>
        <p:nvSpPr>
          <p:cNvPr id="23" name="Shape 21"/>
          <p:cNvSpPr/>
          <p:nvPr/>
        </p:nvSpPr>
        <p:spPr>
          <a:xfrm>
            <a:off x="8022336" y="1417320"/>
            <a:ext cx="3453384" cy="64008"/>
          </a:xfrm>
          <a:prstGeom prst="rect">
            <a:avLst/>
          </a:prstGeom>
          <a:solidFill>
            <a:srgbClr val="2587C5"/>
          </a:solidFill>
          <a:ln/>
        </p:spPr>
      </p:sp>
      <p:sp>
        <p:nvSpPr>
          <p:cNvPr id="24" name="Text 22"/>
          <p:cNvSpPr txBox="1"/>
          <p:nvPr/>
        </p:nvSpPr>
        <p:spPr>
          <a:xfrm>
            <a:off x="8205216" y="1600200"/>
            <a:ext cx="3087624" cy="27432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PROFICIENCY</a:t>
            </a:r>
            <a:endParaRPr lang="en-US" sz="1400" dirty="0"/>
          </a:p>
        </p:txBody>
      </p:sp>
      <p:sp>
        <p:nvSpPr>
          <p:cNvPr id="25" name="Text 23"/>
          <p:cNvSpPr txBox="1"/>
          <p:nvPr/>
        </p:nvSpPr>
        <p:spPr>
          <a:xfrm>
            <a:off x="8205216" y="1920240"/>
            <a:ext cx="3087624" cy="685800"/>
          </a:xfrm>
          <a:prstGeom prst="rect">
            <a:avLst/>
          </a:prstGeom>
          <a:noFill/>
          <a:ln/>
        </p:spPr>
        <p:txBody>
          <a:bodyPr wrap="square" lIns="0" tIns="0" rIns="0" bIns="0" rtlCol="0" anchor="t"/>
          <a:lstStyle/>
          <a:p>
            <a:pPr indent="0" marL="0">
              <a:buNone/>
            </a:pPr>
            <a:r>
              <a:rPr lang="en-US" sz="1800" b="1" dirty="0">
                <a:solidFill>
                  <a:srgbClr val="0B2C4A"/>
                </a:solidFill>
                <a:latin typeface="Inter" pitchFamily="34" charset="0"/>
                <a:ea typeface="Inter" pitchFamily="34" charset="-122"/>
                <a:cs typeface="Inter" pitchFamily="34" charset="-120"/>
              </a:rPr>
              <a:t>Hours flagged ÷ available hours</a:t>
            </a:r>
            <a:endParaRPr lang="en-US" sz="1800" dirty="0"/>
          </a:p>
        </p:txBody>
      </p:sp>
      <p:sp>
        <p:nvSpPr>
          <p:cNvPr id="26" name="Text 24"/>
          <p:cNvSpPr txBox="1"/>
          <p:nvPr/>
        </p:nvSpPr>
        <p:spPr>
          <a:xfrm>
            <a:off x="8205216" y="2679192"/>
            <a:ext cx="3087624" cy="86868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How many labor hours did the technician produce compared with their total available time?</a:t>
            </a:r>
            <a:endParaRPr lang="en-US" sz="1500" dirty="0"/>
          </a:p>
        </p:txBody>
      </p:sp>
      <p:sp>
        <p:nvSpPr>
          <p:cNvPr id="27" name="Shape 25"/>
          <p:cNvSpPr/>
          <p:nvPr/>
        </p:nvSpPr>
        <p:spPr>
          <a:xfrm>
            <a:off x="8205216" y="3584448"/>
            <a:ext cx="3087624" cy="10973"/>
          </a:xfrm>
          <a:prstGeom prst="rect">
            <a:avLst/>
          </a:prstGeom>
          <a:solidFill>
            <a:srgbClr val="D9D9D9"/>
          </a:solidFill>
          <a:ln/>
        </p:spPr>
      </p:sp>
      <p:sp>
        <p:nvSpPr>
          <p:cNvPr id="28" name="Text 26"/>
          <p:cNvSpPr txBox="1"/>
          <p:nvPr/>
        </p:nvSpPr>
        <p:spPr>
          <a:xfrm>
            <a:off x="8205216" y="3657600"/>
            <a:ext cx="3087624" cy="310896"/>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Example: 7.5 ÷ 8 = 93.75%</a:t>
            </a:r>
            <a:endParaRPr lang="en-US" sz="1600" dirty="0"/>
          </a:p>
        </p:txBody>
      </p:sp>
      <p:sp>
        <p:nvSpPr>
          <p:cNvPr id="29" name="Text 27"/>
          <p:cNvSpPr txBox="1"/>
          <p:nvPr/>
        </p:nvSpPr>
        <p:spPr>
          <a:xfrm>
            <a:off x="8205216" y="3977640"/>
            <a:ext cx="3087624" cy="27432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Target 85% · group 94.7%</a:t>
            </a:r>
            <a:endParaRPr lang="en-US" sz="1400" dirty="0"/>
          </a:p>
        </p:txBody>
      </p:sp>
      <p:sp>
        <p:nvSpPr>
          <p:cNvPr id="30" name="Shape 28"/>
          <p:cNvSpPr/>
          <p:nvPr/>
        </p:nvSpPr>
        <p:spPr>
          <a:xfrm>
            <a:off x="713232" y="4526280"/>
            <a:ext cx="10762488" cy="1097280"/>
          </a:xfrm>
          <a:prstGeom prst="rect">
            <a:avLst/>
          </a:prstGeom>
          <a:solidFill>
            <a:srgbClr val="EDF4FA"/>
          </a:solidFill>
          <a:ln/>
        </p:spPr>
      </p:sp>
      <p:sp>
        <p:nvSpPr>
          <p:cNvPr id="31" name="Text 29"/>
          <p:cNvSpPr txBox="1"/>
          <p:nvPr/>
        </p:nvSpPr>
        <p:spPr>
          <a:xfrm>
            <a:off x="896112" y="4654296"/>
            <a:ext cx="10396728" cy="256032"/>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ILLUSTRATIVE EXAMPLE</a:t>
            </a:r>
            <a:endParaRPr lang="en-US" sz="1400" dirty="0"/>
          </a:p>
        </p:txBody>
      </p:sp>
      <p:sp>
        <p:nvSpPr>
          <p:cNvPr id="32" name="Text 30"/>
          <p:cNvSpPr txBox="1"/>
          <p:nvPr/>
        </p:nvSpPr>
        <p:spPr>
          <a:xfrm>
            <a:off x="896112" y="4946904"/>
            <a:ext cx="10396728" cy="292608"/>
          </a:xfrm>
          <a:prstGeom prst="rect">
            <a:avLst/>
          </a:prstGeom>
          <a:noFill/>
          <a:ln/>
        </p:spPr>
        <p:txBody>
          <a:bodyPr wrap="square" lIns="0" tIns="0" rIns="0" bIns="0" rtlCol="0" anchor="ctr"/>
          <a:lstStyle/>
          <a:p>
            <a:pPr indent="0" marL="0">
              <a:buNone/>
            </a:pPr>
            <a:r>
              <a:rPr lang="en-US" sz="1600" dirty="0">
                <a:solidFill>
                  <a:srgbClr val="1A1A1A"/>
                </a:solidFill>
                <a:latin typeface="Inter" pitchFamily="34" charset="0"/>
                <a:ea typeface="Inter" pitchFamily="34" charset="-122"/>
                <a:cs typeface="Inter" pitchFamily="34" charset="-120"/>
              </a:rPr>
              <a:t>A technician has 8 available hours, clocks 6 hours to repair orders and flags 7.5 hours.</a:t>
            </a:r>
            <a:endParaRPr lang="en-US" sz="1600" dirty="0"/>
          </a:p>
        </p:txBody>
      </p:sp>
      <p:sp>
        <p:nvSpPr>
          <p:cNvPr id="33" name="Text 31"/>
          <p:cNvSpPr txBox="1"/>
          <p:nvPr/>
        </p:nvSpPr>
        <p:spPr>
          <a:xfrm>
            <a:off x="896112" y="5257800"/>
            <a:ext cx="10396728" cy="292608"/>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Productivity × efficiency = proficiency:  75% × 125% = 93.75%</a:t>
            </a:r>
            <a:endParaRPr lang="en-US" sz="1600" dirty="0"/>
          </a:p>
        </p:txBody>
      </p:sp>
      <p:sp>
        <p:nvSpPr>
          <p:cNvPr id="34" name="Shape 32"/>
          <p:cNvSpPr/>
          <p:nvPr/>
        </p:nvSpPr>
        <p:spPr>
          <a:xfrm>
            <a:off x="457200" y="6126480"/>
            <a:ext cx="11274552" cy="615696"/>
          </a:xfrm>
          <a:prstGeom prst="rect">
            <a:avLst/>
          </a:prstGeom>
          <a:solidFill>
            <a:srgbClr val="EDF4FA"/>
          </a:solidFill>
          <a:ln/>
        </p:spPr>
      </p:sp>
      <p:sp>
        <p:nvSpPr>
          <p:cNvPr id="35" name="Text 33"/>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Productivity measures time spent on repair orders; efficiency measures hours flagged against time on repair orders; proficiency measures total hours flagged against available time.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2026-10-27T18:05:25Z</dcterms:created>
  <dcterms:modified xsi:type="dcterms:W3CDTF">2026-10-27T18:05:25Z</dcterms:modified>
</cp:coreProperties>
</file>