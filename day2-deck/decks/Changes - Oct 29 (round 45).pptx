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7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425" r:id="rId176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76" Type="http://schemas.openxmlformats.org/officeDocument/2006/relationships/slide" Target="slides/slide16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Takeaway with the store call-outs (off the slide): Last year: Two stores tie. Moving now: KIA ST GEORGE leads. One store is on both lists (green bar).Source: Qlik - Closed Repair Orders. Customer pay, by close date. Same-store, 33 stores (INEOS excluded, opened 2026). GMC Prescott body shop labor types excluded. CP gross = CP labor gross + CP parts gross. Left: Jan-Sep 2026 vs Jan-Sep 2025. Right: Q3 2026 vs Q1 2026. Top-5 finishes counted across eight measures (parts $ per RO dropped, Oct 23); CP labor $ per RO (percent), fixed absorption and the four opcodes combined (points) added Oct 29; fixed ops net profit left out (ranked in dollars, it favors larger stores); top six stores shown in each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/Relationships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· MOST IMPROVED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Ways to Read Improvement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5559552" cy="46451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85800" y="1344168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last year · Jan–Sep 2026 vs Jan–Sep 2025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5102352" cy="10973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1792224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Top-5 finishes, of eight measures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" y="2176272"/>
            <a:ext cx="5230368" cy="585216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31520" y="2221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478024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gross, ELR, parts GP, labor/RO, absorption, opcodes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92040" y="2351837"/>
            <a:ext cx="365760" cy="234086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5330952" y="2176272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2807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063240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gross, hrs/RO, ELR, parts GP, labor/RO, opcodes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92040" y="2937053"/>
            <a:ext cx="365760" cy="234086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5330952" y="2761488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1792" y="3346704"/>
            <a:ext cx="5230368" cy="585216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731520" y="33924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364845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gross, hrs/RO, labor/RO, opcodes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92040" y="3522269"/>
            <a:ext cx="243840" cy="234086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5330952" y="3346704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788152" y="3383280"/>
            <a:ext cx="64008" cy="512064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731520" y="3977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4233672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gross, ROs, hrs/RO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92040" y="4107485"/>
            <a:ext cx="182880" cy="234086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5330952" y="3931920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21792" y="4517136"/>
            <a:ext cx="5230368" cy="585216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731520" y="45628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" y="4818888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ROs, parts GP, absorption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92040" y="4692701"/>
            <a:ext cx="182880" cy="234086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5330952" y="4517136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731520" y="5148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31520" y="5404104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ELR, parts GP, labor/RO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892040" y="5277917"/>
            <a:ext cx="182880" cy="234086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36" name="Text 34"/>
          <p:cNvSpPr txBox="1"/>
          <p:nvPr/>
        </p:nvSpPr>
        <p:spPr>
          <a:xfrm>
            <a:off x="5330952" y="5102352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6172200" y="1207008"/>
            <a:ext cx="5559552" cy="46451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Text 36"/>
          <p:cNvSpPr txBox="1"/>
          <p:nvPr/>
        </p:nvSpPr>
        <p:spPr>
          <a:xfrm>
            <a:off x="6400800" y="1344168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Moving now · Q3 vs Q1, this year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400800" y="1691640"/>
            <a:ext cx="5102352" cy="10973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40" name="Text 38"/>
          <p:cNvSpPr txBox="1"/>
          <p:nvPr/>
        </p:nvSpPr>
        <p:spPr>
          <a:xfrm>
            <a:off x="6400800" y="1792224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Top-5 finishes, of eight measures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336792" y="2176272"/>
            <a:ext cx="5230368" cy="585216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p/>
        </p:txBody>
      </p:sp>
      <p:sp>
        <p:nvSpPr>
          <p:cNvPr id="42" name="Text 40"/>
          <p:cNvSpPr txBox="1"/>
          <p:nvPr/>
        </p:nvSpPr>
        <p:spPr>
          <a:xfrm>
            <a:off x="6446520" y="2221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6446520" y="2478024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gross, hrs/RO, ELR, labor/RO, absorption, opcodes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10607040" y="2351837"/>
            <a:ext cx="365760" cy="234086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45" name="Text 43"/>
          <p:cNvSpPr txBox="1"/>
          <p:nvPr/>
        </p:nvSpPr>
        <p:spPr>
          <a:xfrm>
            <a:off x="11045952" y="2176272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1503152" y="2212848"/>
            <a:ext cx="64008" cy="512064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47" name="Text 45"/>
          <p:cNvSpPr txBox="1"/>
          <p:nvPr/>
        </p:nvSpPr>
        <p:spPr>
          <a:xfrm>
            <a:off x="6446520" y="2807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6446520" y="3063240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gross, ROs, hrs/RO, labor/RO, opcodes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10607040" y="2937053"/>
            <a:ext cx="304800" cy="234086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50" name="Text 48"/>
          <p:cNvSpPr txBox="1"/>
          <p:nvPr/>
        </p:nvSpPr>
        <p:spPr>
          <a:xfrm>
            <a:off x="11045952" y="2761488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6336792" y="3346704"/>
            <a:ext cx="5230368" cy="585216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p/>
        </p:txBody>
      </p:sp>
      <p:sp>
        <p:nvSpPr>
          <p:cNvPr id="52" name="Text 50"/>
          <p:cNvSpPr txBox="1"/>
          <p:nvPr/>
        </p:nvSpPr>
        <p:spPr>
          <a:xfrm>
            <a:off x="6446520" y="33924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6446520" y="364845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gross, hrs/RO, labor/RO, opcodes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10607040" y="3522269"/>
            <a:ext cx="243840" cy="234086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55" name="Text 53"/>
          <p:cNvSpPr txBox="1"/>
          <p:nvPr/>
        </p:nvSpPr>
        <p:spPr>
          <a:xfrm>
            <a:off x="11045952" y="3346704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56" name="Text 54"/>
          <p:cNvSpPr txBox="1"/>
          <p:nvPr/>
        </p:nvSpPr>
        <p:spPr>
          <a:xfrm>
            <a:off x="6446520" y="3977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6446520" y="4233672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gross, ELR, parts GP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10607040" y="4107485"/>
            <a:ext cx="182880" cy="234086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59" name="Text 57"/>
          <p:cNvSpPr txBox="1"/>
          <p:nvPr/>
        </p:nvSpPr>
        <p:spPr>
          <a:xfrm>
            <a:off x="11045952" y="3931920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6336792" y="4517136"/>
            <a:ext cx="5230368" cy="585216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p/>
        </p:txBody>
      </p:sp>
      <p:sp>
        <p:nvSpPr>
          <p:cNvPr id="61" name="Text 59"/>
          <p:cNvSpPr txBox="1"/>
          <p:nvPr/>
        </p:nvSpPr>
        <p:spPr>
          <a:xfrm>
            <a:off x="6446520" y="45628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6446520" y="4818888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ELR, parts GP, labor/RO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10607040" y="4692701"/>
            <a:ext cx="182880" cy="234086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64" name="Text 62"/>
          <p:cNvSpPr txBox="1"/>
          <p:nvPr/>
        </p:nvSpPr>
        <p:spPr>
          <a:xfrm>
            <a:off x="11045952" y="4517136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65" name="Text 63"/>
          <p:cNvSpPr txBox="1"/>
          <p:nvPr/>
        </p:nvSpPr>
        <p:spPr>
          <a:xfrm>
            <a:off x="6446520" y="5148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6446520" y="5404104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gross, ROs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10607040" y="5277917"/>
            <a:ext cx="121920" cy="234086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68" name="Text 66"/>
          <p:cNvSpPr txBox="1"/>
          <p:nvPr/>
        </p:nvSpPr>
        <p:spPr>
          <a:xfrm>
            <a:off x="11045952" y="5102352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70" name="Shape 67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6F6EE"/>
          </a:solidFill>
          <a:ln/>
        </p:spPr>
        <p:txBody>
          <a:bodyPr/>
          <a:p/>
        </p:txBody>
      </p:sp>
      <p:sp>
        <p:nvSpPr>
          <p:cNvPr id="71" name="Text 68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 year: Two stores tie. One store is on both lists (green bar). Also tied at 2 moving now: Hyundai St George and Chevy GMC Bullhead.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2026-10-29T04:52:04Z</dcterms:created>
  <dcterms:modified xsi:type="dcterms:W3CDTF">2026-10-29T04:52:04Z</dcterms:modified>
</cp:coreProperties>
</file>