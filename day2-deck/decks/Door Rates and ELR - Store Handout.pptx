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16"/>
    <p:sldId id="272" r:id="rId18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OPTION E - door rate by store with premium rates, split by labor grid. Store door rate sheet (Oct 15 2026); averages weighted by Jul-Sep CP sold hours. Bars start at $100.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Jul–Sep: 25 of 33 stores realize at least 70% of door rate; the group is at 74.7%. Cadillac is lowest at 61.5%.Source: ELR and door rate columns. Qlik - Closed Repair Orders. CP ELR Jul-Sep 2026 (last three months, to match current door rates). Door rate = standard rate from the store door rate sheet; premium, EV and diesel rates not applied. Same-store, INEOS excluded; GMC Prescott body shop excluded. Averages weighted by Jul-Sep CP sold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 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31673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GRID · 17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13167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316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755648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1813560"/>
            <a:ext cx="768096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755648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$349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24528" y="1755648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755648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1987296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2045208"/>
            <a:ext cx="648130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74720" y="1987296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24528" y="1987296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1987296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218944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51760" y="2276856"/>
            <a:ext cx="601434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0" y="2218944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24528" y="2218944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218944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450592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51760" y="2508504"/>
            <a:ext cx="570972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74720" y="2450592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224528" y="2450592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2450592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682240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651760" y="2740152"/>
            <a:ext cx="431686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474720" y="2682240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224528" y="2682240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2682240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2913888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51760" y="2971800"/>
            <a:ext cx="419340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474720" y="2913888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224528" y="2913888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212080" y="2913888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03504" y="3145536"/>
            <a:ext cx="5285232" cy="22250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8368" y="3145536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AVG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651760" y="3203448"/>
            <a:ext cx="396757" cy="1158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474720" y="3145536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$229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224528" y="3145536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212080" y="3145536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3377184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651760" y="3435096"/>
            <a:ext cx="385391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474720" y="3377184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224528" y="3377184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$265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212080" y="3377184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Diesel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3608832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651760" y="3666744"/>
            <a:ext cx="385391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474720" y="3608832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224528" y="3608832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12080" y="3608832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3840480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651760" y="3898392"/>
            <a:ext cx="369959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474720" y="3840480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4224528" y="3840480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5212080" y="3840480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072128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651760" y="4130040"/>
            <a:ext cx="345268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474720" y="4072128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$212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224528" y="4072128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212080" y="4072128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03776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651760" y="4361688"/>
            <a:ext cx="345268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474720" y="4303776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$212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224528" y="4303776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5212080" y="4303776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4535424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2651760" y="4593336"/>
            <a:ext cx="343386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474720" y="4535424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4224528" y="4535424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5212080" y="4535424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767072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651760" y="4824984"/>
            <a:ext cx="339096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474720" y="4767072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224528" y="4767072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5212080" y="4767072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4998720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651760" y="5056632"/>
            <a:ext cx="323664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474720" y="4998720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$205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224528" y="4998720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5212080" y="4998720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5230368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2651760" y="5288280"/>
            <a:ext cx="261937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3474720" y="5230368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4224528" y="5230368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5212080" y="5230368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58368" y="5462016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2651760" y="5519928"/>
            <a:ext cx="261937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3474720" y="5462016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4224528" y="5462016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5212080" y="5462016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58368" y="5693664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2651760" y="5751576"/>
            <a:ext cx="246506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3474720" y="5693664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4224528" y="5693664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5212080" y="5693664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Non-std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131673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GRID · 16 STORES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9025128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9774936" y="13167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10762488" y="1316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1755648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8202168" y="1813560"/>
            <a:ext cx="540108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9025128" y="1755648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$275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9774936" y="1755648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10762488" y="1755648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6208776" y="1987296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8202168" y="2045208"/>
            <a:ext cx="462796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9025128" y="1987296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$250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9774936" y="1987296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10762488" y="1987296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2218944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8202168" y="2276856"/>
            <a:ext cx="447117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9025128" y="2218944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$245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9774936" y="2218944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10762488" y="2218944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2450592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8202168" y="2508504"/>
            <a:ext cx="401069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9025128" y="2450592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$230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9774936" y="2450592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10762488" y="2450592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2682240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8202168" y="2740152"/>
            <a:ext cx="370360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9025128" y="2682240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9774936" y="2682240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$230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10762488" y="2682240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6208776" y="2913888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8202168" y="2971800"/>
            <a:ext cx="356070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9025128" y="2913888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$215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9774936" y="2913888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10762488" y="2913888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3145536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8202168" y="3203448"/>
            <a:ext cx="339497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9025128" y="3145536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9774936" y="3145536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762488" y="3145536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3377184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8202168" y="3435096"/>
            <a:ext cx="339497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9025128" y="3377184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</a:t>
            </a:r>
            <a:endParaRPr lang="en-US" sz="1300" dirty="0"/>
          </a:p>
        </p:txBody>
      </p:sp>
      <p:sp>
        <p:nvSpPr>
          <p:cNvPr id="143" name="Text 141"/>
          <p:cNvSpPr txBox="1"/>
          <p:nvPr/>
        </p:nvSpPr>
        <p:spPr>
          <a:xfrm>
            <a:off x="9774936" y="3377184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10762488" y="3377184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45" name="Shape 143"/>
          <p:cNvSpPr/>
          <p:nvPr/>
        </p:nvSpPr>
        <p:spPr>
          <a:xfrm>
            <a:off x="6153912" y="3608832"/>
            <a:ext cx="5285232" cy="22250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6208776" y="3608832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NO-GRID AVG</a:t>
            </a:r>
            <a:endParaRPr lang="en-US" sz="1300" dirty="0"/>
          </a:p>
        </p:txBody>
      </p:sp>
      <p:sp>
        <p:nvSpPr>
          <p:cNvPr id="147" name="Shape 145"/>
          <p:cNvSpPr/>
          <p:nvPr/>
        </p:nvSpPr>
        <p:spPr>
          <a:xfrm>
            <a:off x="8202168" y="3666744"/>
            <a:ext cx="317376" cy="1158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9025128" y="3608832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$203</a:t>
            </a:r>
            <a:endParaRPr lang="en-US" sz="1300" dirty="0"/>
          </a:p>
        </p:txBody>
      </p:sp>
      <p:sp>
        <p:nvSpPr>
          <p:cNvPr id="149" name="Text 147"/>
          <p:cNvSpPr txBox="1"/>
          <p:nvPr/>
        </p:nvSpPr>
        <p:spPr>
          <a:xfrm>
            <a:off x="9774936" y="3608832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10762488" y="3608832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6208776" y="3840480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8202168" y="3898392"/>
            <a:ext cx="308479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9025128" y="3840480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</a:t>
            </a:r>
            <a:endParaRPr lang="en-US" sz="1300" dirty="0"/>
          </a:p>
        </p:txBody>
      </p:sp>
      <p:sp>
        <p:nvSpPr>
          <p:cNvPr id="154" name="Text 152"/>
          <p:cNvSpPr txBox="1"/>
          <p:nvPr/>
        </p:nvSpPr>
        <p:spPr>
          <a:xfrm>
            <a:off x="9774936" y="3840480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55" name="Text 153"/>
          <p:cNvSpPr txBox="1"/>
          <p:nvPr/>
        </p:nvSpPr>
        <p:spPr>
          <a:xfrm>
            <a:off x="10762488" y="3840480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6208776" y="4072128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8202168" y="4130040"/>
            <a:ext cx="293202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8" name="Text 156"/>
          <p:cNvSpPr txBox="1"/>
          <p:nvPr/>
        </p:nvSpPr>
        <p:spPr>
          <a:xfrm>
            <a:off x="9025128" y="4072128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</a:t>
            </a:r>
            <a:endParaRPr lang="en-US" sz="1300" dirty="0"/>
          </a:p>
        </p:txBody>
      </p:sp>
      <p:sp>
        <p:nvSpPr>
          <p:cNvPr id="159" name="Text 157"/>
          <p:cNvSpPr txBox="1"/>
          <p:nvPr/>
        </p:nvSpPr>
        <p:spPr>
          <a:xfrm>
            <a:off x="9774936" y="4072128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10762488" y="4072128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6208776" y="4303776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62" name="Shape 160"/>
          <p:cNvSpPr/>
          <p:nvPr/>
        </p:nvSpPr>
        <p:spPr>
          <a:xfrm>
            <a:off x="8202168" y="4361688"/>
            <a:ext cx="277770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9025128" y="4303776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$190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9774936" y="4303776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10762488" y="4303776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6208776" y="4535424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67" name="Shape 165"/>
          <p:cNvSpPr/>
          <p:nvPr/>
        </p:nvSpPr>
        <p:spPr>
          <a:xfrm>
            <a:off x="8202168" y="4593336"/>
            <a:ext cx="262338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9025128" y="4535424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9774936" y="4535424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10762488" y="4535424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6208776" y="4767072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72" name="Shape 170"/>
          <p:cNvSpPr/>
          <p:nvPr/>
        </p:nvSpPr>
        <p:spPr>
          <a:xfrm>
            <a:off x="8202168" y="4824984"/>
            <a:ext cx="262338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9025128" y="4767072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9774936" y="4767072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10762488" y="4767072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6208776" y="4998720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77" name="Shape 175"/>
          <p:cNvSpPr/>
          <p:nvPr/>
        </p:nvSpPr>
        <p:spPr>
          <a:xfrm>
            <a:off x="8202168" y="5056632"/>
            <a:ext cx="262338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9025128" y="4998720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300" dirty="0"/>
          </a:p>
        </p:txBody>
      </p:sp>
      <p:sp>
        <p:nvSpPr>
          <p:cNvPr id="179" name="Text 177"/>
          <p:cNvSpPr txBox="1"/>
          <p:nvPr/>
        </p:nvSpPr>
        <p:spPr>
          <a:xfrm>
            <a:off x="9774936" y="4998720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$215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10762488" y="4998720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1300" dirty="0"/>
          </a:p>
        </p:txBody>
      </p:sp>
      <p:sp>
        <p:nvSpPr>
          <p:cNvPr id="181" name="Text 179"/>
          <p:cNvSpPr txBox="1"/>
          <p:nvPr/>
        </p:nvSpPr>
        <p:spPr>
          <a:xfrm>
            <a:off x="6208776" y="5230368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82" name="Shape 180"/>
          <p:cNvSpPr/>
          <p:nvPr/>
        </p:nvSpPr>
        <p:spPr>
          <a:xfrm>
            <a:off x="8202168" y="5288280"/>
            <a:ext cx="262338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83" name="Text 181"/>
          <p:cNvSpPr txBox="1"/>
          <p:nvPr/>
        </p:nvSpPr>
        <p:spPr>
          <a:xfrm>
            <a:off x="9025128" y="5230368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300" dirty="0"/>
          </a:p>
        </p:txBody>
      </p:sp>
      <p:sp>
        <p:nvSpPr>
          <p:cNvPr id="184" name="Text 182"/>
          <p:cNvSpPr txBox="1"/>
          <p:nvPr/>
        </p:nvSpPr>
        <p:spPr>
          <a:xfrm>
            <a:off x="9774936" y="5230368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</a:t>
            </a:r>
            <a:endParaRPr lang="en-US" sz="1300" dirty="0"/>
          </a:p>
        </p:txBody>
      </p:sp>
      <p:sp>
        <p:nvSpPr>
          <p:cNvPr id="185" name="Text 183"/>
          <p:cNvSpPr txBox="1"/>
          <p:nvPr/>
        </p:nvSpPr>
        <p:spPr>
          <a:xfrm>
            <a:off x="10762488" y="5230368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6208776" y="5462016"/>
            <a:ext cx="192024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8202168" y="5519928"/>
            <a:ext cx="243820" cy="1158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9025128" y="5462016"/>
            <a:ext cx="74980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</a:t>
            </a:r>
            <a:endParaRPr lang="en-US" sz="1300" dirty="0"/>
          </a:p>
        </p:txBody>
      </p:sp>
      <p:sp>
        <p:nvSpPr>
          <p:cNvPr id="189" name="Text 187"/>
          <p:cNvSpPr txBox="1"/>
          <p:nvPr/>
        </p:nvSpPr>
        <p:spPr>
          <a:xfrm>
            <a:off x="9774936" y="5462016"/>
            <a:ext cx="9875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90" name="Text 188"/>
          <p:cNvSpPr txBox="1"/>
          <p:nvPr/>
        </p:nvSpPr>
        <p:spPr>
          <a:xfrm>
            <a:off x="10762488" y="5462016"/>
            <a:ext cx="65836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91" name="Shape 189"/>
          <p:cNvSpPr/>
          <p:nvPr/>
        </p:nvSpPr>
        <p:spPr>
          <a:xfrm>
            <a:off x="6035040" y="1371600"/>
            <a:ext cx="10973" cy="455371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2" name="Shape 190"/>
          <p:cNvSpPr/>
          <p:nvPr/>
        </p:nvSpPr>
        <p:spPr>
          <a:xfrm>
            <a:off x="457200" y="6126480"/>
            <a:ext cx="11274552" cy="3489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658368" y="6144768"/>
            <a:ext cx="1092708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stores price labor on a grid, 16 at a flat door rate. Hours-weighted door rate: $229 grid, $203 no grid.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 % of Door 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6174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 % OF DOOR RATE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31870" y="1335024"/>
            <a:ext cx="45148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70.0%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74.7%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08376" y="2177348"/>
            <a:ext cx="484632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47872" y="212140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103.4%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24528" y="2121408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10912" y="2121408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08376" y="2401107"/>
            <a:ext cx="383271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47872" y="234516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90.2%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24528" y="2345167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10912" y="2345167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08376" y="2624866"/>
            <a:ext cx="381242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47872" y="256892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89.9%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224528" y="2568926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10912" y="2568926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08376" y="2848625"/>
            <a:ext cx="379858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47872" y="279268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89.7%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224528" y="2792685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010912" y="2792685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08376" y="3072384"/>
            <a:ext cx="370257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547872" y="301644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88.5%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224528" y="3016444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010912" y="3016444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14984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008376" y="3296143"/>
            <a:ext cx="356959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547872" y="3240203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86.7%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224528" y="3240203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$239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010912" y="3240203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$275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08376" y="3519902"/>
            <a:ext cx="353507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547872" y="3463962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86.3%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4224528" y="3463962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010912" y="3463962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1014984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008376" y="3743661"/>
            <a:ext cx="325440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547872" y="3687721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82.6%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4224528" y="3687721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5010912" y="3687721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008376" y="3967420"/>
            <a:ext cx="316767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3547872" y="391148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4224528" y="3911480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$187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5010912" y="3911480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$230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008376" y="4191179"/>
            <a:ext cx="312801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547872" y="413524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80.9%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4224528" y="4135240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5010912" y="4135240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008376" y="4414938"/>
            <a:ext cx="304415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547872" y="4358999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4224528" y="4358999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$156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5010912" y="4358999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008376" y="4638697"/>
            <a:ext cx="301632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3547872" y="458275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4224528" y="4582758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5010912" y="4582758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$295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58368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1014984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3008376" y="4862456"/>
            <a:ext cx="297217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3547872" y="480651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78.9%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4224528" y="4806517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5010912" y="4806517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58368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1014984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3008376" y="5086216"/>
            <a:ext cx="297178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3547872" y="503027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78.9%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4224528" y="5030276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$166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5010912" y="5030276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58368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1014984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3008376" y="5309975"/>
            <a:ext cx="293912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3547872" y="525403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78.5%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224528" y="5254035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$161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5010912" y="5254035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$205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58368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1014984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3008376" y="5533734"/>
            <a:ext cx="280511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3547872" y="547779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76.7%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4224528" y="5477794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5010912" y="5477794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58368" y="570155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1014984" y="570155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3008376" y="5757493"/>
            <a:ext cx="278222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3547872" y="5701553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76.4%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4224528" y="5701553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$267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5010912" y="5701553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$349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208776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565392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8558784" y="2177348"/>
            <a:ext cx="270524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9098280" y="212140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75.4%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9774936" y="2121408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10561320" y="2121408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$310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558784" y="2401107"/>
            <a:ext cx="269235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9098280" y="234516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75.2%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9774936" y="2345167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10561320" y="2345167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$215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558784" y="2624866"/>
            <a:ext cx="267891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9098280" y="256892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75.1%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9774936" y="2568926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10561320" y="2568926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$240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558784" y="2848625"/>
            <a:ext cx="267180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9098280" y="279268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75.0%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9774936" y="2792685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10561320" y="2792685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$190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558784" y="3072384"/>
            <a:ext cx="258698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9098280" y="301644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73.8%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9774936" y="3016444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$137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10561320" y="3016444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200" dirty="0"/>
          </a:p>
        </p:txBody>
      </p:sp>
      <p:sp>
        <p:nvSpPr>
          <p:cNvPr id="143" name="Text 141"/>
          <p:cNvSpPr txBox="1"/>
          <p:nvPr/>
        </p:nvSpPr>
        <p:spPr>
          <a:xfrm>
            <a:off x="6208776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4" name="Text 142"/>
          <p:cNvSpPr txBox="1"/>
          <p:nvPr/>
        </p:nvSpPr>
        <p:spPr>
          <a:xfrm>
            <a:off x="6565392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8558784" y="3296143"/>
            <a:ext cx="253061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9098280" y="3240203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73.1%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9774936" y="3240203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</a:t>
            </a:r>
            <a:endParaRPr lang="en-US" sz="1200" dirty="0"/>
          </a:p>
        </p:txBody>
      </p:sp>
      <p:sp>
        <p:nvSpPr>
          <p:cNvPr id="148" name="Text 146"/>
          <p:cNvSpPr txBox="1"/>
          <p:nvPr/>
        </p:nvSpPr>
        <p:spPr>
          <a:xfrm>
            <a:off x="10561320" y="3240203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</a:t>
            </a:r>
            <a:endParaRPr lang="en-US" sz="1200" dirty="0"/>
          </a:p>
        </p:txBody>
      </p:sp>
      <p:sp>
        <p:nvSpPr>
          <p:cNvPr id="149" name="Text 147"/>
          <p:cNvSpPr txBox="1"/>
          <p:nvPr/>
        </p:nvSpPr>
        <p:spPr>
          <a:xfrm>
            <a:off x="6208776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6565392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8558784" y="3519902"/>
            <a:ext cx="247497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9098280" y="3463962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72.4%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9774936" y="3463962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</a:t>
            </a:r>
            <a:endParaRPr lang="en-US" sz="1200" dirty="0"/>
          </a:p>
        </p:txBody>
      </p:sp>
      <p:sp>
        <p:nvSpPr>
          <p:cNvPr id="154" name="Text 152"/>
          <p:cNvSpPr txBox="1"/>
          <p:nvPr/>
        </p:nvSpPr>
        <p:spPr>
          <a:xfrm>
            <a:off x="10561320" y="3463962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$212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6208776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56" name="Text 154"/>
          <p:cNvSpPr txBox="1"/>
          <p:nvPr/>
        </p:nvSpPr>
        <p:spPr>
          <a:xfrm>
            <a:off x="6565392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8558784" y="3743661"/>
            <a:ext cx="233966" cy="1118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8" name="Text 156"/>
          <p:cNvSpPr txBox="1"/>
          <p:nvPr/>
        </p:nvSpPr>
        <p:spPr>
          <a:xfrm>
            <a:off x="9098280" y="3687721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70.6%</a:t>
            </a:r>
            <a:endParaRPr lang="en-US" sz="1200" dirty="0"/>
          </a:p>
        </p:txBody>
      </p:sp>
      <p:sp>
        <p:nvSpPr>
          <p:cNvPr id="159" name="Text 157"/>
          <p:cNvSpPr txBox="1"/>
          <p:nvPr/>
        </p:nvSpPr>
        <p:spPr>
          <a:xfrm>
            <a:off x="9774936" y="3687721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</a:t>
            </a:r>
            <a:endParaRPr lang="en-US" sz="1200" dirty="0"/>
          </a:p>
        </p:txBody>
      </p:sp>
      <p:sp>
        <p:nvSpPr>
          <p:cNvPr id="160" name="Text 158"/>
          <p:cNvSpPr txBox="1"/>
          <p:nvPr/>
        </p:nvSpPr>
        <p:spPr>
          <a:xfrm>
            <a:off x="10561320" y="3687721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$212</a:t>
            </a:r>
            <a:endParaRPr lang="en-US" sz="1200" dirty="0"/>
          </a:p>
        </p:txBody>
      </p:sp>
      <p:sp>
        <p:nvSpPr>
          <p:cNvPr id="161" name="Text 159"/>
          <p:cNvSpPr txBox="1"/>
          <p:nvPr/>
        </p:nvSpPr>
        <p:spPr>
          <a:xfrm>
            <a:off x="6208776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62" name="Text 160"/>
          <p:cNvSpPr txBox="1"/>
          <p:nvPr/>
        </p:nvSpPr>
        <p:spPr>
          <a:xfrm>
            <a:off x="6565392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63" name="Shape 161"/>
          <p:cNvSpPr/>
          <p:nvPr/>
        </p:nvSpPr>
        <p:spPr>
          <a:xfrm>
            <a:off x="8558784" y="3967420"/>
            <a:ext cx="217907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9098280" y="391148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68.5%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9774936" y="3911480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</a:t>
            </a:r>
            <a:endParaRPr lang="en-US" sz="1200" dirty="0"/>
          </a:p>
        </p:txBody>
      </p:sp>
      <p:sp>
        <p:nvSpPr>
          <p:cNvPr id="166" name="Text 164"/>
          <p:cNvSpPr txBox="1"/>
          <p:nvPr/>
        </p:nvSpPr>
        <p:spPr>
          <a:xfrm>
            <a:off x="10561320" y="3911480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</a:t>
            </a:r>
            <a:endParaRPr lang="en-US" sz="1200" dirty="0"/>
          </a:p>
        </p:txBody>
      </p:sp>
      <p:sp>
        <p:nvSpPr>
          <p:cNvPr id="167" name="Text 165"/>
          <p:cNvSpPr txBox="1"/>
          <p:nvPr/>
        </p:nvSpPr>
        <p:spPr>
          <a:xfrm>
            <a:off x="6208776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68" name="Text 166"/>
          <p:cNvSpPr txBox="1"/>
          <p:nvPr/>
        </p:nvSpPr>
        <p:spPr>
          <a:xfrm>
            <a:off x="6565392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69" name="Shape 167"/>
          <p:cNvSpPr/>
          <p:nvPr/>
        </p:nvSpPr>
        <p:spPr>
          <a:xfrm>
            <a:off x="8558784" y="4191179"/>
            <a:ext cx="215917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9098280" y="4135240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68.2%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9774936" y="4135240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</a:t>
            </a:r>
            <a:endParaRPr lang="en-US" sz="1200" dirty="0"/>
          </a:p>
        </p:txBody>
      </p:sp>
      <p:sp>
        <p:nvSpPr>
          <p:cNvPr id="172" name="Text 170"/>
          <p:cNvSpPr txBox="1"/>
          <p:nvPr/>
        </p:nvSpPr>
        <p:spPr>
          <a:xfrm>
            <a:off x="10561320" y="4135240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$245</a:t>
            </a:r>
            <a:endParaRPr lang="en-US" sz="1200" dirty="0"/>
          </a:p>
        </p:txBody>
      </p:sp>
      <p:sp>
        <p:nvSpPr>
          <p:cNvPr id="173" name="Text 171"/>
          <p:cNvSpPr txBox="1"/>
          <p:nvPr/>
        </p:nvSpPr>
        <p:spPr>
          <a:xfrm>
            <a:off x="6208776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74" name="Text 172"/>
          <p:cNvSpPr txBox="1"/>
          <p:nvPr/>
        </p:nvSpPr>
        <p:spPr>
          <a:xfrm>
            <a:off x="6565392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75" name="Shape 173"/>
          <p:cNvSpPr/>
          <p:nvPr/>
        </p:nvSpPr>
        <p:spPr>
          <a:xfrm>
            <a:off x="8558784" y="4414938"/>
            <a:ext cx="210082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6" name="Text 174"/>
          <p:cNvSpPr txBox="1"/>
          <p:nvPr/>
        </p:nvSpPr>
        <p:spPr>
          <a:xfrm>
            <a:off x="9098280" y="4358999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67.5%</a:t>
            </a:r>
            <a:endParaRPr lang="en-US" sz="1200" dirty="0"/>
          </a:p>
        </p:txBody>
      </p:sp>
      <p:sp>
        <p:nvSpPr>
          <p:cNvPr id="177" name="Text 175"/>
          <p:cNvSpPr txBox="1"/>
          <p:nvPr/>
        </p:nvSpPr>
        <p:spPr>
          <a:xfrm>
            <a:off x="9774936" y="4358999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$125</a:t>
            </a:r>
            <a:endParaRPr lang="en-US" sz="1200" dirty="0"/>
          </a:p>
        </p:txBody>
      </p:sp>
      <p:sp>
        <p:nvSpPr>
          <p:cNvPr id="178" name="Text 176"/>
          <p:cNvSpPr txBox="1"/>
          <p:nvPr/>
        </p:nvSpPr>
        <p:spPr>
          <a:xfrm>
            <a:off x="10561320" y="4358999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</a:t>
            </a:r>
            <a:endParaRPr lang="en-US" sz="1200" dirty="0"/>
          </a:p>
        </p:txBody>
      </p:sp>
      <p:sp>
        <p:nvSpPr>
          <p:cNvPr id="179" name="Text 177"/>
          <p:cNvSpPr txBox="1"/>
          <p:nvPr/>
        </p:nvSpPr>
        <p:spPr>
          <a:xfrm>
            <a:off x="6208776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80" name="Text 178"/>
          <p:cNvSpPr txBox="1"/>
          <p:nvPr/>
        </p:nvSpPr>
        <p:spPr>
          <a:xfrm>
            <a:off x="6565392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8558784" y="4638697"/>
            <a:ext cx="204414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2" name="Text 180"/>
          <p:cNvSpPr txBox="1"/>
          <p:nvPr/>
        </p:nvSpPr>
        <p:spPr>
          <a:xfrm>
            <a:off x="9098280" y="4582758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66.7%</a:t>
            </a:r>
            <a:endParaRPr lang="en-US" sz="1200" dirty="0"/>
          </a:p>
        </p:txBody>
      </p:sp>
      <p:sp>
        <p:nvSpPr>
          <p:cNvPr id="183" name="Text 181"/>
          <p:cNvSpPr txBox="1"/>
          <p:nvPr/>
        </p:nvSpPr>
        <p:spPr>
          <a:xfrm>
            <a:off x="9774936" y="4582758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</a:t>
            </a:r>
            <a:endParaRPr lang="en-US" sz="1200" dirty="0"/>
          </a:p>
        </p:txBody>
      </p:sp>
      <p:sp>
        <p:nvSpPr>
          <p:cNvPr id="184" name="Text 182"/>
          <p:cNvSpPr txBox="1"/>
          <p:nvPr/>
        </p:nvSpPr>
        <p:spPr>
          <a:xfrm>
            <a:off x="10561320" y="4582758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</a:t>
            </a:r>
            <a:endParaRPr lang="en-US" sz="1200" dirty="0"/>
          </a:p>
        </p:txBody>
      </p:sp>
      <p:sp>
        <p:nvSpPr>
          <p:cNvPr id="185" name="Text 183"/>
          <p:cNvSpPr txBox="1"/>
          <p:nvPr/>
        </p:nvSpPr>
        <p:spPr>
          <a:xfrm>
            <a:off x="6208776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86" name="Text 184"/>
          <p:cNvSpPr txBox="1"/>
          <p:nvPr/>
        </p:nvSpPr>
        <p:spPr>
          <a:xfrm>
            <a:off x="6565392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8558784" y="4862456"/>
            <a:ext cx="202819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9098280" y="4806517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66.5%</a:t>
            </a:r>
            <a:endParaRPr lang="en-US" sz="1200" dirty="0"/>
          </a:p>
        </p:txBody>
      </p:sp>
      <p:sp>
        <p:nvSpPr>
          <p:cNvPr id="189" name="Text 187"/>
          <p:cNvSpPr txBox="1"/>
          <p:nvPr/>
        </p:nvSpPr>
        <p:spPr>
          <a:xfrm>
            <a:off x="9774936" y="4806517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$140</a:t>
            </a:r>
            <a:endParaRPr lang="en-US" sz="1200" dirty="0"/>
          </a:p>
        </p:txBody>
      </p:sp>
      <p:sp>
        <p:nvSpPr>
          <p:cNvPr id="190" name="Text 188"/>
          <p:cNvSpPr txBox="1"/>
          <p:nvPr/>
        </p:nvSpPr>
        <p:spPr>
          <a:xfrm>
            <a:off x="10561320" y="4806517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</a:t>
            </a:r>
            <a:endParaRPr lang="en-US" sz="1200" dirty="0"/>
          </a:p>
        </p:txBody>
      </p:sp>
      <p:sp>
        <p:nvSpPr>
          <p:cNvPr id="191" name="Text 189"/>
          <p:cNvSpPr txBox="1"/>
          <p:nvPr/>
        </p:nvSpPr>
        <p:spPr>
          <a:xfrm>
            <a:off x="6208776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92" name="Text 190"/>
          <p:cNvSpPr txBox="1"/>
          <p:nvPr/>
        </p:nvSpPr>
        <p:spPr>
          <a:xfrm>
            <a:off x="6565392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93" name="Shape 191"/>
          <p:cNvSpPr/>
          <p:nvPr/>
        </p:nvSpPr>
        <p:spPr>
          <a:xfrm>
            <a:off x="8558784" y="5086216"/>
            <a:ext cx="191075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4" name="Text 192"/>
          <p:cNvSpPr txBox="1"/>
          <p:nvPr/>
        </p:nvSpPr>
        <p:spPr>
          <a:xfrm>
            <a:off x="9098280" y="5030276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65.0%</a:t>
            </a:r>
            <a:endParaRPr lang="en-US" sz="1200" dirty="0"/>
          </a:p>
        </p:txBody>
      </p:sp>
      <p:sp>
        <p:nvSpPr>
          <p:cNvPr id="195" name="Text 193"/>
          <p:cNvSpPr txBox="1"/>
          <p:nvPr/>
        </p:nvSpPr>
        <p:spPr>
          <a:xfrm>
            <a:off x="9774936" y="5030276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</a:t>
            </a:r>
            <a:endParaRPr lang="en-US" sz="1200" dirty="0"/>
          </a:p>
        </p:txBody>
      </p:sp>
      <p:sp>
        <p:nvSpPr>
          <p:cNvPr id="196" name="Text 194"/>
          <p:cNvSpPr txBox="1"/>
          <p:nvPr/>
        </p:nvSpPr>
        <p:spPr>
          <a:xfrm>
            <a:off x="10561320" y="5030276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</a:t>
            </a:r>
            <a:endParaRPr lang="en-US" sz="1200" dirty="0"/>
          </a:p>
        </p:txBody>
      </p:sp>
      <p:sp>
        <p:nvSpPr>
          <p:cNvPr id="197" name="Text 195"/>
          <p:cNvSpPr txBox="1"/>
          <p:nvPr/>
        </p:nvSpPr>
        <p:spPr>
          <a:xfrm>
            <a:off x="6208776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98" name="Text 196"/>
          <p:cNvSpPr txBox="1"/>
          <p:nvPr/>
        </p:nvSpPr>
        <p:spPr>
          <a:xfrm>
            <a:off x="6565392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99" name="Shape 197"/>
          <p:cNvSpPr/>
          <p:nvPr/>
        </p:nvSpPr>
        <p:spPr>
          <a:xfrm>
            <a:off x="8558784" y="5309975"/>
            <a:ext cx="189432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0" name="Text 198"/>
          <p:cNvSpPr txBox="1"/>
          <p:nvPr/>
        </p:nvSpPr>
        <p:spPr>
          <a:xfrm>
            <a:off x="9098280" y="5254035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64.8%</a:t>
            </a:r>
            <a:endParaRPr lang="en-US" sz="1200" dirty="0"/>
          </a:p>
        </p:txBody>
      </p:sp>
      <p:sp>
        <p:nvSpPr>
          <p:cNvPr id="201" name="Text 199"/>
          <p:cNvSpPr txBox="1"/>
          <p:nvPr/>
        </p:nvSpPr>
        <p:spPr>
          <a:xfrm>
            <a:off x="9774936" y="5254035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</a:t>
            </a:r>
            <a:endParaRPr lang="en-US" sz="1200" dirty="0"/>
          </a:p>
        </p:txBody>
      </p:sp>
      <p:sp>
        <p:nvSpPr>
          <p:cNvPr id="202" name="Text 200"/>
          <p:cNvSpPr txBox="1"/>
          <p:nvPr/>
        </p:nvSpPr>
        <p:spPr>
          <a:xfrm>
            <a:off x="10561320" y="5254035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</a:t>
            </a:r>
            <a:endParaRPr lang="en-US" sz="1200" dirty="0"/>
          </a:p>
        </p:txBody>
      </p:sp>
      <p:sp>
        <p:nvSpPr>
          <p:cNvPr id="203" name="Text 201"/>
          <p:cNvSpPr txBox="1"/>
          <p:nvPr/>
        </p:nvSpPr>
        <p:spPr>
          <a:xfrm>
            <a:off x="6208776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204" name="Text 202"/>
          <p:cNvSpPr txBox="1"/>
          <p:nvPr/>
        </p:nvSpPr>
        <p:spPr>
          <a:xfrm>
            <a:off x="6565392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8558784" y="5533734"/>
            <a:ext cx="164625" cy="11188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06" name="Text 204"/>
          <p:cNvSpPr txBox="1"/>
          <p:nvPr/>
        </p:nvSpPr>
        <p:spPr>
          <a:xfrm>
            <a:off x="9098280" y="5477794"/>
            <a:ext cx="67665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61.5%</a:t>
            </a:r>
            <a:endParaRPr lang="en-US" sz="1200" dirty="0"/>
          </a:p>
        </p:txBody>
      </p:sp>
      <p:sp>
        <p:nvSpPr>
          <p:cNvPr id="207" name="Text 205"/>
          <p:cNvSpPr txBox="1"/>
          <p:nvPr/>
        </p:nvSpPr>
        <p:spPr>
          <a:xfrm>
            <a:off x="9774936" y="5477794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</a:t>
            </a:r>
            <a:endParaRPr lang="en-US" sz="1200" dirty="0"/>
          </a:p>
        </p:txBody>
      </p:sp>
      <p:sp>
        <p:nvSpPr>
          <p:cNvPr id="208" name="Text 206"/>
          <p:cNvSpPr txBox="1"/>
          <p:nvPr/>
        </p:nvSpPr>
        <p:spPr>
          <a:xfrm>
            <a:off x="10561320" y="5477794"/>
            <a:ext cx="786384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</a:t>
            </a:r>
            <a:endParaRPr lang="en-US" sz="1200" dirty="0"/>
          </a:p>
        </p:txBody>
      </p:sp>
      <p:sp>
        <p:nvSpPr>
          <p:cNvPr id="209" name="Text 207"/>
          <p:cNvSpPr txBox="1"/>
          <p:nvPr/>
        </p:nvSpPr>
        <p:spPr>
          <a:xfrm>
            <a:off x="3547872" y="18288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00" dirty="0"/>
          </a:p>
        </p:txBody>
      </p:sp>
      <p:sp>
        <p:nvSpPr>
          <p:cNvPr id="210" name="Text 208"/>
          <p:cNvSpPr txBox="1"/>
          <p:nvPr/>
        </p:nvSpPr>
        <p:spPr>
          <a:xfrm>
            <a:off x="4224528" y="18288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</a:t>
            </a:r>
            <a:endParaRPr lang="en-US" sz="1400" dirty="0"/>
          </a:p>
        </p:txBody>
      </p:sp>
      <p:sp>
        <p:nvSpPr>
          <p:cNvPr id="211" name="Text 209"/>
          <p:cNvSpPr txBox="1"/>
          <p:nvPr/>
        </p:nvSpPr>
        <p:spPr>
          <a:xfrm>
            <a:off x="5010912" y="18288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212" name="Text 210"/>
          <p:cNvSpPr txBox="1"/>
          <p:nvPr/>
        </p:nvSpPr>
        <p:spPr>
          <a:xfrm>
            <a:off x="9098280" y="18288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00" dirty="0"/>
          </a:p>
        </p:txBody>
      </p:sp>
      <p:sp>
        <p:nvSpPr>
          <p:cNvPr id="213" name="Text 211"/>
          <p:cNvSpPr txBox="1"/>
          <p:nvPr/>
        </p:nvSpPr>
        <p:spPr>
          <a:xfrm>
            <a:off x="9774936" y="18288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</a:t>
            </a:r>
            <a:endParaRPr lang="en-US" sz="1400" dirty="0"/>
          </a:p>
        </p:txBody>
      </p:sp>
      <p:sp>
        <p:nvSpPr>
          <p:cNvPr id="214" name="Text 212"/>
          <p:cNvSpPr txBox="1"/>
          <p:nvPr/>
        </p:nvSpPr>
        <p:spPr>
          <a:xfrm>
            <a:off x="10561320" y="18288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215" name="Shape 213"/>
          <p:cNvSpPr/>
          <p:nvPr/>
        </p:nvSpPr>
        <p:spPr>
          <a:xfrm>
            <a:off x="3230026" y="2121408"/>
            <a:ext cx="14630" cy="380390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216" name="Shape 214"/>
          <p:cNvSpPr/>
          <p:nvPr/>
        </p:nvSpPr>
        <p:spPr>
          <a:xfrm>
            <a:off x="8780434" y="2121408"/>
            <a:ext cx="14630" cy="380390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217" name="Shape 215"/>
          <p:cNvSpPr/>
          <p:nvPr/>
        </p:nvSpPr>
        <p:spPr>
          <a:xfrm>
            <a:off x="6085332" y="2121408"/>
            <a:ext cx="10973" cy="38039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9" name="Shape 216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20" name="Text 217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Jul–Sep: 25 of 33 stores realize at least 70% of door rate; the group is at 74.7%.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2026-10-28T17:01:52Z</dcterms:created>
  <dcterms:modified xsi:type="dcterms:W3CDTF">2026-10-28T17:01:52Z</dcterms:modified>
</cp:coreProperties>
</file>