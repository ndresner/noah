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2026 vs 2025, same-store (INEOS excluded, opened 2026), as on the Fixed Ops Net Profit slides.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$50,449,894 (2025 $45,336,135); group net profit $82,743,115 (2025 $95,664,709). On the P&amp;L, F&amp;I income, other income and store-level costs are not split by department, so 'the rest of the store' is the group net less fixed ops department profit. Group net = Net Profit Or Loss on the GM statement (P&amp;L summary), same-store: INEOS (opened 2026) is out of both lines, as on the Fixed Ops Net Profit slides (Noah, Oct 29; all stores in, it was $50.19M of $82.24M). Body shop (GMC Prescott) department profit is left out of fixed ops, as everywhere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
Said: Roundtable slide 9 ('Service Department?'); Jan GM slide 58 (Sales and Service Relationship).
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
Said: Roundtable slides 18-19 (KPIs; CP Labor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
Said: Jan/May GM slides on Appointment Scheduling, Appointment Discipline, Phone Call Handling and Retention Management (Jan 2, 7, 9, 11; May 2, 4, 8, 9).
The two Flai voice AI slides (Jul 26 - Oct 26, 2026) follow this one; keep Flai figures off any slide with a P&amp;L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
Said: Roundtable slide 15 (Pricing Strategy); Jan/May GM Road to the Sale slide (pricing lines); Jan GM slide 54 (Discounting Discipline); 70% benchmark from the Jan/May door rate slides.
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CP Labor Gross Profit %.
Said: Roundtable slide 21 (Gross Profit %). Above 80% can mean techs are underpaid on the work they do; below 78% means the job mix or the dispatch is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
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
The 52.5% customer-pay share of labor sale tile was dropped with the rewrite.
Said: Jan GM slide 8 / May GM slide 7 (Express Service), reworded.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
Said: Jan GM slide 19 / May GM slide 15 (Tracking &amp; Accountability); Roundtable slide 16 (Performance Tracking).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
Said: Roundtable slides 11, 12, 14 (Road to the Sale, Maintenance Menus, MPI Mandate); Jan GM slide 15 / May GM slide 11 (Road to the Sale). Fuel service is 5.8% vs 7.5% (4,731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Rates Are Rising (Oct 22: $3,788,200 added gross profit from the YTD RWR Financials vendor report replaced the warranty RO count here).
Said: Jan GM slides 13-14 (audit chargebacks; Warranty Compliance). The Jan slide named six stores' chargebacks; kept to the $400,000 total here, in line with no store call-outs from the podium.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
Said: Roundtable slide 6 (People); Jan GM slide 57 (Technician Pipeline).
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
Numbers rebuilt 2026-10-20 on ADP headcount (Employee Master extract 10/19/2026); the Qlik headcount history undercounted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
Said: Jan GM slide 16 / May GM slide 12 (Pay Plans aka Work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
Said: Roundtable slide 22 (Technicians &amp; Stalls); Jan GM slide 52 / May GM slide 16 (MPI Completion and Tech Efficiency).
Now: proficiency slides (ADP worked hours + Qlik sold hours, Dec 25-Oct 9, with the foreman 30%, tech 10%, role-change and keying-error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the close, after the last Productivity / Proficiency slide.
Said: Roundtable slide 24 (Misc &amp; Closing). Commitments are reviewed at the next meeting (Noah, Oct 27): keep a list of what each store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
Talk track: internal work is protected gross generated on our own vehicles.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
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$50.45M of $82.74M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+$5,113,759</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$12.92M.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actionable items you will put in place at your store before year end, and hold your team to them.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+$829,841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gross than 2025, on average, every month January through September.</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$6.6M a year in gross.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1.3-1.4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0.8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Our most valuable asset: this is what separates us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Always be teaching, training and educating</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Don't overlook opportunities to teach, train and educate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Clear pay plans, job descriptions and expectations, and hold people accountable to them</a:t>
            </a:r>
            <a:endParaRPr lang="en-US" sz="16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September to September,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 on average.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$6,602,564 a year in labor and parts gross.</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 protected gross generated on our own vehicles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2026-10-29T14:30:09Z</dcterms:created>
  <dcterms:modified xsi:type="dcterms:W3CDTF">2026-10-29T14:30:09Z</dcterms:modified>
</cp:coreProperties>
</file>