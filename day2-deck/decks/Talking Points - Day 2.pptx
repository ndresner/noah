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right after the cover, before the Gross section.
Said: Roundtable slides 2, 5, 7, 6 (objective; philosophy &amp; culture; 'you get what you tolerate'; collaboration). Ask adapted from Roundtable slide 24 closing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Gross section, after the section break and before Total Gross Profit - Fixed Ops.
Said: Roundtable slide 9 ('Service Department?'); Jan GM slide 58 (Sales and Service Relationship).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section break and before CP RO Count.
Said: Roundtable slides 18-19 (KPIs; CP Labor $ per RO).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after the CP RO Count slides and before Hours per RO.
Said: Jan/May GM slides on Appointment Scheduling, Appointment Discipline, Phone Call Handling and Retention Management (Jan 2, 7, 9, 11; May 2, 4, 8, 9).
Optional: the Flai voice AI service view (Jul 16-Aug 15 pull: 4,368 of 8,351 transfers rang out) fits here, but it is a different source and period; refresh it before use and keep it off any slide with a P&amp;L number.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the CP ELR slides (ahead of the door-rate options).
Said: Roundtable slide 15 (Pricing Strategy); Jan/May GM Road to the Sale slide (pricing lines); Jan GM slide 54 (Discounting Discipline); 70% benchmark from the Jan/May door rate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CP Engine section, before CP Labor Gross Profit %.
Said: Roundtable slide 21 (Gross Profit %). Above 80% can mean techs are underpaid on the work they do; below 78% means the job mix or the dispatch is off.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after the section break and before the pay type slides.
Said: Jan GM slide 8 / May GM slide 7 (Express Service).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Labor Mix section, before the work-type (maintenance / repair / unclassified) slides.
Said: Jan GM slide 19 / May GM slide 15 (Tracking &amp; Accountability); Roundtable slide 16 (Performance Tracking).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Opcodes section, after the section break and before Alignment %.
Said: Roundtable slides 11, 12, 14 (Road to the Sale, Maintenance Menus, MPI Mandate); Jan GM slide 15 / May GM slide 11 (Road to the Sale). Fuel service is 5.8% vs 7.5% (4,731 short).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Warranty &amp; Internal section, after the section break and before Warranty RO Count.
Said: Jan GM slides 13-14 (audit chargebacks; Warranty Compliance). The Jan slide named six stores' chargebacks; kept to the $400,000 total here, in line with no store call-outs from the podium.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after the section break and before Fixed Gross per Fixed Employee.
Said: Roundtable slide 6 (People); Jan GM slide 57 (Technician Pipeline).
Numbers rebuilt 2026-10-20 on ADP headcount (Employee Master extract 10/19/2026); the Qlik headcount history undercounted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Productivity section, before CP &amp; W ROs per Service Advisor.
Said: Jan GM slide 16 / May GM slide 12 (Pay Plans aka Work Instructions).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Technician Proficiency section, after the section break and before the store proficiency ranker.
Said: Roundtable slide 22 (Technicians &amp; Stalls); Jan GM slide 52 / May GM slide 16 (MPI Completion and Tech Efficiency).
Now: proficiency slides (ADP worked hours + Qlik sold hours, Dec 25-Oct 9, with the foreman 30%, tech 10%, role-change and keying-error rules).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Talking points: Service Manager Roundtable (Nov 15, 2024) and GM meeting decks (Jan and May 2026). Data: Qlik (Profit &amp; Loss, Closed Repair Orders, Productivity), Jan-Sep 2026 vs 2025, same-store, 33 stores, INEOS excluded.PLACE: the close, after the last Productivity / Proficiency slide.
Said: Roundtable slide 24 (Misc &amp; Closing). Commitments tracking was dropped for this meeting, so this asks for commitments without a scorecard.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We Are Here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Foster collaboration, introduce ideas that drive operational excellence, and set a clear path to exceptional service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risk of judgement: your success is our success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first, company second, team third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You get what you tolerate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Leverage the power in this room: collaboration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+$7,468,567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gross, up 4.1% year to date. 25 of 33 stores grew.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78.1%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absorption, up 2.1 pts. Fixed gross grew 4.1%, fixed expenses 1.3%.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21.8%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net to gross, up 2.9 pts and ahead of 2025 in all nine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leave today with one or two things you will put in place before year end, and tell the room what they are.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Is Sales 2.0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Sell hours, build value, sell peace of mind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visits: don't say no to dollars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Generate throughput: max out hours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retention and sell cars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 sells the first car. Service sells the next six.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+$6,297,386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Service gross, up 5.2%, ahead of 2025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+$1,171,181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gross, up 1.9%, but parts net to gross slipped 0.4 pts to 36.7%.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$20.59M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gross a month over the last twelve months.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489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124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run service like a sales department: every visit is a chance to sell the next hour and the next car.</a:t>
            </a:r>
            <a:endParaRPr lang="en-US" sz="14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Can You Control?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ROs &gt; Hours per RO &gt; ELR &gt; Mix &gt; GP%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$ per RO represents how well you execute, store and individual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ELR plus hours per RO cannot be manipulated: true performance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Total dollars per RO matters more than any single measure. It's what we sell.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279,756 ROs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count, up only 456. Volume is flat.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1.87 hrs per RO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0.07, ahead in all nine months. Every 0.1 hour per RO is worth $4,543,691 of labor.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 per RO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up $17. The $4,899,376 labor gain came from selling more per visit.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with car count flat, the growth is in hours per RO. Sell the next tenth of an hour on every RO.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Front Door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Open and available scheduler: same-day or next-day appointments, quick online scheduling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visits are basic services. Saturdays are what you choose to make them.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call is a sales opportunity. Mishandled calls cost millions.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do calls go after hours and Sundays?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No-show process; first appointment at time of sale; next appointment before the customer leaves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Active retention tracking: work the Viz 'Close to Losing' and 'Unretained' lists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RO count. 13 of 33 stores had fewer CP ROs than last year.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 ROs per advisor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service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4137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customer leaves with the next appointment booked, and every call reaches someone who asks for it.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Strategy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a comprehensive market labor study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Calculate your ELR on every maintenance item; target ELR by work type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Know your loss leader, and what the competition is charging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direct price changes to parts or labor: use ADC-controlled discounting for every discount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Benchmark: CP ELR at least 70% of door rate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$162.42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effective labor rate, up $3.56 and ahead in all nine months.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ELR as a share of door rate, Jul-Sep. 25 of 33 stores at or above 70%.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 vs 76.4%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Grid stores realize less of their door rate than flat-rate stores, Jul-Sep.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know what you collect on every op code, and run every discount through ADC so we can see it.</a:t>
            </a:r>
            <a:endParaRPr lang="en-US" sz="15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CP ENGINE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Goldilocks Margin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profit % is the share of labor you keep after paying the tech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too high, not too low: 78% to 80%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Skill code costing: a hybrid of traditional and percentage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Right tech, right job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gross profit, down 0.1 pts. Just above the 78-80% target.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40.7%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parts gross profit, up 1.2 pts and ahead in all nine months.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5661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hold labor margin in the 78-80% band by matching the tech to the job, not by squeezing tech pay.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service is the #1 retention driver and business builder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75% of your business includes some type of maintenance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 bays are simply MPI bays. Unknown dollars are worth 2.5 times the known.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Minimize labor costs for lower-skilled work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you don't help them, someone else will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54.3%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Maintenance share of customer-pay labor; repair 30.5%.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as a share of labor sale, down 0.3 pts. Warranty labor rose 8.8%, internal 5.8%.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treat every express visit as an inspection: fast in, inspected, and sold the next service.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LABOR MIX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Tracking &amp; Accountability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Daily review of the Viz 'Op Code' and 'Performance Report'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feedback quickly and often. Trends start early: don't wait until the 15th.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Tracked metrics improve performance; we are responsible for the knowing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Scoreboard techs and advisors: CP $ per RO, ELR, MPI completion, closing %, key op codes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15.2%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Customer-pay labor whose op code description can't be classified, down from 19.0%.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to 63.5%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range across stores. Vague descriptions hide what the shop sells.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if it isn't described, it can't be tracked. Clean up op code descriptions so the reports show what you sell.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Road To The Sale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advisor, every customer: timely meet and greet at the vehicle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Walk-around with the customer: hood, tires and wipers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Review history and previously declined items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 and mileage recommendations from an accurate, available menu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mandate: every car, every time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Consistency is key: trained, documented and actively managed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in all four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 and fuel service each rose 1.2-1.4 pts and beat 2025 every month.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Balances short of the 15% benchmark. The group is at 8.3%.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4,821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Alignments short of 15%; the group is at 13.2%. Brake fluid is 0.7 pts from its 10%.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every car gets the walk-around and the menu. The benchmarks are where that process lands.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Compliance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Higher labor rates and tariffs are driving up OEM scrutiny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Six audits cost $400,000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Primary causes: written documentation, manager signatures on add-ons and in-stock units, out mileage, punch times, manufacturer authorization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general manager is responsible for warranty policy being followed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Spot-check repair orders and self-audit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$197.17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ELR, up $16.93; 30 of 33 stores raised it.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−8,873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ROs, down to 126,891. Volume follows OEM campaigns and recalls.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a higher warranty rate brings more scrutiny. Self-audit before the factory does.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People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Our most valuable asset: this is what separates us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Invest in training and a defined career path. Be the best place to work.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Grow your own: apprentice programs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does being short-handed cost? Limited scheduling, lost opportunities, missed MPIs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pay plans, job descriptions and expectations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−76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staff, Sep to Sep, to 1,540 (−4.7%): technicians −17, advisors −7, managers −3.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$13,617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gross per fixed employee a month, up $1,207. Gross grew 4.1% with 5.1% fewer people.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−2.3%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year to date. Fewer people and fewer cars: the next gain has to come from car count.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keep every seat filled with someone who adds hours. Being short-handed costs appointments, MPIs and sold hours.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 PRODUCTIVITY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 Plans Are Work Instructions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 and easily understood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Based on customer-pay performance: CP labor or gross per RO, maintenance penetration, total sales or gross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 the results you are looking for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versus bonus: a 50/50 ratio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system is perfectly designed to get the results it gets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78308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$304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labor per RO, the number the plans should pay on. Up $17.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931920"/>
            <a:ext cx="54864" cy="178308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88620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166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4453128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 &amp; W ROs per advisor a month, down 7. Advisors grew 1.5%; ROs fell 2.3%.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check that every advisor and tech pay plan pays for the numbers on these slides.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Technicians &amp; Stalls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WE ARE · JAN–SEP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1:1 tech to stall unless you run on-demand appointments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 level in line with job skill: right tech, right job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5/6 of staff on schedule at all times, Saturdays included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90%+ MPI completion; track and report technician efficiency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Use scoreboarding and Teams to show techs where they stand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94.7%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 technician proficiency (sold hours / worked hours). 20 of 33 stores at or above 85%.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262 of 583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Counted technicians under 85%. Every store has at least 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missed if each of them reached 85%: no extra hours, techs or bays.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show every tech their own proficiency every week. The best techs in each store already prove 85% is possible.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Before You Leave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640080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7022592" y="1207008"/>
            <a:ext cx="4709160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69480" y="1371600"/>
            <a:ext cx="4297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269480" y="1737360"/>
            <a:ext cx="4224528" cy="10973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13232" y="1417320"/>
            <a:ext cx="5897880" cy="443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did you learn today?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Give us one or two things you are going to act on and implement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 you want to do this again?</a:t>
            </a:r>
            <a:endParaRPr lang="en-US" sz="1800" dirty="0"/>
          </a:p>
          <a:p>
            <a:pPr marL="228600" indent="-2286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Reach this room in FMGSVCMGR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7269480" y="1920240"/>
            <a:ext cx="54864" cy="1112520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52360" y="187452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hr per RO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7452360" y="244144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Worth $4,543,691 of labor at today's ELR.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7269480" y="326136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452360" y="321564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18,493 balances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7452360" y="378256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largest benchmark gap, at 8.3% against 15%.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7269480" y="4602480"/>
            <a:ext cx="54864" cy="1112520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52360" y="4556760"/>
            <a:ext cx="40233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$1.65M a month</a:t>
            </a:r>
            <a:endParaRPr lang="en-US" sz="3000" dirty="0"/>
          </a:p>
        </p:txBody>
      </p:sp>
      <p:sp>
        <p:nvSpPr>
          <p:cNvPr id="18" name="Text 16"/>
          <p:cNvSpPr txBox="1"/>
          <p:nvPr/>
        </p:nvSpPr>
        <p:spPr>
          <a:xfrm>
            <a:off x="7452360" y="5123688"/>
            <a:ext cx="402336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Technician proficiency, lifting each tech under 85% to 85%.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6126480"/>
            <a:ext cx="11274552" cy="36423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6144768"/>
            <a:ext cx="10927080" cy="3276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ask: name your one or two commitments out loud, with a number attached, before you leave the room.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2026-10-21T23:52:57Z</dcterms:created>
  <dcterms:modified xsi:type="dcterms:W3CDTF">2026-10-21T23:52:57Z</dcterms:modified>
</cp:coreProperties>
</file>