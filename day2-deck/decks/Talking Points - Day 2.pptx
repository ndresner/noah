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right after the cover, before the Gross section.
Said: Roundtable slides 2, 5, 7, 6 (objective; philosophy &amp; culture; 'you get what you tolerate'; collaboration). Ask adapted from Roundtable slide 24 closing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Gross section, after the section break and before Total Gross Profit - Fixed Ops.
Said: Roundtable slide 9 ('Service Department?'); Jan GM slide 58 (Sales and Service Relationship).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section break and before CP RO Count.
Said: Roundtable slides 18-19 (KPIs; CP Labor $ per 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CP RO Count slides and before Hours per RO.
Said: Jan/May GM slides on Appointment Scheduling, Appointment Discipline, Phone Call Handling and Retention Management (Jan 2, 7, 9, 11; May 2, 4, 8, 9).
Optional: the Flai voice AI service view (Jul 16-Aug 15 pull: 4,368 of 8,351 transfers rang out) fits here, but it is a different source and period; refresh it before use and keep it off any slide with a P&amp;L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the CP ELR slides (ahead of the door-rate options).
Said: Roundtable slide 15 (Pricing Strategy); Jan/May GM Road to the Sale slide (pricing lines); Jan GM slide 54 (Discounting Discipline); 70% benchmark from the Jan/May door rate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CP Labor Gross Profit %.
Said: Roundtable slide 21 (Gross Profit %). Above 80% can mean techs are underpaid on the work they do; below 78% means the job mix or the dispatch is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after the section break and before the pay type slides.
Said: Jan GM slide 8 / May GM slide 7 (Express Service).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before the work-type (maintenance / repair / unclassified) slides.
Said: Jan GM slide 19 / May GM slide 15 (Tracking &amp; Accountability); Roundtable slide 16 (Performance Tracking).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Opcodes section, after the section break and before Alignment %.
Said: Roundtable slides 11, 12, 14 (Road to the Sale, Maintenance Menus, MPI Mandate); Jan GM slide 15 / May GM slide 11 (Road to the Sale). Fuel service is 5.8% vs 7.5% (4,731 short).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Warranty &amp; Internal section, after the section break and before Warranty RO Count.
Said: Jan GM slides 13-14 (audit chargebacks; Warranty Compliance). The Jan slide named six stores' chargebacks; kept to the $400,000 total here, in line with no store call-outs from the podium.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after the section break and before Fixed Gross per Fixed Employee.
Said: Roundtable slide 6 (People); Jan GM slide 57 (Technician Pipeline).
Numbers rebuilt 2026-10-20 on ADP headcount (Employee Master extract 10/19/2026); the Qlik headcount history undercounted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before CP &amp; W ROs per Service Advisor.
Said: Jan GM slide 16 / May GM slide 12 (Pay Plans aka Work Instructions).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Technician Proficiency section, after the section break and before the store proficiency ranker.
Said: Roundtable slide 22 (Technicians &amp; Stalls); Jan GM slide 52 / May GM slide 16 (MPI Completion and Tech Efficiency).
Now: proficiency slides (ADP paid hours + Qlik sold hours, Dec 25-Oct 9, with the foreman 30%, tech 10%, role-change and keying-error rules).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the close, after the last Productivity / Proficiency slide.
Said: Roundtable slide 24 (Misc &amp; Closing). Commitments tracking was dropped for this meeting, so this asks for commitments without a scorecard.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Here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Foster collaboration, introduce ideas that drive operational excellence, and set a clear path to exceptional service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risk of judgement: your success is our success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first, company second, team third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what you tolerate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the power in this room: collaboration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gross, up 4.1% year to date. 25 of 33 stores grew.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absorption, up 2.1 pts. Fixed gross grew 4.1%, fixed expenses 1.3%.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net to gross, up 2.9 pts and ahead of 2025 in all nine months.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leave today with one or two things you will put in place before year end, and tell the room what they are.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Is Sales 2.0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&amp; GM MEETINGS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hours, build value, sell peace of mind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visits: don't say no to dollars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throughput: max out hours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retention and sell cars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sells the first car. Service sells the next six.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gross, up 5.2%, ahead of 2025 in all nine months.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gross, up 1.9%, but parts net to gross slipped 0.4 pts to 36.7%.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$20.59M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a month over the last twelve months.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run service like a sales department: every visit is a chance to sell the next hour and the next car.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Can You Control?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&gt; Hours per RO &gt; ELR &gt; Mix &gt; GP%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 represents how well you execute, store and individual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 plus hours per RO cannot be manipulated: true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money in beats ELR, gross %, hours, anything else. It's what we sell.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279,756 ROs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count, up only 456. Volume is flat.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1.87 hrs per RO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0.07, ahead in all nine months. Every 0.1 hour per RO is worth $4,543,691 of labor.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 per RO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up $17. The $4,899,376 labor gain came from selling more per visit.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with car count flat, the growth is in hours per RO. Sell the next tenth of an hour on every RO.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GM MEETINGS JAN &amp; MAY 2026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and available scheduler: same-day or next-day appointments, quick online scheduling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visits are basic services. Saturdays are what you choose to make them.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call is a sales opportunity. Mishandled calls cost millions.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 calls go after hours and Sundays?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No-show process; first appointment at time of sale; next appointment before the customer leaves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retention tracking: work the Viz 'Close to Losing' and 'Unretained' lists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count. 13 of 33 stores had fewer CP ROs than last year.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 ROs per advisor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service advisor a month, down 7. Advisors grew 1.5%; ROs fell 2.3%.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customer leaves with the next appointment booked, and every call reaches someone who asks for 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Strategy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&amp; GM MEETINGS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 comprehensive market labor study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Calculate your ELR on every maintenance item; target ELR by work type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loss leader, and what the competition is charging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direct price changes to parts or labor: use ADC-controlled discounting for every discount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Benchmark: CP ELR at least 70% of door rate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effective labor rate, up $3.56 and ahead in all nine months.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74.7%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as a share of door rate, Jul-Sep. 25 of 33 stores at or above 70%.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 vs 76.4%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Grid stores realize less of their door rate than flat-rate stores, Jul-Sep.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know what you collect on every op code, and run every discount through ADC so we can see it.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Goldilocks Margin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% is the share of labor you keep after paying the tech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too high, not too low: 78% to 80%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code costing: a hybrid of traditional and percentage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job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gross profit, down 0.1 pts. Just above the 78-80% target.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40.7%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gross profit, up 1.2 pts and ahead in all nine months.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hold labor margin in the 78-80% band by matching the tech to the job, not by squeezing tech pay.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GM MEETINGS JAN &amp; MAY 2026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 is the #1 retention driver and business builder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your business includes some type of maintenance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bays are simply MPI bays. Unknown dollars are worth 2.5 times the known.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labor costs for lower-skilled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don't help them, someone else will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54.3%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share of customer-pay labor; repair 30.5%.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as a share of labor sale, down 0.3 pts. Warranty labor rose 8.8%, internal 5.8%.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treat every express visit as an inspection: fast in, inspected, and sold the next service.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 &amp; Accountability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&amp; GM MEETINGS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review of the Viz 'Op Code' and 'Performance Report'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feedback quickly and often. Trends start early: don't wait until the 15th.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Tracked metrics improve performance; we are responsible for the knowing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Scoreboard techs and advisors: CP $ per RO, ELR, MPI completion, closing %, key op codes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15.2%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labor whose op code description can't be classified, down from 19.0%.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to 63.5%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range across stores. Vague descriptions hide what the shop sells.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if it isn't described, it can't be tracked. Clean up op code descriptions so the reports show what you sell.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 To The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&amp; GM MEETINGS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advisor, every customer: timely meet and greet at the vehicle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Walk-around with the customer: hood, tires and wipers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history and previously declined items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and mileage recommendations from an accurate, available menu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mandate: every car, every time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Consistency is key: trained, documented and actively managed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in all four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 service each rose 1.2-1.4 pts and beat 2025 every month.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Balances short of the 15% benchmark. The group is at 8.3%.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4,821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Alignments short of 15%; the group is at 13.2%. Brake fluid is 0.7 pts from its 10%.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car gets the walk-around and the menu. The benchmarks are where that process lands.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GM MEETING JAN 2026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labor rates and tariffs are driving up OEM scrutiny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cost $400,000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causes: written documentation, manager signatures on add-ons and in-stock units, out mileage, punch times, manufacturer authorization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warranty policy being followed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Spot-check repair orders and self-audit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ELR, up $16.93; 30 of 33 stores raised it.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−8,873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ROs, down to 126,891. Volume follows OEM campaigns and recalls.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a higher warranty rate brings more scrutiny. Self-audit before the factory does.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&amp; GM MEETINGS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most valuable asset: this is what separates us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training and a defined career path. Be the best place to work.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 your own: apprentice programs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being short-handed cost? Limited scheduling, lost opportunities, missed MPIs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pay plans, job descriptions and expectations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staff, Sep to Sep, to 1,540 (−4.7%): technicians −17, advisors −7, managers −3.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 a month, up $1,207. Gross grew 4.1% with 5.1% fewer people.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year to date. Fewer people and fewer cars: the next gain has to come from car count.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keep every seat filled with someone who adds hours. Being short-handed costs appointments, MPIs and sold hours.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GM MEETINGS JAN &amp; MAY 2026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and easily understood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customer-pay performance: CP labor or gross per RO, maintenance penetration, total sales or gross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the results you are looking for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versus bonus: a 50/50 ratio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system is perfectly designed to get the results it gets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the number the plans should pay on. Up $17.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advisor a month, down 7. Advisors grew 1.5%; ROs fell 2.3%.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check that every advisor and tech pay plan pays for the numbers on these slides.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&amp; Stalls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&amp; GM MEETINGS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tech to stall unless you run on-demand appointments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level in line with job skill: right tech, right job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5/6 of staff on schedule at all times, Saturdays included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90%+ MPI completion; track and report technician efficiency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scoreboarding and Teams to show techs where they stand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technician proficiency (sold hours / paid hours). 20 of 33 stores at or above 85%.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of 583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Counted technicians under 85%. Every store has at least one.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missed if each of them reached 85%: no extra hours, techs or bays.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show every tech their own proficiency every week. The best techs in each store already prove 85% is possible.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learn today?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us one or two things you are going to act on and implement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you want to do this again?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this room in FMGSVCMGR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hr per RO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$4,543,691 of labor at today's ELR.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 balances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largest benchmark gap, at 8.3% against 15%.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lifting each tech under 85% to 85%.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name your one or two commitments out loud, with a number attached, before you leave the room.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2026-10-21T21:13:52Z</dcterms:created>
  <dcterms:modified xsi:type="dcterms:W3CDTF">2026-10-21T21:13:52Z</dcterms:modified>
</cp:coreProperties>
</file>