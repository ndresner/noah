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2026 vs 2025, all stores (INEOS included, to match the group P&amp;L), except the 27 cents vs 7 cents tile, which is same-store (INEOS excluded; 27 cents either way). Fixed ops = service (Mechanical) + parts (P&amp;A) department profit: department gross less the department's own expenses. Group net = Net Profit Or Loss on the GM statement.PLACE: right after the agenda, before the Gross section. In the deck Oct 24 (Noah): group net profit view replaces the gross / absorption / net-to-gross tiles. Group-level view of fixed ops' weight in the dealership's profit, Jan-Sep. Fixed ops department profit $50,194,950 (2025 $45,336,135); group net profit $82,240,434 (2025 $95,664,709). On the P&amp;L, F&amp;I income, other income and store-level costs are not split by department, so 'the rest of the store' is the group net less fixed ops department profit. Group net = Net Profit Or Loss on the GM statement (P&amp;L summary), all stores; INEOS (opened 2026) is in both lines. Body shop (GMC Prescott) department profit is left out of fixed ops, as everywhere in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
Said: Roundtable slide 9 ('Service Department?'); Jan GM slide 58 (Sales and Service Relationship).
For the GMs who come from sales (Noah, Oct 25): service and parts keep far more of every gross dollar than vehicle sales does. Jan-Sep 2026, after each department's own expenses, fixed ops kept 27 cents of every gross dollar; new, used and F&amp;I together kept 7 cents (before doc fees, packs and factory money, which the P&amp;L books outside the departments). People cost 45 cents of every fixed ops gross dollar and 62 cents of every vehicle sales gross dollar. That is why paying yourself first, on internal work, matters: see Pay Yourself First at the start of the Internal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
Said: Roundtable slides 18-19 (KPIs; CP Labor $ per 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
Said: Jan/May GM slides on Appointment Scheduling, Appointment Discipline, Phone Call Handling and Retention Management (Jan 2, 7, 9, 11; May 2, 4, 8, 9).
The two Flai voice AI slides (Jul 26 - Oct 26, 2026) follow this one; keep Flai figures off any slide with a P&amp;L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
Said: Roundtable slide 15 (Pricing Strategy); Jan/May GM Road to the Sale slide (pricing lines); Jan GM slide 54 (Discounting Discipline); 70% benchmark from the Jan/May door rate slides.
Oct 23 (Noah): grid vs non-grid tile replaced. $126,831 a month = Jul-Sep, for each of the 8 stores under 70% (Chevy LV, Toyota Spokane, Cadillac, Kia LV, Subaru Prescott, Lincoln, GMC Prescott, Hyundai Prescott): (70% x door rate - CP ELR) x CP hours sold, summed ($380,494) / 3. Door rates from the store door rate sheet (door.json), ELR and hours from elr_q3.json.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CP Engine section, before CP Labor Gross Profit %.
Said: Roundtable slide 21 (Gross Profit %). Above 80% can mean techs are underpaid on the work they do; below 78% means the job mix or the dispatch is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Opcode Benchmarks, after Road to the Sale and ahead of MPI Completion % (Noah, Oct 23: maintenance visits and a complete MPI go hand in hand).
Talk track (Noah, Oct 25): go to the dentist for a quick cleaning and they don't tell you something is starting to look like a cavity: that is a disservice. Get cars in quickly, perform a complete, comprehensive MPI, and make the proper recommendations at that time. This is critical, and it can't be left to entry-level employees alone: someone with experience who knows what to look for has to be looking at these cars. Depending on work mix, maintenance can be 25% to 75% of a store's service. Many stores focus on getting more cars in the door, which is great, and we want both, but they miss the opportunities they already have. Processes and policies make sure we capitalize on them: every car, every time.
The 52.5% customer-pay share of labor sale tile was dropped with the rewrite.
Said: Jan GM slide 8 / May GM slide 7 (Express Service), reworded.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Opcode Benchmarks, after Basic Maintenance Service and ahead of MPI, Video and Photo Completion % (Noah, Oct 27: sets up the three inspection slides).
Said: Jan GM slide 19 / May GM slide 15 (Tracking &amp; Accountability); Roundtable slide 16 (Performance Tracking).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
Said: Roundtable slides 11, 12, 14 (Road to the Sale, Maintenance Menus, MPI Mandate); Jan GM slide 15 / May GM slide 11 (Road to the Sale). Fuel service is 5.8% vs 7.5% (4,731 short).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Warranty section, after the section break, ahead of Warranty Rates Are Rising (Oct 22: $3,788,200 added gross profit from the YTD RWR Financials vendor report replaced the warranty RO count here).
Said: Jan GM slides 13-14 (audit chargebacks; Warranty Compliance). The Jan slide named six stores' chargebacks; kept to the $400,000 total here, in line with no store call-outs from the podium.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
Said: Roundtable slide 6 (People); Jan GM slide 57 (Technician Pipeline).
Bay tile (Oct 26): counted technicians (proficiency basis, Dec 25 2025 - Oct 9 2026, 9.49 months) flagged 841,721 sold hours, 583 techs = 152 sold hours per tech a month; labor gross $132.13 + parts gross $55.85 = $187.98 per sold hour, all pay types (Qlik Closed ROs) = $28,584 a month per tech. One tech per bay assumed (1:1 tech to stall). The -2.3% CP &amp; W RO tile was dropped for it.
Numbers rebuilt 2026-10-20 on ADP headcount (Employee Master extract 10/19/2026); the Qlik headcount history undercounted 2025.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
Said: Jan GM slide 16 / May GM slide 12 (Pay Plans aka Work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
Said: Roundtable slide 22 (Technicians &amp; Stalls); Jan GM slide 52 / May GM slide 16 (MPI Completion and Tech Efficiency).
Now: proficiency slides (ADP worked hours + Qlik sold hours, Dec 25-Oct 9, with the foreman 30%, tech 10%, role-change and keying-error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the close, after the last Productivity / Proficiency slide.
Said: Roundtable slide 24 (Misc &amp; Closing). Commitments are reviewed at the next meeting (Noah, Oct 27): keep a list of what each store names.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Jan-Sep 2026, same-store. Kept = department gross less the department's own expenses. Vehicle sales = new + used departments plus F&amp;I income and F&amp;I compensation. Other income not assigned to a department (doc fees, packs, factory money, holdback: $87.2M net) and management fees are left out of both.PLACE: Internal section, after the section break and before Internal ELR (Noah, Oct 25).
Talk track: internal work is protected gross generated on our own vehicles. Sales prices a car off its cost, within reason, so a fair internal charge is part of the deal, and the gross lands in the department that keeps the most of it. Example: if sales makes $500 of gross on a car, the commissions, pay and expense that come out of it leave far less than the same $500 of internal gross keeps in service and parts.
Numbers (P&amp;L Detail, Jan-Sep 2026, same-store): fixed ops gross $188.8M, department profit $50.4M (27¢); people $85.7M (45¢). Vehicle sales gross (new $58.7M, used $43.8M, F&amp;I $76.6M) $179.1M; new and used department results $-23.0M and $-25.4M, less F&amp;I compensation $15.3M: $12.9M kept (7¢); people and commissions $110.4M (62¢). Caveat: $87.2M of net other income (doc fees, packs, factory money, holdback, interest) is booked outside the departments and most of it comes with vehicle sales; with it, vehicle sales keeps much more. The comparison is department against department, as the P&amp;L reports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day-to-day long enough to fix the process behind the problems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61%</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the group's net profit came from service and parts: $50.19M of $82.24M (47% in 2025).</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 vs 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what service and parts keep after their own expenses vs new, used and F&amp;I.</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+$4,858,815</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More fixed ops profit than 2025, while group net profit fell $13.42M.</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Sell hours, build value, sell peace of mind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visits: don't say no to dollars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Generate throughput: max out hours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retention and sell cars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Sales sells the first car. Service sells the next six.</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car, every time: follow the processes you have in place, consistently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Processes only work when they are actively managed</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ahead of 2025 in six of nine months.</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+$829,841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More fixed ops gross than 2025, on average, every month January through September.</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Take care of the customers we already have: how we treat them decides whether they come back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Repair order count: how many customers we serve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Dollars per repair order: how much we sell each one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rates we charge, and how we decide what to charge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is the best way to judge performance,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 the metrics that matter most every day, talk about them, and train on them</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$6.6M a year in gross.</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Handle basic maintenance quickly and efficiently.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a mishandled call costs us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$4,473,284</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 year in labor and parts gross from one more customer-pay RO a day at every store.</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EFFECTIVE LABOR RATE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$127K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labor if the 8 stores under 70% reached it on the hours they already sell, Jul-Sep: $126,831 a month.</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Goldilocks Margin</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Gross profit % is the share of labor you keep after paying the tech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Not too high, not too low: 78% to 80%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Skill code costing: a hybrid of traditional and percentage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Right tech, right job</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80.8%</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gross profit, down 0.1 pts. Just above the 78-80% target.</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40.7%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parts gross profit, up 1.2 pts and ahead in all nine months.</a:t>
            </a:r>
            <a:endParaRPr lang="en-US" sz="1400" dirty="0"/>
          </a:p>
        </p:txBody>
      </p:sp>
      <p:sp>
        <p:nvSpPr>
          <p:cNvPr id="16" name="Shape 14"/>
          <p:cNvSpPr/>
          <p:nvPr/>
        </p:nvSpPr>
        <p:spPr>
          <a:xfrm>
            <a:off x="457200" y="6126480"/>
            <a:ext cx="11274552" cy="356616"/>
          </a:xfrm>
          <a:prstGeom prst="rect">
            <a:avLst/>
          </a:prstGeom>
          <a:solidFill>
            <a:srgbClr val="EDF4FA"/>
          </a:solidFill>
          <a:ln/>
        </p:spPr>
      </p:sp>
      <p:sp>
        <p:nvSpPr>
          <p:cNvPr id="17" name="Text 1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ask: hold labor margin in the 78-80% band by matching the tech to the job, not by squeezing tech pay.</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Basic Maintenance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On-demand maintenance appointments: get cars in quickly. A car we can't book is work we never see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 complete, comprehensive multi-point inspection on every visit: what it finds is worth far more than the maintenance the car is due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Experienced eyes on every car: entry-level staff alone won't know what to look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An oil change that misses worn brakes or a leaking water pump is a disservice to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More cars in the door is great, but first make the most of every car already in the shop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Processes and policies that make it happen: every car, every time</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across the group; repair 30.5%. Depending on work mix, maintenance runs 25% to 75% of a store's service.</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 every car skipped is unknown work left in the car.</a:t>
            </a:r>
            <a:endParaRPr lang="en-US" sz="1400" dirty="0"/>
          </a:p>
        </p:txBody>
      </p:sp>
      <p:sp>
        <p:nvSpPr>
          <p:cNvPr id="16" name="Shape 14"/>
          <p:cNvSpPr/>
          <p:nvPr/>
        </p:nvSpPr>
        <p:spPr>
          <a:xfrm>
            <a:off x="457200" y="6126480"/>
            <a:ext cx="11274552" cy="615696"/>
          </a:xfrm>
          <a:prstGeom prst="rect">
            <a:avLst/>
          </a:prstGeom>
          <a:solidFill>
            <a:srgbClr val="EDF4FA"/>
          </a:solidFill>
          <a:ln/>
        </p:spPr>
      </p:sp>
      <p:sp>
        <p:nvSpPr>
          <p:cNvPr id="17" name="Text 1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capitalize on every maintenance visit: in quickly, inspected completely by someone who knows what to look for, and every finding recommended.</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 and the Fixed Ops DOC</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1112520"/>
          </a:xfrm>
          <a:prstGeom prst="rect">
            <a:avLst/>
          </a:prstGeom>
          <a:solidFill>
            <a:srgbClr val="C2352F"/>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57.8%</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Video completion, July to September (store-reported). 17 of 33 stores at or above the group.</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45.3%</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Photo completion, July to September. 11 of the 28 stores that report it at or above the group.</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Walk-around with the customer: hood, tires and wipers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Review history and previously declined items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MPI mandate: every car, every time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Consistency is key: trained, documented and actively managed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We produce hours. Every service or repair not recommended is hours a technician never gets the chance to earn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1.3-1.4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0.8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higher parts reimbursement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44.7%</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parts gross profit, up 2.1 pts and ahead of 2025 in all nine months.</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Our most valuable asset: this is what separates us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Grow your own techs, advisors and managers: apprentice programs, develop your bench, train your replacement</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Always be teaching, training and educating</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Don't overlook opportunities to teach, train and educate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Being short-handed limits scheduling, loses opportunities and leads to missed MPIs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Clear pay plans, job descriptions and expectations, and hold people accountable to them</a:t>
            </a:r>
            <a:endParaRPr lang="en-US" sz="16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September to September,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 on average.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$28,600</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an average tech's bay produces a month: 152 sold hours at $188 each. An empty or idle bay misses all of it.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hours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Incentivize improvement in the metrics that make the biggest difference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Move technicians to flat rate and away from hourly: it rewards productivity and makes proficiency easy to track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Advisor pay: target a 50/50 split of base commission and performance bonus, with about half of earning potential tied to measurable metrics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Jan-Sep: 20 of 33 stores at or above 85%. Flat-rate pay rewards what techs produce.</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communicate to techs where they stand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Set clear objectives and give feedback: no one can be held to a goal they don't know. We're responsible for the knowing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(hours flagged / clocked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set clear goals, show every tech where they stand every week, and give feedback. The best techs in each store already prove 85% is possible.</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Pick the one number you will check every 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Call a store that leads where you trail: ask what they do differently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We will review your commitments at the next meeting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$6,602,564 a year in labor and parts gross.</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$4.9M a year</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Every store at all four opcode benchmarks: $4,895,199 in labor and parts gross.</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Yourself First</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Internal work is protected gross generated on our own vehicles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prices a car off what it costs, within reason. A fair internal charge is part of that cost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Service and parts keep far more of every gross dollar than vehicle sales does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gross dollar in sales carries commissions, pay and expense that fixed ops doesn't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Price internal labor and parts like customer pay: pay yourself first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keeps of every gross dollar after its own expenses: $50.4M of $188.8M.</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New, used and F&amp;I keep of every gross dollar: $12.9M of $179.1M, before other income such as doc fees, packs and factory money.</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 vs 62¢</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spent on people and commissions: fixed ops vs vehicle sales.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hold internal labor and parts margins to customer pay. Every internal dollar is gross in the department that keeps the most of it.</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2026-10-28T21:48:12Z</dcterms:created>
  <dcterms:modified xsi:type="dcterms:W3CDTF">2026-10-28T21:48:12Z</dcterms:modified>
</cp:coreProperties>
</file>