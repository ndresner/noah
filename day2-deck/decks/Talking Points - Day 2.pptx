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2026 vs 2025, all stores (INEOS included, to match the group P&amp;L), except the 27 cents vs 7 cents tile, which is same-store (INEOS excluded; 27 cents either way).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$50,194,950 (2025 $45,336,135); group net profit $82,240,434 (2025 $95,664,709). On the P&amp;L, F&amp;I income, other income and store-level costs are not split by department, so 'the rest of the store' is the group net less fixed ops department profit. Group net = Net Profit Or Loss on the GM statement (P&amp;L summary), all stores; INEOS (opened 2026) is in both lines. Body shop (GMC Prescott) department profit is left out of fixed ops, as everywhere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
Said: Roundtable slide 9 ('Service Department?'); Jan GM slide 58 (Sales and Service Relationship).
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
Said: Roundtable slides 18-19 (KPIs; CP Labor $ per 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
Said: Jan/May GM slides on Appointment Scheduling, Appointment Discipline, Phone Call Handling and Retention Management (Jan 2, 7, 9, 11; May 2, 4, 8, 9).
The two Flai voice AI slides (Jul 26 - Oct 26, 2026) follow this one; keep Flai figures off any slide with a P&amp;L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
Said: Roundtable slide 15 (Pricing Strategy); Jan/May GM Road to the Sale slide (pricing lines); Jan GM slide 54 (Discounting Discipline); 70% benchmark from the Jan/May door rate slides.
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before CP Labor Gross Profit %.
Said: Roundtable slide 21 (Gross Profit %). Above 80% can mean techs are underpaid on the work they do; below 78% means the job mix or the dispatch is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maintenance visits and a complete MPI go hand in hand).
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
The 52.5% customer-pay share of labor sale tile was dropped with the rewrite.
Said: Jan GM slide 8 / May GM slide 7 (Express Service), reworded.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Opcode Benchmarks, after Basic Maintenance Service and ahead of MPI, Video and Photo Completion % (Noah, Oct 27: sets up the three inspection slides).
Said: Jan GM slide 19 / May GM slide 15 (Tracking &amp; Accountability); Roundtable slide 16 (Performance Tracking).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
Said: Roundtable slides 11, 12, 14 (Road to the Sale, Maintenance Menus, MPI Mandate); Jan GM slide 15 / May GM slide 11 (Road to the Sale). Fuel service is 5.8% vs 7.5% (4,731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Rates Are Rising (Oct 22: $3,788,200 added gross profit from the YTD RWR Financials vendor report replaced the warranty RO count here).
Said: Jan GM slides 13-14 (audit chargebacks; Warranty Compliance). The Jan slide named six stores' chargebacks; kept to the $400,000 total here, in line with no store call-outs from the podium.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
Said: Roundtable slide 6 (People); Jan GM slide 57 (Technician Pipeline).
Bay tile (Oct 26): counted technicians (proficiency basis, Dec 25 2025 - Oct 9 2026, 9.49 months) flagged 841,721 sold hours, 583 techs = 152 sold hours per tech a month; labor gross $132.13 + parts gross $55.85 = $187.98 per sold hour, all pay types (Qlik Closed ROs) = $28,584 a month per tech. One tech per bay assumed (1:1 tech to stall). The -2.3% CP &amp; W RO tile was dropped for it.
Numbers rebuilt 2026-10-20 on ADP headcount (Employee Master extract 10/19/2026); the Qlik headcount history undercounted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
Said: Jan GM slide 16 / May GM slide 12 (Pay Plans aka Work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
Said: Roundtable slide 22 (Technicians &amp; Stalls); Jan GM slide 52 / May GM slide 16 (MPI Completion and Tech Efficiency).
Now: proficiency slides (ADP worked hours + Qlik sold hours, Dec 25-Oct 9, with the foreman 30%, tech 10%, role-change and keying-error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the close, after the last Productivity / Proficiency slide.
Said: Roundtable slide 24 (Misc &amp; Closing). Commitments are reviewed at the next meeting (Noah, Oct 27): keep a list of what each store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
Talk track: a lot of stores see internal as service making money off sales. It isn't: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
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day-to-day long enough to fix the process behind the problems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$50.19M of $82.24M (47% in 2025).</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 vs 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what service and parts keep after their own expenses vs new, used and F&amp;I.</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+$4,858,815</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$13.42M.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Sell hours, build value, sell peace of mind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visits: don't say no to dollars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Generate throughput: max out hours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retention and sell cars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Sales sells the first car. Service sells the next six.</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car, every time: follow the processes you have in place, consistently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Processes only work when they are actively managed</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+$829,841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gross than 2025, on average, every month January through September.</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Take care of the customers we already have: how we treat them decides whether they come back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Repair order count: how many customers we serve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Dollars per repair order: how much we sell each one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rates we charge, and how we decide what to charge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is the best way to judge performance,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 the metrics that matter most every day, talk about them, and train on them</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$6.6M a year in gross.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a mishandled call costs us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EFFECTIVE LABOR RATE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Goldilocks Margin</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Gross profit % is the share of labor you keep after paying the tech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Not too high, not too low: 78% to 80%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Skill code costing: a hybrid of traditional and percentage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Right tech, right job</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80.8%</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gross profit, down 0.1 pts. Just above the 78-80% target.</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40.7%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parts gross profit, up 1.2 pts and ahead in all nine months.</a:t>
            </a:r>
            <a:endParaRPr lang="en-US" sz="1400" dirty="0"/>
          </a:p>
        </p:txBody>
      </p:sp>
      <p:sp>
        <p:nvSpPr>
          <p:cNvPr id="16" name="Shape 14"/>
          <p:cNvSpPr/>
          <p:nvPr/>
        </p:nvSpPr>
        <p:spPr>
          <a:xfrm>
            <a:off x="457200" y="6126480"/>
            <a:ext cx="11274552" cy="356616"/>
          </a:xfrm>
          <a:prstGeom prst="rect">
            <a:avLst/>
          </a:prstGeom>
          <a:solidFill>
            <a:srgbClr val="EDF4FA"/>
          </a:solidFill>
          <a:ln/>
        </p:spPr>
      </p:sp>
      <p:sp>
        <p:nvSpPr>
          <p:cNvPr id="17" name="Text 1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ask: hold labor margin in the 78-80% band by matching the tech to the job, not by squeezing tech pay.</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 A car we can't book is work we never see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what it finds is worth far more than the maintenance the car is due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An oil change that misses worn brakes or a leaking water pump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but first make the most of every car already in the shop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 every car skipped is unknown work left in the car.</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 and the Fixed Ops DOC</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111252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57.8%</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Video completion, July to September (store-reported). 17 of 33 stores at or above the group.</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Photo completion, July to September. 11 of the 28 stores that report it at or above the group.</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Every service or repair not recommended is hours a technician never gets the chance to earn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1.3-1.4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0.8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Our most valuable asset: this is what separates us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Grow your own techs, advisors and managers: apprentice programs, develop your bench, train your replacement</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Always be teaching, training and educating</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Don't overlook opportunities to teach, train and educate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Being short-handed limits scheduling, loses opportunities and leads to missed MPIs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Clear pay plans, job descriptions and expectations, and hold people accountable to them</a:t>
            </a:r>
            <a:endParaRPr lang="en-US" sz="16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September to September,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 on average.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$28,600</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an average tech's bay produces a month: 152 sold hours at $188 each. An empty or idle bay misses all of it.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hours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Incentivize improvement in the metrics that make the biggest difference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Move technicians to flat rate and away from hourly: it rewards productivity and makes proficiency easy to track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Advisor pay: target a 50/50 split of base commission and performance bonus, with about half of earning potential tied to measurable metrics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communicate to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(hours flagged / clocked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Pick the one number you will check every 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Call a store that leads where you trail: ask what they do differently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We will review your commitments at the next meeting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$6,602,564 a year in labor and parts gross.</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$4.9M a year</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Every store at all four opcode benchmarks: $4,895,199 in labor and parts gross.</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isn't service making money off sales: it is gross the store earns on its own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2026-10-28T17:22:02Z</dcterms:created>
  <dcterms:modified xsi:type="dcterms:W3CDTF">2026-10-28T17:22:02Z</dcterms:modified>
</cp:coreProperties>
</file>