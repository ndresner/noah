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Profit &amp; Loss, Jan-Sep 2026 vs 2025, same-store (INEOS excluded, opened 2026), as on the Fixed Ops Net Profit slides. Fixed ops = service (Mechanical) + parts (P&amp;A) department profit: department gross less the department's own expenses. Group net = Net Profit Or Loss on the GM statement.PLACE: right after the agenda, before the Gross section. In the deck Oct 24 (Noah): group net profit view replaces the gross / absorption / net-to-gross tiles. Group-level view of fixed ops' weight in the dealership's profit, Jan-Sep. Fixed ops department profit $50,449,894 (2025 $45,336,135); group net profit $82,743,115 (2025 $95,664,709). On the P&amp;L, F&amp;I income, other income and store-level costs are not split by department, so 'the rest of the store' is the group net less fixed ops department profit. Group net = Net Profit Or Loss on the GM statement (P&amp;L summary), same-store: INEOS (opened 2026) is out of both lines, as on the Fixed Ops Net Profit slides (Noah, Oct 29; all stores in, it was $50.19M of $82.24M). Body shop (GMC Prescott) department profit is left out of fixed ops, as everywhere in the deck.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Talking points: Service Manager Roundtable (Nov 15, 2024) and GM meeting decks (Jan and May 2026). Data: Qlik (Profit &amp; Loss, Closed Repair Orders, Productivity), Jan-Sep 2026 vs 2025, same-store, 33 stores, INEOS excluded.PLACE: Gross section, after the section break and before Total Gross Profit - Fixed Ops.
Said: Roundtable slide 9 ('Service Department?'); Jan GM slide 58 (Sales and Service Relationship).
For the GMs who come from sales (Noah, Oct 25): service and parts keep far more of every gross dollar than vehicle sales does. Jan-Sep 2026, after each department's own expenses, fixed ops kept 27 cents of every gross dollar; new, used and F&amp;I together kept 7 cents (before doc fees, packs and factory money, which the P&amp;L books outside the departments). People cost 45 cents of every fixed ops gross dollar and 62 cents of every vehicle sales gross dollar. That is why paying yourself first, on internal work, matters: see Pay Yourself First at the start of the Internal section.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Talking points: Service Manager Roundtable (Nov 15, 2024) and GM meeting decks (Jan and May 2026). Data: Qlik (Profit &amp; Loss, Closed Repair Orders, Productivity), Jan-Sep 2026 vs 2025, same-store, 33 stores, INEOS excluded.PLACE: CP Engine section, after the section break and before CP RO Count.
Said: Roundtable slides 18-19 (KPIs; CP Labor $ per RO).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Talking points: Service Manager Roundtable (Nov 15, 2024) and GM meeting decks (Jan and May 2026). Data: Qlik (Profit &amp; Loss, Closed Repair Orders, Productivity), Jan-Sep 2026 vs 2025, same-store, 33 stores, INEOS excluded.PLACE: CP Engine section, after the CP RO Count slides and before Hours per RO.
Said: Jan/May GM slides on Appointment Scheduling, Appointment Discipline, Phone Call Handling and Retention Management (Jan 2, 7, 9, 11; May 2, 4, 8, 9).
The two Flai voice AI slides (Jul 26 - Oct 26, 2026) follow this one; keep Flai figures off any slide with a P&amp;L number.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Talking points: Service Manager Roundtable (Nov 15, 2024) and GM meeting decks (Jan and May 2026). Data: Qlik (Profit &amp; Loss, Closed Repair Orders, Productivity), Jan-Sep 2026 vs 2025, same-store, 33 stores, INEOS excluded.PLACE: CP Engine section, before the CP ELR slides (ahead of the door-rate options).
Said: Roundtable slide 15 (Pricing Strategy); Jan/May GM Road to the Sale slide (pricing lines); Jan GM slide 54 (Discounting Discipline); 70% benchmark from the Jan/May door rate slides.
Oct 23 (Noah): grid vs non-grid tile replaced. $126,831 a month = Jul-Sep, for each of the 8 stores under 70% (Chevy LV, Toyota Spokane, Cadillac, Kia LV, Subaru Prescott, Lincoln, GMC Prescott, Hyundai Prescott): (70% x door rate - CP ELR) x CP hours sold, summed ($380,494) / 3. Door rates from the store door rate sheet (door.json), ELR and hours from elr_q3.json.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Talking points: Service Manager Roundtable (Nov 15, 2024) and GM meeting decks (Jan and May 2026). Data: Qlik (Profit &amp; Loss, Closed Repair Orders, Productivity), Jan-Sep 2026 vs 2025, same-store, 33 stores, INEOS excluded.PLACE: CP Engine section, before CP Labor Gross Profit %.
Said: Roundtable slide 21 (Gross Profit %). Above 80% can mean techs are underpaid on the work they do; below 78% means the job mix or the dispatch is off.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Talking points: Service Manager Roundtable (Nov 15, 2024) and GM meeting decks (Jan and May 2026). Data: Qlik (Profit &amp; Loss, Closed Repair Orders, Productivity), Jan-Sep 2026 vs 2025, same-store, 33 stores, INEOS excluded.PLACE: Opcode Benchmarks, after Road to the Sale and ahead of MPI Completion % (Noah, Oct 23: maintenance visits and a complete MPI go hand in hand).
Talk track (Noah, Oct 25): go to the dentist for a quick cleaning and they don't tell you something is starting to look like a cavity: that is a disservice. Get cars in quickly, perform a complete, comprehensive MPI, and make the proper recommendations at that time. This is critical, and it can't be left to entry-level employees alone: someone with experience who knows what to look for has to be looking at these cars. Depending on work mix, maintenance can be 25% to 75% of a store's service. Many stores focus on getting more cars in the door, which is great, and we want both, but they miss the opportunities they already have. Processes and policies make sure we capitalize on them: every car, every time.
The 52.5% customer-pay share of labor sale tile was dropped with the rewrite.
Said: Jan GM slide 8 / May GM slide 7 (Express Service), reworded.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Talking points: Service Manager Roundtable (Nov 15, 2024) and GM meeting decks (Jan and May 2026). Data: Qlik (Profit &amp; Loss, Closed Repair Orders, Productivity), Jan-Sep 2026 vs 2025, same-store, 33 stores, INEOS excluded.PLACE: Opcode Benchmarks, after Basic Maintenance Service and ahead of MPI, Video and Photo Completion % (Noah, Oct 27: sets up the three inspection slides).
Said: Jan GM slide 19 / May GM slide 15 (Tracking &amp; Accountability); Roundtable slide 16 (Performance Tracking).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Talking points: Service Manager Roundtable (Nov 15, 2024) and GM meeting decks (Jan and May 2026). Data: Qlik (Profit &amp; Loss, Closed Repair Orders, Productivity), Jan-Sep 2026 vs 2025, same-store, 33 stores, INEOS excluded.PLACE: Opcodes section, after the section break and before Alignment %.
Said: Roundtable slides 11, 12, 14 (Road to the Sale, Maintenance Menus, MPI Mandate); Jan GM slide 15 / May GM slide 11 (Road to the Sale). Fuel service is 5.8% vs 7.5% (4,731 short).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Talking points: Service Manager Roundtable (Nov 15, 2024) and GM meeting decks (Jan and May 2026). Data: Qlik (Profit &amp; Loss, Closed Repair Orders, Productivity), Jan-Sep 2026 vs 2025, same-store, 33 stores, INEOS excluded.PLACE: Warranty section, after the section break, ahead of Warranty Rates Are Rising (Oct 22: $3,788,200 added gross profit from the YTD RWR Financials vendor report replaced the warranty RO count here).
Said: Jan GM slides 13-14 (audit chargebacks; Warranty Compliance). The Jan slide named six stores' chargebacks; kept to the $400,000 total here, in line with no store call-outs from the podium.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Talking points: Service Manager Roundtable (Nov 15, 2024) and GM meeting decks (Jan and May 2026). Data: Qlik (Profit &amp; Loss, Closed Repair Orders, Productivity), Jan-Sep 2026 vs 2025, same-store, 33 stores, INEOS excluded.PLACE: Productivity section, after the section break and before Fixed Gross per Fixed Employee.
Said: Roundtable slide 6 (People); Jan GM slide 57 (Technician Pipeline).
Bay tile (Oct 26): counted technicians (proficiency basis, Dec 25 2025 - Oct 9 2026, 9.49 months) flagged 841,721 sold hours, 583 techs = 152 sold hours per tech a month; labor gross $132.13 + parts gross $55.85 = $187.98 per sold hour, all pay types (Qlik Closed ROs) = $28,584 a month per tech. One tech per bay assumed (1:1 tech to stall). The -2.3% CP &amp; W RO tile was dropped for it.
Numbers rebuilt 2026-10-20 on ADP headcount (Employee Master extract 10/19/2026); the Qlik headcount history undercounted 2025.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Talking points: Service Manager Roundtable (Nov 15, 2024) and GM meeting decks (Jan and May 2026). Data: Qlik (Profit &amp; Loss, Closed Repair Orders, Productivity), Jan-Sep 2026 vs 2025, same-store, 33 stores, INEOS excluded.PLACE: Productivity section, before CP &amp; W ROs per Service Advisor.
Said: Jan GM slide 16 / May GM slide 12 (Pay Plans aka Work Instructions).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Talking points: Service Manager Roundtable (Nov 15, 2024) and GM meeting decks (Jan and May 2026). Data: Qlik (Profit &amp; Loss, Closed Repair Orders, Productivity), Jan-Sep 2026 vs 2025, same-store, 33 stores, INEOS excluded.PLACE: Technician Proficiency section, after the section break and before the store proficiency ranker.
Said: Roundtable slide 22 (Technicians &amp; Stalls); Jan GM slide 52 / May GM slide 16 (MPI Completion and Tech Efficiency).
Now: proficiency slides (ADP worked hours + Qlik sold hours, Dec 25-Oct 9, with the foreman 30%, tech 10%, role-change and keying-error rules).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Talking points: Service Manager Roundtable (Nov 15, 2024) and GM meeting decks (Jan and May 2026). Data: Qlik (Profit &amp; Loss, Closed Repair Orders, Productivity), Jan-Sep 2026 vs 2025, same-store, 33 stores, INEOS excluded.PLACE: the close, after the last Productivity / Proficiency slide.
Said: Roundtable slide 24 (Misc &amp; Closing). Commitments are reviewed at the next meeting (Noah, Oct 27): keep a list of what each store names.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Profit &amp; Loss, Detail statement, Jan-Sep 2026, same-store. Kept = department gross less the department's own expenses. Vehicle sales = new + used departments plus F&amp;I income and F&amp;I compensation. Other income not assigned to a department (doc fees, packs, factory money, holdback: $87.2M net) and management fees are left out of both.PLACE: Internal section, after the section break and before Internal ELR (Noah, Oct 25).
Talk track: internal work is protected gross generated on our own vehicles. Sales prices a car off its cost, within reason, so a fair internal charge is part of the deal, and the gross lands in the department that keeps the most of it. Example: if sales makes $500 of gross on a car, the commissions, pay and expense that come out of it leave far less than the same $500 of internal gross keeps in service and parts.
Numbers (P&amp;L Detail, Jan-Sep 2026, same-store): fixed ops gross $188.8M, department profit $50.4M (27¢); people $85.7M (45¢). Vehicle sales gross (new $58.7M, used $43.8M, F&amp;I $76.6M) $179.1M; new and used department results $-23.0M and $-25.4M, less F&amp;I compensation $15.3M: $12.9M kept (7¢); people and commissions $110.4M (62¢). Caveat: $87.2M of net other income (doc fees, packs, factory money, holdback, interest) is booked outside the departments and most of it comes with vehicle sales; with it, vehicle sales keeps much more. The comparison is department against department, as the P&amp;L reports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Why We Are Here</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Foster collaboration, introduce ideas that drive operational excellence, and set a clear path to exceptional service performance</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Focus on profit-generating activities: the work that brings in incremental dollars, not just the work that fills the day</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Work on the business, not just in it: step out of the day-to-day long enough to fix the process behind the problems</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No risk of judgement: your success is our success</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Customer first, company second, team third</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You get what you tolerate</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Leverage the power in this room: collaboration</a:t>
            </a:r>
            <a:endParaRPr lang="en-US" sz="16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61%</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of the group's net profit came from service and parts: $50.45M of $82.74M (47% in 2025).</a:t>
            </a:r>
            <a:endParaRPr lang="en-US" sz="1400" dirty="0"/>
          </a:p>
        </p:txBody>
      </p:sp>
      <p:sp>
        <p:nvSpPr>
          <p:cNvPr id="13" name="Shape 11"/>
          <p:cNvSpPr/>
          <p:nvPr/>
        </p:nvSpPr>
        <p:spPr>
          <a:xfrm>
            <a:off x="7269480" y="3261360"/>
            <a:ext cx="54864" cy="1112520"/>
          </a:xfrm>
          <a:prstGeom prst="rect">
            <a:avLst/>
          </a:prstGeom>
          <a:solidFill>
            <a:srgbClr val="12A566"/>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27¢ vs 7¢</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Of every gross dollar, what service and parts keep after their own expenses vs new, used and F&amp;I.</a:t>
            </a:r>
            <a:endParaRPr lang="en-US" sz="1400" dirty="0"/>
          </a:p>
        </p:txBody>
      </p:sp>
      <p:sp>
        <p:nvSpPr>
          <p:cNvPr id="16" name="Shape 14"/>
          <p:cNvSpPr/>
          <p:nvPr/>
        </p:nvSpPr>
        <p:spPr>
          <a:xfrm>
            <a:off x="7269480" y="4602480"/>
            <a:ext cx="54864" cy="1112520"/>
          </a:xfrm>
          <a:prstGeom prst="rect">
            <a:avLst/>
          </a:prstGeom>
          <a:solidFill>
            <a:srgbClr val="12A566"/>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+$5,113,759</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More fixed ops profit than 2025, while group net profit fell $12.92M.</a:t>
            </a:r>
            <a:endParaRPr lang="en-US" sz="1400" dirty="0"/>
          </a:p>
        </p:txBody>
      </p:sp>
      <p:sp>
        <p:nvSpPr>
          <p:cNvPr id="19" name="Shape 17"/>
          <p:cNvSpPr/>
          <p:nvPr/>
        </p:nvSpPr>
        <p:spPr>
          <a:xfrm>
            <a:off x="457200" y="6126480"/>
            <a:ext cx="11274552" cy="615696"/>
          </a:xfrm>
          <a:prstGeom prst="rect">
            <a:avLst/>
          </a:prstGeom>
          <a:solidFill>
            <a:srgbClr val="EDF4FA"/>
          </a:solidFill>
          <a:ln/>
        </p:spPr>
      </p:sp>
      <p:sp>
        <p:nvSpPr>
          <p:cNvPr id="20" name="Text 1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leave today with one or two actionable items you will put in place at your store before year end, and hold your team to them.</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Service Is Sales 2.0</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Sell hours, build value, sell peace of mind</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Drive visits: don't say no to dollars</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Generate throughput: max out hours</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Drive retention and sell cars</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Sales sells the first car. Service sells the next six.</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Every car, every time: follow the processes you have in place, consistently</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Processes only work when they are actively managed</a:t>
            </a:r>
            <a:endParaRPr lang="en-US" sz="16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+$6,297,386</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Service gross, up 5.2%, ahead of 2025 in all nine months.</a:t>
            </a:r>
            <a:endParaRPr lang="en-US" sz="1400" dirty="0"/>
          </a:p>
        </p:txBody>
      </p:sp>
      <p:sp>
        <p:nvSpPr>
          <p:cNvPr id="13" name="Shape 11"/>
          <p:cNvSpPr/>
          <p:nvPr/>
        </p:nvSpPr>
        <p:spPr>
          <a:xfrm>
            <a:off x="7269480" y="3261360"/>
            <a:ext cx="54864" cy="1112520"/>
          </a:xfrm>
          <a:prstGeom prst="rect">
            <a:avLst/>
          </a:prstGeom>
          <a:solidFill>
            <a:srgbClr val="12A566"/>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+$1,171,181</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Parts gross, up 1.9%, ahead of 2025 in six of nine months.</a:t>
            </a:r>
            <a:endParaRPr lang="en-US" sz="1400" dirty="0"/>
          </a:p>
        </p:txBody>
      </p:sp>
      <p:sp>
        <p:nvSpPr>
          <p:cNvPr id="16" name="Shape 14"/>
          <p:cNvSpPr/>
          <p:nvPr/>
        </p:nvSpPr>
        <p:spPr>
          <a:xfrm>
            <a:off x="7269480" y="4602480"/>
            <a:ext cx="54864" cy="1112520"/>
          </a:xfrm>
          <a:prstGeom prst="rect">
            <a:avLst/>
          </a:prstGeom>
          <a:solidFill>
            <a:srgbClr val="12A566"/>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+$829,841</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More fixed ops gross than 2025, on average, every month January through September.</a:t>
            </a:r>
            <a:endParaRPr lang="en-US" sz="1400" dirty="0"/>
          </a:p>
        </p:txBody>
      </p:sp>
      <p:sp>
        <p:nvSpPr>
          <p:cNvPr id="19" name="Shape 17"/>
          <p:cNvSpPr/>
          <p:nvPr/>
        </p:nvSpPr>
        <p:spPr>
          <a:xfrm>
            <a:off x="457200" y="6126480"/>
            <a:ext cx="11274552" cy="348996"/>
          </a:xfrm>
          <a:prstGeom prst="rect">
            <a:avLst/>
          </a:prstGeom>
          <a:solidFill>
            <a:srgbClr val="EDF4FA"/>
          </a:solidFill>
          <a:ln/>
        </p:spPr>
      </p:sp>
      <p:sp>
        <p:nvSpPr>
          <p:cNvPr id="20" name="Text 18"/>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0B2C4A"/>
                </a:solidFill>
                <a:latin typeface="Inter" pitchFamily="34" charset="0"/>
                <a:ea typeface="Inter" pitchFamily="34" charset="-122"/>
                <a:cs typeface="Inter" pitchFamily="34" charset="-120"/>
              </a:rPr>
              <a:t>The ask: run service like a sales department: every visit is a chance to sell the next hour and the next car.</a:t>
            </a:r>
            <a:endParaRPr lang="en-US" sz="14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Can You Control?</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Take care of the customers we already have: how we treat them decides whether they come back</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Repair order count: how many customers we serve</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Dollars per repair order: how much we sell each one</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The rates we charge, and how we decide what to charge</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CP labor $ per RO is the best way to judge performance, store and individual</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Track the metrics that matter most every day, talk about them, and train on them</a:t>
            </a:r>
            <a:endParaRPr lang="en-US" sz="1800" dirty="0"/>
          </a:p>
        </p:txBody>
      </p:sp>
      <p:sp>
        <p:nvSpPr>
          <p:cNvPr id="10" name="Shape 8"/>
          <p:cNvSpPr/>
          <p:nvPr/>
        </p:nvSpPr>
        <p:spPr>
          <a:xfrm>
            <a:off x="7269480" y="1920240"/>
            <a:ext cx="54864" cy="1112520"/>
          </a:xfrm>
          <a:prstGeom prst="rect">
            <a:avLst/>
          </a:prstGeom>
          <a:solidFill>
            <a:srgbClr val="2587C5"/>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279,756 ROs</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Customer-pay RO count, up only 456. Volume is flat.</a:t>
            </a:r>
            <a:endParaRPr lang="en-US" sz="1400" dirty="0"/>
          </a:p>
        </p:txBody>
      </p:sp>
      <p:sp>
        <p:nvSpPr>
          <p:cNvPr id="13" name="Shape 11"/>
          <p:cNvSpPr/>
          <p:nvPr/>
        </p:nvSpPr>
        <p:spPr>
          <a:xfrm>
            <a:off x="7269480" y="3261360"/>
            <a:ext cx="54864" cy="1112520"/>
          </a:xfrm>
          <a:prstGeom prst="rect">
            <a:avLst/>
          </a:prstGeom>
          <a:solidFill>
            <a:srgbClr val="12A566"/>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1.87 hrs per RO</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Up 0.07, ahead in all nine months. Every 0.1 hour per RO is worth $6.6M a year in gross.</a:t>
            </a:r>
            <a:endParaRPr lang="en-US" sz="1400" dirty="0"/>
          </a:p>
        </p:txBody>
      </p:sp>
      <p:sp>
        <p:nvSpPr>
          <p:cNvPr id="16" name="Shape 14"/>
          <p:cNvSpPr/>
          <p:nvPr/>
        </p:nvSpPr>
        <p:spPr>
          <a:xfrm>
            <a:off x="7269480" y="4602480"/>
            <a:ext cx="54864" cy="1112520"/>
          </a:xfrm>
          <a:prstGeom prst="rect">
            <a:avLst/>
          </a:prstGeom>
          <a:solidFill>
            <a:srgbClr val="12A566"/>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$304 per RO</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CP labor per RO, up $17. The $4,899,376 labor gain came from selling more per visit.</a:t>
            </a:r>
            <a:endParaRPr lang="en-US" sz="1400" dirty="0"/>
          </a:p>
        </p:txBody>
      </p:sp>
      <p:sp>
        <p:nvSpPr>
          <p:cNvPr id="19" name="Shape 17"/>
          <p:cNvSpPr/>
          <p:nvPr/>
        </p:nvSpPr>
        <p:spPr>
          <a:xfrm>
            <a:off x="457200" y="6126480"/>
            <a:ext cx="11274552" cy="356616"/>
          </a:xfrm>
          <a:prstGeom prst="rect">
            <a:avLst/>
          </a:prstGeom>
          <a:solidFill>
            <a:srgbClr val="E6F6EE"/>
          </a:solidFill>
          <a:ln/>
        </p:spPr>
      </p:sp>
      <p:sp>
        <p:nvSpPr>
          <p:cNvPr id="20" name="Text 18"/>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The ask: with car count flat, the growth is in hours per RO. Sell the next tenth of an hour on every RO.</a:t>
            </a:r>
            <a:endParaRPr lang="en-US" sz="15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The Front Door</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Open and available scheduler: same-day or next-day appointments, quick online scheduling</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Handle basic maintenance quickly and efficiently. Saturdays are what you choose to make them.</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Every call is a sales opportunity: a mishandled call costs us the customer</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No-show process; first appointment at time of sale; next appointment before the customer leaves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Active retention tracking: work the Viz 'Close to Losing' and 'Unretained' lists</a:t>
            </a:r>
            <a:endParaRPr lang="en-US" sz="1800" dirty="0"/>
          </a:p>
        </p:txBody>
      </p:sp>
      <p:sp>
        <p:nvSpPr>
          <p:cNvPr id="10" name="Shape 8"/>
          <p:cNvSpPr/>
          <p:nvPr/>
        </p:nvSpPr>
        <p:spPr>
          <a:xfrm>
            <a:off x="7269480" y="1920240"/>
            <a:ext cx="54864" cy="1783080"/>
          </a:xfrm>
          <a:prstGeom prst="rect">
            <a:avLst/>
          </a:prstGeom>
          <a:solidFill>
            <a:srgbClr val="2587C5"/>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+0.2%</a:t>
            </a:r>
            <a:endParaRPr lang="en-US" sz="3000" dirty="0"/>
          </a:p>
        </p:txBody>
      </p:sp>
      <p:sp>
        <p:nvSpPr>
          <p:cNvPr id="12" name="Text 10"/>
          <p:cNvSpPr txBox="1"/>
          <p:nvPr/>
        </p:nvSpPr>
        <p:spPr>
          <a:xfrm>
            <a:off x="7452360" y="244144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Customer-pay RO count. 13 of 33 stores had fewer CP ROs than last year.</a:t>
            </a:r>
            <a:endParaRPr lang="en-US" sz="1400" dirty="0"/>
          </a:p>
        </p:txBody>
      </p:sp>
      <p:sp>
        <p:nvSpPr>
          <p:cNvPr id="13" name="Shape 11"/>
          <p:cNvSpPr/>
          <p:nvPr/>
        </p:nvSpPr>
        <p:spPr>
          <a:xfrm>
            <a:off x="7269480" y="3931920"/>
            <a:ext cx="54864" cy="1783080"/>
          </a:xfrm>
          <a:prstGeom prst="rect">
            <a:avLst/>
          </a:prstGeom>
          <a:solidFill>
            <a:srgbClr val="2587C5"/>
          </a:solidFill>
          <a:ln/>
        </p:spPr>
      </p:sp>
      <p:sp>
        <p:nvSpPr>
          <p:cNvPr id="14" name="Text 12"/>
          <p:cNvSpPr txBox="1"/>
          <p:nvPr/>
        </p:nvSpPr>
        <p:spPr>
          <a:xfrm>
            <a:off x="7452360" y="388620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$4,473,284</a:t>
            </a:r>
            <a:endParaRPr lang="en-US" sz="3000" dirty="0"/>
          </a:p>
        </p:txBody>
      </p:sp>
      <p:sp>
        <p:nvSpPr>
          <p:cNvPr id="15" name="Text 13"/>
          <p:cNvSpPr txBox="1"/>
          <p:nvPr/>
        </p:nvSpPr>
        <p:spPr>
          <a:xfrm>
            <a:off x="7452360" y="445312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A year in labor and parts gross from one more customer-pay RO a day at every store.</a:t>
            </a:r>
            <a:endParaRPr lang="en-US" sz="1400" dirty="0"/>
          </a:p>
        </p:txBody>
      </p:sp>
      <p:sp>
        <p:nvSpPr>
          <p:cNvPr id="16" name="Shape 14"/>
          <p:cNvSpPr/>
          <p:nvPr/>
        </p:nvSpPr>
        <p:spPr>
          <a:xfrm>
            <a:off x="457200" y="6126480"/>
            <a:ext cx="11274552" cy="341376"/>
          </a:xfrm>
          <a:prstGeom prst="rect">
            <a:avLst/>
          </a:prstGeom>
          <a:solidFill>
            <a:srgbClr val="EDF4FA"/>
          </a:solidFill>
          <a:ln/>
        </p:spPr>
      </p:sp>
      <p:sp>
        <p:nvSpPr>
          <p:cNvPr id="17" name="Text 15"/>
          <p:cNvSpPr txBox="1"/>
          <p:nvPr/>
        </p:nvSpPr>
        <p:spPr>
          <a:xfrm>
            <a:off x="658368" y="6144768"/>
            <a:ext cx="10927080" cy="30480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The ask: every customer leaves with the next appointment booked, and every call reaches someone who asks for it.</a:t>
            </a:r>
            <a:endParaRPr lang="en-US" sz="14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 · EFFECTIVE LABOR RATE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Pricing Strategy</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Do a comprehensive market labor study</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Calculate your ELR on every maintenance item; target ELR by work type</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Know your loss leader, and what the competition is charging</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No direct price changes to parts or labor: use ADC-controlled discounting for every discount</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Benchmark: CP ELR at least 70% of door rate</a:t>
            </a:r>
            <a:endParaRPr lang="en-US" sz="18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$162.42</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CP effective labor rate, up $3.56 and ahead in all nine months.</a:t>
            </a:r>
            <a:endParaRPr lang="en-US" sz="1400" dirty="0"/>
          </a:p>
        </p:txBody>
      </p:sp>
      <p:sp>
        <p:nvSpPr>
          <p:cNvPr id="13" name="Shape 11"/>
          <p:cNvSpPr/>
          <p:nvPr/>
        </p:nvSpPr>
        <p:spPr>
          <a:xfrm>
            <a:off x="7269480" y="3261360"/>
            <a:ext cx="54864" cy="1112520"/>
          </a:xfrm>
          <a:prstGeom prst="rect">
            <a:avLst/>
          </a:prstGeom>
          <a:solidFill>
            <a:srgbClr val="12A566"/>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74.7%</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CP ELR as a share of door rate, Jul-Sep. 25 of 33 stores at or above 70%.</a:t>
            </a:r>
            <a:endParaRPr lang="en-US" sz="1400" dirty="0"/>
          </a:p>
        </p:txBody>
      </p:sp>
      <p:sp>
        <p:nvSpPr>
          <p:cNvPr id="16" name="Shape 14"/>
          <p:cNvSpPr/>
          <p:nvPr/>
        </p:nvSpPr>
        <p:spPr>
          <a:xfrm>
            <a:off x="7269480" y="4602480"/>
            <a:ext cx="54864" cy="1112520"/>
          </a:xfrm>
          <a:prstGeom prst="rect">
            <a:avLst/>
          </a:prstGeom>
          <a:solidFill>
            <a:srgbClr val="2587C5"/>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$127K a month</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Added labor if the 8 stores under 70% reached it on the hours they already sell, Jul-Sep: $126,831 a month.</a:t>
            </a:r>
            <a:endParaRPr lang="en-US" sz="1400" dirty="0"/>
          </a:p>
        </p:txBody>
      </p:sp>
      <p:sp>
        <p:nvSpPr>
          <p:cNvPr id="19" name="Shape 17"/>
          <p:cNvSpPr/>
          <p:nvPr/>
        </p:nvSpPr>
        <p:spPr>
          <a:xfrm>
            <a:off x="457200" y="6126480"/>
            <a:ext cx="11274552" cy="364236"/>
          </a:xfrm>
          <a:prstGeom prst="rect">
            <a:avLst/>
          </a:prstGeom>
          <a:solidFill>
            <a:srgbClr val="EDF4FA"/>
          </a:solidFill>
          <a:ln/>
        </p:spPr>
      </p:sp>
      <p:sp>
        <p:nvSpPr>
          <p:cNvPr id="20" name="Text 18"/>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2C4A"/>
                </a:solidFill>
                <a:latin typeface="Inter" pitchFamily="34" charset="0"/>
                <a:ea typeface="Inter" pitchFamily="34" charset="-122"/>
                <a:cs typeface="Inter" pitchFamily="34" charset="-120"/>
              </a:rPr>
              <a:t>The ask: know what you collect on every op code, and run every discount through ADC so we can see it.</a:t>
            </a:r>
            <a:endParaRPr lang="en-US" sz="15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The Goldilocks Margin</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Gross profit % is the share of labor you keep after paying the tech</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Not too high, not too low: 78% to 80%</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Skill code costing: a hybrid of traditional and percentage</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Right tech, right job</a:t>
            </a:r>
            <a:endParaRPr lang="en-US" sz="1800" dirty="0"/>
          </a:p>
        </p:txBody>
      </p:sp>
      <p:sp>
        <p:nvSpPr>
          <p:cNvPr id="10" name="Shape 8"/>
          <p:cNvSpPr/>
          <p:nvPr/>
        </p:nvSpPr>
        <p:spPr>
          <a:xfrm>
            <a:off x="7269480" y="1920240"/>
            <a:ext cx="54864" cy="1783080"/>
          </a:xfrm>
          <a:prstGeom prst="rect">
            <a:avLst/>
          </a:prstGeom>
          <a:solidFill>
            <a:srgbClr val="2587C5"/>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80.8%</a:t>
            </a:r>
            <a:endParaRPr lang="en-US" sz="3000" dirty="0"/>
          </a:p>
        </p:txBody>
      </p:sp>
      <p:sp>
        <p:nvSpPr>
          <p:cNvPr id="12" name="Text 10"/>
          <p:cNvSpPr txBox="1"/>
          <p:nvPr/>
        </p:nvSpPr>
        <p:spPr>
          <a:xfrm>
            <a:off x="7452360" y="244144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CP labor gross profit, down 0.1 pts. Just above the 78-80% target.</a:t>
            </a:r>
            <a:endParaRPr lang="en-US" sz="1400" dirty="0"/>
          </a:p>
        </p:txBody>
      </p:sp>
      <p:sp>
        <p:nvSpPr>
          <p:cNvPr id="13" name="Shape 11"/>
          <p:cNvSpPr/>
          <p:nvPr/>
        </p:nvSpPr>
        <p:spPr>
          <a:xfrm>
            <a:off x="7269480" y="3931920"/>
            <a:ext cx="54864" cy="1783080"/>
          </a:xfrm>
          <a:prstGeom prst="rect">
            <a:avLst/>
          </a:prstGeom>
          <a:solidFill>
            <a:srgbClr val="12A566"/>
          </a:solidFill>
          <a:ln/>
        </p:spPr>
      </p:sp>
      <p:sp>
        <p:nvSpPr>
          <p:cNvPr id="14" name="Text 12"/>
          <p:cNvSpPr txBox="1"/>
          <p:nvPr/>
        </p:nvSpPr>
        <p:spPr>
          <a:xfrm>
            <a:off x="7452360" y="388620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40.7%</a:t>
            </a:r>
            <a:endParaRPr lang="en-US" sz="3000" dirty="0"/>
          </a:p>
        </p:txBody>
      </p:sp>
      <p:sp>
        <p:nvSpPr>
          <p:cNvPr id="15" name="Text 13"/>
          <p:cNvSpPr txBox="1"/>
          <p:nvPr/>
        </p:nvSpPr>
        <p:spPr>
          <a:xfrm>
            <a:off x="7452360" y="445312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CP parts gross profit, up 1.2 pts and ahead in all nine months.</a:t>
            </a:r>
            <a:endParaRPr lang="en-US" sz="1400" dirty="0"/>
          </a:p>
        </p:txBody>
      </p:sp>
      <p:sp>
        <p:nvSpPr>
          <p:cNvPr id="16" name="Shape 14"/>
          <p:cNvSpPr/>
          <p:nvPr/>
        </p:nvSpPr>
        <p:spPr>
          <a:xfrm>
            <a:off x="457200" y="6126480"/>
            <a:ext cx="11274552" cy="356616"/>
          </a:xfrm>
          <a:prstGeom prst="rect">
            <a:avLst/>
          </a:prstGeom>
          <a:solidFill>
            <a:srgbClr val="EDF4FA"/>
          </a:solidFill>
          <a:ln/>
        </p:spPr>
      </p:sp>
      <p:sp>
        <p:nvSpPr>
          <p:cNvPr id="17" name="Text 15"/>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The ask: hold labor margin in the 78-80% band by matching the tech to the job, not by squeezing tech pay.</a:t>
            </a:r>
            <a:endParaRPr lang="en-US" sz="15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Basic Maintenance Service</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On-demand maintenance appointments: get cars in quickly. A car we can't book is work we never see</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A complete, comprehensive multi-point inspection on every visit: what it finds is worth far more than the maintenance the car is due for</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Experienced eyes on every car: entry-level staff alone won't know what to look for</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An oil change that misses worn brakes or a leaking water pump is a disservice to the customer</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More cars in the door is great, but first make the most of every car already in the shop</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Processes and policies that make it happen: every car, every time</a:t>
            </a:r>
            <a:endParaRPr lang="en-US" sz="1800" dirty="0"/>
          </a:p>
        </p:txBody>
      </p:sp>
      <p:sp>
        <p:nvSpPr>
          <p:cNvPr id="10" name="Shape 8"/>
          <p:cNvSpPr/>
          <p:nvPr/>
        </p:nvSpPr>
        <p:spPr>
          <a:xfrm>
            <a:off x="7269480" y="1920240"/>
            <a:ext cx="54864" cy="1783080"/>
          </a:xfrm>
          <a:prstGeom prst="rect">
            <a:avLst/>
          </a:prstGeom>
          <a:solidFill>
            <a:srgbClr val="2587C5"/>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54.3%</a:t>
            </a:r>
            <a:endParaRPr lang="en-US" sz="3000" dirty="0"/>
          </a:p>
        </p:txBody>
      </p:sp>
      <p:sp>
        <p:nvSpPr>
          <p:cNvPr id="12" name="Text 10"/>
          <p:cNvSpPr txBox="1"/>
          <p:nvPr/>
        </p:nvSpPr>
        <p:spPr>
          <a:xfrm>
            <a:off x="7452360" y="244144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Maintenance share of customer-pay labor across the group; repair 30.5%. Depending on work mix, maintenance runs 25% to 75% of a store's service.</a:t>
            </a:r>
            <a:endParaRPr lang="en-US" sz="1400" dirty="0"/>
          </a:p>
        </p:txBody>
      </p:sp>
      <p:sp>
        <p:nvSpPr>
          <p:cNvPr id="13" name="Shape 11"/>
          <p:cNvSpPr/>
          <p:nvPr/>
        </p:nvSpPr>
        <p:spPr>
          <a:xfrm>
            <a:off x="7269480" y="3931920"/>
            <a:ext cx="54864" cy="1783080"/>
          </a:xfrm>
          <a:prstGeom prst="rect">
            <a:avLst/>
          </a:prstGeom>
          <a:solidFill>
            <a:srgbClr val="C2352F"/>
          </a:solidFill>
          <a:ln/>
        </p:spPr>
      </p:sp>
      <p:sp>
        <p:nvSpPr>
          <p:cNvPr id="14" name="Text 12"/>
          <p:cNvSpPr txBox="1"/>
          <p:nvPr/>
        </p:nvSpPr>
        <p:spPr>
          <a:xfrm>
            <a:off x="7452360" y="388620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81.3%</a:t>
            </a:r>
            <a:endParaRPr lang="en-US" sz="3000" dirty="0"/>
          </a:p>
        </p:txBody>
      </p:sp>
      <p:sp>
        <p:nvSpPr>
          <p:cNvPr id="15" name="Text 13"/>
          <p:cNvSpPr txBox="1"/>
          <p:nvPr/>
        </p:nvSpPr>
        <p:spPr>
          <a:xfrm>
            <a:off x="7452360" y="445312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MPI completion, July to September (store-reported). 12 of 33 stores at the 90% benchmark: every car skipped is unknown work left in the car.</a:t>
            </a:r>
            <a:endParaRPr lang="en-US" sz="1400" dirty="0"/>
          </a:p>
        </p:txBody>
      </p:sp>
      <p:sp>
        <p:nvSpPr>
          <p:cNvPr id="16" name="Shape 14"/>
          <p:cNvSpPr/>
          <p:nvPr/>
        </p:nvSpPr>
        <p:spPr>
          <a:xfrm>
            <a:off x="457200" y="6126480"/>
            <a:ext cx="11274552" cy="615696"/>
          </a:xfrm>
          <a:prstGeom prst="rect">
            <a:avLst/>
          </a:prstGeom>
          <a:solidFill>
            <a:srgbClr val="EDF4FA"/>
          </a:solidFill>
          <a:ln/>
        </p:spPr>
      </p:sp>
      <p:sp>
        <p:nvSpPr>
          <p:cNvPr id="17" name="Text 1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capitalize on every maintenance visit: in quickly, inspected completely by someone who knows what to look for, and every finding recommended.</a:t>
            </a:r>
            <a:endParaRPr lang="en-US" sz="16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Tracking &amp; Accountability</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Daily review of the Viz 'Op Code' and 'Performance Report' and the Fixed Ops DOC</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Give feedback quickly and often. Trends start early: don't wait until the 15th.</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Tracked metrics improve performance; we are responsible for the knowing</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Scoreboard techs and advisors: CP $ per RO, ELR, MPI completion, closing %, key op codes</a:t>
            </a:r>
            <a:endParaRPr lang="en-US" sz="1800" dirty="0"/>
          </a:p>
        </p:txBody>
      </p:sp>
      <p:sp>
        <p:nvSpPr>
          <p:cNvPr id="10" name="Shape 8"/>
          <p:cNvSpPr/>
          <p:nvPr/>
        </p:nvSpPr>
        <p:spPr>
          <a:xfrm>
            <a:off x="7269480" y="1920240"/>
            <a:ext cx="54864" cy="1112520"/>
          </a:xfrm>
          <a:prstGeom prst="rect">
            <a:avLst/>
          </a:prstGeom>
          <a:solidFill>
            <a:srgbClr val="C2352F"/>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81.3%</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MPI completion, July to September (store-reported). 12 of 33 stores at the 90% benchmark.</a:t>
            </a:r>
            <a:endParaRPr lang="en-US" sz="1400" dirty="0"/>
          </a:p>
        </p:txBody>
      </p:sp>
      <p:sp>
        <p:nvSpPr>
          <p:cNvPr id="13" name="Shape 11"/>
          <p:cNvSpPr/>
          <p:nvPr/>
        </p:nvSpPr>
        <p:spPr>
          <a:xfrm>
            <a:off x="7269480" y="3261360"/>
            <a:ext cx="54864" cy="1112520"/>
          </a:xfrm>
          <a:prstGeom prst="rect">
            <a:avLst/>
          </a:prstGeom>
          <a:solidFill>
            <a:srgbClr val="2587C5"/>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57.8%</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Video completion, July to September (store-reported). 17 of 33 stores at or above the group.</a:t>
            </a:r>
            <a:endParaRPr lang="en-US" sz="1400" dirty="0"/>
          </a:p>
        </p:txBody>
      </p:sp>
      <p:sp>
        <p:nvSpPr>
          <p:cNvPr id="16" name="Shape 14"/>
          <p:cNvSpPr/>
          <p:nvPr/>
        </p:nvSpPr>
        <p:spPr>
          <a:xfrm>
            <a:off x="7269480" y="4602480"/>
            <a:ext cx="54864" cy="1112520"/>
          </a:xfrm>
          <a:prstGeom prst="rect">
            <a:avLst/>
          </a:prstGeom>
          <a:solidFill>
            <a:srgbClr val="2587C5"/>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45.3%</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Photo completion, July to September. 11 of the 28 stores that report it at or above the group.</a:t>
            </a:r>
            <a:endParaRPr lang="en-US" sz="1400" dirty="0"/>
          </a:p>
        </p:txBody>
      </p:sp>
      <p:sp>
        <p:nvSpPr>
          <p:cNvPr id="19" name="Shape 17"/>
          <p:cNvSpPr/>
          <p:nvPr/>
        </p:nvSpPr>
        <p:spPr>
          <a:xfrm>
            <a:off x="457200" y="6126480"/>
            <a:ext cx="11274552" cy="615696"/>
          </a:xfrm>
          <a:prstGeom prst="rect">
            <a:avLst/>
          </a:prstGeom>
          <a:solidFill>
            <a:srgbClr val="EDF4FA"/>
          </a:solidFill>
          <a:ln/>
        </p:spPr>
      </p:sp>
      <p:sp>
        <p:nvSpPr>
          <p:cNvPr id="20" name="Text 1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if it isn't described, it can't be tracked. Clean up op code descriptions so the reports show what you sell.</a:t>
            </a:r>
            <a:endParaRPr lang="en-US" sz="16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Road To The Sale</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Every advisor, every customer: timely meet and greet at the vehicle</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Walk-around with the customer: hood, tires and wipers</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Review history and previously declined items</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Time and mileage recommendations from an accurate, available menu</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MPI mandate: every car, every time</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Consistency is key: trained, documented and actively managed</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We produce hours. Every service or repair not recommended is hours a technician never gets the chance to earn</a:t>
            </a:r>
            <a:endParaRPr lang="en-US" sz="16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Up in all four</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Alignment, balance, brake fluid and fuel service each rose 1.3-1.4 pts and beat 2025 every month.</a:t>
            </a:r>
            <a:endParaRPr lang="en-US" sz="1400" dirty="0"/>
          </a:p>
        </p:txBody>
      </p:sp>
      <p:sp>
        <p:nvSpPr>
          <p:cNvPr id="13" name="Shape 11"/>
          <p:cNvSpPr/>
          <p:nvPr/>
        </p:nvSpPr>
        <p:spPr>
          <a:xfrm>
            <a:off x="7269480" y="3261360"/>
            <a:ext cx="54864" cy="1112520"/>
          </a:xfrm>
          <a:prstGeom prst="rect">
            <a:avLst/>
          </a:prstGeom>
          <a:solidFill>
            <a:srgbClr val="C2352F"/>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18,493</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Balances short of the 15% benchmark. The group is at 8.3%.</a:t>
            </a:r>
            <a:endParaRPr lang="en-US" sz="1400" dirty="0"/>
          </a:p>
        </p:txBody>
      </p:sp>
      <p:sp>
        <p:nvSpPr>
          <p:cNvPr id="16" name="Shape 14"/>
          <p:cNvSpPr/>
          <p:nvPr/>
        </p:nvSpPr>
        <p:spPr>
          <a:xfrm>
            <a:off x="7269480" y="4602480"/>
            <a:ext cx="54864" cy="1112520"/>
          </a:xfrm>
          <a:prstGeom prst="rect">
            <a:avLst/>
          </a:prstGeom>
          <a:solidFill>
            <a:srgbClr val="C2352F"/>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4,821</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Alignments short of 15%; the group is at 13.2%. Brake fluid is 0.8 pts from its 10%.</a:t>
            </a:r>
            <a:endParaRPr lang="en-US" sz="1400" dirty="0"/>
          </a:p>
        </p:txBody>
      </p:sp>
      <p:sp>
        <p:nvSpPr>
          <p:cNvPr id="19" name="Shape 17"/>
          <p:cNvSpPr/>
          <p:nvPr/>
        </p:nvSpPr>
        <p:spPr>
          <a:xfrm>
            <a:off x="457200" y="6126480"/>
            <a:ext cx="11274552" cy="371856"/>
          </a:xfrm>
          <a:prstGeom prst="rect">
            <a:avLst/>
          </a:prstGeom>
          <a:solidFill>
            <a:srgbClr val="EDF4FA"/>
          </a:solidFill>
          <a:ln/>
        </p:spPr>
      </p:sp>
      <p:sp>
        <p:nvSpPr>
          <p:cNvPr id="20" name="Text 1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every car gets the walk-around and the menu. The benchmarks are where that process lands.</a:t>
            </a:r>
            <a:endParaRPr lang="en-US" sz="16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Compliance</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Higher labor rates, higher parts reimbursement and tariffs are driving up OEM scrutiny</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Six audits cost over $400,000</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Primary causes: written documentation, manager signatures on add-ons and in-stock units, out mileage, punch times, manufacturer authorization</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The general manager is responsible for warranty policy being followed</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Spot-check repair orders and self-audit</a:t>
            </a:r>
            <a:endParaRPr lang="en-US" sz="18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$3,788,200</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Added gross profit from warranty labor and parts rate increases approved this year, 19 stores.</a:t>
            </a:r>
            <a:endParaRPr lang="en-US" sz="1400" dirty="0"/>
          </a:p>
        </p:txBody>
      </p:sp>
      <p:sp>
        <p:nvSpPr>
          <p:cNvPr id="13" name="Shape 11"/>
          <p:cNvSpPr/>
          <p:nvPr/>
        </p:nvSpPr>
        <p:spPr>
          <a:xfrm>
            <a:off x="7269480" y="3261360"/>
            <a:ext cx="54864" cy="1112520"/>
          </a:xfrm>
          <a:prstGeom prst="rect">
            <a:avLst/>
          </a:prstGeom>
          <a:solidFill>
            <a:srgbClr val="12A566"/>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$197.17</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Warranty ELR, up $16.93; 30 of 33 stores raised it.</a:t>
            </a:r>
            <a:endParaRPr lang="en-US" sz="1400" dirty="0"/>
          </a:p>
        </p:txBody>
      </p:sp>
      <p:sp>
        <p:nvSpPr>
          <p:cNvPr id="16" name="Shape 14"/>
          <p:cNvSpPr/>
          <p:nvPr/>
        </p:nvSpPr>
        <p:spPr>
          <a:xfrm>
            <a:off x="7269480" y="4602480"/>
            <a:ext cx="54864" cy="1112520"/>
          </a:xfrm>
          <a:prstGeom prst="rect">
            <a:avLst/>
          </a:prstGeom>
          <a:solidFill>
            <a:srgbClr val="12A566"/>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44.7%</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Warranty parts gross profit, up 2.1 pts and ahead of 2025 in all nine months.</a:t>
            </a:r>
            <a:endParaRPr lang="en-US" sz="1400" dirty="0"/>
          </a:p>
        </p:txBody>
      </p:sp>
      <p:sp>
        <p:nvSpPr>
          <p:cNvPr id="19" name="Shape 17"/>
          <p:cNvSpPr/>
          <p:nvPr/>
        </p:nvSpPr>
        <p:spPr>
          <a:xfrm>
            <a:off x="457200" y="6126480"/>
            <a:ext cx="11274552" cy="371856"/>
          </a:xfrm>
          <a:prstGeom prst="rect">
            <a:avLst/>
          </a:prstGeom>
          <a:solidFill>
            <a:srgbClr val="EDF4FA"/>
          </a:solidFill>
          <a:ln/>
        </p:spPr>
      </p:sp>
      <p:sp>
        <p:nvSpPr>
          <p:cNvPr id="20" name="Text 1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a higher warranty rate brings more scrutiny. Self-audit before the factory does.</a:t>
            </a:r>
            <a:endParaRPr lang="en-US" sz="16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People</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Our most valuable asset: this is what separates us</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Invest in training and a defined career path. Be the best place to work.</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Grow your own techs, advisors and managers: apprentice programs, develop your bench, train your replacement</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Always be teaching, training and educating</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Don't overlook opportunities to teach, train and educate</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Being short-handed limits scheduling, loses opportunities and leads to missed MPIs</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Clear pay plans, job descriptions and expectations, and hold people accountable to them</a:t>
            </a:r>
            <a:endParaRPr lang="en-US" sz="1600" dirty="0"/>
          </a:p>
        </p:txBody>
      </p:sp>
      <p:sp>
        <p:nvSpPr>
          <p:cNvPr id="10" name="Shape 8"/>
          <p:cNvSpPr/>
          <p:nvPr/>
        </p:nvSpPr>
        <p:spPr>
          <a:xfrm>
            <a:off x="7269480" y="1920240"/>
            <a:ext cx="54864" cy="1112520"/>
          </a:xfrm>
          <a:prstGeom prst="rect">
            <a:avLst/>
          </a:prstGeom>
          <a:solidFill>
            <a:srgbClr val="2587C5"/>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−76</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Fixed ops staff, September to September, to 1,540 (−4.7%): technicians −17, advisors −7, managers −3.</a:t>
            </a:r>
            <a:endParaRPr lang="en-US" sz="1400" dirty="0"/>
          </a:p>
        </p:txBody>
      </p:sp>
      <p:sp>
        <p:nvSpPr>
          <p:cNvPr id="13" name="Shape 11"/>
          <p:cNvSpPr/>
          <p:nvPr/>
        </p:nvSpPr>
        <p:spPr>
          <a:xfrm>
            <a:off x="7269480" y="3261360"/>
            <a:ext cx="54864" cy="1112520"/>
          </a:xfrm>
          <a:prstGeom prst="rect">
            <a:avLst/>
          </a:prstGeom>
          <a:solidFill>
            <a:srgbClr val="12A566"/>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$13,617</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Fixed gross per fixed employee a month, up $1,207. Gross grew 4.1% with 5.1% fewer people on average.</a:t>
            </a:r>
            <a:endParaRPr lang="en-US" sz="1400" dirty="0"/>
          </a:p>
        </p:txBody>
      </p:sp>
      <p:sp>
        <p:nvSpPr>
          <p:cNvPr id="16" name="Shape 14"/>
          <p:cNvSpPr/>
          <p:nvPr/>
        </p:nvSpPr>
        <p:spPr>
          <a:xfrm>
            <a:off x="7269480" y="4602480"/>
            <a:ext cx="54864" cy="1112520"/>
          </a:xfrm>
          <a:prstGeom prst="rect">
            <a:avLst/>
          </a:prstGeom>
          <a:solidFill>
            <a:srgbClr val="C2352F"/>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$28,600</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Gross an average tech's bay produces a month: 152 sold hours at $188 each. An empty or idle bay misses all of it.</a:t>
            </a:r>
            <a:endParaRPr lang="en-US" sz="1400" dirty="0"/>
          </a:p>
        </p:txBody>
      </p:sp>
      <p:sp>
        <p:nvSpPr>
          <p:cNvPr id="19" name="Shape 17"/>
          <p:cNvSpPr/>
          <p:nvPr/>
        </p:nvSpPr>
        <p:spPr>
          <a:xfrm>
            <a:off x="457200" y="6126480"/>
            <a:ext cx="11274552" cy="615696"/>
          </a:xfrm>
          <a:prstGeom prst="rect">
            <a:avLst/>
          </a:prstGeom>
          <a:solidFill>
            <a:srgbClr val="EDF4FA"/>
          </a:solidFill>
          <a:ln/>
        </p:spPr>
      </p:sp>
      <p:sp>
        <p:nvSpPr>
          <p:cNvPr id="20" name="Text 1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keep every seat filled with someone who adds hours. Being short-handed costs appointments, MPIs and sold hours.</a:t>
            </a:r>
            <a:endParaRPr lang="en-US" sz="16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Pay Plans Are Work Instructions</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Clear and easily understood</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Based on customer-pay performance: CP labor or gross per RO, hours per RO, maintenance penetration, total sales or gross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Incentivize improvement in the metrics that make the biggest difference</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Move technicians to flat rate and away from hourly: it rewards productivity and makes proficiency easy to track</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Advisor pay: target a 50/50 split of base commission and performance bonus, with about half of earning potential tied to measurable metrics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Every system is perfectly designed to get the results it gets</a:t>
            </a:r>
            <a:endParaRPr lang="en-US" sz="1800" dirty="0"/>
          </a:p>
        </p:txBody>
      </p:sp>
      <p:sp>
        <p:nvSpPr>
          <p:cNvPr id="10" name="Shape 8"/>
          <p:cNvSpPr/>
          <p:nvPr/>
        </p:nvSpPr>
        <p:spPr>
          <a:xfrm>
            <a:off x="7269480" y="1920240"/>
            <a:ext cx="54864" cy="178308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$304</a:t>
            </a:r>
            <a:endParaRPr lang="en-US" sz="3000" dirty="0"/>
          </a:p>
        </p:txBody>
      </p:sp>
      <p:sp>
        <p:nvSpPr>
          <p:cNvPr id="12" name="Text 10"/>
          <p:cNvSpPr txBox="1"/>
          <p:nvPr/>
        </p:nvSpPr>
        <p:spPr>
          <a:xfrm>
            <a:off x="7452360" y="244144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CP labor per RO, the number the plans should pay on. Up $17.</a:t>
            </a:r>
            <a:endParaRPr lang="en-US" sz="1400" dirty="0"/>
          </a:p>
        </p:txBody>
      </p:sp>
      <p:sp>
        <p:nvSpPr>
          <p:cNvPr id="13" name="Shape 11"/>
          <p:cNvSpPr/>
          <p:nvPr/>
        </p:nvSpPr>
        <p:spPr>
          <a:xfrm>
            <a:off x="7269480" y="3931920"/>
            <a:ext cx="54864" cy="1783080"/>
          </a:xfrm>
          <a:prstGeom prst="rect">
            <a:avLst/>
          </a:prstGeom>
          <a:solidFill>
            <a:srgbClr val="12A566"/>
          </a:solidFill>
          <a:ln/>
        </p:spPr>
      </p:sp>
      <p:sp>
        <p:nvSpPr>
          <p:cNvPr id="14" name="Text 12"/>
          <p:cNvSpPr txBox="1"/>
          <p:nvPr/>
        </p:nvSpPr>
        <p:spPr>
          <a:xfrm>
            <a:off x="7452360" y="388620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94.7%</a:t>
            </a:r>
            <a:endParaRPr lang="en-US" sz="3000" dirty="0"/>
          </a:p>
        </p:txBody>
      </p:sp>
      <p:sp>
        <p:nvSpPr>
          <p:cNvPr id="15" name="Text 13"/>
          <p:cNvSpPr txBox="1"/>
          <p:nvPr/>
        </p:nvSpPr>
        <p:spPr>
          <a:xfrm>
            <a:off x="7452360" y="445312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Technician proficiency, Jan-Sep: 20 of 33 stores at or above 85%. Flat-rate pay rewards what techs produce.</a:t>
            </a:r>
            <a:endParaRPr lang="en-US" sz="1400" dirty="0"/>
          </a:p>
        </p:txBody>
      </p:sp>
      <p:sp>
        <p:nvSpPr>
          <p:cNvPr id="16" name="Shape 14"/>
          <p:cNvSpPr/>
          <p:nvPr/>
        </p:nvSpPr>
        <p:spPr>
          <a:xfrm>
            <a:off x="457200" y="6126480"/>
            <a:ext cx="11274552" cy="371856"/>
          </a:xfrm>
          <a:prstGeom prst="rect">
            <a:avLst/>
          </a:prstGeom>
          <a:solidFill>
            <a:srgbClr val="EDF4FA"/>
          </a:solidFill>
          <a:ln/>
        </p:spPr>
      </p:sp>
      <p:sp>
        <p:nvSpPr>
          <p:cNvPr id="17" name="Text 1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check that every advisor and tech pay plan pays for the numbers on these slides.</a:t>
            </a:r>
            <a:endParaRPr lang="en-US" sz="16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TECHNICIAN PROFICIENCY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Technicians &amp; Stalls</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1:1 tech to stall unless you run on-demand appointments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Tech level in line with job skill: right tech, right job</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5/6 of staff on schedule at all times, Saturdays included</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90%+ MPI completion; track and report technician efficiency</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Use scoreboarding and communicate to techs where they stand</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Set clear objectives and give feedback: no one can be held to a goal they don't know. We're responsible for the knowing</a:t>
            </a:r>
            <a:endParaRPr lang="en-US" sz="18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94.7%</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Group technician proficiency (hours flagged / clocked hours). 20 of 33 stores at or above 85%.</a:t>
            </a:r>
            <a:endParaRPr lang="en-US" sz="1400" dirty="0"/>
          </a:p>
        </p:txBody>
      </p:sp>
      <p:sp>
        <p:nvSpPr>
          <p:cNvPr id="13" name="Shape 11"/>
          <p:cNvSpPr/>
          <p:nvPr/>
        </p:nvSpPr>
        <p:spPr>
          <a:xfrm>
            <a:off x="7269480" y="3261360"/>
            <a:ext cx="54864" cy="1112520"/>
          </a:xfrm>
          <a:prstGeom prst="rect">
            <a:avLst/>
          </a:prstGeom>
          <a:solidFill>
            <a:srgbClr val="C2352F"/>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262 of 583</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Counted technicians under 85%. Every store has at least one.</a:t>
            </a:r>
            <a:endParaRPr lang="en-US" sz="1400" dirty="0"/>
          </a:p>
        </p:txBody>
      </p:sp>
      <p:sp>
        <p:nvSpPr>
          <p:cNvPr id="16" name="Shape 14"/>
          <p:cNvSpPr/>
          <p:nvPr/>
        </p:nvSpPr>
        <p:spPr>
          <a:xfrm>
            <a:off x="7269480" y="4602480"/>
            <a:ext cx="54864" cy="1112520"/>
          </a:xfrm>
          <a:prstGeom prst="rect">
            <a:avLst/>
          </a:prstGeom>
          <a:solidFill>
            <a:srgbClr val="C2352F"/>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$1.65M a month</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Gross missed if each of them reached 85%: no extra hours, techs or bays.</a:t>
            </a:r>
            <a:endParaRPr lang="en-US" sz="1400" dirty="0"/>
          </a:p>
        </p:txBody>
      </p:sp>
      <p:sp>
        <p:nvSpPr>
          <p:cNvPr id="19" name="Shape 17"/>
          <p:cNvSpPr/>
          <p:nvPr/>
        </p:nvSpPr>
        <p:spPr>
          <a:xfrm>
            <a:off x="457200" y="6126480"/>
            <a:ext cx="11274552" cy="615696"/>
          </a:xfrm>
          <a:prstGeom prst="rect">
            <a:avLst/>
          </a:prstGeom>
          <a:solidFill>
            <a:srgbClr val="EDF4FA"/>
          </a:solidFill>
          <a:ln/>
        </p:spPr>
      </p:sp>
      <p:sp>
        <p:nvSpPr>
          <p:cNvPr id="20" name="Text 1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set clear goals, show every tech where they stand every week, and give feedback. The best techs in each store already prove 85% is possible.</a:t>
            </a:r>
            <a:endParaRPr lang="en-US" sz="16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Before You Leave</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THE MONEY IS</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What did you learn today?</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Give us one or two things you are going to act on and implement</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Pick the one number you will check every day</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Call a store that leads where you trail: ask what they do differently</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Reach this room in FMGSVCMGR</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We will review your commitments at the next meeting</a:t>
            </a:r>
            <a:endParaRPr lang="en-US" sz="18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0.1 hr per RO</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Worth $6,602,564 a year in labor and parts gross.</a:t>
            </a:r>
            <a:endParaRPr lang="en-US" sz="1400" dirty="0"/>
          </a:p>
        </p:txBody>
      </p:sp>
      <p:sp>
        <p:nvSpPr>
          <p:cNvPr id="13" name="Shape 11"/>
          <p:cNvSpPr/>
          <p:nvPr/>
        </p:nvSpPr>
        <p:spPr>
          <a:xfrm>
            <a:off x="7269480" y="3261360"/>
            <a:ext cx="54864" cy="1112520"/>
          </a:xfrm>
          <a:prstGeom prst="rect">
            <a:avLst/>
          </a:prstGeom>
          <a:solidFill>
            <a:srgbClr val="C2352F"/>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$4.9M a year</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Every store at all four opcode benchmarks: $4,895,199 in labor and parts gross.</a:t>
            </a:r>
            <a:endParaRPr lang="en-US" sz="1400" dirty="0"/>
          </a:p>
        </p:txBody>
      </p:sp>
      <p:sp>
        <p:nvSpPr>
          <p:cNvPr id="16" name="Shape 14"/>
          <p:cNvSpPr/>
          <p:nvPr/>
        </p:nvSpPr>
        <p:spPr>
          <a:xfrm>
            <a:off x="7269480" y="4602480"/>
            <a:ext cx="54864" cy="1112520"/>
          </a:xfrm>
          <a:prstGeom prst="rect">
            <a:avLst/>
          </a:prstGeom>
          <a:solidFill>
            <a:srgbClr val="C2352F"/>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$1.65M a month</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Technician proficiency, lifting each tech under 85% to 85%.</a:t>
            </a:r>
            <a:endParaRPr lang="en-US" sz="1400" dirty="0"/>
          </a:p>
        </p:txBody>
      </p:sp>
      <p:sp>
        <p:nvSpPr>
          <p:cNvPr id="19" name="Shape 17"/>
          <p:cNvSpPr/>
          <p:nvPr/>
        </p:nvSpPr>
        <p:spPr>
          <a:xfrm>
            <a:off x="457200" y="6126480"/>
            <a:ext cx="11274552" cy="364236"/>
          </a:xfrm>
          <a:prstGeom prst="rect">
            <a:avLst/>
          </a:prstGeom>
          <a:solidFill>
            <a:srgbClr val="E6F6EE"/>
          </a:solidFill>
          <a:ln/>
        </p:spPr>
      </p:sp>
      <p:sp>
        <p:nvSpPr>
          <p:cNvPr id="20" name="Text 18"/>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7A4A"/>
                </a:solidFill>
                <a:latin typeface="Inter" pitchFamily="34" charset="0"/>
                <a:ea typeface="Inter" pitchFamily="34" charset="-122"/>
                <a:cs typeface="Inter" pitchFamily="34" charset="-120"/>
              </a:rPr>
              <a:t>The ask: name your one or two commitments out loud, with a number attached, before you leave the room.</a:t>
            </a:r>
            <a:endParaRPr lang="en-US" sz="15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Pay Yourself First</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Internal work is protected gross generated on our own vehicles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Sales prices a car off what it costs, within reason. A fair internal charge is part of that cost</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Service and parts keep far more of every gross dollar than vehicle sales does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Every gross dollar in sales carries commissions, pay and expense that fixed ops doesn't</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Price internal labor and parts like customer pay: pay yourself first</a:t>
            </a:r>
            <a:endParaRPr lang="en-US" sz="18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27¢</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Fixed ops keeps of every gross dollar after its own expenses: $50.4M of $188.8M.</a:t>
            </a:r>
            <a:endParaRPr lang="en-US" sz="1400" dirty="0"/>
          </a:p>
        </p:txBody>
      </p:sp>
      <p:sp>
        <p:nvSpPr>
          <p:cNvPr id="13" name="Shape 11"/>
          <p:cNvSpPr/>
          <p:nvPr/>
        </p:nvSpPr>
        <p:spPr>
          <a:xfrm>
            <a:off x="7269480" y="3261360"/>
            <a:ext cx="54864" cy="1112520"/>
          </a:xfrm>
          <a:prstGeom prst="rect">
            <a:avLst/>
          </a:prstGeom>
          <a:solidFill>
            <a:srgbClr val="2587C5"/>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7¢</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New, used and F&amp;I keep of every gross dollar: $12.9M of $179.1M, before other income such as doc fees, packs and factory money.</a:t>
            </a:r>
            <a:endParaRPr lang="en-US" sz="1400" dirty="0"/>
          </a:p>
        </p:txBody>
      </p:sp>
      <p:sp>
        <p:nvSpPr>
          <p:cNvPr id="16" name="Shape 14"/>
          <p:cNvSpPr/>
          <p:nvPr/>
        </p:nvSpPr>
        <p:spPr>
          <a:xfrm>
            <a:off x="7269480" y="4602480"/>
            <a:ext cx="54864" cy="1112520"/>
          </a:xfrm>
          <a:prstGeom prst="rect">
            <a:avLst/>
          </a:prstGeom>
          <a:solidFill>
            <a:srgbClr val="2587C5"/>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45¢ vs 62¢</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Of every gross dollar spent on people and commissions: fixed ops vs vehicle sales.</a:t>
            </a:r>
            <a:endParaRPr lang="en-US" sz="1400" dirty="0"/>
          </a:p>
        </p:txBody>
      </p:sp>
      <p:sp>
        <p:nvSpPr>
          <p:cNvPr id="19" name="Shape 17"/>
          <p:cNvSpPr/>
          <p:nvPr/>
        </p:nvSpPr>
        <p:spPr>
          <a:xfrm>
            <a:off x="457200" y="6126480"/>
            <a:ext cx="11274552" cy="615696"/>
          </a:xfrm>
          <a:prstGeom prst="rect">
            <a:avLst/>
          </a:prstGeom>
          <a:solidFill>
            <a:srgbClr val="EDF4FA"/>
          </a:solidFill>
          <a:ln/>
        </p:spPr>
      </p:sp>
      <p:sp>
        <p:nvSpPr>
          <p:cNvPr id="20" name="Text 1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hold internal labor and parts margins to customer pay. Every internal dollar is gross in the department that keeps the most of it.</a:t>
            </a:r>
            <a:endParaRPr lang="en-US" sz="16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Inter"/>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Inter"/>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2026-10-29T16:32:26Z</dcterms:created>
  <dcterms:modified xsi:type="dcterms:W3CDTF">2026-10-29T16:32:26Z</dcterms:modified>
</cp:coreProperties>
</file>