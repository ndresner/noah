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month. Same-store, INEOS excluded (opened 2026). GMC Prescott body shop labor types excluded. Segment averages from segment totals. Luxury = Lexus, Lincoln, Cadillac, Volvo, Audi Reno, Audi Henderson, LR Reno, LR LV, LR Henderson; Acura counted as non-luxury. Option A: one slide, two groups.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month. Same-store, INEOS excluded (opened 2026). GMC Prescott body shop labor types excluded. Segment averages from segment totals. Luxury = Lexus, Lincoln, Cadillac, Volvo, Audi Reno, Audi Henderson, LR Reno, LR LV, LR Henderson; Acura counted as non-luxury. Option B: one slide per segment; green at or above the luxury average.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month. Same-store, INEOS excluded (opened 2026). GMC Prescott body shop labor types excluded. Segment averages from segment totals. Luxury = Lexus, Lincoln, Cadillac, Volvo, Audi Reno, Audi Henderson, LR Reno, LR LV, LR Henderson; Acura counted as non-luxury. Option B: one slide per segment; green at or above the non-luxury average.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REVIEW · OPTION A: GROUPED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$162.42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59536" y="184708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segment ranked on its own. Navy line = the segment average; green at or above it.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2176272"/>
            <a:ext cx="530352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LUXURY · AVERAGE $217.79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8368" y="2366264"/>
            <a:ext cx="5303520" cy="1828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238455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14984" y="238455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008376" y="2436622"/>
            <a:ext cx="1457852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Shape 15"/>
          <p:cNvSpPr/>
          <p:nvPr/>
        </p:nvSpPr>
        <p:spPr>
          <a:xfrm>
            <a:off x="4189582" y="240538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38455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$266.32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59283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59283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644902"/>
            <a:ext cx="1286740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Shape 20"/>
          <p:cNvSpPr/>
          <p:nvPr/>
        </p:nvSpPr>
        <p:spPr>
          <a:xfrm>
            <a:off x="4189582" y="261366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754880" y="259283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$235.07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80111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80111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008376" y="2853182"/>
            <a:ext cx="1283929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89582" y="282194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754880" y="280111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$234.55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300939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14984" y="300939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008376" y="3061462"/>
            <a:ext cx="1279771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2" name="Shape 30"/>
          <p:cNvSpPr/>
          <p:nvPr/>
        </p:nvSpPr>
        <p:spPr>
          <a:xfrm>
            <a:off x="4189582" y="303022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54880" y="300939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$233.79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658368" y="321767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1014984" y="321767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008376" y="3269742"/>
            <a:ext cx="1277948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7" name="Shape 35"/>
          <p:cNvSpPr/>
          <p:nvPr/>
        </p:nvSpPr>
        <p:spPr>
          <a:xfrm>
            <a:off x="4189582" y="323850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1767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$233.46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42595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42595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478022"/>
            <a:ext cx="1215860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Shape 40"/>
          <p:cNvSpPr/>
          <p:nvPr/>
        </p:nvSpPr>
        <p:spPr>
          <a:xfrm>
            <a:off x="4189582" y="344678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754880" y="342595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$222.12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363423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014984" y="363423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008376" y="3686302"/>
            <a:ext cx="1058054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7" name="Shape 45"/>
          <p:cNvSpPr/>
          <p:nvPr/>
        </p:nvSpPr>
        <p:spPr>
          <a:xfrm>
            <a:off x="4189582" y="365506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754880" y="363423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$193.29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658368" y="384251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1014984" y="384251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3008376" y="3894582"/>
            <a:ext cx="930641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89582" y="386334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754880" y="384251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$170.01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405079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405079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3008376" y="4102862"/>
            <a:ext cx="917631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89582" y="407162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05079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$167.64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259072"/>
            <a:ext cx="530352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NON-LUXURY · AVERAGE $151.32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658368" y="4449064"/>
            <a:ext cx="5303520" cy="1828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658368" y="446735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46735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519422"/>
            <a:ext cx="1658471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Shape 62"/>
          <p:cNvSpPr/>
          <p:nvPr/>
        </p:nvSpPr>
        <p:spPr>
          <a:xfrm>
            <a:off x="4189582" y="448818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4754880" y="446735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$210.50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67563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467563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4727702"/>
            <a:ext cx="1385836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Shape 67"/>
          <p:cNvSpPr/>
          <p:nvPr/>
        </p:nvSpPr>
        <p:spPr>
          <a:xfrm>
            <a:off x="4189582" y="469646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467563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$175.90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488391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488391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4935982"/>
            <a:ext cx="1311361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Shape 72"/>
          <p:cNvSpPr/>
          <p:nvPr/>
        </p:nvSpPr>
        <p:spPr>
          <a:xfrm>
            <a:off x="4189582" y="490474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4754880" y="488391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$166.44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09219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09219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144262"/>
            <a:ext cx="1289251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9" name="Shape 77"/>
          <p:cNvSpPr/>
          <p:nvPr/>
        </p:nvSpPr>
        <p:spPr>
          <a:xfrm>
            <a:off x="4189582" y="511302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4754880" y="509219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$163.64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30047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1014984" y="530047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3008376" y="5352542"/>
            <a:ext cx="1283069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Shape 82"/>
          <p:cNvSpPr/>
          <p:nvPr/>
        </p:nvSpPr>
        <p:spPr>
          <a:xfrm>
            <a:off x="4189582" y="532130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4754880" y="530047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$162.85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58368" y="550875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1014984" y="550875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3008376" y="5560822"/>
            <a:ext cx="1265801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Shape 87"/>
          <p:cNvSpPr/>
          <p:nvPr/>
        </p:nvSpPr>
        <p:spPr>
          <a:xfrm>
            <a:off x="4189582" y="552958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4754880" y="550875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$160.66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71703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71703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008376" y="5769102"/>
            <a:ext cx="1257200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Shape 92"/>
          <p:cNvSpPr/>
          <p:nvPr/>
        </p:nvSpPr>
        <p:spPr>
          <a:xfrm>
            <a:off x="4189582" y="573786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4754880" y="571703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$159.57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17627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17627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2228342"/>
            <a:ext cx="1255672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9" name="Shape 97"/>
          <p:cNvSpPr/>
          <p:nvPr/>
        </p:nvSpPr>
        <p:spPr>
          <a:xfrm>
            <a:off x="9739990" y="219710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10305288" y="217627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$159.38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238455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238455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2436622"/>
            <a:ext cx="1239620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9739990" y="240538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10305288" y="238455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$157.34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259283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259283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2644902"/>
            <a:ext cx="1230530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9739990" y="261366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259283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$156.18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280111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280111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2853182"/>
            <a:ext cx="1217330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9739990" y="282194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10305288" y="280111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$154.51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300939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300939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3061462"/>
            <a:ext cx="1207702" cy="10414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739990" y="303022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10305288" y="300939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$153.29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321767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321767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3269742"/>
            <a:ext cx="1175735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9739990" y="323850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10305288" y="321767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$149.23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42595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42595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3478022"/>
            <a:ext cx="1167864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739990" y="344678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342595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$148.23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363423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363423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3686302"/>
            <a:ext cx="1138434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9739990" y="365506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10305288" y="363423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$144.50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84251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384251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3894582"/>
            <a:ext cx="1133676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9739990" y="386334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10305288" y="384251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$143.89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405079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405079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4102862"/>
            <a:ext cx="1127091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739990" y="407162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10305288" y="405079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$143.06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425907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425907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4311142"/>
            <a:ext cx="1125055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Shape 147"/>
          <p:cNvSpPr/>
          <p:nvPr/>
        </p:nvSpPr>
        <p:spPr>
          <a:xfrm>
            <a:off x="9739990" y="427990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10305288" y="425907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$142.80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208776" y="446735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52" name="Text 150"/>
          <p:cNvSpPr txBox="1"/>
          <p:nvPr/>
        </p:nvSpPr>
        <p:spPr>
          <a:xfrm>
            <a:off x="6565392" y="446735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53" name="Shape 151"/>
          <p:cNvSpPr/>
          <p:nvPr/>
        </p:nvSpPr>
        <p:spPr>
          <a:xfrm>
            <a:off x="8558784" y="4519422"/>
            <a:ext cx="1111707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4" name="Shape 152"/>
          <p:cNvSpPr/>
          <p:nvPr/>
        </p:nvSpPr>
        <p:spPr>
          <a:xfrm>
            <a:off x="9739990" y="448818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10305288" y="446735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$141.10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467563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467563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558784" y="4727702"/>
            <a:ext cx="1096152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9" name="Shape 157"/>
          <p:cNvSpPr/>
          <p:nvPr/>
        </p:nvSpPr>
        <p:spPr>
          <a:xfrm>
            <a:off x="9739990" y="469646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10305288" y="467563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$139.13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488391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488391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558784" y="4935982"/>
            <a:ext cx="1091062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4" name="Shape 162"/>
          <p:cNvSpPr/>
          <p:nvPr/>
        </p:nvSpPr>
        <p:spPr>
          <a:xfrm>
            <a:off x="9739990" y="490474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10305288" y="488391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$138.48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208776" y="509219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67" name="Text 165"/>
          <p:cNvSpPr txBox="1"/>
          <p:nvPr/>
        </p:nvSpPr>
        <p:spPr>
          <a:xfrm>
            <a:off x="6565392" y="509219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68" name="Shape 166"/>
          <p:cNvSpPr/>
          <p:nvPr/>
        </p:nvSpPr>
        <p:spPr>
          <a:xfrm>
            <a:off x="8558784" y="5144262"/>
            <a:ext cx="1064841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9" name="Shape 167"/>
          <p:cNvSpPr/>
          <p:nvPr/>
        </p:nvSpPr>
        <p:spPr>
          <a:xfrm>
            <a:off x="9739990" y="511302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10305288" y="509219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$135.15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208776" y="530047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72" name="Text 170"/>
          <p:cNvSpPr txBox="1"/>
          <p:nvPr/>
        </p:nvSpPr>
        <p:spPr>
          <a:xfrm>
            <a:off x="6565392" y="530047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73" name="Shape 171"/>
          <p:cNvSpPr/>
          <p:nvPr/>
        </p:nvSpPr>
        <p:spPr>
          <a:xfrm>
            <a:off x="8558784" y="5352542"/>
            <a:ext cx="1027823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4" name="Shape 172"/>
          <p:cNvSpPr/>
          <p:nvPr/>
        </p:nvSpPr>
        <p:spPr>
          <a:xfrm>
            <a:off x="9739990" y="532130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10305288" y="530047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$130.46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6208776" y="5508752"/>
            <a:ext cx="310896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77" name="Text 175"/>
          <p:cNvSpPr txBox="1"/>
          <p:nvPr/>
        </p:nvSpPr>
        <p:spPr>
          <a:xfrm>
            <a:off x="6565392" y="5508752"/>
            <a:ext cx="19202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78" name="Shape 176"/>
          <p:cNvSpPr/>
          <p:nvPr/>
        </p:nvSpPr>
        <p:spPr>
          <a:xfrm>
            <a:off x="8558784" y="5560822"/>
            <a:ext cx="993409" cy="10414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9" name="Shape 177"/>
          <p:cNvSpPr/>
          <p:nvPr/>
        </p:nvSpPr>
        <p:spPr>
          <a:xfrm>
            <a:off x="9739990" y="5529580"/>
            <a:ext cx="21946" cy="166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0" name="Text 178"/>
          <p:cNvSpPr txBox="1"/>
          <p:nvPr/>
        </p:nvSpPr>
        <p:spPr>
          <a:xfrm>
            <a:off x="10305288" y="5508752"/>
            <a:ext cx="114300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$126.09</a:t>
            </a:r>
            <a:endParaRPr lang="en-US" sz="1200" dirty="0"/>
          </a:p>
        </p:txBody>
      </p:sp>
      <p:sp>
        <p:nvSpPr>
          <p:cNvPr id="181" name="Shape 179"/>
          <p:cNvSpPr/>
          <p:nvPr/>
        </p:nvSpPr>
        <p:spPr>
          <a:xfrm>
            <a:off x="4032696" y="2176272"/>
            <a:ext cx="14630" cy="3749040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9583104" y="2176272"/>
            <a:ext cx="14630" cy="3749040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085332" y="2176272"/>
            <a:ext cx="10973" cy="37490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4" name="Shape 182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5" name="Text 183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9 luxury stores beat $217.79 and 12 of 24 others beat $151.32. Audi Henderson leads luxury, Acura non-luxury.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REVIEW · OPTION B: LUXURY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 - Luxury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 · LUXURY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$217.79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050999"/>
            <a:ext cx="1691640" cy="40782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$266.32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662733"/>
            <a:ext cx="310896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662733"/>
            <a:ext cx="1920240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866644"/>
            <a:ext cx="1493088" cy="40782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662733"/>
            <a:ext cx="1143000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$235.07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3478378"/>
            <a:ext cx="310896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3478378"/>
            <a:ext cx="1920240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3682289"/>
            <a:ext cx="1489826" cy="40782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3478378"/>
            <a:ext cx="1143000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$234.55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4294022"/>
            <a:ext cx="310896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4294022"/>
            <a:ext cx="1920240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4497934"/>
            <a:ext cx="1485001" cy="40782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4294022"/>
            <a:ext cx="1143000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$233.79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5109667"/>
            <a:ext cx="310896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5109667"/>
            <a:ext cx="1920240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5313578"/>
            <a:ext cx="1482885" cy="40782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5109667"/>
            <a:ext cx="1143000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$233.46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208776" y="1847088"/>
            <a:ext cx="310896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565392" y="1847088"/>
            <a:ext cx="1920240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558784" y="2050999"/>
            <a:ext cx="1410841" cy="40782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305288" y="1847088"/>
            <a:ext cx="1143000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$222.12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208776" y="2662733"/>
            <a:ext cx="310896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65392" y="2662733"/>
            <a:ext cx="1920240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558784" y="2866644"/>
            <a:ext cx="1227728" cy="40782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305288" y="2662733"/>
            <a:ext cx="1143000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$193.29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208776" y="3478378"/>
            <a:ext cx="310896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565392" y="3478378"/>
            <a:ext cx="1920240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558784" y="3682289"/>
            <a:ext cx="1079883" cy="40782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10305288" y="3478378"/>
            <a:ext cx="1143000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$170.01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208776" y="4294022"/>
            <a:ext cx="310896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565392" y="4294022"/>
            <a:ext cx="1920240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558784" y="4497934"/>
            <a:ext cx="1064787" cy="40782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10305288" y="4294022"/>
            <a:ext cx="1143000" cy="81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$167.64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4384423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48" name="Shape 46"/>
          <p:cNvSpPr/>
          <p:nvPr/>
        </p:nvSpPr>
        <p:spPr>
          <a:xfrm>
            <a:off x="9934831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49" name="Shape 47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50" name="Shape 48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9 luxury stores at or above the $217.79 luxury average, led by Audi Henderson at $266.32.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REVIEW · OPTION B: NON-LUXURY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 - Non-Luxury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812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 · NON-LUXURY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5650" y="1335024"/>
            <a:ext cx="47510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$151.32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32051"/>
            <a:ext cx="1691640" cy="16992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$210.50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186940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186940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271903"/>
            <a:ext cx="1413553" cy="16992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186940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$175.90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526792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526792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611755"/>
            <a:ext cx="1337588" cy="16992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526792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$166.44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866644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866644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951607"/>
            <a:ext cx="1315036" cy="16992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866644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$163.64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3206496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3206496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3291459"/>
            <a:ext cx="1308730" cy="16992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3206496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$162.85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546348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546348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631311"/>
            <a:ext cx="1291117" cy="16992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546348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$160.66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886200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886200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971163"/>
            <a:ext cx="1282344" cy="16992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886200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$159.57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4226052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4226052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4311015"/>
            <a:ext cx="1280786" cy="16992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4226052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$159.38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4565904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4565904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4650867"/>
            <a:ext cx="1264413" cy="16992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4565904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$157.34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905756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905756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990719"/>
            <a:ext cx="1255140" cy="16992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905756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$156.18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5245608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5245608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5330571"/>
            <a:ext cx="1241677" cy="16992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5245608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$154.51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5585460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5585460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5670423"/>
            <a:ext cx="1231856" cy="16992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5585460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$153.29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208776" y="1847088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6565392" y="1847088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8558784" y="1932051"/>
            <a:ext cx="1199250" cy="1699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10305288" y="1847088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$149.23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208776" y="2186940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6565392" y="2186940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8558784" y="2271903"/>
            <a:ext cx="1191222" cy="1699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10305288" y="2186940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$148.23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208776" y="2526792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6565392" y="2526792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8558784" y="2611755"/>
            <a:ext cx="1161202" cy="1699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10305288" y="2526792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$144.50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208776" y="2866644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6565392" y="2866644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8558784" y="2951607"/>
            <a:ext cx="1156349" cy="1699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10305288" y="2866644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$143.89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208776" y="3206496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65392" y="3206496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8558784" y="3291459"/>
            <a:ext cx="1149633" cy="1699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10305288" y="3206496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$143.06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3546348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3546348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3631311"/>
            <a:ext cx="1147556" cy="1699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3546348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$142.80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3886200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3886200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3971163"/>
            <a:ext cx="1133941" cy="1699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3886200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$141.10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4226052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4226052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4311015"/>
            <a:ext cx="1118075" cy="1699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4226052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$139.13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4565904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4565904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4650867"/>
            <a:ext cx="1112883" cy="1699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4565904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$138.48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4905756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4905756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4990719"/>
            <a:ext cx="1086138" cy="1699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4905756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$135.15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5245608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5245608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5330571"/>
            <a:ext cx="1048379" cy="1699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5245608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$130.46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5585460"/>
            <a:ext cx="310896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5585460"/>
            <a:ext cx="19202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5670423"/>
            <a:ext cx="1013277" cy="1699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5585460"/>
            <a:ext cx="114300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$126.09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4217084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9767492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of 24 non-luxury stores at or above the $151.32 non-luxury average, led by Acura at $210.50.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2026-10-23T18:49:49Z</dcterms:created>
  <dcterms:modified xsi:type="dcterms:W3CDTF">2026-10-23T18:49:49Z</dcterms:modified>
</cp:coreProperties>
</file>