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month. Same-store, INEOS excluded (opened 2026). GMC Prescott body shop labor types excluded. Segment averages from segment totals. Luxury = Lexus, Lincoln, Cadillac, Volvo, Audi Reno, Audi Henderson, LR Reno, LR LV, LR Henderson; Acura counted as non-luxury. Option A: one slide, two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month. Same-store, INEOS excluded (opened 2026). GMC Prescott body shop labor types excluded. Segment averages from segment totals. Luxury = Lexus, Lincoln, Cadillac, Volvo, Audi Reno, Audi Henderson, LR Reno, LR LV, LR Henderson; Acura counted as non-luxury. Option A without the average line (Noah, Oct 23): bars still drawn against each segment average, colour shows above or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month. Same-store, INEOS excluded (opened 2026). GMC Prescott body shop labor types excluded. Segment averages from segment totals. Luxury = Lexus, Lincoln, Cadillac, Volvo, Audi Reno, Audi Henderson, LR Reno, LR LV, LR Henderson; Acura counted as non-luxury. Option B: one slide per segment; green at or above the luxury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month. Same-store, INEOS excluded (opened 2026). GMC Prescott body shop labor types excluded. Segment averages from segment totals. Luxury = Lexus, Lincoln, Cadillac, Volvo, Audi Reno, Audi Henderson, LR Reno, LR LV, LR Henderson; Acura counted as non-luxury. Option B: one slide per segment; green at or above the non-luxury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REVIEW · OPTION A: GROUPED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1847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segment ranked on its own. Navy line = the segment average; green at or above it.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176272"/>
            <a:ext cx="530352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· AVERAGE $217.79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366264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3845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23845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08376" y="2436622"/>
            <a:ext cx="145785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Shape 15"/>
          <p:cNvSpPr/>
          <p:nvPr/>
        </p:nvSpPr>
        <p:spPr>
          <a:xfrm>
            <a:off x="4189582" y="24053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3845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$266.32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5928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5928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644902"/>
            <a:ext cx="128674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Shape 20"/>
          <p:cNvSpPr/>
          <p:nvPr/>
        </p:nvSpPr>
        <p:spPr>
          <a:xfrm>
            <a:off x="4189582" y="26136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754880" y="25928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$235.07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8011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8011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008376" y="2853182"/>
            <a:ext cx="1283929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89582" y="28219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54880" y="28011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0093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14984" y="30093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008376" y="3061462"/>
            <a:ext cx="127977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Shape 30"/>
          <p:cNvSpPr/>
          <p:nvPr/>
        </p:nvSpPr>
        <p:spPr>
          <a:xfrm>
            <a:off x="4189582" y="30302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54880" y="30093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$233.79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2176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2176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08376" y="3269742"/>
            <a:ext cx="1277948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89582" y="32385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176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$233.46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4259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4259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478022"/>
            <a:ext cx="121586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Shape 40"/>
          <p:cNvSpPr/>
          <p:nvPr/>
        </p:nvSpPr>
        <p:spPr>
          <a:xfrm>
            <a:off x="4189582" y="34467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54880" y="34259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$222.12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6342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6342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008376" y="3686302"/>
            <a:ext cx="105805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Shape 45"/>
          <p:cNvSpPr/>
          <p:nvPr/>
        </p:nvSpPr>
        <p:spPr>
          <a:xfrm>
            <a:off x="4189582" y="36550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754880" y="36342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$193.29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8425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8425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008376" y="3894582"/>
            <a:ext cx="93064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89582" y="38633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754880" y="38425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$170.01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0507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0507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008376" y="4102862"/>
            <a:ext cx="91763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89582" y="40716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0507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$167.64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259072"/>
            <a:ext cx="530352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NON-LUXURY · AVERAGE $151.32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58368" y="4449064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58368" y="44673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4673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519422"/>
            <a:ext cx="165847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Shape 62"/>
          <p:cNvSpPr/>
          <p:nvPr/>
        </p:nvSpPr>
        <p:spPr>
          <a:xfrm>
            <a:off x="4189582" y="44881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754880" y="44673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$210.50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6756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6756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727702"/>
            <a:ext cx="1385836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Shape 67"/>
          <p:cNvSpPr/>
          <p:nvPr/>
        </p:nvSpPr>
        <p:spPr>
          <a:xfrm>
            <a:off x="4189582" y="46964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46756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$175.90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839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839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935982"/>
            <a:ext cx="131136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Shape 72"/>
          <p:cNvSpPr/>
          <p:nvPr/>
        </p:nvSpPr>
        <p:spPr>
          <a:xfrm>
            <a:off x="4189582" y="49047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754880" y="48839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$166.44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921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921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144262"/>
            <a:ext cx="128925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Shape 77"/>
          <p:cNvSpPr/>
          <p:nvPr/>
        </p:nvSpPr>
        <p:spPr>
          <a:xfrm>
            <a:off x="4189582" y="51130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754880" y="50921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$163.64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3004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3004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52542"/>
            <a:ext cx="1283069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Shape 82"/>
          <p:cNvSpPr/>
          <p:nvPr/>
        </p:nvSpPr>
        <p:spPr>
          <a:xfrm>
            <a:off x="4189582" y="53213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754880" y="53004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$162.85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5087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5087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60822"/>
            <a:ext cx="126580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Shape 87"/>
          <p:cNvSpPr/>
          <p:nvPr/>
        </p:nvSpPr>
        <p:spPr>
          <a:xfrm>
            <a:off x="4189582" y="55295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754880" y="55087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$160.66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170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170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69102"/>
            <a:ext cx="125720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Shape 92"/>
          <p:cNvSpPr/>
          <p:nvPr/>
        </p:nvSpPr>
        <p:spPr>
          <a:xfrm>
            <a:off x="4189582" y="57378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754880" y="57170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$159.57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762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762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228342"/>
            <a:ext cx="125567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Shape 97"/>
          <p:cNvSpPr/>
          <p:nvPr/>
        </p:nvSpPr>
        <p:spPr>
          <a:xfrm>
            <a:off x="9739990" y="21971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305288" y="21762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$159.38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845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845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36622"/>
            <a:ext cx="123962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739990" y="24053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305288" y="23845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$157.34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928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928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44902"/>
            <a:ext cx="123053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39990" y="26136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25928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$156.18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8011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8011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53182"/>
            <a:ext cx="121733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739990" y="28219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305288" y="28011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$154.51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093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093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61462"/>
            <a:ext cx="120770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739990" y="30302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10305288" y="30093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$153.29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176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176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69742"/>
            <a:ext cx="1175735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739990" y="32385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305288" y="32176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$149.23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259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259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478022"/>
            <a:ext cx="116786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739990" y="34467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34259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$148.23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342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342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686302"/>
            <a:ext cx="113843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739990" y="36550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305288" y="36342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$144.50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8425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8425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894582"/>
            <a:ext cx="1133676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739990" y="38633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10305288" y="38425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$143.89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0507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0507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02862"/>
            <a:ext cx="112709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39990" y="40716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10305288" y="40507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$143.06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2590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2590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311142"/>
            <a:ext cx="1125055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39990" y="42799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10305288" y="42590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$142.80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4673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4673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519422"/>
            <a:ext cx="1111707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739990" y="44881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10305288" y="44673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$141.10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6756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6756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727702"/>
            <a:ext cx="1096152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739990" y="46964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305288" y="46756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$139.13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839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839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4935982"/>
            <a:ext cx="1091062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Shape 162"/>
          <p:cNvSpPr/>
          <p:nvPr/>
        </p:nvSpPr>
        <p:spPr>
          <a:xfrm>
            <a:off x="9739990" y="49047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10305288" y="48839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$138.48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0921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0921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144262"/>
            <a:ext cx="106484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739990" y="51130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10305288" y="50921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$135.15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3004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3004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352542"/>
            <a:ext cx="1027823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Shape 172"/>
          <p:cNvSpPr/>
          <p:nvPr/>
        </p:nvSpPr>
        <p:spPr>
          <a:xfrm>
            <a:off x="9739990" y="53213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10305288" y="53004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$130.46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208776" y="55087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77" name="Text 175"/>
          <p:cNvSpPr txBox="1"/>
          <p:nvPr/>
        </p:nvSpPr>
        <p:spPr>
          <a:xfrm>
            <a:off x="6565392" y="55087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8558784" y="5560822"/>
            <a:ext cx="993409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9" name="Shape 177"/>
          <p:cNvSpPr/>
          <p:nvPr/>
        </p:nvSpPr>
        <p:spPr>
          <a:xfrm>
            <a:off x="9739990" y="55295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10305288" y="55087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1200" dirty="0"/>
          </a:p>
        </p:txBody>
      </p:sp>
      <p:sp>
        <p:nvSpPr>
          <p:cNvPr id="181" name="Shape 179"/>
          <p:cNvSpPr/>
          <p:nvPr/>
        </p:nvSpPr>
        <p:spPr>
          <a:xfrm>
            <a:off x="6085332" y="2176272"/>
            <a:ext cx="10973" cy="37490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 luxury stores beat $217.79 and 12 of 24 others beat $151.32. Audi Henderson leads luxury, Acura non-luxury.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REVIEW · OPTION A: GROUPED, NO AVERAGE LINE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1847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segment ranked on its own. Green at or above its segment average, red below.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176272"/>
            <a:ext cx="530352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· AVERAGE $217.79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366264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3845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23845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08376" y="2436622"/>
            <a:ext cx="145785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54880" y="23845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$266.32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5928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5928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008376" y="2644902"/>
            <a:ext cx="128674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54880" y="25928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$235.07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8011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8011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08376" y="2853182"/>
            <a:ext cx="1283929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54880" y="28011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093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30093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61462"/>
            <a:ext cx="127977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54880" y="30093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$233.79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32176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32176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008376" y="3269742"/>
            <a:ext cx="1277948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54880" y="32176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$233.46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4259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4259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08376" y="3478022"/>
            <a:ext cx="121586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54880" y="34259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$222.12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6342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36342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008376" y="3686302"/>
            <a:ext cx="105805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754880" y="36342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$193.29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8425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8425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008376" y="3894582"/>
            <a:ext cx="93064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754880" y="38425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$170.01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507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507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102862"/>
            <a:ext cx="91763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54880" y="40507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$167.64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259072"/>
            <a:ext cx="530352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NON-LUXURY · AVERAGE $151.32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58368" y="4449064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44673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673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008376" y="4519422"/>
            <a:ext cx="165847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54880" y="44673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$210.50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756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756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727702"/>
            <a:ext cx="1385836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754880" y="46756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$175.90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8839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8839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008376" y="4935982"/>
            <a:ext cx="131136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754880" y="48839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$166.44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0921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0921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3008376" y="5144262"/>
            <a:ext cx="128925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754880" y="50921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$163.64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3004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3004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008376" y="5352542"/>
            <a:ext cx="1283069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754880" y="53004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$162.85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087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087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3008376" y="5560822"/>
            <a:ext cx="126580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754880" y="55087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$160.66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7170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7170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69102"/>
            <a:ext cx="125720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4754880" y="57170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$159.57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21762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21762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8558784" y="2228342"/>
            <a:ext cx="125567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305288" y="21762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$159.38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3845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3845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558784" y="2436622"/>
            <a:ext cx="123962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305288" y="23845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$157.34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5928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5928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8558784" y="2644902"/>
            <a:ext cx="123053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305288" y="25928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$156.18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8011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8011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8558784" y="2853182"/>
            <a:ext cx="121733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305288" y="28011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$154.51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30093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30093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61462"/>
            <a:ext cx="120770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305288" y="30093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$153.29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2176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2176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8558784" y="3269742"/>
            <a:ext cx="1175735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305288" y="32176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$149.23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259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259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8558784" y="3478022"/>
            <a:ext cx="116786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305288" y="34259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$148.23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342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342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558784" y="3686302"/>
            <a:ext cx="113843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305288" y="36342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$144.50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8425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8425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558784" y="3894582"/>
            <a:ext cx="1133676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305288" y="38425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$143.89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507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507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102862"/>
            <a:ext cx="112709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305288" y="40507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$143.06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2590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2590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558784" y="4311142"/>
            <a:ext cx="1125055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305288" y="42590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$142.80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4673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4673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8558784" y="4519422"/>
            <a:ext cx="1111707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305288" y="44673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$141.10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6756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6756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30" name="Shape 128"/>
          <p:cNvSpPr/>
          <p:nvPr/>
        </p:nvSpPr>
        <p:spPr>
          <a:xfrm>
            <a:off x="8558784" y="4727702"/>
            <a:ext cx="1096152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305288" y="46756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$139.13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48839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48839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558784" y="4935982"/>
            <a:ext cx="1091062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305288" y="48839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$138.48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0921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0921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44262"/>
            <a:ext cx="106484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305288" y="50921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$135.15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53004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53004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558784" y="5352542"/>
            <a:ext cx="1027823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10305288" y="53004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$130.46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55087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55087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558784" y="5560822"/>
            <a:ext cx="993409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10305288" y="55087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6085332" y="2176272"/>
            <a:ext cx="10973" cy="37490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 luxury stores beat $217.79 and 12 of 24 others beat $151.32. Audi Henderson leads luxury, Acura non-luxury.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REVIEW · OPTION B: LUXURY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- Luxury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· LUXURY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$217.79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050999"/>
            <a:ext cx="1691640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$266.32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662733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662733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866644"/>
            <a:ext cx="1493088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662733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$235.07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478378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3478378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3682289"/>
            <a:ext cx="1489826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3478378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4294022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4294022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4497934"/>
            <a:ext cx="1485001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4294022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$233.79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5109667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5109667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5313578"/>
            <a:ext cx="1482885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5109667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08776" y="1847088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65392" y="1847088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558784" y="2050999"/>
            <a:ext cx="1410841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305288" y="1847088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$222.12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08776" y="2662733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65392" y="2662733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558784" y="2866644"/>
            <a:ext cx="1227728" cy="40782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305288" y="2662733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$193.29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208776" y="3478378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65392" y="3478378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58784" y="3682289"/>
            <a:ext cx="1079883" cy="40782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305288" y="3478378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$170.01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208776" y="4294022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65392" y="4294022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558784" y="4497934"/>
            <a:ext cx="1064787" cy="40782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305288" y="4294022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$167.64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384423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8" name="Shape 46"/>
          <p:cNvSpPr/>
          <p:nvPr/>
        </p:nvSpPr>
        <p:spPr>
          <a:xfrm>
            <a:off x="9934831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9" name="Shape 47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0" name="Shape 48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 luxury stores at or above the $217.79 luxury average, led by Audi Henderson at $266.32.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REVIEW · OPTION B: NON-LUXURY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- Non-Luxury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812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· NON-LUXURY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5650" y="1335024"/>
            <a:ext cx="47510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$151.32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32051"/>
            <a:ext cx="1691640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$210.50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8694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8694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271903"/>
            <a:ext cx="1413553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18694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$175.90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526792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526792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611755"/>
            <a:ext cx="1337588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526792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$166.44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66644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866644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951607"/>
            <a:ext cx="1315036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866644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$163.64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206496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3206496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3291459"/>
            <a:ext cx="1308730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3206496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$162.85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54634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54634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631311"/>
            <a:ext cx="1291117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54634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$160.66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88620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88620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971163"/>
            <a:ext cx="1282344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88620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$159.57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4226052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4226052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4311015"/>
            <a:ext cx="1280786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4226052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$159.38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4565904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4565904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4650867"/>
            <a:ext cx="1264413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4565904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$157.34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905756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905756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990719"/>
            <a:ext cx="1255140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905756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$156.18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524560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524560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5330571"/>
            <a:ext cx="1241677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524560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$154.51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558546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558546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5670423"/>
            <a:ext cx="1231856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558546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$153.29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208776" y="184708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65392" y="184708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8558784" y="1932051"/>
            <a:ext cx="1199250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0305288" y="184708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$149.23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208776" y="218694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565392" y="218694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8558784" y="2271903"/>
            <a:ext cx="1191222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305288" y="218694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$148.23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526792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6565392" y="2526792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58784" y="2611755"/>
            <a:ext cx="1161202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305288" y="2526792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$144.50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866644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565392" y="2866644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8558784" y="2951607"/>
            <a:ext cx="1156349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10305288" y="2866644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$143.89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208776" y="3206496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65392" y="3206496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8558784" y="3291459"/>
            <a:ext cx="1149633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305288" y="3206496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$143.06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354634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354634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3631311"/>
            <a:ext cx="1147556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354634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$142.80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88620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388620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3971163"/>
            <a:ext cx="1133941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388620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$141.10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4226052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4226052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4311015"/>
            <a:ext cx="1118075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4226052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$139.13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4565904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4565904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4650867"/>
            <a:ext cx="1112883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4565904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$138.48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905756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4905756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4990719"/>
            <a:ext cx="1086138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4905756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$135.15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524560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524560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5330571"/>
            <a:ext cx="1048379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524560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558546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558546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5670423"/>
            <a:ext cx="1013277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558546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4217084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6749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24 non-luxury stores at or above the $151.32 non-luxury average, led by Acura at $210.50.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2026-10-23T18:58:16Z</dcterms:created>
  <dcterms:modified xsi:type="dcterms:W3CDTF">2026-10-23T18:58:16Z</dcterms:modified>
</cp:coreProperties>
</file>