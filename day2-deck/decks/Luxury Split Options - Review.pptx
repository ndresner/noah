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counted as non-luxury. Option A: one slide, two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counted as non-luxury. Option B: one slide per segment; green at or above the luxury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month. Same-store, INEOS excluded (opened 2026). GMC Prescott body shop labor types excluded. Segment averages from segment totals. Luxury = Lexus, Lincoln, Cadillac, Volvo, Audi Reno, Audi Henderson, LR Reno, LR LV, LR Henderson; Acura counted as non-luxury. Option B: one slide per segment; green at or above the non-luxury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OPTION A: GROUPED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$162.42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84708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segment ranked on its own. Navy tick = the segment average; green at or above it.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1762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LUXURY · AVERAGE $217.79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3662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008376" y="2436622"/>
            <a:ext cx="169164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54880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$266.32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08376" y="2644902"/>
            <a:ext cx="1493088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$235.07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008376" y="2853182"/>
            <a:ext cx="148982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54880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008376" y="3061462"/>
            <a:ext cx="148500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54880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$233.79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008376" y="3269742"/>
            <a:ext cx="148288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0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$233.46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008376" y="3478022"/>
            <a:ext cx="141084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754880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$222.12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008376" y="3686302"/>
            <a:ext cx="122772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754880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$193.29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008376" y="3894582"/>
            <a:ext cx="1079883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754880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$170.01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008376" y="4102862"/>
            <a:ext cx="106478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754880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$167.64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259072"/>
            <a:ext cx="530352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NON-LUXURY · AVERAGE $151.32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4449064"/>
            <a:ext cx="5303520" cy="18288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58368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008376" y="4519422"/>
            <a:ext cx="133706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754880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$210.50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58368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1014984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008376" y="4727702"/>
            <a:ext cx="111726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4754880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$175.90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8368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1014984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008376" y="4935982"/>
            <a:ext cx="105722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4754880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$166.44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014984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008376" y="5144262"/>
            <a:ext cx="1039396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4754880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$163.64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8368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 txBox="1"/>
          <p:nvPr/>
        </p:nvSpPr>
        <p:spPr>
          <a:xfrm>
            <a:off x="1014984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008376" y="5352542"/>
            <a:ext cx="1034412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4754880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$162.85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3008376" y="5560822"/>
            <a:ext cx="1020490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754880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$160.66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8368" y="57170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1014984" y="57170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008376" y="5769102"/>
            <a:ext cx="1013557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4754880" y="57170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$159.57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208776" y="21762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6565392" y="21762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558784" y="2228342"/>
            <a:ext cx="101232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10305288" y="21762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$159.38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208776" y="23845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6565392" y="23845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558784" y="2436622"/>
            <a:ext cx="999384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305288" y="23845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$157.34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208776" y="25928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6565392" y="25928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558784" y="2644902"/>
            <a:ext cx="992055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10305288" y="25928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$156.18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208776" y="28011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6565392" y="28011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8558784" y="2853182"/>
            <a:ext cx="981413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0305288" y="28011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$154.51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208776" y="30093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97" name="Text 95"/>
          <p:cNvSpPr txBox="1"/>
          <p:nvPr/>
        </p:nvSpPr>
        <p:spPr>
          <a:xfrm>
            <a:off x="6565392" y="30093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8558784" y="3061462"/>
            <a:ext cx="973651" cy="10414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10305288" y="30093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$153.29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208776" y="32176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6565392" y="32176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8558784" y="3269742"/>
            <a:ext cx="947879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305288" y="32176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$149.23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208776" y="34259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565392" y="34259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8558784" y="3478022"/>
            <a:ext cx="941534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10305288" y="34259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$148.23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208776" y="36342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6565392" y="36342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8558784" y="3686302"/>
            <a:ext cx="917807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10305288" y="36342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$144.50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38425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38425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14" name="Shape 112"/>
          <p:cNvSpPr/>
          <p:nvPr/>
        </p:nvSpPr>
        <p:spPr>
          <a:xfrm>
            <a:off x="8558784" y="3894582"/>
            <a:ext cx="91397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10305288" y="38425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$143.89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208776" y="40507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17" name="Text 115"/>
          <p:cNvSpPr txBox="1"/>
          <p:nvPr/>
        </p:nvSpPr>
        <p:spPr>
          <a:xfrm>
            <a:off x="6565392" y="40507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18" name="Shape 116"/>
          <p:cNvSpPr/>
          <p:nvPr/>
        </p:nvSpPr>
        <p:spPr>
          <a:xfrm>
            <a:off x="8558784" y="4102862"/>
            <a:ext cx="90866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10305288" y="40507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$143.06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42590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42590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8558784" y="4311142"/>
            <a:ext cx="907021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10305288" y="42590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$142.80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208776" y="44673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565392" y="44673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26" name="Shape 124"/>
          <p:cNvSpPr/>
          <p:nvPr/>
        </p:nvSpPr>
        <p:spPr>
          <a:xfrm>
            <a:off x="8558784" y="4519422"/>
            <a:ext cx="89626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10305288" y="44673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$141.10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208776" y="467563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6565392" y="467563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8558784" y="4727702"/>
            <a:ext cx="883720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10305288" y="467563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$139.13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488391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488391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34" name="Shape 132"/>
          <p:cNvSpPr/>
          <p:nvPr/>
        </p:nvSpPr>
        <p:spPr>
          <a:xfrm>
            <a:off x="8558784" y="4935982"/>
            <a:ext cx="879615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10305288" y="488391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$138.48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509219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509219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8558784" y="5144262"/>
            <a:ext cx="858476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10305288" y="509219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$135.15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208776" y="530047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565392" y="530047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2" name="Shape 140"/>
          <p:cNvSpPr/>
          <p:nvPr/>
        </p:nvSpPr>
        <p:spPr>
          <a:xfrm>
            <a:off x="8558784" y="5352542"/>
            <a:ext cx="828632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10305288" y="530047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$130.46</a:t>
            </a:r>
            <a:endParaRPr lang="en-US" sz="1200" dirty="0"/>
          </a:p>
        </p:txBody>
      </p:sp>
      <p:sp>
        <p:nvSpPr>
          <p:cNvPr id="144" name="Text 142"/>
          <p:cNvSpPr txBox="1"/>
          <p:nvPr/>
        </p:nvSpPr>
        <p:spPr>
          <a:xfrm>
            <a:off x="6208776" y="5508752"/>
            <a:ext cx="310896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6565392" y="5508752"/>
            <a:ext cx="192024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46" name="Shape 144"/>
          <p:cNvSpPr/>
          <p:nvPr/>
        </p:nvSpPr>
        <p:spPr>
          <a:xfrm>
            <a:off x="8558784" y="5560822"/>
            <a:ext cx="800888" cy="10414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10305288" y="5508752"/>
            <a:ext cx="1143000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$126.09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4032696" y="2176272"/>
            <a:ext cx="14630" cy="3749040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49" name="Shape 147"/>
          <p:cNvSpPr/>
          <p:nvPr/>
        </p:nvSpPr>
        <p:spPr>
          <a:xfrm>
            <a:off x="9583104" y="2176272"/>
            <a:ext cx="14630" cy="3749040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50" name="Shape 148"/>
          <p:cNvSpPr/>
          <p:nvPr/>
        </p:nvSpPr>
        <p:spPr>
          <a:xfrm>
            <a:off x="6085332" y="2176272"/>
            <a:ext cx="10973" cy="37490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1" name="Shape 149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9 luxury stores beat $217.79 and 12 of 24 others beat $151.32. Audi Henderson leads luxury, Acura non-luxury.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OPTION B: 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- Luxury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· LUXURY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13350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$217.79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2050999"/>
            <a:ext cx="1691640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847088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$266.32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662733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662733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2866644"/>
            <a:ext cx="1493088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662733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$235.07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3478378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3478378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08376" y="3682289"/>
            <a:ext cx="1489826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3478378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$234.55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294022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4294022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4497934"/>
            <a:ext cx="1485001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4294022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$233.79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5109667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5109667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5313578"/>
            <a:ext cx="1482885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5109667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$233.46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08776" y="1847088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565392" y="1847088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558784" y="2050999"/>
            <a:ext cx="1410841" cy="407822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305288" y="1847088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$222.12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208776" y="2662733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565392" y="2662733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58784" y="2866644"/>
            <a:ext cx="1227728" cy="40782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305288" y="2662733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$193.29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208776" y="3478378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565392" y="3478378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558784" y="3682289"/>
            <a:ext cx="1079883" cy="40782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0305288" y="3478378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$170.01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208776" y="4294022"/>
            <a:ext cx="310896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565392" y="4294022"/>
            <a:ext cx="192024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58784" y="4497934"/>
            <a:ext cx="1064787" cy="407822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305288" y="4294022"/>
            <a:ext cx="1143000" cy="8156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$167.64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384423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8" name="Shape 46"/>
          <p:cNvSpPr/>
          <p:nvPr/>
        </p:nvSpPr>
        <p:spPr>
          <a:xfrm>
            <a:off x="9934831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49" name="Shape 47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50" name="Shape 48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9 luxury stores at or above the $217.79 luxury average, led by Audi Henderson at $266.32.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· REVIEW · OPTION B: NON-LUXURY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- Non-Luxury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38125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· NON-LUXURY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295650" y="1335024"/>
            <a:ext cx="475107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$151.32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008376" y="1932051"/>
            <a:ext cx="1691640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184708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$210.50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8694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8694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08376" y="2271903"/>
            <a:ext cx="1413553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218694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$175.90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526792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526792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08376" y="2611755"/>
            <a:ext cx="1337588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2526792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$166.44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866644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866644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08376" y="2951607"/>
            <a:ext cx="1315036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2866644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$163.64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3206496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3206496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008376" y="3291459"/>
            <a:ext cx="1308730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754880" y="3206496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$162.85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54634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54634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08376" y="3631311"/>
            <a:ext cx="1291117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54880" y="354634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$160.66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88620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88620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008376" y="3971163"/>
            <a:ext cx="1282344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54880" y="388620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$159.57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4226052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4226052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008376" y="4311015"/>
            <a:ext cx="1280786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754880" y="4226052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$159.38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4565904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4565904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08376" y="4650867"/>
            <a:ext cx="1264413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754880" y="4565904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$157.34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905756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905756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008376" y="4990719"/>
            <a:ext cx="1255140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754880" y="4905756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$156.18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524560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524560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008376" y="5330571"/>
            <a:ext cx="1241677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754880" y="524560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$154.51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558546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558546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008376" y="5670423"/>
            <a:ext cx="1231856" cy="16992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754880" y="558546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$153.29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208776" y="184708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565392" y="184708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8558784" y="1932051"/>
            <a:ext cx="1199250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0305288" y="184708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$149.23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208776" y="218694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565392" y="218694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558784" y="2271903"/>
            <a:ext cx="1191222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305288" y="218694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$148.23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208776" y="2526792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6565392" y="2526792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558784" y="2611755"/>
            <a:ext cx="1161202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0305288" y="2526792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$144.50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208776" y="2866644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565392" y="2866644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8558784" y="2951607"/>
            <a:ext cx="1156349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0305288" y="2866644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$143.89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208776" y="3206496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6565392" y="3206496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8558784" y="3291459"/>
            <a:ext cx="1149633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305288" y="3206496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$143.06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354634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354634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58784" y="3631311"/>
            <a:ext cx="1147556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05288" y="354634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$142.80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388620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388620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58784" y="3971163"/>
            <a:ext cx="1133941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305288" y="388620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$141.10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4226052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4226052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58784" y="4311015"/>
            <a:ext cx="1118075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305288" y="4226052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$139.13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4565904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4565904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58784" y="4650867"/>
            <a:ext cx="1112883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305288" y="4565904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$138.48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4905756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4905756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58784" y="4990719"/>
            <a:ext cx="1086138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305288" y="4905756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$135.15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5245608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5245608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58784" y="5330571"/>
            <a:ext cx="1048379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305288" y="5245608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$130.46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5585460"/>
            <a:ext cx="310896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5585460"/>
            <a:ext cx="192024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58784" y="5670423"/>
            <a:ext cx="1013277" cy="16992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305288" y="5585460"/>
            <a:ext cx="1143000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$126.09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4217084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08" name="Shape 106"/>
          <p:cNvSpPr/>
          <p:nvPr/>
        </p:nvSpPr>
        <p:spPr>
          <a:xfrm>
            <a:off x="9767492" y="1847088"/>
            <a:ext cx="14630" cy="40782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109" name="Shape 107"/>
          <p:cNvSpPr/>
          <p:nvPr/>
        </p:nvSpPr>
        <p:spPr>
          <a:xfrm>
            <a:off x="6085332" y="1847088"/>
            <a:ext cx="10973" cy="407822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0" name="Shape 108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of 24 non-luxury stores at or above the $151.32 non-luxury average, led by Acura at $210.50.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2026-10-23T18:19:24Z</dcterms:created>
  <dcterms:modified xsi:type="dcterms:W3CDTF">2026-10-23T18:19:24Z</dcterms:modified>
</cp:coreProperties>
</file>