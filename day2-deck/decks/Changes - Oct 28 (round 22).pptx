
<file path=[Content_Types].xml><?xml version="1.0" encoding="utf-8"?>
<Types xmlns="http://schemas.openxmlformats.org/package/2006/content-types">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10.xml" ContentType="application/vnd.openxmlformats-officedocument.drawingml.chart+xml"/>
  <Override PartName="/ppt/charts/chart11.xml" ContentType="application/vnd.openxmlformats-officedocument.drawingml.chart+xml"/>
  <Override PartName="/ppt/charts/chart12.xml" ContentType="application/vnd.openxmlformats-officedocument.drawingml.chart+xml"/>
  <Override PartName="/ppt/charts/chart123.xml" ContentType="application/vnd.openxmlformats-officedocument.drawingml.chart+xml"/>
  <Override PartName="/ppt/charts/chart124.xml" ContentType="application/vnd.openxmlformats-officedocument.drawingml.chart+xml"/>
  <Override PartName="/ppt/charts/chart125.xml" ContentType="application/vnd.openxmlformats-officedocument.drawingml.chart+xml"/>
  <Override PartName="/ppt/charts/chart126.xml" ContentType="application/vnd.openxmlformats-officedocument.drawingml.chart+xml"/>
  <Override PartName="/ppt/charts/chart127.xml" ContentType="application/vnd.openxmlformats-officedocument.drawingml.chart+xml"/>
  <Override PartName="/ppt/charts/chart13.xml" ContentType="application/vnd.openxmlformats-officedocument.drawingml.chart+xml"/>
  <Override PartName="/ppt/charts/chart135.xml" ContentType="application/vnd.openxmlformats-officedocument.drawingml.chart+xml"/>
  <Override PartName="/ppt/charts/chart136.xml" ContentType="application/vnd.openxmlformats-officedocument.drawingml.chart+xml"/>
  <Override PartName="/ppt/charts/chart137.xml" ContentType="application/vnd.openxmlformats-officedocument.drawingml.chart+xml"/>
  <Override PartName="/ppt/charts/chart138.xml" ContentType="application/vnd.openxmlformats-officedocument.drawingml.chart+xml"/>
  <Override PartName="/ppt/charts/chart139.xml" ContentType="application/vnd.openxmlformats-officedocument.drawingml.chart+xml"/>
  <Override PartName="/ppt/charts/chart14.xml" ContentType="application/vnd.openxmlformats-officedocument.drawingml.chart+xml"/>
  <Override PartName="/ppt/charts/chart140.xml" ContentType="application/vnd.openxmlformats-officedocument.drawingml.chart+xml"/>
  <Override PartName="/ppt/charts/chart15.xml" ContentType="application/vnd.openxmlformats-officedocument.drawingml.chart+xml"/>
  <Override PartName="/ppt/charts/chart16.xml" ContentType="application/vnd.openxmlformats-officedocument.drawingml.chart+xml"/>
  <Override PartName="/ppt/charts/chart17.xml" ContentType="application/vnd.openxmlformats-officedocument.drawingml.chart+xml"/>
  <Override PartName="/ppt/charts/chart18.xml" ContentType="application/vnd.openxmlformats-officedocument.drawingml.chart+xml"/>
  <Override PartName="/ppt/charts/chart19.xml" ContentType="application/vnd.openxmlformats-officedocument.drawingml.chart+xml"/>
  <Override PartName="/ppt/charts/chart2.xml" ContentType="application/vnd.openxmlformats-officedocument.drawingml.chart+xml"/>
  <Override PartName="/ppt/charts/chart20.xml" ContentType="application/vnd.openxmlformats-officedocument.drawingml.chart+xml"/>
  <Override PartName="/ppt/charts/chart21.xml" ContentType="application/vnd.openxmlformats-officedocument.drawingml.chart+xml"/>
  <Override PartName="/ppt/charts/chart22.xml" ContentType="application/vnd.openxmlformats-officedocument.drawingml.chart+xml"/>
  <Override PartName="/ppt/charts/chart23.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charts/chart7.xml" ContentType="application/vnd.openxmlformats-officedocument.drawingml.chart+xml"/>
  <Override PartName="/ppt/charts/chart8.xml" ContentType="application/vnd.openxmlformats-officedocument.drawingml.chart+xml"/>
  <Override PartName="/ppt/charts/chart9.xml" ContentType="application/vnd.openxmlformats-officedocument.drawingml.chart+xml"/>
  <Override PartName="/ppt/notesMasters/notesMaster1.xml" ContentType="application/vnd.openxmlformats-officedocument.presentationml.notesMaster+xml"/>
  <Override PartName="/ppt/notesSlides/notesSlide115.xml" ContentType="application/vnd.openxmlformats-officedocument.presentationml.notesSlide+xml"/>
  <Override PartName="/ppt/notesSlides/notesSlide130.xml" ContentType="application/vnd.openxmlformats-officedocument.presentationml.notesSlide+xml"/>
  <Override PartName="/ppt/notesSlides/notesSlide132.xml" ContentType="application/vnd.openxmlformats-officedocument.presentationml.notesSlide+xml"/>
  <Override PartName="/ppt/notesSlides/notesSlide14.xml" ContentType="application/vnd.openxmlformats-officedocument.presentationml.notesSlide+xml"/>
  <Override PartName="/ppt/notesSlides/notesSlide146.xml" ContentType="application/vnd.openxmlformats-officedocument.presentationml.notesSlide+xml"/>
  <Override PartName="/ppt/notesSlides/notesSlide153.xml" ContentType="application/vnd.openxmlformats-officedocument.presentationml.notesSlide+xml"/>
  <Override PartName="/ppt/notesSlides/notesSlide159.xml" ContentType="application/vnd.openxmlformats-officedocument.presentationml.notesSlide+xml"/>
  <Override PartName="/ppt/notesSlides/notesSlide160.xml" ContentType="application/vnd.openxmlformats-officedocument.presentationml.notesSlide+xml"/>
  <Override PartName="/ppt/notesSlides/notesSlide20.xml" ContentType="application/vnd.openxmlformats-officedocument.presentationml.notesSlide+xml"/>
  <Override PartName="/ppt/notesSlides/notesSlide22.xml" ContentType="application/vnd.openxmlformats-officedocument.presentationml.notesSlide+xml"/>
  <Override PartName="/ppt/notesSlides/notesSlide26.xml" ContentType="application/vnd.openxmlformats-officedocument.presentationml.notesSlide+xml"/>
  <Override PartName="/ppt/notesSlides/notesSlide30.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10.xml" ContentType="application/vnd.openxmlformats-officedocument.presentationml.slide+xml"/>
  <Override PartName="/ppt/slides/slide12.xml" ContentType="application/vnd.openxmlformats-officedocument.presentationml.slide+xml"/>
  <Override PartName="/ppt/slides/slide127.xml" ContentType="application/vnd.openxmlformats-officedocument.presentationml.slide+xml"/>
  <Override PartName="/ppt/slides/slide129.xml" ContentType="application/vnd.openxmlformats-officedocument.presentationml.slide+xml"/>
  <Override PartName="/ppt/slides/slide14.xml" ContentType="application/vnd.openxmlformats-officedocument.presentationml.slide+xml"/>
  <Override PartName="/ppt/slides/slide143.xml" ContentType="application/vnd.openxmlformats-officedocument.presentationml.slide+xml"/>
  <Override PartName="/ppt/slides/slide151.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8.xml" ContentType="application/vnd.openxmlformats-officedocument.presentationml.slide+xml"/>
  <Override PartName="/ppt/slides/slide22.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69" r:id="rId20"/>
    <p:sldId id="275" r:id="rId26"/>
    <p:sldId id="277" r:id="rId28"/>
    <p:sldId id="281" r:id="rId32"/>
    <p:sldId id="285" r:id="rId36"/>
    <p:sldId id="305" r:id="rId56"/>
    <p:sldId id="306" r:id="rId57"/>
    <p:sldId id="370" r:id="rId121"/>
    <p:sldId id="385" r:id="rId136"/>
    <p:sldId id="387" r:id="rId138"/>
    <p:sldId id="401" r:id="rId152"/>
    <p:sldId id="408" r:id="rId159"/>
    <p:sldId id="414" r:id="rId165"/>
    <p:sldId id="415" r:id="rId166"/>
  </p:sldIdLst>
  <p:notesMasterIdLst>
    <p:notesMasterId r:id="rId1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 Id="rId20" Type="http://schemas.openxmlformats.org/officeDocument/2006/relationships/slide" Target="slides/slide5.xml"/><Relationship Id="rId26" Type="http://schemas.openxmlformats.org/officeDocument/2006/relationships/slide" Target="slides/slide12.xml"/><Relationship Id="rId28" Type="http://schemas.openxmlformats.org/officeDocument/2006/relationships/slide" Target="slides/slide14.xml"/><Relationship Id="rId32" Type="http://schemas.openxmlformats.org/officeDocument/2006/relationships/slide" Target="slides/slide18.xml"/><Relationship Id="rId36" Type="http://schemas.openxmlformats.org/officeDocument/2006/relationships/slide" Target="slides/slide22.xml"/><Relationship Id="rId56" Type="http://schemas.openxmlformats.org/officeDocument/2006/relationships/slide" Target="slides/slide44.xml"/><Relationship Id="rId57" Type="http://schemas.openxmlformats.org/officeDocument/2006/relationships/slide" Target="slides/slide45.xml"/><Relationship Id="rId121" Type="http://schemas.openxmlformats.org/officeDocument/2006/relationships/slide" Target="slides/slide110.xml"/><Relationship Id="rId136" Type="http://schemas.openxmlformats.org/officeDocument/2006/relationships/slide" Target="slides/slide127.xml"/><Relationship Id="rId138" Type="http://schemas.openxmlformats.org/officeDocument/2006/relationships/slide" Target="slides/slide129.xml"/><Relationship Id="rId152" Type="http://schemas.openxmlformats.org/officeDocument/2006/relationships/slide" Target="slides/slide143.xml"/><Relationship Id="rId159" Type="http://schemas.openxmlformats.org/officeDocument/2006/relationships/slide" Target="slides/slide151.xml"/><Relationship Id="rId165" Type="http://schemas.openxmlformats.org/officeDocument/2006/relationships/slide" Target="slides/slide158.xml"/><Relationship Id="rId166" Type="http://schemas.openxmlformats.org/officeDocument/2006/relationships/slide" Target="slides/slide159.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Worksheet5.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Worksheet6.xlsx"/></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Worksheet7.xlsx"/></Relationships>
</file>

<file path=ppt/charts/_rels/chart8.xml.rels><?xml version='1.0' encoding='UTF-8' standalone='yes'?>
<Relationships xmlns="http://schemas.openxmlformats.org/package/2006/relationships"><Relationship Id="rId1" Type="http://schemas.openxmlformats.org/officeDocument/2006/relationships/package" Target="../embeddings/Microsoft_Excel_Worksheet8.xlsx"/></Relationships>
</file>

<file path=ppt/charts/_rels/chart9.xml.rels><?xml version='1.0' encoding='UTF-8' standalone='yes'?>
<Relationships xmlns="http://schemas.openxmlformats.org/package/2006/relationships"><Relationship Id="rId1" Type="http://schemas.openxmlformats.org/officeDocument/2006/relationships/package" Target="../embeddings/Microsoft_Excel_Worksheet9.xlsx"/></Relationships>
</file>

<file path=ppt/charts/_rels/chart10.xml.rels><?xml version='1.0' encoding='UTF-8' standalone='yes'?>
<Relationships xmlns="http://schemas.openxmlformats.org/package/2006/relationships"><Relationship Id="rId1" Type="http://schemas.openxmlformats.org/officeDocument/2006/relationships/package" Target="../embeddings/Microsoft_Excel_Worksheet10.xlsx"/></Relationships>
</file>

<file path=ppt/charts/_rels/chart11.xml.rels><?xml version='1.0' encoding='UTF-8' standalone='yes'?>
<Relationships xmlns="http://schemas.openxmlformats.org/package/2006/relationships"><Relationship Id="rId1" Type="http://schemas.openxmlformats.org/officeDocument/2006/relationships/package" Target="../embeddings/Microsoft_Excel_Worksheet11.xlsx"/></Relationships>
</file>

<file path=ppt/charts/_rels/chart12.xml.rels><?xml version='1.0' encoding='UTF-8' standalone='yes'?>
<Relationships xmlns="http://schemas.openxmlformats.org/package/2006/relationships"><Relationship Id="rId1" Type="http://schemas.openxmlformats.org/officeDocument/2006/relationships/package" Target="../embeddings/Microsoft_Excel_Worksheet12.xlsx"/></Relationships>
</file>

<file path=ppt/charts/_rels/chart13.xml.rels><?xml version='1.0' encoding='UTF-8' standalone='yes'?>
<Relationships xmlns="http://schemas.openxmlformats.org/package/2006/relationships"><Relationship Id="rId1" Type="http://schemas.openxmlformats.org/officeDocument/2006/relationships/package" Target="../embeddings/Microsoft_Excel_Worksheet13.xlsx"/></Relationships>
</file>

<file path=ppt/charts/_rels/chart14.xml.rels><?xml version='1.0' encoding='UTF-8' standalone='yes'?>
<Relationships xmlns="http://schemas.openxmlformats.org/package/2006/relationships"><Relationship Id="rId1" Type="http://schemas.openxmlformats.org/officeDocument/2006/relationships/package" Target="../embeddings/Microsoft_Excel_Worksheet14.xlsx"/></Relationships>
</file>

<file path=ppt/charts/_rels/chart15.xml.rels><?xml version='1.0' encoding='UTF-8' standalone='yes'?>
<Relationships xmlns="http://schemas.openxmlformats.org/package/2006/relationships"><Relationship Id="rId1" Type="http://schemas.openxmlformats.org/officeDocument/2006/relationships/package" Target="../embeddings/Microsoft_Excel_Worksheet15.xlsx"/></Relationships>
</file>

<file path=ppt/charts/_rels/chart16.xml.rels><?xml version='1.0' encoding='UTF-8' standalone='yes'?>
<Relationships xmlns="http://schemas.openxmlformats.org/package/2006/relationships"><Relationship Id="rId1" Type="http://schemas.openxmlformats.org/officeDocument/2006/relationships/package" Target="../embeddings/Microsoft_Excel_Worksheet16.xlsx"/></Relationships>
</file>

<file path=ppt/charts/_rels/chart17.xml.rels><?xml version='1.0' encoding='UTF-8' standalone='yes'?>
<Relationships xmlns="http://schemas.openxmlformats.org/package/2006/relationships"><Relationship Id="rId1" Type="http://schemas.openxmlformats.org/officeDocument/2006/relationships/package" Target="../embeddings/Microsoft_Excel_Worksheet17.xlsx"/></Relationships>
</file>

<file path=ppt/charts/_rels/chart18.xml.rels><?xml version='1.0' encoding='UTF-8' standalone='yes'?>
<Relationships xmlns="http://schemas.openxmlformats.org/package/2006/relationships"><Relationship Id="rId1" Type="http://schemas.openxmlformats.org/officeDocument/2006/relationships/package" Target="../embeddings/Microsoft_Excel_Worksheet18.xlsx"/></Relationships>
</file>

<file path=ppt/charts/_rels/chart19.xml.rels><?xml version='1.0' encoding='UTF-8' standalone='yes'?>
<Relationships xmlns="http://schemas.openxmlformats.org/package/2006/relationships"><Relationship Id="rId1" Type="http://schemas.openxmlformats.org/officeDocument/2006/relationships/package" Target="../embeddings/Microsoft_Excel_Worksheet19.xlsx"/></Relationships>
</file>

<file path=ppt/charts/_rels/chart20.xml.rels><?xml version='1.0' encoding='UTF-8' standalone='yes'?>
<Relationships xmlns="http://schemas.openxmlformats.org/package/2006/relationships"><Relationship Id="rId1" Type="http://schemas.openxmlformats.org/officeDocument/2006/relationships/package" Target="../embeddings/Microsoft_Excel_Worksheet20.xlsx"/></Relationships>
</file>

<file path=ppt/charts/_rels/chart21.xml.rels><?xml version='1.0' encoding='UTF-8' standalone='yes'?>
<Relationships xmlns="http://schemas.openxmlformats.org/package/2006/relationships"><Relationship Id="rId1" Type="http://schemas.openxmlformats.org/officeDocument/2006/relationships/package" Target="../embeddings/Microsoft_Excel_Worksheet21.xlsx"/></Relationships>
</file>

<file path=ppt/charts/_rels/chart22.xml.rels><?xml version='1.0' encoding='UTF-8' standalone='yes'?>
<Relationships xmlns="http://schemas.openxmlformats.org/package/2006/relationships"><Relationship Id="rId1" Type="http://schemas.openxmlformats.org/officeDocument/2006/relationships/package" Target="../embeddings/Microsoft_Excel_Worksheet22.xlsx"/></Relationships>
</file>

<file path=ppt/charts/_rels/chart23.xml.rels><?xml version='1.0' encoding='UTF-8' standalone='yes'?>
<Relationships xmlns="http://schemas.openxmlformats.org/package/2006/relationships"><Relationship Id="rId1" Type="http://schemas.openxmlformats.org/officeDocument/2006/relationships/package" Target="../embeddings/Microsoft_Excel_Worksheet23.xlsx"/></Relationships>
</file>

<file path=ppt/charts/_rels/chart123.xml.rels><?xml version='1.0' encoding='UTF-8' standalone='yes'?>
<Relationships xmlns="http://schemas.openxmlformats.org/package/2006/relationships"><Relationship Id="rId1" Type="http://schemas.openxmlformats.org/officeDocument/2006/relationships/package" Target="../embeddings/Microsoft_Excel_Worksheet123.xlsx"/></Relationships>
</file>

<file path=ppt/charts/_rels/chart124.xml.rels><?xml version='1.0' encoding='UTF-8' standalone='yes'?>
<Relationships xmlns="http://schemas.openxmlformats.org/package/2006/relationships"><Relationship Id="rId1" Type="http://schemas.openxmlformats.org/officeDocument/2006/relationships/package" Target="../embeddings/Microsoft_Excel_Worksheet124.xlsx"/></Relationships>
</file>

<file path=ppt/charts/_rels/chart125.xml.rels><?xml version='1.0' encoding='UTF-8' standalone='yes'?>
<Relationships xmlns="http://schemas.openxmlformats.org/package/2006/relationships"><Relationship Id="rId1" Type="http://schemas.openxmlformats.org/officeDocument/2006/relationships/package" Target="../embeddings/Microsoft_Excel_Worksheet125.xlsx"/></Relationships>
</file>

<file path=ppt/charts/_rels/chart126.xml.rels><?xml version='1.0' encoding='UTF-8' standalone='yes'?>
<Relationships xmlns="http://schemas.openxmlformats.org/package/2006/relationships"><Relationship Id="rId1" Type="http://schemas.openxmlformats.org/officeDocument/2006/relationships/package" Target="../embeddings/Microsoft_Excel_Worksheet126.xlsx"/></Relationships>
</file>

<file path=ppt/charts/_rels/chart127.xml.rels><?xml version='1.0' encoding='UTF-8' standalone='yes'?>
<Relationships xmlns="http://schemas.openxmlformats.org/package/2006/relationships"><Relationship Id="rId1" Type="http://schemas.openxmlformats.org/officeDocument/2006/relationships/package" Target="../embeddings/Microsoft_Excel_Worksheet127.xlsx"/></Relationships>
</file>

<file path=ppt/charts/_rels/chart135.xml.rels><?xml version='1.0' encoding='UTF-8' standalone='yes'?>
<Relationships xmlns="http://schemas.openxmlformats.org/package/2006/relationships"><Relationship Id="rId1" Type="http://schemas.openxmlformats.org/officeDocument/2006/relationships/package" Target="../embeddings/Microsoft_Excel_Worksheet135.xlsx"/></Relationships>
</file>

<file path=ppt/charts/_rels/chart136.xml.rels><?xml version='1.0' encoding='UTF-8' standalone='yes'?>
<Relationships xmlns="http://schemas.openxmlformats.org/package/2006/relationships"><Relationship Id="rId1" Type="http://schemas.openxmlformats.org/officeDocument/2006/relationships/package" Target="../embeddings/Microsoft_Excel_Worksheet136.xlsx"/></Relationships>
</file>

<file path=ppt/charts/_rels/chart137.xml.rels><?xml version='1.0' encoding='UTF-8' standalone='yes'?>
<Relationships xmlns="http://schemas.openxmlformats.org/package/2006/relationships"><Relationship Id="rId1" Type="http://schemas.openxmlformats.org/officeDocument/2006/relationships/package" Target="../embeddings/Microsoft_Excel_Worksheet137.xlsx"/></Relationships>
</file>

<file path=ppt/charts/_rels/chart138.xml.rels><?xml version='1.0' encoding='UTF-8' standalone='yes'?>
<Relationships xmlns="http://schemas.openxmlformats.org/package/2006/relationships"><Relationship Id="rId1" Type="http://schemas.openxmlformats.org/officeDocument/2006/relationships/package" Target="../embeddings/Microsoft_Excel_Worksheet138.xlsx"/></Relationships>
</file>

<file path=ppt/charts/_rels/chart139.xml.rels><?xml version='1.0' encoding='UTF-8' standalone='yes'?>
<Relationships xmlns="http://schemas.openxmlformats.org/package/2006/relationships"><Relationship Id="rId1" Type="http://schemas.openxmlformats.org/officeDocument/2006/relationships/package" Target="../embeddings/Microsoft_Excel_Worksheet139.xlsx"/></Relationships>
</file>

<file path=ppt/charts/_rels/chart140.xml.rels><?xml version='1.0' encoding='UTF-8' standalone='yes'?>
<Relationships xmlns="http://schemas.openxmlformats.org/package/2006/relationships"><Relationship Id="rId1" Type="http://schemas.openxmlformats.org/officeDocument/2006/relationships/package" Target="../embeddings/Microsoft_Excel_Worksheet140.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2026</c:v>
                </c:pt>
              </c:strCache>
            </c:strRef>
          </c:tx>
          <c:spPr>
            <a:solidFill>
              <a:srgbClr val="2587C5"/>
            </a:solidFill>
            <a:ln w="38100" cap="flat">
              <a:solidFill>
                <a:srgbClr val="2587C5"/>
              </a:solidFill>
              <a:prstDash val="solid"/>
              <a:round/>
            </a:ln>
            <a:effectLst/>
          </c:spPr>
          <c:invertIfNegative val="0"/>
          <c:dLbls>
            <c:numFmt formatCode="0.0" sourceLinked="0"/>
            <c:txPr>
              <a:bodyPr/>
              <a:lstStyle/>
              <a:p>
                <a:pPr>
                  <a:defRPr b="0" i="0" strike="noStrike" sz="1400" u="none">
                    <a:solidFill>
                      <a:srgbClr val="1A1A1A"/>
                    </a:solidFill>
                    <a:latin typeface="+mn-lt"/>
                  </a:defRPr>
                </a:pPr>
              </a:p>
            </c:txPr>
            <c:showLegendKey val="0"/>
            <c:showVal val="0"/>
            <c:showCatName val="0"/>
            <c:showSerName val="0"/>
            <c:showPercent val="0"/>
            <c:showBubbleSize val="0"/>
            <c:showLeaderLines val="0"/>
          </c:dLbls>
          <c:marker>
            <c:symbol val="circle"/>
            <c:size val="8"/>
            <c:spPr>
              <a:solidFill>
                <a:srgbClr val="2587C5"/>
              </a:solidFill>
              <a:ln w="9525" cap="flat">
                <a:solidFill>
                  <a:srgbClr val="2587C5"/>
                </a:solidFill>
                <a:prstDash val="solid"/>
                <a:round/>
              </a:ln>
              <a:effectLst/>
            </c:spPr>
          </c:marker>
          <c:cat>
            <c:multiLvlStrRef>
              <c:f>Sheet1!$A$2:$A$13</c:f>
              <c:multiLvlStrCache>
                <c:ptCount val="12"/>
                <c:lvl>
                  <c:pt idx="0">
                    <c:v>Jan</c:v>
                  </c:pt>
                  <c:pt idx="1">
                    <c:v>Feb</c:v>
                  </c:pt>
                  <c:pt idx="2">
                    <c:v>Mar</c:v>
                  </c:pt>
                  <c:pt idx="3">
                    <c:v>Apr</c:v>
                  </c:pt>
                  <c:pt idx="4">
                    <c:v>May</c:v>
                  </c:pt>
                  <c:pt idx="5">
                    <c:v>Jun</c:v>
                  </c:pt>
                  <c:pt idx="6">
                    <c:v>Jul</c:v>
                  </c:pt>
                  <c:pt idx="7">
                    <c:v>Aug</c:v>
                  </c:pt>
                  <c:pt idx="8">
                    <c:v>Sep</c:v>
                  </c:pt>
                  <c:pt idx="9">
                    <c:v>Oct</c:v>
                  </c:pt>
                  <c:pt idx="10">
                    <c:v>Nov</c:v>
                  </c:pt>
                  <c:pt idx="11">
                    <c:v>Dec</c:v>
                  </c:pt>
                </c:lvl>
              </c:multiLvlStrCache>
            </c:multiLvlStrRef>
          </c:cat>
          <c:val>
            <c:numRef>
              <c:f>Sheet1!$B$2:$B$13</c:f>
              <c:numCache>
                <c:formatCode>General</c:formatCode>
                <c:ptCount val="12"/>
                <c:pt idx="0">
                  <c:v>4.58</c:v>
                </c:pt>
                <c:pt idx="1">
                  <c:v>4.54</c:v>
                </c:pt>
                <c:pt idx="2">
                  <c:v>5.97</c:v>
                </c:pt>
                <c:pt idx="3">
                  <c:v>6.14</c:v>
                </c:pt>
                <c:pt idx="4">
                  <c:v>5.16</c:v>
                </c:pt>
                <c:pt idx="5">
                  <c:v>5.82</c:v>
                </c:pt>
                <c:pt idx="6">
                  <c:v>6.72</c:v>
                </c:pt>
                <c:pt idx="7">
                  <c:v>5.99</c:v>
                </c:pt>
                <c:pt idx="8">
                  <c:v>5.53</c:v>
                </c:pt>
                <c:pt idx="9">
                  <c:v/>
                </c:pt>
                <c:pt idx="10">
                  <c:v/>
                </c:pt>
                <c:pt idx="11">
                  <c:v/>
                </c:pt>
              </c:numCache>
            </c:numRef>
          </c:val>
          <c:smooth val="0"/>
        </c:ser>
        <c:dLbls>
          <c:numFmt formatCode="0.0" sourceLinked="0"/>
          <c:txPr>
            <a:bodyPr/>
            <a:lstStyle/>
            <a:p>
              <a:pPr>
                <a:defRPr b="0" i="0" strike="noStrike" sz="1400" u="none">
                  <a:solidFill>
                    <a:srgbClr val="1A1A1A"/>
                  </a:solidFill>
                  <a:latin typeface="+mn-lt"/>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400" b="0" i="0" u="none" strike="noStrike">
                <a:solidFill>
                  <a:srgbClr val="FFFFFF"/>
                </a:solidFill>
                <a:latin typeface="+mn-lt"/>
              </a:defRPr>
            </a:pPr>
            <a:endParaRPr lang="en-US"/>
          </a:p>
        </c:txPr>
        <c:crossAx val="2094734552"/>
        <c:crosses val="min"/>
        <c:auto val="1"/>
        <c:lblAlgn val="ctr"/>
        <c:noMultiLvlLbl val="1"/>
      </c:catAx>
      <c:valAx>
        <c:axId val="2094734552"/>
        <c:scaling>
          <c:orientation val="minMax"/>
          <c:max val="8"/>
          <c:min val="2"/>
        </c:scaling>
        <c:delete val="0"/>
        <c:axPos val="l"/>
        <c:majorGridlines>
          <c:spPr>
            <a:ln w="9525" cap="flat">
              <a:solidFill>
                <a:srgbClr val="D9D9D9"/>
              </a:solidFill>
              <a:prstDash val="solid"/>
              <a:round/>
            </a:ln>
          </c:spPr>
        </c:majorGridlines>
        <c:numFmt formatCode="$0&quot;M&quot;" sourceLinked="0"/>
        <c:majorTickMark val="out"/>
        <c:minorTickMark val="none"/>
        <c:tickLblPos val="nextTo"/>
        <c:spPr>
          <a:ln w="12700" cap="flat">
            <a:noFill/>
            <a:prstDash val="solid"/>
            <a:round/>
          </a:ln>
        </c:spPr>
        <c:txPr>
          <a:bodyPr/>
          <a:lstStyle/>
          <a:p>
            <a:pPr>
              <a:defRPr sz="1400" b="0" i="0" u="none" strike="noStrike">
                <a:solidFill>
                  <a:srgbClr val="FFFFFF"/>
                </a:solidFill>
                <a:latin typeface="+mn-lt"/>
              </a:defRPr>
            </a:pPr>
            <a:endParaRPr lang="en-US"/>
          </a:p>
        </c:txPr>
        <c:crossAx val="2094734554"/>
        <c:crosses val="autoZero"/>
        <c:crossBetween val="between"/>
        <c:majorUnit val="2"/>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2026</c:v>
                </c:pt>
              </c:strCache>
            </c:strRef>
          </c:tx>
          <c:spPr>
            <a:solidFill>
              <a:srgbClr val="2587C5"/>
            </a:solidFill>
            <a:ln>
              <a:noFill/>
            </a:ln>
            <a:effectLst/>
          </c:spPr>
          <c:invertIfNegative val="0"/>
          <c:dLbls>
            <c:numFmt formatCode="0.0" sourceLinked="0"/>
            <c:txPr>
              <a:bodyPr/>
              <a:lstStyle/>
              <a:p>
                <a:pPr>
                  <a:defRPr b="0" i="0" strike="noStrike" sz="1400" u="none">
                    <a:solidFill>
                      <a:srgbClr val="1A1A1A"/>
                    </a:solidFill>
                    <a:latin typeface="+mn-lt"/>
                  </a:defRPr>
                </a:pPr>
              </a:p>
            </c:txPr>
            <c:dLblPos val="t"/>
            <c:showLegendKey val="0"/>
            <c:showVal val="1"/>
            <c:showCatName val="0"/>
            <c:showSerName val="0"/>
            <c:showPercent val="0"/>
            <c:showBubbleSize val="0"/>
            <c:showLeaderLines val="0"/>
          </c:dLbls>
          <c:marker>
            <c:symbol val="none"/>
            <c:size val="8"/>
            <c:spPr>
              <a:solidFill>
                <a:srgbClr val="2587C5"/>
              </a:solidFill>
              <a:ln w="9525" cap="flat">
                <a:solidFill>
                  <a:srgbClr val="2587C5"/>
                </a:solidFill>
                <a:prstDash val="solid"/>
                <a:round/>
              </a:ln>
              <a:effectLst/>
            </c:spPr>
          </c:marker>
          <c:cat>
            <c:multiLvlStrRef>
              <c:f>Sheet1!$A$2:$A$13</c:f>
              <c:multiLvlStrCache>
                <c:ptCount val="12"/>
                <c:lvl>
                  <c:pt idx="0">
                    <c:v>Jan</c:v>
                  </c:pt>
                  <c:pt idx="1">
                    <c:v>Feb</c:v>
                  </c:pt>
                  <c:pt idx="2">
                    <c:v>Mar</c:v>
                  </c:pt>
                  <c:pt idx="3">
                    <c:v>Apr</c:v>
                  </c:pt>
                  <c:pt idx="4">
                    <c:v>May</c:v>
                  </c:pt>
                  <c:pt idx="5">
                    <c:v>Jun</c:v>
                  </c:pt>
                  <c:pt idx="6">
                    <c:v>Jul</c:v>
                  </c:pt>
                  <c:pt idx="7">
                    <c:v>Aug</c:v>
                  </c:pt>
                  <c:pt idx="8">
                    <c:v>Sep</c:v>
                  </c:pt>
                  <c:pt idx="9">
                    <c:v>Oct</c:v>
                  </c:pt>
                  <c:pt idx="10">
                    <c:v>Nov</c:v>
                  </c:pt>
                  <c:pt idx="11">
                    <c:v>Dec</c:v>
                  </c:pt>
                </c:lvl>
              </c:multiLvlStrCache>
            </c:multiLvlStrRef>
          </c:cat>
          <c:val>
            <c:numRef>
              <c:f>Sheet1!$B$2:$B$13</c:f>
              <c:numCache>
                <c:formatCode>General</c:formatCode>
                <c:ptCount val="12"/>
                <c:pt idx="0">
                  <c:v/>
                </c:pt>
                <c:pt idx="1">
                  <c:v>4.54</c:v>
                </c:pt>
                <c:pt idx="2">
                  <c:v>5.97</c:v>
                </c:pt>
                <c:pt idx="3">
                  <c:v>6.14</c:v>
                </c:pt>
                <c:pt idx="4">
                  <c:v/>
                </c:pt>
                <c:pt idx="5">
                  <c:v>5.82</c:v>
                </c:pt>
                <c:pt idx="6">
                  <c:v>6.72</c:v>
                </c:pt>
                <c:pt idx="7">
                  <c:v>5.99</c:v>
                </c:pt>
                <c:pt idx="8">
                  <c:v>5.53</c:v>
                </c:pt>
                <c:pt idx="9">
                  <c:v/>
                </c:pt>
                <c:pt idx="10">
                  <c:v/>
                </c:pt>
                <c:pt idx="11">
                  <c:v/>
                </c:pt>
              </c:numCache>
            </c:numRef>
          </c:val>
          <c:smooth val="0"/>
        </c:ser>
        <c:dLbls>
          <c:numFmt formatCode="0.0" sourceLinked="0"/>
          <c:txPr>
            <a:bodyPr/>
            <a:lstStyle/>
            <a:p>
              <a:pPr>
                <a:defRPr b="0" i="0" strike="noStrike" sz="1400" u="none">
                  <a:solidFill>
                    <a:srgbClr val="1A1A1A"/>
                  </a:solidFill>
                  <a:latin typeface="+mn-lt"/>
                </a:defRPr>
              </a:pPr>
            </a:p>
          </c:txPr>
          <c:dLblPos val="t"/>
          <c:showLegendKey val="0"/>
          <c:showVal val="1"/>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400" b="0" i="0" u="none" strike="noStrike">
                <a:solidFill>
                  <a:srgbClr val="FFFFFF"/>
                </a:solidFill>
                <a:latin typeface="+mn-lt"/>
              </a:defRPr>
            </a:pPr>
            <a:endParaRPr lang="en-US"/>
          </a:p>
        </c:txPr>
        <c:crossAx val="2094734552"/>
        <c:crosses val="min"/>
        <c:auto val="1"/>
        <c:lblAlgn val="ctr"/>
        <c:noMultiLvlLbl val="1"/>
      </c:catAx>
      <c:valAx>
        <c:axId val="2094734552"/>
        <c:scaling>
          <c:orientation val="minMax"/>
          <c:max val="8"/>
          <c:min val="2"/>
        </c:scaling>
        <c:delete val="0"/>
        <c:axPos val="l"/>
        <c:numFmt formatCode="$0&quot;M&quot;" sourceLinked="0"/>
        <c:majorTickMark val="out"/>
        <c:minorTickMark val="none"/>
        <c:tickLblPos val="nextTo"/>
        <c:spPr>
          <a:ln w="12700" cap="flat">
            <a:noFill/>
            <a:prstDash val="solid"/>
            <a:round/>
          </a:ln>
        </c:spPr>
        <c:txPr>
          <a:bodyPr/>
          <a:lstStyle/>
          <a:p>
            <a:pPr>
              <a:defRPr sz="1400" b="0" i="0" u="none" strike="noStrike">
                <a:solidFill>
                  <a:srgbClr val="FFFFFF"/>
                </a:solidFill>
                <a:latin typeface="+mn-lt"/>
              </a:defRPr>
            </a:pPr>
            <a:endParaRPr lang="en-US"/>
          </a:p>
        </c:txPr>
        <c:crossAx val="2094734554"/>
        <c:crosses val="autoZero"/>
        <c:crossBetween val="between"/>
        <c:majorUnit val="2"/>
      </c:valAx>
      <c:spPr>
        <a:solidFill>
          <a:srgbClr val="FFFFFF">
            <a:alpha val="0"/>
          </a:srgbClr>
        </a:solidFill>
        <a:ln>
          <a:noFill/>
        </a:ln>
        <a:effectLst/>
      </c:spPr>
    </c:plotArea>
    <c:plotVisOnly val="1"/>
    <c:dispBlanksAs val="span"/>
  </c:chart>
  <c:spPr>
    <a:solidFill>
      <a:srgbClr val="FFFFFF">
        <a:alpha val="0"/>
      </a:srgbClr>
    </a:solid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2026</c:v>
                </c:pt>
              </c:strCache>
            </c:strRef>
          </c:tx>
          <c:spPr>
            <a:solidFill>
              <a:srgbClr val="2587C5"/>
            </a:solidFill>
            <a:ln>
              <a:noFill/>
            </a:ln>
            <a:effectLst/>
          </c:spPr>
          <c:invertIfNegative val="0"/>
          <c:dLbls>
            <c:numFmt formatCode="0.0" sourceLinked="0"/>
            <c:txPr>
              <a:bodyPr/>
              <a:lstStyle/>
              <a:p>
                <a:pPr>
                  <a:defRPr b="0" i="0" strike="noStrike" sz="1400" u="none">
                    <a:solidFill>
                      <a:srgbClr val="1A1A1A"/>
                    </a:solidFill>
                    <a:latin typeface="+mn-lt"/>
                  </a:defRPr>
                </a:pPr>
              </a:p>
            </c:txPr>
            <c:dLblPos val="b"/>
            <c:showLegendKey val="0"/>
            <c:showVal val="1"/>
            <c:showCatName val="0"/>
            <c:showSerName val="0"/>
            <c:showPercent val="0"/>
            <c:showBubbleSize val="0"/>
            <c:showLeaderLines val="0"/>
          </c:dLbls>
          <c:marker>
            <c:symbol val="none"/>
            <c:size val="8"/>
            <c:spPr>
              <a:solidFill>
                <a:srgbClr val="2587C5"/>
              </a:solidFill>
              <a:ln w="9525" cap="flat">
                <a:solidFill>
                  <a:srgbClr val="2587C5"/>
                </a:solidFill>
                <a:prstDash val="solid"/>
                <a:round/>
              </a:ln>
              <a:effectLst/>
            </c:spPr>
          </c:marker>
          <c:cat>
            <c:multiLvlStrRef>
              <c:f>Sheet1!$A$2:$A$13</c:f>
              <c:multiLvlStrCache>
                <c:ptCount val="12"/>
                <c:lvl>
                  <c:pt idx="0">
                    <c:v>Jan</c:v>
                  </c:pt>
                  <c:pt idx="1">
                    <c:v>Feb</c:v>
                  </c:pt>
                  <c:pt idx="2">
                    <c:v>Mar</c:v>
                  </c:pt>
                  <c:pt idx="3">
                    <c:v>Apr</c:v>
                  </c:pt>
                  <c:pt idx="4">
                    <c:v>May</c:v>
                  </c:pt>
                  <c:pt idx="5">
                    <c:v>Jun</c:v>
                  </c:pt>
                  <c:pt idx="6">
                    <c:v>Jul</c:v>
                  </c:pt>
                  <c:pt idx="7">
                    <c:v>Aug</c:v>
                  </c:pt>
                  <c:pt idx="8">
                    <c:v>Sep</c:v>
                  </c:pt>
                  <c:pt idx="9">
                    <c:v>Oct</c:v>
                  </c:pt>
                  <c:pt idx="10">
                    <c:v>Nov</c:v>
                  </c:pt>
                  <c:pt idx="11">
                    <c:v>Dec</c:v>
                  </c:pt>
                </c:lvl>
              </c:multiLvlStrCache>
            </c:multiLvlStrRef>
          </c:cat>
          <c:val>
            <c:numRef>
              <c:f>Sheet1!$B$2:$B$13</c:f>
              <c:numCache>
                <c:formatCode>General</c:formatCode>
                <c:ptCount val="12"/>
                <c:pt idx="0">
                  <c:v>4.58</c:v>
                </c:pt>
                <c:pt idx="1">
                  <c:v/>
                </c:pt>
                <c:pt idx="2">
                  <c:v/>
                </c:pt>
                <c:pt idx="3">
                  <c:v/>
                </c:pt>
                <c:pt idx="4">
                  <c:v>5.16</c:v>
                </c:pt>
                <c:pt idx="5">
                  <c:v/>
                </c:pt>
                <c:pt idx="6">
                  <c:v/>
                </c:pt>
                <c:pt idx="7">
                  <c:v/>
                </c:pt>
                <c:pt idx="8">
                  <c:v/>
                </c:pt>
                <c:pt idx="9">
                  <c:v/>
                </c:pt>
                <c:pt idx="10">
                  <c:v/>
                </c:pt>
                <c:pt idx="11">
                  <c:v/>
                </c:pt>
              </c:numCache>
            </c:numRef>
          </c:val>
          <c:smooth val="0"/>
        </c:ser>
        <c:dLbls>
          <c:numFmt formatCode="0.0" sourceLinked="0"/>
          <c:txPr>
            <a:bodyPr/>
            <a:lstStyle/>
            <a:p>
              <a:pPr>
                <a:defRPr b="0" i="0" strike="noStrike" sz="1400" u="none">
                  <a:solidFill>
                    <a:srgbClr val="1A1A1A"/>
                  </a:solidFill>
                  <a:latin typeface="+mn-lt"/>
                </a:defRPr>
              </a:pPr>
            </a:p>
          </c:txPr>
          <c:dLblPos val="b"/>
          <c:showLegendKey val="0"/>
          <c:showVal val="1"/>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400" b="0" i="0" u="none" strike="noStrike">
                <a:solidFill>
                  <a:srgbClr val="FFFFFF"/>
                </a:solidFill>
                <a:latin typeface="+mn-lt"/>
              </a:defRPr>
            </a:pPr>
            <a:endParaRPr lang="en-US"/>
          </a:p>
        </c:txPr>
        <c:crossAx val="2094734552"/>
        <c:crosses val="min"/>
        <c:auto val="1"/>
        <c:lblAlgn val="ctr"/>
        <c:noMultiLvlLbl val="1"/>
      </c:catAx>
      <c:valAx>
        <c:axId val="2094734552"/>
        <c:scaling>
          <c:orientation val="minMax"/>
          <c:max val="8"/>
          <c:min val="2"/>
        </c:scaling>
        <c:delete val="0"/>
        <c:axPos val="l"/>
        <c:numFmt formatCode="$0&quot;M&quot;" sourceLinked="0"/>
        <c:majorTickMark val="out"/>
        <c:minorTickMark val="none"/>
        <c:tickLblPos val="nextTo"/>
        <c:spPr>
          <a:ln w="12700" cap="flat">
            <a:noFill/>
            <a:prstDash val="solid"/>
            <a:round/>
          </a:ln>
        </c:spPr>
        <c:txPr>
          <a:bodyPr/>
          <a:lstStyle/>
          <a:p>
            <a:pPr>
              <a:defRPr sz="1400" b="0" i="0" u="none" strike="noStrike">
                <a:solidFill>
                  <a:srgbClr val="FFFFFF"/>
                </a:solidFill>
                <a:latin typeface="+mn-lt"/>
              </a:defRPr>
            </a:pPr>
            <a:endParaRPr lang="en-US"/>
          </a:p>
        </c:txPr>
        <c:crossAx val="2094734554"/>
        <c:crosses val="autoZero"/>
        <c:crossBetween val="between"/>
        <c:majorUnit val="2"/>
      </c:valAx>
      <c:spPr>
        <a:solidFill>
          <a:srgbClr val="FFFFFF">
            <a:alpha val="0"/>
          </a:srgbClr>
        </a:solidFill>
        <a:ln>
          <a:noFill/>
        </a:ln>
        <a:effectLst/>
      </c:spPr>
    </c:plotArea>
    <c:plotVisOnly val="1"/>
    <c:dispBlanksAs val="span"/>
  </c:chart>
  <c:spPr>
    <a:solidFill>
      <a:srgbClr val="FFFFFF">
        <a:alpha val="0"/>
      </a:srgbClr>
    </a:solid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2025</c:v>
                </c:pt>
              </c:strCache>
            </c:strRef>
          </c:tx>
          <c:spPr>
            <a:solidFill>
              <a:srgbClr val="9AA3AD"/>
            </a:solidFill>
            <a:ln>
              <a:noFill/>
            </a:ln>
            <a:effectLst/>
          </c:spPr>
          <c:invertIfNegative val="0"/>
          <c:dLbls>
            <c:numFmt formatCode="0.0" sourceLinked="0"/>
            <c:txPr>
              <a:bodyPr/>
              <a:lstStyle/>
              <a:p>
                <a:pPr>
                  <a:defRPr b="0" i="0" strike="noStrike" sz="1400" u="none">
                    <a:solidFill>
                      <a:srgbClr val="1A1A1A"/>
                    </a:solidFill>
                    <a:latin typeface="+mn-lt"/>
                  </a:defRPr>
                </a:pPr>
              </a:p>
            </c:txPr>
            <c:dLblPos val="t"/>
            <c:showLegendKey val="0"/>
            <c:showVal val="1"/>
            <c:showCatName val="0"/>
            <c:showSerName val="0"/>
            <c:showPercent val="0"/>
            <c:showBubbleSize val="0"/>
            <c:showLeaderLines val="0"/>
          </c:dLbls>
          <c:marker>
            <c:symbol val="none"/>
            <c:size val="8"/>
            <c:spPr>
              <a:solidFill>
                <a:srgbClr val="9AA3AD"/>
              </a:solidFill>
              <a:ln w="9525" cap="flat">
                <a:solidFill>
                  <a:srgbClr val="9AA3AD"/>
                </a:solidFill>
                <a:prstDash val="solid"/>
                <a:round/>
              </a:ln>
              <a:effectLst/>
            </c:spPr>
          </c:marker>
          <c:cat>
            <c:multiLvlStrRef>
              <c:f>Sheet1!$A$2:$A$13</c:f>
              <c:multiLvlStrCache>
                <c:ptCount val="12"/>
                <c:lvl>
                  <c:pt idx="0">
                    <c:v>Jan</c:v>
                  </c:pt>
                  <c:pt idx="1">
                    <c:v>Feb</c:v>
                  </c:pt>
                  <c:pt idx="2">
                    <c:v>Mar</c:v>
                  </c:pt>
                  <c:pt idx="3">
                    <c:v>Apr</c:v>
                  </c:pt>
                  <c:pt idx="4">
                    <c:v>May</c:v>
                  </c:pt>
                  <c:pt idx="5">
                    <c:v>Jun</c:v>
                  </c:pt>
                  <c:pt idx="6">
                    <c:v>Jul</c:v>
                  </c:pt>
                  <c:pt idx="7">
                    <c:v>Aug</c:v>
                  </c:pt>
                  <c:pt idx="8">
                    <c:v>Sep</c:v>
                  </c:pt>
                  <c:pt idx="9">
                    <c:v>Oct</c:v>
                  </c:pt>
                  <c:pt idx="10">
                    <c:v>Nov</c:v>
                  </c:pt>
                  <c:pt idx="11">
                    <c:v>Dec</c:v>
                  </c:pt>
                </c:lvl>
              </c:multiLvlStrCache>
            </c:multiLvlStrRef>
          </c:cat>
          <c:val>
            <c:numRef>
              <c:f>Sheet1!$B$2:$B$13</c:f>
              <c:numCache>
                <c:formatCode>General</c:formatCode>
                <c:ptCount val="12"/>
                <c:pt idx="0">
                  <c:v>5.05</c:v>
                </c:pt>
                <c:pt idx="1">
                  <c:v/>
                </c:pt>
                <c:pt idx="2">
                  <c:v/>
                </c:pt>
                <c:pt idx="3">
                  <c:v/>
                </c:pt>
                <c:pt idx="4">
                  <c:v>5.37</c:v>
                </c:pt>
                <c:pt idx="5">
                  <c:v/>
                </c:pt>
                <c:pt idx="6">
                  <c:v/>
                </c:pt>
                <c:pt idx="7">
                  <c:v/>
                </c:pt>
                <c:pt idx="8">
                  <c:v/>
                </c:pt>
                <c:pt idx="9">
                  <c:v>6.1</c:v>
                </c:pt>
                <c:pt idx="10">
                  <c:v/>
                </c:pt>
                <c:pt idx="11">
                  <c:v>4.32</c:v>
                </c:pt>
              </c:numCache>
            </c:numRef>
          </c:val>
          <c:smooth val="0"/>
        </c:ser>
        <c:dLbls>
          <c:numFmt formatCode="0.0" sourceLinked="0"/>
          <c:txPr>
            <a:bodyPr/>
            <a:lstStyle/>
            <a:p>
              <a:pPr>
                <a:defRPr b="0" i="0" strike="noStrike" sz="1400" u="none">
                  <a:solidFill>
                    <a:srgbClr val="1A1A1A"/>
                  </a:solidFill>
                  <a:latin typeface="+mn-lt"/>
                </a:defRPr>
              </a:pPr>
            </a:p>
          </c:txPr>
          <c:dLblPos val="t"/>
          <c:showLegendKey val="0"/>
          <c:showVal val="1"/>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400" b="0" i="0" u="none" strike="noStrike">
                <a:solidFill>
                  <a:srgbClr val="FFFFFF"/>
                </a:solidFill>
                <a:latin typeface="+mn-lt"/>
              </a:defRPr>
            </a:pPr>
            <a:endParaRPr lang="en-US"/>
          </a:p>
        </c:txPr>
        <c:crossAx val="2094734552"/>
        <c:crosses val="min"/>
        <c:auto val="1"/>
        <c:lblAlgn val="ctr"/>
        <c:noMultiLvlLbl val="1"/>
      </c:catAx>
      <c:valAx>
        <c:axId val="2094734552"/>
        <c:scaling>
          <c:orientation val="minMax"/>
          <c:max val="8"/>
          <c:min val="2"/>
        </c:scaling>
        <c:delete val="0"/>
        <c:axPos val="l"/>
        <c:numFmt formatCode="$0&quot;M&quot;" sourceLinked="0"/>
        <c:majorTickMark val="out"/>
        <c:minorTickMark val="none"/>
        <c:tickLblPos val="nextTo"/>
        <c:spPr>
          <a:ln w="12700" cap="flat">
            <a:noFill/>
            <a:prstDash val="solid"/>
            <a:round/>
          </a:ln>
        </c:spPr>
        <c:txPr>
          <a:bodyPr/>
          <a:lstStyle/>
          <a:p>
            <a:pPr>
              <a:defRPr sz="1400" b="0" i="0" u="none" strike="noStrike">
                <a:solidFill>
                  <a:srgbClr val="FFFFFF"/>
                </a:solidFill>
                <a:latin typeface="+mn-lt"/>
              </a:defRPr>
            </a:pPr>
            <a:endParaRPr lang="en-US"/>
          </a:p>
        </c:txPr>
        <c:crossAx val="2094734554"/>
        <c:crosses val="autoZero"/>
        <c:crossBetween val="between"/>
        <c:majorUnit val="2"/>
      </c:valAx>
      <c:spPr>
        <a:solidFill>
          <a:srgbClr val="FFFFFF">
            <a:alpha val="0"/>
          </a:srgbClr>
        </a:solidFill>
        <a:ln>
          <a:noFill/>
        </a:ln>
        <a:effectLst/>
      </c:spPr>
    </c:plotArea>
    <c:plotVisOnly val="1"/>
    <c:dispBlanksAs val="span"/>
  </c:chart>
  <c:spPr>
    <a:solidFill>
      <a:srgbClr val="FFFFFF">
        <a:alpha val="0"/>
      </a:srgbClr>
    </a:solid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2025</c:v>
                </c:pt>
              </c:strCache>
            </c:strRef>
          </c:tx>
          <c:spPr>
            <a:solidFill>
              <a:srgbClr val="9AA3AD"/>
            </a:solidFill>
            <a:ln>
              <a:noFill/>
            </a:ln>
            <a:effectLst/>
          </c:spPr>
          <c:invertIfNegative val="0"/>
          <c:dLbls>
            <c:numFmt formatCode="0.0" sourceLinked="0"/>
            <c:txPr>
              <a:bodyPr/>
              <a:lstStyle/>
              <a:p>
                <a:pPr>
                  <a:defRPr b="0" i="0" strike="noStrike" sz="1400" u="none">
                    <a:solidFill>
                      <a:srgbClr val="1A1A1A"/>
                    </a:solidFill>
                    <a:latin typeface="+mn-lt"/>
                  </a:defRPr>
                </a:pPr>
              </a:p>
            </c:txPr>
            <c:dLblPos val="b"/>
            <c:showLegendKey val="0"/>
            <c:showVal val="1"/>
            <c:showCatName val="0"/>
            <c:showSerName val="0"/>
            <c:showPercent val="0"/>
            <c:showBubbleSize val="0"/>
            <c:showLeaderLines val="0"/>
          </c:dLbls>
          <c:marker>
            <c:symbol val="none"/>
            <c:size val="8"/>
            <c:spPr>
              <a:solidFill>
                <a:srgbClr val="9AA3AD"/>
              </a:solidFill>
              <a:ln w="9525" cap="flat">
                <a:solidFill>
                  <a:srgbClr val="9AA3AD"/>
                </a:solidFill>
                <a:prstDash val="solid"/>
                <a:round/>
              </a:ln>
              <a:effectLst/>
            </c:spPr>
          </c:marker>
          <c:cat>
            <c:multiLvlStrRef>
              <c:f>Sheet1!$A$2:$A$13</c:f>
              <c:multiLvlStrCache>
                <c:ptCount val="12"/>
                <c:lvl>
                  <c:pt idx="0">
                    <c:v>Jan</c:v>
                  </c:pt>
                  <c:pt idx="1">
                    <c:v>Feb</c:v>
                  </c:pt>
                  <c:pt idx="2">
                    <c:v>Mar</c:v>
                  </c:pt>
                  <c:pt idx="3">
                    <c:v>Apr</c:v>
                  </c:pt>
                  <c:pt idx="4">
                    <c:v>May</c:v>
                  </c:pt>
                  <c:pt idx="5">
                    <c:v>Jun</c:v>
                  </c:pt>
                  <c:pt idx="6">
                    <c:v>Jul</c:v>
                  </c:pt>
                  <c:pt idx="7">
                    <c:v>Aug</c:v>
                  </c:pt>
                  <c:pt idx="8">
                    <c:v>Sep</c:v>
                  </c:pt>
                  <c:pt idx="9">
                    <c:v>Oct</c:v>
                  </c:pt>
                  <c:pt idx="10">
                    <c:v>Nov</c:v>
                  </c:pt>
                  <c:pt idx="11">
                    <c:v>Dec</c:v>
                  </c:pt>
                </c:lvl>
              </c:multiLvlStrCache>
            </c:multiLvlStrRef>
          </c:cat>
          <c:val>
            <c:numRef>
              <c:f>Sheet1!$B$2:$B$13</c:f>
              <c:numCache>
                <c:formatCode>General</c:formatCode>
                <c:ptCount val="12"/>
                <c:pt idx="0">
                  <c:v/>
                </c:pt>
                <c:pt idx="1">
                  <c:v>4.4</c:v>
                </c:pt>
                <c:pt idx="2">
                  <c:v>5.19</c:v>
                </c:pt>
                <c:pt idx="3">
                  <c:v>5.55</c:v>
                </c:pt>
                <c:pt idx="4">
                  <c:v/>
                </c:pt>
                <c:pt idx="5">
                  <c:v>5.22</c:v>
                </c:pt>
                <c:pt idx="6">
                  <c:v>5.56</c:v>
                </c:pt>
                <c:pt idx="7">
                  <c:v>5.08</c:v>
                </c:pt>
                <c:pt idx="8">
                  <c:v>3.91</c:v>
                </c:pt>
                <c:pt idx="9">
                  <c:v/>
                </c:pt>
                <c:pt idx="10">
                  <c:v>3.67</c:v>
                </c:pt>
                <c:pt idx="11">
                  <c:v/>
                </c:pt>
              </c:numCache>
            </c:numRef>
          </c:val>
          <c:smooth val="0"/>
        </c:ser>
        <c:dLbls>
          <c:numFmt formatCode="0.0" sourceLinked="0"/>
          <c:txPr>
            <a:bodyPr/>
            <a:lstStyle/>
            <a:p>
              <a:pPr>
                <a:defRPr b="0" i="0" strike="noStrike" sz="1400" u="none">
                  <a:solidFill>
                    <a:srgbClr val="1A1A1A"/>
                  </a:solidFill>
                  <a:latin typeface="+mn-lt"/>
                </a:defRPr>
              </a:pPr>
            </a:p>
          </c:txPr>
          <c:dLblPos val="b"/>
          <c:showLegendKey val="0"/>
          <c:showVal val="1"/>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400" b="0" i="0" u="none" strike="noStrike">
                <a:solidFill>
                  <a:srgbClr val="FFFFFF"/>
                </a:solidFill>
                <a:latin typeface="+mn-lt"/>
              </a:defRPr>
            </a:pPr>
            <a:endParaRPr lang="en-US"/>
          </a:p>
        </c:txPr>
        <c:crossAx val="2094734552"/>
        <c:crosses val="min"/>
        <c:auto val="1"/>
        <c:lblAlgn val="ctr"/>
        <c:noMultiLvlLbl val="1"/>
      </c:catAx>
      <c:valAx>
        <c:axId val="2094734552"/>
        <c:scaling>
          <c:orientation val="minMax"/>
          <c:max val="8"/>
          <c:min val="2"/>
        </c:scaling>
        <c:delete val="0"/>
        <c:axPos val="l"/>
        <c:numFmt formatCode="$0&quot;M&quot;" sourceLinked="0"/>
        <c:majorTickMark val="out"/>
        <c:minorTickMark val="none"/>
        <c:tickLblPos val="nextTo"/>
        <c:spPr>
          <a:ln w="12700" cap="flat">
            <a:noFill/>
            <a:prstDash val="solid"/>
            <a:round/>
          </a:ln>
        </c:spPr>
        <c:txPr>
          <a:bodyPr/>
          <a:lstStyle/>
          <a:p>
            <a:pPr>
              <a:defRPr sz="1400" b="0" i="0" u="none" strike="noStrike">
                <a:solidFill>
                  <a:srgbClr val="FFFFFF"/>
                </a:solidFill>
                <a:latin typeface="+mn-lt"/>
              </a:defRPr>
            </a:pPr>
            <a:endParaRPr lang="en-US"/>
          </a:p>
        </c:txPr>
        <c:crossAx val="2094734554"/>
        <c:crosses val="autoZero"/>
        <c:crossBetween val="between"/>
        <c:majorUnit val="2"/>
      </c:valAx>
      <c:spPr>
        <a:solidFill>
          <a:srgbClr val="FFFFFF">
            <a:alpha val="0"/>
          </a:srgbClr>
        </a:solidFill>
        <a:ln>
          <a:noFill/>
        </a:ln>
        <a:effectLst/>
      </c:spPr>
    </c:plotArea>
    <c:plotVisOnly val="1"/>
    <c:dispBlanksAs val="span"/>
  </c:chart>
  <c:spPr>
    <a:solidFill>
      <a:srgbClr val="FFFFFF">
        <a:alpha val="0"/>
      </a:srgbClr>
    </a:solid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2025</c:v>
                </c:pt>
              </c:strCache>
            </c:strRef>
          </c:tx>
          <c:spPr>
            <a:solidFill>
              <a:srgbClr val="9AA3AD"/>
            </a:solidFill>
            <a:ln w="38100" cap="flat">
              <a:solidFill>
                <a:srgbClr val="9AA3AD"/>
              </a:solidFill>
              <a:prstDash val="solid"/>
              <a:round/>
            </a:ln>
            <a:effectLst/>
          </c:spPr>
          <c:invertIfNegative val="0"/>
          <c:dLbls>
            <c:numFmt formatCode="0.0" sourceLinked="0"/>
            <c:txPr>
              <a:bodyPr/>
              <a:lstStyle/>
              <a:p>
                <a:pPr>
                  <a:defRPr b="0" i="0" strike="noStrike" sz="1400" u="none">
                    <a:solidFill>
                      <a:srgbClr val="1A1A1A"/>
                    </a:solidFill>
                    <a:latin typeface="+mn-lt"/>
                  </a:defRPr>
                </a:pPr>
              </a:p>
            </c:txPr>
            <c:showLegendKey val="0"/>
            <c:showVal val="0"/>
            <c:showCatName val="0"/>
            <c:showSerName val="0"/>
            <c:showPercent val="0"/>
            <c:showBubbleSize val="0"/>
            <c:showLeaderLines val="0"/>
          </c:dLbls>
          <c:marker>
            <c:symbol val="circle"/>
            <c:size val="8"/>
            <c:spPr>
              <a:solidFill>
                <a:srgbClr val="9AA3AD"/>
              </a:solidFill>
              <a:ln w="9525" cap="flat">
                <a:solidFill>
                  <a:srgbClr val="9AA3AD"/>
                </a:solidFill>
                <a:prstDash val="solid"/>
                <a:round/>
              </a:ln>
              <a:effectLst/>
            </c:spPr>
          </c:marker>
          <c:cat>
            <c:multiLvlStrRef>
              <c:f>Sheet1!$A$2:$A$13</c:f>
              <c:multiLvlStrCache>
                <c:ptCount val="12"/>
                <c:lvl>
                  <c:pt idx="0">
                    <c:v>Jan</c:v>
                  </c:pt>
                  <c:pt idx="1">
                    <c:v>Feb</c:v>
                  </c:pt>
                  <c:pt idx="2">
                    <c:v>Mar</c:v>
                  </c:pt>
                  <c:pt idx="3">
                    <c:v>Apr</c:v>
                  </c:pt>
                  <c:pt idx="4">
                    <c:v>May</c:v>
                  </c:pt>
                  <c:pt idx="5">
                    <c:v>Jun</c:v>
                  </c:pt>
                  <c:pt idx="6">
                    <c:v>Jul</c:v>
                  </c:pt>
                  <c:pt idx="7">
                    <c:v>Aug</c:v>
                  </c:pt>
                  <c:pt idx="8">
                    <c:v>Sep</c:v>
                  </c:pt>
                  <c:pt idx="9">
                    <c:v>Oct</c:v>
                  </c:pt>
                  <c:pt idx="10">
                    <c:v>Nov</c:v>
                  </c:pt>
                  <c:pt idx="11">
                    <c:v>Dec</c:v>
                  </c:pt>
                </c:lvl>
              </c:multiLvlStrCache>
            </c:multiLvlStrRef>
          </c:cat>
          <c:val>
            <c:numRef>
              <c:f>Sheet1!$B$2:$B$13</c:f>
              <c:numCache>
                <c:formatCode>General</c:formatCode>
                <c:ptCount val="12"/>
                <c:pt idx="0">
                  <c:v>5.05</c:v>
                </c:pt>
                <c:pt idx="1">
                  <c:v>4.4</c:v>
                </c:pt>
                <c:pt idx="2">
                  <c:v>5.19</c:v>
                </c:pt>
                <c:pt idx="3">
                  <c:v>5.55</c:v>
                </c:pt>
                <c:pt idx="4">
                  <c:v>5.37</c:v>
                </c:pt>
                <c:pt idx="5">
                  <c:v>5.22</c:v>
                </c:pt>
                <c:pt idx="6">
                  <c:v>5.56</c:v>
                </c:pt>
                <c:pt idx="7">
                  <c:v>5.08</c:v>
                </c:pt>
                <c:pt idx="8">
                  <c:v>3.91</c:v>
                </c:pt>
                <c:pt idx="9">
                  <c:v>6.1</c:v>
                </c:pt>
                <c:pt idx="10">
                  <c:v>3.67</c:v>
                </c:pt>
                <c:pt idx="11">
                  <c:v>4.32</c:v>
                </c:pt>
              </c:numCache>
            </c:numRef>
          </c:val>
          <c:smooth val="0"/>
        </c:ser>
        <c:dLbls>
          <c:numFmt formatCode="0.0" sourceLinked="0"/>
          <c:txPr>
            <a:bodyPr/>
            <a:lstStyle/>
            <a:p>
              <a:pPr>
                <a:defRPr b="0" i="0" strike="noStrike" sz="1400" u="none">
                  <a:solidFill>
                    <a:srgbClr val="1A1A1A"/>
                  </a:solidFill>
                  <a:latin typeface="+mn-lt"/>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400" b="0" i="0" u="none" strike="noStrike">
                <a:solidFill>
                  <a:srgbClr val="1A1A1A"/>
                </a:solidFill>
                <a:latin typeface="+mn-lt"/>
              </a:defRPr>
            </a:pPr>
            <a:endParaRPr lang="en-US"/>
          </a:p>
        </c:txPr>
        <c:crossAx val="2094734552"/>
        <c:crosses val="min"/>
        <c:auto val="1"/>
        <c:lblAlgn val="ctr"/>
        <c:noMultiLvlLbl val="1"/>
      </c:catAx>
      <c:valAx>
        <c:axId val="2094734552"/>
        <c:scaling>
          <c:orientation val="minMax"/>
          <c:max val="8"/>
          <c:min val="2"/>
        </c:scaling>
        <c:delete val="0"/>
        <c:axPos val="l"/>
        <c:numFmt formatCode="$0&quot;M&quot;" sourceLinked="0"/>
        <c:majorTickMark val="out"/>
        <c:minorTickMark val="none"/>
        <c:tickLblPos val="nextTo"/>
        <c:spPr>
          <a:ln w="12700" cap="flat">
            <a:noFill/>
            <a:prstDash val="solid"/>
            <a:round/>
          </a:ln>
        </c:spPr>
        <c:txPr>
          <a:bodyPr/>
          <a:lstStyle/>
          <a:p>
            <a:pPr>
              <a:defRPr sz="1400" b="0" i="0" u="none" strike="noStrike">
                <a:solidFill>
                  <a:srgbClr val="595959"/>
                </a:solidFill>
                <a:latin typeface="+mn-lt"/>
              </a:defRPr>
            </a:pPr>
            <a:endParaRPr lang="en-US"/>
          </a:p>
        </c:txPr>
        <c:crossAx val="2094734554"/>
        <c:crosses val="autoZero"/>
        <c:crossBetween val="between"/>
        <c:majorUnit val="2"/>
      </c:valAx>
      <c:spPr>
        <a:solidFill>
          <a:srgbClr val="FFFFFF">
            <a:alpha val="0"/>
          </a:srgbClr>
        </a:solidFill>
        <a:ln>
          <a:noFill/>
        </a:ln>
        <a:effectLst/>
      </c:spPr>
    </c:plotArea>
    <c:plotVisOnly val="1"/>
    <c:dispBlanksAs val="span"/>
  </c:chart>
  <c:spPr>
    <a:solidFill>
      <a:srgbClr val="FFFFFF">
        <a:alpha val="0"/>
      </a:srgbClr>
    </a:solidFill>
    <a:ln>
      <a:noFill/>
    </a:ln>
    <a:effectLst/>
  </c:sp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2026</c:v>
                </c:pt>
              </c:strCache>
            </c:strRef>
          </c:tx>
          <c:spPr>
            <a:solidFill>
              <a:srgbClr val="2587C5"/>
            </a:solidFill>
            <a:ln w="38100" cap="flat">
              <a:solidFill>
                <a:srgbClr val="2587C5"/>
              </a:solidFill>
              <a:prstDash val="solid"/>
              <a:round/>
            </a:ln>
            <a:effectLst/>
          </c:spPr>
          <c:invertIfNegative val="0"/>
          <c:dLbls>
            <c:numFmt formatCode="0.0" sourceLinked="0"/>
            <c:txPr>
              <a:bodyPr/>
              <a:lstStyle/>
              <a:p>
                <a:pPr>
                  <a:defRPr b="0" i="0" strike="noStrike" sz="1400" u="none">
                    <a:solidFill>
                      <a:srgbClr val="1A1A1A"/>
                    </a:solidFill>
                    <a:latin typeface="+mn-lt"/>
                  </a:defRPr>
                </a:pPr>
              </a:p>
            </c:txPr>
            <c:showLegendKey val="0"/>
            <c:showVal val="0"/>
            <c:showCatName val="0"/>
            <c:showSerName val="0"/>
            <c:showPercent val="0"/>
            <c:showBubbleSize val="0"/>
            <c:showLeaderLines val="0"/>
          </c:dLbls>
          <c:marker>
            <c:symbol val="circle"/>
            <c:size val="8"/>
            <c:spPr>
              <a:solidFill>
                <a:srgbClr val="2587C5"/>
              </a:solidFill>
              <a:ln w="9525" cap="flat">
                <a:solidFill>
                  <a:srgbClr val="2587C5"/>
                </a:solidFill>
                <a:prstDash val="solid"/>
                <a:round/>
              </a:ln>
              <a:effectLst/>
            </c:spPr>
          </c:marker>
          <c:cat>
            <c:multiLvlStrRef>
              <c:f>Sheet1!$A$2:$A$13</c:f>
              <c:multiLvlStrCache>
                <c:ptCount val="12"/>
                <c:lvl>
                  <c:pt idx="0">
                    <c:v>Jan</c:v>
                  </c:pt>
                  <c:pt idx="1">
                    <c:v>Feb</c:v>
                  </c:pt>
                  <c:pt idx="2">
                    <c:v>Mar</c:v>
                  </c:pt>
                  <c:pt idx="3">
                    <c:v>Apr</c:v>
                  </c:pt>
                  <c:pt idx="4">
                    <c:v>May</c:v>
                  </c:pt>
                  <c:pt idx="5">
                    <c:v>Jun</c:v>
                  </c:pt>
                  <c:pt idx="6">
                    <c:v>Jul</c:v>
                  </c:pt>
                  <c:pt idx="7">
                    <c:v>Aug</c:v>
                  </c:pt>
                  <c:pt idx="8">
                    <c:v>Sep</c:v>
                  </c:pt>
                  <c:pt idx="9">
                    <c:v>Oct</c:v>
                  </c:pt>
                  <c:pt idx="10">
                    <c:v>Nov</c:v>
                  </c:pt>
                  <c:pt idx="11">
                    <c:v>Dec</c:v>
                  </c:pt>
                </c:lvl>
              </c:multiLvlStrCache>
            </c:multiLvlStrRef>
          </c:cat>
          <c:val>
            <c:numRef>
              <c:f>Sheet1!$B$2:$B$13</c:f>
              <c:numCache>
                <c:formatCode>General</c:formatCode>
                <c:ptCount val="12"/>
                <c:pt idx="0">
                  <c:v>19.88</c:v>
                </c:pt>
                <c:pt idx="1">
                  <c:v>18.87</c:v>
                </c:pt>
                <c:pt idx="2">
                  <c:v>21.12</c:v>
                </c:pt>
                <c:pt idx="3">
                  <c:v>21.8</c:v>
                </c:pt>
                <c:pt idx="4">
                  <c:v>20.12</c:v>
                </c:pt>
                <c:pt idx="5">
                  <c:v>21.52</c:v>
                </c:pt>
                <c:pt idx="6">
                  <c:v>22.71</c:v>
                </c:pt>
                <c:pt idx="7">
                  <c:v>21.64</c:v>
                </c:pt>
                <c:pt idx="8">
                  <c:v>21.13</c:v>
                </c:pt>
                <c:pt idx="9">
                  <c:v/>
                </c:pt>
                <c:pt idx="10">
                  <c:v/>
                </c:pt>
                <c:pt idx="11">
                  <c:v/>
                </c:pt>
              </c:numCache>
            </c:numRef>
          </c:val>
          <c:smooth val="0"/>
        </c:ser>
        <c:dLbls>
          <c:numFmt formatCode="0.0" sourceLinked="0"/>
          <c:txPr>
            <a:bodyPr/>
            <a:lstStyle/>
            <a:p>
              <a:pPr>
                <a:defRPr b="0" i="0" strike="noStrike" sz="1400" u="none">
                  <a:solidFill>
                    <a:srgbClr val="1A1A1A"/>
                  </a:solidFill>
                  <a:latin typeface="+mn-lt"/>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400" b="0" i="0" u="none" strike="noStrike">
                <a:solidFill>
                  <a:srgbClr val="FFFFFF"/>
                </a:solidFill>
                <a:latin typeface="+mn-lt"/>
              </a:defRPr>
            </a:pPr>
            <a:endParaRPr lang="en-US"/>
          </a:p>
        </c:txPr>
        <c:crossAx val="2094734552"/>
        <c:crosses val="min"/>
        <c:auto val="1"/>
        <c:lblAlgn val="ctr"/>
        <c:noMultiLvlLbl val="1"/>
      </c:catAx>
      <c:valAx>
        <c:axId val="2094734552"/>
        <c:scaling>
          <c:orientation val="minMax"/>
          <c:max val="26"/>
          <c:min val="16"/>
        </c:scaling>
        <c:delete val="0"/>
        <c:axPos val="l"/>
        <c:majorGridlines>
          <c:spPr>
            <a:ln w="9525" cap="flat">
              <a:solidFill>
                <a:srgbClr val="D9D9D9"/>
              </a:solidFill>
              <a:prstDash val="solid"/>
              <a:round/>
            </a:ln>
          </c:spPr>
        </c:majorGridlines>
        <c:numFmt formatCode="$0&quot;M&quot;" sourceLinked="0"/>
        <c:majorTickMark val="out"/>
        <c:minorTickMark val="none"/>
        <c:tickLblPos val="nextTo"/>
        <c:spPr>
          <a:ln w="12700" cap="flat">
            <a:noFill/>
            <a:prstDash val="solid"/>
            <a:round/>
          </a:ln>
        </c:spPr>
        <c:txPr>
          <a:bodyPr/>
          <a:lstStyle/>
          <a:p>
            <a:pPr>
              <a:defRPr sz="1400" b="0" i="0" u="none" strike="noStrike">
                <a:solidFill>
                  <a:srgbClr val="FFFFFF"/>
                </a:solidFill>
                <a:latin typeface="+mn-lt"/>
              </a:defRPr>
            </a:pPr>
            <a:endParaRPr lang="en-US"/>
          </a:p>
        </c:txPr>
        <c:crossAx val="2094734554"/>
        <c:crosses val="autoZero"/>
        <c:crossBetween val="between"/>
        <c:majorUnit val="2"/>
      </c:valAx>
      <c:spPr>
        <a:noFill/>
        <a:ln>
          <a:noFill/>
        </a:ln>
        <a:effectLst/>
      </c:spPr>
    </c:plotArea>
    <c:plotVisOnly val="1"/>
    <c:dispBlanksAs val="span"/>
  </c:chart>
  <c:spPr>
    <a:noFill/>
    <a:ln>
      <a:noFill/>
    </a:ln>
    <a:effectLst/>
  </c:sp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2026</c:v>
                </c:pt>
              </c:strCache>
            </c:strRef>
          </c:tx>
          <c:spPr>
            <a:solidFill>
              <a:srgbClr val="2587C5"/>
            </a:solidFill>
            <a:ln>
              <a:noFill/>
            </a:ln>
            <a:effectLst/>
          </c:spPr>
          <c:invertIfNegative val="0"/>
          <c:dLbls>
            <c:numFmt formatCode="0.0" sourceLinked="0"/>
            <c:txPr>
              <a:bodyPr/>
              <a:lstStyle/>
              <a:p>
                <a:pPr>
                  <a:defRPr b="0" i="0" strike="noStrike" sz="1400" u="none">
                    <a:solidFill>
                      <a:srgbClr val="1A1A1A"/>
                    </a:solidFill>
                    <a:latin typeface="+mn-lt"/>
                  </a:defRPr>
                </a:pPr>
              </a:p>
            </c:txPr>
            <c:dLblPos val="t"/>
            <c:showLegendKey val="0"/>
            <c:showVal val="1"/>
            <c:showCatName val="0"/>
            <c:showSerName val="0"/>
            <c:showPercent val="0"/>
            <c:showBubbleSize val="0"/>
            <c:showLeaderLines val="0"/>
          </c:dLbls>
          <c:marker>
            <c:symbol val="none"/>
            <c:size val="8"/>
            <c:spPr>
              <a:solidFill>
                <a:srgbClr val="2587C5"/>
              </a:solidFill>
              <a:ln w="9525" cap="flat">
                <a:solidFill>
                  <a:srgbClr val="2587C5"/>
                </a:solidFill>
                <a:prstDash val="solid"/>
                <a:round/>
              </a:ln>
              <a:effectLst/>
            </c:spPr>
          </c:marker>
          <c:cat>
            <c:multiLvlStrRef>
              <c:f>Sheet1!$A$2:$A$13</c:f>
              <c:multiLvlStrCache>
                <c:ptCount val="12"/>
                <c:lvl>
                  <c:pt idx="0">
                    <c:v>Jan</c:v>
                  </c:pt>
                  <c:pt idx="1">
                    <c:v>Feb</c:v>
                  </c:pt>
                  <c:pt idx="2">
                    <c:v>Mar</c:v>
                  </c:pt>
                  <c:pt idx="3">
                    <c:v>Apr</c:v>
                  </c:pt>
                  <c:pt idx="4">
                    <c:v>May</c:v>
                  </c:pt>
                  <c:pt idx="5">
                    <c:v>Jun</c:v>
                  </c:pt>
                  <c:pt idx="6">
                    <c:v>Jul</c:v>
                  </c:pt>
                  <c:pt idx="7">
                    <c:v>Aug</c:v>
                  </c:pt>
                  <c:pt idx="8">
                    <c:v>Sep</c:v>
                  </c:pt>
                  <c:pt idx="9">
                    <c:v>Oct</c:v>
                  </c:pt>
                  <c:pt idx="10">
                    <c:v>Nov</c:v>
                  </c:pt>
                  <c:pt idx="11">
                    <c:v>Dec</c:v>
                  </c:pt>
                </c:lvl>
              </c:multiLvlStrCache>
            </c:multiLvlStrRef>
          </c:cat>
          <c:val>
            <c:numRef>
              <c:f>Sheet1!$B$2:$B$13</c:f>
              <c:numCache>
                <c:formatCode>General</c:formatCode>
                <c:ptCount val="12"/>
                <c:pt idx="0">
                  <c:v/>
                </c:pt>
                <c:pt idx="1">
                  <c:v/>
                </c:pt>
                <c:pt idx="2">
                  <c:v>21.12</c:v>
                </c:pt>
                <c:pt idx="3">
                  <c:v>21.8</c:v>
                </c:pt>
                <c:pt idx="4">
                  <c:v/>
                </c:pt>
                <c:pt idx="5">
                  <c:v>21.52</c:v>
                </c:pt>
                <c:pt idx="6">
                  <c:v>22.71</c:v>
                </c:pt>
                <c:pt idx="7">
                  <c:v>21.64</c:v>
                </c:pt>
                <c:pt idx="8">
                  <c:v>21.13</c:v>
                </c:pt>
                <c:pt idx="9">
                  <c:v/>
                </c:pt>
                <c:pt idx="10">
                  <c:v/>
                </c:pt>
                <c:pt idx="11">
                  <c:v/>
                </c:pt>
              </c:numCache>
            </c:numRef>
          </c:val>
          <c:smooth val="0"/>
        </c:ser>
        <c:dLbls>
          <c:numFmt formatCode="0.0" sourceLinked="0"/>
          <c:txPr>
            <a:bodyPr/>
            <a:lstStyle/>
            <a:p>
              <a:pPr>
                <a:defRPr b="0" i="0" strike="noStrike" sz="1400" u="none">
                  <a:solidFill>
                    <a:srgbClr val="1A1A1A"/>
                  </a:solidFill>
                  <a:latin typeface="+mn-lt"/>
                </a:defRPr>
              </a:pPr>
            </a:p>
          </c:txPr>
          <c:dLblPos val="t"/>
          <c:showLegendKey val="0"/>
          <c:showVal val="1"/>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400" b="0" i="0" u="none" strike="noStrike">
                <a:solidFill>
                  <a:srgbClr val="FFFFFF"/>
                </a:solidFill>
                <a:latin typeface="+mn-lt"/>
              </a:defRPr>
            </a:pPr>
            <a:endParaRPr lang="en-US"/>
          </a:p>
        </c:txPr>
        <c:crossAx val="2094734552"/>
        <c:crosses val="min"/>
        <c:auto val="1"/>
        <c:lblAlgn val="ctr"/>
        <c:noMultiLvlLbl val="1"/>
      </c:catAx>
      <c:valAx>
        <c:axId val="2094734552"/>
        <c:scaling>
          <c:orientation val="minMax"/>
          <c:max val="26"/>
          <c:min val="16"/>
        </c:scaling>
        <c:delete val="0"/>
        <c:axPos val="l"/>
        <c:numFmt formatCode="$0&quot;M&quot;" sourceLinked="0"/>
        <c:majorTickMark val="out"/>
        <c:minorTickMark val="none"/>
        <c:tickLblPos val="nextTo"/>
        <c:spPr>
          <a:ln w="12700" cap="flat">
            <a:noFill/>
            <a:prstDash val="solid"/>
            <a:round/>
          </a:ln>
        </c:spPr>
        <c:txPr>
          <a:bodyPr/>
          <a:lstStyle/>
          <a:p>
            <a:pPr>
              <a:defRPr sz="1400" b="0" i="0" u="none" strike="noStrike">
                <a:solidFill>
                  <a:srgbClr val="FFFFFF"/>
                </a:solidFill>
                <a:latin typeface="+mn-lt"/>
              </a:defRPr>
            </a:pPr>
            <a:endParaRPr lang="en-US"/>
          </a:p>
        </c:txPr>
        <c:crossAx val="2094734554"/>
        <c:crosses val="autoZero"/>
        <c:crossBetween val="between"/>
        <c:majorUnit val="2"/>
      </c:valAx>
      <c:spPr>
        <a:solidFill>
          <a:srgbClr val="FFFFFF">
            <a:alpha val="0"/>
          </a:srgbClr>
        </a:solidFill>
        <a:ln>
          <a:noFill/>
        </a:ln>
        <a:effectLst/>
      </c:spPr>
    </c:plotArea>
    <c:plotVisOnly val="1"/>
    <c:dispBlanksAs val="span"/>
  </c:chart>
  <c:spPr>
    <a:solidFill>
      <a:srgbClr val="FFFFFF">
        <a:alpha val="0"/>
      </a:srgbClr>
    </a:solidFill>
    <a:ln>
      <a:noFill/>
    </a:ln>
    <a:effectLst/>
  </c:sp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2026</c:v>
                </c:pt>
              </c:strCache>
            </c:strRef>
          </c:tx>
          <c:spPr>
            <a:solidFill>
              <a:srgbClr val="2587C5"/>
            </a:solidFill>
            <a:ln>
              <a:noFill/>
            </a:ln>
            <a:effectLst/>
          </c:spPr>
          <c:invertIfNegative val="0"/>
          <c:dLbls>
            <c:numFmt formatCode="0.0" sourceLinked="0"/>
            <c:txPr>
              <a:bodyPr/>
              <a:lstStyle/>
              <a:p>
                <a:pPr>
                  <a:defRPr b="0" i="0" strike="noStrike" sz="1400" u="none">
                    <a:solidFill>
                      <a:srgbClr val="1A1A1A"/>
                    </a:solidFill>
                    <a:latin typeface="+mn-lt"/>
                  </a:defRPr>
                </a:pPr>
              </a:p>
            </c:txPr>
            <c:dLblPos val="b"/>
            <c:showLegendKey val="0"/>
            <c:showVal val="1"/>
            <c:showCatName val="0"/>
            <c:showSerName val="0"/>
            <c:showPercent val="0"/>
            <c:showBubbleSize val="0"/>
            <c:showLeaderLines val="0"/>
          </c:dLbls>
          <c:marker>
            <c:symbol val="none"/>
            <c:size val="8"/>
            <c:spPr>
              <a:solidFill>
                <a:srgbClr val="2587C5"/>
              </a:solidFill>
              <a:ln w="9525" cap="flat">
                <a:solidFill>
                  <a:srgbClr val="2587C5"/>
                </a:solidFill>
                <a:prstDash val="solid"/>
                <a:round/>
              </a:ln>
              <a:effectLst/>
            </c:spPr>
          </c:marker>
          <c:cat>
            <c:multiLvlStrRef>
              <c:f>Sheet1!$A$2:$A$13</c:f>
              <c:multiLvlStrCache>
                <c:ptCount val="12"/>
                <c:lvl>
                  <c:pt idx="0">
                    <c:v>Jan</c:v>
                  </c:pt>
                  <c:pt idx="1">
                    <c:v>Feb</c:v>
                  </c:pt>
                  <c:pt idx="2">
                    <c:v>Mar</c:v>
                  </c:pt>
                  <c:pt idx="3">
                    <c:v>Apr</c:v>
                  </c:pt>
                  <c:pt idx="4">
                    <c:v>May</c:v>
                  </c:pt>
                  <c:pt idx="5">
                    <c:v>Jun</c:v>
                  </c:pt>
                  <c:pt idx="6">
                    <c:v>Jul</c:v>
                  </c:pt>
                  <c:pt idx="7">
                    <c:v>Aug</c:v>
                  </c:pt>
                  <c:pt idx="8">
                    <c:v>Sep</c:v>
                  </c:pt>
                  <c:pt idx="9">
                    <c:v>Oct</c:v>
                  </c:pt>
                  <c:pt idx="10">
                    <c:v>Nov</c:v>
                  </c:pt>
                  <c:pt idx="11">
                    <c:v>Dec</c:v>
                  </c:pt>
                </c:lvl>
              </c:multiLvlStrCache>
            </c:multiLvlStrRef>
          </c:cat>
          <c:val>
            <c:numRef>
              <c:f>Sheet1!$B$2:$B$13</c:f>
              <c:numCache>
                <c:formatCode>General</c:formatCode>
                <c:ptCount val="12"/>
                <c:pt idx="0">
                  <c:v>19.88</c:v>
                </c:pt>
                <c:pt idx="1">
                  <c:v>18.87</c:v>
                </c:pt>
                <c:pt idx="2">
                  <c:v/>
                </c:pt>
                <c:pt idx="3">
                  <c:v/>
                </c:pt>
                <c:pt idx="4">
                  <c:v>20.12</c:v>
                </c:pt>
                <c:pt idx="5">
                  <c:v/>
                </c:pt>
                <c:pt idx="6">
                  <c:v/>
                </c:pt>
                <c:pt idx="7">
                  <c:v/>
                </c:pt>
                <c:pt idx="8">
                  <c:v/>
                </c:pt>
                <c:pt idx="9">
                  <c:v/>
                </c:pt>
                <c:pt idx="10">
                  <c:v/>
                </c:pt>
                <c:pt idx="11">
                  <c:v/>
                </c:pt>
              </c:numCache>
            </c:numRef>
          </c:val>
          <c:smooth val="0"/>
        </c:ser>
        <c:dLbls>
          <c:numFmt formatCode="0.0" sourceLinked="0"/>
          <c:txPr>
            <a:bodyPr/>
            <a:lstStyle/>
            <a:p>
              <a:pPr>
                <a:defRPr b="0" i="0" strike="noStrike" sz="1400" u="none">
                  <a:solidFill>
                    <a:srgbClr val="1A1A1A"/>
                  </a:solidFill>
                  <a:latin typeface="+mn-lt"/>
                </a:defRPr>
              </a:pPr>
            </a:p>
          </c:txPr>
          <c:dLblPos val="b"/>
          <c:showLegendKey val="0"/>
          <c:showVal val="1"/>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400" b="0" i="0" u="none" strike="noStrike">
                <a:solidFill>
                  <a:srgbClr val="FFFFFF"/>
                </a:solidFill>
                <a:latin typeface="+mn-lt"/>
              </a:defRPr>
            </a:pPr>
            <a:endParaRPr lang="en-US"/>
          </a:p>
        </c:txPr>
        <c:crossAx val="2094734552"/>
        <c:crosses val="min"/>
        <c:auto val="1"/>
        <c:lblAlgn val="ctr"/>
        <c:noMultiLvlLbl val="1"/>
      </c:catAx>
      <c:valAx>
        <c:axId val="2094734552"/>
        <c:scaling>
          <c:orientation val="minMax"/>
          <c:max val="26"/>
          <c:min val="16"/>
        </c:scaling>
        <c:delete val="0"/>
        <c:axPos val="l"/>
        <c:numFmt formatCode="$0&quot;M&quot;" sourceLinked="0"/>
        <c:majorTickMark val="out"/>
        <c:minorTickMark val="none"/>
        <c:tickLblPos val="nextTo"/>
        <c:spPr>
          <a:ln w="12700" cap="flat">
            <a:noFill/>
            <a:prstDash val="solid"/>
            <a:round/>
          </a:ln>
        </c:spPr>
        <c:txPr>
          <a:bodyPr/>
          <a:lstStyle/>
          <a:p>
            <a:pPr>
              <a:defRPr sz="1400" b="0" i="0" u="none" strike="noStrike">
                <a:solidFill>
                  <a:srgbClr val="FFFFFF"/>
                </a:solidFill>
                <a:latin typeface="+mn-lt"/>
              </a:defRPr>
            </a:pPr>
            <a:endParaRPr lang="en-US"/>
          </a:p>
        </c:txPr>
        <c:crossAx val="2094734554"/>
        <c:crosses val="autoZero"/>
        <c:crossBetween val="between"/>
        <c:majorUnit val="2"/>
      </c:valAx>
      <c:spPr>
        <a:solidFill>
          <a:srgbClr val="FFFFFF">
            <a:alpha val="0"/>
          </a:srgbClr>
        </a:solidFill>
        <a:ln>
          <a:noFill/>
        </a:ln>
        <a:effectLst/>
      </c:spPr>
    </c:plotArea>
    <c:plotVisOnly val="1"/>
    <c:dispBlanksAs val="span"/>
  </c:chart>
  <c:spPr>
    <a:solidFill>
      <a:srgbClr val="FFFFFF">
        <a:alpha val="0"/>
      </a:srgbClr>
    </a:solidFill>
    <a:ln>
      <a:noFill/>
    </a:ln>
    <a:effectLst/>
  </c:spPr>
  <c:externalData r:id="rId1">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2025</c:v>
                </c:pt>
              </c:strCache>
            </c:strRef>
          </c:tx>
          <c:spPr>
            <a:solidFill>
              <a:srgbClr val="9AA3AD"/>
            </a:solidFill>
            <a:ln>
              <a:noFill/>
            </a:ln>
            <a:effectLst/>
          </c:spPr>
          <c:invertIfNegative val="0"/>
          <c:dLbls>
            <c:numFmt formatCode="0.0" sourceLinked="0"/>
            <c:txPr>
              <a:bodyPr/>
              <a:lstStyle/>
              <a:p>
                <a:pPr>
                  <a:defRPr b="0" i="0" strike="noStrike" sz="1400" u="none">
                    <a:solidFill>
                      <a:srgbClr val="1A1A1A"/>
                    </a:solidFill>
                    <a:latin typeface="+mn-lt"/>
                  </a:defRPr>
                </a:pPr>
              </a:p>
            </c:txPr>
            <c:dLblPos val="t"/>
            <c:showLegendKey val="0"/>
            <c:showVal val="1"/>
            <c:showCatName val="0"/>
            <c:showSerName val="0"/>
            <c:showPercent val="0"/>
            <c:showBubbleSize val="0"/>
            <c:showLeaderLines val="0"/>
          </c:dLbls>
          <c:marker>
            <c:symbol val="none"/>
            <c:size val="8"/>
            <c:spPr>
              <a:solidFill>
                <a:srgbClr val="9AA3AD"/>
              </a:solidFill>
              <a:ln w="9525" cap="flat">
                <a:solidFill>
                  <a:srgbClr val="9AA3AD"/>
                </a:solidFill>
                <a:prstDash val="solid"/>
                <a:round/>
              </a:ln>
              <a:effectLst/>
            </c:spPr>
          </c:marker>
          <c:cat>
            <c:multiLvlStrRef>
              <c:f>Sheet1!$A$2:$A$13</c:f>
              <c:multiLvlStrCache>
                <c:ptCount val="12"/>
                <c:lvl>
                  <c:pt idx="0">
                    <c:v>Jan</c:v>
                  </c:pt>
                  <c:pt idx="1">
                    <c:v>Feb</c:v>
                  </c:pt>
                  <c:pt idx="2">
                    <c:v>Mar</c:v>
                  </c:pt>
                  <c:pt idx="3">
                    <c:v>Apr</c:v>
                  </c:pt>
                  <c:pt idx="4">
                    <c:v>May</c:v>
                  </c:pt>
                  <c:pt idx="5">
                    <c:v>Jun</c:v>
                  </c:pt>
                  <c:pt idx="6">
                    <c:v>Jul</c:v>
                  </c:pt>
                  <c:pt idx="7">
                    <c:v>Aug</c:v>
                  </c:pt>
                  <c:pt idx="8">
                    <c:v>Sep</c:v>
                  </c:pt>
                  <c:pt idx="9">
                    <c:v>Oct</c:v>
                  </c:pt>
                  <c:pt idx="10">
                    <c:v>Nov</c:v>
                  </c:pt>
                  <c:pt idx="11">
                    <c:v>Dec</c:v>
                  </c:pt>
                </c:lvl>
              </c:multiLvlStrCache>
            </c:multiLvlStrRef>
          </c:cat>
          <c:val>
            <c:numRef>
              <c:f>Sheet1!$B$2:$B$13</c:f>
              <c:numCache>
                <c:formatCode>General</c:formatCode>
                <c:ptCount val="12"/>
                <c:pt idx="0">
                  <c:v>20.46</c:v>
                </c:pt>
                <c:pt idx="1">
                  <c:v>19.1</c:v>
                </c:pt>
                <c:pt idx="2">
                  <c:v/>
                </c:pt>
                <c:pt idx="3">
                  <c:v/>
                </c:pt>
                <c:pt idx="4">
                  <c:v>20.28</c:v>
                </c:pt>
                <c:pt idx="5">
                  <c:v/>
                </c:pt>
                <c:pt idx="6">
                  <c:v/>
                </c:pt>
                <c:pt idx="7">
                  <c:v/>
                </c:pt>
                <c:pt idx="8">
                  <c:v/>
                </c:pt>
                <c:pt idx="9">
                  <c:v>21.27</c:v>
                </c:pt>
                <c:pt idx="10">
                  <c:v/>
                </c:pt>
                <c:pt idx="11">
                  <c:v>19.32</c:v>
                </c:pt>
              </c:numCache>
            </c:numRef>
          </c:val>
          <c:smooth val="0"/>
        </c:ser>
        <c:dLbls>
          <c:numFmt formatCode="0.0" sourceLinked="0"/>
          <c:txPr>
            <a:bodyPr/>
            <a:lstStyle/>
            <a:p>
              <a:pPr>
                <a:defRPr b="0" i="0" strike="noStrike" sz="1400" u="none">
                  <a:solidFill>
                    <a:srgbClr val="1A1A1A"/>
                  </a:solidFill>
                  <a:latin typeface="+mn-lt"/>
                </a:defRPr>
              </a:pPr>
            </a:p>
          </c:txPr>
          <c:dLblPos val="t"/>
          <c:showLegendKey val="0"/>
          <c:showVal val="1"/>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400" b="0" i="0" u="none" strike="noStrike">
                <a:solidFill>
                  <a:srgbClr val="FFFFFF"/>
                </a:solidFill>
                <a:latin typeface="+mn-lt"/>
              </a:defRPr>
            </a:pPr>
            <a:endParaRPr lang="en-US"/>
          </a:p>
        </c:txPr>
        <c:crossAx val="2094734552"/>
        <c:crosses val="min"/>
        <c:auto val="1"/>
        <c:lblAlgn val="ctr"/>
        <c:noMultiLvlLbl val="1"/>
      </c:catAx>
      <c:valAx>
        <c:axId val="2094734552"/>
        <c:scaling>
          <c:orientation val="minMax"/>
          <c:max val="26"/>
          <c:min val="16"/>
        </c:scaling>
        <c:delete val="0"/>
        <c:axPos val="l"/>
        <c:numFmt formatCode="$0&quot;M&quot;" sourceLinked="0"/>
        <c:majorTickMark val="out"/>
        <c:minorTickMark val="none"/>
        <c:tickLblPos val="nextTo"/>
        <c:spPr>
          <a:ln w="12700" cap="flat">
            <a:noFill/>
            <a:prstDash val="solid"/>
            <a:round/>
          </a:ln>
        </c:spPr>
        <c:txPr>
          <a:bodyPr/>
          <a:lstStyle/>
          <a:p>
            <a:pPr>
              <a:defRPr sz="1400" b="0" i="0" u="none" strike="noStrike">
                <a:solidFill>
                  <a:srgbClr val="FFFFFF"/>
                </a:solidFill>
                <a:latin typeface="+mn-lt"/>
              </a:defRPr>
            </a:pPr>
            <a:endParaRPr lang="en-US"/>
          </a:p>
        </c:txPr>
        <c:crossAx val="2094734554"/>
        <c:crosses val="autoZero"/>
        <c:crossBetween val="between"/>
        <c:majorUnit val="2"/>
      </c:valAx>
      <c:spPr>
        <a:solidFill>
          <a:srgbClr val="FFFFFF">
            <a:alpha val="0"/>
          </a:srgbClr>
        </a:solidFill>
        <a:ln>
          <a:noFill/>
        </a:ln>
        <a:effectLst/>
      </c:spPr>
    </c:plotArea>
    <c:plotVisOnly val="1"/>
    <c:dispBlanksAs val="span"/>
  </c:chart>
  <c:spPr>
    <a:solidFill>
      <a:srgbClr val="FFFFFF">
        <a:alpha val="0"/>
      </a:srgbClr>
    </a:solidFill>
    <a:ln>
      <a:noFill/>
    </a:ln>
    <a:effectLst/>
  </c:spPr>
  <c:externalData r:id="rId1">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2025</c:v>
                </c:pt>
              </c:strCache>
            </c:strRef>
          </c:tx>
          <c:spPr>
            <a:solidFill>
              <a:srgbClr val="9AA3AD"/>
            </a:solidFill>
            <a:ln>
              <a:noFill/>
            </a:ln>
            <a:effectLst/>
          </c:spPr>
          <c:invertIfNegative val="0"/>
          <c:dLbls>
            <c:numFmt formatCode="0.0" sourceLinked="0"/>
            <c:txPr>
              <a:bodyPr/>
              <a:lstStyle/>
              <a:p>
                <a:pPr>
                  <a:defRPr b="0" i="0" strike="noStrike" sz="1400" u="none">
                    <a:solidFill>
                      <a:srgbClr val="1A1A1A"/>
                    </a:solidFill>
                    <a:latin typeface="+mn-lt"/>
                  </a:defRPr>
                </a:pPr>
              </a:p>
            </c:txPr>
            <c:dLblPos val="b"/>
            <c:showLegendKey val="0"/>
            <c:showVal val="1"/>
            <c:showCatName val="0"/>
            <c:showSerName val="0"/>
            <c:showPercent val="0"/>
            <c:showBubbleSize val="0"/>
            <c:showLeaderLines val="0"/>
          </c:dLbls>
          <c:marker>
            <c:symbol val="none"/>
            <c:size val="8"/>
            <c:spPr>
              <a:solidFill>
                <a:srgbClr val="9AA3AD"/>
              </a:solidFill>
              <a:ln w="9525" cap="flat">
                <a:solidFill>
                  <a:srgbClr val="9AA3AD"/>
                </a:solidFill>
                <a:prstDash val="solid"/>
                <a:round/>
              </a:ln>
              <a:effectLst/>
            </c:spPr>
          </c:marker>
          <c:cat>
            <c:multiLvlStrRef>
              <c:f>Sheet1!$A$2:$A$13</c:f>
              <c:multiLvlStrCache>
                <c:ptCount val="12"/>
                <c:lvl>
                  <c:pt idx="0">
                    <c:v>Jan</c:v>
                  </c:pt>
                  <c:pt idx="1">
                    <c:v>Feb</c:v>
                  </c:pt>
                  <c:pt idx="2">
                    <c:v>Mar</c:v>
                  </c:pt>
                  <c:pt idx="3">
                    <c:v>Apr</c:v>
                  </c:pt>
                  <c:pt idx="4">
                    <c:v>May</c:v>
                  </c:pt>
                  <c:pt idx="5">
                    <c:v>Jun</c:v>
                  </c:pt>
                  <c:pt idx="6">
                    <c:v>Jul</c:v>
                  </c:pt>
                  <c:pt idx="7">
                    <c:v>Aug</c:v>
                  </c:pt>
                  <c:pt idx="8">
                    <c:v>Sep</c:v>
                  </c:pt>
                  <c:pt idx="9">
                    <c:v>Oct</c:v>
                  </c:pt>
                  <c:pt idx="10">
                    <c:v>Nov</c:v>
                  </c:pt>
                  <c:pt idx="11">
                    <c:v>Dec</c:v>
                  </c:pt>
                </c:lvl>
              </c:multiLvlStrCache>
            </c:multiLvlStrRef>
          </c:cat>
          <c:val>
            <c:numRef>
              <c:f>Sheet1!$B$2:$B$13</c:f>
              <c:numCache>
                <c:formatCode>General</c:formatCode>
                <c:ptCount val="12"/>
                <c:pt idx="0">
                  <c:v/>
                </c:pt>
                <c:pt idx="1">
                  <c:v/>
                </c:pt>
                <c:pt idx="2">
                  <c:v>20.19</c:v>
                </c:pt>
                <c:pt idx="3">
                  <c:v>20.85</c:v>
                </c:pt>
                <c:pt idx="4">
                  <c:v/>
                </c:pt>
                <c:pt idx="5">
                  <c:v>20.34</c:v>
                </c:pt>
                <c:pt idx="6">
                  <c:v>20.75</c:v>
                </c:pt>
                <c:pt idx="7">
                  <c:v>20.32</c:v>
                </c:pt>
                <c:pt idx="8">
                  <c:v>19.03</c:v>
                </c:pt>
                <c:pt idx="9">
                  <c:v/>
                </c:pt>
                <c:pt idx="10">
                  <c:v>17.74</c:v>
                </c:pt>
                <c:pt idx="11">
                  <c:v/>
                </c:pt>
              </c:numCache>
            </c:numRef>
          </c:val>
          <c:smooth val="0"/>
        </c:ser>
        <c:dLbls>
          <c:numFmt formatCode="0.0" sourceLinked="0"/>
          <c:txPr>
            <a:bodyPr/>
            <a:lstStyle/>
            <a:p>
              <a:pPr>
                <a:defRPr b="0" i="0" strike="noStrike" sz="1400" u="none">
                  <a:solidFill>
                    <a:srgbClr val="1A1A1A"/>
                  </a:solidFill>
                  <a:latin typeface="+mn-lt"/>
                </a:defRPr>
              </a:pPr>
            </a:p>
          </c:txPr>
          <c:dLblPos val="b"/>
          <c:showLegendKey val="0"/>
          <c:showVal val="1"/>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400" b="0" i="0" u="none" strike="noStrike">
                <a:solidFill>
                  <a:srgbClr val="FFFFFF"/>
                </a:solidFill>
                <a:latin typeface="+mn-lt"/>
              </a:defRPr>
            </a:pPr>
            <a:endParaRPr lang="en-US"/>
          </a:p>
        </c:txPr>
        <c:crossAx val="2094734552"/>
        <c:crosses val="min"/>
        <c:auto val="1"/>
        <c:lblAlgn val="ctr"/>
        <c:noMultiLvlLbl val="1"/>
      </c:catAx>
      <c:valAx>
        <c:axId val="2094734552"/>
        <c:scaling>
          <c:orientation val="minMax"/>
          <c:max val="26"/>
          <c:min val="16"/>
        </c:scaling>
        <c:delete val="0"/>
        <c:axPos val="l"/>
        <c:numFmt formatCode="$0&quot;M&quot;" sourceLinked="0"/>
        <c:majorTickMark val="out"/>
        <c:minorTickMark val="none"/>
        <c:tickLblPos val="nextTo"/>
        <c:spPr>
          <a:ln w="12700" cap="flat">
            <a:noFill/>
            <a:prstDash val="solid"/>
            <a:round/>
          </a:ln>
        </c:spPr>
        <c:txPr>
          <a:bodyPr/>
          <a:lstStyle/>
          <a:p>
            <a:pPr>
              <a:defRPr sz="1400" b="0" i="0" u="none" strike="noStrike">
                <a:solidFill>
                  <a:srgbClr val="FFFFFF"/>
                </a:solidFill>
                <a:latin typeface="+mn-lt"/>
              </a:defRPr>
            </a:pPr>
            <a:endParaRPr lang="en-US"/>
          </a:p>
        </c:txPr>
        <c:crossAx val="2094734554"/>
        <c:crosses val="autoZero"/>
        <c:crossBetween val="between"/>
        <c:majorUnit val="2"/>
      </c:valAx>
      <c:spPr>
        <a:solidFill>
          <a:srgbClr val="FFFFFF">
            <a:alpha val="0"/>
          </a:srgbClr>
        </a:solidFill>
        <a:ln>
          <a:noFill/>
        </a:ln>
        <a:effectLst/>
      </c:spPr>
    </c:plotArea>
    <c:plotVisOnly val="1"/>
    <c:dispBlanksAs val="span"/>
  </c:chart>
  <c:spPr>
    <a:solidFill>
      <a:srgbClr val="FFFFFF">
        <a:alpha val="0"/>
      </a:srgbClr>
    </a:solidFill>
    <a:ln>
      <a:noFill/>
    </a:ln>
    <a:effectLst/>
  </c:spPr>
  <c:externalData r:id="rId1">
    <c:autoUpdate val="0"/>
  </c:externalData>
</c:chartSpace>
</file>

<file path=ppt/charts/chart1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2025</c:v>
                </c:pt>
              </c:strCache>
            </c:strRef>
          </c:tx>
          <c:spPr>
            <a:solidFill>
              <a:srgbClr val="9AA3AD"/>
            </a:solidFill>
            <a:ln w="38100" cap="flat">
              <a:solidFill>
                <a:srgbClr val="9AA3AD"/>
              </a:solidFill>
              <a:prstDash val="solid"/>
              <a:round/>
            </a:ln>
            <a:effectLst/>
          </c:spPr>
          <c:invertIfNegative val="0"/>
          <c:dLbls>
            <c:numFmt formatCode="0.0" sourceLinked="0"/>
            <c:txPr>
              <a:bodyPr/>
              <a:lstStyle/>
              <a:p>
                <a:pPr>
                  <a:defRPr b="0" i="0" strike="noStrike" sz="1400" u="none">
                    <a:solidFill>
                      <a:srgbClr val="1A1A1A"/>
                    </a:solidFill>
                    <a:latin typeface="+mn-lt"/>
                  </a:defRPr>
                </a:pPr>
              </a:p>
            </c:txPr>
            <c:showLegendKey val="0"/>
            <c:showVal val="0"/>
            <c:showCatName val="0"/>
            <c:showSerName val="0"/>
            <c:showPercent val="0"/>
            <c:showBubbleSize val="0"/>
            <c:showLeaderLines val="0"/>
          </c:dLbls>
          <c:marker>
            <c:symbol val="circle"/>
            <c:size val="8"/>
            <c:spPr>
              <a:solidFill>
                <a:srgbClr val="9AA3AD"/>
              </a:solidFill>
              <a:ln w="9525" cap="flat">
                <a:solidFill>
                  <a:srgbClr val="9AA3AD"/>
                </a:solidFill>
                <a:prstDash val="solid"/>
                <a:round/>
              </a:ln>
              <a:effectLst/>
            </c:spPr>
          </c:marker>
          <c:cat>
            <c:multiLvlStrRef>
              <c:f>Sheet1!$A$2:$A$13</c:f>
              <c:multiLvlStrCache>
                <c:ptCount val="12"/>
                <c:lvl>
                  <c:pt idx="0">
                    <c:v>Jan</c:v>
                  </c:pt>
                  <c:pt idx="1">
                    <c:v>Feb</c:v>
                  </c:pt>
                  <c:pt idx="2">
                    <c:v>Mar</c:v>
                  </c:pt>
                  <c:pt idx="3">
                    <c:v>Apr</c:v>
                  </c:pt>
                  <c:pt idx="4">
                    <c:v>May</c:v>
                  </c:pt>
                  <c:pt idx="5">
                    <c:v>Jun</c:v>
                  </c:pt>
                  <c:pt idx="6">
                    <c:v>Jul</c:v>
                  </c:pt>
                  <c:pt idx="7">
                    <c:v>Aug</c:v>
                  </c:pt>
                  <c:pt idx="8">
                    <c:v>Sep</c:v>
                  </c:pt>
                  <c:pt idx="9">
                    <c:v>Oct</c:v>
                  </c:pt>
                  <c:pt idx="10">
                    <c:v>Nov</c:v>
                  </c:pt>
                  <c:pt idx="11">
                    <c:v>Dec</c:v>
                  </c:pt>
                </c:lvl>
              </c:multiLvlStrCache>
            </c:multiLvlStrRef>
          </c:cat>
          <c:val>
            <c:numRef>
              <c:f>Sheet1!$B$2:$B$13</c:f>
              <c:numCache>
                <c:formatCode>General</c:formatCode>
                <c:ptCount val="12"/>
                <c:pt idx="0">
                  <c:v>20.46</c:v>
                </c:pt>
                <c:pt idx="1">
                  <c:v>19.1</c:v>
                </c:pt>
                <c:pt idx="2">
                  <c:v>20.19</c:v>
                </c:pt>
                <c:pt idx="3">
                  <c:v>20.85</c:v>
                </c:pt>
                <c:pt idx="4">
                  <c:v>20.28</c:v>
                </c:pt>
                <c:pt idx="5">
                  <c:v>20.34</c:v>
                </c:pt>
                <c:pt idx="6">
                  <c:v>20.75</c:v>
                </c:pt>
                <c:pt idx="7">
                  <c:v>20.32</c:v>
                </c:pt>
                <c:pt idx="8">
                  <c:v>19.03</c:v>
                </c:pt>
                <c:pt idx="9">
                  <c:v>21.27</c:v>
                </c:pt>
                <c:pt idx="10">
                  <c:v>17.74</c:v>
                </c:pt>
                <c:pt idx="11">
                  <c:v>19.32</c:v>
                </c:pt>
              </c:numCache>
            </c:numRef>
          </c:val>
          <c:smooth val="0"/>
        </c:ser>
        <c:dLbls>
          <c:numFmt formatCode="0.0" sourceLinked="0"/>
          <c:txPr>
            <a:bodyPr/>
            <a:lstStyle/>
            <a:p>
              <a:pPr>
                <a:defRPr b="0" i="0" strike="noStrike" sz="1400" u="none">
                  <a:solidFill>
                    <a:srgbClr val="1A1A1A"/>
                  </a:solidFill>
                  <a:latin typeface="+mn-lt"/>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400" b="0" i="0" u="none" strike="noStrike">
                <a:solidFill>
                  <a:srgbClr val="1A1A1A"/>
                </a:solidFill>
                <a:latin typeface="+mn-lt"/>
              </a:defRPr>
            </a:pPr>
            <a:endParaRPr lang="en-US"/>
          </a:p>
        </c:txPr>
        <c:crossAx val="2094734552"/>
        <c:crosses val="min"/>
        <c:auto val="1"/>
        <c:lblAlgn val="ctr"/>
        <c:noMultiLvlLbl val="1"/>
      </c:catAx>
      <c:valAx>
        <c:axId val="2094734552"/>
        <c:scaling>
          <c:orientation val="minMax"/>
          <c:max val="26"/>
          <c:min val="16"/>
        </c:scaling>
        <c:delete val="0"/>
        <c:axPos val="l"/>
        <c:numFmt formatCode="$0&quot;M&quot;" sourceLinked="0"/>
        <c:majorTickMark val="out"/>
        <c:minorTickMark val="none"/>
        <c:tickLblPos val="nextTo"/>
        <c:spPr>
          <a:ln w="12700" cap="flat">
            <a:noFill/>
            <a:prstDash val="solid"/>
            <a:round/>
          </a:ln>
        </c:spPr>
        <c:txPr>
          <a:bodyPr/>
          <a:lstStyle/>
          <a:p>
            <a:pPr>
              <a:defRPr sz="1400" b="0" i="0" u="none" strike="noStrike">
                <a:solidFill>
                  <a:srgbClr val="595959"/>
                </a:solidFill>
                <a:latin typeface="+mn-lt"/>
              </a:defRPr>
            </a:pPr>
            <a:endParaRPr lang="en-US"/>
          </a:p>
        </c:txPr>
        <c:crossAx val="2094734554"/>
        <c:crosses val="autoZero"/>
        <c:crossBetween val="between"/>
        <c:majorUnit val="2"/>
      </c:valAx>
      <c:spPr>
        <a:solidFill>
          <a:srgbClr val="FFFFFF">
            <a:alpha val="0"/>
          </a:srgbClr>
        </a:solidFill>
        <a:ln>
          <a:noFill/>
        </a:ln>
        <a:effectLst/>
      </c:spPr>
    </c:plotArea>
    <c:plotVisOnly val="1"/>
    <c:dispBlanksAs val="span"/>
  </c:chart>
  <c:spPr>
    <a:solidFill>
      <a:srgbClr val="FFFFFF">
        <a:alpha val="0"/>
      </a:srgbClr>
    </a:solidFill>
    <a:ln>
      <a:noFill/>
    </a:ln>
    <a:effectLst/>
  </c:spPr>
  <c:externalData r:id="rId1">
    <c:autoUpdate val="0"/>
  </c:externalData>
</c:chartSpace>
</file>

<file path=ppt/charts/chart1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2026</c:v>
                </c:pt>
              </c:strCache>
            </c:strRef>
          </c:tx>
          <c:spPr>
            <a:solidFill>
              <a:srgbClr val="2587C5"/>
            </a:solidFill>
            <a:ln w="38100" cap="flat">
              <a:solidFill>
                <a:srgbClr val="2587C5"/>
              </a:solidFill>
              <a:prstDash val="solid"/>
              <a:round/>
            </a:ln>
            <a:effectLst/>
          </c:spPr>
          <c:invertIfNegative val="0"/>
          <c:dLbls>
            <c:numFmt formatCode="0.0" sourceLinked="0"/>
            <c:txPr>
              <a:bodyPr/>
              <a:lstStyle/>
              <a:p>
                <a:pPr>
                  <a:defRPr b="0" i="0" strike="noStrike" sz="1400" u="none">
                    <a:solidFill>
                      <a:srgbClr val="1A1A1A"/>
                    </a:solidFill>
                    <a:latin typeface="+mn-lt"/>
                  </a:defRPr>
                </a:pPr>
              </a:p>
            </c:txPr>
            <c:showLegendKey val="0"/>
            <c:showVal val="0"/>
            <c:showCatName val="0"/>
            <c:showSerName val="0"/>
            <c:showPercent val="0"/>
            <c:showBubbleSize val="0"/>
            <c:showLeaderLines val="0"/>
          </c:dLbls>
          <c:marker>
            <c:symbol val="circle"/>
            <c:size val="8"/>
            <c:spPr>
              <a:solidFill>
                <a:srgbClr val="2587C5"/>
              </a:solidFill>
              <a:ln w="9525" cap="flat">
                <a:solidFill>
                  <a:srgbClr val="2587C5"/>
                </a:solidFill>
                <a:prstDash val="solid"/>
                <a:round/>
              </a:ln>
              <a:effectLst/>
            </c:spPr>
          </c:marker>
          <c:cat>
            <c:multiLvlStrRef>
              <c:f>Sheet1!$A$2:$A$13</c:f>
              <c:multiLvlStrCache>
                <c:ptCount val="12"/>
                <c:lvl>
                  <c:pt idx="0">
                    <c:v>Jan</c:v>
                  </c:pt>
                  <c:pt idx="1">
                    <c:v>Feb</c:v>
                  </c:pt>
                  <c:pt idx="2">
                    <c:v>Mar</c:v>
                  </c:pt>
                  <c:pt idx="3">
                    <c:v>Apr</c:v>
                  </c:pt>
                  <c:pt idx="4">
                    <c:v>May</c:v>
                  </c:pt>
                  <c:pt idx="5">
                    <c:v>Jun</c:v>
                  </c:pt>
                  <c:pt idx="6">
                    <c:v>Jul</c:v>
                  </c:pt>
                  <c:pt idx="7">
                    <c:v>Aug</c:v>
                  </c:pt>
                  <c:pt idx="8">
                    <c:v>Sep</c:v>
                  </c:pt>
                  <c:pt idx="9">
                    <c:v>Oct</c:v>
                  </c:pt>
                  <c:pt idx="10">
                    <c:v>Nov</c:v>
                  </c:pt>
                  <c:pt idx="11">
                    <c:v>Dec</c:v>
                  </c:pt>
                </c:lvl>
              </c:multiLvlStrCache>
            </c:multiLvlStrRef>
          </c:cat>
          <c:val>
            <c:numRef>
              <c:f>Sheet1!$B$2:$B$13</c:f>
              <c:numCache>
                <c:formatCode>General</c:formatCode>
                <c:ptCount val="12"/>
                <c:pt idx="0">
                  <c:v>13.47</c:v>
                </c:pt>
                <c:pt idx="1">
                  <c:v>12.79</c:v>
                </c:pt>
                <c:pt idx="2">
                  <c:v>14.35</c:v>
                </c:pt>
                <c:pt idx="3">
                  <c:v>14.65</c:v>
                </c:pt>
                <c:pt idx="4">
                  <c:v>13.71</c:v>
                </c:pt>
                <c:pt idx="5">
                  <c:v>14.45</c:v>
                </c:pt>
                <c:pt idx="6">
                  <c:v>15.06</c:v>
                </c:pt>
                <c:pt idx="7">
                  <c:v>14.43</c:v>
                </c:pt>
                <c:pt idx="8">
                  <c:v>13.96</c:v>
                </c:pt>
                <c:pt idx="9">
                  <c:v/>
                </c:pt>
                <c:pt idx="10">
                  <c:v/>
                </c:pt>
                <c:pt idx="11">
                  <c:v/>
                </c:pt>
              </c:numCache>
            </c:numRef>
          </c:val>
          <c:smooth val="0"/>
        </c:ser>
        <c:dLbls>
          <c:numFmt formatCode="0.0" sourceLinked="0"/>
          <c:txPr>
            <a:bodyPr/>
            <a:lstStyle/>
            <a:p>
              <a:pPr>
                <a:defRPr b="0" i="0" strike="noStrike" sz="1400" u="none">
                  <a:solidFill>
                    <a:srgbClr val="1A1A1A"/>
                  </a:solidFill>
                  <a:latin typeface="+mn-lt"/>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400" b="0" i="0" u="none" strike="noStrike">
                <a:solidFill>
                  <a:srgbClr val="FFFFFF"/>
                </a:solidFill>
                <a:latin typeface="+mn-lt"/>
              </a:defRPr>
            </a:pPr>
            <a:endParaRPr lang="en-US"/>
          </a:p>
        </c:txPr>
        <c:crossAx val="2094734552"/>
        <c:crosses val="min"/>
        <c:auto val="1"/>
        <c:lblAlgn val="ctr"/>
        <c:noMultiLvlLbl val="1"/>
      </c:catAx>
      <c:valAx>
        <c:axId val="2094734552"/>
        <c:scaling>
          <c:orientation val="minMax"/>
          <c:max val="18"/>
          <c:min val="10"/>
        </c:scaling>
        <c:delete val="0"/>
        <c:axPos val="l"/>
        <c:majorGridlines>
          <c:spPr>
            <a:ln w="9525" cap="flat">
              <a:solidFill>
                <a:srgbClr val="D9D9D9"/>
              </a:solidFill>
              <a:prstDash val="solid"/>
              <a:round/>
            </a:ln>
          </c:spPr>
        </c:majorGridlines>
        <c:numFmt formatCode="$0&quot;M&quot;" sourceLinked="0"/>
        <c:majorTickMark val="out"/>
        <c:minorTickMark val="none"/>
        <c:tickLblPos val="nextTo"/>
        <c:spPr>
          <a:ln w="12700" cap="flat">
            <a:noFill/>
            <a:prstDash val="solid"/>
            <a:round/>
          </a:ln>
        </c:spPr>
        <c:txPr>
          <a:bodyPr/>
          <a:lstStyle/>
          <a:p>
            <a:pPr>
              <a:defRPr sz="1400" b="0" i="0" u="none" strike="noStrike">
                <a:solidFill>
                  <a:srgbClr val="FFFFFF"/>
                </a:solidFill>
                <a:latin typeface="+mn-lt"/>
              </a:defRPr>
            </a:pPr>
            <a:endParaRPr lang="en-US"/>
          </a:p>
        </c:txPr>
        <c:crossAx val="2094734554"/>
        <c:crosses val="autoZero"/>
        <c:crossBetween val="between"/>
        <c:majorUnit val="2"/>
      </c:valAx>
      <c:spPr>
        <a:noFill/>
        <a:ln>
          <a:noFill/>
        </a:ln>
        <a:effectLst/>
      </c:spPr>
    </c:plotArea>
    <c:plotVisOnly val="1"/>
    <c:dispBlanksAs val="span"/>
  </c:chart>
  <c:spPr>
    <a:noFill/>
    <a:ln>
      <a:noFill/>
    </a:ln>
    <a:effectLst/>
  </c:spPr>
  <c:externalData r:id="rId1">
    <c:autoUpdate val="0"/>
  </c:externalData>
</c:chartSpace>
</file>

<file path=ppt/charts/chart1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2026</c:v>
                </c:pt>
              </c:strCache>
            </c:strRef>
          </c:tx>
          <c:spPr>
            <a:solidFill>
              <a:srgbClr val="2587C5"/>
            </a:solidFill>
            <a:ln>
              <a:noFill/>
            </a:ln>
            <a:effectLst/>
          </c:spPr>
          <c:invertIfNegative val="0"/>
          <c:dLbls>
            <c:numFmt formatCode="0.0" sourceLinked="0"/>
            <c:txPr>
              <a:bodyPr/>
              <a:lstStyle/>
              <a:p>
                <a:pPr>
                  <a:defRPr b="0" i="0" strike="noStrike" sz="1400" u="none">
                    <a:solidFill>
                      <a:srgbClr val="1A1A1A"/>
                    </a:solidFill>
                    <a:latin typeface="+mn-lt"/>
                  </a:defRPr>
                </a:pPr>
              </a:p>
            </c:txPr>
            <c:dLblPos val="t"/>
            <c:showLegendKey val="0"/>
            <c:showVal val="1"/>
            <c:showCatName val="0"/>
            <c:showSerName val="0"/>
            <c:showPercent val="0"/>
            <c:showBubbleSize val="0"/>
            <c:showLeaderLines val="0"/>
          </c:dLbls>
          <c:marker>
            <c:symbol val="none"/>
            <c:size val="8"/>
            <c:spPr>
              <a:solidFill>
                <a:srgbClr val="2587C5"/>
              </a:solidFill>
              <a:ln w="9525" cap="flat">
                <a:solidFill>
                  <a:srgbClr val="2587C5"/>
                </a:solidFill>
                <a:prstDash val="solid"/>
                <a:round/>
              </a:ln>
              <a:effectLst/>
            </c:spPr>
          </c:marker>
          <c:cat>
            <c:multiLvlStrRef>
              <c:f>Sheet1!$A$2:$A$13</c:f>
              <c:multiLvlStrCache>
                <c:ptCount val="12"/>
                <c:lvl>
                  <c:pt idx="0">
                    <c:v>Jan</c:v>
                  </c:pt>
                  <c:pt idx="1">
                    <c:v>Feb</c:v>
                  </c:pt>
                  <c:pt idx="2">
                    <c:v>Mar</c:v>
                  </c:pt>
                  <c:pt idx="3">
                    <c:v>Apr</c:v>
                  </c:pt>
                  <c:pt idx="4">
                    <c:v>May</c:v>
                  </c:pt>
                  <c:pt idx="5">
                    <c:v>Jun</c:v>
                  </c:pt>
                  <c:pt idx="6">
                    <c:v>Jul</c:v>
                  </c:pt>
                  <c:pt idx="7">
                    <c:v>Aug</c:v>
                  </c:pt>
                  <c:pt idx="8">
                    <c:v>Sep</c:v>
                  </c:pt>
                  <c:pt idx="9">
                    <c:v>Oct</c:v>
                  </c:pt>
                  <c:pt idx="10">
                    <c:v>Nov</c:v>
                  </c:pt>
                  <c:pt idx="11">
                    <c:v>Dec</c:v>
                  </c:pt>
                </c:lvl>
              </c:multiLvlStrCache>
            </c:multiLvlStrRef>
          </c:cat>
          <c:val>
            <c:numRef>
              <c:f>Sheet1!$B$2:$B$13</c:f>
              <c:numCache>
                <c:formatCode>General</c:formatCode>
                <c:ptCount val="12"/>
                <c:pt idx="0">
                  <c:v>13.47</c:v>
                </c:pt>
                <c:pt idx="1">
                  <c:v>12.79</c:v>
                </c:pt>
                <c:pt idx="2">
                  <c:v>14.35</c:v>
                </c:pt>
                <c:pt idx="3">
                  <c:v>14.65</c:v>
                </c:pt>
                <c:pt idx="4">
                  <c:v>13.71</c:v>
                </c:pt>
                <c:pt idx="5">
                  <c:v>14.45</c:v>
                </c:pt>
                <c:pt idx="6">
                  <c:v>15.06</c:v>
                </c:pt>
                <c:pt idx="7">
                  <c:v>14.43</c:v>
                </c:pt>
                <c:pt idx="8">
                  <c:v>13.96</c:v>
                </c:pt>
                <c:pt idx="9">
                  <c:v/>
                </c:pt>
                <c:pt idx="10">
                  <c:v/>
                </c:pt>
                <c:pt idx="11">
                  <c:v/>
                </c:pt>
              </c:numCache>
            </c:numRef>
          </c:val>
          <c:smooth val="0"/>
        </c:ser>
        <c:dLbls>
          <c:numFmt formatCode="0.0" sourceLinked="0"/>
          <c:txPr>
            <a:bodyPr/>
            <a:lstStyle/>
            <a:p>
              <a:pPr>
                <a:defRPr b="0" i="0" strike="noStrike" sz="1400" u="none">
                  <a:solidFill>
                    <a:srgbClr val="1A1A1A"/>
                  </a:solidFill>
                  <a:latin typeface="+mn-lt"/>
                </a:defRPr>
              </a:pPr>
            </a:p>
          </c:txPr>
          <c:dLblPos val="t"/>
          <c:showLegendKey val="0"/>
          <c:showVal val="1"/>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400" b="0" i="0" u="none" strike="noStrike">
                <a:solidFill>
                  <a:srgbClr val="FFFFFF"/>
                </a:solidFill>
                <a:latin typeface="+mn-lt"/>
              </a:defRPr>
            </a:pPr>
            <a:endParaRPr lang="en-US"/>
          </a:p>
        </c:txPr>
        <c:crossAx val="2094734552"/>
        <c:crosses val="min"/>
        <c:auto val="1"/>
        <c:lblAlgn val="ctr"/>
        <c:noMultiLvlLbl val="1"/>
      </c:catAx>
      <c:valAx>
        <c:axId val="2094734552"/>
        <c:scaling>
          <c:orientation val="minMax"/>
          <c:max val="18"/>
          <c:min val="10"/>
        </c:scaling>
        <c:delete val="0"/>
        <c:axPos val="l"/>
        <c:numFmt formatCode="$0&quot;M&quot;" sourceLinked="0"/>
        <c:majorTickMark val="out"/>
        <c:minorTickMark val="none"/>
        <c:tickLblPos val="nextTo"/>
        <c:spPr>
          <a:ln w="12700" cap="flat">
            <a:noFill/>
            <a:prstDash val="solid"/>
            <a:round/>
          </a:ln>
        </c:spPr>
        <c:txPr>
          <a:bodyPr/>
          <a:lstStyle/>
          <a:p>
            <a:pPr>
              <a:defRPr sz="1400" b="0" i="0" u="none" strike="noStrike">
                <a:solidFill>
                  <a:srgbClr val="FFFFFF"/>
                </a:solidFill>
                <a:latin typeface="+mn-lt"/>
              </a:defRPr>
            </a:pPr>
            <a:endParaRPr lang="en-US"/>
          </a:p>
        </c:txPr>
        <c:crossAx val="2094734554"/>
        <c:crosses val="autoZero"/>
        <c:crossBetween val="between"/>
        <c:majorUnit val="2"/>
      </c:valAx>
      <c:spPr>
        <a:solidFill>
          <a:srgbClr val="FFFFFF">
            <a:alpha val="0"/>
          </a:srgbClr>
        </a:solidFill>
        <a:ln>
          <a:noFill/>
        </a:ln>
        <a:effectLst/>
      </c:spPr>
    </c:plotArea>
    <c:plotVisOnly val="1"/>
    <c:dispBlanksAs val="span"/>
  </c:chart>
  <c:spPr>
    <a:solidFill>
      <a:srgbClr val="FFFFFF">
        <a:alpha val="0"/>
      </a:srgbClr>
    </a:solidFill>
    <a:ln>
      <a:noFill/>
    </a:ln>
    <a:effectLst/>
  </c:spPr>
  <c:externalData r:id="rId1">
    <c:autoUpdate val="0"/>
  </c:externalData>
</c:chartSpace>
</file>

<file path=ppt/charts/chart1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2025</c:v>
                </c:pt>
              </c:strCache>
            </c:strRef>
          </c:tx>
          <c:spPr>
            <a:solidFill>
              <a:srgbClr val="9AA3AD"/>
            </a:solidFill>
            <a:ln>
              <a:noFill/>
            </a:ln>
            <a:effectLst/>
          </c:spPr>
          <c:invertIfNegative val="0"/>
          <c:dLbls>
            <c:numFmt formatCode="0.0" sourceLinked="0"/>
            <c:txPr>
              <a:bodyPr/>
              <a:lstStyle/>
              <a:p>
                <a:pPr>
                  <a:defRPr b="0" i="0" strike="noStrike" sz="1400" u="none">
                    <a:solidFill>
                      <a:srgbClr val="1A1A1A"/>
                    </a:solidFill>
                    <a:latin typeface="+mn-lt"/>
                  </a:defRPr>
                </a:pPr>
              </a:p>
            </c:txPr>
            <c:dLblPos val="t"/>
            <c:showLegendKey val="0"/>
            <c:showVal val="1"/>
            <c:showCatName val="0"/>
            <c:showSerName val="0"/>
            <c:showPercent val="0"/>
            <c:showBubbleSize val="0"/>
            <c:showLeaderLines val="0"/>
          </c:dLbls>
          <c:marker>
            <c:symbol val="none"/>
            <c:size val="8"/>
            <c:spPr>
              <a:solidFill>
                <a:srgbClr val="9AA3AD"/>
              </a:solidFill>
              <a:ln w="9525" cap="flat">
                <a:solidFill>
                  <a:srgbClr val="9AA3AD"/>
                </a:solidFill>
                <a:prstDash val="solid"/>
                <a:round/>
              </a:ln>
              <a:effectLst/>
            </c:spPr>
          </c:marker>
          <c:cat>
            <c:multiLvlStrRef>
              <c:f>Sheet1!$A$2:$A$13</c:f>
              <c:multiLvlStrCache>
                <c:ptCount val="12"/>
                <c:lvl>
                  <c:pt idx="0">
                    <c:v>Jan</c:v>
                  </c:pt>
                  <c:pt idx="1">
                    <c:v>Feb</c:v>
                  </c:pt>
                  <c:pt idx="2">
                    <c:v>Mar</c:v>
                  </c:pt>
                  <c:pt idx="3">
                    <c:v>Apr</c:v>
                  </c:pt>
                  <c:pt idx="4">
                    <c:v>May</c:v>
                  </c:pt>
                  <c:pt idx="5">
                    <c:v>Jun</c:v>
                  </c:pt>
                  <c:pt idx="6">
                    <c:v>Jul</c:v>
                  </c:pt>
                  <c:pt idx="7">
                    <c:v>Aug</c:v>
                  </c:pt>
                  <c:pt idx="8">
                    <c:v>Sep</c:v>
                  </c:pt>
                  <c:pt idx="9">
                    <c:v>Oct</c:v>
                  </c:pt>
                  <c:pt idx="10">
                    <c:v>Nov</c:v>
                  </c:pt>
                  <c:pt idx="11">
                    <c:v>Dec</c:v>
                  </c:pt>
                </c:lvl>
              </c:multiLvlStrCache>
            </c:multiLvlStrRef>
          </c:cat>
          <c:val>
            <c:numRef>
              <c:f>Sheet1!$B$2:$B$13</c:f>
              <c:numCache>
                <c:formatCode>General</c:formatCode>
                <c:ptCount val="12"/>
                <c:pt idx="0">
                  <c:v/>
                </c:pt>
                <c:pt idx="1">
                  <c:v/>
                </c:pt>
                <c:pt idx="2">
                  <c:v/>
                </c:pt>
                <c:pt idx="3">
                  <c:v/>
                </c:pt>
                <c:pt idx="4">
                  <c:v/>
                </c:pt>
                <c:pt idx="5">
                  <c:v/>
                </c:pt>
                <c:pt idx="6">
                  <c:v/>
                </c:pt>
                <c:pt idx="7">
                  <c:v/>
                </c:pt>
                <c:pt idx="8">
                  <c:v/>
                </c:pt>
                <c:pt idx="9">
                  <c:v>13.74</c:v>
                </c:pt>
                <c:pt idx="10">
                  <c:v/>
                </c:pt>
                <c:pt idx="11">
                  <c:v>12.92</c:v>
                </c:pt>
              </c:numCache>
            </c:numRef>
          </c:val>
          <c:smooth val="0"/>
        </c:ser>
        <c:dLbls>
          <c:numFmt formatCode="0.0" sourceLinked="0"/>
          <c:txPr>
            <a:bodyPr/>
            <a:lstStyle/>
            <a:p>
              <a:pPr>
                <a:defRPr b="0" i="0" strike="noStrike" sz="1400" u="none">
                  <a:solidFill>
                    <a:srgbClr val="1A1A1A"/>
                  </a:solidFill>
                  <a:latin typeface="+mn-lt"/>
                </a:defRPr>
              </a:pPr>
            </a:p>
          </c:txPr>
          <c:dLblPos val="t"/>
          <c:showLegendKey val="0"/>
          <c:showVal val="1"/>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400" b="0" i="0" u="none" strike="noStrike">
                <a:solidFill>
                  <a:srgbClr val="FFFFFF"/>
                </a:solidFill>
                <a:latin typeface="+mn-lt"/>
              </a:defRPr>
            </a:pPr>
            <a:endParaRPr lang="en-US"/>
          </a:p>
        </c:txPr>
        <c:crossAx val="2094734552"/>
        <c:crosses val="min"/>
        <c:auto val="1"/>
        <c:lblAlgn val="ctr"/>
        <c:noMultiLvlLbl val="1"/>
      </c:catAx>
      <c:valAx>
        <c:axId val="2094734552"/>
        <c:scaling>
          <c:orientation val="minMax"/>
          <c:max val="18"/>
          <c:min val="10"/>
        </c:scaling>
        <c:delete val="0"/>
        <c:axPos val="l"/>
        <c:numFmt formatCode="$0&quot;M&quot;" sourceLinked="0"/>
        <c:majorTickMark val="out"/>
        <c:minorTickMark val="none"/>
        <c:tickLblPos val="nextTo"/>
        <c:spPr>
          <a:ln w="12700" cap="flat">
            <a:noFill/>
            <a:prstDash val="solid"/>
            <a:round/>
          </a:ln>
        </c:spPr>
        <c:txPr>
          <a:bodyPr/>
          <a:lstStyle/>
          <a:p>
            <a:pPr>
              <a:defRPr sz="1400" b="0" i="0" u="none" strike="noStrike">
                <a:solidFill>
                  <a:srgbClr val="FFFFFF"/>
                </a:solidFill>
                <a:latin typeface="+mn-lt"/>
              </a:defRPr>
            </a:pPr>
            <a:endParaRPr lang="en-US"/>
          </a:p>
        </c:txPr>
        <c:crossAx val="2094734554"/>
        <c:crosses val="autoZero"/>
        <c:crossBetween val="between"/>
        <c:majorUnit val="2"/>
      </c:valAx>
      <c:spPr>
        <a:solidFill>
          <a:srgbClr val="FFFFFF">
            <a:alpha val="0"/>
          </a:srgbClr>
        </a:solidFill>
        <a:ln>
          <a:noFill/>
        </a:ln>
        <a:effectLst/>
      </c:spPr>
    </c:plotArea>
    <c:plotVisOnly val="1"/>
    <c:dispBlanksAs val="span"/>
  </c:chart>
  <c:spPr>
    <a:solidFill>
      <a:srgbClr val="FFFFFF">
        <a:alpha val="0"/>
      </a:srgbClr>
    </a:solidFill>
    <a:ln>
      <a:noFill/>
    </a:ln>
    <a:effectLst/>
  </c:spPr>
  <c:externalData r:id="rId1">
    <c:autoUpdate val="0"/>
  </c:externalData>
</c:chartSpace>
</file>

<file path=ppt/charts/chart16.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2025</c:v>
                </c:pt>
              </c:strCache>
            </c:strRef>
          </c:tx>
          <c:spPr>
            <a:solidFill>
              <a:srgbClr val="9AA3AD"/>
            </a:solidFill>
            <a:ln>
              <a:noFill/>
            </a:ln>
            <a:effectLst/>
          </c:spPr>
          <c:invertIfNegative val="0"/>
          <c:dLbls>
            <c:numFmt formatCode="0.0" sourceLinked="0"/>
            <c:txPr>
              <a:bodyPr/>
              <a:lstStyle/>
              <a:p>
                <a:pPr>
                  <a:defRPr b="0" i="0" strike="noStrike" sz="1400" u="none">
                    <a:solidFill>
                      <a:srgbClr val="1A1A1A"/>
                    </a:solidFill>
                    <a:latin typeface="+mn-lt"/>
                  </a:defRPr>
                </a:pPr>
              </a:p>
            </c:txPr>
            <c:dLblPos val="b"/>
            <c:showLegendKey val="0"/>
            <c:showVal val="1"/>
            <c:showCatName val="0"/>
            <c:showSerName val="0"/>
            <c:showPercent val="0"/>
            <c:showBubbleSize val="0"/>
            <c:showLeaderLines val="0"/>
          </c:dLbls>
          <c:marker>
            <c:symbol val="none"/>
            <c:size val="8"/>
            <c:spPr>
              <a:solidFill>
                <a:srgbClr val="9AA3AD"/>
              </a:solidFill>
              <a:ln w="9525" cap="flat">
                <a:solidFill>
                  <a:srgbClr val="9AA3AD"/>
                </a:solidFill>
                <a:prstDash val="solid"/>
                <a:round/>
              </a:ln>
              <a:effectLst/>
            </c:spPr>
          </c:marker>
          <c:cat>
            <c:multiLvlStrRef>
              <c:f>Sheet1!$A$2:$A$13</c:f>
              <c:multiLvlStrCache>
                <c:ptCount val="12"/>
                <c:lvl>
                  <c:pt idx="0">
                    <c:v>Jan</c:v>
                  </c:pt>
                  <c:pt idx="1">
                    <c:v>Feb</c:v>
                  </c:pt>
                  <c:pt idx="2">
                    <c:v>Mar</c:v>
                  </c:pt>
                  <c:pt idx="3">
                    <c:v>Apr</c:v>
                  </c:pt>
                  <c:pt idx="4">
                    <c:v>May</c:v>
                  </c:pt>
                  <c:pt idx="5">
                    <c:v>Jun</c:v>
                  </c:pt>
                  <c:pt idx="6">
                    <c:v>Jul</c:v>
                  </c:pt>
                  <c:pt idx="7">
                    <c:v>Aug</c:v>
                  </c:pt>
                  <c:pt idx="8">
                    <c:v>Sep</c:v>
                  </c:pt>
                  <c:pt idx="9">
                    <c:v>Oct</c:v>
                  </c:pt>
                  <c:pt idx="10">
                    <c:v>Nov</c:v>
                  </c:pt>
                  <c:pt idx="11">
                    <c:v>Dec</c:v>
                  </c:pt>
                </c:lvl>
              </c:multiLvlStrCache>
            </c:multiLvlStrRef>
          </c:cat>
          <c:val>
            <c:numRef>
              <c:f>Sheet1!$B$2:$B$13</c:f>
              <c:numCache>
                <c:formatCode>General</c:formatCode>
                <c:ptCount val="12"/>
                <c:pt idx="0">
                  <c:v>13.41</c:v>
                </c:pt>
                <c:pt idx="1">
                  <c:v>12.64</c:v>
                </c:pt>
                <c:pt idx="2">
                  <c:v>13.59</c:v>
                </c:pt>
                <c:pt idx="3">
                  <c:v>14.01</c:v>
                </c:pt>
                <c:pt idx="4">
                  <c:v>13.61</c:v>
                </c:pt>
                <c:pt idx="5">
                  <c:v>13.53</c:v>
                </c:pt>
                <c:pt idx="6">
                  <c:v>13.78</c:v>
                </c:pt>
                <c:pt idx="7">
                  <c:v>13.51</c:v>
                </c:pt>
                <c:pt idx="8">
                  <c:v>12.5</c:v>
                </c:pt>
                <c:pt idx="9">
                  <c:v/>
                </c:pt>
                <c:pt idx="10">
                  <c:v>11.84</c:v>
                </c:pt>
                <c:pt idx="11">
                  <c:v/>
                </c:pt>
              </c:numCache>
            </c:numRef>
          </c:val>
          <c:smooth val="0"/>
        </c:ser>
        <c:dLbls>
          <c:numFmt formatCode="0.0" sourceLinked="0"/>
          <c:txPr>
            <a:bodyPr/>
            <a:lstStyle/>
            <a:p>
              <a:pPr>
                <a:defRPr b="0" i="0" strike="noStrike" sz="1400" u="none">
                  <a:solidFill>
                    <a:srgbClr val="1A1A1A"/>
                  </a:solidFill>
                  <a:latin typeface="+mn-lt"/>
                </a:defRPr>
              </a:pPr>
            </a:p>
          </c:txPr>
          <c:dLblPos val="b"/>
          <c:showLegendKey val="0"/>
          <c:showVal val="1"/>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400" b="0" i="0" u="none" strike="noStrike">
                <a:solidFill>
                  <a:srgbClr val="FFFFFF"/>
                </a:solidFill>
                <a:latin typeface="+mn-lt"/>
              </a:defRPr>
            </a:pPr>
            <a:endParaRPr lang="en-US"/>
          </a:p>
        </c:txPr>
        <c:crossAx val="2094734552"/>
        <c:crosses val="min"/>
        <c:auto val="1"/>
        <c:lblAlgn val="ctr"/>
        <c:noMultiLvlLbl val="1"/>
      </c:catAx>
      <c:valAx>
        <c:axId val="2094734552"/>
        <c:scaling>
          <c:orientation val="minMax"/>
          <c:max val="18"/>
          <c:min val="10"/>
        </c:scaling>
        <c:delete val="0"/>
        <c:axPos val="l"/>
        <c:numFmt formatCode="$0&quot;M&quot;" sourceLinked="0"/>
        <c:majorTickMark val="out"/>
        <c:minorTickMark val="none"/>
        <c:tickLblPos val="nextTo"/>
        <c:spPr>
          <a:ln w="12700" cap="flat">
            <a:noFill/>
            <a:prstDash val="solid"/>
            <a:round/>
          </a:ln>
        </c:spPr>
        <c:txPr>
          <a:bodyPr/>
          <a:lstStyle/>
          <a:p>
            <a:pPr>
              <a:defRPr sz="1400" b="0" i="0" u="none" strike="noStrike">
                <a:solidFill>
                  <a:srgbClr val="FFFFFF"/>
                </a:solidFill>
                <a:latin typeface="+mn-lt"/>
              </a:defRPr>
            </a:pPr>
            <a:endParaRPr lang="en-US"/>
          </a:p>
        </c:txPr>
        <c:crossAx val="2094734554"/>
        <c:crosses val="autoZero"/>
        <c:crossBetween val="between"/>
        <c:majorUnit val="2"/>
      </c:valAx>
      <c:spPr>
        <a:solidFill>
          <a:srgbClr val="FFFFFF">
            <a:alpha val="0"/>
          </a:srgbClr>
        </a:solidFill>
        <a:ln>
          <a:noFill/>
        </a:ln>
        <a:effectLst/>
      </c:spPr>
    </c:plotArea>
    <c:plotVisOnly val="1"/>
    <c:dispBlanksAs val="span"/>
  </c:chart>
  <c:spPr>
    <a:solidFill>
      <a:srgbClr val="FFFFFF">
        <a:alpha val="0"/>
      </a:srgbClr>
    </a:solidFill>
    <a:ln>
      <a:noFill/>
    </a:ln>
    <a:effectLst/>
  </c:spPr>
  <c:externalData r:id="rId1">
    <c:autoUpdate val="0"/>
  </c:externalData>
</c:chartSpace>
</file>

<file path=ppt/charts/chart17.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2025</c:v>
                </c:pt>
              </c:strCache>
            </c:strRef>
          </c:tx>
          <c:spPr>
            <a:solidFill>
              <a:srgbClr val="9AA3AD"/>
            </a:solidFill>
            <a:ln w="38100" cap="flat">
              <a:solidFill>
                <a:srgbClr val="9AA3AD"/>
              </a:solidFill>
              <a:prstDash val="solid"/>
              <a:round/>
            </a:ln>
            <a:effectLst/>
          </c:spPr>
          <c:invertIfNegative val="0"/>
          <c:dLbls>
            <c:numFmt formatCode="0.0" sourceLinked="0"/>
            <c:txPr>
              <a:bodyPr/>
              <a:lstStyle/>
              <a:p>
                <a:pPr>
                  <a:defRPr b="0" i="0" strike="noStrike" sz="1400" u="none">
                    <a:solidFill>
                      <a:srgbClr val="1A1A1A"/>
                    </a:solidFill>
                    <a:latin typeface="+mn-lt"/>
                  </a:defRPr>
                </a:pPr>
              </a:p>
            </c:txPr>
            <c:showLegendKey val="0"/>
            <c:showVal val="0"/>
            <c:showCatName val="0"/>
            <c:showSerName val="0"/>
            <c:showPercent val="0"/>
            <c:showBubbleSize val="0"/>
            <c:showLeaderLines val="0"/>
          </c:dLbls>
          <c:marker>
            <c:symbol val="circle"/>
            <c:size val="8"/>
            <c:spPr>
              <a:solidFill>
                <a:srgbClr val="9AA3AD"/>
              </a:solidFill>
              <a:ln w="9525" cap="flat">
                <a:solidFill>
                  <a:srgbClr val="9AA3AD"/>
                </a:solidFill>
                <a:prstDash val="solid"/>
                <a:round/>
              </a:ln>
              <a:effectLst/>
            </c:spPr>
          </c:marker>
          <c:cat>
            <c:multiLvlStrRef>
              <c:f>Sheet1!$A$2:$A$13</c:f>
              <c:multiLvlStrCache>
                <c:ptCount val="12"/>
                <c:lvl>
                  <c:pt idx="0">
                    <c:v>Jan</c:v>
                  </c:pt>
                  <c:pt idx="1">
                    <c:v>Feb</c:v>
                  </c:pt>
                  <c:pt idx="2">
                    <c:v>Mar</c:v>
                  </c:pt>
                  <c:pt idx="3">
                    <c:v>Apr</c:v>
                  </c:pt>
                  <c:pt idx="4">
                    <c:v>May</c:v>
                  </c:pt>
                  <c:pt idx="5">
                    <c:v>Jun</c:v>
                  </c:pt>
                  <c:pt idx="6">
                    <c:v>Jul</c:v>
                  </c:pt>
                  <c:pt idx="7">
                    <c:v>Aug</c:v>
                  </c:pt>
                  <c:pt idx="8">
                    <c:v>Sep</c:v>
                  </c:pt>
                  <c:pt idx="9">
                    <c:v>Oct</c:v>
                  </c:pt>
                  <c:pt idx="10">
                    <c:v>Nov</c:v>
                  </c:pt>
                  <c:pt idx="11">
                    <c:v>Dec</c:v>
                  </c:pt>
                </c:lvl>
              </c:multiLvlStrCache>
            </c:multiLvlStrRef>
          </c:cat>
          <c:val>
            <c:numRef>
              <c:f>Sheet1!$B$2:$B$13</c:f>
              <c:numCache>
                <c:formatCode>General</c:formatCode>
                <c:ptCount val="12"/>
                <c:pt idx="0">
                  <c:v>13.41</c:v>
                </c:pt>
                <c:pt idx="1">
                  <c:v>12.64</c:v>
                </c:pt>
                <c:pt idx="2">
                  <c:v>13.59</c:v>
                </c:pt>
                <c:pt idx="3">
                  <c:v>14.01</c:v>
                </c:pt>
                <c:pt idx="4">
                  <c:v>13.61</c:v>
                </c:pt>
                <c:pt idx="5">
                  <c:v>13.53</c:v>
                </c:pt>
                <c:pt idx="6">
                  <c:v>13.78</c:v>
                </c:pt>
                <c:pt idx="7">
                  <c:v>13.51</c:v>
                </c:pt>
                <c:pt idx="8">
                  <c:v>12.5</c:v>
                </c:pt>
                <c:pt idx="9">
                  <c:v>13.74</c:v>
                </c:pt>
                <c:pt idx="10">
                  <c:v>11.84</c:v>
                </c:pt>
                <c:pt idx="11">
                  <c:v>12.92</c:v>
                </c:pt>
              </c:numCache>
            </c:numRef>
          </c:val>
          <c:smooth val="0"/>
        </c:ser>
        <c:dLbls>
          <c:numFmt formatCode="0.0" sourceLinked="0"/>
          <c:txPr>
            <a:bodyPr/>
            <a:lstStyle/>
            <a:p>
              <a:pPr>
                <a:defRPr b="0" i="0" strike="noStrike" sz="1400" u="none">
                  <a:solidFill>
                    <a:srgbClr val="1A1A1A"/>
                  </a:solidFill>
                  <a:latin typeface="+mn-lt"/>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400" b="0" i="0" u="none" strike="noStrike">
                <a:solidFill>
                  <a:srgbClr val="1A1A1A"/>
                </a:solidFill>
                <a:latin typeface="+mn-lt"/>
              </a:defRPr>
            </a:pPr>
            <a:endParaRPr lang="en-US"/>
          </a:p>
        </c:txPr>
        <c:crossAx val="2094734552"/>
        <c:crosses val="min"/>
        <c:auto val="1"/>
        <c:lblAlgn val="ctr"/>
        <c:noMultiLvlLbl val="1"/>
      </c:catAx>
      <c:valAx>
        <c:axId val="2094734552"/>
        <c:scaling>
          <c:orientation val="minMax"/>
          <c:max val="18"/>
          <c:min val="10"/>
        </c:scaling>
        <c:delete val="0"/>
        <c:axPos val="l"/>
        <c:numFmt formatCode="$0&quot;M&quot;" sourceLinked="0"/>
        <c:majorTickMark val="out"/>
        <c:minorTickMark val="none"/>
        <c:tickLblPos val="nextTo"/>
        <c:spPr>
          <a:ln w="12700" cap="flat">
            <a:noFill/>
            <a:prstDash val="solid"/>
            <a:round/>
          </a:ln>
        </c:spPr>
        <c:txPr>
          <a:bodyPr/>
          <a:lstStyle/>
          <a:p>
            <a:pPr>
              <a:defRPr sz="1400" b="0" i="0" u="none" strike="noStrike">
                <a:solidFill>
                  <a:srgbClr val="595959"/>
                </a:solidFill>
                <a:latin typeface="+mn-lt"/>
              </a:defRPr>
            </a:pPr>
            <a:endParaRPr lang="en-US"/>
          </a:p>
        </c:txPr>
        <c:crossAx val="2094734554"/>
        <c:crosses val="autoZero"/>
        <c:crossBetween val="between"/>
        <c:majorUnit val="2"/>
      </c:valAx>
      <c:spPr>
        <a:solidFill>
          <a:srgbClr val="FFFFFF">
            <a:alpha val="0"/>
          </a:srgbClr>
        </a:solidFill>
        <a:ln>
          <a:noFill/>
        </a:ln>
        <a:effectLst/>
      </c:spPr>
    </c:plotArea>
    <c:plotVisOnly val="1"/>
    <c:dispBlanksAs val="span"/>
  </c:chart>
  <c:spPr>
    <a:solidFill>
      <a:srgbClr val="FFFFFF">
        <a:alpha val="0"/>
      </a:srgbClr>
    </a:solidFill>
    <a:ln>
      <a:noFill/>
    </a:ln>
    <a:effectLst/>
  </c:spPr>
  <c:externalData r:id="rId1">
    <c:autoUpdate val="0"/>
  </c:externalData>
</c:chartSpace>
</file>

<file path=ppt/charts/chart18.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2026</c:v>
                </c:pt>
              </c:strCache>
            </c:strRef>
          </c:tx>
          <c:spPr>
            <a:solidFill>
              <a:srgbClr val="2587C5"/>
            </a:solidFill>
            <a:ln w="38100" cap="flat">
              <a:solidFill>
                <a:srgbClr val="2587C5"/>
              </a:solidFill>
              <a:prstDash val="solid"/>
              <a:round/>
            </a:ln>
            <a:effectLst/>
          </c:spPr>
          <c:invertIfNegative val="0"/>
          <c:dLbls>
            <c:numFmt formatCode="0.0" sourceLinked="0"/>
            <c:txPr>
              <a:bodyPr/>
              <a:lstStyle/>
              <a:p>
                <a:pPr>
                  <a:defRPr b="0" i="0" strike="noStrike" sz="1400" u="none">
                    <a:solidFill>
                      <a:srgbClr val="1A1A1A"/>
                    </a:solidFill>
                    <a:latin typeface="+mn-lt"/>
                  </a:defRPr>
                </a:pPr>
              </a:p>
            </c:txPr>
            <c:showLegendKey val="0"/>
            <c:showVal val="0"/>
            <c:showCatName val="0"/>
            <c:showSerName val="0"/>
            <c:showPercent val="0"/>
            <c:showBubbleSize val="0"/>
            <c:showLeaderLines val="0"/>
          </c:dLbls>
          <c:marker>
            <c:symbol val="circle"/>
            <c:size val="8"/>
            <c:spPr>
              <a:solidFill>
                <a:srgbClr val="2587C5"/>
              </a:solidFill>
              <a:ln w="9525" cap="flat">
                <a:solidFill>
                  <a:srgbClr val="2587C5"/>
                </a:solidFill>
                <a:prstDash val="solid"/>
                <a:round/>
              </a:ln>
              <a:effectLst/>
            </c:spPr>
          </c:marker>
          <c:cat>
            <c:multiLvlStrRef>
              <c:f>Sheet1!$A$2:$A$13</c:f>
              <c:multiLvlStrCache>
                <c:ptCount val="12"/>
                <c:lvl>
                  <c:pt idx="0">
                    <c:v>Jan</c:v>
                  </c:pt>
                  <c:pt idx="1">
                    <c:v>Feb</c:v>
                  </c:pt>
                  <c:pt idx="2">
                    <c:v>Mar</c:v>
                  </c:pt>
                  <c:pt idx="3">
                    <c:v>Apr</c:v>
                  </c:pt>
                  <c:pt idx="4">
                    <c:v>May</c:v>
                  </c:pt>
                  <c:pt idx="5">
                    <c:v>Jun</c:v>
                  </c:pt>
                  <c:pt idx="6">
                    <c:v>Jul</c:v>
                  </c:pt>
                  <c:pt idx="7">
                    <c:v>Aug</c:v>
                  </c:pt>
                  <c:pt idx="8">
                    <c:v>Sep</c:v>
                  </c:pt>
                  <c:pt idx="9">
                    <c:v>Oct</c:v>
                  </c:pt>
                  <c:pt idx="10">
                    <c:v>Nov</c:v>
                  </c:pt>
                  <c:pt idx="11">
                    <c:v>Dec</c:v>
                  </c:pt>
                </c:lvl>
              </c:multiLvlStrCache>
            </c:multiLvlStrRef>
          </c:cat>
          <c:val>
            <c:numRef>
              <c:f>Sheet1!$B$2:$B$13</c:f>
              <c:numCache>
                <c:formatCode>General</c:formatCode>
                <c:ptCount val="12"/>
                <c:pt idx="0">
                  <c:v>6.41</c:v>
                </c:pt>
                <c:pt idx="1">
                  <c:v>6.08</c:v>
                </c:pt>
                <c:pt idx="2">
                  <c:v>6.77</c:v>
                </c:pt>
                <c:pt idx="3">
                  <c:v>7.14</c:v>
                </c:pt>
                <c:pt idx="4">
                  <c:v>6.41</c:v>
                </c:pt>
                <c:pt idx="5">
                  <c:v>7.07</c:v>
                </c:pt>
                <c:pt idx="6">
                  <c:v>7.66</c:v>
                </c:pt>
                <c:pt idx="7">
                  <c:v>7.21</c:v>
                </c:pt>
                <c:pt idx="8">
                  <c:v>7.18</c:v>
                </c:pt>
                <c:pt idx="9">
                  <c:v/>
                </c:pt>
                <c:pt idx="10">
                  <c:v/>
                </c:pt>
                <c:pt idx="11">
                  <c:v/>
                </c:pt>
              </c:numCache>
            </c:numRef>
          </c:val>
          <c:smooth val="0"/>
        </c:ser>
        <c:dLbls>
          <c:numFmt formatCode="0.0" sourceLinked="0"/>
          <c:txPr>
            <a:bodyPr/>
            <a:lstStyle/>
            <a:p>
              <a:pPr>
                <a:defRPr b="0" i="0" strike="noStrike" sz="1400" u="none">
                  <a:solidFill>
                    <a:srgbClr val="1A1A1A"/>
                  </a:solidFill>
                  <a:latin typeface="+mn-lt"/>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400" b="0" i="0" u="none" strike="noStrike">
                <a:solidFill>
                  <a:srgbClr val="FFFFFF"/>
                </a:solidFill>
                <a:latin typeface="+mn-lt"/>
              </a:defRPr>
            </a:pPr>
            <a:endParaRPr lang="en-US"/>
          </a:p>
        </c:txPr>
        <c:crossAx val="2094734552"/>
        <c:crosses val="min"/>
        <c:auto val="1"/>
        <c:lblAlgn val="ctr"/>
        <c:noMultiLvlLbl val="1"/>
      </c:catAx>
      <c:valAx>
        <c:axId val="2094734552"/>
        <c:scaling>
          <c:orientation val="minMax"/>
          <c:max val="9"/>
          <c:min val="5"/>
        </c:scaling>
        <c:delete val="0"/>
        <c:axPos val="l"/>
        <c:majorGridlines>
          <c:spPr>
            <a:ln w="9525" cap="flat">
              <a:solidFill>
                <a:srgbClr val="D9D9D9"/>
              </a:solidFill>
              <a:prstDash val="solid"/>
              <a:round/>
            </a:ln>
          </c:spPr>
        </c:majorGridlines>
        <c:numFmt formatCode="$0&quot;M&quot;" sourceLinked="0"/>
        <c:majorTickMark val="out"/>
        <c:minorTickMark val="none"/>
        <c:tickLblPos val="nextTo"/>
        <c:spPr>
          <a:ln w="12700" cap="flat">
            <a:noFill/>
            <a:prstDash val="solid"/>
            <a:round/>
          </a:ln>
        </c:spPr>
        <c:txPr>
          <a:bodyPr/>
          <a:lstStyle/>
          <a:p>
            <a:pPr>
              <a:defRPr sz="1400" b="0" i="0" u="none" strike="noStrike">
                <a:solidFill>
                  <a:srgbClr val="FFFFFF"/>
                </a:solidFill>
                <a:latin typeface="+mn-lt"/>
              </a:defRPr>
            </a:pPr>
            <a:endParaRPr lang="en-US"/>
          </a:p>
        </c:txPr>
        <c:crossAx val="2094734554"/>
        <c:crosses val="autoZero"/>
        <c:crossBetween val="between"/>
        <c:majorUnit val="1"/>
      </c:valAx>
      <c:spPr>
        <a:noFill/>
        <a:ln>
          <a:noFill/>
        </a:ln>
        <a:effectLst/>
      </c:spPr>
    </c:plotArea>
    <c:plotVisOnly val="1"/>
    <c:dispBlanksAs val="span"/>
  </c:chart>
  <c:spPr>
    <a:noFill/>
    <a:ln>
      <a:noFill/>
    </a:ln>
    <a:effectLst/>
  </c:spPr>
  <c:externalData r:id="rId1">
    <c:autoUpdate val="0"/>
  </c:externalData>
</c:chartSpace>
</file>

<file path=ppt/charts/chart19.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2026</c:v>
                </c:pt>
              </c:strCache>
            </c:strRef>
          </c:tx>
          <c:spPr>
            <a:solidFill>
              <a:srgbClr val="2587C5"/>
            </a:solidFill>
            <a:ln>
              <a:noFill/>
            </a:ln>
            <a:effectLst/>
          </c:spPr>
          <c:invertIfNegative val="0"/>
          <c:dLbls>
            <c:numFmt formatCode="0.0" sourceLinked="0"/>
            <c:txPr>
              <a:bodyPr/>
              <a:lstStyle/>
              <a:p>
                <a:pPr>
                  <a:defRPr b="0" i="0" strike="noStrike" sz="1400" u="none">
                    <a:solidFill>
                      <a:srgbClr val="1A1A1A"/>
                    </a:solidFill>
                    <a:latin typeface="+mn-lt"/>
                  </a:defRPr>
                </a:pPr>
              </a:p>
            </c:txPr>
            <c:dLblPos val="t"/>
            <c:showLegendKey val="0"/>
            <c:showVal val="1"/>
            <c:showCatName val="0"/>
            <c:showSerName val="0"/>
            <c:showPercent val="0"/>
            <c:showBubbleSize val="0"/>
            <c:showLeaderLines val="0"/>
          </c:dLbls>
          <c:marker>
            <c:symbol val="none"/>
            <c:size val="8"/>
            <c:spPr>
              <a:solidFill>
                <a:srgbClr val="2587C5"/>
              </a:solidFill>
              <a:ln w="9525" cap="flat">
                <a:solidFill>
                  <a:srgbClr val="2587C5"/>
                </a:solidFill>
                <a:prstDash val="solid"/>
                <a:round/>
              </a:ln>
              <a:effectLst/>
            </c:spPr>
          </c:marker>
          <c:cat>
            <c:multiLvlStrRef>
              <c:f>Sheet1!$A$2:$A$13</c:f>
              <c:multiLvlStrCache>
                <c:ptCount val="12"/>
                <c:lvl>
                  <c:pt idx="0">
                    <c:v>Jan</c:v>
                  </c:pt>
                  <c:pt idx="1">
                    <c:v>Feb</c:v>
                  </c:pt>
                  <c:pt idx="2">
                    <c:v>Mar</c:v>
                  </c:pt>
                  <c:pt idx="3">
                    <c:v>Apr</c:v>
                  </c:pt>
                  <c:pt idx="4">
                    <c:v>May</c:v>
                  </c:pt>
                  <c:pt idx="5">
                    <c:v>Jun</c:v>
                  </c:pt>
                  <c:pt idx="6">
                    <c:v>Jul</c:v>
                  </c:pt>
                  <c:pt idx="7">
                    <c:v>Aug</c:v>
                  </c:pt>
                  <c:pt idx="8">
                    <c:v>Sep</c:v>
                  </c:pt>
                  <c:pt idx="9">
                    <c:v>Oct</c:v>
                  </c:pt>
                  <c:pt idx="10">
                    <c:v>Nov</c:v>
                  </c:pt>
                  <c:pt idx="11">
                    <c:v>Dec</c:v>
                  </c:pt>
                </c:lvl>
              </c:multiLvlStrCache>
            </c:multiLvlStrRef>
          </c:cat>
          <c:val>
            <c:numRef>
              <c:f>Sheet1!$B$2:$B$13</c:f>
              <c:numCache>
                <c:formatCode>General</c:formatCode>
                <c:ptCount val="12"/>
                <c:pt idx="0">
                  <c:v/>
                </c:pt>
                <c:pt idx="1">
                  <c:v/>
                </c:pt>
                <c:pt idx="2">
                  <c:v>6.77</c:v>
                </c:pt>
                <c:pt idx="3">
                  <c:v>7.14</c:v>
                </c:pt>
                <c:pt idx="4">
                  <c:v/>
                </c:pt>
                <c:pt idx="5">
                  <c:v>7.07</c:v>
                </c:pt>
                <c:pt idx="6">
                  <c:v>7.66</c:v>
                </c:pt>
                <c:pt idx="7">
                  <c:v>7.21</c:v>
                </c:pt>
                <c:pt idx="8">
                  <c:v>7.18</c:v>
                </c:pt>
                <c:pt idx="9">
                  <c:v/>
                </c:pt>
                <c:pt idx="10">
                  <c:v/>
                </c:pt>
                <c:pt idx="11">
                  <c:v/>
                </c:pt>
              </c:numCache>
            </c:numRef>
          </c:val>
          <c:smooth val="0"/>
        </c:ser>
        <c:dLbls>
          <c:numFmt formatCode="0.0" sourceLinked="0"/>
          <c:txPr>
            <a:bodyPr/>
            <a:lstStyle/>
            <a:p>
              <a:pPr>
                <a:defRPr b="0" i="0" strike="noStrike" sz="1400" u="none">
                  <a:solidFill>
                    <a:srgbClr val="1A1A1A"/>
                  </a:solidFill>
                  <a:latin typeface="+mn-lt"/>
                </a:defRPr>
              </a:pPr>
            </a:p>
          </c:txPr>
          <c:dLblPos val="t"/>
          <c:showLegendKey val="0"/>
          <c:showVal val="1"/>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400" b="0" i="0" u="none" strike="noStrike">
                <a:solidFill>
                  <a:srgbClr val="FFFFFF"/>
                </a:solidFill>
                <a:latin typeface="+mn-lt"/>
              </a:defRPr>
            </a:pPr>
            <a:endParaRPr lang="en-US"/>
          </a:p>
        </c:txPr>
        <c:crossAx val="2094734552"/>
        <c:crosses val="min"/>
        <c:auto val="1"/>
        <c:lblAlgn val="ctr"/>
        <c:noMultiLvlLbl val="1"/>
      </c:catAx>
      <c:valAx>
        <c:axId val="2094734552"/>
        <c:scaling>
          <c:orientation val="minMax"/>
          <c:max val="9"/>
          <c:min val="5"/>
        </c:scaling>
        <c:delete val="0"/>
        <c:axPos val="l"/>
        <c:numFmt formatCode="$0&quot;M&quot;" sourceLinked="0"/>
        <c:majorTickMark val="out"/>
        <c:minorTickMark val="none"/>
        <c:tickLblPos val="nextTo"/>
        <c:spPr>
          <a:ln w="12700" cap="flat">
            <a:noFill/>
            <a:prstDash val="solid"/>
            <a:round/>
          </a:ln>
        </c:spPr>
        <c:txPr>
          <a:bodyPr/>
          <a:lstStyle/>
          <a:p>
            <a:pPr>
              <a:defRPr sz="1400" b="0" i="0" u="none" strike="noStrike">
                <a:solidFill>
                  <a:srgbClr val="FFFFFF"/>
                </a:solidFill>
                <a:latin typeface="+mn-lt"/>
              </a:defRPr>
            </a:pPr>
            <a:endParaRPr lang="en-US"/>
          </a:p>
        </c:txPr>
        <c:crossAx val="2094734554"/>
        <c:crosses val="autoZero"/>
        <c:crossBetween val="between"/>
        <c:majorUnit val="1"/>
      </c:valAx>
      <c:spPr>
        <a:solidFill>
          <a:srgbClr val="FFFFFF">
            <a:alpha val="0"/>
          </a:srgbClr>
        </a:solidFill>
        <a:ln>
          <a:noFill/>
        </a:ln>
        <a:effectLst/>
      </c:spPr>
    </c:plotArea>
    <c:plotVisOnly val="1"/>
    <c:dispBlanksAs val="span"/>
  </c:chart>
  <c:spPr>
    <a:solidFill>
      <a:srgbClr val="FFFFFF">
        <a:alpha val="0"/>
      </a:srgbClr>
    </a:solidFill>
    <a:ln>
      <a:noFill/>
    </a:ln>
    <a:effectLst/>
  </c:spPr>
  <c:externalData r:id="rId1">
    <c:autoUpdate val="0"/>
  </c:externalData>
</c:chartSpace>
</file>

<file path=ppt/charts/chart20.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2026</c:v>
                </c:pt>
              </c:strCache>
            </c:strRef>
          </c:tx>
          <c:spPr>
            <a:solidFill>
              <a:srgbClr val="2587C5"/>
            </a:solidFill>
            <a:ln>
              <a:noFill/>
            </a:ln>
            <a:effectLst/>
          </c:spPr>
          <c:invertIfNegative val="0"/>
          <c:dLbls>
            <c:numFmt formatCode="0.0" sourceLinked="0"/>
            <c:txPr>
              <a:bodyPr/>
              <a:lstStyle/>
              <a:p>
                <a:pPr>
                  <a:defRPr b="0" i="0" strike="noStrike" sz="1400" u="none">
                    <a:solidFill>
                      <a:srgbClr val="1A1A1A"/>
                    </a:solidFill>
                    <a:latin typeface="+mn-lt"/>
                  </a:defRPr>
                </a:pPr>
              </a:p>
            </c:txPr>
            <c:dLblPos val="b"/>
            <c:showLegendKey val="0"/>
            <c:showVal val="1"/>
            <c:showCatName val="0"/>
            <c:showSerName val="0"/>
            <c:showPercent val="0"/>
            <c:showBubbleSize val="0"/>
            <c:showLeaderLines val="0"/>
          </c:dLbls>
          <c:marker>
            <c:symbol val="none"/>
            <c:size val="8"/>
            <c:spPr>
              <a:solidFill>
                <a:srgbClr val="2587C5"/>
              </a:solidFill>
              <a:ln w="9525" cap="flat">
                <a:solidFill>
                  <a:srgbClr val="2587C5"/>
                </a:solidFill>
                <a:prstDash val="solid"/>
                <a:round/>
              </a:ln>
              <a:effectLst/>
            </c:spPr>
          </c:marker>
          <c:cat>
            <c:multiLvlStrRef>
              <c:f>Sheet1!$A$2:$A$13</c:f>
              <c:multiLvlStrCache>
                <c:ptCount val="12"/>
                <c:lvl>
                  <c:pt idx="0">
                    <c:v>Jan</c:v>
                  </c:pt>
                  <c:pt idx="1">
                    <c:v>Feb</c:v>
                  </c:pt>
                  <c:pt idx="2">
                    <c:v>Mar</c:v>
                  </c:pt>
                  <c:pt idx="3">
                    <c:v>Apr</c:v>
                  </c:pt>
                  <c:pt idx="4">
                    <c:v>May</c:v>
                  </c:pt>
                  <c:pt idx="5">
                    <c:v>Jun</c:v>
                  </c:pt>
                  <c:pt idx="6">
                    <c:v>Jul</c:v>
                  </c:pt>
                  <c:pt idx="7">
                    <c:v>Aug</c:v>
                  </c:pt>
                  <c:pt idx="8">
                    <c:v>Sep</c:v>
                  </c:pt>
                  <c:pt idx="9">
                    <c:v>Oct</c:v>
                  </c:pt>
                  <c:pt idx="10">
                    <c:v>Nov</c:v>
                  </c:pt>
                  <c:pt idx="11">
                    <c:v>Dec</c:v>
                  </c:pt>
                </c:lvl>
              </c:multiLvlStrCache>
            </c:multiLvlStrRef>
          </c:cat>
          <c:val>
            <c:numRef>
              <c:f>Sheet1!$B$2:$B$13</c:f>
              <c:numCache>
                <c:formatCode>General</c:formatCode>
                <c:ptCount val="12"/>
                <c:pt idx="0">
                  <c:v>6.41</c:v>
                </c:pt>
                <c:pt idx="1">
                  <c:v>6.08</c:v>
                </c:pt>
                <c:pt idx="2">
                  <c:v/>
                </c:pt>
                <c:pt idx="3">
                  <c:v/>
                </c:pt>
                <c:pt idx="4">
                  <c:v>6.41</c:v>
                </c:pt>
                <c:pt idx="5">
                  <c:v/>
                </c:pt>
                <c:pt idx="6">
                  <c:v/>
                </c:pt>
                <c:pt idx="7">
                  <c:v/>
                </c:pt>
                <c:pt idx="8">
                  <c:v/>
                </c:pt>
                <c:pt idx="9">
                  <c:v/>
                </c:pt>
                <c:pt idx="10">
                  <c:v/>
                </c:pt>
                <c:pt idx="11">
                  <c:v/>
                </c:pt>
              </c:numCache>
            </c:numRef>
          </c:val>
          <c:smooth val="0"/>
        </c:ser>
        <c:dLbls>
          <c:numFmt formatCode="0.0" sourceLinked="0"/>
          <c:txPr>
            <a:bodyPr/>
            <a:lstStyle/>
            <a:p>
              <a:pPr>
                <a:defRPr b="0" i="0" strike="noStrike" sz="1400" u="none">
                  <a:solidFill>
                    <a:srgbClr val="1A1A1A"/>
                  </a:solidFill>
                  <a:latin typeface="+mn-lt"/>
                </a:defRPr>
              </a:pPr>
            </a:p>
          </c:txPr>
          <c:dLblPos val="b"/>
          <c:showLegendKey val="0"/>
          <c:showVal val="1"/>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400" b="0" i="0" u="none" strike="noStrike">
                <a:solidFill>
                  <a:srgbClr val="FFFFFF"/>
                </a:solidFill>
                <a:latin typeface="+mn-lt"/>
              </a:defRPr>
            </a:pPr>
            <a:endParaRPr lang="en-US"/>
          </a:p>
        </c:txPr>
        <c:crossAx val="2094734552"/>
        <c:crosses val="min"/>
        <c:auto val="1"/>
        <c:lblAlgn val="ctr"/>
        <c:noMultiLvlLbl val="1"/>
      </c:catAx>
      <c:valAx>
        <c:axId val="2094734552"/>
        <c:scaling>
          <c:orientation val="minMax"/>
          <c:max val="9"/>
          <c:min val="5"/>
        </c:scaling>
        <c:delete val="0"/>
        <c:axPos val="l"/>
        <c:numFmt formatCode="$0&quot;M&quot;" sourceLinked="0"/>
        <c:majorTickMark val="out"/>
        <c:minorTickMark val="none"/>
        <c:tickLblPos val="nextTo"/>
        <c:spPr>
          <a:ln w="12700" cap="flat">
            <a:noFill/>
            <a:prstDash val="solid"/>
            <a:round/>
          </a:ln>
        </c:spPr>
        <c:txPr>
          <a:bodyPr/>
          <a:lstStyle/>
          <a:p>
            <a:pPr>
              <a:defRPr sz="1400" b="0" i="0" u="none" strike="noStrike">
                <a:solidFill>
                  <a:srgbClr val="FFFFFF"/>
                </a:solidFill>
                <a:latin typeface="+mn-lt"/>
              </a:defRPr>
            </a:pPr>
            <a:endParaRPr lang="en-US"/>
          </a:p>
        </c:txPr>
        <c:crossAx val="2094734554"/>
        <c:crosses val="autoZero"/>
        <c:crossBetween val="between"/>
        <c:majorUnit val="1"/>
      </c:valAx>
      <c:spPr>
        <a:solidFill>
          <a:srgbClr val="FFFFFF">
            <a:alpha val="0"/>
          </a:srgbClr>
        </a:solidFill>
        <a:ln>
          <a:noFill/>
        </a:ln>
        <a:effectLst/>
      </c:spPr>
    </c:plotArea>
    <c:plotVisOnly val="1"/>
    <c:dispBlanksAs val="span"/>
  </c:chart>
  <c:spPr>
    <a:solidFill>
      <a:srgbClr val="FFFFFF">
        <a:alpha val="0"/>
      </a:srgbClr>
    </a:solidFill>
    <a:ln>
      <a:noFill/>
    </a:ln>
    <a:effectLst/>
  </c:spPr>
  <c:externalData r:id="rId1">
    <c:autoUpdate val="0"/>
  </c:externalData>
</c:chartSpace>
</file>

<file path=ppt/charts/chart2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2025</c:v>
                </c:pt>
              </c:strCache>
            </c:strRef>
          </c:tx>
          <c:spPr>
            <a:solidFill>
              <a:srgbClr val="9AA3AD"/>
            </a:solidFill>
            <a:ln>
              <a:noFill/>
            </a:ln>
            <a:effectLst/>
          </c:spPr>
          <c:invertIfNegative val="0"/>
          <c:dLbls>
            <c:numFmt formatCode="0.0" sourceLinked="0"/>
            <c:txPr>
              <a:bodyPr/>
              <a:lstStyle/>
              <a:p>
                <a:pPr>
                  <a:defRPr b="0" i="0" strike="noStrike" sz="1400" u="none">
                    <a:solidFill>
                      <a:srgbClr val="1A1A1A"/>
                    </a:solidFill>
                    <a:latin typeface="+mn-lt"/>
                  </a:defRPr>
                </a:pPr>
              </a:p>
            </c:txPr>
            <c:dLblPos val="t"/>
            <c:showLegendKey val="0"/>
            <c:showVal val="1"/>
            <c:showCatName val="0"/>
            <c:showSerName val="0"/>
            <c:showPercent val="0"/>
            <c:showBubbleSize val="0"/>
            <c:showLeaderLines val="0"/>
          </c:dLbls>
          <c:marker>
            <c:symbol val="none"/>
            <c:size val="8"/>
            <c:spPr>
              <a:solidFill>
                <a:srgbClr val="9AA3AD"/>
              </a:solidFill>
              <a:ln w="9525" cap="flat">
                <a:solidFill>
                  <a:srgbClr val="9AA3AD"/>
                </a:solidFill>
                <a:prstDash val="solid"/>
                <a:round/>
              </a:ln>
              <a:effectLst/>
            </c:spPr>
          </c:marker>
          <c:cat>
            <c:multiLvlStrRef>
              <c:f>Sheet1!$A$2:$A$13</c:f>
              <c:multiLvlStrCache>
                <c:ptCount val="12"/>
                <c:lvl>
                  <c:pt idx="0">
                    <c:v>Jan</c:v>
                  </c:pt>
                  <c:pt idx="1">
                    <c:v>Feb</c:v>
                  </c:pt>
                  <c:pt idx="2">
                    <c:v>Mar</c:v>
                  </c:pt>
                  <c:pt idx="3">
                    <c:v>Apr</c:v>
                  </c:pt>
                  <c:pt idx="4">
                    <c:v>May</c:v>
                  </c:pt>
                  <c:pt idx="5">
                    <c:v>Jun</c:v>
                  </c:pt>
                  <c:pt idx="6">
                    <c:v>Jul</c:v>
                  </c:pt>
                  <c:pt idx="7">
                    <c:v>Aug</c:v>
                  </c:pt>
                  <c:pt idx="8">
                    <c:v>Sep</c:v>
                  </c:pt>
                  <c:pt idx="9">
                    <c:v>Oct</c:v>
                  </c:pt>
                  <c:pt idx="10">
                    <c:v>Nov</c:v>
                  </c:pt>
                  <c:pt idx="11">
                    <c:v>Dec</c:v>
                  </c:pt>
                </c:lvl>
              </c:multiLvlStrCache>
            </c:multiLvlStrRef>
          </c:cat>
          <c:val>
            <c:numRef>
              <c:f>Sheet1!$B$2:$B$13</c:f>
              <c:numCache>
                <c:formatCode>General</c:formatCode>
                <c:ptCount val="12"/>
                <c:pt idx="0">
                  <c:v>7.05</c:v>
                </c:pt>
                <c:pt idx="1">
                  <c:v>6.47</c:v>
                </c:pt>
                <c:pt idx="2">
                  <c:v/>
                </c:pt>
                <c:pt idx="3">
                  <c:v/>
                </c:pt>
                <c:pt idx="4">
                  <c:v>6.67</c:v>
                </c:pt>
                <c:pt idx="5">
                  <c:v/>
                </c:pt>
                <c:pt idx="6">
                  <c:v/>
                </c:pt>
                <c:pt idx="7">
                  <c:v/>
                </c:pt>
                <c:pt idx="8">
                  <c:v/>
                </c:pt>
                <c:pt idx="9">
                  <c:v>7.53</c:v>
                </c:pt>
                <c:pt idx="10">
                  <c:v/>
                </c:pt>
                <c:pt idx="11">
                  <c:v>6.4</c:v>
                </c:pt>
              </c:numCache>
            </c:numRef>
          </c:val>
          <c:smooth val="0"/>
        </c:ser>
        <c:dLbls>
          <c:numFmt formatCode="0.0" sourceLinked="0"/>
          <c:txPr>
            <a:bodyPr/>
            <a:lstStyle/>
            <a:p>
              <a:pPr>
                <a:defRPr b="0" i="0" strike="noStrike" sz="1400" u="none">
                  <a:solidFill>
                    <a:srgbClr val="1A1A1A"/>
                  </a:solidFill>
                  <a:latin typeface="+mn-lt"/>
                </a:defRPr>
              </a:pPr>
            </a:p>
          </c:txPr>
          <c:dLblPos val="t"/>
          <c:showLegendKey val="0"/>
          <c:showVal val="1"/>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400" b="0" i="0" u="none" strike="noStrike">
                <a:solidFill>
                  <a:srgbClr val="FFFFFF"/>
                </a:solidFill>
                <a:latin typeface="+mn-lt"/>
              </a:defRPr>
            </a:pPr>
            <a:endParaRPr lang="en-US"/>
          </a:p>
        </c:txPr>
        <c:crossAx val="2094734552"/>
        <c:crosses val="min"/>
        <c:auto val="1"/>
        <c:lblAlgn val="ctr"/>
        <c:noMultiLvlLbl val="1"/>
      </c:catAx>
      <c:valAx>
        <c:axId val="2094734552"/>
        <c:scaling>
          <c:orientation val="minMax"/>
          <c:max val="9"/>
          <c:min val="5"/>
        </c:scaling>
        <c:delete val="0"/>
        <c:axPos val="l"/>
        <c:numFmt formatCode="$0&quot;M&quot;" sourceLinked="0"/>
        <c:majorTickMark val="out"/>
        <c:minorTickMark val="none"/>
        <c:tickLblPos val="nextTo"/>
        <c:spPr>
          <a:ln w="12700" cap="flat">
            <a:noFill/>
            <a:prstDash val="solid"/>
            <a:round/>
          </a:ln>
        </c:spPr>
        <c:txPr>
          <a:bodyPr/>
          <a:lstStyle/>
          <a:p>
            <a:pPr>
              <a:defRPr sz="1400" b="0" i="0" u="none" strike="noStrike">
                <a:solidFill>
                  <a:srgbClr val="FFFFFF"/>
                </a:solidFill>
                <a:latin typeface="+mn-lt"/>
              </a:defRPr>
            </a:pPr>
            <a:endParaRPr lang="en-US"/>
          </a:p>
        </c:txPr>
        <c:crossAx val="2094734554"/>
        <c:crosses val="autoZero"/>
        <c:crossBetween val="between"/>
        <c:majorUnit val="1"/>
      </c:valAx>
      <c:spPr>
        <a:solidFill>
          <a:srgbClr val="FFFFFF">
            <a:alpha val="0"/>
          </a:srgbClr>
        </a:solidFill>
        <a:ln>
          <a:noFill/>
        </a:ln>
        <a:effectLst/>
      </c:spPr>
    </c:plotArea>
    <c:plotVisOnly val="1"/>
    <c:dispBlanksAs val="span"/>
  </c:chart>
  <c:spPr>
    <a:solidFill>
      <a:srgbClr val="FFFFFF">
        <a:alpha val="0"/>
      </a:srgbClr>
    </a:solidFill>
    <a:ln>
      <a:noFill/>
    </a:ln>
    <a:effectLst/>
  </c:spPr>
  <c:externalData r:id="rId1">
    <c:autoUpdate val="0"/>
  </c:externalData>
</c:chartSpace>
</file>

<file path=ppt/charts/chart2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2025</c:v>
                </c:pt>
              </c:strCache>
            </c:strRef>
          </c:tx>
          <c:spPr>
            <a:solidFill>
              <a:srgbClr val="9AA3AD"/>
            </a:solidFill>
            <a:ln>
              <a:noFill/>
            </a:ln>
            <a:effectLst/>
          </c:spPr>
          <c:invertIfNegative val="0"/>
          <c:dLbls>
            <c:numFmt formatCode="0.0" sourceLinked="0"/>
            <c:txPr>
              <a:bodyPr/>
              <a:lstStyle/>
              <a:p>
                <a:pPr>
                  <a:defRPr b="0" i="0" strike="noStrike" sz="1400" u="none">
                    <a:solidFill>
                      <a:srgbClr val="1A1A1A"/>
                    </a:solidFill>
                    <a:latin typeface="+mn-lt"/>
                  </a:defRPr>
                </a:pPr>
              </a:p>
            </c:txPr>
            <c:dLblPos val="b"/>
            <c:showLegendKey val="0"/>
            <c:showVal val="1"/>
            <c:showCatName val="0"/>
            <c:showSerName val="0"/>
            <c:showPercent val="0"/>
            <c:showBubbleSize val="0"/>
            <c:showLeaderLines val="0"/>
          </c:dLbls>
          <c:marker>
            <c:symbol val="none"/>
            <c:size val="8"/>
            <c:spPr>
              <a:solidFill>
                <a:srgbClr val="9AA3AD"/>
              </a:solidFill>
              <a:ln w="9525" cap="flat">
                <a:solidFill>
                  <a:srgbClr val="9AA3AD"/>
                </a:solidFill>
                <a:prstDash val="solid"/>
                <a:round/>
              </a:ln>
              <a:effectLst/>
            </c:spPr>
          </c:marker>
          <c:cat>
            <c:multiLvlStrRef>
              <c:f>Sheet1!$A$2:$A$13</c:f>
              <c:multiLvlStrCache>
                <c:ptCount val="12"/>
                <c:lvl>
                  <c:pt idx="0">
                    <c:v>Jan</c:v>
                  </c:pt>
                  <c:pt idx="1">
                    <c:v>Feb</c:v>
                  </c:pt>
                  <c:pt idx="2">
                    <c:v>Mar</c:v>
                  </c:pt>
                  <c:pt idx="3">
                    <c:v>Apr</c:v>
                  </c:pt>
                  <c:pt idx="4">
                    <c:v>May</c:v>
                  </c:pt>
                  <c:pt idx="5">
                    <c:v>Jun</c:v>
                  </c:pt>
                  <c:pt idx="6">
                    <c:v>Jul</c:v>
                  </c:pt>
                  <c:pt idx="7">
                    <c:v>Aug</c:v>
                  </c:pt>
                  <c:pt idx="8">
                    <c:v>Sep</c:v>
                  </c:pt>
                  <c:pt idx="9">
                    <c:v>Oct</c:v>
                  </c:pt>
                  <c:pt idx="10">
                    <c:v>Nov</c:v>
                  </c:pt>
                  <c:pt idx="11">
                    <c:v>Dec</c:v>
                  </c:pt>
                </c:lvl>
              </c:multiLvlStrCache>
            </c:multiLvlStrRef>
          </c:cat>
          <c:val>
            <c:numRef>
              <c:f>Sheet1!$B$2:$B$13</c:f>
              <c:numCache>
                <c:formatCode>General</c:formatCode>
                <c:ptCount val="12"/>
                <c:pt idx="0">
                  <c:v/>
                </c:pt>
                <c:pt idx="1">
                  <c:v/>
                </c:pt>
                <c:pt idx="2">
                  <c:v>6.6</c:v>
                </c:pt>
                <c:pt idx="3">
                  <c:v>6.84</c:v>
                </c:pt>
                <c:pt idx="4">
                  <c:v/>
                </c:pt>
                <c:pt idx="5">
                  <c:v>6.81</c:v>
                </c:pt>
                <c:pt idx="6">
                  <c:v>6.97</c:v>
                </c:pt>
                <c:pt idx="7">
                  <c:v>6.81</c:v>
                </c:pt>
                <c:pt idx="8">
                  <c:v>6.54</c:v>
                </c:pt>
                <c:pt idx="9">
                  <c:v/>
                </c:pt>
                <c:pt idx="10">
                  <c:v>5.91</c:v>
                </c:pt>
                <c:pt idx="11">
                  <c:v/>
                </c:pt>
              </c:numCache>
            </c:numRef>
          </c:val>
          <c:smooth val="0"/>
        </c:ser>
        <c:dLbls>
          <c:numFmt formatCode="0.0" sourceLinked="0"/>
          <c:txPr>
            <a:bodyPr/>
            <a:lstStyle/>
            <a:p>
              <a:pPr>
                <a:defRPr b="0" i="0" strike="noStrike" sz="1400" u="none">
                  <a:solidFill>
                    <a:srgbClr val="1A1A1A"/>
                  </a:solidFill>
                  <a:latin typeface="+mn-lt"/>
                </a:defRPr>
              </a:pPr>
            </a:p>
          </c:txPr>
          <c:dLblPos val="b"/>
          <c:showLegendKey val="0"/>
          <c:showVal val="1"/>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400" b="0" i="0" u="none" strike="noStrike">
                <a:solidFill>
                  <a:srgbClr val="FFFFFF"/>
                </a:solidFill>
                <a:latin typeface="+mn-lt"/>
              </a:defRPr>
            </a:pPr>
            <a:endParaRPr lang="en-US"/>
          </a:p>
        </c:txPr>
        <c:crossAx val="2094734552"/>
        <c:crosses val="min"/>
        <c:auto val="1"/>
        <c:lblAlgn val="ctr"/>
        <c:noMultiLvlLbl val="1"/>
      </c:catAx>
      <c:valAx>
        <c:axId val="2094734552"/>
        <c:scaling>
          <c:orientation val="minMax"/>
          <c:max val="9"/>
          <c:min val="5"/>
        </c:scaling>
        <c:delete val="0"/>
        <c:axPos val="l"/>
        <c:numFmt formatCode="$0&quot;M&quot;" sourceLinked="0"/>
        <c:majorTickMark val="out"/>
        <c:minorTickMark val="none"/>
        <c:tickLblPos val="nextTo"/>
        <c:spPr>
          <a:ln w="12700" cap="flat">
            <a:noFill/>
            <a:prstDash val="solid"/>
            <a:round/>
          </a:ln>
        </c:spPr>
        <c:txPr>
          <a:bodyPr/>
          <a:lstStyle/>
          <a:p>
            <a:pPr>
              <a:defRPr sz="1400" b="0" i="0" u="none" strike="noStrike">
                <a:solidFill>
                  <a:srgbClr val="FFFFFF"/>
                </a:solidFill>
                <a:latin typeface="+mn-lt"/>
              </a:defRPr>
            </a:pPr>
            <a:endParaRPr lang="en-US"/>
          </a:p>
        </c:txPr>
        <c:crossAx val="2094734554"/>
        <c:crosses val="autoZero"/>
        <c:crossBetween val="between"/>
        <c:majorUnit val="1"/>
      </c:valAx>
      <c:spPr>
        <a:solidFill>
          <a:srgbClr val="FFFFFF">
            <a:alpha val="0"/>
          </a:srgbClr>
        </a:solidFill>
        <a:ln>
          <a:noFill/>
        </a:ln>
        <a:effectLst/>
      </c:spPr>
    </c:plotArea>
    <c:plotVisOnly val="1"/>
    <c:dispBlanksAs val="span"/>
  </c:chart>
  <c:spPr>
    <a:solidFill>
      <a:srgbClr val="FFFFFF">
        <a:alpha val="0"/>
      </a:srgbClr>
    </a:solidFill>
    <a:ln>
      <a:noFill/>
    </a:ln>
    <a:effectLst/>
  </c:spPr>
  <c:externalData r:id="rId1">
    <c:autoUpdate val="0"/>
  </c:externalData>
</c:chartSpace>
</file>

<file path=ppt/charts/chart2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2025</c:v>
                </c:pt>
              </c:strCache>
            </c:strRef>
          </c:tx>
          <c:spPr>
            <a:solidFill>
              <a:srgbClr val="9AA3AD"/>
            </a:solidFill>
            <a:ln w="38100" cap="flat">
              <a:solidFill>
                <a:srgbClr val="9AA3AD"/>
              </a:solidFill>
              <a:prstDash val="solid"/>
              <a:round/>
            </a:ln>
            <a:effectLst/>
          </c:spPr>
          <c:invertIfNegative val="0"/>
          <c:dLbls>
            <c:numFmt formatCode="0.0" sourceLinked="0"/>
            <c:txPr>
              <a:bodyPr/>
              <a:lstStyle/>
              <a:p>
                <a:pPr>
                  <a:defRPr b="0" i="0" strike="noStrike" sz="1400" u="none">
                    <a:solidFill>
                      <a:srgbClr val="1A1A1A"/>
                    </a:solidFill>
                    <a:latin typeface="+mn-lt"/>
                  </a:defRPr>
                </a:pPr>
              </a:p>
            </c:txPr>
            <c:showLegendKey val="0"/>
            <c:showVal val="0"/>
            <c:showCatName val="0"/>
            <c:showSerName val="0"/>
            <c:showPercent val="0"/>
            <c:showBubbleSize val="0"/>
            <c:showLeaderLines val="0"/>
          </c:dLbls>
          <c:marker>
            <c:symbol val="circle"/>
            <c:size val="8"/>
            <c:spPr>
              <a:solidFill>
                <a:srgbClr val="9AA3AD"/>
              </a:solidFill>
              <a:ln w="9525" cap="flat">
                <a:solidFill>
                  <a:srgbClr val="9AA3AD"/>
                </a:solidFill>
                <a:prstDash val="solid"/>
                <a:round/>
              </a:ln>
              <a:effectLst/>
            </c:spPr>
          </c:marker>
          <c:cat>
            <c:multiLvlStrRef>
              <c:f>Sheet1!$A$2:$A$13</c:f>
              <c:multiLvlStrCache>
                <c:ptCount val="12"/>
                <c:lvl>
                  <c:pt idx="0">
                    <c:v>Jan</c:v>
                  </c:pt>
                  <c:pt idx="1">
                    <c:v>Feb</c:v>
                  </c:pt>
                  <c:pt idx="2">
                    <c:v>Mar</c:v>
                  </c:pt>
                  <c:pt idx="3">
                    <c:v>Apr</c:v>
                  </c:pt>
                  <c:pt idx="4">
                    <c:v>May</c:v>
                  </c:pt>
                  <c:pt idx="5">
                    <c:v>Jun</c:v>
                  </c:pt>
                  <c:pt idx="6">
                    <c:v>Jul</c:v>
                  </c:pt>
                  <c:pt idx="7">
                    <c:v>Aug</c:v>
                  </c:pt>
                  <c:pt idx="8">
                    <c:v>Sep</c:v>
                  </c:pt>
                  <c:pt idx="9">
                    <c:v>Oct</c:v>
                  </c:pt>
                  <c:pt idx="10">
                    <c:v>Nov</c:v>
                  </c:pt>
                  <c:pt idx="11">
                    <c:v>Dec</c:v>
                  </c:pt>
                </c:lvl>
              </c:multiLvlStrCache>
            </c:multiLvlStrRef>
          </c:cat>
          <c:val>
            <c:numRef>
              <c:f>Sheet1!$B$2:$B$13</c:f>
              <c:numCache>
                <c:formatCode>General</c:formatCode>
                <c:ptCount val="12"/>
                <c:pt idx="0">
                  <c:v>7.05</c:v>
                </c:pt>
                <c:pt idx="1">
                  <c:v>6.47</c:v>
                </c:pt>
                <c:pt idx="2">
                  <c:v>6.6</c:v>
                </c:pt>
                <c:pt idx="3">
                  <c:v>6.84</c:v>
                </c:pt>
                <c:pt idx="4">
                  <c:v>6.67</c:v>
                </c:pt>
                <c:pt idx="5">
                  <c:v>6.81</c:v>
                </c:pt>
                <c:pt idx="6">
                  <c:v>6.97</c:v>
                </c:pt>
                <c:pt idx="7">
                  <c:v>6.81</c:v>
                </c:pt>
                <c:pt idx="8">
                  <c:v>6.54</c:v>
                </c:pt>
                <c:pt idx="9">
                  <c:v>7.53</c:v>
                </c:pt>
                <c:pt idx="10">
                  <c:v>5.91</c:v>
                </c:pt>
                <c:pt idx="11">
                  <c:v>6.4</c:v>
                </c:pt>
              </c:numCache>
            </c:numRef>
          </c:val>
          <c:smooth val="0"/>
        </c:ser>
        <c:dLbls>
          <c:numFmt formatCode="0.0" sourceLinked="0"/>
          <c:txPr>
            <a:bodyPr/>
            <a:lstStyle/>
            <a:p>
              <a:pPr>
                <a:defRPr b="0" i="0" strike="noStrike" sz="1400" u="none">
                  <a:solidFill>
                    <a:srgbClr val="1A1A1A"/>
                  </a:solidFill>
                  <a:latin typeface="+mn-lt"/>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400" b="0" i="0" u="none" strike="noStrike">
                <a:solidFill>
                  <a:srgbClr val="1A1A1A"/>
                </a:solidFill>
                <a:latin typeface="+mn-lt"/>
              </a:defRPr>
            </a:pPr>
            <a:endParaRPr lang="en-US"/>
          </a:p>
        </c:txPr>
        <c:crossAx val="2094734552"/>
        <c:crosses val="min"/>
        <c:auto val="1"/>
        <c:lblAlgn val="ctr"/>
        <c:noMultiLvlLbl val="1"/>
      </c:catAx>
      <c:valAx>
        <c:axId val="2094734552"/>
        <c:scaling>
          <c:orientation val="minMax"/>
          <c:max val="9"/>
          <c:min val="5"/>
        </c:scaling>
        <c:delete val="0"/>
        <c:axPos val="l"/>
        <c:numFmt formatCode="$0&quot;M&quot;" sourceLinked="0"/>
        <c:majorTickMark val="out"/>
        <c:minorTickMark val="none"/>
        <c:tickLblPos val="nextTo"/>
        <c:spPr>
          <a:ln w="12700" cap="flat">
            <a:noFill/>
            <a:prstDash val="solid"/>
            <a:round/>
          </a:ln>
        </c:spPr>
        <c:txPr>
          <a:bodyPr/>
          <a:lstStyle/>
          <a:p>
            <a:pPr>
              <a:defRPr sz="1400" b="0" i="0" u="none" strike="noStrike">
                <a:solidFill>
                  <a:srgbClr val="595959"/>
                </a:solidFill>
                <a:latin typeface="+mn-lt"/>
              </a:defRPr>
            </a:pPr>
            <a:endParaRPr lang="en-US"/>
          </a:p>
        </c:txPr>
        <c:crossAx val="2094734554"/>
        <c:crosses val="autoZero"/>
        <c:crossBetween val="between"/>
        <c:majorUnit val="1"/>
      </c:valAx>
      <c:spPr>
        <a:solidFill>
          <a:srgbClr val="FFFFFF">
            <a:alpha val="0"/>
          </a:srgbClr>
        </a:solidFill>
        <a:ln>
          <a:noFill/>
        </a:ln>
        <a:effectLst/>
      </c:spPr>
    </c:plotArea>
    <c:plotVisOnly val="1"/>
    <c:dispBlanksAs val="span"/>
  </c:chart>
  <c:spPr>
    <a:solidFill>
      <a:srgbClr val="FFFFFF">
        <a:alpha val="0"/>
      </a:srgbClr>
    </a:solidFill>
    <a:ln>
      <a:noFill/>
    </a:ln>
    <a:effectLst/>
  </c:spPr>
  <c:externalData r:id="rId1">
    <c:autoUpdate val="0"/>
  </c:externalData>
</c:chartSpace>
</file>

<file path=ppt/charts/chart12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2026</c:v>
                </c:pt>
              </c:strCache>
            </c:strRef>
          </c:tx>
          <c:spPr>
            <a:solidFill>
              <a:srgbClr val="2587C5"/>
            </a:solidFill>
            <a:ln w="38100" cap="flat">
              <a:solidFill>
                <a:srgbClr val="2587C5"/>
              </a:solidFill>
              <a:prstDash val="solid"/>
              <a:round/>
            </a:ln>
            <a:effectLst/>
          </c:spPr>
          <c:invertIfNegative val="0"/>
          <c:dLbls>
            <c:numFmt formatCode="#,##0" sourceLinked="0"/>
            <c:txPr>
              <a:bodyPr/>
              <a:lstStyle/>
              <a:p>
                <a:pPr>
                  <a:defRPr b="0" i="0" strike="noStrike" sz="1400" u="none">
                    <a:solidFill>
                      <a:srgbClr val="1A1A1A"/>
                    </a:solidFill>
                    <a:latin typeface="+mn-lt"/>
                  </a:defRPr>
                </a:pPr>
              </a:p>
            </c:txPr>
            <c:showLegendKey val="0"/>
            <c:showVal val="0"/>
            <c:showCatName val="0"/>
            <c:showSerName val="0"/>
            <c:showPercent val="0"/>
            <c:showBubbleSize val="0"/>
            <c:showLeaderLines val="0"/>
          </c:dLbls>
          <c:marker>
            <c:symbol val="circle"/>
            <c:size val="8"/>
            <c:spPr>
              <a:solidFill>
                <a:srgbClr val="2587C5"/>
              </a:solidFill>
              <a:ln w="9525" cap="flat">
                <a:solidFill>
                  <a:srgbClr val="2587C5"/>
                </a:solidFill>
                <a:prstDash val="solid"/>
                <a:round/>
              </a:ln>
              <a:effectLst/>
            </c:spPr>
          </c:marker>
          <c:cat>
            <c:multiLvlStrRef>
              <c:f>Sheet1!$A$2:$A$13</c:f>
              <c:multiLvlStrCache>
                <c:ptCount val="12"/>
                <c:lvl>
                  <c:pt idx="0">
                    <c:v>Jan</c:v>
                  </c:pt>
                  <c:pt idx="1">
                    <c:v>Feb</c:v>
                  </c:pt>
                  <c:pt idx="2">
                    <c:v>Mar</c:v>
                  </c:pt>
                  <c:pt idx="3">
                    <c:v>Apr</c:v>
                  </c:pt>
                  <c:pt idx="4">
                    <c:v>May</c:v>
                  </c:pt>
                  <c:pt idx="5">
                    <c:v>Jun</c:v>
                  </c:pt>
                  <c:pt idx="6">
                    <c:v>Jul</c:v>
                  </c:pt>
                  <c:pt idx="7">
                    <c:v>Aug</c:v>
                  </c:pt>
                  <c:pt idx="8">
                    <c:v>Sep</c:v>
                  </c:pt>
                  <c:pt idx="9">
                    <c:v>Oct</c:v>
                  </c:pt>
                  <c:pt idx="10">
                    <c:v>Nov</c:v>
                  </c:pt>
                  <c:pt idx="11">
                    <c:v>Dec</c:v>
                  </c:pt>
                </c:lvl>
              </c:multiLvlStrCache>
            </c:multiLvlStrRef>
          </c:cat>
          <c:val>
            <c:numRef>
              <c:f>Sheet1!$B$2:$B$13</c:f>
              <c:numCache>
                <c:formatCode>General</c:formatCode>
                <c:ptCount val="12"/>
                <c:pt idx="0">
                  <c:v>1530</c:v>
                </c:pt>
                <c:pt idx="1">
                  <c:v>1530</c:v>
                </c:pt>
                <c:pt idx="2">
                  <c:v>1540</c:v>
                </c:pt>
                <c:pt idx="3">
                  <c:v>1545</c:v>
                </c:pt>
                <c:pt idx="4">
                  <c:v>1537</c:v>
                </c:pt>
                <c:pt idx="5">
                  <c:v>1546</c:v>
                </c:pt>
                <c:pt idx="6">
                  <c:v>1548</c:v>
                </c:pt>
                <c:pt idx="7">
                  <c:v>1549</c:v>
                </c:pt>
                <c:pt idx="8">
                  <c:v>1540</c:v>
                </c:pt>
                <c:pt idx="9">
                  <c:v/>
                </c:pt>
                <c:pt idx="10">
                  <c:v/>
                </c:pt>
                <c:pt idx="11">
                  <c:v/>
                </c:pt>
              </c:numCache>
            </c:numRef>
          </c:val>
          <c:smooth val="0"/>
        </c:ser>
        <c:dLbls>
          <c:numFmt formatCode="#,##0" sourceLinked="0"/>
          <c:txPr>
            <a:bodyPr/>
            <a:lstStyle/>
            <a:p>
              <a:pPr>
                <a:defRPr b="0" i="0" strike="noStrike" sz="1400" u="none">
                  <a:solidFill>
                    <a:srgbClr val="1A1A1A"/>
                  </a:solidFill>
                  <a:latin typeface="+mn-lt"/>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400" b="0" i="0" u="none" strike="noStrike">
                <a:solidFill>
                  <a:srgbClr val="FFFFFF"/>
                </a:solidFill>
                <a:latin typeface="+mn-lt"/>
              </a:defRPr>
            </a:pPr>
            <a:endParaRPr lang="en-US"/>
          </a:p>
        </c:txPr>
        <c:crossAx val="2094734552"/>
        <c:crosses val="min"/>
        <c:auto val="1"/>
        <c:lblAlgn val="ctr"/>
        <c:noMultiLvlLbl val="1"/>
      </c:catAx>
      <c:valAx>
        <c:axId val="2094734552"/>
        <c:scaling>
          <c:orientation val="minMax"/>
          <c:max val="1700"/>
          <c:min val="1450"/>
        </c:scaling>
        <c:delete val="0"/>
        <c:axPos val="l"/>
        <c:majorGridlines>
          <c:spPr>
            <a:ln w="9525" cap="flat">
              <a:solidFill>
                <a:srgbClr val="D9D9D9"/>
              </a:solidFill>
              <a:prstDash val="solid"/>
              <a:round/>
            </a:ln>
          </c:spPr>
        </c:majorGridlines>
        <c:numFmt formatCode="#,##0" sourceLinked="0"/>
        <c:majorTickMark val="out"/>
        <c:minorTickMark val="none"/>
        <c:tickLblPos val="nextTo"/>
        <c:spPr>
          <a:ln w="12700" cap="flat">
            <a:noFill/>
            <a:prstDash val="solid"/>
            <a:round/>
          </a:ln>
        </c:spPr>
        <c:txPr>
          <a:bodyPr/>
          <a:lstStyle/>
          <a:p>
            <a:pPr>
              <a:defRPr sz="1400" b="0" i="0" u="none" strike="noStrike">
                <a:solidFill>
                  <a:srgbClr val="FFFFFF"/>
                </a:solidFill>
                <a:latin typeface="+mn-lt"/>
              </a:defRPr>
            </a:pPr>
            <a:endParaRPr lang="en-US"/>
          </a:p>
        </c:txPr>
        <c:crossAx val="2094734554"/>
        <c:crosses val="autoZero"/>
        <c:crossBetween val="between"/>
        <c:majorUnit val="50"/>
      </c:valAx>
      <c:spPr>
        <a:noFill/>
        <a:ln>
          <a:noFill/>
        </a:ln>
        <a:effectLst/>
      </c:spPr>
    </c:plotArea>
    <c:plotVisOnly val="1"/>
    <c:dispBlanksAs val="span"/>
  </c:chart>
  <c:spPr>
    <a:noFill/>
    <a:ln>
      <a:noFill/>
    </a:ln>
    <a:effectLst/>
  </c:spPr>
  <c:externalData r:id="rId1">
    <c:autoUpdate val="0"/>
  </c:externalData>
</c:chartSpace>
</file>

<file path=ppt/charts/chart12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2026</c:v>
                </c:pt>
              </c:strCache>
            </c:strRef>
          </c:tx>
          <c:spPr>
            <a:solidFill>
              <a:srgbClr val="2587C5"/>
            </a:solidFill>
            <a:ln>
              <a:noFill/>
            </a:ln>
            <a:effectLst/>
          </c:spPr>
          <c:invertIfNegative val="0"/>
          <c:dLbls>
            <c:numFmt formatCode="#,##0" sourceLinked="0"/>
            <c:txPr>
              <a:bodyPr/>
              <a:lstStyle/>
              <a:p>
                <a:pPr>
                  <a:defRPr b="0" i="0" strike="noStrike" sz="1400" u="none">
                    <a:solidFill>
                      <a:srgbClr val="1A1A1A"/>
                    </a:solidFill>
                    <a:latin typeface="+mn-lt"/>
                  </a:defRPr>
                </a:pPr>
              </a:p>
            </c:txPr>
            <c:dLblPos val="b"/>
            <c:showLegendKey val="0"/>
            <c:showVal val="1"/>
            <c:showCatName val="0"/>
            <c:showSerName val="0"/>
            <c:showPercent val="0"/>
            <c:showBubbleSize val="0"/>
            <c:showLeaderLines val="0"/>
          </c:dLbls>
          <c:marker>
            <c:symbol val="none"/>
            <c:size val="8"/>
            <c:spPr>
              <a:solidFill>
                <a:srgbClr val="2587C5"/>
              </a:solidFill>
              <a:ln w="9525" cap="flat">
                <a:solidFill>
                  <a:srgbClr val="2587C5"/>
                </a:solidFill>
                <a:prstDash val="solid"/>
                <a:round/>
              </a:ln>
              <a:effectLst/>
            </c:spPr>
          </c:marker>
          <c:cat>
            <c:multiLvlStrRef>
              <c:f>Sheet1!$A$2:$A$13</c:f>
              <c:multiLvlStrCache>
                <c:ptCount val="12"/>
                <c:lvl>
                  <c:pt idx="0">
                    <c:v>Jan</c:v>
                  </c:pt>
                  <c:pt idx="1">
                    <c:v>Feb</c:v>
                  </c:pt>
                  <c:pt idx="2">
                    <c:v>Mar</c:v>
                  </c:pt>
                  <c:pt idx="3">
                    <c:v>Apr</c:v>
                  </c:pt>
                  <c:pt idx="4">
                    <c:v>May</c:v>
                  </c:pt>
                  <c:pt idx="5">
                    <c:v>Jun</c:v>
                  </c:pt>
                  <c:pt idx="6">
                    <c:v>Jul</c:v>
                  </c:pt>
                  <c:pt idx="7">
                    <c:v>Aug</c:v>
                  </c:pt>
                  <c:pt idx="8">
                    <c:v>Sep</c:v>
                  </c:pt>
                  <c:pt idx="9">
                    <c:v>Oct</c:v>
                  </c:pt>
                  <c:pt idx="10">
                    <c:v>Nov</c:v>
                  </c:pt>
                  <c:pt idx="11">
                    <c:v>Dec</c:v>
                  </c:pt>
                </c:lvl>
              </c:multiLvlStrCache>
            </c:multiLvlStrRef>
          </c:cat>
          <c:val>
            <c:numRef>
              <c:f>Sheet1!$B$2:$B$13</c:f>
              <c:numCache>
                <c:formatCode>General</c:formatCode>
                <c:ptCount val="12"/>
                <c:pt idx="0">
                  <c:v>1530</c:v>
                </c:pt>
                <c:pt idx="1">
                  <c:v>1530</c:v>
                </c:pt>
                <c:pt idx="2">
                  <c:v>1540</c:v>
                </c:pt>
                <c:pt idx="3">
                  <c:v>1545</c:v>
                </c:pt>
                <c:pt idx="4">
                  <c:v>1537</c:v>
                </c:pt>
                <c:pt idx="5">
                  <c:v>1546</c:v>
                </c:pt>
                <c:pt idx="6">
                  <c:v>1548</c:v>
                </c:pt>
                <c:pt idx="7">
                  <c:v>1549</c:v>
                </c:pt>
                <c:pt idx="8">
                  <c:v>1540</c:v>
                </c:pt>
                <c:pt idx="9">
                  <c:v/>
                </c:pt>
                <c:pt idx="10">
                  <c:v/>
                </c:pt>
                <c:pt idx="11">
                  <c:v/>
                </c:pt>
              </c:numCache>
            </c:numRef>
          </c:val>
          <c:smooth val="0"/>
        </c:ser>
        <c:dLbls>
          <c:numFmt formatCode="#,##0" sourceLinked="0"/>
          <c:txPr>
            <a:bodyPr/>
            <a:lstStyle/>
            <a:p>
              <a:pPr>
                <a:defRPr b="0" i="0" strike="noStrike" sz="1400" u="none">
                  <a:solidFill>
                    <a:srgbClr val="1A1A1A"/>
                  </a:solidFill>
                  <a:latin typeface="+mn-lt"/>
                </a:defRPr>
              </a:pPr>
            </a:p>
          </c:txPr>
          <c:dLblPos val="b"/>
          <c:showLegendKey val="0"/>
          <c:showVal val="1"/>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400" b="0" i="0" u="none" strike="noStrike">
                <a:solidFill>
                  <a:srgbClr val="FFFFFF"/>
                </a:solidFill>
                <a:latin typeface="+mn-lt"/>
              </a:defRPr>
            </a:pPr>
            <a:endParaRPr lang="en-US"/>
          </a:p>
        </c:txPr>
        <c:crossAx val="2094734552"/>
        <c:crosses val="min"/>
        <c:auto val="1"/>
        <c:lblAlgn val="ctr"/>
        <c:noMultiLvlLbl val="1"/>
      </c:catAx>
      <c:valAx>
        <c:axId val="2094734552"/>
        <c:scaling>
          <c:orientation val="minMax"/>
          <c:max val="1700"/>
          <c:min val="1450"/>
        </c:scaling>
        <c:delete val="0"/>
        <c:axPos val="l"/>
        <c:numFmt formatCode="#,##0" sourceLinked="0"/>
        <c:majorTickMark val="out"/>
        <c:minorTickMark val="none"/>
        <c:tickLblPos val="nextTo"/>
        <c:spPr>
          <a:ln w="12700" cap="flat">
            <a:noFill/>
            <a:prstDash val="solid"/>
            <a:round/>
          </a:ln>
        </c:spPr>
        <c:txPr>
          <a:bodyPr/>
          <a:lstStyle/>
          <a:p>
            <a:pPr>
              <a:defRPr sz="1400" b="0" i="0" u="none" strike="noStrike">
                <a:solidFill>
                  <a:srgbClr val="FFFFFF"/>
                </a:solidFill>
                <a:latin typeface="+mn-lt"/>
              </a:defRPr>
            </a:pPr>
            <a:endParaRPr lang="en-US"/>
          </a:p>
        </c:txPr>
        <c:crossAx val="2094734554"/>
        <c:crosses val="autoZero"/>
        <c:crossBetween val="between"/>
        <c:majorUnit val="50"/>
      </c:valAx>
      <c:spPr>
        <a:solidFill>
          <a:srgbClr val="FFFFFF">
            <a:alpha val="0"/>
          </a:srgbClr>
        </a:solidFill>
        <a:ln>
          <a:noFill/>
        </a:ln>
        <a:effectLst/>
      </c:spPr>
    </c:plotArea>
    <c:plotVisOnly val="1"/>
    <c:dispBlanksAs val="span"/>
  </c:chart>
  <c:spPr>
    <a:solidFill>
      <a:srgbClr val="FFFFFF">
        <a:alpha val="0"/>
      </a:srgbClr>
    </a:solidFill>
    <a:ln>
      <a:noFill/>
    </a:ln>
    <a:effectLst/>
  </c:spPr>
  <c:externalData r:id="rId1">
    <c:autoUpdate val="0"/>
  </c:externalData>
</c:chartSpace>
</file>

<file path=ppt/charts/chart12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2025</c:v>
                </c:pt>
              </c:strCache>
            </c:strRef>
          </c:tx>
          <c:spPr>
            <a:solidFill>
              <a:srgbClr val="9AA3AD"/>
            </a:solidFill>
            <a:ln>
              <a:noFill/>
            </a:ln>
            <a:effectLst/>
          </c:spPr>
          <c:invertIfNegative val="0"/>
          <c:dLbls>
            <c:numFmt formatCode="#,##0" sourceLinked="0"/>
            <c:txPr>
              <a:bodyPr/>
              <a:lstStyle/>
              <a:p>
                <a:pPr>
                  <a:defRPr b="0" i="0" strike="noStrike" sz="1400" u="none">
                    <a:solidFill>
                      <a:srgbClr val="1A1A1A"/>
                    </a:solidFill>
                    <a:latin typeface="+mn-lt"/>
                  </a:defRPr>
                </a:pPr>
              </a:p>
            </c:txPr>
            <c:dLblPos val="t"/>
            <c:showLegendKey val="0"/>
            <c:showVal val="1"/>
            <c:showCatName val="0"/>
            <c:showSerName val="0"/>
            <c:showPercent val="0"/>
            <c:showBubbleSize val="0"/>
            <c:showLeaderLines val="0"/>
          </c:dLbls>
          <c:marker>
            <c:symbol val="none"/>
            <c:size val="8"/>
            <c:spPr>
              <a:solidFill>
                <a:srgbClr val="9AA3AD"/>
              </a:solidFill>
              <a:ln w="9525" cap="flat">
                <a:solidFill>
                  <a:srgbClr val="9AA3AD"/>
                </a:solidFill>
                <a:prstDash val="solid"/>
                <a:round/>
              </a:ln>
              <a:effectLst/>
            </c:spPr>
          </c:marker>
          <c:cat>
            <c:multiLvlStrRef>
              <c:f>Sheet1!$A$2:$A$13</c:f>
              <c:multiLvlStrCache>
                <c:ptCount val="12"/>
                <c:lvl>
                  <c:pt idx="0">
                    <c:v>Jan</c:v>
                  </c:pt>
                  <c:pt idx="1">
                    <c:v>Feb</c:v>
                  </c:pt>
                  <c:pt idx="2">
                    <c:v>Mar</c:v>
                  </c:pt>
                  <c:pt idx="3">
                    <c:v>Apr</c:v>
                  </c:pt>
                  <c:pt idx="4">
                    <c:v>May</c:v>
                  </c:pt>
                  <c:pt idx="5">
                    <c:v>Jun</c:v>
                  </c:pt>
                  <c:pt idx="6">
                    <c:v>Jul</c:v>
                  </c:pt>
                  <c:pt idx="7">
                    <c:v>Aug</c:v>
                  </c:pt>
                  <c:pt idx="8">
                    <c:v>Sep</c:v>
                  </c:pt>
                  <c:pt idx="9">
                    <c:v>Oct</c:v>
                  </c:pt>
                  <c:pt idx="10">
                    <c:v>Nov</c:v>
                  </c:pt>
                  <c:pt idx="11">
                    <c:v>Dec</c:v>
                  </c:pt>
                </c:lvl>
              </c:multiLvlStrCache>
            </c:multiLvlStrRef>
          </c:cat>
          <c:val>
            <c:numRef>
              <c:f>Sheet1!$B$2:$B$13</c:f>
              <c:numCache>
                <c:formatCode>General</c:formatCode>
                <c:ptCount val="12"/>
                <c:pt idx="0">
                  <c:v>1625</c:v>
                </c:pt>
                <c:pt idx="1">
                  <c:v>1632</c:v>
                </c:pt>
                <c:pt idx="2">
                  <c:v>1629</c:v>
                </c:pt>
                <c:pt idx="3">
                  <c:v>1615</c:v>
                </c:pt>
                <c:pt idx="4">
                  <c:v>1623</c:v>
                </c:pt>
                <c:pt idx="5">
                  <c:v>1616</c:v>
                </c:pt>
                <c:pt idx="6">
                  <c:v>1629</c:v>
                </c:pt>
                <c:pt idx="7">
                  <c:v>1627</c:v>
                </c:pt>
                <c:pt idx="8">
                  <c:v>1616</c:v>
                </c:pt>
                <c:pt idx="9">
                  <c:v>1604</c:v>
                </c:pt>
                <c:pt idx="10">
                  <c:v/>
                </c:pt>
                <c:pt idx="11">
                  <c:v/>
                </c:pt>
              </c:numCache>
            </c:numRef>
          </c:val>
          <c:smooth val="0"/>
        </c:ser>
        <c:dLbls>
          <c:numFmt formatCode="#,##0" sourceLinked="0"/>
          <c:txPr>
            <a:bodyPr/>
            <a:lstStyle/>
            <a:p>
              <a:pPr>
                <a:defRPr b="0" i="0" strike="noStrike" sz="1400" u="none">
                  <a:solidFill>
                    <a:srgbClr val="1A1A1A"/>
                  </a:solidFill>
                  <a:latin typeface="+mn-lt"/>
                </a:defRPr>
              </a:pPr>
            </a:p>
          </c:txPr>
          <c:dLblPos val="t"/>
          <c:showLegendKey val="0"/>
          <c:showVal val="1"/>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400" b="0" i="0" u="none" strike="noStrike">
                <a:solidFill>
                  <a:srgbClr val="FFFFFF"/>
                </a:solidFill>
                <a:latin typeface="+mn-lt"/>
              </a:defRPr>
            </a:pPr>
            <a:endParaRPr lang="en-US"/>
          </a:p>
        </c:txPr>
        <c:crossAx val="2094734552"/>
        <c:crosses val="min"/>
        <c:auto val="1"/>
        <c:lblAlgn val="ctr"/>
        <c:noMultiLvlLbl val="1"/>
      </c:catAx>
      <c:valAx>
        <c:axId val="2094734552"/>
        <c:scaling>
          <c:orientation val="minMax"/>
          <c:max val="1700"/>
          <c:min val="1450"/>
        </c:scaling>
        <c:delete val="0"/>
        <c:axPos val="l"/>
        <c:numFmt formatCode="#,##0" sourceLinked="0"/>
        <c:majorTickMark val="out"/>
        <c:minorTickMark val="none"/>
        <c:tickLblPos val="nextTo"/>
        <c:spPr>
          <a:ln w="12700" cap="flat">
            <a:noFill/>
            <a:prstDash val="solid"/>
            <a:round/>
          </a:ln>
        </c:spPr>
        <c:txPr>
          <a:bodyPr/>
          <a:lstStyle/>
          <a:p>
            <a:pPr>
              <a:defRPr sz="1400" b="0" i="0" u="none" strike="noStrike">
                <a:solidFill>
                  <a:srgbClr val="FFFFFF"/>
                </a:solidFill>
                <a:latin typeface="+mn-lt"/>
              </a:defRPr>
            </a:pPr>
            <a:endParaRPr lang="en-US"/>
          </a:p>
        </c:txPr>
        <c:crossAx val="2094734554"/>
        <c:crosses val="autoZero"/>
        <c:crossBetween val="between"/>
        <c:majorUnit val="50"/>
      </c:valAx>
      <c:spPr>
        <a:solidFill>
          <a:srgbClr val="FFFFFF">
            <a:alpha val="0"/>
          </a:srgbClr>
        </a:solidFill>
        <a:ln>
          <a:noFill/>
        </a:ln>
        <a:effectLst/>
      </c:spPr>
    </c:plotArea>
    <c:plotVisOnly val="1"/>
    <c:dispBlanksAs val="span"/>
  </c:chart>
  <c:spPr>
    <a:solidFill>
      <a:srgbClr val="FFFFFF">
        <a:alpha val="0"/>
      </a:srgbClr>
    </a:solidFill>
    <a:ln>
      <a:noFill/>
    </a:ln>
    <a:effectLst/>
  </c:spPr>
  <c:externalData r:id="rId1">
    <c:autoUpdate val="0"/>
  </c:externalData>
</c:chartSpace>
</file>

<file path=ppt/charts/chart126.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2025</c:v>
                </c:pt>
              </c:strCache>
            </c:strRef>
          </c:tx>
          <c:spPr>
            <a:solidFill>
              <a:srgbClr val="9AA3AD"/>
            </a:solidFill>
            <a:ln>
              <a:noFill/>
            </a:ln>
            <a:effectLst/>
          </c:spPr>
          <c:invertIfNegative val="0"/>
          <c:dLbls>
            <c:numFmt formatCode="#,##0" sourceLinked="0"/>
            <c:txPr>
              <a:bodyPr/>
              <a:lstStyle/>
              <a:p>
                <a:pPr>
                  <a:defRPr b="0" i="0" strike="noStrike" sz="1400" u="none">
                    <a:solidFill>
                      <a:srgbClr val="1A1A1A"/>
                    </a:solidFill>
                    <a:latin typeface="+mn-lt"/>
                  </a:defRPr>
                </a:pPr>
              </a:p>
            </c:txPr>
            <c:dLblPos val="b"/>
            <c:showLegendKey val="0"/>
            <c:showVal val="1"/>
            <c:showCatName val="0"/>
            <c:showSerName val="0"/>
            <c:showPercent val="0"/>
            <c:showBubbleSize val="0"/>
            <c:showLeaderLines val="0"/>
          </c:dLbls>
          <c:marker>
            <c:symbol val="none"/>
            <c:size val="8"/>
            <c:spPr>
              <a:solidFill>
                <a:srgbClr val="9AA3AD"/>
              </a:solidFill>
              <a:ln w="9525" cap="flat">
                <a:solidFill>
                  <a:srgbClr val="9AA3AD"/>
                </a:solidFill>
                <a:prstDash val="solid"/>
                <a:round/>
              </a:ln>
              <a:effectLst/>
            </c:spPr>
          </c:marker>
          <c:cat>
            <c:multiLvlStrRef>
              <c:f>Sheet1!$A$2:$A$13</c:f>
              <c:multiLvlStrCache>
                <c:ptCount val="12"/>
                <c:lvl>
                  <c:pt idx="0">
                    <c:v>Jan</c:v>
                  </c:pt>
                  <c:pt idx="1">
                    <c:v>Feb</c:v>
                  </c:pt>
                  <c:pt idx="2">
                    <c:v>Mar</c:v>
                  </c:pt>
                  <c:pt idx="3">
                    <c:v>Apr</c:v>
                  </c:pt>
                  <c:pt idx="4">
                    <c:v>May</c:v>
                  </c:pt>
                  <c:pt idx="5">
                    <c:v>Jun</c:v>
                  </c:pt>
                  <c:pt idx="6">
                    <c:v>Jul</c:v>
                  </c:pt>
                  <c:pt idx="7">
                    <c:v>Aug</c:v>
                  </c:pt>
                  <c:pt idx="8">
                    <c:v>Sep</c:v>
                  </c:pt>
                  <c:pt idx="9">
                    <c:v>Oct</c:v>
                  </c:pt>
                  <c:pt idx="10">
                    <c:v>Nov</c:v>
                  </c:pt>
                  <c:pt idx="11">
                    <c:v>Dec</c:v>
                  </c:pt>
                </c:lvl>
              </c:multiLvlStrCache>
            </c:multiLvlStrRef>
          </c:cat>
          <c:val>
            <c:numRef>
              <c:f>Sheet1!$B$2:$B$13</c:f>
              <c:numCache>
                <c:formatCode>General</c:formatCode>
                <c:ptCount val="12"/>
                <c:pt idx="0">
                  <c:v/>
                </c:pt>
                <c:pt idx="1">
                  <c:v/>
                </c:pt>
                <c:pt idx="2">
                  <c:v/>
                </c:pt>
                <c:pt idx="3">
                  <c:v/>
                </c:pt>
                <c:pt idx="4">
                  <c:v/>
                </c:pt>
                <c:pt idx="5">
                  <c:v/>
                </c:pt>
                <c:pt idx="6">
                  <c:v/>
                </c:pt>
                <c:pt idx="7">
                  <c:v/>
                </c:pt>
                <c:pt idx="8">
                  <c:v/>
                </c:pt>
                <c:pt idx="9">
                  <c:v/>
                </c:pt>
                <c:pt idx="10">
                  <c:v>1582</c:v>
                </c:pt>
                <c:pt idx="11">
                  <c:v>1563</c:v>
                </c:pt>
              </c:numCache>
            </c:numRef>
          </c:val>
          <c:smooth val="0"/>
        </c:ser>
        <c:dLbls>
          <c:numFmt formatCode="#,##0" sourceLinked="0"/>
          <c:txPr>
            <a:bodyPr/>
            <a:lstStyle/>
            <a:p>
              <a:pPr>
                <a:defRPr b="0" i="0" strike="noStrike" sz="1400" u="none">
                  <a:solidFill>
                    <a:srgbClr val="1A1A1A"/>
                  </a:solidFill>
                  <a:latin typeface="+mn-lt"/>
                </a:defRPr>
              </a:pPr>
            </a:p>
          </c:txPr>
          <c:dLblPos val="b"/>
          <c:showLegendKey val="0"/>
          <c:showVal val="1"/>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400" b="0" i="0" u="none" strike="noStrike">
                <a:solidFill>
                  <a:srgbClr val="FFFFFF"/>
                </a:solidFill>
                <a:latin typeface="+mn-lt"/>
              </a:defRPr>
            </a:pPr>
            <a:endParaRPr lang="en-US"/>
          </a:p>
        </c:txPr>
        <c:crossAx val="2094734552"/>
        <c:crosses val="min"/>
        <c:auto val="1"/>
        <c:lblAlgn val="ctr"/>
        <c:noMultiLvlLbl val="1"/>
      </c:catAx>
      <c:valAx>
        <c:axId val="2094734552"/>
        <c:scaling>
          <c:orientation val="minMax"/>
          <c:max val="1700"/>
          <c:min val="1450"/>
        </c:scaling>
        <c:delete val="0"/>
        <c:axPos val="l"/>
        <c:numFmt formatCode="#,##0" sourceLinked="0"/>
        <c:majorTickMark val="out"/>
        <c:minorTickMark val="none"/>
        <c:tickLblPos val="nextTo"/>
        <c:spPr>
          <a:ln w="12700" cap="flat">
            <a:noFill/>
            <a:prstDash val="solid"/>
            <a:round/>
          </a:ln>
        </c:spPr>
        <c:txPr>
          <a:bodyPr/>
          <a:lstStyle/>
          <a:p>
            <a:pPr>
              <a:defRPr sz="1400" b="0" i="0" u="none" strike="noStrike">
                <a:solidFill>
                  <a:srgbClr val="FFFFFF"/>
                </a:solidFill>
                <a:latin typeface="+mn-lt"/>
              </a:defRPr>
            </a:pPr>
            <a:endParaRPr lang="en-US"/>
          </a:p>
        </c:txPr>
        <c:crossAx val="2094734554"/>
        <c:crosses val="autoZero"/>
        <c:crossBetween val="between"/>
        <c:majorUnit val="50"/>
      </c:valAx>
      <c:spPr>
        <a:solidFill>
          <a:srgbClr val="FFFFFF">
            <a:alpha val="0"/>
          </a:srgbClr>
        </a:solidFill>
        <a:ln>
          <a:noFill/>
        </a:ln>
        <a:effectLst/>
      </c:spPr>
    </c:plotArea>
    <c:plotVisOnly val="1"/>
    <c:dispBlanksAs val="span"/>
  </c:chart>
  <c:spPr>
    <a:solidFill>
      <a:srgbClr val="FFFFFF">
        <a:alpha val="0"/>
      </a:srgbClr>
    </a:solidFill>
    <a:ln>
      <a:noFill/>
    </a:ln>
    <a:effectLst/>
  </c:spPr>
  <c:externalData r:id="rId1">
    <c:autoUpdate val="0"/>
  </c:externalData>
</c:chartSpace>
</file>

<file path=ppt/charts/chart127.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2025</c:v>
                </c:pt>
              </c:strCache>
            </c:strRef>
          </c:tx>
          <c:spPr>
            <a:solidFill>
              <a:srgbClr val="9AA3AD"/>
            </a:solidFill>
            <a:ln w="38100" cap="flat">
              <a:solidFill>
                <a:srgbClr val="9AA3AD"/>
              </a:solidFill>
              <a:prstDash val="solid"/>
              <a:round/>
            </a:ln>
            <a:effectLst/>
          </c:spPr>
          <c:invertIfNegative val="0"/>
          <c:dLbls>
            <c:numFmt formatCode="#,##0" sourceLinked="0"/>
            <c:txPr>
              <a:bodyPr/>
              <a:lstStyle/>
              <a:p>
                <a:pPr>
                  <a:defRPr b="0" i="0" strike="noStrike" sz="1400" u="none">
                    <a:solidFill>
                      <a:srgbClr val="1A1A1A"/>
                    </a:solidFill>
                    <a:latin typeface="+mn-lt"/>
                  </a:defRPr>
                </a:pPr>
              </a:p>
            </c:txPr>
            <c:showLegendKey val="0"/>
            <c:showVal val="0"/>
            <c:showCatName val="0"/>
            <c:showSerName val="0"/>
            <c:showPercent val="0"/>
            <c:showBubbleSize val="0"/>
            <c:showLeaderLines val="0"/>
          </c:dLbls>
          <c:marker>
            <c:symbol val="circle"/>
            <c:size val="8"/>
            <c:spPr>
              <a:solidFill>
                <a:srgbClr val="9AA3AD"/>
              </a:solidFill>
              <a:ln w="9525" cap="flat">
                <a:solidFill>
                  <a:srgbClr val="9AA3AD"/>
                </a:solidFill>
                <a:prstDash val="solid"/>
                <a:round/>
              </a:ln>
              <a:effectLst/>
            </c:spPr>
          </c:marker>
          <c:cat>
            <c:multiLvlStrRef>
              <c:f>Sheet1!$A$2:$A$13</c:f>
              <c:multiLvlStrCache>
                <c:ptCount val="12"/>
                <c:lvl>
                  <c:pt idx="0">
                    <c:v>Jan</c:v>
                  </c:pt>
                  <c:pt idx="1">
                    <c:v>Feb</c:v>
                  </c:pt>
                  <c:pt idx="2">
                    <c:v>Mar</c:v>
                  </c:pt>
                  <c:pt idx="3">
                    <c:v>Apr</c:v>
                  </c:pt>
                  <c:pt idx="4">
                    <c:v>May</c:v>
                  </c:pt>
                  <c:pt idx="5">
                    <c:v>Jun</c:v>
                  </c:pt>
                  <c:pt idx="6">
                    <c:v>Jul</c:v>
                  </c:pt>
                  <c:pt idx="7">
                    <c:v>Aug</c:v>
                  </c:pt>
                  <c:pt idx="8">
                    <c:v>Sep</c:v>
                  </c:pt>
                  <c:pt idx="9">
                    <c:v>Oct</c:v>
                  </c:pt>
                  <c:pt idx="10">
                    <c:v>Nov</c:v>
                  </c:pt>
                  <c:pt idx="11">
                    <c:v>Dec</c:v>
                  </c:pt>
                </c:lvl>
              </c:multiLvlStrCache>
            </c:multiLvlStrRef>
          </c:cat>
          <c:val>
            <c:numRef>
              <c:f>Sheet1!$B$2:$B$13</c:f>
              <c:numCache>
                <c:formatCode>General</c:formatCode>
                <c:ptCount val="12"/>
                <c:pt idx="0">
                  <c:v>1625</c:v>
                </c:pt>
                <c:pt idx="1">
                  <c:v>1632</c:v>
                </c:pt>
                <c:pt idx="2">
                  <c:v>1629</c:v>
                </c:pt>
                <c:pt idx="3">
                  <c:v>1615</c:v>
                </c:pt>
                <c:pt idx="4">
                  <c:v>1623</c:v>
                </c:pt>
                <c:pt idx="5">
                  <c:v>1616</c:v>
                </c:pt>
                <c:pt idx="6">
                  <c:v>1629</c:v>
                </c:pt>
                <c:pt idx="7">
                  <c:v>1627</c:v>
                </c:pt>
                <c:pt idx="8">
                  <c:v>1616</c:v>
                </c:pt>
                <c:pt idx="9">
                  <c:v>1604</c:v>
                </c:pt>
                <c:pt idx="10">
                  <c:v>1582</c:v>
                </c:pt>
                <c:pt idx="11">
                  <c:v>1563</c:v>
                </c:pt>
              </c:numCache>
            </c:numRef>
          </c:val>
          <c:smooth val="0"/>
        </c:ser>
        <c:dLbls>
          <c:numFmt formatCode="#,##0" sourceLinked="0"/>
          <c:txPr>
            <a:bodyPr/>
            <a:lstStyle/>
            <a:p>
              <a:pPr>
                <a:defRPr b="0" i="0" strike="noStrike" sz="1400" u="none">
                  <a:solidFill>
                    <a:srgbClr val="1A1A1A"/>
                  </a:solidFill>
                  <a:latin typeface="+mn-lt"/>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400" b="0" i="0" u="none" strike="noStrike">
                <a:solidFill>
                  <a:srgbClr val="1A1A1A"/>
                </a:solidFill>
                <a:latin typeface="+mn-lt"/>
              </a:defRPr>
            </a:pPr>
            <a:endParaRPr lang="en-US"/>
          </a:p>
        </c:txPr>
        <c:crossAx val="2094734552"/>
        <c:crosses val="min"/>
        <c:auto val="1"/>
        <c:lblAlgn val="ctr"/>
        <c:noMultiLvlLbl val="1"/>
      </c:catAx>
      <c:valAx>
        <c:axId val="2094734552"/>
        <c:scaling>
          <c:orientation val="minMax"/>
          <c:max val="1700"/>
          <c:min val="1450"/>
        </c:scaling>
        <c:delete val="0"/>
        <c:axPos val="l"/>
        <c:numFmt formatCode="#,##0" sourceLinked="0"/>
        <c:majorTickMark val="out"/>
        <c:minorTickMark val="none"/>
        <c:tickLblPos val="nextTo"/>
        <c:spPr>
          <a:ln w="12700" cap="flat">
            <a:noFill/>
            <a:prstDash val="solid"/>
            <a:round/>
          </a:ln>
        </c:spPr>
        <c:txPr>
          <a:bodyPr/>
          <a:lstStyle/>
          <a:p>
            <a:pPr>
              <a:defRPr sz="1400" b="0" i="0" u="none" strike="noStrike">
                <a:solidFill>
                  <a:srgbClr val="595959"/>
                </a:solidFill>
                <a:latin typeface="+mn-lt"/>
              </a:defRPr>
            </a:pPr>
            <a:endParaRPr lang="en-US"/>
          </a:p>
        </c:txPr>
        <c:crossAx val="2094734554"/>
        <c:crosses val="autoZero"/>
        <c:crossBetween val="between"/>
        <c:majorUnit val="50"/>
      </c:valAx>
      <c:spPr>
        <a:solidFill>
          <a:srgbClr val="FFFFFF">
            <a:alpha val="0"/>
          </a:srgbClr>
        </a:solidFill>
        <a:ln>
          <a:noFill/>
        </a:ln>
        <a:effectLst/>
      </c:spPr>
    </c:plotArea>
    <c:plotVisOnly val="1"/>
    <c:dispBlanksAs val="span"/>
  </c:chart>
  <c:spPr>
    <a:solidFill>
      <a:srgbClr val="FFFFFF">
        <a:alpha val="0"/>
      </a:srgbClr>
    </a:solidFill>
    <a:ln>
      <a:noFill/>
    </a:ln>
    <a:effectLst/>
  </c:spPr>
  <c:externalData r:id="rId1">
    <c:autoUpdate val="0"/>
  </c:externalData>
</c:chartSpace>
</file>

<file path=ppt/charts/chart13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2026</c:v>
                </c:pt>
              </c:strCache>
            </c:strRef>
          </c:tx>
          <c:spPr>
            <a:solidFill>
              <a:srgbClr val="2587C5"/>
            </a:solidFill>
            <a:ln w="38100" cap="flat">
              <a:solidFill>
                <a:srgbClr val="2587C5"/>
              </a:solidFill>
              <a:prstDash val="solid"/>
              <a:round/>
            </a:ln>
            <a:effectLst/>
          </c:spPr>
          <c:invertIfNegative val="0"/>
          <c:dLbls>
            <c:numFmt formatCode="0.0" sourceLinked="0"/>
            <c:txPr>
              <a:bodyPr/>
              <a:lstStyle/>
              <a:p>
                <a:pPr>
                  <a:defRPr b="0" i="0" strike="noStrike" sz="1400" u="none">
                    <a:solidFill>
                      <a:srgbClr val="1A1A1A"/>
                    </a:solidFill>
                    <a:latin typeface="+mn-lt"/>
                  </a:defRPr>
                </a:pPr>
              </a:p>
            </c:txPr>
            <c:showLegendKey val="0"/>
            <c:showVal val="0"/>
            <c:showCatName val="0"/>
            <c:showSerName val="0"/>
            <c:showPercent val="0"/>
            <c:showBubbleSize val="0"/>
            <c:showLeaderLines val="0"/>
          </c:dLbls>
          <c:marker>
            <c:symbol val="circle"/>
            <c:size val="8"/>
            <c:spPr>
              <a:solidFill>
                <a:srgbClr val="2587C5"/>
              </a:solidFill>
              <a:ln w="9525" cap="flat">
                <a:solidFill>
                  <a:srgbClr val="2587C5"/>
                </a:solidFill>
                <a:prstDash val="solid"/>
                <a:round/>
              </a:ln>
              <a:effectLst/>
            </c:spPr>
          </c:marker>
          <c:cat>
            <c:multiLvlStrRef>
              <c:f>Sheet1!$A$2:$A$13</c:f>
              <c:multiLvlStrCache>
                <c:ptCount val="12"/>
                <c:lvl>
                  <c:pt idx="0">
                    <c:v>Jan</c:v>
                  </c:pt>
                  <c:pt idx="1">
                    <c:v>Feb</c:v>
                  </c:pt>
                  <c:pt idx="2">
                    <c:v>Mar</c:v>
                  </c:pt>
                  <c:pt idx="3">
                    <c:v>Apr</c:v>
                  </c:pt>
                  <c:pt idx="4">
                    <c:v>May</c:v>
                  </c:pt>
                  <c:pt idx="5">
                    <c:v>Jun</c:v>
                  </c:pt>
                  <c:pt idx="6">
                    <c:v>Jul</c:v>
                  </c:pt>
                  <c:pt idx="7">
                    <c:v>Aug</c:v>
                  </c:pt>
                  <c:pt idx="8">
                    <c:v>Sep</c:v>
                  </c:pt>
                  <c:pt idx="9">
                    <c:v>Oct</c:v>
                  </c:pt>
                  <c:pt idx="10">
                    <c:v>Nov</c:v>
                  </c:pt>
                  <c:pt idx="11">
                    <c:v>Dec</c:v>
                  </c:pt>
                </c:lvl>
              </c:multiLvlStrCache>
            </c:multiLvlStrRef>
          </c:cat>
          <c:val>
            <c:numRef>
              <c:f>Sheet1!$B$2:$B$13</c:f>
              <c:numCache>
                <c:formatCode>General</c:formatCode>
                <c:ptCount val="12"/>
                <c:pt idx="0">
                  <c:v>5.08</c:v>
                </c:pt>
                <c:pt idx="1">
                  <c:v>4.97</c:v>
                </c:pt>
                <c:pt idx="2">
                  <c:v>5.2</c:v>
                </c:pt>
                <c:pt idx="3">
                  <c:v>5.4</c:v>
                </c:pt>
                <c:pt idx="4">
                  <c:v>4.7</c:v>
                </c:pt>
                <c:pt idx="5">
                  <c:v>5.05</c:v>
                </c:pt>
                <c:pt idx="6">
                  <c:v>5.82</c:v>
                </c:pt>
                <c:pt idx="7">
                  <c:v>5.49</c:v>
                </c:pt>
                <c:pt idx="8">
                  <c:v>5.36</c:v>
                </c:pt>
                <c:pt idx="9">
                  <c:v/>
                </c:pt>
                <c:pt idx="10">
                  <c:v/>
                </c:pt>
                <c:pt idx="11">
                  <c:v/>
                </c:pt>
              </c:numCache>
            </c:numRef>
          </c:val>
          <c:smooth val="0"/>
        </c:ser>
        <c:dLbls>
          <c:numFmt formatCode="0.0" sourceLinked="0"/>
          <c:txPr>
            <a:bodyPr/>
            <a:lstStyle/>
            <a:p>
              <a:pPr>
                <a:defRPr b="0" i="0" strike="noStrike" sz="1400" u="none">
                  <a:solidFill>
                    <a:srgbClr val="1A1A1A"/>
                  </a:solidFill>
                  <a:latin typeface="+mn-lt"/>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400" b="0" i="0" u="none" strike="noStrike">
                <a:solidFill>
                  <a:srgbClr val="FFFFFF"/>
                </a:solidFill>
                <a:latin typeface="+mn-lt"/>
              </a:defRPr>
            </a:pPr>
            <a:endParaRPr lang="en-US"/>
          </a:p>
        </c:txPr>
        <c:crossAx val="2094734552"/>
        <c:crosses val="min"/>
        <c:auto val="1"/>
        <c:lblAlgn val="ctr"/>
        <c:noMultiLvlLbl val="1"/>
      </c:catAx>
      <c:valAx>
        <c:axId val="2094734552"/>
        <c:scaling>
          <c:orientation val="minMax"/>
          <c:max val="7"/>
          <c:min val="3"/>
        </c:scaling>
        <c:delete val="0"/>
        <c:axPos val="l"/>
        <c:majorGridlines>
          <c:spPr>
            <a:ln w="9525" cap="flat">
              <a:solidFill>
                <a:srgbClr val="D9D9D9"/>
              </a:solidFill>
              <a:prstDash val="solid"/>
              <a:round/>
            </a:ln>
          </c:spPr>
        </c:majorGridlines>
        <c:numFmt formatCode="$0&quot;M&quot;" sourceLinked="0"/>
        <c:majorTickMark val="out"/>
        <c:minorTickMark val="none"/>
        <c:tickLblPos val="nextTo"/>
        <c:spPr>
          <a:ln w="12700" cap="flat">
            <a:noFill/>
            <a:prstDash val="solid"/>
            <a:round/>
          </a:ln>
        </c:spPr>
        <c:txPr>
          <a:bodyPr/>
          <a:lstStyle/>
          <a:p>
            <a:pPr>
              <a:defRPr sz="1400" b="0" i="0" u="none" strike="noStrike">
                <a:solidFill>
                  <a:srgbClr val="FFFFFF"/>
                </a:solidFill>
                <a:latin typeface="+mn-lt"/>
              </a:defRPr>
            </a:pPr>
            <a:endParaRPr lang="en-US"/>
          </a:p>
        </c:txPr>
        <c:crossAx val="2094734554"/>
        <c:crosses val="autoZero"/>
        <c:crossBetween val="between"/>
        <c:majorUnit val="1"/>
      </c:valAx>
      <c:spPr>
        <a:noFill/>
        <a:ln>
          <a:noFill/>
        </a:ln>
        <a:effectLst/>
      </c:spPr>
    </c:plotArea>
    <c:plotVisOnly val="1"/>
    <c:dispBlanksAs val="span"/>
  </c:chart>
  <c:spPr>
    <a:noFill/>
    <a:ln>
      <a:noFill/>
    </a:ln>
    <a:effectLst/>
  </c:spPr>
  <c:externalData r:id="rId1">
    <c:autoUpdate val="0"/>
  </c:externalData>
</c:chartSpace>
</file>

<file path=ppt/charts/chart136.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2026</c:v>
                </c:pt>
              </c:strCache>
            </c:strRef>
          </c:tx>
          <c:spPr>
            <a:solidFill>
              <a:srgbClr val="2587C5"/>
            </a:solidFill>
            <a:ln>
              <a:noFill/>
            </a:ln>
            <a:effectLst/>
          </c:spPr>
          <c:invertIfNegative val="0"/>
          <c:dLbls>
            <c:numFmt formatCode="0.0" sourceLinked="0"/>
            <c:txPr>
              <a:bodyPr/>
              <a:lstStyle/>
              <a:p>
                <a:pPr>
                  <a:defRPr b="0" i="0" strike="noStrike" sz="1400" u="none">
                    <a:solidFill>
                      <a:srgbClr val="1A1A1A"/>
                    </a:solidFill>
                    <a:latin typeface="+mn-lt"/>
                  </a:defRPr>
                </a:pPr>
              </a:p>
            </c:txPr>
            <c:dLblPos val="t"/>
            <c:showLegendKey val="0"/>
            <c:showVal val="1"/>
            <c:showCatName val="0"/>
            <c:showSerName val="0"/>
            <c:showPercent val="0"/>
            <c:showBubbleSize val="0"/>
            <c:showLeaderLines val="0"/>
          </c:dLbls>
          <c:marker>
            <c:symbol val="none"/>
            <c:size val="8"/>
            <c:spPr>
              <a:solidFill>
                <a:srgbClr val="2587C5"/>
              </a:solidFill>
              <a:ln w="9525" cap="flat">
                <a:solidFill>
                  <a:srgbClr val="2587C5"/>
                </a:solidFill>
                <a:prstDash val="solid"/>
                <a:round/>
              </a:ln>
              <a:effectLst/>
            </c:spPr>
          </c:marker>
          <c:cat>
            <c:multiLvlStrRef>
              <c:f>Sheet1!$A$2:$A$13</c:f>
              <c:multiLvlStrCache>
                <c:ptCount val="12"/>
                <c:lvl>
                  <c:pt idx="0">
                    <c:v>Jan</c:v>
                  </c:pt>
                  <c:pt idx="1">
                    <c:v>Feb</c:v>
                  </c:pt>
                  <c:pt idx="2">
                    <c:v>Mar</c:v>
                  </c:pt>
                  <c:pt idx="3">
                    <c:v>Apr</c:v>
                  </c:pt>
                  <c:pt idx="4">
                    <c:v>May</c:v>
                  </c:pt>
                  <c:pt idx="5">
                    <c:v>Jun</c:v>
                  </c:pt>
                  <c:pt idx="6">
                    <c:v>Jul</c:v>
                  </c:pt>
                  <c:pt idx="7">
                    <c:v>Aug</c:v>
                  </c:pt>
                  <c:pt idx="8">
                    <c:v>Sep</c:v>
                  </c:pt>
                  <c:pt idx="9">
                    <c:v>Oct</c:v>
                  </c:pt>
                  <c:pt idx="10">
                    <c:v>Nov</c:v>
                  </c:pt>
                  <c:pt idx="11">
                    <c:v>Dec</c:v>
                  </c:pt>
                </c:lvl>
              </c:multiLvlStrCache>
            </c:multiLvlStrRef>
          </c:cat>
          <c:val>
            <c:numRef>
              <c:f>Sheet1!$B$2:$B$13</c:f>
              <c:numCache>
                <c:formatCode>General</c:formatCode>
                <c:ptCount val="12"/>
                <c:pt idx="0">
                  <c:v/>
                </c:pt>
                <c:pt idx="1">
                  <c:v/>
                </c:pt>
                <c:pt idx="2">
                  <c:v>5.2</c:v>
                </c:pt>
                <c:pt idx="3">
                  <c:v>5.4</c:v>
                </c:pt>
                <c:pt idx="4">
                  <c:v/>
                </c:pt>
                <c:pt idx="5">
                  <c:v>5.05</c:v>
                </c:pt>
                <c:pt idx="6">
                  <c:v>5.82</c:v>
                </c:pt>
                <c:pt idx="7">
                  <c:v>5.49</c:v>
                </c:pt>
                <c:pt idx="8">
                  <c:v>5.36</c:v>
                </c:pt>
                <c:pt idx="9">
                  <c:v/>
                </c:pt>
                <c:pt idx="10">
                  <c:v/>
                </c:pt>
                <c:pt idx="11">
                  <c:v/>
                </c:pt>
              </c:numCache>
            </c:numRef>
          </c:val>
          <c:smooth val="0"/>
        </c:ser>
        <c:dLbls>
          <c:numFmt formatCode="0.0" sourceLinked="0"/>
          <c:txPr>
            <a:bodyPr/>
            <a:lstStyle/>
            <a:p>
              <a:pPr>
                <a:defRPr b="0" i="0" strike="noStrike" sz="1400" u="none">
                  <a:solidFill>
                    <a:srgbClr val="1A1A1A"/>
                  </a:solidFill>
                  <a:latin typeface="+mn-lt"/>
                </a:defRPr>
              </a:pPr>
            </a:p>
          </c:txPr>
          <c:dLblPos val="t"/>
          <c:showLegendKey val="0"/>
          <c:showVal val="1"/>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400" b="0" i="0" u="none" strike="noStrike">
                <a:solidFill>
                  <a:srgbClr val="FFFFFF"/>
                </a:solidFill>
                <a:latin typeface="+mn-lt"/>
              </a:defRPr>
            </a:pPr>
            <a:endParaRPr lang="en-US"/>
          </a:p>
        </c:txPr>
        <c:crossAx val="2094734552"/>
        <c:crosses val="min"/>
        <c:auto val="1"/>
        <c:lblAlgn val="ctr"/>
        <c:noMultiLvlLbl val="1"/>
      </c:catAx>
      <c:valAx>
        <c:axId val="2094734552"/>
        <c:scaling>
          <c:orientation val="minMax"/>
          <c:max val="7"/>
          <c:min val="3"/>
        </c:scaling>
        <c:delete val="0"/>
        <c:axPos val="l"/>
        <c:numFmt formatCode="$0&quot;M&quot;" sourceLinked="0"/>
        <c:majorTickMark val="out"/>
        <c:minorTickMark val="none"/>
        <c:tickLblPos val="nextTo"/>
        <c:spPr>
          <a:ln w="12700" cap="flat">
            <a:noFill/>
            <a:prstDash val="solid"/>
            <a:round/>
          </a:ln>
        </c:spPr>
        <c:txPr>
          <a:bodyPr/>
          <a:lstStyle/>
          <a:p>
            <a:pPr>
              <a:defRPr sz="1400" b="0" i="0" u="none" strike="noStrike">
                <a:solidFill>
                  <a:srgbClr val="FFFFFF"/>
                </a:solidFill>
                <a:latin typeface="+mn-lt"/>
              </a:defRPr>
            </a:pPr>
            <a:endParaRPr lang="en-US"/>
          </a:p>
        </c:txPr>
        <c:crossAx val="2094734554"/>
        <c:crosses val="autoZero"/>
        <c:crossBetween val="between"/>
        <c:majorUnit val="1"/>
      </c:valAx>
      <c:spPr>
        <a:solidFill>
          <a:srgbClr val="FFFFFF">
            <a:alpha val="0"/>
          </a:srgbClr>
        </a:solidFill>
        <a:ln>
          <a:noFill/>
        </a:ln>
        <a:effectLst/>
      </c:spPr>
    </c:plotArea>
    <c:plotVisOnly val="1"/>
    <c:dispBlanksAs val="span"/>
  </c:chart>
  <c:spPr>
    <a:solidFill>
      <a:srgbClr val="FFFFFF">
        <a:alpha val="0"/>
      </a:srgbClr>
    </a:solidFill>
    <a:ln>
      <a:noFill/>
    </a:ln>
    <a:effectLst/>
  </c:spPr>
  <c:externalData r:id="rId1">
    <c:autoUpdate val="0"/>
  </c:externalData>
</c:chartSpace>
</file>

<file path=ppt/charts/chart137.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2026</c:v>
                </c:pt>
              </c:strCache>
            </c:strRef>
          </c:tx>
          <c:spPr>
            <a:solidFill>
              <a:srgbClr val="2587C5"/>
            </a:solidFill>
            <a:ln>
              <a:noFill/>
            </a:ln>
            <a:effectLst/>
          </c:spPr>
          <c:invertIfNegative val="0"/>
          <c:dLbls>
            <c:numFmt formatCode="0.0" sourceLinked="0"/>
            <c:txPr>
              <a:bodyPr/>
              <a:lstStyle/>
              <a:p>
                <a:pPr>
                  <a:defRPr b="0" i="0" strike="noStrike" sz="1400" u="none">
                    <a:solidFill>
                      <a:srgbClr val="1A1A1A"/>
                    </a:solidFill>
                    <a:latin typeface="+mn-lt"/>
                  </a:defRPr>
                </a:pPr>
              </a:p>
            </c:txPr>
            <c:dLblPos val="b"/>
            <c:showLegendKey val="0"/>
            <c:showVal val="1"/>
            <c:showCatName val="0"/>
            <c:showSerName val="0"/>
            <c:showPercent val="0"/>
            <c:showBubbleSize val="0"/>
            <c:showLeaderLines val="0"/>
          </c:dLbls>
          <c:marker>
            <c:symbol val="none"/>
            <c:size val="8"/>
            <c:spPr>
              <a:solidFill>
                <a:srgbClr val="2587C5"/>
              </a:solidFill>
              <a:ln w="9525" cap="flat">
                <a:solidFill>
                  <a:srgbClr val="2587C5"/>
                </a:solidFill>
                <a:prstDash val="solid"/>
                <a:round/>
              </a:ln>
              <a:effectLst/>
            </c:spPr>
          </c:marker>
          <c:cat>
            <c:multiLvlStrRef>
              <c:f>Sheet1!$A$2:$A$13</c:f>
              <c:multiLvlStrCache>
                <c:ptCount val="12"/>
                <c:lvl>
                  <c:pt idx="0">
                    <c:v>Jan</c:v>
                  </c:pt>
                  <c:pt idx="1">
                    <c:v>Feb</c:v>
                  </c:pt>
                  <c:pt idx="2">
                    <c:v>Mar</c:v>
                  </c:pt>
                  <c:pt idx="3">
                    <c:v>Apr</c:v>
                  </c:pt>
                  <c:pt idx="4">
                    <c:v>May</c:v>
                  </c:pt>
                  <c:pt idx="5">
                    <c:v>Jun</c:v>
                  </c:pt>
                  <c:pt idx="6">
                    <c:v>Jul</c:v>
                  </c:pt>
                  <c:pt idx="7">
                    <c:v>Aug</c:v>
                  </c:pt>
                  <c:pt idx="8">
                    <c:v>Sep</c:v>
                  </c:pt>
                  <c:pt idx="9">
                    <c:v>Oct</c:v>
                  </c:pt>
                  <c:pt idx="10">
                    <c:v>Nov</c:v>
                  </c:pt>
                  <c:pt idx="11">
                    <c:v>Dec</c:v>
                  </c:pt>
                </c:lvl>
              </c:multiLvlStrCache>
            </c:multiLvlStrRef>
          </c:cat>
          <c:val>
            <c:numRef>
              <c:f>Sheet1!$B$2:$B$13</c:f>
              <c:numCache>
                <c:formatCode>General</c:formatCode>
                <c:ptCount val="12"/>
                <c:pt idx="0">
                  <c:v>5.08</c:v>
                </c:pt>
                <c:pt idx="1">
                  <c:v>4.97</c:v>
                </c:pt>
                <c:pt idx="2">
                  <c:v/>
                </c:pt>
                <c:pt idx="3">
                  <c:v/>
                </c:pt>
                <c:pt idx="4">
                  <c:v>4.7</c:v>
                </c:pt>
                <c:pt idx="5">
                  <c:v/>
                </c:pt>
                <c:pt idx="6">
                  <c:v/>
                </c:pt>
                <c:pt idx="7">
                  <c:v/>
                </c:pt>
                <c:pt idx="8">
                  <c:v/>
                </c:pt>
                <c:pt idx="9">
                  <c:v/>
                </c:pt>
                <c:pt idx="10">
                  <c:v/>
                </c:pt>
                <c:pt idx="11">
                  <c:v/>
                </c:pt>
              </c:numCache>
            </c:numRef>
          </c:val>
          <c:smooth val="0"/>
        </c:ser>
        <c:dLbls>
          <c:numFmt formatCode="0.0" sourceLinked="0"/>
          <c:txPr>
            <a:bodyPr/>
            <a:lstStyle/>
            <a:p>
              <a:pPr>
                <a:defRPr b="0" i="0" strike="noStrike" sz="1400" u="none">
                  <a:solidFill>
                    <a:srgbClr val="1A1A1A"/>
                  </a:solidFill>
                  <a:latin typeface="+mn-lt"/>
                </a:defRPr>
              </a:pPr>
            </a:p>
          </c:txPr>
          <c:dLblPos val="b"/>
          <c:showLegendKey val="0"/>
          <c:showVal val="1"/>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400" b="0" i="0" u="none" strike="noStrike">
                <a:solidFill>
                  <a:srgbClr val="FFFFFF"/>
                </a:solidFill>
                <a:latin typeface="+mn-lt"/>
              </a:defRPr>
            </a:pPr>
            <a:endParaRPr lang="en-US"/>
          </a:p>
        </c:txPr>
        <c:crossAx val="2094734552"/>
        <c:crosses val="min"/>
        <c:auto val="1"/>
        <c:lblAlgn val="ctr"/>
        <c:noMultiLvlLbl val="1"/>
      </c:catAx>
      <c:valAx>
        <c:axId val="2094734552"/>
        <c:scaling>
          <c:orientation val="minMax"/>
          <c:max val="7"/>
          <c:min val="3"/>
        </c:scaling>
        <c:delete val="0"/>
        <c:axPos val="l"/>
        <c:numFmt formatCode="$0&quot;M&quot;" sourceLinked="0"/>
        <c:majorTickMark val="out"/>
        <c:minorTickMark val="none"/>
        <c:tickLblPos val="nextTo"/>
        <c:spPr>
          <a:ln w="12700" cap="flat">
            <a:noFill/>
            <a:prstDash val="solid"/>
            <a:round/>
          </a:ln>
        </c:spPr>
        <c:txPr>
          <a:bodyPr/>
          <a:lstStyle/>
          <a:p>
            <a:pPr>
              <a:defRPr sz="1400" b="0" i="0" u="none" strike="noStrike">
                <a:solidFill>
                  <a:srgbClr val="FFFFFF"/>
                </a:solidFill>
                <a:latin typeface="+mn-lt"/>
              </a:defRPr>
            </a:pPr>
            <a:endParaRPr lang="en-US"/>
          </a:p>
        </c:txPr>
        <c:crossAx val="2094734554"/>
        <c:crosses val="autoZero"/>
        <c:crossBetween val="between"/>
        <c:majorUnit val="1"/>
      </c:valAx>
      <c:spPr>
        <a:solidFill>
          <a:srgbClr val="FFFFFF">
            <a:alpha val="0"/>
          </a:srgbClr>
        </a:solidFill>
        <a:ln>
          <a:noFill/>
        </a:ln>
        <a:effectLst/>
      </c:spPr>
    </c:plotArea>
    <c:plotVisOnly val="1"/>
    <c:dispBlanksAs val="span"/>
  </c:chart>
  <c:spPr>
    <a:solidFill>
      <a:srgbClr val="FFFFFF">
        <a:alpha val="0"/>
      </a:srgbClr>
    </a:solidFill>
    <a:ln>
      <a:noFill/>
    </a:ln>
    <a:effectLst/>
  </c:spPr>
  <c:externalData r:id="rId1">
    <c:autoUpdate val="0"/>
  </c:externalData>
</c:chartSpace>
</file>

<file path=ppt/charts/chart138.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2025</c:v>
                </c:pt>
              </c:strCache>
            </c:strRef>
          </c:tx>
          <c:spPr>
            <a:solidFill>
              <a:srgbClr val="9AA3AD"/>
            </a:solidFill>
            <a:ln>
              <a:noFill/>
            </a:ln>
            <a:effectLst/>
          </c:spPr>
          <c:invertIfNegative val="0"/>
          <c:dLbls>
            <c:numFmt formatCode="0.0" sourceLinked="0"/>
            <c:txPr>
              <a:bodyPr/>
              <a:lstStyle/>
              <a:p>
                <a:pPr>
                  <a:defRPr b="0" i="0" strike="noStrike" sz="1400" u="none">
                    <a:solidFill>
                      <a:srgbClr val="1A1A1A"/>
                    </a:solidFill>
                    <a:latin typeface="+mn-lt"/>
                  </a:defRPr>
                </a:pPr>
              </a:p>
            </c:txPr>
            <c:dLblPos val="t"/>
            <c:showLegendKey val="0"/>
            <c:showVal val="1"/>
            <c:showCatName val="0"/>
            <c:showSerName val="0"/>
            <c:showPercent val="0"/>
            <c:showBubbleSize val="0"/>
            <c:showLeaderLines val="0"/>
          </c:dLbls>
          <c:marker>
            <c:symbol val="none"/>
            <c:size val="8"/>
            <c:spPr>
              <a:solidFill>
                <a:srgbClr val="9AA3AD"/>
              </a:solidFill>
              <a:ln w="9525" cap="flat">
                <a:solidFill>
                  <a:srgbClr val="9AA3AD"/>
                </a:solidFill>
                <a:prstDash val="solid"/>
                <a:round/>
              </a:ln>
              <a:effectLst/>
            </c:spPr>
          </c:marker>
          <c:cat>
            <c:multiLvlStrRef>
              <c:f>Sheet1!$A$2:$A$13</c:f>
              <c:multiLvlStrCache>
                <c:ptCount val="12"/>
                <c:lvl>
                  <c:pt idx="0">
                    <c:v>Jan</c:v>
                  </c:pt>
                  <c:pt idx="1">
                    <c:v>Feb</c:v>
                  </c:pt>
                  <c:pt idx="2">
                    <c:v>Mar</c:v>
                  </c:pt>
                  <c:pt idx="3">
                    <c:v>Apr</c:v>
                  </c:pt>
                  <c:pt idx="4">
                    <c:v>May</c:v>
                  </c:pt>
                  <c:pt idx="5">
                    <c:v>Jun</c:v>
                  </c:pt>
                  <c:pt idx="6">
                    <c:v>Jul</c:v>
                  </c:pt>
                  <c:pt idx="7">
                    <c:v>Aug</c:v>
                  </c:pt>
                  <c:pt idx="8">
                    <c:v>Sep</c:v>
                  </c:pt>
                  <c:pt idx="9">
                    <c:v>Oct</c:v>
                  </c:pt>
                  <c:pt idx="10">
                    <c:v>Nov</c:v>
                  </c:pt>
                  <c:pt idx="11">
                    <c:v>Dec</c:v>
                  </c:pt>
                </c:lvl>
              </c:multiLvlStrCache>
            </c:multiLvlStrRef>
          </c:cat>
          <c:val>
            <c:numRef>
              <c:f>Sheet1!$B$2:$B$13</c:f>
              <c:numCache>
                <c:formatCode>General</c:formatCode>
                <c:ptCount val="12"/>
                <c:pt idx="0">
                  <c:v>5.51</c:v>
                </c:pt>
                <c:pt idx="1">
                  <c:v>5.18</c:v>
                </c:pt>
                <c:pt idx="2">
                  <c:v/>
                </c:pt>
                <c:pt idx="3">
                  <c:v/>
                </c:pt>
                <c:pt idx="4">
                  <c:v>4.75</c:v>
                </c:pt>
                <c:pt idx="5">
                  <c:v/>
                </c:pt>
                <c:pt idx="6">
                  <c:v/>
                </c:pt>
                <c:pt idx="7">
                  <c:v/>
                </c:pt>
                <c:pt idx="8">
                  <c:v/>
                </c:pt>
                <c:pt idx="9">
                  <c:v>5.39</c:v>
                </c:pt>
                <c:pt idx="10">
                  <c:v/>
                </c:pt>
                <c:pt idx="11">
                  <c:v>5.04</c:v>
                </c:pt>
              </c:numCache>
            </c:numRef>
          </c:val>
          <c:smooth val="0"/>
        </c:ser>
        <c:dLbls>
          <c:numFmt formatCode="0.0" sourceLinked="0"/>
          <c:txPr>
            <a:bodyPr/>
            <a:lstStyle/>
            <a:p>
              <a:pPr>
                <a:defRPr b="0" i="0" strike="noStrike" sz="1400" u="none">
                  <a:solidFill>
                    <a:srgbClr val="1A1A1A"/>
                  </a:solidFill>
                  <a:latin typeface="+mn-lt"/>
                </a:defRPr>
              </a:pPr>
            </a:p>
          </c:txPr>
          <c:dLblPos val="t"/>
          <c:showLegendKey val="0"/>
          <c:showVal val="1"/>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400" b="0" i="0" u="none" strike="noStrike">
                <a:solidFill>
                  <a:srgbClr val="FFFFFF"/>
                </a:solidFill>
                <a:latin typeface="+mn-lt"/>
              </a:defRPr>
            </a:pPr>
            <a:endParaRPr lang="en-US"/>
          </a:p>
        </c:txPr>
        <c:crossAx val="2094734552"/>
        <c:crosses val="min"/>
        <c:auto val="1"/>
        <c:lblAlgn val="ctr"/>
        <c:noMultiLvlLbl val="1"/>
      </c:catAx>
      <c:valAx>
        <c:axId val="2094734552"/>
        <c:scaling>
          <c:orientation val="minMax"/>
          <c:max val="7"/>
          <c:min val="3"/>
        </c:scaling>
        <c:delete val="0"/>
        <c:axPos val="l"/>
        <c:numFmt formatCode="$0&quot;M&quot;" sourceLinked="0"/>
        <c:majorTickMark val="out"/>
        <c:minorTickMark val="none"/>
        <c:tickLblPos val="nextTo"/>
        <c:spPr>
          <a:ln w="12700" cap="flat">
            <a:noFill/>
            <a:prstDash val="solid"/>
            <a:round/>
          </a:ln>
        </c:spPr>
        <c:txPr>
          <a:bodyPr/>
          <a:lstStyle/>
          <a:p>
            <a:pPr>
              <a:defRPr sz="1400" b="0" i="0" u="none" strike="noStrike">
                <a:solidFill>
                  <a:srgbClr val="FFFFFF"/>
                </a:solidFill>
                <a:latin typeface="+mn-lt"/>
              </a:defRPr>
            </a:pPr>
            <a:endParaRPr lang="en-US"/>
          </a:p>
        </c:txPr>
        <c:crossAx val="2094734554"/>
        <c:crosses val="autoZero"/>
        <c:crossBetween val="between"/>
        <c:majorUnit val="1"/>
      </c:valAx>
      <c:spPr>
        <a:solidFill>
          <a:srgbClr val="FFFFFF">
            <a:alpha val="0"/>
          </a:srgbClr>
        </a:solidFill>
        <a:ln>
          <a:noFill/>
        </a:ln>
        <a:effectLst/>
      </c:spPr>
    </c:plotArea>
    <c:plotVisOnly val="1"/>
    <c:dispBlanksAs val="span"/>
  </c:chart>
  <c:spPr>
    <a:solidFill>
      <a:srgbClr val="FFFFFF">
        <a:alpha val="0"/>
      </a:srgbClr>
    </a:solidFill>
    <a:ln>
      <a:noFill/>
    </a:ln>
    <a:effectLst/>
  </c:spPr>
  <c:externalData r:id="rId1">
    <c:autoUpdate val="0"/>
  </c:externalData>
</c:chartSpace>
</file>

<file path=ppt/charts/chart139.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2025</c:v>
                </c:pt>
              </c:strCache>
            </c:strRef>
          </c:tx>
          <c:spPr>
            <a:solidFill>
              <a:srgbClr val="9AA3AD"/>
            </a:solidFill>
            <a:ln>
              <a:noFill/>
            </a:ln>
            <a:effectLst/>
          </c:spPr>
          <c:invertIfNegative val="0"/>
          <c:dLbls>
            <c:numFmt formatCode="0.0" sourceLinked="0"/>
            <c:txPr>
              <a:bodyPr/>
              <a:lstStyle/>
              <a:p>
                <a:pPr>
                  <a:defRPr b="0" i="0" strike="noStrike" sz="1400" u="none">
                    <a:solidFill>
                      <a:srgbClr val="1A1A1A"/>
                    </a:solidFill>
                    <a:latin typeface="+mn-lt"/>
                  </a:defRPr>
                </a:pPr>
              </a:p>
            </c:txPr>
            <c:dLblPos val="b"/>
            <c:showLegendKey val="0"/>
            <c:showVal val="1"/>
            <c:showCatName val="0"/>
            <c:showSerName val="0"/>
            <c:showPercent val="0"/>
            <c:showBubbleSize val="0"/>
            <c:showLeaderLines val="0"/>
          </c:dLbls>
          <c:marker>
            <c:symbol val="none"/>
            <c:size val="8"/>
            <c:spPr>
              <a:solidFill>
                <a:srgbClr val="9AA3AD"/>
              </a:solidFill>
              <a:ln w="9525" cap="flat">
                <a:solidFill>
                  <a:srgbClr val="9AA3AD"/>
                </a:solidFill>
                <a:prstDash val="solid"/>
                <a:round/>
              </a:ln>
              <a:effectLst/>
            </c:spPr>
          </c:marker>
          <c:cat>
            <c:multiLvlStrRef>
              <c:f>Sheet1!$A$2:$A$13</c:f>
              <c:multiLvlStrCache>
                <c:ptCount val="12"/>
                <c:lvl>
                  <c:pt idx="0">
                    <c:v>Jan</c:v>
                  </c:pt>
                  <c:pt idx="1">
                    <c:v>Feb</c:v>
                  </c:pt>
                  <c:pt idx="2">
                    <c:v>Mar</c:v>
                  </c:pt>
                  <c:pt idx="3">
                    <c:v>Apr</c:v>
                  </c:pt>
                  <c:pt idx="4">
                    <c:v>May</c:v>
                  </c:pt>
                  <c:pt idx="5">
                    <c:v>Jun</c:v>
                  </c:pt>
                  <c:pt idx="6">
                    <c:v>Jul</c:v>
                  </c:pt>
                  <c:pt idx="7">
                    <c:v>Aug</c:v>
                  </c:pt>
                  <c:pt idx="8">
                    <c:v>Sep</c:v>
                  </c:pt>
                  <c:pt idx="9">
                    <c:v>Oct</c:v>
                  </c:pt>
                  <c:pt idx="10">
                    <c:v>Nov</c:v>
                  </c:pt>
                  <c:pt idx="11">
                    <c:v>Dec</c:v>
                  </c:pt>
                </c:lvl>
              </c:multiLvlStrCache>
            </c:multiLvlStrRef>
          </c:cat>
          <c:val>
            <c:numRef>
              <c:f>Sheet1!$B$2:$B$13</c:f>
              <c:numCache>
                <c:formatCode>General</c:formatCode>
                <c:ptCount val="12"/>
                <c:pt idx="0">
                  <c:v/>
                </c:pt>
                <c:pt idx="1">
                  <c:v/>
                </c:pt>
                <c:pt idx="2">
                  <c:v>5.01</c:v>
                </c:pt>
                <c:pt idx="3">
                  <c:v>4.81</c:v>
                </c:pt>
                <c:pt idx="4">
                  <c:v/>
                </c:pt>
                <c:pt idx="5">
                  <c:v>4.97</c:v>
                </c:pt>
                <c:pt idx="6">
                  <c:v>5.13</c:v>
                </c:pt>
                <c:pt idx="7">
                  <c:v>4.94</c:v>
                </c:pt>
                <c:pt idx="8">
                  <c:v>4.48</c:v>
                </c:pt>
                <c:pt idx="9">
                  <c:v/>
                </c:pt>
                <c:pt idx="10">
                  <c:v>4.42</c:v>
                </c:pt>
                <c:pt idx="11">
                  <c:v/>
                </c:pt>
              </c:numCache>
            </c:numRef>
          </c:val>
          <c:smooth val="0"/>
        </c:ser>
        <c:dLbls>
          <c:numFmt formatCode="0.0" sourceLinked="0"/>
          <c:txPr>
            <a:bodyPr/>
            <a:lstStyle/>
            <a:p>
              <a:pPr>
                <a:defRPr b="0" i="0" strike="noStrike" sz="1400" u="none">
                  <a:solidFill>
                    <a:srgbClr val="1A1A1A"/>
                  </a:solidFill>
                  <a:latin typeface="+mn-lt"/>
                </a:defRPr>
              </a:pPr>
            </a:p>
          </c:txPr>
          <c:dLblPos val="b"/>
          <c:showLegendKey val="0"/>
          <c:showVal val="1"/>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400" b="0" i="0" u="none" strike="noStrike">
                <a:solidFill>
                  <a:srgbClr val="FFFFFF"/>
                </a:solidFill>
                <a:latin typeface="+mn-lt"/>
              </a:defRPr>
            </a:pPr>
            <a:endParaRPr lang="en-US"/>
          </a:p>
        </c:txPr>
        <c:crossAx val="2094734552"/>
        <c:crosses val="min"/>
        <c:auto val="1"/>
        <c:lblAlgn val="ctr"/>
        <c:noMultiLvlLbl val="1"/>
      </c:catAx>
      <c:valAx>
        <c:axId val="2094734552"/>
        <c:scaling>
          <c:orientation val="minMax"/>
          <c:max val="7"/>
          <c:min val="3"/>
        </c:scaling>
        <c:delete val="0"/>
        <c:axPos val="l"/>
        <c:numFmt formatCode="$0&quot;M&quot;" sourceLinked="0"/>
        <c:majorTickMark val="out"/>
        <c:minorTickMark val="none"/>
        <c:tickLblPos val="nextTo"/>
        <c:spPr>
          <a:ln w="12700" cap="flat">
            <a:noFill/>
            <a:prstDash val="solid"/>
            <a:round/>
          </a:ln>
        </c:spPr>
        <c:txPr>
          <a:bodyPr/>
          <a:lstStyle/>
          <a:p>
            <a:pPr>
              <a:defRPr sz="1400" b="0" i="0" u="none" strike="noStrike">
                <a:solidFill>
                  <a:srgbClr val="FFFFFF"/>
                </a:solidFill>
                <a:latin typeface="+mn-lt"/>
              </a:defRPr>
            </a:pPr>
            <a:endParaRPr lang="en-US"/>
          </a:p>
        </c:txPr>
        <c:crossAx val="2094734554"/>
        <c:crosses val="autoZero"/>
        <c:crossBetween val="between"/>
        <c:majorUnit val="1"/>
      </c:valAx>
      <c:spPr>
        <a:solidFill>
          <a:srgbClr val="FFFFFF">
            <a:alpha val="0"/>
          </a:srgbClr>
        </a:solidFill>
        <a:ln>
          <a:noFill/>
        </a:ln>
        <a:effectLst/>
      </c:spPr>
    </c:plotArea>
    <c:plotVisOnly val="1"/>
    <c:dispBlanksAs val="span"/>
  </c:chart>
  <c:spPr>
    <a:solidFill>
      <a:srgbClr val="FFFFFF">
        <a:alpha val="0"/>
      </a:srgbClr>
    </a:solidFill>
    <a:ln>
      <a:noFill/>
    </a:ln>
    <a:effectLst/>
  </c:spPr>
  <c:externalData r:id="rId1">
    <c:autoUpdate val="0"/>
  </c:externalData>
</c:chartSpace>
</file>

<file path=ppt/charts/chart140.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2025</c:v>
                </c:pt>
              </c:strCache>
            </c:strRef>
          </c:tx>
          <c:spPr>
            <a:solidFill>
              <a:srgbClr val="9AA3AD"/>
            </a:solidFill>
            <a:ln w="38100" cap="flat">
              <a:solidFill>
                <a:srgbClr val="9AA3AD"/>
              </a:solidFill>
              <a:prstDash val="solid"/>
              <a:round/>
            </a:ln>
            <a:effectLst/>
          </c:spPr>
          <c:invertIfNegative val="0"/>
          <c:dLbls>
            <c:numFmt formatCode="0.0" sourceLinked="0"/>
            <c:txPr>
              <a:bodyPr/>
              <a:lstStyle/>
              <a:p>
                <a:pPr>
                  <a:defRPr b="0" i="0" strike="noStrike" sz="1400" u="none">
                    <a:solidFill>
                      <a:srgbClr val="1A1A1A"/>
                    </a:solidFill>
                    <a:latin typeface="+mn-lt"/>
                  </a:defRPr>
                </a:pPr>
              </a:p>
            </c:txPr>
            <c:showLegendKey val="0"/>
            <c:showVal val="0"/>
            <c:showCatName val="0"/>
            <c:showSerName val="0"/>
            <c:showPercent val="0"/>
            <c:showBubbleSize val="0"/>
            <c:showLeaderLines val="0"/>
          </c:dLbls>
          <c:marker>
            <c:symbol val="circle"/>
            <c:size val="8"/>
            <c:spPr>
              <a:solidFill>
                <a:srgbClr val="9AA3AD"/>
              </a:solidFill>
              <a:ln w="9525" cap="flat">
                <a:solidFill>
                  <a:srgbClr val="9AA3AD"/>
                </a:solidFill>
                <a:prstDash val="solid"/>
                <a:round/>
              </a:ln>
              <a:effectLst/>
            </c:spPr>
          </c:marker>
          <c:cat>
            <c:multiLvlStrRef>
              <c:f>Sheet1!$A$2:$A$13</c:f>
              <c:multiLvlStrCache>
                <c:ptCount val="12"/>
                <c:lvl>
                  <c:pt idx="0">
                    <c:v>Jan</c:v>
                  </c:pt>
                  <c:pt idx="1">
                    <c:v>Feb</c:v>
                  </c:pt>
                  <c:pt idx="2">
                    <c:v>Mar</c:v>
                  </c:pt>
                  <c:pt idx="3">
                    <c:v>Apr</c:v>
                  </c:pt>
                  <c:pt idx="4">
                    <c:v>May</c:v>
                  </c:pt>
                  <c:pt idx="5">
                    <c:v>Jun</c:v>
                  </c:pt>
                  <c:pt idx="6">
                    <c:v>Jul</c:v>
                  </c:pt>
                  <c:pt idx="7">
                    <c:v>Aug</c:v>
                  </c:pt>
                  <c:pt idx="8">
                    <c:v>Sep</c:v>
                  </c:pt>
                  <c:pt idx="9">
                    <c:v>Oct</c:v>
                  </c:pt>
                  <c:pt idx="10">
                    <c:v>Nov</c:v>
                  </c:pt>
                  <c:pt idx="11">
                    <c:v>Dec</c:v>
                  </c:pt>
                </c:lvl>
              </c:multiLvlStrCache>
            </c:multiLvlStrRef>
          </c:cat>
          <c:val>
            <c:numRef>
              <c:f>Sheet1!$B$2:$B$13</c:f>
              <c:numCache>
                <c:formatCode>General</c:formatCode>
                <c:ptCount val="12"/>
                <c:pt idx="0">
                  <c:v>5.51</c:v>
                </c:pt>
                <c:pt idx="1">
                  <c:v>5.18</c:v>
                </c:pt>
                <c:pt idx="2">
                  <c:v>5.01</c:v>
                </c:pt>
                <c:pt idx="3">
                  <c:v>4.81</c:v>
                </c:pt>
                <c:pt idx="4">
                  <c:v>4.75</c:v>
                </c:pt>
                <c:pt idx="5">
                  <c:v>4.97</c:v>
                </c:pt>
                <c:pt idx="6">
                  <c:v>5.13</c:v>
                </c:pt>
                <c:pt idx="7">
                  <c:v>4.94</c:v>
                </c:pt>
                <c:pt idx="8">
                  <c:v>4.48</c:v>
                </c:pt>
                <c:pt idx="9">
                  <c:v>5.39</c:v>
                </c:pt>
                <c:pt idx="10">
                  <c:v>4.42</c:v>
                </c:pt>
                <c:pt idx="11">
                  <c:v>5.04</c:v>
                </c:pt>
              </c:numCache>
            </c:numRef>
          </c:val>
          <c:smooth val="0"/>
        </c:ser>
        <c:dLbls>
          <c:numFmt formatCode="0.0" sourceLinked="0"/>
          <c:txPr>
            <a:bodyPr/>
            <a:lstStyle/>
            <a:p>
              <a:pPr>
                <a:defRPr b="0" i="0" strike="noStrike" sz="1400" u="none">
                  <a:solidFill>
                    <a:srgbClr val="1A1A1A"/>
                  </a:solidFill>
                  <a:latin typeface="+mn-lt"/>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400" b="0" i="0" u="none" strike="noStrike">
                <a:solidFill>
                  <a:srgbClr val="1A1A1A"/>
                </a:solidFill>
                <a:latin typeface="+mn-lt"/>
              </a:defRPr>
            </a:pPr>
            <a:endParaRPr lang="en-US"/>
          </a:p>
        </c:txPr>
        <c:crossAx val="2094734552"/>
        <c:crosses val="min"/>
        <c:auto val="1"/>
        <c:lblAlgn val="ctr"/>
        <c:noMultiLvlLbl val="1"/>
      </c:catAx>
      <c:valAx>
        <c:axId val="2094734552"/>
        <c:scaling>
          <c:orientation val="minMax"/>
          <c:max val="7"/>
          <c:min val="3"/>
        </c:scaling>
        <c:delete val="0"/>
        <c:axPos val="l"/>
        <c:numFmt formatCode="$0&quot;M&quot;" sourceLinked="0"/>
        <c:majorTickMark val="out"/>
        <c:minorTickMark val="none"/>
        <c:tickLblPos val="nextTo"/>
        <c:spPr>
          <a:ln w="12700" cap="flat">
            <a:noFill/>
            <a:prstDash val="solid"/>
            <a:round/>
          </a:ln>
        </c:spPr>
        <c:txPr>
          <a:bodyPr/>
          <a:lstStyle/>
          <a:p>
            <a:pPr>
              <a:defRPr sz="1400" b="0" i="0" u="none" strike="noStrike">
                <a:solidFill>
                  <a:srgbClr val="595959"/>
                </a:solidFill>
                <a:latin typeface="+mn-lt"/>
              </a:defRPr>
            </a:pPr>
            <a:endParaRPr lang="en-US"/>
          </a:p>
        </c:txPr>
        <c:crossAx val="2094734554"/>
        <c:crosses val="autoZero"/>
        <c:crossBetween val="between"/>
        <c:majorUnit val="1"/>
      </c:valAx>
      <c:spPr>
        <a:solidFill>
          <a:srgbClr val="FFFFFF">
            <a:alpha val="0"/>
          </a:srgbClr>
        </a:solidFill>
        <a:ln>
          <a:noFill/>
        </a:ln>
        <a:effectLst/>
      </c:spPr>
    </c:plotArea>
    <c:plotVisOnly val="1"/>
    <c:dispBlanksAs val="span"/>
  </c:chart>
  <c:spPr>
    <a:solidFill>
      <a:srgbClr val="FFFFFF">
        <a:alpha val="0"/>
      </a:srgbClr>
    </a:solid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1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0.xml"/></Relationships>
</file>

<file path=ppt/notesSlides/_rels/notesSlide1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7.xml"/></Relationships>
</file>

<file path=ppt/notesSlides/_rels/notesSlide1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9.xml"/></Relationships>
</file>

<file path=ppt/notesSlides/_rels/notesSlide1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3.xml"/></Relationships>
</file>

<file path=ppt/notesSlides/_rels/notesSlide1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1.xml"/></Relationships>
</file>

<file path=ppt/notesSlides/_rels/notesSlide1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8.xml"/></Relationships>
</file>

<file path=ppt/notesSlides/_rels/notesSlide1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9.xml"/></Relationship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Qlik - Profit &amp; Loss, Detail statement. Same-store, INEOS excluded (opened 2026). Fixed ops net profit = service (Mechanical) + parts (P&amp;A) department profit: department gross less the department's own expenses; GMC Prescott body shop is its own department and is not included. Jan-Sep 2026 vs Jan-Sep 2025; 2025 shown January-December. Store rows reconcile to the group, both years.</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Talking points: Service Manager Roundtable (Nov 15, 2024) and GM meeting decks (Jan and May 2026). Data: Qlik (Profit &amp; Loss, Closed Repair Orders, Productivity), Jan-Sep 2026 vs 2025, same-store, 33 stores, INEOS excluded.PLACE: Gross section, after the section break and before Total Gross Profit - Fixed Ops.</a:t>
            </a:r>
          </a:p>
          <a:p>
            <a:r>
              <a:t>Said: Roundtable slide 9 ('Service Department?'); Jan GM slide 58 (Sales and Service Relationship).</a:t>
            </a:r>
          </a:p>
          <a:p>
            <a:r>
              <a:t>For the GMs who come from sales (Noah, Oct 25): service and parts keep far more of every gross dollar than vehicle sales does. Jan-Sep 2026, after each department's own expenses, fixed ops kept 27 cents of every gross dollar; new, used and F&amp;I together kept 7 cents (before doc fees, packs and factory money, which the P&amp;L books outside the departments). People cost 45 cents of every fixed ops gross dollar and 62 cents of every vehicle sales gross dollar. That is why paying yourself first, on internal work, matters: see Pay Yourself First at the start of the Internal section.</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Qlik - Profit &amp; Loss. Same-store, INEOS excluded (opened 2026). Fixed ops = service + parts; GMC Prescott body shop gross excluded. Jan-Sep 2026 vs Jan-Sep 2025; 2025 shown January-December.</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Qlik - Profit &amp; Loss. Same-store, INEOS excluded (opened 2026). Fixed ops = service + parts; GMC Prescott body shop gross excluded. Jan-Sep 2026 vs Jan-Sep 2025; 2025 shown January-December.</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Qlik - Profit &amp; Loss. Same-store, INEOS excluded (opened 2026). Fixed ops = service + parts; GMC Prescott body shop gross excluded. Jan-Sep 2026 vs Jan-Sep 2025; 2025 shown January-December.</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Flai voice AI dashboard, Service view, standings export, Jul 26 - Oct 26, 2026 (93 days). Flai's location names (26 with calls). Pickup rate and resolution as Flai reports them. Flai's estimated savings, revenue and profit are not used. Handled by the AI alone = calls - transfers (the export has no separate column for it). Not picked up = transfers x (1 - pickup rate), from Flai's group figures. Value: half of the missed transfers x $384.67 average gross per customer-pay or warranty RO (CP labor + parts gross $95.7M, Qlik Closed ROs, plus warranty gross $47.1M, P&amp;L, over 371,180 CP &amp; W ROs, Jan-Sep 2026, same-store) = $2,636,879.</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Takeaway with the store call-outs (off the slide): Chevy GMC Bullhead picks up 77.1% of transfers; Kia St George picks up 21.9%. Nissan and Prescott Hyundai hold 272 of the group's 484 open callbacks.Source: Flai voice AI dashboard, Service view, standings export, Jul 26 - Oct 26, 2026 (93 days). Flai's location names (26 with calls). Pickup rate and resolution as Flai reports them. Flai's estimated savings, revenue and profit are not used. Green bar: the store is in more than one top list; red bar: in more than one bottom 5. Ranked among the 23 locations with 300+ calls (Subaru St George, Land Rover Henderson, Jaguar Land Rover Las Vegas have fewer). Honda Spokane shows no calls in the period.Talk track: the voice AI answers every call, books what it can and hands the rest to the store. What happens next is ours: someone has to pick up the transfer, and every callback has to be closed. A store that doesn't pick up is sending a customer it already has to voicemail.</a:t>
            </a:r>
          </a:p>
          <a:p/>
          <a:p>
            <a:r>
              <a:t>Definitions to confirm against Flai: pickup rate is read as the share of transferred calls a person picked up; resolution as the share of callback requests closed. Resolve time in the export runs to weeks at some locations and is not shown.</a:t>
            </a:r>
          </a:p>
        </p:txBody>
      </p:sp>
      <p:sp>
        <p:nvSpPr>
          <p:cNvPr id="4" name="Slide Number Placeholder 3"/>
          <p:cNvSpPr>
            <a:spLocks noGrp="1"/>
          </p:cNvSpPr>
          <p:nvPr>
            <p:ph type="sldNum" idx="5" sz="quarter"/>
          </p:nvPr>
        </p:nvSpPr>
        <p:spPr/>
      </p:sp>
    </p:spTree>
  </p:cSld>
  <p:clrMapOvr>
    <a:masterClrMapping/>
  </p:clrMapOvr>
</p:notes>
</file>

<file path=ppt/notesSlides/notesSlide1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Takeaway with the store call-outs (off the slide): Toyota Spokane is furthest below at −$406K so far this year; 7 of 33 stores are ahead of benchmark on net across the four services. 15 stores are under all four.Source: Qlik - Closed Repair Orders. Customer pay, Jan-Sep 2026 by close date, op code report basis. Same-store, INEOS excluded (opened 2026). Services short = benchmark x the store's CP ROs, minus the services it sold. Each service valued at the store's own labor + parts gross per service sold (group average where the store sold fewer than 30), capped at twice the group average because some flagged lines carry other work bundled on them. Alignment, tire balance, brake fluid and fuel system service added together, every store: gross Jan-Sep 2026 above (+) or below (-) the four benchmarks, at the store's own gross per service. Opcodes = the four services' opcodes above (+) or below (-) their benchmarks, added together; green / red bar = top / bottom three by opcodes. Below-benchmark services count against above-benchmark ones here.TOYOTA SPOKANE: −$406K, −5,191 opcodes Jan-Sep against the four benchmarks; under 4 of 4</a:t>
            </a:r>
          </a:p>
          <a:p>
            <a:r>
              <a:t>CHEVY LV: −$356K, −3,177 opcodes Jan-Sep against the four benchmarks; under 4 of 4</a:t>
            </a:r>
          </a:p>
          <a:p>
            <a:r>
              <a:t>TOYOTA FLAGSTAFF: −$267K, −3,494 opcodes Jan-Sep against the four benchmarks; under 4 of 4</a:t>
            </a:r>
          </a:p>
          <a:p>
            <a:r>
              <a:t>TOYOTA HENDERSON: −$227K, −3,005 opcodes Jan-Sep against the four benchmarks; under 3 of 4</a:t>
            </a:r>
          </a:p>
          <a:p>
            <a:r>
              <a:t>KIA LV: −$185K, −1,708 opcodes Jan-Sep against the four benchmarks; under 4 of 4</a:t>
            </a:r>
          </a:p>
          <a:p>
            <a:r>
              <a:t>CDJR POST FALLS: −$184K, −1,863 opcodes Jan-Sep against the four benchmarks; under 4 of 4</a:t>
            </a:r>
          </a:p>
          <a:p>
            <a:r>
              <a:t>TOYOTA PRESCOTT: −$175K, −1,906 opcodes Jan-Sep against the four benchmarks; under 4 of 4</a:t>
            </a:r>
          </a:p>
          <a:p>
            <a:r>
              <a:t>AUDI RENO: −$162K, −1,152 opcodes Jan-Sep against the four benchmarks; under 4 of 4</a:t>
            </a:r>
          </a:p>
          <a:p>
            <a:r>
              <a:t>HONDA FLAGSTAFF: −$150K, −1,257 opcodes Jan-Sep against the four benchmarks; under 4 of 4</a:t>
            </a:r>
          </a:p>
          <a:p>
            <a:r>
              <a:t>NISSAN: −$150K, −1,613 opcodes Jan-Sep against the four benchmarks; under 3 of 4</a:t>
            </a:r>
          </a:p>
          <a:p>
            <a:r>
              <a:t>HONDA SPOKANE: −$140K, −1,717 opcodes Jan-Sep against the four benchmarks; under 3 of 4</a:t>
            </a:r>
          </a:p>
          <a:p>
            <a:r>
              <a:t>LEXUS: −$105K, −1,068 opcodes Jan-Sep against the four benchmarks; under 4 of 4</a:t>
            </a:r>
          </a:p>
          <a:p>
            <a:r>
              <a:t>VW HENDERSON: −$105K, −827 opcodes Jan-Sep against the four benchmarks; under 4 of 4</a:t>
            </a:r>
          </a:p>
          <a:p>
            <a:r>
              <a:t>CHEVY GMC BULLHEAD: −$100K, −1,100 opcodes Jan-Sep against the four benchmarks; under 4 of 4</a:t>
            </a:r>
          </a:p>
          <a:p>
            <a:r>
              <a:t>CADILLAC: −$94K, −954 opcodes Jan-Sep against the four benchmarks; under 4 of 4</a:t>
            </a:r>
          </a:p>
          <a:p>
            <a:r>
              <a:t>VW ST GEORGE: −$66K, −640 opcodes Jan-Sep against the four benchmarks; under 4 of 4</a:t>
            </a:r>
          </a:p>
          <a:p>
            <a:r>
              <a:t>HYUNDAI ST GEORGE: −$61K, −697 opcodes Jan-Sep against the four benchmarks; under 4 of 4</a:t>
            </a:r>
          </a:p>
          <a:p>
            <a:r>
              <a:t>GMC PRESCOTT: −$60K, −568 opcodes Jan-Sep against the four benchmarks; under 4 of 4</a:t>
            </a:r>
          </a:p>
          <a:p>
            <a:r>
              <a:t>SUBARU LV: −$59K, −783 opcodes Jan-Sep against the four benchmarks; under 3 of 4</a:t>
            </a:r>
          </a:p>
          <a:p>
            <a:r>
              <a:t>KIA ST GEORGE: −$53K, −660 opcodes Jan-Sep against the four benchmarks; under 3 of 4</a:t>
            </a:r>
          </a:p>
          <a:p>
            <a:r>
              <a:t>LINCOLN: −$48K, −569 opcodes Jan-Sep against the four benchmarks; under 3 of 4</a:t>
            </a:r>
          </a:p>
          <a:p>
            <a:r>
              <a:t>SUBARU ST GEORGE: −$41K, −452 opcodes Jan-Sep against the four benchmarks; under 2 of 4</a:t>
            </a:r>
          </a:p>
          <a:p>
            <a:r>
              <a:t>LR RENO: −$32K, −83 opcodes Jan-Sep against the four benchmarks; under 3 of 4</a:t>
            </a:r>
          </a:p>
          <a:p>
            <a:r>
              <a:t>VOLVO: −$29K, −340 opcodes Jan-Sep against the four benchmarks; under 3 of 4</a:t>
            </a:r>
          </a:p>
          <a:p>
            <a:r>
              <a:t>MAZDA: −$28K, −223 opcodes Jan-Sep against the four benchmarks; under 3 of 4</a:t>
            </a:r>
          </a:p>
          <a:p>
            <a:r>
              <a:t>AUDI HENDERSON: −$22K, −661 opcodes Jan-Sep against the four benchmarks; under 3 of 4</a:t>
            </a:r>
          </a:p>
          <a:p>
            <a:r>
              <a:t>HYUNDAI PRESCOTT: +$23K, +97 opcodes Jan-Sep against the four benchmarks; under 3 of 4</a:t>
            </a:r>
          </a:p>
          <a:p>
            <a:r>
              <a:t>ACURA: +$33K, +228 opcodes Jan-Sep against the four benchmarks; under 1 of 4</a:t>
            </a:r>
          </a:p>
          <a:p>
            <a:r>
              <a:t>SUBARU PRESCOTT: +$41K, +24 opcodes Jan-Sep against the four benchmarks; under 2 of 4</a:t>
            </a:r>
          </a:p>
          <a:p>
            <a:r>
              <a:t>HONDA NORTH: +$45K, +70 opcodes Jan-Sep against the four benchmarks; under 1 of 4</a:t>
            </a:r>
          </a:p>
          <a:p>
            <a:r>
              <a:t>LR HENDERSON: +$54K, +324 opcodes Jan-Sep against the four benchmarks; under 1 of 4</a:t>
            </a:r>
          </a:p>
          <a:p>
            <a:r>
              <a:t>LR LV: +$151K, +456 opcodes Jan-Sep against the four benchmarks; under 1 of 4</a:t>
            </a:r>
          </a:p>
          <a:p>
            <a:r>
              <a:t>HONDA HENDERSON: +$557K, +4,476 opcodes Jan-Sep against the four benchmarks; under 0 of 4</a:t>
            </a:r>
          </a:p>
        </p:txBody>
      </p:sp>
      <p:sp>
        <p:nvSpPr>
          <p:cNvPr id="4" name="Slide Number Placeholder 3"/>
          <p:cNvSpPr>
            <a:spLocks noGrp="1"/>
          </p:cNvSpPr>
          <p:nvPr>
            <p:ph type="sldNum" idx="5" sz="quarter"/>
          </p:nvPr>
        </p:nvSpPr>
        <p:spPr/>
      </p:sp>
    </p:spTree>
  </p:cSld>
  <p:clrMapOvr>
    <a:masterClrMapping/>
  </p:clrMapOvr>
</p:notes>
</file>

<file path=ppt/notesSlides/notesSlide1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Talking points: Service Manager Roundtable (Nov 15, 2024) and GM meeting decks (Jan and May 2026). Data: Qlik (Profit &amp; Loss, Closed Repair Orders, Productivity), Jan-Sep 2026 vs 2025, same-store, 33 stores, INEOS excluded.PLACE: Productivity section, after the section break and before Fixed Gross per Fixed Employee.</a:t>
            </a:r>
          </a:p>
          <a:p>
            <a:r>
              <a:t>Said: Roundtable slide 6 (People); Jan GM slide 57 (Technician Pipeline).</a:t>
            </a:r>
          </a:p>
          <a:p>
            <a:r>
              <a:t>Bay tile (Oct 26): counted technicians (proficiency basis, Dec 25 2025 - Oct 9 2026, 9.49 months) flagged 841,721 sold hours, 583 techs = 152 sold hours per tech a month; labor gross $132.13 + parts gross $55.85 = $187.98 per sold hour, all pay types (Qlik Closed ROs) = $28,584 a month per tech. One tech per bay assumed (1:1 tech to stall). The -2.3% CP &amp; W RO tile was dropped for it.</a:t>
            </a:r>
          </a:p>
          <a:p>
            <a:r>
              <a:t>Numbers rebuilt 2026-10-20 on ADP headcount (Employee Master extract 10/19/2026); the Qlik headcount history undercounted 2025.</a:t>
            </a:r>
          </a:p>
        </p:txBody>
      </p:sp>
      <p:sp>
        <p:nvSpPr>
          <p:cNvPr id="4" name="Slide Number Placeholder 3"/>
          <p:cNvSpPr>
            <a:spLocks noGrp="1"/>
          </p:cNvSpPr>
          <p:nvPr>
            <p:ph type="sldNum" idx="5" sz="quarter"/>
          </p:nvPr>
        </p:nvSpPr>
        <p:spPr/>
      </p:sp>
    </p:spTree>
  </p:cSld>
  <p:clrMapOvr>
    <a:masterClrMapping/>
  </p:clrMapOvr>
</p:notes>
</file>

<file path=ppt/notesSlides/notesSlide1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Gross and ROs: Qlik - Productivity app (P&amp;L Total Gross Profit - Fixed Ops; CP &amp; W ROs). Headcount: ADP Employee Master extract, 10/19/2026, month-end snapshots, Qlik's fixed-employee title list. Each person counted once: someone open at two stores is counted at the old store until that record closes. Monthly averages, Jan-Sep. Same-store, INEOS excluded (opened 2026). GMC Prescott body shop gross, staff and body-only ROs excluded. YTD = average month-end fixed headcount, Jan-Sep. Fixed employees include managers; technicians = service, express, foreman and team-leader titles. 2025 shown January-December.</a:t>
            </a:r>
          </a:p>
          <a:p>
            <a:r>
              <a:t>Jan 25: 1625 fixed, 703 techs, 238 advisors, 117 managers</a:t>
            </a:r>
          </a:p>
          <a:p>
            <a:r>
              <a:t>Feb 25: 1632 fixed, 705 techs, 237 advisors, 116 managers</a:t>
            </a:r>
          </a:p>
          <a:p>
            <a:r>
              <a:t>Mar 25: 1629 fixed, 702 techs, 240 advisors, 116 managers</a:t>
            </a:r>
          </a:p>
          <a:p>
            <a:r>
              <a:t>Apr 25: 1615 fixed, 695 techs, 242 advisors, 111 managers</a:t>
            </a:r>
          </a:p>
          <a:p>
            <a:r>
              <a:t>May 25: 1623 fixed, 699 techs, 250 advisors, 111 managers</a:t>
            </a:r>
          </a:p>
          <a:p>
            <a:r>
              <a:t>Jun 25: 1616 fixed, 695 techs, 247 advisors, 109 managers</a:t>
            </a:r>
          </a:p>
          <a:p>
            <a:r>
              <a:t>Jul 25: 1629 fixed, 705 techs, 247 advisors, 110 managers</a:t>
            </a:r>
          </a:p>
          <a:p>
            <a:r>
              <a:t>Aug 25: 1627 fixed, 701 techs, 251 advisors, 110 managers</a:t>
            </a:r>
          </a:p>
          <a:p>
            <a:r>
              <a:t>Sep 25: 1616 fixed, 701 techs, 248 advisors, 107 managers</a:t>
            </a:r>
          </a:p>
          <a:p>
            <a:r>
              <a:t>Oct 25: 1604 fixed, 688 techs, 249 advisors, 109 managers</a:t>
            </a:r>
          </a:p>
          <a:p>
            <a:r>
              <a:t>Nov 25: 1582 fixed, 685 techs, 247 advisors, 107 managers</a:t>
            </a:r>
          </a:p>
          <a:p>
            <a:r>
              <a:t>Dec 25: 1563 fixed, 674 techs, 249 advisors, 107 managers</a:t>
            </a:r>
          </a:p>
          <a:p>
            <a:r>
              <a:t>Jan 26: 1530 fixed, 657 techs, 248 advisors, 106 managers</a:t>
            </a:r>
          </a:p>
          <a:p>
            <a:r>
              <a:t>Feb 26: 1530 fixed, 670 techs, 245 advisors, 108 managers</a:t>
            </a:r>
          </a:p>
          <a:p>
            <a:r>
              <a:t>Mar 26: 1540 fixed, 669 techs, 252 advisors, 107 managers</a:t>
            </a:r>
          </a:p>
          <a:p>
            <a:r>
              <a:t>Apr 26: 1545 fixed, 687 techs, 250 advisors, 106 managers</a:t>
            </a:r>
          </a:p>
          <a:p>
            <a:r>
              <a:t>May 26: 1537 fixed, 680 techs, 254 advisors, 105 managers</a:t>
            </a:r>
          </a:p>
          <a:p>
            <a:r>
              <a:t>Jun 26: 1546 fixed, 684 techs, 250 advisors, 105 managers</a:t>
            </a:r>
          </a:p>
          <a:p>
            <a:r>
              <a:t>Jul 26: 1548 fixed, 682 techs, 250 advisors, 106 managers</a:t>
            </a:r>
          </a:p>
          <a:p>
            <a:r>
              <a:t>Aug 26: 1549 fixed, 684 techs, 244 advisors, 104 managers</a:t>
            </a:r>
          </a:p>
          <a:p>
            <a:r>
              <a:t>Sep 26: 1540 fixed, 684 techs, 241 advisors, 104 managers</a:t>
            </a:r>
          </a:p>
        </p:txBody>
      </p:sp>
      <p:sp>
        <p:nvSpPr>
          <p:cNvPr id="4" name="Slide Number Placeholder 3"/>
          <p:cNvSpPr>
            <a:spLocks noGrp="1"/>
          </p:cNvSpPr>
          <p:nvPr>
            <p:ph type="sldNum" idx="5" sz="quarter"/>
          </p:nvPr>
        </p:nvSpPr>
        <p:spPr/>
      </p:sp>
    </p:spTree>
  </p:cSld>
  <p:clrMapOvr>
    <a:masterClrMapping/>
  </p:clrMapOvr>
</p:notes>
</file>

<file path=ppt/notesSlides/notesSlide1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Takeaway with the store call-outs (off the slide): Group-wide the gap is 8.1% of RO gross. 7 stores show 20% or more, led by Hyundai St George at 32% ($88K of $277K a month).Source: Each technician under 85% lifted to 85% of their own worked hours; techs at or above 85% count as zero, so no store offsets one tech with another. Gap hours valued at what the store's own technicians (counted titles) earn per sold hour in labor gross and parts gross, all pay types, Qlik - Closed Repair Orders, same dates; tech pay at their labor cost per sold hour. Store-wide averages are not used because they carry detail, rental and recon sale booked with no hours. Per month = period total / 9.49 months (Dec 25, 2025 - Oct 9, 2026). Parts assumes the extra hours carry the store's average parts per hour. Population as on the proficiency slides. Missed and Gross are per month. Share = missed labor + parts gross / labor + parts gross on the store's closed ROs, all pay types, same dates (includes work on shared tech codes). Not P&amp;L gross: counter and wholesale parts are excluded because techs do not produce them.ACURA: 67.4%; 11 of 11 under 85%; gap 2,954 hrs; labor $50K/mo + parts $26K/mo; tech pay $14K/mo; 25.4% of $299K/mo RO gross; top quarter 74% (3 techs); 3.46 ROs/tech day; 1.75 hrs/RO</a:t>
            </a:r>
          </a:p>
          <a:p>
            <a:r>
              <a:t>AUDI HENDERSON: 91.0%; 13 of 23 under 85%; gap 3,426 hrs; labor $81K/mo + parts $20K/mo; tech pay $14K/mo; 8.3% of $1.23M/mo RO gross; top quarter 135% (6 techs); 2.77 ROs/tech day; 3.23 hrs/RO</a:t>
            </a:r>
          </a:p>
          <a:p>
            <a:r>
              <a:t>AUDI RENO: 117.1%; 4 of 10 under 85%; gap 826 hrs; labor $14K/mo + parts $6K/mo; tech pay $4K/mo; 4.0% of $504K/mo RO gross; top quarter 194% (2 techs); 4.08 ROs/tech day; 2.88 hrs/RO</a:t>
            </a:r>
          </a:p>
          <a:p>
            <a:r>
              <a:t>CADILLAC: 87.7%; 16 of 29 under 85%; gap 6,705 hrs; labor $108K/mo + parts $49K/mo; tech pay $24K/mo; 13.6% of $1.16M/mo RO gross; top quarter 143% (7 techs); 2.48 ROs/tech day; 3.41 hrs/RO</a:t>
            </a:r>
          </a:p>
          <a:p>
            <a:r>
              <a:t>CDJR POST FALLS: 71.2%; 9 of 14 under 85%; gap 5,005 hrs; labor $68K/mo + parts $32K/mo; tech pay $18K/mo; 24.6% of $408K/mo RO gross; top quarter 129% (4 techs); 3.77 ROs/tech day; 2.25 hrs/RO</a:t>
            </a:r>
          </a:p>
          <a:p>
            <a:r>
              <a:t>CHEVY GMC BULLHEAD: 68.4%; 16 of 20 under 85%; gap 5,809 hrs; labor $73K/mo + parts $39K/mo; tech pay $20K/mo; 23.2% of $483K/mo RO gross; top quarter 96% (5 techs); 3.06 ROs/tech day; 2.19 hrs/RO</a:t>
            </a:r>
          </a:p>
          <a:p>
            <a:r>
              <a:t>CHEVY LV: 103.4%; 16 of 51 under 85%; gap 5,102 hrs; labor $62K/mo + parts $25K/mo; tech pay $17K/mo; 5.2% of $1.69M/mo RO gross; top quarter 164% (13 techs); 3.95 ROs/tech day; 2.69 hrs/RO</a:t>
            </a:r>
          </a:p>
          <a:p>
            <a:r>
              <a:t>GMC PRESCOTT: 73.6%; 7 of 12 under 85%; gap 2,741 hrs; labor $31K/mo + parts $17K/mo; tech pay $12K/mo; 14.4% of $333K/mo RO gross; top quarter 104% (3 techs); 3.59 ROs/tech day; 4.21 hrs/RO</a:t>
            </a:r>
          </a:p>
          <a:p>
            <a:r>
              <a:t>HONDA FLAGSTAFF: 78.5%; 4 of 6 under 85%; gap 2,217 hrs; labor $28K/mo + parts $12K/mo; tech pay $8K/mo; 19.6% of $202K/mo RO gross; top quarter 131% (2 techs); 5.23 ROs/tech day; 1.85 hrs/RO</a:t>
            </a:r>
          </a:p>
          <a:p>
            <a:r>
              <a:t>HONDA HENDERSON: 118.5%; 5 of 28 under 85%; gap 669 hrs; labor $9K/mo + parts $4K/mo; tech pay $2K/mo; 0.8% of $1.54M/mo RO gross; top quarter 172% (7 techs); 6.04 ROs/tech day; 2.11 hrs/RO</a:t>
            </a:r>
          </a:p>
          <a:p>
            <a:r>
              <a:t>HONDA NORTH: 109.3%; 4 of 22 under 85%; gap 764 hrs; labor $9K/mo + parts $4K/mo; tech pay $2K/mo; 1.4% of $949K/mo RO gross; top quarter 152% (6 techs); 6.08 ROs/tech day; 2.29 hrs/RO</a:t>
            </a:r>
          </a:p>
          <a:p>
            <a:r>
              <a:t>HONDA SPOKANE: 109.0%; 2 of 15 under 85%; gap 57 hrs; labor $1K/mo + parts $0K/mo; tech pay $0K/mo; 0.2% of $453K/mo RO gross; top quarter 130% (4 techs); 6.24 ROs/tech day; 2.14 hrs/RO</a:t>
            </a:r>
          </a:p>
          <a:p>
            <a:r>
              <a:t>HYUNDAI PRESCOTT: 78.8%; 6 of 9 under 85%; gap 1,873 hrs; labor $23K/mo + parts $11K/mo; tech pay $8K/mo; 18.5% of $185K/mo RO gross; top quarter 113% (2 techs); 3.75 ROs/tech day; 1.78 hrs/RO</a:t>
            </a:r>
          </a:p>
          <a:p>
            <a:r>
              <a:t>HYUNDAI ST GEORGE: 69.0%; 8 of 11 under 85%; gap 3,952 hrs; labor $58K/mo + parts $30K/mo; tech pay $13K/mo; 31.9% of $277K/mo RO gross; top quarter 122% (3 techs); 4.23 ROs/tech day; 1.45 hrs/RO</a:t>
            </a:r>
          </a:p>
          <a:p>
            <a:r>
              <a:t>KIA LV: 76.8%; 16 of 20 under 85%; gap 3,389 hrs; labor $51K/mo + parts $23K/mo; tech pay $12K/mo; 11.6% of $643K/mo RO gross; top quarter 101% (5 techs); 5.22 ROs/tech day; 1.70 hrs/RO</a:t>
            </a:r>
          </a:p>
          <a:p>
            <a:r>
              <a:t>KIA ST GEORGE: 67.5%; 9 of 12 under 85%; gap 3,713 hrs; labor $48K/mo + parts $29K/mo; tech pay $11K/mo; 29.7% of $258K/mo RO gross; top quarter 98% (3 techs); 4.25 ROs/tech day; 1.31 hrs/RO</a:t>
            </a:r>
          </a:p>
          <a:p>
            <a:r>
              <a:t>LEXUS: 104.7%; 6 of 11 under 85%; gap 1,451 hrs; labor $24K/mo + parts $7K/mo; tech pay $5K/mo; 7.9% of $400K/mo RO gross; top quarter 178% (3 techs); 4.01 ROs/tech day; 2.44 hrs/RO</a:t>
            </a:r>
          </a:p>
          <a:p>
            <a:r>
              <a:t>LINCOLN: 94.9%; 5 of 11 under 85%; gap 1,236 hrs; labor $17K/mo + parts $7K/mo; tech pay $4K/mo; 7.6% of $312K/mo RO gross; top quarter 125% (3 techs); 3.24 ROs/tech day; 2.35 hrs/RO</a:t>
            </a:r>
          </a:p>
          <a:p>
            <a:r>
              <a:t>LR HENDERSON: 106.0%; 3 of 7 under 85%; gap 567 hrs; labor $9K/mo + parts $5K/mo; tech pay $2K/mo; 4.2% of $357K/mo RO gross; top quarter 145% (2 techs); 2.94 ROs/tech day; 3.68 hrs/RO</a:t>
            </a:r>
          </a:p>
          <a:p>
            <a:r>
              <a:t>LR LV: 91.2%; 8 of 16 under 85%; gap 2,154 hrs; labor $42K/mo + parts $21K/mo; tech pay $9K/mo; 9.0% of $702K/mo RO gross; top quarter 131% (4 techs); 2.41 ROs/tech day; 3.54 hrs/RO</a:t>
            </a:r>
          </a:p>
          <a:p>
            <a:r>
              <a:t>LR RENO: 81.4%; 2 of 6 under 85%; gap 724 hrs; labor $14K/mo + parts $7K/mo; tech pay $3K/mo; 8.0% of $257K/mo RO gross; top quarter 96% (2 techs); 2.36 ROs/tech day; 3.20 hrs/RO</a:t>
            </a:r>
          </a:p>
          <a:p>
            <a:r>
              <a:t>MAZDA: 101.6%; 4 of 11 under 85%; gap 415 hrs; labor $6K/mo + parts $3K/mo; tech pay $1K/mo; 2.7% of $322K/mo RO gross; top quarter 123% (3 techs); 5.78 ROs/tech day; 1.54 hrs/RO</a:t>
            </a:r>
          </a:p>
          <a:p>
            <a:r>
              <a:t>NISSAN: 91.1%; 8 of 17 under 85%; gap 2,291 hrs; labor $30K/mo + parts $13K/mo; tech pay $9K/mo; 8.0% of $532K/mo RO gross; top quarter 132% (4 techs); 4.08 ROs/tech day; 2.29 hrs/RO</a:t>
            </a:r>
          </a:p>
          <a:p>
            <a:r>
              <a:t>SUBARU LV: 96.9%; 11 of 27 under 85%; gap 2,050 hrs; labor $29K/mo + parts $15K/mo; tech pay $5K/mo; 4.1% of $1.07M/mo RO gross; top quarter 132% (7 techs); 4.64 ROs/tech day; 2.07 hrs/RO</a:t>
            </a:r>
          </a:p>
          <a:p>
            <a:r>
              <a:t>SUBARU PRESCOTT: 98.4%; 6 of 12 under 85%; gap 3,523 hrs; labor $37K/mo + parts $21K/mo; tech pay $13K/mo; 20.0% of $288K/mo RO gross; top quarter 179% (3 techs); 4.73 ROs/tech day; 1.68 hrs/RO</a:t>
            </a:r>
          </a:p>
          <a:p>
            <a:r>
              <a:t>SUBARU ST GEORGE: 109.7%; 3 of 12 under 85%; gap 1,248 hrs; labor $14K/mo + parts $8K/mo; tech pay $5K/mo; 5.8% of $382K/mo RO gross; top quarter 146% (3 techs); 4.11 ROs/tech day; 2.20 hrs/RO</a:t>
            </a:r>
          </a:p>
          <a:p>
            <a:r>
              <a:t>TOYOTA FLAGSTAFF: 102.4%; 6 of 18 under 85%; gap 662 hrs; labor $8K/mo + parts $3K/mo; tech pay $2K/mo; 1.9% of $542K/mo RO gross; top quarter 151% (4 techs); 4.96 ROs/tech day; 1.84 hrs/RO</a:t>
            </a:r>
          </a:p>
          <a:p>
            <a:r>
              <a:t>TOYOTA HENDERSON: 104.3%; 20 of 59 under 85%; gap 4,057 hrs; labor $51K/mo + parts $19K/mo; tech pay $14K/mo; 2.9% of $2.44M/mo RO gross; top quarter 153% (15 techs); 6.41 ROs/tech day; 1.88 hrs/RO</a:t>
            </a:r>
          </a:p>
          <a:p>
            <a:r>
              <a:t>TOYOTA PRESCOTT: 83.6%; 11 of 22 under 85%; gap 4,174 hrs; labor $57K/mo + parts $20K/mo; tech pay $16K/mo; 13.5% of $573K/mo RO gross; top quarter 118% (6 techs); 4.22 ROs/tech day; 1.72 hrs/RO</a:t>
            </a:r>
          </a:p>
          <a:p>
            <a:r>
              <a:t>TOYOTA SPOKANE: 108.0%; 4 of 28 under 85%; gap 745 hrs; labor $8K/mo + parts $4K/mo; tech pay $3K/mo; 1.9% of $609K/mo RO gross; top quarter 134% (7 techs); 5.36 ROs/tech day; 1.81 hrs/RO</a:t>
            </a:r>
          </a:p>
          <a:p>
            <a:r>
              <a:t>VOLVO: 72.3%; 8 of 9 under 85%; gap 1,963 hrs; labor $40K/mo + parts $22K/mo; tech pay $5K/mo; 14.8% of $417K/mo RO gross; top quarter 89% (2 techs); 3.81 ROs/tech day; 1.92 hrs/RO</a:t>
            </a:r>
          </a:p>
          <a:p>
            <a:r>
              <a:t>VW HENDERSON: 92.2%; 6 of 19 under 85%; gap 1,416 hrs; labor $19K/mo + parts $5K/mo; tech pay $4K/mo; 4.8% of $516K/mo RO gross; top quarter 115% (5 techs); 3.77 ROs/tech day; 2.28 hrs/RO</a:t>
            </a:r>
          </a:p>
          <a:p>
            <a:r>
              <a:t>VW ST GEORGE: 70.0%; 5 of 5 under 85%; gap 1,149 hrs; labor $13K/mo + parts $7K/mo; tech pay $3K/mo; 19.0% of $109K/mo RO gross; top quarter 76% (1 techs); 3.81 ROs/tech day; 1.65 hrs/RO</a:t>
            </a:r>
          </a:p>
        </p:txBody>
      </p:sp>
      <p:sp>
        <p:nvSpPr>
          <p:cNvPr id="4" name="Slide Number Placeholder 3"/>
          <p:cNvSpPr>
            <a:spLocks noGrp="1"/>
          </p:cNvSpPr>
          <p:nvPr>
            <p:ph type="sldNum" idx="5" sz="quarter"/>
          </p:nvPr>
        </p:nvSpPr>
        <p:spPr/>
      </p:sp>
    </p:spTree>
  </p:cSld>
  <p:clrMapOvr>
    <a:masterClrMapping/>
  </p:clrMapOvr>
</p:notes>
</file>

<file path=ppt/notesSlides/notesSlide1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Qlik - Profit &amp; Loss, Gross Profit - Fixed Ops Warranty (service + parts warranty gross). Same-store, INEOS excluded (opened 2026); no body shop. Jan-Sep 2026 vs Jan-Sep 2025; 2025 shown January-December. Store rows reconcile to the group to the cent, both years.</a:t>
            </a:r>
          </a:p>
        </p:txBody>
      </p:sp>
      <p:sp>
        <p:nvSpPr>
          <p:cNvPr id="4" name="Slide Number Placeholder 3"/>
          <p:cNvSpPr>
            <a:spLocks noGrp="1"/>
          </p:cNvSpPr>
          <p:nvPr>
            <p:ph type="sldNum" idx="5" sz="quarter"/>
          </p:nvPr>
        </p:nvSpPr>
        <p:spPr/>
      </p:sp>
    </p:spTree>
  </p:cSld>
  <p:clrMapOvr>
    <a:masterClrMapping/>
  </p:clrMapOvr>
</p:notes>
</file>

<file path=ppt/notesSlides/notesSlide1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Takeaway with the store call-outs (off the slide): Last year: SUBARU PRESCOTT leads. Moving now: Three stores tie. One store is on both lists (green bar).Source: Qlik - Closed Repair Orders. Customer pay, by close date. Same-store, 33 stores (INEOS excluded, opened 2026). GMC Prescott body shop labor types excluded. CP gross = CP labor gross + CP parts gross. Left: Jan-Sep 2026 vs Jan-Sep 2025. Right: Q3 2026 vs Q1 2026. Top-5 finishes counted across five measures (parts $ per RO dropped, Oct 23); top six stores shown in each view.</a:t>
            </a:r>
          </a:p>
        </p:txBody>
      </p:sp>
      <p:sp>
        <p:nvSpPr>
          <p:cNvPr id="4" name="Slide Number Placeholder 3"/>
          <p:cNvSpPr>
            <a:spLocks noGrp="1"/>
          </p:cNvSpPr>
          <p:nvPr>
            <p:ph type="sldNum" idx="5" sz="quarter"/>
          </p:nvPr>
        </p:nvSpPr>
        <p:spPr/>
      </p:sp>
    </p:spTree>
  </p:cSld>
  <p:clrMapOvr>
    <a:masterClrMapping/>
  </p:clrMapOvr>
</p:notes>
</file>

<file path=ppt/notesSlides/notesSlide1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Qlik - Closed Repair Orders. Customer pay, by close date. Same-store, 33 stores (INEOS excluded, opened 2026). GMC Prescott body shop labor types excluded. CP gross = CP labor gross + CP parts gross. Change is Jul-Sep 2026 (Q3) vs Jan-Mar 2026 (Q1), each store against itself. Gross and ROs are per-month averages of each quarter. The group's own Q1-to-Q3 change is the seasonal baseline: it is the same for every store, so ranking by a store's change is the same as ranking by how far it beat the group. 'Stepped up in' = the month that best splits the store's year into a lower stretch before and a higher stretch after (at least three months before, two after). It is a conversation starter, not proof of cause. Each row is the top Q1-to-Q3 mover on that measure. Opcode row: MAZDA tops 3 of the four opcode lists; the biggest of those moves is shown. Opcode closing % = ROs with the service ÷ customer-pay ROs on the op-code report basis.</a:t>
            </a:r>
          </a:p>
          <a:p/>
          <a:p>
            <a:r>
              <a:t>MAZDA's August opcode increase was confirmed with the store as a real change (Noah, Oct 19 2026).</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chart" Target="../charts/chart1.xml"/><Relationship Id="rId3" Type="http://schemas.openxmlformats.org/officeDocument/2006/relationships/chart" Target="../charts/chart2.xml"/><Relationship Id="rId4" Type="http://schemas.openxmlformats.org/officeDocument/2006/relationships/chart" Target="../charts/chart3.xml"/><Relationship Id="rId5" Type="http://schemas.openxmlformats.org/officeDocument/2006/relationships/chart" Target="../charts/chart4.xml"/><Relationship Id="rId6" Type="http://schemas.openxmlformats.org/officeDocument/2006/relationships/chart" Target="../charts/chart5.xml"/><Relationship Id="rId7" Type="http://schemas.openxmlformats.org/officeDocument/2006/relationships/chart" Target="../charts/chart6.xml"/><Relationship Id="rId8" Type="http://schemas.openxmlformats.org/officeDocument/2006/relationships/notesSlide" Target="../notesSlides/notesSlide1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chart" Target="../charts/chart7.xml"/><Relationship Id="rId3" Type="http://schemas.openxmlformats.org/officeDocument/2006/relationships/chart" Target="../charts/chart8.xml"/><Relationship Id="rId4" Type="http://schemas.openxmlformats.org/officeDocument/2006/relationships/chart" Target="../charts/chart9.xml"/><Relationship Id="rId5" Type="http://schemas.openxmlformats.org/officeDocument/2006/relationships/chart" Target="../charts/chart10.xml"/><Relationship Id="rId6" Type="http://schemas.openxmlformats.org/officeDocument/2006/relationships/chart" Target="../charts/chart11.xml"/><Relationship Id="rId7" Type="http://schemas.openxmlformats.org/officeDocument/2006/relationships/chart" Target="../charts/chart12.xml"/><Relationship Id="rId8" Type="http://schemas.openxmlformats.org/officeDocument/2006/relationships/notesSlide" Target="../notesSlides/notesSlide2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chart" Target="../charts/chart13.xml"/><Relationship Id="rId3" Type="http://schemas.openxmlformats.org/officeDocument/2006/relationships/chart" Target="../charts/chart14.xml"/><Relationship Id="rId4" Type="http://schemas.openxmlformats.org/officeDocument/2006/relationships/chart" Target="../charts/chart15.xml"/><Relationship Id="rId5" Type="http://schemas.openxmlformats.org/officeDocument/2006/relationships/chart" Target="../charts/chart16.xml"/><Relationship Id="rId6" Type="http://schemas.openxmlformats.org/officeDocument/2006/relationships/chart" Target="../charts/chart17.xml"/><Relationship Id="rId7" Type="http://schemas.openxmlformats.org/officeDocument/2006/relationships/notesSlide" Target="../notesSlides/notesSlide26.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chart" Target="../charts/chart18.xml"/><Relationship Id="rId3" Type="http://schemas.openxmlformats.org/officeDocument/2006/relationships/chart" Target="../charts/chart19.xml"/><Relationship Id="rId4" Type="http://schemas.openxmlformats.org/officeDocument/2006/relationships/chart" Target="../charts/chart20.xml"/><Relationship Id="rId5" Type="http://schemas.openxmlformats.org/officeDocument/2006/relationships/chart" Target="../charts/chart21.xml"/><Relationship Id="rId6" Type="http://schemas.openxmlformats.org/officeDocument/2006/relationships/chart" Target="../charts/chart22.xml"/><Relationship Id="rId7" Type="http://schemas.openxmlformats.org/officeDocument/2006/relationships/chart" Target="../charts/chart23.xml"/><Relationship Id="rId8" Type="http://schemas.openxmlformats.org/officeDocument/2006/relationships/notesSlide" Target="../notesSlides/notesSlide30.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5.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0.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chart" Target="../charts/chart123.xml"/><Relationship Id="rId3" Type="http://schemas.openxmlformats.org/officeDocument/2006/relationships/chart" Target="../charts/chart124.xml"/><Relationship Id="rId4" Type="http://schemas.openxmlformats.org/officeDocument/2006/relationships/chart" Target="../charts/chart125.xml"/><Relationship Id="rId5" Type="http://schemas.openxmlformats.org/officeDocument/2006/relationships/chart" Target="../charts/chart126.xml"/><Relationship Id="rId6" Type="http://schemas.openxmlformats.org/officeDocument/2006/relationships/chart" Target="../charts/chart127.xml"/><Relationship Id="rId7" Type="http://schemas.openxmlformats.org/officeDocument/2006/relationships/notesSlide" Target="../notesSlides/notesSlide132.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6.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chart" Target="../charts/chart135.xml"/><Relationship Id="rId3" Type="http://schemas.openxmlformats.org/officeDocument/2006/relationships/chart" Target="../charts/chart136.xml"/><Relationship Id="rId4" Type="http://schemas.openxmlformats.org/officeDocument/2006/relationships/chart" Target="../charts/chart137.xml"/><Relationship Id="rId5" Type="http://schemas.openxmlformats.org/officeDocument/2006/relationships/chart" Target="../charts/chart138.xml"/><Relationship Id="rId6" Type="http://schemas.openxmlformats.org/officeDocument/2006/relationships/chart" Target="../charts/chart139.xml"/><Relationship Id="rId7" Type="http://schemas.openxmlformats.org/officeDocument/2006/relationships/chart" Target="../charts/chart140.xml"/><Relationship Id="rId8" Type="http://schemas.openxmlformats.org/officeDocument/2006/relationships/notesSlide" Target="../notesSlides/notesSlide153.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9.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0.xml"/></Relationships>
</file>

<file path=ppt/slides/slide5.xml><?xml version="1.0" encoding="utf-8"?>
<p:sld xmlns:a="http://schemas.openxmlformats.org/drawingml/2006/main" xmlns:p="http://schemas.openxmlformats.org/presentationml/2006/main" xmlns:r="http://schemas.openxmlformats.org/officeDocument/2006/relationships">
  <p:cSld>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FIXED OPS NET PROFIT</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Fixed Ops Net Profit</a:t>
            </a:r>
            <a:endParaRPr lang="en-US" sz="2800" dirty="0"/>
          </a:p>
        </p:txBody>
      </p:sp>
      <p:sp>
        <p:nvSpPr>
          <p:cNvPr id="5" name="Shape 3"/>
          <p:cNvSpPr/>
          <p:nvPr/>
        </p:nvSpPr>
        <p:spPr>
          <a:xfrm>
            <a:off x="457200" y="1207008"/>
            <a:ext cx="11274552" cy="1005840"/>
          </a:xfrm>
          <a:prstGeom prst="rect">
            <a:avLst/>
          </a:prstGeom>
          <a:solidFill>
            <a:srgbClr val="FFFFFF"/>
          </a:solidFill>
          <a:ln/>
        </p:spPr>
      </p:sp>
      <p:sp>
        <p:nvSpPr>
          <p:cNvPr id="6" name="Text 4"/>
          <p:cNvSpPr txBox="1"/>
          <p:nvPr/>
        </p:nvSpPr>
        <p:spPr>
          <a:xfrm>
            <a:off x="685800" y="1335024"/>
            <a:ext cx="2651760" cy="237744"/>
          </a:xfrm>
          <a:prstGeom prst="rect">
            <a:avLst/>
          </a:prstGeom>
          <a:noFill/>
          <a:ln/>
        </p:spPr>
        <p:txBody>
          <a:bodyPr wrap="square" lIns="0" tIns="0" rIns="0" bIns="0" rtlCol="0" anchor="ctr"/>
          <a:lstStyle/>
          <a:p>
            <a:pPr indent="0" marL="0">
              <a:buNone/>
            </a:pPr>
            <a:r>
              <a:rPr lang="en-US" sz="1400" spc="90" kern="0" dirty="0">
                <a:solidFill>
                  <a:srgbClr val="595959"/>
                </a:solidFill>
                <a:latin typeface="Inter" pitchFamily="34" charset="0"/>
                <a:ea typeface="Inter" pitchFamily="34" charset="-122"/>
                <a:cs typeface="Inter" pitchFamily="34" charset="-120"/>
              </a:rPr>
              <a:t>2025 YTD</a:t>
            </a:r>
            <a:endParaRPr lang="en-US" sz="1400" dirty="0"/>
          </a:p>
        </p:txBody>
      </p:sp>
      <p:sp>
        <p:nvSpPr>
          <p:cNvPr id="7" name="Text 5"/>
          <p:cNvSpPr txBox="1"/>
          <p:nvPr/>
        </p:nvSpPr>
        <p:spPr>
          <a:xfrm>
            <a:off x="685800" y="1554480"/>
            <a:ext cx="2697480" cy="548640"/>
          </a:xfrm>
          <a:prstGeom prst="rect">
            <a:avLst/>
          </a:prstGeom>
          <a:noFill/>
          <a:ln/>
        </p:spPr>
        <p:txBody>
          <a:bodyPr wrap="square" lIns="0" tIns="0" rIns="0" bIns="0" rtlCol="0" anchor="ctr"/>
          <a:lstStyle/>
          <a:p>
            <a:pPr indent="0" marL="0">
              <a:buNone/>
            </a:pPr>
            <a:r>
              <a:rPr lang="en-US" sz="3000" b="1" dirty="0">
                <a:solidFill>
                  <a:srgbClr val="1A1A1A"/>
                </a:solidFill>
                <a:latin typeface="Inter" pitchFamily="34" charset="0"/>
                <a:ea typeface="Inter" pitchFamily="34" charset="-122"/>
                <a:cs typeface="Inter" pitchFamily="34" charset="-120"/>
              </a:rPr>
              <a:t>$45.34M</a:t>
            </a:r>
            <a:endParaRPr lang="en-US" sz="3000" dirty="0"/>
          </a:p>
        </p:txBody>
      </p:sp>
      <p:sp>
        <p:nvSpPr>
          <p:cNvPr id="8" name="Text 6"/>
          <p:cNvSpPr txBox="1"/>
          <p:nvPr/>
        </p:nvSpPr>
        <p:spPr>
          <a:xfrm>
            <a:off x="3474720" y="1335024"/>
            <a:ext cx="2651760" cy="237744"/>
          </a:xfrm>
          <a:prstGeom prst="rect">
            <a:avLst/>
          </a:prstGeom>
          <a:noFill/>
          <a:ln/>
        </p:spPr>
        <p:txBody>
          <a:bodyPr wrap="square" lIns="0" tIns="0" rIns="0" bIns="0" rtlCol="0" anchor="ctr"/>
          <a:lstStyle/>
          <a:p>
            <a:pPr indent="0" marL="0">
              <a:buNone/>
            </a:pPr>
            <a:r>
              <a:rPr lang="en-US" sz="1400" spc="90" kern="0" dirty="0">
                <a:solidFill>
                  <a:srgbClr val="595959"/>
                </a:solidFill>
                <a:latin typeface="Inter" pitchFamily="34" charset="0"/>
                <a:ea typeface="Inter" pitchFamily="34" charset="-122"/>
                <a:cs typeface="Inter" pitchFamily="34" charset="-120"/>
              </a:rPr>
              <a:t>2026 YTD</a:t>
            </a:r>
            <a:endParaRPr lang="en-US" sz="1400" dirty="0"/>
          </a:p>
        </p:txBody>
      </p:sp>
      <p:sp>
        <p:nvSpPr>
          <p:cNvPr id="9" name="Text 7"/>
          <p:cNvSpPr txBox="1"/>
          <p:nvPr/>
        </p:nvSpPr>
        <p:spPr>
          <a:xfrm>
            <a:off x="3474720" y="1554480"/>
            <a:ext cx="2697480" cy="548640"/>
          </a:xfrm>
          <a:prstGeom prst="rect">
            <a:avLst/>
          </a:prstGeom>
          <a:noFill/>
          <a:ln/>
        </p:spPr>
        <p:txBody>
          <a:bodyPr wrap="square" lIns="0" tIns="0" rIns="0" bIns="0" rtlCol="0" anchor="ctr"/>
          <a:lstStyle/>
          <a:p>
            <a:pPr indent="0" marL="0">
              <a:buNone/>
            </a:pPr>
            <a:r>
              <a:rPr lang="en-US" sz="3000" b="1" dirty="0">
                <a:solidFill>
                  <a:srgbClr val="1A1A1A"/>
                </a:solidFill>
                <a:latin typeface="Inter" pitchFamily="34" charset="0"/>
                <a:ea typeface="Inter" pitchFamily="34" charset="-122"/>
                <a:cs typeface="Inter" pitchFamily="34" charset="-120"/>
              </a:rPr>
              <a:t>$50.45M</a:t>
            </a:r>
            <a:endParaRPr lang="en-US" sz="3000" dirty="0"/>
          </a:p>
        </p:txBody>
      </p:sp>
      <p:sp>
        <p:nvSpPr>
          <p:cNvPr id="10" name="Text 8"/>
          <p:cNvSpPr txBox="1"/>
          <p:nvPr/>
        </p:nvSpPr>
        <p:spPr>
          <a:xfrm>
            <a:off x="6263640" y="1335024"/>
            <a:ext cx="2651760" cy="237744"/>
          </a:xfrm>
          <a:prstGeom prst="rect">
            <a:avLst/>
          </a:prstGeom>
          <a:noFill/>
          <a:ln/>
        </p:spPr>
        <p:txBody>
          <a:bodyPr wrap="square" lIns="0" tIns="0" rIns="0" bIns="0" rtlCol="0" anchor="ctr"/>
          <a:lstStyle/>
          <a:p>
            <a:pPr indent="0" marL="0">
              <a:buNone/>
            </a:pPr>
            <a:r>
              <a:rPr lang="en-US" sz="1400" spc="90" kern="0" dirty="0">
                <a:solidFill>
                  <a:srgbClr val="595959"/>
                </a:solidFill>
                <a:latin typeface="Inter" pitchFamily="34" charset="0"/>
                <a:ea typeface="Inter" pitchFamily="34" charset="-122"/>
                <a:cs typeface="Inter" pitchFamily="34" charset="-120"/>
              </a:rPr>
              <a:t>VARIANCE</a:t>
            </a:r>
            <a:endParaRPr lang="en-US" sz="1400" dirty="0"/>
          </a:p>
        </p:txBody>
      </p:sp>
      <p:sp>
        <p:nvSpPr>
          <p:cNvPr id="11" name="Text 9"/>
          <p:cNvSpPr txBox="1"/>
          <p:nvPr/>
        </p:nvSpPr>
        <p:spPr>
          <a:xfrm>
            <a:off x="6263640" y="1554480"/>
            <a:ext cx="2697480" cy="548640"/>
          </a:xfrm>
          <a:prstGeom prst="rect">
            <a:avLst/>
          </a:prstGeom>
          <a:noFill/>
          <a:ln/>
        </p:spPr>
        <p:txBody>
          <a:bodyPr wrap="square" lIns="0" tIns="0" rIns="0" bIns="0" rtlCol="0" anchor="ctr"/>
          <a:lstStyle/>
          <a:p>
            <a:pPr indent="0" marL="0">
              <a:buNone/>
            </a:pPr>
            <a:r>
              <a:rPr lang="en-US" sz="3000" b="1" dirty="0">
                <a:solidFill>
                  <a:srgbClr val="0B7A4A"/>
                </a:solidFill>
                <a:latin typeface="Inter" pitchFamily="34" charset="0"/>
                <a:ea typeface="Inter" pitchFamily="34" charset="-122"/>
                <a:cs typeface="Inter" pitchFamily="34" charset="-120"/>
              </a:rPr>
              <a:t>+$5.11M</a:t>
            </a:r>
            <a:endParaRPr lang="en-US" sz="3000" dirty="0"/>
          </a:p>
        </p:txBody>
      </p:sp>
      <p:sp>
        <p:nvSpPr>
          <p:cNvPr id="12" name="Text 10"/>
          <p:cNvSpPr txBox="1"/>
          <p:nvPr/>
        </p:nvSpPr>
        <p:spPr>
          <a:xfrm>
            <a:off x="9052560" y="1335024"/>
            <a:ext cx="2651760" cy="237744"/>
          </a:xfrm>
          <a:prstGeom prst="rect">
            <a:avLst/>
          </a:prstGeom>
          <a:noFill/>
          <a:ln/>
        </p:spPr>
        <p:txBody>
          <a:bodyPr wrap="square" lIns="0" tIns="0" rIns="0" bIns="0" rtlCol="0" anchor="ctr"/>
          <a:lstStyle/>
          <a:p>
            <a:pPr indent="0" marL="0">
              <a:buNone/>
            </a:pPr>
            <a:r>
              <a:rPr lang="en-US" sz="1400" spc="90" kern="0" dirty="0">
                <a:solidFill>
                  <a:srgbClr val="595959"/>
                </a:solidFill>
                <a:latin typeface="Inter" pitchFamily="34" charset="0"/>
                <a:ea typeface="Inter" pitchFamily="34" charset="-122"/>
                <a:cs typeface="Inter" pitchFamily="34" charset="-120"/>
              </a:rPr>
              <a:t>VAR %</a:t>
            </a:r>
            <a:endParaRPr lang="en-US" sz="1400" dirty="0"/>
          </a:p>
        </p:txBody>
      </p:sp>
      <p:sp>
        <p:nvSpPr>
          <p:cNvPr id="13" name="Text 11"/>
          <p:cNvSpPr txBox="1"/>
          <p:nvPr/>
        </p:nvSpPr>
        <p:spPr>
          <a:xfrm>
            <a:off x="9052560" y="1554480"/>
            <a:ext cx="2697480" cy="548640"/>
          </a:xfrm>
          <a:prstGeom prst="rect">
            <a:avLst/>
          </a:prstGeom>
          <a:noFill/>
          <a:ln/>
        </p:spPr>
        <p:txBody>
          <a:bodyPr wrap="square" lIns="0" tIns="0" rIns="0" bIns="0" rtlCol="0" anchor="ctr"/>
          <a:lstStyle/>
          <a:p>
            <a:pPr indent="0" marL="0">
              <a:buNone/>
            </a:pPr>
            <a:r>
              <a:rPr lang="en-US" sz="3000" b="1" dirty="0">
                <a:solidFill>
                  <a:srgbClr val="0B7A4A"/>
                </a:solidFill>
                <a:latin typeface="Inter" pitchFamily="34" charset="0"/>
                <a:ea typeface="Inter" pitchFamily="34" charset="-122"/>
                <a:cs typeface="Inter" pitchFamily="34" charset="-120"/>
              </a:rPr>
              <a:t>+11.3%</a:t>
            </a:r>
            <a:endParaRPr lang="en-US" sz="3000" dirty="0"/>
          </a:p>
        </p:txBody>
      </p:sp>
      <p:sp>
        <p:nvSpPr>
          <p:cNvPr id="14" name="Shape 12"/>
          <p:cNvSpPr/>
          <p:nvPr/>
        </p:nvSpPr>
        <p:spPr>
          <a:xfrm>
            <a:off x="457200" y="2322576"/>
            <a:ext cx="11274552" cy="3666744"/>
          </a:xfrm>
          <a:prstGeom prst="rect">
            <a:avLst/>
          </a:prstGeom>
          <a:solidFill>
            <a:srgbClr val="FFFFFF"/>
          </a:solidFill>
          <a:ln/>
        </p:spPr>
      </p:sp>
      <p:sp>
        <p:nvSpPr>
          <p:cNvPr id="15" name="Text 13"/>
          <p:cNvSpPr txBox="1"/>
          <p:nvPr/>
        </p:nvSpPr>
        <p:spPr>
          <a:xfrm>
            <a:off x="685800" y="2459736"/>
            <a:ext cx="10817352" cy="292608"/>
          </a:xfrm>
          <a:prstGeom prst="rect">
            <a:avLst/>
          </a:prstGeom>
          <a:noFill/>
          <a:ln/>
        </p:spPr>
        <p:txBody>
          <a:bodyPr wrap="square" lIns="0" tIns="0" rIns="0" bIns="0" rtlCol="0" anchor="ctr"/>
          <a:lstStyle/>
          <a:p>
            <a:pPr indent="0" marL="0">
              <a:buNone/>
            </a:pPr>
            <a:r>
              <a:rPr lang="en-US" sz="1500" dirty="0">
                <a:solidFill>
                  <a:srgbClr val="1A1A1A"/>
                </a:solidFill>
                <a:latin typeface="Inter" pitchFamily="34" charset="0"/>
                <a:ea typeface="Inter" pitchFamily="34" charset="-122"/>
                <a:cs typeface="Inter" pitchFamily="34" charset="-120"/>
              </a:rPr>
              <a:t>Fixed ops net profit by month, 2025 against 2026 ($M)</a:t>
            </a:r>
            <a:endParaRPr lang="en-US" sz="1500" dirty="0"/>
          </a:p>
        </p:txBody>
      </p:sp>
      <p:sp>
        <p:nvSpPr>
          <p:cNvPr id="16" name="Shape 14"/>
          <p:cNvSpPr/>
          <p:nvPr/>
        </p:nvSpPr>
        <p:spPr>
          <a:xfrm>
            <a:off x="685800" y="2807208"/>
            <a:ext cx="10817352" cy="10973"/>
          </a:xfrm>
          <a:prstGeom prst="rect">
            <a:avLst/>
          </a:prstGeom>
          <a:solidFill>
            <a:srgbClr val="1A1A1A"/>
          </a:solidFill>
          <a:ln/>
        </p:spPr>
      </p:sp>
      <p:graphicFrame>
        <p:nvGraphicFramePr>
          <p:cNvPr id="17" name="Chart 0" descr=""/>
          <p:cNvGraphicFramePr/>
          <p:nvPr/>
        </p:nvGraphicFramePr>
        <p:xfrm>
          <a:off x="621792" y="3218688"/>
          <a:ext cx="10945368" cy="2679192"/>
        </p:xfrm>
        <a:graphic>
          <a:graphicData uri="http://schemas.openxmlformats.org/drawingml/2006/chart">
            <c:chart xmlns:c="http://schemas.openxmlformats.org/drawingml/2006/chart" r:id="rId2"/>
          </a:graphicData>
        </a:graphic>
      </p:graphicFrame>
      <p:graphicFrame>
        <p:nvGraphicFramePr>
          <p:cNvPr id="18" name="Chart 1" descr=""/>
          <p:cNvGraphicFramePr/>
          <p:nvPr/>
        </p:nvGraphicFramePr>
        <p:xfrm>
          <a:off x="621792" y="3218688"/>
          <a:ext cx="10945368" cy="2679192"/>
        </p:xfrm>
        <a:graphic>
          <a:graphicData uri="http://schemas.openxmlformats.org/drawingml/2006/chart">
            <c:chart xmlns:c="http://schemas.openxmlformats.org/drawingml/2006/chart" r:id="rId3"/>
          </a:graphicData>
        </a:graphic>
      </p:graphicFrame>
      <p:graphicFrame>
        <p:nvGraphicFramePr>
          <p:cNvPr id="19" name="Chart 2" descr=""/>
          <p:cNvGraphicFramePr/>
          <p:nvPr/>
        </p:nvGraphicFramePr>
        <p:xfrm>
          <a:off x="621792" y="3218688"/>
          <a:ext cx="10945368" cy="2679192"/>
        </p:xfrm>
        <a:graphic>
          <a:graphicData uri="http://schemas.openxmlformats.org/drawingml/2006/chart">
            <c:chart xmlns:c="http://schemas.openxmlformats.org/drawingml/2006/chart" r:id="rId4"/>
          </a:graphicData>
        </a:graphic>
      </p:graphicFrame>
      <p:graphicFrame>
        <p:nvGraphicFramePr>
          <p:cNvPr id="20" name="Chart 3" descr=""/>
          <p:cNvGraphicFramePr/>
          <p:nvPr/>
        </p:nvGraphicFramePr>
        <p:xfrm>
          <a:off x="621792" y="3218688"/>
          <a:ext cx="10945368" cy="2679192"/>
        </p:xfrm>
        <a:graphic>
          <a:graphicData uri="http://schemas.openxmlformats.org/drawingml/2006/chart">
            <c:chart xmlns:c="http://schemas.openxmlformats.org/drawingml/2006/chart" r:id="rId5"/>
          </a:graphicData>
        </a:graphic>
      </p:graphicFrame>
      <p:graphicFrame>
        <p:nvGraphicFramePr>
          <p:cNvPr id="21" name="Chart 4" descr=""/>
          <p:cNvGraphicFramePr/>
          <p:nvPr/>
        </p:nvGraphicFramePr>
        <p:xfrm>
          <a:off x="621792" y="3218688"/>
          <a:ext cx="10945368" cy="2679192"/>
        </p:xfrm>
        <a:graphic>
          <a:graphicData uri="http://schemas.openxmlformats.org/drawingml/2006/chart">
            <c:chart xmlns:c="http://schemas.openxmlformats.org/drawingml/2006/chart" r:id="rId6"/>
          </a:graphicData>
        </a:graphic>
      </p:graphicFrame>
      <p:graphicFrame>
        <p:nvGraphicFramePr>
          <p:cNvPr id="22" name="Chart 5" descr=""/>
          <p:cNvGraphicFramePr/>
          <p:nvPr/>
        </p:nvGraphicFramePr>
        <p:xfrm>
          <a:off x="621792" y="3218688"/>
          <a:ext cx="10945368" cy="2679192"/>
        </p:xfrm>
        <a:graphic>
          <a:graphicData uri="http://schemas.openxmlformats.org/drawingml/2006/chart">
            <c:chart xmlns:c="http://schemas.openxmlformats.org/drawingml/2006/chart" r:id="rId7"/>
          </a:graphicData>
        </a:graphic>
      </p:graphicFrame>
      <p:sp>
        <p:nvSpPr>
          <p:cNvPr id="23" name="Shape 15"/>
          <p:cNvSpPr/>
          <p:nvPr/>
        </p:nvSpPr>
        <p:spPr>
          <a:xfrm>
            <a:off x="4951476" y="3049524"/>
            <a:ext cx="310896" cy="45720"/>
          </a:xfrm>
          <a:prstGeom prst="rect">
            <a:avLst/>
          </a:prstGeom>
          <a:solidFill>
            <a:srgbClr val="9AA3AD"/>
          </a:solidFill>
          <a:ln/>
        </p:spPr>
      </p:sp>
      <p:sp>
        <p:nvSpPr>
          <p:cNvPr id="24" name="Shape 16"/>
          <p:cNvSpPr/>
          <p:nvPr/>
        </p:nvSpPr>
        <p:spPr>
          <a:xfrm>
            <a:off x="5052060" y="3017520"/>
            <a:ext cx="109728" cy="109728"/>
          </a:xfrm>
          <a:prstGeom prst="ellipse">
            <a:avLst/>
          </a:prstGeom>
          <a:solidFill>
            <a:srgbClr val="9AA3AD"/>
          </a:solidFill>
          <a:ln/>
        </p:spPr>
      </p:sp>
      <p:sp>
        <p:nvSpPr>
          <p:cNvPr id="25" name="Text 17"/>
          <p:cNvSpPr txBox="1"/>
          <p:nvPr/>
        </p:nvSpPr>
        <p:spPr>
          <a:xfrm>
            <a:off x="5335524" y="2926080"/>
            <a:ext cx="777240" cy="292608"/>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2025</a:t>
            </a:r>
            <a:endParaRPr lang="en-US" sz="1400" dirty="0"/>
          </a:p>
        </p:txBody>
      </p:sp>
      <p:sp>
        <p:nvSpPr>
          <p:cNvPr id="26" name="Shape 18"/>
          <p:cNvSpPr/>
          <p:nvPr/>
        </p:nvSpPr>
        <p:spPr>
          <a:xfrm>
            <a:off x="6185916" y="3049524"/>
            <a:ext cx="310896" cy="45720"/>
          </a:xfrm>
          <a:prstGeom prst="rect">
            <a:avLst/>
          </a:prstGeom>
          <a:solidFill>
            <a:srgbClr val="2587C5"/>
          </a:solidFill>
          <a:ln/>
        </p:spPr>
      </p:sp>
      <p:sp>
        <p:nvSpPr>
          <p:cNvPr id="27" name="Shape 19"/>
          <p:cNvSpPr/>
          <p:nvPr/>
        </p:nvSpPr>
        <p:spPr>
          <a:xfrm>
            <a:off x="6286500" y="3017520"/>
            <a:ext cx="109728" cy="109728"/>
          </a:xfrm>
          <a:prstGeom prst="ellipse">
            <a:avLst/>
          </a:prstGeom>
          <a:solidFill>
            <a:srgbClr val="2587C5"/>
          </a:solidFill>
          <a:ln/>
        </p:spPr>
      </p:sp>
      <p:sp>
        <p:nvSpPr>
          <p:cNvPr id="28" name="Text 20"/>
          <p:cNvSpPr txBox="1"/>
          <p:nvPr/>
        </p:nvSpPr>
        <p:spPr>
          <a:xfrm>
            <a:off x="6569964" y="2926080"/>
            <a:ext cx="777240" cy="292608"/>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2026</a:t>
            </a:r>
            <a:endParaRPr lang="en-US" sz="1400" dirty="0"/>
          </a:p>
        </p:txBody>
      </p:sp>
      <p:sp>
        <p:nvSpPr>
          <p:cNvPr id="29" name="Shape 21"/>
          <p:cNvSpPr/>
          <p:nvPr/>
        </p:nvSpPr>
        <p:spPr>
          <a:xfrm>
            <a:off x="457200" y="6126480"/>
            <a:ext cx="11274552" cy="371856"/>
          </a:xfrm>
          <a:prstGeom prst="rect">
            <a:avLst/>
          </a:prstGeom>
          <a:solidFill>
            <a:srgbClr val="E6F6EE"/>
          </a:solidFill>
          <a:ln/>
        </p:spPr>
      </p:sp>
      <p:sp>
        <p:nvSpPr>
          <p:cNvPr id="30" name="Text 22"/>
          <p:cNvSpPr txBox="1"/>
          <p:nvPr/>
        </p:nvSpPr>
        <p:spPr>
          <a:xfrm>
            <a:off x="658368" y="6144768"/>
            <a:ext cx="10927080" cy="335280"/>
          </a:xfrm>
          <a:prstGeom prst="rect">
            <a:avLst/>
          </a:prstGeom>
          <a:noFill/>
          <a:ln/>
        </p:spPr>
        <p:txBody>
          <a:bodyPr wrap="square" lIns="0" tIns="0" rIns="0" bIns="0" rtlCol="0" anchor="ctr"/>
          <a:lstStyle/>
          <a:p>
            <a:pPr indent="0" marL="0">
              <a:buNone/>
            </a:pPr>
            <a:r>
              <a:rPr lang="en-US" sz="1600" b="1" dirty="0">
                <a:solidFill>
                  <a:srgbClr val="0B7A4A"/>
                </a:solidFill>
                <a:latin typeface="Inter" pitchFamily="34" charset="0"/>
                <a:ea typeface="Inter" pitchFamily="34" charset="-122"/>
                <a:cs typeface="Inter" pitchFamily="34" charset="-120"/>
              </a:rPr>
              <a:t>+$5.11M (+11.3%) year to date; 7 of nine months ahead of 2025, largest gain in September, +$1.61M.</a:t>
            </a:r>
            <a:endParaRPr lang="en-US" sz="1600" dirty="0"/>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FIXED OPS GROSS</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Service Is Sales 2.0</a:t>
            </a:r>
            <a:endParaRPr lang="en-US" sz="2800" dirty="0"/>
          </a:p>
        </p:txBody>
      </p:sp>
      <p:sp>
        <p:nvSpPr>
          <p:cNvPr id="5" name="Shape 3"/>
          <p:cNvSpPr/>
          <p:nvPr/>
        </p:nvSpPr>
        <p:spPr>
          <a:xfrm>
            <a:off x="457200" y="1207008"/>
            <a:ext cx="6400800" cy="4782312"/>
          </a:xfrm>
          <a:prstGeom prst="rect">
            <a:avLst/>
          </a:prstGeom>
          <a:solidFill>
            <a:srgbClr val="FFFFFF"/>
          </a:solidFill>
          <a:ln/>
        </p:spPr>
      </p:sp>
      <p:sp>
        <p:nvSpPr>
          <p:cNvPr id="6" name="Shape 4"/>
          <p:cNvSpPr/>
          <p:nvPr/>
        </p:nvSpPr>
        <p:spPr>
          <a:xfrm>
            <a:off x="7022592" y="1207008"/>
            <a:ext cx="4709160" cy="4782312"/>
          </a:xfrm>
          <a:prstGeom prst="rect">
            <a:avLst/>
          </a:prstGeom>
          <a:solidFill>
            <a:srgbClr val="FFFFFF"/>
          </a:solidFill>
          <a:ln/>
        </p:spPr>
      </p:sp>
      <p:sp>
        <p:nvSpPr>
          <p:cNvPr id="7" name="Text 5"/>
          <p:cNvSpPr txBox="1"/>
          <p:nvPr/>
        </p:nvSpPr>
        <p:spPr>
          <a:xfrm>
            <a:off x="7269480" y="1371600"/>
            <a:ext cx="4297680" cy="310896"/>
          </a:xfrm>
          <a:prstGeom prst="rect">
            <a:avLst/>
          </a:prstGeom>
          <a:noFill/>
          <a:ln/>
        </p:spPr>
        <p:txBody>
          <a:bodyPr wrap="square" lIns="0" tIns="0" rIns="0" bIns="0" rtlCol="0" anchor="ctr"/>
          <a:lstStyle/>
          <a:p>
            <a:pPr indent="0" marL="0">
              <a:buNone/>
            </a:pPr>
            <a:r>
              <a:rPr lang="en-US" sz="1400" b="1" spc="100" kern="0" dirty="0">
                <a:solidFill>
                  <a:srgbClr val="0B2C4A"/>
                </a:solidFill>
                <a:latin typeface="Inter" pitchFamily="34" charset="0"/>
                <a:ea typeface="Inter" pitchFamily="34" charset="-122"/>
                <a:cs typeface="Inter" pitchFamily="34" charset="-120"/>
              </a:rPr>
              <a:t>WHERE WE ARE · JAN–SEP 2026</a:t>
            </a:r>
            <a:endParaRPr lang="en-US" sz="1400" dirty="0"/>
          </a:p>
        </p:txBody>
      </p:sp>
      <p:sp>
        <p:nvSpPr>
          <p:cNvPr id="8" name="Shape 6"/>
          <p:cNvSpPr/>
          <p:nvPr/>
        </p:nvSpPr>
        <p:spPr>
          <a:xfrm>
            <a:off x="7269480" y="1737360"/>
            <a:ext cx="4224528" cy="10973"/>
          </a:xfrm>
          <a:prstGeom prst="rect">
            <a:avLst/>
          </a:prstGeom>
          <a:solidFill>
            <a:srgbClr val="D9D9D9"/>
          </a:solidFill>
          <a:ln/>
        </p:spPr>
      </p:sp>
      <p:sp>
        <p:nvSpPr>
          <p:cNvPr id="9" name="Text 7"/>
          <p:cNvSpPr txBox="1"/>
          <p:nvPr/>
        </p:nvSpPr>
        <p:spPr>
          <a:xfrm>
            <a:off x="713232" y="1417320"/>
            <a:ext cx="5897880" cy="4434840"/>
          </a:xfrm>
          <a:prstGeom prst="rect">
            <a:avLst/>
          </a:prstGeom>
          <a:noFill/>
          <a:ln/>
        </p:spPr>
        <p:txBody>
          <a:bodyPr wrap="square" lIns="0" tIns="0" rIns="0" bIns="0" rtlCol="0" anchor="t"/>
          <a:lstStyle/>
          <a:p>
            <a:pPr marL="228600" indent="-228600">
              <a:spcAft>
                <a:spcPts val="800"/>
              </a:spcAft>
              <a:buSzPct val="100000"/>
              <a:buChar char="•"/>
            </a:pPr>
            <a:r>
              <a:rPr lang="en-US" sz="1600" dirty="0">
                <a:solidFill>
                  <a:srgbClr val="1A1A1A"/>
                </a:solidFill>
                <a:latin typeface="Inter" pitchFamily="34" charset="0"/>
                <a:ea typeface="Inter" pitchFamily="34" charset="-122"/>
                <a:cs typeface="Inter" pitchFamily="34" charset="-120"/>
              </a:rPr>
              <a:t>Sell hours, build value, sell peace of mind</a:t>
            </a:r>
            <a:endParaRPr lang="en-US" sz="1600" dirty="0"/>
          </a:p>
          <a:p>
            <a:pPr marL="228600" indent="-228600">
              <a:spcAft>
                <a:spcPts val="800"/>
              </a:spcAft>
              <a:buSzPct val="100000"/>
              <a:buChar char="•"/>
            </a:pPr>
            <a:r>
              <a:rPr lang="en-US" sz="1600" dirty="0">
                <a:solidFill>
                  <a:srgbClr val="1A1A1A"/>
                </a:solidFill>
                <a:latin typeface="Inter" pitchFamily="34" charset="0"/>
                <a:ea typeface="Inter" pitchFamily="34" charset="-122"/>
                <a:cs typeface="Inter" pitchFamily="34" charset="-120"/>
              </a:rPr>
              <a:t>Drive visits: don't say no to dollars</a:t>
            </a:r>
            <a:endParaRPr lang="en-US" sz="1600" dirty="0"/>
          </a:p>
          <a:p>
            <a:pPr marL="228600" indent="-228600">
              <a:spcAft>
                <a:spcPts val="800"/>
              </a:spcAft>
              <a:buSzPct val="100000"/>
              <a:buChar char="•"/>
            </a:pPr>
            <a:r>
              <a:rPr lang="en-US" sz="1600" dirty="0">
                <a:solidFill>
                  <a:srgbClr val="1A1A1A"/>
                </a:solidFill>
                <a:latin typeface="Inter" pitchFamily="34" charset="0"/>
                <a:ea typeface="Inter" pitchFamily="34" charset="-122"/>
                <a:cs typeface="Inter" pitchFamily="34" charset="-120"/>
              </a:rPr>
              <a:t>Generate throughput: max out hours</a:t>
            </a:r>
            <a:endParaRPr lang="en-US" sz="1600" dirty="0"/>
          </a:p>
          <a:p>
            <a:pPr marL="228600" indent="-228600">
              <a:spcAft>
                <a:spcPts val="800"/>
              </a:spcAft>
              <a:buSzPct val="100000"/>
              <a:buChar char="•"/>
            </a:pPr>
            <a:r>
              <a:rPr lang="en-US" sz="1600" dirty="0">
                <a:solidFill>
                  <a:srgbClr val="1A1A1A"/>
                </a:solidFill>
                <a:latin typeface="Inter" pitchFamily="34" charset="0"/>
                <a:ea typeface="Inter" pitchFamily="34" charset="-122"/>
                <a:cs typeface="Inter" pitchFamily="34" charset="-120"/>
              </a:rPr>
              <a:t>Drive retention and sell cars</a:t>
            </a:r>
            <a:endParaRPr lang="en-US" sz="1600" dirty="0"/>
          </a:p>
          <a:p>
            <a:pPr marL="228600" indent="-228600">
              <a:spcAft>
                <a:spcPts val="800"/>
              </a:spcAft>
              <a:buSzPct val="100000"/>
              <a:buChar char="•"/>
            </a:pPr>
            <a:r>
              <a:rPr lang="en-US" sz="1600" dirty="0">
                <a:solidFill>
                  <a:srgbClr val="1A1A1A"/>
                </a:solidFill>
                <a:latin typeface="Inter" pitchFamily="34" charset="0"/>
                <a:ea typeface="Inter" pitchFamily="34" charset="-122"/>
                <a:cs typeface="Inter" pitchFamily="34" charset="-120"/>
              </a:rPr>
              <a:t>Sales sells the first car. Service sells the next six.</a:t>
            </a:r>
            <a:endParaRPr lang="en-US" sz="1600" dirty="0"/>
          </a:p>
          <a:p>
            <a:pPr marL="228600" indent="-228600">
              <a:spcAft>
                <a:spcPts val="800"/>
              </a:spcAft>
              <a:buSzPct val="100000"/>
              <a:buChar char="•"/>
            </a:pPr>
            <a:r>
              <a:rPr lang="en-US" sz="1600" dirty="0">
                <a:solidFill>
                  <a:srgbClr val="1A1A1A"/>
                </a:solidFill>
                <a:latin typeface="Inter" pitchFamily="34" charset="0"/>
                <a:ea typeface="Inter" pitchFamily="34" charset="-122"/>
                <a:cs typeface="Inter" pitchFamily="34" charset="-120"/>
              </a:rPr>
              <a:t>Every car, every time: follow the processes you have in place, consistently</a:t>
            </a:r>
            <a:endParaRPr lang="en-US" sz="1600" dirty="0"/>
          </a:p>
          <a:p>
            <a:pPr marL="228600" indent="-228600">
              <a:spcAft>
                <a:spcPts val="800"/>
              </a:spcAft>
              <a:buSzPct val="100000"/>
              <a:buChar char="•"/>
            </a:pPr>
            <a:r>
              <a:rPr lang="en-US" sz="1600" dirty="0">
                <a:solidFill>
                  <a:srgbClr val="1A1A1A"/>
                </a:solidFill>
                <a:latin typeface="Inter" pitchFamily="34" charset="0"/>
                <a:ea typeface="Inter" pitchFamily="34" charset="-122"/>
                <a:cs typeface="Inter" pitchFamily="34" charset="-120"/>
              </a:rPr>
              <a:t>Processes only work when they are actively managed</a:t>
            </a:r>
            <a:endParaRPr lang="en-US" sz="1600" dirty="0"/>
          </a:p>
        </p:txBody>
      </p:sp>
      <p:sp>
        <p:nvSpPr>
          <p:cNvPr id="10" name="Shape 8"/>
          <p:cNvSpPr/>
          <p:nvPr/>
        </p:nvSpPr>
        <p:spPr>
          <a:xfrm>
            <a:off x="7269480" y="1920240"/>
            <a:ext cx="54864" cy="1112520"/>
          </a:xfrm>
          <a:prstGeom prst="rect">
            <a:avLst/>
          </a:prstGeom>
          <a:solidFill>
            <a:srgbClr val="12A566"/>
          </a:solidFill>
          <a:ln/>
        </p:spPr>
      </p:sp>
      <p:sp>
        <p:nvSpPr>
          <p:cNvPr id="11" name="Text 9"/>
          <p:cNvSpPr txBox="1"/>
          <p:nvPr/>
        </p:nvSpPr>
        <p:spPr>
          <a:xfrm>
            <a:off x="7452360" y="1874520"/>
            <a:ext cx="4023360" cy="566928"/>
          </a:xfrm>
          <a:prstGeom prst="rect">
            <a:avLst/>
          </a:prstGeom>
          <a:noFill/>
          <a:ln/>
        </p:spPr>
        <p:txBody>
          <a:bodyPr wrap="square" lIns="0" tIns="0" rIns="0" bIns="0" rtlCol="0" anchor="ctr">
            <a:normAutofit/>
          </a:bodyPr>
          <a:lstStyle/>
          <a:p>
            <a:pPr indent="0" marL="0">
              <a:buNone/>
            </a:pPr>
            <a:r>
              <a:rPr lang="en-US" sz="3000" b="1" dirty="0">
                <a:solidFill>
                  <a:srgbClr val="0B7A4A"/>
                </a:solidFill>
                <a:latin typeface="Inter" pitchFamily="34" charset="0"/>
                <a:ea typeface="Inter" pitchFamily="34" charset="-122"/>
                <a:cs typeface="Inter" pitchFamily="34" charset="-120"/>
              </a:rPr>
              <a:t>+$6,297,386</a:t>
            </a:r>
            <a:endParaRPr lang="en-US" sz="3000" dirty="0"/>
          </a:p>
        </p:txBody>
      </p:sp>
      <p:sp>
        <p:nvSpPr>
          <p:cNvPr id="12" name="Text 10"/>
          <p:cNvSpPr txBox="1"/>
          <p:nvPr/>
        </p:nvSpPr>
        <p:spPr>
          <a:xfrm>
            <a:off x="7452360" y="2441448"/>
            <a:ext cx="4023360" cy="609600"/>
          </a:xfrm>
          <a:prstGeom prst="rect">
            <a:avLst/>
          </a:prstGeom>
          <a:noFill/>
          <a:ln/>
        </p:spPr>
        <p:txBody>
          <a:bodyPr wrap="square" lIns="0" tIns="0" rIns="0" bIns="0" rtlCol="0" anchor="t"/>
          <a:lstStyle/>
          <a:p>
            <a:pPr indent="0" marL="0">
              <a:buNone/>
            </a:pPr>
            <a:r>
              <a:rPr lang="en-US" sz="1400" dirty="0">
                <a:solidFill>
                  <a:srgbClr val="1A1A1A"/>
                </a:solidFill>
                <a:latin typeface="Inter" pitchFamily="34" charset="0"/>
                <a:ea typeface="Inter" pitchFamily="34" charset="-122"/>
                <a:cs typeface="Inter" pitchFamily="34" charset="-120"/>
              </a:rPr>
              <a:t>Service gross, up 5.2%, ahead of 2025 in all nine months.</a:t>
            </a:r>
            <a:endParaRPr lang="en-US" sz="1400" dirty="0"/>
          </a:p>
        </p:txBody>
      </p:sp>
      <p:sp>
        <p:nvSpPr>
          <p:cNvPr id="13" name="Shape 11"/>
          <p:cNvSpPr/>
          <p:nvPr/>
        </p:nvSpPr>
        <p:spPr>
          <a:xfrm>
            <a:off x="7269480" y="3261360"/>
            <a:ext cx="54864" cy="1112520"/>
          </a:xfrm>
          <a:prstGeom prst="rect">
            <a:avLst/>
          </a:prstGeom>
          <a:solidFill>
            <a:srgbClr val="12A566"/>
          </a:solidFill>
          <a:ln/>
        </p:spPr>
      </p:sp>
      <p:sp>
        <p:nvSpPr>
          <p:cNvPr id="14" name="Text 12"/>
          <p:cNvSpPr txBox="1"/>
          <p:nvPr/>
        </p:nvSpPr>
        <p:spPr>
          <a:xfrm>
            <a:off x="7452360" y="3215640"/>
            <a:ext cx="4023360" cy="566928"/>
          </a:xfrm>
          <a:prstGeom prst="rect">
            <a:avLst/>
          </a:prstGeom>
          <a:noFill/>
          <a:ln/>
        </p:spPr>
        <p:txBody>
          <a:bodyPr wrap="square" lIns="0" tIns="0" rIns="0" bIns="0" rtlCol="0" anchor="ctr">
            <a:normAutofit/>
          </a:bodyPr>
          <a:lstStyle/>
          <a:p>
            <a:pPr indent="0" marL="0">
              <a:buNone/>
            </a:pPr>
            <a:r>
              <a:rPr lang="en-US" sz="3000" b="1" dirty="0">
                <a:solidFill>
                  <a:srgbClr val="0B7A4A"/>
                </a:solidFill>
                <a:latin typeface="Inter" pitchFamily="34" charset="0"/>
                <a:ea typeface="Inter" pitchFamily="34" charset="-122"/>
                <a:cs typeface="Inter" pitchFamily="34" charset="-120"/>
              </a:rPr>
              <a:t>+$1,171,181</a:t>
            </a:r>
            <a:endParaRPr lang="en-US" sz="3000" dirty="0"/>
          </a:p>
        </p:txBody>
      </p:sp>
      <p:sp>
        <p:nvSpPr>
          <p:cNvPr id="15" name="Text 13"/>
          <p:cNvSpPr txBox="1"/>
          <p:nvPr/>
        </p:nvSpPr>
        <p:spPr>
          <a:xfrm>
            <a:off x="7452360" y="3782568"/>
            <a:ext cx="4023360" cy="609600"/>
          </a:xfrm>
          <a:prstGeom prst="rect">
            <a:avLst/>
          </a:prstGeom>
          <a:noFill/>
          <a:ln/>
        </p:spPr>
        <p:txBody>
          <a:bodyPr wrap="square" lIns="0" tIns="0" rIns="0" bIns="0" rtlCol="0" anchor="t"/>
          <a:lstStyle/>
          <a:p>
            <a:pPr indent="0" marL="0">
              <a:buNone/>
            </a:pPr>
            <a:r>
              <a:rPr lang="en-US" sz="1400" dirty="0">
                <a:solidFill>
                  <a:srgbClr val="1A1A1A"/>
                </a:solidFill>
                <a:latin typeface="Inter" pitchFamily="34" charset="0"/>
                <a:ea typeface="Inter" pitchFamily="34" charset="-122"/>
                <a:cs typeface="Inter" pitchFamily="34" charset="-120"/>
              </a:rPr>
              <a:t>Parts gross, up 1.9%, ahead of 2025 in six of nine months.</a:t>
            </a:r>
            <a:endParaRPr lang="en-US" sz="1400" dirty="0"/>
          </a:p>
        </p:txBody>
      </p:sp>
      <p:sp>
        <p:nvSpPr>
          <p:cNvPr id="16" name="Shape 14"/>
          <p:cNvSpPr/>
          <p:nvPr/>
        </p:nvSpPr>
        <p:spPr>
          <a:xfrm>
            <a:off x="7269480" y="4602480"/>
            <a:ext cx="54864" cy="1112520"/>
          </a:xfrm>
          <a:prstGeom prst="rect">
            <a:avLst/>
          </a:prstGeom>
          <a:solidFill>
            <a:srgbClr val="12A566"/>
          </a:solidFill>
          <a:ln/>
        </p:spPr>
      </p:sp>
      <p:sp>
        <p:nvSpPr>
          <p:cNvPr id="17" name="Text 15"/>
          <p:cNvSpPr txBox="1"/>
          <p:nvPr/>
        </p:nvSpPr>
        <p:spPr>
          <a:xfrm>
            <a:off x="7452360" y="4556760"/>
            <a:ext cx="4023360" cy="566928"/>
          </a:xfrm>
          <a:prstGeom prst="rect">
            <a:avLst/>
          </a:prstGeom>
          <a:noFill/>
          <a:ln/>
        </p:spPr>
        <p:txBody>
          <a:bodyPr wrap="square" lIns="0" tIns="0" rIns="0" bIns="0" rtlCol="0" anchor="ctr">
            <a:normAutofit/>
          </a:bodyPr>
          <a:lstStyle/>
          <a:p>
            <a:pPr indent="0" marL="0">
              <a:buNone/>
            </a:pPr>
            <a:r>
              <a:rPr lang="en-US" sz="3000" b="1" dirty="0">
                <a:solidFill>
                  <a:srgbClr val="0B7A4A"/>
                </a:solidFill>
                <a:latin typeface="Inter" pitchFamily="34" charset="0"/>
                <a:ea typeface="Inter" pitchFamily="34" charset="-122"/>
                <a:cs typeface="Inter" pitchFamily="34" charset="-120"/>
              </a:rPr>
              <a:t>$20.98M</a:t>
            </a:r>
            <a:endParaRPr lang="en-US" sz="3000" dirty="0"/>
          </a:p>
        </p:txBody>
      </p:sp>
      <p:sp>
        <p:nvSpPr>
          <p:cNvPr id="18" name="Text 16"/>
          <p:cNvSpPr txBox="1"/>
          <p:nvPr/>
        </p:nvSpPr>
        <p:spPr>
          <a:xfrm>
            <a:off x="7452360" y="5123688"/>
            <a:ext cx="4023360" cy="609600"/>
          </a:xfrm>
          <a:prstGeom prst="rect">
            <a:avLst/>
          </a:prstGeom>
          <a:noFill/>
          <a:ln/>
        </p:spPr>
        <p:txBody>
          <a:bodyPr wrap="square" lIns="0" tIns="0" rIns="0" bIns="0" rtlCol="0" anchor="t"/>
          <a:lstStyle/>
          <a:p>
            <a:pPr indent="0" marL="0">
              <a:buNone/>
            </a:pPr>
            <a:r>
              <a:rPr lang="en-US" sz="1400" dirty="0">
                <a:solidFill>
                  <a:srgbClr val="1A1A1A"/>
                </a:solidFill>
                <a:latin typeface="Inter" pitchFamily="34" charset="0"/>
                <a:ea typeface="Inter" pitchFamily="34" charset="-122"/>
                <a:cs typeface="Inter" pitchFamily="34" charset="-120"/>
              </a:rPr>
              <a:t>Fixed ops gross a month, January through September 2026.</a:t>
            </a:r>
            <a:endParaRPr lang="en-US" sz="1400" dirty="0"/>
          </a:p>
        </p:txBody>
      </p:sp>
      <p:sp>
        <p:nvSpPr>
          <p:cNvPr id="19" name="Shape 17"/>
          <p:cNvSpPr/>
          <p:nvPr/>
        </p:nvSpPr>
        <p:spPr>
          <a:xfrm>
            <a:off x="457200" y="6126480"/>
            <a:ext cx="11274552" cy="348996"/>
          </a:xfrm>
          <a:prstGeom prst="rect">
            <a:avLst/>
          </a:prstGeom>
          <a:solidFill>
            <a:srgbClr val="EDF4FA"/>
          </a:solidFill>
          <a:ln/>
        </p:spPr>
      </p:sp>
      <p:sp>
        <p:nvSpPr>
          <p:cNvPr id="20" name="Text 18"/>
          <p:cNvSpPr txBox="1"/>
          <p:nvPr/>
        </p:nvSpPr>
        <p:spPr>
          <a:xfrm>
            <a:off x="658368" y="6144768"/>
            <a:ext cx="10927080" cy="312420"/>
          </a:xfrm>
          <a:prstGeom prst="rect">
            <a:avLst/>
          </a:prstGeom>
          <a:noFill/>
          <a:ln/>
        </p:spPr>
        <p:txBody>
          <a:bodyPr wrap="square" lIns="0" tIns="0" rIns="0" bIns="0" rtlCol="0" anchor="ctr"/>
          <a:lstStyle/>
          <a:p>
            <a:pPr indent="0" marL="0">
              <a:buNone/>
            </a:pPr>
            <a:r>
              <a:rPr lang="en-US" sz="1450" b="1" dirty="0">
                <a:solidFill>
                  <a:srgbClr val="0B2C4A"/>
                </a:solidFill>
                <a:latin typeface="Inter" pitchFamily="34" charset="0"/>
                <a:ea typeface="Inter" pitchFamily="34" charset="-122"/>
                <a:cs typeface="Inter" pitchFamily="34" charset="-120"/>
              </a:rPr>
              <a:t>The ask: run service like a sales department: every visit is a chance to sell the next hour and the next car.</a:t>
            </a:r>
            <a:endParaRPr lang="en-US" sz="1450" dirty="0"/>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FIXED OPS GROSS</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Total Gross Profit - Fixed Ops</a:t>
            </a:r>
            <a:endParaRPr lang="en-US" sz="2800" dirty="0"/>
          </a:p>
        </p:txBody>
      </p:sp>
      <p:sp>
        <p:nvSpPr>
          <p:cNvPr id="5" name="Shape 3"/>
          <p:cNvSpPr/>
          <p:nvPr/>
        </p:nvSpPr>
        <p:spPr>
          <a:xfrm>
            <a:off x="457200" y="1207008"/>
            <a:ext cx="11274552" cy="1005840"/>
          </a:xfrm>
          <a:prstGeom prst="rect">
            <a:avLst/>
          </a:prstGeom>
          <a:solidFill>
            <a:srgbClr val="FFFFFF"/>
          </a:solidFill>
          <a:ln/>
        </p:spPr>
      </p:sp>
      <p:sp>
        <p:nvSpPr>
          <p:cNvPr id="6" name="Text 4"/>
          <p:cNvSpPr txBox="1"/>
          <p:nvPr/>
        </p:nvSpPr>
        <p:spPr>
          <a:xfrm>
            <a:off x="685800" y="1335024"/>
            <a:ext cx="2651760" cy="237744"/>
          </a:xfrm>
          <a:prstGeom prst="rect">
            <a:avLst/>
          </a:prstGeom>
          <a:noFill/>
          <a:ln/>
        </p:spPr>
        <p:txBody>
          <a:bodyPr wrap="square" lIns="0" tIns="0" rIns="0" bIns="0" rtlCol="0" anchor="ctr"/>
          <a:lstStyle/>
          <a:p>
            <a:pPr indent="0" marL="0">
              <a:buNone/>
            </a:pPr>
            <a:r>
              <a:rPr lang="en-US" sz="1400" spc="90" kern="0" dirty="0">
                <a:solidFill>
                  <a:srgbClr val="595959"/>
                </a:solidFill>
                <a:latin typeface="Inter" pitchFamily="34" charset="0"/>
                <a:ea typeface="Inter" pitchFamily="34" charset="-122"/>
                <a:cs typeface="Inter" pitchFamily="34" charset="-120"/>
              </a:rPr>
              <a:t>2025 YTD</a:t>
            </a:r>
            <a:endParaRPr lang="en-US" sz="1400" dirty="0"/>
          </a:p>
        </p:txBody>
      </p:sp>
      <p:sp>
        <p:nvSpPr>
          <p:cNvPr id="7" name="Text 5"/>
          <p:cNvSpPr txBox="1"/>
          <p:nvPr/>
        </p:nvSpPr>
        <p:spPr>
          <a:xfrm>
            <a:off x="685800" y="1554480"/>
            <a:ext cx="2697480" cy="548640"/>
          </a:xfrm>
          <a:prstGeom prst="rect">
            <a:avLst/>
          </a:prstGeom>
          <a:noFill/>
          <a:ln/>
        </p:spPr>
        <p:txBody>
          <a:bodyPr wrap="square" lIns="0" tIns="0" rIns="0" bIns="0" rtlCol="0" anchor="ctr"/>
          <a:lstStyle/>
          <a:p>
            <a:pPr indent="0" marL="0">
              <a:buNone/>
            </a:pPr>
            <a:r>
              <a:rPr lang="en-US" sz="3000" b="1" dirty="0">
                <a:solidFill>
                  <a:srgbClr val="1A1A1A"/>
                </a:solidFill>
                <a:latin typeface="Inter" pitchFamily="34" charset="0"/>
                <a:ea typeface="Inter" pitchFamily="34" charset="-122"/>
                <a:cs typeface="Inter" pitchFamily="34" charset="-120"/>
              </a:rPr>
              <a:t>$181.33M</a:t>
            </a:r>
            <a:endParaRPr lang="en-US" sz="3000" dirty="0"/>
          </a:p>
        </p:txBody>
      </p:sp>
      <p:sp>
        <p:nvSpPr>
          <p:cNvPr id="8" name="Text 6"/>
          <p:cNvSpPr txBox="1"/>
          <p:nvPr/>
        </p:nvSpPr>
        <p:spPr>
          <a:xfrm>
            <a:off x="3474720" y="1335024"/>
            <a:ext cx="2651760" cy="237744"/>
          </a:xfrm>
          <a:prstGeom prst="rect">
            <a:avLst/>
          </a:prstGeom>
          <a:noFill/>
          <a:ln/>
        </p:spPr>
        <p:txBody>
          <a:bodyPr wrap="square" lIns="0" tIns="0" rIns="0" bIns="0" rtlCol="0" anchor="ctr"/>
          <a:lstStyle/>
          <a:p>
            <a:pPr indent="0" marL="0">
              <a:buNone/>
            </a:pPr>
            <a:r>
              <a:rPr lang="en-US" sz="1400" spc="90" kern="0" dirty="0">
                <a:solidFill>
                  <a:srgbClr val="595959"/>
                </a:solidFill>
                <a:latin typeface="Inter" pitchFamily="34" charset="0"/>
                <a:ea typeface="Inter" pitchFamily="34" charset="-122"/>
                <a:cs typeface="Inter" pitchFamily="34" charset="-120"/>
              </a:rPr>
              <a:t>2026 YTD</a:t>
            </a:r>
            <a:endParaRPr lang="en-US" sz="1400" dirty="0"/>
          </a:p>
        </p:txBody>
      </p:sp>
      <p:sp>
        <p:nvSpPr>
          <p:cNvPr id="9" name="Text 7"/>
          <p:cNvSpPr txBox="1"/>
          <p:nvPr/>
        </p:nvSpPr>
        <p:spPr>
          <a:xfrm>
            <a:off x="3474720" y="1554480"/>
            <a:ext cx="2697480" cy="548640"/>
          </a:xfrm>
          <a:prstGeom prst="rect">
            <a:avLst/>
          </a:prstGeom>
          <a:noFill/>
          <a:ln/>
        </p:spPr>
        <p:txBody>
          <a:bodyPr wrap="square" lIns="0" tIns="0" rIns="0" bIns="0" rtlCol="0" anchor="ctr"/>
          <a:lstStyle/>
          <a:p>
            <a:pPr indent="0" marL="0">
              <a:buNone/>
            </a:pPr>
            <a:r>
              <a:rPr lang="en-US" sz="3000" b="1" dirty="0">
                <a:solidFill>
                  <a:srgbClr val="1A1A1A"/>
                </a:solidFill>
                <a:latin typeface="Inter" pitchFamily="34" charset="0"/>
                <a:ea typeface="Inter" pitchFamily="34" charset="-122"/>
                <a:cs typeface="Inter" pitchFamily="34" charset="-120"/>
              </a:rPr>
              <a:t>$188.80M</a:t>
            </a:r>
            <a:endParaRPr lang="en-US" sz="3000" dirty="0"/>
          </a:p>
        </p:txBody>
      </p:sp>
      <p:sp>
        <p:nvSpPr>
          <p:cNvPr id="10" name="Text 8"/>
          <p:cNvSpPr txBox="1"/>
          <p:nvPr/>
        </p:nvSpPr>
        <p:spPr>
          <a:xfrm>
            <a:off x="6263640" y="1335024"/>
            <a:ext cx="2651760" cy="237744"/>
          </a:xfrm>
          <a:prstGeom prst="rect">
            <a:avLst/>
          </a:prstGeom>
          <a:noFill/>
          <a:ln/>
        </p:spPr>
        <p:txBody>
          <a:bodyPr wrap="square" lIns="0" tIns="0" rIns="0" bIns="0" rtlCol="0" anchor="ctr"/>
          <a:lstStyle/>
          <a:p>
            <a:pPr indent="0" marL="0">
              <a:buNone/>
            </a:pPr>
            <a:r>
              <a:rPr lang="en-US" sz="1400" spc="90" kern="0" dirty="0">
                <a:solidFill>
                  <a:srgbClr val="595959"/>
                </a:solidFill>
                <a:latin typeface="Inter" pitchFamily="34" charset="0"/>
                <a:ea typeface="Inter" pitchFamily="34" charset="-122"/>
                <a:cs typeface="Inter" pitchFamily="34" charset="-120"/>
              </a:rPr>
              <a:t>VARIANCE</a:t>
            </a:r>
            <a:endParaRPr lang="en-US" sz="1400" dirty="0"/>
          </a:p>
        </p:txBody>
      </p:sp>
      <p:sp>
        <p:nvSpPr>
          <p:cNvPr id="11" name="Text 9"/>
          <p:cNvSpPr txBox="1"/>
          <p:nvPr/>
        </p:nvSpPr>
        <p:spPr>
          <a:xfrm>
            <a:off x="6263640" y="1554480"/>
            <a:ext cx="2697480" cy="548640"/>
          </a:xfrm>
          <a:prstGeom prst="rect">
            <a:avLst/>
          </a:prstGeom>
          <a:noFill/>
          <a:ln/>
        </p:spPr>
        <p:txBody>
          <a:bodyPr wrap="square" lIns="0" tIns="0" rIns="0" bIns="0" rtlCol="0" anchor="ctr"/>
          <a:lstStyle/>
          <a:p>
            <a:pPr indent="0" marL="0">
              <a:buNone/>
            </a:pPr>
            <a:r>
              <a:rPr lang="en-US" sz="3000" b="1" dirty="0">
                <a:solidFill>
                  <a:srgbClr val="0B7A4A"/>
                </a:solidFill>
                <a:latin typeface="Inter" pitchFamily="34" charset="0"/>
                <a:ea typeface="Inter" pitchFamily="34" charset="-122"/>
                <a:cs typeface="Inter" pitchFamily="34" charset="-120"/>
              </a:rPr>
              <a:t>+$7.47M</a:t>
            </a:r>
            <a:endParaRPr lang="en-US" sz="3000" dirty="0"/>
          </a:p>
        </p:txBody>
      </p:sp>
      <p:sp>
        <p:nvSpPr>
          <p:cNvPr id="12" name="Text 10"/>
          <p:cNvSpPr txBox="1"/>
          <p:nvPr/>
        </p:nvSpPr>
        <p:spPr>
          <a:xfrm>
            <a:off x="9052560" y="1335024"/>
            <a:ext cx="2651760" cy="237744"/>
          </a:xfrm>
          <a:prstGeom prst="rect">
            <a:avLst/>
          </a:prstGeom>
          <a:noFill/>
          <a:ln/>
        </p:spPr>
        <p:txBody>
          <a:bodyPr wrap="square" lIns="0" tIns="0" rIns="0" bIns="0" rtlCol="0" anchor="ctr"/>
          <a:lstStyle/>
          <a:p>
            <a:pPr indent="0" marL="0">
              <a:buNone/>
            </a:pPr>
            <a:r>
              <a:rPr lang="en-US" sz="1400" spc="90" kern="0" dirty="0">
                <a:solidFill>
                  <a:srgbClr val="595959"/>
                </a:solidFill>
                <a:latin typeface="Inter" pitchFamily="34" charset="0"/>
                <a:ea typeface="Inter" pitchFamily="34" charset="-122"/>
                <a:cs typeface="Inter" pitchFamily="34" charset="-120"/>
              </a:rPr>
              <a:t>VAR %</a:t>
            </a:r>
            <a:endParaRPr lang="en-US" sz="1400" dirty="0"/>
          </a:p>
        </p:txBody>
      </p:sp>
      <p:sp>
        <p:nvSpPr>
          <p:cNvPr id="13" name="Text 11"/>
          <p:cNvSpPr txBox="1"/>
          <p:nvPr/>
        </p:nvSpPr>
        <p:spPr>
          <a:xfrm>
            <a:off x="9052560" y="1554480"/>
            <a:ext cx="2697480" cy="548640"/>
          </a:xfrm>
          <a:prstGeom prst="rect">
            <a:avLst/>
          </a:prstGeom>
          <a:noFill/>
          <a:ln/>
        </p:spPr>
        <p:txBody>
          <a:bodyPr wrap="square" lIns="0" tIns="0" rIns="0" bIns="0" rtlCol="0" anchor="ctr"/>
          <a:lstStyle/>
          <a:p>
            <a:pPr indent="0" marL="0">
              <a:buNone/>
            </a:pPr>
            <a:r>
              <a:rPr lang="en-US" sz="3000" b="1" dirty="0">
                <a:solidFill>
                  <a:srgbClr val="0B7A4A"/>
                </a:solidFill>
                <a:latin typeface="Inter" pitchFamily="34" charset="0"/>
                <a:ea typeface="Inter" pitchFamily="34" charset="-122"/>
                <a:cs typeface="Inter" pitchFamily="34" charset="-120"/>
              </a:rPr>
              <a:t>+4.1%</a:t>
            </a:r>
            <a:endParaRPr lang="en-US" sz="3000" dirty="0"/>
          </a:p>
        </p:txBody>
      </p:sp>
      <p:sp>
        <p:nvSpPr>
          <p:cNvPr id="14" name="Shape 12"/>
          <p:cNvSpPr/>
          <p:nvPr/>
        </p:nvSpPr>
        <p:spPr>
          <a:xfrm>
            <a:off x="457200" y="2322576"/>
            <a:ext cx="11274552" cy="3666744"/>
          </a:xfrm>
          <a:prstGeom prst="rect">
            <a:avLst/>
          </a:prstGeom>
          <a:solidFill>
            <a:srgbClr val="FFFFFF"/>
          </a:solidFill>
          <a:ln/>
        </p:spPr>
      </p:sp>
      <p:sp>
        <p:nvSpPr>
          <p:cNvPr id="15" name="Text 13"/>
          <p:cNvSpPr txBox="1"/>
          <p:nvPr/>
        </p:nvSpPr>
        <p:spPr>
          <a:xfrm>
            <a:off x="685800" y="2459736"/>
            <a:ext cx="10817352" cy="292608"/>
          </a:xfrm>
          <a:prstGeom prst="rect">
            <a:avLst/>
          </a:prstGeom>
          <a:noFill/>
          <a:ln/>
        </p:spPr>
        <p:txBody>
          <a:bodyPr wrap="square" lIns="0" tIns="0" rIns="0" bIns="0" rtlCol="0" anchor="ctr"/>
          <a:lstStyle/>
          <a:p>
            <a:pPr indent="0" marL="0">
              <a:buNone/>
            </a:pPr>
            <a:r>
              <a:rPr lang="en-US" sz="1500" dirty="0">
                <a:solidFill>
                  <a:srgbClr val="1A1A1A"/>
                </a:solidFill>
                <a:latin typeface="Inter" pitchFamily="34" charset="0"/>
                <a:ea typeface="Inter" pitchFamily="34" charset="-122"/>
                <a:cs typeface="Inter" pitchFamily="34" charset="-120"/>
              </a:rPr>
              <a:t>Fixed Ops gross by month, 2025 against 2026 ($M)</a:t>
            </a:r>
            <a:endParaRPr lang="en-US" sz="1500" dirty="0"/>
          </a:p>
        </p:txBody>
      </p:sp>
      <p:sp>
        <p:nvSpPr>
          <p:cNvPr id="16" name="Shape 14"/>
          <p:cNvSpPr/>
          <p:nvPr/>
        </p:nvSpPr>
        <p:spPr>
          <a:xfrm>
            <a:off x="685800" y="2807208"/>
            <a:ext cx="10817352" cy="10973"/>
          </a:xfrm>
          <a:prstGeom prst="rect">
            <a:avLst/>
          </a:prstGeom>
          <a:solidFill>
            <a:srgbClr val="1A1A1A"/>
          </a:solidFill>
          <a:ln/>
        </p:spPr>
      </p:sp>
      <p:graphicFrame>
        <p:nvGraphicFramePr>
          <p:cNvPr id="17" name="Chart 0" descr=""/>
          <p:cNvGraphicFramePr/>
          <p:nvPr/>
        </p:nvGraphicFramePr>
        <p:xfrm>
          <a:off x="621792" y="3218688"/>
          <a:ext cx="10945368" cy="2679192"/>
        </p:xfrm>
        <a:graphic>
          <a:graphicData uri="http://schemas.openxmlformats.org/drawingml/2006/chart">
            <c:chart xmlns:c="http://schemas.openxmlformats.org/drawingml/2006/chart" r:id="rId2"/>
          </a:graphicData>
        </a:graphic>
      </p:graphicFrame>
      <p:graphicFrame>
        <p:nvGraphicFramePr>
          <p:cNvPr id="18" name="Chart 1" descr=""/>
          <p:cNvGraphicFramePr/>
          <p:nvPr/>
        </p:nvGraphicFramePr>
        <p:xfrm>
          <a:off x="621792" y="3218688"/>
          <a:ext cx="10945368" cy="2679192"/>
        </p:xfrm>
        <a:graphic>
          <a:graphicData uri="http://schemas.openxmlformats.org/drawingml/2006/chart">
            <c:chart xmlns:c="http://schemas.openxmlformats.org/drawingml/2006/chart" r:id="rId3"/>
          </a:graphicData>
        </a:graphic>
      </p:graphicFrame>
      <p:graphicFrame>
        <p:nvGraphicFramePr>
          <p:cNvPr id="19" name="Chart 2" descr=""/>
          <p:cNvGraphicFramePr/>
          <p:nvPr/>
        </p:nvGraphicFramePr>
        <p:xfrm>
          <a:off x="621792" y="3218688"/>
          <a:ext cx="10945368" cy="2679192"/>
        </p:xfrm>
        <a:graphic>
          <a:graphicData uri="http://schemas.openxmlformats.org/drawingml/2006/chart">
            <c:chart xmlns:c="http://schemas.openxmlformats.org/drawingml/2006/chart" r:id="rId4"/>
          </a:graphicData>
        </a:graphic>
      </p:graphicFrame>
      <p:graphicFrame>
        <p:nvGraphicFramePr>
          <p:cNvPr id="20" name="Chart 3" descr=""/>
          <p:cNvGraphicFramePr/>
          <p:nvPr/>
        </p:nvGraphicFramePr>
        <p:xfrm>
          <a:off x="621792" y="3218688"/>
          <a:ext cx="10945368" cy="2679192"/>
        </p:xfrm>
        <a:graphic>
          <a:graphicData uri="http://schemas.openxmlformats.org/drawingml/2006/chart">
            <c:chart xmlns:c="http://schemas.openxmlformats.org/drawingml/2006/chart" r:id="rId5"/>
          </a:graphicData>
        </a:graphic>
      </p:graphicFrame>
      <p:graphicFrame>
        <p:nvGraphicFramePr>
          <p:cNvPr id="21" name="Chart 4" descr=""/>
          <p:cNvGraphicFramePr/>
          <p:nvPr/>
        </p:nvGraphicFramePr>
        <p:xfrm>
          <a:off x="621792" y="3218688"/>
          <a:ext cx="10945368" cy="2679192"/>
        </p:xfrm>
        <a:graphic>
          <a:graphicData uri="http://schemas.openxmlformats.org/drawingml/2006/chart">
            <c:chart xmlns:c="http://schemas.openxmlformats.org/drawingml/2006/chart" r:id="rId6"/>
          </a:graphicData>
        </a:graphic>
      </p:graphicFrame>
      <p:graphicFrame>
        <p:nvGraphicFramePr>
          <p:cNvPr id="22" name="Chart 5" descr=""/>
          <p:cNvGraphicFramePr/>
          <p:nvPr/>
        </p:nvGraphicFramePr>
        <p:xfrm>
          <a:off x="621792" y="3218688"/>
          <a:ext cx="10945368" cy="2679192"/>
        </p:xfrm>
        <a:graphic>
          <a:graphicData uri="http://schemas.openxmlformats.org/drawingml/2006/chart">
            <c:chart xmlns:c="http://schemas.openxmlformats.org/drawingml/2006/chart" r:id="rId7"/>
          </a:graphicData>
        </a:graphic>
      </p:graphicFrame>
      <p:sp>
        <p:nvSpPr>
          <p:cNvPr id="23" name="Shape 15"/>
          <p:cNvSpPr/>
          <p:nvPr/>
        </p:nvSpPr>
        <p:spPr>
          <a:xfrm>
            <a:off x="4951476" y="3049524"/>
            <a:ext cx="310896" cy="45720"/>
          </a:xfrm>
          <a:prstGeom prst="rect">
            <a:avLst/>
          </a:prstGeom>
          <a:solidFill>
            <a:srgbClr val="9AA3AD"/>
          </a:solidFill>
          <a:ln/>
        </p:spPr>
      </p:sp>
      <p:sp>
        <p:nvSpPr>
          <p:cNvPr id="24" name="Shape 16"/>
          <p:cNvSpPr/>
          <p:nvPr/>
        </p:nvSpPr>
        <p:spPr>
          <a:xfrm>
            <a:off x="5052060" y="3017520"/>
            <a:ext cx="109728" cy="109728"/>
          </a:xfrm>
          <a:prstGeom prst="ellipse">
            <a:avLst/>
          </a:prstGeom>
          <a:solidFill>
            <a:srgbClr val="9AA3AD"/>
          </a:solidFill>
          <a:ln/>
        </p:spPr>
      </p:sp>
      <p:sp>
        <p:nvSpPr>
          <p:cNvPr id="25" name="Text 17"/>
          <p:cNvSpPr txBox="1"/>
          <p:nvPr/>
        </p:nvSpPr>
        <p:spPr>
          <a:xfrm>
            <a:off x="5335524" y="2926080"/>
            <a:ext cx="777240" cy="292608"/>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2025</a:t>
            </a:r>
            <a:endParaRPr lang="en-US" sz="1400" dirty="0"/>
          </a:p>
        </p:txBody>
      </p:sp>
      <p:sp>
        <p:nvSpPr>
          <p:cNvPr id="26" name="Shape 18"/>
          <p:cNvSpPr/>
          <p:nvPr/>
        </p:nvSpPr>
        <p:spPr>
          <a:xfrm>
            <a:off x="6185916" y="3049524"/>
            <a:ext cx="310896" cy="45720"/>
          </a:xfrm>
          <a:prstGeom prst="rect">
            <a:avLst/>
          </a:prstGeom>
          <a:solidFill>
            <a:srgbClr val="2587C5"/>
          </a:solidFill>
          <a:ln/>
        </p:spPr>
      </p:sp>
      <p:sp>
        <p:nvSpPr>
          <p:cNvPr id="27" name="Shape 19"/>
          <p:cNvSpPr/>
          <p:nvPr/>
        </p:nvSpPr>
        <p:spPr>
          <a:xfrm>
            <a:off x="6286500" y="3017520"/>
            <a:ext cx="109728" cy="109728"/>
          </a:xfrm>
          <a:prstGeom prst="ellipse">
            <a:avLst/>
          </a:prstGeom>
          <a:solidFill>
            <a:srgbClr val="2587C5"/>
          </a:solidFill>
          <a:ln/>
        </p:spPr>
      </p:sp>
      <p:sp>
        <p:nvSpPr>
          <p:cNvPr id="28" name="Text 20"/>
          <p:cNvSpPr txBox="1"/>
          <p:nvPr/>
        </p:nvSpPr>
        <p:spPr>
          <a:xfrm>
            <a:off x="6569964" y="2926080"/>
            <a:ext cx="777240" cy="292608"/>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2026</a:t>
            </a:r>
            <a:endParaRPr lang="en-US" sz="1400" dirty="0"/>
          </a:p>
        </p:txBody>
      </p:sp>
      <p:sp>
        <p:nvSpPr>
          <p:cNvPr id="29" name="Shape 21"/>
          <p:cNvSpPr/>
          <p:nvPr/>
        </p:nvSpPr>
        <p:spPr>
          <a:xfrm>
            <a:off x="457200" y="6126480"/>
            <a:ext cx="11274552" cy="356616"/>
          </a:xfrm>
          <a:prstGeom prst="rect">
            <a:avLst/>
          </a:prstGeom>
          <a:solidFill>
            <a:srgbClr val="E6F6EE"/>
          </a:solidFill>
          <a:ln/>
        </p:spPr>
      </p:sp>
      <p:sp>
        <p:nvSpPr>
          <p:cNvPr id="30" name="Text 22"/>
          <p:cNvSpPr txBox="1"/>
          <p:nvPr/>
        </p:nvSpPr>
        <p:spPr>
          <a:xfrm>
            <a:off x="658368" y="6144768"/>
            <a:ext cx="10927080" cy="320040"/>
          </a:xfrm>
          <a:prstGeom prst="rect">
            <a:avLst/>
          </a:prstGeom>
          <a:noFill/>
          <a:ln/>
        </p:spPr>
        <p:txBody>
          <a:bodyPr wrap="square" lIns="0" tIns="0" rIns="0" bIns="0" rtlCol="0" anchor="ctr"/>
          <a:lstStyle/>
          <a:p>
            <a:pPr indent="0" marL="0">
              <a:buNone/>
            </a:pPr>
            <a:r>
              <a:rPr lang="en-US" sz="1500" b="1" dirty="0">
                <a:solidFill>
                  <a:srgbClr val="0B7A4A"/>
                </a:solidFill>
                <a:latin typeface="Inter" pitchFamily="34" charset="0"/>
                <a:ea typeface="Inter" pitchFamily="34" charset="-122"/>
                <a:cs typeface="Inter" pitchFamily="34" charset="-120"/>
              </a:rPr>
              <a:t>+$7,468,567 (4.1%) year to date; 6 of nine months ahead of 2025, largest gain in September, +$2,098,497.</a:t>
            </a:r>
            <a:endParaRPr lang="en-US" sz="1500" dirty="0"/>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FIXED OPS GROSS</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Total Gross Profit - Service</a:t>
            </a:r>
            <a:endParaRPr lang="en-US" sz="2800" dirty="0"/>
          </a:p>
        </p:txBody>
      </p:sp>
      <p:sp>
        <p:nvSpPr>
          <p:cNvPr id="5" name="Shape 3"/>
          <p:cNvSpPr/>
          <p:nvPr/>
        </p:nvSpPr>
        <p:spPr>
          <a:xfrm>
            <a:off x="457200" y="1207008"/>
            <a:ext cx="11274552" cy="1005840"/>
          </a:xfrm>
          <a:prstGeom prst="rect">
            <a:avLst/>
          </a:prstGeom>
          <a:solidFill>
            <a:srgbClr val="FFFFFF"/>
          </a:solidFill>
          <a:ln/>
        </p:spPr>
      </p:sp>
      <p:sp>
        <p:nvSpPr>
          <p:cNvPr id="6" name="Text 4"/>
          <p:cNvSpPr txBox="1"/>
          <p:nvPr/>
        </p:nvSpPr>
        <p:spPr>
          <a:xfrm>
            <a:off x="685800" y="1335024"/>
            <a:ext cx="2651760" cy="237744"/>
          </a:xfrm>
          <a:prstGeom prst="rect">
            <a:avLst/>
          </a:prstGeom>
          <a:noFill/>
          <a:ln/>
        </p:spPr>
        <p:txBody>
          <a:bodyPr wrap="square" lIns="0" tIns="0" rIns="0" bIns="0" rtlCol="0" anchor="ctr"/>
          <a:lstStyle/>
          <a:p>
            <a:pPr indent="0" marL="0">
              <a:buNone/>
            </a:pPr>
            <a:r>
              <a:rPr lang="en-US" sz="1400" spc="90" kern="0" dirty="0">
                <a:solidFill>
                  <a:srgbClr val="595959"/>
                </a:solidFill>
                <a:latin typeface="Inter" pitchFamily="34" charset="0"/>
                <a:ea typeface="Inter" pitchFamily="34" charset="-122"/>
                <a:cs typeface="Inter" pitchFamily="34" charset="-120"/>
              </a:rPr>
              <a:t>2025 YTD</a:t>
            </a:r>
            <a:endParaRPr lang="en-US" sz="1400" dirty="0"/>
          </a:p>
        </p:txBody>
      </p:sp>
      <p:sp>
        <p:nvSpPr>
          <p:cNvPr id="7" name="Text 5"/>
          <p:cNvSpPr txBox="1"/>
          <p:nvPr/>
        </p:nvSpPr>
        <p:spPr>
          <a:xfrm>
            <a:off x="685800" y="1554480"/>
            <a:ext cx="2697480" cy="548640"/>
          </a:xfrm>
          <a:prstGeom prst="rect">
            <a:avLst/>
          </a:prstGeom>
          <a:noFill/>
          <a:ln/>
        </p:spPr>
        <p:txBody>
          <a:bodyPr wrap="square" lIns="0" tIns="0" rIns="0" bIns="0" rtlCol="0" anchor="ctr"/>
          <a:lstStyle/>
          <a:p>
            <a:pPr indent="0" marL="0">
              <a:buNone/>
            </a:pPr>
            <a:r>
              <a:rPr lang="en-US" sz="3000" b="1" dirty="0">
                <a:solidFill>
                  <a:srgbClr val="1A1A1A"/>
                </a:solidFill>
                <a:latin typeface="Inter" pitchFamily="34" charset="0"/>
                <a:ea typeface="Inter" pitchFamily="34" charset="-122"/>
                <a:cs typeface="Inter" pitchFamily="34" charset="-120"/>
              </a:rPr>
              <a:t>$120.57M</a:t>
            </a:r>
            <a:endParaRPr lang="en-US" sz="3000" dirty="0"/>
          </a:p>
        </p:txBody>
      </p:sp>
      <p:sp>
        <p:nvSpPr>
          <p:cNvPr id="8" name="Text 6"/>
          <p:cNvSpPr txBox="1"/>
          <p:nvPr/>
        </p:nvSpPr>
        <p:spPr>
          <a:xfrm>
            <a:off x="3474720" y="1335024"/>
            <a:ext cx="2651760" cy="237744"/>
          </a:xfrm>
          <a:prstGeom prst="rect">
            <a:avLst/>
          </a:prstGeom>
          <a:noFill/>
          <a:ln/>
        </p:spPr>
        <p:txBody>
          <a:bodyPr wrap="square" lIns="0" tIns="0" rIns="0" bIns="0" rtlCol="0" anchor="ctr"/>
          <a:lstStyle/>
          <a:p>
            <a:pPr indent="0" marL="0">
              <a:buNone/>
            </a:pPr>
            <a:r>
              <a:rPr lang="en-US" sz="1400" spc="90" kern="0" dirty="0">
                <a:solidFill>
                  <a:srgbClr val="595959"/>
                </a:solidFill>
                <a:latin typeface="Inter" pitchFamily="34" charset="0"/>
                <a:ea typeface="Inter" pitchFamily="34" charset="-122"/>
                <a:cs typeface="Inter" pitchFamily="34" charset="-120"/>
              </a:rPr>
              <a:t>2026 YTD</a:t>
            </a:r>
            <a:endParaRPr lang="en-US" sz="1400" dirty="0"/>
          </a:p>
        </p:txBody>
      </p:sp>
      <p:sp>
        <p:nvSpPr>
          <p:cNvPr id="9" name="Text 7"/>
          <p:cNvSpPr txBox="1"/>
          <p:nvPr/>
        </p:nvSpPr>
        <p:spPr>
          <a:xfrm>
            <a:off x="3474720" y="1554480"/>
            <a:ext cx="2697480" cy="548640"/>
          </a:xfrm>
          <a:prstGeom prst="rect">
            <a:avLst/>
          </a:prstGeom>
          <a:noFill/>
          <a:ln/>
        </p:spPr>
        <p:txBody>
          <a:bodyPr wrap="square" lIns="0" tIns="0" rIns="0" bIns="0" rtlCol="0" anchor="ctr"/>
          <a:lstStyle/>
          <a:p>
            <a:pPr indent="0" marL="0">
              <a:buNone/>
            </a:pPr>
            <a:r>
              <a:rPr lang="en-US" sz="3000" b="1" dirty="0">
                <a:solidFill>
                  <a:srgbClr val="1A1A1A"/>
                </a:solidFill>
                <a:latin typeface="Inter" pitchFamily="34" charset="0"/>
                <a:ea typeface="Inter" pitchFamily="34" charset="-122"/>
                <a:cs typeface="Inter" pitchFamily="34" charset="-120"/>
              </a:rPr>
              <a:t>$126.87M</a:t>
            </a:r>
            <a:endParaRPr lang="en-US" sz="3000" dirty="0"/>
          </a:p>
        </p:txBody>
      </p:sp>
      <p:sp>
        <p:nvSpPr>
          <p:cNvPr id="10" name="Text 8"/>
          <p:cNvSpPr txBox="1"/>
          <p:nvPr/>
        </p:nvSpPr>
        <p:spPr>
          <a:xfrm>
            <a:off x="6263640" y="1335024"/>
            <a:ext cx="2651760" cy="237744"/>
          </a:xfrm>
          <a:prstGeom prst="rect">
            <a:avLst/>
          </a:prstGeom>
          <a:noFill/>
          <a:ln/>
        </p:spPr>
        <p:txBody>
          <a:bodyPr wrap="square" lIns="0" tIns="0" rIns="0" bIns="0" rtlCol="0" anchor="ctr"/>
          <a:lstStyle/>
          <a:p>
            <a:pPr indent="0" marL="0">
              <a:buNone/>
            </a:pPr>
            <a:r>
              <a:rPr lang="en-US" sz="1400" spc="90" kern="0" dirty="0">
                <a:solidFill>
                  <a:srgbClr val="595959"/>
                </a:solidFill>
                <a:latin typeface="Inter" pitchFamily="34" charset="0"/>
                <a:ea typeface="Inter" pitchFamily="34" charset="-122"/>
                <a:cs typeface="Inter" pitchFamily="34" charset="-120"/>
              </a:rPr>
              <a:t>VARIANCE</a:t>
            </a:r>
            <a:endParaRPr lang="en-US" sz="1400" dirty="0"/>
          </a:p>
        </p:txBody>
      </p:sp>
      <p:sp>
        <p:nvSpPr>
          <p:cNvPr id="11" name="Text 9"/>
          <p:cNvSpPr txBox="1"/>
          <p:nvPr/>
        </p:nvSpPr>
        <p:spPr>
          <a:xfrm>
            <a:off x="6263640" y="1554480"/>
            <a:ext cx="2697480" cy="548640"/>
          </a:xfrm>
          <a:prstGeom prst="rect">
            <a:avLst/>
          </a:prstGeom>
          <a:noFill/>
          <a:ln/>
        </p:spPr>
        <p:txBody>
          <a:bodyPr wrap="square" lIns="0" tIns="0" rIns="0" bIns="0" rtlCol="0" anchor="ctr"/>
          <a:lstStyle/>
          <a:p>
            <a:pPr indent="0" marL="0">
              <a:buNone/>
            </a:pPr>
            <a:r>
              <a:rPr lang="en-US" sz="3000" b="1" dirty="0">
                <a:solidFill>
                  <a:srgbClr val="0B7A4A"/>
                </a:solidFill>
                <a:latin typeface="Inter" pitchFamily="34" charset="0"/>
                <a:ea typeface="Inter" pitchFamily="34" charset="-122"/>
                <a:cs typeface="Inter" pitchFamily="34" charset="-120"/>
              </a:rPr>
              <a:t>+$6.30M</a:t>
            </a:r>
            <a:endParaRPr lang="en-US" sz="3000" dirty="0"/>
          </a:p>
        </p:txBody>
      </p:sp>
      <p:sp>
        <p:nvSpPr>
          <p:cNvPr id="12" name="Text 10"/>
          <p:cNvSpPr txBox="1"/>
          <p:nvPr/>
        </p:nvSpPr>
        <p:spPr>
          <a:xfrm>
            <a:off x="9052560" y="1335024"/>
            <a:ext cx="2651760" cy="237744"/>
          </a:xfrm>
          <a:prstGeom prst="rect">
            <a:avLst/>
          </a:prstGeom>
          <a:noFill/>
          <a:ln/>
        </p:spPr>
        <p:txBody>
          <a:bodyPr wrap="square" lIns="0" tIns="0" rIns="0" bIns="0" rtlCol="0" anchor="ctr"/>
          <a:lstStyle/>
          <a:p>
            <a:pPr indent="0" marL="0">
              <a:buNone/>
            </a:pPr>
            <a:r>
              <a:rPr lang="en-US" sz="1400" spc="90" kern="0" dirty="0">
                <a:solidFill>
                  <a:srgbClr val="595959"/>
                </a:solidFill>
                <a:latin typeface="Inter" pitchFamily="34" charset="0"/>
                <a:ea typeface="Inter" pitchFamily="34" charset="-122"/>
                <a:cs typeface="Inter" pitchFamily="34" charset="-120"/>
              </a:rPr>
              <a:t>VAR %</a:t>
            </a:r>
            <a:endParaRPr lang="en-US" sz="1400" dirty="0"/>
          </a:p>
        </p:txBody>
      </p:sp>
      <p:sp>
        <p:nvSpPr>
          <p:cNvPr id="13" name="Text 11"/>
          <p:cNvSpPr txBox="1"/>
          <p:nvPr/>
        </p:nvSpPr>
        <p:spPr>
          <a:xfrm>
            <a:off x="9052560" y="1554480"/>
            <a:ext cx="2697480" cy="548640"/>
          </a:xfrm>
          <a:prstGeom prst="rect">
            <a:avLst/>
          </a:prstGeom>
          <a:noFill/>
          <a:ln/>
        </p:spPr>
        <p:txBody>
          <a:bodyPr wrap="square" lIns="0" tIns="0" rIns="0" bIns="0" rtlCol="0" anchor="ctr"/>
          <a:lstStyle/>
          <a:p>
            <a:pPr indent="0" marL="0">
              <a:buNone/>
            </a:pPr>
            <a:r>
              <a:rPr lang="en-US" sz="3000" b="1" dirty="0">
                <a:solidFill>
                  <a:srgbClr val="0B7A4A"/>
                </a:solidFill>
                <a:latin typeface="Inter" pitchFamily="34" charset="0"/>
                <a:ea typeface="Inter" pitchFamily="34" charset="-122"/>
                <a:cs typeface="Inter" pitchFamily="34" charset="-120"/>
              </a:rPr>
              <a:t>+5.2%</a:t>
            </a:r>
            <a:endParaRPr lang="en-US" sz="3000" dirty="0"/>
          </a:p>
        </p:txBody>
      </p:sp>
      <p:sp>
        <p:nvSpPr>
          <p:cNvPr id="14" name="Shape 12"/>
          <p:cNvSpPr/>
          <p:nvPr/>
        </p:nvSpPr>
        <p:spPr>
          <a:xfrm>
            <a:off x="457200" y="2322576"/>
            <a:ext cx="11274552" cy="3666744"/>
          </a:xfrm>
          <a:prstGeom prst="rect">
            <a:avLst/>
          </a:prstGeom>
          <a:solidFill>
            <a:srgbClr val="FFFFFF"/>
          </a:solidFill>
          <a:ln/>
        </p:spPr>
      </p:sp>
      <p:sp>
        <p:nvSpPr>
          <p:cNvPr id="15" name="Text 13"/>
          <p:cNvSpPr txBox="1"/>
          <p:nvPr/>
        </p:nvSpPr>
        <p:spPr>
          <a:xfrm>
            <a:off x="685800" y="2459736"/>
            <a:ext cx="10817352" cy="292608"/>
          </a:xfrm>
          <a:prstGeom prst="rect">
            <a:avLst/>
          </a:prstGeom>
          <a:noFill/>
          <a:ln/>
        </p:spPr>
        <p:txBody>
          <a:bodyPr wrap="square" lIns="0" tIns="0" rIns="0" bIns="0" rtlCol="0" anchor="ctr"/>
          <a:lstStyle/>
          <a:p>
            <a:pPr indent="0" marL="0">
              <a:buNone/>
            </a:pPr>
            <a:r>
              <a:rPr lang="en-US" sz="1500" dirty="0">
                <a:solidFill>
                  <a:srgbClr val="1A1A1A"/>
                </a:solidFill>
                <a:latin typeface="Inter" pitchFamily="34" charset="0"/>
                <a:ea typeface="Inter" pitchFamily="34" charset="-122"/>
                <a:cs typeface="Inter" pitchFamily="34" charset="-120"/>
              </a:rPr>
              <a:t>Service gross by month, 2025 against 2026 ($M)</a:t>
            </a:r>
            <a:endParaRPr lang="en-US" sz="1500" dirty="0"/>
          </a:p>
        </p:txBody>
      </p:sp>
      <p:sp>
        <p:nvSpPr>
          <p:cNvPr id="16" name="Shape 14"/>
          <p:cNvSpPr/>
          <p:nvPr/>
        </p:nvSpPr>
        <p:spPr>
          <a:xfrm>
            <a:off x="685800" y="2807208"/>
            <a:ext cx="10817352" cy="10973"/>
          </a:xfrm>
          <a:prstGeom prst="rect">
            <a:avLst/>
          </a:prstGeom>
          <a:solidFill>
            <a:srgbClr val="1A1A1A"/>
          </a:solidFill>
          <a:ln/>
        </p:spPr>
      </p:sp>
      <p:graphicFrame>
        <p:nvGraphicFramePr>
          <p:cNvPr id="17" name="Chart 0" descr=""/>
          <p:cNvGraphicFramePr/>
          <p:nvPr/>
        </p:nvGraphicFramePr>
        <p:xfrm>
          <a:off x="621792" y="3218688"/>
          <a:ext cx="10945368" cy="2679192"/>
        </p:xfrm>
        <a:graphic>
          <a:graphicData uri="http://schemas.openxmlformats.org/drawingml/2006/chart">
            <c:chart xmlns:c="http://schemas.openxmlformats.org/drawingml/2006/chart" r:id="rId2"/>
          </a:graphicData>
        </a:graphic>
      </p:graphicFrame>
      <p:graphicFrame>
        <p:nvGraphicFramePr>
          <p:cNvPr id="18" name="Chart 1" descr=""/>
          <p:cNvGraphicFramePr/>
          <p:nvPr/>
        </p:nvGraphicFramePr>
        <p:xfrm>
          <a:off x="621792" y="3218688"/>
          <a:ext cx="10945368" cy="2679192"/>
        </p:xfrm>
        <a:graphic>
          <a:graphicData uri="http://schemas.openxmlformats.org/drawingml/2006/chart">
            <c:chart xmlns:c="http://schemas.openxmlformats.org/drawingml/2006/chart" r:id="rId3"/>
          </a:graphicData>
        </a:graphic>
      </p:graphicFrame>
      <p:graphicFrame>
        <p:nvGraphicFramePr>
          <p:cNvPr id="19" name="Chart 2" descr=""/>
          <p:cNvGraphicFramePr/>
          <p:nvPr/>
        </p:nvGraphicFramePr>
        <p:xfrm>
          <a:off x="621792" y="3218688"/>
          <a:ext cx="10945368" cy="2679192"/>
        </p:xfrm>
        <a:graphic>
          <a:graphicData uri="http://schemas.openxmlformats.org/drawingml/2006/chart">
            <c:chart xmlns:c="http://schemas.openxmlformats.org/drawingml/2006/chart" r:id="rId4"/>
          </a:graphicData>
        </a:graphic>
      </p:graphicFrame>
      <p:graphicFrame>
        <p:nvGraphicFramePr>
          <p:cNvPr id="20" name="Chart 3" descr=""/>
          <p:cNvGraphicFramePr/>
          <p:nvPr/>
        </p:nvGraphicFramePr>
        <p:xfrm>
          <a:off x="621792" y="3218688"/>
          <a:ext cx="10945368" cy="2679192"/>
        </p:xfrm>
        <a:graphic>
          <a:graphicData uri="http://schemas.openxmlformats.org/drawingml/2006/chart">
            <c:chart xmlns:c="http://schemas.openxmlformats.org/drawingml/2006/chart" r:id="rId5"/>
          </a:graphicData>
        </a:graphic>
      </p:graphicFrame>
      <p:graphicFrame>
        <p:nvGraphicFramePr>
          <p:cNvPr id="21" name="Chart 4" descr=""/>
          <p:cNvGraphicFramePr/>
          <p:nvPr/>
        </p:nvGraphicFramePr>
        <p:xfrm>
          <a:off x="621792" y="3218688"/>
          <a:ext cx="10945368" cy="2679192"/>
        </p:xfrm>
        <a:graphic>
          <a:graphicData uri="http://schemas.openxmlformats.org/drawingml/2006/chart">
            <c:chart xmlns:c="http://schemas.openxmlformats.org/drawingml/2006/chart" r:id="rId6"/>
          </a:graphicData>
        </a:graphic>
      </p:graphicFrame>
      <p:sp>
        <p:nvSpPr>
          <p:cNvPr id="22" name="Shape 15"/>
          <p:cNvSpPr/>
          <p:nvPr/>
        </p:nvSpPr>
        <p:spPr>
          <a:xfrm>
            <a:off x="4951476" y="3049524"/>
            <a:ext cx="310896" cy="45720"/>
          </a:xfrm>
          <a:prstGeom prst="rect">
            <a:avLst/>
          </a:prstGeom>
          <a:solidFill>
            <a:srgbClr val="9AA3AD"/>
          </a:solidFill>
          <a:ln/>
        </p:spPr>
      </p:sp>
      <p:sp>
        <p:nvSpPr>
          <p:cNvPr id="23" name="Shape 16"/>
          <p:cNvSpPr/>
          <p:nvPr/>
        </p:nvSpPr>
        <p:spPr>
          <a:xfrm>
            <a:off x="5052060" y="3017520"/>
            <a:ext cx="109728" cy="109728"/>
          </a:xfrm>
          <a:prstGeom prst="ellipse">
            <a:avLst/>
          </a:prstGeom>
          <a:solidFill>
            <a:srgbClr val="9AA3AD"/>
          </a:solidFill>
          <a:ln/>
        </p:spPr>
      </p:sp>
      <p:sp>
        <p:nvSpPr>
          <p:cNvPr id="24" name="Text 17"/>
          <p:cNvSpPr txBox="1"/>
          <p:nvPr/>
        </p:nvSpPr>
        <p:spPr>
          <a:xfrm>
            <a:off x="5335524" y="2926080"/>
            <a:ext cx="777240" cy="292608"/>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2025</a:t>
            </a:r>
            <a:endParaRPr lang="en-US" sz="1400" dirty="0"/>
          </a:p>
        </p:txBody>
      </p:sp>
      <p:sp>
        <p:nvSpPr>
          <p:cNvPr id="25" name="Shape 18"/>
          <p:cNvSpPr/>
          <p:nvPr/>
        </p:nvSpPr>
        <p:spPr>
          <a:xfrm>
            <a:off x="6185916" y="3049524"/>
            <a:ext cx="310896" cy="45720"/>
          </a:xfrm>
          <a:prstGeom prst="rect">
            <a:avLst/>
          </a:prstGeom>
          <a:solidFill>
            <a:srgbClr val="2587C5"/>
          </a:solidFill>
          <a:ln/>
        </p:spPr>
      </p:sp>
      <p:sp>
        <p:nvSpPr>
          <p:cNvPr id="26" name="Shape 19"/>
          <p:cNvSpPr/>
          <p:nvPr/>
        </p:nvSpPr>
        <p:spPr>
          <a:xfrm>
            <a:off x="6286500" y="3017520"/>
            <a:ext cx="109728" cy="109728"/>
          </a:xfrm>
          <a:prstGeom prst="ellipse">
            <a:avLst/>
          </a:prstGeom>
          <a:solidFill>
            <a:srgbClr val="2587C5"/>
          </a:solidFill>
          <a:ln/>
        </p:spPr>
      </p:sp>
      <p:sp>
        <p:nvSpPr>
          <p:cNvPr id="27" name="Text 20"/>
          <p:cNvSpPr txBox="1"/>
          <p:nvPr/>
        </p:nvSpPr>
        <p:spPr>
          <a:xfrm>
            <a:off x="6569964" y="2926080"/>
            <a:ext cx="777240" cy="292608"/>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2026</a:t>
            </a:r>
            <a:endParaRPr lang="en-US" sz="1400" dirty="0"/>
          </a:p>
        </p:txBody>
      </p:sp>
      <p:sp>
        <p:nvSpPr>
          <p:cNvPr id="28" name="Shape 21"/>
          <p:cNvSpPr/>
          <p:nvPr/>
        </p:nvSpPr>
        <p:spPr>
          <a:xfrm>
            <a:off x="457200" y="6126480"/>
            <a:ext cx="11274552" cy="356616"/>
          </a:xfrm>
          <a:prstGeom prst="rect">
            <a:avLst/>
          </a:prstGeom>
          <a:solidFill>
            <a:srgbClr val="E6F6EE"/>
          </a:solidFill>
          <a:ln/>
        </p:spPr>
      </p:sp>
      <p:sp>
        <p:nvSpPr>
          <p:cNvPr id="29" name="Text 22"/>
          <p:cNvSpPr txBox="1"/>
          <p:nvPr/>
        </p:nvSpPr>
        <p:spPr>
          <a:xfrm>
            <a:off x="658368" y="6144768"/>
            <a:ext cx="10927080" cy="320040"/>
          </a:xfrm>
          <a:prstGeom prst="rect">
            <a:avLst/>
          </a:prstGeom>
          <a:noFill/>
          <a:ln/>
        </p:spPr>
        <p:txBody>
          <a:bodyPr wrap="square" lIns="0" tIns="0" rIns="0" bIns="0" rtlCol="0" anchor="ctr"/>
          <a:lstStyle/>
          <a:p>
            <a:pPr indent="0" marL="0">
              <a:buNone/>
            </a:pPr>
            <a:r>
              <a:rPr lang="en-US" sz="1500" b="1" dirty="0">
                <a:solidFill>
                  <a:srgbClr val="0B7A4A"/>
                </a:solidFill>
                <a:latin typeface="Inter" pitchFamily="34" charset="0"/>
                <a:ea typeface="Inter" pitchFamily="34" charset="-122"/>
                <a:cs typeface="Inter" pitchFamily="34" charset="-120"/>
              </a:rPr>
              <a:t>+$6,297,386 (5.2%) year to date; 9 of nine months ahead of 2025, largest gain in September, +$1,457,847.</a:t>
            </a:r>
            <a:endParaRPr lang="en-US" sz="1500" dirty="0"/>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FIXED OPS GROSS</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Total Gross Profit - Parts</a:t>
            </a:r>
            <a:endParaRPr lang="en-US" sz="2800" dirty="0"/>
          </a:p>
        </p:txBody>
      </p:sp>
      <p:sp>
        <p:nvSpPr>
          <p:cNvPr id="5" name="Shape 3"/>
          <p:cNvSpPr/>
          <p:nvPr/>
        </p:nvSpPr>
        <p:spPr>
          <a:xfrm>
            <a:off x="457200" y="1207008"/>
            <a:ext cx="11274552" cy="1005840"/>
          </a:xfrm>
          <a:prstGeom prst="rect">
            <a:avLst/>
          </a:prstGeom>
          <a:solidFill>
            <a:srgbClr val="FFFFFF"/>
          </a:solidFill>
          <a:ln/>
        </p:spPr>
      </p:sp>
      <p:sp>
        <p:nvSpPr>
          <p:cNvPr id="6" name="Text 4"/>
          <p:cNvSpPr txBox="1"/>
          <p:nvPr/>
        </p:nvSpPr>
        <p:spPr>
          <a:xfrm>
            <a:off x="685800" y="1335024"/>
            <a:ext cx="2651760" cy="237744"/>
          </a:xfrm>
          <a:prstGeom prst="rect">
            <a:avLst/>
          </a:prstGeom>
          <a:noFill/>
          <a:ln/>
        </p:spPr>
        <p:txBody>
          <a:bodyPr wrap="square" lIns="0" tIns="0" rIns="0" bIns="0" rtlCol="0" anchor="ctr"/>
          <a:lstStyle/>
          <a:p>
            <a:pPr indent="0" marL="0">
              <a:buNone/>
            </a:pPr>
            <a:r>
              <a:rPr lang="en-US" sz="1400" spc="90" kern="0" dirty="0">
                <a:solidFill>
                  <a:srgbClr val="595959"/>
                </a:solidFill>
                <a:latin typeface="Inter" pitchFamily="34" charset="0"/>
                <a:ea typeface="Inter" pitchFamily="34" charset="-122"/>
                <a:cs typeface="Inter" pitchFamily="34" charset="-120"/>
              </a:rPr>
              <a:t>2025 YTD</a:t>
            </a:r>
            <a:endParaRPr lang="en-US" sz="1400" dirty="0"/>
          </a:p>
        </p:txBody>
      </p:sp>
      <p:sp>
        <p:nvSpPr>
          <p:cNvPr id="7" name="Text 5"/>
          <p:cNvSpPr txBox="1"/>
          <p:nvPr/>
        </p:nvSpPr>
        <p:spPr>
          <a:xfrm>
            <a:off x="685800" y="1554480"/>
            <a:ext cx="2697480" cy="548640"/>
          </a:xfrm>
          <a:prstGeom prst="rect">
            <a:avLst/>
          </a:prstGeom>
          <a:noFill/>
          <a:ln/>
        </p:spPr>
        <p:txBody>
          <a:bodyPr wrap="square" lIns="0" tIns="0" rIns="0" bIns="0" rtlCol="0" anchor="ctr"/>
          <a:lstStyle/>
          <a:p>
            <a:pPr indent="0" marL="0">
              <a:buNone/>
            </a:pPr>
            <a:r>
              <a:rPr lang="en-US" sz="3000" b="1" dirty="0">
                <a:solidFill>
                  <a:srgbClr val="1A1A1A"/>
                </a:solidFill>
                <a:latin typeface="Inter" pitchFamily="34" charset="0"/>
                <a:ea typeface="Inter" pitchFamily="34" charset="-122"/>
                <a:cs typeface="Inter" pitchFamily="34" charset="-120"/>
              </a:rPr>
              <a:t>$60.76M</a:t>
            </a:r>
            <a:endParaRPr lang="en-US" sz="3000" dirty="0"/>
          </a:p>
        </p:txBody>
      </p:sp>
      <p:sp>
        <p:nvSpPr>
          <p:cNvPr id="8" name="Text 6"/>
          <p:cNvSpPr txBox="1"/>
          <p:nvPr/>
        </p:nvSpPr>
        <p:spPr>
          <a:xfrm>
            <a:off x="3474720" y="1335024"/>
            <a:ext cx="2651760" cy="237744"/>
          </a:xfrm>
          <a:prstGeom prst="rect">
            <a:avLst/>
          </a:prstGeom>
          <a:noFill/>
          <a:ln/>
        </p:spPr>
        <p:txBody>
          <a:bodyPr wrap="square" lIns="0" tIns="0" rIns="0" bIns="0" rtlCol="0" anchor="ctr"/>
          <a:lstStyle/>
          <a:p>
            <a:pPr indent="0" marL="0">
              <a:buNone/>
            </a:pPr>
            <a:r>
              <a:rPr lang="en-US" sz="1400" spc="90" kern="0" dirty="0">
                <a:solidFill>
                  <a:srgbClr val="595959"/>
                </a:solidFill>
                <a:latin typeface="Inter" pitchFamily="34" charset="0"/>
                <a:ea typeface="Inter" pitchFamily="34" charset="-122"/>
                <a:cs typeface="Inter" pitchFamily="34" charset="-120"/>
              </a:rPr>
              <a:t>2026 YTD</a:t>
            </a:r>
            <a:endParaRPr lang="en-US" sz="1400" dirty="0"/>
          </a:p>
        </p:txBody>
      </p:sp>
      <p:sp>
        <p:nvSpPr>
          <p:cNvPr id="9" name="Text 7"/>
          <p:cNvSpPr txBox="1"/>
          <p:nvPr/>
        </p:nvSpPr>
        <p:spPr>
          <a:xfrm>
            <a:off x="3474720" y="1554480"/>
            <a:ext cx="2697480" cy="548640"/>
          </a:xfrm>
          <a:prstGeom prst="rect">
            <a:avLst/>
          </a:prstGeom>
          <a:noFill/>
          <a:ln/>
        </p:spPr>
        <p:txBody>
          <a:bodyPr wrap="square" lIns="0" tIns="0" rIns="0" bIns="0" rtlCol="0" anchor="ctr"/>
          <a:lstStyle/>
          <a:p>
            <a:pPr indent="0" marL="0">
              <a:buNone/>
            </a:pPr>
            <a:r>
              <a:rPr lang="en-US" sz="3000" b="1" dirty="0">
                <a:solidFill>
                  <a:srgbClr val="1A1A1A"/>
                </a:solidFill>
                <a:latin typeface="Inter" pitchFamily="34" charset="0"/>
                <a:ea typeface="Inter" pitchFamily="34" charset="-122"/>
                <a:cs typeface="Inter" pitchFamily="34" charset="-120"/>
              </a:rPr>
              <a:t>$61.93M</a:t>
            </a:r>
            <a:endParaRPr lang="en-US" sz="3000" dirty="0"/>
          </a:p>
        </p:txBody>
      </p:sp>
      <p:sp>
        <p:nvSpPr>
          <p:cNvPr id="10" name="Text 8"/>
          <p:cNvSpPr txBox="1"/>
          <p:nvPr/>
        </p:nvSpPr>
        <p:spPr>
          <a:xfrm>
            <a:off x="6263640" y="1335024"/>
            <a:ext cx="2651760" cy="237744"/>
          </a:xfrm>
          <a:prstGeom prst="rect">
            <a:avLst/>
          </a:prstGeom>
          <a:noFill/>
          <a:ln/>
        </p:spPr>
        <p:txBody>
          <a:bodyPr wrap="square" lIns="0" tIns="0" rIns="0" bIns="0" rtlCol="0" anchor="ctr"/>
          <a:lstStyle/>
          <a:p>
            <a:pPr indent="0" marL="0">
              <a:buNone/>
            </a:pPr>
            <a:r>
              <a:rPr lang="en-US" sz="1400" spc="90" kern="0" dirty="0">
                <a:solidFill>
                  <a:srgbClr val="595959"/>
                </a:solidFill>
                <a:latin typeface="Inter" pitchFamily="34" charset="0"/>
                <a:ea typeface="Inter" pitchFamily="34" charset="-122"/>
                <a:cs typeface="Inter" pitchFamily="34" charset="-120"/>
              </a:rPr>
              <a:t>VARIANCE</a:t>
            </a:r>
            <a:endParaRPr lang="en-US" sz="1400" dirty="0"/>
          </a:p>
        </p:txBody>
      </p:sp>
      <p:sp>
        <p:nvSpPr>
          <p:cNvPr id="11" name="Text 9"/>
          <p:cNvSpPr txBox="1"/>
          <p:nvPr/>
        </p:nvSpPr>
        <p:spPr>
          <a:xfrm>
            <a:off x="6263640" y="1554480"/>
            <a:ext cx="2697480" cy="548640"/>
          </a:xfrm>
          <a:prstGeom prst="rect">
            <a:avLst/>
          </a:prstGeom>
          <a:noFill/>
          <a:ln/>
        </p:spPr>
        <p:txBody>
          <a:bodyPr wrap="square" lIns="0" tIns="0" rIns="0" bIns="0" rtlCol="0" anchor="ctr"/>
          <a:lstStyle/>
          <a:p>
            <a:pPr indent="0" marL="0">
              <a:buNone/>
            </a:pPr>
            <a:r>
              <a:rPr lang="en-US" sz="3000" b="1" dirty="0">
                <a:solidFill>
                  <a:srgbClr val="0B7A4A"/>
                </a:solidFill>
                <a:latin typeface="Inter" pitchFamily="34" charset="0"/>
                <a:ea typeface="Inter" pitchFamily="34" charset="-122"/>
                <a:cs typeface="Inter" pitchFamily="34" charset="-120"/>
              </a:rPr>
              <a:t>+$1.17M</a:t>
            </a:r>
            <a:endParaRPr lang="en-US" sz="3000" dirty="0"/>
          </a:p>
        </p:txBody>
      </p:sp>
      <p:sp>
        <p:nvSpPr>
          <p:cNvPr id="12" name="Text 10"/>
          <p:cNvSpPr txBox="1"/>
          <p:nvPr/>
        </p:nvSpPr>
        <p:spPr>
          <a:xfrm>
            <a:off x="9052560" y="1335024"/>
            <a:ext cx="2651760" cy="237744"/>
          </a:xfrm>
          <a:prstGeom prst="rect">
            <a:avLst/>
          </a:prstGeom>
          <a:noFill/>
          <a:ln/>
        </p:spPr>
        <p:txBody>
          <a:bodyPr wrap="square" lIns="0" tIns="0" rIns="0" bIns="0" rtlCol="0" anchor="ctr"/>
          <a:lstStyle/>
          <a:p>
            <a:pPr indent="0" marL="0">
              <a:buNone/>
            </a:pPr>
            <a:r>
              <a:rPr lang="en-US" sz="1400" spc="90" kern="0" dirty="0">
                <a:solidFill>
                  <a:srgbClr val="595959"/>
                </a:solidFill>
                <a:latin typeface="Inter" pitchFamily="34" charset="0"/>
                <a:ea typeface="Inter" pitchFamily="34" charset="-122"/>
                <a:cs typeface="Inter" pitchFamily="34" charset="-120"/>
              </a:rPr>
              <a:t>VAR %</a:t>
            </a:r>
            <a:endParaRPr lang="en-US" sz="1400" dirty="0"/>
          </a:p>
        </p:txBody>
      </p:sp>
      <p:sp>
        <p:nvSpPr>
          <p:cNvPr id="13" name="Text 11"/>
          <p:cNvSpPr txBox="1"/>
          <p:nvPr/>
        </p:nvSpPr>
        <p:spPr>
          <a:xfrm>
            <a:off x="9052560" y="1554480"/>
            <a:ext cx="2697480" cy="548640"/>
          </a:xfrm>
          <a:prstGeom prst="rect">
            <a:avLst/>
          </a:prstGeom>
          <a:noFill/>
          <a:ln/>
        </p:spPr>
        <p:txBody>
          <a:bodyPr wrap="square" lIns="0" tIns="0" rIns="0" bIns="0" rtlCol="0" anchor="ctr"/>
          <a:lstStyle/>
          <a:p>
            <a:pPr indent="0" marL="0">
              <a:buNone/>
            </a:pPr>
            <a:r>
              <a:rPr lang="en-US" sz="3000" b="1" dirty="0">
                <a:solidFill>
                  <a:srgbClr val="0B7A4A"/>
                </a:solidFill>
                <a:latin typeface="Inter" pitchFamily="34" charset="0"/>
                <a:ea typeface="Inter" pitchFamily="34" charset="-122"/>
                <a:cs typeface="Inter" pitchFamily="34" charset="-120"/>
              </a:rPr>
              <a:t>+1.9%</a:t>
            </a:r>
            <a:endParaRPr lang="en-US" sz="3000" dirty="0"/>
          </a:p>
        </p:txBody>
      </p:sp>
      <p:sp>
        <p:nvSpPr>
          <p:cNvPr id="14" name="Shape 12"/>
          <p:cNvSpPr/>
          <p:nvPr/>
        </p:nvSpPr>
        <p:spPr>
          <a:xfrm>
            <a:off x="457200" y="2322576"/>
            <a:ext cx="11274552" cy="3666744"/>
          </a:xfrm>
          <a:prstGeom prst="rect">
            <a:avLst/>
          </a:prstGeom>
          <a:solidFill>
            <a:srgbClr val="FFFFFF"/>
          </a:solidFill>
          <a:ln/>
        </p:spPr>
      </p:sp>
      <p:sp>
        <p:nvSpPr>
          <p:cNvPr id="15" name="Text 13"/>
          <p:cNvSpPr txBox="1"/>
          <p:nvPr/>
        </p:nvSpPr>
        <p:spPr>
          <a:xfrm>
            <a:off x="685800" y="2459736"/>
            <a:ext cx="10817352" cy="292608"/>
          </a:xfrm>
          <a:prstGeom prst="rect">
            <a:avLst/>
          </a:prstGeom>
          <a:noFill/>
          <a:ln/>
        </p:spPr>
        <p:txBody>
          <a:bodyPr wrap="square" lIns="0" tIns="0" rIns="0" bIns="0" rtlCol="0" anchor="ctr"/>
          <a:lstStyle/>
          <a:p>
            <a:pPr indent="0" marL="0">
              <a:buNone/>
            </a:pPr>
            <a:r>
              <a:rPr lang="en-US" sz="1500" dirty="0">
                <a:solidFill>
                  <a:srgbClr val="1A1A1A"/>
                </a:solidFill>
                <a:latin typeface="Inter" pitchFamily="34" charset="0"/>
                <a:ea typeface="Inter" pitchFamily="34" charset="-122"/>
                <a:cs typeface="Inter" pitchFamily="34" charset="-120"/>
              </a:rPr>
              <a:t>Parts gross by month, 2025 against 2026 ($M)</a:t>
            </a:r>
            <a:endParaRPr lang="en-US" sz="1500" dirty="0"/>
          </a:p>
        </p:txBody>
      </p:sp>
      <p:sp>
        <p:nvSpPr>
          <p:cNvPr id="16" name="Shape 14"/>
          <p:cNvSpPr/>
          <p:nvPr/>
        </p:nvSpPr>
        <p:spPr>
          <a:xfrm>
            <a:off x="685800" y="2807208"/>
            <a:ext cx="10817352" cy="10973"/>
          </a:xfrm>
          <a:prstGeom prst="rect">
            <a:avLst/>
          </a:prstGeom>
          <a:solidFill>
            <a:srgbClr val="1A1A1A"/>
          </a:solidFill>
          <a:ln/>
        </p:spPr>
      </p:sp>
      <p:graphicFrame>
        <p:nvGraphicFramePr>
          <p:cNvPr id="17" name="Chart 0" descr=""/>
          <p:cNvGraphicFramePr/>
          <p:nvPr/>
        </p:nvGraphicFramePr>
        <p:xfrm>
          <a:off x="621792" y="3218688"/>
          <a:ext cx="10945368" cy="2679192"/>
        </p:xfrm>
        <a:graphic>
          <a:graphicData uri="http://schemas.openxmlformats.org/drawingml/2006/chart">
            <c:chart xmlns:c="http://schemas.openxmlformats.org/drawingml/2006/chart" r:id="rId2"/>
          </a:graphicData>
        </a:graphic>
      </p:graphicFrame>
      <p:graphicFrame>
        <p:nvGraphicFramePr>
          <p:cNvPr id="18" name="Chart 1" descr=""/>
          <p:cNvGraphicFramePr/>
          <p:nvPr/>
        </p:nvGraphicFramePr>
        <p:xfrm>
          <a:off x="621792" y="3218688"/>
          <a:ext cx="10945368" cy="2679192"/>
        </p:xfrm>
        <a:graphic>
          <a:graphicData uri="http://schemas.openxmlformats.org/drawingml/2006/chart">
            <c:chart xmlns:c="http://schemas.openxmlformats.org/drawingml/2006/chart" r:id="rId3"/>
          </a:graphicData>
        </a:graphic>
      </p:graphicFrame>
      <p:graphicFrame>
        <p:nvGraphicFramePr>
          <p:cNvPr id="19" name="Chart 2" descr=""/>
          <p:cNvGraphicFramePr/>
          <p:nvPr/>
        </p:nvGraphicFramePr>
        <p:xfrm>
          <a:off x="621792" y="3218688"/>
          <a:ext cx="10945368" cy="2679192"/>
        </p:xfrm>
        <a:graphic>
          <a:graphicData uri="http://schemas.openxmlformats.org/drawingml/2006/chart">
            <c:chart xmlns:c="http://schemas.openxmlformats.org/drawingml/2006/chart" r:id="rId4"/>
          </a:graphicData>
        </a:graphic>
      </p:graphicFrame>
      <p:graphicFrame>
        <p:nvGraphicFramePr>
          <p:cNvPr id="20" name="Chart 3" descr=""/>
          <p:cNvGraphicFramePr/>
          <p:nvPr/>
        </p:nvGraphicFramePr>
        <p:xfrm>
          <a:off x="621792" y="3218688"/>
          <a:ext cx="10945368" cy="2679192"/>
        </p:xfrm>
        <a:graphic>
          <a:graphicData uri="http://schemas.openxmlformats.org/drawingml/2006/chart">
            <c:chart xmlns:c="http://schemas.openxmlformats.org/drawingml/2006/chart" r:id="rId5"/>
          </a:graphicData>
        </a:graphic>
      </p:graphicFrame>
      <p:graphicFrame>
        <p:nvGraphicFramePr>
          <p:cNvPr id="21" name="Chart 4" descr=""/>
          <p:cNvGraphicFramePr/>
          <p:nvPr/>
        </p:nvGraphicFramePr>
        <p:xfrm>
          <a:off x="621792" y="3218688"/>
          <a:ext cx="10945368" cy="2679192"/>
        </p:xfrm>
        <a:graphic>
          <a:graphicData uri="http://schemas.openxmlformats.org/drawingml/2006/chart">
            <c:chart xmlns:c="http://schemas.openxmlformats.org/drawingml/2006/chart" r:id="rId6"/>
          </a:graphicData>
        </a:graphic>
      </p:graphicFrame>
      <p:graphicFrame>
        <p:nvGraphicFramePr>
          <p:cNvPr id="22" name="Chart 5" descr=""/>
          <p:cNvGraphicFramePr/>
          <p:nvPr/>
        </p:nvGraphicFramePr>
        <p:xfrm>
          <a:off x="621792" y="3218688"/>
          <a:ext cx="10945368" cy="2679192"/>
        </p:xfrm>
        <a:graphic>
          <a:graphicData uri="http://schemas.openxmlformats.org/drawingml/2006/chart">
            <c:chart xmlns:c="http://schemas.openxmlformats.org/drawingml/2006/chart" r:id="rId7"/>
          </a:graphicData>
        </a:graphic>
      </p:graphicFrame>
      <p:sp>
        <p:nvSpPr>
          <p:cNvPr id="23" name="Shape 15"/>
          <p:cNvSpPr/>
          <p:nvPr/>
        </p:nvSpPr>
        <p:spPr>
          <a:xfrm>
            <a:off x="4951476" y="3049524"/>
            <a:ext cx="310896" cy="45720"/>
          </a:xfrm>
          <a:prstGeom prst="rect">
            <a:avLst/>
          </a:prstGeom>
          <a:solidFill>
            <a:srgbClr val="9AA3AD"/>
          </a:solidFill>
          <a:ln/>
        </p:spPr>
      </p:sp>
      <p:sp>
        <p:nvSpPr>
          <p:cNvPr id="24" name="Shape 16"/>
          <p:cNvSpPr/>
          <p:nvPr/>
        </p:nvSpPr>
        <p:spPr>
          <a:xfrm>
            <a:off x="5052060" y="3017520"/>
            <a:ext cx="109728" cy="109728"/>
          </a:xfrm>
          <a:prstGeom prst="ellipse">
            <a:avLst/>
          </a:prstGeom>
          <a:solidFill>
            <a:srgbClr val="9AA3AD"/>
          </a:solidFill>
          <a:ln/>
        </p:spPr>
      </p:sp>
      <p:sp>
        <p:nvSpPr>
          <p:cNvPr id="25" name="Text 17"/>
          <p:cNvSpPr txBox="1"/>
          <p:nvPr/>
        </p:nvSpPr>
        <p:spPr>
          <a:xfrm>
            <a:off x="5335524" y="2926080"/>
            <a:ext cx="777240" cy="292608"/>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2025</a:t>
            </a:r>
            <a:endParaRPr lang="en-US" sz="1400" dirty="0"/>
          </a:p>
        </p:txBody>
      </p:sp>
      <p:sp>
        <p:nvSpPr>
          <p:cNvPr id="26" name="Shape 18"/>
          <p:cNvSpPr/>
          <p:nvPr/>
        </p:nvSpPr>
        <p:spPr>
          <a:xfrm>
            <a:off x="6185916" y="3049524"/>
            <a:ext cx="310896" cy="45720"/>
          </a:xfrm>
          <a:prstGeom prst="rect">
            <a:avLst/>
          </a:prstGeom>
          <a:solidFill>
            <a:srgbClr val="2587C5"/>
          </a:solidFill>
          <a:ln/>
        </p:spPr>
      </p:sp>
      <p:sp>
        <p:nvSpPr>
          <p:cNvPr id="27" name="Shape 19"/>
          <p:cNvSpPr/>
          <p:nvPr/>
        </p:nvSpPr>
        <p:spPr>
          <a:xfrm>
            <a:off x="6286500" y="3017520"/>
            <a:ext cx="109728" cy="109728"/>
          </a:xfrm>
          <a:prstGeom prst="ellipse">
            <a:avLst/>
          </a:prstGeom>
          <a:solidFill>
            <a:srgbClr val="2587C5"/>
          </a:solidFill>
          <a:ln/>
        </p:spPr>
      </p:sp>
      <p:sp>
        <p:nvSpPr>
          <p:cNvPr id="28" name="Text 20"/>
          <p:cNvSpPr txBox="1"/>
          <p:nvPr/>
        </p:nvSpPr>
        <p:spPr>
          <a:xfrm>
            <a:off x="6569964" y="2926080"/>
            <a:ext cx="777240" cy="292608"/>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2026</a:t>
            </a:r>
            <a:endParaRPr lang="en-US" sz="1400" dirty="0"/>
          </a:p>
        </p:txBody>
      </p:sp>
      <p:sp>
        <p:nvSpPr>
          <p:cNvPr id="29" name="Shape 21"/>
          <p:cNvSpPr/>
          <p:nvPr/>
        </p:nvSpPr>
        <p:spPr>
          <a:xfrm>
            <a:off x="457200" y="6126480"/>
            <a:ext cx="11274552" cy="371856"/>
          </a:xfrm>
          <a:prstGeom prst="rect">
            <a:avLst/>
          </a:prstGeom>
          <a:solidFill>
            <a:srgbClr val="E6F6EE"/>
          </a:solidFill>
          <a:ln/>
        </p:spPr>
      </p:sp>
      <p:sp>
        <p:nvSpPr>
          <p:cNvPr id="30" name="Text 22"/>
          <p:cNvSpPr txBox="1"/>
          <p:nvPr/>
        </p:nvSpPr>
        <p:spPr>
          <a:xfrm>
            <a:off x="658368" y="6144768"/>
            <a:ext cx="10927080" cy="335280"/>
          </a:xfrm>
          <a:prstGeom prst="rect">
            <a:avLst/>
          </a:prstGeom>
          <a:noFill/>
          <a:ln/>
        </p:spPr>
        <p:txBody>
          <a:bodyPr wrap="square" lIns="0" tIns="0" rIns="0" bIns="0" rtlCol="0" anchor="ctr"/>
          <a:lstStyle/>
          <a:p>
            <a:pPr indent="0" marL="0">
              <a:buNone/>
            </a:pPr>
            <a:r>
              <a:rPr lang="en-US" sz="1600" b="1" dirty="0">
                <a:solidFill>
                  <a:srgbClr val="0B7A4A"/>
                </a:solidFill>
                <a:latin typeface="Inter" pitchFamily="34" charset="0"/>
                <a:ea typeface="Inter" pitchFamily="34" charset="-122"/>
                <a:cs typeface="Inter" pitchFamily="34" charset="-120"/>
              </a:rPr>
              <a:t>+$1,171,181 (1.9%) year to date; 6 of nine months ahead of 2025, largest gain in July, +$684,859.</a:t>
            </a:r>
            <a:endParaRPr lang="en-US" sz="1600" dirty="0"/>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VOICE AI · FLAI · JUL 26 – OCT 26, 2026</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Voice AI: Every Call Is a Customer</a:t>
            </a:r>
            <a:endParaRPr lang="en-US" sz="2800" dirty="0"/>
          </a:p>
        </p:txBody>
      </p:sp>
      <p:sp>
        <p:nvSpPr>
          <p:cNvPr id="5" name="Shape 3"/>
          <p:cNvSpPr/>
          <p:nvPr/>
        </p:nvSpPr>
        <p:spPr>
          <a:xfrm>
            <a:off x="457200" y="1207008"/>
            <a:ext cx="11274552" cy="4782312"/>
          </a:xfrm>
          <a:prstGeom prst="rect">
            <a:avLst/>
          </a:prstGeom>
          <a:solidFill>
            <a:srgbClr val="FFFFFF"/>
          </a:solidFill>
          <a:ln/>
        </p:spPr>
      </p:sp>
      <p:sp>
        <p:nvSpPr>
          <p:cNvPr id="6" name="Shape 4"/>
          <p:cNvSpPr/>
          <p:nvPr/>
        </p:nvSpPr>
        <p:spPr>
          <a:xfrm>
            <a:off x="713232" y="1481328"/>
            <a:ext cx="2539746" cy="3017520"/>
          </a:xfrm>
          <a:prstGeom prst="rect">
            <a:avLst/>
          </a:prstGeom>
          <a:solidFill>
            <a:srgbClr val="F7F7F7"/>
          </a:solidFill>
          <a:ln/>
        </p:spPr>
      </p:sp>
      <p:sp>
        <p:nvSpPr>
          <p:cNvPr id="7" name="Shape 5"/>
          <p:cNvSpPr/>
          <p:nvPr/>
        </p:nvSpPr>
        <p:spPr>
          <a:xfrm>
            <a:off x="713232" y="1481328"/>
            <a:ext cx="2539746" cy="64008"/>
          </a:xfrm>
          <a:prstGeom prst="rect">
            <a:avLst/>
          </a:prstGeom>
          <a:solidFill>
            <a:srgbClr val="2587C5"/>
          </a:solidFill>
          <a:ln/>
        </p:spPr>
      </p:sp>
      <p:sp>
        <p:nvSpPr>
          <p:cNvPr id="8" name="Text 6"/>
          <p:cNvSpPr txBox="1"/>
          <p:nvPr/>
        </p:nvSpPr>
        <p:spPr>
          <a:xfrm>
            <a:off x="896112" y="1691640"/>
            <a:ext cx="2173986" cy="566928"/>
          </a:xfrm>
          <a:prstGeom prst="rect">
            <a:avLst/>
          </a:prstGeom>
          <a:noFill/>
          <a:ln/>
        </p:spPr>
        <p:txBody>
          <a:bodyPr wrap="square" lIns="0" tIns="0" rIns="0" bIns="0" rtlCol="0" anchor="t"/>
          <a:lstStyle/>
          <a:p>
            <a:pPr indent="0" marL="0">
              <a:buNone/>
            </a:pPr>
            <a:r>
              <a:rPr lang="en-US" sz="1400" b="1" spc="80" kern="0" dirty="0">
                <a:solidFill>
                  <a:srgbClr val="595959"/>
                </a:solidFill>
                <a:latin typeface="Inter" pitchFamily="34" charset="0"/>
                <a:ea typeface="Inter" pitchFamily="34" charset="-122"/>
                <a:cs typeface="Inter" pitchFamily="34" charset="-120"/>
              </a:rPr>
              <a:t>CALLS HANDLED</a:t>
            </a:r>
            <a:endParaRPr lang="en-US" sz="1400" dirty="0"/>
          </a:p>
        </p:txBody>
      </p:sp>
      <p:sp>
        <p:nvSpPr>
          <p:cNvPr id="9" name="Text 7"/>
          <p:cNvSpPr txBox="1"/>
          <p:nvPr/>
        </p:nvSpPr>
        <p:spPr>
          <a:xfrm>
            <a:off x="896112" y="2286000"/>
            <a:ext cx="2173986" cy="868680"/>
          </a:xfrm>
          <a:prstGeom prst="rect">
            <a:avLst/>
          </a:prstGeom>
          <a:noFill/>
          <a:ln/>
        </p:spPr>
        <p:txBody>
          <a:bodyPr wrap="square" lIns="0" tIns="0" rIns="0" bIns="0" rtlCol="0" anchor="ctr">
            <a:normAutofit/>
          </a:bodyPr>
          <a:lstStyle/>
          <a:p>
            <a:pPr indent="0" marL="0">
              <a:buNone/>
            </a:pPr>
            <a:r>
              <a:rPr lang="en-US" sz="3600" b="1" dirty="0">
                <a:solidFill>
                  <a:srgbClr val="0B2C4A"/>
                </a:solidFill>
                <a:latin typeface="Inter" pitchFamily="34" charset="0"/>
                <a:ea typeface="Inter" pitchFamily="34" charset="-122"/>
                <a:cs typeface="Inter" pitchFamily="34" charset="-120"/>
              </a:rPr>
              <a:t>48,964</a:t>
            </a:r>
            <a:endParaRPr lang="en-US" sz="3600" dirty="0"/>
          </a:p>
        </p:txBody>
      </p:sp>
      <p:sp>
        <p:nvSpPr>
          <p:cNvPr id="10" name="Text 8"/>
          <p:cNvSpPr txBox="1"/>
          <p:nvPr/>
        </p:nvSpPr>
        <p:spPr>
          <a:xfrm>
            <a:off x="896112" y="3200400"/>
            <a:ext cx="2173986" cy="1188720"/>
          </a:xfrm>
          <a:prstGeom prst="rect">
            <a:avLst/>
          </a:prstGeom>
          <a:noFill/>
          <a:ln/>
        </p:spPr>
        <p:txBody>
          <a:bodyPr wrap="square" lIns="0" tIns="0" rIns="0" bIns="0" rtlCol="0" anchor="t"/>
          <a:lstStyle/>
          <a:p>
            <a:pPr indent="0" marL="0">
              <a:buNone/>
            </a:pPr>
            <a:r>
              <a:rPr lang="en-US" sz="1400" dirty="0">
                <a:solidFill>
                  <a:srgbClr val="1A1A1A"/>
                </a:solidFill>
                <a:latin typeface="Inter" pitchFamily="34" charset="0"/>
                <a:ea typeface="Inter" pitchFamily="34" charset="-122"/>
                <a:cs typeface="Inter" pitchFamily="34" charset="-120"/>
              </a:rPr>
              <a:t>About 526 a day across 26 locations.</a:t>
            </a:r>
            <a:endParaRPr lang="en-US" sz="1400" dirty="0"/>
          </a:p>
        </p:txBody>
      </p:sp>
      <p:sp>
        <p:nvSpPr>
          <p:cNvPr id="11" name="Shape 9"/>
          <p:cNvSpPr/>
          <p:nvPr/>
        </p:nvSpPr>
        <p:spPr>
          <a:xfrm>
            <a:off x="3454146" y="1481328"/>
            <a:ext cx="2539746" cy="3017520"/>
          </a:xfrm>
          <a:prstGeom prst="rect">
            <a:avLst/>
          </a:prstGeom>
          <a:solidFill>
            <a:srgbClr val="F7F7F7"/>
          </a:solidFill>
          <a:ln/>
        </p:spPr>
      </p:sp>
      <p:sp>
        <p:nvSpPr>
          <p:cNvPr id="12" name="Shape 10"/>
          <p:cNvSpPr/>
          <p:nvPr/>
        </p:nvSpPr>
        <p:spPr>
          <a:xfrm>
            <a:off x="3454146" y="1481328"/>
            <a:ext cx="2539746" cy="64008"/>
          </a:xfrm>
          <a:prstGeom prst="rect">
            <a:avLst/>
          </a:prstGeom>
          <a:solidFill>
            <a:srgbClr val="12A566"/>
          </a:solidFill>
          <a:ln/>
        </p:spPr>
      </p:sp>
      <p:sp>
        <p:nvSpPr>
          <p:cNvPr id="13" name="Text 11"/>
          <p:cNvSpPr txBox="1"/>
          <p:nvPr/>
        </p:nvSpPr>
        <p:spPr>
          <a:xfrm>
            <a:off x="3637026" y="1691640"/>
            <a:ext cx="2173986" cy="566928"/>
          </a:xfrm>
          <a:prstGeom prst="rect">
            <a:avLst/>
          </a:prstGeom>
          <a:noFill/>
          <a:ln/>
        </p:spPr>
        <p:txBody>
          <a:bodyPr wrap="square" lIns="0" tIns="0" rIns="0" bIns="0" rtlCol="0" anchor="t"/>
          <a:lstStyle/>
          <a:p>
            <a:pPr indent="0" marL="0">
              <a:buNone/>
            </a:pPr>
            <a:r>
              <a:rPr lang="en-US" sz="1400" b="1" spc="80" kern="0" dirty="0">
                <a:solidFill>
                  <a:srgbClr val="595959"/>
                </a:solidFill>
                <a:latin typeface="Inter" pitchFamily="34" charset="0"/>
                <a:ea typeface="Inter" pitchFamily="34" charset="-122"/>
                <a:cs typeface="Inter" pitchFamily="34" charset="-120"/>
              </a:rPr>
              <a:t>HANDLED BY THE AI ALONE</a:t>
            </a:r>
            <a:endParaRPr lang="en-US" sz="1400" dirty="0"/>
          </a:p>
        </p:txBody>
      </p:sp>
      <p:sp>
        <p:nvSpPr>
          <p:cNvPr id="14" name="Text 12"/>
          <p:cNvSpPr txBox="1"/>
          <p:nvPr/>
        </p:nvSpPr>
        <p:spPr>
          <a:xfrm>
            <a:off x="3637026" y="2286000"/>
            <a:ext cx="2173986" cy="868680"/>
          </a:xfrm>
          <a:prstGeom prst="rect">
            <a:avLst/>
          </a:prstGeom>
          <a:noFill/>
          <a:ln/>
        </p:spPr>
        <p:txBody>
          <a:bodyPr wrap="square" lIns="0" tIns="0" rIns="0" bIns="0" rtlCol="0" anchor="ctr">
            <a:normAutofit/>
          </a:bodyPr>
          <a:lstStyle/>
          <a:p>
            <a:pPr indent="0" marL="0">
              <a:buNone/>
            </a:pPr>
            <a:r>
              <a:rPr lang="en-US" sz="3600" b="1" dirty="0">
                <a:solidFill>
                  <a:srgbClr val="0B7A4A"/>
                </a:solidFill>
                <a:latin typeface="Inter" pitchFamily="34" charset="0"/>
                <a:ea typeface="Inter" pitchFamily="34" charset="-122"/>
                <a:cs typeface="Inter" pitchFamily="34" charset="-120"/>
              </a:rPr>
              <a:t>22,749</a:t>
            </a:r>
            <a:endParaRPr lang="en-US" sz="3600" dirty="0"/>
          </a:p>
        </p:txBody>
      </p:sp>
      <p:sp>
        <p:nvSpPr>
          <p:cNvPr id="15" name="Text 13"/>
          <p:cNvSpPr txBox="1"/>
          <p:nvPr/>
        </p:nvSpPr>
        <p:spPr>
          <a:xfrm>
            <a:off x="3637026" y="3200400"/>
            <a:ext cx="2173986" cy="1188720"/>
          </a:xfrm>
          <a:prstGeom prst="rect">
            <a:avLst/>
          </a:prstGeom>
          <a:noFill/>
          <a:ln/>
        </p:spPr>
        <p:txBody>
          <a:bodyPr wrap="square" lIns="0" tIns="0" rIns="0" bIns="0" rtlCol="0" anchor="t"/>
          <a:lstStyle/>
          <a:p>
            <a:pPr indent="0" marL="0">
              <a:buNone/>
            </a:pPr>
            <a:r>
              <a:rPr lang="en-US" sz="1400" dirty="0">
                <a:solidFill>
                  <a:srgbClr val="1A1A1A"/>
                </a:solidFill>
                <a:latin typeface="Inter" pitchFamily="34" charset="0"/>
                <a:ea typeface="Inter" pitchFamily="34" charset="-122"/>
                <a:cs typeface="Inter" pitchFamily="34" charset="-120"/>
              </a:rPr>
              <a:t>46.5% of calls, start to finish. The other 26,215 (53.5%) were transferred to the store.</a:t>
            </a:r>
            <a:endParaRPr lang="en-US" sz="1400" dirty="0"/>
          </a:p>
        </p:txBody>
      </p:sp>
      <p:sp>
        <p:nvSpPr>
          <p:cNvPr id="16" name="Shape 14"/>
          <p:cNvSpPr/>
          <p:nvPr/>
        </p:nvSpPr>
        <p:spPr>
          <a:xfrm>
            <a:off x="6195060" y="1481328"/>
            <a:ext cx="2539746" cy="3017520"/>
          </a:xfrm>
          <a:prstGeom prst="rect">
            <a:avLst/>
          </a:prstGeom>
          <a:solidFill>
            <a:srgbClr val="F7F7F7"/>
          </a:solidFill>
          <a:ln/>
        </p:spPr>
      </p:sp>
      <p:sp>
        <p:nvSpPr>
          <p:cNvPr id="17" name="Shape 15"/>
          <p:cNvSpPr/>
          <p:nvPr/>
        </p:nvSpPr>
        <p:spPr>
          <a:xfrm>
            <a:off x="6195060" y="1481328"/>
            <a:ext cx="2539746" cy="64008"/>
          </a:xfrm>
          <a:prstGeom prst="rect">
            <a:avLst/>
          </a:prstGeom>
          <a:solidFill>
            <a:srgbClr val="12A566"/>
          </a:solidFill>
          <a:ln/>
        </p:spPr>
      </p:sp>
      <p:sp>
        <p:nvSpPr>
          <p:cNvPr id="18" name="Text 16"/>
          <p:cNvSpPr txBox="1"/>
          <p:nvPr/>
        </p:nvSpPr>
        <p:spPr>
          <a:xfrm>
            <a:off x="6377940" y="1691640"/>
            <a:ext cx="2173986" cy="566928"/>
          </a:xfrm>
          <a:prstGeom prst="rect">
            <a:avLst/>
          </a:prstGeom>
          <a:noFill/>
          <a:ln/>
        </p:spPr>
        <p:txBody>
          <a:bodyPr wrap="square" lIns="0" tIns="0" rIns="0" bIns="0" rtlCol="0" anchor="t"/>
          <a:lstStyle/>
          <a:p>
            <a:pPr indent="0" marL="0">
              <a:buNone/>
            </a:pPr>
            <a:r>
              <a:rPr lang="en-US" sz="1400" b="1" spc="80" kern="0" dirty="0">
                <a:solidFill>
                  <a:srgbClr val="595959"/>
                </a:solidFill>
                <a:latin typeface="Inter" pitchFamily="34" charset="0"/>
                <a:ea typeface="Inter" pitchFamily="34" charset="-122"/>
                <a:cs typeface="Inter" pitchFamily="34" charset="-120"/>
              </a:rPr>
              <a:t>APPOINTMENTS BOOKED</a:t>
            </a:r>
            <a:endParaRPr lang="en-US" sz="1400" dirty="0"/>
          </a:p>
        </p:txBody>
      </p:sp>
      <p:sp>
        <p:nvSpPr>
          <p:cNvPr id="19" name="Text 17"/>
          <p:cNvSpPr txBox="1"/>
          <p:nvPr/>
        </p:nvSpPr>
        <p:spPr>
          <a:xfrm>
            <a:off x="6377940" y="2286000"/>
            <a:ext cx="2173986" cy="868680"/>
          </a:xfrm>
          <a:prstGeom prst="rect">
            <a:avLst/>
          </a:prstGeom>
          <a:noFill/>
          <a:ln/>
        </p:spPr>
        <p:txBody>
          <a:bodyPr wrap="square" lIns="0" tIns="0" rIns="0" bIns="0" rtlCol="0" anchor="ctr">
            <a:normAutofit/>
          </a:bodyPr>
          <a:lstStyle/>
          <a:p>
            <a:pPr indent="0" marL="0">
              <a:buNone/>
            </a:pPr>
            <a:r>
              <a:rPr lang="en-US" sz="3600" b="1" dirty="0">
                <a:solidFill>
                  <a:srgbClr val="0B7A4A"/>
                </a:solidFill>
                <a:latin typeface="Inter" pitchFamily="34" charset="0"/>
                <a:ea typeface="Inter" pitchFamily="34" charset="-122"/>
                <a:cs typeface="Inter" pitchFamily="34" charset="-120"/>
              </a:rPr>
              <a:t>10,841</a:t>
            </a:r>
            <a:endParaRPr lang="en-US" sz="3600" dirty="0"/>
          </a:p>
        </p:txBody>
      </p:sp>
      <p:sp>
        <p:nvSpPr>
          <p:cNvPr id="20" name="Text 18"/>
          <p:cNvSpPr txBox="1"/>
          <p:nvPr/>
        </p:nvSpPr>
        <p:spPr>
          <a:xfrm>
            <a:off x="6377940" y="3200400"/>
            <a:ext cx="2173986" cy="1188720"/>
          </a:xfrm>
          <a:prstGeom prst="rect">
            <a:avLst/>
          </a:prstGeom>
          <a:noFill/>
          <a:ln/>
        </p:spPr>
        <p:txBody>
          <a:bodyPr wrap="square" lIns="0" tIns="0" rIns="0" bIns="0" rtlCol="0" anchor="t"/>
          <a:lstStyle/>
          <a:p>
            <a:pPr indent="0" marL="0">
              <a:buNone/>
            </a:pPr>
            <a:r>
              <a:rPr lang="en-US" sz="1400" dirty="0">
                <a:solidFill>
                  <a:srgbClr val="1A1A1A"/>
                </a:solidFill>
                <a:latin typeface="Inter" pitchFamily="34" charset="0"/>
                <a:ea typeface="Inter" pitchFamily="34" charset="-122"/>
                <a:cs typeface="Inter" pitchFamily="34" charset="-120"/>
              </a:rPr>
              <a:t>72% of the 15,051 calls that could book an appointment.</a:t>
            </a:r>
            <a:endParaRPr lang="en-US" sz="1400" dirty="0"/>
          </a:p>
        </p:txBody>
      </p:sp>
      <p:sp>
        <p:nvSpPr>
          <p:cNvPr id="21" name="Shape 19"/>
          <p:cNvSpPr/>
          <p:nvPr/>
        </p:nvSpPr>
        <p:spPr>
          <a:xfrm>
            <a:off x="8935974" y="1481328"/>
            <a:ext cx="2539746" cy="3017520"/>
          </a:xfrm>
          <a:prstGeom prst="rect">
            <a:avLst/>
          </a:prstGeom>
          <a:solidFill>
            <a:srgbClr val="F7F7F7"/>
          </a:solidFill>
          <a:ln/>
        </p:spPr>
      </p:sp>
      <p:sp>
        <p:nvSpPr>
          <p:cNvPr id="22" name="Shape 20"/>
          <p:cNvSpPr/>
          <p:nvPr/>
        </p:nvSpPr>
        <p:spPr>
          <a:xfrm>
            <a:off x="8935974" y="1481328"/>
            <a:ext cx="2539746" cy="64008"/>
          </a:xfrm>
          <a:prstGeom prst="rect">
            <a:avLst/>
          </a:prstGeom>
          <a:solidFill>
            <a:srgbClr val="C2352F"/>
          </a:solidFill>
          <a:ln/>
        </p:spPr>
      </p:sp>
      <p:sp>
        <p:nvSpPr>
          <p:cNvPr id="23" name="Text 21"/>
          <p:cNvSpPr txBox="1"/>
          <p:nvPr/>
        </p:nvSpPr>
        <p:spPr>
          <a:xfrm>
            <a:off x="9118854" y="1691640"/>
            <a:ext cx="2173986" cy="566928"/>
          </a:xfrm>
          <a:prstGeom prst="rect">
            <a:avLst/>
          </a:prstGeom>
          <a:noFill/>
          <a:ln/>
        </p:spPr>
        <p:txBody>
          <a:bodyPr wrap="square" lIns="0" tIns="0" rIns="0" bIns="0" rtlCol="0" anchor="t"/>
          <a:lstStyle/>
          <a:p>
            <a:pPr indent="0" marL="0">
              <a:buNone/>
            </a:pPr>
            <a:r>
              <a:rPr lang="en-US" sz="1400" b="1" spc="80" kern="0" dirty="0">
                <a:solidFill>
                  <a:srgbClr val="595959"/>
                </a:solidFill>
                <a:latin typeface="Inter" pitchFamily="34" charset="0"/>
                <a:ea typeface="Inter" pitchFamily="34" charset="-122"/>
                <a:cs typeface="Inter" pitchFamily="34" charset="-120"/>
              </a:rPr>
              <a:t>TRANSFERS PICKED UP</a:t>
            </a:r>
            <a:endParaRPr lang="en-US" sz="1400" dirty="0"/>
          </a:p>
        </p:txBody>
      </p:sp>
      <p:sp>
        <p:nvSpPr>
          <p:cNvPr id="24" name="Text 22"/>
          <p:cNvSpPr txBox="1"/>
          <p:nvPr/>
        </p:nvSpPr>
        <p:spPr>
          <a:xfrm>
            <a:off x="9118854" y="2286000"/>
            <a:ext cx="2173986" cy="868680"/>
          </a:xfrm>
          <a:prstGeom prst="rect">
            <a:avLst/>
          </a:prstGeom>
          <a:noFill/>
          <a:ln/>
        </p:spPr>
        <p:txBody>
          <a:bodyPr wrap="square" lIns="0" tIns="0" rIns="0" bIns="0" rtlCol="0" anchor="ctr">
            <a:normAutofit/>
          </a:bodyPr>
          <a:lstStyle/>
          <a:p>
            <a:pPr indent="0" marL="0">
              <a:buNone/>
            </a:pPr>
            <a:r>
              <a:rPr lang="en-US" sz="3600" b="1" dirty="0">
                <a:solidFill>
                  <a:srgbClr val="A82B26"/>
                </a:solidFill>
                <a:latin typeface="Inter" pitchFamily="34" charset="0"/>
                <a:ea typeface="Inter" pitchFamily="34" charset="-122"/>
                <a:cs typeface="Inter" pitchFamily="34" charset="-120"/>
              </a:rPr>
              <a:t>47.7%</a:t>
            </a:r>
            <a:endParaRPr lang="en-US" sz="3600" dirty="0"/>
          </a:p>
        </p:txBody>
      </p:sp>
      <p:sp>
        <p:nvSpPr>
          <p:cNvPr id="25" name="Text 23"/>
          <p:cNvSpPr txBox="1"/>
          <p:nvPr/>
        </p:nvSpPr>
        <p:spPr>
          <a:xfrm>
            <a:off x="9118854" y="3200400"/>
            <a:ext cx="2173986" cy="1188720"/>
          </a:xfrm>
          <a:prstGeom prst="rect">
            <a:avLst/>
          </a:prstGeom>
          <a:noFill/>
          <a:ln/>
        </p:spPr>
        <p:txBody>
          <a:bodyPr wrap="square" lIns="0" tIns="0" rIns="0" bIns="0" rtlCol="0" anchor="t"/>
          <a:lstStyle/>
          <a:p>
            <a:pPr indent="0" marL="0">
              <a:buNone/>
            </a:pPr>
            <a:r>
              <a:rPr lang="en-US" sz="1400" dirty="0">
                <a:solidFill>
                  <a:srgbClr val="1A1A1A"/>
                </a:solidFill>
                <a:latin typeface="Inter" pitchFamily="34" charset="0"/>
                <a:ea typeface="Inter" pitchFamily="34" charset="-122"/>
                <a:cs typeface="Inter" pitchFamily="34" charset="-120"/>
              </a:rPr>
              <a:t>About 13,710 transfers missed. If half wanted an appointment, that is $2.6M of gross profit.</a:t>
            </a:r>
            <a:endParaRPr lang="en-US" sz="1400" dirty="0"/>
          </a:p>
        </p:txBody>
      </p:sp>
      <p:sp>
        <p:nvSpPr>
          <p:cNvPr id="26" name="Text 24"/>
          <p:cNvSpPr txBox="1"/>
          <p:nvPr/>
        </p:nvSpPr>
        <p:spPr>
          <a:xfrm>
            <a:off x="713232" y="4709160"/>
            <a:ext cx="10762488" cy="914400"/>
          </a:xfrm>
          <a:prstGeom prst="rect">
            <a:avLst/>
          </a:prstGeom>
          <a:noFill/>
          <a:ln/>
        </p:spPr>
        <p:txBody>
          <a:bodyPr wrap="square" lIns="0" tIns="0" rIns="0" bIns="0" rtlCol="0" anchor="ctr"/>
          <a:lstStyle/>
          <a:p>
            <a:pPr indent="0" marL="0">
              <a:buNone/>
            </a:pPr>
            <a:r>
              <a:rPr lang="en-US" sz="1700" dirty="0">
                <a:solidFill>
                  <a:srgbClr val="1A1A1A"/>
                </a:solidFill>
                <a:latin typeface="Inter" pitchFamily="34" charset="0"/>
                <a:ea typeface="Inter" pitchFamily="34" charset="-122"/>
                <a:cs typeface="Inter" pitchFamily="34" charset="-120"/>
              </a:rPr>
              <a:t>The AI books and routes the call; the store still has to answer the transfer and close every callback in the Flai dashboard. Source: Flai service calls, Jul 26 – Oct 26, 2026.</a:t>
            </a:r>
            <a:endParaRPr lang="en-US" sz="1700" dirty="0"/>
          </a:p>
        </p:txBody>
      </p:sp>
      <p:sp>
        <p:nvSpPr>
          <p:cNvPr id="27" name="Shape 25"/>
          <p:cNvSpPr/>
          <p:nvPr/>
        </p:nvSpPr>
        <p:spPr>
          <a:xfrm>
            <a:off x="457200" y="6126480"/>
            <a:ext cx="11274552" cy="615696"/>
          </a:xfrm>
          <a:prstGeom prst="rect">
            <a:avLst/>
          </a:prstGeom>
          <a:solidFill>
            <a:srgbClr val="FBEBEA"/>
          </a:solidFill>
          <a:ln/>
        </p:spPr>
      </p:sp>
      <p:sp>
        <p:nvSpPr>
          <p:cNvPr id="28" name="Text 26"/>
          <p:cNvSpPr txBox="1"/>
          <p:nvPr/>
        </p:nvSpPr>
        <p:spPr>
          <a:xfrm>
            <a:off x="658368" y="6144768"/>
            <a:ext cx="10927080" cy="579120"/>
          </a:xfrm>
          <a:prstGeom prst="rect">
            <a:avLst/>
          </a:prstGeom>
          <a:noFill/>
          <a:ln/>
        </p:spPr>
        <p:txBody>
          <a:bodyPr wrap="square" lIns="0" tIns="0" rIns="0" bIns="0" rtlCol="0" anchor="ctr"/>
          <a:lstStyle/>
          <a:p>
            <a:pPr indent="0" marL="0">
              <a:buNone/>
            </a:pPr>
            <a:r>
              <a:rPr lang="en-US" sz="1600" b="1" dirty="0">
                <a:solidFill>
                  <a:srgbClr val="A82B26"/>
                </a:solidFill>
                <a:latin typeface="Inter" pitchFamily="34" charset="0"/>
                <a:ea typeface="Inter" pitchFamily="34" charset="-122"/>
                <a:cs typeface="Inter" pitchFamily="34" charset="-120"/>
              </a:rPr>
              <a:t>The AI finishes 46.5% of calls on its own. The rest come back to the store, and fewer than half of those reach a person. Every unanswered transfer is a customer we already had.</a:t>
            </a:r>
            <a:endParaRPr lang="en-US" sz="1600" dirty="0"/>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VOICE AI · FLAI · JUL 26 – OCT 26, 2026</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Store Voice AI Metrics</a:t>
            </a:r>
            <a:endParaRPr lang="en-US" sz="2800" dirty="0"/>
          </a:p>
        </p:txBody>
      </p:sp>
      <p:sp>
        <p:nvSpPr>
          <p:cNvPr id="5" name="Shape 3"/>
          <p:cNvSpPr/>
          <p:nvPr/>
        </p:nvSpPr>
        <p:spPr>
          <a:xfrm>
            <a:off x="457200" y="1207008"/>
            <a:ext cx="3685032" cy="5148072"/>
          </a:xfrm>
          <a:prstGeom prst="rect">
            <a:avLst/>
          </a:prstGeom>
          <a:solidFill>
            <a:srgbClr val="FFFFFF"/>
          </a:solidFill>
          <a:ln/>
        </p:spPr>
      </p:sp>
      <p:sp>
        <p:nvSpPr>
          <p:cNvPr id="6" name="Text 4"/>
          <p:cNvSpPr txBox="1"/>
          <p:nvPr/>
        </p:nvSpPr>
        <p:spPr>
          <a:xfrm>
            <a:off x="621792" y="1298448"/>
            <a:ext cx="3355848" cy="274320"/>
          </a:xfrm>
          <a:prstGeom prst="rect">
            <a:avLst/>
          </a:prstGeom>
          <a:noFill/>
          <a:ln/>
        </p:spPr>
        <p:txBody>
          <a:bodyPr wrap="square" lIns="0" tIns="0" rIns="0" bIns="0" rtlCol="0" anchor="ctr"/>
          <a:lstStyle/>
          <a:p>
            <a:pPr indent="0" marL="0">
              <a:buNone/>
            </a:pPr>
            <a:r>
              <a:rPr lang="en-US" sz="1400" b="1" spc="100" kern="0" dirty="0">
                <a:solidFill>
                  <a:srgbClr val="0B2C4A"/>
                </a:solidFill>
                <a:latin typeface="Inter" pitchFamily="34" charset="0"/>
                <a:ea typeface="Inter" pitchFamily="34" charset="-122"/>
                <a:cs typeface="Inter" pitchFamily="34" charset="-120"/>
              </a:rPr>
              <a:t>BOOKING RATE</a:t>
            </a:r>
            <a:endParaRPr lang="en-US" sz="1400" dirty="0"/>
          </a:p>
        </p:txBody>
      </p:sp>
      <p:sp>
        <p:nvSpPr>
          <p:cNvPr id="7" name="Text 5"/>
          <p:cNvSpPr txBox="1"/>
          <p:nvPr/>
        </p:nvSpPr>
        <p:spPr>
          <a:xfrm>
            <a:off x="621792" y="1572768"/>
            <a:ext cx="3355848" cy="237744"/>
          </a:xfrm>
          <a:prstGeom prst="rect">
            <a:avLst/>
          </a:prstGeom>
          <a:noFill/>
          <a:ln/>
        </p:spPr>
        <p:txBody>
          <a:bodyPr wrap="square" lIns="0" tIns="0" rIns="0" bIns="0" rtlCol="0" anchor="ctr"/>
          <a:lstStyle/>
          <a:p>
            <a:pPr indent="0" marL="0">
              <a:buNone/>
            </a:pPr>
            <a:r>
              <a:rPr lang="en-US" sz="1400" dirty="0">
                <a:solidFill>
                  <a:srgbClr val="595959"/>
                </a:solidFill>
                <a:latin typeface="Inter" pitchFamily="34" charset="0"/>
                <a:ea typeface="Inter" pitchFamily="34" charset="-122"/>
                <a:cs typeface="Inter" pitchFamily="34" charset="-120"/>
              </a:rPr>
              <a:t>Group 72%</a:t>
            </a:r>
            <a:endParaRPr lang="en-US" sz="1400" dirty="0"/>
          </a:p>
        </p:txBody>
      </p:sp>
      <p:sp>
        <p:nvSpPr>
          <p:cNvPr id="8" name="Shape 6"/>
          <p:cNvSpPr/>
          <p:nvPr/>
        </p:nvSpPr>
        <p:spPr>
          <a:xfrm>
            <a:off x="621792" y="1911096"/>
            <a:ext cx="3355848" cy="22860"/>
          </a:xfrm>
          <a:prstGeom prst="rect">
            <a:avLst/>
          </a:prstGeom>
          <a:solidFill>
            <a:srgbClr val="12A566"/>
          </a:solidFill>
          <a:ln/>
        </p:spPr>
      </p:sp>
      <p:sp>
        <p:nvSpPr>
          <p:cNvPr id="9" name="Text 7"/>
          <p:cNvSpPr txBox="1"/>
          <p:nvPr/>
        </p:nvSpPr>
        <p:spPr>
          <a:xfrm>
            <a:off x="621792" y="1938528"/>
            <a:ext cx="1828800" cy="219456"/>
          </a:xfrm>
          <a:prstGeom prst="rect">
            <a:avLst/>
          </a:prstGeom>
          <a:noFill/>
          <a:ln/>
        </p:spPr>
        <p:txBody>
          <a:bodyPr wrap="square" lIns="0" tIns="0" rIns="0" bIns="0" rtlCol="0" anchor="ctr"/>
          <a:lstStyle/>
          <a:p>
            <a:pPr indent="0" marL="0">
              <a:buNone/>
            </a:pPr>
            <a:r>
              <a:rPr lang="en-US" sz="1400" b="1" dirty="0">
                <a:solidFill>
                  <a:srgbClr val="0B7A4A"/>
                </a:solidFill>
                <a:latin typeface="Inter" pitchFamily="34" charset="0"/>
                <a:ea typeface="Inter" pitchFamily="34" charset="-122"/>
                <a:cs typeface="Inter" pitchFamily="34" charset="-120"/>
              </a:rPr>
              <a:t>TOP 5</a:t>
            </a:r>
            <a:endParaRPr lang="en-US" sz="1400" dirty="0"/>
          </a:p>
        </p:txBody>
      </p:sp>
      <p:sp>
        <p:nvSpPr>
          <p:cNvPr id="10" name="Text 8"/>
          <p:cNvSpPr txBox="1"/>
          <p:nvPr/>
        </p:nvSpPr>
        <p:spPr>
          <a:xfrm>
            <a:off x="2313432" y="1938528"/>
            <a:ext cx="731520" cy="219456"/>
          </a:xfrm>
          <a:prstGeom prst="rect">
            <a:avLst/>
          </a:prstGeom>
          <a:noFill/>
          <a:ln/>
        </p:spPr>
        <p:txBody>
          <a:bodyPr wrap="square" lIns="0" tIns="0" rIns="0" bIns="0" rtlCol="0" anchor="ctr"/>
          <a:lstStyle/>
          <a:p>
            <a:pPr algn="r" indent="0" marL="0">
              <a:buNone/>
            </a:pPr>
            <a:r>
              <a:rPr lang="en-US" sz="1400" b="1" dirty="0">
                <a:solidFill>
                  <a:srgbClr val="595959"/>
                </a:solidFill>
                <a:latin typeface="Inter" pitchFamily="34" charset="0"/>
                <a:ea typeface="Inter" pitchFamily="34" charset="-122"/>
                <a:cs typeface="Inter" pitchFamily="34" charset="-120"/>
              </a:rPr>
              <a:t>Rate</a:t>
            </a:r>
            <a:endParaRPr lang="en-US" sz="1400" dirty="0"/>
          </a:p>
        </p:txBody>
      </p:sp>
      <p:sp>
        <p:nvSpPr>
          <p:cNvPr id="11" name="Text 9"/>
          <p:cNvSpPr txBox="1"/>
          <p:nvPr/>
        </p:nvSpPr>
        <p:spPr>
          <a:xfrm>
            <a:off x="3063240" y="1938528"/>
            <a:ext cx="914400" cy="219456"/>
          </a:xfrm>
          <a:prstGeom prst="rect">
            <a:avLst/>
          </a:prstGeom>
          <a:noFill/>
          <a:ln/>
        </p:spPr>
        <p:txBody>
          <a:bodyPr wrap="square" lIns="0" tIns="0" rIns="0" bIns="0" rtlCol="0" anchor="ctr"/>
          <a:lstStyle/>
          <a:p>
            <a:pPr algn="r" indent="0" marL="0">
              <a:buNone/>
            </a:pPr>
            <a:r>
              <a:rPr lang="en-US" sz="1400" b="1" dirty="0">
                <a:solidFill>
                  <a:srgbClr val="595959"/>
                </a:solidFill>
                <a:latin typeface="Inter" pitchFamily="34" charset="0"/>
                <a:ea typeface="Inter" pitchFamily="34" charset="-122"/>
                <a:cs typeface="Inter" pitchFamily="34" charset="-120"/>
              </a:rPr>
              <a:t>Calls</a:t>
            </a:r>
            <a:endParaRPr lang="en-US" sz="1400" dirty="0"/>
          </a:p>
        </p:txBody>
      </p:sp>
      <p:sp>
        <p:nvSpPr>
          <p:cNvPr id="12" name="Text 10"/>
          <p:cNvSpPr txBox="1"/>
          <p:nvPr/>
        </p:nvSpPr>
        <p:spPr>
          <a:xfrm>
            <a:off x="621792" y="2167128"/>
            <a:ext cx="1673352" cy="34747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Nissan</a:t>
            </a:r>
            <a:endParaRPr lang="en-US" sz="1300" dirty="0"/>
          </a:p>
        </p:txBody>
      </p:sp>
      <p:sp>
        <p:nvSpPr>
          <p:cNvPr id="13" name="Text 11"/>
          <p:cNvSpPr txBox="1"/>
          <p:nvPr/>
        </p:nvSpPr>
        <p:spPr>
          <a:xfrm>
            <a:off x="2313432" y="2167128"/>
            <a:ext cx="731520" cy="347472"/>
          </a:xfrm>
          <a:prstGeom prst="rect">
            <a:avLst/>
          </a:prstGeom>
          <a:noFill/>
          <a:ln/>
        </p:spPr>
        <p:txBody>
          <a:bodyPr wrap="square" lIns="0" tIns="0" rIns="0" bIns="0" rtlCol="0" anchor="ctr"/>
          <a:lstStyle/>
          <a:p>
            <a:pPr algn="r" indent="0" marL="0">
              <a:buNone/>
            </a:pPr>
            <a:r>
              <a:rPr lang="en-US" sz="1300" b="1" dirty="0">
                <a:solidFill>
                  <a:srgbClr val="0B7A4A"/>
                </a:solidFill>
                <a:latin typeface="Inter" pitchFamily="34" charset="0"/>
                <a:ea typeface="Inter" pitchFamily="34" charset="-122"/>
                <a:cs typeface="Inter" pitchFamily="34" charset="-120"/>
              </a:rPr>
              <a:t>83.0%</a:t>
            </a:r>
            <a:endParaRPr lang="en-US" sz="1300" dirty="0"/>
          </a:p>
        </p:txBody>
      </p:sp>
      <p:sp>
        <p:nvSpPr>
          <p:cNvPr id="14" name="Text 12"/>
          <p:cNvSpPr txBox="1"/>
          <p:nvPr/>
        </p:nvSpPr>
        <p:spPr>
          <a:xfrm>
            <a:off x="3063240" y="2167128"/>
            <a:ext cx="914400" cy="347472"/>
          </a:xfrm>
          <a:prstGeom prst="rect">
            <a:avLst/>
          </a:prstGeom>
          <a:noFill/>
          <a:ln/>
        </p:spPr>
        <p:txBody>
          <a:bodyPr wrap="square" lIns="0" tIns="0" rIns="0" bIns="0" rtlCol="0" anchor="ctr"/>
          <a:lstStyle/>
          <a:p>
            <a:pPr algn="r" indent="0" marL="0">
              <a:buNone/>
            </a:pPr>
            <a:r>
              <a:rPr lang="en-US" sz="1200" dirty="0">
                <a:solidFill>
                  <a:srgbClr val="595959"/>
                </a:solidFill>
                <a:latin typeface="Inter" pitchFamily="34" charset="0"/>
                <a:ea typeface="Inter" pitchFamily="34" charset="-122"/>
                <a:cs typeface="Inter" pitchFamily="34" charset="-120"/>
              </a:rPr>
              <a:t>1,030</a:t>
            </a:r>
            <a:endParaRPr lang="en-US" sz="1200" dirty="0"/>
          </a:p>
        </p:txBody>
      </p:sp>
      <p:sp>
        <p:nvSpPr>
          <p:cNvPr id="15" name="Shape 13"/>
          <p:cNvSpPr/>
          <p:nvPr/>
        </p:nvSpPr>
        <p:spPr>
          <a:xfrm>
            <a:off x="4023360" y="2203704"/>
            <a:ext cx="54864" cy="274320"/>
          </a:xfrm>
          <a:prstGeom prst="rect">
            <a:avLst/>
          </a:prstGeom>
          <a:solidFill>
            <a:srgbClr val="12A566"/>
          </a:solidFill>
          <a:ln/>
        </p:spPr>
      </p:sp>
      <p:sp>
        <p:nvSpPr>
          <p:cNvPr id="16" name="Text 14"/>
          <p:cNvSpPr txBox="1"/>
          <p:nvPr/>
        </p:nvSpPr>
        <p:spPr>
          <a:xfrm>
            <a:off x="621792" y="2514600"/>
            <a:ext cx="1673352" cy="34747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Prescott</a:t>
            </a:r>
            <a:endParaRPr lang="en-US" sz="1300" dirty="0"/>
          </a:p>
        </p:txBody>
      </p:sp>
      <p:sp>
        <p:nvSpPr>
          <p:cNvPr id="17" name="Text 15"/>
          <p:cNvSpPr txBox="1"/>
          <p:nvPr/>
        </p:nvSpPr>
        <p:spPr>
          <a:xfrm>
            <a:off x="2313432" y="2514600"/>
            <a:ext cx="731520" cy="347472"/>
          </a:xfrm>
          <a:prstGeom prst="rect">
            <a:avLst/>
          </a:prstGeom>
          <a:noFill/>
          <a:ln/>
        </p:spPr>
        <p:txBody>
          <a:bodyPr wrap="square" lIns="0" tIns="0" rIns="0" bIns="0" rtlCol="0" anchor="ctr"/>
          <a:lstStyle/>
          <a:p>
            <a:pPr algn="r" indent="0" marL="0">
              <a:buNone/>
            </a:pPr>
            <a:r>
              <a:rPr lang="en-US" sz="1300" b="1" dirty="0">
                <a:solidFill>
                  <a:srgbClr val="0B7A4A"/>
                </a:solidFill>
                <a:latin typeface="Inter" pitchFamily="34" charset="0"/>
                <a:ea typeface="Inter" pitchFamily="34" charset="-122"/>
                <a:cs typeface="Inter" pitchFamily="34" charset="-120"/>
              </a:rPr>
              <a:t>82.3%</a:t>
            </a:r>
            <a:endParaRPr lang="en-US" sz="1300" dirty="0"/>
          </a:p>
        </p:txBody>
      </p:sp>
      <p:sp>
        <p:nvSpPr>
          <p:cNvPr id="18" name="Text 16"/>
          <p:cNvSpPr txBox="1"/>
          <p:nvPr/>
        </p:nvSpPr>
        <p:spPr>
          <a:xfrm>
            <a:off x="3063240" y="2514600"/>
            <a:ext cx="914400" cy="347472"/>
          </a:xfrm>
          <a:prstGeom prst="rect">
            <a:avLst/>
          </a:prstGeom>
          <a:noFill/>
          <a:ln/>
        </p:spPr>
        <p:txBody>
          <a:bodyPr wrap="square" lIns="0" tIns="0" rIns="0" bIns="0" rtlCol="0" anchor="ctr"/>
          <a:lstStyle/>
          <a:p>
            <a:pPr algn="r" indent="0" marL="0">
              <a:buNone/>
            </a:pPr>
            <a:r>
              <a:rPr lang="en-US" sz="1200" dirty="0">
                <a:solidFill>
                  <a:srgbClr val="595959"/>
                </a:solidFill>
                <a:latin typeface="Inter" pitchFamily="34" charset="0"/>
                <a:ea typeface="Inter" pitchFamily="34" charset="-122"/>
                <a:cs typeface="Inter" pitchFamily="34" charset="-120"/>
              </a:rPr>
              <a:t>4,349</a:t>
            </a:r>
            <a:endParaRPr lang="en-US" sz="1200" dirty="0"/>
          </a:p>
        </p:txBody>
      </p:sp>
      <p:sp>
        <p:nvSpPr>
          <p:cNvPr id="19" name="Text 17"/>
          <p:cNvSpPr txBox="1"/>
          <p:nvPr/>
        </p:nvSpPr>
        <p:spPr>
          <a:xfrm>
            <a:off x="621792" y="2862072"/>
            <a:ext cx="1673352" cy="34747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Flagstaff</a:t>
            </a:r>
            <a:endParaRPr lang="en-US" sz="1300" dirty="0"/>
          </a:p>
        </p:txBody>
      </p:sp>
      <p:sp>
        <p:nvSpPr>
          <p:cNvPr id="20" name="Text 18"/>
          <p:cNvSpPr txBox="1"/>
          <p:nvPr/>
        </p:nvSpPr>
        <p:spPr>
          <a:xfrm>
            <a:off x="2313432" y="2862072"/>
            <a:ext cx="731520" cy="347472"/>
          </a:xfrm>
          <a:prstGeom prst="rect">
            <a:avLst/>
          </a:prstGeom>
          <a:noFill/>
          <a:ln/>
        </p:spPr>
        <p:txBody>
          <a:bodyPr wrap="square" lIns="0" tIns="0" rIns="0" bIns="0" rtlCol="0" anchor="ctr"/>
          <a:lstStyle/>
          <a:p>
            <a:pPr algn="r" indent="0" marL="0">
              <a:buNone/>
            </a:pPr>
            <a:r>
              <a:rPr lang="en-US" sz="1300" b="1" dirty="0">
                <a:solidFill>
                  <a:srgbClr val="0B7A4A"/>
                </a:solidFill>
                <a:latin typeface="Inter" pitchFamily="34" charset="0"/>
                <a:ea typeface="Inter" pitchFamily="34" charset="-122"/>
                <a:cs typeface="Inter" pitchFamily="34" charset="-120"/>
              </a:rPr>
              <a:t>79.0%</a:t>
            </a:r>
            <a:endParaRPr lang="en-US" sz="1300" dirty="0"/>
          </a:p>
        </p:txBody>
      </p:sp>
      <p:sp>
        <p:nvSpPr>
          <p:cNvPr id="21" name="Text 19"/>
          <p:cNvSpPr txBox="1"/>
          <p:nvPr/>
        </p:nvSpPr>
        <p:spPr>
          <a:xfrm>
            <a:off x="3063240" y="2862072"/>
            <a:ext cx="914400" cy="347472"/>
          </a:xfrm>
          <a:prstGeom prst="rect">
            <a:avLst/>
          </a:prstGeom>
          <a:noFill/>
          <a:ln/>
        </p:spPr>
        <p:txBody>
          <a:bodyPr wrap="square" lIns="0" tIns="0" rIns="0" bIns="0" rtlCol="0" anchor="ctr"/>
          <a:lstStyle/>
          <a:p>
            <a:pPr algn="r" indent="0" marL="0">
              <a:buNone/>
            </a:pPr>
            <a:r>
              <a:rPr lang="en-US" sz="1200" dirty="0">
                <a:solidFill>
                  <a:srgbClr val="595959"/>
                </a:solidFill>
                <a:latin typeface="Inter" pitchFamily="34" charset="0"/>
                <a:ea typeface="Inter" pitchFamily="34" charset="-122"/>
                <a:cs typeface="Inter" pitchFamily="34" charset="-120"/>
              </a:rPr>
              <a:t>696</a:t>
            </a:r>
            <a:endParaRPr lang="en-US" sz="1200" dirty="0"/>
          </a:p>
        </p:txBody>
      </p:sp>
      <p:sp>
        <p:nvSpPr>
          <p:cNvPr id="22" name="Shape 20"/>
          <p:cNvSpPr/>
          <p:nvPr/>
        </p:nvSpPr>
        <p:spPr>
          <a:xfrm>
            <a:off x="4023360" y="2898648"/>
            <a:ext cx="54864" cy="274320"/>
          </a:xfrm>
          <a:prstGeom prst="rect">
            <a:avLst/>
          </a:prstGeom>
          <a:solidFill>
            <a:srgbClr val="12A566"/>
          </a:solidFill>
          <a:ln/>
        </p:spPr>
      </p:sp>
      <p:sp>
        <p:nvSpPr>
          <p:cNvPr id="23" name="Text 21"/>
          <p:cNvSpPr txBox="1"/>
          <p:nvPr/>
        </p:nvSpPr>
        <p:spPr>
          <a:xfrm>
            <a:off x="621792" y="3209544"/>
            <a:ext cx="1673352" cy="34747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Chevy GMC Bullhead</a:t>
            </a:r>
            <a:endParaRPr lang="en-US" sz="1300" dirty="0"/>
          </a:p>
        </p:txBody>
      </p:sp>
      <p:sp>
        <p:nvSpPr>
          <p:cNvPr id="24" name="Text 22"/>
          <p:cNvSpPr txBox="1"/>
          <p:nvPr/>
        </p:nvSpPr>
        <p:spPr>
          <a:xfrm>
            <a:off x="2313432" y="3209544"/>
            <a:ext cx="731520" cy="347472"/>
          </a:xfrm>
          <a:prstGeom prst="rect">
            <a:avLst/>
          </a:prstGeom>
          <a:noFill/>
          <a:ln/>
        </p:spPr>
        <p:txBody>
          <a:bodyPr wrap="square" lIns="0" tIns="0" rIns="0" bIns="0" rtlCol="0" anchor="ctr"/>
          <a:lstStyle/>
          <a:p>
            <a:pPr algn="r" indent="0" marL="0">
              <a:buNone/>
            </a:pPr>
            <a:r>
              <a:rPr lang="en-US" sz="1300" b="1" dirty="0">
                <a:solidFill>
                  <a:srgbClr val="0B7A4A"/>
                </a:solidFill>
                <a:latin typeface="Inter" pitchFamily="34" charset="0"/>
                <a:ea typeface="Inter" pitchFamily="34" charset="-122"/>
                <a:cs typeface="Inter" pitchFamily="34" charset="-120"/>
              </a:rPr>
              <a:t>78.4%</a:t>
            </a:r>
            <a:endParaRPr lang="en-US" sz="1300" dirty="0"/>
          </a:p>
        </p:txBody>
      </p:sp>
      <p:sp>
        <p:nvSpPr>
          <p:cNvPr id="25" name="Text 23"/>
          <p:cNvSpPr txBox="1"/>
          <p:nvPr/>
        </p:nvSpPr>
        <p:spPr>
          <a:xfrm>
            <a:off x="3063240" y="3209544"/>
            <a:ext cx="914400" cy="347472"/>
          </a:xfrm>
          <a:prstGeom prst="rect">
            <a:avLst/>
          </a:prstGeom>
          <a:noFill/>
          <a:ln/>
        </p:spPr>
        <p:txBody>
          <a:bodyPr wrap="square" lIns="0" tIns="0" rIns="0" bIns="0" rtlCol="0" anchor="ctr"/>
          <a:lstStyle/>
          <a:p>
            <a:pPr algn="r" indent="0" marL="0">
              <a:buNone/>
            </a:pPr>
            <a:r>
              <a:rPr lang="en-US" sz="1200" dirty="0">
                <a:solidFill>
                  <a:srgbClr val="595959"/>
                </a:solidFill>
                <a:latin typeface="Inter" pitchFamily="34" charset="0"/>
                <a:ea typeface="Inter" pitchFamily="34" charset="-122"/>
                <a:cs typeface="Inter" pitchFamily="34" charset="-120"/>
              </a:rPr>
              <a:t>876</a:t>
            </a:r>
            <a:endParaRPr lang="en-US" sz="1200" dirty="0"/>
          </a:p>
        </p:txBody>
      </p:sp>
      <p:sp>
        <p:nvSpPr>
          <p:cNvPr id="26" name="Shape 24"/>
          <p:cNvSpPr/>
          <p:nvPr/>
        </p:nvSpPr>
        <p:spPr>
          <a:xfrm>
            <a:off x="4023360" y="3246120"/>
            <a:ext cx="54864" cy="274320"/>
          </a:xfrm>
          <a:prstGeom prst="rect">
            <a:avLst/>
          </a:prstGeom>
          <a:solidFill>
            <a:srgbClr val="12A566"/>
          </a:solidFill>
          <a:ln/>
        </p:spPr>
      </p:sp>
      <p:sp>
        <p:nvSpPr>
          <p:cNvPr id="27" name="Text 25"/>
          <p:cNvSpPr txBox="1"/>
          <p:nvPr/>
        </p:nvSpPr>
        <p:spPr>
          <a:xfrm>
            <a:off x="621792" y="3557016"/>
            <a:ext cx="1673352" cy="34747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Henderson</a:t>
            </a:r>
            <a:endParaRPr lang="en-US" sz="1300" dirty="0"/>
          </a:p>
        </p:txBody>
      </p:sp>
      <p:sp>
        <p:nvSpPr>
          <p:cNvPr id="28" name="Text 26"/>
          <p:cNvSpPr txBox="1"/>
          <p:nvPr/>
        </p:nvSpPr>
        <p:spPr>
          <a:xfrm>
            <a:off x="2313432" y="3557016"/>
            <a:ext cx="731520" cy="347472"/>
          </a:xfrm>
          <a:prstGeom prst="rect">
            <a:avLst/>
          </a:prstGeom>
          <a:noFill/>
          <a:ln/>
        </p:spPr>
        <p:txBody>
          <a:bodyPr wrap="square" lIns="0" tIns="0" rIns="0" bIns="0" rtlCol="0" anchor="ctr"/>
          <a:lstStyle/>
          <a:p>
            <a:pPr algn="r" indent="0" marL="0">
              <a:buNone/>
            </a:pPr>
            <a:r>
              <a:rPr lang="en-US" sz="1300" b="1" dirty="0">
                <a:solidFill>
                  <a:srgbClr val="0B7A4A"/>
                </a:solidFill>
                <a:latin typeface="Inter" pitchFamily="34" charset="0"/>
                <a:ea typeface="Inter" pitchFamily="34" charset="-122"/>
                <a:cs typeface="Inter" pitchFamily="34" charset="-120"/>
              </a:rPr>
              <a:t>77.7%</a:t>
            </a:r>
            <a:endParaRPr lang="en-US" sz="1300" dirty="0"/>
          </a:p>
        </p:txBody>
      </p:sp>
      <p:sp>
        <p:nvSpPr>
          <p:cNvPr id="29" name="Text 27"/>
          <p:cNvSpPr txBox="1"/>
          <p:nvPr/>
        </p:nvSpPr>
        <p:spPr>
          <a:xfrm>
            <a:off x="3063240" y="3557016"/>
            <a:ext cx="914400" cy="347472"/>
          </a:xfrm>
          <a:prstGeom prst="rect">
            <a:avLst/>
          </a:prstGeom>
          <a:noFill/>
          <a:ln/>
        </p:spPr>
        <p:txBody>
          <a:bodyPr wrap="square" lIns="0" tIns="0" rIns="0" bIns="0" rtlCol="0" anchor="ctr"/>
          <a:lstStyle/>
          <a:p>
            <a:pPr algn="r" indent="0" marL="0">
              <a:buNone/>
            </a:pPr>
            <a:r>
              <a:rPr lang="en-US" sz="1200" dirty="0">
                <a:solidFill>
                  <a:srgbClr val="595959"/>
                </a:solidFill>
                <a:latin typeface="Inter" pitchFamily="34" charset="0"/>
                <a:ea typeface="Inter" pitchFamily="34" charset="-122"/>
                <a:cs typeface="Inter" pitchFamily="34" charset="-120"/>
              </a:rPr>
              <a:t>6,915</a:t>
            </a:r>
            <a:endParaRPr lang="en-US" sz="1200" dirty="0"/>
          </a:p>
        </p:txBody>
      </p:sp>
      <p:sp>
        <p:nvSpPr>
          <p:cNvPr id="30" name="Shape 28"/>
          <p:cNvSpPr/>
          <p:nvPr/>
        </p:nvSpPr>
        <p:spPr>
          <a:xfrm>
            <a:off x="4023360" y="3593592"/>
            <a:ext cx="54864" cy="274320"/>
          </a:xfrm>
          <a:prstGeom prst="rect">
            <a:avLst/>
          </a:prstGeom>
          <a:solidFill>
            <a:srgbClr val="12A566"/>
          </a:solidFill>
          <a:ln/>
        </p:spPr>
      </p:sp>
      <p:sp>
        <p:nvSpPr>
          <p:cNvPr id="31" name="Shape 29"/>
          <p:cNvSpPr/>
          <p:nvPr/>
        </p:nvSpPr>
        <p:spPr>
          <a:xfrm>
            <a:off x="621792" y="4270248"/>
            <a:ext cx="3355848" cy="22860"/>
          </a:xfrm>
          <a:prstGeom prst="rect">
            <a:avLst/>
          </a:prstGeom>
          <a:solidFill>
            <a:srgbClr val="C2352F"/>
          </a:solidFill>
          <a:ln/>
        </p:spPr>
      </p:sp>
      <p:sp>
        <p:nvSpPr>
          <p:cNvPr id="32" name="Text 30"/>
          <p:cNvSpPr txBox="1"/>
          <p:nvPr/>
        </p:nvSpPr>
        <p:spPr>
          <a:xfrm>
            <a:off x="621792" y="4297680"/>
            <a:ext cx="1828800" cy="219456"/>
          </a:xfrm>
          <a:prstGeom prst="rect">
            <a:avLst/>
          </a:prstGeom>
          <a:noFill/>
          <a:ln/>
        </p:spPr>
        <p:txBody>
          <a:bodyPr wrap="square" lIns="0" tIns="0" rIns="0" bIns="0" rtlCol="0" anchor="ctr"/>
          <a:lstStyle/>
          <a:p>
            <a:pPr indent="0" marL="0">
              <a:buNone/>
            </a:pPr>
            <a:r>
              <a:rPr lang="en-US" sz="1400" b="1" dirty="0">
                <a:solidFill>
                  <a:srgbClr val="A82B26"/>
                </a:solidFill>
                <a:latin typeface="Inter" pitchFamily="34" charset="0"/>
                <a:ea typeface="Inter" pitchFamily="34" charset="-122"/>
                <a:cs typeface="Inter" pitchFamily="34" charset="-120"/>
              </a:rPr>
              <a:t>BOTTOM 5</a:t>
            </a:r>
            <a:endParaRPr lang="en-US" sz="1400" dirty="0"/>
          </a:p>
        </p:txBody>
      </p:sp>
      <p:sp>
        <p:nvSpPr>
          <p:cNvPr id="33" name="Text 31"/>
          <p:cNvSpPr txBox="1"/>
          <p:nvPr/>
        </p:nvSpPr>
        <p:spPr>
          <a:xfrm>
            <a:off x="2313432" y="4297680"/>
            <a:ext cx="731520" cy="219456"/>
          </a:xfrm>
          <a:prstGeom prst="rect">
            <a:avLst/>
          </a:prstGeom>
          <a:noFill/>
          <a:ln/>
        </p:spPr>
        <p:txBody>
          <a:bodyPr wrap="square" lIns="0" tIns="0" rIns="0" bIns="0" rtlCol="0" anchor="ctr"/>
          <a:lstStyle/>
          <a:p>
            <a:pPr algn="r" indent="0" marL="0">
              <a:buNone/>
            </a:pPr>
            <a:r>
              <a:rPr lang="en-US" sz="1400" b="1" dirty="0">
                <a:solidFill>
                  <a:srgbClr val="595959"/>
                </a:solidFill>
                <a:latin typeface="Inter" pitchFamily="34" charset="0"/>
                <a:ea typeface="Inter" pitchFamily="34" charset="-122"/>
                <a:cs typeface="Inter" pitchFamily="34" charset="-120"/>
              </a:rPr>
              <a:t>Rate</a:t>
            </a:r>
            <a:endParaRPr lang="en-US" sz="1400" dirty="0"/>
          </a:p>
        </p:txBody>
      </p:sp>
      <p:sp>
        <p:nvSpPr>
          <p:cNvPr id="34" name="Text 32"/>
          <p:cNvSpPr txBox="1"/>
          <p:nvPr/>
        </p:nvSpPr>
        <p:spPr>
          <a:xfrm>
            <a:off x="3063240" y="4297680"/>
            <a:ext cx="914400" cy="219456"/>
          </a:xfrm>
          <a:prstGeom prst="rect">
            <a:avLst/>
          </a:prstGeom>
          <a:noFill/>
          <a:ln/>
        </p:spPr>
        <p:txBody>
          <a:bodyPr wrap="square" lIns="0" tIns="0" rIns="0" bIns="0" rtlCol="0" anchor="ctr"/>
          <a:lstStyle/>
          <a:p>
            <a:pPr algn="r" indent="0" marL="0">
              <a:buNone/>
            </a:pPr>
            <a:r>
              <a:rPr lang="en-US" sz="1400" b="1" dirty="0">
                <a:solidFill>
                  <a:srgbClr val="595959"/>
                </a:solidFill>
                <a:latin typeface="Inter" pitchFamily="34" charset="0"/>
                <a:ea typeface="Inter" pitchFamily="34" charset="-122"/>
                <a:cs typeface="Inter" pitchFamily="34" charset="-120"/>
              </a:rPr>
              <a:t>Calls</a:t>
            </a:r>
            <a:endParaRPr lang="en-US" sz="1400" dirty="0"/>
          </a:p>
        </p:txBody>
      </p:sp>
      <p:sp>
        <p:nvSpPr>
          <p:cNvPr id="35" name="Text 33"/>
          <p:cNvSpPr txBox="1"/>
          <p:nvPr/>
        </p:nvSpPr>
        <p:spPr>
          <a:xfrm>
            <a:off x="621792" y="4526280"/>
            <a:ext cx="1673352" cy="34747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CDR Post Falls</a:t>
            </a:r>
            <a:endParaRPr lang="en-US" sz="1300" dirty="0"/>
          </a:p>
        </p:txBody>
      </p:sp>
      <p:sp>
        <p:nvSpPr>
          <p:cNvPr id="36" name="Text 34"/>
          <p:cNvSpPr txBox="1"/>
          <p:nvPr/>
        </p:nvSpPr>
        <p:spPr>
          <a:xfrm>
            <a:off x="2313432" y="4526280"/>
            <a:ext cx="731520" cy="34747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47.7%</a:t>
            </a:r>
            <a:endParaRPr lang="en-US" sz="1300" dirty="0"/>
          </a:p>
        </p:txBody>
      </p:sp>
      <p:sp>
        <p:nvSpPr>
          <p:cNvPr id="37" name="Text 35"/>
          <p:cNvSpPr txBox="1"/>
          <p:nvPr/>
        </p:nvSpPr>
        <p:spPr>
          <a:xfrm>
            <a:off x="3063240" y="4526280"/>
            <a:ext cx="914400" cy="347472"/>
          </a:xfrm>
          <a:prstGeom prst="rect">
            <a:avLst/>
          </a:prstGeom>
          <a:noFill/>
          <a:ln/>
        </p:spPr>
        <p:txBody>
          <a:bodyPr wrap="square" lIns="0" tIns="0" rIns="0" bIns="0" rtlCol="0" anchor="ctr"/>
          <a:lstStyle/>
          <a:p>
            <a:pPr algn="r" indent="0" marL="0">
              <a:buNone/>
            </a:pPr>
            <a:r>
              <a:rPr lang="en-US" sz="1200" dirty="0">
                <a:solidFill>
                  <a:srgbClr val="595959"/>
                </a:solidFill>
                <a:latin typeface="Inter" pitchFamily="34" charset="0"/>
                <a:ea typeface="Inter" pitchFamily="34" charset="-122"/>
                <a:cs typeface="Inter" pitchFamily="34" charset="-120"/>
              </a:rPr>
              <a:t>2,247</a:t>
            </a:r>
            <a:endParaRPr lang="en-US" sz="1200" dirty="0"/>
          </a:p>
        </p:txBody>
      </p:sp>
      <p:sp>
        <p:nvSpPr>
          <p:cNvPr id="38" name="Shape 36"/>
          <p:cNvSpPr/>
          <p:nvPr/>
        </p:nvSpPr>
        <p:spPr>
          <a:xfrm>
            <a:off x="4023360" y="4562856"/>
            <a:ext cx="54864" cy="274320"/>
          </a:xfrm>
          <a:prstGeom prst="rect">
            <a:avLst/>
          </a:prstGeom>
          <a:solidFill>
            <a:srgbClr val="C2352F"/>
          </a:solidFill>
          <a:ln/>
        </p:spPr>
      </p:sp>
      <p:sp>
        <p:nvSpPr>
          <p:cNvPr id="39" name="Text 37"/>
          <p:cNvSpPr txBox="1"/>
          <p:nvPr/>
        </p:nvSpPr>
        <p:spPr>
          <a:xfrm>
            <a:off x="621792" y="4873752"/>
            <a:ext cx="1673352" cy="34747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Jeep Post Falls</a:t>
            </a:r>
            <a:endParaRPr lang="en-US" sz="1300" dirty="0"/>
          </a:p>
        </p:txBody>
      </p:sp>
      <p:sp>
        <p:nvSpPr>
          <p:cNvPr id="40" name="Text 38"/>
          <p:cNvSpPr txBox="1"/>
          <p:nvPr/>
        </p:nvSpPr>
        <p:spPr>
          <a:xfrm>
            <a:off x="2313432" y="4873752"/>
            <a:ext cx="731520" cy="34747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51.2%</a:t>
            </a:r>
            <a:endParaRPr lang="en-US" sz="1300" dirty="0"/>
          </a:p>
        </p:txBody>
      </p:sp>
      <p:sp>
        <p:nvSpPr>
          <p:cNvPr id="41" name="Text 39"/>
          <p:cNvSpPr txBox="1"/>
          <p:nvPr/>
        </p:nvSpPr>
        <p:spPr>
          <a:xfrm>
            <a:off x="3063240" y="4873752"/>
            <a:ext cx="914400" cy="347472"/>
          </a:xfrm>
          <a:prstGeom prst="rect">
            <a:avLst/>
          </a:prstGeom>
          <a:noFill/>
          <a:ln/>
        </p:spPr>
        <p:txBody>
          <a:bodyPr wrap="square" lIns="0" tIns="0" rIns="0" bIns="0" rtlCol="0" anchor="ctr"/>
          <a:lstStyle/>
          <a:p>
            <a:pPr algn="r" indent="0" marL="0">
              <a:buNone/>
            </a:pPr>
            <a:r>
              <a:rPr lang="en-US" sz="1200" dirty="0">
                <a:solidFill>
                  <a:srgbClr val="595959"/>
                </a:solidFill>
                <a:latin typeface="Inter" pitchFamily="34" charset="0"/>
                <a:ea typeface="Inter" pitchFamily="34" charset="-122"/>
                <a:cs typeface="Inter" pitchFamily="34" charset="-120"/>
              </a:rPr>
              <a:t>896</a:t>
            </a:r>
            <a:endParaRPr lang="en-US" sz="1200" dirty="0"/>
          </a:p>
        </p:txBody>
      </p:sp>
      <p:sp>
        <p:nvSpPr>
          <p:cNvPr id="42" name="Shape 40"/>
          <p:cNvSpPr/>
          <p:nvPr/>
        </p:nvSpPr>
        <p:spPr>
          <a:xfrm>
            <a:off x="4023360" y="4910328"/>
            <a:ext cx="54864" cy="274320"/>
          </a:xfrm>
          <a:prstGeom prst="rect">
            <a:avLst/>
          </a:prstGeom>
          <a:solidFill>
            <a:srgbClr val="C2352F"/>
          </a:solidFill>
          <a:ln/>
        </p:spPr>
      </p:sp>
      <p:sp>
        <p:nvSpPr>
          <p:cNvPr id="43" name="Text 41"/>
          <p:cNvSpPr txBox="1"/>
          <p:nvPr/>
        </p:nvSpPr>
        <p:spPr>
          <a:xfrm>
            <a:off x="621792" y="5221224"/>
            <a:ext cx="1673352" cy="34747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Subaru of Las Vegas</a:t>
            </a:r>
            <a:endParaRPr lang="en-US" sz="1300" dirty="0"/>
          </a:p>
        </p:txBody>
      </p:sp>
      <p:sp>
        <p:nvSpPr>
          <p:cNvPr id="44" name="Text 42"/>
          <p:cNvSpPr txBox="1"/>
          <p:nvPr/>
        </p:nvSpPr>
        <p:spPr>
          <a:xfrm>
            <a:off x="2313432" y="5221224"/>
            <a:ext cx="731520" cy="34747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54.6%</a:t>
            </a:r>
            <a:endParaRPr lang="en-US" sz="1300" dirty="0"/>
          </a:p>
        </p:txBody>
      </p:sp>
      <p:sp>
        <p:nvSpPr>
          <p:cNvPr id="45" name="Text 43"/>
          <p:cNvSpPr txBox="1"/>
          <p:nvPr/>
        </p:nvSpPr>
        <p:spPr>
          <a:xfrm>
            <a:off x="3063240" y="5221224"/>
            <a:ext cx="914400" cy="347472"/>
          </a:xfrm>
          <a:prstGeom prst="rect">
            <a:avLst/>
          </a:prstGeom>
          <a:noFill/>
          <a:ln/>
        </p:spPr>
        <p:txBody>
          <a:bodyPr wrap="square" lIns="0" tIns="0" rIns="0" bIns="0" rtlCol="0" anchor="ctr"/>
          <a:lstStyle/>
          <a:p>
            <a:pPr algn="r" indent="0" marL="0">
              <a:buNone/>
            </a:pPr>
            <a:r>
              <a:rPr lang="en-US" sz="1200" dirty="0">
                <a:solidFill>
                  <a:srgbClr val="595959"/>
                </a:solidFill>
                <a:latin typeface="Inter" pitchFamily="34" charset="0"/>
                <a:ea typeface="Inter" pitchFamily="34" charset="-122"/>
                <a:cs typeface="Inter" pitchFamily="34" charset="-120"/>
              </a:rPr>
              <a:t>1,120</a:t>
            </a:r>
            <a:endParaRPr lang="en-US" sz="1200" dirty="0"/>
          </a:p>
        </p:txBody>
      </p:sp>
      <p:sp>
        <p:nvSpPr>
          <p:cNvPr id="46" name="Text 44"/>
          <p:cNvSpPr txBox="1"/>
          <p:nvPr/>
        </p:nvSpPr>
        <p:spPr>
          <a:xfrm>
            <a:off x="621792" y="5568696"/>
            <a:ext cx="1673352" cy="34747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Kia St George</a:t>
            </a:r>
            <a:endParaRPr lang="en-US" sz="1300" dirty="0"/>
          </a:p>
        </p:txBody>
      </p:sp>
      <p:sp>
        <p:nvSpPr>
          <p:cNvPr id="47" name="Text 45"/>
          <p:cNvSpPr txBox="1"/>
          <p:nvPr/>
        </p:nvSpPr>
        <p:spPr>
          <a:xfrm>
            <a:off x="2313432" y="5568696"/>
            <a:ext cx="731520" cy="34747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58.7%</a:t>
            </a:r>
            <a:endParaRPr lang="en-US" sz="1300" dirty="0"/>
          </a:p>
        </p:txBody>
      </p:sp>
      <p:sp>
        <p:nvSpPr>
          <p:cNvPr id="48" name="Text 46"/>
          <p:cNvSpPr txBox="1"/>
          <p:nvPr/>
        </p:nvSpPr>
        <p:spPr>
          <a:xfrm>
            <a:off x="3063240" y="5568696"/>
            <a:ext cx="914400" cy="347472"/>
          </a:xfrm>
          <a:prstGeom prst="rect">
            <a:avLst/>
          </a:prstGeom>
          <a:noFill/>
          <a:ln/>
        </p:spPr>
        <p:txBody>
          <a:bodyPr wrap="square" lIns="0" tIns="0" rIns="0" bIns="0" rtlCol="0" anchor="ctr"/>
          <a:lstStyle/>
          <a:p>
            <a:pPr algn="r" indent="0" marL="0">
              <a:buNone/>
            </a:pPr>
            <a:r>
              <a:rPr lang="en-US" sz="1200" dirty="0">
                <a:solidFill>
                  <a:srgbClr val="595959"/>
                </a:solidFill>
                <a:latin typeface="Inter" pitchFamily="34" charset="0"/>
                <a:ea typeface="Inter" pitchFamily="34" charset="-122"/>
                <a:cs typeface="Inter" pitchFamily="34" charset="-120"/>
              </a:rPr>
              <a:t>1,075</a:t>
            </a:r>
            <a:endParaRPr lang="en-US" sz="1200" dirty="0"/>
          </a:p>
        </p:txBody>
      </p:sp>
      <p:sp>
        <p:nvSpPr>
          <p:cNvPr id="49" name="Shape 47"/>
          <p:cNvSpPr/>
          <p:nvPr/>
        </p:nvSpPr>
        <p:spPr>
          <a:xfrm>
            <a:off x="4023360" y="5605272"/>
            <a:ext cx="54864" cy="274320"/>
          </a:xfrm>
          <a:prstGeom prst="rect">
            <a:avLst/>
          </a:prstGeom>
          <a:solidFill>
            <a:srgbClr val="C2352F"/>
          </a:solidFill>
          <a:ln/>
        </p:spPr>
      </p:sp>
      <p:sp>
        <p:nvSpPr>
          <p:cNvPr id="50" name="Text 48"/>
          <p:cNvSpPr txBox="1"/>
          <p:nvPr/>
        </p:nvSpPr>
        <p:spPr>
          <a:xfrm>
            <a:off x="621792" y="5916168"/>
            <a:ext cx="1673352" cy="34747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Audi Reno Tahoe</a:t>
            </a:r>
            <a:endParaRPr lang="en-US" sz="1300" dirty="0"/>
          </a:p>
        </p:txBody>
      </p:sp>
      <p:sp>
        <p:nvSpPr>
          <p:cNvPr id="51" name="Text 49"/>
          <p:cNvSpPr txBox="1"/>
          <p:nvPr/>
        </p:nvSpPr>
        <p:spPr>
          <a:xfrm>
            <a:off x="2313432" y="5916168"/>
            <a:ext cx="731520" cy="34747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59.3%</a:t>
            </a:r>
            <a:endParaRPr lang="en-US" sz="1300" dirty="0"/>
          </a:p>
        </p:txBody>
      </p:sp>
      <p:sp>
        <p:nvSpPr>
          <p:cNvPr id="52" name="Text 50"/>
          <p:cNvSpPr txBox="1"/>
          <p:nvPr/>
        </p:nvSpPr>
        <p:spPr>
          <a:xfrm>
            <a:off x="3063240" y="5916168"/>
            <a:ext cx="914400" cy="347472"/>
          </a:xfrm>
          <a:prstGeom prst="rect">
            <a:avLst/>
          </a:prstGeom>
          <a:noFill/>
          <a:ln/>
        </p:spPr>
        <p:txBody>
          <a:bodyPr wrap="square" lIns="0" tIns="0" rIns="0" bIns="0" rtlCol="0" anchor="ctr"/>
          <a:lstStyle/>
          <a:p>
            <a:pPr algn="r" indent="0" marL="0">
              <a:buNone/>
            </a:pPr>
            <a:r>
              <a:rPr lang="en-US" sz="1200" dirty="0">
                <a:solidFill>
                  <a:srgbClr val="595959"/>
                </a:solidFill>
                <a:latin typeface="Inter" pitchFamily="34" charset="0"/>
                <a:ea typeface="Inter" pitchFamily="34" charset="-122"/>
                <a:cs typeface="Inter" pitchFamily="34" charset="-120"/>
              </a:rPr>
              <a:t>1,171</a:t>
            </a:r>
            <a:endParaRPr lang="en-US" sz="1200" dirty="0"/>
          </a:p>
        </p:txBody>
      </p:sp>
      <p:sp>
        <p:nvSpPr>
          <p:cNvPr id="53" name="Shape 51"/>
          <p:cNvSpPr/>
          <p:nvPr/>
        </p:nvSpPr>
        <p:spPr>
          <a:xfrm>
            <a:off x="4023360" y="5952744"/>
            <a:ext cx="54864" cy="274320"/>
          </a:xfrm>
          <a:prstGeom prst="rect">
            <a:avLst/>
          </a:prstGeom>
          <a:solidFill>
            <a:srgbClr val="C2352F"/>
          </a:solidFill>
          <a:ln/>
        </p:spPr>
      </p:sp>
      <p:sp>
        <p:nvSpPr>
          <p:cNvPr id="54" name="Shape 52"/>
          <p:cNvSpPr/>
          <p:nvPr/>
        </p:nvSpPr>
        <p:spPr>
          <a:xfrm>
            <a:off x="4251960" y="1207008"/>
            <a:ext cx="3685032" cy="5148072"/>
          </a:xfrm>
          <a:prstGeom prst="rect">
            <a:avLst/>
          </a:prstGeom>
          <a:solidFill>
            <a:srgbClr val="FFFFFF"/>
          </a:solidFill>
          <a:ln/>
        </p:spPr>
      </p:sp>
      <p:sp>
        <p:nvSpPr>
          <p:cNvPr id="55" name="Text 53"/>
          <p:cNvSpPr txBox="1"/>
          <p:nvPr/>
        </p:nvSpPr>
        <p:spPr>
          <a:xfrm>
            <a:off x="4416552" y="1298448"/>
            <a:ext cx="3355848" cy="274320"/>
          </a:xfrm>
          <a:prstGeom prst="rect">
            <a:avLst/>
          </a:prstGeom>
          <a:noFill/>
          <a:ln/>
        </p:spPr>
        <p:txBody>
          <a:bodyPr wrap="square" lIns="0" tIns="0" rIns="0" bIns="0" rtlCol="0" anchor="ctr"/>
          <a:lstStyle/>
          <a:p>
            <a:pPr indent="0" marL="0">
              <a:buNone/>
            </a:pPr>
            <a:r>
              <a:rPr lang="en-US" sz="1400" b="1" spc="100" kern="0" dirty="0">
                <a:solidFill>
                  <a:srgbClr val="0B2C4A"/>
                </a:solidFill>
                <a:latin typeface="Inter" pitchFamily="34" charset="0"/>
                <a:ea typeface="Inter" pitchFamily="34" charset="-122"/>
                <a:cs typeface="Inter" pitchFamily="34" charset="-120"/>
              </a:rPr>
              <a:t>TRANSFER PICKUP RATE</a:t>
            </a:r>
            <a:endParaRPr lang="en-US" sz="1400" dirty="0"/>
          </a:p>
        </p:txBody>
      </p:sp>
      <p:sp>
        <p:nvSpPr>
          <p:cNvPr id="56" name="Text 54"/>
          <p:cNvSpPr txBox="1"/>
          <p:nvPr/>
        </p:nvSpPr>
        <p:spPr>
          <a:xfrm>
            <a:off x="4416552" y="1572768"/>
            <a:ext cx="3355848" cy="237744"/>
          </a:xfrm>
          <a:prstGeom prst="rect">
            <a:avLst/>
          </a:prstGeom>
          <a:noFill/>
          <a:ln/>
        </p:spPr>
        <p:txBody>
          <a:bodyPr wrap="square" lIns="0" tIns="0" rIns="0" bIns="0" rtlCol="0" anchor="ctr"/>
          <a:lstStyle/>
          <a:p>
            <a:pPr indent="0" marL="0">
              <a:buNone/>
            </a:pPr>
            <a:r>
              <a:rPr lang="en-US" sz="1400" dirty="0">
                <a:solidFill>
                  <a:srgbClr val="595959"/>
                </a:solidFill>
                <a:latin typeface="Inter" pitchFamily="34" charset="0"/>
                <a:ea typeface="Inter" pitchFamily="34" charset="-122"/>
                <a:cs typeface="Inter" pitchFamily="34" charset="-120"/>
              </a:rPr>
              <a:t>Group 47.7%</a:t>
            </a:r>
            <a:endParaRPr lang="en-US" sz="1400" dirty="0"/>
          </a:p>
        </p:txBody>
      </p:sp>
      <p:sp>
        <p:nvSpPr>
          <p:cNvPr id="57" name="Shape 55"/>
          <p:cNvSpPr/>
          <p:nvPr/>
        </p:nvSpPr>
        <p:spPr>
          <a:xfrm>
            <a:off x="4416552" y="1911096"/>
            <a:ext cx="3355848" cy="22860"/>
          </a:xfrm>
          <a:prstGeom prst="rect">
            <a:avLst/>
          </a:prstGeom>
          <a:solidFill>
            <a:srgbClr val="12A566"/>
          </a:solidFill>
          <a:ln/>
        </p:spPr>
      </p:sp>
      <p:sp>
        <p:nvSpPr>
          <p:cNvPr id="58" name="Text 56"/>
          <p:cNvSpPr txBox="1"/>
          <p:nvPr/>
        </p:nvSpPr>
        <p:spPr>
          <a:xfrm>
            <a:off x="4416552" y="1938528"/>
            <a:ext cx="1828800" cy="219456"/>
          </a:xfrm>
          <a:prstGeom prst="rect">
            <a:avLst/>
          </a:prstGeom>
          <a:noFill/>
          <a:ln/>
        </p:spPr>
        <p:txBody>
          <a:bodyPr wrap="square" lIns="0" tIns="0" rIns="0" bIns="0" rtlCol="0" anchor="ctr"/>
          <a:lstStyle/>
          <a:p>
            <a:pPr indent="0" marL="0">
              <a:buNone/>
            </a:pPr>
            <a:r>
              <a:rPr lang="en-US" sz="1400" b="1" dirty="0">
                <a:solidFill>
                  <a:srgbClr val="0B7A4A"/>
                </a:solidFill>
                <a:latin typeface="Inter" pitchFamily="34" charset="0"/>
                <a:ea typeface="Inter" pitchFamily="34" charset="-122"/>
                <a:cs typeface="Inter" pitchFamily="34" charset="-120"/>
              </a:rPr>
              <a:t>TOP 5</a:t>
            </a:r>
            <a:endParaRPr lang="en-US" sz="1400" dirty="0"/>
          </a:p>
        </p:txBody>
      </p:sp>
      <p:sp>
        <p:nvSpPr>
          <p:cNvPr id="59" name="Text 57"/>
          <p:cNvSpPr txBox="1"/>
          <p:nvPr/>
        </p:nvSpPr>
        <p:spPr>
          <a:xfrm>
            <a:off x="6108192" y="1938528"/>
            <a:ext cx="731520" cy="219456"/>
          </a:xfrm>
          <a:prstGeom prst="rect">
            <a:avLst/>
          </a:prstGeom>
          <a:noFill/>
          <a:ln/>
        </p:spPr>
        <p:txBody>
          <a:bodyPr wrap="square" lIns="0" tIns="0" rIns="0" bIns="0" rtlCol="0" anchor="ctr"/>
          <a:lstStyle/>
          <a:p>
            <a:pPr algn="r" indent="0" marL="0">
              <a:buNone/>
            </a:pPr>
            <a:r>
              <a:rPr lang="en-US" sz="1400" b="1" dirty="0">
                <a:solidFill>
                  <a:srgbClr val="595959"/>
                </a:solidFill>
                <a:latin typeface="Inter" pitchFamily="34" charset="0"/>
                <a:ea typeface="Inter" pitchFamily="34" charset="-122"/>
                <a:cs typeface="Inter" pitchFamily="34" charset="-120"/>
              </a:rPr>
              <a:t>Rate</a:t>
            </a:r>
            <a:endParaRPr lang="en-US" sz="1400" dirty="0"/>
          </a:p>
        </p:txBody>
      </p:sp>
      <p:sp>
        <p:nvSpPr>
          <p:cNvPr id="60" name="Text 58"/>
          <p:cNvSpPr txBox="1"/>
          <p:nvPr/>
        </p:nvSpPr>
        <p:spPr>
          <a:xfrm>
            <a:off x="6858000" y="1938528"/>
            <a:ext cx="914400" cy="219456"/>
          </a:xfrm>
          <a:prstGeom prst="rect">
            <a:avLst/>
          </a:prstGeom>
          <a:noFill/>
          <a:ln/>
        </p:spPr>
        <p:txBody>
          <a:bodyPr wrap="square" lIns="0" tIns="0" rIns="0" bIns="0" rtlCol="0" anchor="ctr"/>
          <a:lstStyle/>
          <a:p>
            <a:pPr algn="r" indent="0" marL="0">
              <a:buNone/>
            </a:pPr>
            <a:r>
              <a:rPr lang="en-US" sz="1400" b="1" dirty="0">
                <a:solidFill>
                  <a:srgbClr val="595959"/>
                </a:solidFill>
                <a:latin typeface="Inter" pitchFamily="34" charset="0"/>
                <a:ea typeface="Inter" pitchFamily="34" charset="-122"/>
                <a:cs typeface="Inter" pitchFamily="34" charset="-120"/>
              </a:rPr>
              <a:t>Calls</a:t>
            </a:r>
            <a:endParaRPr lang="en-US" sz="1400" dirty="0"/>
          </a:p>
        </p:txBody>
      </p:sp>
      <p:sp>
        <p:nvSpPr>
          <p:cNvPr id="61" name="Text 59"/>
          <p:cNvSpPr txBox="1"/>
          <p:nvPr/>
        </p:nvSpPr>
        <p:spPr>
          <a:xfrm>
            <a:off x="4416552" y="2167128"/>
            <a:ext cx="1673352" cy="34747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Chevy GMC Bullhead</a:t>
            </a:r>
            <a:endParaRPr lang="en-US" sz="1300" dirty="0"/>
          </a:p>
        </p:txBody>
      </p:sp>
      <p:sp>
        <p:nvSpPr>
          <p:cNvPr id="62" name="Text 60"/>
          <p:cNvSpPr txBox="1"/>
          <p:nvPr/>
        </p:nvSpPr>
        <p:spPr>
          <a:xfrm>
            <a:off x="6108192" y="2167128"/>
            <a:ext cx="731520" cy="347472"/>
          </a:xfrm>
          <a:prstGeom prst="rect">
            <a:avLst/>
          </a:prstGeom>
          <a:noFill/>
          <a:ln/>
        </p:spPr>
        <p:txBody>
          <a:bodyPr wrap="square" lIns="0" tIns="0" rIns="0" bIns="0" rtlCol="0" anchor="ctr"/>
          <a:lstStyle/>
          <a:p>
            <a:pPr algn="r" indent="0" marL="0">
              <a:buNone/>
            </a:pPr>
            <a:r>
              <a:rPr lang="en-US" sz="1300" b="1" dirty="0">
                <a:solidFill>
                  <a:srgbClr val="0B7A4A"/>
                </a:solidFill>
                <a:latin typeface="Inter" pitchFamily="34" charset="0"/>
                <a:ea typeface="Inter" pitchFamily="34" charset="-122"/>
                <a:cs typeface="Inter" pitchFamily="34" charset="-120"/>
              </a:rPr>
              <a:t>77.1%</a:t>
            </a:r>
            <a:endParaRPr lang="en-US" sz="1300" dirty="0"/>
          </a:p>
        </p:txBody>
      </p:sp>
      <p:sp>
        <p:nvSpPr>
          <p:cNvPr id="63" name="Text 61"/>
          <p:cNvSpPr txBox="1"/>
          <p:nvPr/>
        </p:nvSpPr>
        <p:spPr>
          <a:xfrm>
            <a:off x="6858000" y="2167128"/>
            <a:ext cx="914400" cy="347472"/>
          </a:xfrm>
          <a:prstGeom prst="rect">
            <a:avLst/>
          </a:prstGeom>
          <a:noFill/>
          <a:ln/>
        </p:spPr>
        <p:txBody>
          <a:bodyPr wrap="square" lIns="0" tIns="0" rIns="0" bIns="0" rtlCol="0" anchor="ctr"/>
          <a:lstStyle/>
          <a:p>
            <a:pPr algn="r" indent="0" marL="0">
              <a:buNone/>
            </a:pPr>
            <a:r>
              <a:rPr lang="en-US" sz="1200" dirty="0">
                <a:solidFill>
                  <a:srgbClr val="595959"/>
                </a:solidFill>
                <a:latin typeface="Inter" pitchFamily="34" charset="0"/>
                <a:ea typeface="Inter" pitchFamily="34" charset="-122"/>
                <a:cs typeface="Inter" pitchFamily="34" charset="-120"/>
              </a:rPr>
              <a:t>876</a:t>
            </a:r>
            <a:endParaRPr lang="en-US" sz="1200" dirty="0"/>
          </a:p>
        </p:txBody>
      </p:sp>
      <p:sp>
        <p:nvSpPr>
          <p:cNvPr id="64" name="Shape 62"/>
          <p:cNvSpPr/>
          <p:nvPr/>
        </p:nvSpPr>
        <p:spPr>
          <a:xfrm>
            <a:off x="7818120" y="2203704"/>
            <a:ext cx="54864" cy="274320"/>
          </a:xfrm>
          <a:prstGeom prst="rect">
            <a:avLst/>
          </a:prstGeom>
          <a:solidFill>
            <a:srgbClr val="12A566"/>
          </a:solidFill>
          <a:ln/>
        </p:spPr>
      </p:sp>
      <p:sp>
        <p:nvSpPr>
          <p:cNvPr id="65" name="Text 63"/>
          <p:cNvSpPr txBox="1"/>
          <p:nvPr/>
        </p:nvSpPr>
        <p:spPr>
          <a:xfrm>
            <a:off x="4416552" y="2514600"/>
            <a:ext cx="1673352" cy="34747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Henderson</a:t>
            </a:r>
            <a:endParaRPr lang="en-US" sz="1300" dirty="0"/>
          </a:p>
        </p:txBody>
      </p:sp>
      <p:sp>
        <p:nvSpPr>
          <p:cNvPr id="66" name="Text 64"/>
          <p:cNvSpPr txBox="1"/>
          <p:nvPr/>
        </p:nvSpPr>
        <p:spPr>
          <a:xfrm>
            <a:off x="6108192" y="2514600"/>
            <a:ext cx="731520" cy="347472"/>
          </a:xfrm>
          <a:prstGeom prst="rect">
            <a:avLst/>
          </a:prstGeom>
          <a:noFill/>
          <a:ln/>
        </p:spPr>
        <p:txBody>
          <a:bodyPr wrap="square" lIns="0" tIns="0" rIns="0" bIns="0" rtlCol="0" anchor="ctr"/>
          <a:lstStyle/>
          <a:p>
            <a:pPr algn="r" indent="0" marL="0">
              <a:buNone/>
            </a:pPr>
            <a:r>
              <a:rPr lang="en-US" sz="1300" b="1" dirty="0">
                <a:solidFill>
                  <a:srgbClr val="0B7A4A"/>
                </a:solidFill>
                <a:latin typeface="Inter" pitchFamily="34" charset="0"/>
                <a:ea typeface="Inter" pitchFamily="34" charset="-122"/>
                <a:cs typeface="Inter" pitchFamily="34" charset="-120"/>
              </a:rPr>
              <a:t>74.8%</a:t>
            </a:r>
            <a:endParaRPr lang="en-US" sz="1300" dirty="0"/>
          </a:p>
        </p:txBody>
      </p:sp>
      <p:sp>
        <p:nvSpPr>
          <p:cNvPr id="67" name="Text 65"/>
          <p:cNvSpPr txBox="1"/>
          <p:nvPr/>
        </p:nvSpPr>
        <p:spPr>
          <a:xfrm>
            <a:off x="6858000" y="2514600"/>
            <a:ext cx="914400" cy="347472"/>
          </a:xfrm>
          <a:prstGeom prst="rect">
            <a:avLst/>
          </a:prstGeom>
          <a:noFill/>
          <a:ln/>
        </p:spPr>
        <p:txBody>
          <a:bodyPr wrap="square" lIns="0" tIns="0" rIns="0" bIns="0" rtlCol="0" anchor="ctr"/>
          <a:lstStyle/>
          <a:p>
            <a:pPr algn="r" indent="0" marL="0">
              <a:buNone/>
            </a:pPr>
            <a:r>
              <a:rPr lang="en-US" sz="1200" dirty="0">
                <a:solidFill>
                  <a:srgbClr val="595959"/>
                </a:solidFill>
                <a:latin typeface="Inter" pitchFamily="34" charset="0"/>
                <a:ea typeface="Inter" pitchFamily="34" charset="-122"/>
                <a:cs typeface="Inter" pitchFamily="34" charset="-120"/>
              </a:rPr>
              <a:t>6,915</a:t>
            </a:r>
            <a:endParaRPr lang="en-US" sz="1200" dirty="0"/>
          </a:p>
        </p:txBody>
      </p:sp>
      <p:sp>
        <p:nvSpPr>
          <p:cNvPr id="68" name="Shape 66"/>
          <p:cNvSpPr/>
          <p:nvPr/>
        </p:nvSpPr>
        <p:spPr>
          <a:xfrm>
            <a:off x="7818120" y="2551176"/>
            <a:ext cx="54864" cy="274320"/>
          </a:xfrm>
          <a:prstGeom prst="rect">
            <a:avLst/>
          </a:prstGeom>
          <a:solidFill>
            <a:srgbClr val="12A566"/>
          </a:solidFill>
          <a:ln/>
        </p:spPr>
      </p:sp>
      <p:sp>
        <p:nvSpPr>
          <p:cNvPr id="69" name="Text 67"/>
          <p:cNvSpPr txBox="1"/>
          <p:nvPr/>
        </p:nvSpPr>
        <p:spPr>
          <a:xfrm>
            <a:off x="4416552" y="2862072"/>
            <a:ext cx="1673352" cy="34747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Nissan</a:t>
            </a:r>
            <a:endParaRPr lang="en-US" sz="1300" dirty="0"/>
          </a:p>
        </p:txBody>
      </p:sp>
      <p:sp>
        <p:nvSpPr>
          <p:cNvPr id="70" name="Text 68"/>
          <p:cNvSpPr txBox="1"/>
          <p:nvPr/>
        </p:nvSpPr>
        <p:spPr>
          <a:xfrm>
            <a:off x="6108192" y="2862072"/>
            <a:ext cx="731520" cy="347472"/>
          </a:xfrm>
          <a:prstGeom prst="rect">
            <a:avLst/>
          </a:prstGeom>
          <a:noFill/>
          <a:ln/>
        </p:spPr>
        <p:txBody>
          <a:bodyPr wrap="square" lIns="0" tIns="0" rIns="0" bIns="0" rtlCol="0" anchor="ctr"/>
          <a:lstStyle/>
          <a:p>
            <a:pPr algn="r" indent="0" marL="0">
              <a:buNone/>
            </a:pPr>
            <a:r>
              <a:rPr lang="en-US" sz="1300" b="1" dirty="0">
                <a:solidFill>
                  <a:srgbClr val="0B7A4A"/>
                </a:solidFill>
                <a:latin typeface="Inter" pitchFamily="34" charset="0"/>
                <a:ea typeface="Inter" pitchFamily="34" charset="-122"/>
                <a:cs typeface="Inter" pitchFamily="34" charset="-120"/>
              </a:rPr>
              <a:t>63.5%</a:t>
            </a:r>
            <a:endParaRPr lang="en-US" sz="1300" dirty="0"/>
          </a:p>
        </p:txBody>
      </p:sp>
      <p:sp>
        <p:nvSpPr>
          <p:cNvPr id="71" name="Text 69"/>
          <p:cNvSpPr txBox="1"/>
          <p:nvPr/>
        </p:nvSpPr>
        <p:spPr>
          <a:xfrm>
            <a:off x="6858000" y="2862072"/>
            <a:ext cx="914400" cy="347472"/>
          </a:xfrm>
          <a:prstGeom prst="rect">
            <a:avLst/>
          </a:prstGeom>
          <a:noFill/>
          <a:ln/>
        </p:spPr>
        <p:txBody>
          <a:bodyPr wrap="square" lIns="0" tIns="0" rIns="0" bIns="0" rtlCol="0" anchor="ctr"/>
          <a:lstStyle/>
          <a:p>
            <a:pPr algn="r" indent="0" marL="0">
              <a:buNone/>
            </a:pPr>
            <a:r>
              <a:rPr lang="en-US" sz="1200" dirty="0">
                <a:solidFill>
                  <a:srgbClr val="595959"/>
                </a:solidFill>
                <a:latin typeface="Inter" pitchFamily="34" charset="0"/>
                <a:ea typeface="Inter" pitchFamily="34" charset="-122"/>
                <a:cs typeface="Inter" pitchFamily="34" charset="-120"/>
              </a:rPr>
              <a:t>1,030</a:t>
            </a:r>
            <a:endParaRPr lang="en-US" sz="1200" dirty="0"/>
          </a:p>
        </p:txBody>
      </p:sp>
      <p:sp>
        <p:nvSpPr>
          <p:cNvPr id="72" name="Shape 70"/>
          <p:cNvSpPr/>
          <p:nvPr/>
        </p:nvSpPr>
        <p:spPr>
          <a:xfrm>
            <a:off x="7818120" y="2898648"/>
            <a:ext cx="54864" cy="274320"/>
          </a:xfrm>
          <a:prstGeom prst="rect">
            <a:avLst/>
          </a:prstGeom>
          <a:solidFill>
            <a:srgbClr val="12A566"/>
          </a:solidFill>
          <a:ln/>
        </p:spPr>
      </p:sp>
      <p:sp>
        <p:nvSpPr>
          <p:cNvPr id="73" name="Text 71"/>
          <p:cNvSpPr txBox="1"/>
          <p:nvPr/>
        </p:nvSpPr>
        <p:spPr>
          <a:xfrm>
            <a:off x="4416552" y="3209544"/>
            <a:ext cx="1673352" cy="34747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Flagstaff</a:t>
            </a:r>
            <a:endParaRPr lang="en-US" sz="1300" dirty="0"/>
          </a:p>
        </p:txBody>
      </p:sp>
      <p:sp>
        <p:nvSpPr>
          <p:cNvPr id="74" name="Text 72"/>
          <p:cNvSpPr txBox="1"/>
          <p:nvPr/>
        </p:nvSpPr>
        <p:spPr>
          <a:xfrm>
            <a:off x="6108192" y="3209544"/>
            <a:ext cx="731520" cy="347472"/>
          </a:xfrm>
          <a:prstGeom prst="rect">
            <a:avLst/>
          </a:prstGeom>
          <a:noFill/>
          <a:ln/>
        </p:spPr>
        <p:txBody>
          <a:bodyPr wrap="square" lIns="0" tIns="0" rIns="0" bIns="0" rtlCol="0" anchor="ctr"/>
          <a:lstStyle/>
          <a:p>
            <a:pPr algn="r" indent="0" marL="0">
              <a:buNone/>
            </a:pPr>
            <a:r>
              <a:rPr lang="en-US" sz="1300" b="1" dirty="0">
                <a:solidFill>
                  <a:srgbClr val="0B7A4A"/>
                </a:solidFill>
                <a:latin typeface="Inter" pitchFamily="34" charset="0"/>
                <a:ea typeface="Inter" pitchFamily="34" charset="-122"/>
                <a:cs typeface="Inter" pitchFamily="34" charset="-120"/>
              </a:rPr>
              <a:t>57.3%</a:t>
            </a:r>
            <a:endParaRPr lang="en-US" sz="1300" dirty="0"/>
          </a:p>
        </p:txBody>
      </p:sp>
      <p:sp>
        <p:nvSpPr>
          <p:cNvPr id="75" name="Text 73"/>
          <p:cNvSpPr txBox="1"/>
          <p:nvPr/>
        </p:nvSpPr>
        <p:spPr>
          <a:xfrm>
            <a:off x="6858000" y="3209544"/>
            <a:ext cx="914400" cy="347472"/>
          </a:xfrm>
          <a:prstGeom prst="rect">
            <a:avLst/>
          </a:prstGeom>
          <a:noFill/>
          <a:ln/>
        </p:spPr>
        <p:txBody>
          <a:bodyPr wrap="square" lIns="0" tIns="0" rIns="0" bIns="0" rtlCol="0" anchor="ctr"/>
          <a:lstStyle/>
          <a:p>
            <a:pPr algn="r" indent="0" marL="0">
              <a:buNone/>
            </a:pPr>
            <a:r>
              <a:rPr lang="en-US" sz="1200" dirty="0">
                <a:solidFill>
                  <a:srgbClr val="595959"/>
                </a:solidFill>
                <a:latin typeface="Inter" pitchFamily="34" charset="0"/>
                <a:ea typeface="Inter" pitchFamily="34" charset="-122"/>
                <a:cs typeface="Inter" pitchFamily="34" charset="-120"/>
              </a:rPr>
              <a:t>696</a:t>
            </a:r>
            <a:endParaRPr lang="en-US" sz="1200" dirty="0"/>
          </a:p>
        </p:txBody>
      </p:sp>
      <p:sp>
        <p:nvSpPr>
          <p:cNvPr id="76" name="Shape 74"/>
          <p:cNvSpPr/>
          <p:nvPr/>
        </p:nvSpPr>
        <p:spPr>
          <a:xfrm>
            <a:off x="7818120" y="3246120"/>
            <a:ext cx="54864" cy="274320"/>
          </a:xfrm>
          <a:prstGeom prst="rect">
            <a:avLst/>
          </a:prstGeom>
          <a:solidFill>
            <a:srgbClr val="12A566"/>
          </a:solidFill>
          <a:ln/>
        </p:spPr>
      </p:sp>
      <p:sp>
        <p:nvSpPr>
          <p:cNvPr id="77" name="Text 75"/>
          <p:cNvSpPr txBox="1"/>
          <p:nvPr/>
        </p:nvSpPr>
        <p:spPr>
          <a:xfrm>
            <a:off x="4416552" y="3557016"/>
            <a:ext cx="1673352" cy="34747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Audi Reno Tahoe</a:t>
            </a:r>
            <a:endParaRPr lang="en-US" sz="1300" dirty="0"/>
          </a:p>
        </p:txBody>
      </p:sp>
      <p:sp>
        <p:nvSpPr>
          <p:cNvPr id="78" name="Text 76"/>
          <p:cNvSpPr txBox="1"/>
          <p:nvPr/>
        </p:nvSpPr>
        <p:spPr>
          <a:xfrm>
            <a:off x="6108192" y="3557016"/>
            <a:ext cx="731520" cy="347472"/>
          </a:xfrm>
          <a:prstGeom prst="rect">
            <a:avLst/>
          </a:prstGeom>
          <a:noFill/>
          <a:ln/>
        </p:spPr>
        <p:txBody>
          <a:bodyPr wrap="square" lIns="0" tIns="0" rIns="0" bIns="0" rtlCol="0" anchor="ctr"/>
          <a:lstStyle/>
          <a:p>
            <a:pPr algn="r" indent="0" marL="0">
              <a:buNone/>
            </a:pPr>
            <a:r>
              <a:rPr lang="en-US" sz="1300" b="1" dirty="0">
                <a:solidFill>
                  <a:srgbClr val="0B7A4A"/>
                </a:solidFill>
                <a:latin typeface="Inter" pitchFamily="34" charset="0"/>
                <a:ea typeface="Inter" pitchFamily="34" charset="-122"/>
                <a:cs typeface="Inter" pitchFamily="34" charset="-120"/>
              </a:rPr>
              <a:t>54.2%</a:t>
            </a:r>
            <a:endParaRPr lang="en-US" sz="1300" dirty="0"/>
          </a:p>
        </p:txBody>
      </p:sp>
      <p:sp>
        <p:nvSpPr>
          <p:cNvPr id="79" name="Text 77"/>
          <p:cNvSpPr txBox="1"/>
          <p:nvPr/>
        </p:nvSpPr>
        <p:spPr>
          <a:xfrm>
            <a:off x="6858000" y="3557016"/>
            <a:ext cx="914400" cy="347472"/>
          </a:xfrm>
          <a:prstGeom prst="rect">
            <a:avLst/>
          </a:prstGeom>
          <a:noFill/>
          <a:ln/>
        </p:spPr>
        <p:txBody>
          <a:bodyPr wrap="square" lIns="0" tIns="0" rIns="0" bIns="0" rtlCol="0" anchor="ctr"/>
          <a:lstStyle/>
          <a:p>
            <a:pPr algn="r" indent="0" marL="0">
              <a:buNone/>
            </a:pPr>
            <a:r>
              <a:rPr lang="en-US" sz="1200" dirty="0">
                <a:solidFill>
                  <a:srgbClr val="595959"/>
                </a:solidFill>
                <a:latin typeface="Inter" pitchFamily="34" charset="0"/>
                <a:ea typeface="Inter" pitchFamily="34" charset="-122"/>
                <a:cs typeface="Inter" pitchFamily="34" charset="-120"/>
              </a:rPr>
              <a:t>1,171</a:t>
            </a:r>
            <a:endParaRPr lang="en-US" sz="1200" dirty="0"/>
          </a:p>
        </p:txBody>
      </p:sp>
      <p:sp>
        <p:nvSpPr>
          <p:cNvPr id="80" name="Shape 78"/>
          <p:cNvSpPr/>
          <p:nvPr/>
        </p:nvSpPr>
        <p:spPr>
          <a:xfrm>
            <a:off x="4416552" y="4270248"/>
            <a:ext cx="3355848" cy="22860"/>
          </a:xfrm>
          <a:prstGeom prst="rect">
            <a:avLst/>
          </a:prstGeom>
          <a:solidFill>
            <a:srgbClr val="C2352F"/>
          </a:solidFill>
          <a:ln/>
        </p:spPr>
      </p:sp>
      <p:sp>
        <p:nvSpPr>
          <p:cNvPr id="81" name="Text 79"/>
          <p:cNvSpPr txBox="1"/>
          <p:nvPr/>
        </p:nvSpPr>
        <p:spPr>
          <a:xfrm>
            <a:off x="4416552" y="4297680"/>
            <a:ext cx="1828800" cy="219456"/>
          </a:xfrm>
          <a:prstGeom prst="rect">
            <a:avLst/>
          </a:prstGeom>
          <a:noFill/>
          <a:ln/>
        </p:spPr>
        <p:txBody>
          <a:bodyPr wrap="square" lIns="0" tIns="0" rIns="0" bIns="0" rtlCol="0" anchor="ctr"/>
          <a:lstStyle/>
          <a:p>
            <a:pPr indent="0" marL="0">
              <a:buNone/>
            </a:pPr>
            <a:r>
              <a:rPr lang="en-US" sz="1400" b="1" dirty="0">
                <a:solidFill>
                  <a:srgbClr val="A82B26"/>
                </a:solidFill>
                <a:latin typeface="Inter" pitchFamily="34" charset="0"/>
                <a:ea typeface="Inter" pitchFamily="34" charset="-122"/>
                <a:cs typeface="Inter" pitchFamily="34" charset="-120"/>
              </a:rPr>
              <a:t>BOTTOM 5</a:t>
            </a:r>
            <a:endParaRPr lang="en-US" sz="1400" dirty="0"/>
          </a:p>
        </p:txBody>
      </p:sp>
      <p:sp>
        <p:nvSpPr>
          <p:cNvPr id="82" name="Text 80"/>
          <p:cNvSpPr txBox="1"/>
          <p:nvPr/>
        </p:nvSpPr>
        <p:spPr>
          <a:xfrm>
            <a:off x="6108192" y="4297680"/>
            <a:ext cx="731520" cy="219456"/>
          </a:xfrm>
          <a:prstGeom prst="rect">
            <a:avLst/>
          </a:prstGeom>
          <a:noFill/>
          <a:ln/>
        </p:spPr>
        <p:txBody>
          <a:bodyPr wrap="square" lIns="0" tIns="0" rIns="0" bIns="0" rtlCol="0" anchor="ctr"/>
          <a:lstStyle/>
          <a:p>
            <a:pPr algn="r" indent="0" marL="0">
              <a:buNone/>
            </a:pPr>
            <a:r>
              <a:rPr lang="en-US" sz="1400" b="1" dirty="0">
                <a:solidFill>
                  <a:srgbClr val="595959"/>
                </a:solidFill>
                <a:latin typeface="Inter" pitchFamily="34" charset="0"/>
                <a:ea typeface="Inter" pitchFamily="34" charset="-122"/>
                <a:cs typeface="Inter" pitchFamily="34" charset="-120"/>
              </a:rPr>
              <a:t>Rate</a:t>
            </a:r>
            <a:endParaRPr lang="en-US" sz="1400" dirty="0"/>
          </a:p>
        </p:txBody>
      </p:sp>
      <p:sp>
        <p:nvSpPr>
          <p:cNvPr id="83" name="Text 81"/>
          <p:cNvSpPr txBox="1"/>
          <p:nvPr/>
        </p:nvSpPr>
        <p:spPr>
          <a:xfrm>
            <a:off x="6858000" y="4297680"/>
            <a:ext cx="914400" cy="219456"/>
          </a:xfrm>
          <a:prstGeom prst="rect">
            <a:avLst/>
          </a:prstGeom>
          <a:noFill/>
          <a:ln/>
        </p:spPr>
        <p:txBody>
          <a:bodyPr wrap="square" lIns="0" tIns="0" rIns="0" bIns="0" rtlCol="0" anchor="ctr"/>
          <a:lstStyle/>
          <a:p>
            <a:pPr algn="r" indent="0" marL="0">
              <a:buNone/>
            </a:pPr>
            <a:r>
              <a:rPr lang="en-US" sz="1400" b="1" dirty="0">
                <a:solidFill>
                  <a:srgbClr val="595959"/>
                </a:solidFill>
                <a:latin typeface="Inter" pitchFamily="34" charset="0"/>
                <a:ea typeface="Inter" pitchFamily="34" charset="-122"/>
                <a:cs typeface="Inter" pitchFamily="34" charset="-120"/>
              </a:rPr>
              <a:t>Calls</a:t>
            </a:r>
            <a:endParaRPr lang="en-US" sz="1400" dirty="0"/>
          </a:p>
        </p:txBody>
      </p:sp>
      <p:sp>
        <p:nvSpPr>
          <p:cNvPr id="84" name="Text 82"/>
          <p:cNvSpPr txBox="1"/>
          <p:nvPr/>
        </p:nvSpPr>
        <p:spPr>
          <a:xfrm>
            <a:off x="4416552" y="4526280"/>
            <a:ext cx="1673352" cy="34747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Kia St George</a:t>
            </a:r>
            <a:endParaRPr lang="en-US" sz="1300" dirty="0"/>
          </a:p>
        </p:txBody>
      </p:sp>
      <p:sp>
        <p:nvSpPr>
          <p:cNvPr id="85" name="Text 83"/>
          <p:cNvSpPr txBox="1"/>
          <p:nvPr/>
        </p:nvSpPr>
        <p:spPr>
          <a:xfrm>
            <a:off x="6108192" y="4526280"/>
            <a:ext cx="731520" cy="34747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21.9%</a:t>
            </a:r>
            <a:endParaRPr lang="en-US" sz="1300" dirty="0"/>
          </a:p>
        </p:txBody>
      </p:sp>
      <p:sp>
        <p:nvSpPr>
          <p:cNvPr id="86" name="Text 84"/>
          <p:cNvSpPr txBox="1"/>
          <p:nvPr/>
        </p:nvSpPr>
        <p:spPr>
          <a:xfrm>
            <a:off x="6858000" y="4526280"/>
            <a:ext cx="914400" cy="347472"/>
          </a:xfrm>
          <a:prstGeom prst="rect">
            <a:avLst/>
          </a:prstGeom>
          <a:noFill/>
          <a:ln/>
        </p:spPr>
        <p:txBody>
          <a:bodyPr wrap="square" lIns="0" tIns="0" rIns="0" bIns="0" rtlCol="0" anchor="ctr"/>
          <a:lstStyle/>
          <a:p>
            <a:pPr algn="r" indent="0" marL="0">
              <a:buNone/>
            </a:pPr>
            <a:r>
              <a:rPr lang="en-US" sz="1200" dirty="0">
                <a:solidFill>
                  <a:srgbClr val="595959"/>
                </a:solidFill>
                <a:latin typeface="Inter" pitchFamily="34" charset="0"/>
                <a:ea typeface="Inter" pitchFamily="34" charset="-122"/>
                <a:cs typeface="Inter" pitchFamily="34" charset="-120"/>
              </a:rPr>
              <a:t>1,075</a:t>
            </a:r>
            <a:endParaRPr lang="en-US" sz="1200" dirty="0"/>
          </a:p>
        </p:txBody>
      </p:sp>
      <p:sp>
        <p:nvSpPr>
          <p:cNvPr id="87" name="Shape 85"/>
          <p:cNvSpPr/>
          <p:nvPr/>
        </p:nvSpPr>
        <p:spPr>
          <a:xfrm>
            <a:off x="7818120" y="4562856"/>
            <a:ext cx="54864" cy="274320"/>
          </a:xfrm>
          <a:prstGeom prst="rect">
            <a:avLst/>
          </a:prstGeom>
          <a:solidFill>
            <a:srgbClr val="C2352F"/>
          </a:solidFill>
          <a:ln/>
        </p:spPr>
      </p:sp>
      <p:sp>
        <p:nvSpPr>
          <p:cNvPr id="88" name="Text 86"/>
          <p:cNvSpPr txBox="1"/>
          <p:nvPr/>
        </p:nvSpPr>
        <p:spPr>
          <a:xfrm>
            <a:off x="4416552" y="4873752"/>
            <a:ext cx="1673352" cy="34747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Henderson</a:t>
            </a:r>
            <a:endParaRPr lang="en-US" sz="1300" dirty="0"/>
          </a:p>
        </p:txBody>
      </p:sp>
      <p:sp>
        <p:nvSpPr>
          <p:cNvPr id="89" name="Text 87"/>
          <p:cNvSpPr txBox="1"/>
          <p:nvPr/>
        </p:nvSpPr>
        <p:spPr>
          <a:xfrm>
            <a:off x="6108192" y="4873752"/>
            <a:ext cx="731520" cy="34747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26.3%</a:t>
            </a:r>
            <a:endParaRPr lang="en-US" sz="1300" dirty="0"/>
          </a:p>
        </p:txBody>
      </p:sp>
      <p:sp>
        <p:nvSpPr>
          <p:cNvPr id="90" name="Text 88"/>
          <p:cNvSpPr txBox="1"/>
          <p:nvPr/>
        </p:nvSpPr>
        <p:spPr>
          <a:xfrm>
            <a:off x="6858000" y="4873752"/>
            <a:ext cx="914400" cy="347472"/>
          </a:xfrm>
          <a:prstGeom prst="rect">
            <a:avLst/>
          </a:prstGeom>
          <a:noFill/>
          <a:ln/>
        </p:spPr>
        <p:txBody>
          <a:bodyPr wrap="square" lIns="0" tIns="0" rIns="0" bIns="0" rtlCol="0" anchor="ctr"/>
          <a:lstStyle/>
          <a:p>
            <a:pPr algn="r" indent="0" marL="0">
              <a:buNone/>
            </a:pPr>
            <a:r>
              <a:rPr lang="en-US" sz="1200" dirty="0">
                <a:solidFill>
                  <a:srgbClr val="595959"/>
                </a:solidFill>
                <a:latin typeface="Inter" pitchFamily="34" charset="0"/>
                <a:ea typeface="Inter" pitchFamily="34" charset="-122"/>
                <a:cs typeface="Inter" pitchFamily="34" charset="-120"/>
              </a:rPr>
              <a:t>1,809</a:t>
            </a:r>
            <a:endParaRPr lang="en-US" sz="1200" dirty="0"/>
          </a:p>
        </p:txBody>
      </p:sp>
      <p:sp>
        <p:nvSpPr>
          <p:cNvPr id="91" name="Text 89"/>
          <p:cNvSpPr txBox="1"/>
          <p:nvPr/>
        </p:nvSpPr>
        <p:spPr>
          <a:xfrm>
            <a:off x="4416552" y="5221224"/>
            <a:ext cx="1673352" cy="34747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Chevy Las Vegas</a:t>
            </a:r>
            <a:endParaRPr lang="en-US" sz="1300" dirty="0"/>
          </a:p>
        </p:txBody>
      </p:sp>
      <p:sp>
        <p:nvSpPr>
          <p:cNvPr id="92" name="Text 90"/>
          <p:cNvSpPr txBox="1"/>
          <p:nvPr/>
        </p:nvSpPr>
        <p:spPr>
          <a:xfrm>
            <a:off x="6108192" y="5221224"/>
            <a:ext cx="731520" cy="34747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27.2%</a:t>
            </a:r>
            <a:endParaRPr lang="en-US" sz="1300" dirty="0"/>
          </a:p>
        </p:txBody>
      </p:sp>
      <p:sp>
        <p:nvSpPr>
          <p:cNvPr id="93" name="Text 91"/>
          <p:cNvSpPr txBox="1"/>
          <p:nvPr/>
        </p:nvSpPr>
        <p:spPr>
          <a:xfrm>
            <a:off x="6858000" y="5221224"/>
            <a:ext cx="914400" cy="347472"/>
          </a:xfrm>
          <a:prstGeom prst="rect">
            <a:avLst/>
          </a:prstGeom>
          <a:noFill/>
          <a:ln/>
        </p:spPr>
        <p:txBody>
          <a:bodyPr wrap="square" lIns="0" tIns="0" rIns="0" bIns="0" rtlCol="0" anchor="ctr"/>
          <a:lstStyle/>
          <a:p>
            <a:pPr algn="r" indent="0" marL="0">
              <a:buNone/>
            </a:pPr>
            <a:r>
              <a:rPr lang="en-US" sz="1200" dirty="0">
                <a:solidFill>
                  <a:srgbClr val="595959"/>
                </a:solidFill>
                <a:latin typeface="Inter" pitchFamily="34" charset="0"/>
                <a:ea typeface="Inter" pitchFamily="34" charset="-122"/>
                <a:cs typeface="Inter" pitchFamily="34" charset="-120"/>
              </a:rPr>
              <a:t>5,450</a:t>
            </a:r>
            <a:endParaRPr lang="en-US" sz="1200" dirty="0"/>
          </a:p>
        </p:txBody>
      </p:sp>
      <p:sp>
        <p:nvSpPr>
          <p:cNvPr id="94" name="Text 92"/>
          <p:cNvSpPr txBox="1"/>
          <p:nvPr/>
        </p:nvSpPr>
        <p:spPr>
          <a:xfrm>
            <a:off x="4416552" y="5568696"/>
            <a:ext cx="1673352" cy="34747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CDR Post Falls</a:t>
            </a:r>
            <a:endParaRPr lang="en-US" sz="1300" dirty="0"/>
          </a:p>
        </p:txBody>
      </p:sp>
      <p:sp>
        <p:nvSpPr>
          <p:cNvPr id="95" name="Text 93"/>
          <p:cNvSpPr txBox="1"/>
          <p:nvPr/>
        </p:nvSpPr>
        <p:spPr>
          <a:xfrm>
            <a:off x="6108192" y="5568696"/>
            <a:ext cx="731520" cy="34747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27.4%</a:t>
            </a:r>
            <a:endParaRPr lang="en-US" sz="1300" dirty="0"/>
          </a:p>
        </p:txBody>
      </p:sp>
      <p:sp>
        <p:nvSpPr>
          <p:cNvPr id="96" name="Text 94"/>
          <p:cNvSpPr txBox="1"/>
          <p:nvPr/>
        </p:nvSpPr>
        <p:spPr>
          <a:xfrm>
            <a:off x="6858000" y="5568696"/>
            <a:ext cx="914400" cy="347472"/>
          </a:xfrm>
          <a:prstGeom prst="rect">
            <a:avLst/>
          </a:prstGeom>
          <a:noFill/>
          <a:ln/>
        </p:spPr>
        <p:txBody>
          <a:bodyPr wrap="square" lIns="0" tIns="0" rIns="0" bIns="0" rtlCol="0" anchor="ctr"/>
          <a:lstStyle/>
          <a:p>
            <a:pPr algn="r" indent="0" marL="0">
              <a:buNone/>
            </a:pPr>
            <a:r>
              <a:rPr lang="en-US" sz="1200" dirty="0">
                <a:solidFill>
                  <a:srgbClr val="595959"/>
                </a:solidFill>
                <a:latin typeface="Inter" pitchFamily="34" charset="0"/>
                <a:ea typeface="Inter" pitchFamily="34" charset="-122"/>
                <a:cs typeface="Inter" pitchFamily="34" charset="-120"/>
              </a:rPr>
              <a:t>2,247</a:t>
            </a:r>
            <a:endParaRPr lang="en-US" sz="1200" dirty="0"/>
          </a:p>
        </p:txBody>
      </p:sp>
      <p:sp>
        <p:nvSpPr>
          <p:cNvPr id="97" name="Shape 95"/>
          <p:cNvSpPr/>
          <p:nvPr/>
        </p:nvSpPr>
        <p:spPr>
          <a:xfrm>
            <a:off x="7818120" y="5605272"/>
            <a:ext cx="54864" cy="274320"/>
          </a:xfrm>
          <a:prstGeom prst="rect">
            <a:avLst/>
          </a:prstGeom>
          <a:solidFill>
            <a:srgbClr val="C2352F"/>
          </a:solidFill>
          <a:ln/>
        </p:spPr>
      </p:sp>
      <p:sp>
        <p:nvSpPr>
          <p:cNvPr id="98" name="Text 96"/>
          <p:cNvSpPr txBox="1"/>
          <p:nvPr/>
        </p:nvSpPr>
        <p:spPr>
          <a:xfrm>
            <a:off x="4416552" y="5916168"/>
            <a:ext cx="1673352" cy="34747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Jeep Post Falls</a:t>
            </a:r>
            <a:endParaRPr lang="en-US" sz="1300" dirty="0"/>
          </a:p>
        </p:txBody>
      </p:sp>
      <p:sp>
        <p:nvSpPr>
          <p:cNvPr id="99" name="Text 97"/>
          <p:cNvSpPr txBox="1"/>
          <p:nvPr/>
        </p:nvSpPr>
        <p:spPr>
          <a:xfrm>
            <a:off x="6108192" y="5916168"/>
            <a:ext cx="731520" cy="34747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32.9%</a:t>
            </a:r>
            <a:endParaRPr lang="en-US" sz="1300" dirty="0"/>
          </a:p>
        </p:txBody>
      </p:sp>
      <p:sp>
        <p:nvSpPr>
          <p:cNvPr id="100" name="Text 98"/>
          <p:cNvSpPr txBox="1"/>
          <p:nvPr/>
        </p:nvSpPr>
        <p:spPr>
          <a:xfrm>
            <a:off x="6858000" y="5916168"/>
            <a:ext cx="914400" cy="347472"/>
          </a:xfrm>
          <a:prstGeom prst="rect">
            <a:avLst/>
          </a:prstGeom>
          <a:noFill/>
          <a:ln/>
        </p:spPr>
        <p:txBody>
          <a:bodyPr wrap="square" lIns="0" tIns="0" rIns="0" bIns="0" rtlCol="0" anchor="ctr"/>
          <a:lstStyle/>
          <a:p>
            <a:pPr algn="r" indent="0" marL="0">
              <a:buNone/>
            </a:pPr>
            <a:r>
              <a:rPr lang="en-US" sz="1200" dirty="0">
                <a:solidFill>
                  <a:srgbClr val="595959"/>
                </a:solidFill>
                <a:latin typeface="Inter" pitchFamily="34" charset="0"/>
                <a:ea typeface="Inter" pitchFamily="34" charset="-122"/>
                <a:cs typeface="Inter" pitchFamily="34" charset="-120"/>
              </a:rPr>
              <a:t>896</a:t>
            </a:r>
            <a:endParaRPr lang="en-US" sz="1200" dirty="0"/>
          </a:p>
        </p:txBody>
      </p:sp>
      <p:sp>
        <p:nvSpPr>
          <p:cNvPr id="101" name="Shape 99"/>
          <p:cNvSpPr/>
          <p:nvPr/>
        </p:nvSpPr>
        <p:spPr>
          <a:xfrm>
            <a:off x="7818120" y="5952744"/>
            <a:ext cx="54864" cy="274320"/>
          </a:xfrm>
          <a:prstGeom prst="rect">
            <a:avLst/>
          </a:prstGeom>
          <a:solidFill>
            <a:srgbClr val="C2352F"/>
          </a:solidFill>
          <a:ln/>
        </p:spPr>
      </p:sp>
      <p:sp>
        <p:nvSpPr>
          <p:cNvPr id="102" name="Shape 100"/>
          <p:cNvSpPr/>
          <p:nvPr/>
        </p:nvSpPr>
        <p:spPr>
          <a:xfrm>
            <a:off x="8046720" y="1207008"/>
            <a:ext cx="3685032" cy="5148072"/>
          </a:xfrm>
          <a:prstGeom prst="rect">
            <a:avLst/>
          </a:prstGeom>
          <a:solidFill>
            <a:srgbClr val="FFFFFF"/>
          </a:solidFill>
          <a:ln/>
        </p:spPr>
      </p:sp>
      <p:sp>
        <p:nvSpPr>
          <p:cNvPr id="103" name="Text 101"/>
          <p:cNvSpPr txBox="1"/>
          <p:nvPr/>
        </p:nvSpPr>
        <p:spPr>
          <a:xfrm>
            <a:off x="8211312" y="1298448"/>
            <a:ext cx="3355848" cy="274320"/>
          </a:xfrm>
          <a:prstGeom prst="rect">
            <a:avLst/>
          </a:prstGeom>
          <a:noFill/>
          <a:ln/>
        </p:spPr>
        <p:txBody>
          <a:bodyPr wrap="square" lIns="0" tIns="0" rIns="0" bIns="0" rtlCol="0" anchor="ctr"/>
          <a:lstStyle/>
          <a:p>
            <a:pPr indent="0" marL="0">
              <a:buNone/>
            </a:pPr>
            <a:r>
              <a:rPr lang="en-US" sz="1400" b="1" spc="100" kern="0" dirty="0">
                <a:solidFill>
                  <a:srgbClr val="0B2C4A"/>
                </a:solidFill>
                <a:latin typeface="Inter" pitchFamily="34" charset="0"/>
                <a:ea typeface="Inter" pitchFamily="34" charset="-122"/>
                <a:cs typeface="Inter" pitchFamily="34" charset="-120"/>
              </a:rPr>
              <a:t>CALLBACK RESOLUTION</a:t>
            </a:r>
            <a:endParaRPr lang="en-US" sz="1400" dirty="0"/>
          </a:p>
        </p:txBody>
      </p:sp>
      <p:sp>
        <p:nvSpPr>
          <p:cNvPr id="104" name="Text 102"/>
          <p:cNvSpPr txBox="1"/>
          <p:nvPr/>
        </p:nvSpPr>
        <p:spPr>
          <a:xfrm>
            <a:off x="8211312" y="1572768"/>
            <a:ext cx="3355848" cy="237744"/>
          </a:xfrm>
          <a:prstGeom prst="rect">
            <a:avLst/>
          </a:prstGeom>
          <a:noFill/>
          <a:ln/>
        </p:spPr>
        <p:txBody>
          <a:bodyPr wrap="square" lIns="0" tIns="0" rIns="0" bIns="0" rtlCol="0" anchor="ctr"/>
          <a:lstStyle/>
          <a:p>
            <a:pPr indent="0" marL="0">
              <a:buNone/>
            </a:pPr>
            <a:r>
              <a:rPr lang="en-US" sz="1400" dirty="0">
                <a:solidFill>
                  <a:srgbClr val="595959"/>
                </a:solidFill>
                <a:latin typeface="Inter" pitchFamily="34" charset="0"/>
                <a:ea typeface="Inter" pitchFamily="34" charset="-122"/>
                <a:cs typeface="Inter" pitchFamily="34" charset="-120"/>
              </a:rPr>
              <a:t>Group 98.2% · 6 stores at 100%</a:t>
            </a:r>
            <a:endParaRPr lang="en-US" sz="1400" dirty="0"/>
          </a:p>
        </p:txBody>
      </p:sp>
      <p:sp>
        <p:nvSpPr>
          <p:cNvPr id="105" name="Shape 103"/>
          <p:cNvSpPr/>
          <p:nvPr/>
        </p:nvSpPr>
        <p:spPr>
          <a:xfrm>
            <a:off x="8211312" y="1911096"/>
            <a:ext cx="3355848" cy="22860"/>
          </a:xfrm>
          <a:prstGeom prst="rect">
            <a:avLst/>
          </a:prstGeom>
          <a:solidFill>
            <a:srgbClr val="12A566"/>
          </a:solidFill>
          <a:ln/>
        </p:spPr>
      </p:sp>
      <p:sp>
        <p:nvSpPr>
          <p:cNvPr id="106" name="Text 104"/>
          <p:cNvSpPr txBox="1"/>
          <p:nvPr/>
        </p:nvSpPr>
        <p:spPr>
          <a:xfrm>
            <a:off x="8211312" y="1938528"/>
            <a:ext cx="1828800" cy="219456"/>
          </a:xfrm>
          <a:prstGeom prst="rect">
            <a:avLst/>
          </a:prstGeom>
          <a:noFill/>
          <a:ln/>
        </p:spPr>
        <p:txBody>
          <a:bodyPr wrap="square" lIns="0" tIns="0" rIns="0" bIns="0" rtlCol="0" anchor="ctr"/>
          <a:lstStyle/>
          <a:p>
            <a:pPr indent="0" marL="0">
              <a:buNone/>
            </a:pPr>
            <a:r>
              <a:rPr lang="en-US" sz="1400" b="1" dirty="0">
                <a:solidFill>
                  <a:srgbClr val="0B7A4A"/>
                </a:solidFill>
                <a:latin typeface="Inter" pitchFamily="34" charset="0"/>
                <a:ea typeface="Inter" pitchFamily="34" charset="-122"/>
                <a:cs typeface="Inter" pitchFamily="34" charset="-120"/>
              </a:rPr>
              <a:t>AT 100%</a:t>
            </a:r>
            <a:endParaRPr lang="en-US" sz="1400" dirty="0"/>
          </a:p>
        </p:txBody>
      </p:sp>
      <p:sp>
        <p:nvSpPr>
          <p:cNvPr id="107" name="Text 105"/>
          <p:cNvSpPr txBox="1"/>
          <p:nvPr/>
        </p:nvSpPr>
        <p:spPr>
          <a:xfrm>
            <a:off x="9902952" y="1938528"/>
            <a:ext cx="731520" cy="219456"/>
          </a:xfrm>
          <a:prstGeom prst="rect">
            <a:avLst/>
          </a:prstGeom>
          <a:noFill/>
          <a:ln/>
        </p:spPr>
        <p:txBody>
          <a:bodyPr wrap="square" lIns="0" tIns="0" rIns="0" bIns="0" rtlCol="0" anchor="ctr"/>
          <a:lstStyle/>
          <a:p>
            <a:pPr algn="r" indent="0" marL="0">
              <a:buNone/>
            </a:pPr>
            <a:r>
              <a:rPr lang="en-US" sz="1400" b="1" dirty="0">
                <a:solidFill>
                  <a:srgbClr val="595959"/>
                </a:solidFill>
                <a:latin typeface="Inter" pitchFamily="34" charset="0"/>
                <a:ea typeface="Inter" pitchFamily="34" charset="-122"/>
                <a:cs typeface="Inter" pitchFamily="34" charset="-120"/>
              </a:rPr>
              <a:t>Rate</a:t>
            </a:r>
            <a:endParaRPr lang="en-US" sz="1400" dirty="0"/>
          </a:p>
        </p:txBody>
      </p:sp>
      <p:sp>
        <p:nvSpPr>
          <p:cNvPr id="108" name="Text 106"/>
          <p:cNvSpPr txBox="1"/>
          <p:nvPr/>
        </p:nvSpPr>
        <p:spPr>
          <a:xfrm>
            <a:off x="10652760" y="1938528"/>
            <a:ext cx="914400" cy="219456"/>
          </a:xfrm>
          <a:prstGeom prst="rect">
            <a:avLst/>
          </a:prstGeom>
          <a:noFill/>
          <a:ln/>
        </p:spPr>
        <p:txBody>
          <a:bodyPr wrap="square" lIns="0" tIns="0" rIns="0" bIns="0" rtlCol="0" anchor="ctr"/>
          <a:lstStyle/>
          <a:p>
            <a:pPr algn="r" indent="0" marL="0">
              <a:buNone/>
            </a:pPr>
            <a:r>
              <a:rPr lang="en-US" sz="1400" b="1" dirty="0">
                <a:solidFill>
                  <a:srgbClr val="595959"/>
                </a:solidFill>
                <a:latin typeface="Inter" pitchFamily="34" charset="0"/>
                <a:ea typeface="Inter" pitchFamily="34" charset="-122"/>
                <a:cs typeface="Inter" pitchFamily="34" charset="-120"/>
              </a:rPr>
              <a:t>Calls</a:t>
            </a:r>
            <a:endParaRPr lang="en-US" sz="1400" dirty="0"/>
          </a:p>
        </p:txBody>
      </p:sp>
      <p:sp>
        <p:nvSpPr>
          <p:cNvPr id="109" name="Text 107"/>
          <p:cNvSpPr txBox="1"/>
          <p:nvPr/>
        </p:nvSpPr>
        <p:spPr>
          <a:xfrm>
            <a:off x="8211312" y="2167128"/>
            <a:ext cx="1673352" cy="34747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Kia Las Vegas</a:t>
            </a:r>
            <a:endParaRPr lang="en-US" sz="1300" dirty="0"/>
          </a:p>
        </p:txBody>
      </p:sp>
      <p:sp>
        <p:nvSpPr>
          <p:cNvPr id="110" name="Text 108"/>
          <p:cNvSpPr txBox="1"/>
          <p:nvPr/>
        </p:nvSpPr>
        <p:spPr>
          <a:xfrm>
            <a:off x="9902952" y="2167128"/>
            <a:ext cx="731520" cy="347472"/>
          </a:xfrm>
          <a:prstGeom prst="rect">
            <a:avLst/>
          </a:prstGeom>
          <a:noFill/>
          <a:ln/>
        </p:spPr>
        <p:txBody>
          <a:bodyPr wrap="square" lIns="0" tIns="0" rIns="0" bIns="0" rtlCol="0" anchor="ctr"/>
          <a:lstStyle/>
          <a:p>
            <a:pPr algn="r" indent="0" marL="0">
              <a:buNone/>
            </a:pPr>
            <a:r>
              <a:rPr lang="en-US" sz="1300" b="1" dirty="0">
                <a:solidFill>
                  <a:srgbClr val="0B7A4A"/>
                </a:solidFill>
                <a:latin typeface="Inter" pitchFamily="34" charset="0"/>
                <a:ea typeface="Inter" pitchFamily="34" charset="-122"/>
                <a:cs typeface="Inter" pitchFamily="34" charset="-120"/>
              </a:rPr>
              <a:t>100.0%</a:t>
            </a:r>
            <a:endParaRPr lang="en-US" sz="1300" dirty="0"/>
          </a:p>
        </p:txBody>
      </p:sp>
      <p:sp>
        <p:nvSpPr>
          <p:cNvPr id="111" name="Text 109"/>
          <p:cNvSpPr txBox="1"/>
          <p:nvPr/>
        </p:nvSpPr>
        <p:spPr>
          <a:xfrm>
            <a:off x="10652760" y="2167128"/>
            <a:ext cx="914400" cy="347472"/>
          </a:xfrm>
          <a:prstGeom prst="rect">
            <a:avLst/>
          </a:prstGeom>
          <a:noFill/>
          <a:ln/>
        </p:spPr>
        <p:txBody>
          <a:bodyPr wrap="square" lIns="0" tIns="0" rIns="0" bIns="0" rtlCol="0" anchor="ctr"/>
          <a:lstStyle/>
          <a:p>
            <a:pPr algn="r" indent="0" marL="0">
              <a:buNone/>
            </a:pPr>
            <a:r>
              <a:rPr lang="en-US" sz="1200" dirty="0">
                <a:solidFill>
                  <a:srgbClr val="595959"/>
                </a:solidFill>
                <a:latin typeface="Inter" pitchFamily="34" charset="0"/>
                <a:ea typeface="Inter" pitchFamily="34" charset="-122"/>
                <a:cs typeface="Inter" pitchFamily="34" charset="-120"/>
              </a:rPr>
              <a:t>1,570</a:t>
            </a:r>
            <a:endParaRPr lang="en-US" sz="1200" dirty="0"/>
          </a:p>
        </p:txBody>
      </p:sp>
      <p:sp>
        <p:nvSpPr>
          <p:cNvPr id="112" name="Text 110"/>
          <p:cNvSpPr txBox="1"/>
          <p:nvPr/>
        </p:nvSpPr>
        <p:spPr>
          <a:xfrm>
            <a:off x="8211312" y="2514600"/>
            <a:ext cx="1673352" cy="34747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VW Henderson</a:t>
            </a:r>
            <a:endParaRPr lang="en-US" sz="1300" dirty="0"/>
          </a:p>
        </p:txBody>
      </p:sp>
      <p:sp>
        <p:nvSpPr>
          <p:cNvPr id="113" name="Text 111"/>
          <p:cNvSpPr txBox="1"/>
          <p:nvPr/>
        </p:nvSpPr>
        <p:spPr>
          <a:xfrm>
            <a:off x="9902952" y="2514600"/>
            <a:ext cx="731520" cy="347472"/>
          </a:xfrm>
          <a:prstGeom prst="rect">
            <a:avLst/>
          </a:prstGeom>
          <a:noFill/>
          <a:ln/>
        </p:spPr>
        <p:txBody>
          <a:bodyPr wrap="square" lIns="0" tIns="0" rIns="0" bIns="0" rtlCol="0" anchor="ctr"/>
          <a:lstStyle/>
          <a:p>
            <a:pPr algn="r" indent="0" marL="0">
              <a:buNone/>
            </a:pPr>
            <a:r>
              <a:rPr lang="en-US" sz="1300" b="1" dirty="0">
                <a:solidFill>
                  <a:srgbClr val="0B7A4A"/>
                </a:solidFill>
                <a:latin typeface="Inter" pitchFamily="34" charset="0"/>
                <a:ea typeface="Inter" pitchFamily="34" charset="-122"/>
                <a:cs typeface="Inter" pitchFamily="34" charset="-120"/>
              </a:rPr>
              <a:t>100.0%</a:t>
            </a:r>
            <a:endParaRPr lang="en-US" sz="1300" dirty="0"/>
          </a:p>
        </p:txBody>
      </p:sp>
      <p:sp>
        <p:nvSpPr>
          <p:cNvPr id="114" name="Text 112"/>
          <p:cNvSpPr txBox="1"/>
          <p:nvPr/>
        </p:nvSpPr>
        <p:spPr>
          <a:xfrm>
            <a:off x="10652760" y="2514600"/>
            <a:ext cx="914400" cy="347472"/>
          </a:xfrm>
          <a:prstGeom prst="rect">
            <a:avLst/>
          </a:prstGeom>
          <a:noFill/>
          <a:ln/>
        </p:spPr>
        <p:txBody>
          <a:bodyPr wrap="square" lIns="0" tIns="0" rIns="0" bIns="0" rtlCol="0" anchor="ctr"/>
          <a:lstStyle/>
          <a:p>
            <a:pPr algn="r" indent="0" marL="0">
              <a:buNone/>
            </a:pPr>
            <a:r>
              <a:rPr lang="en-US" sz="1200" dirty="0">
                <a:solidFill>
                  <a:srgbClr val="595959"/>
                </a:solidFill>
                <a:latin typeface="Inter" pitchFamily="34" charset="0"/>
                <a:ea typeface="Inter" pitchFamily="34" charset="-122"/>
                <a:cs typeface="Inter" pitchFamily="34" charset="-120"/>
              </a:rPr>
              <a:t>1,565</a:t>
            </a:r>
            <a:endParaRPr lang="en-US" sz="1200" dirty="0"/>
          </a:p>
        </p:txBody>
      </p:sp>
      <p:sp>
        <p:nvSpPr>
          <p:cNvPr id="115" name="Text 113"/>
          <p:cNvSpPr txBox="1"/>
          <p:nvPr/>
        </p:nvSpPr>
        <p:spPr>
          <a:xfrm>
            <a:off x="8211312" y="2862072"/>
            <a:ext cx="1673352" cy="34747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Lincoln</a:t>
            </a:r>
            <a:endParaRPr lang="en-US" sz="1300" dirty="0"/>
          </a:p>
        </p:txBody>
      </p:sp>
      <p:sp>
        <p:nvSpPr>
          <p:cNvPr id="116" name="Text 114"/>
          <p:cNvSpPr txBox="1"/>
          <p:nvPr/>
        </p:nvSpPr>
        <p:spPr>
          <a:xfrm>
            <a:off x="9902952" y="2862072"/>
            <a:ext cx="731520" cy="347472"/>
          </a:xfrm>
          <a:prstGeom prst="rect">
            <a:avLst/>
          </a:prstGeom>
          <a:noFill/>
          <a:ln/>
        </p:spPr>
        <p:txBody>
          <a:bodyPr wrap="square" lIns="0" tIns="0" rIns="0" bIns="0" rtlCol="0" anchor="ctr"/>
          <a:lstStyle/>
          <a:p>
            <a:pPr algn="r" indent="0" marL="0">
              <a:buNone/>
            </a:pPr>
            <a:r>
              <a:rPr lang="en-US" sz="1300" b="1" dirty="0">
                <a:solidFill>
                  <a:srgbClr val="0B7A4A"/>
                </a:solidFill>
                <a:latin typeface="Inter" pitchFamily="34" charset="0"/>
                <a:ea typeface="Inter" pitchFamily="34" charset="-122"/>
                <a:cs typeface="Inter" pitchFamily="34" charset="-120"/>
              </a:rPr>
              <a:t>100.0%</a:t>
            </a:r>
            <a:endParaRPr lang="en-US" sz="1300" dirty="0"/>
          </a:p>
        </p:txBody>
      </p:sp>
      <p:sp>
        <p:nvSpPr>
          <p:cNvPr id="117" name="Text 115"/>
          <p:cNvSpPr txBox="1"/>
          <p:nvPr/>
        </p:nvSpPr>
        <p:spPr>
          <a:xfrm>
            <a:off x="10652760" y="2862072"/>
            <a:ext cx="914400" cy="347472"/>
          </a:xfrm>
          <a:prstGeom prst="rect">
            <a:avLst/>
          </a:prstGeom>
          <a:noFill/>
          <a:ln/>
        </p:spPr>
        <p:txBody>
          <a:bodyPr wrap="square" lIns="0" tIns="0" rIns="0" bIns="0" rtlCol="0" anchor="ctr"/>
          <a:lstStyle/>
          <a:p>
            <a:pPr algn="r" indent="0" marL="0">
              <a:buNone/>
            </a:pPr>
            <a:r>
              <a:rPr lang="en-US" sz="1200" dirty="0">
                <a:solidFill>
                  <a:srgbClr val="595959"/>
                </a:solidFill>
                <a:latin typeface="Inter" pitchFamily="34" charset="0"/>
                <a:ea typeface="Inter" pitchFamily="34" charset="-122"/>
                <a:cs typeface="Inter" pitchFamily="34" charset="-120"/>
              </a:rPr>
              <a:t>1,458</a:t>
            </a:r>
            <a:endParaRPr lang="en-US" sz="1200" dirty="0"/>
          </a:p>
        </p:txBody>
      </p:sp>
      <p:sp>
        <p:nvSpPr>
          <p:cNvPr id="118" name="Text 116"/>
          <p:cNvSpPr txBox="1"/>
          <p:nvPr/>
        </p:nvSpPr>
        <p:spPr>
          <a:xfrm>
            <a:off x="8211312" y="3209544"/>
            <a:ext cx="1673352" cy="34747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Subaru of Las Vegas</a:t>
            </a:r>
            <a:endParaRPr lang="en-US" sz="1300" dirty="0"/>
          </a:p>
        </p:txBody>
      </p:sp>
      <p:sp>
        <p:nvSpPr>
          <p:cNvPr id="119" name="Text 117"/>
          <p:cNvSpPr txBox="1"/>
          <p:nvPr/>
        </p:nvSpPr>
        <p:spPr>
          <a:xfrm>
            <a:off x="9902952" y="3209544"/>
            <a:ext cx="731520" cy="347472"/>
          </a:xfrm>
          <a:prstGeom prst="rect">
            <a:avLst/>
          </a:prstGeom>
          <a:noFill/>
          <a:ln/>
        </p:spPr>
        <p:txBody>
          <a:bodyPr wrap="square" lIns="0" tIns="0" rIns="0" bIns="0" rtlCol="0" anchor="ctr"/>
          <a:lstStyle/>
          <a:p>
            <a:pPr algn="r" indent="0" marL="0">
              <a:buNone/>
            </a:pPr>
            <a:r>
              <a:rPr lang="en-US" sz="1300" b="1" dirty="0">
                <a:solidFill>
                  <a:srgbClr val="0B7A4A"/>
                </a:solidFill>
                <a:latin typeface="Inter" pitchFamily="34" charset="0"/>
                <a:ea typeface="Inter" pitchFamily="34" charset="-122"/>
                <a:cs typeface="Inter" pitchFamily="34" charset="-120"/>
              </a:rPr>
              <a:t>100.0%</a:t>
            </a:r>
            <a:endParaRPr lang="en-US" sz="1300" dirty="0"/>
          </a:p>
        </p:txBody>
      </p:sp>
      <p:sp>
        <p:nvSpPr>
          <p:cNvPr id="120" name="Text 118"/>
          <p:cNvSpPr txBox="1"/>
          <p:nvPr/>
        </p:nvSpPr>
        <p:spPr>
          <a:xfrm>
            <a:off x="10652760" y="3209544"/>
            <a:ext cx="914400" cy="347472"/>
          </a:xfrm>
          <a:prstGeom prst="rect">
            <a:avLst/>
          </a:prstGeom>
          <a:noFill/>
          <a:ln/>
        </p:spPr>
        <p:txBody>
          <a:bodyPr wrap="square" lIns="0" tIns="0" rIns="0" bIns="0" rtlCol="0" anchor="ctr"/>
          <a:lstStyle/>
          <a:p>
            <a:pPr algn="r" indent="0" marL="0">
              <a:buNone/>
            </a:pPr>
            <a:r>
              <a:rPr lang="en-US" sz="1200" dirty="0">
                <a:solidFill>
                  <a:srgbClr val="595959"/>
                </a:solidFill>
                <a:latin typeface="Inter" pitchFamily="34" charset="0"/>
                <a:ea typeface="Inter" pitchFamily="34" charset="-122"/>
                <a:cs typeface="Inter" pitchFamily="34" charset="-120"/>
              </a:rPr>
              <a:t>1,120</a:t>
            </a:r>
            <a:endParaRPr lang="en-US" sz="1200" dirty="0"/>
          </a:p>
        </p:txBody>
      </p:sp>
      <p:sp>
        <p:nvSpPr>
          <p:cNvPr id="121" name="Text 119"/>
          <p:cNvSpPr txBox="1"/>
          <p:nvPr/>
        </p:nvSpPr>
        <p:spPr>
          <a:xfrm>
            <a:off x="8211312" y="3557016"/>
            <a:ext cx="1673352" cy="34747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Land Rover Reno</a:t>
            </a:r>
            <a:endParaRPr lang="en-US" sz="1300" dirty="0"/>
          </a:p>
        </p:txBody>
      </p:sp>
      <p:sp>
        <p:nvSpPr>
          <p:cNvPr id="122" name="Text 120"/>
          <p:cNvSpPr txBox="1"/>
          <p:nvPr/>
        </p:nvSpPr>
        <p:spPr>
          <a:xfrm>
            <a:off x="9902952" y="3557016"/>
            <a:ext cx="731520" cy="347472"/>
          </a:xfrm>
          <a:prstGeom prst="rect">
            <a:avLst/>
          </a:prstGeom>
          <a:noFill/>
          <a:ln/>
        </p:spPr>
        <p:txBody>
          <a:bodyPr wrap="square" lIns="0" tIns="0" rIns="0" bIns="0" rtlCol="0" anchor="ctr"/>
          <a:lstStyle/>
          <a:p>
            <a:pPr algn="r" indent="0" marL="0">
              <a:buNone/>
            </a:pPr>
            <a:r>
              <a:rPr lang="en-US" sz="1300" b="1" dirty="0">
                <a:solidFill>
                  <a:srgbClr val="0B7A4A"/>
                </a:solidFill>
                <a:latin typeface="Inter" pitchFamily="34" charset="0"/>
                <a:ea typeface="Inter" pitchFamily="34" charset="-122"/>
                <a:cs typeface="Inter" pitchFamily="34" charset="-120"/>
              </a:rPr>
              <a:t>100.0%</a:t>
            </a:r>
            <a:endParaRPr lang="en-US" sz="1300" dirty="0"/>
          </a:p>
        </p:txBody>
      </p:sp>
      <p:sp>
        <p:nvSpPr>
          <p:cNvPr id="123" name="Text 121"/>
          <p:cNvSpPr txBox="1"/>
          <p:nvPr/>
        </p:nvSpPr>
        <p:spPr>
          <a:xfrm>
            <a:off x="10652760" y="3557016"/>
            <a:ext cx="914400" cy="347472"/>
          </a:xfrm>
          <a:prstGeom prst="rect">
            <a:avLst/>
          </a:prstGeom>
          <a:noFill/>
          <a:ln/>
        </p:spPr>
        <p:txBody>
          <a:bodyPr wrap="square" lIns="0" tIns="0" rIns="0" bIns="0" rtlCol="0" anchor="ctr"/>
          <a:lstStyle/>
          <a:p>
            <a:pPr algn="r" indent="0" marL="0">
              <a:buNone/>
            </a:pPr>
            <a:r>
              <a:rPr lang="en-US" sz="1200" dirty="0">
                <a:solidFill>
                  <a:srgbClr val="595959"/>
                </a:solidFill>
                <a:latin typeface="Inter" pitchFamily="34" charset="0"/>
                <a:ea typeface="Inter" pitchFamily="34" charset="-122"/>
                <a:cs typeface="Inter" pitchFamily="34" charset="-120"/>
              </a:rPr>
              <a:t>911</a:t>
            </a:r>
            <a:endParaRPr lang="en-US" sz="1200" dirty="0"/>
          </a:p>
        </p:txBody>
      </p:sp>
      <p:sp>
        <p:nvSpPr>
          <p:cNvPr id="124" name="Text 122"/>
          <p:cNvSpPr txBox="1"/>
          <p:nvPr/>
        </p:nvSpPr>
        <p:spPr>
          <a:xfrm>
            <a:off x="8211312" y="3904488"/>
            <a:ext cx="1673352" cy="34747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Acura</a:t>
            </a:r>
            <a:endParaRPr lang="en-US" sz="1300" dirty="0"/>
          </a:p>
        </p:txBody>
      </p:sp>
      <p:sp>
        <p:nvSpPr>
          <p:cNvPr id="125" name="Text 123"/>
          <p:cNvSpPr txBox="1"/>
          <p:nvPr/>
        </p:nvSpPr>
        <p:spPr>
          <a:xfrm>
            <a:off x="9902952" y="3904488"/>
            <a:ext cx="731520" cy="347472"/>
          </a:xfrm>
          <a:prstGeom prst="rect">
            <a:avLst/>
          </a:prstGeom>
          <a:noFill/>
          <a:ln/>
        </p:spPr>
        <p:txBody>
          <a:bodyPr wrap="square" lIns="0" tIns="0" rIns="0" bIns="0" rtlCol="0" anchor="ctr"/>
          <a:lstStyle/>
          <a:p>
            <a:pPr algn="r" indent="0" marL="0">
              <a:buNone/>
            </a:pPr>
            <a:r>
              <a:rPr lang="en-US" sz="1300" b="1" dirty="0">
                <a:solidFill>
                  <a:srgbClr val="0B7A4A"/>
                </a:solidFill>
                <a:latin typeface="Inter" pitchFamily="34" charset="0"/>
                <a:ea typeface="Inter" pitchFamily="34" charset="-122"/>
                <a:cs typeface="Inter" pitchFamily="34" charset="-120"/>
              </a:rPr>
              <a:t>100.0%</a:t>
            </a:r>
            <a:endParaRPr lang="en-US" sz="1300" dirty="0"/>
          </a:p>
        </p:txBody>
      </p:sp>
      <p:sp>
        <p:nvSpPr>
          <p:cNvPr id="126" name="Text 124"/>
          <p:cNvSpPr txBox="1"/>
          <p:nvPr/>
        </p:nvSpPr>
        <p:spPr>
          <a:xfrm>
            <a:off x="10652760" y="3904488"/>
            <a:ext cx="914400" cy="347472"/>
          </a:xfrm>
          <a:prstGeom prst="rect">
            <a:avLst/>
          </a:prstGeom>
          <a:noFill/>
          <a:ln/>
        </p:spPr>
        <p:txBody>
          <a:bodyPr wrap="square" lIns="0" tIns="0" rIns="0" bIns="0" rtlCol="0" anchor="ctr"/>
          <a:lstStyle/>
          <a:p>
            <a:pPr algn="r" indent="0" marL="0">
              <a:buNone/>
            </a:pPr>
            <a:r>
              <a:rPr lang="en-US" sz="1200" dirty="0">
                <a:solidFill>
                  <a:srgbClr val="595959"/>
                </a:solidFill>
                <a:latin typeface="Inter" pitchFamily="34" charset="0"/>
                <a:ea typeface="Inter" pitchFamily="34" charset="-122"/>
                <a:cs typeface="Inter" pitchFamily="34" charset="-120"/>
              </a:rPr>
              <a:t>376</a:t>
            </a:r>
            <a:endParaRPr lang="en-US" sz="1200" dirty="0"/>
          </a:p>
        </p:txBody>
      </p:sp>
      <p:sp>
        <p:nvSpPr>
          <p:cNvPr id="127" name="Shape 125"/>
          <p:cNvSpPr/>
          <p:nvPr/>
        </p:nvSpPr>
        <p:spPr>
          <a:xfrm>
            <a:off x="8211312" y="4270248"/>
            <a:ext cx="3355848" cy="22860"/>
          </a:xfrm>
          <a:prstGeom prst="rect">
            <a:avLst/>
          </a:prstGeom>
          <a:solidFill>
            <a:srgbClr val="C2352F"/>
          </a:solidFill>
          <a:ln/>
        </p:spPr>
      </p:sp>
      <p:sp>
        <p:nvSpPr>
          <p:cNvPr id="128" name="Text 126"/>
          <p:cNvSpPr txBox="1"/>
          <p:nvPr/>
        </p:nvSpPr>
        <p:spPr>
          <a:xfrm>
            <a:off x="8211312" y="4297680"/>
            <a:ext cx="1828800" cy="219456"/>
          </a:xfrm>
          <a:prstGeom prst="rect">
            <a:avLst/>
          </a:prstGeom>
          <a:noFill/>
          <a:ln/>
        </p:spPr>
        <p:txBody>
          <a:bodyPr wrap="square" lIns="0" tIns="0" rIns="0" bIns="0" rtlCol="0" anchor="ctr"/>
          <a:lstStyle/>
          <a:p>
            <a:pPr indent="0" marL="0">
              <a:buNone/>
            </a:pPr>
            <a:r>
              <a:rPr lang="en-US" sz="1400" b="1" dirty="0">
                <a:solidFill>
                  <a:srgbClr val="A82B26"/>
                </a:solidFill>
                <a:latin typeface="Inter" pitchFamily="34" charset="0"/>
                <a:ea typeface="Inter" pitchFamily="34" charset="-122"/>
                <a:cs typeface="Inter" pitchFamily="34" charset="-120"/>
              </a:rPr>
              <a:t>BOTTOM 5</a:t>
            </a:r>
            <a:endParaRPr lang="en-US" sz="1400" dirty="0"/>
          </a:p>
        </p:txBody>
      </p:sp>
      <p:sp>
        <p:nvSpPr>
          <p:cNvPr id="129" name="Text 127"/>
          <p:cNvSpPr txBox="1"/>
          <p:nvPr/>
        </p:nvSpPr>
        <p:spPr>
          <a:xfrm>
            <a:off x="9902952" y="4297680"/>
            <a:ext cx="731520" cy="219456"/>
          </a:xfrm>
          <a:prstGeom prst="rect">
            <a:avLst/>
          </a:prstGeom>
          <a:noFill/>
          <a:ln/>
        </p:spPr>
        <p:txBody>
          <a:bodyPr wrap="square" lIns="0" tIns="0" rIns="0" bIns="0" rtlCol="0" anchor="ctr"/>
          <a:lstStyle/>
          <a:p>
            <a:pPr algn="r" indent="0" marL="0">
              <a:buNone/>
            </a:pPr>
            <a:r>
              <a:rPr lang="en-US" sz="1400" b="1" dirty="0">
                <a:solidFill>
                  <a:srgbClr val="595959"/>
                </a:solidFill>
                <a:latin typeface="Inter" pitchFamily="34" charset="0"/>
                <a:ea typeface="Inter" pitchFamily="34" charset="-122"/>
                <a:cs typeface="Inter" pitchFamily="34" charset="-120"/>
              </a:rPr>
              <a:t>Rate</a:t>
            </a:r>
            <a:endParaRPr lang="en-US" sz="1400" dirty="0"/>
          </a:p>
        </p:txBody>
      </p:sp>
      <p:sp>
        <p:nvSpPr>
          <p:cNvPr id="130" name="Text 128"/>
          <p:cNvSpPr txBox="1"/>
          <p:nvPr/>
        </p:nvSpPr>
        <p:spPr>
          <a:xfrm>
            <a:off x="10652760" y="4297680"/>
            <a:ext cx="914400" cy="219456"/>
          </a:xfrm>
          <a:prstGeom prst="rect">
            <a:avLst/>
          </a:prstGeom>
          <a:noFill/>
          <a:ln/>
        </p:spPr>
        <p:txBody>
          <a:bodyPr wrap="square" lIns="0" tIns="0" rIns="0" bIns="0" rtlCol="0" anchor="ctr"/>
          <a:lstStyle/>
          <a:p>
            <a:pPr algn="r" indent="0" marL="0">
              <a:buNone/>
            </a:pPr>
            <a:r>
              <a:rPr lang="en-US" sz="1400" b="1" dirty="0">
                <a:solidFill>
                  <a:srgbClr val="595959"/>
                </a:solidFill>
                <a:latin typeface="Inter" pitchFamily="34" charset="0"/>
                <a:ea typeface="Inter" pitchFamily="34" charset="-122"/>
                <a:cs typeface="Inter" pitchFamily="34" charset="-120"/>
              </a:rPr>
              <a:t>Open</a:t>
            </a:r>
            <a:endParaRPr lang="en-US" sz="1400" dirty="0"/>
          </a:p>
        </p:txBody>
      </p:sp>
      <p:sp>
        <p:nvSpPr>
          <p:cNvPr id="131" name="Text 129"/>
          <p:cNvSpPr txBox="1"/>
          <p:nvPr/>
        </p:nvSpPr>
        <p:spPr>
          <a:xfrm>
            <a:off x="8211312" y="4526280"/>
            <a:ext cx="1673352" cy="34747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Nissan</a:t>
            </a:r>
            <a:endParaRPr lang="en-US" sz="1300" dirty="0"/>
          </a:p>
        </p:txBody>
      </p:sp>
      <p:sp>
        <p:nvSpPr>
          <p:cNvPr id="132" name="Text 130"/>
          <p:cNvSpPr txBox="1"/>
          <p:nvPr/>
        </p:nvSpPr>
        <p:spPr>
          <a:xfrm>
            <a:off x="9902952" y="4526280"/>
            <a:ext cx="731520" cy="34747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44.0%</a:t>
            </a:r>
            <a:endParaRPr lang="en-US" sz="1300" dirty="0"/>
          </a:p>
        </p:txBody>
      </p:sp>
      <p:sp>
        <p:nvSpPr>
          <p:cNvPr id="133" name="Text 131"/>
          <p:cNvSpPr txBox="1"/>
          <p:nvPr/>
        </p:nvSpPr>
        <p:spPr>
          <a:xfrm>
            <a:off x="10652760" y="4526280"/>
            <a:ext cx="914400" cy="347472"/>
          </a:xfrm>
          <a:prstGeom prst="rect">
            <a:avLst/>
          </a:prstGeom>
          <a:noFill/>
          <a:ln/>
        </p:spPr>
        <p:txBody>
          <a:bodyPr wrap="square" lIns="0" tIns="0" rIns="0" bIns="0" rtlCol="0" anchor="ctr"/>
          <a:lstStyle/>
          <a:p>
            <a:pPr algn="r" indent="0" marL="0">
              <a:buNone/>
            </a:pPr>
            <a:r>
              <a:rPr lang="en-US" sz="1200" dirty="0">
                <a:solidFill>
                  <a:srgbClr val="595959"/>
                </a:solidFill>
                <a:latin typeface="Inter" pitchFamily="34" charset="0"/>
                <a:ea typeface="Inter" pitchFamily="34" charset="-122"/>
                <a:cs typeface="Inter" pitchFamily="34" charset="-120"/>
              </a:rPr>
              <a:t>158</a:t>
            </a:r>
            <a:endParaRPr lang="en-US" sz="1200" dirty="0"/>
          </a:p>
        </p:txBody>
      </p:sp>
      <p:sp>
        <p:nvSpPr>
          <p:cNvPr id="134" name="Text 132"/>
          <p:cNvSpPr txBox="1"/>
          <p:nvPr/>
        </p:nvSpPr>
        <p:spPr>
          <a:xfrm>
            <a:off x="8211312" y="4873752"/>
            <a:ext cx="1673352" cy="34747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Prescott Hyundai</a:t>
            </a:r>
            <a:endParaRPr lang="en-US" sz="1300" dirty="0"/>
          </a:p>
        </p:txBody>
      </p:sp>
      <p:sp>
        <p:nvSpPr>
          <p:cNvPr id="135" name="Text 133"/>
          <p:cNvSpPr txBox="1"/>
          <p:nvPr/>
        </p:nvSpPr>
        <p:spPr>
          <a:xfrm>
            <a:off x="9902952" y="4873752"/>
            <a:ext cx="731520" cy="34747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78.2%</a:t>
            </a:r>
            <a:endParaRPr lang="en-US" sz="1300" dirty="0"/>
          </a:p>
        </p:txBody>
      </p:sp>
      <p:sp>
        <p:nvSpPr>
          <p:cNvPr id="136" name="Text 134"/>
          <p:cNvSpPr txBox="1"/>
          <p:nvPr/>
        </p:nvSpPr>
        <p:spPr>
          <a:xfrm>
            <a:off x="10652760" y="4873752"/>
            <a:ext cx="914400" cy="347472"/>
          </a:xfrm>
          <a:prstGeom prst="rect">
            <a:avLst/>
          </a:prstGeom>
          <a:noFill/>
          <a:ln/>
        </p:spPr>
        <p:txBody>
          <a:bodyPr wrap="square" lIns="0" tIns="0" rIns="0" bIns="0" rtlCol="0" anchor="ctr"/>
          <a:lstStyle/>
          <a:p>
            <a:pPr algn="r" indent="0" marL="0">
              <a:buNone/>
            </a:pPr>
            <a:r>
              <a:rPr lang="en-US" sz="1200" dirty="0">
                <a:solidFill>
                  <a:srgbClr val="595959"/>
                </a:solidFill>
                <a:latin typeface="Inter" pitchFamily="34" charset="0"/>
                <a:ea typeface="Inter" pitchFamily="34" charset="-122"/>
                <a:cs typeface="Inter" pitchFamily="34" charset="-120"/>
              </a:rPr>
              <a:t>114</a:t>
            </a:r>
            <a:endParaRPr lang="en-US" sz="1200" dirty="0"/>
          </a:p>
        </p:txBody>
      </p:sp>
      <p:sp>
        <p:nvSpPr>
          <p:cNvPr id="137" name="Text 135"/>
          <p:cNvSpPr txBox="1"/>
          <p:nvPr/>
        </p:nvSpPr>
        <p:spPr>
          <a:xfrm>
            <a:off x="8211312" y="5221224"/>
            <a:ext cx="1673352" cy="34747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CDR Post Falls</a:t>
            </a:r>
            <a:endParaRPr lang="en-US" sz="1300" dirty="0"/>
          </a:p>
        </p:txBody>
      </p:sp>
      <p:sp>
        <p:nvSpPr>
          <p:cNvPr id="138" name="Text 136"/>
          <p:cNvSpPr txBox="1"/>
          <p:nvPr/>
        </p:nvSpPr>
        <p:spPr>
          <a:xfrm>
            <a:off x="9902952" y="5221224"/>
            <a:ext cx="731520" cy="34747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94.0%</a:t>
            </a:r>
            <a:endParaRPr lang="en-US" sz="1300" dirty="0"/>
          </a:p>
        </p:txBody>
      </p:sp>
      <p:sp>
        <p:nvSpPr>
          <p:cNvPr id="139" name="Text 137"/>
          <p:cNvSpPr txBox="1"/>
          <p:nvPr/>
        </p:nvSpPr>
        <p:spPr>
          <a:xfrm>
            <a:off x="10652760" y="5221224"/>
            <a:ext cx="914400" cy="347472"/>
          </a:xfrm>
          <a:prstGeom prst="rect">
            <a:avLst/>
          </a:prstGeom>
          <a:noFill/>
          <a:ln/>
        </p:spPr>
        <p:txBody>
          <a:bodyPr wrap="square" lIns="0" tIns="0" rIns="0" bIns="0" rtlCol="0" anchor="ctr"/>
          <a:lstStyle/>
          <a:p>
            <a:pPr algn="r" indent="0" marL="0">
              <a:buNone/>
            </a:pPr>
            <a:r>
              <a:rPr lang="en-US" sz="1200" dirty="0">
                <a:solidFill>
                  <a:srgbClr val="595959"/>
                </a:solidFill>
                <a:latin typeface="Inter" pitchFamily="34" charset="0"/>
                <a:ea typeface="Inter" pitchFamily="34" charset="-122"/>
                <a:cs typeface="Inter" pitchFamily="34" charset="-120"/>
              </a:rPr>
              <a:t>57</a:t>
            </a:r>
            <a:endParaRPr lang="en-US" sz="1200" dirty="0"/>
          </a:p>
        </p:txBody>
      </p:sp>
      <p:sp>
        <p:nvSpPr>
          <p:cNvPr id="140" name="Shape 138"/>
          <p:cNvSpPr/>
          <p:nvPr/>
        </p:nvSpPr>
        <p:spPr>
          <a:xfrm>
            <a:off x="11612880" y="5257800"/>
            <a:ext cx="54864" cy="274320"/>
          </a:xfrm>
          <a:prstGeom prst="rect">
            <a:avLst/>
          </a:prstGeom>
          <a:solidFill>
            <a:srgbClr val="C2352F"/>
          </a:solidFill>
          <a:ln/>
        </p:spPr>
      </p:sp>
      <p:sp>
        <p:nvSpPr>
          <p:cNvPr id="141" name="Text 139"/>
          <p:cNvSpPr txBox="1"/>
          <p:nvPr/>
        </p:nvSpPr>
        <p:spPr>
          <a:xfrm>
            <a:off x="8211312" y="5568696"/>
            <a:ext cx="1673352" cy="34747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Audi Reno Tahoe</a:t>
            </a:r>
            <a:endParaRPr lang="en-US" sz="1300" dirty="0"/>
          </a:p>
        </p:txBody>
      </p:sp>
      <p:sp>
        <p:nvSpPr>
          <p:cNvPr id="142" name="Text 140"/>
          <p:cNvSpPr txBox="1"/>
          <p:nvPr/>
        </p:nvSpPr>
        <p:spPr>
          <a:xfrm>
            <a:off x="9902952" y="5568696"/>
            <a:ext cx="731520" cy="34747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96.5%</a:t>
            </a:r>
            <a:endParaRPr lang="en-US" sz="1300" dirty="0"/>
          </a:p>
        </p:txBody>
      </p:sp>
      <p:sp>
        <p:nvSpPr>
          <p:cNvPr id="143" name="Text 141"/>
          <p:cNvSpPr txBox="1"/>
          <p:nvPr/>
        </p:nvSpPr>
        <p:spPr>
          <a:xfrm>
            <a:off x="10652760" y="5568696"/>
            <a:ext cx="914400" cy="347472"/>
          </a:xfrm>
          <a:prstGeom prst="rect">
            <a:avLst/>
          </a:prstGeom>
          <a:noFill/>
          <a:ln/>
        </p:spPr>
        <p:txBody>
          <a:bodyPr wrap="square" lIns="0" tIns="0" rIns="0" bIns="0" rtlCol="0" anchor="ctr"/>
          <a:lstStyle/>
          <a:p>
            <a:pPr algn="r" indent="0" marL="0">
              <a:buNone/>
            </a:pPr>
            <a:r>
              <a:rPr lang="en-US" sz="1200" dirty="0">
                <a:solidFill>
                  <a:srgbClr val="595959"/>
                </a:solidFill>
                <a:latin typeface="Inter" pitchFamily="34" charset="0"/>
                <a:ea typeface="Inter" pitchFamily="34" charset="-122"/>
                <a:cs typeface="Inter" pitchFamily="34" charset="-120"/>
              </a:rPr>
              <a:t>30</a:t>
            </a:r>
            <a:endParaRPr lang="en-US" sz="1200" dirty="0"/>
          </a:p>
        </p:txBody>
      </p:sp>
      <p:sp>
        <p:nvSpPr>
          <p:cNvPr id="144" name="Shape 142"/>
          <p:cNvSpPr/>
          <p:nvPr/>
        </p:nvSpPr>
        <p:spPr>
          <a:xfrm>
            <a:off x="11612880" y="5605272"/>
            <a:ext cx="54864" cy="274320"/>
          </a:xfrm>
          <a:prstGeom prst="rect">
            <a:avLst/>
          </a:prstGeom>
          <a:solidFill>
            <a:srgbClr val="C2352F"/>
          </a:solidFill>
          <a:ln/>
        </p:spPr>
      </p:sp>
      <p:sp>
        <p:nvSpPr>
          <p:cNvPr id="145" name="Text 143"/>
          <p:cNvSpPr txBox="1"/>
          <p:nvPr/>
        </p:nvSpPr>
        <p:spPr>
          <a:xfrm>
            <a:off x="8211312" y="5916168"/>
            <a:ext cx="1673352" cy="34747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Chevy GMC Bullhead</a:t>
            </a:r>
            <a:endParaRPr lang="en-US" sz="1300" dirty="0"/>
          </a:p>
        </p:txBody>
      </p:sp>
      <p:sp>
        <p:nvSpPr>
          <p:cNvPr id="146" name="Text 144"/>
          <p:cNvSpPr txBox="1"/>
          <p:nvPr/>
        </p:nvSpPr>
        <p:spPr>
          <a:xfrm>
            <a:off x="9902952" y="5916168"/>
            <a:ext cx="731520" cy="34747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98.2%</a:t>
            </a:r>
            <a:endParaRPr lang="en-US" sz="1300" dirty="0"/>
          </a:p>
        </p:txBody>
      </p:sp>
      <p:sp>
        <p:nvSpPr>
          <p:cNvPr id="147" name="Text 145"/>
          <p:cNvSpPr txBox="1"/>
          <p:nvPr/>
        </p:nvSpPr>
        <p:spPr>
          <a:xfrm>
            <a:off x="10652760" y="5916168"/>
            <a:ext cx="914400" cy="347472"/>
          </a:xfrm>
          <a:prstGeom prst="rect">
            <a:avLst/>
          </a:prstGeom>
          <a:noFill/>
          <a:ln/>
        </p:spPr>
        <p:txBody>
          <a:bodyPr wrap="square" lIns="0" tIns="0" rIns="0" bIns="0" rtlCol="0" anchor="ctr"/>
          <a:lstStyle/>
          <a:p>
            <a:pPr algn="r" indent="0" marL="0">
              <a:buNone/>
            </a:pPr>
            <a:r>
              <a:rPr lang="en-US" sz="1200" dirty="0">
                <a:solidFill>
                  <a:srgbClr val="595959"/>
                </a:solidFill>
                <a:latin typeface="Inter" pitchFamily="34" charset="0"/>
                <a:ea typeface="Inter" pitchFamily="34" charset="-122"/>
                <a:cs typeface="Inter" pitchFamily="34" charset="-120"/>
              </a:rPr>
              <a:t>3</a:t>
            </a:r>
            <a:endParaRPr lang="en-US" sz="1200" dirty="0"/>
          </a:p>
        </p:txBody>
      </p:sp>
    </p:spTree>
  </p:cSld>
  <p:clrMapOvr>
    <a:masterClrMapping/>
  </p:clrMapOvr>
</p:sld>
</file>

<file path=ppt/slides/slide110.xml><?xml version="1.0" encoding="utf-8"?>
<p:sld xmlns:a="http://schemas.openxmlformats.org/drawingml/2006/main" xmlns:p="http://schemas.openxmlformats.org/presentationml/2006/main" xmlns:r="http://schemas.openxmlformats.org/officeDocument/2006/relationships">
  <p:cSld>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OPCODES · JAN–SEP 2026 YTD</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Total Variance from Benchmark by Store</a:t>
            </a:r>
            <a:endParaRPr lang="en-US" sz="2800" dirty="0"/>
          </a:p>
        </p:txBody>
      </p:sp>
      <p:sp>
        <p:nvSpPr>
          <p:cNvPr id="5" name="Shape 3"/>
          <p:cNvSpPr/>
          <p:nvPr/>
        </p:nvSpPr>
        <p:spPr>
          <a:xfrm>
            <a:off x="457200" y="1207008"/>
            <a:ext cx="11274552" cy="4782312"/>
          </a:xfrm>
          <a:prstGeom prst="rect">
            <a:avLst/>
          </a:prstGeom>
          <a:solidFill>
            <a:srgbClr val="FFFFFF"/>
          </a:solidFill>
          <a:ln/>
        </p:spPr>
      </p:sp>
      <p:sp>
        <p:nvSpPr>
          <p:cNvPr id="6" name="Text 4"/>
          <p:cNvSpPr txBox="1"/>
          <p:nvPr/>
        </p:nvSpPr>
        <p:spPr>
          <a:xfrm>
            <a:off x="3950208" y="1316736"/>
            <a:ext cx="1097280" cy="329184"/>
          </a:xfrm>
          <a:prstGeom prst="rect">
            <a:avLst/>
          </a:prstGeom>
          <a:noFill/>
          <a:ln/>
        </p:spPr>
        <p:txBody>
          <a:bodyPr wrap="square" lIns="0" tIns="0" rIns="0" bIns="0" rtlCol="0" anchor="ctr"/>
          <a:lstStyle/>
          <a:p>
            <a:pPr algn="r" indent="0" marL="0">
              <a:buNone/>
            </a:pPr>
            <a:r>
              <a:rPr lang="en-US" sz="1400" b="1" dirty="0">
                <a:solidFill>
                  <a:srgbClr val="595959"/>
                </a:solidFill>
                <a:latin typeface="Inter" pitchFamily="34" charset="0"/>
                <a:ea typeface="Inter" pitchFamily="34" charset="-122"/>
                <a:cs typeface="Inter" pitchFamily="34" charset="-120"/>
              </a:rPr>
              <a:t>Variance</a:t>
            </a:r>
            <a:endParaRPr lang="en-US" sz="1400" dirty="0"/>
          </a:p>
        </p:txBody>
      </p:sp>
      <p:sp>
        <p:nvSpPr>
          <p:cNvPr id="7" name="Text 5"/>
          <p:cNvSpPr txBox="1"/>
          <p:nvPr/>
        </p:nvSpPr>
        <p:spPr>
          <a:xfrm>
            <a:off x="5047488" y="1316736"/>
            <a:ext cx="868680" cy="329184"/>
          </a:xfrm>
          <a:prstGeom prst="rect">
            <a:avLst/>
          </a:prstGeom>
          <a:noFill/>
          <a:ln/>
        </p:spPr>
        <p:txBody>
          <a:bodyPr wrap="square" lIns="0" tIns="0" rIns="0" bIns="0" rtlCol="0" anchor="ctr"/>
          <a:lstStyle/>
          <a:p>
            <a:pPr algn="r" indent="0" marL="0">
              <a:buNone/>
            </a:pPr>
            <a:r>
              <a:rPr lang="en-US" sz="1400" b="1" dirty="0">
                <a:solidFill>
                  <a:srgbClr val="595959"/>
                </a:solidFill>
                <a:latin typeface="Inter" pitchFamily="34" charset="0"/>
                <a:ea typeface="Inter" pitchFamily="34" charset="-122"/>
                <a:cs typeface="Inter" pitchFamily="34" charset="-120"/>
              </a:rPr>
              <a:t>Opcodes</a:t>
            </a:r>
            <a:endParaRPr lang="en-US" sz="1400" dirty="0"/>
          </a:p>
        </p:txBody>
      </p:sp>
      <p:sp>
        <p:nvSpPr>
          <p:cNvPr id="8" name="Shape 6"/>
          <p:cNvSpPr/>
          <p:nvPr/>
        </p:nvSpPr>
        <p:spPr>
          <a:xfrm>
            <a:off x="3429510" y="1700784"/>
            <a:ext cx="10973" cy="4224528"/>
          </a:xfrm>
          <a:prstGeom prst="rect">
            <a:avLst/>
          </a:prstGeom>
          <a:solidFill>
            <a:srgbClr val="9AA3AD"/>
          </a:solidFill>
          <a:ln/>
        </p:spPr>
      </p:sp>
      <p:sp>
        <p:nvSpPr>
          <p:cNvPr id="9" name="Text 7"/>
          <p:cNvSpPr txBox="1"/>
          <p:nvPr/>
        </p:nvSpPr>
        <p:spPr>
          <a:xfrm>
            <a:off x="9500616" y="1316736"/>
            <a:ext cx="1097280" cy="329184"/>
          </a:xfrm>
          <a:prstGeom prst="rect">
            <a:avLst/>
          </a:prstGeom>
          <a:noFill/>
          <a:ln/>
        </p:spPr>
        <p:txBody>
          <a:bodyPr wrap="square" lIns="0" tIns="0" rIns="0" bIns="0" rtlCol="0" anchor="ctr"/>
          <a:lstStyle/>
          <a:p>
            <a:pPr algn="r" indent="0" marL="0">
              <a:buNone/>
            </a:pPr>
            <a:r>
              <a:rPr lang="en-US" sz="1400" b="1" dirty="0">
                <a:solidFill>
                  <a:srgbClr val="595959"/>
                </a:solidFill>
                <a:latin typeface="Inter" pitchFamily="34" charset="0"/>
                <a:ea typeface="Inter" pitchFamily="34" charset="-122"/>
                <a:cs typeface="Inter" pitchFamily="34" charset="-120"/>
              </a:rPr>
              <a:t>Variance</a:t>
            </a:r>
            <a:endParaRPr lang="en-US" sz="1400" dirty="0"/>
          </a:p>
        </p:txBody>
      </p:sp>
      <p:sp>
        <p:nvSpPr>
          <p:cNvPr id="10" name="Text 8"/>
          <p:cNvSpPr txBox="1"/>
          <p:nvPr/>
        </p:nvSpPr>
        <p:spPr>
          <a:xfrm>
            <a:off x="10597896" y="1316736"/>
            <a:ext cx="868680" cy="329184"/>
          </a:xfrm>
          <a:prstGeom prst="rect">
            <a:avLst/>
          </a:prstGeom>
          <a:noFill/>
          <a:ln/>
        </p:spPr>
        <p:txBody>
          <a:bodyPr wrap="square" lIns="0" tIns="0" rIns="0" bIns="0" rtlCol="0" anchor="ctr"/>
          <a:lstStyle/>
          <a:p>
            <a:pPr algn="r" indent="0" marL="0">
              <a:buNone/>
            </a:pPr>
            <a:r>
              <a:rPr lang="en-US" sz="1400" b="1" dirty="0">
                <a:solidFill>
                  <a:srgbClr val="595959"/>
                </a:solidFill>
                <a:latin typeface="Inter" pitchFamily="34" charset="0"/>
                <a:ea typeface="Inter" pitchFamily="34" charset="-122"/>
                <a:cs typeface="Inter" pitchFamily="34" charset="-120"/>
              </a:rPr>
              <a:t>Opcodes</a:t>
            </a:r>
            <a:endParaRPr lang="en-US" sz="1400" dirty="0"/>
          </a:p>
        </p:txBody>
      </p:sp>
      <p:sp>
        <p:nvSpPr>
          <p:cNvPr id="11" name="Shape 9"/>
          <p:cNvSpPr/>
          <p:nvPr/>
        </p:nvSpPr>
        <p:spPr>
          <a:xfrm>
            <a:off x="8979918" y="1700784"/>
            <a:ext cx="10973" cy="3976026"/>
          </a:xfrm>
          <a:prstGeom prst="rect">
            <a:avLst/>
          </a:prstGeom>
          <a:solidFill>
            <a:srgbClr val="9AA3AD"/>
          </a:solidFill>
          <a:ln/>
        </p:spPr>
      </p:sp>
      <p:sp>
        <p:nvSpPr>
          <p:cNvPr id="12" name="Text 10"/>
          <p:cNvSpPr txBox="1"/>
          <p:nvPr/>
        </p:nvSpPr>
        <p:spPr>
          <a:xfrm>
            <a:off x="658368" y="1700784"/>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a:t>
            </a:r>
            <a:endParaRPr lang="en-US" sz="1200" dirty="0"/>
          </a:p>
        </p:txBody>
      </p:sp>
      <p:sp>
        <p:nvSpPr>
          <p:cNvPr id="13" name="Text 11"/>
          <p:cNvSpPr txBox="1"/>
          <p:nvPr/>
        </p:nvSpPr>
        <p:spPr>
          <a:xfrm>
            <a:off x="1014984" y="1700784"/>
            <a:ext cx="2011680" cy="24850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HENDERSON</a:t>
            </a:r>
            <a:endParaRPr lang="en-US" sz="1300" dirty="0"/>
          </a:p>
        </p:txBody>
      </p:sp>
      <p:sp>
        <p:nvSpPr>
          <p:cNvPr id="14" name="Shape 12"/>
          <p:cNvSpPr/>
          <p:nvPr/>
        </p:nvSpPr>
        <p:spPr>
          <a:xfrm>
            <a:off x="3434996" y="1756697"/>
            <a:ext cx="460348" cy="136676"/>
          </a:xfrm>
          <a:prstGeom prst="rect">
            <a:avLst/>
          </a:prstGeom>
          <a:solidFill>
            <a:srgbClr val="12A566"/>
          </a:solidFill>
          <a:ln/>
        </p:spPr>
      </p:sp>
      <p:sp>
        <p:nvSpPr>
          <p:cNvPr id="15" name="Text 13"/>
          <p:cNvSpPr txBox="1"/>
          <p:nvPr/>
        </p:nvSpPr>
        <p:spPr>
          <a:xfrm>
            <a:off x="3950208" y="1700784"/>
            <a:ext cx="1097280" cy="248502"/>
          </a:xfrm>
          <a:prstGeom prst="rect">
            <a:avLst/>
          </a:prstGeom>
          <a:noFill/>
          <a:ln/>
        </p:spPr>
        <p:txBody>
          <a:bodyPr wrap="square" lIns="0" tIns="0" rIns="0" bIns="0" rtlCol="0" anchor="ctr"/>
          <a:lstStyle/>
          <a:p>
            <a:pPr algn="r" indent="0" marL="0">
              <a:buNone/>
            </a:pPr>
            <a:r>
              <a:rPr lang="en-US" sz="1300" b="1" dirty="0">
                <a:solidFill>
                  <a:srgbClr val="0B7A4A"/>
                </a:solidFill>
                <a:latin typeface="Inter" pitchFamily="34" charset="0"/>
                <a:ea typeface="Inter" pitchFamily="34" charset="-122"/>
                <a:cs typeface="Inter" pitchFamily="34" charset="-120"/>
              </a:rPr>
              <a:t>+$557K</a:t>
            </a:r>
            <a:endParaRPr lang="en-US" sz="1300" dirty="0"/>
          </a:p>
        </p:txBody>
      </p:sp>
      <p:sp>
        <p:nvSpPr>
          <p:cNvPr id="16" name="Text 14"/>
          <p:cNvSpPr txBox="1"/>
          <p:nvPr/>
        </p:nvSpPr>
        <p:spPr>
          <a:xfrm>
            <a:off x="5047488" y="1700784"/>
            <a:ext cx="8686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+4,476</a:t>
            </a:r>
            <a:endParaRPr lang="en-US" sz="1300" dirty="0"/>
          </a:p>
        </p:txBody>
      </p:sp>
      <p:sp>
        <p:nvSpPr>
          <p:cNvPr id="17" name="Shape 15"/>
          <p:cNvSpPr/>
          <p:nvPr/>
        </p:nvSpPr>
        <p:spPr>
          <a:xfrm>
            <a:off x="5971032" y="1746504"/>
            <a:ext cx="54864" cy="157062"/>
          </a:xfrm>
          <a:prstGeom prst="rect">
            <a:avLst/>
          </a:prstGeom>
          <a:solidFill>
            <a:srgbClr val="12A566"/>
          </a:solidFill>
          <a:ln/>
        </p:spPr>
      </p:sp>
      <p:sp>
        <p:nvSpPr>
          <p:cNvPr id="18" name="Text 16"/>
          <p:cNvSpPr txBox="1"/>
          <p:nvPr/>
        </p:nvSpPr>
        <p:spPr>
          <a:xfrm>
            <a:off x="658368" y="1949286"/>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a:t>
            </a:r>
            <a:endParaRPr lang="en-US" sz="1200" dirty="0"/>
          </a:p>
        </p:txBody>
      </p:sp>
      <p:sp>
        <p:nvSpPr>
          <p:cNvPr id="19" name="Text 17"/>
          <p:cNvSpPr txBox="1"/>
          <p:nvPr/>
        </p:nvSpPr>
        <p:spPr>
          <a:xfrm>
            <a:off x="1014984" y="1949286"/>
            <a:ext cx="2011680" cy="24850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LR LV</a:t>
            </a:r>
            <a:endParaRPr lang="en-US" sz="1300" dirty="0"/>
          </a:p>
        </p:txBody>
      </p:sp>
      <p:sp>
        <p:nvSpPr>
          <p:cNvPr id="20" name="Shape 18"/>
          <p:cNvSpPr/>
          <p:nvPr/>
        </p:nvSpPr>
        <p:spPr>
          <a:xfrm>
            <a:off x="3434996" y="2005199"/>
            <a:ext cx="124432" cy="136676"/>
          </a:xfrm>
          <a:prstGeom prst="rect">
            <a:avLst/>
          </a:prstGeom>
          <a:solidFill>
            <a:srgbClr val="12A566"/>
          </a:solidFill>
          <a:ln/>
        </p:spPr>
      </p:sp>
      <p:sp>
        <p:nvSpPr>
          <p:cNvPr id="21" name="Text 19"/>
          <p:cNvSpPr txBox="1"/>
          <p:nvPr/>
        </p:nvSpPr>
        <p:spPr>
          <a:xfrm>
            <a:off x="3950208" y="1949286"/>
            <a:ext cx="1097280" cy="248502"/>
          </a:xfrm>
          <a:prstGeom prst="rect">
            <a:avLst/>
          </a:prstGeom>
          <a:noFill/>
          <a:ln/>
        </p:spPr>
        <p:txBody>
          <a:bodyPr wrap="square" lIns="0" tIns="0" rIns="0" bIns="0" rtlCol="0" anchor="ctr"/>
          <a:lstStyle/>
          <a:p>
            <a:pPr algn="r" indent="0" marL="0">
              <a:buNone/>
            </a:pPr>
            <a:r>
              <a:rPr lang="en-US" sz="1300" b="1" dirty="0">
                <a:solidFill>
                  <a:srgbClr val="0B7A4A"/>
                </a:solidFill>
                <a:latin typeface="Inter" pitchFamily="34" charset="0"/>
                <a:ea typeface="Inter" pitchFamily="34" charset="-122"/>
                <a:cs typeface="Inter" pitchFamily="34" charset="-120"/>
              </a:rPr>
              <a:t>+$151K</a:t>
            </a:r>
            <a:endParaRPr lang="en-US" sz="1300" dirty="0"/>
          </a:p>
        </p:txBody>
      </p:sp>
      <p:sp>
        <p:nvSpPr>
          <p:cNvPr id="22" name="Text 20"/>
          <p:cNvSpPr txBox="1"/>
          <p:nvPr/>
        </p:nvSpPr>
        <p:spPr>
          <a:xfrm>
            <a:off x="5047488" y="1949286"/>
            <a:ext cx="8686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+456</a:t>
            </a:r>
            <a:endParaRPr lang="en-US" sz="1300" dirty="0"/>
          </a:p>
        </p:txBody>
      </p:sp>
      <p:sp>
        <p:nvSpPr>
          <p:cNvPr id="23" name="Shape 21"/>
          <p:cNvSpPr/>
          <p:nvPr/>
        </p:nvSpPr>
        <p:spPr>
          <a:xfrm>
            <a:off x="5971032" y="1995006"/>
            <a:ext cx="54864" cy="157062"/>
          </a:xfrm>
          <a:prstGeom prst="rect">
            <a:avLst/>
          </a:prstGeom>
          <a:solidFill>
            <a:srgbClr val="12A566"/>
          </a:solidFill>
          <a:ln/>
        </p:spPr>
      </p:sp>
      <p:sp>
        <p:nvSpPr>
          <p:cNvPr id="24" name="Text 22"/>
          <p:cNvSpPr txBox="1"/>
          <p:nvPr/>
        </p:nvSpPr>
        <p:spPr>
          <a:xfrm>
            <a:off x="658368" y="2197787"/>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3</a:t>
            </a:r>
            <a:endParaRPr lang="en-US" sz="1200" dirty="0"/>
          </a:p>
        </p:txBody>
      </p:sp>
      <p:sp>
        <p:nvSpPr>
          <p:cNvPr id="25" name="Text 23"/>
          <p:cNvSpPr txBox="1"/>
          <p:nvPr/>
        </p:nvSpPr>
        <p:spPr>
          <a:xfrm>
            <a:off x="1014984" y="2197787"/>
            <a:ext cx="2011680" cy="24850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LR HENDERSON</a:t>
            </a:r>
            <a:endParaRPr lang="en-US" sz="1300" dirty="0"/>
          </a:p>
        </p:txBody>
      </p:sp>
      <p:sp>
        <p:nvSpPr>
          <p:cNvPr id="26" name="Shape 24"/>
          <p:cNvSpPr/>
          <p:nvPr/>
        </p:nvSpPr>
        <p:spPr>
          <a:xfrm>
            <a:off x="3434996" y="2253700"/>
            <a:ext cx="44339" cy="136676"/>
          </a:xfrm>
          <a:prstGeom prst="rect">
            <a:avLst/>
          </a:prstGeom>
          <a:solidFill>
            <a:srgbClr val="12A566"/>
          </a:solidFill>
          <a:ln/>
        </p:spPr>
      </p:sp>
      <p:sp>
        <p:nvSpPr>
          <p:cNvPr id="27" name="Text 25"/>
          <p:cNvSpPr txBox="1"/>
          <p:nvPr/>
        </p:nvSpPr>
        <p:spPr>
          <a:xfrm>
            <a:off x="3950208" y="2197787"/>
            <a:ext cx="1097280" cy="248502"/>
          </a:xfrm>
          <a:prstGeom prst="rect">
            <a:avLst/>
          </a:prstGeom>
          <a:noFill/>
          <a:ln/>
        </p:spPr>
        <p:txBody>
          <a:bodyPr wrap="square" lIns="0" tIns="0" rIns="0" bIns="0" rtlCol="0" anchor="ctr"/>
          <a:lstStyle/>
          <a:p>
            <a:pPr algn="r" indent="0" marL="0">
              <a:buNone/>
            </a:pPr>
            <a:r>
              <a:rPr lang="en-US" sz="1300" b="1" dirty="0">
                <a:solidFill>
                  <a:srgbClr val="0B7A4A"/>
                </a:solidFill>
                <a:latin typeface="Inter" pitchFamily="34" charset="0"/>
                <a:ea typeface="Inter" pitchFamily="34" charset="-122"/>
                <a:cs typeface="Inter" pitchFamily="34" charset="-120"/>
              </a:rPr>
              <a:t>+$54K</a:t>
            </a:r>
            <a:endParaRPr lang="en-US" sz="1300" dirty="0"/>
          </a:p>
        </p:txBody>
      </p:sp>
      <p:sp>
        <p:nvSpPr>
          <p:cNvPr id="28" name="Text 26"/>
          <p:cNvSpPr txBox="1"/>
          <p:nvPr/>
        </p:nvSpPr>
        <p:spPr>
          <a:xfrm>
            <a:off x="5047488" y="2197787"/>
            <a:ext cx="8686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+324</a:t>
            </a:r>
            <a:endParaRPr lang="en-US" sz="1300" dirty="0"/>
          </a:p>
        </p:txBody>
      </p:sp>
      <p:sp>
        <p:nvSpPr>
          <p:cNvPr id="29" name="Shape 27"/>
          <p:cNvSpPr/>
          <p:nvPr/>
        </p:nvSpPr>
        <p:spPr>
          <a:xfrm>
            <a:off x="5971032" y="2243507"/>
            <a:ext cx="54864" cy="157062"/>
          </a:xfrm>
          <a:prstGeom prst="rect">
            <a:avLst/>
          </a:prstGeom>
          <a:solidFill>
            <a:srgbClr val="12A566"/>
          </a:solidFill>
          <a:ln/>
        </p:spPr>
      </p:sp>
      <p:sp>
        <p:nvSpPr>
          <p:cNvPr id="30" name="Text 28"/>
          <p:cNvSpPr txBox="1"/>
          <p:nvPr/>
        </p:nvSpPr>
        <p:spPr>
          <a:xfrm>
            <a:off x="658368" y="2446289"/>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4</a:t>
            </a:r>
            <a:endParaRPr lang="en-US" sz="1200" dirty="0"/>
          </a:p>
        </p:txBody>
      </p:sp>
      <p:sp>
        <p:nvSpPr>
          <p:cNvPr id="31" name="Text 29"/>
          <p:cNvSpPr txBox="1"/>
          <p:nvPr/>
        </p:nvSpPr>
        <p:spPr>
          <a:xfrm>
            <a:off x="1014984" y="2446289"/>
            <a:ext cx="2011680" cy="24850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NORTH</a:t>
            </a:r>
            <a:endParaRPr lang="en-US" sz="1300" dirty="0"/>
          </a:p>
        </p:txBody>
      </p:sp>
      <p:sp>
        <p:nvSpPr>
          <p:cNvPr id="32" name="Shape 30"/>
          <p:cNvSpPr/>
          <p:nvPr/>
        </p:nvSpPr>
        <p:spPr>
          <a:xfrm>
            <a:off x="3434996" y="2502202"/>
            <a:ext cx="37145" cy="136676"/>
          </a:xfrm>
          <a:prstGeom prst="rect">
            <a:avLst/>
          </a:prstGeom>
          <a:solidFill>
            <a:srgbClr val="12A566"/>
          </a:solidFill>
          <a:ln/>
        </p:spPr>
      </p:sp>
      <p:sp>
        <p:nvSpPr>
          <p:cNvPr id="33" name="Text 31"/>
          <p:cNvSpPr txBox="1"/>
          <p:nvPr/>
        </p:nvSpPr>
        <p:spPr>
          <a:xfrm>
            <a:off x="3950208" y="2446289"/>
            <a:ext cx="1097280" cy="248502"/>
          </a:xfrm>
          <a:prstGeom prst="rect">
            <a:avLst/>
          </a:prstGeom>
          <a:noFill/>
          <a:ln/>
        </p:spPr>
        <p:txBody>
          <a:bodyPr wrap="square" lIns="0" tIns="0" rIns="0" bIns="0" rtlCol="0" anchor="ctr"/>
          <a:lstStyle/>
          <a:p>
            <a:pPr algn="r" indent="0" marL="0">
              <a:buNone/>
            </a:pPr>
            <a:r>
              <a:rPr lang="en-US" sz="1300" b="1" dirty="0">
                <a:solidFill>
                  <a:srgbClr val="0B7A4A"/>
                </a:solidFill>
                <a:latin typeface="Inter" pitchFamily="34" charset="0"/>
                <a:ea typeface="Inter" pitchFamily="34" charset="-122"/>
                <a:cs typeface="Inter" pitchFamily="34" charset="-120"/>
              </a:rPr>
              <a:t>+$45K</a:t>
            </a:r>
            <a:endParaRPr lang="en-US" sz="1300" dirty="0"/>
          </a:p>
        </p:txBody>
      </p:sp>
      <p:sp>
        <p:nvSpPr>
          <p:cNvPr id="34" name="Text 32"/>
          <p:cNvSpPr txBox="1"/>
          <p:nvPr/>
        </p:nvSpPr>
        <p:spPr>
          <a:xfrm>
            <a:off x="5047488" y="2446289"/>
            <a:ext cx="8686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+70</a:t>
            </a:r>
            <a:endParaRPr lang="en-US" sz="1300" dirty="0"/>
          </a:p>
        </p:txBody>
      </p:sp>
      <p:sp>
        <p:nvSpPr>
          <p:cNvPr id="35" name="Text 33"/>
          <p:cNvSpPr txBox="1"/>
          <p:nvPr/>
        </p:nvSpPr>
        <p:spPr>
          <a:xfrm>
            <a:off x="658368" y="2694791"/>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5</a:t>
            </a:r>
            <a:endParaRPr lang="en-US" sz="1200" dirty="0"/>
          </a:p>
        </p:txBody>
      </p:sp>
      <p:sp>
        <p:nvSpPr>
          <p:cNvPr id="36" name="Text 34"/>
          <p:cNvSpPr txBox="1"/>
          <p:nvPr/>
        </p:nvSpPr>
        <p:spPr>
          <a:xfrm>
            <a:off x="1014984" y="2694791"/>
            <a:ext cx="2011680" cy="24850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SUBARU PRESCOTT</a:t>
            </a:r>
            <a:endParaRPr lang="en-US" sz="1300" dirty="0"/>
          </a:p>
        </p:txBody>
      </p:sp>
      <p:sp>
        <p:nvSpPr>
          <p:cNvPr id="37" name="Shape 35"/>
          <p:cNvSpPr/>
          <p:nvPr/>
        </p:nvSpPr>
        <p:spPr>
          <a:xfrm>
            <a:off x="3434996" y="2750703"/>
            <a:ext cx="34144" cy="136676"/>
          </a:xfrm>
          <a:prstGeom prst="rect">
            <a:avLst/>
          </a:prstGeom>
          <a:solidFill>
            <a:srgbClr val="12A566"/>
          </a:solidFill>
          <a:ln/>
        </p:spPr>
      </p:sp>
      <p:sp>
        <p:nvSpPr>
          <p:cNvPr id="38" name="Text 36"/>
          <p:cNvSpPr txBox="1"/>
          <p:nvPr/>
        </p:nvSpPr>
        <p:spPr>
          <a:xfrm>
            <a:off x="3950208" y="2694791"/>
            <a:ext cx="1097280" cy="248502"/>
          </a:xfrm>
          <a:prstGeom prst="rect">
            <a:avLst/>
          </a:prstGeom>
          <a:noFill/>
          <a:ln/>
        </p:spPr>
        <p:txBody>
          <a:bodyPr wrap="square" lIns="0" tIns="0" rIns="0" bIns="0" rtlCol="0" anchor="ctr"/>
          <a:lstStyle/>
          <a:p>
            <a:pPr algn="r" indent="0" marL="0">
              <a:buNone/>
            </a:pPr>
            <a:r>
              <a:rPr lang="en-US" sz="1300" b="1" dirty="0">
                <a:solidFill>
                  <a:srgbClr val="0B7A4A"/>
                </a:solidFill>
                <a:latin typeface="Inter" pitchFamily="34" charset="0"/>
                <a:ea typeface="Inter" pitchFamily="34" charset="-122"/>
                <a:cs typeface="Inter" pitchFamily="34" charset="-120"/>
              </a:rPr>
              <a:t>+$41K</a:t>
            </a:r>
            <a:endParaRPr lang="en-US" sz="1300" dirty="0"/>
          </a:p>
        </p:txBody>
      </p:sp>
      <p:sp>
        <p:nvSpPr>
          <p:cNvPr id="39" name="Text 37"/>
          <p:cNvSpPr txBox="1"/>
          <p:nvPr/>
        </p:nvSpPr>
        <p:spPr>
          <a:xfrm>
            <a:off x="5047488" y="2694791"/>
            <a:ext cx="8686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+24</a:t>
            </a:r>
            <a:endParaRPr lang="en-US" sz="1300" dirty="0"/>
          </a:p>
        </p:txBody>
      </p:sp>
      <p:sp>
        <p:nvSpPr>
          <p:cNvPr id="40" name="Text 38"/>
          <p:cNvSpPr txBox="1"/>
          <p:nvPr/>
        </p:nvSpPr>
        <p:spPr>
          <a:xfrm>
            <a:off x="658368" y="2943292"/>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6</a:t>
            </a:r>
            <a:endParaRPr lang="en-US" sz="1200" dirty="0"/>
          </a:p>
        </p:txBody>
      </p:sp>
      <p:sp>
        <p:nvSpPr>
          <p:cNvPr id="41" name="Text 39"/>
          <p:cNvSpPr txBox="1"/>
          <p:nvPr/>
        </p:nvSpPr>
        <p:spPr>
          <a:xfrm>
            <a:off x="1014984" y="2943292"/>
            <a:ext cx="2011680" cy="24850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ACURA</a:t>
            </a:r>
            <a:endParaRPr lang="en-US" sz="1300" dirty="0"/>
          </a:p>
        </p:txBody>
      </p:sp>
      <p:sp>
        <p:nvSpPr>
          <p:cNvPr id="42" name="Shape 40"/>
          <p:cNvSpPr/>
          <p:nvPr/>
        </p:nvSpPr>
        <p:spPr>
          <a:xfrm>
            <a:off x="3434996" y="2999205"/>
            <a:ext cx="27581" cy="136676"/>
          </a:xfrm>
          <a:prstGeom prst="rect">
            <a:avLst/>
          </a:prstGeom>
          <a:solidFill>
            <a:srgbClr val="12A566"/>
          </a:solidFill>
          <a:ln/>
        </p:spPr>
      </p:sp>
      <p:sp>
        <p:nvSpPr>
          <p:cNvPr id="43" name="Text 41"/>
          <p:cNvSpPr txBox="1"/>
          <p:nvPr/>
        </p:nvSpPr>
        <p:spPr>
          <a:xfrm>
            <a:off x="3950208" y="2943292"/>
            <a:ext cx="1097280" cy="248502"/>
          </a:xfrm>
          <a:prstGeom prst="rect">
            <a:avLst/>
          </a:prstGeom>
          <a:noFill/>
          <a:ln/>
        </p:spPr>
        <p:txBody>
          <a:bodyPr wrap="square" lIns="0" tIns="0" rIns="0" bIns="0" rtlCol="0" anchor="ctr"/>
          <a:lstStyle/>
          <a:p>
            <a:pPr algn="r" indent="0" marL="0">
              <a:buNone/>
            </a:pPr>
            <a:r>
              <a:rPr lang="en-US" sz="1300" b="1" dirty="0">
                <a:solidFill>
                  <a:srgbClr val="0B7A4A"/>
                </a:solidFill>
                <a:latin typeface="Inter" pitchFamily="34" charset="0"/>
                <a:ea typeface="Inter" pitchFamily="34" charset="-122"/>
                <a:cs typeface="Inter" pitchFamily="34" charset="-120"/>
              </a:rPr>
              <a:t>+$33K</a:t>
            </a:r>
            <a:endParaRPr lang="en-US" sz="1300" dirty="0"/>
          </a:p>
        </p:txBody>
      </p:sp>
      <p:sp>
        <p:nvSpPr>
          <p:cNvPr id="44" name="Text 42"/>
          <p:cNvSpPr txBox="1"/>
          <p:nvPr/>
        </p:nvSpPr>
        <p:spPr>
          <a:xfrm>
            <a:off x="5047488" y="2943292"/>
            <a:ext cx="8686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+228</a:t>
            </a:r>
            <a:endParaRPr lang="en-US" sz="1300" dirty="0"/>
          </a:p>
        </p:txBody>
      </p:sp>
      <p:sp>
        <p:nvSpPr>
          <p:cNvPr id="45" name="Text 43"/>
          <p:cNvSpPr txBox="1"/>
          <p:nvPr/>
        </p:nvSpPr>
        <p:spPr>
          <a:xfrm>
            <a:off x="658368" y="3191794"/>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7</a:t>
            </a:r>
            <a:endParaRPr lang="en-US" sz="1200" dirty="0"/>
          </a:p>
        </p:txBody>
      </p:sp>
      <p:sp>
        <p:nvSpPr>
          <p:cNvPr id="46" name="Text 44"/>
          <p:cNvSpPr txBox="1"/>
          <p:nvPr/>
        </p:nvSpPr>
        <p:spPr>
          <a:xfrm>
            <a:off x="1014984" y="3191794"/>
            <a:ext cx="2011680" cy="24850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HYUNDAI PRESCOTT</a:t>
            </a:r>
            <a:endParaRPr lang="en-US" sz="1300" dirty="0"/>
          </a:p>
        </p:txBody>
      </p:sp>
      <p:sp>
        <p:nvSpPr>
          <p:cNvPr id="47" name="Shape 45"/>
          <p:cNvSpPr/>
          <p:nvPr/>
        </p:nvSpPr>
        <p:spPr>
          <a:xfrm>
            <a:off x="3434996" y="3247707"/>
            <a:ext cx="19282" cy="136676"/>
          </a:xfrm>
          <a:prstGeom prst="rect">
            <a:avLst/>
          </a:prstGeom>
          <a:solidFill>
            <a:srgbClr val="12A566"/>
          </a:solidFill>
          <a:ln/>
        </p:spPr>
      </p:sp>
      <p:sp>
        <p:nvSpPr>
          <p:cNvPr id="48" name="Text 46"/>
          <p:cNvSpPr txBox="1"/>
          <p:nvPr/>
        </p:nvSpPr>
        <p:spPr>
          <a:xfrm>
            <a:off x="3950208" y="3191794"/>
            <a:ext cx="1097280" cy="248502"/>
          </a:xfrm>
          <a:prstGeom prst="rect">
            <a:avLst/>
          </a:prstGeom>
          <a:noFill/>
          <a:ln/>
        </p:spPr>
        <p:txBody>
          <a:bodyPr wrap="square" lIns="0" tIns="0" rIns="0" bIns="0" rtlCol="0" anchor="ctr"/>
          <a:lstStyle/>
          <a:p>
            <a:pPr algn="r" indent="0" marL="0">
              <a:buNone/>
            </a:pPr>
            <a:r>
              <a:rPr lang="en-US" sz="1300" b="1" dirty="0">
                <a:solidFill>
                  <a:srgbClr val="0B7A4A"/>
                </a:solidFill>
                <a:latin typeface="Inter" pitchFamily="34" charset="0"/>
                <a:ea typeface="Inter" pitchFamily="34" charset="-122"/>
                <a:cs typeface="Inter" pitchFamily="34" charset="-120"/>
              </a:rPr>
              <a:t>+$23K</a:t>
            </a:r>
            <a:endParaRPr lang="en-US" sz="1300" dirty="0"/>
          </a:p>
        </p:txBody>
      </p:sp>
      <p:sp>
        <p:nvSpPr>
          <p:cNvPr id="49" name="Text 47"/>
          <p:cNvSpPr txBox="1"/>
          <p:nvPr/>
        </p:nvSpPr>
        <p:spPr>
          <a:xfrm>
            <a:off x="5047488" y="3191794"/>
            <a:ext cx="8686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+97</a:t>
            </a:r>
            <a:endParaRPr lang="en-US" sz="1300" dirty="0"/>
          </a:p>
        </p:txBody>
      </p:sp>
      <p:sp>
        <p:nvSpPr>
          <p:cNvPr id="50" name="Text 48"/>
          <p:cNvSpPr txBox="1"/>
          <p:nvPr/>
        </p:nvSpPr>
        <p:spPr>
          <a:xfrm>
            <a:off x="658368" y="3440296"/>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8</a:t>
            </a:r>
            <a:endParaRPr lang="en-US" sz="1200" dirty="0"/>
          </a:p>
        </p:txBody>
      </p:sp>
      <p:sp>
        <p:nvSpPr>
          <p:cNvPr id="51" name="Text 49"/>
          <p:cNvSpPr txBox="1"/>
          <p:nvPr/>
        </p:nvSpPr>
        <p:spPr>
          <a:xfrm>
            <a:off x="1014984" y="3440296"/>
            <a:ext cx="2011680" cy="24850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AUDI HENDERSON</a:t>
            </a:r>
            <a:endParaRPr lang="en-US" sz="1300" dirty="0"/>
          </a:p>
        </p:txBody>
      </p:sp>
      <p:sp>
        <p:nvSpPr>
          <p:cNvPr id="52" name="Shape 50"/>
          <p:cNvSpPr/>
          <p:nvPr/>
        </p:nvSpPr>
        <p:spPr>
          <a:xfrm>
            <a:off x="3416704" y="3496208"/>
            <a:ext cx="18292" cy="136676"/>
          </a:xfrm>
          <a:prstGeom prst="rect">
            <a:avLst/>
          </a:prstGeom>
          <a:solidFill>
            <a:srgbClr val="C2352F"/>
          </a:solidFill>
          <a:ln/>
        </p:spPr>
      </p:sp>
      <p:sp>
        <p:nvSpPr>
          <p:cNvPr id="53" name="Text 51"/>
          <p:cNvSpPr txBox="1"/>
          <p:nvPr/>
        </p:nvSpPr>
        <p:spPr>
          <a:xfrm>
            <a:off x="3950208" y="3440296"/>
            <a:ext cx="1097280"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−$22K</a:t>
            </a:r>
            <a:endParaRPr lang="en-US" sz="1300" dirty="0"/>
          </a:p>
        </p:txBody>
      </p:sp>
      <p:sp>
        <p:nvSpPr>
          <p:cNvPr id="54" name="Text 52"/>
          <p:cNvSpPr txBox="1"/>
          <p:nvPr/>
        </p:nvSpPr>
        <p:spPr>
          <a:xfrm>
            <a:off x="5047488" y="3440296"/>
            <a:ext cx="8686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−661</a:t>
            </a:r>
            <a:endParaRPr lang="en-US" sz="1300" dirty="0"/>
          </a:p>
        </p:txBody>
      </p:sp>
      <p:sp>
        <p:nvSpPr>
          <p:cNvPr id="55" name="Text 53"/>
          <p:cNvSpPr txBox="1"/>
          <p:nvPr/>
        </p:nvSpPr>
        <p:spPr>
          <a:xfrm>
            <a:off x="658368" y="3688797"/>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9</a:t>
            </a:r>
            <a:endParaRPr lang="en-US" sz="1200" dirty="0"/>
          </a:p>
        </p:txBody>
      </p:sp>
      <p:sp>
        <p:nvSpPr>
          <p:cNvPr id="56" name="Text 54"/>
          <p:cNvSpPr txBox="1"/>
          <p:nvPr/>
        </p:nvSpPr>
        <p:spPr>
          <a:xfrm>
            <a:off x="1014984" y="3688797"/>
            <a:ext cx="2011680" cy="24850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MAZDA</a:t>
            </a:r>
            <a:endParaRPr lang="en-US" sz="1300" dirty="0"/>
          </a:p>
        </p:txBody>
      </p:sp>
      <p:sp>
        <p:nvSpPr>
          <p:cNvPr id="57" name="Shape 55"/>
          <p:cNvSpPr/>
          <p:nvPr/>
        </p:nvSpPr>
        <p:spPr>
          <a:xfrm>
            <a:off x="3411703" y="3744710"/>
            <a:ext cx="23293" cy="136676"/>
          </a:xfrm>
          <a:prstGeom prst="rect">
            <a:avLst/>
          </a:prstGeom>
          <a:solidFill>
            <a:srgbClr val="C2352F"/>
          </a:solidFill>
          <a:ln/>
        </p:spPr>
      </p:sp>
      <p:sp>
        <p:nvSpPr>
          <p:cNvPr id="58" name="Text 56"/>
          <p:cNvSpPr txBox="1"/>
          <p:nvPr/>
        </p:nvSpPr>
        <p:spPr>
          <a:xfrm>
            <a:off x="3950208" y="3688797"/>
            <a:ext cx="1097280"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−$28K</a:t>
            </a:r>
            <a:endParaRPr lang="en-US" sz="1300" dirty="0"/>
          </a:p>
        </p:txBody>
      </p:sp>
      <p:sp>
        <p:nvSpPr>
          <p:cNvPr id="59" name="Text 57"/>
          <p:cNvSpPr txBox="1"/>
          <p:nvPr/>
        </p:nvSpPr>
        <p:spPr>
          <a:xfrm>
            <a:off x="5047488" y="3688797"/>
            <a:ext cx="8686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−223</a:t>
            </a:r>
            <a:endParaRPr lang="en-US" sz="1300" dirty="0"/>
          </a:p>
        </p:txBody>
      </p:sp>
      <p:sp>
        <p:nvSpPr>
          <p:cNvPr id="60" name="Text 58"/>
          <p:cNvSpPr txBox="1"/>
          <p:nvPr/>
        </p:nvSpPr>
        <p:spPr>
          <a:xfrm>
            <a:off x="658368" y="3937299"/>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10</a:t>
            </a:r>
            <a:endParaRPr lang="en-US" sz="1200" dirty="0"/>
          </a:p>
        </p:txBody>
      </p:sp>
      <p:sp>
        <p:nvSpPr>
          <p:cNvPr id="61" name="Text 59"/>
          <p:cNvSpPr txBox="1"/>
          <p:nvPr/>
        </p:nvSpPr>
        <p:spPr>
          <a:xfrm>
            <a:off x="1014984" y="3937299"/>
            <a:ext cx="2011680" cy="24850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VOLVO</a:t>
            </a:r>
            <a:endParaRPr lang="en-US" sz="1300" dirty="0"/>
          </a:p>
        </p:txBody>
      </p:sp>
      <p:sp>
        <p:nvSpPr>
          <p:cNvPr id="62" name="Shape 60"/>
          <p:cNvSpPr/>
          <p:nvPr/>
        </p:nvSpPr>
        <p:spPr>
          <a:xfrm>
            <a:off x="3411379" y="3993212"/>
            <a:ext cx="23618" cy="136676"/>
          </a:xfrm>
          <a:prstGeom prst="rect">
            <a:avLst/>
          </a:prstGeom>
          <a:solidFill>
            <a:srgbClr val="C2352F"/>
          </a:solidFill>
          <a:ln/>
        </p:spPr>
      </p:sp>
      <p:sp>
        <p:nvSpPr>
          <p:cNvPr id="63" name="Text 61"/>
          <p:cNvSpPr txBox="1"/>
          <p:nvPr/>
        </p:nvSpPr>
        <p:spPr>
          <a:xfrm>
            <a:off x="3950208" y="3937299"/>
            <a:ext cx="1097280"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−$29K</a:t>
            </a:r>
            <a:endParaRPr lang="en-US" sz="1300" dirty="0"/>
          </a:p>
        </p:txBody>
      </p:sp>
      <p:sp>
        <p:nvSpPr>
          <p:cNvPr id="64" name="Text 62"/>
          <p:cNvSpPr txBox="1"/>
          <p:nvPr/>
        </p:nvSpPr>
        <p:spPr>
          <a:xfrm>
            <a:off x="5047488" y="3937299"/>
            <a:ext cx="8686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−340</a:t>
            </a:r>
            <a:endParaRPr lang="en-US" sz="1300" dirty="0"/>
          </a:p>
        </p:txBody>
      </p:sp>
      <p:sp>
        <p:nvSpPr>
          <p:cNvPr id="65" name="Text 63"/>
          <p:cNvSpPr txBox="1"/>
          <p:nvPr/>
        </p:nvSpPr>
        <p:spPr>
          <a:xfrm>
            <a:off x="658368" y="4185800"/>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11</a:t>
            </a:r>
            <a:endParaRPr lang="en-US" sz="1200" dirty="0"/>
          </a:p>
        </p:txBody>
      </p:sp>
      <p:sp>
        <p:nvSpPr>
          <p:cNvPr id="66" name="Text 64"/>
          <p:cNvSpPr txBox="1"/>
          <p:nvPr/>
        </p:nvSpPr>
        <p:spPr>
          <a:xfrm>
            <a:off x="1014984" y="4185800"/>
            <a:ext cx="2011680" cy="24850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LR RENO</a:t>
            </a:r>
            <a:endParaRPr lang="en-US" sz="1300" dirty="0"/>
          </a:p>
        </p:txBody>
      </p:sp>
      <p:sp>
        <p:nvSpPr>
          <p:cNvPr id="67" name="Shape 65"/>
          <p:cNvSpPr/>
          <p:nvPr/>
        </p:nvSpPr>
        <p:spPr>
          <a:xfrm>
            <a:off x="3408491" y="4241713"/>
            <a:ext cx="26505" cy="136676"/>
          </a:xfrm>
          <a:prstGeom prst="rect">
            <a:avLst/>
          </a:prstGeom>
          <a:solidFill>
            <a:srgbClr val="C2352F"/>
          </a:solidFill>
          <a:ln/>
        </p:spPr>
      </p:sp>
      <p:sp>
        <p:nvSpPr>
          <p:cNvPr id="68" name="Text 66"/>
          <p:cNvSpPr txBox="1"/>
          <p:nvPr/>
        </p:nvSpPr>
        <p:spPr>
          <a:xfrm>
            <a:off x="3950208" y="4185800"/>
            <a:ext cx="1097280"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−$32K</a:t>
            </a:r>
            <a:endParaRPr lang="en-US" sz="1300" dirty="0"/>
          </a:p>
        </p:txBody>
      </p:sp>
      <p:sp>
        <p:nvSpPr>
          <p:cNvPr id="69" name="Text 67"/>
          <p:cNvSpPr txBox="1"/>
          <p:nvPr/>
        </p:nvSpPr>
        <p:spPr>
          <a:xfrm>
            <a:off x="5047488" y="4185800"/>
            <a:ext cx="8686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−83</a:t>
            </a:r>
            <a:endParaRPr lang="en-US" sz="1300" dirty="0"/>
          </a:p>
        </p:txBody>
      </p:sp>
      <p:sp>
        <p:nvSpPr>
          <p:cNvPr id="70" name="Text 68"/>
          <p:cNvSpPr txBox="1"/>
          <p:nvPr/>
        </p:nvSpPr>
        <p:spPr>
          <a:xfrm>
            <a:off x="658368" y="4434302"/>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12</a:t>
            </a:r>
            <a:endParaRPr lang="en-US" sz="1200" dirty="0"/>
          </a:p>
        </p:txBody>
      </p:sp>
      <p:sp>
        <p:nvSpPr>
          <p:cNvPr id="71" name="Text 69"/>
          <p:cNvSpPr txBox="1"/>
          <p:nvPr/>
        </p:nvSpPr>
        <p:spPr>
          <a:xfrm>
            <a:off x="1014984" y="4434302"/>
            <a:ext cx="2011680" cy="24850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SUBARU ST GEORGE</a:t>
            </a:r>
            <a:endParaRPr lang="en-US" sz="1300" dirty="0"/>
          </a:p>
        </p:txBody>
      </p:sp>
      <p:sp>
        <p:nvSpPr>
          <p:cNvPr id="72" name="Shape 70"/>
          <p:cNvSpPr/>
          <p:nvPr/>
        </p:nvSpPr>
        <p:spPr>
          <a:xfrm>
            <a:off x="3401031" y="4490215"/>
            <a:ext cx="33965" cy="136676"/>
          </a:xfrm>
          <a:prstGeom prst="rect">
            <a:avLst/>
          </a:prstGeom>
          <a:solidFill>
            <a:srgbClr val="C2352F"/>
          </a:solidFill>
          <a:ln/>
        </p:spPr>
      </p:sp>
      <p:sp>
        <p:nvSpPr>
          <p:cNvPr id="73" name="Text 71"/>
          <p:cNvSpPr txBox="1"/>
          <p:nvPr/>
        </p:nvSpPr>
        <p:spPr>
          <a:xfrm>
            <a:off x="3950208" y="4434302"/>
            <a:ext cx="1097280"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−$41K</a:t>
            </a:r>
            <a:endParaRPr lang="en-US" sz="1300" dirty="0"/>
          </a:p>
        </p:txBody>
      </p:sp>
      <p:sp>
        <p:nvSpPr>
          <p:cNvPr id="74" name="Text 72"/>
          <p:cNvSpPr txBox="1"/>
          <p:nvPr/>
        </p:nvSpPr>
        <p:spPr>
          <a:xfrm>
            <a:off x="5047488" y="4434302"/>
            <a:ext cx="8686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−452</a:t>
            </a:r>
            <a:endParaRPr lang="en-US" sz="1300" dirty="0"/>
          </a:p>
        </p:txBody>
      </p:sp>
      <p:sp>
        <p:nvSpPr>
          <p:cNvPr id="75" name="Text 73"/>
          <p:cNvSpPr txBox="1"/>
          <p:nvPr/>
        </p:nvSpPr>
        <p:spPr>
          <a:xfrm>
            <a:off x="658368" y="4682804"/>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13</a:t>
            </a:r>
            <a:endParaRPr lang="en-US" sz="1200" dirty="0"/>
          </a:p>
        </p:txBody>
      </p:sp>
      <p:sp>
        <p:nvSpPr>
          <p:cNvPr id="76" name="Text 74"/>
          <p:cNvSpPr txBox="1"/>
          <p:nvPr/>
        </p:nvSpPr>
        <p:spPr>
          <a:xfrm>
            <a:off x="1014984" y="4682804"/>
            <a:ext cx="2011680" cy="24850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LINCOLN</a:t>
            </a:r>
            <a:endParaRPr lang="en-US" sz="1300" dirty="0"/>
          </a:p>
        </p:txBody>
      </p:sp>
      <p:sp>
        <p:nvSpPr>
          <p:cNvPr id="77" name="Shape 75"/>
          <p:cNvSpPr/>
          <p:nvPr/>
        </p:nvSpPr>
        <p:spPr>
          <a:xfrm>
            <a:off x="3395551" y="4738717"/>
            <a:ext cx="39445" cy="136676"/>
          </a:xfrm>
          <a:prstGeom prst="rect">
            <a:avLst/>
          </a:prstGeom>
          <a:solidFill>
            <a:srgbClr val="C2352F"/>
          </a:solidFill>
          <a:ln/>
        </p:spPr>
      </p:sp>
      <p:sp>
        <p:nvSpPr>
          <p:cNvPr id="78" name="Text 76"/>
          <p:cNvSpPr txBox="1"/>
          <p:nvPr/>
        </p:nvSpPr>
        <p:spPr>
          <a:xfrm>
            <a:off x="3950208" y="4682804"/>
            <a:ext cx="1097280"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−$48K</a:t>
            </a:r>
            <a:endParaRPr lang="en-US" sz="1300" dirty="0"/>
          </a:p>
        </p:txBody>
      </p:sp>
      <p:sp>
        <p:nvSpPr>
          <p:cNvPr id="79" name="Text 77"/>
          <p:cNvSpPr txBox="1"/>
          <p:nvPr/>
        </p:nvSpPr>
        <p:spPr>
          <a:xfrm>
            <a:off x="5047488" y="4682804"/>
            <a:ext cx="8686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−569</a:t>
            </a:r>
            <a:endParaRPr lang="en-US" sz="1300" dirty="0"/>
          </a:p>
        </p:txBody>
      </p:sp>
      <p:sp>
        <p:nvSpPr>
          <p:cNvPr id="80" name="Text 78"/>
          <p:cNvSpPr txBox="1"/>
          <p:nvPr/>
        </p:nvSpPr>
        <p:spPr>
          <a:xfrm>
            <a:off x="658368" y="4931305"/>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14</a:t>
            </a:r>
            <a:endParaRPr lang="en-US" sz="1200" dirty="0"/>
          </a:p>
        </p:txBody>
      </p:sp>
      <p:sp>
        <p:nvSpPr>
          <p:cNvPr id="81" name="Text 79"/>
          <p:cNvSpPr txBox="1"/>
          <p:nvPr/>
        </p:nvSpPr>
        <p:spPr>
          <a:xfrm>
            <a:off x="1014984" y="4931305"/>
            <a:ext cx="2011680" cy="24850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KIA ST GEORGE</a:t>
            </a:r>
            <a:endParaRPr lang="en-US" sz="1300" dirty="0"/>
          </a:p>
        </p:txBody>
      </p:sp>
      <p:sp>
        <p:nvSpPr>
          <p:cNvPr id="82" name="Shape 80"/>
          <p:cNvSpPr/>
          <p:nvPr/>
        </p:nvSpPr>
        <p:spPr>
          <a:xfrm>
            <a:off x="3391623" y="4987218"/>
            <a:ext cx="43373" cy="136676"/>
          </a:xfrm>
          <a:prstGeom prst="rect">
            <a:avLst/>
          </a:prstGeom>
          <a:solidFill>
            <a:srgbClr val="C2352F"/>
          </a:solidFill>
          <a:ln/>
        </p:spPr>
      </p:sp>
      <p:sp>
        <p:nvSpPr>
          <p:cNvPr id="83" name="Text 81"/>
          <p:cNvSpPr txBox="1"/>
          <p:nvPr/>
        </p:nvSpPr>
        <p:spPr>
          <a:xfrm>
            <a:off x="3950208" y="4931305"/>
            <a:ext cx="1097280"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−$53K</a:t>
            </a:r>
            <a:endParaRPr lang="en-US" sz="1300" dirty="0"/>
          </a:p>
        </p:txBody>
      </p:sp>
      <p:sp>
        <p:nvSpPr>
          <p:cNvPr id="84" name="Text 82"/>
          <p:cNvSpPr txBox="1"/>
          <p:nvPr/>
        </p:nvSpPr>
        <p:spPr>
          <a:xfrm>
            <a:off x="5047488" y="4931305"/>
            <a:ext cx="8686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−660</a:t>
            </a:r>
            <a:endParaRPr lang="en-US" sz="1300" dirty="0"/>
          </a:p>
        </p:txBody>
      </p:sp>
      <p:sp>
        <p:nvSpPr>
          <p:cNvPr id="85" name="Text 83"/>
          <p:cNvSpPr txBox="1"/>
          <p:nvPr/>
        </p:nvSpPr>
        <p:spPr>
          <a:xfrm>
            <a:off x="658368" y="5179807"/>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15</a:t>
            </a:r>
            <a:endParaRPr lang="en-US" sz="1200" dirty="0"/>
          </a:p>
        </p:txBody>
      </p:sp>
      <p:sp>
        <p:nvSpPr>
          <p:cNvPr id="86" name="Text 84"/>
          <p:cNvSpPr txBox="1"/>
          <p:nvPr/>
        </p:nvSpPr>
        <p:spPr>
          <a:xfrm>
            <a:off x="1014984" y="5179807"/>
            <a:ext cx="2011680" cy="24850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SUBARU LV</a:t>
            </a:r>
            <a:endParaRPr lang="en-US" sz="1300" dirty="0"/>
          </a:p>
        </p:txBody>
      </p:sp>
      <p:sp>
        <p:nvSpPr>
          <p:cNvPr id="87" name="Shape 85"/>
          <p:cNvSpPr/>
          <p:nvPr/>
        </p:nvSpPr>
        <p:spPr>
          <a:xfrm>
            <a:off x="3386113" y="5235720"/>
            <a:ext cx="48884" cy="136676"/>
          </a:xfrm>
          <a:prstGeom prst="rect">
            <a:avLst/>
          </a:prstGeom>
          <a:solidFill>
            <a:srgbClr val="C2352F"/>
          </a:solidFill>
          <a:ln/>
        </p:spPr>
      </p:sp>
      <p:sp>
        <p:nvSpPr>
          <p:cNvPr id="88" name="Text 86"/>
          <p:cNvSpPr txBox="1"/>
          <p:nvPr/>
        </p:nvSpPr>
        <p:spPr>
          <a:xfrm>
            <a:off x="3950208" y="5179807"/>
            <a:ext cx="1097280"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−$59K</a:t>
            </a:r>
            <a:endParaRPr lang="en-US" sz="1300" dirty="0"/>
          </a:p>
        </p:txBody>
      </p:sp>
      <p:sp>
        <p:nvSpPr>
          <p:cNvPr id="89" name="Text 87"/>
          <p:cNvSpPr txBox="1"/>
          <p:nvPr/>
        </p:nvSpPr>
        <p:spPr>
          <a:xfrm>
            <a:off x="5047488" y="5179807"/>
            <a:ext cx="8686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−783</a:t>
            </a:r>
            <a:endParaRPr lang="en-US" sz="1300" dirty="0"/>
          </a:p>
        </p:txBody>
      </p:sp>
      <p:sp>
        <p:nvSpPr>
          <p:cNvPr id="90" name="Text 88"/>
          <p:cNvSpPr txBox="1"/>
          <p:nvPr/>
        </p:nvSpPr>
        <p:spPr>
          <a:xfrm>
            <a:off x="658368" y="5428309"/>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16</a:t>
            </a:r>
            <a:endParaRPr lang="en-US" sz="1200" dirty="0"/>
          </a:p>
        </p:txBody>
      </p:sp>
      <p:sp>
        <p:nvSpPr>
          <p:cNvPr id="91" name="Text 89"/>
          <p:cNvSpPr txBox="1"/>
          <p:nvPr/>
        </p:nvSpPr>
        <p:spPr>
          <a:xfrm>
            <a:off x="1014984" y="5428309"/>
            <a:ext cx="2011680" cy="24850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GMC PRESCOTT</a:t>
            </a:r>
            <a:endParaRPr lang="en-US" sz="1300" dirty="0"/>
          </a:p>
        </p:txBody>
      </p:sp>
      <p:sp>
        <p:nvSpPr>
          <p:cNvPr id="92" name="Shape 90"/>
          <p:cNvSpPr/>
          <p:nvPr/>
        </p:nvSpPr>
        <p:spPr>
          <a:xfrm>
            <a:off x="3385317" y="5484222"/>
            <a:ext cx="49679" cy="136676"/>
          </a:xfrm>
          <a:prstGeom prst="rect">
            <a:avLst/>
          </a:prstGeom>
          <a:solidFill>
            <a:srgbClr val="C2352F"/>
          </a:solidFill>
          <a:ln/>
        </p:spPr>
      </p:sp>
      <p:sp>
        <p:nvSpPr>
          <p:cNvPr id="93" name="Text 91"/>
          <p:cNvSpPr txBox="1"/>
          <p:nvPr/>
        </p:nvSpPr>
        <p:spPr>
          <a:xfrm>
            <a:off x="3950208" y="5428309"/>
            <a:ext cx="1097280"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−$60K</a:t>
            </a:r>
            <a:endParaRPr lang="en-US" sz="1300" dirty="0"/>
          </a:p>
        </p:txBody>
      </p:sp>
      <p:sp>
        <p:nvSpPr>
          <p:cNvPr id="94" name="Text 92"/>
          <p:cNvSpPr txBox="1"/>
          <p:nvPr/>
        </p:nvSpPr>
        <p:spPr>
          <a:xfrm>
            <a:off x="5047488" y="5428309"/>
            <a:ext cx="8686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−568</a:t>
            </a:r>
            <a:endParaRPr lang="en-US" sz="1300" dirty="0"/>
          </a:p>
        </p:txBody>
      </p:sp>
      <p:sp>
        <p:nvSpPr>
          <p:cNvPr id="95" name="Text 93"/>
          <p:cNvSpPr txBox="1"/>
          <p:nvPr/>
        </p:nvSpPr>
        <p:spPr>
          <a:xfrm>
            <a:off x="658368" y="5676810"/>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17</a:t>
            </a:r>
            <a:endParaRPr lang="en-US" sz="1200" dirty="0"/>
          </a:p>
        </p:txBody>
      </p:sp>
      <p:sp>
        <p:nvSpPr>
          <p:cNvPr id="96" name="Text 94"/>
          <p:cNvSpPr txBox="1"/>
          <p:nvPr/>
        </p:nvSpPr>
        <p:spPr>
          <a:xfrm>
            <a:off x="1014984" y="5676810"/>
            <a:ext cx="2011680" cy="24850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HYUNDAI ST GEORGE</a:t>
            </a:r>
            <a:endParaRPr lang="en-US" sz="1300" dirty="0"/>
          </a:p>
        </p:txBody>
      </p:sp>
      <p:sp>
        <p:nvSpPr>
          <p:cNvPr id="97" name="Shape 95"/>
          <p:cNvSpPr/>
          <p:nvPr/>
        </p:nvSpPr>
        <p:spPr>
          <a:xfrm>
            <a:off x="3384944" y="5732723"/>
            <a:ext cx="50052" cy="136676"/>
          </a:xfrm>
          <a:prstGeom prst="rect">
            <a:avLst/>
          </a:prstGeom>
          <a:solidFill>
            <a:srgbClr val="C2352F"/>
          </a:solidFill>
          <a:ln/>
        </p:spPr>
      </p:sp>
      <p:sp>
        <p:nvSpPr>
          <p:cNvPr id="98" name="Text 96"/>
          <p:cNvSpPr txBox="1"/>
          <p:nvPr/>
        </p:nvSpPr>
        <p:spPr>
          <a:xfrm>
            <a:off x="3950208" y="5676810"/>
            <a:ext cx="1097280"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−$61K</a:t>
            </a:r>
            <a:endParaRPr lang="en-US" sz="1300" dirty="0"/>
          </a:p>
        </p:txBody>
      </p:sp>
      <p:sp>
        <p:nvSpPr>
          <p:cNvPr id="99" name="Text 97"/>
          <p:cNvSpPr txBox="1"/>
          <p:nvPr/>
        </p:nvSpPr>
        <p:spPr>
          <a:xfrm>
            <a:off x="5047488" y="5676810"/>
            <a:ext cx="8686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−697</a:t>
            </a:r>
            <a:endParaRPr lang="en-US" sz="1300" dirty="0"/>
          </a:p>
        </p:txBody>
      </p:sp>
      <p:sp>
        <p:nvSpPr>
          <p:cNvPr id="100" name="Text 98"/>
          <p:cNvSpPr txBox="1"/>
          <p:nvPr/>
        </p:nvSpPr>
        <p:spPr>
          <a:xfrm>
            <a:off x="6208776" y="1700784"/>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18</a:t>
            </a:r>
            <a:endParaRPr lang="en-US" sz="1200" dirty="0"/>
          </a:p>
        </p:txBody>
      </p:sp>
      <p:sp>
        <p:nvSpPr>
          <p:cNvPr id="101" name="Text 99"/>
          <p:cNvSpPr txBox="1"/>
          <p:nvPr/>
        </p:nvSpPr>
        <p:spPr>
          <a:xfrm>
            <a:off x="6565392" y="1700784"/>
            <a:ext cx="2011680" cy="24850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VW ST GEORGE</a:t>
            </a:r>
            <a:endParaRPr lang="en-US" sz="1300" dirty="0"/>
          </a:p>
        </p:txBody>
      </p:sp>
      <p:sp>
        <p:nvSpPr>
          <p:cNvPr id="102" name="Shape 100"/>
          <p:cNvSpPr/>
          <p:nvPr/>
        </p:nvSpPr>
        <p:spPr>
          <a:xfrm>
            <a:off x="8931186" y="1756697"/>
            <a:ext cx="54219" cy="136676"/>
          </a:xfrm>
          <a:prstGeom prst="rect">
            <a:avLst/>
          </a:prstGeom>
          <a:solidFill>
            <a:srgbClr val="C2352F"/>
          </a:solidFill>
          <a:ln/>
        </p:spPr>
      </p:sp>
      <p:sp>
        <p:nvSpPr>
          <p:cNvPr id="103" name="Text 101"/>
          <p:cNvSpPr txBox="1"/>
          <p:nvPr/>
        </p:nvSpPr>
        <p:spPr>
          <a:xfrm>
            <a:off x="9500616" y="1700784"/>
            <a:ext cx="1097280"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−$66K</a:t>
            </a:r>
            <a:endParaRPr lang="en-US" sz="1300" dirty="0"/>
          </a:p>
        </p:txBody>
      </p:sp>
      <p:sp>
        <p:nvSpPr>
          <p:cNvPr id="104" name="Text 102"/>
          <p:cNvSpPr txBox="1"/>
          <p:nvPr/>
        </p:nvSpPr>
        <p:spPr>
          <a:xfrm>
            <a:off x="10597896" y="1700784"/>
            <a:ext cx="8686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−640</a:t>
            </a:r>
            <a:endParaRPr lang="en-US" sz="1300" dirty="0"/>
          </a:p>
        </p:txBody>
      </p:sp>
      <p:sp>
        <p:nvSpPr>
          <p:cNvPr id="105" name="Text 103"/>
          <p:cNvSpPr txBox="1"/>
          <p:nvPr/>
        </p:nvSpPr>
        <p:spPr>
          <a:xfrm>
            <a:off x="6208776" y="1949286"/>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19</a:t>
            </a:r>
            <a:endParaRPr lang="en-US" sz="1200" dirty="0"/>
          </a:p>
        </p:txBody>
      </p:sp>
      <p:sp>
        <p:nvSpPr>
          <p:cNvPr id="106" name="Text 104"/>
          <p:cNvSpPr txBox="1"/>
          <p:nvPr/>
        </p:nvSpPr>
        <p:spPr>
          <a:xfrm>
            <a:off x="6565392" y="1949286"/>
            <a:ext cx="2011680" cy="24850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CADILLAC</a:t>
            </a:r>
            <a:endParaRPr lang="en-US" sz="1300" dirty="0"/>
          </a:p>
        </p:txBody>
      </p:sp>
      <p:sp>
        <p:nvSpPr>
          <p:cNvPr id="107" name="Shape 105"/>
          <p:cNvSpPr/>
          <p:nvPr/>
        </p:nvSpPr>
        <p:spPr>
          <a:xfrm>
            <a:off x="8907378" y="2005199"/>
            <a:ext cx="78026" cy="136676"/>
          </a:xfrm>
          <a:prstGeom prst="rect">
            <a:avLst/>
          </a:prstGeom>
          <a:solidFill>
            <a:srgbClr val="C2352F"/>
          </a:solidFill>
          <a:ln/>
        </p:spPr>
      </p:sp>
      <p:sp>
        <p:nvSpPr>
          <p:cNvPr id="108" name="Text 106"/>
          <p:cNvSpPr txBox="1"/>
          <p:nvPr/>
        </p:nvSpPr>
        <p:spPr>
          <a:xfrm>
            <a:off x="9500616" y="1949286"/>
            <a:ext cx="1097280"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−$94K</a:t>
            </a:r>
            <a:endParaRPr lang="en-US" sz="1300" dirty="0"/>
          </a:p>
        </p:txBody>
      </p:sp>
      <p:sp>
        <p:nvSpPr>
          <p:cNvPr id="109" name="Text 107"/>
          <p:cNvSpPr txBox="1"/>
          <p:nvPr/>
        </p:nvSpPr>
        <p:spPr>
          <a:xfrm>
            <a:off x="10597896" y="1949286"/>
            <a:ext cx="8686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−954</a:t>
            </a:r>
            <a:endParaRPr lang="en-US" sz="1300" dirty="0"/>
          </a:p>
        </p:txBody>
      </p:sp>
      <p:sp>
        <p:nvSpPr>
          <p:cNvPr id="110" name="Text 108"/>
          <p:cNvSpPr txBox="1"/>
          <p:nvPr/>
        </p:nvSpPr>
        <p:spPr>
          <a:xfrm>
            <a:off x="6208776" y="2197787"/>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20</a:t>
            </a:r>
            <a:endParaRPr lang="en-US" sz="1200" dirty="0"/>
          </a:p>
        </p:txBody>
      </p:sp>
      <p:sp>
        <p:nvSpPr>
          <p:cNvPr id="111" name="Text 109"/>
          <p:cNvSpPr txBox="1"/>
          <p:nvPr/>
        </p:nvSpPr>
        <p:spPr>
          <a:xfrm>
            <a:off x="6565392" y="2197787"/>
            <a:ext cx="2011680" cy="24850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CHEVY GMC BULLHEAD</a:t>
            </a:r>
            <a:endParaRPr lang="en-US" sz="1300" dirty="0"/>
          </a:p>
        </p:txBody>
      </p:sp>
      <p:sp>
        <p:nvSpPr>
          <p:cNvPr id="112" name="Shape 110"/>
          <p:cNvSpPr/>
          <p:nvPr/>
        </p:nvSpPr>
        <p:spPr>
          <a:xfrm>
            <a:off x="8903182" y="2253700"/>
            <a:ext cx="82223" cy="136676"/>
          </a:xfrm>
          <a:prstGeom prst="rect">
            <a:avLst/>
          </a:prstGeom>
          <a:solidFill>
            <a:srgbClr val="C2352F"/>
          </a:solidFill>
          <a:ln/>
        </p:spPr>
      </p:sp>
      <p:sp>
        <p:nvSpPr>
          <p:cNvPr id="113" name="Text 111"/>
          <p:cNvSpPr txBox="1"/>
          <p:nvPr/>
        </p:nvSpPr>
        <p:spPr>
          <a:xfrm>
            <a:off x="9500616" y="2197787"/>
            <a:ext cx="1097280"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−$100K</a:t>
            </a:r>
            <a:endParaRPr lang="en-US" sz="1300" dirty="0"/>
          </a:p>
        </p:txBody>
      </p:sp>
      <p:sp>
        <p:nvSpPr>
          <p:cNvPr id="114" name="Text 112"/>
          <p:cNvSpPr txBox="1"/>
          <p:nvPr/>
        </p:nvSpPr>
        <p:spPr>
          <a:xfrm>
            <a:off x="10597896" y="2197787"/>
            <a:ext cx="8686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−1,100</a:t>
            </a:r>
            <a:endParaRPr lang="en-US" sz="1300" dirty="0"/>
          </a:p>
        </p:txBody>
      </p:sp>
      <p:sp>
        <p:nvSpPr>
          <p:cNvPr id="115" name="Text 113"/>
          <p:cNvSpPr txBox="1"/>
          <p:nvPr/>
        </p:nvSpPr>
        <p:spPr>
          <a:xfrm>
            <a:off x="6208776" y="2446289"/>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21</a:t>
            </a:r>
            <a:endParaRPr lang="en-US" sz="1200" dirty="0"/>
          </a:p>
        </p:txBody>
      </p:sp>
      <p:sp>
        <p:nvSpPr>
          <p:cNvPr id="116" name="Text 114"/>
          <p:cNvSpPr txBox="1"/>
          <p:nvPr/>
        </p:nvSpPr>
        <p:spPr>
          <a:xfrm>
            <a:off x="6565392" y="2446289"/>
            <a:ext cx="2011680" cy="24850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VW HENDERSON</a:t>
            </a:r>
            <a:endParaRPr lang="en-US" sz="1300" dirty="0"/>
          </a:p>
        </p:txBody>
      </p:sp>
      <p:sp>
        <p:nvSpPr>
          <p:cNvPr id="117" name="Shape 115"/>
          <p:cNvSpPr/>
          <p:nvPr/>
        </p:nvSpPr>
        <p:spPr>
          <a:xfrm>
            <a:off x="8898772" y="2502202"/>
            <a:ext cx="86632" cy="136676"/>
          </a:xfrm>
          <a:prstGeom prst="rect">
            <a:avLst/>
          </a:prstGeom>
          <a:solidFill>
            <a:srgbClr val="C2352F"/>
          </a:solidFill>
          <a:ln/>
        </p:spPr>
      </p:sp>
      <p:sp>
        <p:nvSpPr>
          <p:cNvPr id="118" name="Text 116"/>
          <p:cNvSpPr txBox="1"/>
          <p:nvPr/>
        </p:nvSpPr>
        <p:spPr>
          <a:xfrm>
            <a:off x="9500616" y="2446289"/>
            <a:ext cx="1097280"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−$105K</a:t>
            </a:r>
            <a:endParaRPr lang="en-US" sz="1300" dirty="0"/>
          </a:p>
        </p:txBody>
      </p:sp>
      <p:sp>
        <p:nvSpPr>
          <p:cNvPr id="119" name="Text 117"/>
          <p:cNvSpPr txBox="1"/>
          <p:nvPr/>
        </p:nvSpPr>
        <p:spPr>
          <a:xfrm>
            <a:off x="10597896" y="2446289"/>
            <a:ext cx="8686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−827</a:t>
            </a:r>
            <a:endParaRPr lang="en-US" sz="1300" dirty="0"/>
          </a:p>
        </p:txBody>
      </p:sp>
      <p:sp>
        <p:nvSpPr>
          <p:cNvPr id="120" name="Text 118"/>
          <p:cNvSpPr txBox="1"/>
          <p:nvPr/>
        </p:nvSpPr>
        <p:spPr>
          <a:xfrm>
            <a:off x="6208776" y="2694791"/>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22</a:t>
            </a:r>
            <a:endParaRPr lang="en-US" sz="1200" dirty="0"/>
          </a:p>
        </p:txBody>
      </p:sp>
      <p:sp>
        <p:nvSpPr>
          <p:cNvPr id="121" name="Text 119"/>
          <p:cNvSpPr txBox="1"/>
          <p:nvPr/>
        </p:nvSpPr>
        <p:spPr>
          <a:xfrm>
            <a:off x="6565392" y="2694791"/>
            <a:ext cx="2011680" cy="24850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LEXUS</a:t>
            </a:r>
            <a:endParaRPr lang="en-US" sz="1300" dirty="0"/>
          </a:p>
        </p:txBody>
      </p:sp>
      <p:sp>
        <p:nvSpPr>
          <p:cNvPr id="122" name="Shape 120"/>
          <p:cNvSpPr/>
          <p:nvPr/>
        </p:nvSpPr>
        <p:spPr>
          <a:xfrm>
            <a:off x="8898356" y="2750703"/>
            <a:ext cx="87048" cy="136676"/>
          </a:xfrm>
          <a:prstGeom prst="rect">
            <a:avLst/>
          </a:prstGeom>
          <a:solidFill>
            <a:srgbClr val="C2352F"/>
          </a:solidFill>
          <a:ln/>
        </p:spPr>
      </p:sp>
      <p:sp>
        <p:nvSpPr>
          <p:cNvPr id="123" name="Text 121"/>
          <p:cNvSpPr txBox="1"/>
          <p:nvPr/>
        </p:nvSpPr>
        <p:spPr>
          <a:xfrm>
            <a:off x="9500616" y="2694791"/>
            <a:ext cx="1097280"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−$105K</a:t>
            </a:r>
            <a:endParaRPr lang="en-US" sz="1300" dirty="0"/>
          </a:p>
        </p:txBody>
      </p:sp>
      <p:sp>
        <p:nvSpPr>
          <p:cNvPr id="124" name="Text 122"/>
          <p:cNvSpPr txBox="1"/>
          <p:nvPr/>
        </p:nvSpPr>
        <p:spPr>
          <a:xfrm>
            <a:off x="10597896" y="2694791"/>
            <a:ext cx="8686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−1,068</a:t>
            </a:r>
            <a:endParaRPr lang="en-US" sz="1300" dirty="0"/>
          </a:p>
        </p:txBody>
      </p:sp>
      <p:sp>
        <p:nvSpPr>
          <p:cNvPr id="125" name="Text 123"/>
          <p:cNvSpPr txBox="1"/>
          <p:nvPr/>
        </p:nvSpPr>
        <p:spPr>
          <a:xfrm>
            <a:off x="6208776" y="2943292"/>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23</a:t>
            </a:r>
            <a:endParaRPr lang="en-US" sz="1200" dirty="0"/>
          </a:p>
        </p:txBody>
      </p:sp>
      <p:sp>
        <p:nvSpPr>
          <p:cNvPr id="126" name="Text 124"/>
          <p:cNvSpPr txBox="1"/>
          <p:nvPr/>
        </p:nvSpPr>
        <p:spPr>
          <a:xfrm>
            <a:off x="6565392" y="2943292"/>
            <a:ext cx="2011680" cy="24850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SPOKANE</a:t>
            </a:r>
            <a:endParaRPr lang="en-US" sz="1300" dirty="0"/>
          </a:p>
        </p:txBody>
      </p:sp>
      <p:sp>
        <p:nvSpPr>
          <p:cNvPr id="127" name="Shape 125"/>
          <p:cNvSpPr/>
          <p:nvPr/>
        </p:nvSpPr>
        <p:spPr>
          <a:xfrm>
            <a:off x="8869908" y="2999205"/>
            <a:ext cx="115496" cy="136676"/>
          </a:xfrm>
          <a:prstGeom prst="rect">
            <a:avLst/>
          </a:prstGeom>
          <a:solidFill>
            <a:srgbClr val="C2352F"/>
          </a:solidFill>
          <a:ln/>
        </p:spPr>
      </p:sp>
      <p:sp>
        <p:nvSpPr>
          <p:cNvPr id="128" name="Text 126"/>
          <p:cNvSpPr txBox="1"/>
          <p:nvPr/>
        </p:nvSpPr>
        <p:spPr>
          <a:xfrm>
            <a:off x="9500616" y="2943292"/>
            <a:ext cx="1097280"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−$140K</a:t>
            </a:r>
            <a:endParaRPr lang="en-US" sz="1300" dirty="0"/>
          </a:p>
        </p:txBody>
      </p:sp>
      <p:sp>
        <p:nvSpPr>
          <p:cNvPr id="129" name="Text 127"/>
          <p:cNvSpPr txBox="1"/>
          <p:nvPr/>
        </p:nvSpPr>
        <p:spPr>
          <a:xfrm>
            <a:off x="10597896" y="2943292"/>
            <a:ext cx="8686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−1,717</a:t>
            </a:r>
            <a:endParaRPr lang="en-US" sz="1300" dirty="0"/>
          </a:p>
        </p:txBody>
      </p:sp>
      <p:sp>
        <p:nvSpPr>
          <p:cNvPr id="130" name="Text 128"/>
          <p:cNvSpPr txBox="1"/>
          <p:nvPr/>
        </p:nvSpPr>
        <p:spPr>
          <a:xfrm>
            <a:off x="6208776" y="3191794"/>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24</a:t>
            </a:r>
            <a:endParaRPr lang="en-US" sz="1200" dirty="0"/>
          </a:p>
        </p:txBody>
      </p:sp>
      <p:sp>
        <p:nvSpPr>
          <p:cNvPr id="131" name="Text 129"/>
          <p:cNvSpPr txBox="1"/>
          <p:nvPr/>
        </p:nvSpPr>
        <p:spPr>
          <a:xfrm>
            <a:off x="6565392" y="3191794"/>
            <a:ext cx="2011680" cy="24850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NISSAN</a:t>
            </a:r>
            <a:endParaRPr lang="en-US" sz="1300" dirty="0"/>
          </a:p>
        </p:txBody>
      </p:sp>
      <p:sp>
        <p:nvSpPr>
          <p:cNvPr id="132" name="Shape 130"/>
          <p:cNvSpPr/>
          <p:nvPr/>
        </p:nvSpPr>
        <p:spPr>
          <a:xfrm>
            <a:off x="8861676" y="3247707"/>
            <a:ext cx="123728" cy="136676"/>
          </a:xfrm>
          <a:prstGeom prst="rect">
            <a:avLst/>
          </a:prstGeom>
          <a:solidFill>
            <a:srgbClr val="C2352F"/>
          </a:solidFill>
          <a:ln/>
        </p:spPr>
      </p:sp>
      <p:sp>
        <p:nvSpPr>
          <p:cNvPr id="133" name="Text 131"/>
          <p:cNvSpPr txBox="1"/>
          <p:nvPr/>
        </p:nvSpPr>
        <p:spPr>
          <a:xfrm>
            <a:off x="9500616" y="3191794"/>
            <a:ext cx="1097280"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−$150K</a:t>
            </a:r>
            <a:endParaRPr lang="en-US" sz="1300" dirty="0"/>
          </a:p>
        </p:txBody>
      </p:sp>
      <p:sp>
        <p:nvSpPr>
          <p:cNvPr id="134" name="Text 132"/>
          <p:cNvSpPr txBox="1"/>
          <p:nvPr/>
        </p:nvSpPr>
        <p:spPr>
          <a:xfrm>
            <a:off x="10597896" y="3191794"/>
            <a:ext cx="8686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−1,613</a:t>
            </a:r>
            <a:endParaRPr lang="en-US" sz="1300" dirty="0"/>
          </a:p>
        </p:txBody>
      </p:sp>
      <p:sp>
        <p:nvSpPr>
          <p:cNvPr id="135" name="Text 133"/>
          <p:cNvSpPr txBox="1"/>
          <p:nvPr/>
        </p:nvSpPr>
        <p:spPr>
          <a:xfrm>
            <a:off x="6208776" y="3440296"/>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25</a:t>
            </a:r>
            <a:endParaRPr lang="en-US" sz="1200" dirty="0"/>
          </a:p>
        </p:txBody>
      </p:sp>
      <p:sp>
        <p:nvSpPr>
          <p:cNvPr id="136" name="Text 134"/>
          <p:cNvSpPr txBox="1"/>
          <p:nvPr/>
        </p:nvSpPr>
        <p:spPr>
          <a:xfrm>
            <a:off x="6565392" y="3440296"/>
            <a:ext cx="2011680" cy="24850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FLAGSTAFF</a:t>
            </a:r>
            <a:endParaRPr lang="en-US" sz="1300" dirty="0"/>
          </a:p>
        </p:txBody>
      </p:sp>
      <p:sp>
        <p:nvSpPr>
          <p:cNvPr id="137" name="Shape 135"/>
          <p:cNvSpPr/>
          <p:nvPr/>
        </p:nvSpPr>
        <p:spPr>
          <a:xfrm>
            <a:off x="8861519" y="3496208"/>
            <a:ext cx="123885" cy="136676"/>
          </a:xfrm>
          <a:prstGeom prst="rect">
            <a:avLst/>
          </a:prstGeom>
          <a:solidFill>
            <a:srgbClr val="C2352F"/>
          </a:solidFill>
          <a:ln/>
        </p:spPr>
      </p:sp>
      <p:sp>
        <p:nvSpPr>
          <p:cNvPr id="138" name="Text 136"/>
          <p:cNvSpPr txBox="1"/>
          <p:nvPr/>
        </p:nvSpPr>
        <p:spPr>
          <a:xfrm>
            <a:off x="9500616" y="3440296"/>
            <a:ext cx="1097280"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−$150K</a:t>
            </a:r>
            <a:endParaRPr lang="en-US" sz="1300" dirty="0"/>
          </a:p>
        </p:txBody>
      </p:sp>
      <p:sp>
        <p:nvSpPr>
          <p:cNvPr id="139" name="Text 137"/>
          <p:cNvSpPr txBox="1"/>
          <p:nvPr/>
        </p:nvSpPr>
        <p:spPr>
          <a:xfrm>
            <a:off x="10597896" y="3440296"/>
            <a:ext cx="8686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−1,257</a:t>
            </a:r>
            <a:endParaRPr lang="en-US" sz="1300" dirty="0"/>
          </a:p>
        </p:txBody>
      </p:sp>
      <p:sp>
        <p:nvSpPr>
          <p:cNvPr id="140" name="Text 138"/>
          <p:cNvSpPr txBox="1"/>
          <p:nvPr/>
        </p:nvSpPr>
        <p:spPr>
          <a:xfrm>
            <a:off x="6208776" y="3688797"/>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26</a:t>
            </a:r>
            <a:endParaRPr lang="en-US" sz="1200" dirty="0"/>
          </a:p>
        </p:txBody>
      </p:sp>
      <p:sp>
        <p:nvSpPr>
          <p:cNvPr id="141" name="Text 139"/>
          <p:cNvSpPr txBox="1"/>
          <p:nvPr/>
        </p:nvSpPr>
        <p:spPr>
          <a:xfrm>
            <a:off x="6565392" y="3688797"/>
            <a:ext cx="2011680" cy="24850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AUDI RENO</a:t>
            </a:r>
            <a:endParaRPr lang="en-US" sz="1300" dirty="0"/>
          </a:p>
        </p:txBody>
      </p:sp>
      <p:sp>
        <p:nvSpPr>
          <p:cNvPr id="142" name="Shape 140"/>
          <p:cNvSpPr/>
          <p:nvPr/>
        </p:nvSpPr>
        <p:spPr>
          <a:xfrm>
            <a:off x="8851844" y="3744710"/>
            <a:ext cx="133560" cy="136676"/>
          </a:xfrm>
          <a:prstGeom prst="rect">
            <a:avLst/>
          </a:prstGeom>
          <a:solidFill>
            <a:srgbClr val="C2352F"/>
          </a:solidFill>
          <a:ln/>
        </p:spPr>
      </p:sp>
      <p:sp>
        <p:nvSpPr>
          <p:cNvPr id="143" name="Text 141"/>
          <p:cNvSpPr txBox="1"/>
          <p:nvPr/>
        </p:nvSpPr>
        <p:spPr>
          <a:xfrm>
            <a:off x="9500616" y="3688797"/>
            <a:ext cx="1097280"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−$162K</a:t>
            </a:r>
            <a:endParaRPr lang="en-US" sz="1300" dirty="0"/>
          </a:p>
        </p:txBody>
      </p:sp>
      <p:sp>
        <p:nvSpPr>
          <p:cNvPr id="144" name="Text 142"/>
          <p:cNvSpPr txBox="1"/>
          <p:nvPr/>
        </p:nvSpPr>
        <p:spPr>
          <a:xfrm>
            <a:off x="10597896" y="3688797"/>
            <a:ext cx="8686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−1,152</a:t>
            </a:r>
            <a:endParaRPr lang="en-US" sz="1300" dirty="0"/>
          </a:p>
        </p:txBody>
      </p:sp>
      <p:sp>
        <p:nvSpPr>
          <p:cNvPr id="145" name="Text 143"/>
          <p:cNvSpPr txBox="1"/>
          <p:nvPr/>
        </p:nvSpPr>
        <p:spPr>
          <a:xfrm>
            <a:off x="6208776" y="3937299"/>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27</a:t>
            </a:r>
            <a:endParaRPr lang="en-US" sz="1200" dirty="0"/>
          </a:p>
        </p:txBody>
      </p:sp>
      <p:sp>
        <p:nvSpPr>
          <p:cNvPr id="146" name="Text 144"/>
          <p:cNvSpPr txBox="1"/>
          <p:nvPr/>
        </p:nvSpPr>
        <p:spPr>
          <a:xfrm>
            <a:off x="6565392" y="3937299"/>
            <a:ext cx="2011680" cy="24850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PRESCOTT</a:t>
            </a:r>
            <a:endParaRPr lang="en-US" sz="1300" dirty="0"/>
          </a:p>
        </p:txBody>
      </p:sp>
      <p:sp>
        <p:nvSpPr>
          <p:cNvPr id="147" name="Shape 145"/>
          <p:cNvSpPr/>
          <p:nvPr/>
        </p:nvSpPr>
        <p:spPr>
          <a:xfrm>
            <a:off x="8841233" y="3993212"/>
            <a:ext cx="144171" cy="136676"/>
          </a:xfrm>
          <a:prstGeom prst="rect">
            <a:avLst/>
          </a:prstGeom>
          <a:solidFill>
            <a:srgbClr val="C2352F"/>
          </a:solidFill>
          <a:ln/>
        </p:spPr>
      </p:sp>
      <p:sp>
        <p:nvSpPr>
          <p:cNvPr id="148" name="Text 146"/>
          <p:cNvSpPr txBox="1"/>
          <p:nvPr/>
        </p:nvSpPr>
        <p:spPr>
          <a:xfrm>
            <a:off x="9500616" y="3937299"/>
            <a:ext cx="1097280"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−$175K</a:t>
            </a:r>
            <a:endParaRPr lang="en-US" sz="1300" dirty="0"/>
          </a:p>
        </p:txBody>
      </p:sp>
      <p:sp>
        <p:nvSpPr>
          <p:cNvPr id="149" name="Text 147"/>
          <p:cNvSpPr txBox="1"/>
          <p:nvPr/>
        </p:nvSpPr>
        <p:spPr>
          <a:xfrm>
            <a:off x="10597896" y="3937299"/>
            <a:ext cx="8686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−1,906</a:t>
            </a:r>
            <a:endParaRPr lang="en-US" sz="1300" dirty="0"/>
          </a:p>
        </p:txBody>
      </p:sp>
      <p:sp>
        <p:nvSpPr>
          <p:cNvPr id="150" name="Text 148"/>
          <p:cNvSpPr txBox="1"/>
          <p:nvPr/>
        </p:nvSpPr>
        <p:spPr>
          <a:xfrm>
            <a:off x="6208776" y="4185800"/>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28</a:t>
            </a:r>
            <a:endParaRPr lang="en-US" sz="1200" dirty="0"/>
          </a:p>
        </p:txBody>
      </p:sp>
      <p:sp>
        <p:nvSpPr>
          <p:cNvPr id="151" name="Text 149"/>
          <p:cNvSpPr txBox="1"/>
          <p:nvPr/>
        </p:nvSpPr>
        <p:spPr>
          <a:xfrm>
            <a:off x="6565392" y="4185800"/>
            <a:ext cx="2011680" cy="24850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CDJR POST FALLS</a:t>
            </a:r>
            <a:endParaRPr lang="en-US" sz="1300" dirty="0"/>
          </a:p>
        </p:txBody>
      </p:sp>
      <p:sp>
        <p:nvSpPr>
          <p:cNvPr id="152" name="Shape 150"/>
          <p:cNvSpPr/>
          <p:nvPr/>
        </p:nvSpPr>
        <p:spPr>
          <a:xfrm>
            <a:off x="8833790" y="4241713"/>
            <a:ext cx="151614" cy="136676"/>
          </a:xfrm>
          <a:prstGeom prst="rect">
            <a:avLst/>
          </a:prstGeom>
          <a:solidFill>
            <a:srgbClr val="C2352F"/>
          </a:solidFill>
          <a:ln/>
        </p:spPr>
      </p:sp>
      <p:sp>
        <p:nvSpPr>
          <p:cNvPr id="153" name="Text 151"/>
          <p:cNvSpPr txBox="1"/>
          <p:nvPr/>
        </p:nvSpPr>
        <p:spPr>
          <a:xfrm>
            <a:off x="9500616" y="4185800"/>
            <a:ext cx="1097280"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−$184K</a:t>
            </a:r>
            <a:endParaRPr lang="en-US" sz="1300" dirty="0"/>
          </a:p>
        </p:txBody>
      </p:sp>
      <p:sp>
        <p:nvSpPr>
          <p:cNvPr id="154" name="Text 152"/>
          <p:cNvSpPr txBox="1"/>
          <p:nvPr/>
        </p:nvSpPr>
        <p:spPr>
          <a:xfrm>
            <a:off x="10597896" y="4185800"/>
            <a:ext cx="8686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−1,863</a:t>
            </a:r>
            <a:endParaRPr lang="en-US" sz="1300" dirty="0"/>
          </a:p>
        </p:txBody>
      </p:sp>
      <p:sp>
        <p:nvSpPr>
          <p:cNvPr id="155" name="Text 153"/>
          <p:cNvSpPr txBox="1"/>
          <p:nvPr/>
        </p:nvSpPr>
        <p:spPr>
          <a:xfrm>
            <a:off x="6208776" y="4434302"/>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29</a:t>
            </a:r>
            <a:endParaRPr lang="en-US" sz="1200" dirty="0"/>
          </a:p>
        </p:txBody>
      </p:sp>
      <p:sp>
        <p:nvSpPr>
          <p:cNvPr id="156" name="Text 154"/>
          <p:cNvSpPr txBox="1"/>
          <p:nvPr/>
        </p:nvSpPr>
        <p:spPr>
          <a:xfrm>
            <a:off x="6565392" y="4434302"/>
            <a:ext cx="2011680" cy="24850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KIA LV</a:t>
            </a:r>
            <a:endParaRPr lang="en-US" sz="1300" dirty="0"/>
          </a:p>
        </p:txBody>
      </p:sp>
      <p:sp>
        <p:nvSpPr>
          <p:cNvPr id="157" name="Shape 155"/>
          <p:cNvSpPr/>
          <p:nvPr/>
        </p:nvSpPr>
        <p:spPr>
          <a:xfrm>
            <a:off x="8832658" y="4490215"/>
            <a:ext cx="152747" cy="136676"/>
          </a:xfrm>
          <a:prstGeom prst="rect">
            <a:avLst/>
          </a:prstGeom>
          <a:solidFill>
            <a:srgbClr val="C2352F"/>
          </a:solidFill>
          <a:ln/>
        </p:spPr>
      </p:sp>
      <p:sp>
        <p:nvSpPr>
          <p:cNvPr id="158" name="Text 156"/>
          <p:cNvSpPr txBox="1"/>
          <p:nvPr/>
        </p:nvSpPr>
        <p:spPr>
          <a:xfrm>
            <a:off x="9500616" y="4434302"/>
            <a:ext cx="1097280"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−$185K</a:t>
            </a:r>
            <a:endParaRPr lang="en-US" sz="1300" dirty="0"/>
          </a:p>
        </p:txBody>
      </p:sp>
      <p:sp>
        <p:nvSpPr>
          <p:cNvPr id="159" name="Text 157"/>
          <p:cNvSpPr txBox="1"/>
          <p:nvPr/>
        </p:nvSpPr>
        <p:spPr>
          <a:xfrm>
            <a:off x="10597896" y="4434302"/>
            <a:ext cx="8686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−1,708</a:t>
            </a:r>
            <a:endParaRPr lang="en-US" sz="1300" dirty="0"/>
          </a:p>
        </p:txBody>
      </p:sp>
      <p:sp>
        <p:nvSpPr>
          <p:cNvPr id="160" name="Text 158"/>
          <p:cNvSpPr txBox="1"/>
          <p:nvPr/>
        </p:nvSpPr>
        <p:spPr>
          <a:xfrm>
            <a:off x="6208776" y="4682804"/>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30</a:t>
            </a:r>
            <a:endParaRPr lang="en-US" sz="1200" dirty="0"/>
          </a:p>
        </p:txBody>
      </p:sp>
      <p:sp>
        <p:nvSpPr>
          <p:cNvPr id="161" name="Text 159"/>
          <p:cNvSpPr txBox="1"/>
          <p:nvPr/>
        </p:nvSpPr>
        <p:spPr>
          <a:xfrm>
            <a:off x="6565392" y="4682804"/>
            <a:ext cx="2011680" cy="24850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HENDERSON</a:t>
            </a:r>
            <a:endParaRPr lang="en-US" sz="1300" dirty="0"/>
          </a:p>
        </p:txBody>
      </p:sp>
      <p:sp>
        <p:nvSpPr>
          <p:cNvPr id="162" name="Shape 160"/>
          <p:cNvSpPr/>
          <p:nvPr/>
        </p:nvSpPr>
        <p:spPr>
          <a:xfrm>
            <a:off x="8798077" y="4738717"/>
            <a:ext cx="187327" cy="136676"/>
          </a:xfrm>
          <a:prstGeom prst="rect">
            <a:avLst/>
          </a:prstGeom>
          <a:solidFill>
            <a:srgbClr val="C2352F"/>
          </a:solidFill>
          <a:ln/>
        </p:spPr>
      </p:sp>
      <p:sp>
        <p:nvSpPr>
          <p:cNvPr id="163" name="Text 161"/>
          <p:cNvSpPr txBox="1"/>
          <p:nvPr/>
        </p:nvSpPr>
        <p:spPr>
          <a:xfrm>
            <a:off x="9500616" y="4682804"/>
            <a:ext cx="1097280"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−$227K</a:t>
            </a:r>
            <a:endParaRPr lang="en-US" sz="1300" dirty="0"/>
          </a:p>
        </p:txBody>
      </p:sp>
      <p:sp>
        <p:nvSpPr>
          <p:cNvPr id="164" name="Text 162"/>
          <p:cNvSpPr txBox="1"/>
          <p:nvPr/>
        </p:nvSpPr>
        <p:spPr>
          <a:xfrm>
            <a:off x="10597896" y="4682804"/>
            <a:ext cx="8686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−3,005</a:t>
            </a:r>
            <a:endParaRPr lang="en-US" sz="1300" dirty="0"/>
          </a:p>
        </p:txBody>
      </p:sp>
      <p:sp>
        <p:nvSpPr>
          <p:cNvPr id="165" name="Text 163"/>
          <p:cNvSpPr txBox="1"/>
          <p:nvPr/>
        </p:nvSpPr>
        <p:spPr>
          <a:xfrm>
            <a:off x="6208776" y="4931305"/>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31</a:t>
            </a:r>
            <a:endParaRPr lang="en-US" sz="1200" dirty="0"/>
          </a:p>
        </p:txBody>
      </p:sp>
      <p:sp>
        <p:nvSpPr>
          <p:cNvPr id="166" name="Text 164"/>
          <p:cNvSpPr txBox="1"/>
          <p:nvPr/>
        </p:nvSpPr>
        <p:spPr>
          <a:xfrm>
            <a:off x="6565392" y="4931305"/>
            <a:ext cx="2011680" cy="24850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FLAGSTAFF</a:t>
            </a:r>
            <a:endParaRPr lang="en-US" sz="1300" dirty="0"/>
          </a:p>
        </p:txBody>
      </p:sp>
      <p:sp>
        <p:nvSpPr>
          <p:cNvPr id="167" name="Shape 165"/>
          <p:cNvSpPr/>
          <p:nvPr/>
        </p:nvSpPr>
        <p:spPr>
          <a:xfrm>
            <a:off x="8765072" y="4987218"/>
            <a:ext cx="220332" cy="136676"/>
          </a:xfrm>
          <a:prstGeom prst="rect">
            <a:avLst/>
          </a:prstGeom>
          <a:solidFill>
            <a:srgbClr val="C2352F"/>
          </a:solidFill>
          <a:ln/>
        </p:spPr>
      </p:sp>
      <p:sp>
        <p:nvSpPr>
          <p:cNvPr id="168" name="Text 166"/>
          <p:cNvSpPr txBox="1"/>
          <p:nvPr/>
        </p:nvSpPr>
        <p:spPr>
          <a:xfrm>
            <a:off x="9500616" y="4931305"/>
            <a:ext cx="1097280"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−$267K</a:t>
            </a:r>
            <a:endParaRPr lang="en-US" sz="1300" dirty="0"/>
          </a:p>
        </p:txBody>
      </p:sp>
      <p:sp>
        <p:nvSpPr>
          <p:cNvPr id="169" name="Text 167"/>
          <p:cNvSpPr txBox="1"/>
          <p:nvPr/>
        </p:nvSpPr>
        <p:spPr>
          <a:xfrm>
            <a:off x="10597896" y="4931305"/>
            <a:ext cx="8686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−3,494</a:t>
            </a:r>
            <a:endParaRPr lang="en-US" sz="1300" dirty="0"/>
          </a:p>
        </p:txBody>
      </p:sp>
      <p:sp>
        <p:nvSpPr>
          <p:cNvPr id="170" name="Shape 168"/>
          <p:cNvSpPr/>
          <p:nvPr/>
        </p:nvSpPr>
        <p:spPr>
          <a:xfrm>
            <a:off x="11521440" y="4977025"/>
            <a:ext cx="54864" cy="157062"/>
          </a:xfrm>
          <a:prstGeom prst="rect">
            <a:avLst/>
          </a:prstGeom>
          <a:solidFill>
            <a:srgbClr val="C2352F"/>
          </a:solidFill>
          <a:ln/>
        </p:spPr>
      </p:sp>
      <p:sp>
        <p:nvSpPr>
          <p:cNvPr id="171" name="Text 169"/>
          <p:cNvSpPr txBox="1"/>
          <p:nvPr/>
        </p:nvSpPr>
        <p:spPr>
          <a:xfrm>
            <a:off x="6208776" y="5179807"/>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32</a:t>
            </a:r>
            <a:endParaRPr lang="en-US" sz="1200" dirty="0"/>
          </a:p>
        </p:txBody>
      </p:sp>
      <p:sp>
        <p:nvSpPr>
          <p:cNvPr id="172" name="Text 170"/>
          <p:cNvSpPr txBox="1"/>
          <p:nvPr/>
        </p:nvSpPr>
        <p:spPr>
          <a:xfrm>
            <a:off x="6565392" y="5179807"/>
            <a:ext cx="2011680" cy="24850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CHEVY LV</a:t>
            </a:r>
            <a:endParaRPr lang="en-US" sz="1300" dirty="0"/>
          </a:p>
        </p:txBody>
      </p:sp>
      <p:sp>
        <p:nvSpPr>
          <p:cNvPr id="173" name="Shape 171"/>
          <p:cNvSpPr/>
          <p:nvPr/>
        </p:nvSpPr>
        <p:spPr>
          <a:xfrm>
            <a:off x="8691210" y="5235720"/>
            <a:ext cx="294194" cy="136676"/>
          </a:xfrm>
          <a:prstGeom prst="rect">
            <a:avLst/>
          </a:prstGeom>
          <a:solidFill>
            <a:srgbClr val="C2352F"/>
          </a:solidFill>
          <a:ln/>
        </p:spPr>
      </p:sp>
      <p:sp>
        <p:nvSpPr>
          <p:cNvPr id="174" name="Text 172"/>
          <p:cNvSpPr txBox="1"/>
          <p:nvPr/>
        </p:nvSpPr>
        <p:spPr>
          <a:xfrm>
            <a:off x="9500616" y="5179807"/>
            <a:ext cx="1097280"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−$356K</a:t>
            </a:r>
            <a:endParaRPr lang="en-US" sz="1300" dirty="0"/>
          </a:p>
        </p:txBody>
      </p:sp>
      <p:sp>
        <p:nvSpPr>
          <p:cNvPr id="175" name="Text 173"/>
          <p:cNvSpPr txBox="1"/>
          <p:nvPr/>
        </p:nvSpPr>
        <p:spPr>
          <a:xfrm>
            <a:off x="10597896" y="5179807"/>
            <a:ext cx="8686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−3,177</a:t>
            </a:r>
            <a:endParaRPr lang="en-US" sz="1300" dirty="0"/>
          </a:p>
        </p:txBody>
      </p:sp>
      <p:sp>
        <p:nvSpPr>
          <p:cNvPr id="176" name="Shape 174"/>
          <p:cNvSpPr/>
          <p:nvPr/>
        </p:nvSpPr>
        <p:spPr>
          <a:xfrm>
            <a:off x="11521440" y="5225527"/>
            <a:ext cx="54864" cy="157062"/>
          </a:xfrm>
          <a:prstGeom prst="rect">
            <a:avLst/>
          </a:prstGeom>
          <a:solidFill>
            <a:srgbClr val="C2352F"/>
          </a:solidFill>
          <a:ln/>
        </p:spPr>
      </p:sp>
      <p:sp>
        <p:nvSpPr>
          <p:cNvPr id="177" name="Text 175"/>
          <p:cNvSpPr txBox="1"/>
          <p:nvPr/>
        </p:nvSpPr>
        <p:spPr>
          <a:xfrm>
            <a:off x="6208776" y="5428309"/>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33</a:t>
            </a:r>
            <a:endParaRPr lang="en-US" sz="1200" dirty="0"/>
          </a:p>
        </p:txBody>
      </p:sp>
      <p:sp>
        <p:nvSpPr>
          <p:cNvPr id="178" name="Text 176"/>
          <p:cNvSpPr txBox="1"/>
          <p:nvPr/>
        </p:nvSpPr>
        <p:spPr>
          <a:xfrm>
            <a:off x="6565392" y="5428309"/>
            <a:ext cx="2011680" cy="24850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SPOKANE</a:t>
            </a:r>
            <a:endParaRPr lang="en-US" sz="1300" dirty="0"/>
          </a:p>
        </p:txBody>
      </p:sp>
      <p:sp>
        <p:nvSpPr>
          <p:cNvPr id="179" name="Shape 177"/>
          <p:cNvSpPr/>
          <p:nvPr/>
        </p:nvSpPr>
        <p:spPr>
          <a:xfrm>
            <a:off x="8650224" y="5484222"/>
            <a:ext cx="335180" cy="136676"/>
          </a:xfrm>
          <a:prstGeom prst="rect">
            <a:avLst/>
          </a:prstGeom>
          <a:solidFill>
            <a:srgbClr val="C2352F"/>
          </a:solidFill>
          <a:ln/>
        </p:spPr>
      </p:sp>
      <p:sp>
        <p:nvSpPr>
          <p:cNvPr id="180" name="Text 178"/>
          <p:cNvSpPr txBox="1"/>
          <p:nvPr/>
        </p:nvSpPr>
        <p:spPr>
          <a:xfrm>
            <a:off x="9500616" y="5428309"/>
            <a:ext cx="1097280"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−$406K</a:t>
            </a:r>
            <a:endParaRPr lang="en-US" sz="1300" dirty="0"/>
          </a:p>
        </p:txBody>
      </p:sp>
      <p:sp>
        <p:nvSpPr>
          <p:cNvPr id="181" name="Text 179"/>
          <p:cNvSpPr txBox="1"/>
          <p:nvPr/>
        </p:nvSpPr>
        <p:spPr>
          <a:xfrm>
            <a:off x="10597896" y="5428309"/>
            <a:ext cx="8686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−5,191</a:t>
            </a:r>
            <a:endParaRPr lang="en-US" sz="1300" dirty="0"/>
          </a:p>
        </p:txBody>
      </p:sp>
      <p:sp>
        <p:nvSpPr>
          <p:cNvPr id="182" name="Shape 180"/>
          <p:cNvSpPr/>
          <p:nvPr/>
        </p:nvSpPr>
        <p:spPr>
          <a:xfrm>
            <a:off x="11521440" y="5474029"/>
            <a:ext cx="54864" cy="157062"/>
          </a:xfrm>
          <a:prstGeom prst="rect">
            <a:avLst/>
          </a:prstGeom>
          <a:solidFill>
            <a:srgbClr val="C2352F"/>
          </a:solidFill>
          <a:ln/>
        </p:spPr>
      </p:sp>
      <p:sp>
        <p:nvSpPr>
          <p:cNvPr id="183" name="Shape 181"/>
          <p:cNvSpPr/>
          <p:nvPr/>
        </p:nvSpPr>
        <p:spPr>
          <a:xfrm>
            <a:off x="6085332" y="1700784"/>
            <a:ext cx="10973" cy="4224528"/>
          </a:xfrm>
          <a:prstGeom prst="rect">
            <a:avLst/>
          </a:prstGeom>
          <a:solidFill>
            <a:srgbClr val="D9D9D9"/>
          </a:solidFill>
          <a:ln/>
        </p:spPr>
      </p:sp>
      <p:sp>
        <p:nvSpPr>
          <p:cNvPr id="185" name="Shape 182"/>
          <p:cNvSpPr/>
          <p:nvPr/>
        </p:nvSpPr>
        <p:spPr>
          <a:xfrm>
            <a:off x="457200" y="6126480"/>
            <a:ext cx="11274552" cy="364236"/>
          </a:xfrm>
          <a:prstGeom prst="rect">
            <a:avLst/>
          </a:prstGeom>
          <a:solidFill>
            <a:srgbClr val="FBEBEA"/>
          </a:solidFill>
          <a:ln/>
        </p:spPr>
      </p:sp>
      <p:sp>
        <p:nvSpPr>
          <p:cNvPr id="186" name="Text 183"/>
          <p:cNvSpPr txBox="1"/>
          <p:nvPr/>
        </p:nvSpPr>
        <p:spPr>
          <a:xfrm>
            <a:off x="658368" y="6144768"/>
            <a:ext cx="10927080" cy="327660"/>
          </a:xfrm>
          <a:prstGeom prst="rect">
            <a:avLst/>
          </a:prstGeom>
          <a:noFill/>
          <a:ln/>
        </p:spPr>
        <p:txBody>
          <a:bodyPr wrap="square" lIns="0" tIns="0" rIns="0" bIns="0" rtlCol="0" anchor="ctr"/>
          <a:lstStyle/>
          <a:p>
            <a:pPr indent="0" marL="0">
              <a:buNone/>
            </a:pPr>
            <a:r>
              <a:rPr lang="en-US" sz="1550" b="1" dirty="0">
                <a:solidFill>
                  <a:srgbClr val="A82B26"/>
                </a:solidFill>
                <a:latin typeface="Inter" pitchFamily="34" charset="0"/>
                <a:ea typeface="Inter" pitchFamily="34" charset="-122"/>
                <a:cs typeface="Inter" pitchFamily="34" charset="-120"/>
              </a:rPr>
              <a:t>7 of 33 stores are ahead of benchmark on net across the four services. 15 stores are under all four.</a:t>
            </a:r>
            <a:endParaRPr lang="en-US" sz="1550" dirty="0"/>
          </a:p>
        </p:txBody>
      </p:sp>
    </p:spTree>
  </p:cSld>
  <p:clrMapOvr>
    <a:masterClrMapping/>
  </p:clrMapOvr>
</p:sld>
</file>

<file path=ppt/slides/slide127.xml><?xml version="1.0" encoding="utf-8"?>
<p:sld xmlns:a="http://schemas.openxmlformats.org/drawingml/2006/main" xmlns:p="http://schemas.openxmlformats.org/presentationml/2006/main" xmlns:r="http://schemas.openxmlformats.org/officeDocument/2006/relationships">
  <p:cSld>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FIXED OPS PRODUCTIVITY</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People</a:t>
            </a:r>
            <a:endParaRPr lang="en-US" sz="2800" dirty="0"/>
          </a:p>
        </p:txBody>
      </p:sp>
      <p:sp>
        <p:nvSpPr>
          <p:cNvPr id="5" name="Shape 3"/>
          <p:cNvSpPr/>
          <p:nvPr/>
        </p:nvSpPr>
        <p:spPr>
          <a:xfrm>
            <a:off x="457200" y="1207008"/>
            <a:ext cx="6400800" cy="4782312"/>
          </a:xfrm>
          <a:prstGeom prst="rect">
            <a:avLst/>
          </a:prstGeom>
          <a:solidFill>
            <a:srgbClr val="FFFFFF"/>
          </a:solidFill>
          <a:ln/>
        </p:spPr>
      </p:sp>
      <p:sp>
        <p:nvSpPr>
          <p:cNvPr id="6" name="Shape 4"/>
          <p:cNvSpPr/>
          <p:nvPr/>
        </p:nvSpPr>
        <p:spPr>
          <a:xfrm>
            <a:off x="7022592" y="1207008"/>
            <a:ext cx="4709160" cy="4782312"/>
          </a:xfrm>
          <a:prstGeom prst="rect">
            <a:avLst/>
          </a:prstGeom>
          <a:solidFill>
            <a:srgbClr val="FFFFFF"/>
          </a:solidFill>
          <a:ln/>
        </p:spPr>
      </p:sp>
      <p:sp>
        <p:nvSpPr>
          <p:cNvPr id="7" name="Text 5"/>
          <p:cNvSpPr txBox="1"/>
          <p:nvPr/>
        </p:nvSpPr>
        <p:spPr>
          <a:xfrm>
            <a:off x="7269480" y="1371600"/>
            <a:ext cx="4297680" cy="310896"/>
          </a:xfrm>
          <a:prstGeom prst="rect">
            <a:avLst/>
          </a:prstGeom>
          <a:noFill/>
          <a:ln/>
        </p:spPr>
        <p:txBody>
          <a:bodyPr wrap="square" lIns="0" tIns="0" rIns="0" bIns="0" rtlCol="0" anchor="ctr"/>
          <a:lstStyle/>
          <a:p>
            <a:pPr indent="0" marL="0">
              <a:buNone/>
            </a:pPr>
            <a:r>
              <a:rPr lang="en-US" sz="1400" b="1" spc="100" kern="0" dirty="0">
                <a:solidFill>
                  <a:srgbClr val="0B2C4A"/>
                </a:solidFill>
                <a:latin typeface="Inter" pitchFamily="34" charset="0"/>
                <a:ea typeface="Inter" pitchFamily="34" charset="-122"/>
                <a:cs typeface="Inter" pitchFamily="34" charset="-120"/>
              </a:rPr>
              <a:t>WHERE WE ARE · JAN–SEP 2026</a:t>
            </a:r>
            <a:endParaRPr lang="en-US" sz="1400" dirty="0"/>
          </a:p>
        </p:txBody>
      </p:sp>
      <p:sp>
        <p:nvSpPr>
          <p:cNvPr id="8" name="Shape 6"/>
          <p:cNvSpPr/>
          <p:nvPr/>
        </p:nvSpPr>
        <p:spPr>
          <a:xfrm>
            <a:off x="7269480" y="1737360"/>
            <a:ext cx="4224528" cy="10973"/>
          </a:xfrm>
          <a:prstGeom prst="rect">
            <a:avLst/>
          </a:prstGeom>
          <a:solidFill>
            <a:srgbClr val="D9D9D9"/>
          </a:solidFill>
          <a:ln/>
        </p:spPr>
      </p:sp>
      <p:sp>
        <p:nvSpPr>
          <p:cNvPr id="9" name="Text 7"/>
          <p:cNvSpPr txBox="1"/>
          <p:nvPr/>
        </p:nvSpPr>
        <p:spPr>
          <a:xfrm>
            <a:off x="713232" y="1417320"/>
            <a:ext cx="5897880" cy="4434840"/>
          </a:xfrm>
          <a:prstGeom prst="rect">
            <a:avLst/>
          </a:prstGeom>
          <a:noFill/>
          <a:ln/>
        </p:spPr>
        <p:txBody>
          <a:bodyPr wrap="square" lIns="0" tIns="0" rIns="0" bIns="0" rtlCol="0" anchor="t"/>
          <a:lstStyle/>
          <a:p>
            <a:pPr marL="228600" indent="-228600">
              <a:spcAft>
                <a:spcPts val="800"/>
              </a:spcAft>
              <a:buSzPct val="100000"/>
              <a:buChar char="•"/>
            </a:pPr>
            <a:r>
              <a:rPr lang="en-US" sz="1800" dirty="0">
                <a:solidFill>
                  <a:srgbClr val="1A1A1A"/>
                </a:solidFill>
                <a:latin typeface="Inter" pitchFamily="34" charset="0"/>
                <a:ea typeface="Inter" pitchFamily="34" charset="-122"/>
                <a:cs typeface="Inter" pitchFamily="34" charset="-120"/>
              </a:rPr>
              <a:t>Our most valuable asset: this is what separates us</a:t>
            </a:r>
            <a:endParaRPr lang="en-US" sz="1800" dirty="0"/>
          </a:p>
          <a:p>
            <a:pPr marL="228600" indent="-228600">
              <a:spcAft>
                <a:spcPts val="800"/>
              </a:spcAft>
              <a:buSzPct val="100000"/>
              <a:buChar char="•"/>
            </a:pPr>
            <a:r>
              <a:rPr lang="en-US" sz="1800" dirty="0">
                <a:solidFill>
                  <a:srgbClr val="1A1A1A"/>
                </a:solidFill>
                <a:latin typeface="Inter" pitchFamily="34" charset="0"/>
                <a:ea typeface="Inter" pitchFamily="34" charset="-122"/>
                <a:cs typeface="Inter" pitchFamily="34" charset="-120"/>
              </a:rPr>
              <a:t>Invest in training and a defined career path. Be the best place to work.</a:t>
            </a:r>
            <a:endParaRPr lang="en-US" sz="1800" dirty="0"/>
          </a:p>
          <a:p>
            <a:pPr marL="228600" indent="-228600">
              <a:spcAft>
                <a:spcPts val="800"/>
              </a:spcAft>
              <a:buSzPct val="100000"/>
              <a:buChar char="•"/>
            </a:pPr>
            <a:r>
              <a:rPr lang="en-US" sz="1800" dirty="0">
                <a:solidFill>
                  <a:srgbClr val="1A1A1A"/>
                </a:solidFill>
                <a:latin typeface="Inter" pitchFamily="34" charset="0"/>
                <a:ea typeface="Inter" pitchFamily="34" charset="-122"/>
                <a:cs typeface="Inter" pitchFamily="34" charset="-120"/>
              </a:rPr>
              <a:t>Grow your own techs, advisors and managers: apprentice programs, develop your bench, train your replacement</a:t>
            </a:r>
            <a:endParaRPr lang="en-US" sz="1800" dirty="0"/>
          </a:p>
          <a:p>
            <a:pPr marL="228600" indent="-228600">
              <a:spcAft>
                <a:spcPts val="800"/>
              </a:spcAft>
              <a:buSzPct val="100000"/>
              <a:buChar char="•"/>
            </a:pPr>
            <a:r>
              <a:rPr lang="en-US" sz="1800" dirty="0">
                <a:solidFill>
                  <a:srgbClr val="1A1A1A"/>
                </a:solidFill>
                <a:latin typeface="Inter" pitchFamily="34" charset="0"/>
                <a:ea typeface="Inter" pitchFamily="34" charset="-122"/>
                <a:cs typeface="Inter" pitchFamily="34" charset="-120"/>
              </a:rPr>
              <a:t>Always be teaching, training and educating</a:t>
            </a:r>
            <a:endParaRPr lang="en-US" sz="1800" dirty="0"/>
          </a:p>
          <a:p>
            <a:pPr marL="228600" indent="-228600">
              <a:spcAft>
                <a:spcPts val="800"/>
              </a:spcAft>
              <a:buSzPct val="100000"/>
              <a:buChar char="•"/>
            </a:pPr>
            <a:r>
              <a:rPr lang="en-US" sz="1800" dirty="0">
                <a:solidFill>
                  <a:srgbClr val="1A1A1A"/>
                </a:solidFill>
                <a:latin typeface="Inter" pitchFamily="34" charset="0"/>
                <a:ea typeface="Inter" pitchFamily="34" charset="-122"/>
                <a:cs typeface="Inter" pitchFamily="34" charset="-120"/>
              </a:rPr>
              <a:t>Being short-handed limits scheduling, loses opportunities and leads to missed MPIs</a:t>
            </a:r>
            <a:endParaRPr lang="en-US" sz="1800" dirty="0"/>
          </a:p>
          <a:p>
            <a:pPr marL="228600" indent="-228600">
              <a:spcAft>
                <a:spcPts val="800"/>
              </a:spcAft>
              <a:buSzPct val="100000"/>
              <a:buChar char="•"/>
            </a:pPr>
            <a:r>
              <a:rPr lang="en-US" sz="1800" dirty="0">
                <a:solidFill>
                  <a:srgbClr val="1A1A1A"/>
                </a:solidFill>
                <a:latin typeface="Inter" pitchFamily="34" charset="0"/>
                <a:ea typeface="Inter" pitchFamily="34" charset="-122"/>
                <a:cs typeface="Inter" pitchFamily="34" charset="-120"/>
              </a:rPr>
              <a:t>Clear pay plans, job descriptions and expectations</a:t>
            </a:r>
            <a:endParaRPr lang="en-US" sz="1800" dirty="0"/>
          </a:p>
        </p:txBody>
      </p:sp>
      <p:sp>
        <p:nvSpPr>
          <p:cNvPr id="10" name="Shape 8"/>
          <p:cNvSpPr/>
          <p:nvPr/>
        </p:nvSpPr>
        <p:spPr>
          <a:xfrm>
            <a:off x="7269480" y="1920240"/>
            <a:ext cx="54864" cy="1112520"/>
          </a:xfrm>
          <a:prstGeom prst="rect">
            <a:avLst/>
          </a:prstGeom>
          <a:solidFill>
            <a:srgbClr val="2587C5"/>
          </a:solidFill>
          <a:ln/>
        </p:spPr>
      </p:sp>
      <p:sp>
        <p:nvSpPr>
          <p:cNvPr id="11" name="Text 9"/>
          <p:cNvSpPr txBox="1"/>
          <p:nvPr/>
        </p:nvSpPr>
        <p:spPr>
          <a:xfrm>
            <a:off x="7452360" y="1874520"/>
            <a:ext cx="4023360" cy="566928"/>
          </a:xfrm>
          <a:prstGeom prst="rect">
            <a:avLst/>
          </a:prstGeom>
          <a:noFill/>
          <a:ln/>
        </p:spPr>
        <p:txBody>
          <a:bodyPr wrap="square" lIns="0" tIns="0" rIns="0" bIns="0" rtlCol="0" anchor="ctr">
            <a:normAutofit/>
          </a:bodyPr>
          <a:lstStyle/>
          <a:p>
            <a:pPr indent="0" marL="0">
              <a:buNone/>
            </a:pPr>
            <a:r>
              <a:rPr lang="en-US" sz="3000" b="1" dirty="0">
                <a:solidFill>
                  <a:srgbClr val="0B2C4A"/>
                </a:solidFill>
                <a:latin typeface="Inter" pitchFamily="34" charset="0"/>
                <a:ea typeface="Inter" pitchFamily="34" charset="-122"/>
                <a:cs typeface="Inter" pitchFamily="34" charset="-120"/>
              </a:rPr>
              <a:t>−76</a:t>
            </a:r>
            <a:endParaRPr lang="en-US" sz="3000" dirty="0"/>
          </a:p>
        </p:txBody>
      </p:sp>
      <p:sp>
        <p:nvSpPr>
          <p:cNvPr id="12" name="Text 10"/>
          <p:cNvSpPr txBox="1"/>
          <p:nvPr/>
        </p:nvSpPr>
        <p:spPr>
          <a:xfrm>
            <a:off x="7452360" y="2441448"/>
            <a:ext cx="4023360" cy="609600"/>
          </a:xfrm>
          <a:prstGeom prst="rect">
            <a:avLst/>
          </a:prstGeom>
          <a:noFill/>
          <a:ln/>
        </p:spPr>
        <p:txBody>
          <a:bodyPr wrap="square" lIns="0" tIns="0" rIns="0" bIns="0" rtlCol="0" anchor="t"/>
          <a:lstStyle/>
          <a:p>
            <a:pPr indent="0" marL="0">
              <a:buNone/>
            </a:pPr>
            <a:r>
              <a:rPr lang="en-US" sz="1400" dirty="0">
                <a:solidFill>
                  <a:srgbClr val="1A1A1A"/>
                </a:solidFill>
                <a:latin typeface="Inter" pitchFamily="34" charset="0"/>
                <a:ea typeface="Inter" pitchFamily="34" charset="-122"/>
                <a:cs typeface="Inter" pitchFamily="34" charset="-120"/>
              </a:rPr>
              <a:t>Fixed ops staff, September to September, to 1,540 (−4.7%): technicians −17, advisors −7, managers −3.</a:t>
            </a:r>
            <a:endParaRPr lang="en-US" sz="1400" dirty="0"/>
          </a:p>
        </p:txBody>
      </p:sp>
      <p:sp>
        <p:nvSpPr>
          <p:cNvPr id="13" name="Shape 11"/>
          <p:cNvSpPr/>
          <p:nvPr/>
        </p:nvSpPr>
        <p:spPr>
          <a:xfrm>
            <a:off x="7269480" y="3261360"/>
            <a:ext cx="54864" cy="1112520"/>
          </a:xfrm>
          <a:prstGeom prst="rect">
            <a:avLst/>
          </a:prstGeom>
          <a:solidFill>
            <a:srgbClr val="12A566"/>
          </a:solidFill>
          <a:ln/>
        </p:spPr>
      </p:sp>
      <p:sp>
        <p:nvSpPr>
          <p:cNvPr id="14" name="Text 12"/>
          <p:cNvSpPr txBox="1"/>
          <p:nvPr/>
        </p:nvSpPr>
        <p:spPr>
          <a:xfrm>
            <a:off x="7452360" y="3215640"/>
            <a:ext cx="4023360" cy="566928"/>
          </a:xfrm>
          <a:prstGeom prst="rect">
            <a:avLst/>
          </a:prstGeom>
          <a:noFill/>
          <a:ln/>
        </p:spPr>
        <p:txBody>
          <a:bodyPr wrap="square" lIns="0" tIns="0" rIns="0" bIns="0" rtlCol="0" anchor="ctr">
            <a:normAutofit/>
          </a:bodyPr>
          <a:lstStyle/>
          <a:p>
            <a:pPr indent="0" marL="0">
              <a:buNone/>
            </a:pPr>
            <a:r>
              <a:rPr lang="en-US" sz="3000" b="1" dirty="0">
                <a:solidFill>
                  <a:srgbClr val="0B7A4A"/>
                </a:solidFill>
                <a:latin typeface="Inter" pitchFamily="34" charset="0"/>
                <a:ea typeface="Inter" pitchFamily="34" charset="-122"/>
                <a:cs typeface="Inter" pitchFamily="34" charset="-120"/>
              </a:rPr>
              <a:t>$13,617</a:t>
            </a:r>
            <a:endParaRPr lang="en-US" sz="3000" dirty="0"/>
          </a:p>
        </p:txBody>
      </p:sp>
      <p:sp>
        <p:nvSpPr>
          <p:cNvPr id="15" name="Text 13"/>
          <p:cNvSpPr txBox="1"/>
          <p:nvPr/>
        </p:nvSpPr>
        <p:spPr>
          <a:xfrm>
            <a:off x="7452360" y="3782568"/>
            <a:ext cx="4023360" cy="609600"/>
          </a:xfrm>
          <a:prstGeom prst="rect">
            <a:avLst/>
          </a:prstGeom>
          <a:noFill/>
          <a:ln/>
        </p:spPr>
        <p:txBody>
          <a:bodyPr wrap="square" lIns="0" tIns="0" rIns="0" bIns="0" rtlCol="0" anchor="t"/>
          <a:lstStyle/>
          <a:p>
            <a:pPr indent="0" marL="0">
              <a:buNone/>
            </a:pPr>
            <a:r>
              <a:rPr lang="en-US" sz="1400" dirty="0">
                <a:solidFill>
                  <a:srgbClr val="1A1A1A"/>
                </a:solidFill>
                <a:latin typeface="Inter" pitchFamily="34" charset="0"/>
                <a:ea typeface="Inter" pitchFamily="34" charset="-122"/>
                <a:cs typeface="Inter" pitchFamily="34" charset="-120"/>
              </a:rPr>
              <a:t>Fixed gross per fixed employee a month, up $1,207. Gross grew 4.1% with 5.1% fewer people on average.</a:t>
            </a:r>
            <a:endParaRPr lang="en-US" sz="1400" dirty="0"/>
          </a:p>
        </p:txBody>
      </p:sp>
      <p:sp>
        <p:nvSpPr>
          <p:cNvPr id="16" name="Shape 14"/>
          <p:cNvSpPr/>
          <p:nvPr/>
        </p:nvSpPr>
        <p:spPr>
          <a:xfrm>
            <a:off x="7269480" y="4602480"/>
            <a:ext cx="54864" cy="1112520"/>
          </a:xfrm>
          <a:prstGeom prst="rect">
            <a:avLst/>
          </a:prstGeom>
          <a:solidFill>
            <a:srgbClr val="C2352F"/>
          </a:solidFill>
          <a:ln/>
        </p:spPr>
      </p:sp>
      <p:sp>
        <p:nvSpPr>
          <p:cNvPr id="17" name="Text 15"/>
          <p:cNvSpPr txBox="1"/>
          <p:nvPr/>
        </p:nvSpPr>
        <p:spPr>
          <a:xfrm>
            <a:off x="7452360" y="4556760"/>
            <a:ext cx="4023360" cy="566928"/>
          </a:xfrm>
          <a:prstGeom prst="rect">
            <a:avLst/>
          </a:prstGeom>
          <a:noFill/>
          <a:ln/>
        </p:spPr>
        <p:txBody>
          <a:bodyPr wrap="square" lIns="0" tIns="0" rIns="0" bIns="0" rtlCol="0" anchor="ctr">
            <a:normAutofit/>
          </a:bodyPr>
          <a:lstStyle/>
          <a:p>
            <a:pPr indent="0" marL="0">
              <a:buNone/>
            </a:pPr>
            <a:r>
              <a:rPr lang="en-US" sz="3000" b="1" dirty="0">
                <a:solidFill>
                  <a:srgbClr val="A82B26"/>
                </a:solidFill>
                <a:latin typeface="Inter" pitchFamily="34" charset="0"/>
                <a:ea typeface="Inter" pitchFamily="34" charset="-122"/>
                <a:cs typeface="Inter" pitchFamily="34" charset="-120"/>
              </a:rPr>
              <a:t>$28,600</a:t>
            </a:r>
            <a:endParaRPr lang="en-US" sz="3000" dirty="0"/>
          </a:p>
        </p:txBody>
      </p:sp>
      <p:sp>
        <p:nvSpPr>
          <p:cNvPr id="18" name="Text 16"/>
          <p:cNvSpPr txBox="1"/>
          <p:nvPr/>
        </p:nvSpPr>
        <p:spPr>
          <a:xfrm>
            <a:off x="7452360" y="5123688"/>
            <a:ext cx="4023360" cy="609600"/>
          </a:xfrm>
          <a:prstGeom prst="rect">
            <a:avLst/>
          </a:prstGeom>
          <a:noFill/>
          <a:ln/>
        </p:spPr>
        <p:txBody>
          <a:bodyPr wrap="square" lIns="0" tIns="0" rIns="0" bIns="0" rtlCol="0" anchor="t"/>
          <a:lstStyle/>
          <a:p>
            <a:pPr indent="0" marL="0">
              <a:buNone/>
            </a:pPr>
            <a:r>
              <a:rPr lang="en-US" sz="1400" dirty="0">
                <a:solidFill>
                  <a:srgbClr val="1A1A1A"/>
                </a:solidFill>
                <a:latin typeface="Inter" pitchFamily="34" charset="0"/>
                <a:ea typeface="Inter" pitchFamily="34" charset="-122"/>
                <a:cs typeface="Inter" pitchFamily="34" charset="-120"/>
              </a:rPr>
              <a:t>Gross an average tech's bay produces a month: 152 sold hours at $188 each. An empty or idle bay misses all of it.</a:t>
            </a:r>
            <a:endParaRPr lang="en-US" sz="1400" dirty="0"/>
          </a:p>
        </p:txBody>
      </p:sp>
      <p:sp>
        <p:nvSpPr>
          <p:cNvPr id="19" name="Shape 17"/>
          <p:cNvSpPr/>
          <p:nvPr/>
        </p:nvSpPr>
        <p:spPr>
          <a:xfrm>
            <a:off x="457200" y="6126480"/>
            <a:ext cx="11274552" cy="615696"/>
          </a:xfrm>
          <a:prstGeom prst="rect">
            <a:avLst/>
          </a:prstGeom>
          <a:solidFill>
            <a:srgbClr val="EDF4FA"/>
          </a:solidFill>
          <a:ln/>
        </p:spPr>
      </p:sp>
      <p:sp>
        <p:nvSpPr>
          <p:cNvPr id="20" name="Text 18"/>
          <p:cNvSpPr txBox="1"/>
          <p:nvPr/>
        </p:nvSpPr>
        <p:spPr>
          <a:xfrm>
            <a:off x="658368" y="6144768"/>
            <a:ext cx="10927080" cy="579120"/>
          </a:xfrm>
          <a:prstGeom prst="rect">
            <a:avLst/>
          </a:prstGeom>
          <a:noFill/>
          <a:ln/>
        </p:spPr>
        <p:txBody>
          <a:bodyPr wrap="square" lIns="0" tIns="0" rIns="0" bIns="0" rtlCol="0" anchor="ctr"/>
          <a:lstStyle/>
          <a:p>
            <a:pPr indent="0" marL="0">
              <a:buNone/>
            </a:pPr>
            <a:r>
              <a:rPr lang="en-US" sz="1600" b="1" dirty="0">
                <a:solidFill>
                  <a:srgbClr val="0B2C4A"/>
                </a:solidFill>
                <a:latin typeface="Inter" pitchFamily="34" charset="0"/>
                <a:ea typeface="Inter" pitchFamily="34" charset="-122"/>
                <a:cs typeface="Inter" pitchFamily="34" charset="-120"/>
              </a:rPr>
              <a:t>The ask: keep every seat filled with someone who adds hours. Being short-handed costs appointments, MPIs and sold hours.</a:t>
            </a:r>
            <a:endParaRPr lang="en-US" sz="1600" dirty="0"/>
          </a:p>
        </p:txBody>
      </p:sp>
    </p:spTree>
  </p:cSld>
  <p:clrMapOvr>
    <a:masterClrMapping/>
  </p:clrMapOvr>
</p:sld>
</file>

<file path=ppt/slides/slide129.xml><?xml version="1.0" encoding="utf-8"?>
<p:sld xmlns:a="http://schemas.openxmlformats.org/drawingml/2006/main" xmlns:p="http://schemas.openxmlformats.org/presentationml/2006/main" xmlns:r="http://schemas.openxmlformats.org/officeDocument/2006/relationships">
  <p:cSld>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FIXED OPS PRODUCTIVITY</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Fixed Ops Headcount</a:t>
            </a:r>
            <a:endParaRPr lang="en-US" sz="2800" dirty="0"/>
          </a:p>
        </p:txBody>
      </p:sp>
      <p:sp>
        <p:nvSpPr>
          <p:cNvPr id="5" name="Shape 3"/>
          <p:cNvSpPr/>
          <p:nvPr/>
        </p:nvSpPr>
        <p:spPr>
          <a:xfrm>
            <a:off x="457200" y="1207008"/>
            <a:ext cx="11274552" cy="1005840"/>
          </a:xfrm>
          <a:prstGeom prst="rect">
            <a:avLst/>
          </a:prstGeom>
          <a:solidFill>
            <a:srgbClr val="FFFFFF"/>
          </a:solidFill>
          <a:ln/>
        </p:spPr>
      </p:sp>
      <p:sp>
        <p:nvSpPr>
          <p:cNvPr id="6" name="Text 4"/>
          <p:cNvSpPr txBox="1"/>
          <p:nvPr/>
        </p:nvSpPr>
        <p:spPr>
          <a:xfrm>
            <a:off x="685800" y="1335024"/>
            <a:ext cx="2651760" cy="237744"/>
          </a:xfrm>
          <a:prstGeom prst="rect">
            <a:avLst/>
          </a:prstGeom>
          <a:noFill/>
          <a:ln/>
        </p:spPr>
        <p:txBody>
          <a:bodyPr wrap="square" lIns="0" tIns="0" rIns="0" bIns="0" rtlCol="0" anchor="ctr"/>
          <a:lstStyle/>
          <a:p>
            <a:pPr indent="0" marL="0">
              <a:buNone/>
            </a:pPr>
            <a:r>
              <a:rPr lang="en-US" sz="1400" spc="90" kern="0" dirty="0">
                <a:solidFill>
                  <a:srgbClr val="595959"/>
                </a:solidFill>
                <a:latin typeface="Inter" pitchFamily="34" charset="0"/>
                <a:ea typeface="Inter" pitchFamily="34" charset="-122"/>
                <a:cs typeface="Inter" pitchFamily="34" charset="-120"/>
              </a:rPr>
              <a:t>2025 YTD</a:t>
            </a:r>
            <a:endParaRPr lang="en-US" sz="1400" dirty="0"/>
          </a:p>
        </p:txBody>
      </p:sp>
      <p:sp>
        <p:nvSpPr>
          <p:cNvPr id="7" name="Text 5"/>
          <p:cNvSpPr txBox="1"/>
          <p:nvPr/>
        </p:nvSpPr>
        <p:spPr>
          <a:xfrm>
            <a:off x="685800" y="1554480"/>
            <a:ext cx="2697480" cy="548640"/>
          </a:xfrm>
          <a:prstGeom prst="rect">
            <a:avLst/>
          </a:prstGeom>
          <a:noFill/>
          <a:ln/>
        </p:spPr>
        <p:txBody>
          <a:bodyPr wrap="square" lIns="0" tIns="0" rIns="0" bIns="0" rtlCol="0" anchor="ctr"/>
          <a:lstStyle/>
          <a:p>
            <a:pPr indent="0" marL="0">
              <a:buNone/>
            </a:pPr>
            <a:r>
              <a:rPr lang="en-US" sz="3000" b="1" dirty="0">
                <a:solidFill>
                  <a:srgbClr val="1A1A1A"/>
                </a:solidFill>
                <a:latin typeface="Inter" pitchFamily="34" charset="0"/>
                <a:ea typeface="Inter" pitchFamily="34" charset="-122"/>
                <a:cs typeface="Inter" pitchFamily="34" charset="-120"/>
              </a:rPr>
              <a:t>1,624</a:t>
            </a:r>
            <a:endParaRPr lang="en-US" sz="3000" dirty="0"/>
          </a:p>
        </p:txBody>
      </p:sp>
      <p:sp>
        <p:nvSpPr>
          <p:cNvPr id="8" name="Text 6"/>
          <p:cNvSpPr txBox="1"/>
          <p:nvPr/>
        </p:nvSpPr>
        <p:spPr>
          <a:xfrm>
            <a:off x="3474720" y="1335024"/>
            <a:ext cx="2651760" cy="237744"/>
          </a:xfrm>
          <a:prstGeom prst="rect">
            <a:avLst/>
          </a:prstGeom>
          <a:noFill/>
          <a:ln/>
        </p:spPr>
        <p:txBody>
          <a:bodyPr wrap="square" lIns="0" tIns="0" rIns="0" bIns="0" rtlCol="0" anchor="ctr"/>
          <a:lstStyle/>
          <a:p>
            <a:pPr indent="0" marL="0">
              <a:buNone/>
            </a:pPr>
            <a:r>
              <a:rPr lang="en-US" sz="1400" spc="90" kern="0" dirty="0">
                <a:solidFill>
                  <a:srgbClr val="595959"/>
                </a:solidFill>
                <a:latin typeface="Inter" pitchFamily="34" charset="0"/>
                <a:ea typeface="Inter" pitchFamily="34" charset="-122"/>
                <a:cs typeface="Inter" pitchFamily="34" charset="-120"/>
              </a:rPr>
              <a:t>2026 YTD</a:t>
            </a:r>
            <a:endParaRPr lang="en-US" sz="1400" dirty="0"/>
          </a:p>
        </p:txBody>
      </p:sp>
      <p:sp>
        <p:nvSpPr>
          <p:cNvPr id="9" name="Text 7"/>
          <p:cNvSpPr txBox="1"/>
          <p:nvPr/>
        </p:nvSpPr>
        <p:spPr>
          <a:xfrm>
            <a:off x="3474720" y="1554480"/>
            <a:ext cx="2697480" cy="548640"/>
          </a:xfrm>
          <a:prstGeom prst="rect">
            <a:avLst/>
          </a:prstGeom>
          <a:noFill/>
          <a:ln/>
        </p:spPr>
        <p:txBody>
          <a:bodyPr wrap="square" lIns="0" tIns="0" rIns="0" bIns="0" rtlCol="0" anchor="ctr"/>
          <a:lstStyle/>
          <a:p>
            <a:pPr indent="0" marL="0">
              <a:buNone/>
            </a:pPr>
            <a:r>
              <a:rPr lang="en-US" sz="3000" b="1" dirty="0">
                <a:solidFill>
                  <a:srgbClr val="1A1A1A"/>
                </a:solidFill>
                <a:latin typeface="Inter" pitchFamily="34" charset="0"/>
                <a:ea typeface="Inter" pitchFamily="34" charset="-122"/>
                <a:cs typeface="Inter" pitchFamily="34" charset="-120"/>
              </a:rPr>
              <a:t>1,541</a:t>
            </a:r>
            <a:endParaRPr lang="en-US" sz="3000" dirty="0"/>
          </a:p>
        </p:txBody>
      </p:sp>
      <p:sp>
        <p:nvSpPr>
          <p:cNvPr id="10" name="Text 8"/>
          <p:cNvSpPr txBox="1"/>
          <p:nvPr/>
        </p:nvSpPr>
        <p:spPr>
          <a:xfrm>
            <a:off x="6263640" y="1335024"/>
            <a:ext cx="2651760" cy="237744"/>
          </a:xfrm>
          <a:prstGeom prst="rect">
            <a:avLst/>
          </a:prstGeom>
          <a:noFill/>
          <a:ln/>
        </p:spPr>
        <p:txBody>
          <a:bodyPr wrap="square" lIns="0" tIns="0" rIns="0" bIns="0" rtlCol="0" anchor="ctr"/>
          <a:lstStyle/>
          <a:p>
            <a:pPr indent="0" marL="0">
              <a:buNone/>
            </a:pPr>
            <a:r>
              <a:rPr lang="en-US" sz="1400" spc="90" kern="0" dirty="0">
                <a:solidFill>
                  <a:srgbClr val="595959"/>
                </a:solidFill>
                <a:latin typeface="Inter" pitchFamily="34" charset="0"/>
                <a:ea typeface="Inter" pitchFamily="34" charset="-122"/>
                <a:cs typeface="Inter" pitchFamily="34" charset="-120"/>
              </a:rPr>
              <a:t>VARIANCE</a:t>
            </a:r>
            <a:endParaRPr lang="en-US" sz="1400" dirty="0"/>
          </a:p>
        </p:txBody>
      </p:sp>
      <p:sp>
        <p:nvSpPr>
          <p:cNvPr id="11" name="Text 9"/>
          <p:cNvSpPr txBox="1"/>
          <p:nvPr/>
        </p:nvSpPr>
        <p:spPr>
          <a:xfrm>
            <a:off x="6263640" y="1554480"/>
            <a:ext cx="2697480" cy="548640"/>
          </a:xfrm>
          <a:prstGeom prst="rect">
            <a:avLst/>
          </a:prstGeom>
          <a:noFill/>
          <a:ln/>
        </p:spPr>
        <p:txBody>
          <a:bodyPr wrap="square" lIns="0" tIns="0" rIns="0" bIns="0" rtlCol="0" anchor="ctr"/>
          <a:lstStyle/>
          <a:p>
            <a:pPr indent="0" marL="0">
              <a:buNone/>
            </a:pPr>
            <a:r>
              <a:rPr lang="en-US" sz="3000" b="1" dirty="0">
                <a:solidFill>
                  <a:srgbClr val="0B2C4A"/>
                </a:solidFill>
                <a:latin typeface="Inter" pitchFamily="34" charset="0"/>
                <a:ea typeface="Inter" pitchFamily="34" charset="-122"/>
                <a:cs typeface="Inter" pitchFamily="34" charset="-120"/>
              </a:rPr>
              <a:t>−83</a:t>
            </a:r>
            <a:endParaRPr lang="en-US" sz="3000" dirty="0"/>
          </a:p>
        </p:txBody>
      </p:sp>
      <p:sp>
        <p:nvSpPr>
          <p:cNvPr id="12" name="Text 10"/>
          <p:cNvSpPr txBox="1"/>
          <p:nvPr/>
        </p:nvSpPr>
        <p:spPr>
          <a:xfrm>
            <a:off x="9052560" y="1335024"/>
            <a:ext cx="2651760" cy="237744"/>
          </a:xfrm>
          <a:prstGeom prst="rect">
            <a:avLst/>
          </a:prstGeom>
          <a:noFill/>
          <a:ln/>
        </p:spPr>
        <p:txBody>
          <a:bodyPr wrap="square" lIns="0" tIns="0" rIns="0" bIns="0" rtlCol="0" anchor="ctr"/>
          <a:lstStyle/>
          <a:p>
            <a:pPr indent="0" marL="0">
              <a:buNone/>
            </a:pPr>
            <a:r>
              <a:rPr lang="en-US" sz="1400" spc="90" kern="0" dirty="0">
                <a:solidFill>
                  <a:srgbClr val="595959"/>
                </a:solidFill>
                <a:latin typeface="Inter" pitchFamily="34" charset="0"/>
                <a:ea typeface="Inter" pitchFamily="34" charset="-122"/>
                <a:cs typeface="Inter" pitchFamily="34" charset="-120"/>
              </a:rPr>
              <a:t>VAR %</a:t>
            </a:r>
            <a:endParaRPr lang="en-US" sz="1400" dirty="0"/>
          </a:p>
        </p:txBody>
      </p:sp>
      <p:sp>
        <p:nvSpPr>
          <p:cNvPr id="13" name="Text 11"/>
          <p:cNvSpPr txBox="1"/>
          <p:nvPr/>
        </p:nvSpPr>
        <p:spPr>
          <a:xfrm>
            <a:off x="9052560" y="1554480"/>
            <a:ext cx="2697480" cy="548640"/>
          </a:xfrm>
          <a:prstGeom prst="rect">
            <a:avLst/>
          </a:prstGeom>
          <a:noFill/>
          <a:ln/>
        </p:spPr>
        <p:txBody>
          <a:bodyPr wrap="square" lIns="0" tIns="0" rIns="0" bIns="0" rtlCol="0" anchor="ctr"/>
          <a:lstStyle/>
          <a:p>
            <a:pPr indent="0" marL="0">
              <a:buNone/>
            </a:pPr>
            <a:r>
              <a:rPr lang="en-US" sz="3000" b="1" dirty="0">
                <a:solidFill>
                  <a:srgbClr val="0B2C4A"/>
                </a:solidFill>
                <a:latin typeface="Inter" pitchFamily="34" charset="0"/>
                <a:ea typeface="Inter" pitchFamily="34" charset="-122"/>
                <a:cs typeface="Inter" pitchFamily="34" charset="-120"/>
              </a:rPr>
              <a:t>−5.1%</a:t>
            </a:r>
            <a:endParaRPr lang="en-US" sz="3000" dirty="0"/>
          </a:p>
        </p:txBody>
      </p:sp>
      <p:sp>
        <p:nvSpPr>
          <p:cNvPr id="14" name="Shape 12"/>
          <p:cNvSpPr/>
          <p:nvPr/>
        </p:nvSpPr>
        <p:spPr>
          <a:xfrm>
            <a:off x="457200" y="2322576"/>
            <a:ext cx="11274552" cy="3666744"/>
          </a:xfrm>
          <a:prstGeom prst="rect">
            <a:avLst/>
          </a:prstGeom>
          <a:solidFill>
            <a:srgbClr val="FFFFFF"/>
          </a:solidFill>
          <a:ln/>
        </p:spPr>
      </p:sp>
      <p:sp>
        <p:nvSpPr>
          <p:cNvPr id="15" name="Text 13"/>
          <p:cNvSpPr txBox="1"/>
          <p:nvPr/>
        </p:nvSpPr>
        <p:spPr>
          <a:xfrm>
            <a:off x="685800" y="2459736"/>
            <a:ext cx="10817352" cy="292608"/>
          </a:xfrm>
          <a:prstGeom prst="rect">
            <a:avLst/>
          </a:prstGeom>
          <a:noFill/>
          <a:ln/>
        </p:spPr>
        <p:txBody>
          <a:bodyPr wrap="square" lIns="0" tIns="0" rIns="0" bIns="0" rtlCol="0" anchor="ctr"/>
          <a:lstStyle/>
          <a:p>
            <a:pPr indent="0" marL="0">
              <a:buNone/>
            </a:pPr>
            <a:r>
              <a:rPr lang="en-US" sz="1500" dirty="0">
                <a:solidFill>
                  <a:srgbClr val="1A1A1A"/>
                </a:solidFill>
                <a:latin typeface="Inter" pitchFamily="34" charset="0"/>
                <a:ea typeface="Inter" pitchFamily="34" charset="-122"/>
                <a:cs typeface="Inter" pitchFamily="34" charset="-120"/>
              </a:rPr>
              <a:t>Fixed employees at month end, 2025 against 2026</a:t>
            </a:r>
            <a:endParaRPr lang="en-US" sz="1500" dirty="0"/>
          </a:p>
        </p:txBody>
      </p:sp>
      <p:sp>
        <p:nvSpPr>
          <p:cNvPr id="16" name="Shape 14"/>
          <p:cNvSpPr/>
          <p:nvPr/>
        </p:nvSpPr>
        <p:spPr>
          <a:xfrm>
            <a:off x="685800" y="2807208"/>
            <a:ext cx="10817352" cy="10973"/>
          </a:xfrm>
          <a:prstGeom prst="rect">
            <a:avLst/>
          </a:prstGeom>
          <a:solidFill>
            <a:srgbClr val="1A1A1A"/>
          </a:solidFill>
          <a:ln/>
        </p:spPr>
      </p:sp>
      <p:graphicFrame>
        <p:nvGraphicFramePr>
          <p:cNvPr id="17" name="Chart 0" descr=""/>
          <p:cNvGraphicFramePr/>
          <p:nvPr/>
        </p:nvGraphicFramePr>
        <p:xfrm>
          <a:off x="621792" y="3218688"/>
          <a:ext cx="10945368" cy="2679192"/>
        </p:xfrm>
        <a:graphic>
          <a:graphicData uri="http://schemas.openxmlformats.org/drawingml/2006/chart">
            <c:chart xmlns:c="http://schemas.openxmlformats.org/drawingml/2006/chart" r:id="rId2"/>
          </a:graphicData>
        </a:graphic>
      </p:graphicFrame>
      <p:graphicFrame>
        <p:nvGraphicFramePr>
          <p:cNvPr id="18" name="Chart 1" descr=""/>
          <p:cNvGraphicFramePr/>
          <p:nvPr/>
        </p:nvGraphicFramePr>
        <p:xfrm>
          <a:off x="621792" y="3218688"/>
          <a:ext cx="10945368" cy="2679192"/>
        </p:xfrm>
        <a:graphic>
          <a:graphicData uri="http://schemas.openxmlformats.org/drawingml/2006/chart">
            <c:chart xmlns:c="http://schemas.openxmlformats.org/drawingml/2006/chart" r:id="rId3"/>
          </a:graphicData>
        </a:graphic>
      </p:graphicFrame>
      <p:graphicFrame>
        <p:nvGraphicFramePr>
          <p:cNvPr id="19" name="Chart 2" descr=""/>
          <p:cNvGraphicFramePr/>
          <p:nvPr/>
        </p:nvGraphicFramePr>
        <p:xfrm>
          <a:off x="621792" y="3218688"/>
          <a:ext cx="10945368" cy="2679192"/>
        </p:xfrm>
        <a:graphic>
          <a:graphicData uri="http://schemas.openxmlformats.org/drawingml/2006/chart">
            <c:chart xmlns:c="http://schemas.openxmlformats.org/drawingml/2006/chart" r:id="rId4"/>
          </a:graphicData>
        </a:graphic>
      </p:graphicFrame>
      <p:graphicFrame>
        <p:nvGraphicFramePr>
          <p:cNvPr id="20" name="Chart 3" descr=""/>
          <p:cNvGraphicFramePr/>
          <p:nvPr/>
        </p:nvGraphicFramePr>
        <p:xfrm>
          <a:off x="621792" y="3218688"/>
          <a:ext cx="10945368" cy="2679192"/>
        </p:xfrm>
        <a:graphic>
          <a:graphicData uri="http://schemas.openxmlformats.org/drawingml/2006/chart">
            <c:chart xmlns:c="http://schemas.openxmlformats.org/drawingml/2006/chart" r:id="rId5"/>
          </a:graphicData>
        </a:graphic>
      </p:graphicFrame>
      <p:graphicFrame>
        <p:nvGraphicFramePr>
          <p:cNvPr id="21" name="Chart 4" descr=""/>
          <p:cNvGraphicFramePr/>
          <p:nvPr/>
        </p:nvGraphicFramePr>
        <p:xfrm>
          <a:off x="621792" y="3218688"/>
          <a:ext cx="10945368" cy="2679192"/>
        </p:xfrm>
        <a:graphic>
          <a:graphicData uri="http://schemas.openxmlformats.org/drawingml/2006/chart">
            <c:chart xmlns:c="http://schemas.openxmlformats.org/drawingml/2006/chart" r:id="rId6"/>
          </a:graphicData>
        </a:graphic>
      </p:graphicFrame>
      <p:sp>
        <p:nvSpPr>
          <p:cNvPr id="22" name="Shape 15"/>
          <p:cNvSpPr/>
          <p:nvPr/>
        </p:nvSpPr>
        <p:spPr>
          <a:xfrm>
            <a:off x="4951476" y="3049524"/>
            <a:ext cx="310896" cy="45720"/>
          </a:xfrm>
          <a:prstGeom prst="rect">
            <a:avLst/>
          </a:prstGeom>
          <a:solidFill>
            <a:srgbClr val="9AA3AD"/>
          </a:solidFill>
          <a:ln/>
        </p:spPr>
      </p:sp>
      <p:sp>
        <p:nvSpPr>
          <p:cNvPr id="23" name="Shape 16"/>
          <p:cNvSpPr/>
          <p:nvPr/>
        </p:nvSpPr>
        <p:spPr>
          <a:xfrm>
            <a:off x="5052060" y="3017520"/>
            <a:ext cx="109728" cy="109728"/>
          </a:xfrm>
          <a:prstGeom prst="ellipse">
            <a:avLst/>
          </a:prstGeom>
          <a:solidFill>
            <a:srgbClr val="9AA3AD"/>
          </a:solidFill>
          <a:ln/>
        </p:spPr>
      </p:sp>
      <p:sp>
        <p:nvSpPr>
          <p:cNvPr id="24" name="Text 17"/>
          <p:cNvSpPr txBox="1"/>
          <p:nvPr/>
        </p:nvSpPr>
        <p:spPr>
          <a:xfrm>
            <a:off x="5335524" y="2926080"/>
            <a:ext cx="777240" cy="292608"/>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2025</a:t>
            </a:r>
            <a:endParaRPr lang="en-US" sz="1400" dirty="0"/>
          </a:p>
        </p:txBody>
      </p:sp>
      <p:sp>
        <p:nvSpPr>
          <p:cNvPr id="25" name="Shape 18"/>
          <p:cNvSpPr/>
          <p:nvPr/>
        </p:nvSpPr>
        <p:spPr>
          <a:xfrm>
            <a:off x="6185916" y="3049524"/>
            <a:ext cx="310896" cy="45720"/>
          </a:xfrm>
          <a:prstGeom prst="rect">
            <a:avLst/>
          </a:prstGeom>
          <a:solidFill>
            <a:srgbClr val="2587C5"/>
          </a:solidFill>
          <a:ln/>
        </p:spPr>
      </p:sp>
      <p:sp>
        <p:nvSpPr>
          <p:cNvPr id="26" name="Shape 19"/>
          <p:cNvSpPr/>
          <p:nvPr/>
        </p:nvSpPr>
        <p:spPr>
          <a:xfrm>
            <a:off x="6286500" y="3017520"/>
            <a:ext cx="109728" cy="109728"/>
          </a:xfrm>
          <a:prstGeom prst="ellipse">
            <a:avLst/>
          </a:prstGeom>
          <a:solidFill>
            <a:srgbClr val="2587C5"/>
          </a:solidFill>
          <a:ln/>
        </p:spPr>
      </p:sp>
      <p:sp>
        <p:nvSpPr>
          <p:cNvPr id="27" name="Text 20"/>
          <p:cNvSpPr txBox="1"/>
          <p:nvPr/>
        </p:nvSpPr>
        <p:spPr>
          <a:xfrm>
            <a:off x="6569964" y="2926080"/>
            <a:ext cx="777240" cy="292608"/>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2026</a:t>
            </a:r>
            <a:endParaRPr lang="en-US" sz="1400" dirty="0"/>
          </a:p>
        </p:txBody>
      </p:sp>
      <p:sp>
        <p:nvSpPr>
          <p:cNvPr id="28" name="Shape 21"/>
          <p:cNvSpPr/>
          <p:nvPr/>
        </p:nvSpPr>
        <p:spPr>
          <a:xfrm>
            <a:off x="457200" y="6126480"/>
            <a:ext cx="11274552" cy="615696"/>
          </a:xfrm>
          <a:prstGeom prst="rect">
            <a:avLst/>
          </a:prstGeom>
          <a:solidFill>
            <a:srgbClr val="EDF4FA"/>
          </a:solidFill>
          <a:ln/>
        </p:spPr>
      </p:sp>
      <p:sp>
        <p:nvSpPr>
          <p:cNvPr id="29" name="Text 22"/>
          <p:cNvSpPr txBox="1"/>
          <p:nvPr/>
        </p:nvSpPr>
        <p:spPr>
          <a:xfrm>
            <a:off x="658368" y="6144768"/>
            <a:ext cx="10927080" cy="579120"/>
          </a:xfrm>
          <a:prstGeom prst="rect">
            <a:avLst/>
          </a:prstGeom>
          <a:noFill/>
          <a:ln/>
        </p:spPr>
        <p:txBody>
          <a:bodyPr wrap="square" lIns="0" tIns="0" rIns="0" bIns="0" rtlCol="0" anchor="ctr"/>
          <a:lstStyle/>
          <a:p>
            <a:pPr indent="0" marL="0">
              <a:buNone/>
            </a:pPr>
            <a:r>
              <a:rPr lang="en-US" sz="1600" b="1" dirty="0">
                <a:solidFill>
                  <a:srgbClr val="0B2C4A"/>
                </a:solidFill>
                <a:latin typeface="Inter" pitchFamily="34" charset="0"/>
                <a:ea typeface="Inter" pitchFamily="34" charset="-122"/>
                <a:cs typeface="Inter" pitchFamily="34" charset="-120"/>
              </a:rPr>
              <a:t>Fixed ops headcount fell 76 to 1,540 (−4.7%) September to September; the card is the Jan–Sep average month-end. CP &amp; W ROs fell 2.3% year to date.</a:t>
            </a:r>
            <a:endParaRPr lang="en-US" sz="1600" dirty="0"/>
          </a:p>
        </p:txBody>
      </p:sp>
    </p:spTree>
  </p:cSld>
  <p:clrMapOvr>
    <a:masterClrMapping/>
  </p:clrMapOvr>
</p:sld>
</file>

<file path=ppt/slides/slide143.xml><?xml version="1.0" encoding="utf-8"?>
<p:sld xmlns:a="http://schemas.openxmlformats.org/drawingml/2006/main" xmlns:p="http://schemas.openxmlformats.org/presentationml/2006/main" xmlns:r="http://schemas.openxmlformats.org/officeDocument/2006/relationships">
  <p:cSld>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FIXED OPS PRODUCTIVITY · JAN–SEP 2026, MONTHLY AVERAGE</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Opportunity as a Share of Gross</a:t>
            </a:r>
            <a:endParaRPr lang="en-US" sz="2800" dirty="0"/>
          </a:p>
        </p:txBody>
      </p:sp>
      <p:sp>
        <p:nvSpPr>
          <p:cNvPr id="5" name="Shape 3"/>
          <p:cNvSpPr/>
          <p:nvPr/>
        </p:nvSpPr>
        <p:spPr>
          <a:xfrm>
            <a:off x="457200" y="1207008"/>
            <a:ext cx="11274552" cy="4782312"/>
          </a:xfrm>
          <a:prstGeom prst="rect">
            <a:avLst/>
          </a:prstGeom>
          <a:solidFill>
            <a:srgbClr val="FFFFFF"/>
          </a:solidFill>
          <a:ln/>
        </p:spPr>
      </p:sp>
      <p:sp>
        <p:nvSpPr>
          <p:cNvPr id="6" name="Text 4"/>
          <p:cNvSpPr txBox="1"/>
          <p:nvPr/>
        </p:nvSpPr>
        <p:spPr>
          <a:xfrm>
            <a:off x="3392424" y="1316736"/>
            <a:ext cx="786384" cy="329184"/>
          </a:xfrm>
          <a:prstGeom prst="rect">
            <a:avLst/>
          </a:prstGeom>
          <a:noFill/>
          <a:ln/>
        </p:spPr>
        <p:txBody>
          <a:bodyPr wrap="square" lIns="0" tIns="0" rIns="0" bIns="0" rtlCol="0" anchor="ctr"/>
          <a:lstStyle/>
          <a:p>
            <a:pPr algn="r" indent="0" marL="0">
              <a:buNone/>
            </a:pPr>
            <a:r>
              <a:rPr lang="en-US" sz="1400" b="1" dirty="0">
                <a:solidFill>
                  <a:srgbClr val="595959"/>
                </a:solidFill>
                <a:latin typeface="Inter" pitchFamily="34" charset="0"/>
                <a:ea typeface="Inter" pitchFamily="34" charset="-122"/>
                <a:cs typeface="Inter" pitchFamily="34" charset="-120"/>
              </a:rPr>
              <a:t>Share</a:t>
            </a:r>
            <a:endParaRPr lang="en-US" sz="1400" dirty="0"/>
          </a:p>
        </p:txBody>
      </p:sp>
      <p:sp>
        <p:nvSpPr>
          <p:cNvPr id="7" name="Text 5"/>
          <p:cNvSpPr txBox="1"/>
          <p:nvPr/>
        </p:nvSpPr>
        <p:spPr>
          <a:xfrm>
            <a:off x="4178808" y="1316736"/>
            <a:ext cx="868680" cy="329184"/>
          </a:xfrm>
          <a:prstGeom prst="rect">
            <a:avLst/>
          </a:prstGeom>
          <a:noFill/>
          <a:ln/>
        </p:spPr>
        <p:txBody>
          <a:bodyPr wrap="square" lIns="0" tIns="0" rIns="0" bIns="0" rtlCol="0" anchor="ctr"/>
          <a:lstStyle/>
          <a:p>
            <a:pPr algn="r" indent="0" marL="0">
              <a:buNone/>
            </a:pPr>
            <a:r>
              <a:rPr lang="en-US" sz="1400" b="1" dirty="0">
                <a:solidFill>
                  <a:srgbClr val="595959"/>
                </a:solidFill>
                <a:latin typeface="Inter" pitchFamily="34" charset="0"/>
                <a:ea typeface="Inter" pitchFamily="34" charset="-122"/>
                <a:cs typeface="Inter" pitchFamily="34" charset="-120"/>
              </a:rPr>
              <a:t>Missed</a:t>
            </a:r>
            <a:endParaRPr lang="en-US" sz="1400" dirty="0"/>
          </a:p>
        </p:txBody>
      </p:sp>
      <p:sp>
        <p:nvSpPr>
          <p:cNvPr id="8" name="Text 6"/>
          <p:cNvSpPr txBox="1"/>
          <p:nvPr/>
        </p:nvSpPr>
        <p:spPr>
          <a:xfrm>
            <a:off x="5047488" y="1316736"/>
            <a:ext cx="868680" cy="329184"/>
          </a:xfrm>
          <a:prstGeom prst="rect">
            <a:avLst/>
          </a:prstGeom>
          <a:noFill/>
          <a:ln/>
        </p:spPr>
        <p:txBody>
          <a:bodyPr wrap="square" lIns="0" tIns="0" rIns="0" bIns="0" rtlCol="0" anchor="ctr"/>
          <a:lstStyle/>
          <a:p>
            <a:pPr algn="r" indent="0" marL="0">
              <a:buNone/>
            </a:pPr>
            <a:r>
              <a:rPr lang="en-US" sz="1400" b="1" dirty="0">
                <a:solidFill>
                  <a:srgbClr val="595959"/>
                </a:solidFill>
                <a:latin typeface="Inter" pitchFamily="34" charset="0"/>
                <a:ea typeface="Inter" pitchFamily="34" charset="-122"/>
                <a:cs typeface="Inter" pitchFamily="34" charset="-120"/>
              </a:rPr>
              <a:t>Gross</a:t>
            </a:r>
            <a:endParaRPr lang="en-US" sz="1400" dirty="0"/>
          </a:p>
        </p:txBody>
      </p:sp>
      <p:sp>
        <p:nvSpPr>
          <p:cNvPr id="9" name="Text 7"/>
          <p:cNvSpPr txBox="1"/>
          <p:nvPr/>
        </p:nvSpPr>
        <p:spPr>
          <a:xfrm>
            <a:off x="8942832" y="1316736"/>
            <a:ext cx="786384" cy="329184"/>
          </a:xfrm>
          <a:prstGeom prst="rect">
            <a:avLst/>
          </a:prstGeom>
          <a:noFill/>
          <a:ln/>
        </p:spPr>
        <p:txBody>
          <a:bodyPr wrap="square" lIns="0" tIns="0" rIns="0" bIns="0" rtlCol="0" anchor="ctr"/>
          <a:lstStyle/>
          <a:p>
            <a:pPr algn="r" indent="0" marL="0">
              <a:buNone/>
            </a:pPr>
            <a:r>
              <a:rPr lang="en-US" sz="1400" b="1" dirty="0">
                <a:solidFill>
                  <a:srgbClr val="595959"/>
                </a:solidFill>
                <a:latin typeface="Inter" pitchFamily="34" charset="0"/>
                <a:ea typeface="Inter" pitchFamily="34" charset="-122"/>
                <a:cs typeface="Inter" pitchFamily="34" charset="-120"/>
              </a:rPr>
              <a:t>Share</a:t>
            </a:r>
            <a:endParaRPr lang="en-US" sz="1400" dirty="0"/>
          </a:p>
        </p:txBody>
      </p:sp>
      <p:sp>
        <p:nvSpPr>
          <p:cNvPr id="10" name="Text 8"/>
          <p:cNvSpPr txBox="1"/>
          <p:nvPr/>
        </p:nvSpPr>
        <p:spPr>
          <a:xfrm>
            <a:off x="9729216" y="1316736"/>
            <a:ext cx="868680" cy="329184"/>
          </a:xfrm>
          <a:prstGeom prst="rect">
            <a:avLst/>
          </a:prstGeom>
          <a:noFill/>
          <a:ln/>
        </p:spPr>
        <p:txBody>
          <a:bodyPr wrap="square" lIns="0" tIns="0" rIns="0" bIns="0" rtlCol="0" anchor="ctr"/>
          <a:lstStyle/>
          <a:p>
            <a:pPr algn="r" indent="0" marL="0">
              <a:buNone/>
            </a:pPr>
            <a:r>
              <a:rPr lang="en-US" sz="1400" b="1" dirty="0">
                <a:solidFill>
                  <a:srgbClr val="595959"/>
                </a:solidFill>
                <a:latin typeface="Inter" pitchFamily="34" charset="0"/>
                <a:ea typeface="Inter" pitchFamily="34" charset="-122"/>
                <a:cs typeface="Inter" pitchFamily="34" charset="-120"/>
              </a:rPr>
              <a:t>Missed</a:t>
            </a:r>
            <a:endParaRPr lang="en-US" sz="1400" dirty="0"/>
          </a:p>
        </p:txBody>
      </p:sp>
      <p:sp>
        <p:nvSpPr>
          <p:cNvPr id="11" name="Text 9"/>
          <p:cNvSpPr txBox="1"/>
          <p:nvPr/>
        </p:nvSpPr>
        <p:spPr>
          <a:xfrm>
            <a:off x="10597896" y="1316736"/>
            <a:ext cx="868680" cy="329184"/>
          </a:xfrm>
          <a:prstGeom prst="rect">
            <a:avLst/>
          </a:prstGeom>
          <a:noFill/>
          <a:ln/>
        </p:spPr>
        <p:txBody>
          <a:bodyPr wrap="square" lIns="0" tIns="0" rIns="0" bIns="0" rtlCol="0" anchor="ctr"/>
          <a:lstStyle/>
          <a:p>
            <a:pPr algn="r" indent="0" marL="0">
              <a:buNone/>
            </a:pPr>
            <a:r>
              <a:rPr lang="en-US" sz="1400" b="1" dirty="0">
                <a:solidFill>
                  <a:srgbClr val="595959"/>
                </a:solidFill>
                <a:latin typeface="Inter" pitchFamily="34" charset="0"/>
                <a:ea typeface="Inter" pitchFamily="34" charset="-122"/>
                <a:cs typeface="Inter" pitchFamily="34" charset="-120"/>
              </a:rPr>
              <a:t>Gross</a:t>
            </a:r>
            <a:endParaRPr lang="en-US" sz="1400" dirty="0"/>
          </a:p>
        </p:txBody>
      </p:sp>
      <p:sp>
        <p:nvSpPr>
          <p:cNvPr id="12" name="Text 10"/>
          <p:cNvSpPr txBox="1"/>
          <p:nvPr/>
        </p:nvSpPr>
        <p:spPr>
          <a:xfrm>
            <a:off x="658368" y="1700784"/>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a:t>
            </a:r>
            <a:endParaRPr lang="en-US" sz="1200" dirty="0"/>
          </a:p>
        </p:txBody>
      </p:sp>
      <p:sp>
        <p:nvSpPr>
          <p:cNvPr id="13" name="Text 11"/>
          <p:cNvSpPr txBox="1"/>
          <p:nvPr/>
        </p:nvSpPr>
        <p:spPr>
          <a:xfrm>
            <a:off x="1014984" y="1700784"/>
            <a:ext cx="1783080" cy="248502"/>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HYUNDAI ST GEORGE</a:t>
            </a:r>
            <a:endParaRPr lang="en-US" sz="1200" dirty="0"/>
          </a:p>
        </p:txBody>
      </p:sp>
      <p:sp>
        <p:nvSpPr>
          <p:cNvPr id="14" name="Shape 12"/>
          <p:cNvSpPr/>
          <p:nvPr/>
        </p:nvSpPr>
        <p:spPr>
          <a:xfrm>
            <a:off x="2871216" y="1756697"/>
            <a:ext cx="466344" cy="136676"/>
          </a:xfrm>
          <a:prstGeom prst="rect">
            <a:avLst/>
          </a:prstGeom>
          <a:solidFill>
            <a:srgbClr val="C2352F"/>
          </a:solidFill>
          <a:ln/>
        </p:spPr>
      </p:sp>
      <p:sp>
        <p:nvSpPr>
          <p:cNvPr id="15" name="Text 13"/>
          <p:cNvSpPr txBox="1"/>
          <p:nvPr/>
        </p:nvSpPr>
        <p:spPr>
          <a:xfrm>
            <a:off x="3392424" y="1700784"/>
            <a:ext cx="786384"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32%</a:t>
            </a:r>
            <a:endParaRPr lang="en-US" sz="1300" dirty="0"/>
          </a:p>
        </p:txBody>
      </p:sp>
      <p:sp>
        <p:nvSpPr>
          <p:cNvPr id="16" name="Text 14"/>
          <p:cNvSpPr txBox="1"/>
          <p:nvPr/>
        </p:nvSpPr>
        <p:spPr>
          <a:xfrm>
            <a:off x="4178808" y="1700784"/>
            <a:ext cx="8686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$88K</a:t>
            </a:r>
            <a:endParaRPr lang="en-US" sz="1300" dirty="0"/>
          </a:p>
        </p:txBody>
      </p:sp>
      <p:sp>
        <p:nvSpPr>
          <p:cNvPr id="17" name="Text 15"/>
          <p:cNvSpPr txBox="1"/>
          <p:nvPr/>
        </p:nvSpPr>
        <p:spPr>
          <a:xfrm>
            <a:off x="5047488" y="1700784"/>
            <a:ext cx="8686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$277K</a:t>
            </a:r>
            <a:endParaRPr lang="en-US" sz="1300" dirty="0"/>
          </a:p>
        </p:txBody>
      </p:sp>
      <p:sp>
        <p:nvSpPr>
          <p:cNvPr id="18" name="Text 16"/>
          <p:cNvSpPr txBox="1"/>
          <p:nvPr/>
        </p:nvSpPr>
        <p:spPr>
          <a:xfrm>
            <a:off x="658368" y="1949286"/>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a:t>
            </a:r>
            <a:endParaRPr lang="en-US" sz="1200" dirty="0"/>
          </a:p>
        </p:txBody>
      </p:sp>
      <p:sp>
        <p:nvSpPr>
          <p:cNvPr id="19" name="Text 17"/>
          <p:cNvSpPr txBox="1"/>
          <p:nvPr/>
        </p:nvSpPr>
        <p:spPr>
          <a:xfrm>
            <a:off x="1014984" y="1949286"/>
            <a:ext cx="1783080" cy="248502"/>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KIA ST GEORGE</a:t>
            </a:r>
            <a:endParaRPr lang="en-US" sz="1200" dirty="0"/>
          </a:p>
        </p:txBody>
      </p:sp>
      <p:sp>
        <p:nvSpPr>
          <p:cNvPr id="20" name="Shape 18"/>
          <p:cNvSpPr/>
          <p:nvPr/>
        </p:nvSpPr>
        <p:spPr>
          <a:xfrm>
            <a:off x="2871216" y="2005199"/>
            <a:ext cx="435113" cy="136676"/>
          </a:xfrm>
          <a:prstGeom prst="rect">
            <a:avLst/>
          </a:prstGeom>
          <a:solidFill>
            <a:srgbClr val="C2352F"/>
          </a:solidFill>
          <a:ln/>
        </p:spPr>
      </p:sp>
      <p:sp>
        <p:nvSpPr>
          <p:cNvPr id="21" name="Text 19"/>
          <p:cNvSpPr txBox="1"/>
          <p:nvPr/>
        </p:nvSpPr>
        <p:spPr>
          <a:xfrm>
            <a:off x="3392424" y="1949286"/>
            <a:ext cx="786384"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30%</a:t>
            </a:r>
            <a:endParaRPr lang="en-US" sz="1300" dirty="0"/>
          </a:p>
        </p:txBody>
      </p:sp>
      <p:sp>
        <p:nvSpPr>
          <p:cNvPr id="22" name="Text 20"/>
          <p:cNvSpPr txBox="1"/>
          <p:nvPr/>
        </p:nvSpPr>
        <p:spPr>
          <a:xfrm>
            <a:off x="4178808" y="1949286"/>
            <a:ext cx="8686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$77K</a:t>
            </a:r>
            <a:endParaRPr lang="en-US" sz="1300" dirty="0"/>
          </a:p>
        </p:txBody>
      </p:sp>
      <p:sp>
        <p:nvSpPr>
          <p:cNvPr id="23" name="Text 21"/>
          <p:cNvSpPr txBox="1"/>
          <p:nvPr/>
        </p:nvSpPr>
        <p:spPr>
          <a:xfrm>
            <a:off x="5047488" y="1949286"/>
            <a:ext cx="8686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$258K</a:t>
            </a:r>
            <a:endParaRPr lang="en-US" sz="1300" dirty="0"/>
          </a:p>
        </p:txBody>
      </p:sp>
      <p:sp>
        <p:nvSpPr>
          <p:cNvPr id="24" name="Text 22"/>
          <p:cNvSpPr txBox="1"/>
          <p:nvPr/>
        </p:nvSpPr>
        <p:spPr>
          <a:xfrm>
            <a:off x="658368" y="2197787"/>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3</a:t>
            </a:r>
            <a:endParaRPr lang="en-US" sz="1200" dirty="0"/>
          </a:p>
        </p:txBody>
      </p:sp>
      <p:sp>
        <p:nvSpPr>
          <p:cNvPr id="25" name="Text 23"/>
          <p:cNvSpPr txBox="1"/>
          <p:nvPr/>
        </p:nvSpPr>
        <p:spPr>
          <a:xfrm>
            <a:off x="1014984" y="2197787"/>
            <a:ext cx="1783080" cy="248502"/>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ACURA</a:t>
            </a:r>
            <a:endParaRPr lang="en-US" sz="1200" dirty="0"/>
          </a:p>
        </p:txBody>
      </p:sp>
      <p:sp>
        <p:nvSpPr>
          <p:cNvPr id="26" name="Shape 24"/>
          <p:cNvSpPr/>
          <p:nvPr/>
        </p:nvSpPr>
        <p:spPr>
          <a:xfrm>
            <a:off x="2871216" y="2253700"/>
            <a:ext cx="371948" cy="136676"/>
          </a:xfrm>
          <a:prstGeom prst="rect">
            <a:avLst/>
          </a:prstGeom>
          <a:solidFill>
            <a:srgbClr val="C2352F"/>
          </a:solidFill>
          <a:ln/>
        </p:spPr>
      </p:sp>
      <p:sp>
        <p:nvSpPr>
          <p:cNvPr id="27" name="Text 25"/>
          <p:cNvSpPr txBox="1"/>
          <p:nvPr/>
        </p:nvSpPr>
        <p:spPr>
          <a:xfrm>
            <a:off x="3392424" y="2197787"/>
            <a:ext cx="786384"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25%</a:t>
            </a:r>
            <a:endParaRPr lang="en-US" sz="1300" dirty="0"/>
          </a:p>
        </p:txBody>
      </p:sp>
      <p:sp>
        <p:nvSpPr>
          <p:cNvPr id="28" name="Text 26"/>
          <p:cNvSpPr txBox="1"/>
          <p:nvPr/>
        </p:nvSpPr>
        <p:spPr>
          <a:xfrm>
            <a:off x="4178808" y="2197787"/>
            <a:ext cx="8686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$76K</a:t>
            </a:r>
            <a:endParaRPr lang="en-US" sz="1300" dirty="0"/>
          </a:p>
        </p:txBody>
      </p:sp>
      <p:sp>
        <p:nvSpPr>
          <p:cNvPr id="29" name="Text 27"/>
          <p:cNvSpPr txBox="1"/>
          <p:nvPr/>
        </p:nvSpPr>
        <p:spPr>
          <a:xfrm>
            <a:off x="5047488" y="2197787"/>
            <a:ext cx="8686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$299K</a:t>
            </a:r>
            <a:endParaRPr lang="en-US" sz="1300" dirty="0"/>
          </a:p>
        </p:txBody>
      </p:sp>
      <p:sp>
        <p:nvSpPr>
          <p:cNvPr id="30" name="Text 28"/>
          <p:cNvSpPr txBox="1"/>
          <p:nvPr/>
        </p:nvSpPr>
        <p:spPr>
          <a:xfrm>
            <a:off x="658368" y="2446289"/>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4</a:t>
            </a:r>
            <a:endParaRPr lang="en-US" sz="1200" dirty="0"/>
          </a:p>
        </p:txBody>
      </p:sp>
      <p:sp>
        <p:nvSpPr>
          <p:cNvPr id="31" name="Text 29"/>
          <p:cNvSpPr txBox="1"/>
          <p:nvPr/>
        </p:nvSpPr>
        <p:spPr>
          <a:xfrm>
            <a:off x="1014984" y="2446289"/>
            <a:ext cx="1783080" cy="248502"/>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CDJR POST FALLS</a:t>
            </a:r>
            <a:endParaRPr lang="en-US" sz="1200" dirty="0"/>
          </a:p>
        </p:txBody>
      </p:sp>
      <p:sp>
        <p:nvSpPr>
          <p:cNvPr id="32" name="Shape 30"/>
          <p:cNvSpPr/>
          <p:nvPr/>
        </p:nvSpPr>
        <p:spPr>
          <a:xfrm>
            <a:off x="2871216" y="2502202"/>
            <a:ext cx="359385" cy="136676"/>
          </a:xfrm>
          <a:prstGeom prst="rect">
            <a:avLst/>
          </a:prstGeom>
          <a:solidFill>
            <a:srgbClr val="C2352F"/>
          </a:solidFill>
          <a:ln/>
        </p:spPr>
      </p:sp>
      <p:sp>
        <p:nvSpPr>
          <p:cNvPr id="33" name="Text 31"/>
          <p:cNvSpPr txBox="1"/>
          <p:nvPr/>
        </p:nvSpPr>
        <p:spPr>
          <a:xfrm>
            <a:off x="3392424" y="2446289"/>
            <a:ext cx="786384"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25%</a:t>
            </a:r>
            <a:endParaRPr lang="en-US" sz="1300" dirty="0"/>
          </a:p>
        </p:txBody>
      </p:sp>
      <p:sp>
        <p:nvSpPr>
          <p:cNvPr id="34" name="Text 32"/>
          <p:cNvSpPr txBox="1"/>
          <p:nvPr/>
        </p:nvSpPr>
        <p:spPr>
          <a:xfrm>
            <a:off x="4178808" y="2446289"/>
            <a:ext cx="8686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$100K</a:t>
            </a:r>
            <a:endParaRPr lang="en-US" sz="1300" dirty="0"/>
          </a:p>
        </p:txBody>
      </p:sp>
      <p:sp>
        <p:nvSpPr>
          <p:cNvPr id="35" name="Text 33"/>
          <p:cNvSpPr txBox="1"/>
          <p:nvPr/>
        </p:nvSpPr>
        <p:spPr>
          <a:xfrm>
            <a:off x="5047488" y="2446289"/>
            <a:ext cx="8686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$408K</a:t>
            </a:r>
            <a:endParaRPr lang="en-US" sz="1300" dirty="0"/>
          </a:p>
        </p:txBody>
      </p:sp>
      <p:sp>
        <p:nvSpPr>
          <p:cNvPr id="36" name="Text 34"/>
          <p:cNvSpPr txBox="1"/>
          <p:nvPr/>
        </p:nvSpPr>
        <p:spPr>
          <a:xfrm>
            <a:off x="658368" y="2694791"/>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5</a:t>
            </a:r>
            <a:endParaRPr lang="en-US" sz="1200" dirty="0"/>
          </a:p>
        </p:txBody>
      </p:sp>
      <p:sp>
        <p:nvSpPr>
          <p:cNvPr id="37" name="Text 35"/>
          <p:cNvSpPr txBox="1"/>
          <p:nvPr/>
        </p:nvSpPr>
        <p:spPr>
          <a:xfrm>
            <a:off x="1014984" y="2694791"/>
            <a:ext cx="1783080" cy="248502"/>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CHEVY GMC BULLHEAD</a:t>
            </a:r>
            <a:endParaRPr lang="en-US" sz="1200" dirty="0"/>
          </a:p>
        </p:txBody>
      </p:sp>
      <p:sp>
        <p:nvSpPr>
          <p:cNvPr id="38" name="Shape 36"/>
          <p:cNvSpPr/>
          <p:nvPr/>
        </p:nvSpPr>
        <p:spPr>
          <a:xfrm>
            <a:off x="2871216" y="2750703"/>
            <a:ext cx="339754" cy="136676"/>
          </a:xfrm>
          <a:prstGeom prst="rect">
            <a:avLst/>
          </a:prstGeom>
          <a:solidFill>
            <a:srgbClr val="C2352F"/>
          </a:solidFill>
          <a:ln/>
        </p:spPr>
      </p:sp>
      <p:sp>
        <p:nvSpPr>
          <p:cNvPr id="39" name="Text 37"/>
          <p:cNvSpPr txBox="1"/>
          <p:nvPr/>
        </p:nvSpPr>
        <p:spPr>
          <a:xfrm>
            <a:off x="3392424" y="2694791"/>
            <a:ext cx="786384"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23%</a:t>
            </a:r>
            <a:endParaRPr lang="en-US" sz="1300" dirty="0"/>
          </a:p>
        </p:txBody>
      </p:sp>
      <p:sp>
        <p:nvSpPr>
          <p:cNvPr id="40" name="Text 38"/>
          <p:cNvSpPr txBox="1"/>
          <p:nvPr/>
        </p:nvSpPr>
        <p:spPr>
          <a:xfrm>
            <a:off x="4178808" y="2694791"/>
            <a:ext cx="8686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$112K</a:t>
            </a:r>
            <a:endParaRPr lang="en-US" sz="1300" dirty="0"/>
          </a:p>
        </p:txBody>
      </p:sp>
      <p:sp>
        <p:nvSpPr>
          <p:cNvPr id="41" name="Text 39"/>
          <p:cNvSpPr txBox="1"/>
          <p:nvPr/>
        </p:nvSpPr>
        <p:spPr>
          <a:xfrm>
            <a:off x="5047488" y="2694791"/>
            <a:ext cx="8686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$483K</a:t>
            </a:r>
            <a:endParaRPr lang="en-US" sz="1300" dirty="0"/>
          </a:p>
        </p:txBody>
      </p:sp>
      <p:sp>
        <p:nvSpPr>
          <p:cNvPr id="42" name="Text 40"/>
          <p:cNvSpPr txBox="1"/>
          <p:nvPr/>
        </p:nvSpPr>
        <p:spPr>
          <a:xfrm>
            <a:off x="658368" y="2943292"/>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6</a:t>
            </a:r>
            <a:endParaRPr lang="en-US" sz="1200" dirty="0"/>
          </a:p>
        </p:txBody>
      </p:sp>
      <p:sp>
        <p:nvSpPr>
          <p:cNvPr id="43" name="Text 41"/>
          <p:cNvSpPr txBox="1"/>
          <p:nvPr/>
        </p:nvSpPr>
        <p:spPr>
          <a:xfrm>
            <a:off x="1014984" y="2943292"/>
            <a:ext cx="1783080" cy="248502"/>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SUBARU PRESCOTT</a:t>
            </a:r>
            <a:endParaRPr lang="en-US" sz="1200" dirty="0"/>
          </a:p>
        </p:txBody>
      </p:sp>
      <p:sp>
        <p:nvSpPr>
          <p:cNvPr id="44" name="Shape 42"/>
          <p:cNvSpPr/>
          <p:nvPr/>
        </p:nvSpPr>
        <p:spPr>
          <a:xfrm>
            <a:off x="2871216" y="2999205"/>
            <a:ext cx="292285" cy="136676"/>
          </a:xfrm>
          <a:prstGeom prst="rect">
            <a:avLst/>
          </a:prstGeom>
          <a:solidFill>
            <a:srgbClr val="C2352F"/>
          </a:solidFill>
          <a:ln/>
        </p:spPr>
      </p:sp>
      <p:sp>
        <p:nvSpPr>
          <p:cNvPr id="45" name="Text 43"/>
          <p:cNvSpPr txBox="1"/>
          <p:nvPr/>
        </p:nvSpPr>
        <p:spPr>
          <a:xfrm>
            <a:off x="3392424" y="2943292"/>
            <a:ext cx="786384"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20%</a:t>
            </a:r>
            <a:endParaRPr lang="en-US" sz="1300" dirty="0"/>
          </a:p>
        </p:txBody>
      </p:sp>
      <p:sp>
        <p:nvSpPr>
          <p:cNvPr id="46" name="Text 44"/>
          <p:cNvSpPr txBox="1"/>
          <p:nvPr/>
        </p:nvSpPr>
        <p:spPr>
          <a:xfrm>
            <a:off x="4178808" y="2943292"/>
            <a:ext cx="8686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$58K</a:t>
            </a:r>
            <a:endParaRPr lang="en-US" sz="1300" dirty="0"/>
          </a:p>
        </p:txBody>
      </p:sp>
      <p:sp>
        <p:nvSpPr>
          <p:cNvPr id="47" name="Text 45"/>
          <p:cNvSpPr txBox="1"/>
          <p:nvPr/>
        </p:nvSpPr>
        <p:spPr>
          <a:xfrm>
            <a:off x="5047488" y="2943292"/>
            <a:ext cx="8686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$288K</a:t>
            </a:r>
            <a:endParaRPr lang="en-US" sz="1300" dirty="0"/>
          </a:p>
        </p:txBody>
      </p:sp>
      <p:sp>
        <p:nvSpPr>
          <p:cNvPr id="48" name="Text 46"/>
          <p:cNvSpPr txBox="1"/>
          <p:nvPr/>
        </p:nvSpPr>
        <p:spPr>
          <a:xfrm>
            <a:off x="658368" y="3191794"/>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7</a:t>
            </a:r>
            <a:endParaRPr lang="en-US" sz="1200" dirty="0"/>
          </a:p>
        </p:txBody>
      </p:sp>
      <p:sp>
        <p:nvSpPr>
          <p:cNvPr id="49" name="Text 47"/>
          <p:cNvSpPr txBox="1"/>
          <p:nvPr/>
        </p:nvSpPr>
        <p:spPr>
          <a:xfrm>
            <a:off x="1014984" y="3191794"/>
            <a:ext cx="1783080" cy="248502"/>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HONDA FLAGSTAFF</a:t>
            </a:r>
            <a:endParaRPr lang="en-US" sz="1200" dirty="0"/>
          </a:p>
        </p:txBody>
      </p:sp>
      <p:sp>
        <p:nvSpPr>
          <p:cNvPr id="50" name="Shape 48"/>
          <p:cNvSpPr/>
          <p:nvPr/>
        </p:nvSpPr>
        <p:spPr>
          <a:xfrm>
            <a:off x="2871216" y="3247707"/>
            <a:ext cx="286413" cy="136676"/>
          </a:xfrm>
          <a:prstGeom prst="rect">
            <a:avLst/>
          </a:prstGeom>
          <a:solidFill>
            <a:srgbClr val="C2352F"/>
          </a:solidFill>
          <a:ln/>
        </p:spPr>
      </p:sp>
      <p:sp>
        <p:nvSpPr>
          <p:cNvPr id="51" name="Text 49"/>
          <p:cNvSpPr txBox="1"/>
          <p:nvPr/>
        </p:nvSpPr>
        <p:spPr>
          <a:xfrm>
            <a:off x="3392424" y="3191794"/>
            <a:ext cx="786384"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20%</a:t>
            </a:r>
            <a:endParaRPr lang="en-US" sz="1300" dirty="0"/>
          </a:p>
        </p:txBody>
      </p:sp>
      <p:sp>
        <p:nvSpPr>
          <p:cNvPr id="52" name="Text 50"/>
          <p:cNvSpPr txBox="1"/>
          <p:nvPr/>
        </p:nvSpPr>
        <p:spPr>
          <a:xfrm>
            <a:off x="4178808" y="3191794"/>
            <a:ext cx="8686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$39K</a:t>
            </a:r>
            <a:endParaRPr lang="en-US" sz="1300" dirty="0"/>
          </a:p>
        </p:txBody>
      </p:sp>
      <p:sp>
        <p:nvSpPr>
          <p:cNvPr id="53" name="Text 51"/>
          <p:cNvSpPr txBox="1"/>
          <p:nvPr/>
        </p:nvSpPr>
        <p:spPr>
          <a:xfrm>
            <a:off x="5047488" y="3191794"/>
            <a:ext cx="8686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$202K</a:t>
            </a:r>
            <a:endParaRPr lang="en-US" sz="1300" dirty="0"/>
          </a:p>
        </p:txBody>
      </p:sp>
      <p:sp>
        <p:nvSpPr>
          <p:cNvPr id="54" name="Text 52"/>
          <p:cNvSpPr txBox="1"/>
          <p:nvPr/>
        </p:nvSpPr>
        <p:spPr>
          <a:xfrm>
            <a:off x="658368" y="3440296"/>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8</a:t>
            </a:r>
            <a:endParaRPr lang="en-US" sz="1200" dirty="0"/>
          </a:p>
        </p:txBody>
      </p:sp>
      <p:sp>
        <p:nvSpPr>
          <p:cNvPr id="55" name="Text 53"/>
          <p:cNvSpPr txBox="1"/>
          <p:nvPr/>
        </p:nvSpPr>
        <p:spPr>
          <a:xfrm>
            <a:off x="1014984" y="3440296"/>
            <a:ext cx="1783080" cy="248502"/>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VW ST GEORGE</a:t>
            </a:r>
            <a:endParaRPr lang="en-US" sz="1200" dirty="0"/>
          </a:p>
        </p:txBody>
      </p:sp>
      <p:sp>
        <p:nvSpPr>
          <p:cNvPr id="56" name="Shape 54"/>
          <p:cNvSpPr/>
          <p:nvPr/>
        </p:nvSpPr>
        <p:spPr>
          <a:xfrm>
            <a:off x="2871216" y="3496208"/>
            <a:ext cx="277524" cy="136676"/>
          </a:xfrm>
          <a:prstGeom prst="rect">
            <a:avLst/>
          </a:prstGeom>
          <a:solidFill>
            <a:srgbClr val="C2352F"/>
          </a:solidFill>
          <a:ln/>
        </p:spPr>
      </p:sp>
      <p:sp>
        <p:nvSpPr>
          <p:cNvPr id="57" name="Text 55"/>
          <p:cNvSpPr txBox="1"/>
          <p:nvPr/>
        </p:nvSpPr>
        <p:spPr>
          <a:xfrm>
            <a:off x="3392424" y="3440296"/>
            <a:ext cx="786384"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19%</a:t>
            </a:r>
            <a:endParaRPr lang="en-US" sz="1300" dirty="0"/>
          </a:p>
        </p:txBody>
      </p:sp>
      <p:sp>
        <p:nvSpPr>
          <p:cNvPr id="58" name="Text 56"/>
          <p:cNvSpPr txBox="1"/>
          <p:nvPr/>
        </p:nvSpPr>
        <p:spPr>
          <a:xfrm>
            <a:off x="4178808" y="3440296"/>
            <a:ext cx="8686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$21K</a:t>
            </a:r>
            <a:endParaRPr lang="en-US" sz="1300" dirty="0"/>
          </a:p>
        </p:txBody>
      </p:sp>
      <p:sp>
        <p:nvSpPr>
          <p:cNvPr id="59" name="Text 57"/>
          <p:cNvSpPr txBox="1"/>
          <p:nvPr/>
        </p:nvSpPr>
        <p:spPr>
          <a:xfrm>
            <a:off x="5047488" y="3440296"/>
            <a:ext cx="8686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$109K</a:t>
            </a:r>
            <a:endParaRPr lang="en-US" sz="1300" dirty="0"/>
          </a:p>
        </p:txBody>
      </p:sp>
      <p:sp>
        <p:nvSpPr>
          <p:cNvPr id="60" name="Text 58"/>
          <p:cNvSpPr txBox="1"/>
          <p:nvPr/>
        </p:nvSpPr>
        <p:spPr>
          <a:xfrm>
            <a:off x="658368" y="3688797"/>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9</a:t>
            </a:r>
            <a:endParaRPr lang="en-US" sz="1200" dirty="0"/>
          </a:p>
        </p:txBody>
      </p:sp>
      <p:sp>
        <p:nvSpPr>
          <p:cNvPr id="61" name="Text 59"/>
          <p:cNvSpPr txBox="1"/>
          <p:nvPr/>
        </p:nvSpPr>
        <p:spPr>
          <a:xfrm>
            <a:off x="1014984" y="3688797"/>
            <a:ext cx="1783080" cy="248502"/>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HYUNDAI PRESCOTT</a:t>
            </a:r>
            <a:endParaRPr lang="en-US" sz="1200" dirty="0"/>
          </a:p>
        </p:txBody>
      </p:sp>
      <p:sp>
        <p:nvSpPr>
          <p:cNvPr id="62" name="Shape 60"/>
          <p:cNvSpPr/>
          <p:nvPr/>
        </p:nvSpPr>
        <p:spPr>
          <a:xfrm>
            <a:off x="2871216" y="3744710"/>
            <a:ext cx="270873" cy="136676"/>
          </a:xfrm>
          <a:prstGeom prst="rect">
            <a:avLst/>
          </a:prstGeom>
          <a:solidFill>
            <a:srgbClr val="C2352F"/>
          </a:solidFill>
          <a:ln/>
        </p:spPr>
      </p:sp>
      <p:sp>
        <p:nvSpPr>
          <p:cNvPr id="63" name="Text 61"/>
          <p:cNvSpPr txBox="1"/>
          <p:nvPr/>
        </p:nvSpPr>
        <p:spPr>
          <a:xfrm>
            <a:off x="3392424" y="3688797"/>
            <a:ext cx="786384"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19%</a:t>
            </a:r>
            <a:endParaRPr lang="en-US" sz="1300" dirty="0"/>
          </a:p>
        </p:txBody>
      </p:sp>
      <p:sp>
        <p:nvSpPr>
          <p:cNvPr id="64" name="Text 62"/>
          <p:cNvSpPr txBox="1"/>
          <p:nvPr/>
        </p:nvSpPr>
        <p:spPr>
          <a:xfrm>
            <a:off x="4178808" y="3688797"/>
            <a:ext cx="8686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$34K</a:t>
            </a:r>
            <a:endParaRPr lang="en-US" sz="1300" dirty="0"/>
          </a:p>
        </p:txBody>
      </p:sp>
      <p:sp>
        <p:nvSpPr>
          <p:cNvPr id="65" name="Text 63"/>
          <p:cNvSpPr txBox="1"/>
          <p:nvPr/>
        </p:nvSpPr>
        <p:spPr>
          <a:xfrm>
            <a:off x="5047488" y="3688797"/>
            <a:ext cx="8686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$185K</a:t>
            </a:r>
            <a:endParaRPr lang="en-US" sz="1300" dirty="0"/>
          </a:p>
        </p:txBody>
      </p:sp>
      <p:sp>
        <p:nvSpPr>
          <p:cNvPr id="66" name="Text 64"/>
          <p:cNvSpPr txBox="1"/>
          <p:nvPr/>
        </p:nvSpPr>
        <p:spPr>
          <a:xfrm>
            <a:off x="658368" y="3937299"/>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10</a:t>
            </a:r>
            <a:endParaRPr lang="en-US" sz="1200" dirty="0"/>
          </a:p>
        </p:txBody>
      </p:sp>
      <p:sp>
        <p:nvSpPr>
          <p:cNvPr id="67" name="Text 65"/>
          <p:cNvSpPr txBox="1"/>
          <p:nvPr/>
        </p:nvSpPr>
        <p:spPr>
          <a:xfrm>
            <a:off x="1014984" y="3937299"/>
            <a:ext cx="1783080" cy="248502"/>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VOLVO</a:t>
            </a:r>
            <a:endParaRPr lang="en-US" sz="1200" dirty="0"/>
          </a:p>
        </p:txBody>
      </p:sp>
      <p:sp>
        <p:nvSpPr>
          <p:cNvPr id="68" name="Shape 66"/>
          <p:cNvSpPr/>
          <p:nvPr/>
        </p:nvSpPr>
        <p:spPr>
          <a:xfrm>
            <a:off x="2871216" y="3993212"/>
            <a:ext cx="217136" cy="136676"/>
          </a:xfrm>
          <a:prstGeom prst="rect">
            <a:avLst/>
          </a:prstGeom>
          <a:solidFill>
            <a:srgbClr val="C2352F"/>
          </a:solidFill>
          <a:ln/>
        </p:spPr>
      </p:sp>
      <p:sp>
        <p:nvSpPr>
          <p:cNvPr id="69" name="Text 67"/>
          <p:cNvSpPr txBox="1"/>
          <p:nvPr/>
        </p:nvSpPr>
        <p:spPr>
          <a:xfrm>
            <a:off x="3392424" y="3937299"/>
            <a:ext cx="786384"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15%</a:t>
            </a:r>
            <a:endParaRPr lang="en-US" sz="1300" dirty="0"/>
          </a:p>
        </p:txBody>
      </p:sp>
      <p:sp>
        <p:nvSpPr>
          <p:cNvPr id="70" name="Text 68"/>
          <p:cNvSpPr txBox="1"/>
          <p:nvPr/>
        </p:nvSpPr>
        <p:spPr>
          <a:xfrm>
            <a:off x="4178808" y="3937299"/>
            <a:ext cx="8686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$62K</a:t>
            </a:r>
            <a:endParaRPr lang="en-US" sz="1300" dirty="0"/>
          </a:p>
        </p:txBody>
      </p:sp>
      <p:sp>
        <p:nvSpPr>
          <p:cNvPr id="71" name="Text 69"/>
          <p:cNvSpPr txBox="1"/>
          <p:nvPr/>
        </p:nvSpPr>
        <p:spPr>
          <a:xfrm>
            <a:off x="5047488" y="3937299"/>
            <a:ext cx="8686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$417K</a:t>
            </a:r>
            <a:endParaRPr lang="en-US" sz="1300" dirty="0"/>
          </a:p>
        </p:txBody>
      </p:sp>
      <p:sp>
        <p:nvSpPr>
          <p:cNvPr id="72" name="Text 70"/>
          <p:cNvSpPr txBox="1"/>
          <p:nvPr/>
        </p:nvSpPr>
        <p:spPr>
          <a:xfrm>
            <a:off x="658368" y="4185800"/>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11</a:t>
            </a:r>
            <a:endParaRPr lang="en-US" sz="1200" dirty="0"/>
          </a:p>
        </p:txBody>
      </p:sp>
      <p:sp>
        <p:nvSpPr>
          <p:cNvPr id="73" name="Text 71"/>
          <p:cNvSpPr txBox="1"/>
          <p:nvPr/>
        </p:nvSpPr>
        <p:spPr>
          <a:xfrm>
            <a:off x="1014984" y="4185800"/>
            <a:ext cx="1783080" cy="248502"/>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GMC PRESCOTT</a:t>
            </a:r>
            <a:endParaRPr lang="en-US" sz="1200" dirty="0"/>
          </a:p>
        </p:txBody>
      </p:sp>
      <p:sp>
        <p:nvSpPr>
          <p:cNvPr id="74" name="Shape 72"/>
          <p:cNvSpPr/>
          <p:nvPr/>
        </p:nvSpPr>
        <p:spPr>
          <a:xfrm>
            <a:off x="2871216" y="4241713"/>
            <a:ext cx="210283" cy="136676"/>
          </a:xfrm>
          <a:prstGeom prst="rect">
            <a:avLst/>
          </a:prstGeom>
          <a:solidFill>
            <a:srgbClr val="C2352F"/>
          </a:solidFill>
          <a:ln/>
        </p:spPr>
      </p:sp>
      <p:sp>
        <p:nvSpPr>
          <p:cNvPr id="75" name="Text 73"/>
          <p:cNvSpPr txBox="1"/>
          <p:nvPr/>
        </p:nvSpPr>
        <p:spPr>
          <a:xfrm>
            <a:off x="3392424" y="4185800"/>
            <a:ext cx="786384"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14%</a:t>
            </a:r>
            <a:endParaRPr lang="en-US" sz="1300" dirty="0"/>
          </a:p>
        </p:txBody>
      </p:sp>
      <p:sp>
        <p:nvSpPr>
          <p:cNvPr id="76" name="Text 74"/>
          <p:cNvSpPr txBox="1"/>
          <p:nvPr/>
        </p:nvSpPr>
        <p:spPr>
          <a:xfrm>
            <a:off x="4178808" y="4185800"/>
            <a:ext cx="8686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$48K</a:t>
            </a:r>
            <a:endParaRPr lang="en-US" sz="1300" dirty="0"/>
          </a:p>
        </p:txBody>
      </p:sp>
      <p:sp>
        <p:nvSpPr>
          <p:cNvPr id="77" name="Text 75"/>
          <p:cNvSpPr txBox="1"/>
          <p:nvPr/>
        </p:nvSpPr>
        <p:spPr>
          <a:xfrm>
            <a:off x="5047488" y="4185800"/>
            <a:ext cx="8686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$333K</a:t>
            </a:r>
            <a:endParaRPr lang="en-US" sz="1300" dirty="0"/>
          </a:p>
        </p:txBody>
      </p:sp>
      <p:sp>
        <p:nvSpPr>
          <p:cNvPr id="78" name="Text 76"/>
          <p:cNvSpPr txBox="1"/>
          <p:nvPr/>
        </p:nvSpPr>
        <p:spPr>
          <a:xfrm>
            <a:off x="658368" y="4434302"/>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12</a:t>
            </a:r>
            <a:endParaRPr lang="en-US" sz="1200" dirty="0"/>
          </a:p>
        </p:txBody>
      </p:sp>
      <p:sp>
        <p:nvSpPr>
          <p:cNvPr id="79" name="Text 77"/>
          <p:cNvSpPr txBox="1"/>
          <p:nvPr/>
        </p:nvSpPr>
        <p:spPr>
          <a:xfrm>
            <a:off x="1014984" y="4434302"/>
            <a:ext cx="1783080" cy="248502"/>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CADILLAC</a:t>
            </a:r>
            <a:endParaRPr lang="en-US" sz="1200" dirty="0"/>
          </a:p>
        </p:txBody>
      </p:sp>
      <p:sp>
        <p:nvSpPr>
          <p:cNvPr id="80" name="Shape 78"/>
          <p:cNvSpPr/>
          <p:nvPr/>
        </p:nvSpPr>
        <p:spPr>
          <a:xfrm>
            <a:off x="2871216" y="4490215"/>
            <a:ext cx="199373" cy="136676"/>
          </a:xfrm>
          <a:prstGeom prst="rect">
            <a:avLst/>
          </a:prstGeom>
          <a:solidFill>
            <a:srgbClr val="C2352F"/>
          </a:solidFill>
          <a:ln/>
        </p:spPr>
      </p:sp>
      <p:sp>
        <p:nvSpPr>
          <p:cNvPr id="81" name="Text 79"/>
          <p:cNvSpPr txBox="1"/>
          <p:nvPr/>
        </p:nvSpPr>
        <p:spPr>
          <a:xfrm>
            <a:off x="3392424" y="4434302"/>
            <a:ext cx="786384"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14%</a:t>
            </a:r>
            <a:endParaRPr lang="en-US" sz="1300" dirty="0"/>
          </a:p>
        </p:txBody>
      </p:sp>
      <p:sp>
        <p:nvSpPr>
          <p:cNvPr id="82" name="Text 80"/>
          <p:cNvSpPr txBox="1"/>
          <p:nvPr/>
        </p:nvSpPr>
        <p:spPr>
          <a:xfrm>
            <a:off x="4178808" y="4434302"/>
            <a:ext cx="8686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$158K</a:t>
            </a:r>
            <a:endParaRPr lang="en-US" sz="1300" dirty="0"/>
          </a:p>
        </p:txBody>
      </p:sp>
      <p:sp>
        <p:nvSpPr>
          <p:cNvPr id="83" name="Text 81"/>
          <p:cNvSpPr txBox="1"/>
          <p:nvPr/>
        </p:nvSpPr>
        <p:spPr>
          <a:xfrm>
            <a:off x="5047488" y="4434302"/>
            <a:ext cx="8686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$1.16M</a:t>
            </a:r>
            <a:endParaRPr lang="en-US" sz="1300" dirty="0"/>
          </a:p>
        </p:txBody>
      </p:sp>
      <p:sp>
        <p:nvSpPr>
          <p:cNvPr id="84" name="Text 82"/>
          <p:cNvSpPr txBox="1"/>
          <p:nvPr/>
        </p:nvSpPr>
        <p:spPr>
          <a:xfrm>
            <a:off x="658368" y="4682804"/>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13</a:t>
            </a:r>
            <a:endParaRPr lang="en-US" sz="1200" dirty="0"/>
          </a:p>
        </p:txBody>
      </p:sp>
      <p:sp>
        <p:nvSpPr>
          <p:cNvPr id="85" name="Text 83"/>
          <p:cNvSpPr txBox="1"/>
          <p:nvPr/>
        </p:nvSpPr>
        <p:spPr>
          <a:xfrm>
            <a:off x="1014984" y="4682804"/>
            <a:ext cx="1783080" cy="248502"/>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TOYOTA PRESCOTT</a:t>
            </a:r>
            <a:endParaRPr lang="en-US" sz="1200" dirty="0"/>
          </a:p>
        </p:txBody>
      </p:sp>
      <p:sp>
        <p:nvSpPr>
          <p:cNvPr id="86" name="Shape 84"/>
          <p:cNvSpPr/>
          <p:nvPr/>
        </p:nvSpPr>
        <p:spPr>
          <a:xfrm>
            <a:off x="2871216" y="4738717"/>
            <a:ext cx="197385" cy="136676"/>
          </a:xfrm>
          <a:prstGeom prst="rect">
            <a:avLst/>
          </a:prstGeom>
          <a:solidFill>
            <a:srgbClr val="C2352F"/>
          </a:solidFill>
          <a:ln/>
        </p:spPr>
      </p:sp>
      <p:sp>
        <p:nvSpPr>
          <p:cNvPr id="87" name="Text 85"/>
          <p:cNvSpPr txBox="1"/>
          <p:nvPr/>
        </p:nvSpPr>
        <p:spPr>
          <a:xfrm>
            <a:off x="3392424" y="4682804"/>
            <a:ext cx="786384"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13%</a:t>
            </a:r>
            <a:endParaRPr lang="en-US" sz="1300" dirty="0"/>
          </a:p>
        </p:txBody>
      </p:sp>
      <p:sp>
        <p:nvSpPr>
          <p:cNvPr id="88" name="Text 86"/>
          <p:cNvSpPr txBox="1"/>
          <p:nvPr/>
        </p:nvSpPr>
        <p:spPr>
          <a:xfrm>
            <a:off x="4178808" y="4682804"/>
            <a:ext cx="8686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$77K</a:t>
            </a:r>
            <a:endParaRPr lang="en-US" sz="1300" dirty="0"/>
          </a:p>
        </p:txBody>
      </p:sp>
      <p:sp>
        <p:nvSpPr>
          <p:cNvPr id="89" name="Text 87"/>
          <p:cNvSpPr txBox="1"/>
          <p:nvPr/>
        </p:nvSpPr>
        <p:spPr>
          <a:xfrm>
            <a:off x="5047488" y="4682804"/>
            <a:ext cx="8686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$573K</a:t>
            </a:r>
            <a:endParaRPr lang="en-US" sz="1300" dirty="0"/>
          </a:p>
        </p:txBody>
      </p:sp>
      <p:sp>
        <p:nvSpPr>
          <p:cNvPr id="90" name="Text 88"/>
          <p:cNvSpPr txBox="1"/>
          <p:nvPr/>
        </p:nvSpPr>
        <p:spPr>
          <a:xfrm>
            <a:off x="658368" y="4931305"/>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14</a:t>
            </a:r>
            <a:endParaRPr lang="en-US" sz="1200" dirty="0"/>
          </a:p>
        </p:txBody>
      </p:sp>
      <p:sp>
        <p:nvSpPr>
          <p:cNvPr id="91" name="Text 89"/>
          <p:cNvSpPr txBox="1"/>
          <p:nvPr/>
        </p:nvSpPr>
        <p:spPr>
          <a:xfrm>
            <a:off x="1014984" y="4931305"/>
            <a:ext cx="1783080" cy="248502"/>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KIA LV</a:t>
            </a:r>
            <a:endParaRPr lang="en-US" sz="1200" dirty="0"/>
          </a:p>
        </p:txBody>
      </p:sp>
      <p:sp>
        <p:nvSpPr>
          <p:cNvPr id="92" name="Shape 90"/>
          <p:cNvSpPr/>
          <p:nvPr/>
        </p:nvSpPr>
        <p:spPr>
          <a:xfrm>
            <a:off x="2871216" y="4987218"/>
            <a:ext cx="169024" cy="136676"/>
          </a:xfrm>
          <a:prstGeom prst="rect">
            <a:avLst/>
          </a:prstGeom>
          <a:solidFill>
            <a:srgbClr val="C2352F"/>
          </a:solidFill>
          <a:ln/>
        </p:spPr>
      </p:sp>
      <p:sp>
        <p:nvSpPr>
          <p:cNvPr id="93" name="Text 91"/>
          <p:cNvSpPr txBox="1"/>
          <p:nvPr/>
        </p:nvSpPr>
        <p:spPr>
          <a:xfrm>
            <a:off x="3392424" y="4931305"/>
            <a:ext cx="786384"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12%</a:t>
            </a:r>
            <a:endParaRPr lang="en-US" sz="1300" dirty="0"/>
          </a:p>
        </p:txBody>
      </p:sp>
      <p:sp>
        <p:nvSpPr>
          <p:cNvPr id="94" name="Text 92"/>
          <p:cNvSpPr txBox="1"/>
          <p:nvPr/>
        </p:nvSpPr>
        <p:spPr>
          <a:xfrm>
            <a:off x="4178808" y="4931305"/>
            <a:ext cx="8686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$74K</a:t>
            </a:r>
            <a:endParaRPr lang="en-US" sz="1300" dirty="0"/>
          </a:p>
        </p:txBody>
      </p:sp>
      <p:sp>
        <p:nvSpPr>
          <p:cNvPr id="95" name="Text 93"/>
          <p:cNvSpPr txBox="1"/>
          <p:nvPr/>
        </p:nvSpPr>
        <p:spPr>
          <a:xfrm>
            <a:off x="5047488" y="4931305"/>
            <a:ext cx="8686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$643K</a:t>
            </a:r>
            <a:endParaRPr lang="en-US" sz="1300" dirty="0"/>
          </a:p>
        </p:txBody>
      </p:sp>
      <p:sp>
        <p:nvSpPr>
          <p:cNvPr id="96" name="Text 94"/>
          <p:cNvSpPr txBox="1"/>
          <p:nvPr/>
        </p:nvSpPr>
        <p:spPr>
          <a:xfrm>
            <a:off x="658368" y="5179807"/>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15</a:t>
            </a:r>
            <a:endParaRPr lang="en-US" sz="1200" dirty="0"/>
          </a:p>
        </p:txBody>
      </p:sp>
      <p:sp>
        <p:nvSpPr>
          <p:cNvPr id="97" name="Text 95"/>
          <p:cNvSpPr txBox="1"/>
          <p:nvPr/>
        </p:nvSpPr>
        <p:spPr>
          <a:xfrm>
            <a:off x="1014984" y="5179807"/>
            <a:ext cx="1783080" cy="248502"/>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LR LV</a:t>
            </a:r>
            <a:endParaRPr lang="en-US" sz="1200" dirty="0"/>
          </a:p>
        </p:txBody>
      </p:sp>
      <p:sp>
        <p:nvSpPr>
          <p:cNvPr id="98" name="Shape 96"/>
          <p:cNvSpPr/>
          <p:nvPr/>
        </p:nvSpPr>
        <p:spPr>
          <a:xfrm>
            <a:off x="2871216" y="5235720"/>
            <a:ext cx="131586" cy="136676"/>
          </a:xfrm>
          <a:prstGeom prst="rect">
            <a:avLst/>
          </a:prstGeom>
          <a:solidFill>
            <a:srgbClr val="C2352F"/>
          </a:solidFill>
          <a:ln/>
        </p:spPr>
      </p:sp>
      <p:sp>
        <p:nvSpPr>
          <p:cNvPr id="99" name="Text 97"/>
          <p:cNvSpPr txBox="1"/>
          <p:nvPr/>
        </p:nvSpPr>
        <p:spPr>
          <a:xfrm>
            <a:off x="3392424" y="5179807"/>
            <a:ext cx="786384"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9%</a:t>
            </a:r>
            <a:endParaRPr lang="en-US" sz="1300" dirty="0"/>
          </a:p>
        </p:txBody>
      </p:sp>
      <p:sp>
        <p:nvSpPr>
          <p:cNvPr id="100" name="Text 98"/>
          <p:cNvSpPr txBox="1"/>
          <p:nvPr/>
        </p:nvSpPr>
        <p:spPr>
          <a:xfrm>
            <a:off x="4178808" y="5179807"/>
            <a:ext cx="8686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$63K</a:t>
            </a:r>
            <a:endParaRPr lang="en-US" sz="1300" dirty="0"/>
          </a:p>
        </p:txBody>
      </p:sp>
      <p:sp>
        <p:nvSpPr>
          <p:cNvPr id="101" name="Text 99"/>
          <p:cNvSpPr txBox="1"/>
          <p:nvPr/>
        </p:nvSpPr>
        <p:spPr>
          <a:xfrm>
            <a:off x="5047488" y="5179807"/>
            <a:ext cx="8686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$702K</a:t>
            </a:r>
            <a:endParaRPr lang="en-US" sz="1300" dirty="0"/>
          </a:p>
        </p:txBody>
      </p:sp>
      <p:sp>
        <p:nvSpPr>
          <p:cNvPr id="102" name="Text 100"/>
          <p:cNvSpPr txBox="1"/>
          <p:nvPr/>
        </p:nvSpPr>
        <p:spPr>
          <a:xfrm>
            <a:off x="658368" y="5428309"/>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16</a:t>
            </a:r>
            <a:endParaRPr lang="en-US" sz="1200" dirty="0"/>
          </a:p>
        </p:txBody>
      </p:sp>
      <p:sp>
        <p:nvSpPr>
          <p:cNvPr id="103" name="Text 101"/>
          <p:cNvSpPr txBox="1"/>
          <p:nvPr/>
        </p:nvSpPr>
        <p:spPr>
          <a:xfrm>
            <a:off x="1014984" y="5428309"/>
            <a:ext cx="1783080" cy="248502"/>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AUDI HENDERSON</a:t>
            </a:r>
            <a:endParaRPr lang="en-US" sz="1200" dirty="0"/>
          </a:p>
        </p:txBody>
      </p:sp>
      <p:sp>
        <p:nvSpPr>
          <p:cNvPr id="104" name="Shape 102"/>
          <p:cNvSpPr/>
          <p:nvPr/>
        </p:nvSpPr>
        <p:spPr>
          <a:xfrm>
            <a:off x="2871216" y="5484222"/>
            <a:ext cx="120839" cy="136676"/>
          </a:xfrm>
          <a:prstGeom prst="rect">
            <a:avLst/>
          </a:prstGeom>
          <a:solidFill>
            <a:srgbClr val="C2352F"/>
          </a:solidFill>
          <a:ln/>
        </p:spPr>
      </p:sp>
      <p:sp>
        <p:nvSpPr>
          <p:cNvPr id="105" name="Text 103"/>
          <p:cNvSpPr txBox="1"/>
          <p:nvPr/>
        </p:nvSpPr>
        <p:spPr>
          <a:xfrm>
            <a:off x="3392424" y="5428309"/>
            <a:ext cx="786384"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8%</a:t>
            </a:r>
            <a:endParaRPr lang="en-US" sz="1300" dirty="0"/>
          </a:p>
        </p:txBody>
      </p:sp>
      <p:sp>
        <p:nvSpPr>
          <p:cNvPr id="106" name="Text 104"/>
          <p:cNvSpPr txBox="1"/>
          <p:nvPr/>
        </p:nvSpPr>
        <p:spPr>
          <a:xfrm>
            <a:off x="4178808" y="5428309"/>
            <a:ext cx="8686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$102K</a:t>
            </a:r>
            <a:endParaRPr lang="en-US" sz="1300" dirty="0"/>
          </a:p>
        </p:txBody>
      </p:sp>
      <p:sp>
        <p:nvSpPr>
          <p:cNvPr id="107" name="Text 105"/>
          <p:cNvSpPr txBox="1"/>
          <p:nvPr/>
        </p:nvSpPr>
        <p:spPr>
          <a:xfrm>
            <a:off x="5047488" y="5428309"/>
            <a:ext cx="8686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$1.23M</a:t>
            </a:r>
            <a:endParaRPr lang="en-US" sz="1300" dirty="0"/>
          </a:p>
        </p:txBody>
      </p:sp>
      <p:sp>
        <p:nvSpPr>
          <p:cNvPr id="108" name="Text 106"/>
          <p:cNvSpPr txBox="1"/>
          <p:nvPr/>
        </p:nvSpPr>
        <p:spPr>
          <a:xfrm>
            <a:off x="658368" y="5676810"/>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17</a:t>
            </a:r>
            <a:endParaRPr lang="en-US" sz="1200" dirty="0"/>
          </a:p>
        </p:txBody>
      </p:sp>
      <p:sp>
        <p:nvSpPr>
          <p:cNvPr id="109" name="Text 107"/>
          <p:cNvSpPr txBox="1"/>
          <p:nvPr/>
        </p:nvSpPr>
        <p:spPr>
          <a:xfrm>
            <a:off x="1014984" y="5676810"/>
            <a:ext cx="1783080" cy="248502"/>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LR RENO</a:t>
            </a:r>
            <a:endParaRPr lang="en-US" sz="1200" dirty="0"/>
          </a:p>
        </p:txBody>
      </p:sp>
      <p:sp>
        <p:nvSpPr>
          <p:cNvPr id="110" name="Shape 108"/>
          <p:cNvSpPr/>
          <p:nvPr/>
        </p:nvSpPr>
        <p:spPr>
          <a:xfrm>
            <a:off x="2871216" y="5732723"/>
            <a:ext cx="116857" cy="136676"/>
          </a:xfrm>
          <a:prstGeom prst="rect">
            <a:avLst/>
          </a:prstGeom>
          <a:solidFill>
            <a:srgbClr val="C2352F"/>
          </a:solidFill>
          <a:ln/>
        </p:spPr>
      </p:sp>
      <p:sp>
        <p:nvSpPr>
          <p:cNvPr id="111" name="Text 109"/>
          <p:cNvSpPr txBox="1"/>
          <p:nvPr/>
        </p:nvSpPr>
        <p:spPr>
          <a:xfrm>
            <a:off x="3392424" y="5676810"/>
            <a:ext cx="786384"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8%</a:t>
            </a:r>
            <a:endParaRPr lang="en-US" sz="1300" dirty="0"/>
          </a:p>
        </p:txBody>
      </p:sp>
      <p:sp>
        <p:nvSpPr>
          <p:cNvPr id="112" name="Text 110"/>
          <p:cNvSpPr txBox="1"/>
          <p:nvPr/>
        </p:nvSpPr>
        <p:spPr>
          <a:xfrm>
            <a:off x="4178808" y="5676810"/>
            <a:ext cx="8686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$21K</a:t>
            </a:r>
            <a:endParaRPr lang="en-US" sz="1300" dirty="0"/>
          </a:p>
        </p:txBody>
      </p:sp>
      <p:sp>
        <p:nvSpPr>
          <p:cNvPr id="113" name="Text 111"/>
          <p:cNvSpPr txBox="1"/>
          <p:nvPr/>
        </p:nvSpPr>
        <p:spPr>
          <a:xfrm>
            <a:off x="5047488" y="5676810"/>
            <a:ext cx="8686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$257K</a:t>
            </a:r>
            <a:endParaRPr lang="en-US" sz="1300" dirty="0"/>
          </a:p>
        </p:txBody>
      </p:sp>
      <p:sp>
        <p:nvSpPr>
          <p:cNvPr id="114" name="Text 112"/>
          <p:cNvSpPr txBox="1"/>
          <p:nvPr/>
        </p:nvSpPr>
        <p:spPr>
          <a:xfrm>
            <a:off x="6208776" y="1700784"/>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18</a:t>
            </a:r>
            <a:endParaRPr lang="en-US" sz="1200" dirty="0"/>
          </a:p>
        </p:txBody>
      </p:sp>
      <p:sp>
        <p:nvSpPr>
          <p:cNvPr id="115" name="Text 113"/>
          <p:cNvSpPr txBox="1"/>
          <p:nvPr/>
        </p:nvSpPr>
        <p:spPr>
          <a:xfrm>
            <a:off x="6565392" y="1700784"/>
            <a:ext cx="1783080" cy="248502"/>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NISSAN</a:t>
            </a:r>
            <a:endParaRPr lang="en-US" sz="1200" dirty="0"/>
          </a:p>
        </p:txBody>
      </p:sp>
      <p:sp>
        <p:nvSpPr>
          <p:cNvPr id="116" name="Shape 114"/>
          <p:cNvSpPr/>
          <p:nvPr/>
        </p:nvSpPr>
        <p:spPr>
          <a:xfrm>
            <a:off x="8421624" y="1756697"/>
            <a:ext cx="116484" cy="136676"/>
          </a:xfrm>
          <a:prstGeom prst="rect">
            <a:avLst/>
          </a:prstGeom>
          <a:solidFill>
            <a:srgbClr val="C2352F"/>
          </a:solidFill>
          <a:ln/>
        </p:spPr>
      </p:sp>
      <p:sp>
        <p:nvSpPr>
          <p:cNvPr id="117" name="Text 115"/>
          <p:cNvSpPr txBox="1"/>
          <p:nvPr/>
        </p:nvSpPr>
        <p:spPr>
          <a:xfrm>
            <a:off x="8942832" y="1700784"/>
            <a:ext cx="786384"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8%</a:t>
            </a:r>
            <a:endParaRPr lang="en-US" sz="1300" dirty="0"/>
          </a:p>
        </p:txBody>
      </p:sp>
      <p:sp>
        <p:nvSpPr>
          <p:cNvPr id="118" name="Text 116"/>
          <p:cNvSpPr txBox="1"/>
          <p:nvPr/>
        </p:nvSpPr>
        <p:spPr>
          <a:xfrm>
            <a:off x="9729216" y="1700784"/>
            <a:ext cx="8686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$42K</a:t>
            </a:r>
            <a:endParaRPr lang="en-US" sz="1300" dirty="0"/>
          </a:p>
        </p:txBody>
      </p:sp>
      <p:sp>
        <p:nvSpPr>
          <p:cNvPr id="119" name="Text 117"/>
          <p:cNvSpPr txBox="1"/>
          <p:nvPr/>
        </p:nvSpPr>
        <p:spPr>
          <a:xfrm>
            <a:off x="10597896" y="1700784"/>
            <a:ext cx="8686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$532K</a:t>
            </a:r>
            <a:endParaRPr lang="en-US" sz="1300" dirty="0"/>
          </a:p>
        </p:txBody>
      </p:sp>
      <p:sp>
        <p:nvSpPr>
          <p:cNvPr id="120" name="Text 118"/>
          <p:cNvSpPr txBox="1"/>
          <p:nvPr/>
        </p:nvSpPr>
        <p:spPr>
          <a:xfrm>
            <a:off x="6208776" y="1949286"/>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19</a:t>
            </a:r>
            <a:endParaRPr lang="en-US" sz="1200" dirty="0"/>
          </a:p>
        </p:txBody>
      </p:sp>
      <p:sp>
        <p:nvSpPr>
          <p:cNvPr id="121" name="Text 119"/>
          <p:cNvSpPr txBox="1"/>
          <p:nvPr/>
        </p:nvSpPr>
        <p:spPr>
          <a:xfrm>
            <a:off x="6565392" y="1949286"/>
            <a:ext cx="1783080" cy="248502"/>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LEXUS</a:t>
            </a:r>
            <a:endParaRPr lang="en-US" sz="1200" dirty="0"/>
          </a:p>
        </p:txBody>
      </p:sp>
      <p:sp>
        <p:nvSpPr>
          <p:cNvPr id="122" name="Shape 120"/>
          <p:cNvSpPr/>
          <p:nvPr/>
        </p:nvSpPr>
        <p:spPr>
          <a:xfrm>
            <a:off x="8421624" y="2005199"/>
            <a:ext cx="115541" cy="136676"/>
          </a:xfrm>
          <a:prstGeom prst="rect">
            <a:avLst/>
          </a:prstGeom>
          <a:solidFill>
            <a:srgbClr val="C2352F"/>
          </a:solidFill>
          <a:ln/>
        </p:spPr>
      </p:sp>
      <p:sp>
        <p:nvSpPr>
          <p:cNvPr id="123" name="Text 121"/>
          <p:cNvSpPr txBox="1"/>
          <p:nvPr/>
        </p:nvSpPr>
        <p:spPr>
          <a:xfrm>
            <a:off x="8942832" y="1949286"/>
            <a:ext cx="786384"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8%</a:t>
            </a:r>
            <a:endParaRPr lang="en-US" sz="1300" dirty="0"/>
          </a:p>
        </p:txBody>
      </p:sp>
      <p:sp>
        <p:nvSpPr>
          <p:cNvPr id="124" name="Text 122"/>
          <p:cNvSpPr txBox="1"/>
          <p:nvPr/>
        </p:nvSpPr>
        <p:spPr>
          <a:xfrm>
            <a:off x="9729216" y="1949286"/>
            <a:ext cx="8686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$32K</a:t>
            </a:r>
            <a:endParaRPr lang="en-US" sz="1300" dirty="0"/>
          </a:p>
        </p:txBody>
      </p:sp>
      <p:sp>
        <p:nvSpPr>
          <p:cNvPr id="125" name="Text 123"/>
          <p:cNvSpPr txBox="1"/>
          <p:nvPr/>
        </p:nvSpPr>
        <p:spPr>
          <a:xfrm>
            <a:off x="10597896" y="1949286"/>
            <a:ext cx="8686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$400K</a:t>
            </a:r>
            <a:endParaRPr lang="en-US" sz="1300" dirty="0"/>
          </a:p>
        </p:txBody>
      </p:sp>
      <p:sp>
        <p:nvSpPr>
          <p:cNvPr id="126" name="Text 124"/>
          <p:cNvSpPr txBox="1"/>
          <p:nvPr/>
        </p:nvSpPr>
        <p:spPr>
          <a:xfrm>
            <a:off x="6208776" y="2197787"/>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20</a:t>
            </a:r>
            <a:endParaRPr lang="en-US" sz="1200" dirty="0"/>
          </a:p>
        </p:txBody>
      </p:sp>
      <p:sp>
        <p:nvSpPr>
          <p:cNvPr id="127" name="Text 125"/>
          <p:cNvSpPr txBox="1"/>
          <p:nvPr/>
        </p:nvSpPr>
        <p:spPr>
          <a:xfrm>
            <a:off x="6565392" y="2197787"/>
            <a:ext cx="1783080" cy="248502"/>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LINCOLN</a:t>
            </a:r>
            <a:endParaRPr lang="en-US" sz="1200" dirty="0"/>
          </a:p>
        </p:txBody>
      </p:sp>
      <p:sp>
        <p:nvSpPr>
          <p:cNvPr id="128" name="Shape 126"/>
          <p:cNvSpPr/>
          <p:nvPr/>
        </p:nvSpPr>
        <p:spPr>
          <a:xfrm>
            <a:off x="8421624" y="2253700"/>
            <a:ext cx="111161" cy="136676"/>
          </a:xfrm>
          <a:prstGeom prst="rect">
            <a:avLst/>
          </a:prstGeom>
          <a:solidFill>
            <a:srgbClr val="C2352F"/>
          </a:solidFill>
          <a:ln/>
        </p:spPr>
      </p:sp>
      <p:sp>
        <p:nvSpPr>
          <p:cNvPr id="129" name="Text 127"/>
          <p:cNvSpPr txBox="1"/>
          <p:nvPr/>
        </p:nvSpPr>
        <p:spPr>
          <a:xfrm>
            <a:off x="8942832" y="2197787"/>
            <a:ext cx="786384"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8%</a:t>
            </a:r>
            <a:endParaRPr lang="en-US" sz="1300" dirty="0"/>
          </a:p>
        </p:txBody>
      </p:sp>
      <p:sp>
        <p:nvSpPr>
          <p:cNvPr id="130" name="Text 128"/>
          <p:cNvSpPr txBox="1"/>
          <p:nvPr/>
        </p:nvSpPr>
        <p:spPr>
          <a:xfrm>
            <a:off x="9729216" y="2197787"/>
            <a:ext cx="8686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$24K</a:t>
            </a:r>
            <a:endParaRPr lang="en-US" sz="1300" dirty="0"/>
          </a:p>
        </p:txBody>
      </p:sp>
      <p:sp>
        <p:nvSpPr>
          <p:cNvPr id="131" name="Text 129"/>
          <p:cNvSpPr txBox="1"/>
          <p:nvPr/>
        </p:nvSpPr>
        <p:spPr>
          <a:xfrm>
            <a:off x="10597896" y="2197787"/>
            <a:ext cx="8686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$312K</a:t>
            </a:r>
            <a:endParaRPr lang="en-US" sz="1300" dirty="0"/>
          </a:p>
        </p:txBody>
      </p:sp>
      <p:sp>
        <p:nvSpPr>
          <p:cNvPr id="132" name="Text 130"/>
          <p:cNvSpPr txBox="1"/>
          <p:nvPr/>
        </p:nvSpPr>
        <p:spPr>
          <a:xfrm>
            <a:off x="6208776" y="2446289"/>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21</a:t>
            </a:r>
            <a:endParaRPr lang="en-US" sz="1200" dirty="0"/>
          </a:p>
        </p:txBody>
      </p:sp>
      <p:sp>
        <p:nvSpPr>
          <p:cNvPr id="133" name="Text 131"/>
          <p:cNvSpPr txBox="1"/>
          <p:nvPr/>
        </p:nvSpPr>
        <p:spPr>
          <a:xfrm>
            <a:off x="6565392" y="2446289"/>
            <a:ext cx="1783080" cy="248502"/>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SUBARU ST GEORGE</a:t>
            </a:r>
            <a:endParaRPr lang="en-US" sz="1200" dirty="0"/>
          </a:p>
        </p:txBody>
      </p:sp>
      <p:sp>
        <p:nvSpPr>
          <p:cNvPr id="134" name="Shape 132"/>
          <p:cNvSpPr/>
          <p:nvPr/>
        </p:nvSpPr>
        <p:spPr>
          <a:xfrm>
            <a:off x="8421624" y="2502202"/>
            <a:ext cx="84754" cy="136676"/>
          </a:xfrm>
          <a:prstGeom prst="rect">
            <a:avLst/>
          </a:prstGeom>
          <a:solidFill>
            <a:srgbClr val="C2352F"/>
          </a:solidFill>
          <a:ln/>
        </p:spPr>
      </p:sp>
      <p:sp>
        <p:nvSpPr>
          <p:cNvPr id="135" name="Text 133"/>
          <p:cNvSpPr txBox="1"/>
          <p:nvPr/>
        </p:nvSpPr>
        <p:spPr>
          <a:xfrm>
            <a:off x="8942832" y="2446289"/>
            <a:ext cx="786384"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6%</a:t>
            </a:r>
            <a:endParaRPr lang="en-US" sz="1300" dirty="0"/>
          </a:p>
        </p:txBody>
      </p:sp>
      <p:sp>
        <p:nvSpPr>
          <p:cNvPr id="136" name="Text 134"/>
          <p:cNvSpPr txBox="1"/>
          <p:nvPr/>
        </p:nvSpPr>
        <p:spPr>
          <a:xfrm>
            <a:off x="9729216" y="2446289"/>
            <a:ext cx="8686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$22K</a:t>
            </a:r>
            <a:endParaRPr lang="en-US" sz="1300" dirty="0"/>
          </a:p>
        </p:txBody>
      </p:sp>
      <p:sp>
        <p:nvSpPr>
          <p:cNvPr id="137" name="Text 135"/>
          <p:cNvSpPr txBox="1"/>
          <p:nvPr/>
        </p:nvSpPr>
        <p:spPr>
          <a:xfrm>
            <a:off x="10597896" y="2446289"/>
            <a:ext cx="8686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$382K</a:t>
            </a:r>
            <a:endParaRPr lang="en-US" sz="1300" dirty="0"/>
          </a:p>
        </p:txBody>
      </p:sp>
      <p:sp>
        <p:nvSpPr>
          <p:cNvPr id="138" name="Text 136"/>
          <p:cNvSpPr txBox="1"/>
          <p:nvPr/>
        </p:nvSpPr>
        <p:spPr>
          <a:xfrm>
            <a:off x="6208776" y="2694791"/>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22</a:t>
            </a:r>
            <a:endParaRPr lang="en-US" sz="1200" dirty="0"/>
          </a:p>
        </p:txBody>
      </p:sp>
      <p:sp>
        <p:nvSpPr>
          <p:cNvPr id="139" name="Text 137"/>
          <p:cNvSpPr txBox="1"/>
          <p:nvPr/>
        </p:nvSpPr>
        <p:spPr>
          <a:xfrm>
            <a:off x="6565392" y="2694791"/>
            <a:ext cx="1783080" cy="248502"/>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CHEVY LV</a:t>
            </a:r>
            <a:endParaRPr lang="en-US" sz="1200" dirty="0"/>
          </a:p>
        </p:txBody>
      </p:sp>
      <p:sp>
        <p:nvSpPr>
          <p:cNvPr id="140" name="Shape 138"/>
          <p:cNvSpPr/>
          <p:nvPr/>
        </p:nvSpPr>
        <p:spPr>
          <a:xfrm>
            <a:off x="8421624" y="2750703"/>
            <a:ext cx="75701" cy="136676"/>
          </a:xfrm>
          <a:prstGeom prst="rect">
            <a:avLst/>
          </a:prstGeom>
          <a:solidFill>
            <a:srgbClr val="C2352F"/>
          </a:solidFill>
          <a:ln/>
        </p:spPr>
      </p:sp>
      <p:sp>
        <p:nvSpPr>
          <p:cNvPr id="141" name="Text 139"/>
          <p:cNvSpPr txBox="1"/>
          <p:nvPr/>
        </p:nvSpPr>
        <p:spPr>
          <a:xfrm>
            <a:off x="8942832" y="2694791"/>
            <a:ext cx="786384"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5%</a:t>
            </a:r>
            <a:endParaRPr lang="en-US" sz="1300" dirty="0"/>
          </a:p>
        </p:txBody>
      </p:sp>
      <p:sp>
        <p:nvSpPr>
          <p:cNvPr id="142" name="Text 140"/>
          <p:cNvSpPr txBox="1"/>
          <p:nvPr/>
        </p:nvSpPr>
        <p:spPr>
          <a:xfrm>
            <a:off x="9729216" y="2694791"/>
            <a:ext cx="8686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$87K</a:t>
            </a:r>
            <a:endParaRPr lang="en-US" sz="1300" dirty="0"/>
          </a:p>
        </p:txBody>
      </p:sp>
      <p:sp>
        <p:nvSpPr>
          <p:cNvPr id="143" name="Text 141"/>
          <p:cNvSpPr txBox="1"/>
          <p:nvPr/>
        </p:nvSpPr>
        <p:spPr>
          <a:xfrm>
            <a:off x="10597896" y="2694791"/>
            <a:ext cx="8686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$1.69M</a:t>
            </a:r>
            <a:endParaRPr lang="en-US" sz="1300" dirty="0"/>
          </a:p>
        </p:txBody>
      </p:sp>
      <p:sp>
        <p:nvSpPr>
          <p:cNvPr id="144" name="Text 142"/>
          <p:cNvSpPr txBox="1"/>
          <p:nvPr/>
        </p:nvSpPr>
        <p:spPr>
          <a:xfrm>
            <a:off x="6208776" y="2943292"/>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23</a:t>
            </a:r>
            <a:endParaRPr lang="en-US" sz="1200" dirty="0"/>
          </a:p>
        </p:txBody>
      </p:sp>
      <p:sp>
        <p:nvSpPr>
          <p:cNvPr id="145" name="Text 143"/>
          <p:cNvSpPr txBox="1"/>
          <p:nvPr/>
        </p:nvSpPr>
        <p:spPr>
          <a:xfrm>
            <a:off x="6565392" y="2943292"/>
            <a:ext cx="1783080" cy="248502"/>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VW HENDERSON</a:t>
            </a:r>
            <a:endParaRPr lang="en-US" sz="1200" dirty="0"/>
          </a:p>
        </p:txBody>
      </p:sp>
      <p:sp>
        <p:nvSpPr>
          <p:cNvPr id="146" name="Shape 144"/>
          <p:cNvSpPr/>
          <p:nvPr/>
        </p:nvSpPr>
        <p:spPr>
          <a:xfrm>
            <a:off x="8421624" y="2999205"/>
            <a:ext cx="69750" cy="136676"/>
          </a:xfrm>
          <a:prstGeom prst="rect">
            <a:avLst/>
          </a:prstGeom>
          <a:solidFill>
            <a:srgbClr val="C2352F"/>
          </a:solidFill>
          <a:ln/>
        </p:spPr>
      </p:sp>
      <p:sp>
        <p:nvSpPr>
          <p:cNvPr id="147" name="Text 145"/>
          <p:cNvSpPr txBox="1"/>
          <p:nvPr/>
        </p:nvSpPr>
        <p:spPr>
          <a:xfrm>
            <a:off x="8942832" y="2943292"/>
            <a:ext cx="786384"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5%</a:t>
            </a:r>
            <a:endParaRPr lang="en-US" sz="1300" dirty="0"/>
          </a:p>
        </p:txBody>
      </p:sp>
      <p:sp>
        <p:nvSpPr>
          <p:cNvPr id="148" name="Text 146"/>
          <p:cNvSpPr txBox="1"/>
          <p:nvPr/>
        </p:nvSpPr>
        <p:spPr>
          <a:xfrm>
            <a:off x="9729216" y="2943292"/>
            <a:ext cx="8686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$25K</a:t>
            </a:r>
            <a:endParaRPr lang="en-US" sz="1300" dirty="0"/>
          </a:p>
        </p:txBody>
      </p:sp>
      <p:sp>
        <p:nvSpPr>
          <p:cNvPr id="149" name="Text 147"/>
          <p:cNvSpPr txBox="1"/>
          <p:nvPr/>
        </p:nvSpPr>
        <p:spPr>
          <a:xfrm>
            <a:off x="10597896" y="2943292"/>
            <a:ext cx="8686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$516K</a:t>
            </a:r>
            <a:endParaRPr lang="en-US" sz="1300" dirty="0"/>
          </a:p>
        </p:txBody>
      </p:sp>
      <p:sp>
        <p:nvSpPr>
          <p:cNvPr id="150" name="Text 148"/>
          <p:cNvSpPr txBox="1"/>
          <p:nvPr/>
        </p:nvSpPr>
        <p:spPr>
          <a:xfrm>
            <a:off x="6208776" y="3191794"/>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24</a:t>
            </a:r>
            <a:endParaRPr lang="en-US" sz="1200" dirty="0"/>
          </a:p>
        </p:txBody>
      </p:sp>
      <p:sp>
        <p:nvSpPr>
          <p:cNvPr id="151" name="Text 149"/>
          <p:cNvSpPr txBox="1"/>
          <p:nvPr/>
        </p:nvSpPr>
        <p:spPr>
          <a:xfrm>
            <a:off x="6565392" y="3191794"/>
            <a:ext cx="1783080" cy="248502"/>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LR HENDERSON</a:t>
            </a:r>
            <a:endParaRPr lang="en-US" sz="1200" dirty="0"/>
          </a:p>
        </p:txBody>
      </p:sp>
      <p:sp>
        <p:nvSpPr>
          <p:cNvPr id="152" name="Shape 150"/>
          <p:cNvSpPr/>
          <p:nvPr/>
        </p:nvSpPr>
        <p:spPr>
          <a:xfrm>
            <a:off x="8421624" y="3247707"/>
            <a:ext cx="61333" cy="136676"/>
          </a:xfrm>
          <a:prstGeom prst="rect">
            <a:avLst/>
          </a:prstGeom>
          <a:solidFill>
            <a:srgbClr val="C2352F"/>
          </a:solidFill>
          <a:ln/>
        </p:spPr>
      </p:sp>
      <p:sp>
        <p:nvSpPr>
          <p:cNvPr id="153" name="Text 151"/>
          <p:cNvSpPr txBox="1"/>
          <p:nvPr/>
        </p:nvSpPr>
        <p:spPr>
          <a:xfrm>
            <a:off x="8942832" y="3191794"/>
            <a:ext cx="786384"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4%</a:t>
            </a:r>
            <a:endParaRPr lang="en-US" sz="1300" dirty="0"/>
          </a:p>
        </p:txBody>
      </p:sp>
      <p:sp>
        <p:nvSpPr>
          <p:cNvPr id="154" name="Text 152"/>
          <p:cNvSpPr txBox="1"/>
          <p:nvPr/>
        </p:nvSpPr>
        <p:spPr>
          <a:xfrm>
            <a:off x="9729216" y="3191794"/>
            <a:ext cx="8686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$15K</a:t>
            </a:r>
            <a:endParaRPr lang="en-US" sz="1300" dirty="0"/>
          </a:p>
        </p:txBody>
      </p:sp>
      <p:sp>
        <p:nvSpPr>
          <p:cNvPr id="155" name="Text 153"/>
          <p:cNvSpPr txBox="1"/>
          <p:nvPr/>
        </p:nvSpPr>
        <p:spPr>
          <a:xfrm>
            <a:off x="10597896" y="3191794"/>
            <a:ext cx="8686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$357K</a:t>
            </a:r>
            <a:endParaRPr lang="en-US" sz="1300" dirty="0"/>
          </a:p>
        </p:txBody>
      </p:sp>
      <p:sp>
        <p:nvSpPr>
          <p:cNvPr id="156" name="Text 154"/>
          <p:cNvSpPr txBox="1"/>
          <p:nvPr/>
        </p:nvSpPr>
        <p:spPr>
          <a:xfrm>
            <a:off x="6208776" y="3440296"/>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25</a:t>
            </a:r>
            <a:endParaRPr lang="en-US" sz="1200" dirty="0"/>
          </a:p>
        </p:txBody>
      </p:sp>
      <p:sp>
        <p:nvSpPr>
          <p:cNvPr id="157" name="Text 155"/>
          <p:cNvSpPr txBox="1"/>
          <p:nvPr/>
        </p:nvSpPr>
        <p:spPr>
          <a:xfrm>
            <a:off x="6565392" y="3440296"/>
            <a:ext cx="1783080" cy="248502"/>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SUBARU LV</a:t>
            </a:r>
            <a:endParaRPr lang="en-US" sz="1200" dirty="0"/>
          </a:p>
        </p:txBody>
      </p:sp>
      <p:sp>
        <p:nvSpPr>
          <p:cNvPr id="158" name="Shape 156"/>
          <p:cNvSpPr/>
          <p:nvPr/>
        </p:nvSpPr>
        <p:spPr>
          <a:xfrm>
            <a:off x="8421624" y="3496208"/>
            <a:ext cx="59486" cy="136676"/>
          </a:xfrm>
          <a:prstGeom prst="rect">
            <a:avLst/>
          </a:prstGeom>
          <a:solidFill>
            <a:srgbClr val="C2352F"/>
          </a:solidFill>
          <a:ln/>
        </p:spPr>
      </p:sp>
      <p:sp>
        <p:nvSpPr>
          <p:cNvPr id="159" name="Text 157"/>
          <p:cNvSpPr txBox="1"/>
          <p:nvPr/>
        </p:nvSpPr>
        <p:spPr>
          <a:xfrm>
            <a:off x="8942832" y="3440296"/>
            <a:ext cx="786384"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4%</a:t>
            </a:r>
            <a:endParaRPr lang="en-US" sz="1300" dirty="0"/>
          </a:p>
        </p:txBody>
      </p:sp>
      <p:sp>
        <p:nvSpPr>
          <p:cNvPr id="160" name="Text 158"/>
          <p:cNvSpPr txBox="1"/>
          <p:nvPr/>
        </p:nvSpPr>
        <p:spPr>
          <a:xfrm>
            <a:off x="9729216" y="3440296"/>
            <a:ext cx="8686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$44K</a:t>
            </a:r>
            <a:endParaRPr lang="en-US" sz="1300" dirty="0"/>
          </a:p>
        </p:txBody>
      </p:sp>
      <p:sp>
        <p:nvSpPr>
          <p:cNvPr id="161" name="Text 159"/>
          <p:cNvSpPr txBox="1"/>
          <p:nvPr/>
        </p:nvSpPr>
        <p:spPr>
          <a:xfrm>
            <a:off x="10597896" y="3440296"/>
            <a:ext cx="8686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$1.07M</a:t>
            </a:r>
            <a:endParaRPr lang="en-US" sz="1300" dirty="0"/>
          </a:p>
        </p:txBody>
      </p:sp>
      <p:sp>
        <p:nvSpPr>
          <p:cNvPr id="162" name="Text 160"/>
          <p:cNvSpPr txBox="1"/>
          <p:nvPr/>
        </p:nvSpPr>
        <p:spPr>
          <a:xfrm>
            <a:off x="6208776" y="3688797"/>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26</a:t>
            </a:r>
            <a:endParaRPr lang="en-US" sz="1200" dirty="0"/>
          </a:p>
        </p:txBody>
      </p:sp>
      <p:sp>
        <p:nvSpPr>
          <p:cNvPr id="163" name="Text 161"/>
          <p:cNvSpPr txBox="1"/>
          <p:nvPr/>
        </p:nvSpPr>
        <p:spPr>
          <a:xfrm>
            <a:off x="6565392" y="3688797"/>
            <a:ext cx="1783080" cy="248502"/>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AUDI RENO</a:t>
            </a:r>
            <a:endParaRPr lang="en-US" sz="1200" dirty="0"/>
          </a:p>
        </p:txBody>
      </p:sp>
      <p:sp>
        <p:nvSpPr>
          <p:cNvPr id="164" name="Shape 162"/>
          <p:cNvSpPr/>
          <p:nvPr/>
        </p:nvSpPr>
        <p:spPr>
          <a:xfrm>
            <a:off x="8421624" y="3744710"/>
            <a:ext cx="58291" cy="136676"/>
          </a:xfrm>
          <a:prstGeom prst="rect">
            <a:avLst/>
          </a:prstGeom>
          <a:solidFill>
            <a:srgbClr val="C2352F"/>
          </a:solidFill>
          <a:ln/>
        </p:spPr>
      </p:sp>
      <p:sp>
        <p:nvSpPr>
          <p:cNvPr id="165" name="Text 163"/>
          <p:cNvSpPr txBox="1"/>
          <p:nvPr/>
        </p:nvSpPr>
        <p:spPr>
          <a:xfrm>
            <a:off x="8942832" y="3688797"/>
            <a:ext cx="786384"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4%</a:t>
            </a:r>
            <a:endParaRPr lang="en-US" sz="1300" dirty="0"/>
          </a:p>
        </p:txBody>
      </p:sp>
      <p:sp>
        <p:nvSpPr>
          <p:cNvPr id="166" name="Text 164"/>
          <p:cNvSpPr txBox="1"/>
          <p:nvPr/>
        </p:nvSpPr>
        <p:spPr>
          <a:xfrm>
            <a:off x="9729216" y="3688797"/>
            <a:ext cx="8686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$20K</a:t>
            </a:r>
            <a:endParaRPr lang="en-US" sz="1300" dirty="0"/>
          </a:p>
        </p:txBody>
      </p:sp>
      <p:sp>
        <p:nvSpPr>
          <p:cNvPr id="167" name="Text 165"/>
          <p:cNvSpPr txBox="1"/>
          <p:nvPr/>
        </p:nvSpPr>
        <p:spPr>
          <a:xfrm>
            <a:off x="10597896" y="3688797"/>
            <a:ext cx="8686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$504K</a:t>
            </a:r>
            <a:endParaRPr lang="en-US" sz="1300" dirty="0"/>
          </a:p>
        </p:txBody>
      </p:sp>
      <p:sp>
        <p:nvSpPr>
          <p:cNvPr id="168" name="Text 166"/>
          <p:cNvSpPr txBox="1"/>
          <p:nvPr/>
        </p:nvSpPr>
        <p:spPr>
          <a:xfrm>
            <a:off x="6208776" y="3937299"/>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27</a:t>
            </a:r>
            <a:endParaRPr lang="en-US" sz="1200" dirty="0"/>
          </a:p>
        </p:txBody>
      </p:sp>
      <p:sp>
        <p:nvSpPr>
          <p:cNvPr id="169" name="Text 167"/>
          <p:cNvSpPr txBox="1"/>
          <p:nvPr/>
        </p:nvSpPr>
        <p:spPr>
          <a:xfrm>
            <a:off x="6565392" y="3937299"/>
            <a:ext cx="1783080" cy="248502"/>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TOYOTA HENDERSON</a:t>
            </a:r>
            <a:endParaRPr lang="en-US" sz="1200" dirty="0"/>
          </a:p>
        </p:txBody>
      </p:sp>
      <p:sp>
        <p:nvSpPr>
          <p:cNvPr id="170" name="Shape 168"/>
          <p:cNvSpPr/>
          <p:nvPr/>
        </p:nvSpPr>
        <p:spPr>
          <a:xfrm>
            <a:off x="8421624" y="3993212"/>
            <a:ext cx="42032" cy="136676"/>
          </a:xfrm>
          <a:prstGeom prst="rect">
            <a:avLst/>
          </a:prstGeom>
          <a:solidFill>
            <a:srgbClr val="C2352F"/>
          </a:solidFill>
          <a:ln/>
        </p:spPr>
      </p:sp>
      <p:sp>
        <p:nvSpPr>
          <p:cNvPr id="171" name="Text 169"/>
          <p:cNvSpPr txBox="1"/>
          <p:nvPr/>
        </p:nvSpPr>
        <p:spPr>
          <a:xfrm>
            <a:off x="8942832" y="3937299"/>
            <a:ext cx="786384"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3%</a:t>
            </a:r>
            <a:endParaRPr lang="en-US" sz="1300" dirty="0"/>
          </a:p>
        </p:txBody>
      </p:sp>
      <p:sp>
        <p:nvSpPr>
          <p:cNvPr id="172" name="Text 170"/>
          <p:cNvSpPr txBox="1"/>
          <p:nvPr/>
        </p:nvSpPr>
        <p:spPr>
          <a:xfrm>
            <a:off x="9729216" y="3937299"/>
            <a:ext cx="8686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$70K</a:t>
            </a:r>
            <a:endParaRPr lang="en-US" sz="1300" dirty="0"/>
          </a:p>
        </p:txBody>
      </p:sp>
      <p:sp>
        <p:nvSpPr>
          <p:cNvPr id="173" name="Text 171"/>
          <p:cNvSpPr txBox="1"/>
          <p:nvPr/>
        </p:nvSpPr>
        <p:spPr>
          <a:xfrm>
            <a:off x="10597896" y="3937299"/>
            <a:ext cx="8686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$2.44M</a:t>
            </a:r>
            <a:endParaRPr lang="en-US" sz="1300" dirty="0"/>
          </a:p>
        </p:txBody>
      </p:sp>
      <p:sp>
        <p:nvSpPr>
          <p:cNvPr id="174" name="Text 172"/>
          <p:cNvSpPr txBox="1"/>
          <p:nvPr/>
        </p:nvSpPr>
        <p:spPr>
          <a:xfrm>
            <a:off x="6208776" y="4185800"/>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28</a:t>
            </a:r>
            <a:endParaRPr lang="en-US" sz="1200" dirty="0"/>
          </a:p>
        </p:txBody>
      </p:sp>
      <p:sp>
        <p:nvSpPr>
          <p:cNvPr id="175" name="Text 173"/>
          <p:cNvSpPr txBox="1"/>
          <p:nvPr/>
        </p:nvSpPr>
        <p:spPr>
          <a:xfrm>
            <a:off x="6565392" y="4185800"/>
            <a:ext cx="1783080" cy="248502"/>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MAZDA</a:t>
            </a:r>
            <a:endParaRPr lang="en-US" sz="1200" dirty="0"/>
          </a:p>
        </p:txBody>
      </p:sp>
      <p:sp>
        <p:nvSpPr>
          <p:cNvPr id="176" name="Shape 174"/>
          <p:cNvSpPr/>
          <p:nvPr/>
        </p:nvSpPr>
        <p:spPr>
          <a:xfrm>
            <a:off x="8421624" y="4241713"/>
            <a:ext cx="38916" cy="136676"/>
          </a:xfrm>
          <a:prstGeom prst="rect">
            <a:avLst/>
          </a:prstGeom>
          <a:solidFill>
            <a:srgbClr val="C2352F"/>
          </a:solidFill>
          <a:ln/>
        </p:spPr>
      </p:sp>
      <p:sp>
        <p:nvSpPr>
          <p:cNvPr id="177" name="Text 175"/>
          <p:cNvSpPr txBox="1"/>
          <p:nvPr/>
        </p:nvSpPr>
        <p:spPr>
          <a:xfrm>
            <a:off x="8942832" y="4185800"/>
            <a:ext cx="786384"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3%</a:t>
            </a:r>
            <a:endParaRPr lang="en-US" sz="1300" dirty="0"/>
          </a:p>
        </p:txBody>
      </p:sp>
      <p:sp>
        <p:nvSpPr>
          <p:cNvPr id="178" name="Text 176"/>
          <p:cNvSpPr txBox="1"/>
          <p:nvPr/>
        </p:nvSpPr>
        <p:spPr>
          <a:xfrm>
            <a:off x="9729216" y="4185800"/>
            <a:ext cx="8686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$9K</a:t>
            </a:r>
            <a:endParaRPr lang="en-US" sz="1300" dirty="0"/>
          </a:p>
        </p:txBody>
      </p:sp>
      <p:sp>
        <p:nvSpPr>
          <p:cNvPr id="179" name="Text 177"/>
          <p:cNvSpPr txBox="1"/>
          <p:nvPr/>
        </p:nvSpPr>
        <p:spPr>
          <a:xfrm>
            <a:off x="10597896" y="4185800"/>
            <a:ext cx="8686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$322K</a:t>
            </a:r>
            <a:endParaRPr lang="en-US" sz="1300" dirty="0"/>
          </a:p>
        </p:txBody>
      </p:sp>
      <p:sp>
        <p:nvSpPr>
          <p:cNvPr id="180" name="Text 178"/>
          <p:cNvSpPr txBox="1"/>
          <p:nvPr/>
        </p:nvSpPr>
        <p:spPr>
          <a:xfrm>
            <a:off x="6208776" y="4434302"/>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29</a:t>
            </a:r>
            <a:endParaRPr lang="en-US" sz="1200" dirty="0"/>
          </a:p>
        </p:txBody>
      </p:sp>
      <p:sp>
        <p:nvSpPr>
          <p:cNvPr id="181" name="Text 179"/>
          <p:cNvSpPr txBox="1"/>
          <p:nvPr/>
        </p:nvSpPr>
        <p:spPr>
          <a:xfrm>
            <a:off x="6565392" y="4434302"/>
            <a:ext cx="1783080" cy="248502"/>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TOYOTA FLAGSTAFF</a:t>
            </a:r>
            <a:endParaRPr lang="en-US" sz="1200" dirty="0"/>
          </a:p>
        </p:txBody>
      </p:sp>
      <p:sp>
        <p:nvSpPr>
          <p:cNvPr id="182" name="Shape 180"/>
          <p:cNvSpPr/>
          <p:nvPr/>
        </p:nvSpPr>
        <p:spPr>
          <a:xfrm>
            <a:off x="8421624" y="4490215"/>
            <a:ext cx="28242" cy="136676"/>
          </a:xfrm>
          <a:prstGeom prst="rect">
            <a:avLst/>
          </a:prstGeom>
          <a:solidFill>
            <a:srgbClr val="C2352F"/>
          </a:solidFill>
          <a:ln/>
        </p:spPr>
      </p:sp>
      <p:sp>
        <p:nvSpPr>
          <p:cNvPr id="183" name="Text 181"/>
          <p:cNvSpPr txBox="1"/>
          <p:nvPr/>
        </p:nvSpPr>
        <p:spPr>
          <a:xfrm>
            <a:off x="8942832" y="4434302"/>
            <a:ext cx="786384"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2%</a:t>
            </a:r>
            <a:endParaRPr lang="en-US" sz="1300" dirty="0"/>
          </a:p>
        </p:txBody>
      </p:sp>
      <p:sp>
        <p:nvSpPr>
          <p:cNvPr id="184" name="Text 182"/>
          <p:cNvSpPr txBox="1"/>
          <p:nvPr/>
        </p:nvSpPr>
        <p:spPr>
          <a:xfrm>
            <a:off x="9729216" y="4434302"/>
            <a:ext cx="8686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$10K</a:t>
            </a:r>
            <a:endParaRPr lang="en-US" sz="1300" dirty="0"/>
          </a:p>
        </p:txBody>
      </p:sp>
      <p:sp>
        <p:nvSpPr>
          <p:cNvPr id="185" name="Text 183"/>
          <p:cNvSpPr txBox="1"/>
          <p:nvPr/>
        </p:nvSpPr>
        <p:spPr>
          <a:xfrm>
            <a:off x="10597896" y="4434302"/>
            <a:ext cx="8686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$542K</a:t>
            </a:r>
            <a:endParaRPr lang="en-US" sz="1300" dirty="0"/>
          </a:p>
        </p:txBody>
      </p:sp>
      <p:sp>
        <p:nvSpPr>
          <p:cNvPr id="186" name="Text 184"/>
          <p:cNvSpPr txBox="1"/>
          <p:nvPr/>
        </p:nvSpPr>
        <p:spPr>
          <a:xfrm>
            <a:off x="6208776" y="4682804"/>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30</a:t>
            </a:r>
            <a:endParaRPr lang="en-US" sz="1200" dirty="0"/>
          </a:p>
        </p:txBody>
      </p:sp>
      <p:sp>
        <p:nvSpPr>
          <p:cNvPr id="187" name="Text 185"/>
          <p:cNvSpPr txBox="1"/>
          <p:nvPr/>
        </p:nvSpPr>
        <p:spPr>
          <a:xfrm>
            <a:off x="6565392" y="4682804"/>
            <a:ext cx="1783080" cy="248502"/>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TOYOTA SPOKANE</a:t>
            </a:r>
            <a:endParaRPr lang="en-US" sz="1200" dirty="0"/>
          </a:p>
        </p:txBody>
      </p:sp>
      <p:sp>
        <p:nvSpPr>
          <p:cNvPr id="188" name="Shape 186"/>
          <p:cNvSpPr/>
          <p:nvPr/>
        </p:nvSpPr>
        <p:spPr>
          <a:xfrm>
            <a:off x="8421624" y="4738717"/>
            <a:ext cx="27287" cy="136676"/>
          </a:xfrm>
          <a:prstGeom prst="rect">
            <a:avLst/>
          </a:prstGeom>
          <a:solidFill>
            <a:srgbClr val="C2352F"/>
          </a:solidFill>
          <a:ln/>
        </p:spPr>
      </p:sp>
      <p:sp>
        <p:nvSpPr>
          <p:cNvPr id="189" name="Text 187"/>
          <p:cNvSpPr txBox="1"/>
          <p:nvPr/>
        </p:nvSpPr>
        <p:spPr>
          <a:xfrm>
            <a:off x="8942832" y="4682804"/>
            <a:ext cx="786384"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2%</a:t>
            </a:r>
            <a:endParaRPr lang="en-US" sz="1300" dirty="0"/>
          </a:p>
        </p:txBody>
      </p:sp>
      <p:sp>
        <p:nvSpPr>
          <p:cNvPr id="190" name="Text 188"/>
          <p:cNvSpPr txBox="1"/>
          <p:nvPr/>
        </p:nvSpPr>
        <p:spPr>
          <a:xfrm>
            <a:off x="9729216" y="4682804"/>
            <a:ext cx="8686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$11K</a:t>
            </a:r>
            <a:endParaRPr lang="en-US" sz="1300" dirty="0"/>
          </a:p>
        </p:txBody>
      </p:sp>
      <p:sp>
        <p:nvSpPr>
          <p:cNvPr id="191" name="Text 189"/>
          <p:cNvSpPr txBox="1"/>
          <p:nvPr/>
        </p:nvSpPr>
        <p:spPr>
          <a:xfrm>
            <a:off x="10597896" y="4682804"/>
            <a:ext cx="8686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$609K</a:t>
            </a:r>
            <a:endParaRPr lang="en-US" sz="1300" dirty="0"/>
          </a:p>
        </p:txBody>
      </p:sp>
      <p:sp>
        <p:nvSpPr>
          <p:cNvPr id="192" name="Text 190"/>
          <p:cNvSpPr txBox="1"/>
          <p:nvPr/>
        </p:nvSpPr>
        <p:spPr>
          <a:xfrm>
            <a:off x="6208776" y="4931305"/>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31</a:t>
            </a:r>
            <a:endParaRPr lang="en-US" sz="1200" dirty="0"/>
          </a:p>
        </p:txBody>
      </p:sp>
      <p:sp>
        <p:nvSpPr>
          <p:cNvPr id="193" name="Text 191"/>
          <p:cNvSpPr txBox="1"/>
          <p:nvPr/>
        </p:nvSpPr>
        <p:spPr>
          <a:xfrm>
            <a:off x="6565392" y="4931305"/>
            <a:ext cx="1783080" cy="248502"/>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HONDA NORTH</a:t>
            </a:r>
            <a:endParaRPr lang="en-US" sz="1200" dirty="0"/>
          </a:p>
        </p:txBody>
      </p:sp>
      <p:sp>
        <p:nvSpPr>
          <p:cNvPr id="194" name="Shape 192"/>
          <p:cNvSpPr/>
          <p:nvPr/>
        </p:nvSpPr>
        <p:spPr>
          <a:xfrm>
            <a:off x="8421624" y="4987218"/>
            <a:ext cx="19910" cy="136676"/>
          </a:xfrm>
          <a:prstGeom prst="rect">
            <a:avLst/>
          </a:prstGeom>
          <a:solidFill>
            <a:srgbClr val="C2352F"/>
          </a:solidFill>
          <a:ln/>
        </p:spPr>
      </p:sp>
      <p:sp>
        <p:nvSpPr>
          <p:cNvPr id="195" name="Text 193"/>
          <p:cNvSpPr txBox="1"/>
          <p:nvPr/>
        </p:nvSpPr>
        <p:spPr>
          <a:xfrm>
            <a:off x="8942832" y="4931305"/>
            <a:ext cx="786384"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1%</a:t>
            </a:r>
            <a:endParaRPr lang="en-US" sz="1300" dirty="0"/>
          </a:p>
        </p:txBody>
      </p:sp>
      <p:sp>
        <p:nvSpPr>
          <p:cNvPr id="196" name="Text 194"/>
          <p:cNvSpPr txBox="1"/>
          <p:nvPr/>
        </p:nvSpPr>
        <p:spPr>
          <a:xfrm>
            <a:off x="9729216" y="4931305"/>
            <a:ext cx="8686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$13K</a:t>
            </a:r>
            <a:endParaRPr lang="en-US" sz="1300" dirty="0"/>
          </a:p>
        </p:txBody>
      </p:sp>
      <p:sp>
        <p:nvSpPr>
          <p:cNvPr id="197" name="Text 195"/>
          <p:cNvSpPr txBox="1"/>
          <p:nvPr/>
        </p:nvSpPr>
        <p:spPr>
          <a:xfrm>
            <a:off x="10597896" y="4931305"/>
            <a:ext cx="8686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$949K</a:t>
            </a:r>
            <a:endParaRPr lang="en-US" sz="1300" dirty="0"/>
          </a:p>
        </p:txBody>
      </p:sp>
      <p:sp>
        <p:nvSpPr>
          <p:cNvPr id="198" name="Text 196"/>
          <p:cNvSpPr txBox="1"/>
          <p:nvPr/>
        </p:nvSpPr>
        <p:spPr>
          <a:xfrm>
            <a:off x="6208776" y="5179807"/>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32</a:t>
            </a:r>
            <a:endParaRPr lang="en-US" sz="1200" dirty="0"/>
          </a:p>
        </p:txBody>
      </p:sp>
      <p:sp>
        <p:nvSpPr>
          <p:cNvPr id="199" name="Text 197"/>
          <p:cNvSpPr txBox="1"/>
          <p:nvPr/>
        </p:nvSpPr>
        <p:spPr>
          <a:xfrm>
            <a:off x="6565392" y="5179807"/>
            <a:ext cx="1783080" cy="248502"/>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HONDA HENDERSON</a:t>
            </a:r>
            <a:endParaRPr lang="en-US" sz="1200" dirty="0"/>
          </a:p>
        </p:txBody>
      </p:sp>
      <p:sp>
        <p:nvSpPr>
          <p:cNvPr id="200" name="Shape 198"/>
          <p:cNvSpPr/>
          <p:nvPr/>
        </p:nvSpPr>
        <p:spPr>
          <a:xfrm>
            <a:off x="8421624" y="5235720"/>
            <a:ext cx="18288" cy="136676"/>
          </a:xfrm>
          <a:prstGeom prst="rect">
            <a:avLst/>
          </a:prstGeom>
          <a:solidFill>
            <a:srgbClr val="C2352F"/>
          </a:solidFill>
          <a:ln/>
        </p:spPr>
      </p:sp>
      <p:sp>
        <p:nvSpPr>
          <p:cNvPr id="201" name="Text 199"/>
          <p:cNvSpPr txBox="1"/>
          <p:nvPr/>
        </p:nvSpPr>
        <p:spPr>
          <a:xfrm>
            <a:off x="8942832" y="5179807"/>
            <a:ext cx="786384"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1%</a:t>
            </a:r>
            <a:endParaRPr lang="en-US" sz="1300" dirty="0"/>
          </a:p>
        </p:txBody>
      </p:sp>
      <p:sp>
        <p:nvSpPr>
          <p:cNvPr id="202" name="Text 200"/>
          <p:cNvSpPr txBox="1"/>
          <p:nvPr/>
        </p:nvSpPr>
        <p:spPr>
          <a:xfrm>
            <a:off x="9729216" y="5179807"/>
            <a:ext cx="8686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$13K</a:t>
            </a:r>
            <a:endParaRPr lang="en-US" sz="1300" dirty="0"/>
          </a:p>
        </p:txBody>
      </p:sp>
      <p:sp>
        <p:nvSpPr>
          <p:cNvPr id="203" name="Text 201"/>
          <p:cNvSpPr txBox="1"/>
          <p:nvPr/>
        </p:nvSpPr>
        <p:spPr>
          <a:xfrm>
            <a:off x="10597896" y="5179807"/>
            <a:ext cx="8686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$1.54M</a:t>
            </a:r>
            <a:endParaRPr lang="en-US" sz="1300" dirty="0"/>
          </a:p>
        </p:txBody>
      </p:sp>
      <p:sp>
        <p:nvSpPr>
          <p:cNvPr id="204" name="Text 202"/>
          <p:cNvSpPr txBox="1"/>
          <p:nvPr/>
        </p:nvSpPr>
        <p:spPr>
          <a:xfrm>
            <a:off x="6208776" y="5428309"/>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33</a:t>
            </a:r>
            <a:endParaRPr lang="en-US" sz="1200" dirty="0"/>
          </a:p>
        </p:txBody>
      </p:sp>
      <p:sp>
        <p:nvSpPr>
          <p:cNvPr id="205" name="Text 203"/>
          <p:cNvSpPr txBox="1"/>
          <p:nvPr/>
        </p:nvSpPr>
        <p:spPr>
          <a:xfrm>
            <a:off x="6565392" y="5428309"/>
            <a:ext cx="1783080" cy="248502"/>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HONDA SPOKANE</a:t>
            </a:r>
            <a:endParaRPr lang="en-US" sz="1200" dirty="0"/>
          </a:p>
        </p:txBody>
      </p:sp>
      <p:sp>
        <p:nvSpPr>
          <p:cNvPr id="206" name="Shape 204"/>
          <p:cNvSpPr/>
          <p:nvPr/>
        </p:nvSpPr>
        <p:spPr>
          <a:xfrm>
            <a:off x="8421624" y="5484222"/>
            <a:ext cx="18288" cy="136676"/>
          </a:xfrm>
          <a:prstGeom prst="rect">
            <a:avLst/>
          </a:prstGeom>
          <a:solidFill>
            <a:srgbClr val="C2352F"/>
          </a:solidFill>
          <a:ln/>
        </p:spPr>
      </p:sp>
      <p:sp>
        <p:nvSpPr>
          <p:cNvPr id="207" name="Text 205"/>
          <p:cNvSpPr txBox="1"/>
          <p:nvPr/>
        </p:nvSpPr>
        <p:spPr>
          <a:xfrm>
            <a:off x="8942832" y="5428309"/>
            <a:ext cx="786384"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0%</a:t>
            </a:r>
            <a:endParaRPr lang="en-US" sz="1300" dirty="0"/>
          </a:p>
        </p:txBody>
      </p:sp>
      <p:sp>
        <p:nvSpPr>
          <p:cNvPr id="208" name="Text 206"/>
          <p:cNvSpPr txBox="1"/>
          <p:nvPr/>
        </p:nvSpPr>
        <p:spPr>
          <a:xfrm>
            <a:off x="9729216" y="5428309"/>
            <a:ext cx="8686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$1K</a:t>
            </a:r>
            <a:endParaRPr lang="en-US" sz="1300" dirty="0"/>
          </a:p>
        </p:txBody>
      </p:sp>
      <p:sp>
        <p:nvSpPr>
          <p:cNvPr id="209" name="Text 207"/>
          <p:cNvSpPr txBox="1"/>
          <p:nvPr/>
        </p:nvSpPr>
        <p:spPr>
          <a:xfrm>
            <a:off x="10597896" y="5428309"/>
            <a:ext cx="8686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$453K</a:t>
            </a:r>
            <a:endParaRPr lang="en-US" sz="1300" dirty="0"/>
          </a:p>
        </p:txBody>
      </p:sp>
      <p:sp>
        <p:nvSpPr>
          <p:cNvPr id="210" name="Shape 208"/>
          <p:cNvSpPr/>
          <p:nvPr/>
        </p:nvSpPr>
        <p:spPr>
          <a:xfrm>
            <a:off x="6085332" y="1700784"/>
            <a:ext cx="10973" cy="4224528"/>
          </a:xfrm>
          <a:prstGeom prst="rect">
            <a:avLst/>
          </a:prstGeom>
          <a:solidFill>
            <a:srgbClr val="D9D9D9"/>
          </a:solidFill>
          <a:ln/>
        </p:spPr>
      </p:sp>
      <p:sp>
        <p:nvSpPr>
          <p:cNvPr id="212" name="Shape 209"/>
          <p:cNvSpPr/>
          <p:nvPr/>
        </p:nvSpPr>
        <p:spPr>
          <a:xfrm>
            <a:off x="457200" y="6126480"/>
            <a:ext cx="11274552" cy="371856"/>
          </a:xfrm>
          <a:prstGeom prst="rect">
            <a:avLst/>
          </a:prstGeom>
          <a:solidFill>
            <a:srgbClr val="FBEBEA"/>
          </a:solidFill>
          <a:ln/>
        </p:spPr>
      </p:sp>
      <p:sp>
        <p:nvSpPr>
          <p:cNvPr id="213" name="Text 210"/>
          <p:cNvSpPr txBox="1"/>
          <p:nvPr/>
        </p:nvSpPr>
        <p:spPr>
          <a:xfrm>
            <a:off x="658368" y="6144768"/>
            <a:ext cx="10927080" cy="335280"/>
          </a:xfrm>
          <a:prstGeom prst="rect">
            <a:avLst/>
          </a:prstGeom>
          <a:noFill/>
          <a:ln/>
        </p:spPr>
        <p:txBody>
          <a:bodyPr wrap="square" lIns="0" tIns="0" rIns="0" bIns="0" rtlCol="0" anchor="ctr"/>
          <a:lstStyle/>
          <a:p>
            <a:pPr indent="0" marL="0">
              <a:buNone/>
            </a:pPr>
            <a:r>
              <a:rPr lang="en-US" sz="1600" b="1" dirty="0">
                <a:solidFill>
                  <a:srgbClr val="A82B26"/>
                </a:solidFill>
                <a:latin typeface="Inter" pitchFamily="34" charset="0"/>
                <a:ea typeface="Inter" pitchFamily="34" charset="-122"/>
                <a:cs typeface="Inter" pitchFamily="34" charset="-120"/>
              </a:rPr>
              <a:t>Group-wide the gap is 8.1% of RO gross. 7 stores show 20% or more.</a:t>
            </a:r>
            <a:endParaRPr lang="en-US" sz="1600" dirty="0"/>
          </a:p>
        </p:txBody>
      </p:sp>
    </p:spTree>
  </p:cSld>
  <p:clrMapOvr>
    <a:masterClrMapping/>
  </p:clrMapOvr>
</p:sld>
</file>

<file path=ppt/slides/slide151.xml><?xml version="1.0" encoding="utf-8"?>
<p:sld xmlns:a="http://schemas.openxmlformats.org/drawingml/2006/main" xmlns:p="http://schemas.openxmlformats.org/presentationml/2006/main" xmlns:r="http://schemas.openxmlformats.org/officeDocument/2006/relationships">
  <p:cSld>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WARRANTY</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Warranty Gross Profit</a:t>
            </a:r>
            <a:endParaRPr lang="en-US" sz="2800" dirty="0"/>
          </a:p>
        </p:txBody>
      </p:sp>
      <p:sp>
        <p:nvSpPr>
          <p:cNvPr id="5" name="Shape 3"/>
          <p:cNvSpPr/>
          <p:nvPr/>
        </p:nvSpPr>
        <p:spPr>
          <a:xfrm>
            <a:off x="457200" y="1207008"/>
            <a:ext cx="11274552" cy="1005840"/>
          </a:xfrm>
          <a:prstGeom prst="rect">
            <a:avLst/>
          </a:prstGeom>
          <a:solidFill>
            <a:srgbClr val="FFFFFF"/>
          </a:solidFill>
          <a:ln/>
        </p:spPr>
      </p:sp>
      <p:sp>
        <p:nvSpPr>
          <p:cNvPr id="6" name="Text 4"/>
          <p:cNvSpPr txBox="1"/>
          <p:nvPr/>
        </p:nvSpPr>
        <p:spPr>
          <a:xfrm>
            <a:off x="685800" y="1335024"/>
            <a:ext cx="2651760" cy="237744"/>
          </a:xfrm>
          <a:prstGeom prst="rect">
            <a:avLst/>
          </a:prstGeom>
          <a:noFill/>
          <a:ln/>
        </p:spPr>
        <p:txBody>
          <a:bodyPr wrap="square" lIns="0" tIns="0" rIns="0" bIns="0" rtlCol="0" anchor="ctr"/>
          <a:lstStyle/>
          <a:p>
            <a:pPr indent="0" marL="0">
              <a:buNone/>
            </a:pPr>
            <a:r>
              <a:rPr lang="en-US" sz="1400" spc="90" kern="0" dirty="0">
                <a:solidFill>
                  <a:srgbClr val="595959"/>
                </a:solidFill>
                <a:latin typeface="Inter" pitchFamily="34" charset="0"/>
                <a:ea typeface="Inter" pitchFamily="34" charset="-122"/>
                <a:cs typeface="Inter" pitchFamily="34" charset="-120"/>
              </a:rPr>
              <a:t>2025 YTD</a:t>
            </a:r>
            <a:endParaRPr lang="en-US" sz="1400" dirty="0"/>
          </a:p>
        </p:txBody>
      </p:sp>
      <p:sp>
        <p:nvSpPr>
          <p:cNvPr id="7" name="Text 5"/>
          <p:cNvSpPr txBox="1"/>
          <p:nvPr/>
        </p:nvSpPr>
        <p:spPr>
          <a:xfrm>
            <a:off x="685800" y="1554480"/>
            <a:ext cx="2697480" cy="548640"/>
          </a:xfrm>
          <a:prstGeom prst="rect">
            <a:avLst/>
          </a:prstGeom>
          <a:noFill/>
          <a:ln/>
        </p:spPr>
        <p:txBody>
          <a:bodyPr wrap="square" lIns="0" tIns="0" rIns="0" bIns="0" rtlCol="0" anchor="ctr"/>
          <a:lstStyle/>
          <a:p>
            <a:pPr indent="0" marL="0">
              <a:buNone/>
            </a:pPr>
            <a:r>
              <a:rPr lang="en-US" sz="3000" b="1" dirty="0">
                <a:solidFill>
                  <a:srgbClr val="1A1A1A"/>
                </a:solidFill>
                <a:latin typeface="Inter" pitchFamily="34" charset="0"/>
                <a:ea typeface="Inter" pitchFamily="34" charset="-122"/>
                <a:cs typeface="Inter" pitchFamily="34" charset="-120"/>
              </a:rPr>
              <a:t>$44.78M</a:t>
            </a:r>
            <a:endParaRPr lang="en-US" sz="3000" dirty="0"/>
          </a:p>
        </p:txBody>
      </p:sp>
      <p:sp>
        <p:nvSpPr>
          <p:cNvPr id="8" name="Text 6"/>
          <p:cNvSpPr txBox="1"/>
          <p:nvPr/>
        </p:nvSpPr>
        <p:spPr>
          <a:xfrm>
            <a:off x="3474720" y="1335024"/>
            <a:ext cx="2651760" cy="237744"/>
          </a:xfrm>
          <a:prstGeom prst="rect">
            <a:avLst/>
          </a:prstGeom>
          <a:noFill/>
          <a:ln/>
        </p:spPr>
        <p:txBody>
          <a:bodyPr wrap="square" lIns="0" tIns="0" rIns="0" bIns="0" rtlCol="0" anchor="ctr"/>
          <a:lstStyle/>
          <a:p>
            <a:pPr indent="0" marL="0">
              <a:buNone/>
            </a:pPr>
            <a:r>
              <a:rPr lang="en-US" sz="1400" spc="90" kern="0" dirty="0">
                <a:solidFill>
                  <a:srgbClr val="595959"/>
                </a:solidFill>
                <a:latin typeface="Inter" pitchFamily="34" charset="0"/>
                <a:ea typeface="Inter" pitchFamily="34" charset="-122"/>
                <a:cs typeface="Inter" pitchFamily="34" charset="-120"/>
              </a:rPr>
              <a:t>2026 YTD</a:t>
            </a:r>
            <a:endParaRPr lang="en-US" sz="1400" dirty="0"/>
          </a:p>
        </p:txBody>
      </p:sp>
      <p:sp>
        <p:nvSpPr>
          <p:cNvPr id="9" name="Text 7"/>
          <p:cNvSpPr txBox="1"/>
          <p:nvPr/>
        </p:nvSpPr>
        <p:spPr>
          <a:xfrm>
            <a:off x="3474720" y="1554480"/>
            <a:ext cx="2697480" cy="548640"/>
          </a:xfrm>
          <a:prstGeom prst="rect">
            <a:avLst/>
          </a:prstGeom>
          <a:noFill/>
          <a:ln/>
        </p:spPr>
        <p:txBody>
          <a:bodyPr wrap="square" lIns="0" tIns="0" rIns="0" bIns="0" rtlCol="0" anchor="ctr"/>
          <a:lstStyle/>
          <a:p>
            <a:pPr indent="0" marL="0">
              <a:buNone/>
            </a:pPr>
            <a:r>
              <a:rPr lang="en-US" sz="3000" b="1" dirty="0">
                <a:solidFill>
                  <a:srgbClr val="1A1A1A"/>
                </a:solidFill>
                <a:latin typeface="Inter" pitchFamily="34" charset="0"/>
                <a:ea typeface="Inter" pitchFamily="34" charset="-122"/>
                <a:cs typeface="Inter" pitchFamily="34" charset="-120"/>
              </a:rPr>
              <a:t>$47.07M</a:t>
            </a:r>
            <a:endParaRPr lang="en-US" sz="3000" dirty="0"/>
          </a:p>
        </p:txBody>
      </p:sp>
      <p:sp>
        <p:nvSpPr>
          <p:cNvPr id="10" name="Text 8"/>
          <p:cNvSpPr txBox="1"/>
          <p:nvPr/>
        </p:nvSpPr>
        <p:spPr>
          <a:xfrm>
            <a:off x="6263640" y="1335024"/>
            <a:ext cx="2651760" cy="237744"/>
          </a:xfrm>
          <a:prstGeom prst="rect">
            <a:avLst/>
          </a:prstGeom>
          <a:noFill/>
          <a:ln/>
        </p:spPr>
        <p:txBody>
          <a:bodyPr wrap="square" lIns="0" tIns="0" rIns="0" bIns="0" rtlCol="0" anchor="ctr"/>
          <a:lstStyle/>
          <a:p>
            <a:pPr indent="0" marL="0">
              <a:buNone/>
            </a:pPr>
            <a:r>
              <a:rPr lang="en-US" sz="1400" spc="90" kern="0" dirty="0">
                <a:solidFill>
                  <a:srgbClr val="595959"/>
                </a:solidFill>
                <a:latin typeface="Inter" pitchFamily="34" charset="0"/>
                <a:ea typeface="Inter" pitchFamily="34" charset="-122"/>
                <a:cs typeface="Inter" pitchFamily="34" charset="-120"/>
              </a:rPr>
              <a:t>VARIANCE</a:t>
            </a:r>
            <a:endParaRPr lang="en-US" sz="1400" dirty="0"/>
          </a:p>
        </p:txBody>
      </p:sp>
      <p:sp>
        <p:nvSpPr>
          <p:cNvPr id="11" name="Text 9"/>
          <p:cNvSpPr txBox="1"/>
          <p:nvPr/>
        </p:nvSpPr>
        <p:spPr>
          <a:xfrm>
            <a:off x="6263640" y="1554480"/>
            <a:ext cx="2697480" cy="548640"/>
          </a:xfrm>
          <a:prstGeom prst="rect">
            <a:avLst/>
          </a:prstGeom>
          <a:noFill/>
          <a:ln/>
        </p:spPr>
        <p:txBody>
          <a:bodyPr wrap="square" lIns="0" tIns="0" rIns="0" bIns="0" rtlCol="0" anchor="ctr"/>
          <a:lstStyle/>
          <a:p>
            <a:pPr indent="0" marL="0">
              <a:buNone/>
            </a:pPr>
            <a:r>
              <a:rPr lang="en-US" sz="3000" b="1" dirty="0">
                <a:solidFill>
                  <a:srgbClr val="0B7A4A"/>
                </a:solidFill>
                <a:latin typeface="Inter" pitchFamily="34" charset="0"/>
                <a:ea typeface="Inter" pitchFamily="34" charset="-122"/>
                <a:cs typeface="Inter" pitchFamily="34" charset="-120"/>
              </a:rPr>
              <a:t>+$2.29M</a:t>
            </a:r>
            <a:endParaRPr lang="en-US" sz="3000" dirty="0"/>
          </a:p>
        </p:txBody>
      </p:sp>
      <p:sp>
        <p:nvSpPr>
          <p:cNvPr id="12" name="Text 10"/>
          <p:cNvSpPr txBox="1"/>
          <p:nvPr/>
        </p:nvSpPr>
        <p:spPr>
          <a:xfrm>
            <a:off x="9052560" y="1335024"/>
            <a:ext cx="2651760" cy="237744"/>
          </a:xfrm>
          <a:prstGeom prst="rect">
            <a:avLst/>
          </a:prstGeom>
          <a:noFill/>
          <a:ln/>
        </p:spPr>
        <p:txBody>
          <a:bodyPr wrap="square" lIns="0" tIns="0" rIns="0" bIns="0" rtlCol="0" anchor="ctr"/>
          <a:lstStyle/>
          <a:p>
            <a:pPr indent="0" marL="0">
              <a:buNone/>
            </a:pPr>
            <a:r>
              <a:rPr lang="en-US" sz="1400" spc="90" kern="0" dirty="0">
                <a:solidFill>
                  <a:srgbClr val="595959"/>
                </a:solidFill>
                <a:latin typeface="Inter" pitchFamily="34" charset="0"/>
                <a:ea typeface="Inter" pitchFamily="34" charset="-122"/>
                <a:cs typeface="Inter" pitchFamily="34" charset="-120"/>
              </a:rPr>
              <a:t>VAR %</a:t>
            </a:r>
            <a:endParaRPr lang="en-US" sz="1400" dirty="0"/>
          </a:p>
        </p:txBody>
      </p:sp>
      <p:sp>
        <p:nvSpPr>
          <p:cNvPr id="13" name="Text 11"/>
          <p:cNvSpPr txBox="1"/>
          <p:nvPr/>
        </p:nvSpPr>
        <p:spPr>
          <a:xfrm>
            <a:off x="9052560" y="1554480"/>
            <a:ext cx="2697480" cy="548640"/>
          </a:xfrm>
          <a:prstGeom prst="rect">
            <a:avLst/>
          </a:prstGeom>
          <a:noFill/>
          <a:ln/>
        </p:spPr>
        <p:txBody>
          <a:bodyPr wrap="square" lIns="0" tIns="0" rIns="0" bIns="0" rtlCol="0" anchor="ctr"/>
          <a:lstStyle/>
          <a:p>
            <a:pPr indent="0" marL="0">
              <a:buNone/>
            </a:pPr>
            <a:r>
              <a:rPr lang="en-US" sz="3000" b="1" dirty="0">
                <a:solidFill>
                  <a:srgbClr val="0B7A4A"/>
                </a:solidFill>
                <a:latin typeface="Inter" pitchFamily="34" charset="0"/>
                <a:ea typeface="Inter" pitchFamily="34" charset="-122"/>
                <a:cs typeface="Inter" pitchFamily="34" charset="-120"/>
              </a:rPr>
              <a:t>+5.1%</a:t>
            </a:r>
            <a:endParaRPr lang="en-US" sz="3000" dirty="0"/>
          </a:p>
        </p:txBody>
      </p:sp>
      <p:sp>
        <p:nvSpPr>
          <p:cNvPr id="14" name="Shape 12"/>
          <p:cNvSpPr/>
          <p:nvPr/>
        </p:nvSpPr>
        <p:spPr>
          <a:xfrm>
            <a:off x="457200" y="2322576"/>
            <a:ext cx="11274552" cy="3666744"/>
          </a:xfrm>
          <a:prstGeom prst="rect">
            <a:avLst/>
          </a:prstGeom>
          <a:solidFill>
            <a:srgbClr val="FFFFFF"/>
          </a:solidFill>
          <a:ln/>
        </p:spPr>
      </p:sp>
      <p:sp>
        <p:nvSpPr>
          <p:cNvPr id="15" name="Text 13"/>
          <p:cNvSpPr txBox="1"/>
          <p:nvPr/>
        </p:nvSpPr>
        <p:spPr>
          <a:xfrm>
            <a:off x="685800" y="2459736"/>
            <a:ext cx="10817352" cy="292608"/>
          </a:xfrm>
          <a:prstGeom prst="rect">
            <a:avLst/>
          </a:prstGeom>
          <a:noFill/>
          <a:ln/>
        </p:spPr>
        <p:txBody>
          <a:bodyPr wrap="square" lIns="0" tIns="0" rIns="0" bIns="0" rtlCol="0" anchor="ctr"/>
          <a:lstStyle/>
          <a:p>
            <a:pPr indent="0" marL="0">
              <a:buNone/>
            </a:pPr>
            <a:r>
              <a:rPr lang="en-US" sz="1500" dirty="0">
                <a:solidFill>
                  <a:srgbClr val="1A1A1A"/>
                </a:solidFill>
                <a:latin typeface="Inter" pitchFamily="34" charset="0"/>
                <a:ea typeface="Inter" pitchFamily="34" charset="-122"/>
                <a:cs typeface="Inter" pitchFamily="34" charset="-120"/>
              </a:rPr>
              <a:t>Warranty gross profit by month, 2025 against 2026 ($M)</a:t>
            </a:r>
            <a:endParaRPr lang="en-US" sz="1500" dirty="0"/>
          </a:p>
        </p:txBody>
      </p:sp>
      <p:sp>
        <p:nvSpPr>
          <p:cNvPr id="16" name="Shape 14"/>
          <p:cNvSpPr/>
          <p:nvPr/>
        </p:nvSpPr>
        <p:spPr>
          <a:xfrm>
            <a:off x="685800" y="2807208"/>
            <a:ext cx="10817352" cy="10973"/>
          </a:xfrm>
          <a:prstGeom prst="rect">
            <a:avLst/>
          </a:prstGeom>
          <a:solidFill>
            <a:srgbClr val="1A1A1A"/>
          </a:solidFill>
          <a:ln/>
        </p:spPr>
      </p:sp>
      <p:graphicFrame>
        <p:nvGraphicFramePr>
          <p:cNvPr id="17" name="Chart 0" descr=""/>
          <p:cNvGraphicFramePr/>
          <p:nvPr/>
        </p:nvGraphicFramePr>
        <p:xfrm>
          <a:off x="621792" y="3218688"/>
          <a:ext cx="10945368" cy="2679192"/>
        </p:xfrm>
        <a:graphic>
          <a:graphicData uri="http://schemas.openxmlformats.org/drawingml/2006/chart">
            <c:chart xmlns:c="http://schemas.openxmlformats.org/drawingml/2006/chart" r:id="rId2"/>
          </a:graphicData>
        </a:graphic>
      </p:graphicFrame>
      <p:graphicFrame>
        <p:nvGraphicFramePr>
          <p:cNvPr id="18" name="Chart 1" descr=""/>
          <p:cNvGraphicFramePr/>
          <p:nvPr/>
        </p:nvGraphicFramePr>
        <p:xfrm>
          <a:off x="621792" y="3218688"/>
          <a:ext cx="10945368" cy="2679192"/>
        </p:xfrm>
        <a:graphic>
          <a:graphicData uri="http://schemas.openxmlformats.org/drawingml/2006/chart">
            <c:chart xmlns:c="http://schemas.openxmlformats.org/drawingml/2006/chart" r:id="rId3"/>
          </a:graphicData>
        </a:graphic>
      </p:graphicFrame>
      <p:graphicFrame>
        <p:nvGraphicFramePr>
          <p:cNvPr id="19" name="Chart 2" descr=""/>
          <p:cNvGraphicFramePr/>
          <p:nvPr/>
        </p:nvGraphicFramePr>
        <p:xfrm>
          <a:off x="621792" y="3218688"/>
          <a:ext cx="10945368" cy="2679192"/>
        </p:xfrm>
        <a:graphic>
          <a:graphicData uri="http://schemas.openxmlformats.org/drawingml/2006/chart">
            <c:chart xmlns:c="http://schemas.openxmlformats.org/drawingml/2006/chart" r:id="rId4"/>
          </a:graphicData>
        </a:graphic>
      </p:graphicFrame>
      <p:graphicFrame>
        <p:nvGraphicFramePr>
          <p:cNvPr id="20" name="Chart 3" descr=""/>
          <p:cNvGraphicFramePr/>
          <p:nvPr/>
        </p:nvGraphicFramePr>
        <p:xfrm>
          <a:off x="621792" y="3218688"/>
          <a:ext cx="10945368" cy="2679192"/>
        </p:xfrm>
        <a:graphic>
          <a:graphicData uri="http://schemas.openxmlformats.org/drawingml/2006/chart">
            <c:chart xmlns:c="http://schemas.openxmlformats.org/drawingml/2006/chart" r:id="rId5"/>
          </a:graphicData>
        </a:graphic>
      </p:graphicFrame>
      <p:graphicFrame>
        <p:nvGraphicFramePr>
          <p:cNvPr id="21" name="Chart 4" descr=""/>
          <p:cNvGraphicFramePr/>
          <p:nvPr/>
        </p:nvGraphicFramePr>
        <p:xfrm>
          <a:off x="621792" y="3218688"/>
          <a:ext cx="10945368" cy="2679192"/>
        </p:xfrm>
        <a:graphic>
          <a:graphicData uri="http://schemas.openxmlformats.org/drawingml/2006/chart">
            <c:chart xmlns:c="http://schemas.openxmlformats.org/drawingml/2006/chart" r:id="rId6"/>
          </a:graphicData>
        </a:graphic>
      </p:graphicFrame>
      <p:graphicFrame>
        <p:nvGraphicFramePr>
          <p:cNvPr id="22" name="Chart 5" descr=""/>
          <p:cNvGraphicFramePr/>
          <p:nvPr/>
        </p:nvGraphicFramePr>
        <p:xfrm>
          <a:off x="621792" y="3218688"/>
          <a:ext cx="10945368" cy="2679192"/>
        </p:xfrm>
        <a:graphic>
          <a:graphicData uri="http://schemas.openxmlformats.org/drawingml/2006/chart">
            <c:chart xmlns:c="http://schemas.openxmlformats.org/drawingml/2006/chart" r:id="rId7"/>
          </a:graphicData>
        </a:graphic>
      </p:graphicFrame>
      <p:sp>
        <p:nvSpPr>
          <p:cNvPr id="23" name="Shape 15"/>
          <p:cNvSpPr/>
          <p:nvPr/>
        </p:nvSpPr>
        <p:spPr>
          <a:xfrm>
            <a:off x="4951476" y="3049524"/>
            <a:ext cx="310896" cy="45720"/>
          </a:xfrm>
          <a:prstGeom prst="rect">
            <a:avLst/>
          </a:prstGeom>
          <a:solidFill>
            <a:srgbClr val="9AA3AD"/>
          </a:solidFill>
          <a:ln/>
        </p:spPr>
      </p:sp>
      <p:sp>
        <p:nvSpPr>
          <p:cNvPr id="24" name="Shape 16"/>
          <p:cNvSpPr/>
          <p:nvPr/>
        </p:nvSpPr>
        <p:spPr>
          <a:xfrm>
            <a:off x="5052060" y="3017520"/>
            <a:ext cx="109728" cy="109728"/>
          </a:xfrm>
          <a:prstGeom prst="ellipse">
            <a:avLst/>
          </a:prstGeom>
          <a:solidFill>
            <a:srgbClr val="9AA3AD"/>
          </a:solidFill>
          <a:ln/>
        </p:spPr>
      </p:sp>
      <p:sp>
        <p:nvSpPr>
          <p:cNvPr id="25" name="Text 17"/>
          <p:cNvSpPr txBox="1"/>
          <p:nvPr/>
        </p:nvSpPr>
        <p:spPr>
          <a:xfrm>
            <a:off x="5335524" y="2926080"/>
            <a:ext cx="777240" cy="292608"/>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2025</a:t>
            </a:r>
            <a:endParaRPr lang="en-US" sz="1400" dirty="0"/>
          </a:p>
        </p:txBody>
      </p:sp>
      <p:sp>
        <p:nvSpPr>
          <p:cNvPr id="26" name="Shape 18"/>
          <p:cNvSpPr/>
          <p:nvPr/>
        </p:nvSpPr>
        <p:spPr>
          <a:xfrm>
            <a:off x="6185916" y="3049524"/>
            <a:ext cx="310896" cy="45720"/>
          </a:xfrm>
          <a:prstGeom prst="rect">
            <a:avLst/>
          </a:prstGeom>
          <a:solidFill>
            <a:srgbClr val="2587C5"/>
          </a:solidFill>
          <a:ln/>
        </p:spPr>
      </p:sp>
      <p:sp>
        <p:nvSpPr>
          <p:cNvPr id="27" name="Shape 19"/>
          <p:cNvSpPr/>
          <p:nvPr/>
        </p:nvSpPr>
        <p:spPr>
          <a:xfrm>
            <a:off x="6286500" y="3017520"/>
            <a:ext cx="109728" cy="109728"/>
          </a:xfrm>
          <a:prstGeom prst="ellipse">
            <a:avLst/>
          </a:prstGeom>
          <a:solidFill>
            <a:srgbClr val="2587C5"/>
          </a:solidFill>
          <a:ln/>
        </p:spPr>
      </p:sp>
      <p:sp>
        <p:nvSpPr>
          <p:cNvPr id="28" name="Text 20"/>
          <p:cNvSpPr txBox="1"/>
          <p:nvPr/>
        </p:nvSpPr>
        <p:spPr>
          <a:xfrm>
            <a:off x="6569964" y="2926080"/>
            <a:ext cx="777240" cy="292608"/>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2026</a:t>
            </a:r>
            <a:endParaRPr lang="en-US" sz="1400" dirty="0"/>
          </a:p>
        </p:txBody>
      </p:sp>
      <p:sp>
        <p:nvSpPr>
          <p:cNvPr id="29" name="Shape 21"/>
          <p:cNvSpPr/>
          <p:nvPr/>
        </p:nvSpPr>
        <p:spPr>
          <a:xfrm>
            <a:off x="457200" y="6126480"/>
            <a:ext cx="11274552" cy="615696"/>
          </a:xfrm>
          <a:prstGeom prst="rect">
            <a:avLst/>
          </a:prstGeom>
          <a:solidFill>
            <a:srgbClr val="E6F6EE"/>
          </a:solidFill>
          <a:ln/>
        </p:spPr>
      </p:sp>
      <p:sp>
        <p:nvSpPr>
          <p:cNvPr id="30" name="Text 22"/>
          <p:cNvSpPr txBox="1"/>
          <p:nvPr/>
        </p:nvSpPr>
        <p:spPr>
          <a:xfrm>
            <a:off x="658368" y="6144768"/>
            <a:ext cx="10927080" cy="579120"/>
          </a:xfrm>
          <a:prstGeom prst="rect">
            <a:avLst/>
          </a:prstGeom>
          <a:noFill/>
          <a:ln/>
        </p:spPr>
        <p:txBody>
          <a:bodyPr wrap="square" lIns="0" tIns="0" rIns="0" bIns="0" rtlCol="0" anchor="ctr"/>
          <a:lstStyle/>
          <a:p>
            <a:pPr indent="0" marL="0">
              <a:buNone/>
            </a:pPr>
            <a:r>
              <a:rPr lang="en-US" sz="1600" b="1" dirty="0">
                <a:solidFill>
                  <a:srgbClr val="0B7A4A"/>
                </a:solidFill>
                <a:latin typeface="Inter" pitchFamily="34" charset="0"/>
                <a:ea typeface="Inter" pitchFamily="34" charset="-122"/>
                <a:cs typeface="Inter" pitchFamily="34" charset="-120"/>
              </a:rPr>
              <a:t>+$2.29M (+5.1%) of warranty gross year to date; 6 of nine months ahead of 2025, largest gain in September, +$877K. This is money the manufacturer owes us: process keeps it.</a:t>
            </a:r>
            <a:endParaRPr lang="en-US" sz="1600" dirty="0"/>
          </a:p>
        </p:txBody>
      </p:sp>
    </p:spTree>
  </p:cSld>
  <p:clrMapOvr>
    <a:masterClrMapping/>
  </p:clrMapOvr>
</p:sld>
</file>

<file path=ppt/slides/slide158.xml><?xml version="1.0" encoding="utf-8"?>
<p:sld xmlns:a="http://schemas.openxmlformats.org/drawingml/2006/main" xmlns:p="http://schemas.openxmlformats.org/presentationml/2006/main" xmlns:r="http://schemas.openxmlformats.org/officeDocument/2006/relationships">
  <p:cSld>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FIXED OPS · MOST IMPROVED</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Two Ways to Read Improvement</a:t>
            </a:r>
            <a:endParaRPr lang="en-US" sz="2800" dirty="0"/>
          </a:p>
        </p:txBody>
      </p:sp>
      <p:sp>
        <p:nvSpPr>
          <p:cNvPr id="5" name="Shape 3"/>
          <p:cNvSpPr/>
          <p:nvPr/>
        </p:nvSpPr>
        <p:spPr>
          <a:xfrm>
            <a:off x="457200" y="1207008"/>
            <a:ext cx="5559552" cy="4645152"/>
          </a:xfrm>
          <a:prstGeom prst="rect">
            <a:avLst/>
          </a:prstGeom>
          <a:solidFill>
            <a:srgbClr val="FFFFFF"/>
          </a:solidFill>
          <a:ln/>
        </p:spPr>
      </p:sp>
      <p:sp>
        <p:nvSpPr>
          <p:cNvPr id="6" name="Text 4"/>
          <p:cNvSpPr txBox="1"/>
          <p:nvPr/>
        </p:nvSpPr>
        <p:spPr>
          <a:xfrm>
            <a:off x="685800" y="1344168"/>
            <a:ext cx="5102352" cy="292608"/>
          </a:xfrm>
          <a:prstGeom prst="rect">
            <a:avLst/>
          </a:prstGeom>
          <a:noFill/>
          <a:ln/>
        </p:spPr>
        <p:txBody>
          <a:bodyPr wrap="square" lIns="0" tIns="0" rIns="0" bIns="0" rtlCol="0" anchor="ctr"/>
          <a:lstStyle/>
          <a:p>
            <a:pPr indent="0" marL="0">
              <a:buNone/>
            </a:pPr>
            <a:r>
              <a:rPr lang="en-US" sz="1500" dirty="0">
                <a:solidFill>
                  <a:srgbClr val="1A1A1A"/>
                </a:solidFill>
                <a:latin typeface="Inter" pitchFamily="34" charset="0"/>
                <a:ea typeface="Inter" pitchFamily="34" charset="-122"/>
                <a:cs typeface="Inter" pitchFamily="34" charset="-120"/>
              </a:rPr>
              <a:t>Better than last year · Jan–Sep 2026 vs Jan–Sep 2025</a:t>
            </a:r>
            <a:endParaRPr lang="en-US" sz="1500" dirty="0"/>
          </a:p>
        </p:txBody>
      </p:sp>
      <p:sp>
        <p:nvSpPr>
          <p:cNvPr id="7" name="Shape 5"/>
          <p:cNvSpPr/>
          <p:nvPr/>
        </p:nvSpPr>
        <p:spPr>
          <a:xfrm>
            <a:off x="685800" y="1691640"/>
            <a:ext cx="5102352" cy="10973"/>
          </a:xfrm>
          <a:prstGeom prst="rect">
            <a:avLst/>
          </a:prstGeom>
          <a:solidFill>
            <a:srgbClr val="1A1A1A"/>
          </a:solidFill>
          <a:ln/>
        </p:spPr>
      </p:sp>
      <p:sp>
        <p:nvSpPr>
          <p:cNvPr id="8" name="Text 6"/>
          <p:cNvSpPr txBox="1"/>
          <p:nvPr/>
        </p:nvSpPr>
        <p:spPr>
          <a:xfrm>
            <a:off x="685800" y="1792224"/>
            <a:ext cx="5102352" cy="274320"/>
          </a:xfrm>
          <a:prstGeom prst="rect">
            <a:avLst/>
          </a:prstGeom>
          <a:noFill/>
          <a:ln/>
        </p:spPr>
        <p:txBody>
          <a:bodyPr wrap="square" lIns="0" tIns="0" rIns="0" bIns="0" rtlCol="0" anchor="ctr"/>
          <a:lstStyle/>
          <a:p>
            <a:pPr indent="0" marL="0">
              <a:buNone/>
            </a:pPr>
            <a:r>
              <a:rPr lang="en-US" sz="1400" dirty="0">
                <a:solidFill>
                  <a:srgbClr val="595959"/>
                </a:solidFill>
                <a:latin typeface="Inter" pitchFamily="34" charset="0"/>
                <a:ea typeface="Inter" pitchFamily="34" charset="-122"/>
                <a:cs typeface="Inter" pitchFamily="34" charset="-120"/>
              </a:rPr>
              <a:t>Top-5 finishes, of five measures</a:t>
            </a:r>
            <a:endParaRPr lang="en-US" sz="1400" dirty="0"/>
          </a:p>
        </p:txBody>
      </p:sp>
      <p:sp>
        <p:nvSpPr>
          <p:cNvPr id="9" name="Shape 7"/>
          <p:cNvSpPr/>
          <p:nvPr/>
        </p:nvSpPr>
        <p:spPr>
          <a:xfrm>
            <a:off x="621792" y="2176272"/>
            <a:ext cx="5230368" cy="585216"/>
          </a:xfrm>
          <a:prstGeom prst="rect">
            <a:avLst/>
          </a:prstGeom>
          <a:solidFill>
            <a:srgbClr val="F7F7F7"/>
          </a:solidFill>
          <a:ln/>
        </p:spPr>
      </p:sp>
      <p:sp>
        <p:nvSpPr>
          <p:cNvPr id="10" name="Text 8"/>
          <p:cNvSpPr txBox="1"/>
          <p:nvPr/>
        </p:nvSpPr>
        <p:spPr>
          <a:xfrm>
            <a:off x="731520" y="2221992"/>
            <a:ext cx="2377440" cy="274320"/>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SUBARU PRESCOTT</a:t>
            </a:r>
            <a:endParaRPr lang="en-US" sz="1400" dirty="0"/>
          </a:p>
        </p:txBody>
      </p:sp>
      <p:sp>
        <p:nvSpPr>
          <p:cNvPr id="11" name="Text 9"/>
          <p:cNvSpPr txBox="1"/>
          <p:nvPr/>
        </p:nvSpPr>
        <p:spPr>
          <a:xfrm>
            <a:off x="731520" y="2478024"/>
            <a:ext cx="3520440" cy="237744"/>
          </a:xfrm>
          <a:prstGeom prst="rect">
            <a:avLst/>
          </a:prstGeom>
          <a:noFill/>
          <a:ln/>
        </p:spPr>
        <p:txBody>
          <a:bodyPr wrap="square" lIns="0" tIns="0" rIns="0" bIns="0" rtlCol="0" anchor="ctr"/>
          <a:lstStyle/>
          <a:p>
            <a:pPr indent="0" marL="0">
              <a:buNone/>
            </a:pPr>
            <a:r>
              <a:rPr lang="en-US" sz="1300" dirty="0">
                <a:solidFill>
                  <a:srgbClr val="595959"/>
                </a:solidFill>
                <a:latin typeface="Inter" pitchFamily="34" charset="0"/>
                <a:ea typeface="Inter" pitchFamily="34" charset="-122"/>
                <a:cs typeface="Inter" pitchFamily="34" charset="-120"/>
              </a:rPr>
              <a:t>CP gross, hours/RO, ELR, parts GP%</a:t>
            </a:r>
            <a:endParaRPr lang="en-US" sz="1300" dirty="0"/>
          </a:p>
        </p:txBody>
      </p:sp>
      <p:sp>
        <p:nvSpPr>
          <p:cNvPr id="12" name="Shape 10"/>
          <p:cNvSpPr/>
          <p:nvPr/>
        </p:nvSpPr>
        <p:spPr>
          <a:xfrm>
            <a:off x="4343400" y="2351837"/>
            <a:ext cx="960120" cy="234086"/>
          </a:xfrm>
          <a:prstGeom prst="rect">
            <a:avLst/>
          </a:prstGeom>
          <a:solidFill>
            <a:srgbClr val="12A566"/>
          </a:solidFill>
          <a:ln/>
        </p:spPr>
      </p:sp>
      <p:sp>
        <p:nvSpPr>
          <p:cNvPr id="13" name="Text 11"/>
          <p:cNvSpPr txBox="1"/>
          <p:nvPr/>
        </p:nvSpPr>
        <p:spPr>
          <a:xfrm>
            <a:off x="5330952" y="2176272"/>
            <a:ext cx="411480" cy="585216"/>
          </a:xfrm>
          <a:prstGeom prst="rect">
            <a:avLst/>
          </a:prstGeom>
          <a:noFill/>
          <a:ln/>
        </p:spPr>
        <p:txBody>
          <a:bodyPr wrap="square" lIns="0" tIns="0" rIns="0" bIns="0" rtlCol="0" anchor="ctr"/>
          <a:lstStyle/>
          <a:p>
            <a:pPr algn="r" indent="0" marL="0">
              <a:buNone/>
            </a:pPr>
            <a:r>
              <a:rPr lang="en-US" sz="1800" b="1" dirty="0">
                <a:solidFill>
                  <a:srgbClr val="0B7A4A"/>
                </a:solidFill>
                <a:latin typeface="Inter" pitchFamily="34" charset="0"/>
                <a:ea typeface="Inter" pitchFamily="34" charset="-122"/>
                <a:cs typeface="Inter" pitchFamily="34" charset="-120"/>
              </a:rPr>
              <a:t>4</a:t>
            </a:r>
            <a:endParaRPr lang="en-US" sz="1800" dirty="0"/>
          </a:p>
        </p:txBody>
      </p:sp>
      <p:sp>
        <p:nvSpPr>
          <p:cNvPr id="14" name="Text 12"/>
          <p:cNvSpPr txBox="1"/>
          <p:nvPr/>
        </p:nvSpPr>
        <p:spPr>
          <a:xfrm>
            <a:off x="731520" y="2807208"/>
            <a:ext cx="2377440" cy="274320"/>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LINCOLN</a:t>
            </a:r>
            <a:endParaRPr lang="en-US" sz="1400" dirty="0"/>
          </a:p>
        </p:txBody>
      </p:sp>
      <p:sp>
        <p:nvSpPr>
          <p:cNvPr id="15" name="Text 13"/>
          <p:cNvSpPr txBox="1"/>
          <p:nvPr/>
        </p:nvSpPr>
        <p:spPr>
          <a:xfrm>
            <a:off x="731520" y="3063240"/>
            <a:ext cx="3520440" cy="237744"/>
          </a:xfrm>
          <a:prstGeom prst="rect">
            <a:avLst/>
          </a:prstGeom>
          <a:noFill/>
          <a:ln/>
        </p:spPr>
        <p:txBody>
          <a:bodyPr wrap="square" lIns="0" tIns="0" rIns="0" bIns="0" rtlCol="0" anchor="ctr"/>
          <a:lstStyle/>
          <a:p>
            <a:pPr indent="0" marL="0">
              <a:buNone/>
            </a:pPr>
            <a:r>
              <a:rPr lang="en-US" sz="1300" dirty="0">
                <a:solidFill>
                  <a:srgbClr val="595959"/>
                </a:solidFill>
                <a:latin typeface="Inter" pitchFamily="34" charset="0"/>
                <a:ea typeface="Inter" pitchFamily="34" charset="-122"/>
                <a:cs typeface="Inter" pitchFamily="34" charset="-120"/>
              </a:rPr>
              <a:t>CP gross, ELR, parts GP%</a:t>
            </a:r>
            <a:endParaRPr lang="en-US" sz="1300" dirty="0"/>
          </a:p>
        </p:txBody>
      </p:sp>
      <p:sp>
        <p:nvSpPr>
          <p:cNvPr id="16" name="Shape 14"/>
          <p:cNvSpPr/>
          <p:nvPr/>
        </p:nvSpPr>
        <p:spPr>
          <a:xfrm>
            <a:off x="4343400" y="2937053"/>
            <a:ext cx="720090" cy="234086"/>
          </a:xfrm>
          <a:prstGeom prst="rect">
            <a:avLst/>
          </a:prstGeom>
          <a:solidFill>
            <a:srgbClr val="12A566"/>
          </a:solidFill>
          <a:ln/>
        </p:spPr>
      </p:sp>
      <p:sp>
        <p:nvSpPr>
          <p:cNvPr id="17" name="Text 15"/>
          <p:cNvSpPr txBox="1"/>
          <p:nvPr/>
        </p:nvSpPr>
        <p:spPr>
          <a:xfrm>
            <a:off x="5330952" y="2761488"/>
            <a:ext cx="411480" cy="585216"/>
          </a:xfrm>
          <a:prstGeom prst="rect">
            <a:avLst/>
          </a:prstGeom>
          <a:noFill/>
          <a:ln/>
        </p:spPr>
        <p:txBody>
          <a:bodyPr wrap="square" lIns="0" tIns="0" rIns="0" bIns="0" rtlCol="0" anchor="ctr"/>
          <a:lstStyle/>
          <a:p>
            <a:pPr algn="r" indent="0" marL="0">
              <a:buNone/>
            </a:pPr>
            <a:r>
              <a:rPr lang="en-US" sz="1800" b="1" dirty="0">
                <a:solidFill>
                  <a:srgbClr val="0B7A4A"/>
                </a:solidFill>
                <a:latin typeface="Inter" pitchFamily="34" charset="0"/>
                <a:ea typeface="Inter" pitchFamily="34" charset="-122"/>
                <a:cs typeface="Inter" pitchFamily="34" charset="-120"/>
              </a:rPr>
              <a:t>3</a:t>
            </a:r>
            <a:endParaRPr lang="en-US" sz="1800" dirty="0"/>
          </a:p>
        </p:txBody>
      </p:sp>
      <p:sp>
        <p:nvSpPr>
          <p:cNvPr id="18" name="Shape 16"/>
          <p:cNvSpPr/>
          <p:nvPr/>
        </p:nvSpPr>
        <p:spPr>
          <a:xfrm>
            <a:off x="621792" y="3346704"/>
            <a:ext cx="5230368" cy="585216"/>
          </a:xfrm>
          <a:prstGeom prst="rect">
            <a:avLst/>
          </a:prstGeom>
          <a:solidFill>
            <a:srgbClr val="F7F7F7"/>
          </a:solidFill>
          <a:ln/>
        </p:spPr>
      </p:sp>
      <p:sp>
        <p:nvSpPr>
          <p:cNvPr id="19" name="Text 17"/>
          <p:cNvSpPr txBox="1"/>
          <p:nvPr/>
        </p:nvSpPr>
        <p:spPr>
          <a:xfrm>
            <a:off x="731520" y="3392424"/>
            <a:ext cx="2377440" cy="274320"/>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SUBARU ST GEORGE</a:t>
            </a:r>
            <a:endParaRPr lang="en-US" sz="1400" dirty="0"/>
          </a:p>
        </p:txBody>
      </p:sp>
      <p:sp>
        <p:nvSpPr>
          <p:cNvPr id="20" name="Text 18"/>
          <p:cNvSpPr txBox="1"/>
          <p:nvPr/>
        </p:nvSpPr>
        <p:spPr>
          <a:xfrm>
            <a:off x="731520" y="3648456"/>
            <a:ext cx="3520440" cy="237744"/>
          </a:xfrm>
          <a:prstGeom prst="rect">
            <a:avLst/>
          </a:prstGeom>
          <a:noFill/>
          <a:ln/>
        </p:spPr>
        <p:txBody>
          <a:bodyPr wrap="square" lIns="0" tIns="0" rIns="0" bIns="0" rtlCol="0" anchor="ctr"/>
          <a:lstStyle/>
          <a:p>
            <a:pPr indent="0" marL="0">
              <a:buNone/>
            </a:pPr>
            <a:r>
              <a:rPr lang="en-US" sz="1300" dirty="0">
                <a:solidFill>
                  <a:srgbClr val="595959"/>
                </a:solidFill>
                <a:latin typeface="Inter" pitchFamily="34" charset="0"/>
                <a:ea typeface="Inter" pitchFamily="34" charset="-122"/>
                <a:cs typeface="Inter" pitchFamily="34" charset="-120"/>
              </a:rPr>
              <a:t>CP gross, CP ROs, hours/RO</a:t>
            </a:r>
            <a:endParaRPr lang="en-US" sz="1300" dirty="0"/>
          </a:p>
        </p:txBody>
      </p:sp>
      <p:sp>
        <p:nvSpPr>
          <p:cNvPr id="21" name="Shape 19"/>
          <p:cNvSpPr/>
          <p:nvPr/>
        </p:nvSpPr>
        <p:spPr>
          <a:xfrm>
            <a:off x="4343400" y="3522269"/>
            <a:ext cx="720090" cy="234086"/>
          </a:xfrm>
          <a:prstGeom prst="rect">
            <a:avLst/>
          </a:prstGeom>
          <a:solidFill>
            <a:srgbClr val="12A566"/>
          </a:solidFill>
          <a:ln/>
        </p:spPr>
      </p:sp>
      <p:sp>
        <p:nvSpPr>
          <p:cNvPr id="22" name="Text 20"/>
          <p:cNvSpPr txBox="1"/>
          <p:nvPr/>
        </p:nvSpPr>
        <p:spPr>
          <a:xfrm>
            <a:off x="5330952" y="3346704"/>
            <a:ext cx="411480" cy="585216"/>
          </a:xfrm>
          <a:prstGeom prst="rect">
            <a:avLst/>
          </a:prstGeom>
          <a:noFill/>
          <a:ln/>
        </p:spPr>
        <p:txBody>
          <a:bodyPr wrap="square" lIns="0" tIns="0" rIns="0" bIns="0" rtlCol="0" anchor="ctr"/>
          <a:lstStyle/>
          <a:p>
            <a:pPr algn="r" indent="0" marL="0">
              <a:buNone/>
            </a:pPr>
            <a:r>
              <a:rPr lang="en-US" sz="1800" b="1" dirty="0">
                <a:solidFill>
                  <a:srgbClr val="0B7A4A"/>
                </a:solidFill>
                <a:latin typeface="Inter" pitchFamily="34" charset="0"/>
                <a:ea typeface="Inter" pitchFamily="34" charset="-122"/>
                <a:cs typeface="Inter" pitchFamily="34" charset="-120"/>
              </a:rPr>
              <a:t>3</a:t>
            </a:r>
            <a:endParaRPr lang="en-US" sz="1800" dirty="0"/>
          </a:p>
        </p:txBody>
      </p:sp>
      <p:sp>
        <p:nvSpPr>
          <p:cNvPr id="23" name="Text 21"/>
          <p:cNvSpPr txBox="1"/>
          <p:nvPr/>
        </p:nvSpPr>
        <p:spPr>
          <a:xfrm>
            <a:off x="731520" y="3977640"/>
            <a:ext cx="2377440" cy="274320"/>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KIA ST GEORGE</a:t>
            </a:r>
            <a:endParaRPr lang="en-US" sz="1400" dirty="0"/>
          </a:p>
        </p:txBody>
      </p:sp>
      <p:sp>
        <p:nvSpPr>
          <p:cNvPr id="24" name="Text 22"/>
          <p:cNvSpPr txBox="1"/>
          <p:nvPr/>
        </p:nvSpPr>
        <p:spPr>
          <a:xfrm>
            <a:off x="731520" y="4233672"/>
            <a:ext cx="3520440" cy="237744"/>
          </a:xfrm>
          <a:prstGeom prst="rect">
            <a:avLst/>
          </a:prstGeom>
          <a:noFill/>
          <a:ln/>
        </p:spPr>
        <p:txBody>
          <a:bodyPr wrap="square" lIns="0" tIns="0" rIns="0" bIns="0" rtlCol="0" anchor="ctr"/>
          <a:lstStyle/>
          <a:p>
            <a:pPr indent="0" marL="0">
              <a:buNone/>
            </a:pPr>
            <a:r>
              <a:rPr lang="en-US" sz="1300" dirty="0">
                <a:solidFill>
                  <a:srgbClr val="595959"/>
                </a:solidFill>
                <a:latin typeface="Inter" pitchFamily="34" charset="0"/>
                <a:ea typeface="Inter" pitchFamily="34" charset="-122"/>
                <a:cs typeface="Inter" pitchFamily="34" charset="-120"/>
              </a:rPr>
              <a:t>CP gross, hours/RO</a:t>
            </a:r>
            <a:endParaRPr lang="en-US" sz="1300" dirty="0"/>
          </a:p>
        </p:txBody>
      </p:sp>
      <p:sp>
        <p:nvSpPr>
          <p:cNvPr id="25" name="Shape 23"/>
          <p:cNvSpPr/>
          <p:nvPr/>
        </p:nvSpPr>
        <p:spPr>
          <a:xfrm>
            <a:off x="4343400" y="4107485"/>
            <a:ext cx="480060" cy="234086"/>
          </a:xfrm>
          <a:prstGeom prst="rect">
            <a:avLst/>
          </a:prstGeom>
          <a:solidFill>
            <a:srgbClr val="12A566"/>
          </a:solidFill>
          <a:ln/>
        </p:spPr>
      </p:sp>
      <p:sp>
        <p:nvSpPr>
          <p:cNvPr id="26" name="Text 24"/>
          <p:cNvSpPr txBox="1"/>
          <p:nvPr/>
        </p:nvSpPr>
        <p:spPr>
          <a:xfrm>
            <a:off x="5330952" y="3931920"/>
            <a:ext cx="411480" cy="585216"/>
          </a:xfrm>
          <a:prstGeom prst="rect">
            <a:avLst/>
          </a:prstGeom>
          <a:noFill/>
          <a:ln/>
        </p:spPr>
        <p:txBody>
          <a:bodyPr wrap="square" lIns="0" tIns="0" rIns="0" bIns="0" rtlCol="0" anchor="ctr"/>
          <a:lstStyle/>
          <a:p>
            <a:pPr algn="r" indent="0" marL="0">
              <a:buNone/>
            </a:pPr>
            <a:r>
              <a:rPr lang="en-US" sz="1800" b="1" dirty="0">
                <a:solidFill>
                  <a:srgbClr val="0B7A4A"/>
                </a:solidFill>
                <a:latin typeface="Inter" pitchFamily="34" charset="0"/>
                <a:ea typeface="Inter" pitchFamily="34" charset="-122"/>
                <a:cs typeface="Inter" pitchFamily="34" charset="-120"/>
              </a:rPr>
              <a:t>2</a:t>
            </a:r>
            <a:endParaRPr lang="en-US" sz="1800" dirty="0"/>
          </a:p>
        </p:txBody>
      </p:sp>
      <p:sp>
        <p:nvSpPr>
          <p:cNvPr id="27" name="Shape 25"/>
          <p:cNvSpPr/>
          <p:nvPr/>
        </p:nvSpPr>
        <p:spPr>
          <a:xfrm>
            <a:off x="5788152" y="3968496"/>
            <a:ext cx="64008" cy="512064"/>
          </a:xfrm>
          <a:prstGeom prst="rect">
            <a:avLst/>
          </a:prstGeom>
          <a:solidFill>
            <a:srgbClr val="12A566"/>
          </a:solidFill>
          <a:ln/>
        </p:spPr>
      </p:sp>
      <p:sp>
        <p:nvSpPr>
          <p:cNvPr id="28" name="Shape 26"/>
          <p:cNvSpPr/>
          <p:nvPr/>
        </p:nvSpPr>
        <p:spPr>
          <a:xfrm>
            <a:off x="621792" y="4517136"/>
            <a:ext cx="5230368" cy="585216"/>
          </a:xfrm>
          <a:prstGeom prst="rect">
            <a:avLst/>
          </a:prstGeom>
          <a:solidFill>
            <a:srgbClr val="F7F7F7"/>
          </a:solidFill>
          <a:ln/>
        </p:spPr>
      </p:sp>
      <p:sp>
        <p:nvSpPr>
          <p:cNvPr id="29" name="Text 27"/>
          <p:cNvSpPr txBox="1"/>
          <p:nvPr/>
        </p:nvSpPr>
        <p:spPr>
          <a:xfrm>
            <a:off x="731520" y="4562856"/>
            <a:ext cx="2377440" cy="274320"/>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KIA LV</a:t>
            </a:r>
            <a:endParaRPr lang="en-US" sz="1400" dirty="0"/>
          </a:p>
        </p:txBody>
      </p:sp>
      <p:sp>
        <p:nvSpPr>
          <p:cNvPr id="30" name="Text 28"/>
          <p:cNvSpPr txBox="1"/>
          <p:nvPr/>
        </p:nvSpPr>
        <p:spPr>
          <a:xfrm>
            <a:off x="731520" y="4818888"/>
            <a:ext cx="3520440" cy="237744"/>
          </a:xfrm>
          <a:prstGeom prst="rect">
            <a:avLst/>
          </a:prstGeom>
          <a:noFill/>
          <a:ln/>
        </p:spPr>
        <p:txBody>
          <a:bodyPr wrap="square" lIns="0" tIns="0" rIns="0" bIns="0" rtlCol="0" anchor="ctr"/>
          <a:lstStyle/>
          <a:p>
            <a:pPr indent="0" marL="0">
              <a:buNone/>
            </a:pPr>
            <a:r>
              <a:rPr lang="en-US" sz="1300" dirty="0">
                <a:solidFill>
                  <a:srgbClr val="595959"/>
                </a:solidFill>
                <a:latin typeface="Inter" pitchFamily="34" charset="0"/>
                <a:ea typeface="Inter" pitchFamily="34" charset="-122"/>
                <a:cs typeface="Inter" pitchFamily="34" charset="-120"/>
              </a:rPr>
              <a:t>CP ROs, hours/RO</a:t>
            </a:r>
            <a:endParaRPr lang="en-US" sz="1300" dirty="0"/>
          </a:p>
        </p:txBody>
      </p:sp>
      <p:sp>
        <p:nvSpPr>
          <p:cNvPr id="31" name="Shape 29"/>
          <p:cNvSpPr/>
          <p:nvPr/>
        </p:nvSpPr>
        <p:spPr>
          <a:xfrm>
            <a:off x="4343400" y="4692701"/>
            <a:ext cx="480060" cy="234086"/>
          </a:xfrm>
          <a:prstGeom prst="rect">
            <a:avLst/>
          </a:prstGeom>
          <a:solidFill>
            <a:srgbClr val="12A566"/>
          </a:solidFill>
          <a:ln/>
        </p:spPr>
      </p:sp>
      <p:sp>
        <p:nvSpPr>
          <p:cNvPr id="32" name="Text 30"/>
          <p:cNvSpPr txBox="1"/>
          <p:nvPr/>
        </p:nvSpPr>
        <p:spPr>
          <a:xfrm>
            <a:off x="5330952" y="4517136"/>
            <a:ext cx="411480" cy="585216"/>
          </a:xfrm>
          <a:prstGeom prst="rect">
            <a:avLst/>
          </a:prstGeom>
          <a:noFill/>
          <a:ln/>
        </p:spPr>
        <p:txBody>
          <a:bodyPr wrap="square" lIns="0" tIns="0" rIns="0" bIns="0" rtlCol="0" anchor="ctr"/>
          <a:lstStyle/>
          <a:p>
            <a:pPr algn="r" indent="0" marL="0">
              <a:buNone/>
            </a:pPr>
            <a:r>
              <a:rPr lang="en-US" sz="1800" b="1" dirty="0">
                <a:solidFill>
                  <a:srgbClr val="0B7A4A"/>
                </a:solidFill>
                <a:latin typeface="Inter" pitchFamily="34" charset="0"/>
                <a:ea typeface="Inter" pitchFamily="34" charset="-122"/>
                <a:cs typeface="Inter" pitchFamily="34" charset="-120"/>
              </a:rPr>
              <a:t>2</a:t>
            </a:r>
            <a:endParaRPr lang="en-US" sz="1800" dirty="0"/>
          </a:p>
        </p:txBody>
      </p:sp>
      <p:sp>
        <p:nvSpPr>
          <p:cNvPr id="33" name="Text 31"/>
          <p:cNvSpPr txBox="1"/>
          <p:nvPr/>
        </p:nvSpPr>
        <p:spPr>
          <a:xfrm>
            <a:off x="731520" y="5148072"/>
            <a:ext cx="2377440" cy="274320"/>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LR RENO</a:t>
            </a:r>
            <a:endParaRPr lang="en-US" sz="1400" dirty="0"/>
          </a:p>
        </p:txBody>
      </p:sp>
      <p:sp>
        <p:nvSpPr>
          <p:cNvPr id="34" name="Text 32"/>
          <p:cNvSpPr txBox="1"/>
          <p:nvPr/>
        </p:nvSpPr>
        <p:spPr>
          <a:xfrm>
            <a:off x="731520" y="5404104"/>
            <a:ext cx="3520440" cy="237744"/>
          </a:xfrm>
          <a:prstGeom prst="rect">
            <a:avLst/>
          </a:prstGeom>
          <a:noFill/>
          <a:ln/>
        </p:spPr>
        <p:txBody>
          <a:bodyPr wrap="square" lIns="0" tIns="0" rIns="0" bIns="0" rtlCol="0" anchor="ctr"/>
          <a:lstStyle/>
          <a:p>
            <a:pPr indent="0" marL="0">
              <a:buNone/>
            </a:pPr>
            <a:r>
              <a:rPr lang="en-US" sz="1300" dirty="0">
                <a:solidFill>
                  <a:srgbClr val="595959"/>
                </a:solidFill>
                <a:latin typeface="Inter" pitchFamily="34" charset="0"/>
                <a:ea typeface="Inter" pitchFamily="34" charset="-122"/>
                <a:cs typeface="Inter" pitchFamily="34" charset="-120"/>
              </a:rPr>
              <a:t>CP ROs, parts GP%</a:t>
            </a:r>
            <a:endParaRPr lang="en-US" sz="1300" dirty="0"/>
          </a:p>
        </p:txBody>
      </p:sp>
      <p:sp>
        <p:nvSpPr>
          <p:cNvPr id="35" name="Shape 33"/>
          <p:cNvSpPr/>
          <p:nvPr/>
        </p:nvSpPr>
        <p:spPr>
          <a:xfrm>
            <a:off x="4343400" y="5277917"/>
            <a:ext cx="480060" cy="234086"/>
          </a:xfrm>
          <a:prstGeom prst="rect">
            <a:avLst/>
          </a:prstGeom>
          <a:solidFill>
            <a:srgbClr val="12A566"/>
          </a:solidFill>
          <a:ln/>
        </p:spPr>
      </p:sp>
      <p:sp>
        <p:nvSpPr>
          <p:cNvPr id="36" name="Text 34"/>
          <p:cNvSpPr txBox="1"/>
          <p:nvPr/>
        </p:nvSpPr>
        <p:spPr>
          <a:xfrm>
            <a:off x="5330952" y="5102352"/>
            <a:ext cx="411480" cy="585216"/>
          </a:xfrm>
          <a:prstGeom prst="rect">
            <a:avLst/>
          </a:prstGeom>
          <a:noFill/>
          <a:ln/>
        </p:spPr>
        <p:txBody>
          <a:bodyPr wrap="square" lIns="0" tIns="0" rIns="0" bIns="0" rtlCol="0" anchor="ctr"/>
          <a:lstStyle/>
          <a:p>
            <a:pPr algn="r" indent="0" marL="0">
              <a:buNone/>
            </a:pPr>
            <a:r>
              <a:rPr lang="en-US" sz="1800" b="1" dirty="0">
                <a:solidFill>
                  <a:srgbClr val="0B7A4A"/>
                </a:solidFill>
                <a:latin typeface="Inter" pitchFamily="34" charset="0"/>
                <a:ea typeface="Inter" pitchFamily="34" charset="-122"/>
                <a:cs typeface="Inter" pitchFamily="34" charset="-120"/>
              </a:rPr>
              <a:t>2</a:t>
            </a:r>
            <a:endParaRPr lang="en-US" sz="1800" dirty="0"/>
          </a:p>
        </p:txBody>
      </p:sp>
      <p:sp>
        <p:nvSpPr>
          <p:cNvPr id="37" name="Shape 35"/>
          <p:cNvSpPr/>
          <p:nvPr/>
        </p:nvSpPr>
        <p:spPr>
          <a:xfrm>
            <a:off x="6172200" y="1207008"/>
            <a:ext cx="5559552" cy="4645152"/>
          </a:xfrm>
          <a:prstGeom prst="rect">
            <a:avLst/>
          </a:prstGeom>
          <a:solidFill>
            <a:srgbClr val="FFFFFF"/>
          </a:solidFill>
          <a:ln/>
        </p:spPr>
      </p:sp>
      <p:sp>
        <p:nvSpPr>
          <p:cNvPr id="38" name="Text 36"/>
          <p:cNvSpPr txBox="1"/>
          <p:nvPr/>
        </p:nvSpPr>
        <p:spPr>
          <a:xfrm>
            <a:off x="6400800" y="1344168"/>
            <a:ext cx="5102352" cy="292608"/>
          </a:xfrm>
          <a:prstGeom prst="rect">
            <a:avLst/>
          </a:prstGeom>
          <a:noFill/>
          <a:ln/>
        </p:spPr>
        <p:txBody>
          <a:bodyPr wrap="square" lIns="0" tIns="0" rIns="0" bIns="0" rtlCol="0" anchor="ctr"/>
          <a:lstStyle/>
          <a:p>
            <a:pPr indent="0" marL="0">
              <a:buNone/>
            </a:pPr>
            <a:r>
              <a:rPr lang="en-US" sz="1500" dirty="0">
                <a:solidFill>
                  <a:srgbClr val="1A1A1A"/>
                </a:solidFill>
                <a:latin typeface="Inter" pitchFamily="34" charset="0"/>
                <a:ea typeface="Inter" pitchFamily="34" charset="-122"/>
                <a:cs typeface="Inter" pitchFamily="34" charset="-120"/>
              </a:rPr>
              <a:t>Moving now · Q3 vs Q1, this year</a:t>
            </a:r>
            <a:endParaRPr lang="en-US" sz="1500" dirty="0"/>
          </a:p>
        </p:txBody>
      </p:sp>
      <p:sp>
        <p:nvSpPr>
          <p:cNvPr id="39" name="Shape 37"/>
          <p:cNvSpPr/>
          <p:nvPr/>
        </p:nvSpPr>
        <p:spPr>
          <a:xfrm>
            <a:off x="6400800" y="1691640"/>
            <a:ext cx="5102352" cy="10973"/>
          </a:xfrm>
          <a:prstGeom prst="rect">
            <a:avLst/>
          </a:prstGeom>
          <a:solidFill>
            <a:srgbClr val="1A1A1A"/>
          </a:solidFill>
          <a:ln/>
        </p:spPr>
      </p:sp>
      <p:sp>
        <p:nvSpPr>
          <p:cNvPr id="40" name="Text 38"/>
          <p:cNvSpPr txBox="1"/>
          <p:nvPr/>
        </p:nvSpPr>
        <p:spPr>
          <a:xfrm>
            <a:off x="6400800" y="1792224"/>
            <a:ext cx="5102352" cy="274320"/>
          </a:xfrm>
          <a:prstGeom prst="rect">
            <a:avLst/>
          </a:prstGeom>
          <a:noFill/>
          <a:ln/>
        </p:spPr>
        <p:txBody>
          <a:bodyPr wrap="square" lIns="0" tIns="0" rIns="0" bIns="0" rtlCol="0" anchor="ctr"/>
          <a:lstStyle/>
          <a:p>
            <a:pPr indent="0" marL="0">
              <a:buNone/>
            </a:pPr>
            <a:r>
              <a:rPr lang="en-US" sz="1400" dirty="0">
                <a:solidFill>
                  <a:srgbClr val="595959"/>
                </a:solidFill>
                <a:latin typeface="Inter" pitchFamily="34" charset="0"/>
                <a:ea typeface="Inter" pitchFamily="34" charset="-122"/>
                <a:cs typeface="Inter" pitchFamily="34" charset="-120"/>
              </a:rPr>
              <a:t>Top-5 finishes, of five measures</a:t>
            </a:r>
            <a:endParaRPr lang="en-US" sz="1400" dirty="0"/>
          </a:p>
        </p:txBody>
      </p:sp>
      <p:sp>
        <p:nvSpPr>
          <p:cNvPr id="41" name="Shape 39"/>
          <p:cNvSpPr/>
          <p:nvPr/>
        </p:nvSpPr>
        <p:spPr>
          <a:xfrm>
            <a:off x="6336792" y="2176272"/>
            <a:ext cx="5230368" cy="585216"/>
          </a:xfrm>
          <a:prstGeom prst="rect">
            <a:avLst/>
          </a:prstGeom>
          <a:solidFill>
            <a:srgbClr val="F7F7F7"/>
          </a:solidFill>
          <a:ln/>
        </p:spPr>
      </p:sp>
      <p:sp>
        <p:nvSpPr>
          <p:cNvPr id="42" name="Text 40"/>
          <p:cNvSpPr txBox="1"/>
          <p:nvPr/>
        </p:nvSpPr>
        <p:spPr>
          <a:xfrm>
            <a:off x="6446520" y="2221992"/>
            <a:ext cx="2377440" cy="274320"/>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MAZDA</a:t>
            </a:r>
            <a:endParaRPr lang="en-US" sz="1400" dirty="0"/>
          </a:p>
        </p:txBody>
      </p:sp>
      <p:sp>
        <p:nvSpPr>
          <p:cNvPr id="43" name="Text 41"/>
          <p:cNvSpPr txBox="1"/>
          <p:nvPr/>
        </p:nvSpPr>
        <p:spPr>
          <a:xfrm>
            <a:off x="6446520" y="2478024"/>
            <a:ext cx="3520440" cy="237744"/>
          </a:xfrm>
          <a:prstGeom prst="rect">
            <a:avLst/>
          </a:prstGeom>
          <a:noFill/>
          <a:ln/>
        </p:spPr>
        <p:txBody>
          <a:bodyPr wrap="square" lIns="0" tIns="0" rIns="0" bIns="0" rtlCol="0" anchor="ctr"/>
          <a:lstStyle/>
          <a:p>
            <a:pPr indent="0" marL="0">
              <a:buNone/>
            </a:pPr>
            <a:r>
              <a:rPr lang="en-US" sz="1300" dirty="0">
                <a:solidFill>
                  <a:srgbClr val="595959"/>
                </a:solidFill>
                <a:latin typeface="Inter" pitchFamily="34" charset="0"/>
                <a:ea typeface="Inter" pitchFamily="34" charset="-122"/>
                <a:cs typeface="Inter" pitchFamily="34" charset="-120"/>
              </a:rPr>
              <a:t>CP gross, CP ROs, hours/RO</a:t>
            </a:r>
            <a:endParaRPr lang="en-US" sz="1300" dirty="0"/>
          </a:p>
        </p:txBody>
      </p:sp>
      <p:sp>
        <p:nvSpPr>
          <p:cNvPr id="44" name="Shape 42"/>
          <p:cNvSpPr/>
          <p:nvPr/>
        </p:nvSpPr>
        <p:spPr>
          <a:xfrm>
            <a:off x="10058400" y="2351837"/>
            <a:ext cx="960120" cy="234086"/>
          </a:xfrm>
          <a:prstGeom prst="rect">
            <a:avLst/>
          </a:prstGeom>
          <a:solidFill>
            <a:srgbClr val="12A566"/>
          </a:solidFill>
          <a:ln/>
        </p:spPr>
      </p:sp>
      <p:sp>
        <p:nvSpPr>
          <p:cNvPr id="45" name="Text 43"/>
          <p:cNvSpPr txBox="1"/>
          <p:nvPr/>
        </p:nvSpPr>
        <p:spPr>
          <a:xfrm>
            <a:off x="11045952" y="2176272"/>
            <a:ext cx="411480" cy="585216"/>
          </a:xfrm>
          <a:prstGeom prst="rect">
            <a:avLst/>
          </a:prstGeom>
          <a:noFill/>
          <a:ln/>
        </p:spPr>
        <p:txBody>
          <a:bodyPr wrap="square" lIns="0" tIns="0" rIns="0" bIns="0" rtlCol="0" anchor="ctr"/>
          <a:lstStyle/>
          <a:p>
            <a:pPr algn="r" indent="0" marL="0">
              <a:buNone/>
            </a:pPr>
            <a:r>
              <a:rPr lang="en-US" sz="1800" b="1" dirty="0">
                <a:solidFill>
                  <a:srgbClr val="0B7A4A"/>
                </a:solidFill>
                <a:latin typeface="Inter" pitchFamily="34" charset="0"/>
                <a:ea typeface="Inter" pitchFamily="34" charset="-122"/>
                <a:cs typeface="Inter" pitchFamily="34" charset="-120"/>
              </a:rPr>
              <a:t>3</a:t>
            </a:r>
            <a:endParaRPr lang="en-US" sz="1800" dirty="0"/>
          </a:p>
        </p:txBody>
      </p:sp>
      <p:sp>
        <p:nvSpPr>
          <p:cNvPr id="46" name="Text 44"/>
          <p:cNvSpPr txBox="1"/>
          <p:nvPr/>
        </p:nvSpPr>
        <p:spPr>
          <a:xfrm>
            <a:off x="6446520" y="2807208"/>
            <a:ext cx="2377440" cy="274320"/>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KIA ST GEORGE</a:t>
            </a:r>
            <a:endParaRPr lang="en-US" sz="1400" dirty="0"/>
          </a:p>
        </p:txBody>
      </p:sp>
      <p:sp>
        <p:nvSpPr>
          <p:cNvPr id="47" name="Text 45"/>
          <p:cNvSpPr txBox="1"/>
          <p:nvPr/>
        </p:nvSpPr>
        <p:spPr>
          <a:xfrm>
            <a:off x="6446520" y="3063240"/>
            <a:ext cx="3520440" cy="237744"/>
          </a:xfrm>
          <a:prstGeom prst="rect">
            <a:avLst/>
          </a:prstGeom>
          <a:noFill/>
          <a:ln/>
        </p:spPr>
        <p:txBody>
          <a:bodyPr wrap="square" lIns="0" tIns="0" rIns="0" bIns="0" rtlCol="0" anchor="ctr"/>
          <a:lstStyle/>
          <a:p>
            <a:pPr indent="0" marL="0">
              <a:buNone/>
            </a:pPr>
            <a:r>
              <a:rPr lang="en-US" sz="1300" dirty="0">
                <a:solidFill>
                  <a:srgbClr val="595959"/>
                </a:solidFill>
                <a:latin typeface="Inter" pitchFamily="34" charset="0"/>
                <a:ea typeface="Inter" pitchFamily="34" charset="-122"/>
                <a:cs typeface="Inter" pitchFamily="34" charset="-120"/>
              </a:rPr>
              <a:t>CP gross, hours/RO, ELR</a:t>
            </a:r>
            <a:endParaRPr lang="en-US" sz="1300" dirty="0"/>
          </a:p>
        </p:txBody>
      </p:sp>
      <p:sp>
        <p:nvSpPr>
          <p:cNvPr id="48" name="Shape 46"/>
          <p:cNvSpPr/>
          <p:nvPr/>
        </p:nvSpPr>
        <p:spPr>
          <a:xfrm>
            <a:off x="10058400" y="2937053"/>
            <a:ext cx="960120" cy="234086"/>
          </a:xfrm>
          <a:prstGeom prst="rect">
            <a:avLst/>
          </a:prstGeom>
          <a:solidFill>
            <a:srgbClr val="12A566"/>
          </a:solidFill>
          <a:ln/>
        </p:spPr>
      </p:sp>
      <p:sp>
        <p:nvSpPr>
          <p:cNvPr id="49" name="Text 47"/>
          <p:cNvSpPr txBox="1"/>
          <p:nvPr/>
        </p:nvSpPr>
        <p:spPr>
          <a:xfrm>
            <a:off x="11045952" y="2761488"/>
            <a:ext cx="411480" cy="585216"/>
          </a:xfrm>
          <a:prstGeom prst="rect">
            <a:avLst/>
          </a:prstGeom>
          <a:noFill/>
          <a:ln/>
        </p:spPr>
        <p:txBody>
          <a:bodyPr wrap="square" lIns="0" tIns="0" rIns="0" bIns="0" rtlCol="0" anchor="ctr"/>
          <a:lstStyle/>
          <a:p>
            <a:pPr algn="r" indent="0" marL="0">
              <a:buNone/>
            </a:pPr>
            <a:r>
              <a:rPr lang="en-US" sz="1800" b="1" dirty="0">
                <a:solidFill>
                  <a:srgbClr val="0B7A4A"/>
                </a:solidFill>
                <a:latin typeface="Inter" pitchFamily="34" charset="0"/>
                <a:ea typeface="Inter" pitchFamily="34" charset="-122"/>
                <a:cs typeface="Inter" pitchFamily="34" charset="-120"/>
              </a:rPr>
              <a:t>3</a:t>
            </a:r>
            <a:endParaRPr lang="en-US" sz="1800" dirty="0"/>
          </a:p>
        </p:txBody>
      </p:sp>
      <p:sp>
        <p:nvSpPr>
          <p:cNvPr id="50" name="Shape 48"/>
          <p:cNvSpPr/>
          <p:nvPr/>
        </p:nvSpPr>
        <p:spPr>
          <a:xfrm>
            <a:off x="11503152" y="2798064"/>
            <a:ext cx="64008" cy="512064"/>
          </a:xfrm>
          <a:prstGeom prst="rect">
            <a:avLst/>
          </a:prstGeom>
          <a:solidFill>
            <a:srgbClr val="12A566"/>
          </a:solidFill>
          <a:ln/>
        </p:spPr>
      </p:sp>
      <p:sp>
        <p:nvSpPr>
          <p:cNvPr id="51" name="Shape 49"/>
          <p:cNvSpPr/>
          <p:nvPr/>
        </p:nvSpPr>
        <p:spPr>
          <a:xfrm>
            <a:off x="6336792" y="3346704"/>
            <a:ext cx="5230368" cy="585216"/>
          </a:xfrm>
          <a:prstGeom prst="rect">
            <a:avLst/>
          </a:prstGeom>
          <a:solidFill>
            <a:srgbClr val="F7F7F7"/>
          </a:solidFill>
          <a:ln/>
        </p:spPr>
      </p:sp>
      <p:sp>
        <p:nvSpPr>
          <p:cNvPr id="52" name="Text 50"/>
          <p:cNvSpPr txBox="1"/>
          <p:nvPr/>
        </p:nvSpPr>
        <p:spPr>
          <a:xfrm>
            <a:off x="6446520" y="3392424"/>
            <a:ext cx="2377440" cy="274320"/>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VW ST GEORGE</a:t>
            </a:r>
            <a:endParaRPr lang="en-US" sz="1400" dirty="0"/>
          </a:p>
        </p:txBody>
      </p:sp>
      <p:sp>
        <p:nvSpPr>
          <p:cNvPr id="53" name="Text 51"/>
          <p:cNvSpPr txBox="1"/>
          <p:nvPr/>
        </p:nvSpPr>
        <p:spPr>
          <a:xfrm>
            <a:off x="6446520" y="3648456"/>
            <a:ext cx="3520440" cy="237744"/>
          </a:xfrm>
          <a:prstGeom prst="rect">
            <a:avLst/>
          </a:prstGeom>
          <a:noFill/>
          <a:ln/>
        </p:spPr>
        <p:txBody>
          <a:bodyPr wrap="square" lIns="0" tIns="0" rIns="0" bIns="0" rtlCol="0" anchor="ctr"/>
          <a:lstStyle/>
          <a:p>
            <a:pPr indent="0" marL="0">
              <a:buNone/>
            </a:pPr>
            <a:r>
              <a:rPr lang="en-US" sz="1300" dirty="0">
                <a:solidFill>
                  <a:srgbClr val="595959"/>
                </a:solidFill>
                <a:latin typeface="Inter" pitchFamily="34" charset="0"/>
                <a:ea typeface="Inter" pitchFamily="34" charset="-122"/>
                <a:cs typeface="Inter" pitchFamily="34" charset="-120"/>
              </a:rPr>
              <a:t>CP gross, ELR, parts GP%</a:t>
            </a:r>
            <a:endParaRPr lang="en-US" sz="1300" dirty="0"/>
          </a:p>
        </p:txBody>
      </p:sp>
      <p:sp>
        <p:nvSpPr>
          <p:cNvPr id="54" name="Shape 52"/>
          <p:cNvSpPr/>
          <p:nvPr/>
        </p:nvSpPr>
        <p:spPr>
          <a:xfrm>
            <a:off x="10058400" y="3522269"/>
            <a:ext cx="960120" cy="234086"/>
          </a:xfrm>
          <a:prstGeom prst="rect">
            <a:avLst/>
          </a:prstGeom>
          <a:solidFill>
            <a:srgbClr val="12A566"/>
          </a:solidFill>
          <a:ln/>
        </p:spPr>
      </p:sp>
      <p:sp>
        <p:nvSpPr>
          <p:cNvPr id="55" name="Text 53"/>
          <p:cNvSpPr txBox="1"/>
          <p:nvPr/>
        </p:nvSpPr>
        <p:spPr>
          <a:xfrm>
            <a:off x="11045952" y="3346704"/>
            <a:ext cx="411480" cy="585216"/>
          </a:xfrm>
          <a:prstGeom prst="rect">
            <a:avLst/>
          </a:prstGeom>
          <a:noFill/>
          <a:ln/>
        </p:spPr>
        <p:txBody>
          <a:bodyPr wrap="square" lIns="0" tIns="0" rIns="0" bIns="0" rtlCol="0" anchor="ctr"/>
          <a:lstStyle/>
          <a:p>
            <a:pPr algn="r" indent="0" marL="0">
              <a:buNone/>
            </a:pPr>
            <a:r>
              <a:rPr lang="en-US" sz="1800" b="1" dirty="0">
                <a:solidFill>
                  <a:srgbClr val="0B7A4A"/>
                </a:solidFill>
                <a:latin typeface="Inter" pitchFamily="34" charset="0"/>
                <a:ea typeface="Inter" pitchFamily="34" charset="-122"/>
                <a:cs typeface="Inter" pitchFamily="34" charset="-120"/>
              </a:rPr>
              <a:t>3</a:t>
            </a:r>
            <a:endParaRPr lang="en-US" sz="1800" dirty="0"/>
          </a:p>
        </p:txBody>
      </p:sp>
      <p:sp>
        <p:nvSpPr>
          <p:cNvPr id="56" name="Text 54"/>
          <p:cNvSpPr txBox="1"/>
          <p:nvPr/>
        </p:nvSpPr>
        <p:spPr>
          <a:xfrm>
            <a:off x="6446520" y="3977640"/>
            <a:ext cx="2377440" cy="274320"/>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CDJR POST FALLS</a:t>
            </a:r>
            <a:endParaRPr lang="en-US" sz="1400" dirty="0"/>
          </a:p>
        </p:txBody>
      </p:sp>
      <p:sp>
        <p:nvSpPr>
          <p:cNvPr id="57" name="Text 55"/>
          <p:cNvSpPr txBox="1"/>
          <p:nvPr/>
        </p:nvSpPr>
        <p:spPr>
          <a:xfrm>
            <a:off x="6446520" y="4233672"/>
            <a:ext cx="3520440" cy="237744"/>
          </a:xfrm>
          <a:prstGeom prst="rect">
            <a:avLst/>
          </a:prstGeom>
          <a:noFill/>
          <a:ln/>
        </p:spPr>
        <p:txBody>
          <a:bodyPr wrap="square" lIns="0" tIns="0" rIns="0" bIns="0" rtlCol="0" anchor="ctr"/>
          <a:lstStyle/>
          <a:p>
            <a:pPr indent="0" marL="0">
              <a:buNone/>
            </a:pPr>
            <a:r>
              <a:rPr lang="en-US" sz="1300" dirty="0">
                <a:solidFill>
                  <a:srgbClr val="595959"/>
                </a:solidFill>
                <a:latin typeface="Inter" pitchFamily="34" charset="0"/>
                <a:ea typeface="Inter" pitchFamily="34" charset="-122"/>
                <a:cs typeface="Inter" pitchFamily="34" charset="-120"/>
              </a:rPr>
              <a:t>CP gross, CP ROs</a:t>
            </a:r>
            <a:endParaRPr lang="en-US" sz="1300" dirty="0"/>
          </a:p>
        </p:txBody>
      </p:sp>
      <p:sp>
        <p:nvSpPr>
          <p:cNvPr id="58" name="Shape 56"/>
          <p:cNvSpPr/>
          <p:nvPr/>
        </p:nvSpPr>
        <p:spPr>
          <a:xfrm>
            <a:off x="10058400" y="4107485"/>
            <a:ext cx="640080" cy="234086"/>
          </a:xfrm>
          <a:prstGeom prst="rect">
            <a:avLst/>
          </a:prstGeom>
          <a:solidFill>
            <a:srgbClr val="12A566"/>
          </a:solidFill>
          <a:ln/>
        </p:spPr>
      </p:sp>
      <p:sp>
        <p:nvSpPr>
          <p:cNvPr id="59" name="Text 57"/>
          <p:cNvSpPr txBox="1"/>
          <p:nvPr/>
        </p:nvSpPr>
        <p:spPr>
          <a:xfrm>
            <a:off x="11045952" y="3931920"/>
            <a:ext cx="411480" cy="585216"/>
          </a:xfrm>
          <a:prstGeom prst="rect">
            <a:avLst/>
          </a:prstGeom>
          <a:noFill/>
          <a:ln/>
        </p:spPr>
        <p:txBody>
          <a:bodyPr wrap="square" lIns="0" tIns="0" rIns="0" bIns="0" rtlCol="0" anchor="ctr"/>
          <a:lstStyle/>
          <a:p>
            <a:pPr algn="r" indent="0" marL="0">
              <a:buNone/>
            </a:pPr>
            <a:r>
              <a:rPr lang="en-US" sz="1800" b="1" dirty="0">
                <a:solidFill>
                  <a:srgbClr val="0B7A4A"/>
                </a:solidFill>
                <a:latin typeface="Inter" pitchFamily="34" charset="0"/>
                <a:ea typeface="Inter" pitchFamily="34" charset="-122"/>
                <a:cs typeface="Inter" pitchFamily="34" charset="-120"/>
              </a:rPr>
              <a:t>2</a:t>
            </a:r>
            <a:endParaRPr lang="en-US" sz="1800" dirty="0"/>
          </a:p>
        </p:txBody>
      </p:sp>
      <p:sp>
        <p:nvSpPr>
          <p:cNvPr id="60" name="Shape 58"/>
          <p:cNvSpPr/>
          <p:nvPr/>
        </p:nvSpPr>
        <p:spPr>
          <a:xfrm>
            <a:off x="6336792" y="4517136"/>
            <a:ext cx="5230368" cy="585216"/>
          </a:xfrm>
          <a:prstGeom prst="rect">
            <a:avLst/>
          </a:prstGeom>
          <a:solidFill>
            <a:srgbClr val="F7F7F7"/>
          </a:solidFill>
          <a:ln/>
        </p:spPr>
      </p:sp>
      <p:sp>
        <p:nvSpPr>
          <p:cNvPr id="61" name="Text 59"/>
          <p:cNvSpPr txBox="1"/>
          <p:nvPr/>
        </p:nvSpPr>
        <p:spPr>
          <a:xfrm>
            <a:off x="6446520" y="4562856"/>
            <a:ext cx="2377440" cy="274320"/>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HYUNDAI PRESCOTT</a:t>
            </a:r>
            <a:endParaRPr lang="en-US" sz="1400" dirty="0"/>
          </a:p>
        </p:txBody>
      </p:sp>
      <p:sp>
        <p:nvSpPr>
          <p:cNvPr id="62" name="Text 60"/>
          <p:cNvSpPr txBox="1"/>
          <p:nvPr/>
        </p:nvSpPr>
        <p:spPr>
          <a:xfrm>
            <a:off x="6446520" y="4818888"/>
            <a:ext cx="3520440" cy="237744"/>
          </a:xfrm>
          <a:prstGeom prst="rect">
            <a:avLst/>
          </a:prstGeom>
          <a:noFill/>
          <a:ln/>
        </p:spPr>
        <p:txBody>
          <a:bodyPr wrap="square" lIns="0" tIns="0" rIns="0" bIns="0" rtlCol="0" anchor="ctr"/>
          <a:lstStyle/>
          <a:p>
            <a:pPr indent="0" marL="0">
              <a:buNone/>
            </a:pPr>
            <a:r>
              <a:rPr lang="en-US" sz="1300" dirty="0">
                <a:solidFill>
                  <a:srgbClr val="595959"/>
                </a:solidFill>
                <a:latin typeface="Inter" pitchFamily="34" charset="0"/>
                <a:ea typeface="Inter" pitchFamily="34" charset="-122"/>
                <a:cs typeface="Inter" pitchFamily="34" charset="-120"/>
              </a:rPr>
              <a:t>CP gross, hours/RO</a:t>
            </a:r>
            <a:endParaRPr lang="en-US" sz="1300" dirty="0"/>
          </a:p>
        </p:txBody>
      </p:sp>
      <p:sp>
        <p:nvSpPr>
          <p:cNvPr id="63" name="Shape 61"/>
          <p:cNvSpPr/>
          <p:nvPr/>
        </p:nvSpPr>
        <p:spPr>
          <a:xfrm>
            <a:off x="10058400" y="4692701"/>
            <a:ext cx="640080" cy="234086"/>
          </a:xfrm>
          <a:prstGeom prst="rect">
            <a:avLst/>
          </a:prstGeom>
          <a:solidFill>
            <a:srgbClr val="12A566"/>
          </a:solidFill>
          <a:ln/>
        </p:spPr>
      </p:sp>
      <p:sp>
        <p:nvSpPr>
          <p:cNvPr id="64" name="Text 62"/>
          <p:cNvSpPr txBox="1"/>
          <p:nvPr/>
        </p:nvSpPr>
        <p:spPr>
          <a:xfrm>
            <a:off x="11045952" y="4517136"/>
            <a:ext cx="411480" cy="585216"/>
          </a:xfrm>
          <a:prstGeom prst="rect">
            <a:avLst/>
          </a:prstGeom>
          <a:noFill/>
          <a:ln/>
        </p:spPr>
        <p:txBody>
          <a:bodyPr wrap="square" lIns="0" tIns="0" rIns="0" bIns="0" rtlCol="0" anchor="ctr"/>
          <a:lstStyle/>
          <a:p>
            <a:pPr algn="r" indent="0" marL="0">
              <a:buNone/>
            </a:pPr>
            <a:r>
              <a:rPr lang="en-US" sz="1800" b="1" dirty="0">
                <a:solidFill>
                  <a:srgbClr val="0B7A4A"/>
                </a:solidFill>
                <a:latin typeface="Inter" pitchFamily="34" charset="0"/>
                <a:ea typeface="Inter" pitchFamily="34" charset="-122"/>
                <a:cs typeface="Inter" pitchFamily="34" charset="-120"/>
              </a:rPr>
              <a:t>2</a:t>
            </a:r>
            <a:endParaRPr lang="en-US" sz="1800" dirty="0"/>
          </a:p>
        </p:txBody>
      </p:sp>
      <p:sp>
        <p:nvSpPr>
          <p:cNvPr id="65" name="Text 63"/>
          <p:cNvSpPr txBox="1"/>
          <p:nvPr/>
        </p:nvSpPr>
        <p:spPr>
          <a:xfrm>
            <a:off x="6446520" y="5148072"/>
            <a:ext cx="2377440" cy="274320"/>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AUDI RENO</a:t>
            </a:r>
            <a:endParaRPr lang="en-US" sz="1400" dirty="0"/>
          </a:p>
        </p:txBody>
      </p:sp>
      <p:sp>
        <p:nvSpPr>
          <p:cNvPr id="66" name="Text 64"/>
          <p:cNvSpPr txBox="1"/>
          <p:nvPr/>
        </p:nvSpPr>
        <p:spPr>
          <a:xfrm>
            <a:off x="6446520" y="5404104"/>
            <a:ext cx="3520440" cy="237744"/>
          </a:xfrm>
          <a:prstGeom prst="rect">
            <a:avLst/>
          </a:prstGeom>
          <a:noFill/>
          <a:ln/>
        </p:spPr>
        <p:txBody>
          <a:bodyPr wrap="square" lIns="0" tIns="0" rIns="0" bIns="0" rtlCol="0" anchor="ctr"/>
          <a:lstStyle/>
          <a:p>
            <a:pPr indent="0" marL="0">
              <a:buNone/>
            </a:pPr>
            <a:r>
              <a:rPr lang="en-US" sz="1300" dirty="0">
                <a:solidFill>
                  <a:srgbClr val="595959"/>
                </a:solidFill>
                <a:latin typeface="Inter" pitchFamily="34" charset="0"/>
                <a:ea typeface="Inter" pitchFamily="34" charset="-122"/>
                <a:cs typeface="Inter" pitchFamily="34" charset="-120"/>
              </a:rPr>
              <a:t>ELR, parts GP%</a:t>
            </a:r>
            <a:endParaRPr lang="en-US" sz="1300" dirty="0"/>
          </a:p>
        </p:txBody>
      </p:sp>
      <p:sp>
        <p:nvSpPr>
          <p:cNvPr id="67" name="Shape 65"/>
          <p:cNvSpPr/>
          <p:nvPr/>
        </p:nvSpPr>
        <p:spPr>
          <a:xfrm>
            <a:off x="10058400" y="5277917"/>
            <a:ext cx="640080" cy="234086"/>
          </a:xfrm>
          <a:prstGeom prst="rect">
            <a:avLst/>
          </a:prstGeom>
          <a:solidFill>
            <a:srgbClr val="12A566"/>
          </a:solidFill>
          <a:ln/>
        </p:spPr>
      </p:sp>
      <p:sp>
        <p:nvSpPr>
          <p:cNvPr id="68" name="Text 66"/>
          <p:cNvSpPr txBox="1"/>
          <p:nvPr/>
        </p:nvSpPr>
        <p:spPr>
          <a:xfrm>
            <a:off x="11045952" y="5102352"/>
            <a:ext cx="411480" cy="585216"/>
          </a:xfrm>
          <a:prstGeom prst="rect">
            <a:avLst/>
          </a:prstGeom>
          <a:noFill/>
          <a:ln/>
        </p:spPr>
        <p:txBody>
          <a:bodyPr wrap="square" lIns="0" tIns="0" rIns="0" bIns="0" rtlCol="0" anchor="ctr"/>
          <a:lstStyle/>
          <a:p>
            <a:pPr algn="r" indent="0" marL="0">
              <a:buNone/>
            </a:pPr>
            <a:r>
              <a:rPr lang="en-US" sz="1800" b="1" dirty="0">
                <a:solidFill>
                  <a:srgbClr val="0B7A4A"/>
                </a:solidFill>
                <a:latin typeface="Inter" pitchFamily="34" charset="0"/>
                <a:ea typeface="Inter" pitchFamily="34" charset="-122"/>
                <a:cs typeface="Inter" pitchFamily="34" charset="-120"/>
              </a:rPr>
              <a:t>2</a:t>
            </a:r>
            <a:endParaRPr lang="en-US" sz="1800" dirty="0"/>
          </a:p>
        </p:txBody>
      </p:sp>
      <p:sp>
        <p:nvSpPr>
          <p:cNvPr id="70" name="Shape 67"/>
          <p:cNvSpPr/>
          <p:nvPr/>
        </p:nvSpPr>
        <p:spPr>
          <a:xfrm>
            <a:off x="457200" y="6126480"/>
            <a:ext cx="11274552" cy="371856"/>
          </a:xfrm>
          <a:prstGeom prst="rect">
            <a:avLst/>
          </a:prstGeom>
          <a:solidFill>
            <a:srgbClr val="E6F6EE"/>
          </a:solidFill>
          <a:ln/>
        </p:spPr>
      </p:sp>
      <p:sp>
        <p:nvSpPr>
          <p:cNvPr id="71" name="Text 68"/>
          <p:cNvSpPr txBox="1"/>
          <p:nvPr/>
        </p:nvSpPr>
        <p:spPr>
          <a:xfrm>
            <a:off x="658368" y="6144768"/>
            <a:ext cx="10927080" cy="335280"/>
          </a:xfrm>
          <a:prstGeom prst="rect">
            <a:avLst/>
          </a:prstGeom>
          <a:noFill/>
          <a:ln/>
        </p:spPr>
        <p:txBody>
          <a:bodyPr wrap="square" lIns="0" tIns="0" rIns="0" bIns="0" rtlCol="0" anchor="ctr"/>
          <a:lstStyle/>
          <a:p>
            <a:pPr indent="0" marL="0">
              <a:buNone/>
            </a:pPr>
            <a:r>
              <a:rPr lang="en-US" sz="1600" b="1" dirty="0">
                <a:solidFill>
                  <a:srgbClr val="0B7A4A"/>
                </a:solidFill>
                <a:latin typeface="Inter" pitchFamily="34" charset="0"/>
                <a:ea typeface="Inter" pitchFamily="34" charset="-122"/>
                <a:cs typeface="Inter" pitchFamily="34" charset="-120"/>
              </a:rPr>
              <a:t>Moving now: Three stores tie. One store is on both lists (green bar). Also tied at 2 last year: Nissan.</a:t>
            </a:r>
            <a:endParaRPr lang="en-US" sz="1600" dirty="0"/>
          </a:p>
        </p:txBody>
      </p:sp>
    </p:spTree>
  </p:cSld>
  <p:clrMapOvr>
    <a:masterClrMapping/>
  </p:clrMapOvr>
</p:sld>
</file>

<file path=ppt/slides/slide159.xml><?xml version="1.0" encoding="utf-8"?>
<p:sld xmlns:a="http://schemas.openxmlformats.org/drawingml/2006/main" xmlns:p="http://schemas.openxmlformats.org/presentationml/2006/main" xmlns:r="http://schemas.openxmlformats.org/officeDocument/2006/relationships">
  <p:cSld>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FIXED OPS · MOST IMPROVED</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What Changed?</a:t>
            </a:r>
            <a:endParaRPr lang="en-US" sz="2800" dirty="0"/>
          </a:p>
        </p:txBody>
      </p:sp>
      <p:sp>
        <p:nvSpPr>
          <p:cNvPr id="5" name="Shape 3"/>
          <p:cNvSpPr/>
          <p:nvPr/>
        </p:nvSpPr>
        <p:spPr>
          <a:xfrm>
            <a:off x="457200" y="1207008"/>
            <a:ext cx="11274552" cy="4645152"/>
          </a:xfrm>
          <a:prstGeom prst="rect">
            <a:avLst/>
          </a:prstGeom>
          <a:solidFill>
            <a:srgbClr val="FFFFFF"/>
          </a:solidFill>
          <a:ln/>
        </p:spPr>
      </p:sp>
      <p:sp>
        <p:nvSpPr>
          <p:cNvPr id="6" name="Text 4"/>
          <p:cNvSpPr txBox="1"/>
          <p:nvPr/>
        </p:nvSpPr>
        <p:spPr>
          <a:xfrm>
            <a:off x="749808" y="1371600"/>
            <a:ext cx="2011680" cy="292608"/>
          </a:xfrm>
          <a:prstGeom prst="rect">
            <a:avLst/>
          </a:prstGeom>
          <a:noFill/>
          <a:ln/>
        </p:spPr>
        <p:txBody>
          <a:bodyPr wrap="square" lIns="0" tIns="0" rIns="0" bIns="0" rtlCol="0" anchor="ctr"/>
          <a:lstStyle/>
          <a:p>
            <a:pPr indent="0" marL="0">
              <a:buNone/>
            </a:pPr>
            <a:r>
              <a:rPr lang="en-US" sz="1400" b="1" dirty="0">
                <a:solidFill>
                  <a:srgbClr val="595959"/>
                </a:solidFill>
                <a:latin typeface="Inter" pitchFamily="34" charset="0"/>
                <a:ea typeface="Inter" pitchFamily="34" charset="-122"/>
                <a:cs typeface="Inter" pitchFamily="34" charset="-120"/>
              </a:rPr>
              <a:t>Store</a:t>
            </a:r>
            <a:endParaRPr lang="en-US" sz="1400" dirty="0"/>
          </a:p>
        </p:txBody>
      </p:sp>
      <p:sp>
        <p:nvSpPr>
          <p:cNvPr id="7" name="Text 5"/>
          <p:cNvSpPr txBox="1"/>
          <p:nvPr/>
        </p:nvSpPr>
        <p:spPr>
          <a:xfrm>
            <a:off x="3520440" y="1371600"/>
            <a:ext cx="2011680" cy="292608"/>
          </a:xfrm>
          <a:prstGeom prst="rect">
            <a:avLst/>
          </a:prstGeom>
          <a:noFill/>
          <a:ln/>
        </p:spPr>
        <p:txBody>
          <a:bodyPr wrap="square" lIns="0" tIns="0" rIns="0" bIns="0" rtlCol="0" anchor="ctr"/>
          <a:lstStyle/>
          <a:p>
            <a:pPr indent="0" marL="0">
              <a:buNone/>
            </a:pPr>
            <a:r>
              <a:rPr lang="en-US" sz="1400" b="1" dirty="0">
                <a:solidFill>
                  <a:srgbClr val="595959"/>
                </a:solidFill>
                <a:latin typeface="Inter" pitchFamily="34" charset="0"/>
                <a:ea typeface="Inter" pitchFamily="34" charset="-122"/>
                <a:cs typeface="Inter" pitchFamily="34" charset="-120"/>
              </a:rPr>
              <a:t>Moved on</a:t>
            </a:r>
            <a:endParaRPr lang="en-US" sz="1400" dirty="0"/>
          </a:p>
        </p:txBody>
      </p:sp>
      <p:sp>
        <p:nvSpPr>
          <p:cNvPr id="8" name="Text 6"/>
          <p:cNvSpPr txBox="1"/>
          <p:nvPr/>
        </p:nvSpPr>
        <p:spPr>
          <a:xfrm>
            <a:off x="5669280" y="1371600"/>
            <a:ext cx="2011680" cy="292608"/>
          </a:xfrm>
          <a:prstGeom prst="rect">
            <a:avLst/>
          </a:prstGeom>
          <a:noFill/>
          <a:ln/>
        </p:spPr>
        <p:txBody>
          <a:bodyPr wrap="square" lIns="0" tIns="0" rIns="0" bIns="0" rtlCol="0" anchor="ctr"/>
          <a:lstStyle/>
          <a:p>
            <a:pPr indent="0" marL="0">
              <a:buNone/>
            </a:pPr>
            <a:r>
              <a:rPr lang="en-US" sz="1400" b="1" dirty="0">
                <a:solidFill>
                  <a:srgbClr val="595959"/>
                </a:solidFill>
                <a:latin typeface="Inter" pitchFamily="34" charset="0"/>
                <a:ea typeface="Inter" pitchFamily="34" charset="-122"/>
                <a:cs typeface="Inter" pitchFamily="34" charset="-120"/>
              </a:rPr>
              <a:t>Q1 → Q3</a:t>
            </a:r>
            <a:endParaRPr lang="en-US" sz="1400" dirty="0"/>
          </a:p>
        </p:txBody>
      </p:sp>
      <p:sp>
        <p:nvSpPr>
          <p:cNvPr id="9" name="Text 7"/>
          <p:cNvSpPr txBox="1"/>
          <p:nvPr/>
        </p:nvSpPr>
        <p:spPr>
          <a:xfrm>
            <a:off x="7726680" y="1371600"/>
            <a:ext cx="2011680" cy="292608"/>
          </a:xfrm>
          <a:prstGeom prst="rect">
            <a:avLst/>
          </a:prstGeom>
          <a:noFill/>
          <a:ln/>
        </p:spPr>
        <p:txBody>
          <a:bodyPr wrap="square" lIns="0" tIns="0" rIns="0" bIns="0" rtlCol="0" anchor="ctr"/>
          <a:lstStyle/>
          <a:p>
            <a:pPr indent="0" marL="0">
              <a:buNone/>
            </a:pPr>
            <a:r>
              <a:rPr lang="en-US" sz="1400" b="1" dirty="0">
                <a:solidFill>
                  <a:srgbClr val="595959"/>
                </a:solidFill>
                <a:latin typeface="Inter" pitchFamily="34" charset="0"/>
                <a:ea typeface="Inter" pitchFamily="34" charset="-122"/>
                <a:cs typeface="Inter" pitchFamily="34" charset="-120"/>
              </a:rPr>
              <a:t>Stepped up in</a:t>
            </a:r>
            <a:endParaRPr lang="en-US" sz="1400" dirty="0"/>
          </a:p>
        </p:txBody>
      </p:sp>
      <p:sp>
        <p:nvSpPr>
          <p:cNvPr id="10" name="Text 8"/>
          <p:cNvSpPr txBox="1"/>
          <p:nvPr/>
        </p:nvSpPr>
        <p:spPr>
          <a:xfrm>
            <a:off x="9326880" y="1371600"/>
            <a:ext cx="2011680" cy="292608"/>
          </a:xfrm>
          <a:prstGeom prst="rect">
            <a:avLst/>
          </a:prstGeom>
          <a:noFill/>
          <a:ln/>
        </p:spPr>
        <p:txBody>
          <a:bodyPr wrap="square" lIns="0" tIns="0" rIns="0" bIns="0" rtlCol="0" anchor="ctr"/>
          <a:lstStyle/>
          <a:p>
            <a:pPr indent="0" marL="0">
              <a:buNone/>
            </a:pPr>
            <a:r>
              <a:rPr lang="en-US" sz="1400" b="1" dirty="0">
                <a:solidFill>
                  <a:srgbClr val="595959"/>
                </a:solidFill>
                <a:latin typeface="Inter" pitchFamily="34" charset="0"/>
                <a:ea typeface="Inter" pitchFamily="34" charset="-122"/>
                <a:cs typeface="Inter" pitchFamily="34" charset="-120"/>
              </a:rPr>
              <a:t>Change</a:t>
            </a:r>
            <a:endParaRPr lang="en-US" sz="1400" dirty="0"/>
          </a:p>
        </p:txBody>
      </p:sp>
      <p:sp>
        <p:nvSpPr>
          <p:cNvPr id="11" name="Shape 9"/>
          <p:cNvSpPr/>
          <p:nvPr/>
        </p:nvSpPr>
        <p:spPr>
          <a:xfrm>
            <a:off x="621792" y="1773936"/>
            <a:ext cx="10945368" cy="548640"/>
          </a:xfrm>
          <a:prstGeom prst="rect">
            <a:avLst/>
          </a:prstGeom>
          <a:solidFill>
            <a:srgbClr val="F7F7F7"/>
          </a:solidFill>
          <a:ln/>
        </p:spPr>
      </p:sp>
      <p:sp>
        <p:nvSpPr>
          <p:cNvPr id="12" name="Text 10"/>
          <p:cNvSpPr txBox="1"/>
          <p:nvPr/>
        </p:nvSpPr>
        <p:spPr>
          <a:xfrm>
            <a:off x="749808" y="1773936"/>
            <a:ext cx="2651760" cy="548640"/>
          </a:xfrm>
          <a:prstGeom prst="rect">
            <a:avLst/>
          </a:prstGeom>
          <a:noFill/>
          <a:ln/>
        </p:spPr>
        <p:txBody>
          <a:bodyPr wrap="square" lIns="0" tIns="0" rIns="0" bIns="0" rtlCol="0" anchor="ctr"/>
          <a:lstStyle/>
          <a:p>
            <a:pPr indent="0" marL="0">
              <a:buNone/>
            </a:pPr>
            <a:r>
              <a:rPr lang="en-US" sz="1500" b="1" dirty="0">
                <a:solidFill>
                  <a:srgbClr val="1A1A1A"/>
                </a:solidFill>
                <a:latin typeface="Inter" pitchFamily="34" charset="0"/>
                <a:ea typeface="Inter" pitchFamily="34" charset="-122"/>
                <a:cs typeface="Inter" pitchFamily="34" charset="-120"/>
              </a:rPr>
              <a:t>MAZDA</a:t>
            </a:r>
            <a:endParaRPr lang="en-US" sz="1500" dirty="0"/>
          </a:p>
        </p:txBody>
      </p:sp>
      <p:sp>
        <p:nvSpPr>
          <p:cNvPr id="13" name="Text 11"/>
          <p:cNvSpPr txBox="1"/>
          <p:nvPr/>
        </p:nvSpPr>
        <p:spPr>
          <a:xfrm>
            <a:off x="3520440" y="1773936"/>
            <a:ext cx="2103120" cy="548640"/>
          </a:xfrm>
          <a:prstGeom prst="rect">
            <a:avLst/>
          </a:prstGeom>
          <a:noFill/>
          <a:ln/>
        </p:spPr>
        <p:txBody>
          <a:bodyPr wrap="square" lIns="0" tIns="0" rIns="0" bIns="0" rtlCol="0" anchor="ctr"/>
          <a:lstStyle/>
          <a:p>
            <a:pPr indent="0" marL="0">
              <a:buNone/>
            </a:pPr>
            <a:r>
              <a:rPr lang="en-US" sz="1500" dirty="0">
                <a:solidFill>
                  <a:srgbClr val="1A1A1A"/>
                </a:solidFill>
                <a:latin typeface="Inter" pitchFamily="34" charset="0"/>
                <a:ea typeface="Inter" pitchFamily="34" charset="-122"/>
                <a:cs typeface="Inter" pitchFamily="34" charset="-120"/>
              </a:rPr>
              <a:t>CP Gross per Month</a:t>
            </a:r>
            <a:endParaRPr lang="en-US" sz="1500" dirty="0"/>
          </a:p>
        </p:txBody>
      </p:sp>
      <p:sp>
        <p:nvSpPr>
          <p:cNvPr id="14" name="Text 12"/>
          <p:cNvSpPr txBox="1"/>
          <p:nvPr/>
        </p:nvSpPr>
        <p:spPr>
          <a:xfrm>
            <a:off x="5669280" y="1773936"/>
            <a:ext cx="2011680" cy="548640"/>
          </a:xfrm>
          <a:prstGeom prst="rect">
            <a:avLst/>
          </a:prstGeom>
          <a:noFill/>
          <a:ln/>
        </p:spPr>
        <p:txBody>
          <a:bodyPr wrap="square" lIns="0" tIns="0" rIns="0" bIns="0" rtlCol="0" anchor="ctr"/>
          <a:lstStyle/>
          <a:p>
            <a:pPr indent="0" marL="0">
              <a:buNone/>
            </a:pPr>
            <a:r>
              <a:rPr lang="en-US" sz="1500" dirty="0">
                <a:solidFill>
                  <a:srgbClr val="1A1A1A"/>
                </a:solidFill>
                <a:latin typeface="Inter" pitchFamily="34" charset="0"/>
                <a:ea typeface="Inter" pitchFamily="34" charset="-122"/>
                <a:cs typeface="Inter" pitchFamily="34" charset="-120"/>
              </a:rPr>
              <a:t>$155K → $209K</a:t>
            </a:r>
            <a:endParaRPr lang="en-US" sz="1500" dirty="0"/>
          </a:p>
        </p:txBody>
      </p:sp>
      <p:sp>
        <p:nvSpPr>
          <p:cNvPr id="15" name="Text 13"/>
          <p:cNvSpPr txBox="1"/>
          <p:nvPr/>
        </p:nvSpPr>
        <p:spPr>
          <a:xfrm>
            <a:off x="7726680" y="1773936"/>
            <a:ext cx="1554480" cy="548640"/>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August</a:t>
            </a:r>
            <a:endParaRPr lang="en-US" sz="1500" dirty="0"/>
          </a:p>
        </p:txBody>
      </p:sp>
      <p:sp>
        <p:nvSpPr>
          <p:cNvPr id="16" name="Text 14"/>
          <p:cNvSpPr txBox="1"/>
          <p:nvPr/>
        </p:nvSpPr>
        <p:spPr>
          <a:xfrm>
            <a:off x="9326880" y="1773936"/>
            <a:ext cx="1280160" cy="548640"/>
          </a:xfrm>
          <a:prstGeom prst="rect">
            <a:avLst/>
          </a:prstGeom>
          <a:noFill/>
          <a:ln/>
        </p:spPr>
        <p:txBody>
          <a:bodyPr wrap="square" lIns="0" tIns="0" rIns="0" bIns="0" rtlCol="0" anchor="ctr"/>
          <a:lstStyle/>
          <a:p>
            <a:pPr indent="0" marL="0">
              <a:buNone/>
            </a:pPr>
            <a:r>
              <a:rPr lang="en-US" sz="1500" b="1" dirty="0">
                <a:solidFill>
                  <a:srgbClr val="0B7A4A"/>
                </a:solidFill>
                <a:latin typeface="Inter" pitchFamily="34" charset="0"/>
                <a:ea typeface="Inter" pitchFamily="34" charset="-122"/>
                <a:cs typeface="Inter" pitchFamily="34" charset="-120"/>
              </a:rPr>
              <a:t>+34.6%</a:t>
            </a:r>
            <a:endParaRPr lang="en-US" sz="1500" dirty="0"/>
          </a:p>
        </p:txBody>
      </p:sp>
      <p:sp>
        <p:nvSpPr>
          <p:cNvPr id="17" name="Text 15"/>
          <p:cNvSpPr txBox="1"/>
          <p:nvPr/>
        </p:nvSpPr>
        <p:spPr>
          <a:xfrm>
            <a:off x="749808" y="2322576"/>
            <a:ext cx="2651760" cy="548640"/>
          </a:xfrm>
          <a:prstGeom prst="rect">
            <a:avLst/>
          </a:prstGeom>
          <a:noFill/>
          <a:ln/>
        </p:spPr>
        <p:txBody>
          <a:bodyPr wrap="square" lIns="0" tIns="0" rIns="0" bIns="0" rtlCol="0" anchor="ctr"/>
          <a:lstStyle/>
          <a:p>
            <a:pPr indent="0" marL="0">
              <a:buNone/>
            </a:pPr>
            <a:r>
              <a:rPr lang="en-US" sz="1500" b="1" dirty="0">
                <a:solidFill>
                  <a:srgbClr val="1A1A1A"/>
                </a:solidFill>
                <a:latin typeface="Inter" pitchFamily="34" charset="0"/>
                <a:ea typeface="Inter" pitchFamily="34" charset="-122"/>
                <a:cs typeface="Inter" pitchFamily="34" charset="-120"/>
              </a:rPr>
              <a:t>LEXUS</a:t>
            </a:r>
            <a:endParaRPr lang="en-US" sz="1500" dirty="0"/>
          </a:p>
        </p:txBody>
      </p:sp>
      <p:sp>
        <p:nvSpPr>
          <p:cNvPr id="18" name="Text 16"/>
          <p:cNvSpPr txBox="1"/>
          <p:nvPr/>
        </p:nvSpPr>
        <p:spPr>
          <a:xfrm>
            <a:off x="3520440" y="2322576"/>
            <a:ext cx="2103120" cy="548640"/>
          </a:xfrm>
          <a:prstGeom prst="rect">
            <a:avLst/>
          </a:prstGeom>
          <a:noFill/>
          <a:ln/>
        </p:spPr>
        <p:txBody>
          <a:bodyPr wrap="square" lIns="0" tIns="0" rIns="0" bIns="0" rtlCol="0" anchor="ctr"/>
          <a:lstStyle/>
          <a:p>
            <a:pPr indent="0" marL="0">
              <a:buNone/>
            </a:pPr>
            <a:r>
              <a:rPr lang="en-US" sz="1500" dirty="0">
                <a:solidFill>
                  <a:srgbClr val="1A1A1A"/>
                </a:solidFill>
                <a:latin typeface="Inter" pitchFamily="34" charset="0"/>
                <a:ea typeface="Inter" pitchFamily="34" charset="-122"/>
                <a:cs typeface="Inter" pitchFamily="34" charset="-120"/>
              </a:rPr>
              <a:t>CP ROs per Month</a:t>
            </a:r>
            <a:endParaRPr lang="en-US" sz="1500" dirty="0"/>
          </a:p>
        </p:txBody>
      </p:sp>
      <p:sp>
        <p:nvSpPr>
          <p:cNvPr id="19" name="Text 17"/>
          <p:cNvSpPr txBox="1"/>
          <p:nvPr/>
        </p:nvSpPr>
        <p:spPr>
          <a:xfrm>
            <a:off x="5669280" y="2322576"/>
            <a:ext cx="2011680" cy="548640"/>
          </a:xfrm>
          <a:prstGeom prst="rect">
            <a:avLst/>
          </a:prstGeom>
          <a:noFill/>
          <a:ln/>
        </p:spPr>
        <p:txBody>
          <a:bodyPr wrap="square" lIns="0" tIns="0" rIns="0" bIns="0" rtlCol="0" anchor="ctr"/>
          <a:lstStyle/>
          <a:p>
            <a:pPr indent="0" marL="0">
              <a:buNone/>
            </a:pPr>
            <a:r>
              <a:rPr lang="en-US" sz="1500" dirty="0">
                <a:solidFill>
                  <a:srgbClr val="1A1A1A"/>
                </a:solidFill>
                <a:latin typeface="Inter" pitchFamily="34" charset="0"/>
                <a:ea typeface="Inter" pitchFamily="34" charset="-122"/>
                <a:cs typeface="Inter" pitchFamily="34" charset="-120"/>
              </a:rPr>
              <a:t>425 → 570</a:t>
            </a:r>
            <a:endParaRPr lang="en-US" sz="1500" dirty="0"/>
          </a:p>
        </p:txBody>
      </p:sp>
      <p:sp>
        <p:nvSpPr>
          <p:cNvPr id="20" name="Text 18"/>
          <p:cNvSpPr txBox="1"/>
          <p:nvPr/>
        </p:nvSpPr>
        <p:spPr>
          <a:xfrm>
            <a:off x="7726680" y="2322576"/>
            <a:ext cx="1554480" cy="548640"/>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April</a:t>
            </a:r>
            <a:endParaRPr lang="en-US" sz="1500" dirty="0"/>
          </a:p>
        </p:txBody>
      </p:sp>
      <p:sp>
        <p:nvSpPr>
          <p:cNvPr id="21" name="Text 19"/>
          <p:cNvSpPr txBox="1"/>
          <p:nvPr/>
        </p:nvSpPr>
        <p:spPr>
          <a:xfrm>
            <a:off x="9326880" y="2322576"/>
            <a:ext cx="1280160" cy="548640"/>
          </a:xfrm>
          <a:prstGeom prst="rect">
            <a:avLst/>
          </a:prstGeom>
          <a:noFill/>
          <a:ln/>
        </p:spPr>
        <p:txBody>
          <a:bodyPr wrap="square" lIns="0" tIns="0" rIns="0" bIns="0" rtlCol="0" anchor="ctr"/>
          <a:lstStyle/>
          <a:p>
            <a:pPr indent="0" marL="0">
              <a:buNone/>
            </a:pPr>
            <a:r>
              <a:rPr lang="en-US" sz="1500" b="1" dirty="0">
                <a:solidFill>
                  <a:srgbClr val="0B7A4A"/>
                </a:solidFill>
                <a:latin typeface="Inter" pitchFamily="34" charset="0"/>
                <a:ea typeface="Inter" pitchFamily="34" charset="-122"/>
                <a:cs typeface="Inter" pitchFamily="34" charset="-120"/>
              </a:rPr>
              <a:t>+34.0%</a:t>
            </a:r>
            <a:endParaRPr lang="en-US" sz="1500" dirty="0"/>
          </a:p>
        </p:txBody>
      </p:sp>
      <p:sp>
        <p:nvSpPr>
          <p:cNvPr id="22" name="Shape 20"/>
          <p:cNvSpPr/>
          <p:nvPr/>
        </p:nvSpPr>
        <p:spPr>
          <a:xfrm>
            <a:off x="621792" y="2871216"/>
            <a:ext cx="10945368" cy="548640"/>
          </a:xfrm>
          <a:prstGeom prst="rect">
            <a:avLst/>
          </a:prstGeom>
          <a:solidFill>
            <a:srgbClr val="F7F7F7"/>
          </a:solidFill>
          <a:ln/>
        </p:spPr>
      </p:sp>
      <p:sp>
        <p:nvSpPr>
          <p:cNvPr id="23" name="Text 21"/>
          <p:cNvSpPr txBox="1"/>
          <p:nvPr/>
        </p:nvSpPr>
        <p:spPr>
          <a:xfrm>
            <a:off x="749808" y="2871216"/>
            <a:ext cx="2651760" cy="548640"/>
          </a:xfrm>
          <a:prstGeom prst="rect">
            <a:avLst/>
          </a:prstGeom>
          <a:noFill/>
          <a:ln/>
        </p:spPr>
        <p:txBody>
          <a:bodyPr wrap="square" lIns="0" tIns="0" rIns="0" bIns="0" rtlCol="0" anchor="ctr"/>
          <a:lstStyle/>
          <a:p>
            <a:pPr indent="0" marL="0">
              <a:buNone/>
            </a:pPr>
            <a:r>
              <a:rPr lang="en-US" sz="1500" b="1" dirty="0">
                <a:solidFill>
                  <a:srgbClr val="1A1A1A"/>
                </a:solidFill>
                <a:latin typeface="Inter" pitchFamily="34" charset="0"/>
                <a:ea typeface="Inter" pitchFamily="34" charset="-122"/>
                <a:cs typeface="Inter" pitchFamily="34" charset="-120"/>
              </a:rPr>
              <a:t>MAZDA</a:t>
            </a:r>
            <a:endParaRPr lang="en-US" sz="1500" dirty="0"/>
          </a:p>
        </p:txBody>
      </p:sp>
      <p:sp>
        <p:nvSpPr>
          <p:cNvPr id="24" name="Text 22"/>
          <p:cNvSpPr txBox="1"/>
          <p:nvPr/>
        </p:nvSpPr>
        <p:spPr>
          <a:xfrm>
            <a:off x="3520440" y="2871216"/>
            <a:ext cx="2103120" cy="548640"/>
          </a:xfrm>
          <a:prstGeom prst="rect">
            <a:avLst/>
          </a:prstGeom>
          <a:noFill/>
          <a:ln/>
        </p:spPr>
        <p:txBody>
          <a:bodyPr wrap="square" lIns="0" tIns="0" rIns="0" bIns="0" rtlCol="0" anchor="ctr"/>
          <a:lstStyle/>
          <a:p>
            <a:pPr indent="0" marL="0">
              <a:buNone/>
            </a:pPr>
            <a:r>
              <a:rPr lang="en-US" sz="1500" dirty="0">
                <a:solidFill>
                  <a:srgbClr val="1A1A1A"/>
                </a:solidFill>
                <a:latin typeface="Inter" pitchFamily="34" charset="0"/>
                <a:ea typeface="Inter" pitchFamily="34" charset="-122"/>
                <a:cs typeface="Inter" pitchFamily="34" charset="-120"/>
              </a:rPr>
              <a:t>CP Hours per RO</a:t>
            </a:r>
            <a:endParaRPr lang="en-US" sz="1500" dirty="0"/>
          </a:p>
        </p:txBody>
      </p:sp>
      <p:sp>
        <p:nvSpPr>
          <p:cNvPr id="25" name="Text 23"/>
          <p:cNvSpPr txBox="1"/>
          <p:nvPr/>
        </p:nvSpPr>
        <p:spPr>
          <a:xfrm>
            <a:off x="5669280" y="2871216"/>
            <a:ext cx="2011680" cy="548640"/>
          </a:xfrm>
          <a:prstGeom prst="rect">
            <a:avLst/>
          </a:prstGeom>
          <a:noFill/>
          <a:ln/>
        </p:spPr>
        <p:txBody>
          <a:bodyPr wrap="square" lIns="0" tIns="0" rIns="0" bIns="0" rtlCol="0" anchor="ctr"/>
          <a:lstStyle/>
          <a:p>
            <a:pPr indent="0" marL="0">
              <a:buNone/>
            </a:pPr>
            <a:r>
              <a:rPr lang="en-US" sz="1500" dirty="0">
                <a:solidFill>
                  <a:srgbClr val="1A1A1A"/>
                </a:solidFill>
                <a:latin typeface="Inter" pitchFamily="34" charset="0"/>
                <a:ea typeface="Inter" pitchFamily="34" charset="-122"/>
                <a:cs typeface="Inter" pitchFamily="34" charset="-120"/>
              </a:rPr>
              <a:t>1.35 → 1.65</a:t>
            </a:r>
            <a:endParaRPr lang="en-US" sz="1500" dirty="0"/>
          </a:p>
        </p:txBody>
      </p:sp>
      <p:sp>
        <p:nvSpPr>
          <p:cNvPr id="26" name="Text 24"/>
          <p:cNvSpPr txBox="1"/>
          <p:nvPr/>
        </p:nvSpPr>
        <p:spPr>
          <a:xfrm>
            <a:off x="7726680" y="2871216"/>
            <a:ext cx="1554480" cy="548640"/>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August</a:t>
            </a:r>
            <a:endParaRPr lang="en-US" sz="1500" dirty="0"/>
          </a:p>
        </p:txBody>
      </p:sp>
      <p:sp>
        <p:nvSpPr>
          <p:cNvPr id="27" name="Text 25"/>
          <p:cNvSpPr txBox="1"/>
          <p:nvPr/>
        </p:nvSpPr>
        <p:spPr>
          <a:xfrm>
            <a:off x="9326880" y="2871216"/>
            <a:ext cx="1280160" cy="548640"/>
          </a:xfrm>
          <a:prstGeom prst="rect">
            <a:avLst/>
          </a:prstGeom>
          <a:noFill/>
          <a:ln/>
        </p:spPr>
        <p:txBody>
          <a:bodyPr wrap="square" lIns="0" tIns="0" rIns="0" bIns="0" rtlCol="0" anchor="ctr"/>
          <a:lstStyle/>
          <a:p>
            <a:pPr indent="0" marL="0">
              <a:buNone/>
            </a:pPr>
            <a:r>
              <a:rPr lang="en-US" sz="1500" b="1" dirty="0">
                <a:solidFill>
                  <a:srgbClr val="0B7A4A"/>
                </a:solidFill>
                <a:latin typeface="Inter" pitchFamily="34" charset="0"/>
                <a:ea typeface="Inter" pitchFamily="34" charset="-122"/>
                <a:cs typeface="Inter" pitchFamily="34" charset="-120"/>
              </a:rPr>
              <a:t>+22.2%</a:t>
            </a:r>
            <a:endParaRPr lang="en-US" sz="1500" dirty="0"/>
          </a:p>
        </p:txBody>
      </p:sp>
      <p:sp>
        <p:nvSpPr>
          <p:cNvPr id="28" name="Text 26"/>
          <p:cNvSpPr txBox="1"/>
          <p:nvPr/>
        </p:nvSpPr>
        <p:spPr>
          <a:xfrm>
            <a:off x="749808" y="3419856"/>
            <a:ext cx="2651760" cy="548640"/>
          </a:xfrm>
          <a:prstGeom prst="rect">
            <a:avLst/>
          </a:prstGeom>
          <a:noFill/>
          <a:ln/>
        </p:spPr>
        <p:txBody>
          <a:bodyPr wrap="square" lIns="0" tIns="0" rIns="0" bIns="0" rtlCol="0" anchor="ctr"/>
          <a:lstStyle/>
          <a:p>
            <a:pPr indent="0" marL="0">
              <a:buNone/>
            </a:pPr>
            <a:r>
              <a:rPr lang="en-US" sz="1500" b="1" dirty="0">
                <a:solidFill>
                  <a:srgbClr val="1A1A1A"/>
                </a:solidFill>
                <a:latin typeface="Inter" pitchFamily="34" charset="0"/>
                <a:ea typeface="Inter" pitchFamily="34" charset="-122"/>
                <a:cs typeface="Inter" pitchFamily="34" charset="-120"/>
              </a:rPr>
              <a:t>VW ST GEORGE</a:t>
            </a:r>
            <a:endParaRPr lang="en-US" sz="1500" dirty="0"/>
          </a:p>
        </p:txBody>
      </p:sp>
      <p:sp>
        <p:nvSpPr>
          <p:cNvPr id="29" name="Text 27"/>
          <p:cNvSpPr txBox="1"/>
          <p:nvPr/>
        </p:nvSpPr>
        <p:spPr>
          <a:xfrm>
            <a:off x="3520440" y="3419856"/>
            <a:ext cx="2103120" cy="548640"/>
          </a:xfrm>
          <a:prstGeom prst="rect">
            <a:avLst/>
          </a:prstGeom>
          <a:noFill/>
          <a:ln/>
        </p:spPr>
        <p:txBody>
          <a:bodyPr wrap="square" lIns="0" tIns="0" rIns="0" bIns="0" rtlCol="0" anchor="ctr"/>
          <a:lstStyle/>
          <a:p>
            <a:pPr indent="0" marL="0">
              <a:buNone/>
            </a:pPr>
            <a:r>
              <a:rPr lang="en-US" sz="1500" dirty="0">
                <a:solidFill>
                  <a:srgbClr val="1A1A1A"/>
                </a:solidFill>
                <a:latin typeface="Inter" pitchFamily="34" charset="0"/>
                <a:ea typeface="Inter" pitchFamily="34" charset="-122"/>
                <a:cs typeface="Inter" pitchFamily="34" charset="-120"/>
              </a:rPr>
              <a:t>CP ELR</a:t>
            </a:r>
            <a:endParaRPr lang="en-US" sz="1500" dirty="0"/>
          </a:p>
        </p:txBody>
      </p:sp>
      <p:sp>
        <p:nvSpPr>
          <p:cNvPr id="30" name="Text 28"/>
          <p:cNvSpPr txBox="1"/>
          <p:nvPr/>
        </p:nvSpPr>
        <p:spPr>
          <a:xfrm>
            <a:off x="5669280" y="3419856"/>
            <a:ext cx="2011680" cy="548640"/>
          </a:xfrm>
          <a:prstGeom prst="rect">
            <a:avLst/>
          </a:prstGeom>
          <a:noFill/>
          <a:ln/>
        </p:spPr>
        <p:txBody>
          <a:bodyPr wrap="square" lIns="0" tIns="0" rIns="0" bIns="0" rtlCol="0" anchor="ctr"/>
          <a:lstStyle/>
          <a:p>
            <a:pPr indent="0" marL="0">
              <a:buNone/>
            </a:pPr>
            <a:r>
              <a:rPr lang="en-US" sz="1500" dirty="0">
                <a:solidFill>
                  <a:srgbClr val="1A1A1A"/>
                </a:solidFill>
                <a:latin typeface="Inter" pitchFamily="34" charset="0"/>
                <a:ea typeface="Inter" pitchFamily="34" charset="-122"/>
                <a:cs typeface="Inter" pitchFamily="34" charset="-120"/>
              </a:rPr>
              <a:t>$128.27 → $141.89</a:t>
            </a:r>
            <a:endParaRPr lang="en-US" sz="1500" dirty="0"/>
          </a:p>
        </p:txBody>
      </p:sp>
      <p:sp>
        <p:nvSpPr>
          <p:cNvPr id="31" name="Text 29"/>
          <p:cNvSpPr txBox="1"/>
          <p:nvPr/>
        </p:nvSpPr>
        <p:spPr>
          <a:xfrm>
            <a:off x="7726680" y="3419856"/>
            <a:ext cx="1554480" cy="548640"/>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June</a:t>
            </a:r>
            <a:endParaRPr lang="en-US" sz="1500" dirty="0"/>
          </a:p>
        </p:txBody>
      </p:sp>
      <p:sp>
        <p:nvSpPr>
          <p:cNvPr id="32" name="Text 30"/>
          <p:cNvSpPr txBox="1"/>
          <p:nvPr/>
        </p:nvSpPr>
        <p:spPr>
          <a:xfrm>
            <a:off x="9326880" y="3419856"/>
            <a:ext cx="1280160" cy="548640"/>
          </a:xfrm>
          <a:prstGeom prst="rect">
            <a:avLst/>
          </a:prstGeom>
          <a:noFill/>
          <a:ln/>
        </p:spPr>
        <p:txBody>
          <a:bodyPr wrap="square" lIns="0" tIns="0" rIns="0" bIns="0" rtlCol="0" anchor="ctr"/>
          <a:lstStyle/>
          <a:p>
            <a:pPr indent="0" marL="0">
              <a:buNone/>
            </a:pPr>
            <a:r>
              <a:rPr lang="en-US" sz="1500" b="1" dirty="0">
                <a:solidFill>
                  <a:srgbClr val="0B7A4A"/>
                </a:solidFill>
                <a:latin typeface="Inter" pitchFamily="34" charset="0"/>
                <a:ea typeface="Inter" pitchFamily="34" charset="-122"/>
                <a:cs typeface="Inter" pitchFamily="34" charset="-120"/>
              </a:rPr>
              <a:t>+10.6%</a:t>
            </a:r>
            <a:endParaRPr lang="en-US" sz="1500" dirty="0"/>
          </a:p>
        </p:txBody>
      </p:sp>
      <p:sp>
        <p:nvSpPr>
          <p:cNvPr id="33" name="Shape 31"/>
          <p:cNvSpPr/>
          <p:nvPr/>
        </p:nvSpPr>
        <p:spPr>
          <a:xfrm>
            <a:off x="621792" y="3968496"/>
            <a:ext cx="10945368" cy="548640"/>
          </a:xfrm>
          <a:prstGeom prst="rect">
            <a:avLst/>
          </a:prstGeom>
          <a:solidFill>
            <a:srgbClr val="F7F7F7"/>
          </a:solidFill>
          <a:ln/>
        </p:spPr>
      </p:sp>
      <p:sp>
        <p:nvSpPr>
          <p:cNvPr id="34" name="Text 32"/>
          <p:cNvSpPr txBox="1"/>
          <p:nvPr/>
        </p:nvSpPr>
        <p:spPr>
          <a:xfrm>
            <a:off x="749808" y="3968496"/>
            <a:ext cx="2651760" cy="548640"/>
          </a:xfrm>
          <a:prstGeom prst="rect">
            <a:avLst/>
          </a:prstGeom>
          <a:noFill/>
          <a:ln/>
        </p:spPr>
        <p:txBody>
          <a:bodyPr wrap="square" lIns="0" tIns="0" rIns="0" bIns="0" rtlCol="0" anchor="ctr"/>
          <a:lstStyle/>
          <a:p>
            <a:pPr indent="0" marL="0">
              <a:buNone/>
            </a:pPr>
            <a:r>
              <a:rPr lang="en-US" sz="1500" b="1" dirty="0">
                <a:solidFill>
                  <a:srgbClr val="1A1A1A"/>
                </a:solidFill>
                <a:latin typeface="Inter" pitchFamily="34" charset="0"/>
                <a:ea typeface="Inter" pitchFamily="34" charset="-122"/>
                <a:cs typeface="Inter" pitchFamily="34" charset="-120"/>
              </a:rPr>
              <a:t>ACURA</a:t>
            </a:r>
            <a:endParaRPr lang="en-US" sz="1500" dirty="0"/>
          </a:p>
        </p:txBody>
      </p:sp>
      <p:sp>
        <p:nvSpPr>
          <p:cNvPr id="35" name="Text 33"/>
          <p:cNvSpPr txBox="1"/>
          <p:nvPr/>
        </p:nvSpPr>
        <p:spPr>
          <a:xfrm>
            <a:off x="3520440" y="3968496"/>
            <a:ext cx="2103120" cy="548640"/>
          </a:xfrm>
          <a:prstGeom prst="rect">
            <a:avLst/>
          </a:prstGeom>
          <a:noFill/>
          <a:ln/>
        </p:spPr>
        <p:txBody>
          <a:bodyPr wrap="square" lIns="0" tIns="0" rIns="0" bIns="0" rtlCol="0" anchor="ctr"/>
          <a:lstStyle/>
          <a:p>
            <a:pPr indent="0" marL="0">
              <a:buNone/>
            </a:pPr>
            <a:r>
              <a:rPr lang="en-US" sz="1500" dirty="0">
                <a:solidFill>
                  <a:srgbClr val="1A1A1A"/>
                </a:solidFill>
                <a:latin typeface="Inter" pitchFamily="34" charset="0"/>
                <a:ea typeface="Inter" pitchFamily="34" charset="-122"/>
                <a:cs typeface="Inter" pitchFamily="34" charset="-120"/>
              </a:rPr>
              <a:t>CP Parts GP %</a:t>
            </a:r>
            <a:endParaRPr lang="en-US" sz="1500" dirty="0"/>
          </a:p>
        </p:txBody>
      </p:sp>
      <p:sp>
        <p:nvSpPr>
          <p:cNvPr id="36" name="Text 34"/>
          <p:cNvSpPr txBox="1"/>
          <p:nvPr/>
        </p:nvSpPr>
        <p:spPr>
          <a:xfrm>
            <a:off x="5669280" y="3968496"/>
            <a:ext cx="2011680" cy="548640"/>
          </a:xfrm>
          <a:prstGeom prst="rect">
            <a:avLst/>
          </a:prstGeom>
          <a:noFill/>
          <a:ln/>
        </p:spPr>
        <p:txBody>
          <a:bodyPr wrap="square" lIns="0" tIns="0" rIns="0" bIns="0" rtlCol="0" anchor="ctr"/>
          <a:lstStyle/>
          <a:p>
            <a:pPr indent="0" marL="0">
              <a:buNone/>
            </a:pPr>
            <a:r>
              <a:rPr lang="en-US" sz="1500" dirty="0">
                <a:solidFill>
                  <a:srgbClr val="1A1A1A"/>
                </a:solidFill>
                <a:latin typeface="Inter" pitchFamily="34" charset="0"/>
                <a:ea typeface="Inter" pitchFamily="34" charset="-122"/>
                <a:cs typeface="Inter" pitchFamily="34" charset="-120"/>
              </a:rPr>
              <a:t>39.4% → 46.6%</a:t>
            </a:r>
            <a:endParaRPr lang="en-US" sz="1500" dirty="0"/>
          </a:p>
        </p:txBody>
      </p:sp>
      <p:sp>
        <p:nvSpPr>
          <p:cNvPr id="37" name="Text 35"/>
          <p:cNvSpPr txBox="1"/>
          <p:nvPr/>
        </p:nvSpPr>
        <p:spPr>
          <a:xfrm>
            <a:off x="7726680" y="3968496"/>
            <a:ext cx="1554480" cy="548640"/>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April</a:t>
            </a:r>
            <a:endParaRPr lang="en-US" sz="1500" dirty="0"/>
          </a:p>
        </p:txBody>
      </p:sp>
      <p:sp>
        <p:nvSpPr>
          <p:cNvPr id="38" name="Text 36"/>
          <p:cNvSpPr txBox="1"/>
          <p:nvPr/>
        </p:nvSpPr>
        <p:spPr>
          <a:xfrm>
            <a:off x="9326880" y="3968496"/>
            <a:ext cx="1280160" cy="548640"/>
          </a:xfrm>
          <a:prstGeom prst="rect">
            <a:avLst/>
          </a:prstGeom>
          <a:noFill/>
          <a:ln/>
        </p:spPr>
        <p:txBody>
          <a:bodyPr wrap="square" lIns="0" tIns="0" rIns="0" bIns="0" rtlCol="0" anchor="ctr"/>
          <a:lstStyle/>
          <a:p>
            <a:pPr indent="0" marL="0">
              <a:buNone/>
            </a:pPr>
            <a:r>
              <a:rPr lang="en-US" sz="1500" b="1" dirty="0">
                <a:solidFill>
                  <a:srgbClr val="0B7A4A"/>
                </a:solidFill>
                <a:latin typeface="Inter" pitchFamily="34" charset="0"/>
                <a:ea typeface="Inter" pitchFamily="34" charset="-122"/>
                <a:cs typeface="Inter" pitchFamily="34" charset="-120"/>
              </a:rPr>
              <a:t>+7.2 pts</a:t>
            </a:r>
            <a:endParaRPr lang="en-US" sz="1500" dirty="0"/>
          </a:p>
        </p:txBody>
      </p:sp>
      <p:sp>
        <p:nvSpPr>
          <p:cNvPr id="39" name="Text 37"/>
          <p:cNvSpPr txBox="1"/>
          <p:nvPr/>
        </p:nvSpPr>
        <p:spPr>
          <a:xfrm>
            <a:off x="749808" y="4517136"/>
            <a:ext cx="2651760" cy="548640"/>
          </a:xfrm>
          <a:prstGeom prst="rect">
            <a:avLst/>
          </a:prstGeom>
          <a:noFill/>
          <a:ln/>
        </p:spPr>
        <p:txBody>
          <a:bodyPr wrap="square" lIns="0" tIns="0" rIns="0" bIns="0" rtlCol="0" anchor="ctr"/>
          <a:lstStyle/>
          <a:p>
            <a:pPr indent="0" marL="0">
              <a:buNone/>
            </a:pPr>
            <a:r>
              <a:rPr lang="en-US" sz="1500" b="1" dirty="0">
                <a:solidFill>
                  <a:srgbClr val="1A1A1A"/>
                </a:solidFill>
                <a:latin typeface="Inter" pitchFamily="34" charset="0"/>
                <a:ea typeface="Inter" pitchFamily="34" charset="-122"/>
                <a:cs typeface="Inter" pitchFamily="34" charset="-120"/>
              </a:rPr>
              <a:t>MAZDA</a:t>
            </a:r>
            <a:endParaRPr lang="en-US" sz="1500" dirty="0"/>
          </a:p>
        </p:txBody>
      </p:sp>
      <p:sp>
        <p:nvSpPr>
          <p:cNvPr id="40" name="Text 38"/>
          <p:cNvSpPr txBox="1"/>
          <p:nvPr/>
        </p:nvSpPr>
        <p:spPr>
          <a:xfrm>
            <a:off x="3520440" y="4517136"/>
            <a:ext cx="2103120" cy="548640"/>
          </a:xfrm>
          <a:prstGeom prst="rect">
            <a:avLst/>
          </a:prstGeom>
          <a:noFill/>
          <a:ln/>
        </p:spPr>
        <p:txBody>
          <a:bodyPr wrap="square" lIns="0" tIns="0" rIns="0" bIns="0" rtlCol="0" anchor="ctr"/>
          <a:lstStyle/>
          <a:p>
            <a:pPr indent="0" marL="0">
              <a:buNone/>
            </a:pPr>
            <a:r>
              <a:rPr lang="en-US" sz="1500" dirty="0">
                <a:solidFill>
                  <a:srgbClr val="1A1A1A"/>
                </a:solidFill>
                <a:latin typeface="Inter" pitchFamily="34" charset="0"/>
                <a:ea typeface="Inter" pitchFamily="34" charset="-122"/>
                <a:cs typeface="Inter" pitchFamily="34" charset="-120"/>
              </a:rPr>
              <a:t>Opcodes · balance</a:t>
            </a:r>
            <a:endParaRPr lang="en-US" sz="1500" dirty="0"/>
          </a:p>
        </p:txBody>
      </p:sp>
      <p:sp>
        <p:nvSpPr>
          <p:cNvPr id="41" name="Text 39"/>
          <p:cNvSpPr txBox="1"/>
          <p:nvPr/>
        </p:nvSpPr>
        <p:spPr>
          <a:xfrm>
            <a:off x="5669280" y="4517136"/>
            <a:ext cx="2011680" cy="548640"/>
          </a:xfrm>
          <a:prstGeom prst="rect">
            <a:avLst/>
          </a:prstGeom>
          <a:noFill/>
          <a:ln/>
        </p:spPr>
        <p:txBody>
          <a:bodyPr wrap="square" lIns="0" tIns="0" rIns="0" bIns="0" rtlCol="0" anchor="ctr"/>
          <a:lstStyle/>
          <a:p>
            <a:pPr indent="0" marL="0">
              <a:buNone/>
            </a:pPr>
            <a:r>
              <a:rPr lang="en-US" sz="1500" dirty="0">
                <a:solidFill>
                  <a:srgbClr val="1A1A1A"/>
                </a:solidFill>
                <a:latin typeface="Inter" pitchFamily="34" charset="0"/>
                <a:ea typeface="Inter" pitchFamily="34" charset="-122"/>
                <a:cs typeface="Inter" pitchFamily="34" charset="-120"/>
              </a:rPr>
              <a:t>10.1% → 19.3%</a:t>
            </a:r>
            <a:endParaRPr lang="en-US" sz="1500" dirty="0"/>
          </a:p>
        </p:txBody>
      </p:sp>
      <p:sp>
        <p:nvSpPr>
          <p:cNvPr id="42" name="Text 40"/>
          <p:cNvSpPr txBox="1"/>
          <p:nvPr/>
        </p:nvSpPr>
        <p:spPr>
          <a:xfrm>
            <a:off x="7726680" y="4517136"/>
            <a:ext cx="1554480" cy="548640"/>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August</a:t>
            </a:r>
            <a:endParaRPr lang="en-US" sz="1500" dirty="0"/>
          </a:p>
        </p:txBody>
      </p:sp>
      <p:sp>
        <p:nvSpPr>
          <p:cNvPr id="43" name="Text 41"/>
          <p:cNvSpPr txBox="1"/>
          <p:nvPr/>
        </p:nvSpPr>
        <p:spPr>
          <a:xfrm>
            <a:off x="9326880" y="4517136"/>
            <a:ext cx="1280160" cy="548640"/>
          </a:xfrm>
          <a:prstGeom prst="rect">
            <a:avLst/>
          </a:prstGeom>
          <a:noFill/>
          <a:ln/>
        </p:spPr>
        <p:txBody>
          <a:bodyPr wrap="square" lIns="0" tIns="0" rIns="0" bIns="0" rtlCol="0" anchor="ctr"/>
          <a:lstStyle/>
          <a:p>
            <a:pPr indent="0" marL="0">
              <a:buNone/>
            </a:pPr>
            <a:r>
              <a:rPr lang="en-US" sz="1500" b="1" dirty="0">
                <a:solidFill>
                  <a:srgbClr val="0B7A4A"/>
                </a:solidFill>
                <a:latin typeface="Inter" pitchFamily="34" charset="0"/>
                <a:ea typeface="Inter" pitchFamily="34" charset="-122"/>
                <a:cs typeface="Inter" pitchFamily="34" charset="-120"/>
              </a:rPr>
              <a:t>+9.2 pts</a:t>
            </a:r>
            <a:endParaRPr lang="en-US" sz="1500" dirty="0"/>
          </a:p>
        </p:txBody>
      </p:sp>
      <p:sp>
        <p:nvSpPr>
          <p:cNvPr id="44" name="Shape 42"/>
          <p:cNvSpPr/>
          <p:nvPr/>
        </p:nvSpPr>
        <p:spPr>
          <a:xfrm>
            <a:off x="457200" y="6126480"/>
            <a:ext cx="11274552" cy="364236"/>
          </a:xfrm>
          <a:prstGeom prst="rect">
            <a:avLst/>
          </a:prstGeom>
          <a:solidFill>
            <a:srgbClr val="EDF4FA"/>
          </a:solidFill>
          <a:ln/>
        </p:spPr>
      </p:sp>
      <p:sp>
        <p:nvSpPr>
          <p:cNvPr id="45" name="Text 43"/>
          <p:cNvSpPr txBox="1"/>
          <p:nvPr/>
        </p:nvSpPr>
        <p:spPr>
          <a:xfrm>
            <a:off x="658368" y="6144768"/>
            <a:ext cx="10927080" cy="327660"/>
          </a:xfrm>
          <a:prstGeom prst="rect">
            <a:avLst/>
          </a:prstGeom>
          <a:noFill/>
          <a:ln/>
        </p:spPr>
        <p:txBody>
          <a:bodyPr wrap="square" lIns="0" tIns="0" rIns="0" bIns="0" rtlCol="0" anchor="ctr"/>
          <a:lstStyle/>
          <a:p>
            <a:pPr indent="0" marL="0">
              <a:buNone/>
            </a:pPr>
            <a:r>
              <a:rPr lang="en-US" sz="1550" b="1" dirty="0">
                <a:solidFill>
                  <a:srgbClr val="0B2C4A"/>
                </a:solidFill>
                <a:latin typeface="Inter" pitchFamily="34" charset="0"/>
                <a:ea typeface="Inter" pitchFamily="34" charset="-122"/>
                <a:cs typeface="Inter" pitchFamily="34" charset="-120"/>
              </a:rPr>
              <a:t>Four stores, one question each: what did you start doing that month? One sentence, before you leave.</a:t>
            </a:r>
            <a:endParaRPr lang="en-US" sz="15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Inter"/>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nter"/>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2026-10-28T15:29:21Z</dcterms:created>
  <dcterms:modified xsi:type="dcterms:W3CDTF">2026-10-28T15:29:21Z</dcterms:modified>
</cp:coreProperties>
</file>