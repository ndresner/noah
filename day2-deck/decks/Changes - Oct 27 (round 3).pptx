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70" r:id="rId121"/>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21"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2026 by close date, op code report basis. Same-store, INEOS excluded (opened 2026). Services short = benchmark x the store's CP ROs, minus the services it sold. Each service valued at the store's own labor + parts gross per service sold (group average where the store sold fewer than 30), capped at twice the group average because some flagged lines carry other work bundled on them. Alignment, tire balance, brake fluid and fuel system service added together, every store: gross Jan-Sep 2026 above (+) or below (-) the four benchmarks, at the store's own gross per service. Opcodes = the four services' opcodes above (+) or below (-) their benchmarks, added together. Below-benchmark services count against above-benchmark ones here.TOYOTA SPOKANE: −$406K, −5,191 opcodes Jan-Sep against the four benchmarks; under 4 of 4</a:t>
            </a:r>
          </a:p>
          <a:p>
            <a:r>
              <a:t>CHEVY LV: −$356K, −3,177 opcodes Jan-Sep against the four benchmarks; under 4 of 4</a:t>
            </a:r>
          </a:p>
          <a:p>
            <a:r>
              <a:t>TOYOTA FLAGSTAFF: −$267K, −3,494 opcodes Jan-Sep against the four benchmarks; under 4 of 4</a:t>
            </a:r>
          </a:p>
          <a:p>
            <a:r>
              <a:t>TOYOTA HENDERSON: −$227K, −3,005 opcodes Jan-Sep against the four benchmarks; under 3 of 4</a:t>
            </a:r>
          </a:p>
          <a:p>
            <a:r>
              <a:t>KIA LV: −$185K, −1,708 opcodes Jan-Sep against the four benchmarks; under 4 of 4</a:t>
            </a:r>
          </a:p>
          <a:p>
            <a:r>
              <a:t>CDJR POST FALLS: −$184K, −1,863 opcodes Jan-Sep against the four benchmarks; under 4 of 4</a:t>
            </a:r>
          </a:p>
          <a:p>
            <a:r>
              <a:t>TOYOTA PRESCOTT: −$175K, −1,906 opcodes Jan-Sep against the four benchmarks; under 4 of 4</a:t>
            </a:r>
          </a:p>
          <a:p>
            <a:r>
              <a:t>AUDI RENO: −$162K, −1,152 opcodes Jan-Sep against the four benchmarks; under 4 of 4</a:t>
            </a:r>
          </a:p>
          <a:p>
            <a:r>
              <a:t>HONDA FLAGSTAFF: −$150K, −1,257 opcodes Jan-Sep against the four benchmarks; under 4 of 4</a:t>
            </a:r>
          </a:p>
          <a:p>
            <a:r>
              <a:t>NISSAN: −$150K, −1,613 opcodes Jan-Sep against the four benchmarks; under 3 of 4</a:t>
            </a:r>
          </a:p>
          <a:p>
            <a:r>
              <a:t>HONDA SPOKANE: −$140K, −1,717 opcodes Jan-Sep against the four benchmarks; under 3 of 4</a:t>
            </a:r>
          </a:p>
          <a:p>
            <a:r>
              <a:t>LEXUS: −$105K, −1,068 opcodes Jan-Sep against the four benchmarks; under 4 of 4</a:t>
            </a:r>
          </a:p>
          <a:p>
            <a:r>
              <a:t>VW HENDERSON: −$105K, −827 opcodes Jan-Sep against the four benchmarks; under 4 of 4</a:t>
            </a:r>
          </a:p>
          <a:p>
            <a:r>
              <a:t>CHEVY GMC BULLHEAD: −$100K, −1,100 opcodes Jan-Sep against the four benchmarks; under 4 of 4</a:t>
            </a:r>
          </a:p>
          <a:p>
            <a:r>
              <a:t>CADILLAC: −$94K, −954 opcodes Jan-Sep against the four benchmarks; under 4 of 4</a:t>
            </a:r>
          </a:p>
          <a:p>
            <a:r>
              <a:t>VW ST GEORGE: −$66K, −640 opcodes Jan-Sep against the four benchmarks; under 4 of 4</a:t>
            </a:r>
          </a:p>
          <a:p>
            <a:r>
              <a:t>HYUNDAI ST GEORGE: −$61K, −697 opcodes Jan-Sep against the four benchmarks; under 4 of 4</a:t>
            </a:r>
          </a:p>
          <a:p>
            <a:r>
              <a:t>GMC PRESCOTT: −$60K, −568 opcodes Jan-Sep against the four benchmarks; under 4 of 4</a:t>
            </a:r>
          </a:p>
          <a:p>
            <a:r>
              <a:t>SUBARU LV: −$59K, −783 opcodes Jan-Sep against the four benchmarks; under 3 of 4</a:t>
            </a:r>
          </a:p>
          <a:p>
            <a:r>
              <a:t>KIA ST GEORGE: −$53K, −660 opcodes Jan-Sep against the four benchmarks; under 3 of 4</a:t>
            </a:r>
          </a:p>
          <a:p>
            <a:r>
              <a:t>LINCOLN: −$48K, −569 opcodes Jan-Sep against the four benchmarks; under 3 of 4</a:t>
            </a:r>
          </a:p>
          <a:p>
            <a:r>
              <a:t>SUBARU ST GEORGE: −$41K, −452 opcodes Jan-Sep against the four benchmarks; under 2 of 4</a:t>
            </a:r>
          </a:p>
          <a:p>
            <a:r>
              <a:t>LR RENO: −$32K, −83 opcodes Jan-Sep against the four benchmarks; under 3 of 4</a:t>
            </a:r>
          </a:p>
          <a:p>
            <a:r>
              <a:t>VOLVO: −$29K, −340 opcodes Jan-Sep against the four benchmarks; under 3 of 4</a:t>
            </a:r>
          </a:p>
          <a:p>
            <a:r>
              <a:t>MAZDA: −$28K, −223 opcodes Jan-Sep against the four benchmarks; under 3 of 4</a:t>
            </a:r>
          </a:p>
          <a:p>
            <a:r>
              <a:t>AUDI HENDERSON: −$22K, −661 opcodes Jan-Sep against the four benchmarks; under 3 of 4</a:t>
            </a:r>
          </a:p>
          <a:p>
            <a:r>
              <a:t>HYUNDAI PRESCOTT: +$23K, +97 opcodes Jan-Sep against the four benchmarks; under 3 of 4</a:t>
            </a:r>
          </a:p>
          <a:p>
            <a:r>
              <a:t>ACURA: +$33K, +228 opcodes Jan-Sep against the four benchmarks; under 1 of 4</a:t>
            </a:r>
          </a:p>
          <a:p>
            <a:r>
              <a:t>SUBARU PRESCOTT: +$41K, +24 opcodes Jan-Sep against the four benchmarks; under 2 of 4</a:t>
            </a:r>
          </a:p>
          <a:p>
            <a:r>
              <a:t>HONDA NORTH: +$45K, +70 opcodes Jan-Sep against the four benchmarks; under 1 of 4</a:t>
            </a:r>
          </a:p>
          <a:p>
            <a:r>
              <a:t>LR HENDERSON: +$54K, +324 opcodes Jan-Sep against the four benchmarks; under 1 of 4</a:t>
            </a:r>
          </a:p>
          <a:p>
            <a:r>
              <a:t>LR LV: +$151K, +456 opcodes Jan-Sep against the four benchmarks; under 1 of 4</a:t>
            </a:r>
          </a:p>
          <a:p>
            <a:r>
              <a:t>HONDA HENDERSON: +$557K, +4,476 opcodes Jan-Sep against the four benchmarks; under 0 of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 · JAN–SEP 2026 YTD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Variance from Benchmark by Store</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Text 4"/>
          <p:cNvSpPr txBox="1"/>
          <p:nvPr/>
        </p:nvSpPr>
        <p:spPr>
          <a:xfrm>
            <a:off x="3950208"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7" name="Text 5"/>
          <p:cNvSpPr txBox="1"/>
          <p:nvPr/>
        </p:nvSpPr>
        <p:spPr>
          <a:xfrm>
            <a:off x="504748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8" name="Shape 6"/>
          <p:cNvSpPr/>
          <p:nvPr/>
        </p:nvSpPr>
        <p:spPr>
          <a:xfrm>
            <a:off x="3429510" y="1700784"/>
            <a:ext cx="10973" cy="4224528"/>
          </a:xfrm>
          <a:prstGeom prst="rect">
            <a:avLst/>
          </a:prstGeom>
          <a:solidFill>
            <a:srgbClr val="9AA3AD"/>
          </a:solidFill>
          <a:ln/>
        </p:spPr>
        <p:txBody>
          <a:bodyPr/>
          <a:p/>
        </p:txBody>
      </p:sp>
      <p:sp>
        <p:nvSpPr>
          <p:cNvPr id="9" name="Text 7"/>
          <p:cNvSpPr txBox="1"/>
          <p:nvPr/>
        </p:nvSpPr>
        <p:spPr>
          <a:xfrm>
            <a:off x="9500616" y="1316736"/>
            <a:ext cx="10972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Variance</a:t>
            </a:r>
            <a:endParaRPr lang="en-US" sz="1400" dirty="0"/>
          </a:p>
        </p:txBody>
      </p:sp>
      <p:sp>
        <p:nvSpPr>
          <p:cNvPr id="10" name="Text 8"/>
          <p:cNvSpPr txBox="1"/>
          <p:nvPr/>
        </p:nvSpPr>
        <p:spPr>
          <a:xfrm>
            <a:off x="1059789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Opcodes</a:t>
            </a:r>
            <a:endParaRPr lang="en-US" sz="1400" dirty="0"/>
          </a:p>
        </p:txBody>
      </p:sp>
      <p:sp>
        <p:nvSpPr>
          <p:cNvPr id="11" name="Shape 9"/>
          <p:cNvSpPr/>
          <p:nvPr/>
        </p:nvSpPr>
        <p:spPr>
          <a:xfrm>
            <a:off x="8979918" y="1700784"/>
            <a:ext cx="10973" cy="3976026"/>
          </a:xfrm>
          <a:prstGeom prst="rect">
            <a:avLst/>
          </a:prstGeom>
          <a:solidFill>
            <a:srgbClr val="9AA3AD"/>
          </a:solidFill>
          <a:ln/>
        </p:spPr>
        <p:txBody>
          <a:bodyPr/>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4" name="Shape 12"/>
          <p:cNvSpPr/>
          <p:nvPr/>
        </p:nvSpPr>
        <p:spPr>
          <a:xfrm>
            <a:off x="3434996" y="1756697"/>
            <a:ext cx="460348" cy="136676"/>
          </a:xfrm>
          <a:prstGeom prst="rect">
            <a:avLst/>
          </a:prstGeom>
          <a:solidFill>
            <a:srgbClr val="12A566"/>
          </a:solidFill>
          <a:ln/>
        </p:spPr>
        <p:txBody>
          <a:bodyPr/>
          <a:p/>
        </p:txBody>
      </p:sp>
      <p:sp>
        <p:nvSpPr>
          <p:cNvPr id="15" name="Text 13"/>
          <p:cNvSpPr txBox="1"/>
          <p:nvPr/>
        </p:nvSpPr>
        <p:spPr>
          <a:xfrm>
            <a:off x="3950208" y="170078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+$557K</a:t>
            </a:r>
            <a:endParaRPr lang="en-US" sz="1300" dirty="0"/>
          </a:p>
        </p:txBody>
      </p:sp>
      <p:sp>
        <p:nvSpPr>
          <p:cNvPr id="16" name="Text 14"/>
          <p:cNvSpPr txBox="1"/>
          <p:nvPr/>
        </p:nvSpPr>
        <p:spPr>
          <a:xfrm>
            <a:off x="504748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+4,476</a:t>
            </a:r>
            <a:endParaRPr lang="en-US" sz="1300" dirty="0"/>
          </a:p>
        </p:txBody>
      </p:sp>
      <p:sp>
        <p:nvSpPr>
          <p:cNvPr id="17" name="Text 15"/>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9" name="Shape 17"/>
          <p:cNvSpPr/>
          <p:nvPr/>
        </p:nvSpPr>
        <p:spPr>
          <a:xfrm>
            <a:off x="3434996" y="2005199"/>
            <a:ext cx="124432" cy="136676"/>
          </a:xfrm>
          <a:prstGeom prst="rect">
            <a:avLst/>
          </a:prstGeom>
          <a:solidFill>
            <a:srgbClr val="12A566"/>
          </a:solidFill>
          <a:ln/>
        </p:spPr>
        <p:txBody>
          <a:bodyPr/>
          <a:p/>
        </p:txBody>
      </p:sp>
      <p:sp>
        <p:nvSpPr>
          <p:cNvPr id="20" name="Text 18"/>
          <p:cNvSpPr txBox="1"/>
          <p:nvPr/>
        </p:nvSpPr>
        <p:spPr>
          <a:xfrm>
            <a:off x="3950208" y="1949286"/>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+$151K</a:t>
            </a:r>
            <a:endParaRPr lang="en-US" sz="1300" dirty="0"/>
          </a:p>
        </p:txBody>
      </p:sp>
      <p:sp>
        <p:nvSpPr>
          <p:cNvPr id="21" name="Text 19"/>
          <p:cNvSpPr txBox="1"/>
          <p:nvPr/>
        </p:nvSpPr>
        <p:spPr>
          <a:xfrm>
            <a:off x="504748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+456</a:t>
            </a:r>
            <a:endParaRPr lang="en-US" sz="1300" dirty="0"/>
          </a:p>
        </p:txBody>
      </p:sp>
      <p:sp>
        <p:nvSpPr>
          <p:cNvPr id="22" name="Text 20"/>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4" name="Shape 22"/>
          <p:cNvSpPr/>
          <p:nvPr/>
        </p:nvSpPr>
        <p:spPr>
          <a:xfrm>
            <a:off x="3434996" y="2253700"/>
            <a:ext cx="44339" cy="136676"/>
          </a:xfrm>
          <a:prstGeom prst="rect">
            <a:avLst/>
          </a:prstGeom>
          <a:solidFill>
            <a:srgbClr val="12A566"/>
          </a:solidFill>
          <a:ln/>
        </p:spPr>
        <p:txBody>
          <a:bodyPr/>
          <a:p/>
        </p:txBody>
      </p:sp>
      <p:sp>
        <p:nvSpPr>
          <p:cNvPr id="25" name="Text 23"/>
          <p:cNvSpPr txBox="1"/>
          <p:nvPr/>
        </p:nvSpPr>
        <p:spPr>
          <a:xfrm>
            <a:off x="3950208" y="2197787"/>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+$54K</a:t>
            </a:r>
            <a:endParaRPr lang="en-US" sz="1300" dirty="0"/>
          </a:p>
        </p:txBody>
      </p:sp>
      <p:sp>
        <p:nvSpPr>
          <p:cNvPr id="26" name="Text 24"/>
          <p:cNvSpPr txBox="1"/>
          <p:nvPr/>
        </p:nvSpPr>
        <p:spPr>
          <a:xfrm>
            <a:off x="504748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+324</a:t>
            </a:r>
            <a:endParaRPr lang="en-US" sz="1300" dirty="0"/>
          </a:p>
        </p:txBody>
      </p:sp>
      <p:sp>
        <p:nvSpPr>
          <p:cNvPr id="27" name="Text 25"/>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8" name="Text 26"/>
          <p:cNvSpPr txBox="1"/>
          <p:nvPr/>
        </p:nvSpPr>
        <p:spPr>
          <a:xfrm>
            <a:off x="1014984"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9" name="Shape 27"/>
          <p:cNvSpPr/>
          <p:nvPr/>
        </p:nvSpPr>
        <p:spPr>
          <a:xfrm>
            <a:off x="3434996" y="2502202"/>
            <a:ext cx="37145" cy="136676"/>
          </a:xfrm>
          <a:prstGeom prst="rect">
            <a:avLst/>
          </a:prstGeom>
          <a:solidFill>
            <a:srgbClr val="12A566"/>
          </a:solidFill>
          <a:ln/>
        </p:spPr>
        <p:txBody>
          <a:bodyPr/>
          <a:p/>
        </p:txBody>
      </p:sp>
      <p:sp>
        <p:nvSpPr>
          <p:cNvPr id="30" name="Text 28"/>
          <p:cNvSpPr txBox="1"/>
          <p:nvPr/>
        </p:nvSpPr>
        <p:spPr>
          <a:xfrm>
            <a:off x="3950208" y="2446289"/>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+$45K</a:t>
            </a:r>
            <a:endParaRPr lang="en-US" sz="1300" dirty="0"/>
          </a:p>
        </p:txBody>
      </p:sp>
      <p:sp>
        <p:nvSpPr>
          <p:cNvPr id="31" name="Text 29"/>
          <p:cNvSpPr txBox="1"/>
          <p:nvPr/>
        </p:nvSpPr>
        <p:spPr>
          <a:xfrm>
            <a:off x="504748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32" name="Text 30"/>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3" name="Text 31"/>
          <p:cNvSpPr txBox="1"/>
          <p:nvPr/>
        </p:nvSpPr>
        <p:spPr>
          <a:xfrm>
            <a:off x="1014984"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4" name="Shape 32"/>
          <p:cNvSpPr/>
          <p:nvPr/>
        </p:nvSpPr>
        <p:spPr>
          <a:xfrm>
            <a:off x="3434996" y="2750703"/>
            <a:ext cx="34144" cy="136676"/>
          </a:xfrm>
          <a:prstGeom prst="rect">
            <a:avLst/>
          </a:prstGeom>
          <a:solidFill>
            <a:srgbClr val="12A566"/>
          </a:solidFill>
          <a:ln/>
        </p:spPr>
        <p:txBody>
          <a:bodyPr/>
          <a:p/>
        </p:txBody>
      </p:sp>
      <p:sp>
        <p:nvSpPr>
          <p:cNvPr id="35" name="Text 33"/>
          <p:cNvSpPr txBox="1"/>
          <p:nvPr/>
        </p:nvSpPr>
        <p:spPr>
          <a:xfrm>
            <a:off x="3950208" y="2694791"/>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+$41K</a:t>
            </a:r>
            <a:endParaRPr lang="en-US" sz="1300" dirty="0"/>
          </a:p>
        </p:txBody>
      </p:sp>
      <p:sp>
        <p:nvSpPr>
          <p:cNvPr id="36" name="Text 34"/>
          <p:cNvSpPr txBox="1"/>
          <p:nvPr/>
        </p:nvSpPr>
        <p:spPr>
          <a:xfrm>
            <a:off x="504748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a:t>
            </a:r>
            <a:endParaRPr lang="en-US" sz="1300" dirty="0"/>
          </a:p>
        </p:txBody>
      </p:sp>
      <p:sp>
        <p:nvSpPr>
          <p:cNvPr id="37" name="Text 35"/>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8" name="Text 36"/>
          <p:cNvSpPr txBox="1"/>
          <p:nvPr/>
        </p:nvSpPr>
        <p:spPr>
          <a:xfrm>
            <a:off x="1014984"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9" name="Shape 37"/>
          <p:cNvSpPr/>
          <p:nvPr/>
        </p:nvSpPr>
        <p:spPr>
          <a:xfrm>
            <a:off x="3434996" y="2999205"/>
            <a:ext cx="27581" cy="136676"/>
          </a:xfrm>
          <a:prstGeom prst="rect">
            <a:avLst/>
          </a:prstGeom>
          <a:solidFill>
            <a:srgbClr val="12A566"/>
          </a:solidFill>
          <a:ln/>
        </p:spPr>
        <p:txBody>
          <a:bodyPr/>
          <a:p/>
        </p:txBody>
      </p:sp>
      <p:sp>
        <p:nvSpPr>
          <p:cNvPr id="40" name="Text 38"/>
          <p:cNvSpPr txBox="1"/>
          <p:nvPr/>
        </p:nvSpPr>
        <p:spPr>
          <a:xfrm>
            <a:off x="3950208" y="2943292"/>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+$33K</a:t>
            </a:r>
            <a:endParaRPr lang="en-US" sz="1300" dirty="0"/>
          </a:p>
        </p:txBody>
      </p:sp>
      <p:sp>
        <p:nvSpPr>
          <p:cNvPr id="41" name="Text 39"/>
          <p:cNvSpPr txBox="1"/>
          <p:nvPr/>
        </p:nvSpPr>
        <p:spPr>
          <a:xfrm>
            <a:off x="504748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+228</a:t>
            </a:r>
            <a:endParaRPr lang="en-US" sz="1300" dirty="0"/>
          </a:p>
        </p:txBody>
      </p:sp>
      <p:sp>
        <p:nvSpPr>
          <p:cNvPr id="42" name="Text 40"/>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3" name="Text 41"/>
          <p:cNvSpPr txBox="1"/>
          <p:nvPr/>
        </p:nvSpPr>
        <p:spPr>
          <a:xfrm>
            <a:off x="1014984"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4" name="Shape 42"/>
          <p:cNvSpPr/>
          <p:nvPr/>
        </p:nvSpPr>
        <p:spPr>
          <a:xfrm>
            <a:off x="3434996" y="3247707"/>
            <a:ext cx="19282" cy="136676"/>
          </a:xfrm>
          <a:prstGeom prst="rect">
            <a:avLst/>
          </a:prstGeom>
          <a:solidFill>
            <a:srgbClr val="12A566"/>
          </a:solidFill>
          <a:ln/>
        </p:spPr>
        <p:txBody>
          <a:bodyPr/>
          <a:p/>
        </p:txBody>
      </p:sp>
      <p:sp>
        <p:nvSpPr>
          <p:cNvPr id="45" name="Text 43"/>
          <p:cNvSpPr txBox="1"/>
          <p:nvPr/>
        </p:nvSpPr>
        <p:spPr>
          <a:xfrm>
            <a:off x="3950208" y="3191794"/>
            <a:ext cx="1097280" cy="248502"/>
          </a:xfrm>
          <a:prstGeom prst="rect">
            <a:avLst/>
          </a:prstGeom>
          <a:noFill/>
          <a:ln/>
        </p:spPr>
        <p:txBody>
          <a:bodyPr wrap="square" lIns="0" tIns="0" rIns="0" bIns="0" rtlCol="0" anchor="ctr"/>
          <a:lstStyle/>
          <a:p>
            <a:pPr algn="r" indent="0" marL="0">
              <a:buNone/>
            </a:pPr>
            <a:r>
              <a:rPr lang="en-US" sz="1300" b="1" dirty="0">
                <a:solidFill>
                  <a:srgbClr val="0B7A4A"/>
                </a:solidFill>
                <a:latin typeface="Inter" pitchFamily="34" charset="0"/>
                <a:ea typeface="Inter" pitchFamily="34" charset="-122"/>
                <a:cs typeface="Inter" pitchFamily="34" charset="-120"/>
              </a:rPr>
              <a:t>+$23K</a:t>
            </a:r>
            <a:endParaRPr lang="en-US" sz="1300" dirty="0"/>
          </a:p>
        </p:txBody>
      </p:sp>
      <p:sp>
        <p:nvSpPr>
          <p:cNvPr id="46" name="Text 44"/>
          <p:cNvSpPr txBox="1"/>
          <p:nvPr/>
        </p:nvSpPr>
        <p:spPr>
          <a:xfrm>
            <a:off x="504748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+97</a:t>
            </a:r>
            <a:endParaRPr lang="en-US" sz="1300" dirty="0"/>
          </a:p>
        </p:txBody>
      </p:sp>
      <p:sp>
        <p:nvSpPr>
          <p:cNvPr id="47" name="Text 45"/>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8" name="Text 46"/>
          <p:cNvSpPr txBox="1"/>
          <p:nvPr/>
        </p:nvSpPr>
        <p:spPr>
          <a:xfrm>
            <a:off x="1014984"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49" name="Shape 47"/>
          <p:cNvSpPr/>
          <p:nvPr/>
        </p:nvSpPr>
        <p:spPr>
          <a:xfrm>
            <a:off x="3416704" y="3496208"/>
            <a:ext cx="18292" cy="136676"/>
          </a:xfrm>
          <a:prstGeom prst="rect">
            <a:avLst/>
          </a:prstGeom>
          <a:solidFill>
            <a:srgbClr val="C2352F"/>
          </a:solidFill>
          <a:ln/>
        </p:spPr>
        <p:txBody>
          <a:bodyPr/>
          <a:p/>
        </p:txBody>
      </p:sp>
      <p:sp>
        <p:nvSpPr>
          <p:cNvPr id="50" name="Text 48"/>
          <p:cNvSpPr txBox="1"/>
          <p:nvPr/>
        </p:nvSpPr>
        <p:spPr>
          <a:xfrm>
            <a:off x="3950208"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51" name="Text 49"/>
          <p:cNvSpPr txBox="1"/>
          <p:nvPr/>
        </p:nvSpPr>
        <p:spPr>
          <a:xfrm>
            <a:off x="504748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−661</a:t>
            </a:r>
            <a:endParaRPr lang="en-US" sz="1300" dirty="0"/>
          </a:p>
        </p:txBody>
      </p:sp>
      <p:sp>
        <p:nvSpPr>
          <p:cNvPr id="52" name="Text 50"/>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53" name="Text 51"/>
          <p:cNvSpPr txBox="1"/>
          <p:nvPr/>
        </p:nvSpPr>
        <p:spPr>
          <a:xfrm>
            <a:off x="1014984"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4" name="Shape 52"/>
          <p:cNvSpPr/>
          <p:nvPr/>
        </p:nvSpPr>
        <p:spPr>
          <a:xfrm>
            <a:off x="3411703" y="3744710"/>
            <a:ext cx="23293" cy="136676"/>
          </a:xfrm>
          <a:prstGeom prst="rect">
            <a:avLst/>
          </a:prstGeom>
          <a:solidFill>
            <a:srgbClr val="C2352F"/>
          </a:solidFill>
          <a:ln/>
        </p:spPr>
        <p:txBody>
          <a:bodyPr/>
          <a:p/>
        </p:txBody>
      </p:sp>
      <p:sp>
        <p:nvSpPr>
          <p:cNvPr id="55" name="Text 53"/>
          <p:cNvSpPr txBox="1"/>
          <p:nvPr/>
        </p:nvSpPr>
        <p:spPr>
          <a:xfrm>
            <a:off x="3950208"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−$28K</a:t>
            </a:r>
            <a:endParaRPr lang="en-US" sz="1300" dirty="0"/>
          </a:p>
        </p:txBody>
      </p:sp>
      <p:sp>
        <p:nvSpPr>
          <p:cNvPr id="56" name="Text 54"/>
          <p:cNvSpPr txBox="1"/>
          <p:nvPr/>
        </p:nvSpPr>
        <p:spPr>
          <a:xfrm>
            <a:off x="504748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−223</a:t>
            </a:r>
            <a:endParaRPr lang="en-US" sz="1300" dirty="0"/>
          </a:p>
        </p:txBody>
      </p:sp>
      <p:sp>
        <p:nvSpPr>
          <p:cNvPr id="57" name="Text 55"/>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58" name="Text 56"/>
          <p:cNvSpPr txBox="1"/>
          <p:nvPr/>
        </p:nvSpPr>
        <p:spPr>
          <a:xfrm>
            <a:off x="1014984"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9" name="Shape 57"/>
          <p:cNvSpPr/>
          <p:nvPr/>
        </p:nvSpPr>
        <p:spPr>
          <a:xfrm>
            <a:off x="3411379" y="3993212"/>
            <a:ext cx="23618" cy="136676"/>
          </a:xfrm>
          <a:prstGeom prst="rect">
            <a:avLst/>
          </a:prstGeom>
          <a:solidFill>
            <a:srgbClr val="C2352F"/>
          </a:solidFill>
          <a:ln/>
        </p:spPr>
        <p:txBody>
          <a:bodyPr/>
          <a:p/>
        </p:txBody>
      </p:sp>
      <p:sp>
        <p:nvSpPr>
          <p:cNvPr id="60" name="Text 58"/>
          <p:cNvSpPr txBox="1"/>
          <p:nvPr/>
        </p:nvSpPr>
        <p:spPr>
          <a:xfrm>
            <a:off x="3950208"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−$29K</a:t>
            </a:r>
            <a:endParaRPr lang="en-US" sz="1300" dirty="0"/>
          </a:p>
        </p:txBody>
      </p:sp>
      <p:sp>
        <p:nvSpPr>
          <p:cNvPr id="61" name="Text 59"/>
          <p:cNvSpPr txBox="1"/>
          <p:nvPr/>
        </p:nvSpPr>
        <p:spPr>
          <a:xfrm>
            <a:off x="504748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−340</a:t>
            </a:r>
            <a:endParaRPr lang="en-US" sz="1300" dirty="0"/>
          </a:p>
        </p:txBody>
      </p:sp>
      <p:sp>
        <p:nvSpPr>
          <p:cNvPr id="62" name="Text 6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63" name="Text 61"/>
          <p:cNvSpPr txBox="1"/>
          <p:nvPr/>
        </p:nvSpPr>
        <p:spPr>
          <a:xfrm>
            <a:off x="1014984"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4" name="Shape 62"/>
          <p:cNvSpPr/>
          <p:nvPr/>
        </p:nvSpPr>
        <p:spPr>
          <a:xfrm>
            <a:off x="3408491" y="4241713"/>
            <a:ext cx="26505" cy="136676"/>
          </a:xfrm>
          <a:prstGeom prst="rect">
            <a:avLst/>
          </a:prstGeom>
          <a:solidFill>
            <a:srgbClr val="C2352F"/>
          </a:solidFill>
          <a:ln/>
        </p:spPr>
        <p:txBody>
          <a:bodyPr/>
          <a:p/>
        </p:txBody>
      </p:sp>
      <p:sp>
        <p:nvSpPr>
          <p:cNvPr id="65" name="Text 63"/>
          <p:cNvSpPr txBox="1"/>
          <p:nvPr/>
        </p:nvSpPr>
        <p:spPr>
          <a:xfrm>
            <a:off x="3950208"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66" name="Text 64"/>
          <p:cNvSpPr txBox="1"/>
          <p:nvPr/>
        </p:nvSpPr>
        <p:spPr>
          <a:xfrm>
            <a:off x="504748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67" name="Text 65"/>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68" name="Text 66"/>
          <p:cNvSpPr txBox="1"/>
          <p:nvPr/>
        </p:nvSpPr>
        <p:spPr>
          <a:xfrm>
            <a:off x="1014984"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69" name="Shape 67"/>
          <p:cNvSpPr/>
          <p:nvPr/>
        </p:nvSpPr>
        <p:spPr>
          <a:xfrm>
            <a:off x="3401031" y="4490215"/>
            <a:ext cx="33965" cy="136676"/>
          </a:xfrm>
          <a:prstGeom prst="rect">
            <a:avLst/>
          </a:prstGeom>
          <a:solidFill>
            <a:srgbClr val="C2352F"/>
          </a:solidFill>
          <a:ln/>
        </p:spPr>
        <p:txBody>
          <a:bodyPr/>
          <a:p/>
        </p:txBody>
      </p:sp>
      <p:sp>
        <p:nvSpPr>
          <p:cNvPr id="70" name="Text 68"/>
          <p:cNvSpPr txBox="1"/>
          <p:nvPr/>
        </p:nvSpPr>
        <p:spPr>
          <a:xfrm>
            <a:off x="3950208"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−$41K</a:t>
            </a:r>
            <a:endParaRPr lang="en-US" sz="1300" dirty="0"/>
          </a:p>
        </p:txBody>
      </p:sp>
      <p:sp>
        <p:nvSpPr>
          <p:cNvPr id="71" name="Text 69"/>
          <p:cNvSpPr txBox="1"/>
          <p:nvPr/>
        </p:nvSpPr>
        <p:spPr>
          <a:xfrm>
            <a:off x="504748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−452</a:t>
            </a:r>
            <a:endParaRPr lang="en-US" sz="1300" dirty="0"/>
          </a:p>
        </p:txBody>
      </p:sp>
      <p:sp>
        <p:nvSpPr>
          <p:cNvPr id="72" name="Text 70"/>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73" name="Text 71"/>
          <p:cNvSpPr txBox="1"/>
          <p:nvPr/>
        </p:nvSpPr>
        <p:spPr>
          <a:xfrm>
            <a:off x="1014984"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74" name="Shape 72"/>
          <p:cNvSpPr/>
          <p:nvPr/>
        </p:nvSpPr>
        <p:spPr>
          <a:xfrm>
            <a:off x="3395551" y="4738717"/>
            <a:ext cx="39445" cy="136676"/>
          </a:xfrm>
          <a:prstGeom prst="rect">
            <a:avLst/>
          </a:prstGeom>
          <a:solidFill>
            <a:srgbClr val="C2352F"/>
          </a:solidFill>
          <a:ln/>
        </p:spPr>
        <p:txBody>
          <a:bodyPr/>
          <a:p/>
        </p:txBody>
      </p:sp>
      <p:sp>
        <p:nvSpPr>
          <p:cNvPr id="75" name="Text 73"/>
          <p:cNvSpPr txBox="1"/>
          <p:nvPr/>
        </p:nvSpPr>
        <p:spPr>
          <a:xfrm>
            <a:off x="3950208"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76" name="Text 74"/>
          <p:cNvSpPr txBox="1"/>
          <p:nvPr/>
        </p:nvSpPr>
        <p:spPr>
          <a:xfrm>
            <a:off x="504748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−569</a:t>
            </a:r>
            <a:endParaRPr lang="en-US" sz="1300" dirty="0"/>
          </a:p>
        </p:txBody>
      </p:sp>
      <p:sp>
        <p:nvSpPr>
          <p:cNvPr id="77" name="Text 75"/>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78" name="Text 76"/>
          <p:cNvSpPr txBox="1"/>
          <p:nvPr/>
        </p:nvSpPr>
        <p:spPr>
          <a:xfrm>
            <a:off x="1014984"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79" name="Shape 77"/>
          <p:cNvSpPr/>
          <p:nvPr/>
        </p:nvSpPr>
        <p:spPr>
          <a:xfrm>
            <a:off x="3391623" y="4987218"/>
            <a:ext cx="43373" cy="136676"/>
          </a:xfrm>
          <a:prstGeom prst="rect">
            <a:avLst/>
          </a:prstGeom>
          <a:solidFill>
            <a:srgbClr val="C2352F"/>
          </a:solidFill>
          <a:ln/>
        </p:spPr>
        <p:txBody>
          <a:bodyPr/>
          <a:p/>
        </p:txBody>
      </p:sp>
      <p:sp>
        <p:nvSpPr>
          <p:cNvPr id="80" name="Text 78"/>
          <p:cNvSpPr txBox="1"/>
          <p:nvPr/>
        </p:nvSpPr>
        <p:spPr>
          <a:xfrm>
            <a:off x="3950208"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−$53K</a:t>
            </a:r>
            <a:endParaRPr lang="en-US" sz="1300" dirty="0"/>
          </a:p>
        </p:txBody>
      </p:sp>
      <p:sp>
        <p:nvSpPr>
          <p:cNvPr id="81" name="Text 79"/>
          <p:cNvSpPr txBox="1"/>
          <p:nvPr/>
        </p:nvSpPr>
        <p:spPr>
          <a:xfrm>
            <a:off x="504748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−660</a:t>
            </a:r>
            <a:endParaRPr lang="en-US" sz="1300" dirty="0"/>
          </a:p>
        </p:txBody>
      </p:sp>
      <p:sp>
        <p:nvSpPr>
          <p:cNvPr id="82" name="Text 80"/>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83" name="Text 81"/>
          <p:cNvSpPr txBox="1"/>
          <p:nvPr/>
        </p:nvSpPr>
        <p:spPr>
          <a:xfrm>
            <a:off x="1014984"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4" name="Shape 82"/>
          <p:cNvSpPr/>
          <p:nvPr/>
        </p:nvSpPr>
        <p:spPr>
          <a:xfrm>
            <a:off x="3386113" y="5235720"/>
            <a:ext cx="48884" cy="136676"/>
          </a:xfrm>
          <a:prstGeom prst="rect">
            <a:avLst/>
          </a:prstGeom>
          <a:solidFill>
            <a:srgbClr val="C2352F"/>
          </a:solidFill>
          <a:ln/>
        </p:spPr>
        <p:txBody>
          <a:bodyPr/>
          <a:p/>
        </p:txBody>
      </p:sp>
      <p:sp>
        <p:nvSpPr>
          <p:cNvPr id="85" name="Text 83"/>
          <p:cNvSpPr txBox="1"/>
          <p:nvPr/>
        </p:nvSpPr>
        <p:spPr>
          <a:xfrm>
            <a:off x="3950208"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−$59K</a:t>
            </a:r>
            <a:endParaRPr lang="en-US" sz="1300" dirty="0"/>
          </a:p>
        </p:txBody>
      </p:sp>
      <p:sp>
        <p:nvSpPr>
          <p:cNvPr id="86" name="Text 84"/>
          <p:cNvSpPr txBox="1"/>
          <p:nvPr/>
        </p:nvSpPr>
        <p:spPr>
          <a:xfrm>
            <a:off x="504748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−783</a:t>
            </a:r>
            <a:endParaRPr lang="en-US" sz="1300" dirty="0"/>
          </a:p>
        </p:txBody>
      </p:sp>
      <p:sp>
        <p:nvSpPr>
          <p:cNvPr id="87" name="Text 85"/>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88" name="Text 86"/>
          <p:cNvSpPr txBox="1"/>
          <p:nvPr/>
        </p:nvSpPr>
        <p:spPr>
          <a:xfrm>
            <a:off x="1014984"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9" name="Shape 87"/>
          <p:cNvSpPr/>
          <p:nvPr/>
        </p:nvSpPr>
        <p:spPr>
          <a:xfrm>
            <a:off x="3385317" y="5484222"/>
            <a:ext cx="49679" cy="136676"/>
          </a:xfrm>
          <a:prstGeom prst="rect">
            <a:avLst/>
          </a:prstGeom>
          <a:solidFill>
            <a:srgbClr val="C2352F"/>
          </a:solidFill>
          <a:ln/>
        </p:spPr>
        <p:txBody>
          <a:bodyPr/>
          <a:p/>
        </p:txBody>
      </p:sp>
      <p:sp>
        <p:nvSpPr>
          <p:cNvPr id="90" name="Text 88"/>
          <p:cNvSpPr txBox="1"/>
          <p:nvPr/>
        </p:nvSpPr>
        <p:spPr>
          <a:xfrm>
            <a:off x="3950208"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−$60K</a:t>
            </a:r>
            <a:endParaRPr lang="en-US" sz="1300" dirty="0"/>
          </a:p>
        </p:txBody>
      </p:sp>
      <p:sp>
        <p:nvSpPr>
          <p:cNvPr id="91" name="Text 89"/>
          <p:cNvSpPr txBox="1"/>
          <p:nvPr/>
        </p:nvSpPr>
        <p:spPr>
          <a:xfrm>
            <a:off x="504748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−568</a:t>
            </a:r>
            <a:endParaRPr lang="en-US" sz="1300" dirty="0"/>
          </a:p>
        </p:txBody>
      </p:sp>
      <p:sp>
        <p:nvSpPr>
          <p:cNvPr id="92" name="Text 90"/>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93" name="Text 91"/>
          <p:cNvSpPr txBox="1"/>
          <p:nvPr/>
        </p:nvSpPr>
        <p:spPr>
          <a:xfrm>
            <a:off x="1014984" y="567681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4" name="Shape 92"/>
          <p:cNvSpPr/>
          <p:nvPr/>
        </p:nvSpPr>
        <p:spPr>
          <a:xfrm>
            <a:off x="3384944" y="5732723"/>
            <a:ext cx="50052" cy="136676"/>
          </a:xfrm>
          <a:prstGeom prst="rect">
            <a:avLst/>
          </a:prstGeom>
          <a:solidFill>
            <a:srgbClr val="C2352F"/>
          </a:solidFill>
          <a:ln/>
        </p:spPr>
        <p:txBody>
          <a:bodyPr/>
          <a:p/>
        </p:txBody>
      </p:sp>
      <p:sp>
        <p:nvSpPr>
          <p:cNvPr id="95" name="Text 93"/>
          <p:cNvSpPr txBox="1"/>
          <p:nvPr/>
        </p:nvSpPr>
        <p:spPr>
          <a:xfrm>
            <a:off x="3950208" y="567681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−$61K</a:t>
            </a:r>
            <a:endParaRPr lang="en-US" sz="1300" dirty="0"/>
          </a:p>
        </p:txBody>
      </p:sp>
      <p:sp>
        <p:nvSpPr>
          <p:cNvPr id="96" name="Text 94"/>
          <p:cNvSpPr txBox="1"/>
          <p:nvPr/>
        </p:nvSpPr>
        <p:spPr>
          <a:xfrm>
            <a:off x="504748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−697</a:t>
            </a:r>
            <a:endParaRPr lang="en-US" sz="1300" dirty="0"/>
          </a:p>
        </p:txBody>
      </p:sp>
      <p:sp>
        <p:nvSpPr>
          <p:cNvPr id="97" name="Text 95"/>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98" name="Text 96"/>
          <p:cNvSpPr txBox="1"/>
          <p:nvPr/>
        </p:nvSpPr>
        <p:spPr>
          <a:xfrm>
            <a:off x="6565392" y="170078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9" name="Shape 97"/>
          <p:cNvSpPr/>
          <p:nvPr/>
        </p:nvSpPr>
        <p:spPr>
          <a:xfrm>
            <a:off x="8931186" y="1756697"/>
            <a:ext cx="54219" cy="136676"/>
          </a:xfrm>
          <a:prstGeom prst="rect">
            <a:avLst/>
          </a:prstGeom>
          <a:solidFill>
            <a:srgbClr val="C2352F"/>
          </a:solidFill>
          <a:ln/>
        </p:spPr>
        <p:txBody>
          <a:bodyPr/>
          <a:p/>
        </p:txBody>
      </p:sp>
      <p:sp>
        <p:nvSpPr>
          <p:cNvPr id="100" name="Text 98"/>
          <p:cNvSpPr txBox="1"/>
          <p:nvPr/>
        </p:nvSpPr>
        <p:spPr>
          <a:xfrm>
            <a:off x="9500616" y="170078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−$66K</a:t>
            </a:r>
            <a:endParaRPr lang="en-US" sz="1300" dirty="0"/>
          </a:p>
        </p:txBody>
      </p:sp>
      <p:sp>
        <p:nvSpPr>
          <p:cNvPr id="101" name="Text 99"/>
          <p:cNvSpPr txBox="1"/>
          <p:nvPr/>
        </p:nvSpPr>
        <p:spPr>
          <a:xfrm>
            <a:off x="1059789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−640</a:t>
            </a:r>
            <a:endParaRPr lang="en-US" sz="1300" dirty="0"/>
          </a:p>
        </p:txBody>
      </p:sp>
      <p:sp>
        <p:nvSpPr>
          <p:cNvPr id="102" name="Text 100"/>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03" name="Text 101"/>
          <p:cNvSpPr txBox="1"/>
          <p:nvPr/>
        </p:nvSpPr>
        <p:spPr>
          <a:xfrm>
            <a:off x="6565392" y="194928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4" name="Shape 102"/>
          <p:cNvSpPr/>
          <p:nvPr/>
        </p:nvSpPr>
        <p:spPr>
          <a:xfrm>
            <a:off x="8907378" y="2005199"/>
            <a:ext cx="78026" cy="136676"/>
          </a:xfrm>
          <a:prstGeom prst="rect">
            <a:avLst/>
          </a:prstGeom>
          <a:solidFill>
            <a:srgbClr val="C2352F"/>
          </a:solidFill>
          <a:ln/>
        </p:spPr>
        <p:txBody>
          <a:bodyPr/>
          <a:p/>
        </p:txBody>
      </p:sp>
      <p:sp>
        <p:nvSpPr>
          <p:cNvPr id="105" name="Text 103"/>
          <p:cNvSpPr txBox="1"/>
          <p:nvPr/>
        </p:nvSpPr>
        <p:spPr>
          <a:xfrm>
            <a:off x="9500616" y="194928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−$94K</a:t>
            </a:r>
            <a:endParaRPr lang="en-US" sz="1300" dirty="0"/>
          </a:p>
        </p:txBody>
      </p:sp>
      <p:sp>
        <p:nvSpPr>
          <p:cNvPr id="106" name="Text 104"/>
          <p:cNvSpPr txBox="1"/>
          <p:nvPr/>
        </p:nvSpPr>
        <p:spPr>
          <a:xfrm>
            <a:off x="1059789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−954</a:t>
            </a:r>
            <a:endParaRPr lang="en-US" sz="1300" dirty="0"/>
          </a:p>
        </p:txBody>
      </p:sp>
      <p:sp>
        <p:nvSpPr>
          <p:cNvPr id="107" name="Text 105"/>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08" name="Text 106"/>
          <p:cNvSpPr txBox="1"/>
          <p:nvPr/>
        </p:nvSpPr>
        <p:spPr>
          <a:xfrm>
            <a:off x="6565392" y="219778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09" name="Shape 107"/>
          <p:cNvSpPr/>
          <p:nvPr/>
        </p:nvSpPr>
        <p:spPr>
          <a:xfrm>
            <a:off x="8903182" y="2253700"/>
            <a:ext cx="82223" cy="136676"/>
          </a:xfrm>
          <a:prstGeom prst="rect">
            <a:avLst/>
          </a:prstGeom>
          <a:solidFill>
            <a:srgbClr val="C2352F"/>
          </a:solidFill>
          <a:ln/>
        </p:spPr>
        <p:txBody>
          <a:bodyPr/>
          <a:p/>
        </p:txBody>
      </p:sp>
      <p:sp>
        <p:nvSpPr>
          <p:cNvPr id="110" name="Text 108"/>
          <p:cNvSpPr txBox="1"/>
          <p:nvPr/>
        </p:nvSpPr>
        <p:spPr>
          <a:xfrm>
            <a:off x="9500616" y="219778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−$100K</a:t>
            </a:r>
            <a:endParaRPr lang="en-US" sz="1300" dirty="0"/>
          </a:p>
        </p:txBody>
      </p:sp>
      <p:sp>
        <p:nvSpPr>
          <p:cNvPr id="111" name="Text 109"/>
          <p:cNvSpPr txBox="1"/>
          <p:nvPr/>
        </p:nvSpPr>
        <p:spPr>
          <a:xfrm>
            <a:off x="1059789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−1,100</a:t>
            </a:r>
            <a:endParaRPr lang="en-US" sz="1300" dirty="0"/>
          </a:p>
        </p:txBody>
      </p:sp>
      <p:sp>
        <p:nvSpPr>
          <p:cNvPr id="112" name="Text 11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13" name="Text 111"/>
          <p:cNvSpPr txBox="1"/>
          <p:nvPr/>
        </p:nvSpPr>
        <p:spPr>
          <a:xfrm>
            <a:off x="6565392" y="244628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14" name="Shape 112"/>
          <p:cNvSpPr/>
          <p:nvPr/>
        </p:nvSpPr>
        <p:spPr>
          <a:xfrm>
            <a:off x="8898772" y="2502202"/>
            <a:ext cx="86632" cy="136676"/>
          </a:xfrm>
          <a:prstGeom prst="rect">
            <a:avLst/>
          </a:prstGeom>
          <a:solidFill>
            <a:srgbClr val="C2352F"/>
          </a:solidFill>
          <a:ln/>
        </p:spPr>
        <p:txBody>
          <a:bodyPr/>
          <a:p/>
        </p:txBody>
      </p:sp>
      <p:sp>
        <p:nvSpPr>
          <p:cNvPr id="115" name="Text 113"/>
          <p:cNvSpPr txBox="1"/>
          <p:nvPr/>
        </p:nvSpPr>
        <p:spPr>
          <a:xfrm>
            <a:off x="9500616" y="244628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116" name="Text 114"/>
          <p:cNvSpPr txBox="1"/>
          <p:nvPr/>
        </p:nvSpPr>
        <p:spPr>
          <a:xfrm>
            <a:off x="1059789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−827</a:t>
            </a:r>
            <a:endParaRPr lang="en-US" sz="1300" dirty="0"/>
          </a:p>
        </p:txBody>
      </p:sp>
      <p:sp>
        <p:nvSpPr>
          <p:cNvPr id="117" name="Text 115"/>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18" name="Text 116"/>
          <p:cNvSpPr txBox="1"/>
          <p:nvPr/>
        </p:nvSpPr>
        <p:spPr>
          <a:xfrm>
            <a:off x="6565392" y="2694791"/>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19" name="Shape 117"/>
          <p:cNvSpPr/>
          <p:nvPr/>
        </p:nvSpPr>
        <p:spPr>
          <a:xfrm>
            <a:off x="8898356" y="2750703"/>
            <a:ext cx="87048" cy="136676"/>
          </a:xfrm>
          <a:prstGeom prst="rect">
            <a:avLst/>
          </a:prstGeom>
          <a:solidFill>
            <a:srgbClr val="C2352F"/>
          </a:solidFill>
          <a:ln/>
        </p:spPr>
        <p:txBody>
          <a:bodyPr/>
          <a:p/>
        </p:txBody>
      </p:sp>
      <p:sp>
        <p:nvSpPr>
          <p:cNvPr id="120" name="Text 118"/>
          <p:cNvSpPr txBox="1"/>
          <p:nvPr/>
        </p:nvSpPr>
        <p:spPr>
          <a:xfrm>
            <a:off x="9500616" y="2694791"/>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−$105K</a:t>
            </a:r>
            <a:endParaRPr lang="en-US" sz="1300" dirty="0"/>
          </a:p>
        </p:txBody>
      </p:sp>
      <p:sp>
        <p:nvSpPr>
          <p:cNvPr id="121" name="Text 119"/>
          <p:cNvSpPr txBox="1"/>
          <p:nvPr/>
        </p:nvSpPr>
        <p:spPr>
          <a:xfrm>
            <a:off x="1059789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−1,068</a:t>
            </a:r>
            <a:endParaRPr lang="en-US" sz="1300" dirty="0"/>
          </a:p>
        </p:txBody>
      </p:sp>
      <p:sp>
        <p:nvSpPr>
          <p:cNvPr id="122" name="Text 120"/>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23" name="Text 121"/>
          <p:cNvSpPr txBox="1"/>
          <p:nvPr/>
        </p:nvSpPr>
        <p:spPr>
          <a:xfrm>
            <a:off x="6565392" y="294329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24" name="Shape 122"/>
          <p:cNvSpPr/>
          <p:nvPr/>
        </p:nvSpPr>
        <p:spPr>
          <a:xfrm>
            <a:off x="8869908" y="2999205"/>
            <a:ext cx="115496" cy="136676"/>
          </a:xfrm>
          <a:prstGeom prst="rect">
            <a:avLst/>
          </a:prstGeom>
          <a:solidFill>
            <a:srgbClr val="C2352F"/>
          </a:solidFill>
          <a:ln/>
        </p:spPr>
        <p:txBody>
          <a:bodyPr/>
          <a:p/>
        </p:txBody>
      </p:sp>
      <p:sp>
        <p:nvSpPr>
          <p:cNvPr id="125" name="Text 123"/>
          <p:cNvSpPr txBox="1"/>
          <p:nvPr/>
        </p:nvSpPr>
        <p:spPr>
          <a:xfrm>
            <a:off x="9500616" y="294329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−$140K</a:t>
            </a:r>
            <a:endParaRPr lang="en-US" sz="1300" dirty="0"/>
          </a:p>
        </p:txBody>
      </p:sp>
      <p:sp>
        <p:nvSpPr>
          <p:cNvPr id="126" name="Text 124"/>
          <p:cNvSpPr txBox="1"/>
          <p:nvPr/>
        </p:nvSpPr>
        <p:spPr>
          <a:xfrm>
            <a:off x="1059789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−1,717</a:t>
            </a:r>
            <a:endParaRPr lang="en-US" sz="1300" dirty="0"/>
          </a:p>
        </p:txBody>
      </p:sp>
      <p:sp>
        <p:nvSpPr>
          <p:cNvPr id="127" name="Text 125"/>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28" name="Text 126"/>
          <p:cNvSpPr txBox="1"/>
          <p:nvPr/>
        </p:nvSpPr>
        <p:spPr>
          <a:xfrm>
            <a:off x="6565392" y="319179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29" name="Shape 127"/>
          <p:cNvSpPr/>
          <p:nvPr/>
        </p:nvSpPr>
        <p:spPr>
          <a:xfrm>
            <a:off x="8861676" y="3247707"/>
            <a:ext cx="123728" cy="136676"/>
          </a:xfrm>
          <a:prstGeom prst="rect">
            <a:avLst/>
          </a:prstGeom>
          <a:solidFill>
            <a:srgbClr val="C2352F"/>
          </a:solidFill>
          <a:ln/>
        </p:spPr>
        <p:txBody>
          <a:bodyPr/>
          <a:p/>
        </p:txBody>
      </p:sp>
      <p:sp>
        <p:nvSpPr>
          <p:cNvPr id="130" name="Text 128"/>
          <p:cNvSpPr txBox="1"/>
          <p:nvPr/>
        </p:nvSpPr>
        <p:spPr>
          <a:xfrm>
            <a:off x="9500616" y="319179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31" name="Text 129"/>
          <p:cNvSpPr txBox="1"/>
          <p:nvPr/>
        </p:nvSpPr>
        <p:spPr>
          <a:xfrm>
            <a:off x="1059789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−1,613</a:t>
            </a:r>
            <a:endParaRPr lang="en-US" sz="1300" dirty="0"/>
          </a:p>
        </p:txBody>
      </p:sp>
      <p:sp>
        <p:nvSpPr>
          <p:cNvPr id="132" name="Text 130"/>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33" name="Text 131"/>
          <p:cNvSpPr txBox="1"/>
          <p:nvPr/>
        </p:nvSpPr>
        <p:spPr>
          <a:xfrm>
            <a:off x="6565392" y="3440296"/>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34" name="Shape 132"/>
          <p:cNvSpPr/>
          <p:nvPr/>
        </p:nvSpPr>
        <p:spPr>
          <a:xfrm>
            <a:off x="8861519" y="3496208"/>
            <a:ext cx="123885" cy="136676"/>
          </a:xfrm>
          <a:prstGeom prst="rect">
            <a:avLst/>
          </a:prstGeom>
          <a:solidFill>
            <a:srgbClr val="C2352F"/>
          </a:solidFill>
          <a:ln/>
        </p:spPr>
        <p:txBody>
          <a:bodyPr/>
          <a:p/>
        </p:txBody>
      </p:sp>
      <p:sp>
        <p:nvSpPr>
          <p:cNvPr id="135" name="Text 133"/>
          <p:cNvSpPr txBox="1"/>
          <p:nvPr/>
        </p:nvSpPr>
        <p:spPr>
          <a:xfrm>
            <a:off x="9500616" y="3440296"/>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−$150K</a:t>
            </a:r>
            <a:endParaRPr lang="en-US" sz="1300" dirty="0"/>
          </a:p>
        </p:txBody>
      </p:sp>
      <p:sp>
        <p:nvSpPr>
          <p:cNvPr id="136" name="Text 134"/>
          <p:cNvSpPr txBox="1"/>
          <p:nvPr/>
        </p:nvSpPr>
        <p:spPr>
          <a:xfrm>
            <a:off x="1059789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−1,257</a:t>
            </a:r>
            <a:endParaRPr lang="en-US" sz="1300" dirty="0"/>
          </a:p>
        </p:txBody>
      </p:sp>
      <p:sp>
        <p:nvSpPr>
          <p:cNvPr id="137" name="Text 135"/>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38" name="Text 136"/>
          <p:cNvSpPr txBox="1"/>
          <p:nvPr/>
        </p:nvSpPr>
        <p:spPr>
          <a:xfrm>
            <a:off x="6565392" y="368879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39" name="Shape 137"/>
          <p:cNvSpPr/>
          <p:nvPr/>
        </p:nvSpPr>
        <p:spPr>
          <a:xfrm>
            <a:off x="8851844" y="3744710"/>
            <a:ext cx="133560" cy="136676"/>
          </a:xfrm>
          <a:prstGeom prst="rect">
            <a:avLst/>
          </a:prstGeom>
          <a:solidFill>
            <a:srgbClr val="C2352F"/>
          </a:solidFill>
          <a:ln/>
        </p:spPr>
        <p:txBody>
          <a:bodyPr/>
          <a:p/>
        </p:txBody>
      </p:sp>
      <p:sp>
        <p:nvSpPr>
          <p:cNvPr id="140" name="Text 138"/>
          <p:cNvSpPr txBox="1"/>
          <p:nvPr/>
        </p:nvSpPr>
        <p:spPr>
          <a:xfrm>
            <a:off x="9500616" y="368879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−$162K</a:t>
            </a:r>
            <a:endParaRPr lang="en-US" sz="1300" dirty="0"/>
          </a:p>
        </p:txBody>
      </p:sp>
      <p:sp>
        <p:nvSpPr>
          <p:cNvPr id="141" name="Text 139"/>
          <p:cNvSpPr txBox="1"/>
          <p:nvPr/>
        </p:nvSpPr>
        <p:spPr>
          <a:xfrm>
            <a:off x="1059789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−1,152</a:t>
            </a:r>
            <a:endParaRPr lang="en-US" sz="1300" dirty="0"/>
          </a:p>
        </p:txBody>
      </p:sp>
      <p:sp>
        <p:nvSpPr>
          <p:cNvPr id="142" name="Text 140"/>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43" name="Text 141"/>
          <p:cNvSpPr txBox="1"/>
          <p:nvPr/>
        </p:nvSpPr>
        <p:spPr>
          <a:xfrm>
            <a:off x="6565392" y="393729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44" name="Shape 142"/>
          <p:cNvSpPr/>
          <p:nvPr/>
        </p:nvSpPr>
        <p:spPr>
          <a:xfrm>
            <a:off x="8841233" y="3993212"/>
            <a:ext cx="144171" cy="136676"/>
          </a:xfrm>
          <a:prstGeom prst="rect">
            <a:avLst/>
          </a:prstGeom>
          <a:solidFill>
            <a:srgbClr val="C2352F"/>
          </a:solidFill>
          <a:ln/>
        </p:spPr>
        <p:txBody>
          <a:bodyPr/>
          <a:p/>
        </p:txBody>
      </p:sp>
      <p:sp>
        <p:nvSpPr>
          <p:cNvPr id="145" name="Text 143"/>
          <p:cNvSpPr txBox="1"/>
          <p:nvPr/>
        </p:nvSpPr>
        <p:spPr>
          <a:xfrm>
            <a:off x="9500616" y="393729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−$175K</a:t>
            </a:r>
            <a:endParaRPr lang="en-US" sz="1300" dirty="0"/>
          </a:p>
        </p:txBody>
      </p:sp>
      <p:sp>
        <p:nvSpPr>
          <p:cNvPr id="146" name="Text 144"/>
          <p:cNvSpPr txBox="1"/>
          <p:nvPr/>
        </p:nvSpPr>
        <p:spPr>
          <a:xfrm>
            <a:off x="1059789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−1,906</a:t>
            </a:r>
            <a:endParaRPr lang="en-US" sz="1300" dirty="0"/>
          </a:p>
        </p:txBody>
      </p:sp>
      <p:sp>
        <p:nvSpPr>
          <p:cNvPr id="147" name="Text 145"/>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48" name="Text 146"/>
          <p:cNvSpPr txBox="1"/>
          <p:nvPr/>
        </p:nvSpPr>
        <p:spPr>
          <a:xfrm>
            <a:off x="6565392" y="4185800"/>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49" name="Shape 147"/>
          <p:cNvSpPr/>
          <p:nvPr/>
        </p:nvSpPr>
        <p:spPr>
          <a:xfrm>
            <a:off x="8833790" y="4241713"/>
            <a:ext cx="151614" cy="136676"/>
          </a:xfrm>
          <a:prstGeom prst="rect">
            <a:avLst/>
          </a:prstGeom>
          <a:solidFill>
            <a:srgbClr val="C2352F"/>
          </a:solidFill>
          <a:ln/>
        </p:spPr>
        <p:txBody>
          <a:bodyPr/>
          <a:p/>
        </p:txBody>
      </p:sp>
      <p:sp>
        <p:nvSpPr>
          <p:cNvPr id="150" name="Text 148"/>
          <p:cNvSpPr txBox="1"/>
          <p:nvPr/>
        </p:nvSpPr>
        <p:spPr>
          <a:xfrm>
            <a:off x="9500616" y="4185800"/>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−$184K</a:t>
            </a:r>
            <a:endParaRPr lang="en-US" sz="1300" dirty="0"/>
          </a:p>
        </p:txBody>
      </p:sp>
      <p:sp>
        <p:nvSpPr>
          <p:cNvPr id="151" name="Text 149"/>
          <p:cNvSpPr txBox="1"/>
          <p:nvPr/>
        </p:nvSpPr>
        <p:spPr>
          <a:xfrm>
            <a:off x="1059789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−1,863</a:t>
            </a:r>
            <a:endParaRPr lang="en-US" sz="1300" dirty="0"/>
          </a:p>
        </p:txBody>
      </p:sp>
      <p:sp>
        <p:nvSpPr>
          <p:cNvPr id="152" name="Text 150"/>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53" name="Text 151"/>
          <p:cNvSpPr txBox="1"/>
          <p:nvPr/>
        </p:nvSpPr>
        <p:spPr>
          <a:xfrm>
            <a:off x="6565392" y="4434302"/>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54" name="Shape 152"/>
          <p:cNvSpPr/>
          <p:nvPr/>
        </p:nvSpPr>
        <p:spPr>
          <a:xfrm>
            <a:off x="8832658" y="4490215"/>
            <a:ext cx="152747" cy="136676"/>
          </a:xfrm>
          <a:prstGeom prst="rect">
            <a:avLst/>
          </a:prstGeom>
          <a:solidFill>
            <a:srgbClr val="C2352F"/>
          </a:solidFill>
          <a:ln/>
        </p:spPr>
        <p:txBody>
          <a:bodyPr/>
          <a:p/>
        </p:txBody>
      </p:sp>
      <p:sp>
        <p:nvSpPr>
          <p:cNvPr id="155" name="Text 153"/>
          <p:cNvSpPr txBox="1"/>
          <p:nvPr/>
        </p:nvSpPr>
        <p:spPr>
          <a:xfrm>
            <a:off x="9500616" y="4434302"/>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−$185K</a:t>
            </a:r>
            <a:endParaRPr lang="en-US" sz="1300" dirty="0"/>
          </a:p>
        </p:txBody>
      </p:sp>
      <p:sp>
        <p:nvSpPr>
          <p:cNvPr id="156" name="Text 154"/>
          <p:cNvSpPr txBox="1"/>
          <p:nvPr/>
        </p:nvSpPr>
        <p:spPr>
          <a:xfrm>
            <a:off x="1059789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−1,708</a:t>
            </a:r>
            <a:endParaRPr lang="en-US" sz="1300" dirty="0"/>
          </a:p>
        </p:txBody>
      </p:sp>
      <p:sp>
        <p:nvSpPr>
          <p:cNvPr id="157" name="Text 155"/>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58" name="Text 156"/>
          <p:cNvSpPr txBox="1"/>
          <p:nvPr/>
        </p:nvSpPr>
        <p:spPr>
          <a:xfrm>
            <a:off x="6565392" y="4682804"/>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59" name="Shape 157"/>
          <p:cNvSpPr/>
          <p:nvPr/>
        </p:nvSpPr>
        <p:spPr>
          <a:xfrm>
            <a:off x="8798077" y="4738717"/>
            <a:ext cx="187327" cy="136676"/>
          </a:xfrm>
          <a:prstGeom prst="rect">
            <a:avLst/>
          </a:prstGeom>
          <a:solidFill>
            <a:srgbClr val="C2352F"/>
          </a:solidFill>
          <a:ln/>
        </p:spPr>
        <p:txBody>
          <a:bodyPr/>
          <a:p/>
        </p:txBody>
      </p:sp>
      <p:sp>
        <p:nvSpPr>
          <p:cNvPr id="160" name="Text 158"/>
          <p:cNvSpPr txBox="1"/>
          <p:nvPr/>
        </p:nvSpPr>
        <p:spPr>
          <a:xfrm>
            <a:off x="9500616" y="4682804"/>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−$227K</a:t>
            </a:r>
            <a:endParaRPr lang="en-US" sz="1300" dirty="0"/>
          </a:p>
        </p:txBody>
      </p:sp>
      <p:sp>
        <p:nvSpPr>
          <p:cNvPr id="161" name="Text 159"/>
          <p:cNvSpPr txBox="1"/>
          <p:nvPr/>
        </p:nvSpPr>
        <p:spPr>
          <a:xfrm>
            <a:off x="1059789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−3,005</a:t>
            </a:r>
            <a:endParaRPr lang="en-US" sz="1300" dirty="0"/>
          </a:p>
        </p:txBody>
      </p:sp>
      <p:sp>
        <p:nvSpPr>
          <p:cNvPr id="162" name="Text 16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63" name="Text 161"/>
          <p:cNvSpPr txBox="1"/>
          <p:nvPr/>
        </p:nvSpPr>
        <p:spPr>
          <a:xfrm>
            <a:off x="6565392" y="4931305"/>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4" name="Shape 162"/>
          <p:cNvSpPr/>
          <p:nvPr/>
        </p:nvSpPr>
        <p:spPr>
          <a:xfrm>
            <a:off x="8765072" y="4987218"/>
            <a:ext cx="220332" cy="136676"/>
          </a:xfrm>
          <a:prstGeom prst="rect">
            <a:avLst/>
          </a:prstGeom>
          <a:solidFill>
            <a:srgbClr val="C2352F"/>
          </a:solidFill>
          <a:ln/>
        </p:spPr>
        <p:txBody>
          <a:bodyPr/>
          <a:p/>
        </p:txBody>
      </p:sp>
      <p:sp>
        <p:nvSpPr>
          <p:cNvPr id="165" name="Text 163"/>
          <p:cNvSpPr txBox="1"/>
          <p:nvPr/>
        </p:nvSpPr>
        <p:spPr>
          <a:xfrm>
            <a:off x="9500616" y="4931305"/>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−$267K</a:t>
            </a:r>
            <a:endParaRPr lang="en-US" sz="1300" dirty="0"/>
          </a:p>
        </p:txBody>
      </p:sp>
      <p:sp>
        <p:nvSpPr>
          <p:cNvPr id="166" name="Text 164"/>
          <p:cNvSpPr txBox="1"/>
          <p:nvPr/>
        </p:nvSpPr>
        <p:spPr>
          <a:xfrm>
            <a:off x="1059789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−3,494</a:t>
            </a:r>
            <a:endParaRPr lang="en-US" sz="1300" dirty="0"/>
          </a:p>
        </p:txBody>
      </p:sp>
      <p:sp>
        <p:nvSpPr>
          <p:cNvPr id="167" name="Text 165"/>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68" name="Text 166"/>
          <p:cNvSpPr txBox="1"/>
          <p:nvPr/>
        </p:nvSpPr>
        <p:spPr>
          <a:xfrm>
            <a:off x="6565392" y="5179807"/>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69" name="Shape 167"/>
          <p:cNvSpPr/>
          <p:nvPr/>
        </p:nvSpPr>
        <p:spPr>
          <a:xfrm>
            <a:off x="8691210" y="5235720"/>
            <a:ext cx="294194" cy="136676"/>
          </a:xfrm>
          <a:prstGeom prst="rect">
            <a:avLst/>
          </a:prstGeom>
          <a:solidFill>
            <a:srgbClr val="C2352F"/>
          </a:solidFill>
          <a:ln/>
        </p:spPr>
        <p:txBody>
          <a:bodyPr/>
          <a:p/>
        </p:txBody>
      </p:sp>
      <p:sp>
        <p:nvSpPr>
          <p:cNvPr id="170" name="Text 168"/>
          <p:cNvSpPr txBox="1"/>
          <p:nvPr/>
        </p:nvSpPr>
        <p:spPr>
          <a:xfrm>
            <a:off x="9500616" y="5179807"/>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−$356K</a:t>
            </a:r>
            <a:endParaRPr lang="en-US" sz="1300" dirty="0"/>
          </a:p>
        </p:txBody>
      </p:sp>
      <p:sp>
        <p:nvSpPr>
          <p:cNvPr id="171" name="Text 169"/>
          <p:cNvSpPr txBox="1"/>
          <p:nvPr/>
        </p:nvSpPr>
        <p:spPr>
          <a:xfrm>
            <a:off x="1059789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−3,177</a:t>
            </a:r>
            <a:endParaRPr lang="en-US" sz="1300" dirty="0"/>
          </a:p>
        </p:txBody>
      </p:sp>
      <p:sp>
        <p:nvSpPr>
          <p:cNvPr id="172" name="Text 170"/>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73" name="Text 171"/>
          <p:cNvSpPr txBox="1"/>
          <p:nvPr/>
        </p:nvSpPr>
        <p:spPr>
          <a:xfrm>
            <a:off x="6565392" y="5428309"/>
            <a:ext cx="2011680" cy="24850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4" name="Shape 172"/>
          <p:cNvSpPr/>
          <p:nvPr/>
        </p:nvSpPr>
        <p:spPr>
          <a:xfrm>
            <a:off x="8650224" y="5484222"/>
            <a:ext cx="335180" cy="136676"/>
          </a:xfrm>
          <a:prstGeom prst="rect">
            <a:avLst/>
          </a:prstGeom>
          <a:solidFill>
            <a:srgbClr val="C2352F"/>
          </a:solidFill>
          <a:ln/>
        </p:spPr>
        <p:txBody>
          <a:bodyPr/>
          <a:p/>
        </p:txBody>
      </p:sp>
      <p:sp>
        <p:nvSpPr>
          <p:cNvPr id="175" name="Text 173"/>
          <p:cNvSpPr txBox="1"/>
          <p:nvPr/>
        </p:nvSpPr>
        <p:spPr>
          <a:xfrm>
            <a:off x="9500616" y="5428309"/>
            <a:ext cx="1097280"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−$406K</a:t>
            </a:r>
            <a:endParaRPr lang="en-US" sz="1300" dirty="0"/>
          </a:p>
        </p:txBody>
      </p:sp>
      <p:sp>
        <p:nvSpPr>
          <p:cNvPr id="176" name="Text 174"/>
          <p:cNvSpPr txBox="1"/>
          <p:nvPr/>
        </p:nvSpPr>
        <p:spPr>
          <a:xfrm>
            <a:off x="1059789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−5,191</a:t>
            </a:r>
            <a:endParaRPr lang="en-US" sz="1300" dirty="0"/>
          </a:p>
        </p:txBody>
      </p:sp>
      <p:sp>
        <p:nvSpPr>
          <p:cNvPr id="177" name="Shape 175"/>
          <p:cNvSpPr/>
          <p:nvPr/>
        </p:nvSpPr>
        <p:spPr>
          <a:xfrm>
            <a:off x="6085332" y="1700784"/>
            <a:ext cx="10973" cy="4224528"/>
          </a:xfrm>
          <a:prstGeom prst="rect">
            <a:avLst/>
          </a:prstGeom>
          <a:solidFill>
            <a:srgbClr val="D9D9D9"/>
          </a:solidFill>
          <a:ln/>
        </p:spPr>
        <p:txBody>
          <a:bodyPr/>
          <a:p/>
        </p:txBody>
      </p:sp>
      <p:sp>
        <p:nvSpPr>
          <p:cNvPr id="178" name="Shape 176"/>
          <p:cNvSpPr/>
          <p:nvPr/>
        </p:nvSpPr>
        <p:spPr>
          <a:xfrm>
            <a:off x="457200" y="6126480"/>
            <a:ext cx="11274552" cy="615696"/>
          </a:xfrm>
          <a:prstGeom prst="rect">
            <a:avLst/>
          </a:prstGeom>
          <a:solidFill>
            <a:srgbClr val="FBEBEA"/>
          </a:solidFill>
          <a:ln/>
        </p:spPr>
        <p:txBody>
          <a:bodyPr/>
          <a:p/>
        </p:txBody>
      </p:sp>
      <p:sp>
        <p:nvSpPr>
          <p:cNvPr id="179" name="Text 177"/>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Toyota Spokane is furthest below at −$406K so far this year; 7 of 33 stores are ahead of benchmark across the four services. 15 stores are under all four.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2026-10-26T20:24:03Z</dcterms:created>
  <dcterms:modified xsi:type="dcterms:W3CDTF">2026-10-26T20:24:03Z</dcterms:modified>
</cp:coreProperties>
</file>