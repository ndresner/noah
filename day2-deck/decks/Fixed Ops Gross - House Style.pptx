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19.88</c:v>
                </c:pt>
                <c:pt idx="1">
                  <c:v>18.87</c:v>
                </c:pt>
                <c:pt idx="2">
                  <c:v>21.12</c:v>
                </c:pt>
                <c:pt idx="3">
                  <c:v>21.8</c:v>
                </c:pt>
                <c:pt idx="4">
                  <c:v>20.12</c:v>
                </c:pt>
                <c:pt idx="5">
                  <c:v>21.52</c:v>
                </c:pt>
                <c:pt idx="6">
                  <c:v>22.71</c:v>
                </c:pt>
                <c:pt idx="7">
                  <c:v>21.64</c:v>
                </c:pt>
                <c:pt idx="8">
                  <c:v>21.13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21.12</c:v>
                </c:pt>
                <c:pt idx="3">
                  <c:v>21.8</c:v>
                </c:pt>
                <c:pt idx="4">
                  <c:v/>
                </c:pt>
                <c:pt idx="5">
                  <c:v>21.52</c:v>
                </c:pt>
                <c:pt idx="6">
                  <c:v>22.71</c:v>
                </c:pt>
                <c:pt idx="7">
                  <c:v>21.64</c:v>
                </c:pt>
                <c:pt idx="8">
                  <c:v>21.13</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19.88</c:v>
                </c:pt>
                <c:pt idx="1">
                  <c:v>18.87</c:v>
                </c:pt>
                <c:pt idx="2">
                  <c:v/>
                </c:pt>
                <c:pt idx="3">
                  <c:v/>
                </c:pt>
                <c:pt idx="4">
                  <c:v>20.12</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20.46</c:v>
                </c:pt>
                <c:pt idx="1">
                  <c:v>19.1</c:v>
                </c:pt>
                <c:pt idx="2">
                  <c:v/>
                </c:pt>
                <c:pt idx="3">
                  <c:v/>
                </c:pt>
                <c:pt idx="4">
                  <c:v>20.28</c:v>
                </c:pt>
                <c:pt idx="5">
                  <c:v/>
                </c:pt>
                <c:pt idx="6">
                  <c:v/>
                </c:pt>
                <c:pt idx="7">
                  <c:v/>
                </c:pt>
                <c:pt idx="8">
                  <c:v/>
                </c:pt>
                <c:pt idx="9">
                  <c:v>21.27</c:v>
                </c:pt>
                <c:pt idx="10">
                  <c:v/>
                </c:pt>
                <c:pt idx="11">
                  <c:v>19.32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20.19</c:v>
                </c:pt>
                <c:pt idx="3">
                  <c:v>20.85</c:v>
                </c:pt>
                <c:pt idx="4">
                  <c:v/>
                </c:pt>
                <c:pt idx="5">
                  <c:v>20.34</c:v>
                </c:pt>
                <c:pt idx="6">
                  <c:v>20.75</c:v>
                </c:pt>
                <c:pt idx="7">
                  <c:v>20.32</c:v>
                </c:pt>
                <c:pt idx="8">
                  <c:v>19.03</c:v>
                </c:pt>
                <c:pt idx="9">
                  <c:v/>
                </c:pt>
                <c:pt idx="10">
                  <c:v>17.74</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20.46</c:v>
                </c:pt>
                <c:pt idx="1">
                  <c:v>19.1</c:v>
                </c:pt>
                <c:pt idx="2">
                  <c:v>20.19</c:v>
                </c:pt>
                <c:pt idx="3">
                  <c:v>20.85</c:v>
                </c:pt>
                <c:pt idx="4">
                  <c:v>20.28</c:v>
                </c:pt>
                <c:pt idx="5">
                  <c:v>20.34</c:v>
                </c:pt>
                <c:pt idx="6">
                  <c:v>20.75</c:v>
                </c:pt>
                <c:pt idx="7">
                  <c:v>20.32</c:v>
                </c:pt>
                <c:pt idx="8">
                  <c:v>19.03</c:v>
                </c:pt>
                <c:pt idx="9">
                  <c:v>21.27</c:v>
                </c:pt>
                <c:pt idx="10">
                  <c:v>17.74</c:v>
                </c:pt>
                <c:pt idx="11">
                  <c:v>19.32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26"/>
          <c:min val="16"/>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13.47</c:v>
                </c:pt>
                <c:pt idx="1">
                  <c:v>12.79</c:v>
                </c:pt>
                <c:pt idx="2">
                  <c:v>14.35</c:v>
                </c:pt>
                <c:pt idx="3">
                  <c:v>14.65</c:v>
                </c:pt>
                <c:pt idx="4">
                  <c:v>13.71</c:v>
                </c:pt>
                <c:pt idx="5">
                  <c:v>14.45</c:v>
                </c:pt>
                <c:pt idx="6">
                  <c:v>15.06</c:v>
                </c:pt>
                <c:pt idx="7">
                  <c:v>14.43</c:v>
                </c:pt>
                <c:pt idx="8">
                  <c:v>13.96</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13.47</c:v>
                </c:pt>
                <c:pt idx="1">
                  <c:v>12.79</c:v>
                </c:pt>
                <c:pt idx="2">
                  <c:v>14.35</c:v>
                </c:pt>
                <c:pt idx="3">
                  <c:v>14.65</c:v>
                </c:pt>
                <c:pt idx="4">
                  <c:v>13.71</c:v>
                </c:pt>
                <c:pt idx="5">
                  <c:v>14.45</c:v>
                </c:pt>
                <c:pt idx="6">
                  <c:v>15.06</c:v>
                </c:pt>
                <c:pt idx="7">
                  <c:v>14.43</c:v>
                </c:pt>
                <c:pt idx="8">
                  <c:v>13.96</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13.74</c:v>
                </c:pt>
                <c:pt idx="10">
                  <c:v/>
                </c:pt>
                <c:pt idx="11">
                  <c:v>12.92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13.41</c:v>
                </c:pt>
                <c:pt idx="1">
                  <c:v>12.64</c:v>
                </c:pt>
                <c:pt idx="2">
                  <c:v>13.59</c:v>
                </c:pt>
                <c:pt idx="3">
                  <c:v>14.01</c:v>
                </c:pt>
                <c:pt idx="4">
                  <c:v>13.61</c:v>
                </c:pt>
                <c:pt idx="5">
                  <c:v>13.53</c:v>
                </c:pt>
                <c:pt idx="6">
                  <c:v>13.78</c:v>
                </c:pt>
                <c:pt idx="7">
                  <c:v>13.51</c:v>
                </c:pt>
                <c:pt idx="8">
                  <c:v>12.5</c:v>
                </c:pt>
                <c:pt idx="9">
                  <c:v/>
                </c:pt>
                <c:pt idx="10">
                  <c:v>11.84</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13.41</c:v>
                </c:pt>
                <c:pt idx="1">
                  <c:v>12.64</c:v>
                </c:pt>
                <c:pt idx="2">
                  <c:v>13.59</c:v>
                </c:pt>
                <c:pt idx="3">
                  <c:v>14.01</c:v>
                </c:pt>
                <c:pt idx="4">
                  <c:v>13.61</c:v>
                </c:pt>
                <c:pt idx="5">
                  <c:v>13.53</c:v>
                </c:pt>
                <c:pt idx="6">
                  <c:v>13.78</c:v>
                </c:pt>
                <c:pt idx="7">
                  <c:v>13.51</c:v>
                </c:pt>
                <c:pt idx="8">
                  <c:v>12.5</c:v>
                </c:pt>
                <c:pt idx="9">
                  <c:v>13.74</c:v>
                </c:pt>
                <c:pt idx="10">
                  <c:v>11.84</c:v>
                </c:pt>
                <c:pt idx="11">
                  <c:v>12.92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8"/>
          <c:min val="10"/>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6.41</c:v>
                </c:pt>
                <c:pt idx="1">
                  <c:v>6.08</c:v>
                </c:pt>
                <c:pt idx="2">
                  <c:v>6.77</c:v>
                </c:pt>
                <c:pt idx="3">
                  <c:v>7.14</c:v>
                </c:pt>
                <c:pt idx="4">
                  <c:v>6.41</c:v>
                </c:pt>
                <c:pt idx="5">
                  <c:v>7.07</c:v>
                </c:pt>
                <c:pt idx="6">
                  <c:v>7.66</c:v>
                </c:pt>
                <c:pt idx="7">
                  <c:v>7.21</c:v>
                </c:pt>
                <c:pt idx="8">
                  <c:v>7.18</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6.77</c:v>
                </c:pt>
                <c:pt idx="3">
                  <c:v>7.14</c:v>
                </c:pt>
                <c:pt idx="4">
                  <c:v/>
                </c:pt>
                <c:pt idx="5">
                  <c:v>7.07</c:v>
                </c:pt>
                <c:pt idx="6">
                  <c:v>7.66</c:v>
                </c:pt>
                <c:pt idx="7">
                  <c:v>7.21</c:v>
                </c:pt>
                <c:pt idx="8">
                  <c:v>7.18</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6.41</c:v>
                </c:pt>
                <c:pt idx="1">
                  <c:v>6.08</c:v>
                </c:pt>
                <c:pt idx="2">
                  <c:v/>
                </c:pt>
                <c:pt idx="3">
                  <c:v/>
                </c:pt>
                <c:pt idx="4">
                  <c:v>6.41</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7.05</c:v>
                </c:pt>
                <c:pt idx="1">
                  <c:v>6.47</c:v>
                </c:pt>
                <c:pt idx="2">
                  <c:v/>
                </c:pt>
                <c:pt idx="3">
                  <c:v/>
                </c:pt>
                <c:pt idx="4">
                  <c:v>6.67</c:v>
                </c:pt>
                <c:pt idx="5">
                  <c:v/>
                </c:pt>
                <c:pt idx="6">
                  <c:v/>
                </c:pt>
                <c:pt idx="7">
                  <c:v/>
                </c:pt>
                <c:pt idx="8">
                  <c:v/>
                </c:pt>
                <c:pt idx="9">
                  <c:v>7.53</c:v>
                </c:pt>
                <c:pt idx="10">
                  <c:v/>
                </c:pt>
                <c:pt idx="11">
                  <c:v>6.4</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6.6</c:v>
                </c:pt>
                <c:pt idx="3">
                  <c:v>6.84</c:v>
                </c:pt>
                <c:pt idx="4">
                  <c:v/>
                </c:pt>
                <c:pt idx="5">
                  <c:v>6.81</c:v>
                </c:pt>
                <c:pt idx="6">
                  <c:v>6.97</c:v>
                </c:pt>
                <c:pt idx="7">
                  <c:v>6.81</c:v>
                </c:pt>
                <c:pt idx="8">
                  <c:v>6.54</c:v>
                </c:pt>
                <c:pt idx="9">
                  <c:v/>
                </c:pt>
                <c:pt idx="10">
                  <c:v>5.91</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7.05</c:v>
                </c:pt>
                <c:pt idx="1">
                  <c:v>6.47</c:v>
                </c:pt>
                <c:pt idx="2">
                  <c:v>6.6</c:v>
                </c:pt>
                <c:pt idx="3">
                  <c:v>6.84</c:v>
                </c:pt>
                <c:pt idx="4">
                  <c:v>6.67</c:v>
                </c:pt>
                <c:pt idx="5">
                  <c:v>6.81</c:v>
                </c:pt>
                <c:pt idx="6">
                  <c:v>6.97</c:v>
                </c:pt>
                <c:pt idx="7">
                  <c:v>6.81</c:v>
                </c:pt>
                <c:pt idx="8">
                  <c:v>6.54</c:v>
                </c:pt>
                <c:pt idx="9">
                  <c:v>7.53</c:v>
                </c:pt>
                <c:pt idx="10">
                  <c:v>5.91</c:v>
                </c:pt>
                <c:pt idx="11">
                  <c:v>6.4</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9"/>
          <c:min val="5"/>
        </c:scaling>
        <c:delete val="0"/>
        <c:axPos val="l"/>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Jan-Sep 2025; 2025 shown January-December.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Ranked by dollar change, Jan-Sep 2026 vs Jan-Sep 2025; percent change alongside, the top three and bottom three by percent 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Top and bottom five stores by percent change in fixed ops gross, Jan-Sep 2026 vs 2025. Moving now: Jul-Sep 2026 vs Jan-Mar 2026, each store against itself (monthly averages); the group moved +9.4%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Jan-Sep 2025; 2025 shown January-December.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Ranked by dollar change, Jan-Sep 2026 vs Jan-Sep 2025; percent change alongside, the top three and bottom three by percent 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Top and bottom five stores by percent change in service gross, Jan-Sep 2026 vs 2025. Moving now: Jul-Sep 2026 vs Jan-Mar 2026, each store against itself (monthly averages); the group moved +7.0%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Jan-Sep 2025; 2025 shown January-December.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Ranked by dollar change, Jan-Sep 2026 vs Jan-Sep 2025; percent change alongside, the top three and bottom three by percent 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Top and bottom five stores by percent change in parts gross, Jan-Sep 2026 vs 2025. Moving now: Jul-Sep 2026 vs Jan-Mar 2026, each store against itself (monthly averages); the group moved +14.4%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chart" Target="/ppt/charts/chart11.xml"/><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chart" Target="/ppt/charts/chart14.xml"/><Relationship Id="rId4" Type="http://schemas.openxmlformats.org/officeDocument/2006/relationships/chart" Target="/ppt/charts/chart15.xml"/><Relationship Id="rId5" Type="http://schemas.openxmlformats.org/officeDocument/2006/relationships/chart" Target="/ppt/charts/chart16.xml"/><Relationship Id="rId6" Type="http://schemas.openxmlformats.org/officeDocument/2006/relationships/chart" Target="/ppt/charts/chart17.xml"/><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Gross</a:t>
            </a:r>
            <a:endParaRPr lang="en-US" sz="7600" dirty="0"/>
          </a:p>
        </p:txBody>
      </p:sp>
      <p:sp>
        <p:nvSpPr>
          <p:cNvPr id="4"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Fixed ops   ·   Service   ·   Parts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$181.33M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$188.80M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+$7.47M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Ops gross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+$7,468,567 (4.1%) year to date; 6 of nine months ahead of 2025, best September at +$2,098,497.</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GROSS</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$188.80M</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1860"/>
            <a:ext cx="1828800" cy="110352"/>
          </a:xfrm>
          <a:prstGeom prst="rect">
            <a:avLst/>
          </a:prstGeom>
          <a:solidFill>
            <a:srgbClr val="2587C5"/>
          </a:solidFill>
          <a:ln/>
        </p:spPr>
      </p:sp>
      <p:sp>
        <p:nvSpPr>
          <p:cNvPr id="14" name="Text 12"/>
          <p:cNvSpPr txBox="1"/>
          <p:nvPr/>
        </p:nvSpPr>
        <p:spPr>
          <a:xfrm>
            <a:off x="4855464"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$22.59M</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7" name="Shape 15"/>
          <p:cNvSpPr/>
          <p:nvPr/>
        </p:nvSpPr>
        <p:spPr>
          <a:xfrm>
            <a:off x="2980944" y="2151755"/>
            <a:ext cx="1339226" cy="110352"/>
          </a:xfrm>
          <a:prstGeom prst="rect">
            <a:avLst/>
          </a:prstGeom>
          <a:solidFill>
            <a:srgbClr val="2587C5"/>
          </a:solidFill>
          <a:ln/>
        </p:spPr>
      </p:sp>
      <p:sp>
        <p:nvSpPr>
          <p:cNvPr id="18" name="Text 16"/>
          <p:cNvSpPr txBox="1"/>
          <p:nvPr/>
        </p:nvSpPr>
        <p:spPr>
          <a:xfrm>
            <a:off x="4855464"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$16.55M</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1" name="Shape 19"/>
          <p:cNvSpPr/>
          <p:nvPr/>
        </p:nvSpPr>
        <p:spPr>
          <a:xfrm>
            <a:off x="2980944" y="2391651"/>
            <a:ext cx="1167458" cy="110352"/>
          </a:xfrm>
          <a:prstGeom prst="rect">
            <a:avLst/>
          </a:prstGeom>
          <a:solidFill>
            <a:srgbClr val="2587C5"/>
          </a:solidFill>
          <a:ln/>
        </p:spPr>
      </p:sp>
      <p:sp>
        <p:nvSpPr>
          <p:cNvPr id="22" name="Text 20"/>
          <p:cNvSpPr txBox="1"/>
          <p:nvPr/>
        </p:nvSpPr>
        <p:spPr>
          <a:xfrm>
            <a:off x="4855464"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$14.42M</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5" name="Shape 23"/>
          <p:cNvSpPr/>
          <p:nvPr/>
        </p:nvSpPr>
        <p:spPr>
          <a:xfrm>
            <a:off x="2980944" y="2631546"/>
            <a:ext cx="998871" cy="110352"/>
          </a:xfrm>
          <a:prstGeom prst="rect">
            <a:avLst/>
          </a:prstGeom>
          <a:solidFill>
            <a:srgbClr val="2587C5"/>
          </a:solidFill>
          <a:ln/>
        </p:spPr>
      </p:sp>
      <p:sp>
        <p:nvSpPr>
          <p:cNvPr id="26" name="Text 24"/>
          <p:cNvSpPr txBox="1"/>
          <p:nvPr/>
        </p:nvSpPr>
        <p:spPr>
          <a:xfrm>
            <a:off x="4855464"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$12.34M</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29" name="Shape 27"/>
          <p:cNvSpPr/>
          <p:nvPr/>
        </p:nvSpPr>
        <p:spPr>
          <a:xfrm>
            <a:off x="2980944" y="2871442"/>
            <a:ext cx="815948" cy="110352"/>
          </a:xfrm>
          <a:prstGeom prst="rect">
            <a:avLst/>
          </a:prstGeom>
          <a:solidFill>
            <a:srgbClr val="2587C5"/>
          </a:solidFill>
          <a:ln/>
        </p:spPr>
      </p:sp>
      <p:sp>
        <p:nvSpPr>
          <p:cNvPr id="30" name="Text 28"/>
          <p:cNvSpPr txBox="1"/>
          <p:nvPr/>
        </p:nvSpPr>
        <p:spPr>
          <a:xfrm>
            <a:off x="4855464"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$10.08M</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3" name="Shape 31"/>
          <p:cNvSpPr/>
          <p:nvPr/>
        </p:nvSpPr>
        <p:spPr>
          <a:xfrm>
            <a:off x="2980944" y="3111337"/>
            <a:ext cx="776819" cy="110352"/>
          </a:xfrm>
          <a:prstGeom prst="rect">
            <a:avLst/>
          </a:prstGeom>
          <a:solidFill>
            <a:srgbClr val="2587C5"/>
          </a:solidFill>
          <a:ln/>
        </p:spPr>
      </p:sp>
      <p:sp>
        <p:nvSpPr>
          <p:cNvPr id="34" name="Text 32"/>
          <p:cNvSpPr txBox="1"/>
          <p:nvPr/>
        </p:nvSpPr>
        <p:spPr>
          <a:xfrm>
            <a:off x="4855464"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$9.60M</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37" name="Shape 35"/>
          <p:cNvSpPr/>
          <p:nvPr/>
        </p:nvSpPr>
        <p:spPr>
          <a:xfrm>
            <a:off x="2980944" y="3351233"/>
            <a:ext cx="697445" cy="110352"/>
          </a:xfrm>
          <a:prstGeom prst="rect">
            <a:avLst/>
          </a:prstGeom>
          <a:solidFill>
            <a:srgbClr val="2587C5"/>
          </a:solidFill>
          <a:ln/>
        </p:spPr>
      </p:sp>
      <p:sp>
        <p:nvSpPr>
          <p:cNvPr id="38" name="Text 36"/>
          <p:cNvSpPr txBox="1"/>
          <p:nvPr/>
        </p:nvSpPr>
        <p:spPr>
          <a:xfrm>
            <a:off x="4855464"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$8.62M</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41" name="Shape 39"/>
          <p:cNvSpPr/>
          <p:nvPr/>
        </p:nvSpPr>
        <p:spPr>
          <a:xfrm>
            <a:off x="2980944" y="3591128"/>
            <a:ext cx="534720" cy="110352"/>
          </a:xfrm>
          <a:prstGeom prst="rect">
            <a:avLst/>
          </a:prstGeom>
          <a:solidFill>
            <a:srgbClr val="2587C5"/>
          </a:solidFill>
          <a:ln/>
        </p:spPr>
      </p:sp>
      <p:sp>
        <p:nvSpPr>
          <p:cNvPr id="42" name="Text 40"/>
          <p:cNvSpPr txBox="1"/>
          <p:nvPr/>
        </p:nvSpPr>
        <p:spPr>
          <a:xfrm>
            <a:off x="4855464"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$6.61M</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2980944" y="3831024"/>
            <a:ext cx="498047" cy="110352"/>
          </a:xfrm>
          <a:prstGeom prst="rect">
            <a:avLst/>
          </a:prstGeom>
          <a:solidFill>
            <a:srgbClr val="2587C5"/>
          </a:solidFill>
          <a:ln/>
        </p:spPr>
      </p:sp>
      <p:sp>
        <p:nvSpPr>
          <p:cNvPr id="46" name="Text 44"/>
          <p:cNvSpPr txBox="1"/>
          <p:nvPr/>
        </p:nvSpPr>
        <p:spPr>
          <a:xfrm>
            <a:off x="4855464"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$6.15M</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49" name="Shape 47"/>
          <p:cNvSpPr/>
          <p:nvPr/>
        </p:nvSpPr>
        <p:spPr>
          <a:xfrm>
            <a:off x="2980944" y="4070920"/>
            <a:ext cx="480108" cy="110352"/>
          </a:xfrm>
          <a:prstGeom prst="rect">
            <a:avLst/>
          </a:prstGeom>
          <a:solidFill>
            <a:srgbClr val="2587C5"/>
          </a:solidFill>
          <a:ln/>
        </p:spPr>
      </p:sp>
      <p:sp>
        <p:nvSpPr>
          <p:cNvPr id="50" name="Text 48"/>
          <p:cNvSpPr txBox="1"/>
          <p:nvPr/>
        </p:nvSpPr>
        <p:spPr>
          <a:xfrm>
            <a:off x="4855464"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$5.93M</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3" name="Shape 51"/>
          <p:cNvSpPr/>
          <p:nvPr/>
        </p:nvSpPr>
        <p:spPr>
          <a:xfrm>
            <a:off x="2980944" y="4310815"/>
            <a:ext cx="411218" cy="110352"/>
          </a:xfrm>
          <a:prstGeom prst="rect">
            <a:avLst/>
          </a:prstGeom>
          <a:solidFill>
            <a:srgbClr val="2587C5"/>
          </a:solidFill>
          <a:ln/>
        </p:spPr>
      </p:sp>
      <p:sp>
        <p:nvSpPr>
          <p:cNvPr id="54" name="Text 52"/>
          <p:cNvSpPr txBox="1"/>
          <p:nvPr/>
        </p:nvSpPr>
        <p:spPr>
          <a:xfrm>
            <a:off x="4855464"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$5.08M</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57" name="Shape 55"/>
          <p:cNvSpPr/>
          <p:nvPr/>
        </p:nvSpPr>
        <p:spPr>
          <a:xfrm>
            <a:off x="2980944" y="4550711"/>
            <a:ext cx="387746" cy="110352"/>
          </a:xfrm>
          <a:prstGeom prst="rect">
            <a:avLst/>
          </a:prstGeom>
          <a:solidFill>
            <a:srgbClr val="2587C5"/>
          </a:solidFill>
          <a:ln/>
        </p:spPr>
      </p:sp>
      <p:sp>
        <p:nvSpPr>
          <p:cNvPr id="58" name="Text 56"/>
          <p:cNvSpPr txBox="1"/>
          <p:nvPr/>
        </p:nvSpPr>
        <p:spPr>
          <a:xfrm>
            <a:off x="4855464"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$4.79M</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61" name="Shape 59"/>
          <p:cNvSpPr/>
          <p:nvPr/>
        </p:nvSpPr>
        <p:spPr>
          <a:xfrm>
            <a:off x="2980944" y="4790606"/>
            <a:ext cx="387152" cy="110352"/>
          </a:xfrm>
          <a:prstGeom prst="rect">
            <a:avLst/>
          </a:prstGeom>
          <a:solidFill>
            <a:srgbClr val="2587C5"/>
          </a:solidFill>
          <a:ln/>
        </p:spPr>
      </p:sp>
      <p:sp>
        <p:nvSpPr>
          <p:cNvPr id="62" name="Text 60"/>
          <p:cNvSpPr txBox="1"/>
          <p:nvPr/>
        </p:nvSpPr>
        <p:spPr>
          <a:xfrm>
            <a:off x="4855464"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$4.78M</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5" name="Shape 63"/>
          <p:cNvSpPr/>
          <p:nvPr/>
        </p:nvSpPr>
        <p:spPr>
          <a:xfrm>
            <a:off x="2980944" y="5030502"/>
            <a:ext cx="366719" cy="110352"/>
          </a:xfrm>
          <a:prstGeom prst="rect">
            <a:avLst/>
          </a:prstGeom>
          <a:solidFill>
            <a:srgbClr val="2587C5"/>
          </a:solidFill>
          <a:ln/>
        </p:spPr>
      </p:sp>
      <p:sp>
        <p:nvSpPr>
          <p:cNvPr id="66" name="Text 64"/>
          <p:cNvSpPr txBox="1"/>
          <p:nvPr/>
        </p:nvSpPr>
        <p:spPr>
          <a:xfrm>
            <a:off x="4855464"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$4.53M</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69" name="Shape 67"/>
          <p:cNvSpPr/>
          <p:nvPr/>
        </p:nvSpPr>
        <p:spPr>
          <a:xfrm>
            <a:off x="2980944" y="5270397"/>
            <a:ext cx="361706" cy="110352"/>
          </a:xfrm>
          <a:prstGeom prst="rect">
            <a:avLst/>
          </a:prstGeom>
          <a:solidFill>
            <a:srgbClr val="2587C5"/>
          </a:solidFill>
          <a:ln/>
        </p:spPr>
      </p:sp>
      <p:sp>
        <p:nvSpPr>
          <p:cNvPr id="70" name="Text 68"/>
          <p:cNvSpPr txBox="1"/>
          <p:nvPr/>
        </p:nvSpPr>
        <p:spPr>
          <a:xfrm>
            <a:off x="4855464"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$4.47M</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73" name="Shape 71"/>
          <p:cNvSpPr/>
          <p:nvPr/>
        </p:nvSpPr>
        <p:spPr>
          <a:xfrm>
            <a:off x="2980944" y="5510293"/>
            <a:ext cx="360997" cy="110352"/>
          </a:xfrm>
          <a:prstGeom prst="rect">
            <a:avLst/>
          </a:prstGeom>
          <a:solidFill>
            <a:srgbClr val="2587C5"/>
          </a:solidFill>
          <a:ln/>
        </p:spPr>
      </p:sp>
      <p:sp>
        <p:nvSpPr>
          <p:cNvPr id="74" name="Text 72"/>
          <p:cNvSpPr txBox="1"/>
          <p:nvPr/>
        </p:nvSpPr>
        <p:spPr>
          <a:xfrm>
            <a:off x="4855464"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$4.46M</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7" name="Shape 75"/>
          <p:cNvSpPr/>
          <p:nvPr/>
        </p:nvSpPr>
        <p:spPr>
          <a:xfrm>
            <a:off x="2980944" y="5750188"/>
            <a:ext cx="338585" cy="110352"/>
          </a:xfrm>
          <a:prstGeom prst="rect">
            <a:avLst/>
          </a:prstGeom>
          <a:solidFill>
            <a:srgbClr val="2587C5"/>
          </a:solidFill>
          <a:ln/>
        </p:spPr>
      </p:sp>
      <p:sp>
        <p:nvSpPr>
          <p:cNvPr id="78" name="Text 76"/>
          <p:cNvSpPr txBox="1"/>
          <p:nvPr/>
        </p:nvSpPr>
        <p:spPr>
          <a:xfrm>
            <a:off x="4855464" y="568541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$4.18M</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1" name="Shape 79"/>
          <p:cNvSpPr/>
          <p:nvPr/>
        </p:nvSpPr>
        <p:spPr>
          <a:xfrm>
            <a:off x="8531352" y="1911860"/>
            <a:ext cx="335529" cy="110352"/>
          </a:xfrm>
          <a:prstGeom prst="rect">
            <a:avLst/>
          </a:prstGeom>
          <a:solidFill>
            <a:srgbClr val="2587C5"/>
          </a:solidFill>
          <a:ln/>
        </p:spPr>
      </p:sp>
      <p:sp>
        <p:nvSpPr>
          <p:cNvPr id="82" name="Text 80"/>
          <p:cNvSpPr txBox="1"/>
          <p:nvPr/>
        </p:nvSpPr>
        <p:spPr>
          <a:xfrm>
            <a:off x="10405872"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$4.15M</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5" name="Shape 83"/>
          <p:cNvSpPr/>
          <p:nvPr/>
        </p:nvSpPr>
        <p:spPr>
          <a:xfrm>
            <a:off x="8531352" y="2151755"/>
            <a:ext cx="316795" cy="110352"/>
          </a:xfrm>
          <a:prstGeom prst="rect">
            <a:avLst/>
          </a:prstGeom>
          <a:solidFill>
            <a:srgbClr val="2587C5"/>
          </a:solidFill>
          <a:ln/>
        </p:spPr>
      </p:sp>
      <p:sp>
        <p:nvSpPr>
          <p:cNvPr id="86" name="Text 84"/>
          <p:cNvSpPr txBox="1"/>
          <p:nvPr/>
        </p:nvSpPr>
        <p:spPr>
          <a:xfrm>
            <a:off x="10405872"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$3.91M</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8531352" y="2391651"/>
            <a:ext cx="287606" cy="110352"/>
          </a:xfrm>
          <a:prstGeom prst="rect">
            <a:avLst/>
          </a:prstGeom>
          <a:solidFill>
            <a:srgbClr val="2587C5"/>
          </a:solidFill>
          <a:ln/>
        </p:spPr>
      </p:sp>
      <p:sp>
        <p:nvSpPr>
          <p:cNvPr id="90" name="Text 88"/>
          <p:cNvSpPr txBox="1"/>
          <p:nvPr/>
        </p:nvSpPr>
        <p:spPr>
          <a:xfrm>
            <a:off x="10405872"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$3.55M</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3" name="Shape 91"/>
          <p:cNvSpPr/>
          <p:nvPr/>
        </p:nvSpPr>
        <p:spPr>
          <a:xfrm>
            <a:off x="8531352" y="2631546"/>
            <a:ext cx="284566" cy="110352"/>
          </a:xfrm>
          <a:prstGeom prst="rect">
            <a:avLst/>
          </a:prstGeom>
          <a:solidFill>
            <a:srgbClr val="2587C5"/>
          </a:solidFill>
          <a:ln/>
        </p:spPr>
      </p:sp>
      <p:sp>
        <p:nvSpPr>
          <p:cNvPr id="94" name="Text 92"/>
          <p:cNvSpPr txBox="1"/>
          <p:nvPr/>
        </p:nvSpPr>
        <p:spPr>
          <a:xfrm>
            <a:off x="10405872"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$3.52M</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97" name="Shape 95"/>
          <p:cNvSpPr/>
          <p:nvPr/>
        </p:nvSpPr>
        <p:spPr>
          <a:xfrm>
            <a:off x="8531352" y="2871442"/>
            <a:ext cx="276517" cy="110352"/>
          </a:xfrm>
          <a:prstGeom prst="rect">
            <a:avLst/>
          </a:prstGeom>
          <a:solidFill>
            <a:srgbClr val="2587C5"/>
          </a:solidFill>
          <a:ln/>
        </p:spPr>
      </p:sp>
      <p:sp>
        <p:nvSpPr>
          <p:cNvPr id="98" name="Text 96"/>
          <p:cNvSpPr txBox="1"/>
          <p:nvPr/>
        </p:nvSpPr>
        <p:spPr>
          <a:xfrm>
            <a:off x="10405872"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$3.42M</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01" name="Shape 99"/>
          <p:cNvSpPr/>
          <p:nvPr/>
        </p:nvSpPr>
        <p:spPr>
          <a:xfrm>
            <a:off x="8531352" y="3111337"/>
            <a:ext cx="267522" cy="110352"/>
          </a:xfrm>
          <a:prstGeom prst="rect">
            <a:avLst/>
          </a:prstGeom>
          <a:solidFill>
            <a:srgbClr val="2587C5"/>
          </a:solidFill>
          <a:ln/>
        </p:spPr>
      </p:sp>
      <p:sp>
        <p:nvSpPr>
          <p:cNvPr id="102" name="Text 100"/>
          <p:cNvSpPr txBox="1"/>
          <p:nvPr/>
        </p:nvSpPr>
        <p:spPr>
          <a:xfrm>
            <a:off x="10405872"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$3.31M</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05" name="Shape 103"/>
          <p:cNvSpPr/>
          <p:nvPr/>
        </p:nvSpPr>
        <p:spPr>
          <a:xfrm>
            <a:off x="8531352" y="3351233"/>
            <a:ext cx="241377" cy="110352"/>
          </a:xfrm>
          <a:prstGeom prst="rect">
            <a:avLst/>
          </a:prstGeom>
          <a:solidFill>
            <a:srgbClr val="2587C5"/>
          </a:solidFill>
          <a:ln/>
        </p:spPr>
      </p:sp>
      <p:sp>
        <p:nvSpPr>
          <p:cNvPr id="106" name="Text 104"/>
          <p:cNvSpPr txBox="1"/>
          <p:nvPr/>
        </p:nvSpPr>
        <p:spPr>
          <a:xfrm>
            <a:off x="10405872"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$2.98M</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9" name="Shape 107"/>
          <p:cNvSpPr/>
          <p:nvPr/>
        </p:nvSpPr>
        <p:spPr>
          <a:xfrm>
            <a:off x="8531352" y="3591128"/>
            <a:ext cx="234183" cy="110352"/>
          </a:xfrm>
          <a:prstGeom prst="rect">
            <a:avLst/>
          </a:prstGeom>
          <a:solidFill>
            <a:srgbClr val="2587C5"/>
          </a:solidFill>
          <a:ln/>
        </p:spPr>
      </p:sp>
      <p:sp>
        <p:nvSpPr>
          <p:cNvPr id="110" name="Text 108"/>
          <p:cNvSpPr txBox="1"/>
          <p:nvPr/>
        </p:nvSpPr>
        <p:spPr>
          <a:xfrm>
            <a:off x="10405872"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$2.89M</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13" name="Shape 111"/>
          <p:cNvSpPr/>
          <p:nvPr/>
        </p:nvSpPr>
        <p:spPr>
          <a:xfrm>
            <a:off x="8531352" y="3831024"/>
            <a:ext cx="218568" cy="110352"/>
          </a:xfrm>
          <a:prstGeom prst="rect">
            <a:avLst/>
          </a:prstGeom>
          <a:solidFill>
            <a:srgbClr val="2587C5"/>
          </a:solidFill>
          <a:ln/>
        </p:spPr>
      </p:sp>
      <p:sp>
        <p:nvSpPr>
          <p:cNvPr id="114" name="Text 112"/>
          <p:cNvSpPr txBox="1"/>
          <p:nvPr/>
        </p:nvSpPr>
        <p:spPr>
          <a:xfrm>
            <a:off x="10405872"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$2.70M</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17" name="Shape 115"/>
          <p:cNvSpPr/>
          <p:nvPr/>
        </p:nvSpPr>
        <p:spPr>
          <a:xfrm>
            <a:off x="8531352" y="4070920"/>
            <a:ext cx="189081" cy="110352"/>
          </a:xfrm>
          <a:prstGeom prst="rect">
            <a:avLst/>
          </a:prstGeom>
          <a:solidFill>
            <a:srgbClr val="2587C5"/>
          </a:solidFill>
          <a:ln/>
        </p:spPr>
      </p:sp>
      <p:sp>
        <p:nvSpPr>
          <p:cNvPr id="118" name="Text 116"/>
          <p:cNvSpPr txBox="1"/>
          <p:nvPr/>
        </p:nvSpPr>
        <p:spPr>
          <a:xfrm>
            <a:off x="10405872"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$2.34M</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1" name="Shape 119"/>
          <p:cNvSpPr/>
          <p:nvPr/>
        </p:nvSpPr>
        <p:spPr>
          <a:xfrm>
            <a:off x="8531352" y="4310815"/>
            <a:ext cx="184970" cy="110352"/>
          </a:xfrm>
          <a:prstGeom prst="rect">
            <a:avLst/>
          </a:prstGeom>
          <a:solidFill>
            <a:srgbClr val="2587C5"/>
          </a:solidFill>
          <a:ln/>
        </p:spPr>
      </p:sp>
      <p:sp>
        <p:nvSpPr>
          <p:cNvPr id="122" name="Text 120"/>
          <p:cNvSpPr txBox="1"/>
          <p:nvPr/>
        </p:nvSpPr>
        <p:spPr>
          <a:xfrm>
            <a:off x="10405872"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$2.29M</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5" name="Shape 123"/>
          <p:cNvSpPr/>
          <p:nvPr/>
        </p:nvSpPr>
        <p:spPr>
          <a:xfrm>
            <a:off x="8531352" y="4550711"/>
            <a:ext cx="183743" cy="110352"/>
          </a:xfrm>
          <a:prstGeom prst="rect">
            <a:avLst/>
          </a:prstGeom>
          <a:solidFill>
            <a:srgbClr val="2587C5"/>
          </a:solidFill>
          <a:ln/>
        </p:spPr>
      </p:sp>
      <p:sp>
        <p:nvSpPr>
          <p:cNvPr id="126" name="Text 124"/>
          <p:cNvSpPr txBox="1"/>
          <p:nvPr/>
        </p:nvSpPr>
        <p:spPr>
          <a:xfrm>
            <a:off x="10405872"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$2.27M</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9" name="Shape 127"/>
          <p:cNvSpPr/>
          <p:nvPr/>
        </p:nvSpPr>
        <p:spPr>
          <a:xfrm>
            <a:off x="8531352" y="4790606"/>
            <a:ext cx="178709" cy="110352"/>
          </a:xfrm>
          <a:prstGeom prst="rect">
            <a:avLst/>
          </a:prstGeom>
          <a:solidFill>
            <a:srgbClr val="2587C5"/>
          </a:solidFill>
          <a:ln/>
        </p:spPr>
      </p:sp>
      <p:sp>
        <p:nvSpPr>
          <p:cNvPr id="130" name="Text 128"/>
          <p:cNvSpPr txBox="1"/>
          <p:nvPr/>
        </p:nvSpPr>
        <p:spPr>
          <a:xfrm>
            <a:off x="10405872"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$2.21M</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3" name="Shape 131"/>
          <p:cNvSpPr/>
          <p:nvPr/>
        </p:nvSpPr>
        <p:spPr>
          <a:xfrm>
            <a:off x="8531352" y="5030502"/>
            <a:ext cx="128860" cy="110352"/>
          </a:xfrm>
          <a:prstGeom prst="rect">
            <a:avLst/>
          </a:prstGeom>
          <a:solidFill>
            <a:srgbClr val="2587C5"/>
          </a:solidFill>
          <a:ln/>
        </p:spPr>
      </p:sp>
      <p:sp>
        <p:nvSpPr>
          <p:cNvPr id="134" name="Text 132"/>
          <p:cNvSpPr txBox="1"/>
          <p:nvPr/>
        </p:nvSpPr>
        <p:spPr>
          <a:xfrm>
            <a:off x="10405872"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$1.59M</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7" name="Shape 135"/>
          <p:cNvSpPr/>
          <p:nvPr/>
        </p:nvSpPr>
        <p:spPr>
          <a:xfrm>
            <a:off x="8531352" y="5270397"/>
            <a:ext cx="124271" cy="110352"/>
          </a:xfrm>
          <a:prstGeom prst="rect">
            <a:avLst/>
          </a:prstGeom>
          <a:solidFill>
            <a:srgbClr val="2587C5"/>
          </a:solidFill>
          <a:ln/>
        </p:spPr>
      </p:sp>
      <p:sp>
        <p:nvSpPr>
          <p:cNvPr id="138" name="Text 136"/>
          <p:cNvSpPr txBox="1"/>
          <p:nvPr/>
        </p:nvSpPr>
        <p:spPr>
          <a:xfrm>
            <a:off x="10405872"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$1.54M</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531352" y="5510293"/>
            <a:ext cx="78355" cy="110352"/>
          </a:xfrm>
          <a:prstGeom prst="rect">
            <a:avLst/>
          </a:prstGeom>
          <a:solidFill>
            <a:srgbClr val="2587C5"/>
          </a:solidFill>
          <a:ln/>
        </p:spPr>
      </p:sp>
      <p:sp>
        <p:nvSpPr>
          <p:cNvPr id="142" name="Text 140"/>
          <p:cNvSpPr txBox="1"/>
          <p:nvPr/>
        </p:nvSpPr>
        <p:spPr>
          <a:xfrm>
            <a:off x="10405872"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$968,018</a:t>
            </a:r>
            <a:endParaRPr lang="en-US" sz="1200" dirty="0"/>
          </a:p>
        </p:txBody>
      </p:sp>
      <p:sp>
        <p:nvSpPr>
          <p:cNvPr id="143" name="Shape 141"/>
          <p:cNvSpPr/>
          <p:nvPr/>
        </p:nvSpPr>
        <p:spPr>
          <a:xfrm>
            <a:off x="6085332" y="1847088"/>
            <a:ext cx="10973" cy="4078224"/>
          </a:xfrm>
          <a:prstGeom prst="rect">
            <a:avLst/>
          </a:prstGeom>
          <a:solidFill>
            <a:srgbClr val="D9D9D9"/>
          </a:solidFill>
          <a:ln/>
        </p:spPr>
      </p:sp>
      <p:sp>
        <p:nvSpPr>
          <p:cNvPr id="144" name="Shape 142"/>
          <p:cNvSpPr/>
          <p:nvPr/>
        </p:nvSpPr>
        <p:spPr>
          <a:xfrm>
            <a:off x="457200" y="6126480"/>
            <a:ext cx="11274552" cy="371856"/>
          </a:xfrm>
          <a:prstGeom prst="rect">
            <a:avLst/>
          </a:prstGeom>
          <a:solidFill>
            <a:srgbClr val="EDF4FA"/>
          </a:solidFill>
          <a:ln/>
        </p:spPr>
      </p:sp>
      <p:sp>
        <p:nvSpPr>
          <p:cNvPr id="145" name="Text 143"/>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Toyota Henderson is $22.59M of the group's $188.80M; VW St George is smallest at $968,018.</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GROSS</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+$7.47M  ·  +4.1%</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+$1.77M</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+8.5%</a:t>
            </a:r>
            <a:endParaRPr lang="en-US" sz="1200" dirty="0"/>
          </a:p>
        </p:txBody>
      </p:sp>
      <p:sp>
        <p:nvSpPr>
          <p:cNvPr id="20" name="Text 18"/>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2" name="Shape 20"/>
          <p:cNvSpPr/>
          <p:nvPr/>
        </p:nvSpPr>
        <p:spPr>
          <a:xfrm>
            <a:off x="3579876" y="2405582"/>
            <a:ext cx="549630" cy="102929"/>
          </a:xfrm>
          <a:prstGeom prst="rect">
            <a:avLst/>
          </a:prstGeom>
          <a:solidFill>
            <a:srgbClr val="12A566"/>
          </a:solidFill>
          <a:ln/>
        </p:spPr>
      </p:sp>
      <p:sp>
        <p:nvSpPr>
          <p:cNvPr id="23" name="Text 21"/>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+$1.70M</a:t>
            </a:r>
            <a:endParaRPr lang="en-US" sz="1200" dirty="0"/>
          </a:p>
        </p:txBody>
      </p:sp>
      <p:sp>
        <p:nvSpPr>
          <p:cNvPr id="24" name="Text 22"/>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+16.0%</a:t>
            </a:r>
            <a:endParaRPr lang="en-US" sz="1200" dirty="0"/>
          </a:p>
        </p:txBody>
      </p:sp>
      <p:sp>
        <p:nvSpPr>
          <p:cNvPr id="25" name="Text 23"/>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6" name="Text 24"/>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7" name="Shape 25"/>
          <p:cNvSpPr/>
          <p:nvPr/>
        </p:nvSpPr>
        <p:spPr>
          <a:xfrm>
            <a:off x="3579876" y="2629341"/>
            <a:ext cx="300417" cy="102929"/>
          </a:xfrm>
          <a:prstGeom prst="rect">
            <a:avLst/>
          </a:prstGeom>
          <a:solidFill>
            <a:srgbClr val="12A566"/>
          </a:solidFill>
          <a:ln/>
        </p:spPr>
      </p:sp>
      <p:sp>
        <p:nvSpPr>
          <p:cNvPr id="28" name="Text 26"/>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+$932K</a:t>
            </a:r>
            <a:endParaRPr lang="en-US" sz="1200" dirty="0"/>
          </a:p>
        </p:txBody>
      </p:sp>
      <p:sp>
        <p:nvSpPr>
          <p:cNvPr id="29" name="Text 27"/>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+6.9%</a:t>
            </a:r>
            <a:endParaRPr lang="en-US" sz="1200" dirty="0"/>
          </a:p>
        </p:txBody>
      </p:sp>
      <p:sp>
        <p:nvSpPr>
          <p:cNvPr id="30" name="Text 28"/>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32" name="Shape 30"/>
          <p:cNvSpPr/>
          <p:nvPr/>
        </p:nvSpPr>
        <p:spPr>
          <a:xfrm>
            <a:off x="3579876" y="2853100"/>
            <a:ext cx="246220" cy="102929"/>
          </a:xfrm>
          <a:prstGeom prst="rect">
            <a:avLst/>
          </a:prstGeom>
          <a:solidFill>
            <a:srgbClr val="12A566"/>
          </a:solidFill>
          <a:ln/>
        </p:spPr>
      </p:sp>
      <p:sp>
        <p:nvSpPr>
          <p:cNvPr id="33" name="Text 31"/>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+$764K</a:t>
            </a:r>
            <a:endParaRPr lang="en-US" sz="1200" dirty="0"/>
          </a:p>
        </p:txBody>
      </p:sp>
      <p:sp>
        <p:nvSpPr>
          <p:cNvPr id="34" name="Text 32"/>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+22.6%</a:t>
            </a:r>
            <a:endParaRPr lang="en-US" sz="1200" dirty="0"/>
          </a:p>
        </p:txBody>
      </p:sp>
      <p:sp>
        <p:nvSpPr>
          <p:cNvPr id="35" name="Shape 33"/>
          <p:cNvSpPr/>
          <p:nvPr/>
        </p:nvSpPr>
        <p:spPr>
          <a:xfrm>
            <a:off x="5020056" y="2872561"/>
            <a:ext cx="182880" cy="64008"/>
          </a:xfrm>
          <a:prstGeom prst="rect">
            <a:avLst/>
          </a:prstGeom>
          <a:solidFill>
            <a:srgbClr val="12A566"/>
          </a:solidFill>
          <a:ln/>
        </p:spPr>
      </p:sp>
      <p:sp>
        <p:nvSpPr>
          <p:cNvPr id="36" name="Text 34"/>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8" name="Shape 36"/>
          <p:cNvSpPr/>
          <p:nvPr/>
        </p:nvSpPr>
        <p:spPr>
          <a:xfrm>
            <a:off x="3579876" y="3076859"/>
            <a:ext cx="231280" cy="102929"/>
          </a:xfrm>
          <a:prstGeom prst="rect">
            <a:avLst/>
          </a:prstGeom>
          <a:solidFill>
            <a:srgbClr val="12A566"/>
          </a:solidFill>
          <a:ln/>
        </p:spPr>
      </p:sp>
      <p:sp>
        <p:nvSpPr>
          <p:cNvPr id="39" name="Text 37"/>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+$717K</a:t>
            </a:r>
            <a:endParaRPr lang="en-US" sz="1200" dirty="0"/>
          </a:p>
        </p:txBody>
      </p:sp>
      <p:sp>
        <p:nvSpPr>
          <p:cNvPr id="40" name="Text 38"/>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+31.7%</a:t>
            </a:r>
            <a:endParaRPr lang="en-US" sz="1200" dirty="0"/>
          </a:p>
        </p:txBody>
      </p:sp>
      <p:sp>
        <p:nvSpPr>
          <p:cNvPr id="41" name="Shape 39"/>
          <p:cNvSpPr/>
          <p:nvPr/>
        </p:nvSpPr>
        <p:spPr>
          <a:xfrm>
            <a:off x="5020056" y="3096320"/>
            <a:ext cx="182880" cy="64008"/>
          </a:xfrm>
          <a:prstGeom prst="rect">
            <a:avLst/>
          </a:prstGeom>
          <a:solidFill>
            <a:srgbClr val="12A566"/>
          </a:solidFill>
          <a:ln/>
        </p:spPr>
      </p:sp>
      <p:sp>
        <p:nvSpPr>
          <p:cNvPr id="42" name="Text 40"/>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4" name="Shape 42"/>
          <p:cNvSpPr/>
          <p:nvPr/>
        </p:nvSpPr>
        <p:spPr>
          <a:xfrm>
            <a:off x="3579876" y="3300618"/>
            <a:ext cx="214115" cy="102929"/>
          </a:xfrm>
          <a:prstGeom prst="rect">
            <a:avLst/>
          </a:prstGeom>
          <a:solidFill>
            <a:srgbClr val="12A566"/>
          </a:solidFill>
          <a:ln/>
        </p:spPr>
      </p:sp>
      <p:sp>
        <p:nvSpPr>
          <p:cNvPr id="45" name="Text 43"/>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+$664K</a:t>
            </a:r>
            <a:endParaRPr lang="en-US" sz="1200" dirty="0"/>
          </a:p>
        </p:txBody>
      </p:sp>
      <p:sp>
        <p:nvSpPr>
          <p:cNvPr id="46" name="Text 44"/>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+7.4%</a:t>
            </a:r>
            <a:endParaRPr lang="en-US" sz="1200" dirty="0"/>
          </a:p>
        </p:txBody>
      </p:sp>
      <p:sp>
        <p:nvSpPr>
          <p:cNvPr id="47" name="Text 45"/>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8" name="Text 46"/>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49" name="Shape 47"/>
          <p:cNvSpPr/>
          <p:nvPr/>
        </p:nvSpPr>
        <p:spPr>
          <a:xfrm>
            <a:off x="3579876" y="3524377"/>
            <a:ext cx="188889" cy="102929"/>
          </a:xfrm>
          <a:prstGeom prst="rect">
            <a:avLst/>
          </a:prstGeom>
          <a:solidFill>
            <a:srgbClr val="12A566"/>
          </a:solidFill>
          <a:ln/>
        </p:spPr>
      </p:sp>
      <p:sp>
        <p:nvSpPr>
          <p:cNvPr id="50" name="Text 48"/>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+$586K</a:t>
            </a:r>
            <a:endParaRPr lang="en-US" sz="1200" dirty="0"/>
          </a:p>
        </p:txBody>
      </p:sp>
      <p:sp>
        <p:nvSpPr>
          <p:cNvPr id="51" name="Text 49"/>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+13.0%</a:t>
            </a:r>
            <a:endParaRPr lang="en-US" sz="1200" dirty="0"/>
          </a:p>
        </p:txBody>
      </p:sp>
      <p:sp>
        <p:nvSpPr>
          <p:cNvPr id="52" name="Text 50"/>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3" name="Text 51"/>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54" name="Shape 52"/>
          <p:cNvSpPr/>
          <p:nvPr/>
        </p:nvSpPr>
        <p:spPr>
          <a:xfrm>
            <a:off x="3579876" y="3748136"/>
            <a:ext cx="175547" cy="102929"/>
          </a:xfrm>
          <a:prstGeom prst="rect">
            <a:avLst/>
          </a:prstGeom>
          <a:solidFill>
            <a:srgbClr val="12A566"/>
          </a:solidFill>
          <a:ln/>
        </p:spPr>
      </p:sp>
      <p:sp>
        <p:nvSpPr>
          <p:cNvPr id="55" name="Text 53"/>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+$545K</a:t>
            </a:r>
            <a:endParaRPr lang="en-US" sz="1200" dirty="0"/>
          </a:p>
        </p:txBody>
      </p:sp>
      <p:sp>
        <p:nvSpPr>
          <p:cNvPr id="56" name="Text 54"/>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a:t>
            </a:r>
            <a:endParaRPr lang="en-US" sz="1200" dirty="0"/>
          </a:p>
        </p:txBody>
      </p:sp>
      <p:sp>
        <p:nvSpPr>
          <p:cNvPr id="57" name="Text 55"/>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8" name="Text 56"/>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59" name="Shape 57"/>
          <p:cNvSpPr/>
          <p:nvPr/>
        </p:nvSpPr>
        <p:spPr>
          <a:xfrm>
            <a:off x="3579876" y="3971895"/>
            <a:ext cx="152295" cy="102929"/>
          </a:xfrm>
          <a:prstGeom prst="rect">
            <a:avLst/>
          </a:prstGeom>
          <a:solidFill>
            <a:srgbClr val="12A566"/>
          </a:solidFill>
          <a:ln/>
        </p:spPr>
      </p:sp>
      <p:sp>
        <p:nvSpPr>
          <p:cNvPr id="60" name="Text 58"/>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+$472K</a:t>
            </a:r>
            <a:endParaRPr lang="en-US" sz="1200" dirty="0"/>
          </a:p>
        </p:txBody>
      </p:sp>
      <p:sp>
        <p:nvSpPr>
          <p:cNvPr id="61" name="Text 59"/>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+15.5%</a:t>
            </a:r>
            <a:endParaRPr lang="en-US" sz="1200" dirty="0"/>
          </a:p>
        </p:txBody>
      </p:sp>
      <p:sp>
        <p:nvSpPr>
          <p:cNvPr id="62" name="Text 60"/>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3" name="Text 61"/>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64" name="Shape 62"/>
          <p:cNvSpPr/>
          <p:nvPr/>
        </p:nvSpPr>
        <p:spPr>
          <a:xfrm>
            <a:off x="3579876" y="4195654"/>
            <a:ext cx="143334" cy="102929"/>
          </a:xfrm>
          <a:prstGeom prst="rect">
            <a:avLst/>
          </a:prstGeom>
          <a:solidFill>
            <a:srgbClr val="12A566"/>
          </a:solidFill>
          <a:ln/>
        </p:spPr>
      </p:sp>
      <p:sp>
        <p:nvSpPr>
          <p:cNvPr id="65" name="Text 63"/>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+$445K</a:t>
            </a:r>
            <a:endParaRPr lang="en-US" sz="1200" dirty="0"/>
          </a:p>
        </p:txBody>
      </p:sp>
      <p:sp>
        <p:nvSpPr>
          <p:cNvPr id="66" name="Text 64"/>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+10.2%</a:t>
            </a:r>
            <a:endParaRPr lang="en-US" sz="1200" dirty="0"/>
          </a:p>
        </p:txBody>
      </p:sp>
      <p:sp>
        <p:nvSpPr>
          <p:cNvPr id="67" name="Text 65"/>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8" name="Text 66"/>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69" name="Shape 67"/>
          <p:cNvSpPr/>
          <p:nvPr/>
        </p:nvSpPr>
        <p:spPr>
          <a:xfrm>
            <a:off x="3579876" y="4419414"/>
            <a:ext cx="136162" cy="102929"/>
          </a:xfrm>
          <a:prstGeom prst="rect">
            <a:avLst/>
          </a:prstGeom>
          <a:solidFill>
            <a:srgbClr val="12A566"/>
          </a:solidFill>
          <a:ln/>
        </p:spPr>
      </p:sp>
      <p:sp>
        <p:nvSpPr>
          <p:cNvPr id="70" name="Text 68"/>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+$422K</a:t>
            </a:r>
            <a:endParaRPr lang="en-US" sz="1200" dirty="0"/>
          </a:p>
        </p:txBody>
      </p:sp>
      <p:sp>
        <p:nvSpPr>
          <p:cNvPr id="71" name="Text 69"/>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+10.4%</a:t>
            </a:r>
            <a:endParaRPr lang="en-US" sz="1200" dirty="0"/>
          </a:p>
        </p:txBody>
      </p:sp>
      <p:sp>
        <p:nvSpPr>
          <p:cNvPr id="72" name="Text 70"/>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3" name="Text 71"/>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74" name="Shape 72"/>
          <p:cNvSpPr/>
          <p:nvPr/>
        </p:nvSpPr>
        <p:spPr>
          <a:xfrm>
            <a:off x="3579876" y="4643173"/>
            <a:ext cx="130403" cy="102929"/>
          </a:xfrm>
          <a:prstGeom prst="rect">
            <a:avLst/>
          </a:prstGeom>
          <a:solidFill>
            <a:srgbClr val="12A566"/>
          </a:solidFill>
          <a:ln/>
        </p:spPr>
      </p:sp>
      <p:sp>
        <p:nvSpPr>
          <p:cNvPr id="75" name="Text 73"/>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+$404K</a:t>
            </a:r>
            <a:endParaRPr lang="en-US" sz="1200" dirty="0"/>
          </a:p>
        </p:txBody>
      </p:sp>
      <p:sp>
        <p:nvSpPr>
          <p:cNvPr id="76" name="Text 74"/>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+35.8%</a:t>
            </a:r>
            <a:endParaRPr lang="en-US" sz="1200" dirty="0"/>
          </a:p>
        </p:txBody>
      </p:sp>
      <p:sp>
        <p:nvSpPr>
          <p:cNvPr id="77" name="Shape 75"/>
          <p:cNvSpPr/>
          <p:nvPr/>
        </p:nvSpPr>
        <p:spPr>
          <a:xfrm>
            <a:off x="5020056" y="4662633"/>
            <a:ext cx="182880" cy="64008"/>
          </a:xfrm>
          <a:prstGeom prst="rect">
            <a:avLst/>
          </a:prstGeom>
          <a:solidFill>
            <a:srgbClr val="12A566"/>
          </a:solidFill>
          <a:ln/>
        </p:spPr>
      </p:sp>
      <p:sp>
        <p:nvSpPr>
          <p:cNvPr id="78" name="Text 76"/>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9" name="Text 77"/>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80" name="Shape 78"/>
          <p:cNvSpPr/>
          <p:nvPr/>
        </p:nvSpPr>
        <p:spPr>
          <a:xfrm>
            <a:off x="3579876" y="4866932"/>
            <a:ext cx="120222" cy="102929"/>
          </a:xfrm>
          <a:prstGeom prst="rect">
            <a:avLst/>
          </a:prstGeom>
          <a:solidFill>
            <a:srgbClr val="12A566"/>
          </a:solidFill>
          <a:ln/>
        </p:spPr>
      </p:sp>
      <p:sp>
        <p:nvSpPr>
          <p:cNvPr id="81" name="Text 79"/>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+$373K</a:t>
            </a:r>
            <a:endParaRPr lang="en-US" sz="1200" dirty="0"/>
          </a:p>
        </p:txBody>
      </p:sp>
      <p:sp>
        <p:nvSpPr>
          <p:cNvPr id="82" name="Text 80"/>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+9.8%</a:t>
            </a:r>
            <a:endParaRPr lang="en-US" sz="1200" dirty="0"/>
          </a:p>
        </p:txBody>
      </p:sp>
      <p:sp>
        <p:nvSpPr>
          <p:cNvPr id="83" name="Text 81"/>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4" name="Text 82"/>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85" name="Shape 83"/>
          <p:cNvSpPr/>
          <p:nvPr/>
        </p:nvSpPr>
        <p:spPr>
          <a:xfrm>
            <a:off x="3579876" y="5090691"/>
            <a:ext cx="118653" cy="102929"/>
          </a:xfrm>
          <a:prstGeom prst="rect">
            <a:avLst/>
          </a:prstGeom>
          <a:solidFill>
            <a:srgbClr val="12A566"/>
          </a:solidFill>
          <a:ln/>
        </p:spPr>
      </p:sp>
      <p:sp>
        <p:nvSpPr>
          <p:cNvPr id="86" name="Text 84"/>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+$368K</a:t>
            </a:r>
            <a:endParaRPr lang="en-US" sz="1200" dirty="0"/>
          </a:p>
        </p:txBody>
      </p:sp>
      <p:sp>
        <p:nvSpPr>
          <p:cNvPr id="87" name="Text 85"/>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+15.8%</a:t>
            </a:r>
            <a:endParaRPr lang="en-US" sz="1200" dirty="0"/>
          </a:p>
        </p:txBody>
      </p:sp>
      <p:sp>
        <p:nvSpPr>
          <p:cNvPr id="88" name="Text 86"/>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9" name="Text 87"/>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90" name="Shape 88"/>
          <p:cNvSpPr/>
          <p:nvPr/>
        </p:nvSpPr>
        <p:spPr>
          <a:xfrm>
            <a:off x="3579876" y="5314450"/>
            <a:ext cx="69607" cy="102929"/>
          </a:xfrm>
          <a:prstGeom prst="rect">
            <a:avLst/>
          </a:prstGeom>
          <a:solidFill>
            <a:srgbClr val="12A566"/>
          </a:solidFill>
          <a:ln/>
        </p:spPr>
      </p:sp>
      <p:sp>
        <p:nvSpPr>
          <p:cNvPr id="91" name="Text 89"/>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+$216K</a:t>
            </a:r>
            <a:endParaRPr lang="en-US" sz="1200" dirty="0"/>
          </a:p>
        </p:txBody>
      </p:sp>
      <p:sp>
        <p:nvSpPr>
          <p:cNvPr id="92" name="Text 90"/>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+10.2%</a:t>
            </a:r>
            <a:endParaRPr lang="en-US" sz="1200" dirty="0"/>
          </a:p>
        </p:txBody>
      </p:sp>
      <p:sp>
        <p:nvSpPr>
          <p:cNvPr id="93" name="Text 91"/>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4" name="Text 92"/>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5" name="Shape 93"/>
          <p:cNvSpPr/>
          <p:nvPr/>
        </p:nvSpPr>
        <p:spPr>
          <a:xfrm>
            <a:off x="3579876" y="5538209"/>
            <a:ext cx="57491" cy="102929"/>
          </a:xfrm>
          <a:prstGeom prst="rect">
            <a:avLst/>
          </a:prstGeom>
          <a:solidFill>
            <a:srgbClr val="12A566"/>
          </a:solidFill>
          <a:ln/>
        </p:spPr>
      </p:sp>
      <p:sp>
        <p:nvSpPr>
          <p:cNvPr id="96" name="Text 94"/>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+$178K</a:t>
            </a:r>
            <a:endParaRPr lang="en-US" sz="1200" dirty="0"/>
          </a:p>
        </p:txBody>
      </p:sp>
      <p:sp>
        <p:nvSpPr>
          <p:cNvPr id="97" name="Text 95"/>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+8.5%</a:t>
            </a:r>
            <a:endParaRPr lang="en-US" sz="1200" dirty="0"/>
          </a:p>
        </p:txBody>
      </p:sp>
      <p:sp>
        <p:nvSpPr>
          <p:cNvPr id="98" name="Text 96"/>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9" name="Text 97"/>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00" name="Shape 98"/>
          <p:cNvSpPr/>
          <p:nvPr/>
        </p:nvSpPr>
        <p:spPr>
          <a:xfrm>
            <a:off x="3579876" y="5761968"/>
            <a:ext cx="50512" cy="102929"/>
          </a:xfrm>
          <a:prstGeom prst="rect">
            <a:avLst/>
          </a:prstGeom>
          <a:solidFill>
            <a:srgbClr val="12A566"/>
          </a:solidFill>
          <a:ln/>
        </p:spPr>
      </p:sp>
      <p:sp>
        <p:nvSpPr>
          <p:cNvPr id="101" name="Text 99"/>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+$157K</a:t>
            </a:r>
            <a:endParaRPr lang="en-US" sz="1200" dirty="0"/>
          </a:p>
        </p:txBody>
      </p:sp>
      <p:sp>
        <p:nvSpPr>
          <p:cNvPr id="102" name="Text 100"/>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a:t>
            </a:r>
            <a:endParaRPr lang="en-US" sz="1200" dirty="0"/>
          </a:p>
        </p:txBody>
      </p:sp>
      <p:sp>
        <p:nvSpPr>
          <p:cNvPr id="103" name="Text 101"/>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4" name="Text 102"/>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05" name="Shape 103"/>
          <p:cNvSpPr/>
          <p:nvPr/>
        </p:nvSpPr>
        <p:spPr>
          <a:xfrm>
            <a:off x="9130284" y="2181823"/>
            <a:ext cx="43577" cy="102929"/>
          </a:xfrm>
          <a:prstGeom prst="rect">
            <a:avLst/>
          </a:prstGeom>
          <a:solidFill>
            <a:srgbClr val="12A566"/>
          </a:solidFill>
          <a:ln/>
        </p:spPr>
      </p:sp>
      <p:sp>
        <p:nvSpPr>
          <p:cNvPr id="106" name="Text 104"/>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+$135K</a:t>
            </a:r>
            <a:endParaRPr lang="en-US" sz="1200" dirty="0"/>
          </a:p>
        </p:txBody>
      </p:sp>
      <p:sp>
        <p:nvSpPr>
          <p:cNvPr id="107" name="Text 105"/>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a:t>
            </a:r>
            <a:endParaRPr lang="en-US" sz="1200" dirty="0"/>
          </a:p>
        </p:txBody>
      </p:sp>
      <p:sp>
        <p:nvSpPr>
          <p:cNvPr id="108" name="Text 106"/>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9" name="Text 107"/>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0" name="Shape 108"/>
          <p:cNvSpPr/>
          <p:nvPr/>
        </p:nvSpPr>
        <p:spPr>
          <a:xfrm>
            <a:off x="9130284" y="2405582"/>
            <a:ext cx="40298" cy="102929"/>
          </a:xfrm>
          <a:prstGeom prst="rect">
            <a:avLst/>
          </a:prstGeom>
          <a:solidFill>
            <a:srgbClr val="12A566"/>
          </a:solidFill>
          <a:ln/>
        </p:spPr>
      </p:sp>
      <p:sp>
        <p:nvSpPr>
          <p:cNvPr id="111" name="Text 109"/>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+$125K</a:t>
            </a:r>
            <a:endParaRPr lang="en-US" sz="1200" dirty="0"/>
          </a:p>
        </p:txBody>
      </p:sp>
      <p:sp>
        <p:nvSpPr>
          <p:cNvPr id="112" name="Text 110"/>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4" name="Text 112"/>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15" name="Shape 113"/>
          <p:cNvSpPr/>
          <p:nvPr/>
        </p:nvSpPr>
        <p:spPr>
          <a:xfrm>
            <a:off x="9130284" y="2629341"/>
            <a:ext cx="38573" cy="102929"/>
          </a:xfrm>
          <a:prstGeom prst="rect">
            <a:avLst/>
          </a:prstGeom>
          <a:solidFill>
            <a:srgbClr val="12A566"/>
          </a:solidFill>
          <a:ln/>
        </p:spPr>
      </p:sp>
      <p:sp>
        <p:nvSpPr>
          <p:cNvPr id="116" name="Text 114"/>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+$120K</a:t>
            </a:r>
            <a:endParaRPr lang="en-US" sz="1200" dirty="0"/>
          </a:p>
        </p:txBody>
      </p:sp>
      <p:sp>
        <p:nvSpPr>
          <p:cNvPr id="117" name="Text 115"/>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a:t>
            </a:r>
            <a:endParaRPr lang="en-US" sz="1200" dirty="0"/>
          </a:p>
        </p:txBody>
      </p:sp>
      <p:sp>
        <p:nvSpPr>
          <p:cNvPr id="118" name="Text 116"/>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9" name="Text 117"/>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20" name="Shape 118"/>
          <p:cNvSpPr/>
          <p:nvPr/>
        </p:nvSpPr>
        <p:spPr>
          <a:xfrm>
            <a:off x="9130284" y="2853100"/>
            <a:ext cx="30667" cy="102929"/>
          </a:xfrm>
          <a:prstGeom prst="rect">
            <a:avLst/>
          </a:prstGeom>
          <a:solidFill>
            <a:srgbClr val="12A566"/>
          </a:solidFill>
          <a:ln/>
        </p:spPr>
      </p:sp>
      <p:sp>
        <p:nvSpPr>
          <p:cNvPr id="121" name="Text 119"/>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+$95K</a:t>
            </a:r>
            <a:endParaRPr lang="en-US" sz="1200" dirty="0"/>
          </a:p>
        </p:txBody>
      </p:sp>
      <p:sp>
        <p:nvSpPr>
          <p:cNvPr id="122" name="Text 120"/>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a:t>
            </a:r>
            <a:endParaRPr lang="en-US" sz="1200" dirty="0"/>
          </a:p>
        </p:txBody>
      </p:sp>
      <p:sp>
        <p:nvSpPr>
          <p:cNvPr id="123" name="Text 121"/>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4" name="Text 122"/>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5" name="Shape 123"/>
          <p:cNvSpPr/>
          <p:nvPr/>
        </p:nvSpPr>
        <p:spPr>
          <a:xfrm>
            <a:off x="9130284" y="3076859"/>
            <a:ext cx="28430" cy="102929"/>
          </a:xfrm>
          <a:prstGeom prst="rect">
            <a:avLst/>
          </a:prstGeom>
          <a:solidFill>
            <a:srgbClr val="12A566"/>
          </a:solidFill>
          <a:ln/>
        </p:spPr>
      </p:sp>
      <p:sp>
        <p:nvSpPr>
          <p:cNvPr id="126" name="Text 124"/>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+$88K</a:t>
            </a:r>
            <a:endParaRPr lang="en-US" sz="1200" dirty="0"/>
          </a:p>
        </p:txBody>
      </p:sp>
      <p:sp>
        <p:nvSpPr>
          <p:cNvPr id="127" name="Text 125"/>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+4.0%</a:t>
            </a:r>
            <a:endParaRPr lang="en-US" sz="1200" dirty="0"/>
          </a:p>
        </p:txBody>
      </p:sp>
      <p:sp>
        <p:nvSpPr>
          <p:cNvPr id="128" name="Text 126"/>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9" name="Text 127"/>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30" name="Shape 128"/>
          <p:cNvSpPr/>
          <p:nvPr/>
        </p:nvSpPr>
        <p:spPr>
          <a:xfrm>
            <a:off x="9130284" y="3300618"/>
            <a:ext cx="20244" cy="102929"/>
          </a:xfrm>
          <a:prstGeom prst="rect">
            <a:avLst/>
          </a:prstGeom>
          <a:solidFill>
            <a:srgbClr val="12A566"/>
          </a:solidFill>
          <a:ln/>
        </p:spPr>
      </p:sp>
      <p:sp>
        <p:nvSpPr>
          <p:cNvPr id="131" name="Text 129"/>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+$63K</a:t>
            </a:r>
            <a:endParaRPr lang="en-US" sz="1200" dirty="0"/>
          </a:p>
        </p:txBody>
      </p:sp>
      <p:sp>
        <p:nvSpPr>
          <p:cNvPr id="132" name="Text 130"/>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a:t>
            </a:r>
            <a:endParaRPr lang="en-US" sz="1200" dirty="0"/>
          </a:p>
        </p:txBody>
      </p:sp>
      <p:sp>
        <p:nvSpPr>
          <p:cNvPr id="133" name="Text 131"/>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4" name="Text 132"/>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35" name="Shape 133"/>
          <p:cNvSpPr/>
          <p:nvPr/>
        </p:nvSpPr>
        <p:spPr>
          <a:xfrm>
            <a:off x="9130284" y="3524377"/>
            <a:ext cx="12802" cy="102929"/>
          </a:xfrm>
          <a:prstGeom prst="rect">
            <a:avLst/>
          </a:prstGeom>
          <a:solidFill>
            <a:srgbClr val="12A566"/>
          </a:solidFill>
          <a:ln/>
        </p:spPr>
      </p:sp>
      <p:sp>
        <p:nvSpPr>
          <p:cNvPr id="136" name="Text 134"/>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+$39K</a:t>
            </a:r>
            <a:endParaRPr lang="en-US" sz="1200" dirty="0"/>
          </a:p>
        </p:txBody>
      </p:sp>
      <p:sp>
        <p:nvSpPr>
          <p:cNvPr id="137" name="Text 135"/>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+0.9%</a:t>
            </a:r>
            <a:endParaRPr lang="en-US" sz="1200" dirty="0"/>
          </a:p>
        </p:txBody>
      </p:sp>
      <p:sp>
        <p:nvSpPr>
          <p:cNvPr id="138" name="Text 136"/>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9" name="Text 137"/>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40" name="Shape 138"/>
          <p:cNvSpPr/>
          <p:nvPr/>
        </p:nvSpPr>
        <p:spPr>
          <a:xfrm>
            <a:off x="9130284" y="3748136"/>
            <a:ext cx="12802" cy="102929"/>
          </a:xfrm>
          <a:prstGeom prst="rect">
            <a:avLst/>
          </a:prstGeom>
          <a:solidFill>
            <a:srgbClr val="12A566"/>
          </a:solidFill>
          <a:ln/>
        </p:spPr>
      </p:sp>
      <p:sp>
        <p:nvSpPr>
          <p:cNvPr id="141" name="Text 139"/>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+$23K</a:t>
            </a:r>
            <a:endParaRPr lang="en-US" sz="1200" dirty="0"/>
          </a:p>
        </p:txBody>
      </p:sp>
      <p:sp>
        <p:nvSpPr>
          <p:cNvPr id="142" name="Text 140"/>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a:t>
            </a:r>
            <a:endParaRPr lang="en-US" sz="1200" dirty="0"/>
          </a:p>
        </p:txBody>
      </p:sp>
      <p:sp>
        <p:nvSpPr>
          <p:cNvPr id="143" name="Text 141"/>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4" name="Text 142"/>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5" name="Shape 143"/>
          <p:cNvSpPr/>
          <p:nvPr/>
        </p:nvSpPr>
        <p:spPr>
          <a:xfrm>
            <a:off x="9077784" y="3971895"/>
            <a:ext cx="52500" cy="102929"/>
          </a:xfrm>
          <a:prstGeom prst="rect">
            <a:avLst/>
          </a:prstGeom>
          <a:solidFill>
            <a:srgbClr val="C2352F"/>
          </a:solidFill>
          <a:ln/>
        </p:spPr>
      </p:sp>
      <p:sp>
        <p:nvSpPr>
          <p:cNvPr id="146" name="Text 144"/>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−$163K</a:t>
            </a:r>
            <a:endParaRPr lang="en-US" sz="1200" dirty="0"/>
          </a:p>
        </p:txBody>
      </p:sp>
      <p:sp>
        <p:nvSpPr>
          <p:cNvPr id="147" name="Text 145"/>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−14.4%</a:t>
            </a:r>
            <a:endParaRPr lang="en-US" sz="1200" dirty="0"/>
          </a:p>
        </p:txBody>
      </p:sp>
      <p:sp>
        <p:nvSpPr>
          <p:cNvPr id="148" name="Shape 146"/>
          <p:cNvSpPr/>
          <p:nvPr/>
        </p:nvSpPr>
        <p:spPr>
          <a:xfrm>
            <a:off x="10570464" y="3991356"/>
            <a:ext cx="182880" cy="64008"/>
          </a:xfrm>
          <a:prstGeom prst="rect">
            <a:avLst/>
          </a:prstGeom>
          <a:solidFill>
            <a:srgbClr val="C2352F"/>
          </a:solidFill>
          <a:ln/>
        </p:spPr>
      </p:sp>
      <p:sp>
        <p:nvSpPr>
          <p:cNvPr id="149" name="Text 147"/>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50" name="Text 148"/>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51" name="Shape 149"/>
          <p:cNvSpPr/>
          <p:nvPr/>
        </p:nvSpPr>
        <p:spPr>
          <a:xfrm>
            <a:off x="9064631" y="4195654"/>
            <a:ext cx="65653" cy="102929"/>
          </a:xfrm>
          <a:prstGeom prst="rect">
            <a:avLst/>
          </a:prstGeom>
          <a:solidFill>
            <a:srgbClr val="C2352F"/>
          </a:solidFill>
          <a:ln/>
        </p:spPr>
      </p:sp>
      <p:sp>
        <p:nvSpPr>
          <p:cNvPr id="152" name="Text 150"/>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−$204K</a:t>
            </a:r>
            <a:endParaRPr lang="en-US" sz="1200" dirty="0"/>
          </a:p>
        </p:txBody>
      </p:sp>
      <p:sp>
        <p:nvSpPr>
          <p:cNvPr id="153" name="Text 151"/>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−5.4%</a:t>
            </a:r>
            <a:endParaRPr lang="en-US" sz="1200" dirty="0"/>
          </a:p>
        </p:txBody>
      </p:sp>
      <p:sp>
        <p:nvSpPr>
          <p:cNvPr id="154" name="Text 152"/>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5" name="Text 153"/>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56" name="Shape 154"/>
          <p:cNvSpPr/>
          <p:nvPr/>
        </p:nvSpPr>
        <p:spPr>
          <a:xfrm>
            <a:off x="8989404" y="4419414"/>
            <a:ext cx="140880" cy="102929"/>
          </a:xfrm>
          <a:prstGeom prst="rect">
            <a:avLst/>
          </a:prstGeom>
          <a:solidFill>
            <a:srgbClr val="C2352F"/>
          </a:solidFill>
          <a:ln/>
        </p:spPr>
      </p:sp>
      <p:sp>
        <p:nvSpPr>
          <p:cNvPr id="157" name="Text 155"/>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−$437K</a:t>
            </a:r>
            <a:endParaRPr lang="en-US" sz="1200" dirty="0"/>
          </a:p>
        </p:txBody>
      </p:sp>
      <p:sp>
        <p:nvSpPr>
          <p:cNvPr id="158" name="Text 156"/>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−2.6%</a:t>
            </a:r>
            <a:endParaRPr lang="en-US" sz="1200" dirty="0"/>
          </a:p>
        </p:txBody>
      </p:sp>
      <p:sp>
        <p:nvSpPr>
          <p:cNvPr id="159" name="Text 157"/>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60" name="Text 158"/>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61" name="Shape 159"/>
          <p:cNvSpPr/>
          <p:nvPr/>
        </p:nvSpPr>
        <p:spPr>
          <a:xfrm>
            <a:off x="8969548" y="4643173"/>
            <a:ext cx="160736" cy="102929"/>
          </a:xfrm>
          <a:prstGeom prst="rect">
            <a:avLst/>
          </a:prstGeom>
          <a:solidFill>
            <a:srgbClr val="C2352F"/>
          </a:solidFill>
          <a:ln/>
        </p:spPr>
      </p:sp>
      <p:sp>
        <p:nvSpPr>
          <p:cNvPr id="162" name="Text 160"/>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−$499K</a:t>
            </a:r>
            <a:endParaRPr lang="en-US" sz="1200" dirty="0"/>
          </a:p>
        </p:txBody>
      </p:sp>
      <p:sp>
        <p:nvSpPr>
          <p:cNvPr id="163" name="Text 161"/>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−4.7%</a:t>
            </a:r>
            <a:endParaRPr lang="en-US" sz="1200" dirty="0"/>
          </a:p>
        </p:txBody>
      </p:sp>
      <p:sp>
        <p:nvSpPr>
          <p:cNvPr id="164" name="Text 162"/>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5" name="Text 163"/>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66" name="Shape 164"/>
          <p:cNvSpPr/>
          <p:nvPr/>
        </p:nvSpPr>
        <p:spPr>
          <a:xfrm>
            <a:off x="8963677" y="4866932"/>
            <a:ext cx="166607" cy="102929"/>
          </a:xfrm>
          <a:prstGeom prst="rect">
            <a:avLst/>
          </a:prstGeom>
          <a:solidFill>
            <a:srgbClr val="C2352F"/>
          </a:solidFill>
          <a:ln/>
        </p:spPr>
      </p:sp>
      <p:sp>
        <p:nvSpPr>
          <p:cNvPr id="167" name="Text 165"/>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−$517K</a:t>
            </a:r>
            <a:endParaRPr lang="en-US" sz="1200" dirty="0"/>
          </a:p>
        </p:txBody>
      </p:sp>
      <p:sp>
        <p:nvSpPr>
          <p:cNvPr id="168" name="Text 166"/>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−15.2%</a:t>
            </a:r>
            <a:endParaRPr lang="en-US" sz="1200" dirty="0"/>
          </a:p>
        </p:txBody>
      </p:sp>
      <p:sp>
        <p:nvSpPr>
          <p:cNvPr id="169" name="Shape 167"/>
          <p:cNvSpPr/>
          <p:nvPr/>
        </p:nvSpPr>
        <p:spPr>
          <a:xfrm>
            <a:off x="10570464" y="4886392"/>
            <a:ext cx="182880" cy="64008"/>
          </a:xfrm>
          <a:prstGeom prst="rect">
            <a:avLst/>
          </a:prstGeom>
          <a:solidFill>
            <a:srgbClr val="C2352F"/>
          </a:solidFill>
          <a:ln/>
        </p:spPr>
      </p:sp>
      <p:sp>
        <p:nvSpPr>
          <p:cNvPr id="170" name="Text 168"/>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1" name="Text 169"/>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72" name="Shape 170"/>
          <p:cNvSpPr/>
          <p:nvPr/>
        </p:nvSpPr>
        <p:spPr>
          <a:xfrm>
            <a:off x="8962691" y="5090691"/>
            <a:ext cx="167593" cy="102929"/>
          </a:xfrm>
          <a:prstGeom prst="rect">
            <a:avLst/>
          </a:prstGeom>
          <a:solidFill>
            <a:srgbClr val="C2352F"/>
          </a:solidFill>
          <a:ln/>
        </p:spPr>
      </p:sp>
      <p:sp>
        <p:nvSpPr>
          <p:cNvPr id="173" name="Text 171"/>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−$520K</a:t>
            </a:r>
            <a:endParaRPr lang="en-US" sz="1200" dirty="0"/>
          </a:p>
        </p:txBody>
      </p:sp>
      <p:sp>
        <p:nvSpPr>
          <p:cNvPr id="174" name="Text 172"/>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−10.4%</a:t>
            </a:r>
            <a:endParaRPr lang="en-US" sz="1200" dirty="0"/>
          </a:p>
        </p:txBody>
      </p:sp>
      <p:sp>
        <p:nvSpPr>
          <p:cNvPr id="175" name="Text 173"/>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6" name="Text 174"/>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77" name="Shape 175"/>
          <p:cNvSpPr/>
          <p:nvPr/>
        </p:nvSpPr>
        <p:spPr>
          <a:xfrm>
            <a:off x="8884884" y="5314450"/>
            <a:ext cx="245400" cy="102929"/>
          </a:xfrm>
          <a:prstGeom prst="rect">
            <a:avLst/>
          </a:prstGeom>
          <a:solidFill>
            <a:srgbClr val="C2352F"/>
          </a:solidFill>
          <a:ln/>
        </p:spPr>
      </p:sp>
      <p:sp>
        <p:nvSpPr>
          <p:cNvPr id="178" name="Text 176"/>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−$761K</a:t>
            </a:r>
            <a:endParaRPr lang="en-US" sz="1200" dirty="0"/>
          </a:p>
        </p:txBody>
      </p:sp>
      <p:sp>
        <p:nvSpPr>
          <p:cNvPr id="179" name="Text 177"/>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−13.7%</a:t>
            </a:r>
            <a:endParaRPr lang="en-US" sz="1200" dirty="0"/>
          </a:p>
        </p:txBody>
      </p:sp>
      <p:sp>
        <p:nvSpPr>
          <p:cNvPr id="180" name="Shape 178"/>
          <p:cNvSpPr/>
          <p:nvPr/>
        </p:nvSpPr>
        <p:spPr>
          <a:xfrm>
            <a:off x="10570464" y="5333910"/>
            <a:ext cx="182880" cy="64008"/>
          </a:xfrm>
          <a:prstGeom prst="rect">
            <a:avLst/>
          </a:prstGeom>
          <a:solidFill>
            <a:srgbClr val="C2352F"/>
          </a:solidFill>
          <a:ln/>
        </p:spPr>
      </p:sp>
      <p:sp>
        <p:nvSpPr>
          <p:cNvPr id="181" name="Text 179"/>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2" name="Text 180"/>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83" name="Shape 181"/>
          <p:cNvSpPr/>
          <p:nvPr/>
        </p:nvSpPr>
        <p:spPr>
          <a:xfrm>
            <a:off x="8859512" y="5538209"/>
            <a:ext cx="270772" cy="102929"/>
          </a:xfrm>
          <a:prstGeom prst="rect">
            <a:avLst/>
          </a:prstGeom>
          <a:solidFill>
            <a:srgbClr val="C2352F"/>
          </a:solidFill>
          <a:ln/>
        </p:spPr>
      </p:sp>
      <p:sp>
        <p:nvSpPr>
          <p:cNvPr id="184" name="Text 182"/>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−$840K</a:t>
            </a:r>
            <a:endParaRPr lang="en-US" sz="1200" dirty="0"/>
          </a:p>
        </p:txBody>
      </p:sp>
      <p:sp>
        <p:nvSpPr>
          <p:cNvPr id="185" name="Text 183"/>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−8.9%</a:t>
            </a:r>
            <a:endParaRPr lang="en-US" sz="1200" dirty="0"/>
          </a:p>
        </p:txBody>
      </p:sp>
      <p:sp>
        <p:nvSpPr>
          <p:cNvPr id="186" name="Shape 184"/>
          <p:cNvSpPr/>
          <p:nvPr/>
        </p:nvSpPr>
        <p:spPr>
          <a:xfrm>
            <a:off x="3574390" y="2121408"/>
            <a:ext cx="10973" cy="3803904"/>
          </a:xfrm>
          <a:prstGeom prst="rect">
            <a:avLst/>
          </a:prstGeom>
          <a:solidFill>
            <a:srgbClr val="9AA3AD"/>
          </a:solidFill>
          <a:ln/>
        </p:spPr>
      </p:sp>
      <p:sp>
        <p:nvSpPr>
          <p:cNvPr id="187" name="Shape 185"/>
          <p:cNvSpPr/>
          <p:nvPr/>
        </p:nvSpPr>
        <p:spPr>
          <a:xfrm>
            <a:off x="9124798" y="2121408"/>
            <a:ext cx="10973" cy="3803904"/>
          </a:xfrm>
          <a:prstGeom prst="rect">
            <a:avLst/>
          </a:prstGeom>
          <a:solidFill>
            <a:srgbClr val="9AA3AD"/>
          </a:solidFill>
          <a:ln/>
        </p:spPr>
      </p:sp>
      <p:sp>
        <p:nvSpPr>
          <p:cNvPr id="188" name="Shape 186"/>
          <p:cNvSpPr/>
          <p:nvPr/>
        </p:nvSpPr>
        <p:spPr>
          <a:xfrm>
            <a:off x="6085332" y="2121408"/>
            <a:ext cx="10973" cy="3803904"/>
          </a:xfrm>
          <a:prstGeom prst="rect">
            <a:avLst/>
          </a:prstGeom>
          <a:solidFill>
            <a:srgbClr val="D9D9D9"/>
          </a:solidFill>
          <a:ln/>
        </p:spPr>
      </p:sp>
      <p:sp>
        <p:nvSpPr>
          <p:cNvPr id="189" name="Shape 187"/>
          <p:cNvSpPr/>
          <p:nvPr/>
        </p:nvSpPr>
        <p:spPr>
          <a:xfrm>
            <a:off x="457200" y="6126480"/>
            <a:ext cx="11274552" cy="615696"/>
          </a:xfrm>
          <a:prstGeom prst="rect">
            <a:avLst/>
          </a:prstGeom>
          <a:solidFill>
            <a:srgbClr val="E6F6EE"/>
          </a:solidFill>
          <a:ln/>
        </p:spPr>
      </p:sp>
      <p:sp>
        <p:nvSpPr>
          <p:cNvPr id="190" name="Text 18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25 of 33 stores grew. Toyota Henderson added the most at +$1.77M (+8.5%); Honda North fell most at −$840K (−8.9%).</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Shape 8"/>
          <p:cNvSpPr/>
          <p:nvPr/>
        </p:nvSpPr>
        <p:spPr>
          <a:xfrm>
            <a:off x="4084320" y="2139696"/>
            <a:ext cx="64008" cy="682142"/>
          </a:xfrm>
          <a:prstGeom prst="rect">
            <a:avLst/>
          </a:prstGeom>
          <a:solidFill>
            <a:srgbClr val="12A566"/>
          </a:solidFill>
          <a:ln/>
        </p:spPr>
      </p:sp>
      <p:sp>
        <p:nvSpPr>
          <p:cNvPr id="11" name="Text 9"/>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sp>
        <p:nvSpPr>
          <p:cNvPr id="13" name="Text 11"/>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4" name="Text 12"/>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$2.98M</a:t>
            </a:r>
            <a:endParaRPr lang="en-US" sz="1400" dirty="0"/>
          </a:p>
        </p:txBody>
      </p:sp>
      <p:sp>
        <p:nvSpPr>
          <p:cNvPr id="16" name="Text 14"/>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17" name="Shape 15"/>
          <p:cNvSpPr/>
          <p:nvPr/>
        </p:nvSpPr>
        <p:spPr>
          <a:xfrm>
            <a:off x="658368" y="3613709"/>
            <a:ext cx="3489960" cy="755294"/>
          </a:xfrm>
          <a:prstGeom prst="rect">
            <a:avLst/>
          </a:prstGeom>
          <a:solidFill>
            <a:srgbClr val="F7F7F7"/>
          </a:solidFill>
          <a:ln/>
        </p:spPr>
      </p:sp>
      <p:sp>
        <p:nvSpPr>
          <p:cNvPr id="18" name="Text 16"/>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$4.15M</a:t>
            </a:r>
            <a:endParaRPr lang="en-US" sz="1400" dirty="0"/>
          </a:p>
        </p:txBody>
      </p:sp>
      <p:sp>
        <p:nvSpPr>
          <p:cNvPr id="20" name="Text 18"/>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21" name="Text 19"/>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$10.64M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$12.34M</a:t>
            </a:r>
            <a:endParaRPr lang="en-US" sz="1400" dirty="0"/>
          </a:p>
        </p:txBody>
      </p:sp>
      <p:sp>
        <p:nvSpPr>
          <p:cNvPr id="23" name="Text 21"/>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24" name="Shape 22"/>
          <p:cNvSpPr/>
          <p:nvPr/>
        </p:nvSpPr>
        <p:spPr>
          <a:xfrm>
            <a:off x="658368" y="5124298"/>
            <a:ext cx="3489960" cy="755294"/>
          </a:xfrm>
          <a:prstGeom prst="rect">
            <a:avLst/>
          </a:prstGeom>
          <a:solidFill>
            <a:srgbClr val="F7F7F7"/>
          </a:solidFill>
          <a:ln/>
        </p:spPr>
      </p:sp>
      <p:sp>
        <p:nvSpPr>
          <p:cNvPr id="25" name="Text 23"/>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$2.70M</a:t>
            </a:r>
            <a:endParaRPr lang="en-US" sz="1400" dirty="0"/>
          </a:p>
        </p:txBody>
      </p:sp>
      <p:sp>
        <p:nvSpPr>
          <p:cNvPr id="27" name="Text 25"/>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1" name="Shape 29"/>
          <p:cNvSpPr/>
          <p:nvPr/>
        </p:nvSpPr>
        <p:spPr>
          <a:xfrm>
            <a:off x="4349496" y="2103120"/>
            <a:ext cx="3489960" cy="755294"/>
          </a:xfrm>
          <a:prstGeom prst="rect">
            <a:avLst/>
          </a:prstGeom>
          <a:solidFill>
            <a:srgbClr val="F7F7F7"/>
          </a:solidFill>
          <a:ln/>
        </p:spPr>
      </p:sp>
      <p:sp>
        <p:nvSpPr>
          <p:cNvPr id="32" name="Text 30"/>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$2.89M</a:t>
            </a:r>
            <a:endParaRPr lang="en-US" sz="1400" dirty="0"/>
          </a:p>
        </p:txBody>
      </p:sp>
      <p:sp>
        <p:nvSpPr>
          <p:cNvPr id="34" name="Text 32"/>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35" name="Text 33"/>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$968K</a:t>
            </a:r>
            <a:endParaRPr lang="en-US" sz="1400" dirty="0"/>
          </a:p>
        </p:txBody>
      </p:sp>
      <p:sp>
        <p:nvSpPr>
          <p:cNvPr id="37" name="Text 35"/>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38" name="Shape 36"/>
          <p:cNvSpPr/>
          <p:nvPr/>
        </p:nvSpPr>
        <p:spPr>
          <a:xfrm>
            <a:off x="4349496" y="3613709"/>
            <a:ext cx="3489960" cy="755294"/>
          </a:xfrm>
          <a:prstGeom prst="rect">
            <a:avLst/>
          </a:prstGeom>
          <a:solidFill>
            <a:srgbClr val="F7F7F7"/>
          </a:solidFill>
          <a:ln/>
        </p:spPr>
      </p:sp>
      <p:sp>
        <p:nvSpPr>
          <p:cNvPr id="39" name="Text 37"/>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$4.79M</a:t>
            </a:r>
            <a:endParaRPr lang="en-US" sz="1400" dirty="0"/>
          </a:p>
        </p:txBody>
      </p:sp>
      <p:sp>
        <p:nvSpPr>
          <p:cNvPr id="41" name="Text 39"/>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42" name="Text 40"/>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$4.46M</a:t>
            </a:r>
            <a:endParaRPr lang="en-US" sz="1400" dirty="0"/>
          </a:p>
        </p:txBody>
      </p:sp>
      <p:sp>
        <p:nvSpPr>
          <p:cNvPr id="44" name="Text 42"/>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45" name="Shape 43"/>
          <p:cNvSpPr/>
          <p:nvPr/>
        </p:nvSpPr>
        <p:spPr>
          <a:xfrm>
            <a:off x="4349496" y="5124298"/>
            <a:ext cx="3489960" cy="755294"/>
          </a:xfrm>
          <a:prstGeom prst="rect">
            <a:avLst/>
          </a:prstGeom>
          <a:solidFill>
            <a:srgbClr val="F7F7F7"/>
          </a:solidFill>
          <a:ln/>
        </p:spPr>
      </p:sp>
      <p:sp>
        <p:nvSpPr>
          <p:cNvPr id="46" name="Text 44"/>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$9.46M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$8.62M</a:t>
            </a:r>
            <a:endParaRPr lang="en-US" sz="1400" dirty="0"/>
          </a:p>
        </p:txBody>
      </p:sp>
      <p:sp>
        <p:nvSpPr>
          <p:cNvPr id="48" name="Text 46"/>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−8.9%</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 per month</a:t>
            </a:r>
            <a:endParaRPr lang="en-US" sz="1200" dirty="0"/>
          </a:p>
        </p:txBody>
      </p:sp>
      <p:sp>
        <p:nvSpPr>
          <p:cNvPr id="52" name="Shape 50"/>
          <p:cNvSpPr/>
          <p:nvPr/>
        </p:nvSpPr>
        <p:spPr>
          <a:xfrm>
            <a:off x="8040624" y="2103120"/>
            <a:ext cx="3489960" cy="755294"/>
          </a:xfrm>
          <a:prstGeom prst="rect">
            <a:avLst/>
          </a:prstGeom>
          <a:solidFill>
            <a:srgbClr val="F7F7F7"/>
          </a:solidFill>
          <a:ln/>
        </p:spPr>
      </p:sp>
      <p:sp>
        <p:nvSpPr>
          <p:cNvPr id="53" name="Text 51"/>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$425K</a:t>
            </a:r>
            <a:endParaRPr lang="en-US" sz="1400" dirty="0"/>
          </a:p>
        </p:txBody>
      </p:sp>
      <p:sp>
        <p:nvSpPr>
          <p:cNvPr id="55" name="Text 53"/>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56" name="Text 54"/>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$301K</a:t>
            </a:r>
            <a:endParaRPr lang="en-US" sz="1400" dirty="0"/>
          </a:p>
        </p:txBody>
      </p:sp>
      <p:sp>
        <p:nvSpPr>
          <p:cNvPr id="58" name="Text 56"/>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59" name="Shape 57"/>
          <p:cNvSpPr/>
          <p:nvPr/>
        </p:nvSpPr>
        <p:spPr>
          <a:xfrm>
            <a:off x="8040624" y="3613709"/>
            <a:ext cx="3489960" cy="755294"/>
          </a:xfrm>
          <a:prstGeom prst="rect">
            <a:avLst/>
          </a:prstGeom>
          <a:solidFill>
            <a:srgbClr val="F7F7F7"/>
          </a:solidFill>
          <a:ln/>
        </p:spPr>
      </p:sp>
      <p:sp>
        <p:nvSpPr>
          <p:cNvPr id="60" name="Text 58"/>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1" name="Text 59"/>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$429K</a:t>
            </a:r>
            <a:endParaRPr lang="en-US" sz="1400" dirty="0"/>
          </a:p>
        </p:txBody>
      </p:sp>
      <p:sp>
        <p:nvSpPr>
          <p:cNvPr id="62" name="Text 60"/>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63" name="Text 61"/>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4" name="Text 62"/>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$448K</a:t>
            </a:r>
            <a:endParaRPr lang="en-US" sz="1400" dirty="0"/>
          </a:p>
        </p:txBody>
      </p:sp>
      <p:sp>
        <p:nvSpPr>
          <p:cNvPr id="65" name="Text 63"/>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66" name="Shape 64"/>
          <p:cNvSpPr/>
          <p:nvPr/>
        </p:nvSpPr>
        <p:spPr>
          <a:xfrm>
            <a:off x="8040624" y="5124298"/>
            <a:ext cx="3489960" cy="755294"/>
          </a:xfrm>
          <a:prstGeom prst="rect">
            <a:avLst/>
          </a:prstGeom>
          <a:solidFill>
            <a:srgbClr val="F7F7F7"/>
          </a:solidFill>
          <a:ln/>
        </p:spPr>
      </p:sp>
      <p:sp>
        <p:nvSpPr>
          <p:cNvPr id="67" name="Shape 65"/>
          <p:cNvSpPr/>
          <p:nvPr/>
        </p:nvSpPr>
        <p:spPr>
          <a:xfrm>
            <a:off x="11466576" y="5160874"/>
            <a:ext cx="64008" cy="682142"/>
          </a:xfrm>
          <a:prstGeom prst="rect">
            <a:avLst/>
          </a:prstGeom>
          <a:solidFill>
            <a:srgbClr val="12A566"/>
          </a:solidFill>
          <a:ln/>
        </p:spPr>
      </p:sp>
      <p:sp>
        <p:nvSpPr>
          <p:cNvPr id="68" name="Text 66"/>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$188K</a:t>
            </a:r>
            <a:endParaRPr lang="en-US" sz="1400" dirty="0"/>
          </a:p>
        </p:txBody>
      </p:sp>
      <p:sp>
        <p:nvSpPr>
          <p:cNvPr id="70" name="Text 68"/>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71" name="Shape 69"/>
          <p:cNvSpPr/>
          <p:nvPr/>
        </p:nvSpPr>
        <p:spPr>
          <a:xfrm>
            <a:off x="457200" y="6126480"/>
            <a:ext cx="11274552" cy="615696"/>
          </a:xfrm>
          <a:prstGeom prst="rect">
            <a:avLst/>
          </a:prstGeom>
          <a:solidFill>
            <a:srgbClr val="EDF4FA"/>
          </a:solidFill>
          <a:ln/>
        </p:spPr>
      </p:sp>
      <p:sp>
        <p:nvSpPr>
          <p:cNvPr id="72" name="Text 7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Hyundai Prescott, Lincoln and Lexus what changed. Ask Acura, VW St George and VW Henderson what got in the way. Ask Mazda, Kia St George and LR Henderson what they started this year.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$120.57M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$126.87M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+$6.30M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+5.2%</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Service gross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sp>
        <p:nvSpPr>
          <p:cNvPr id="22" name="Shape 15"/>
          <p:cNvSpPr/>
          <p:nvPr/>
        </p:nvSpPr>
        <p:spPr>
          <a:xfrm>
            <a:off x="4951476" y="3049524"/>
            <a:ext cx="310896" cy="45720"/>
          </a:xfrm>
          <a:prstGeom prst="rect">
            <a:avLst/>
          </a:prstGeom>
          <a:solidFill>
            <a:srgbClr val="9AA3AD"/>
          </a:solidFill>
          <a:ln/>
        </p:spPr>
      </p:sp>
      <p:sp>
        <p:nvSpPr>
          <p:cNvPr id="23" name="Shape 16"/>
          <p:cNvSpPr/>
          <p:nvPr/>
        </p:nvSpPr>
        <p:spPr>
          <a:xfrm>
            <a:off x="5052060" y="3017520"/>
            <a:ext cx="109728" cy="109728"/>
          </a:xfrm>
          <a:prstGeom prst="ellipse">
            <a:avLst/>
          </a:prstGeom>
          <a:solidFill>
            <a:srgbClr val="9AA3AD"/>
          </a:solidFill>
          <a:ln/>
        </p:spPr>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sp>
      <p:sp>
        <p:nvSpPr>
          <p:cNvPr id="26" name="Shape 19"/>
          <p:cNvSpPr/>
          <p:nvPr/>
        </p:nvSpPr>
        <p:spPr>
          <a:xfrm>
            <a:off x="6286500" y="3017520"/>
            <a:ext cx="109728" cy="109728"/>
          </a:xfrm>
          <a:prstGeom prst="ellipse">
            <a:avLst/>
          </a:prstGeom>
          <a:solidFill>
            <a:srgbClr val="2587C5"/>
          </a:solidFill>
          <a:ln/>
        </p:spPr>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371856"/>
          </a:xfrm>
          <a:prstGeom prst="rect">
            <a:avLst/>
          </a:prstGeom>
          <a:solidFill>
            <a:srgbClr val="E6F6EE"/>
          </a:solidFill>
          <a:ln/>
        </p:spPr>
      </p:sp>
      <p:sp>
        <p:nvSpPr>
          <p:cNvPr id="29"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+$6,297,386 (5.2%) year to date; 9 of nine months ahead of 2025, best September at +$1,457,847.</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GROSS</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$126.87M</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1860"/>
            <a:ext cx="1828800" cy="110352"/>
          </a:xfrm>
          <a:prstGeom prst="rect">
            <a:avLst/>
          </a:prstGeom>
          <a:solidFill>
            <a:srgbClr val="2587C5"/>
          </a:solidFill>
          <a:ln/>
        </p:spPr>
      </p:sp>
      <p:sp>
        <p:nvSpPr>
          <p:cNvPr id="14" name="Text 12"/>
          <p:cNvSpPr txBox="1"/>
          <p:nvPr/>
        </p:nvSpPr>
        <p:spPr>
          <a:xfrm>
            <a:off x="4855464"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$16.38M</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2980944" y="2151755"/>
            <a:ext cx="1178132" cy="110352"/>
          </a:xfrm>
          <a:prstGeom prst="rect">
            <a:avLst/>
          </a:prstGeom>
          <a:solidFill>
            <a:srgbClr val="2587C5"/>
          </a:solidFill>
          <a:ln/>
        </p:spPr>
      </p:sp>
      <p:sp>
        <p:nvSpPr>
          <p:cNvPr id="18" name="Text 16"/>
          <p:cNvSpPr txBox="1"/>
          <p:nvPr/>
        </p:nvSpPr>
        <p:spPr>
          <a:xfrm>
            <a:off x="4855464"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$10.55M</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1" name="Shape 19"/>
          <p:cNvSpPr/>
          <p:nvPr/>
        </p:nvSpPr>
        <p:spPr>
          <a:xfrm>
            <a:off x="2980944" y="2391651"/>
            <a:ext cx="1171781" cy="110352"/>
          </a:xfrm>
          <a:prstGeom prst="rect">
            <a:avLst/>
          </a:prstGeom>
          <a:solidFill>
            <a:srgbClr val="2587C5"/>
          </a:solidFill>
          <a:ln/>
        </p:spPr>
      </p:sp>
      <p:sp>
        <p:nvSpPr>
          <p:cNvPr id="22" name="Text 20"/>
          <p:cNvSpPr txBox="1"/>
          <p:nvPr/>
        </p:nvSpPr>
        <p:spPr>
          <a:xfrm>
            <a:off x="4855464"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$10.50M</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5" name="Shape 23"/>
          <p:cNvSpPr/>
          <p:nvPr/>
        </p:nvSpPr>
        <p:spPr>
          <a:xfrm>
            <a:off x="2980944" y="2631546"/>
            <a:ext cx="982405" cy="110352"/>
          </a:xfrm>
          <a:prstGeom prst="rect">
            <a:avLst/>
          </a:prstGeom>
          <a:solidFill>
            <a:srgbClr val="2587C5"/>
          </a:solidFill>
          <a:ln/>
        </p:spPr>
      </p:sp>
      <p:sp>
        <p:nvSpPr>
          <p:cNvPr id="26" name="Text 24"/>
          <p:cNvSpPr txBox="1"/>
          <p:nvPr/>
        </p:nvSpPr>
        <p:spPr>
          <a:xfrm>
            <a:off x="4855464"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$8.80M</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9" name="Shape 27"/>
          <p:cNvSpPr/>
          <p:nvPr/>
        </p:nvSpPr>
        <p:spPr>
          <a:xfrm>
            <a:off x="2980944" y="2871442"/>
            <a:ext cx="724430" cy="110352"/>
          </a:xfrm>
          <a:prstGeom prst="rect">
            <a:avLst/>
          </a:prstGeom>
          <a:solidFill>
            <a:srgbClr val="2587C5"/>
          </a:solidFill>
          <a:ln/>
        </p:spPr>
      </p:sp>
      <p:sp>
        <p:nvSpPr>
          <p:cNvPr id="30" name="Text 28"/>
          <p:cNvSpPr txBox="1"/>
          <p:nvPr/>
        </p:nvSpPr>
        <p:spPr>
          <a:xfrm>
            <a:off x="4855464"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$6.49M</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33" name="Shape 31"/>
          <p:cNvSpPr/>
          <p:nvPr/>
        </p:nvSpPr>
        <p:spPr>
          <a:xfrm>
            <a:off x="2980944" y="3111337"/>
            <a:ext cx="698259" cy="110352"/>
          </a:xfrm>
          <a:prstGeom prst="rect">
            <a:avLst/>
          </a:prstGeom>
          <a:solidFill>
            <a:srgbClr val="2587C5"/>
          </a:solidFill>
          <a:ln/>
        </p:spPr>
      </p:sp>
      <p:sp>
        <p:nvSpPr>
          <p:cNvPr id="34" name="Text 32"/>
          <p:cNvSpPr txBox="1"/>
          <p:nvPr/>
        </p:nvSpPr>
        <p:spPr>
          <a:xfrm>
            <a:off x="4855464"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$6.26M</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37" name="Shape 35"/>
          <p:cNvSpPr/>
          <p:nvPr/>
        </p:nvSpPr>
        <p:spPr>
          <a:xfrm>
            <a:off x="2980944" y="3351233"/>
            <a:ext cx="660750" cy="110352"/>
          </a:xfrm>
          <a:prstGeom prst="rect">
            <a:avLst/>
          </a:prstGeom>
          <a:solidFill>
            <a:srgbClr val="2587C5"/>
          </a:solidFill>
          <a:ln/>
        </p:spPr>
      </p:sp>
      <p:sp>
        <p:nvSpPr>
          <p:cNvPr id="38" name="Text 36"/>
          <p:cNvSpPr txBox="1"/>
          <p:nvPr/>
        </p:nvSpPr>
        <p:spPr>
          <a:xfrm>
            <a:off x="4855464"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$5.92M</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41" name="Shape 39"/>
          <p:cNvSpPr/>
          <p:nvPr/>
        </p:nvSpPr>
        <p:spPr>
          <a:xfrm>
            <a:off x="2980944" y="3591128"/>
            <a:ext cx="455591" cy="110352"/>
          </a:xfrm>
          <a:prstGeom prst="rect">
            <a:avLst/>
          </a:prstGeom>
          <a:solidFill>
            <a:srgbClr val="2587C5"/>
          </a:solidFill>
          <a:ln/>
        </p:spPr>
      </p:sp>
      <p:sp>
        <p:nvSpPr>
          <p:cNvPr id="42" name="Text 40"/>
          <p:cNvSpPr txBox="1"/>
          <p:nvPr/>
        </p:nvSpPr>
        <p:spPr>
          <a:xfrm>
            <a:off x="4855464"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$4.08M</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2980944" y="3831024"/>
            <a:ext cx="452277" cy="110352"/>
          </a:xfrm>
          <a:prstGeom prst="rect">
            <a:avLst/>
          </a:prstGeom>
          <a:solidFill>
            <a:srgbClr val="2587C5"/>
          </a:solidFill>
          <a:ln/>
        </p:spPr>
      </p:sp>
      <p:sp>
        <p:nvSpPr>
          <p:cNvPr id="46" name="Text 44"/>
          <p:cNvSpPr txBox="1"/>
          <p:nvPr/>
        </p:nvSpPr>
        <p:spPr>
          <a:xfrm>
            <a:off x="4855464"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$4.05M</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49" name="Shape 47"/>
          <p:cNvSpPr/>
          <p:nvPr/>
        </p:nvSpPr>
        <p:spPr>
          <a:xfrm>
            <a:off x="2980944" y="4070920"/>
            <a:ext cx="410917" cy="110352"/>
          </a:xfrm>
          <a:prstGeom prst="rect">
            <a:avLst/>
          </a:prstGeom>
          <a:solidFill>
            <a:srgbClr val="2587C5"/>
          </a:solidFill>
          <a:ln/>
        </p:spPr>
      </p:sp>
      <p:sp>
        <p:nvSpPr>
          <p:cNvPr id="50" name="Text 48"/>
          <p:cNvSpPr txBox="1"/>
          <p:nvPr/>
        </p:nvSpPr>
        <p:spPr>
          <a:xfrm>
            <a:off x="4855464"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$3.68M</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3" name="Shape 51"/>
          <p:cNvSpPr/>
          <p:nvPr/>
        </p:nvSpPr>
        <p:spPr>
          <a:xfrm>
            <a:off x="2980944" y="4310815"/>
            <a:ext cx="405463" cy="110352"/>
          </a:xfrm>
          <a:prstGeom prst="rect">
            <a:avLst/>
          </a:prstGeom>
          <a:solidFill>
            <a:srgbClr val="2587C5"/>
          </a:solidFill>
          <a:ln/>
        </p:spPr>
      </p:sp>
      <p:sp>
        <p:nvSpPr>
          <p:cNvPr id="54" name="Text 52"/>
          <p:cNvSpPr txBox="1"/>
          <p:nvPr/>
        </p:nvSpPr>
        <p:spPr>
          <a:xfrm>
            <a:off x="4855464"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$3.63M</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57" name="Shape 55"/>
          <p:cNvSpPr/>
          <p:nvPr/>
        </p:nvSpPr>
        <p:spPr>
          <a:xfrm>
            <a:off x="2980944" y="4550711"/>
            <a:ext cx="390976" cy="110352"/>
          </a:xfrm>
          <a:prstGeom prst="rect">
            <a:avLst/>
          </a:prstGeom>
          <a:solidFill>
            <a:srgbClr val="2587C5"/>
          </a:solidFill>
          <a:ln/>
        </p:spPr>
      </p:sp>
      <p:sp>
        <p:nvSpPr>
          <p:cNvPr id="58" name="Text 56"/>
          <p:cNvSpPr txBox="1"/>
          <p:nvPr/>
        </p:nvSpPr>
        <p:spPr>
          <a:xfrm>
            <a:off x="4855464"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$3.50M</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61" name="Shape 59"/>
          <p:cNvSpPr/>
          <p:nvPr/>
        </p:nvSpPr>
        <p:spPr>
          <a:xfrm>
            <a:off x="2980944" y="4790606"/>
            <a:ext cx="356124" cy="110352"/>
          </a:xfrm>
          <a:prstGeom prst="rect">
            <a:avLst/>
          </a:prstGeom>
          <a:solidFill>
            <a:srgbClr val="2587C5"/>
          </a:solidFill>
          <a:ln/>
        </p:spPr>
      </p:sp>
      <p:sp>
        <p:nvSpPr>
          <p:cNvPr id="62" name="Text 60"/>
          <p:cNvSpPr txBox="1"/>
          <p:nvPr/>
        </p:nvSpPr>
        <p:spPr>
          <a:xfrm>
            <a:off x="4855464"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$3.19M</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65" name="Shape 63"/>
          <p:cNvSpPr/>
          <p:nvPr/>
        </p:nvSpPr>
        <p:spPr>
          <a:xfrm>
            <a:off x="2980944" y="5030502"/>
            <a:ext cx="352683" cy="110352"/>
          </a:xfrm>
          <a:prstGeom prst="rect">
            <a:avLst/>
          </a:prstGeom>
          <a:solidFill>
            <a:srgbClr val="2587C5"/>
          </a:solidFill>
          <a:ln/>
        </p:spPr>
      </p:sp>
      <p:sp>
        <p:nvSpPr>
          <p:cNvPr id="66" name="Text 64"/>
          <p:cNvSpPr txBox="1"/>
          <p:nvPr/>
        </p:nvSpPr>
        <p:spPr>
          <a:xfrm>
            <a:off x="4855464"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$3.16M</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9" name="Shape 67"/>
          <p:cNvSpPr/>
          <p:nvPr/>
        </p:nvSpPr>
        <p:spPr>
          <a:xfrm>
            <a:off x="2980944" y="5270397"/>
            <a:ext cx="340845" cy="110352"/>
          </a:xfrm>
          <a:prstGeom prst="rect">
            <a:avLst/>
          </a:prstGeom>
          <a:solidFill>
            <a:srgbClr val="2587C5"/>
          </a:solidFill>
          <a:ln/>
        </p:spPr>
      </p:sp>
      <p:sp>
        <p:nvSpPr>
          <p:cNvPr id="70" name="Text 68"/>
          <p:cNvSpPr txBox="1"/>
          <p:nvPr/>
        </p:nvSpPr>
        <p:spPr>
          <a:xfrm>
            <a:off x="4855464"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$3.05M</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73" name="Shape 71"/>
          <p:cNvSpPr/>
          <p:nvPr/>
        </p:nvSpPr>
        <p:spPr>
          <a:xfrm>
            <a:off x="2980944" y="5510293"/>
            <a:ext cx="339380" cy="110352"/>
          </a:xfrm>
          <a:prstGeom prst="rect">
            <a:avLst/>
          </a:prstGeom>
          <a:solidFill>
            <a:srgbClr val="2587C5"/>
          </a:solidFill>
          <a:ln/>
        </p:spPr>
      </p:sp>
      <p:sp>
        <p:nvSpPr>
          <p:cNvPr id="74" name="Text 72"/>
          <p:cNvSpPr txBox="1"/>
          <p:nvPr/>
        </p:nvSpPr>
        <p:spPr>
          <a:xfrm>
            <a:off x="4855464"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$3.04M</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77" name="Shape 75"/>
          <p:cNvSpPr/>
          <p:nvPr/>
        </p:nvSpPr>
        <p:spPr>
          <a:xfrm>
            <a:off x="2980944" y="5750188"/>
            <a:ext cx="329329" cy="110352"/>
          </a:xfrm>
          <a:prstGeom prst="rect">
            <a:avLst/>
          </a:prstGeom>
          <a:solidFill>
            <a:srgbClr val="2587C5"/>
          </a:solidFill>
          <a:ln/>
        </p:spPr>
      </p:sp>
      <p:sp>
        <p:nvSpPr>
          <p:cNvPr id="78" name="Text 76"/>
          <p:cNvSpPr txBox="1"/>
          <p:nvPr/>
        </p:nvSpPr>
        <p:spPr>
          <a:xfrm>
            <a:off x="4855464" y="568541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$2.95M</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81" name="Shape 79"/>
          <p:cNvSpPr/>
          <p:nvPr/>
        </p:nvSpPr>
        <p:spPr>
          <a:xfrm>
            <a:off x="8531352" y="1911860"/>
            <a:ext cx="311294" cy="110352"/>
          </a:xfrm>
          <a:prstGeom prst="rect">
            <a:avLst/>
          </a:prstGeom>
          <a:solidFill>
            <a:srgbClr val="2587C5"/>
          </a:solidFill>
          <a:ln/>
        </p:spPr>
      </p:sp>
      <p:sp>
        <p:nvSpPr>
          <p:cNvPr id="82" name="Text 80"/>
          <p:cNvSpPr txBox="1"/>
          <p:nvPr/>
        </p:nvSpPr>
        <p:spPr>
          <a:xfrm>
            <a:off x="10405872"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$2.79M</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5" name="Shape 83"/>
          <p:cNvSpPr/>
          <p:nvPr/>
        </p:nvSpPr>
        <p:spPr>
          <a:xfrm>
            <a:off x="8531352" y="2151755"/>
            <a:ext cx="270275" cy="110352"/>
          </a:xfrm>
          <a:prstGeom prst="rect">
            <a:avLst/>
          </a:prstGeom>
          <a:solidFill>
            <a:srgbClr val="2587C5"/>
          </a:solidFill>
          <a:ln/>
        </p:spPr>
      </p:sp>
      <p:sp>
        <p:nvSpPr>
          <p:cNvPr id="86" name="Text 84"/>
          <p:cNvSpPr txBox="1"/>
          <p:nvPr/>
        </p:nvSpPr>
        <p:spPr>
          <a:xfrm>
            <a:off x="10405872"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$2.42M</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8531352" y="2391651"/>
            <a:ext cx="256215" cy="110352"/>
          </a:xfrm>
          <a:prstGeom prst="rect">
            <a:avLst/>
          </a:prstGeom>
          <a:solidFill>
            <a:srgbClr val="2587C5"/>
          </a:solidFill>
          <a:ln/>
        </p:spPr>
      </p:sp>
      <p:sp>
        <p:nvSpPr>
          <p:cNvPr id="90" name="Text 88"/>
          <p:cNvSpPr txBox="1"/>
          <p:nvPr/>
        </p:nvSpPr>
        <p:spPr>
          <a:xfrm>
            <a:off x="10405872"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$2.30M</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3" name="Shape 91"/>
          <p:cNvSpPr/>
          <p:nvPr/>
        </p:nvSpPr>
        <p:spPr>
          <a:xfrm>
            <a:off x="8531352" y="2631546"/>
            <a:ext cx="245763" cy="110352"/>
          </a:xfrm>
          <a:prstGeom prst="rect">
            <a:avLst/>
          </a:prstGeom>
          <a:solidFill>
            <a:srgbClr val="2587C5"/>
          </a:solidFill>
          <a:ln/>
        </p:spPr>
      </p:sp>
      <p:sp>
        <p:nvSpPr>
          <p:cNvPr id="94" name="Text 92"/>
          <p:cNvSpPr txBox="1"/>
          <p:nvPr/>
        </p:nvSpPr>
        <p:spPr>
          <a:xfrm>
            <a:off x="10405872"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$2.20M</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97" name="Shape 95"/>
          <p:cNvSpPr/>
          <p:nvPr/>
        </p:nvSpPr>
        <p:spPr>
          <a:xfrm>
            <a:off x="8531352" y="2871442"/>
            <a:ext cx="238967" cy="110352"/>
          </a:xfrm>
          <a:prstGeom prst="rect">
            <a:avLst/>
          </a:prstGeom>
          <a:solidFill>
            <a:srgbClr val="2587C5"/>
          </a:solidFill>
          <a:ln/>
        </p:spPr>
      </p:sp>
      <p:sp>
        <p:nvSpPr>
          <p:cNvPr id="98" name="Text 96"/>
          <p:cNvSpPr txBox="1"/>
          <p:nvPr/>
        </p:nvSpPr>
        <p:spPr>
          <a:xfrm>
            <a:off x="10405872"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$2.14M</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01" name="Shape 99"/>
          <p:cNvSpPr/>
          <p:nvPr/>
        </p:nvSpPr>
        <p:spPr>
          <a:xfrm>
            <a:off x="8531352" y="3111337"/>
            <a:ext cx="235763" cy="110352"/>
          </a:xfrm>
          <a:prstGeom prst="rect">
            <a:avLst/>
          </a:prstGeom>
          <a:solidFill>
            <a:srgbClr val="2587C5"/>
          </a:solidFill>
          <a:ln/>
        </p:spPr>
      </p:sp>
      <p:sp>
        <p:nvSpPr>
          <p:cNvPr id="102" name="Text 100"/>
          <p:cNvSpPr txBox="1"/>
          <p:nvPr/>
        </p:nvSpPr>
        <p:spPr>
          <a:xfrm>
            <a:off x="10405872"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$2.11M</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05" name="Shape 103"/>
          <p:cNvSpPr/>
          <p:nvPr/>
        </p:nvSpPr>
        <p:spPr>
          <a:xfrm>
            <a:off x="8531352" y="3351233"/>
            <a:ext cx="232807" cy="110352"/>
          </a:xfrm>
          <a:prstGeom prst="rect">
            <a:avLst/>
          </a:prstGeom>
          <a:solidFill>
            <a:srgbClr val="2587C5"/>
          </a:solidFill>
          <a:ln/>
        </p:spPr>
      </p:sp>
      <p:sp>
        <p:nvSpPr>
          <p:cNvPr id="106" name="Text 104"/>
          <p:cNvSpPr txBox="1"/>
          <p:nvPr/>
        </p:nvSpPr>
        <p:spPr>
          <a:xfrm>
            <a:off x="10405872"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$2.09M</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9" name="Shape 107"/>
          <p:cNvSpPr/>
          <p:nvPr/>
        </p:nvSpPr>
        <p:spPr>
          <a:xfrm>
            <a:off x="8531352" y="3591128"/>
            <a:ext cx="210714" cy="110352"/>
          </a:xfrm>
          <a:prstGeom prst="rect">
            <a:avLst/>
          </a:prstGeom>
          <a:solidFill>
            <a:srgbClr val="2587C5"/>
          </a:solidFill>
          <a:ln/>
        </p:spPr>
      </p:sp>
      <p:sp>
        <p:nvSpPr>
          <p:cNvPr id="110" name="Text 108"/>
          <p:cNvSpPr txBox="1"/>
          <p:nvPr/>
        </p:nvSpPr>
        <p:spPr>
          <a:xfrm>
            <a:off x="10405872"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$1.89M</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13" name="Shape 111"/>
          <p:cNvSpPr/>
          <p:nvPr/>
        </p:nvSpPr>
        <p:spPr>
          <a:xfrm>
            <a:off x="8531352" y="3831024"/>
            <a:ext cx="178756" cy="110352"/>
          </a:xfrm>
          <a:prstGeom prst="rect">
            <a:avLst/>
          </a:prstGeom>
          <a:solidFill>
            <a:srgbClr val="2587C5"/>
          </a:solidFill>
          <a:ln/>
        </p:spPr>
      </p:sp>
      <p:sp>
        <p:nvSpPr>
          <p:cNvPr id="114" name="Text 112"/>
          <p:cNvSpPr txBox="1"/>
          <p:nvPr/>
        </p:nvSpPr>
        <p:spPr>
          <a:xfrm>
            <a:off x="10405872"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$1.60M</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7" name="Shape 115"/>
          <p:cNvSpPr/>
          <p:nvPr/>
        </p:nvSpPr>
        <p:spPr>
          <a:xfrm>
            <a:off x="8531352" y="4070920"/>
            <a:ext cx="162808" cy="110352"/>
          </a:xfrm>
          <a:prstGeom prst="rect">
            <a:avLst/>
          </a:prstGeom>
          <a:solidFill>
            <a:srgbClr val="2587C5"/>
          </a:solidFill>
          <a:ln/>
        </p:spPr>
      </p:sp>
      <p:sp>
        <p:nvSpPr>
          <p:cNvPr id="118" name="Text 116"/>
          <p:cNvSpPr txBox="1"/>
          <p:nvPr/>
        </p:nvSpPr>
        <p:spPr>
          <a:xfrm>
            <a:off x="10405872"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$1.46M</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1" name="Shape 119"/>
          <p:cNvSpPr/>
          <p:nvPr/>
        </p:nvSpPr>
        <p:spPr>
          <a:xfrm>
            <a:off x="8531352" y="4310815"/>
            <a:ext cx="160552" cy="110352"/>
          </a:xfrm>
          <a:prstGeom prst="rect">
            <a:avLst/>
          </a:prstGeom>
          <a:solidFill>
            <a:srgbClr val="2587C5"/>
          </a:solidFill>
          <a:ln/>
        </p:spPr>
      </p:sp>
      <p:sp>
        <p:nvSpPr>
          <p:cNvPr id="122" name="Text 120"/>
          <p:cNvSpPr txBox="1"/>
          <p:nvPr/>
        </p:nvSpPr>
        <p:spPr>
          <a:xfrm>
            <a:off x="10405872"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$1.44M</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25" name="Shape 123"/>
          <p:cNvSpPr/>
          <p:nvPr/>
        </p:nvSpPr>
        <p:spPr>
          <a:xfrm>
            <a:off x="8531352" y="4550711"/>
            <a:ext cx="155672" cy="110352"/>
          </a:xfrm>
          <a:prstGeom prst="rect">
            <a:avLst/>
          </a:prstGeom>
          <a:solidFill>
            <a:srgbClr val="2587C5"/>
          </a:solidFill>
          <a:ln/>
        </p:spPr>
      </p:sp>
      <p:sp>
        <p:nvSpPr>
          <p:cNvPr id="126" name="Text 124"/>
          <p:cNvSpPr txBox="1"/>
          <p:nvPr/>
        </p:nvSpPr>
        <p:spPr>
          <a:xfrm>
            <a:off x="10405872"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$1.39M</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9" name="Shape 127"/>
          <p:cNvSpPr/>
          <p:nvPr/>
        </p:nvSpPr>
        <p:spPr>
          <a:xfrm>
            <a:off x="8531352" y="4790606"/>
            <a:ext cx="131649" cy="110352"/>
          </a:xfrm>
          <a:prstGeom prst="rect">
            <a:avLst/>
          </a:prstGeom>
          <a:solidFill>
            <a:srgbClr val="2587C5"/>
          </a:solidFill>
          <a:ln/>
        </p:spPr>
      </p:sp>
      <p:sp>
        <p:nvSpPr>
          <p:cNvPr id="130" name="Text 128"/>
          <p:cNvSpPr txBox="1"/>
          <p:nvPr/>
        </p:nvSpPr>
        <p:spPr>
          <a:xfrm>
            <a:off x="10405872"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$1.18M</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3" name="Shape 131"/>
          <p:cNvSpPr/>
          <p:nvPr/>
        </p:nvSpPr>
        <p:spPr>
          <a:xfrm>
            <a:off x="8531352" y="5030502"/>
            <a:ext cx="116550" cy="110352"/>
          </a:xfrm>
          <a:prstGeom prst="rect">
            <a:avLst/>
          </a:prstGeom>
          <a:solidFill>
            <a:srgbClr val="2587C5"/>
          </a:solidFill>
          <a:ln/>
        </p:spPr>
      </p:sp>
      <p:sp>
        <p:nvSpPr>
          <p:cNvPr id="134" name="Text 132"/>
          <p:cNvSpPr txBox="1"/>
          <p:nvPr/>
        </p:nvSpPr>
        <p:spPr>
          <a:xfrm>
            <a:off x="10405872"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$1.04M</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7" name="Shape 135"/>
          <p:cNvSpPr/>
          <p:nvPr/>
        </p:nvSpPr>
        <p:spPr>
          <a:xfrm>
            <a:off x="8531352" y="5270397"/>
            <a:ext cx="110797" cy="110352"/>
          </a:xfrm>
          <a:prstGeom prst="rect">
            <a:avLst/>
          </a:prstGeom>
          <a:solidFill>
            <a:srgbClr val="2587C5"/>
          </a:solidFill>
          <a:ln/>
        </p:spPr>
      </p:sp>
      <p:sp>
        <p:nvSpPr>
          <p:cNvPr id="138" name="Text 136"/>
          <p:cNvSpPr txBox="1"/>
          <p:nvPr/>
        </p:nvSpPr>
        <p:spPr>
          <a:xfrm>
            <a:off x="10405872"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$992,560</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531352" y="5510293"/>
            <a:ext cx="65691" cy="110352"/>
          </a:xfrm>
          <a:prstGeom prst="rect">
            <a:avLst/>
          </a:prstGeom>
          <a:solidFill>
            <a:srgbClr val="2587C5"/>
          </a:solidFill>
          <a:ln/>
        </p:spPr>
      </p:sp>
      <p:sp>
        <p:nvSpPr>
          <p:cNvPr id="142" name="Text 140"/>
          <p:cNvSpPr txBox="1"/>
          <p:nvPr/>
        </p:nvSpPr>
        <p:spPr>
          <a:xfrm>
            <a:off x="10405872"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$588,480</a:t>
            </a:r>
            <a:endParaRPr lang="en-US" sz="1200" dirty="0"/>
          </a:p>
        </p:txBody>
      </p:sp>
      <p:sp>
        <p:nvSpPr>
          <p:cNvPr id="143" name="Shape 141"/>
          <p:cNvSpPr/>
          <p:nvPr/>
        </p:nvSpPr>
        <p:spPr>
          <a:xfrm>
            <a:off x="6085332" y="1847088"/>
            <a:ext cx="10973" cy="4078224"/>
          </a:xfrm>
          <a:prstGeom prst="rect">
            <a:avLst/>
          </a:prstGeom>
          <a:solidFill>
            <a:srgbClr val="D9D9D9"/>
          </a:solidFill>
          <a:ln/>
        </p:spPr>
      </p:sp>
      <p:sp>
        <p:nvSpPr>
          <p:cNvPr id="144" name="Shape 142"/>
          <p:cNvSpPr/>
          <p:nvPr/>
        </p:nvSpPr>
        <p:spPr>
          <a:xfrm>
            <a:off x="457200" y="6126480"/>
            <a:ext cx="11274552" cy="371856"/>
          </a:xfrm>
          <a:prstGeom prst="rect">
            <a:avLst/>
          </a:prstGeom>
          <a:solidFill>
            <a:srgbClr val="EDF4FA"/>
          </a:solidFill>
          <a:ln/>
        </p:spPr>
      </p:sp>
      <p:sp>
        <p:nvSpPr>
          <p:cNvPr id="145" name="Text 143"/>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Toyota Henderson is $16.38M of the group's $126.87M; VW St George is smallest at $588,480.</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GROSS</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+$6.30M  ·  +5.2%</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+$1.50M</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a:t>
            </a:r>
            <a:endParaRPr lang="en-US" sz="1200" dirty="0"/>
          </a:p>
        </p:txBody>
      </p:sp>
      <p:sp>
        <p:nvSpPr>
          <p:cNvPr id="20" name="Text 18"/>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1" name="Text 19"/>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2" name="Shape 20"/>
          <p:cNvSpPr/>
          <p:nvPr/>
        </p:nvSpPr>
        <p:spPr>
          <a:xfrm>
            <a:off x="3579876" y="2405582"/>
            <a:ext cx="540193" cy="102929"/>
          </a:xfrm>
          <a:prstGeom prst="rect">
            <a:avLst/>
          </a:prstGeom>
          <a:solidFill>
            <a:srgbClr val="12A566"/>
          </a:solidFill>
          <a:ln/>
        </p:spPr>
      </p:sp>
      <p:sp>
        <p:nvSpPr>
          <p:cNvPr id="23" name="Text 21"/>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+$1.42M</a:t>
            </a:r>
            <a:endParaRPr lang="en-US" sz="1200" dirty="0"/>
          </a:p>
        </p:txBody>
      </p:sp>
      <p:sp>
        <p:nvSpPr>
          <p:cNvPr id="24" name="Text 22"/>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+19.2%</a:t>
            </a:r>
            <a:endParaRPr lang="en-US" sz="1200" dirty="0"/>
          </a:p>
        </p:txBody>
      </p:sp>
      <p:sp>
        <p:nvSpPr>
          <p:cNvPr id="25" name="Text 23"/>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6" name="Text 24"/>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7" name="Shape 25"/>
          <p:cNvSpPr/>
          <p:nvPr/>
        </p:nvSpPr>
        <p:spPr>
          <a:xfrm>
            <a:off x="3579876" y="2629341"/>
            <a:ext cx="243705" cy="102929"/>
          </a:xfrm>
          <a:prstGeom prst="rect">
            <a:avLst/>
          </a:prstGeom>
          <a:solidFill>
            <a:srgbClr val="12A566"/>
          </a:solidFill>
          <a:ln/>
        </p:spPr>
      </p:sp>
      <p:sp>
        <p:nvSpPr>
          <p:cNvPr id="28" name="Text 26"/>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+$639K</a:t>
            </a:r>
            <a:endParaRPr lang="en-US" sz="1200" dirty="0"/>
          </a:p>
        </p:txBody>
      </p:sp>
      <p:sp>
        <p:nvSpPr>
          <p:cNvPr id="29" name="Text 27"/>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+27.7%</a:t>
            </a:r>
            <a:endParaRPr lang="en-US" sz="1200" dirty="0"/>
          </a:p>
        </p:txBody>
      </p:sp>
      <p:sp>
        <p:nvSpPr>
          <p:cNvPr id="30" name="Shape 28"/>
          <p:cNvSpPr/>
          <p:nvPr/>
        </p:nvSpPr>
        <p:spPr>
          <a:xfrm>
            <a:off x="5020056" y="2648802"/>
            <a:ext cx="182880" cy="64008"/>
          </a:xfrm>
          <a:prstGeom prst="rect">
            <a:avLst/>
          </a:prstGeom>
          <a:solidFill>
            <a:srgbClr val="12A566"/>
          </a:solidFill>
          <a:ln/>
        </p:spPr>
      </p:sp>
      <p:sp>
        <p:nvSpPr>
          <p:cNvPr id="31" name="Text 29"/>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2" name="Text 30"/>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33" name="Shape 31"/>
          <p:cNvSpPr/>
          <p:nvPr/>
        </p:nvSpPr>
        <p:spPr>
          <a:xfrm>
            <a:off x="3579876" y="2853100"/>
            <a:ext cx="236000" cy="102929"/>
          </a:xfrm>
          <a:prstGeom prst="rect">
            <a:avLst/>
          </a:prstGeom>
          <a:solidFill>
            <a:srgbClr val="12A566"/>
          </a:solidFill>
          <a:ln/>
        </p:spPr>
      </p:sp>
      <p:sp>
        <p:nvSpPr>
          <p:cNvPr id="34" name="Text 32"/>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+$619K</a:t>
            </a:r>
            <a:endParaRPr lang="en-US" sz="1200" dirty="0"/>
          </a:p>
        </p:txBody>
      </p:sp>
      <p:sp>
        <p:nvSpPr>
          <p:cNvPr id="35" name="Text 33"/>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+20.5%</a:t>
            </a:r>
            <a:endParaRPr lang="en-US" sz="1200" dirty="0"/>
          </a:p>
        </p:txBody>
      </p:sp>
      <p:sp>
        <p:nvSpPr>
          <p:cNvPr id="36" name="Text 34"/>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8" name="Shape 36"/>
          <p:cNvSpPr/>
          <p:nvPr/>
        </p:nvSpPr>
        <p:spPr>
          <a:xfrm>
            <a:off x="3579876" y="3076859"/>
            <a:ext cx="232878" cy="102929"/>
          </a:xfrm>
          <a:prstGeom prst="rect">
            <a:avLst/>
          </a:prstGeom>
          <a:solidFill>
            <a:srgbClr val="12A566"/>
          </a:solidFill>
          <a:ln/>
        </p:spPr>
      </p:sp>
      <p:sp>
        <p:nvSpPr>
          <p:cNvPr id="39" name="Text 37"/>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+$611K</a:t>
            </a:r>
            <a:endParaRPr lang="en-US" sz="1200" dirty="0"/>
          </a:p>
        </p:txBody>
      </p:sp>
      <p:sp>
        <p:nvSpPr>
          <p:cNvPr id="40" name="Text 38"/>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+6.1%</a:t>
            </a:r>
            <a:endParaRPr lang="en-US" sz="1200" dirty="0"/>
          </a:p>
        </p:txBody>
      </p:sp>
      <p:sp>
        <p:nvSpPr>
          <p:cNvPr id="41" name="Text 39"/>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2" name="Text 40"/>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43" name="Shape 41"/>
          <p:cNvSpPr/>
          <p:nvPr/>
        </p:nvSpPr>
        <p:spPr>
          <a:xfrm>
            <a:off x="3579876" y="3300618"/>
            <a:ext cx="229387" cy="102929"/>
          </a:xfrm>
          <a:prstGeom prst="rect">
            <a:avLst/>
          </a:prstGeom>
          <a:solidFill>
            <a:srgbClr val="12A566"/>
          </a:solidFill>
          <a:ln/>
        </p:spPr>
      </p:sp>
      <p:sp>
        <p:nvSpPr>
          <p:cNvPr id="44" name="Text 42"/>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+$602K</a:t>
            </a:r>
            <a:endParaRPr lang="en-US" sz="1200" dirty="0"/>
          </a:p>
        </p:txBody>
      </p:sp>
      <p:sp>
        <p:nvSpPr>
          <p:cNvPr id="45" name="Text 43"/>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+19.5%</a:t>
            </a:r>
            <a:endParaRPr lang="en-US" sz="1200" dirty="0"/>
          </a:p>
        </p:txBody>
      </p:sp>
      <p:sp>
        <p:nvSpPr>
          <p:cNvPr id="46" name="Text 44"/>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7" name="Text 45"/>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8" name="Shape 46"/>
          <p:cNvSpPr/>
          <p:nvPr/>
        </p:nvSpPr>
        <p:spPr>
          <a:xfrm>
            <a:off x="3579876" y="3524377"/>
            <a:ext cx="181006" cy="102929"/>
          </a:xfrm>
          <a:prstGeom prst="rect">
            <a:avLst/>
          </a:prstGeom>
          <a:solidFill>
            <a:srgbClr val="12A566"/>
          </a:solidFill>
          <a:ln/>
        </p:spPr>
      </p:sp>
      <p:sp>
        <p:nvSpPr>
          <p:cNvPr id="49" name="Text 47"/>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+$475K</a:t>
            </a:r>
            <a:endParaRPr lang="en-US" sz="1200" dirty="0"/>
          </a:p>
        </p:txBody>
      </p:sp>
      <p:sp>
        <p:nvSpPr>
          <p:cNvPr id="50" name="Text 48"/>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+29.5%</a:t>
            </a:r>
            <a:endParaRPr lang="en-US" sz="1200" dirty="0"/>
          </a:p>
        </p:txBody>
      </p:sp>
      <p:sp>
        <p:nvSpPr>
          <p:cNvPr id="51" name="Shape 49"/>
          <p:cNvSpPr/>
          <p:nvPr/>
        </p:nvSpPr>
        <p:spPr>
          <a:xfrm>
            <a:off x="5020056" y="3543838"/>
            <a:ext cx="182880" cy="64008"/>
          </a:xfrm>
          <a:prstGeom prst="rect">
            <a:avLst/>
          </a:prstGeom>
          <a:solidFill>
            <a:srgbClr val="12A566"/>
          </a:solidFill>
          <a:ln/>
        </p:spPr>
      </p:sp>
      <p:sp>
        <p:nvSpPr>
          <p:cNvPr id="52" name="Text 50"/>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3" name="Text 51"/>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4" name="Shape 52"/>
          <p:cNvSpPr/>
          <p:nvPr/>
        </p:nvSpPr>
        <p:spPr>
          <a:xfrm>
            <a:off x="3579876" y="3748136"/>
            <a:ext cx="148529" cy="102929"/>
          </a:xfrm>
          <a:prstGeom prst="rect">
            <a:avLst/>
          </a:prstGeom>
          <a:solidFill>
            <a:srgbClr val="12A566"/>
          </a:solidFill>
          <a:ln/>
        </p:spPr>
      </p:sp>
      <p:sp>
        <p:nvSpPr>
          <p:cNvPr id="55" name="Text 53"/>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+$390K</a:t>
            </a:r>
            <a:endParaRPr lang="en-US" sz="1200" dirty="0"/>
          </a:p>
        </p:txBody>
      </p:sp>
      <p:sp>
        <p:nvSpPr>
          <p:cNvPr id="56" name="Text 54"/>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+14.1%</a:t>
            </a:r>
            <a:endParaRPr lang="en-US" sz="1200" dirty="0"/>
          </a:p>
        </p:txBody>
      </p:sp>
      <p:sp>
        <p:nvSpPr>
          <p:cNvPr id="57" name="Text 55"/>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8" name="Text 56"/>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59" name="Shape 57"/>
          <p:cNvSpPr/>
          <p:nvPr/>
        </p:nvSpPr>
        <p:spPr>
          <a:xfrm>
            <a:off x="3579876" y="3971895"/>
            <a:ext cx="146541" cy="102929"/>
          </a:xfrm>
          <a:prstGeom prst="rect">
            <a:avLst/>
          </a:prstGeom>
          <a:solidFill>
            <a:srgbClr val="12A566"/>
          </a:solidFill>
          <a:ln/>
        </p:spPr>
      </p:sp>
      <p:sp>
        <p:nvSpPr>
          <p:cNvPr id="60" name="Text 58"/>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+$384K</a:t>
            </a:r>
            <a:endParaRPr lang="en-US" sz="1200" dirty="0"/>
          </a:p>
        </p:txBody>
      </p:sp>
      <p:sp>
        <p:nvSpPr>
          <p:cNvPr id="61" name="Text 59"/>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+16.0%</a:t>
            </a:r>
            <a:endParaRPr lang="en-US" sz="1200" dirty="0"/>
          </a:p>
        </p:txBody>
      </p:sp>
      <p:sp>
        <p:nvSpPr>
          <p:cNvPr id="62" name="Text 60"/>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3" name="Text 61"/>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4" name="Shape 62"/>
          <p:cNvSpPr/>
          <p:nvPr/>
        </p:nvSpPr>
        <p:spPr>
          <a:xfrm>
            <a:off x="3579876" y="4195654"/>
            <a:ext cx="131469" cy="102929"/>
          </a:xfrm>
          <a:prstGeom prst="rect">
            <a:avLst/>
          </a:prstGeom>
          <a:solidFill>
            <a:srgbClr val="12A566"/>
          </a:solidFill>
          <a:ln/>
        </p:spPr>
      </p:sp>
      <p:sp>
        <p:nvSpPr>
          <p:cNvPr id="65" name="Text 63"/>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+$345K</a:t>
            </a:r>
            <a:endParaRPr lang="en-US" sz="1200" dirty="0"/>
          </a:p>
        </p:txBody>
      </p:sp>
      <p:sp>
        <p:nvSpPr>
          <p:cNvPr id="66" name="Text 64"/>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+53.3%</a:t>
            </a:r>
            <a:endParaRPr lang="en-US" sz="1200" dirty="0"/>
          </a:p>
        </p:txBody>
      </p:sp>
      <p:sp>
        <p:nvSpPr>
          <p:cNvPr id="67" name="Shape 65"/>
          <p:cNvSpPr/>
          <p:nvPr/>
        </p:nvSpPr>
        <p:spPr>
          <a:xfrm>
            <a:off x="5020056" y="4215115"/>
            <a:ext cx="182880" cy="64008"/>
          </a:xfrm>
          <a:prstGeom prst="rect">
            <a:avLst/>
          </a:prstGeom>
          <a:solidFill>
            <a:srgbClr val="12A566"/>
          </a:solidFill>
          <a:ln/>
        </p:spPr>
      </p:sp>
      <p:sp>
        <p:nvSpPr>
          <p:cNvPr id="68" name="Text 66"/>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9" name="Text 67"/>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70" name="Shape 68"/>
          <p:cNvSpPr/>
          <p:nvPr/>
        </p:nvSpPr>
        <p:spPr>
          <a:xfrm>
            <a:off x="3579876" y="4419414"/>
            <a:ext cx="120062" cy="102929"/>
          </a:xfrm>
          <a:prstGeom prst="rect">
            <a:avLst/>
          </a:prstGeom>
          <a:solidFill>
            <a:srgbClr val="12A566"/>
          </a:solidFill>
          <a:ln/>
        </p:spPr>
      </p:sp>
      <p:sp>
        <p:nvSpPr>
          <p:cNvPr id="71" name="Text 69"/>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+$315K</a:t>
            </a:r>
            <a:endParaRPr lang="en-US" sz="1200" dirty="0"/>
          </a:p>
        </p:txBody>
      </p:sp>
      <p:sp>
        <p:nvSpPr>
          <p:cNvPr id="72" name="Text 70"/>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+27.5%</a:t>
            </a:r>
            <a:endParaRPr lang="en-US" sz="1200" dirty="0"/>
          </a:p>
        </p:txBody>
      </p:sp>
      <p:sp>
        <p:nvSpPr>
          <p:cNvPr id="73" name="Text 71"/>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4" name="Text 72"/>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75" name="Shape 73"/>
          <p:cNvSpPr/>
          <p:nvPr/>
        </p:nvSpPr>
        <p:spPr>
          <a:xfrm>
            <a:off x="3579876" y="4643173"/>
            <a:ext cx="111374" cy="102929"/>
          </a:xfrm>
          <a:prstGeom prst="rect">
            <a:avLst/>
          </a:prstGeom>
          <a:solidFill>
            <a:srgbClr val="12A566"/>
          </a:solidFill>
          <a:ln/>
        </p:spPr>
      </p:sp>
      <p:sp>
        <p:nvSpPr>
          <p:cNvPr id="76" name="Text 74"/>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+$292K</a:t>
            </a:r>
            <a:endParaRPr lang="en-US" sz="1200" dirty="0"/>
          </a:p>
        </p:txBody>
      </p:sp>
      <p:sp>
        <p:nvSpPr>
          <p:cNvPr id="77" name="Text 75"/>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a:t>
            </a:r>
            <a:endParaRPr lang="en-US" sz="1200" dirty="0"/>
          </a:p>
        </p:txBody>
      </p:sp>
      <p:sp>
        <p:nvSpPr>
          <p:cNvPr id="78" name="Text 76"/>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9" name="Text 77"/>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0" name="Shape 78"/>
          <p:cNvSpPr/>
          <p:nvPr/>
        </p:nvSpPr>
        <p:spPr>
          <a:xfrm>
            <a:off x="3579876" y="4866932"/>
            <a:ext cx="89160" cy="102929"/>
          </a:xfrm>
          <a:prstGeom prst="rect">
            <a:avLst/>
          </a:prstGeom>
          <a:solidFill>
            <a:srgbClr val="12A566"/>
          </a:solidFill>
          <a:ln/>
        </p:spPr>
      </p:sp>
      <p:sp>
        <p:nvSpPr>
          <p:cNvPr id="81" name="Text 79"/>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+$234K</a:t>
            </a:r>
            <a:endParaRPr lang="en-US" sz="1200" dirty="0"/>
          </a:p>
        </p:txBody>
      </p:sp>
      <p:sp>
        <p:nvSpPr>
          <p:cNvPr id="82" name="Text 80"/>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a:t>
            </a:r>
            <a:endParaRPr lang="en-US" sz="1200" dirty="0"/>
          </a:p>
        </p:txBody>
      </p:sp>
      <p:sp>
        <p:nvSpPr>
          <p:cNvPr id="83" name="Text 81"/>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4" name="Text 82"/>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85" name="Shape 83"/>
          <p:cNvSpPr/>
          <p:nvPr/>
        </p:nvSpPr>
        <p:spPr>
          <a:xfrm>
            <a:off x="3579876" y="5090691"/>
            <a:ext cx="82605" cy="102929"/>
          </a:xfrm>
          <a:prstGeom prst="rect">
            <a:avLst/>
          </a:prstGeom>
          <a:solidFill>
            <a:srgbClr val="12A566"/>
          </a:solidFill>
          <a:ln/>
        </p:spPr>
      </p:sp>
      <p:sp>
        <p:nvSpPr>
          <p:cNvPr id="86" name="Text 84"/>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+$217K</a:t>
            </a:r>
            <a:endParaRPr lang="en-US" sz="1200" dirty="0"/>
          </a:p>
        </p:txBody>
      </p:sp>
      <p:sp>
        <p:nvSpPr>
          <p:cNvPr id="87" name="Text 85"/>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+15.7%</a:t>
            </a:r>
            <a:endParaRPr lang="en-US" sz="1200" dirty="0"/>
          </a:p>
        </p:txBody>
      </p:sp>
      <p:sp>
        <p:nvSpPr>
          <p:cNvPr id="88" name="Text 86"/>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9" name="Text 87"/>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0" name="Shape 88"/>
          <p:cNvSpPr/>
          <p:nvPr/>
        </p:nvSpPr>
        <p:spPr>
          <a:xfrm>
            <a:off x="3579876" y="5314450"/>
            <a:ext cx="76873" cy="102929"/>
          </a:xfrm>
          <a:prstGeom prst="rect">
            <a:avLst/>
          </a:prstGeom>
          <a:solidFill>
            <a:srgbClr val="12A566"/>
          </a:solidFill>
          <a:ln/>
        </p:spPr>
      </p:sp>
      <p:sp>
        <p:nvSpPr>
          <p:cNvPr id="91" name="Text 89"/>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+$202K</a:t>
            </a:r>
            <a:endParaRPr lang="en-US" sz="1200" dirty="0"/>
          </a:p>
        </p:txBody>
      </p:sp>
      <p:sp>
        <p:nvSpPr>
          <p:cNvPr id="92" name="Text 90"/>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a:t>
            </a:r>
            <a:endParaRPr lang="en-US" sz="1200" dirty="0"/>
          </a:p>
        </p:txBody>
      </p:sp>
      <p:sp>
        <p:nvSpPr>
          <p:cNvPr id="93" name="Text 91"/>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4" name="Text 92"/>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5" name="Shape 93"/>
          <p:cNvSpPr/>
          <p:nvPr/>
        </p:nvSpPr>
        <p:spPr>
          <a:xfrm>
            <a:off x="3579876" y="5538209"/>
            <a:ext cx="74606" cy="102929"/>
          </a:xfrm>
          <a:prstGeom prst="rect">
            <a:avLst/>
          </a:prstGeom>
          <a:solidFill>
            <a:srgbClr val="12A566"/>
          </a:solidFill>
          <a:ln/>
        </p:spPr>
      </p:sp>
      <p:sp>
        <p:nvSpPr>
          <p:cNvPr id="96" name="Text 94"/>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+$196K</a:t>
            </a:r>
            <a:endParaRPr lang="en-US" sz="1200" dirty="0"/>
          </a:p>
        </p:txBody>
      </p:sp>
      <p:sp>
        <p:nvSpPr>
          <p:cNvPr id="97" name="Text 95"/>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+5.0%</a:t>
            </a:r>
            <a:endParaRPr lang="en-US" sz="1200" dirty="0"/>
          </a:p>
        </p:txBody>
      </p:sp>
      <p:sp>
        <p:nvSpPr>
          <p:cNvPr id="98" name="Text 96"/>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9" name="Text 97"/>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0" name="Shape 98"/>
          <p:cNvSpPr/>
          <p:nvPr/>
        </p:nvSpPr>
        <p:spPr>
          <a:xfrm>
            <a:off x="3579876" y="5761968"/>
            <a:ext cx="64461" cy="102929"/>
          </a:xfrm>
          <a:prstGeom prst="rect">
            <a:avLst/>
          </a:prstGeom>
          <a:solidFill>
            <a:srgbClr val="12A566"/>
          </a:solidFill>
          <a:ln/>
        </p:spPr>
      </p:sp>
      <p:sp>
        <p:nvSpPr>
          <p:cNvPr id="101" name="Text 99"/>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+$169K</a:t>
            </a:r>
            <a:endParaRPr lang="en-US" sz="1200" dirty="0"/>
          </a:p>
        </p:txBody>
      </p:sp>
      <p:sp>
        <p:nvSpPr>
          <p:cNvPr id="102" name="Text 100"/>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+13.8%</a:t>
            </a:r>
            <a:endParaRPr lang="en-US" sz="1200" dirty="0"/>
          </a:p>
        </p:txBody>
      </p:sp>
      <p:sp>
        <p:nvSpPr>
          <p:cNvPr id="103" name="Text 101"/>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4" name="Text 102"/>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05" name="Shape 103"/>
          <p:cNvSpPr/>
          <p:nvPr/>
        </p:nvSpPr>
        <p:spPr>
          <a:xfrm>
            <a:off x="9130284" y="2181823"/>
            <a:ext cx="61599" cy="102929"/>
          </a:xfrm>
          <a:prstGeom prst="rect">
            <a:avLst/>
          </a:prstGeom>
          <a:solidFill>
            <a:srgbClr val="12A566"/>
          </a:solidFill>
          <a:ln/>
        </p:spPr>
      </p:sp>
      <p:sp>
        <p:nvSpPr>
          <p:cNvPr id="106" name="Text 104"/>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+$162K</a:t>
            </a:r>
            <a:endParaRPr lang="en-US" sz="1200" dirty="0"/>
          </a:p>
        </p:txBody>
      </p:sp>
      <p:sp>
        <p:nvSpPr>
          <p:cNvPr id="107" name="Text 105"/>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+12.7%</a:t>
            </a:r>
            <a:endParaRPr lang="en-US" sz="1200" dirty="0"/>
          </a:p>
        </p:txBody>
      </p:sp>
      <p:sp>
        <p:nvSpPr>
          <p:cNvPr id="108" name="Text 106"/>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9" name="Text 107"/>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10" name="Shape 108"/>
          <p:cNvSpPr/>
          <p:nvPr/>
        </p:nvSpPr>
        <p:spPr>
          <a:xfrm>
            <a:off x="9130284" y="2405582"/>
            <a:ext cx="43013" cy="102929"/>
          </a:xfrm>
          <a:prstGeom prst="rect">
            <a:avLst/>
          </a:prstGeom>
          <a:solidFill>
            <a:srgbClr val="12A566"/>
          </a:solidFill>
          <a:ln/>
        </p:spPr>
      </p:sp>
      <p:sp>
        <p:nvSpPr>
          <p:cNvPr id="111" name="Text 109"/>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+$113K</a:t>
            </a:r>
            <a:endParaRPr lang="en-US" sz="1200" dirty="0"/>
          </a:p>
        </p:txBody>
      </p:sp>
      <p:sp>
        <p:nvSpPr>
          <p:cNvPr id="112" name="Text 110"/>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a:t>
            </a:r>
            <a:endParaRPr lang="en-US" sz="1200" dirty="0"/>
          </a:p>
        </p:txBody>
      </p:sp>
      <p:sp>
        <p:nvSpPr>
          <p:cNvPr id="113" name="Text 111"/>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4" name="Text 112"/>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15" name="Shape 113"/>
          <p:cNvSpPr/>
          <p:nvPr/>
        </p:nvSpPr>
        <p:spPr>
          <a:xfrm>
            <a:off x="9130284" y="2629341"/>
            <a:ext cx="25977" cy="102929"/>
          </a:xfrm>
          <a:prstGeom prst="rect">
            <a:avLst/>
          </a:prstGeom>
          <a:solidFill>
            <a:srgbClr val="12A566"/>
          </a:solidFill>
          <a:ln/>
        </p:spPr>
      </p:sp>
      <p:sp>
        <p:nvSpPr>
          <p:cNvPr id="116" name="Text 114"/>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+$68K</a:t>
            </a:r>
            <a:endParaRPr lang="en-US" sz="1200" dirty="0"/>
          </a:p>
        </p:txBody>
      </p:sp>
      <p:sp>
        <p:nvSpPr>
          <p:cNvPr id="117" name="Text 115"/>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a:t>
            </a:r>
            <a:endParaRPr lang="en-US" sz="1200" dirty="0"/>
          </a:p>
        </p:txBody>
      </p:sp>
      <p:sp>
        <p:nvSpPr>
          <p:cNvPr id="118" name="Text 116"/>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9" name="Text 117"/>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20" name="Shape 118"/>
          <p:cNvSpPr/>
          <p:nvPr/>
        </p:nvSpPr>
        <p:spPr>
          <a:xfrm>
            <a:off x="9130284" y="2853100"/>
            <a:ext cx="12802" cy="102929"/>
          </a:xfrm>
          <a:prstGeom prst="rect">
            <a:avLst/>
          </a:prstGeom>
          <a:solidFill>
            <a:srgbClr val="12A566"/>
          </a:solidFill>
          <a:ln/>
        </p:spPr>
      </p:sp>
      <p:sp>
        <p:nvSpPr>
          <p:cNvPr id="121" name="Text 119"/>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+$31K</a:t>
            </a:r>
            <a:endParaRPr lang="en-US" sz="1200" dirty="0"/>
          </a:p>
        </p:txBody>
      </p:sp>
      <p:sp>
        <p:nvSpPr>
          <p:cNvPr id="122" name="Text 120"/>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a:t>
            </a:r>
            <a:endParaRPr lang="en-US" sz="1200" dirty="0"/>
          </a:p>
        </p:txBody>
      </p:sp>
      <p:sp>
        <p:nvSpPr>
          <p:cNvPr id="123" name="Text 121"/>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4" name="Text 122"/>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25" name="Shape 123"/>
          <p:cNvSpPr/>
          <p:nvPr/>
        </p:nvSpPr>
        <p:spPr>
          <a:xfrm>
            <a:off x="9130284" y="3076859"/>
            <a:ext cx="12802" cy="102929"/>
          </a:xfrm>
          <a:prstGeom prst="rect">
            <a:avLst/>
          </a:prstGeom>
          <a:solidFill>
            <a:srgbClr val="12A566"/>
          </a:solidFill>
          <a:ln/>
        </p:spPr>
      </p:sp>
      <p:sp>
        <p:nvSpPr>
          <p:cNvPr id="126" name="Text 124"/>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+$20K</a:t>
            </a:r>
            <a:endParaRPr lang="en-US" sz="1200" dirty="0"/>
          </a:p>
        </p:txBody>
      </p:sp>
      <p:sp>
        <p:nvSpPr>
          <p:cNvPr id="127" name="Text 125"/>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+0.7%</a:t>
            </a:r>
            <a:endParaRPr lang="en-US" sz="1200" dirty="0"/>
          </a:p>
        </p:txBody>
      </p:sp>
      <p:sp>
        <p:nvSpPr>
          <p:cNvPr id="128" name="Text 126"/>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9" name="Text 127"/>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0" name="Shape 128"/>
          <p:cNvSpPr/>
          <p:nvPr/>
        </p:nvSpPr>
        <p:spPr>
          <a:xfrm>
            <a:off x="9130284" y="3300618"/>
            <a:ext cx="12802" cy="102929"/>
          </a:xfrm>
          <a:prstGeom prst="rect">
            <a:avLst/>
          </a:prstGeom>
          <a:solidFill>
            <a:srgbClr val="12A566"/>
          </a:solidFill>
          <a:ln/>
        </p:spPr>
      </p:sp>
      <p:sp>
        <p:nvSpPr>
          <p:cNvPr id="131" name="Text 129"/>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+$20K</a:t>
            </a:r>
            <a:endParaRPr lang="en-US" sz="1200" dirty="0"/>
          </a:p>
        </p:txBody>
      </p:sp>
      <p:sp>
        <p:nvSpPr>
          <p:cNvPr id="132" name="Text 130"/>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a:t>
            </a:r>
            <a:endParaRPr lang="en-US" sz="1200" dirty="0"/>
          </a:p>
        </p:txBody>
      </p:sp>
      <p:sp>
        <p:nvSpPr>
          <p:cNvPr id="133" name="Text 131"/>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4" name="Text 132"/>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35" name="Shape 133"/>
          <p:cNvSpPr/>
          <p:nvPr/>
        </p:nvSpPr>
        <p:spPr>
          <a:xfrm>
            <a:off x="9121165" y="3524377"/>
            <a:ext cx="12802" cy="102929"/>
          </a:xfrm>
          <a:prstGeom prst="rect">
            <a:avLst/>
          </a:prstGeom>
          <a:solidFill>
            <a:srgbClr val="C2352F"/>
          </a:solidFill>
          <a:ln/>
        </p:spPr>
      </p:sp>
      <p:sp>
        <p:nvSpPr>
          <p:cNvPr id="136" name="Text 134"/>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−$24K</a:t>
            </a:r>
            <a:endParaRPr lang="en-US" sz="1200" dirty="0"/>
          </a:p>
        </p:txBody>
      </p:sp>
      <p:sp>
        <p:nvSpPr>
          <p:cNvPr id="137" name="Text 135"/>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−0.4%</a:t>
            </a:r>
            <a:endParaRPr lang="en-US" sz="1200" dirty="0"/>
          </a:p>
        </p:txBody>
      </p:sp>
      <p:sp>
        <p:nvSpPr>
          <p:cNvPr id="138" name="Text 136"/>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9" name="Text 137"/>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40" name="Shape 138"/>
          <p:cNvSpPr/>
          <p:nvPr/>
        </p:nvSpPr>
        <p:spPr>
          <a:xfrm>
            <a:off x="9119721" y="3748136"/>
            <a:ext cx="12802" cy="102929"/>
          </a:xfrm>
          <a:prstGeom prst="rect">
            <a:avLst/>
          </a:prstGeom>
          <a:solidFill>
            <a:srgbClr val="C2352F"/>
          </a:solidFill>
          <a:ln/>
        </p:spPr>
      </p:sp>
      <p:sp>
        <p:nvSpPr>
          <p:cNvPr id="141" name="Text 139"/>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−$28K</a:t>
            </a:r>
            <a:endParaRPr lang="en-US" sz="1200" dirty="0"/>
          </a:p>
        </p:txBody>
      </p:sp>
      <p:sp>
        <p:nvSpPr>
          <p:cNvPr id="142" name="Text 140"/>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−2.6%</a:t>
            </a:r>
            <a:endParaRPr lang="en-US" sz="1200" dirty="0"/>
          </a:p>
        </p:txBody>
      </p:sp>
      <p:sp>
        <p:nvSpPr>
          <p:cNvPr id="143" name="Text 141"/>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4" name="Text 142"/>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45" name="Shape 143"/>
          <p:cNvSpPr/>
          <p:nvPr/>
        </p:nvSpPr>
        <p:spPr>
          <a:xfrm>
            <a:off x="9108276" y="3971895"/>
            <a:ext cx="22008" cy="102929"/>
          </a:xfrm>
          <a:prstGeom prst="rect">
            <a:avLst/>
          </a:prstGeom>
          <a:solidFill>
            <a:srgbClr val="C2352F"/>
          </a:solidFill>
          <a:ln/>
        </p:spPr>
      </p:sp>
      <p:sp>
        <p:nvSpPr>
          <p:cNvPr id="146" name="Text 144"/>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−$58K</a:t>
            </a:r>
            <a:endParaRPr lang="en-US" sz="1200" dirty="0"/>
          </a:p>
        </p:txBody>
      </p:sp>
      <p:sp>
        <p:nvSpPr>
          <p:cNvPr id="147" name="Text 145"/>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a:t>
            </a:r>
            <a:endParaRPr lang="en-US" sz="1200" dirty="0"/>
          </a:p>
        </p:txBody>
      </p:sp>
      <p:sp>
        <p:nvSpPr>
          <p:cNvPr id="148" name="Text 146"/>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9" name="Text 147"/>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50" name="Shape 148"/>
          <p:cNvSpPr/>
          <p:nvPr/>
        </p:nvSpPr>
        <p:spPr>
          <a:xfrm>
            <a:off x="9078809" y="4195654"/>
            <a:ext cx="51475" cy="102929"/>
          </a:xfrm>
          <a:prstGeom prst="rect">
            <a:avLst/>
          </a:prstGeom>
          <a:solidFill>
            <a:srgbClr val="C2352F"/>
          </a:solidFill>
          <a:ln/>
        </p:spPr>
      </p:sp>
      <p:sp>
        <p:nvSpPr>
          <p:cNvPr id="151" name="Text 149"/>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−$135K</a:t>
            </a:r>
            <a:endParaRPr lang="en-US" sz="1200" dirty="0"/>
          </a:p>
        </p:txBody>
      </p:sp>
      <p:sp>
        <p:nvSpPr>
          <p:cNvPr id="152" name="Text 150"/>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−18.7%</a:t>
            </a:r>
            <a:endParaRPr lang="en-US" sz="1200" dirty="0"/>
          </a:p>
        </p:txBody>
      </p:sp>
      <p:sp>
        <p:nvSpPr>
          <p:cNvPr id="153" name="Shape 151"/>
          <p:cNvSpPr/>
          <p:nvPr/>
        </p:nvSpPr>
        <p:spPr>
          <a:xfrm>
            <a:off x="10570464" y="4215115"/>
            <a:ext cx="182880" cy="64008"/>
          </a:xfrm>
          <a:prstGeom prst="rect">
            <a:avLst/>
          </a:prstGeom>
          <a:solidFill>
            <a:srgbClr val="C2352F"/>
          </a:solidFill>
          <a:ln/>
        </p:spPr>
      </p:sp>
      <p:sp>
        <p:nvSpPr>
          <p:cNvPr id="154" name="Text 152"/>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5" name="Text 153"/>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56" name="Shape 154"/>
          <p:cNvSpPr/>
          <p:nvPr/>
        </p:nvSpPr>
        <p:spPr>
          <a:xfrm>
            <a:off x="9057123" y="4419414"/>
            <a:ext cx="73161" cy="102929"/>
          </a:xfrm>
          <a:prstGeom prst="rect">
            <a:avLst/>
          </a:prstGeom>
          <a:solidFill>
            <a:srgbClr val="C2352F"/>
          </a:solidFill>
          <a:ln/>
        </p:spPr>
      </p:sp>
      <p:sp>
        <p:nvSpPr>
          <p:cNvPr id="157" name="Text 155"/>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−$192K</a:t>
            </a:r>
            <a:endParaRPr lang="en-US" sz="1200" dirty="0"/>
          </a:p>
        </p:txBody>
      </p:sp>
      <p:sp>
        <p:nvSpPr>
          <p:cNvPr id="158" name="Text 156"/>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−5.9%</a:t>
            </a:r>
            <a:endParaRPr lang="en-US" sz="1200" dirty="0"/>
          </a:p>
        </p:txBody>
      </p:sp>
      <p:sp>
        <p:nvSpPr>
          <p:cNvPr id="159" name="Text 157"/>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60" name="Text 158"/>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61" name="Shape 159"/>
          <p:cNvSpPr/>
          <p:nvPr/>
        </p:nvSpPr>
        <p:spPr>
          <a:xfrm>
            <a:off x="9049734" y="4643173"/>
            <a:ext cx="80550" cy="102929"/>
          </a:xfrm>
          <a:prstGeom prst="rect">
            <a:avLst/>
          </a:prstGeom>
          <a:solidFill>
            <a:srgbClr val="C2352F"/>
          </a:solidFill>
          <a:ln/>
        </p:spPr>
      </p:sp>
      <p:sp>
        <p:nvSpPr>
          <p:cNvPr id="162" name="Text 160"/>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−$211K</a:t>
            </a:r>
            <a:endParaRPr lang="en-US" sz="1200" dirty="0"/>
          </a:p>
        </p:txBody>
      </p:sp>
      <p:sp>
        <p:nvSpPr>
          <p:cNvPr id="163" name="Text 161"/>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−3.3%</a:t>
            </a:r>
            <a:endParaRPr lang="en-US" sz="1200" dirty="0"/>
          </a:p>
        </p:txBody>
      </p:sp>
      <p:sp>
        <p:nvSpPr>
          <p:cNvPr id="164" name="Text 162"/>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5" name="Text 163"/>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66" name="Shape 164"/>
          <p:cNvSpPr/>
          <p:nvPr/>
        </p:nvSpPr>
        <p:spPr>
          <a:xfrm>
            <a:off x="8979773" y="4866932"/>
            <a:ext cx="150511" cy="102929"/>
          </a:xfrm>
          <a:prstGeom prst="rect">
            <a:avLst/>
          </a:prstGeom>
          <a:solidFill>
            <a:srgbClr val="C2352F"/>
          </a:solidFill>
          <a:ln/>
        </p:spPr>
      </p:sp>
      <p:sp>
        <p:nvSpPr>
          <p:cNvPr id="167" name="Text 165"/>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−$395K</a:t>
            </a:r>
            <a:endParaRPr lang="en-US" sz="1200" dirty="0"/>
          </a:p>
        </p:txBody>
      </p:sp>
      <p:sp>
        <p:nvSpPr>
          <p:cNvPr id="168" name="Text 166"/>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a:t>
            </a:r>
            <a:endParaRPr lang="en-US" sz="1200" dirty="0"/>
          </a:p>
        </p:txBody>
      </p:sp>
      <p:sp>
        <p:nvSpPr>
          <p:cNvPr id="169" name="Text 167"/>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0" name="Text 168"/>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71" name="Shape 169"/>
          <p:cNvSpPr/>
          <p:nvPr/>
        </p:nvSpPr>
        <p:spPr>
          <a:xfrm>
            <a:off x="8963351" y="5090691"/>
            <a:ext cx="166933" cy="102929"/>
          </a:xfrm>
          <a:prstGeom prst="rect">
            <a:avLst/>
          </a:prstGeom>
          <a:solidFill>
            <a:srgbClr val="C2352F"/>
          </a:solidFill>
          <a:ln/>
        </p:spPr>
      </p:sp>
      <p:sp>
        <p:nvSpPr>
          <p:cNvPr id="172" name="Text 170"/>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−$438K</a:t>
            </a:r>
            <a:endParaRPr lang="en-US" sz="1200" dirty="0"/>
          </a:p>
        </p:txBody>
      </p:sp>
      <p:sp>
        <p:nvSpPr>
          <p:cNvPr id="173" name="Text 171"/>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−18.8%</a:t>
            </a:r>
            <a:endParaRPr lang="en-US" sz="1200" dirty="0"/>
          </a:p>
        </p:txBody>
      </p:sp>
      <p:sp>
        <p:nvSpPr>
          <p:cNvPr id="174" name="Shape 172"/>
          <p:cNvSpPr/>
          <p:nvPr/>
        </p:nvSpPr>
        <p:spPr>
          <a:xfrm>
            <a:off x="10570464" y="5110151"/>
            <a:ext cx="182880" cy="64008"/>
          </a:xfrm>
          <a:prstGeom prst="rect">
            <a:avLst/>
          </a:prstGeom>
          <a:solidFill>
            <a:srgbClr val="C2352F"/>
          </a:solidFill>
          <a:ln/>
        </p:spPr>
      </p:sp>
      <p:sp>
        <p:nvSpPr>
          <p:cNvPr id="175" name="Text 173"/>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6" name="Text 174"/>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77" name="Shape 175"/>
          <p:cNvSpPr/>
          <p:nvPr/>
        </p:nvSpPr>
        <p:spPr>
          <a:xfrm>
            <a:off x="8921692" y="5314450"/>
            <a:ext cx="208592" cy="102929"/>
          </a:xfrm>
          <a:prstGeom prst="rect">
            <a:avLst/>
          </a:prstGeom>
          <a:solidFill>
            <a:srgbClr val="C2352F"/>
          </a:solidFill>
          <a:ln/>
        </p:spPr>
      </p:sp>
      <p:sp>
        <p:nvSpPr>
          <p:cNvPr id="178" name="Text 176"/>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−$547K</a:t>
            </a:r>
            <a:endParaRPr lang="en-US" sz="1200" dirty="0"/>
          </a:p>
        </p:txBody>
      </p:sp>
      <p:sp>
        <p:nvSpPr>
          <p:cNvPr id="179" name="Text 177"/>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−13.5%</a:t>
            </a:r>
            <a:endParaRPr lang="en-US" sz="1200" dirty="0"/>
          </a:p>
        </p:txBody>
      </p:sp>
      <p:sp>
        <p:nvSpPr>
          <p:cNvPr id="180" name="Shape 178"/>
          <p:cNvSpPr/>
          <p:nvPr/>
        </p:nvSpPr>
        <p:spPr>
          <a:xfrm>
            <a:off x="10570464" y="5333910"/>
            <a:ext cx="182880" cy="64008"/>
          </a:xfrm>
          <a:prstGeom prst="rect">
            <a:avLst/>
          </a:prstGeom>
          <a:solidFill>
            <a:srgbClr val="C2352F"/>
          </a:solidFill>
          <a:ln/>
        </p:spPr>
      </p:sp>
      <p:sp>
        <p:nvSpPr>
          <p:cNvPr id="181" name="Text 179"/>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2" name="Text 180"/>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83" name="Shape 181"/>
          <p:cNvSpPr/>
          <p:nvPr/>
        </p:nvSpPr>
        <p:spPr>
          <a:xfrm>
            <a:off x="8865502" y="5538209"/>
            <a:ext cx="264782" cy="102929"/>
          </a:xfrm>
          <a:prstGeom prst="rect">
            <a:avLst/>
          </a:prstGeom>
          <a:solidFill>
            <a:srgbClr val="C2352F"/>
          </a:solidFill>
          <a:ln/>
        </p:spPr>
      </p:sp>
      <p:sp>
        <p:nvSpPr>
          <p:cNvPr id="184" name="Text 182"/>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−$695K</a:t>
            </a:r>
            <a:endParaRPr lang="en-US" sz="1200" dirty="0"/>
          </a:p>
        </p:txBody>
      </p:sp>
      <p:sp>
        <p:nvSpPr>
          <p:cNvPr id="185" name="Text 183"/>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−10.5%</a:t>
            </a:r>
            <a:endParaRPr lang="en-US" sz="1200" dirty="0"/>
          </a:p>
        </p:txBody>
      </p:sp>
      <p:sp>
        <p:nvSpPr>
          <p:cNvPr id="186" name="Shape 184"/>
          <p:cNvSpPr/>
          <p:nvPr/>
        </p:nvSpPr>
        <p:spPr>
          <a:xfrm>
            <a:off x="3574390" y="2121408"/>
            <a:ext cx="10973" cy="3803904"/>
          </a:xfrm>
          <a:prstGeom prst="rect">
            <a:avLst/>
          </a:prstGeom>
          <a:solidFill>
            <a:srgbClr val="9AA3AD"/>
          </a:solidFill>
          <a:ln/>
        </p:spPr>
      </p:sp>
      <p:sp>
        <p:nvSpPr>
          <p:cNvPr id="187" name="Shape 185"/>
          <p:cNvSpPr/>
          <p:nvPr/>
        </p:nvSpPr>
        <p:spPr>
          <a:xfrm>
            <a:off x="9124798" y="2121408"/>
            <a:ext cx="10973" cy="3803904"/>
          </a:xfrm>
          <a:prstGeom prst="rect">
            <a:avLst/>
          </a:prstGeom>
          <a:solidFill>
            <a:srgbClr val="9AA3AD"/>
          </a:solidFill>
          <a:ln/>
        </p:spPr>
      </p:sp>
      <p:sp>
        <p:nvSpPr>
          <p:cNvPr id="188" name="Shape 186"/>
          <p:cNvSpPr/>
          <p:nvPr/>
        </p:nvSpPr>
        <p:spPr>
          <a:xfrm>
            <a:off x="6085332" y="2121408"/>
            <a:ext cx="10973" cy="3803904"/>
          </a:xfrm>
          <a:prstGeom prst="rect">
            <a:avLst/>
          </a:prstGeom>
          <a:solidFill>
            <a:srgbClr val="D9D9D9"/>
          </a:solidFill>
          <a:ln/>
        </p:spPr>
      </p:sp>
      <p:sp>
        <p:nvSpPr>
          <p:cNvPr id="189" name="Shape 187"/>
          <p:cNvSpPr/>
          <p:nvPr/>
        </p:nvSpPr>
        <p:spPr>
          <a:xfrm>
            <a:off x="457200" y="6126480"/>
            <a:ext cx="11274552" cy="615696"/>
          </a:xfrm>
          <a:prstGeom prst="rect">
            <a:avLst/>
          </a:prstGeom>
          <a:solidFill>
            <a:srgbClr val="E6F6EE"/>
          </a:solidFill>
          <a:ln/>
        </p:spPr>
      </p:sp>
      <p:sp>
        <p:nvSpPr>
          <p:cNvPr id="190" name="Text 18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grew. Toyota Henderson added the most at +$1.50M (+10.1%); Honda North fell most at −$695K (−10.5%).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Shape 8"/>
          <p:cNvSpPr/>
          <p:nvPr/>
        </p:nvSpPr>
        <p:spPr>
          <a:xfrm>
            <a:off x="4084320" y="2139696"/>
            <a:ext cx="64008" cy="682142"/>
          </a:xfrm>
          <a:prstGeom prst="rect">
            <a:avLst/>
          </a:prstGeom>
          <a:solidFill>
            <a:srgbClr val="12A566"/>
          </a:solidFill>
          <a:ln/>
        </p:spPr>
      </p:sp>
      <p:sp>
        <p:nvSpPr>
          <p:cNvPr id="11" name="Text 9"/>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$993K</a:t>
            </a:r>
            <a:endParaRPr lang="en-US" sz="1400" dirty="0"/>
          </a:p>
        </p:txBody>
      </p:sp>
      <p:sp>
        <p:nvSpPr>
          <p:cNvPr id="13" name="Text 11"/>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+53.3%</a:t>
            </a:r>
            <a:endParaRPr lang="en-US" sz="1600" dirty="0"/>
          </a:p>
        </p:txBody>
      </p:sp>
      <p:sp>
        <p:nvSpPr>
          <p:cNvPr id="14" name="Text 12"/>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$2.09M</a:t>
            </a:r>
            <a:endParaRPr lang="en-US" sz="1400" dirty="0"/>
          </a:p>
        </p:txBody>
      </p:sp>
      <p:sp>
        <p:nvSpPr>
          <p:cNvPr id="16" name="Text 14"/>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17" name="Shape 15"/>
          <p:cNvSpPr/>
          <p:nvPr/>
        </p:nvSpPr>
        <p:spPr>
          <a:xfrm>
            <a:off x="658368" y="3613709"/>
            <a:ext cx="3489960" cy="755294"/>
          </a:xfrm>
          <a:prstGeom prst="rect">
            <a:avLst/>
          </a:prstGeom>
          <a:solidFill>
            <a:srgbClr val="F7F7F7"/>
          </a:solidFill>
          <a:ln/>
        </p:spPr>
      </p:sp>
      <p:sp>
        <p:nvSpPr>
          <p:cNvPr id="18" name="Text 16"/>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$2.95M</a:t>
            </a:r>
            <a:endParaRPr lang="en-US" sz="1400" dirty="0"/>
          </a:p>
        </p:txBody>
      </p:sp>
      <p:sp>
        <p:nvSpPr>
          <p:cNvPr id="20" name="Text 18"/>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+27.7%</a:t>
            </a:r>
            <a:endParaRPr lang="en-US" sz="1600" dirty="0"/>
          </a:p>
        </p:txBody>
      </p:sp>
      <p:sp>
        <p:nvSpPr>
          <p:cNvPr id="21" name="Text 19"/>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$1.46M</a:t>
            </a:r>
            <a:endParaRPr lang="en-US" sz="1400" dirty="0"/>
          </a:p>
        </p:txBody>
      </p:sp>
      <p:sp>
        <p:nvSpPr>
          <p:cNvPr id="23" name="Text 21"/>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+27.5%</a:t>
            </a:r>
            <a:endParaRPr lang="en-US" sz="1600" dirty="0"/>
          </a:p>
        </p:txBody>
      </p:sp>
      <p:sp>
        <p:nvSpPr>
          <p:cNvPr id="24" name="Shape 22"/>
          <p:cNvSpPr/>
          <p:nvPr/>
        </p:nvSpPr>
        <p:spPr>
          <a:xfrm>
            <a:off x="658368" y="5124298"/>
            <a:ext cx="3489960" cy="755294"/>
          </a:xfrm>
          <a:prstGeom prst="rect">
            <a:avLst/>
          </a:prstGeom>
          <a:solidFill>
            <a:srgbClr val="F7F7F7"/>
          </a:solidFill>
          <a:ln/>
        </p:spPr>
      </p:sp>
      <p:sp>
        <p:nvSpPr>
          <p:cNvPr id="25" name="Text 23"/>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$3.63M</a:t>
            </a:r>
            <a:endParaRPr lang="en-US" sz="1400" dirty="0"/>
          </a:p>
        </p:txBody>
      </p:sp>
      <p:sp>
        <p:nvSpPr>
          <p:cNvPr id="27" name="Text 25"/>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+20.5%</a:t>
            </a:r>
            <a:endParaRPr lang="en-US" sz="1600" dirty="0"/>
          </a:p>
        </p:txBody>
      </p:sp>
      <p:sp>
        <p:nvSpPr>
          <p:cNvPr id="28" name="Shape 26"/>
          <p:cNvSpPr/>
          <p:nvPr/>
        </p:nvSpPr>
        <p:spPr>
          <a:xfrm>
            <a:off x="4349496" y="1371600"/>
            <a:ext cx="3489960" cy="45720"/>
          </a:xfrm>
          <a:prstGeom prst="rect">
            <a:avLst/>
          </a:prstGeom>
          <a:solidFill>
            <a:srgbClr val="C2352F"/>
          </a:solidFill>
          <a:ln/>
        </p:spPr>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1" name="Shape 29"/>
          <p:cNvSpPr/>
          <p:nvPr/>
        </p:nvSpPr>
        <p:spPr>
          <a:xfrm>
            <a:off x="4349496" y="2103120"/>
            <a:ext cx="3489960" cy="755294"/>
          </a:xfrm>
          <a:prstGeom prst="rect">
            <a:avLst/>
          </a:prstGeom>
          <a:solidFill>
            <a:srgbClr val="F7F7F7"/>
          </a:solidFill>
          <a:ln/>
        </p:spPr>
      </p:sp>
      <p:sp>
        <p:nvSpPr>
          <p:cNvPr id="32" name="Text 30"/>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$1.89M</a:t>
            </a:r>
            <a:endParaRPr lang="en-US" sz="1400" dirty="0"/>
          </a:p>
        </p:txBody>
      </p:sp>
      <p:sp>
        <p:nvSpPr>
          <p:cNvPr id="34" name="Text 32"/>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35" name="Text 33"/>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$724K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$588K</a:t>
            </a:r>
            <a:endParaRPr lang="en-US" sz="1400" dirty="0"/>
          </a:p>
        </p:txBody>
      </p:sp>
      <p:sp>
        <p:nvSpPr>
          <p:cNvPr id="37" name="Text 35"/>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−18.7%</a:t>
            </a:r>
            <a:endParaRPr lang="en-US" sz="1600" dirty="0"/>
          </a:p>
        </p:txBody>
      </p:sp>
      <p:sp>
        <p:nvSpPr>
          <p:cNvPr id="38" name="Shape 36"/>
          <p:cNvSpPr/>
          <p:nvPr/>
        </p:nvSpPr>
        <p:spPr>
          <a:xfrm>
            <a:off x="4349496" y="3613709"/>
            <a:ext cx="3489960" cy="755294"/>
          </a:xfrm>
          <a:prstGeom prst="rect">
            <a:avLst/>
          </a:prstGeom>
          <a:solidFill>
            <a:srgbClr val="F7F7F7"/>
          </a:solidFill>
          <a:ln/>
        </p:spPr>
      </p:sp>
      <p:sp>
        <p:nvSpPr>
          <p:cNvPr id="39" name="Text 37"/>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$3.50M</a:t>
            </a:r>
            <a:endParaRPr lang="en-US" sz="1400" dirty="0"/>
          </a:p>
        </p:txBody>
      </p:sp>
      <p:sp>
        <p:nvSpPr>
          <p:cNvPr id="41" name="Text 39"/>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−13.5%</a:t>
            </a:r>
            <a:endParaRPr lang="en-US" sz="1600" dirty="0"/>
          </a:p>
        </p:txBody>
      </p:sp>
      <p:sp>
        <p:nvSpPr>
          <p:cNvPr id="42" name="Text 40"/>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$5.92M</a:t>
            </a:r>
            <a:endParaRPr lang="en-US" sz="1400" dirty="0"/>
          </a:p>
        </p:txBody>
      </p:sp>
      <p:sp>
        <p:nvSpPr>
          <p:cNvPr id="44" name="Text 42"/>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45" name="Shape 43"/>
          <p:cNvSpPr/>
          <p:nvPr/>
        </p:nvSpPr>
        <p:spPr>
          <a:xfrm>
            <a:off x="4349496" y="5124298"/>
            <a:ext cx="3489960" cy="755294"/>
          </a:xfrm>
          <a:prstGeom prst="rect">
            <a:avLst/>
          </a:prstGeom>
          <a:solidFill>
            <a:srgbClr val="F7F7F7"/>
          </a:solidFill>
          <a:ln/>
        </p:spPr>
      </p:sp>
      <p:sp>
        <p:nvSpPr>
          <p:cNvPr id="46" name="Text 44"/>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$3.04M</a:t>
            </a:r>
            <a:endParaRPr lang="en-US" sz="1400" dirty="0"/>
          </a:p>
        </p:txBody>
      </p:sp>
      <p:sp>
        <p:nvSpPr>
          <p:cNvPr id="48" name="Text 46"/>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49" name="Shape 47"/>
          <p:cNvSpPr/>
          <p:nvPr/>
        </p:nvSpPr>
        <p:spPr>
          <a:xfrm>
            <a:off x="8040624" y="1371600"/>
            <a:ext cx="3489960" cy="45720"/>
          </a:xfrm>
          <a:prstGeom prst="rect">
            <a:avLst/>
          </a:prstGeom>
          <a:solidFill>
            <a:srgbClr val="2587C5"/>
          </a:solidFill>
          <a:ln/>
        </p:spPr>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 per month</a:t>
            </a:r>
            <a:endParaRPr lang="en-US" sz="1200" dirty="0"/>
          </a:p>
        </p:txBody>
      </p:sp>
      <p:sp>
        <p:nvSpPr>
          <p:cNvPr id="52" name="Shape 50"/>
          <p:cNvSpPr/>
          <p:nvPr/>
        </p:nvSpPr>
        <p:spPr>
          <a:xfrm>
            <a:off x="8040624" y="2103120"/>
            <a:ext cx="3489960" cy="755294"/>
          </a:xfrm>
          <a:prstGeom prst="rect">
            <a:avLst/>
          </a:prstGeom>
          <a:solidFill>
            <a:srgbClr val="F7F7F7"/>
          </a:solidFill>
          <a:ln/>
        </p:spPr>
      </p:sp>
      <p:sp>
        <p:nvSpPr>
          <p:cNvPr id="53" name="Text 51"/>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$275K</a:t>
            </a:r>
            <a:endParaRPr lang="en-US" sz="1400" dirty="0"/>
          </a:p>
        </p:txBody>
      </p:sp>
      <p:sp>
        <p:nvSpPr>
          <p:cNvPr id="55" name="Text 53"/>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56" name="Text 54"/>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$178K</a:t>
            </a:r>
            <a:endParaRPr lang="en-US" sz="1400" dirty="0"/>
          </a:p>
        </p:txBody>
      </p:sp>
      <p:sp>
        <p:nvSpPr>
          <p:cNvPr id="58" name="Text 56"/>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+34.5%</a:t>
            </a:r>
            <a:endParaRPr lang="en-US" sz="1600" dirty="0"/>
          </a:p>
        </p:txBody>
      </p:sp>
      <p:sp>
        <p:nvSpPr>
          <p:cNvPr id="59" name="Shape 57"/>
          <p:cNvSpPr/>
          <p:nvPr/>
        </p:nvSpPr>
        <p:spPr>
          <a:xfrm>
            <a:off x="8040624" y="3613709"/>
            <a:ext cx="3489960" cy="755294"/>
          </a:xfrm>
          <a:prstGeom prst="rect">
            <a:avLst/>
          </a:prstGeom>
          <a:solidFill>
            <a:srgbClr val="F7F7F7"/>
          </a:solidFill>
          <a:ln/>
        </p:spPr>
      </p:sp>
      <p:sp>
        <p:nvSpPr>
          <p:cNvPr id="60" name="Shape 58"/>
          <p:cNvSpPr/>
          <p:nvPr/>
        </p:nvSpPr>
        <p:spPr>
          <a:xfrm>
            <a:off x="11466576" y="3650285"/>
            <a:ext cx="64008" cy="682142"/>
          </a:xfrm>
          <a:prstGeom prst="rect">
            <a:avLst/>
          </a:prstGeom>
          <a:solidFill>
            <a:srgbClr val="12A566"/>
          </a:solidFill>
          <a:ln/>
        </p:spPr>
      </p:sp>
      <p:sp>
        <p:nvSpPr>
          <p:cNvPr id="61" name="Text 59"/>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2" name="Text 60"/>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$128K</a:t>
            </a:r>
            <a:endParaRPr lang="en-US" sz="1400" dirty="0"/>
          </a:p>
        </p:txBody>
      </p:sp>
      <p:sp>
        <p:nvSpPr>
          <p:cNvPr id="63" name="Text 61"/>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+34.2%</a:t>
            </a:r>
            <a:endParaRPr lang="en-US" sz="1600" dirty="0"/>
          </a:p>
        </p:txBody>
      </p:sp>
      <p:sp>
        <p:nvSpPr>
          <p:cNvPr id="64" name="Text 62"/>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$273K</a:t>
            </a:r>
            <a:endParaRPr lang="en-US" sz="1400" dirty="0"/>
          </a:p>
        </p:txBody>
      </p:sp>
      <p:sp>
        <p:nvSpPr>
          <p:cNvPr id="66" name="Text 64"/>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67" name="Shape 65"/>
          <p:cNvSpPr/>
          <p:nvPr/>
        </p:nvSpPr>
        <p:spPr>
          <a:xfrm>
            <a:off x="8040624" y="5124298"/>
            <a:ext cx="3489960" cy="755294"/>
          </a:xfrm>
          <a:prstGeom prst="rect">
            <a:avLst/>
          </a:prstGeom>
          <a:solidFill>
            <a:srgbClr val="F7F7F7"/>
          </a:solidFill>
          <a:ln/>
        </p:spPr>
      </p:sp>
      <p:sp>
        <p:nvSpPr>
          <p:cNvPr id="68" name="Text 66"/>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$290K</a:t>
            </a:r>
            <a:endParaRPr lang="en-US" sz="1400" dirty="0"/>
          </a:p>
        </p:txBody>
      </p:sp>
      <p:sp>
        <p:nvSpPr>
          <p:cNvPr id="70" name="Text 68"/>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71" name="Shape 69"/>
          <p:cNvSpPr/>
          <p:nvPr/>
        </p:nvSpPr>
        <p:spPr>
          <a:xfrm>
            <a:off x="457200" y="6126480"/>
            <a:ext cx="11274552" cy="615696"/>
          </a:xfrm>
          <a:prstGeom prst="rect">
            <a:avLst/>
          </a:prstGeom>
          <a:solidFill>
            <a:srgbClr val="EDF4FA"/>
          </a:solidFill>
          <a:ln/>
        </p:spPr>
      </p:sp>
      <p:sp>
        <p:nvSpPr>
          <p:cNvPr id="72" name="Text 7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Hyundai Prescott, Lincoln and Lexus what changed. Ask Acura, VW St George and VW Henderson what got in the way. Ask Mazda, Kia St George and Hyundai Prescott what they started this year.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$60.76M</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$61.93M</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+$1.17M</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+1.9%</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gross by month, 2025 against 2026 ($M)</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+$1,171,181 (1.9%) year to date; 6 of nine months ahead of 2025, best July at +$684,859.</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GROSS</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$61.93M</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1860"/>
            <a:ext cx="1828800" cy="110352"/>
          </a:xfrm>
          <a:prstGeom prst="rect">
            <a:avLst/>
          </a:prstGeom>
          <a:solidFill>
            <a:srgbClr val="2587C5"/>
          </a:solidFill>
          <a:ln/>
        </p:spPr>
      </p:sp>
      <p:sp>
        <p:nvSpPr>
          <p:cNvPr id="14" name="Text 12"/>
          <p:cNvSpPr txBox="1"/>
          <p:nvPr/>
        </p:nvSpPr>
        <p:spPr>
          <a:xfrm>
            <a:off x="4855464"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$6.21M</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7" name="Shape 15"/>
          <p:cNvSpPr/>
          <p:nvPr/>
        </p:nvSpPr>
        <p:spPr>
          <a:xfrm>
            <a:off x="2980944" y="2151755"/>
            <a:ext cx="1780953" cy="110352"/>
          </a:xfrm>
          <a:prstGeom prst="rect">
            <a:avLst/>
          </a:prstGeom>
          <a:solidFill>
            <a:srgbClr val="2587C5"/>
          </a:solidFill>
          <a:ln/>
        </p:spPr>
      </p:sp>
      <p:sp>
        <p:nvSpPr>
          <p:cNvPr id="18" name="Text 16"/>
          <p:cNvSpPr txBox="1"/>
          <p:nvPr/>
        </p:nvSpPr>
        <p:spPr>
          <a:xfrm>
            <a:off x="4855464"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$6.05M</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1" name="Shape 19"/>
          <p:cNvSpPr/>
          <p:nvPr/>
        </p:nvSpPr>
        <p:spPr>
          <a:xfrm>
            <a:off x="2980944" y="2391651"/>
            <a:ext cx="1139299" cy="110352"/>
          </a:xfrm>
          <a:prstGeom prst="rect">
            <a:avLst/>
          </a:prstGeom>
          <a:solidFill>
            <a:srgbClr val="2587C5"/>
          </a:solidFill>
          <a:ln/>
        </p:spPr>
      </p:sp>
      <p:sp>
        <p:nvSpPr>
          <p:cNvPr id="22" name="Text 20"/>
          <p:cNvSpPr txBox="1"/>
          <p:nvPr/>
        </p:nvSpPr>
        <p:spPr>
          <a:xfrm>
            <a:off x="4855464"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$3.87M</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25" name="Shape 23"/>
          <p:cNvSpPr/>
          <p:nvPr/>
        </p:nvSpPr>
        <p:spPr>
          <a:xfrm>
            <a:off x="2980944" y="2631546"/>
            <a:ext cx="1126417" cy="110352"/>
          </a:xfrm>
          <a:prstGeom prst="rect">
            <a:avLst/>
          </a:prstGeom>
          <a:solidFill>
            <a:srgbClr val="2587C5"/>
          </a:solidFill>
          <a:ln/>
        </p:spPr>
      </p:sp>
      <p:sp>
        <p:nvSpPr>
          <p:cNvPr id="26" name="Text 24"/>
          <p:cNvSpPr txBox="1"/>
          <p:nvPr/>
        </p:nvSpPr>
        <p:spPr>
          <a:xfrm>
            <a:off x="4855464"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$3.83M</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9" name="Shape 27"/>
          <p:cNvSpPr/>
          <p:nvPr/>
        </p:nvSpPr>
        <p:spPr>
          <a:xfrm>
            <a:off x="2980944" y="2871442"/>
            <a:ext cx="1042309" cy="110352"/>
          </a:xfrm>
          <a:prstGeom prst="rect">
            <a:avLst/>
          </a:prstGeom>
          <a:solidFill>
            <a:srgbClr val="2587C5"/>
          </a:solidFill>
          <a:ln/>
        </p:spPr>
      </p:sp>
      <p:sp>
        <p:nvSpPr>
          <p:cNvPr id="30" name="Text 28"/>
          <p:cNvSpPr txBox="1"/>
          <p:nvPr/>
        </p:nvSpPr>
        <p:spPr>
          <a:xfrm>
            <a:off x="4855464"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$3.54M</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3" name="Shape 31"/>
          <p:cNvSpPr/>
          <p:nvPr/>
        </p:nvSpPr>
        <p:spPr>
          <a:xfrm>
            <a:off x="2980944" y="3111337"/>
            <a:ext cx="915024" cy="110352"/>
          </a:xfrm>
          <a:prstGeom prst="rect">
            <a:avLst/>
          </a:prstGeom>
          <a:solidFill>
            <a:srgbClr val="2587C5"/>
          </a:solidFill>
          <a:ln/>
        </p:spPr>
      </p:sp>
      <p:sp>
        <p:nvSpPr>
          <p:cNvPr id="34" name="Text 32"/>
          <p:cNvSpPr txBox="1"/>
          <p:nvPr/>
        </p:nvSpPr>
        <p:spPr>
          <a:xfrm>
            <a:off x="4855464"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$3.11M</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37" name="Shape 35"/>
          <p:cNvSpPr/>
          <p:nvPr/>
        </p:nvSpPr>
        <p:spPr>
          <a:xfrm>
            <a:off x="2980944" y="3351233"/>
            <a:ext cx="794248" cy="110352"/>
          </a:xfrm>
          <a:prstGeom prst="rect">
            <a:avLst/>
          </a:prstGeom>
          <a:solidFill>
            <a:srgbClr val="2587C5"/>
          </a:solidFill>
          <a:ln/>
        </p:spPr>
      </p:sp>
      <p:sp>
        <p:nvSpPr>
          <p:cNvPr id="38" name="Text 36"/>
          <p:cNvSpPr txBox="1"/>
          <p:nvPr/>
        </p:nvSpPr>
        <p:spPr>
          <a:xfrm>
            <a:off x="4855464"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$2.70M</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41" name="Shape 39"/>
          <p:cNvSpPr/>
          <p:nvPr/>
        </p:nvSpPr>
        <p:spPr>
          <a:xfrm>
            <a:off x="2980944" y="3591128"/>
            <a:ext cx="743466" cy="110352"/>
          </a:xfrm>
          <a:prstGeom prst="rect">
            <a:avLst/>
          </a:prstGeom>
          <a:solidFill>
            <a:srgbClr val="2587C5"/>
          </a:solidFill>
          <a:ln/>
        </p:spPr>
      </p:sp>
      <p:sp>
        <p:nvSpPr>
          <p:cNvPr id="42" name="Text 40"/>
          <p:cNvSpPr txBox="1"/>
          <p:nvPr/>
        </p:nvSpPr>
        <p:spPr>
          <a:xfrm>
            <a:off x="4855464"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$2.52M</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45" name="Shape 43"/>
          <p:cNvSpPr/>
          <p:nvPr/>
        </p:nvSpPr>
        <p:spPr>
          <a:xfrm>
            <a:off x="2980944" y="3831024"/>
            <a:ext cx="662635" cy="110352"/>
          </a:xfrm>
          <a:prstGeom prst="rect">
            <a:avLst/>
          </a:prstGeom>
          <a:solidFill>
            <a:srgbClr val="2587C5"/>
          </a:solidFill>
          <a:ln/>
        </p:spPr>
      </p:sp>
      <p:sp>
        <p:nvSpPr>
          <p:cNvPr id="46" name="Text 44"/>
          <p:cNvSpPr txBox="1"/>
          <p:nvPr/>
        </p:nvSpPr>
        <p:spPr>
          <a:xfrm>
            <a:off x="4855464"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$2.25M</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9" name="Shape 47"/>
          <p:cNvSpPr/>
          <p:nvPr/>
        </p:nvSpPr>
        <p:spPr>
          <a:xfrm>
            <a:off x="2980944" y="4070920"/>
            <a:ext cx="618790" cy="110352"/>
          </a:xfrm>
          <a:prstGeom prst="rect">
            <a:avLst/>
          </a:prstGeom>
          <a:solidFill>
            <a:srgbClr val="2587C5"/>
          </a:solidFill>
          <a:ln/>
        </p:spPr>
      </p:sp>
      <p:sp>
        <p:nvSpPr>
          <p:cNvPr id="50" name="Text 48"/>
          <p:cNvSpPr txBox="1"/>
          <p:nvPr/>
        </p:nvSpPr>
        <p:spPr>
          <a:xfrm>
            <a:off x="4855464"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$2.10M</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53" name="Shape 51"/>
          <p:cNvSpPr/>
          <p:nvPr/>
        </p:nvSpPr>
        <p:spPr>
          <a:xfrm>
            <a:off x="2980944" y="4310815"/>
            <a:ext cx="469006" cy="110352"/>
          </a:xfrm>
          <a:prstGeom prst="rect">
            <a:avLst/>
          </a:prstGeom>
          <a:solidFill>
            <a:srgbClr val="2587C5"/>
          </a:solidFill>
          <a:ln/>
        </p:spPr>
      </p:sp>
      <p:sp>
        <p:nvSpPr>
          <p:cNvPr id="54" name="Text 52"/>
          <p:cNvSpPr txBox="1"/>
          <p:nvPr/>
        </p:nvSpPr>
        <p:spPr>
          <a:xfrm>
            <a:off x="4855464"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$1.59M</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57" name="Shape 55"/>
          <p:cNvSpPr/>
          <p:nvPr/>
        </p:nvSpPr>
        <p:spPr>
          <a:xfrm>
            <a:off x="2980944" y="4550711"/>
            <a:ext cx="439517" cy="110352"/>
          </a:xfrm>
          <a:prstGeom prst="rect">
            <a:avLst/>
          </a:prstGeom>
          <a:solidFill>
            <a:srgbClr val="2587C5"/>
          </a:solidFill>
          <a:ln/>
        </p:spPr>
      </p:sp>
      <p:sp>
        <p:nvSpPr>
          <p:cNvPr id="58" name="Text 56"/>
          <p:cNvSpPr txBox="1"/>
          <p:nvPr/>
        </p:nvSpPr>
        <p:spPr>
          <a:xfrm>
            <a:off x="4855464"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$1.49M</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1" name="Shape 59"/>
          <p:cNvSpPr/>
          <p:nvPr/>
        </p:nvSpPr>
        <p:spPr>
          <a:xfrm>
            <a:off x="2980944" y="4790606"/>
            <a:ext cx="434974" cy="110352"/>
          </a:xfrm>
          <a:prstGeom prst="rect">
            <a:avLst/>
          </a:prstGeom>
          <a:solidFill>
            <a:srgbClr val="2587C5"/>
          </a:solidFill>
          <a:ln/>
        </p:spPr>
      </p:sp>
      <p:sp>
        <p:nvSpPr>
          <p:cNvPr id="62" name="Text 60"/>
          <p:cNvSpPr txBox="1"/>
          <p:nvPr/>
        </p:nvSpPr>
        <p:spPr>
          <a:xfrm>
            <a:off x="4855464"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$1.48M</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5" name="Shape 63"/>
          <p:cNvSpPr/>
          <p:nvPr/>
        </p:nvSpPr>
        <p:spPr>
          <a:xfrm>
            <a:off x="2980944" y="5030502"/>
            <a:ext cx="426399" cy="110352"/>
          </a:xfrm>
          <a:prstGeom prst="rect">
            <a:avLst/>
          </a:prstGeom>
          <a:solidFill>
            <a:srgbClr val="2587C5"/>
          </a:solidFill>
          <a:ln/>
        </p:spPr>
      </p:sp>
      <p:sp>
        <p:nvSpPr>
          <p:cNvPr id="66" name="Text 64"/>
          <p:cNvSpPr txBox="1"/>
          <p:nvPr/>
        </p:nvSpPr>
        <p:spPr>
          <a:xfrm>
            <a:off x="4855464"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$1.45M</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69" name="Shape 67"/>
          <p:cNvSpPr/>
          <p:nvPr/>
        </p:nvSpPr>
        <p:spPr>
          <a:xfrm>
            <a:off x="2980944" y="5270397"/>
            <a:ext cx="418024" cy="110352"/>
          </a:xfrm>
          <a:prstGeom prst="rect">
            <a:avLst/>
          </a:prstGeom>
          <a:solidFill>
            <a:srgbClr val="2587C5"/>
          </a:solidFill>
          <a:ln/>
        </p:spPr>
      </p:sp>
      <p:sp>
        <p:nvSpPr>
          <p:cNvPr id="70" name="Text 68"/>
          <p:cNvSpPr txBox="1"/>
          <p:nvPr/>
        </p:nvSpPr>
        <p:spPr>
          <a:xfrm>
            <a:off x="4855464"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$1.42M</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3" name="Shape 71"/>
          <p:cNvSpPr/>
          <p:nvPr/>
        </p:nvSpPr>
        <p:spPr>
          <a:xfrm>
            <a:off x="2980944" y="5510293"/>
            <a:ext cx="410579" cy="110352"/>
          </a:xfrm>
          <a:prstGeom prst="rect">
            <a:avLst/>
          </a:prstGeom>
          <a:solidFill>
            <a:srgbClr val="2587C5"/>
          </a:solidFill>
          <a:ln/>
        </p:spPr>
      </p:sp>
      <p:sp>
        <p:nvSpPr>
          <p:cNvPr id="74" name="Text 72"/>
          <p:cNvSpPr txBox="1"/>
          <p:nvPr/>
        </p:nvSpPr>
        <p:spPr>
          <a:xfrm>
            <a:off x="4855464"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$1.39M</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77" name="Shape 75"/>
          <p:cNvSpPr/>
          <p:nvPr/>
        </p:nvSpPr>
        <p:spPr>
          <a:xfrm>
            <a:off x="2980944" y="5750188"/>
            <a:ext cx="386930" cy="110352"/>
          </a:xfrm>
          <a:prstGeom prst="rect">
            <a:avLst/>
          </a:prstGeom>
          <a:solidFill>
            <a:srgbClr val="2587C5"/>
          </a:solidFill>
          <a:ln/>
        </p:spPr>
      </p:sp>
      <p:sp>
        <p:nvSpPr>
          <p:cNvPr id="78" name="Text 76"/>
          <p:cNvSpPr txBox="1"/>
          <p:nvPr/>
        </p:nvSpPr>
        <p:spPr>
          <a:xfrm>
            <a:off x="4855464" y="568541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$1.31M</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1" name="Shape 79"/>
          <p:cNvSpPr/>
          <p:nvPr/>
        </p:nvSpPr>
        <p:spPr>
          <a:xfrm>
            <a:off x="8531352" y="1911860"/>
            <a:ext cx="385510" cy="110352"/>
          </a:xfrm>
          <a:prstGeom prst="rect">
            <a:avLst/>
          </a:prstGeom>
          <a:solidFill>
            <a:srgbClr val="2587C5"/>
          </a:solidFill>
          <a:ln/>
        </p:spPr>
      </p:sp>
      <p:sp>
        <p:nvSpPr>
          <p:cNvPr id="82" name="Text 80"/>
          <p:cNvSpPr txBox="1"/>
          <p:nvPr/>
        </p:nvSpPr>
        <p:spPr>
          <a:xfrm>
            <a:off x="10405872"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$1.31M</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85" name="Shape 83"/>
          <p:cNvSpPr/>
          <p:nvPr/>
        </p:nvSpPr>
        <p:spPr>
          <a:xfrm>
            <a:off x="8531352" y="2151755"/>
            <a:ext cx="379226" cy="110352"/>
          </a:xfrm>
          <a:prstGeom prst="rect">
            <a:avLst/>
          </a:prstGeom>
          <a:solidFill>
            <a:srgbClr val="2587C5"/>
          </a:solidFill>
          <a:ln/>
        </p:spPr>
      </p:sp>
      <p:sp>
        <p:nvSpPr>
          <p:cNvPr id="86" name="Text 84"/>
          <p:cNvSpPr txBox="1"/>
          <p:nvPr/>
        </p:nvSpPr>
        <p:spPr>
          <a:xfrm>
            <a:off x="10405872"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$1.29M</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89" name="Shape 87"/>
          <p:cNvSpPr/>
          <p:nvPr/>
        </p:nvSpPr>
        <p:spPr>
          <a:xfrm>
            <a:off x="8531352" y="2391651"/>
            <a:ext cx="375575" cy="110352"/>
          </a:xfrm>
          <a:prstGeom prst="rect">
            <a:avLst/>
          </a:prstGeom>
          <a:solidFill>
            <a:srgbClr val="2587C5"/>
          </a:solidFill>
          <a:ln/>
        </p:spPr>
      </p:sp>
      <p:sp>
        <p:nvSpPr>
          <p:cNvPr id="90" name="Text 88"/>
          <p:cNvSpPr txBox="1"/>
          <p:nvPr/>
        </p:nvSpPr>
        <p:spPr>
          <a:xfrm>
            <a:off x="10405872"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$1.28M</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93" name="Shape 91"/>
          <p:cNvSpPr/>
          <p:nvPr/>
        </p:nvSpPr>
        <p:spPr>
          <a:xfrm>
            <a:off x="8531352" y="2631546"/>
            <a:ext cx="370418" cy="110352"/>
          </a:xfrm>
          <a:prstGeom prst="rect">
            <a:avLst/>
          </a:prstGeom>
          <a:solidFill>
            <a:srgbClr val="2587C5"/>
          </a:solidFill>
          <a:ln/>
        </p:spPr>
      </p:sp>
      <p:sp>
        <p:nvSpPr>
          <p:cNvPr id="94" name="Text 92"/>
          <p:cNvSpPr txBox="1"/>
          <p:nvPr/>
        </p:nvSpPr>
        <p:spPr>
          <a:xfrm>
            <a:off x="10405872"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$1.26M</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97" name="Shape 95"/>
          <p:cNvSpPr/>
          <p:nvPr/>
        </p:nvSpPr>
        <p:spPr>
          <a:xfrm>
            <a:off x="8531352" y="2871442"/>
            <a:ext cx="351886" cy="110352"/>
          </a:xfrm>
          <a:prstGeom prst="rect">
            <a:avLst/>
          </a:prstGeom>
          <a:solidFill>
            <a:srgbClr val="2587C5"/>
          </a:solidFill>
          <a:ln/>
        </p:spPr>
      </p:sp>
      <p:sp>
        <p:nvSpPr>
          <p:cNvPr id="98" name="Text 96"/>
          <p:cNvSpPr txBox="1"/>
          <p:nvPr/>
        </p:nvSpPr>
        <p:spPr>
          <a:xfrm>
            <a:off x="10405872"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$1.19M</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01" name="Shape 99"/>
          <p:cNvSpPr/>
          <p:nvPr/>
        </p:nvSpPr>
        <p:spPr>
          <a:xfrm>
            <a:off x="8531352" y="3111337"/>
            <a:ext cx="351305" cy="110352"/>
          </a:xfrm>
          <a:prstGeom prst="rect">
            <a:avLst/>
          </a:prstGeom>
          <a:solidFill>
            <a:srgbClr val="2587C5"/>
          </a:solidFill>
          <a:ln/>
        </p:spPr>
      </p:sp>
      <p:sp>
        <p:nvSpPr>
          <p:cNvPr id="102" name="Text 100"/>
          <p:cNvSpPr txBox="1"/>
          <p:nvPr/>
        </p:nvSpPr>
        <p:spPr>
          <a:xfrm>
            <a:off x="10405872"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$1.19M</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05" name="Shape 103"/>
          <p:cNvSpPr/>
          <p:nvPr/>
        </p:nvSpPr>
        <p:spPr>
          <a:xfrm>
            <a:off x="8531352" y="3351233"/>
            <a:ext cx="323594" cy="110352"/>
          </a:xfrm>
          <a:prstGeom prst="rect">
            <a:avLst/>
          </a:prstGeom>
          <a:solidFill>
            <a:srgbClr val="2587C5"/>
          </a:solidFill>
          <a:ln/>
        </p:spPr>
      </p:sp>
      <p:sp>
        <p:nvSpPr>
          <p:cNvPr id="106" name="Text 104"/>
          <p:cNvSpPr txBox="1"/>
          <p:nvPr/>
        </p:nvSpPr>
        <p:spPr>
          <a:xfrm>
            <a:off x="10405872"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$1.10M</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09" name="Shape 107"/>
          <p:cNvSpPr/>
          <p:nvPr/>
        </p:nvSpPr>
        <p:spPr>
          <a:xfrm>
            <a:off x="8531352" y="3591128"/>
            <a:ext cx="321171" cy="110352"/>
          </a:xfrm>
          <a:prstGeom prst="rect">
            <a:avLst/>
          </a:prstGeom>
          <a:solidFill>
            <a:srgbClr val="2587C5"/>
          </a:solidFill>
          <a:ln/>
        </p:spPr>
      </p:sp>
      <p:sp>
        <p:nvSpPr>
          <p:cNvPr id="110" name="Text 108"/>
          <p:cNvSpPr txBox="1"/>
          <p:nvPr/>
        </p:nvSpPr>
        <p:spPr>
          <a:xfrm>
            <a:off x="10405872"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$1.09M</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13" name="Shape 111"/>
          <p:cNvSpPr/>
          <p:nvPr/>
        </p:nvSpPr>
        <p:spPr>
          <a:xfrm>
            <a:off x="8531352" y="3831024"/>
            <a:ext cx="296096" cy="110352"/>
          </a:xfrm>
          <a:prstGeom prst="rect">
            <a:avLst/>
          </a:prstGeom>
          <a:solidFill>
            <a:srgbClr val="2587C5"/>
          </a:solidFill>
          <a:ln/>
        </p:spPr>
      </p:sp>
      <p:sp>
        <p:nvSpPr>
          <p:cNvPr id="114" name="Text 112"/>
          <p:cNvSpPr txBox="1"/>
          <p:nvPr/>
        </p:nvSpPr>
        <p:spPr>
          <a:xfrm>
            <a:off x="10405872"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$1.01M</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17" name="Shape 115"/>
          <p:cNvSpPr/>
          <p:nvPr/>
        </p:nvSpPr>
        <p:spPr>
          <a:xfrm>
            <a:off x="8531352" y="4070920"/>
            <a:ext cx="277217" cy="110352"/>
          </a:xfrm>
          <a:prstGeom prst="rect">
            <a:avLst/>
          </a:prstGeom>
          <a:solidFill>
            <a:srgbClr val="2587C5"/>
          </a:solidFill>
          <a:ln/>
        </p:spPr>
      </p:sp>
      <p:sp>
        <p:nvSpPr>
          <p:cNvPr id="118" name="Text 116"/>
          <p:cNvSpPr txBox="1"/>
          <p:nvPr/>
        </p:nvSpPr>
        <p:spPr>
          <a:xfrm>
            <a:off x="10405872"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$941,382</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1" name="Shape 119"/>
          <p:cNvSpPr/>
          <p:nvPr/>
        </p:nvSpPr>
        <p:spPr>
          <a:xfrm>
            <a:off x="8531352" y="4310815"/>
            <a:ext cx="263987" cy="110352"/>
          </a:xfrm>
          <a:prstGeom prst="rect">
            <a:avLst/>
          </a:prstGeom>
          <a:solidFill>
            <a:srgbClr val="2587C5"/>
          </a:solidFill>
          <a:ln/>
        </p:spPr>
      </p:sp>
      <p:sp>
        <p:nvSpPr>
          <p:cNvPr id="122" name="Text 120"/>
          <p:cNvSpPr txBox="1"/>
          <p:nvPr/>
        </p:nvSpPr>
        <p:spPr>
          <a:xfrm>
            <a:off x="10405872"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$896,457</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5" name="Shape 123"/>
          <p:cNvSpPr/>
          <p:nvPr/>
        </p:nvSpPr>
        <p:spPr>
          <a:xfrm>
            <a:off x="8531352" y="4550711"/>
            <a:ext cx="243434" cy="110352"/>
          </a:xfrm>
          <a:prstGeom prst="rect">
            <a:avLst/>
          </a:prstGeom>
          <a:solidFill>
            <a:srgbClr val="2587C5"/>
          </a:solidFill>
          <a:ln/>
        </p:spPr>
      </p:sp>
      <p:sp>
        <p:nvSpPr>
          <p:cNvPr id="126" name="Text 124"/>
          <p:cNvSpPr txBox="1"/>
          <p:nvPr/>
        </p:nvSpPr>
        <p:spPr>
          <a:xfrm>
            <a:off x="10405872"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$826,662</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9" name="Shape 127"/>
          <p:cNvSpPr/>
          <p:nvPr/>
        </p:nvSpPr>
        <p:spPr>
          <a:xfrm>
            <a:off x="8531352" y="4790606"/>
            <a:ext cx="226608" cy="110352"/>
          </a:xfrm>
          <a:prstGeom prst="rect">
            <a:avLst/>
          </a:prstGeom>
          <a:solidFill>
            <a:srgbClr val="2587C5"/>
          </a:solidFill>
          <a:ln/>
        </p:spPr>
      </p:sp>
      <p:sp>
        <p:nvSpPr>
          <p:cNvPr id="130" name="Text 128"/>
          <p:cNvSpPr txBox="1"/>
          <p:nvPr/>
        </p:nvSpPr>
        <p:spPr>
          <a:xfrm>
            <a:off x="10405872"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$769,524</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3" name="Shape 131"/>
          <p:cNvSpPr/>
          <p:nvPr/>
        </p:nvSpPr>
        <p:spPr>
          <a:xfrm>
            <a:off x="8531352" y="5030502"/>
            <a:ext cx="161334" cy="110352"/>
          </a:xfrm>
          <a:prstGeom prst="rect">
            <a:avLst/>
          </a:prstGeom>
          <a:solidFill>
            <a:srgbClr val="2587C5"/>
          </a:solidFill>
          <a:ln/>
        </p:spPr>
      </p:sp>
      <p:sp>
        <p:nvSpPr>
          <p:cNvPr id="134" name="Text 132"/>
          <p:cNvSpPr txBox="1"/>
          <p:nvPr/>
        </p:nvSpPr>
        <p:spPr>
          <a:xfrm>
            <a:off x="10405872"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$547,864</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7" name="Shape 135"/>
          <p:cNvSpPr/>
          <p:nvPr/>
        </p:nvSpPr>
        <p:spPr>
          <a:xfrm>
            <a:off x="8531352" y="5270397"/>
            <a:ext cx="159817" cy="110352"/>
          </a:xfrm>
          <a:prstGeom prst="rect">
            <a:avLst/>
          </a:prstGeom>
          <a:solidFill>
            <a:srgbClr val="2587C5"/>
          </a:solidFill>
          <a:ln/>
        </p:spPr>
      </p:sp>
      <p:sp>
        <p:nvSpPr>
          <p:cNvPr id="138" name="Text 136"/>
          <p:cNvSpPr txBox="1"/>
          <p:nvPr/>
        </p:nvSpPr>
        <p:spPr>
          <a:xfrm>
            <a:off x="10405872"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$542,712</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531352" y="5510293"/>
            <a:ext cx="111766" cy="110352"/>
          </a:xfrm>
          <a:prstGeom prst="rect">
            <a:avLst/>
          </a:prstGeom>
          <a:solidFill>
            <a:srgbClr val="2587C5"/>
          </a:solidFill>
          <a:ln/>
        </p:spPr>
      </p:sp>
      <p:sp>
        <p:nvSpPr>
          <p:cNvPr id="142" name="Text 140"/>
          <p:cNvSpPr txBox="1"/>
          <p:nvPr/>
        </p:nvSpPr>
        <p:spPr>
          <a:xfrm>
            <a:off x="10405872"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$379,537</a:t>
            </a:r>
            <a:endParaRPr lang="en-US" sz="1200" dirty="0"/>
          </a:p>
        </p:txBody>
      </p:sp>
      <p:sp>
        <p:nvSpPr>
          <p:cNvPr id="143" name="Shape 141"/>
          <p:cNvSpPr/>
          <p:nvPr/>
        </p:nvSpPr>
        <p:spPr>
          <a:xfrm>
            <a:off x="6085332" y="1847088"/>
            <a:ext cx="10973" cy="4078224"/>
          </a:xfrm>
          <a:prstGeom prst="rect">
            <a:avLst/>
          </a:prstGeom>
          <a:solidFill>
            <a:srgbClr val="D9D9D9"/>
          </a:solidFill>
          <a:ln/>
        </p:spPr>
      </p:sp>
      <p:sp>
        <p:nvSpPr>
          <p:cNvPr id="144" name="Shape 142"/>
          <p:cNvSpPr/>
          <p:nvPr/>
        </p:nvSpPr>
        <p:spPr>
          <a:xfrm>
            <a:off x="457200" y="6126480"/>
            <a:ext cx="11274552" cy="371856"/>
          </a:xfrm>
          <a:prstGeom prst="rect">
            <a:avLst/>
          </a:prstGeom>
          <a:solidFill>
            <a:srgbClr val="EDF4FA"/>
          </a:solidFill>
          <a:ln/>
        </p:spPr>
      </p:sp>
      <p:sp>
        <p:nvSpPr>
          <p:cNvPr id="145" name="Text 143"/>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Toyota Henderson is $6.21M of the group's $61.93M; VW St George is smallest at $379,537.</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GROSS</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+$1.17M  ·  +1.9%</a:t>
            </a:r>
            <a:endParaRPr lang="en-US" sz="2000" dirty="0"/>
          </a:p>
        </p:txBody>
      </p:sp>
      <p:sp>
        <p:nvSpPr>
          <p:cNvPr id="11" name="Text 9"/>
          <p:cNvSpPr txBox="1"/>
          <p:nvPr/>
        </p:nvSpPr>
        <p:spPr>
          <a:xfrm>
            <a:off x="4206240"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2" name="Text 10"/>
          <p:cNvSpPr txBox="1"/>
          <p:nvPr/>
        </p:nvSpPr>
        <p:spPr>
          <a:xfrm>
            <a:off x="4983480"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3" name="Text 11"/>
          <p:cNvSpPr txBox="1"/>
          <p:nvPr/>
        </p:nvSpPr>
        <p:spPr>
          <a:xfrm>
            <a:off x="9756648" y="1828800"/>
            <a:ext cx="77724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4" name="Text 12"/>
          <p:cNvSpPr txBox="1"/>
          <p:nvPr/>
        </p:nvSpPr>
        <p:spPr>
          <a:xfrm>
            <a:off x="10533888" y="1828800"/>
            <a:ext cx="868680"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5" name="Text 13"/>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6" name="Text 14"/>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7" name="Shape 15"/>
          <p:cNvSpPr/>
          <p:nvPr/>
        </p:nvSpPr>
        <p:spPr>
          <a:xfrm>
            <a:off x="3579876" y="2181823"/>
            <a:ext cx="571500" cy="102929"/>
          </a:xfrm>
          <a:prstGeom prst="rect">
            <a:avLst/>
          </a:prstGeom>
          <a:solidFill>
            <a:srgbClr val="12A566"/>
          </a:solidFill>
          <a:ln/>
        </p:spPr>
      </p:sp>
      <p:sp>
        <p:nvSpPr>
          <p:cNvPr id="18" name="Text 16"/>
          <p:cNvSpPr txBox="1"/>
          <p:nvPr/>
        </p:nvSpPr>
        <p:spPr>
          <a:xfrm>
            <a:off x="4206240" y="212140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+$688K</a:t>
            </a:r>
            <a:endParaRPr lang="en-US" sz="1200" dirty="0"/>
          </a:p>
        </p:txBody>
      </p:sp>
      <p:sp>
        <p:nvSpPr>
          <p:cNvPr id="19" name="Text 17"/>
          <p:cNvSpPr txBox="1"/>
          <p:nvPr/>
        </p:nvSpPr>
        <p:spPr>
          <a:xfrm>
            <a:off x="4983480" y="212140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+28.4%</a:t>
            </a:r>
            <a:endParaRPr lang="en-US" sz="1200" dirty="0"/>
          </a:p>
        </p:txBody>
      </p:sp>
      <p:sp>
        <p:nvSpPr>
          <p:cNvPr id="20" name="Shape 18"/>
          <p:cNvSpPr/>
          <p:nvPr/>
        </p:nvSpPr>
        <p:spPr>
          <a:xfrm>
            <a:off x="5020056" y="2201284"/>
            <a:ext cx="182880" cy="64008"/>
          </a:xfrm>
          <a:prstGeom prst="rect">
            <a:avLst/>
          </a:prstGeom>
          <a:solidFill>
            <a:srgbClr val="12A566"/>
          </a:solidFill>
          <a:ln/>
        </p:spPr>
      </p:sp>
      <p:sp>
        <p:nvSpPr>
          <p:cNvPr id="21" name="Text 19"/>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2" name="Text 20"/>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3" name="Shape 21"/>
          <p:cNvSpPr/>
          <p:nvPr/>
        </p:nvSpPr>
        <p:spPr>
          <a:xfrm>
            <a:off x="3579876" y="2405582"/>
            <a:ext cx="266553" cy="102929"/>
          </a:xfrm>
          <a:prstGeom prst="rect">
            <a:avLst/>
          </a:prstGeom>
          <a:solidFill>
            <a:srgbClr val="12A566"/>
          </a:solidFill>
          <a:ln/>
        </p:spPr>
      </p:sp>
      <p:sp>
        <p:nvSpPr>
          <p:cNvPr id="24" name="Text 22"/>
          <p:cNvSpPr txBox="1"/>
          <p:nvPr/>
        </p:nvSpPr>
        <p:spPr>
          <a:xfrm>
            <a:off x="4206240" y="234516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+$321K</a:t>
            </a:r>
            <a:endParaRPr lang="en-US" sz="1200" dirty="0"/>
          </a:p>
        </p:txBody>
      </p:sp>
      <p:sp>
        <p:nvSpPr>
          <p:cNvPr id="25" name="Text 23"/>
          <p:cNvSpPr txBox="1"/>
          <p:nvPr/>
        </p:nvSpPr>
        <p:spPr>
          <a:xfrm>
            <a:off x="4983480" y="234516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+9.0%</a:t>
            </a:r>
            <a:endParaRPr lang="en-US" sz="1200" dirty="0"/>
          </a:p>
        </p:txBody>
      </p:sp>
      <p:sp>
        <p:nvSpPr>
          <p:cNvPr id="26" name="Text 24"/>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7" name="Text 25"/>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8" name="Shape 26"/>
          <p:cNvSpPr/>
          <p:nvPr/>
        </p:nvSpPr>
        <p:spPr>
          <a:xfrm>
            <a:off x="3579876" y="2629341"/>
            <a:ext cx="238998" cy="102929"/>
          </a:xfrm>
          <a:prstGeom prst="rect">
            <a:avLst/>
          </a:prstGeom>
          <a:solidFill>
            <a:srgbClr val="12A566"/>
          </a:solidFill>
          <a:ln/>
        </p:spPr>
      </p:sp>
      <p:sp>
        <p:nvSpPr>
          <p:cNvPr id="29" name="Text 27"/>
          <p:cNvSpPr txBox="1"/>
          <p:nvPr/>
        </p:nvSpPr>
        <p:spPr>
          <a:xfrm>
            <a:off x="4206240" y="256892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+$288K</a:t>
            </a:r>
            <a:endParaRPr lang="en-US" sz="1200" dirty="0"/>
          </a:p>
        </p:txBody>
      </p:sp>
      <p:sp>
        <p:nvSpPr>
          <p:cNvPr id="30" name="Text 28"/>
          <p:cNvSpPr txBox="1"/>
          <p:nvPr/>
        </p:nvSpPr>
        <p:spPr>
          <a:xfrm>
            <a:off x="4983480" y="256892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+8.8%</a:t>
            </a:r>
            <a:endParaRPr lang="en-US" sz="1200" dirty="0"/>
          </a:p>
        </p:txBody>
      </p:sp>
      <p:sp>
        <p:nvSpPr>
          <p:cNvPr id="31" name="Text 29"/>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2" name="Text 30"/>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33" name="Shape 31"/>
          <p:cNvSpPr/>
          <p:nvPr/>
        </p:nvSpPr>
        <p:spPr>
          <a:xfrm>
            <a:off x="3579876" y="2853100"/>
            <a:ext cx="227128" cy="102929"/>
          </a:xfrm>
          <a:prstGeom prst="rect">
            <a:avLst/>
          </a:prstGeom>
          <a:solidFill>
            <a:srgbClr val="12A566"/>
          </a:solidFill>
          <a:ln/>
        </p:spPr>
      </p:sp>
      <p:sp>
        <p:nvSpPr>
          <p:cNvPr id="34" name="Text 32"/>
          <p:cNvSpPr txBox="1"/>
          <p:nvPr/>
        </p:nvSpPr>
        <p:spPr>
          <a:xfrm>
            <a:off x="4206240" y="279268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+$273K</a:t>
            </a:r>
            <a:endParaRPr lang="en-US" sz="1200" dirty="0"/>
          </a:p>
        </p:txBody>
      </p:sp>
      <p:sp>
        <p:nvSpPr>
          <p:cNvPr id="35" name="Text 33"/>
          <p:cNvSpPr txBox="1"/>
          <p:nvPr/>
        </p:nvSpPr>
        <p:spPr>
          <a:xfrm>
            <a:off x="4983480" y="279268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+4.6%</a:t>
            </a:r>
            <a:endParaRPr lang="en-US" sz="1200" dirty="0"/>
          </a:p>
        </p:txBody>
      </p:sp>
      <p:sp>
        <p:nvSpPr>
          <p:cNvPr id="36" name="Text 34"/>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8" name="Shape 36"/>
          <p:cNvSpPr/>
          <p:nvPr/>
        </p:nvSpPr>
        <p:spPr>
          <a:xfrm>
            <a:off x="3579876" y="3076859"/>
            <a:ext cx="224863" cy="102929"/>
          </a:xfrm>
          <a:prstGeom prst="rect">
            <a:avLst/>
          </a:prstGeom>
          <a:solidFill>
            <a:srgbClr val="12A566"/>
          </a:solidFill>
          <a:ln/>
        </p:spPr>
      </p:sp>
      <p:sp>
        <p:nvSpPr>
          <p:cNvPr id="39" name="Text 37"/>
          <p:cNvSpPr txBox="1"/>
          <p:nvPr/>
        </p:nvSpPr>
        <p:spPr>
          <a:xfrm>
            <a:off x="4206240" y="301644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+$271K</a:t>
            </a:r>
            <a:endParaRPr lang="en-US" sz="1200" dirty="0"/>
          </a:p>
        </p:txBody>
      </p:sp>
      <p:sp>
        <p:nvSpPr>
          <p:cNvPr id="40" name="Text 38"/>
          <p:cNvSpPr txBox="1"/>
          <p:nvPr/>
        </p:nvSpPr>
        <p:spPr>
          <a:xfrm>
            <a:off x="4983480" y="301644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+26.0%</a:t>
            </a:r>
            <a:endParaRPr lang="en-US" sz="1200" dirty="0"/>
          </a:p>
        </p:txBody>
      </p:sp>
      <p:sp>
        <p:nvSpPr>
          <p:cNvPr id="41" name="Shape 39"/>
          <p:cNvSpPr/>
          <p:nvPr/>
        </p:nvSpPr>
        <p:spPr>
          <a:xfrm>
            <a:off x="5020056" y="3096320"/>
            <a:ext cx="182880" cy="64008"/>
          </a:xfrm>
          <a:prstGeom prst="rect">
            <a:avLst/>
          </a:prstGeom>
          <a:solidFill>
            <a:srgbClr val="12A566"/>
          </a:solidFill>
          <a:ln/>
        </p:spPr>
      </p:sp>
      <p:sp>
        <p:nvSpPr>
          <p:cNvPr id="42" name="Text 40"/>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4" name="Shape 42"/>
          <p:cNvSpPr/>
          <p:nvPr/>
        </p:nvSpPr>
        <p:spPr>
          <a:xfrm>
            <a:off x="3579876" y="3300618"/>
            <a:ext cx="201457" cy="102929"/>
          </a:xfrm>
          <a:prstGeom prst="rect">
            <a:avLst/>
          </a:prstGeom>
          <a:solidFill>
            <a:srgbClr val="12A566"/>
          </a:solidFill>
          <a:ln/>
        </p:spPr>
      </p:sp>
      <p:sp>
        <p:nvSpPr>
          <p:cNvPr id="45" name="Text 43"/>
          <p:cNvSpPr txBox="1"/>
          <p:nvPr/>
        </p:nvSpPr>
        <p:spPr>
          <a:xfrm>
            <a:off x="4206240" y="324020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+$243K</a:t>
            </a:r>
            <a:endParaRPr lang="en-US" sz="1200" dirty="0"/>
          </a:p>
        </p:txBody>
      </p:sp>
      <p:sp>
        <p:nvSpPr>
          <p:cNvPr id="46" name="Text 44"/>
          <p:cNvSpPr txBox="1"/>
          <p:nvPr/>
        </p:nvSpPr>
        <p:spPr>
          <a:xfrm>
            <a:off x="4983480" y="324020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+37.1%</a:t>
            </a:r>
            <a:endParaRPr lang="en-US" sz="1200" dirty="0"/>
          </a:p>
        </p:txBody>
      </p:sp>
      <p:sp>
        <p:nvSpPr>
          <p:cNvPr id="47" name="Shape 45"/>
          <p:cNvSpPr/>
          <p:nvPr/>
        </p:nvSpPr>
        <p:spPr>
          <a:xfrm>
            <a:off x="5020056" y="3320079"/>
            <a:ext cx="182880" cy="64008"/>
          </a:xfrm>
          <a:prstGeom prst="rect">
            <a:avLst/>
          </a:prstGeom>
          <a:solidFill>
            <a:srgbClr val="12A566"/>
          </a:solidFill>
          <a:ln/>
        </p:spPr>
      </p:sp>
      <p:sp>
        <p:nvSpPr>
          <p:cNvPr id="48" name="Text 46"/>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50" name="Shape 48"/>
          <p:cNvSpPr/>
          <p:nvPr/>
        </p:nvSpPr>
        <p:spPr>
          <a:xfrm>
            <a:off x="3579876" y="3524377"/>
            <a:ext cx="175005" cy="102929"/>
          </a:xfrm>
          <a:prstGeom prst="rect">
            <a:avLst/>
          </a:prstGeom>
          <a:solidFill>
            <a:srgbClr val="12A566"/>
          </a:solidFill>
          <a:ln/>
        </p:spPr>
      </p:sp>
      <p:sp>
        <p:nvSpPr>
          <p:cNvPr id="51" name="Text 49"/>
          <p:cNvSpPr txBox="1"/>
          <p:nvPr/>
        </p:nvSpPr>
        <p:spPr>
          <a:xfrm>
            <a:off x="4206240" y="3463962"/>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+$211K</a:t>
            </a:r>
            <a:endParaRPr lang="en-US" sz="1200" dirty="0"/>
          </a:p>
        </p:txBody>
      </p:sp>
      <p:sp>
        <p:nvSpPr>
          <p:cNvPr id="52" name="Text 50"/>
          <p:cNvSpPr txBox="1"/>
          <p:nvPr/>
        </p:nvSpPr>
        <p:spPr>
          <a:xfrm>
            <a:off x="4983480" y="3463962"/>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+15.2%</a:t>
            </a:r>
            <a:endParaRPr lang="en-US" sz="1200" dirty="0"/>
          </a:p>
        </p:txBody>
      </p:sp>
      <p:sp>
        <p:nvSpPr>
          <p:cNvPr id="53" name="Text 51"/>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4" name="Text 52"/>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5" name="Shape 53"/>
          <p:cNvSpPr/>
          <p:nvPr/>
        </p:nvSpPr>
        <p:spPr>
          <a:xfrm>
            <a:off x="3579876" y="3748136"/>
            <a:ext cx="131404" cy="102929"/>
          </a:xfrm>
          <a:prstGeom prst="rect">
            <a:avLst/>
          </a:prstGeom>
          <a:solidFill>
            <a:srgbClr val="12A566"/>
          </a:solidFill>
          <a:ln/>
        </p:spPr>
      </p:sp>
      <p:sp>
        <p:nvSpPr>
          <p:cNvPr id="56" name="Text 54"/>
          <p:cNvSpPr txBox="1"/>
          <p:nvPr/>
        </p:nvSpPr>
        <p:spPr>
          <a:xfrm>
            <a:off x="4206240" y="3687721"/>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+$158K</a:t>
            </a:r>
            <a:endParaRPr lang="en-US" sz="1200" dirty="0"/>
          </a:p>
        </p:txBody>
      </p:sp>
      <p:sp>
        <p:nvSpPr>
          <p:cNvPr id="57" name="Text 55"/>
          <p:cNvSpPr txBox="1"/>
          <p:nvPr/>
        </p:nvSpPr>
        <p:spPr>
          <a:xfrm>
            <a:off x="4983480" y="3687721"/>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+17.0%</a:t>
            </a:r>
            <a:endParaRPr lang="en-US" sz="1200" dirty="0"/>
          </a:p>
        </p:txBody>
      </p:sp>
      <p:sp>
        <p:nvSpPr>
          <p:cNvPr id="58" name="Text 56"/>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9" name="Text 57"/>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60" name="Shape 58"/>
          <p:cNvSpPr/>
          <p:nvPr/>
        </p:nvSpPr>
        <p:spPr>
          <a:xfrm>
            <a:off x="3579876" y="3971895"/>
            <a:ext cx="125702" cy="102929"/>
          </a:xfrm>
          <a:prstGeom prst="rect">
            <a:avLst/>
          </a:prstGeom>
          <a:solidFill>
            <a:srgbClr val="12A566"/>
          </a:solidFill>
          <a:ln/>
        </p:spPr>
      </p:sp>
      <p:sp>
        <p:nvSpPr>
          <p:cNvPr id="61" name="Text 59"/>
          <p:cNvSpPr txBox="1"/>
          <p:nvPr/>
        </p:nvSpPr>
        <p:spPr>
          <a:xfrm>
            <a:off x="4206240" y="391148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+$151K</a:t>
            </a:r>
            <a:endParaRPr lang="en-US" sz="1200" dirty="0"/>
          </a:p>
        </p:txBody>
      </p:sp>
      <p:sp>
        <p:nvSpPr>
          <p:cNvPr id="62" name="Text 60"/>
          <p:cNvSpPr txBox="1"/>
          <p:nvPr/>
        </p:nvSpPr>
        <p:spPr>
          <a:xfrm>
            <a:off x="4983480" y="391148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+16.0%</a:t>
            </a:r>
            <a:endParaRPr lang="en-US" sz="1200" dirty="0"/>
          </a:p>
        </p:txBody>
      </p:sp>
      <p:sp>
        <p:nvSpPr>
          <p:cNvPr id="63" name="Text 61"/>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4" name="Text 62"/>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5" name="Shape 63"/>
          <p:cNvSpPr/>
          <p:nvPr/>
        </p:nvSpPr>
        <p:spPr>
          <a:xfrm>
            <a:off x="3579876" y="4195654"/>
            <a:ext cx="103334" cy="102929"/>
          </a:xfrm>
          <a:prstGeom prst="rect">
            <a:avLst/>
          </a:prstGeom>
          <a:solidFill>
            <a:srgbClr val="12A566"/>
          </a:solidFill>
          <a:ln/>
        </p:spPr>
      </p:sp>
      <p:sp>
        <p:nvSpPr>
          <p:cNvPr id="66" name="Text 64"/>
          <p:cNvSpPr txBox="1"/>
          <p:nvPr/>
        </p:nvSpPr>
        <p:spPr>
          <a:xfrm>
            <a:off x="4206240" y="4135240"/>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+$124K</a:t>
            </a:r>
            <a:endParaRPr lang="en-US" sz="1200" dirty="0"/>
          </a:p>
        </p:txBody>
      </p:sp>
      <p:sp>
        <p:nvSpPr>
          <p:cNvPr id="67" name="Text 65"/>
          <p:cNvSpPr txBox="1"/>
          <p:nvPr/>
        </p:nvSpPr>
        <p:spPr>
          <a:xfrm>
            <a:off x="4983480" y="4135240"/>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+11.6%</a:t>
            </a:r>
            <a:endParaRPr lang="en-US" sz="1200" dirty="0"/>
          </a:p>
        </p:txBody>
      </p:sp>
      <p:sp>
        <p:nvSpPr>
          <p:cNvPr id="68" name="Text 66"/>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9" name="Text 67"/>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0" name="Shape 68"/>
          <p:cNvSpPr/>
          <p:nvPr/>
        </p:nvSpPr>
        <p:spPr>
          <a:xfrm>
            <a:off x="3579876" y="4419414"/>
            <a:ext cx="73474" cy="102929"/>
          </a:xfrm>
          <a:prstGeom prst="rect">
            <a:avLst/>
          </a:prstGeom>
          <a:solidFill>
            <a:srgbClr val="12A566"/>
          </a:solidFill>
          <a:ln/>
        </p:spPr>
      </p:sp>
      <p:sp>
        <p:nvSpPr>
          <p:cNvPr id="71" name="Text 69"/>
          <p:cNvSpPr txBox="1"/>
          <p:nvPr/>
        </p:nvSpPr>
        <p:spPr>
          <a:xfrm>
            <a:off x="4206240" y="4358999"/>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+$88K</a:t>
            </a:r>
            <a:endParaRPr lang="en-US" sz="1200" dirty="0"/>
          </a:p>
        </p:txBody>
      </p:sp>
      <p:sp>
        <p:nvSpPr>
          <p:cNvPr id="72" name="Text 70"/>
          <p:cNvSpPr txBox="1"/>
          <p:nvPr/>
        </p:nvSpPr>
        <p:spPr>
          <a:xfrm>
            <a:off x="4983480" y="4358999"/>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+8.0%</a:t>
            </a:r>
            <a:endParaRPr lang="en-US" sz="1200" dirty="0"/>
          </a:p>
        </p:txBody>
      </p:sp>
      <p:sp>
        <p:nvSpPr>
          <p:cNvPr id="73" name="Text 71"/>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4" name="Text 72"/>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75" name="Shape 73"/>
          <p:cNvSpPr/>
          <p:nvPr/>
        </p:nvSpPr>
        <p:spPr>
          <a:xfrm>
            <a:off x="3579876" y="4643173"/>
            <a:ext cx="49502" cy="102929"/>
          </a:xfrm>
          <a:prstGeom prst="rect">
            <a:avLst/>
          </a:prstGeom>
          <a:solidFill>
            <a:srgbClr val="12A566"/>
          </a:solidFill>
          <a:ln/>
        </p:spPr>
      </p:sp>
      <p:sp>
        <p:nvSpPr>
          <p:cNvPr id="76" name="Text 74"/>
          <p:cNvSpPr txBox="1"/>
          <p:nvPr/>
        </p:nvSpPr>
        <p:spPr>
          <a:xfrm>
            <a:off x="4206240" y="4582758"/>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+$60K</a:t>
            </a:r>
            <a:endParaRPr lang="en-US" sz="1200" dirty="0"/>
          </a:p>
        </p:txBody>
      </p:sp>
      <p:sp>
        <p:nvSpPr>
          <p:cNvPr id="77" name="Text 75"/>
          <p:cNvSpPr txBox="1"/>
          <p:nvPr/>
        </p:nvSpPr>
        <p:spPr>
          <a:xfrm>
            <a:off x="4983480" y="4582758"/>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+12.3%</a:t>
            </a:r>
            <a:endParaRPr lang="en-US" sz="1200" dirty="0"/>
          </a:p>
        </p:txBody>
      </p:sp>
      <p:sp>
        <p:nvSpPr>
          <p:cNvPr id="78" name="Text 76"/>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9" name="Text 77"/>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0" name="Shape 78"/>
          <p:cNvSpPr/>
          <p:nvPr/>
        </p:nvSpPr>
        <p:spPr>
          <a:xfrm>
            <a:off x="3579876" y="4866932"/>
            <a:ext cx="41830" cy="102929"/>
          </a:xfrm>
          <a:prstGeom prst="rect">
            <a:avLst/>
          </a:prstGeom>
          <a:solidFill>
            <a:srgbClr val="12A566"/>
          </a:solidFill>
          <a:ln/>
        </p:spPr>
      </p:sp>
      <p:sp>
        <p:nvSpPr>
          <p:cNvPr id="81" name="Text 79"/>
          <p:cNvSpPr txBox="1"/>
          <p:nvPr/>
        </p:nvSpPr>
        <p:spPr>
          <a:xfrm>
            <a:off x="4206240" y="4806517"/>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+$50K</a:t>
            </a:r>
            <a:endParaRPr lang="en-US" sz="1200" dirty="0"/>
          </a:p>
        </p:txBody>
      </p:sp>
      <p:sp>
        <p:nvSpPr>
          <p:cNvPr id="82" name="Text 80"/>
          <p:cNvSpPr txBox="1"/>
          <p:nvPr/>
        </p:nvSpPr>
        <p:spPr>
          <a:xfrm>
            <a:off x="4983480" y="4806517"/>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a:t>
            </a:r>
            <a:endParaRPr lang="en-US" sz="1200" dirty="0"/>
          </a:p>
        </p:txBody>
      </p:sp>
      <p:sp>
        <p:nvSpPr>
          <p:cNvPr id="83" name="Text 81"/>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84" name="Text 82"/>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85" name="Shape 83"/>
          <p:cNvSpPr/>
          <p:nvPr/>
        </p:nvSpPr>
        <p:spPr>
          <a:xfrm>
            <a:off x="3579876" y="5090691"/>
            <a:ext cx="38877" cy="102929"/>
          </a:xfrm>
          <a:prstGeom prst="rect">
            <a:avLst/>
          </a:prstGeom>
          <a:solidFill>
            <a:srgbClr val="12A566"/>
          </a:solidFill>
          <a:ln/>
        </p:spPr>
      </p:sp>
      <p:sp>
        <p:nvSpPr>
          <p:cNvPr id="86" name="Text 84"/>
          <p:cNvSpPr txBox="1"/>
          <p:nvPr/>
        </p:nvSpPr>
        <p:spPr>
          <a:xfrm>
            <a:off x="4206240" y="5030276"/>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+$47K</a:t>
            </a:r>
            <a:endParaRPr lang="en-US" sz="1200" dirty="0"/>
          </a:p>
        </p:txBody>
      </p:sp>
      <p:sp>
        <p:nvSpPr>
          <p:cNvPr id="87" name="Text 85"/>
          <p:cNvSpPr txBox="1"/>
          <p:nvPr/>
        </p:nvSpPr>
        <p:spPr>
          <a:xfrm>
            <a:off x="4983480" y="5030276"/>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+5.2%</a:t>
            </a:r>
            <a:endParaRPr lang="en-US" sz="1200" dirty="0"/>
          </a:p>
        </p:txBody>
      </p:sp>
      <p:sp>
        <p:nvSpPr>
          <p:cNvPr id="88" name="Text 86"/>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9" name="Text 87"/>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0" name="Shape 88"/>
          <p:cNvSpPr/>
          <p:nvPr/>
        </p:nvSpPr>
        <p:spPr>
          <a:xfrm>
            <a:off x="3579876" y="5314450"/>
            <a:ext cx="27168" cy="102929"/>
          </a:xfrm>
          <a:prstGeom prst="rect">
            <a:avLst/>
          </a:prstGeom>
          <a:solidFill>
            <a:srgbClr val="12A566"/>
          </a:solidFill>
          <a:ln/>
        </p:spPr>
      </p:sp>
      <p:sp>
        <p:nvSpPr>
          <p:cNvPr id="91" name="Text 89"/>
          <p:cNvSpPr txBox="1"/>
          <p:nvPr/>
        </p:nvSpPr>
        <p:spPr>
          <a:xfrm>
            <a:off x="4206240" y="5254035"/>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+$33K</a:t>
            </a:r>
            <a:endParaRPr lang="en-US" sz="1200" dirty="0"/>
          </a:p>
        </p:txBody>
      </p:sp>
      <p:sp>
        <p:nvSpPr>
          <p:cNvPr id="92" name="Text 90"/>
          <p:cNvSpPr txBox="1"/>
          <p:nvPr/>
        </p:nvSpPr>
        <p:spPr>
          <a:xfrm>
            <a:off x="4983480" y="5254035"/>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a:t>
            </a:r>
            <a:endParaRPr lang="en-US" sz="1200" dirty="0"/>
          </a:p>
        </p:txBody>
      </p:sp>
      <p:sp>
        <p:nvSpPr>
          <p:cNvPr id="93" name="Text 91"/>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94" name="Text 92"/>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95" name="Shape 93"/>
          <p:cNvSpPr/>
          <p:nvPr/>
        </p:nvSpPr>
        <p:spPr>
          <a:xfrm>
            <a:off x="3579876" y="5538209"/>
            <a:ext cx="22407" cy="102929"/>
          </a:xfrm>
          <a:prstGeom prst="rect">
            <a:avLst/>
          </a:prstGeom>
          <a:solidFill>
            <a:srgbClr val="12A566"/>
          </a:solidFill>
          <a:ln/>
        </p:spPr>
      </p:sp>
      <p:sp>
        <p:nvSpPr>
          <p:cNvPr id="96" name="Text 94"/>
          <p:cNvSpPr txBox="1"/>
          <p:nvPr/>
        </p:nvSpPr>
        <p:spPr>
          <a:xfrm>
            <a:off x="4206240" y="5477794"/>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+$27K</a:t>
            </a:r>
            <a:endParaRPr lang="en-US" sz="1200" dirty="0"/>
          </a:p>
        </p:txBody>
      </p:sp>
      <p:sp>
        <p:nvSpPr>
          <p:cNvPr id="97" name="Text 95"/>
          <p:cNvSpPr txBox="1"/>
          <p:nvPr/>
        </p:nvSpPr>
        <p:spPr>
          <a:xfrm>
            <a:off x="4983480" y="5477794"/>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a:t>
            </a:r>
            <a:endParaRPr lang="en-US" sz="1200" dirty="0"/>
          </a:p>
        </p:txBody>
      </p:sp>
      <p:sp>
        <p:nvSpPr>
          <p:cNvPr id="98" name="Text 96"/>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9" name="Text 97"/>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0" name="Shape 98"/>
          <p:cNvSpPr/>
          <p:nvPr/>
        </p:nvSpPr>
        <p:spPr>
          <a:xfrm>
            <a:off x="3579876" y="5761968"/>
            <a:ext cx="15551" cy="102929"/>
          </a:xfrm>
          <a:prstGeom prst="rect">
            <a:avLst/>
          </a:prstGeom>
          <a:solidFill>
            <a:srgbClr val="12A566"/>
          </a:solidFill>
          <a:ln/>
        </p:spPr>
      </p:sp>
      <p:sp>
        <p:nvSpPr>
          <p:cNvPr id="101" name="Text 99"/>
          <p:cNvSpPr txBox="1"/>
          <p:nvPr/>
        </p:nvSpPr>
        <p:spPr>
          <a:xfrm>
            <a:off x="4206240" y="5701553"/>
            <a:ext cx="777240" cy="223759"/>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+$19K</a:t>
            </a:r>
            <a:endParaRPr lang="en-US" sz="1200" dirty="0"/>
          </a:p>
        </p:txBody>
      </p:sp>
      <p:sp>
        <p:nvSpPr>
          <p:cNvPr id="102" name="Text 100"/>
          <p:cNvSpPr txBox="1"/>
          <p:nvPr/>
        </p:nvSpPr>
        <p:spPr>
          <a:xfrm>
            <a:off x="4983480" y="5701553"/>
            <a:ext cx="868680"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a:t>
            </a:r>
            <a:endParaRPr lang="en-US" sz="1200" dirty="0"/>
          </a:p>
        </p:txBody>
      </p:sp>
      <p:sp>
        <p:nvSpPr>
          <p:cNvPr id="103" name="Text 101"/>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04" name="Text 102"/>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05" name="Shape 103"/>
          <p:cNvSpPr/>
          <p:nvPr/>
        </p:nvSpPr>
        <p:spPr>
          <a:xfrm>
            <a:off x="9126201" y="2181823"/>
            <a:ext cx="12802" cy="102929"/>
          </a:xfrm>
          <a:prstGeom prst="rect">
            <a:avLst/>
          </a:prstGeom>
          <a:solidFill>
            <a:srgbClr val="C2352F"/>
          </a:solidFill>
          <a:ln/>
        </p:spPr>
      </p:sp>
      <p:sp>
        <p:nvSpPr>
          <p:cNvPr id="106" name="Text 104"/>
          <p:cNvSpPr txBox="1"/>
          <p:nvPr/>
        </p:nvSpPr>
        <p:spPr>
          <a:xfrm>
            <a:off x="9756648" y="212140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−$5K</a:t>
            </a:r>
            <a:endParaRPr lang="en-US" sz="1200" dirty="0"/>
          </a:p>
        </p:txBody>
      </p:sp>
      <p:sp>
        <p:nvSpPr>
          <p:cNvPr id="107" name="Text 105"/>
          <p:cNvSpPr txBox="1"/>
          <p:nvPr/>
        </p:nvSpPr>
        <p:spPr>
          <a:xfrm>
            <a:off x="10533888" y="212140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−0.6%</a:t>
            </a:r>
            <a:endParaRPr lang="en-US" sz="1200" dirty="0"/>
          </a:p>
        </p:txBody>
      </p:sp>
      <p:sp>
        <p:nvSpPr>
          <p:cNvPr id="108" name="Text 106"/>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9" name="Text 107"/>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10" name="Shape 108"/>
          <p:cNvSpPr/>
          <p:nvPr/>
        </p:nvSpPr>
        <p:spPr>
          <a:xfrm>
            <a:off x="9120717" y="2405582"/>
            <a:ext cx="12802" cy="102929"/>
          </a:xfrm>
          <a:prstGeom prst="rect">
            <a:avLst/>
          </a:prstGeom>
          <a:solidFill>
            <a:srgbClr val="C2352F"/>
          </a:solidFill>
          <a:ln/>
        </p:spPr>
      </p:sp>
      <p:sp>
        <p:nvSpPr>
          <p:cNvPr id="111" name="Text 109"/>
          <p:cNvSpPr txBox="1"/>
          <p:nvPr/>
        </p:nvSpPr>
        <p:spPr>
          <a:xfrm>
            <a:off x="9756648" y="234516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−$12K</a:t>
            </a:r>
            <a:endParaRPr lang="en-US" sz="1200" dirty="0"/>
          </a:p>
        </p:txBody>
      </p:sp>
      <p:sp>
        <p:nvSpPr>
          <p:cNvPr id="112" name="Text 110"/>
          <p:cNvSpPr txBox="1"/>
          <p:nvPr/>
        </p:nvSpPr>
        <p:spPr>
          <a:xfrm>
            <a:off x="10533888" y="234516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−0.8%</a:t>
            </a:r>
            <a:endParaRPr lang="en-US" sz="1200" dirty="0"/>
          </a:p>
        </p:txBody>
      </p:sp>
      <p:sp>
        <p:nvSpPr>
          <p:cNvPr id="113" name="Text 111"/>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14" name="Text 112"/>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15" name="Shape 113"/>
          <p:cNvSpPr/>
          <p:nvPr/>
        </p:nvSpPr>
        <p:spPr>
          <a:xfrm>
            <a:off x="9107185" y="2629341"/>
            <a:ext cx="23099" cy="102929"/>
          </a:xfrm>
          <a:prstGeom prst="rect">
            <a:avLst/>
          </a:prstGeom>
          <a:solidFill>
            <a:srgbClr val="C2352F"/>
          </a:solidFill>
          <a:ln/>
        </p:spPr>
      </p:sp>
      <p:sp>
        <p:nvSpPr>
          <p:cNvPr id="116" name="Text 114"/>
          <p:cNvSpPr txBox="1"/>
          <p:nvPr/>
        </p:nvSpPr>
        <p:spPr>
          <a:xfrm>
            <a:off x="9756648" y="256892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−$28K</a:t>
            </a:r>
            <a:endParaRPr lang="en-US" sz="1200" dirty="0"/>
          </a:p>
        </p:txBody>
      </p:sp>
      <p:sp>
        <p:nvSpPr>
          <p:cNvPr id="117" name="Text 115"/>
          <p:cNvSpPr txBox="1"/>
          <p:nvPr/>
        </p:nvSpPr>
        <p:spPr>
          <a:xfrm>
            <a:off x="10533888" y="256892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a:t>
            </a:r>
            <a:endParaRPr lang="en-US" sz="1200" dirty="0"/>
          </a:p>
        </p:txBody>
      </p:sp>
      <p:sp>
        <p:nvSpPr>
          <p:cNvPr id="118" name="Text 116"/>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9" name="Text 117"/>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20" name="Shape 118"/>
          <p:cNvSpPr/>
          <p:nvPr/>
        </p:nvSpPr>
        <p:spPr>
          <a:xfrm>
            <a:off x="9102703" y="2853100"/>
            <a:ext cx="27581" cy="102929"/>
          </a:xfrm>
          <a:prstGeom prst="rect">
            <a:avLst/>
          </a:prstGeom>
          <a:solidFill>
            <a:srgbClr val="C2352F"/>
          </a:solidFill>
          <a:ln/>
        </p:spPr>
      </p:sp>
      <p:sp>
        <p:nvSpPr>
          <p:cNvPr id="121" name="Text 119"/>
          <p:cNvSpPr txBox="1"/>
          <p:nvPr/>
        </p:nvSpPr>
        <p:spPr>
          <a:xfrm>
            <a:off x="9756648" y="279268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−$33K</a:t>
            </a:r>
            <a:endParaRPr lang="en-US" sz="1200" dirty="0"/>
          </a:p>
        </p:txBody>
      </p:sp>
      <p:sp>
        <p:nvSpPr>
          <p:cNvPr id="122" name="Text 120"/>
          <p:cNvSpPr txBox="1"/>
          <p:nvPr/>
        </p:nvSpPr>
        <p:spPr>
          <a:xfrm>
            <a:off x="10533888" y="279268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a:t>
            </a:r>
            <a:endParaRPr lang="en-US" sz="1200" dirty="0"/>
          </a:p>
        </p:txBody>
      </p:sp>
      <p:sp>
        <p:nvSpPr>
          <p:cNvPr id="123" name="Text 121"/>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24" name="Text 122"/>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25" name="Shape 123"/>
          <p:cNvSpPr/>
          <p:nvPr/>
        </p:nvSpPr>
        <p:spPr>
          <a:xfrm>
            <a:off x="9095278" y="3076859"/>
            <a:ext cx="35006" cy="102929"/>
          </a:xfrm>
          <a:prstGeom prst="rect">
            <a:avLst/>
          </a:prstGeom>
          <a:solidFill>
            <a:srgbClr val="C2352F"/>
          </a:solidFill>
          <a:ln/>
        </p:spPr>
      </p:sp>
      <p:sp>
        <p:nvSpPr>
          <p:cNvPr id="126" name="Text 124"/>
          <p:cNvSpPr txBox="1"/>
          <p:nvPr/>
        </p:nvSpPr>
        <p:spPr>
          <a:xfrm>
            <a:off x="9756648" y="301644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−$42K</a:t>
            </a:r>
            <a:endParaRPr lang="en-US" sz="1200" dirty="0"/>
          </a:p>
        </p:txBody>
      </p:sp>
      <p:sp>
        <p:nvSpPr>
          <p:cNvPr id="127" name="Text 125"/>
          <p:cNvSpPr txBox="1"/>
          <p:nvPr/>
        </p:nvSpPr>
        <p:spPr>
          <a:xfrm>
            <a:off x="10533888" y="301644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−0.7%</a:t>
            </a:r>
            <a:endParaRPr lang="en-US" sz="1200" dirty="0"/>
          </a:p>
        </p:txBody>
      </p:sp>
      <p:sp>
        <p:nvSpPr>
          <p:cNvPr id="128" name="Text 126"/>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9" name="Text 127"/>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30" name="Shape 128"/>
          <p:cNvSpPr/>
          <p:nvPr/>
        </p:nvSpPr>
        <p:spPr>
          <a:xfrm>
            <a:off x="9088719" y="3300618"/>
            <a:ext cx="41565" cy="102929"/>
          </a:xfrm>
          <a:prstGeom prst="rect">
            <a:avLst/>
          </a:prstGeom>
          <a:solidFill>
            <a:srgbClr val="C2352F"/>
          </a:solidFill>
          <a:ln/>
        </p:spPr>
      </p:sp>
      <p:sp>
        <p:nvSpPr>
          <p:cNvPr id="131" name="Text 129"/>
          <p:cNvSpPr txBox="1"/>
          <p:nvPr/>
        </p:nvSpPr>
        <p:spPr>
          <a:xfrm>
            <a:off x="9756648" y="3240203"/>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−$50K</a:t>
            </a:r>
            <a:endParaRPr lang="en-US" sz="1200" dirty="0"/>
          </a:p>
        </p:txBody>
      </p:sp>
      <p:sp>
        <p:nvSpPr>
          <p:cNvPr id="132" name="Text 130"/>
          <p:cNvSpPr txBox="1"/>
          <p:nvPr/>
        </p:nvSpPr>
        <p:spPr>
          <a:xfrm>
            <a:off x="10533888" y="3240203"/>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a:t>
            </a:r>
            <a:endParaRPr lang="en-US" sz="1200" dirty="0"/>
          </a:p>
        </p:txBody>
      </p:sp>
      <p:sp>
        <p:nvSpPr>
          <p:cNvPr id="133" name="Text 131"/>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34" name="Text 132"/>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35" name="Shape 133"/>
          <p:cNvSpPr/>
          <p:nvPr/>
        </p:nvSpPr>
        <p:spPr>
          <a:xfrm>
            <a:off x="9082739" y="3524377"/>
            <a:ext cx="47545" cy="102929"/>
          </a:xfrm>
          <a:prstGeom prst="rect">
            <a:avLst/>
          </a:prstGeom>
          <a:solidFill>
            <a:srgbClr val="C2352F"/>
          </a:solidFill>
          <a:ln/>
        </p:spPr>
      </p:sp>
      <p:sp>
        <p:nvSpPr>
          <p:cNvPr id="136" name="Text 134"/>
          <p:cNvSpPr txBox="1"/>
          <p:nvPr/>
        </p:nvSpPr>
        <p:spPr>
          <a:xfrm>
            <a:off x="9756648" y="3463962"/>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−$57K</a:t>
            </a:r>
            <a:endParaRPr lang="en-US" sz="1200" dirty="0"/>
          </a:p>
        </p:txBody>
      </p:sp>
      <p:sp>
        <p:nvSpPr>
          <p:cNvPr id="137" name="Text 135"/>
          <p:cNvSpPr txBox="1"/>
          <p:nvPr/>
        </p:nvSpPr>
        <p:spPr>
          <a:xfrm>
            <a:off x="10533888" y="3463962"/>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a:t>
            </a:r>
            <a:endParaRPr lang="en-US" sz="1200" dirty="0"/>
          </a:p>
        </p:txBody>
      </p:sp>
      <p:sp>
        <p:nvSpPr>
          <p:cNvPr id="138" name="Text 136"/>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9" name="Text 137"/>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40" name="Shape 138"/>
          <p:cNvSpPr/>
          <p:nvPr/>
        </p:nvSpPr>
        <p:spPr>
          <a:xfrm>
            <a:off x="9079991" y="3748136"/>
            <a:ext cx="50293" cy="102929"/>
          </a:xfrm>
          <a:prstGeom prst="rect">
            <a:avLst/>
          </a:prstGeom>
          <a:solidFill>
            <a:srgbClr val="C2352F"/>
          </a:solidFill>
          <a:ln/>
        </p:spPr>
      </p:sp>
      <p:sp>
        <p:nvSpPr>
          <p:cNvPr id="141" name="Text 139"/>
          <p:cNvSpPr txBox="1"/>
          <p:nvPr/>
        </p:nvSpPr>
        <p:spPr>
          <a:xfrm>
            <a:off x="9756648" y="3687721"/>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−$61K</a:t>
            </a:r>
            <a:endParaRPr lang="en-US" sz="1200" dirty="0"/>
          </a:p>
        </p:txBody>
      </p:sp>
      <p:sp>
        <p:nvSpPr>
          <p:cNvPr id="142" name="Text 140"/>
          <p:cNvSpPr txBox="1"/>
          <p:nvPr/>
        </p:nvSpPr>
        <p:spPr>
          <a:xfrm>
            <a:off x="10533888" y="3687721"/>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a:t>
            </a:r>
            <a:endParaRPr lang="en-US" sz="1200" dirty="0"/>
          </a:p>
        </p:txBody>
      </p:sp>
      <p:sp>
        <p:nvSpPr>
          <p:cNvPr id="143" name="Text 141"/>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44" name="Text 142"/>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45" name="Shape 143"/>
          <p:cNvSpPr/>
          <p:nvPr/>
        </p:nvSpPr>
        <p:spPr>
          <a:xfrm>
            <a:off x="9064780" y="3971895"/>
            <a:ext cx="65504" cy="102929"/>
          </a:xfrm>
          <a:prstGeom prst="rect">
            <a:avLst/>
          </a:prstGeom>
          <a:solidFill>
            <a:srgbClr val="C2352F"/>
          </a:solidFill>
          <a:ln/>
        </p:spPr>
      </p:sp>
      <p:sp>
        <p:nvSpPr>
          <p:cNvPr id="146" name="Text 144"/>
          <p:cNvSpPr txBox="1"/>
          <p:nvPr/>
        </p:nvSpPr>
        <p:spPr>
          <a:xfrm>
            <a:off x="9756648" y="391148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−$79K</a:t>
            </a:r>
            <a:endParaRPr lang="en-US" sz="1200" dirty="0"/>
          </a:p>
        </p:txBody>
      </p:sp>
      <p:sp>
        <p:nvSpPr>
          <p:cNvPr id="147" name="Text 145"/>
          <p:cNvSpPr txBox="1"/>
          <p:nvPr/>
        </p:nvSpPr>
        <p:spPr>
          <a:xfrm>
            <a:off x="10533888" y="391148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a:t>
            </a:r>
            <a:endParaRPr lang="en-US" sz="1200" dirty="0"/>
          </a:p>
        </p:txBody>
      </p:sp>
      <p:sp>
        <p:nvSpPr>
          <p:cNvPr id="148" name="Text 146"/>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9" name="Text 147"/>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50" name="Shape 148"/>
          <p:cNvSpPr/>
          <p:nvPr/>
        </p:nvSpPr>
        <p:spPr>
          <a:xfrm>
            <a:off x="9009622" y="4195654"/>
            <a:ext cx="120662" cy="102929"/>
          </a:xfrm>
          <a:prstGeom prst="rect">
            <a:avLst/>
          </a:prstGeom>
          <a:solidFill>
            <a:srgbClr val="C2352F"/>
          </a:solidFill>
          <a:ln/>
        </p:spPr>
      </p:sp>
      <p:sp>
        <p:nvSpPr>
          <p:cNvPr id="151" name="Text 149"/>
          <p:cNvSpPr txBox="1"/>
          <p:nvPr/>
        </p:nvSpPr>
        <p:spPr>
          <a:xfrm>
            <a:off x="9756648" y="4135240"/>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−$145K</a:t>
            </a:r>
            <a:endParaRPr lang="en-US" sz="1200" dirty="0"/>
          </a:p>
        </p:txBody>
      </p:sp>
      <p:sp>
        <p:nvSpPr>
          <p:cNvPr id="152" name="Text 150"/>
          <p:cNvSpPr txBox="1"/>
          <p:nvPr/>
        </p:nvSpPr>
        <p:spPr>
          <a:xfrm>
            <a:off x="10533888" y="4135240"/>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−5.1%</a:t>
            </a:r>
            <a:endParaRPr lang="en-US" sz="1200" dirty="0"/>
          </a:p>
        </p:txBody>
      </p:sp>
      <p:sp>
        <p:nvSpPr>
          <p:cNvPr id="153" name="Text 151"/>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54" name="Text 152"/>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55" name="Shape 153"/>
          <p:cNvSpPr/>
          <p:nvPr/>
        </p:nvSpPr>
        <p:spPr>
          <a:xfrm>
            <a:off x="9009094" y="4419414"/>
            <a:ext cx="121190" cy="102929"/>
          </a:xfrm>
          <a:prstGeom prst="rect">
            <a:avLst/>
          </a:prstGeom>
          <a:solidFill>
            <a:srgbClr val="C2352F"/>
          </a:solidFill>
          <a:ln/>
        </p:spPr>
      </p:sp>
      <p:sp>
        <p:nvSpPr>
          <p:cNvPr id="156" name="Text 154"/>
          <p:cNvSpPr txBox="1"/>
          <p:nvPr/>
        </p:nvSpPr>
        <p:spPr>
          <a:xfrm>
            <a:off x="9756648" y="4358999"/>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−$146K</a:t>
            </a:r>
            <a:endParaRPr lang="en-US" sz="1200" dirty="0"/>
          </a:p>
        </p:txBody>
      </p:sp>
      <p:sp>
        <p:nvSpPr>
          <p:cNvPr id="157" name="Text 155"/>
          <p:cNvSpPr txBox="1"/>
          <p:nvPr/>
        </p:nvSpPr>
        <p:spPr>
          <a:xfrm>
            <a:off x="10533888" y="4358999"/>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−10.4%</a:t>
            </a:r>
            <a:endParaRPr lang="en-US" sz="1200" dirty="0"/>
          </a:p>
        </p:txBody>
      </p:sp>
      <p:sp>
        <p:nvSpPr>
          <p:cNvPr id="158" name="Text 156"/>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9" name="Text 157"/>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60" name="Shape 158"/>
          <p:cNvSpPr/>
          <p:nvPr/>
        </p:nvSpPr>
        <p:spPr>
          <a:xfrm>
            <a:off x="8991431" y="4643173"/>
            <a:ext cx="138853" cy="102929"/>
          </a:xfrm>
          <a:prstGeom prst="rect">
            <a:avLst/>
          </a:prstGeom>
          <a:solidFill>
            <a:srgbClr val="C2352F"/>
          </a:solidFill>
          <a:ln/>
        </p:spPr>
      </p:sp>
      <p:sp>
        <p:nvSpPr>
          <p:cNvPr id="161" name="Text 159"/>
          <p:cNvSpPr txBox="1"/>
          <p:nvPr/>
        </p:nvSpPr>
        <p:spPr>
          <a:xfrm>
            <a:off x="9756648" y="4582758"/>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−$167K</a:t>
            </a:r>
            <a:endParaRPr lang="en-US" sz="1200" dirty="0"/>
          </a:p>
        </p:txBody>
      </p:sp>
      <p:sp>
        <p:nvSpPr>
          <p:cNvPr id="162" name="Text 160"/>
          <p:cNvSpPr txBox="1"/>
          <p:nvPr/>
        </p:nvSpPr>
        <p:spPr>
          <a:xfrm>
            <a:off x="10533888" y="4582758"/>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−7.4%</a:t>
            </a:r>
            <a:endParaRPr lang="en-US" sz="1200" dirty="0"/>
          </a:p>
        </p:txBody>
      </p:sp>
      <p:sp>
        <p:nvSpPr>
          <p:cNvPr id="163" name="Text 161"/>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64" name="Text 162"/>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65" name="Shape 163"/>
          <p:cNvSpPr/>
          <p:nvPr/>
        </p:nvSpPr>
        <p:spPr>
          <a:xfrm>
            <a:off x="8952555" y="4866932"/>
            <a:ext cx="177729" cy="102929"/>
          </a:xfrm>
          <a:prstGeom prst="rect">
            <a:avLst/>
          </a:prstGeom>
          <a:solidFill>
            <a:srgbClr val="C2352F"/>
          </a:solidFill>
          <a:ln/>
        </p:spPr>
      </p:sp>
      <p:sp>
        <p:nvSpPr>
          <p:cNvPr id="166" name="Text 164"/>
          <p:cNvSpPr txBox="1"/>
          <p:nvPr/>
        </p:nvSpPr>
        <p:spPr>
          <a:xfrm>
            <a:off x="9756648" y="4806517"/>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−$214K</a:t>
            </a:r>
            <a:endParaRPr lang="en-US" sz="1200" dirty="0"/>
          </a:p>
        </p:txBody>
      </p:sp>
      <p:sp>
        <p:nvSpPr>
          <p:cNvPr id="167" name="Text 165"/>
          <p:cNvSpPr txBox="1"/>
          <p:nvPr/>
        </p:nvSpPr>
        <p:spPr>
          <a:xfrm>
            <a:off x="10533888" y="4806517"/>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−14.2%</a:t>
            </a:r>
            <a:endParaRPr lang="en-US" sz="1200" dirty="0"/>
          </a:p>
        </p:txBody>
      </p:sp>
      <p:sp>
        <p:nvSpPr>
          <p:cNvPr id="168" name="Shape 166"/>
          <p:cNvSpPr/>
          <p:nvPr/>
        </p:nvSpPr>
        <p:spPr>
          <a:xfrm>
            <a:off x="10570464" y="4886392"/>
            <a:ext cx="182880" cy="64008"/>
          </a:xfrm>
          <a:prstGeom prst="rect">
            <a:avLst/>
          </a:prstGeom>
          <a:solidFill>
            <a:srgbClr val="C2352F"/>
          </a:solidFill>
          <a:ln/>
        </p:spPr>
      </p:sp>
      <p:sp>
        <p:nvSpPr>
          <p:cNvPr id="169" name="Text 167"/>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70" name="Text 168"/>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71" name="Shape 169"/>
          <p:cNvSpPr/>
          <p:nvPr/>
        </p:nvSpPr>
        <p:spPr>
          <a:xfrm>
            <a:off x="8941928" y="5090691"/>
            <a:ext cx="188356" cy="102929"/>
          </a:xfrm>
          <a:prstGeom prst="rect">
            <a:avLst/>
          </a:prstGeom>
          <a:solidFill>
            <a:srgbClr val="C2352F"/>
          </a:solidFill>
          <a:ln/>
        </p:spPr>
      </p:sp>
      <p:sp>
        <p:nvSpPr>
          <p:cNvPr id="172" name="Text 170"/>
          <p:cNvSpPr txBox="1"/>
          <p:nvPr/>
        </p:nvSpPr>
        <p:spPr>
          <a:xfrm>
            <a:off x="9756648" y="5030276"/>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−$227K</a:t>
            </a:r>
            <a:endParaRPr lang="en-US" sz="1200" dirty="0"/>
          </a:p>
        </p:txBody>
      </p:sp>
      <p:sp>
        <p:nvSpPr>
          <p:cNvPr id="173" name="Text 171"/>
          <p:cNvSpPr txBox="1"/>
          <p:nvPr/>
        </p:nvSpPr>
        <p:spPr>
          <a:xfrm>
            <a:off x="10533888" y="5030276"/>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−21.5%</a:t>
            </a:r>
            <a:endParaRPr lang="en-US" sz="1200" dirty="0"/>
          </a:p>
        </p:txBody>
      </p:sp>
      <p:sp>
        <p:nvSpPr>
          <p:cNvPr id="174" name="Shape 172"/>
          <p:cNvSpPr/>
          <p:nvPr/>
        </p:nvSpPr>
        <p:spPr>
          <a:xfrm>
            <a:off x="10570464" y="5110151"/>
            <a:ext cx="182880" cy="64008"/>
          </a:xfrm>
          <a:prstGeom prst="rect">
            <a:avLst/>
          </a:prstGeom>
          <a:solidFill>
            <a:srgbClr val="C2352F"/>
          </a:solidFill>
          <a:ln/>
        </p:spPr>
      </p:sp>
      <p:sp>
        <p:nvSpPr>
          <p:cNvPr id="175" name="Text 173"/>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76" name="Text 174"/>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77" name="Shape 175"/>
          <p:cNvSpPr/>
          <p:nvPr/>
        </p:nvSpPr>
        <p:spPr>
          <a:xfrm>
            <a:off x="8891687" y="5314450"/>
            <a:ext cx="238597" cy="102929"/>
          </a:xfrm>
          <a:prstGeom prst="rect">
            <a:avLst/>
          </a:prstGeom>
          <a:solidFill>
            <a:srgbClr val="C2352F"/>
          </a:solidFill>
          <a:ln/>
        </p:spPr>
      </p:sp>
      <p:sp>
        <p:nvSpPr>
          <p:cNvPr id="178" name="Text 176"/>
          <p:cNvSpPr txBox="1"/>
          <p:nvPr/>
        </p:nvSpPr>
        <p:spPr>
          <a:xfrm>
            <a:off x="9756648" y="5254035"/>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−$287K</a:t>
            </a:r>
            <a:endParaRPr lang="en-US" sz="1200" dirty="0"/>
          </a:p>
        </p:txBody>
      </p:sp>
      <p:sp>
        <p:nvSpPr>
          <p:cNvPr id="179" name="Text 177"/>
          <p:cNvSpPr txBox="1"/>
          <p:nvPr/>
        </p:nvSpPr>
        <p:spPr>
          <a:xfrm>
            <a:off x="10533888" y="5254035"/>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a:t>
            </a:r>
            <a:endParaRPr lang="en-US" sz="1200" dirty="0"/>
          </a:p>
        </p:txBody>
      </p:sp>
      <p:sp>
        <p:nvSpPr>
          <p:cNvPr id="180" name="Text 178"/>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81" name="Text 179"/>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82" name="Shape 180"/>
          <p:cNvSpPr/>
          <p:nvPr/>
        </p:nvSpPr>
        <p:spPr>
          <a:xfrm>
            <a:off x="8857921" y="5538209"/>
            <a:ext cx="272363" cy="102929"/>
          </a:xfrm>
          <a:prstGeom prst="rect">
            <a:avLst/>
          </a:prstGeom>
          <a:solidFill>
            <a:srgbClr val="C2352F"/>
          </a:solidFill>
          <a:ln/>
        </p:spPr>
      </p:sp>
      <p:sp>
        <p:nvSpPr>
          <p:cNvPr id="183" name="Text 181"/>
          <p:cNvSpPr txBox="1"/>
          <p:nvPr/>
        </p:nvSpPr>
        <p:spPr>
          <a:xfrm>
            <a:off x="9756648" y="5477794"/>
            <a:ext cx="777240" cy="223759"/>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−$328K</a:t>
            </a:r>
            <a:endParaRPr lang="en-US" sz="1200" dirty="0"/>
          </a:p>
        </p:txBody>
      </p:sp>
      <p:sp>
        <p:nvSpPr>
          <p:cNvPr id="184" name="Text 182"/>
          <p:cNvSpPr txBox="1"/>
          <p:nvPr/>
        </p:nvSpPr>
        <p:spPr>
          <a:xfrm>
            <a:off x="10533888" y="5477794"/>
            <a:ext cx="868680"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−18.8%</a:t>
            </a:r>
            <a:endParaRPr lang="en-US" sz="1200" dirty="0"/>
          </a:p>
        </p:txBody>
      </p:sp>
      <p:sp>
        <p:nvSpPr>
          <p:cNvPr id="185" name="Shape 183"/>
          <p:cNvSpPr/>
          <p:nvPr/>
        </p:nvSpPr>
        <p:spPr>
          <a:xfrm>
            <a:off x="10570464" y="5557669"/>
            <a:ext cx="182880" cy="64008"/>
          </a:xfrm>
          <a:prstGeom prst="rect">
            <a:avLst/>
          </a:prstGeom>
          <a:solidFill>
            <a:srgbClr val="C2352F"/>
          </a:solidFill>
          <a:ln/>
        </p:spPr>
      </p:sp>
      <p:sp>
        <p:nvSpPr>
          <p:cNvPr id="186" name="Shape 184"/>
          <p:cNvSpPr/>
          <p:nvPr/>
        </p:nvSpPr>
        <p:spPr>
          <a:xfrm>
            <a:off x="3574390" y="2121408"/>
            <a:ext cx="10973" cy="3803904"/>
          </a:xfrm>
          <a:prstGeom prst="rect">
            <a:avLst/>
          </a:prstGeom>
          <a:solidFill>
            <a:srgbClr val="9AA3AD"/>
          </a:solidFill>
          <a:ln/>
        </p:spPr>
      </p:sp>
      <p:sp>
        <p:nvSpPr>
          <p:cNvPr id="187" name="Shape 185"/>
          <p:cNvSpPr/>
          <p:nvPr/>
        </p:nvSpPr>
        <p:spPr>
          <a:xfrm>
            <a:off x="9124798" y="2121408"/>
            <a:ext cx="10973" cy="3803904"/>
          </a:xfrm>
          <a:prstGeom prst="rect">
            <a:avLst/>
          </a:prstGeom>
          <a:solidFill>
            <a:srgbClr val="9AA3AD"/>
          </a:solidFill>
          <a:ln/>
        </p:spPr>
      </p:sp>
      <p:sp>
        <p:nvSpPr>
          <p:cNvPr id="188" name="Shape 186"/>
          <p:cNvSpPr/>
          <p:nvPr/>
        </p:nvSpPr>
        <p:spPr>
          <a:xfrm>
            <a:off x="6085332" y="2121408"/>
            <a:ext cx="10973" cy="3803904"/>
          </a:xfrm>
          <a:prstGeom prst="rect">
            <a:avLst/>
          </a:prstGeom>
          <a:solidFill>
            <a:srgbClr val="D9D9D9"/>
          </a:solidFill>
          <a:ln/>
        </p:spPr>
      </p:sp>
      <p:sp>
        <p:nvSpPr>
          <p:cNvPr id="189" name="Shape 187"/>
          <p:cNvSpPr/>
          <p:nvPr/>
        </p:nvSpPr>
        <p:spPr>
          <a:xfrm>
            <a:off x="457200" y="6126480"/>
            <a:ext cx="11274552" cy="356616"/>
          </a:xfrm>
          <a:prstGeom prst="rect">
            <a:avLst/>
          </a:prstGeom>
          <a:solidFill>
            <a:srgbClr val="E6F6EE"/>
          </a:solidFill>
          <a:ln/>
        </p:spPr>
      </p:sp>
      <p:sp>
        <p:nvSpPr>
          <p:cNvPr id="190" name="Text 188"/>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17 of 33 stores grew. Cadillac added the most at +$688K (+28.4%); Audi Reno fell most at −$328K (−18.8%).</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$896K</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+37.1%</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$3.11M</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+28.4%</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$1.31M</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+26.0%</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$1.09M</a:t>
            </a:r>
            <a:endParaRPr lang="en-US" sz="1400" dirty="0"/>
          </a:p>
        </p:txBody>
      </p:sp>
      <p:sp>
        <p:nvSpPr>
          <p:cNvPr id="22" name="Text 20"/>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$1.10M</a:t>
            </a:r>
            <a:endParaRPr lang="en-US" sz="1400" dirty="0"/>
          </a:p>
        </p:txBody>
      </p:sp>
      <p:sp>
        <p:nvSpPr>
          <p:cNvPr id="26" name="Text 24"/>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$827K</a:t>
            </a:r>
            <a:endParaRPr lang="en-US" sz="1400" dirty="0"/>
          </a:p>
        </p:txBody>
      </p:sp>
      <p:sp>
        <p:nvSpPr>
          <p:cNvPr id="33" name="Text 31"/>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−21.5%</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$1.42M</a:t>
            </a:r>
            <a:endParaRPr lang="en-US" sz="1400" dirty="0"/>
          </a:p>
        </p:txBody>
      </p:sp>
      <p:sp>
        <p:nvSpPr>
          <p:cNvPr id="36" name="Text 34"/>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$1.29M</a:t>
            </a:r>
            <a:endParaRPr lang="en-US" sz="1400" dirty="0"/>
          </a:p>
        </p:txBody>
      </p:sp>
      <p:sp>
        <p:nvSpPr>
          <p:cNvPr id="40" name="Text 38"/>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$1.26M</a:t>
            </a:r>
            <a:endParaRPr lang="en-US" sz="1400" dirty="0"/>
          </a:p>
        </p:txBody>
      </p:sp>
      <p:sp>
        <p:nvSpPr>
          <p:cNvPr id="43" name="Text 41"/>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$2.10M</a:t>
            </a:r>
            <a:endParaRPr lang="en-US" sz="1400" dirty="0"/>
          </a:p>
        </p:txBody>
      </p:sp>
      <p:sp>
        <p:nvSpPr>
          <p:cNvPr id="47" name="Text 45"/>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 per month</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$486K</a:t>
            </a:r>
            <a:endParaRPr lang="en-US" sz="1400" dirty="0"/>
          </a:p>
        </p:txBody>
      </p:sp>
      <p:sp>
        <p:nvSpPr>
          <p:cNvPr id="54" name="Text 52"/>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+43.4%</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$150K</a:t>
            </a:r>
            <a:endParaRPr lang="en-US" sz="1400" dirty="0"/>
          </a:p>
        </p:txBody>
      </p:sp>
      <p:sp>
        <p:nvSpPr>
          <p:cNvPr id="57" name="Text 55"/>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+31.5%</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$68K</a:t>
            </a:r>
            <a:endParaRPr lang="en-US" sz="1400" dirty="0"/>
          </a:p>
        </p:txBody>
      </p:sp>
      <p:sp>
        <p:nvSpPr>
          <p:cNvPr id="61" name="Text 59"/>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$123K</a:t>
            </a:r>
            <a:endParaRPr lang="en-US" sz="1400" dirty="0"/>
          </a:p>
        </p:txBody>
      </p:sp>
      <p:sp>
        <p:nvSpPr>
          <p:cNvPr id="64" name="Text 62"/>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+30.1%</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$198K</a:t>
            </a:r>
            <a:endParaRPr lang="en-US" sz="1400" dirty="0"/>
          </a:p>
        </p:txBody>
      </p:sp>
      <p:sp>
        <p:nvSpPr>
          <p:cNvPr id="68" name="Text 66"/>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+27.6%</a:t>
            </a:r>
            <a:endParaRPr lang="en-US" sz="1600" dirty="0"/>
          </a:p>
        </p:txBody>
      </p:sp>
      <p:sp>
        <p:nvSpPr>
          <p:cNvPr id="69" name="Shape 67"/>
          <p:cNvSpPr/>
          <p:nvPr/>
        </p:nvSpPr>
        <p:spPr>
          <a:xfrm>
            <a:off x="457200" y="6126480"/>
            <a:ext cx="11274552" cy="600456"/>
          </a:xfrm>
          <a:prstGeom prst="rect">
            <a:avLst/>
          </a:prstGeom>
          <a:solidFill>
            <a:srgbClr val="EDF4FA"/>
          </a:solidFill>
          <a:ln/>
        </p:spPr>
      </p:sp>
      <p:sp>
        <p:nvSpPr>
          <p:cNvPr id="70" name="Text 68"/>
          <p:cNvSpPr txBox="1"/>
          <p:nvPr/>
        </p:nvSpPr>
        <p:spPr>
          <a:xfrm>
            <a:off x="658368" y="6144768"/>
            <a:ext cx="10927080" cy="563880"/>
          </a:xfrm>
          <a:prstGeom prst="rect">
            <a:avLst/>
          </a:prstGeom>
          <a:noFill/>
          <a:ln/>
        </p:spPr>
        <p:txBody>
          <a:bodyPr wrap="square" lIns="0" tIns="0" rIns="0" bIns="0" rtlCol="0" anchor="ctr"/>
          <a:lstStyle/>
          <a:p>
            <a:pPr indent="0" marL="0">
              <a:buNone/>
            </a:pPr>
            <a:r>
              <a:rPr lang="en-US" sz="1550" b="1" dirty="0">
                <a:solidFill>
                  <a:srgbClr val="0B2C4A"/>
                </a:solidFill>
                <a:latin typeface="Inter" pitchFamily="34" charset="0"/>
                <a:ea typeface="Inter" pitchFamily="34" charset="-122"/>
                <a:cs typeface="Inter" pitchFamily="34" charset="-120"/>
              </a:rPr>
              <a:t>Ask Lincoln, Cadillac and Subaru St George what changed. Ask Hyundai St George, Audi Reno and VW Henderson what got in the way. Ask Audi Henderson, Mazda and Honda Flagstaff what they started this year.</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2026-10-24T20:52:22Z</dcterms:created>
  <dcterms:modified xsi:type="dcterms:W3CDTF">2026-10-24T20:52:22Z</dcterms:modified>
</cp:coreProperties>
</file>