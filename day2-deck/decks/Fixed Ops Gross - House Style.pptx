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2.xml" ContentType="application/vnd.openxmlformats-officedocument.drawingml.chart+xml"/>
  <Override PartName="/ppt/charts/chart13.xml" ContentType="application/vnd.openxmlformats-officedocument.drawingml.chart+xml"/>
  <Override PartName="/ppt/charts/chart14.xml" ContentType="application/vnd.openxmlformats-officedocument.drawingml.chart+xml"/>
  <Override PartName="/ppt/charts/chart15.xml" ContentType="application/vnd.openxmlformats-officedocument.drawingml.chart+xml"/>
  <Override PartName="/ppt/charts/chart16.xml" ContentType="application/vnd.openxmlformats-officedocument.drawingml.chart+xml"/>
  <Override PartName="/ppt/charts/chart17.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Relationships xmlns="http://schemas.openxmlformats.org/package/2006/relationships"><Relationship Id="rId1" Type="http://schemas.openxmlformats.org/officeDocument/2006/relationships/package" Target="../embeddings/Microsoft_Excel_Worksheet17.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19.88</c:v>
                </c:pt>
                <c:pt idx="1">
                  <c:v>18.87</c:v>
                </c:pt>
                <c:pt idx="2">
                  <c:v>21.12</c:v>
                </c:pt>
                <c:pt idx="3">
                  <c:v>21.8</c:v>
                </c:pt>
                <c:pt idx="4">
                  <c:v>20.12</c:v>
                </c:pt>
                <c:pt idx="5">
                  <c:v>21.52</c:v>
                </c:pt>
                <c:pt idx="6">
                  <c:v>22.71</c:v>
                </c:pt>
                <c:pt idx="7">
                  <c:v>21.64</c:v>
                </c:pt>
                <c:pt idx="8">
                  <c:v>21.13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21.12</c:v>
                </c:pt>
                <c:pt idx="3">
                  <c:v>21.8</c:v>
                </c:pt>
                <c:pt idx="4">
                  <c:v/>
                </c:pt>
                <c:pt idx="5">
                  <c:v>21.52</c:v>
                </c:pt>
                <c:pt idx="6">
                  <c:v>22.71</c:v>
                </c:pt>
                <c:pt idx="7">
                  <c:v>21.64</c:v>
                </c:pt>
                <c:pt idx="8">
                  <c:v>21.13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19.88</c:v>
                </c:pt>
                <c:pt idx="1">
                  <c:v>18.87</c:v>
                </c:pt>
                <c:pt idx="2">
                  <c:v/>
                </c:pt>
                <c:pt idx="3">
                  <c:v/>
                </c:pt>
                <c:pt idx="4">
                  <c:v>20.12</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20.46</c:v>
                </c:pt>
                <c:pt idx="1">
                  <c:v>19.1</c:v>
                </c:pt>
                <c:pt idx="2">
                  <c:v/>
                </c:pt>
                <c:pt idx="3">
                  <c:v/>
                </c:pt>
                <c:pt idx="4">
                  <c:v>20.28</c:v>
                </c:pt>
                <c:pt idx="5">
                  <c:v/>
                </c:pt>
                <c:pt idx="6">
                  <c:v/>
                </c:pt>
                <c:pt idx="7">
                  <c:v/>
                </c:pt>
                <c:pt idx="8">
                  <c:v/>
                </c:pt>
                <c:pt idx="9">
                  <c:v>21.27</c:v>
                </c:pt>
                <c:pt idx="10">
                  <c:v/>
                </c:pt>
                <c:pt idx="11">
                  <c:v>19.32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20.19</c:v>
                </c:pt>
                <c:pt idx="3">
                  <c:v>20.85</c:v>
                </c:pt>
                <c:pt idx="4">
                  <c:v/>
                </c:pt>
                <c:pt idx="5">
                  <c:v>20.34</c:v>
                </c:pt>
                <c:pt idx="6">
                  <c:v>20.75</c:v>
                </c:pt>
                <c:pt idx="7">
                  <c:v>20.32</c:v>
                </c:pt>
                <c:pt idx="8">
                  <c:v>19.03</c:v>
                </c:pt>
                <c:pt idx="9">
                  <c:v/>
                </c:pt>
                <c:pt idx="10">
                  <c:v>17.74</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20.46</c:v>
                </c:pt>
                <c:pt idx="1">
                  <c:v>19.1</c:v>
                </c:pt>
                <c:pt idx="2">
                  <c:v>20.19</c:v>
                </c:pt>
                <c:pt idx="3">
                  <c:v>20.85</c:v>
                </c:pt>
                <c:pt idx="4">
                  <c:v>20.28</c:v>
                </c:pt>
                <c:pt idx="5">
                  <c:v>20.34</c:v>
                </c:pt>
                <c:pt idx="6">
                  <c:v>20.75</c:v>
                </c:pt>
                <c:pt idx="7">
                  <c:v>20.32</c:v>
                </c:pt>
                <c:pt idx="8">
                  <c:v>19.03</c:v>
                </c:pt>
                <c:pt idx="9">
                  <c:v>21.27</c:v>
                </c:pt>
                <c:pt idx="10">
                  <c:v>17.74</c:v>
                </c:pt>
                <c:pt idx="11">
                  <c:v>19.32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13.47</c:v>
                </c:pt>
                <c:pt idx="1">
                  <c:v>12.79</c:v>
                </c:pt>
                <c:pt idx="2">
                  <c:v>14.35</c:v>
                </c:pt>
                <c:pt idx="3">
                  <c:v>14.65</c:v>
                </c:pt>
                <c:pt idx="4">
                  <c:v>13.71</c:v>
                </c:pt>
                <c:pt idx="5">
                  <c:v>14.45</c:v>
                </c:pt>
                <c:pt idx="6">
                  <c:v>15.06</c:v>
                </c:pt>
                <c:pt idx="7">
                  <c:v>14.43</c:v>
                </c:pt>
                <c:pt idx="8">
                  <c:v>13.96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13.47</c:v>
                </c:pt>
                <c:pt idx="1">
                  <c:v>12.79</c:v>
                </c:pt>
                <c:pt idx="2">
                  <c:v>14.35</c:v>
                </c:pt>
                <c:pt idx="3">
                  <c:v>14.65</c:v>
                </c:pt>
                <c:pt idx="4">
                  <c:v>13.71</c:v>
                </c:pt>
                <c:pt idx="5">
                  <c:v>14.45</c:v>
                </c:pt>
                <c:pt idx="6">
                  <c:v>15.06</c:v>
                </c:pt>
                <c:pt idx="7">
                  <c:v>14.43</c:v>
                </c:pt>
                <c:pt idx="8">
                  <c:v>13.96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13.74</c:v>
                </c:pt>
                <c:pt idx="10">
                  <c:v/>
                </c:pt>
                <c:pt idx="11">
                  <c:v>12.92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13.41</c:v>
                </c:pt>
                <c:pt idx="1">
                  <c:v>12.64</c:v>
                </c:pt>
                <c:pt idx="2">
                  <c:v>13.59</c:v>
                </c:pt>
                <c:pt idx="3">
                  <c:v>14.01</c:v>
                </c:pt>
                <c:pt idx="4">
                  <c:v>13.61</c:v>
                </c:pt>
                <c:pt idx="5">
                  <c:v>13.53</c:v>
                </c:pt>
                <c:pt idx="6">
                  <c:v>13.78</c:v>
                </c:pt>
                <c:pt idx="7">
                  <c:v>13.51</c:v>
                </c:pt>
                <c:pt idx="8">
                  <c:v>12.5</c:v>
                </c:pt>
                <c:pt idx="9">
                  <c:v/>
                </c:pt>
                <c:pt idx="10">
                  <c:v>11.84</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13.41</c:v>
                </c:pt>
                <c:pt idx="1">
                  <c:v>12.64</c:v>
                </c:pt>
                <c:pt idx="2">
                  <c:v>13.59</c:v>
                </c:pt>
                <c:pt idx="3">
                  <c:v>14.01</c:v>
                </c:pt>
                <c:pt idx="4">
                  <c:v>13.61</c:v>
                </c:pt>
                <c:pt idx="5">
                  <c:v>13.53</c:v>
                </c:pt>
                <c:pt idx="6">
                  <c:v>13.78</c:v>
                </c:pt>
                <c:pt idx="7">
                  <c:v>13.51</c:v>
                </c:pt>
                <c:pt idx="8">
                  <c:v>12.5</c:v>
                </c:pt>
                <c:pt idx="9">
                  <c:v>13.74</c:v>
                </c:pt>
                <c:pt idx="10">
                  <c:v>11.84</c:v>
                </c:pt>
                <c:pt idx="11">
                  <c:v>12.92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6.41</c:v>
                </c:pt>
                <c:pt idx="1">
                  <c:v>6.08</c:v>
                </c:pt>
                <c:pt idx="2">
                  <c:v>6.77</c:v>
                </c:pt>
                <c:pt idx="3">
                  <c:v>7.14</c:v>
                </c:pt>
                <c:pt idx="4">
                  <c:v>6.41</c:v>
                </c:pt>
                <c:pt idx="5">
                  <c:v>7.07</c:v>
                </c:pt>
                <c:pt idx="6">
                  <c:v>7.66</c:v>
                </c:pt>
                <c:pt idx="7">
                  <c:v>7.21</c:v>
                </c:pt>
                <c:pt idx="8">
                  <c:v>7.18</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6.77</c:v>
                </c:pt>
                <c:pt idx="3">
                  <c:v>7.14</c:v>
                </c:pt>
                <c:pt idx="4">
                  <c:v/>
                </c:pt>
                <c:pt idx="5">
                  <c:v>7.07</c:v>
                </c:pt>
                <c:pt idx="6">
                  <c:v>7.66</c:v>
                </c:pt>
                <c:pt idx="7">
                  <c:v>7.21</c:v>
                </c:pt>
                <c:pt idx="8">
                  <c:v>7.18</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6.41</c:v>
                </c:pt>
                <c:pt idx="1">
                  <c:v>6.08</c:v>
                </c:pt>
                <c:pt idx="2">
                  <c:v/>
                </c:pt>
                <c:pt idx="3">
                  <c:v/>
                </c:pt>
                <c:pt idx="4">
                  <c:v>6.41</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7.05</c:v>
                </c:pt>
                <c:pt idx="1">
                  <c:v>6.47</c:v>
                </c:pt>
                <c:pt idx="2">
                  <c:v/>
                </c:pt>
                <c:pt idx="3">
                  <c:v/>
                </c:pt>
                <c:pt idx="4">
                  <c:v>6.67</c:v>
                </c:pt>
                <c:pt idx="5">
                  <c:v/>
                </c:pt>
                <c:pt idx="6">
                  <c:v/>
                </c:pt>
                <c:pt idx="7">
                  <c:v/>
                </c:pt>
                <c:pt idx="8">
                  <c:v/>
                </c:pt>
                <c:pt idx="9">
                  <c:v>7.53</c:v>
                </c:pt>
                <c:pt idx="10">
                  <c:v/>
                </c:pt>
                <c:pt idx="11">
                  <c:v>6.4</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6.6</c:v>
                </c:pt>
                <c:pt idx="3">
                  <c:v>6.84</c:v>
                </c:pt>
                <c:pt idx="4">
                  <c:v/>
                </c:pt>
                <c:pt idx="5">
                  <c:v>6.81</c:v>
                </c:pt>
                <c:pt idx="6">
                  <c:v>6.97</c:v>
                </c:pt>
                <c:pt idx="7">
                  <c:v>6.81</c:v>
                </c:pt>
                <c:pt idx="8">
                  <c:v>6.54</c:v>
                </c:pt>
                <c:pt idx="9">
                  <c:v/>
                </c:pt>
                <c:pt idx="10">
                  <c:v>5.91</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7.05</c:v>
                </c:pt>
                <c:pt idx="1">
                  <c:v>6.47</c:v>
                </c:pt>
                <c:pt idx="2">
                  <c:v>6.6</c:v>
                </c:pt>
                <c:pt idx="3">
                  <c:v>6.84</c:v>
                </c:pt>
                <c:pt idx="4">
                  <c:v>6.67</c:v>
                </c:pt>
                <c:pt idx="5">
                  <c:v>6.81</c:v>
                </c:pt>
                <c:pt idx="6">
                  <c:v>6.97</c:v>
                </c:pt>
                <c:pt idx="7">
                  <c:v>6.81</c:v>
                </c:pt>
                <c:pt idx="8">
                  <c:v>6.54</c:v>
                </c:pt>
                <c:pt idx="9">
                  <c:v>7.53</c:v>
                </c:pt>
                <c:pt idx="10">
                  <c:v>5.91</c:v>
                </c:pt>
                <c:pt idx="11">
                  <c:v>6.4</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Same-store, INEOS excluded (opened 2026). Fixed ops = service + parts; GMC Prescott body shop gross excluded. Jan-Sep 2026 vs Jan-Sep 2025; 2025 shown January-December.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Toyota Henderson is $22.59M of the group's $188.80M; VW St George is smallest at $968,018.Source: Qlik - Profit &amp; Loss. Same-store, INEOS excluded (opened 2026). Fixed ops = service + parts; GMC Prescott body shop gross excluded. Jan-Sep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25 of 33 stores grew. Toyota Henderson added the most at +$1.77M (+8.5%); Honda North fell most at −$840K (−8.9%).Source: Qlik - Profit &amp; Loss. Same-store, INEOS excluded (opened 2026). Fixed ops = service + parts; GMC Prescott body shop gross excluded. Ranked by dollar change, Jan-Sep 2026 vs Jan-Sep 2025; percent change alongside, the top three and bottom three by percent marked.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Ask Hyundai Prescott, Lincoln and Lexus what changed. Ask Acura, VW St George and VW Henderson what got in the way. Ask Mazda, Kia St George and LR Henderson what they started this year.Source: Qlik - Profit &amp; Loss. Same-store, INEOS excluded (opened 2026). Fixed ops = service + parts; GMC Prescott body shop gross excluded. Top and bottom five stores by percent change in fixed ops gross, Jan-Sep 2026 vs 2025. Moving now: Jul-Sep 2026 vs Jan-Mar 2026, each store against itself (monthly averages); the group moved +9.4%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Same-store, INEOS excluded (opened 2026). Fixed ops = service + parts; GMC Prescott body shop gross excluded. Jan-Sep 2026 vs Jan-Sep 2025; 2025 shown January-December.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Toyota Henderson is $16.38M of the group's $126.87M; VW St George is smallest at $588,480.Source: Qlik - Profit &amp; Loss. Same-store, INEOS excluded (opened 2026). Fixed ops = service + parts; GMC Prescott body shop gross excluded. Jan-Sep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23 of 33 stores grew. Toyota Henderson added the most at +$1.50M (+10.1%); Honda North fell most at −$695K (−10.5%).Source: Qlik - Profit &amp; Loss. Same-store, INEOS excluded (opened 2026). Fixed ops = service + parts; GMC Prescott body shop gross excluded. Ranked by dollar change, Jan-Sep 2026 vs Jan-Sep 2025; percent change alongside, the top three and bottom three by percent marked.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Ask Hyundai Prescott, Lincoln and Lexus what changed. Ask Acura, VW St George and VW Henderson what got in the way. Ask Mazda, Kia St George and Hyundai Prescott what they started this year.Source: Qlik - Profit &amp; Loss. Same-store, INEOS excluded (opened 2026). Fixed ops = service + parts; GMC Prescott body shop gross excluded. Top and bottom five stores by percent change in service gross, Jan-Sep 2026 vs 2025. Moving now: Jul-Sep 2026 vs Jan-Mar 2026, each store against itself (monthly averages); the group moved +7.0%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Same-store, INEOS excluded (opened 2026). Fixed ops = service + parts; GMC Prescott body shop gross excluded. Jan-Sep 2026 vs Jan-Sep 2025; 2025 shown January-December.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Toyota Henderson is $6.21M of the group's $61.93M; VW St George is smallest at $379,537.Source: Qlik - Profit &amp; Loss. Same-store, INEOS excluded (opened 2026). Fixed ops = service + parts; GMC Prescott body shop gross excluded. Jan-Sep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17 of 33 stores grew. Cadillac added the most at +$688K (+28.4%); Audi Reno fell most at −$328K (−18.8%).Source: Qlik - Profit &amp; Loss. Same-store, INEOS excluded (opened 2026). Fixed ops = service + parts; GMC Prescott body shop gross excluded. Ranked by dollar change, Jan-Sep 2026 vs Jan-Sep 2025; percent change alongside, the top three and bottom three by percent marked.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Ask Lincoln, Cadillac and Subaru St George what changed. Ask Hyundai St George, Audi Reno and VW Henderson what got in the way. Ask Audi Henderson, Mazda and Honda Flagstaff what they started this year.Source: Qlik - Profit &amp; Loss. Same-store, INEOS excluded (opened 2026). Fixed ops = service + parts; GMC Prescott body shop gross excluded. Top and bottom five stores by percent change in parts gross, Jan-Sep 2026 vs 2025. Moving now: Jul-Sep 2026 vs Jan-Mar 2026, each store against itself (monthly averages); the group moved +14.4%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chart" Target="/ppt/charts/chart3.xml"/><Relationship Id="rId4" Type="http://schemas.openxmlformats.org/officeDocument/2006/relationships/chart" Target="/ppt/charts/chart4.xml"/><Relationship Id="rId5" Type="http://schemas.openxmlformats.org/officeDocument/2006/relationships/chart" Target="/ppt/charts/chart5.xml"/><Relationship Id="rId6" Type="http://schemas.openxmlformats.org/officeDocument/2006/relationships/chart" Target="/ppt/charts/chart6.xml"/><Relationship Id="rId7" Type="http://schemas.openxmlformats.org/officeDocument/2006/relationships/slideLayout" Target="../slideLayouts/slideLayout1.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chart" Target="/ppt/charts/chart8.xml"/><Relationship Id="rId3" Type="http://schemas.openxmlformats.org/officeDocument/2006/relationships/chart" Target="/ppt/charts/chart9.xml"/><Relationship Id="rId4" Type="http://schemas.openxmlformats.org/officeDocument/2006/relationships/chart" Target="/ppt/charts/chart10.xml"/><Relationship Id="rId5" Type="http://schemas.openxmlformats.org/officeDocument/2006/relationships/chart" Target="/ppt/charts/chart11.xml"/><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2.xml"/><Relationship Id="rId2" Type="http://schemas.openxmlformats.org/officeDocument/2006/relationships/chart" Target="/ppt/charts/chart13.xml"/><Relationship Id="rId3" Type="http://schemas.openxmlformats.org/officeDocument/2006/relationships/chart" Target="/ppt/charts/chart14.xml"/><Relationship Id="rId4" Type="http://schemas.openxmlformats.org/officeDocument/2006/relationships/chart" Target="/ppt/charts/chart15.xml"/><Relationship Id="rId5" Type="http://schemas.openxmlformats.org/officeDocument/2006/relationships/chart" Target="/ppt/charts/chart16.xml"/><Relationship Id="rId6" Type="http://schemas.openxmlformats.org/officeDocument/2006/relationships/chart" Target="/ppt/charts/chart17.xml"/><Relationship Id="rId7" Type="http://schemas.openxmlformats.org/officeDocument/2006/relationships/slideLayout" Target="../slideLayouts/slideLayout1.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FIXED OPS</a:t>
            </a:r>
            <a:endParaRPr lang="en-US" sz="2000" dirty="0"/>
          </a:p>
        </p:txBody>
      </p:sp>
      <p:sp>
        <p:nvSpPr>
          <p:cNvPr id="3"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Gross</a:t>
            </a:r>
            <a:endParaRPr lang="en-US" sz="7600" dirty="0"/>
          </a:p>
        </p:txBody>
      </p:sp>
      <p:sp>
        <p:nvSpPr>
          <p:cNvPr id="4"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Fixed ops   ·   Service   ·   Parts</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$181.33M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$188.80M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+$7.47M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+$7,468,567 (4.1%) year to date; 6 of nine months ahead of 2025, best September at +$2,098,497.</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$188.80M</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$22.59M</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79080"/>
            <a:ext cx="1339226"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$16.55M</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440491"/>
            <a:ext cx="1167458"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$14.42M</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5" name="Shape 23"/>
          <p:cNvSpPr/>
          <p:nvPr/>
        </p:nvSpPr>
        <p:spPr>
          <a:xfrm>
            <a:off x="2980944" y="2701901"/>
            <a:ext cx="998871"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$12.34M</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963312"/>
            <a:ext cx="815948"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$10.08M</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224723"/>
            <a:ext cx="776819"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$9.60M</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486134"/>
            <a:ext cx="697445"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$8.62M</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747545"/>
            <a:ext cx="534720"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$6.61M</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2980944" y="4008956"/>
            <a:ext cx="498047"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$6.15M</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9" name="Shape 47"/>
          <p:cNvSpPr/>
          <p:nvPr/>
        </p:nvSpPr>
        <p:spPr>
          <a:xfrm>
            <a:off x="2980944" y="4270366"/>
            <a:ext cx="480108"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$5.93M</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2980944" y="4531777"/>
            <a:ext cx="411218"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$5.08M</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2980944" y="4793188"/>
            <a:ext cx="387746"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$4.79M</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5054599"/>
            <a:ext cx="387152"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$4.78M</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5" name="Shape 63"/>
          <p:cNvSpPr/>
          <p:nvPr/>
        </p:nvSpPr>
        <p:spPr>
          <a:xfrm>
            <a:off x="2980944" y="5316010"/>
            <a:ext cx="366719"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$4.53M</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9" name="Shape 67"/>
          <p:cNvSpPr/>
          <p:nvPr/>
        </p:nvSpPr>
        <p:spPr>
          <a:xfrm>
            <a:off x="2980944" y="5577420"/>
            <a:ext cx="361706"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$4.47M</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2980944" y="5838831"/>
            <a:ext cx="360997"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$4.46M</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7" name="Shape 75"/>
          <p:cNvSpPr/>
          <p:nvPr/>
        </p:nvSpPr>
        <p:spPr>
          <a:xfrm>
            <a:off x="2980944" y="6100242"/>
            <a:ext cx="338585"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$4.18M</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1" name="Shape 79"/>
          <p:cNvSpPr/>
          <p:nvPr/>
        </p:nvSpPr>
        <p:spPr>
          <a:xfrm>
            <a:off x="8531352" y="1917669"/>
            <a:ext cx="335529"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$4.15M</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5" name="Shape 83"/>
          <p:cNvSpPr/>
          <p:nvPr/>
        </p:nvSpPr>
        <p:spPr>
          <a:xfrm>
            <a:off x="8531352" y="2179080"/>
            <a:ext cx="316795"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$3.91M</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440491"/>
            <a:ext cx="287606"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$3.55M</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3" name="Shape 91"/>
          <p:cNvSpPr/>
          <p:nvPr/>
        </p:nvSpPr>
        <p:spPr>
          <a:xfrm>
            <a:off x="8531352" y="2701901"/>
            <a:ext cx="284566"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$3.52M</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7" name="Shape 95"/>
          <p:cNvSpPr/>
          <p:nvPr/>
        </p:nvSpPr>
        <p:spPr>
          <a:xfrm>
            <a:off x="8531352" y="2963312"/>
            <a:ext cx="276517"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$3.42M</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224723"/>
            <a:ext cx="267522"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$3.31M</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31352" y="3486134"/>
            <a:ext cx="241377"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$2.98M</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747545"/>
            <a:ext cx="234183"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$2.89M</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3" name="Shape 111"/>
          <p:cNvSpPr/>
          <p:nvPr/>
        </p:nvSpPr>
        <p:spPr>
          <a:xfrm>
            <a:off x="8531352" y="4008956"/>
            <a:ext cx="218568"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$2.70M</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7" name="Shape 115"/>
          <p:cNvSpPr/>
          <p:nvPr/>
        </p:nvSpPr>
        <p:spPr>
          <a:xfrm>
            <a:off x="8531352" y="4270366"/>
            <a:ext cx="189081"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$2.34M</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31352" y="4531777"/>
            <a:ext cx="184970"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$2.29M</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5" name="Shape 123"/>
          <p:cNvSpPr/>
          <p:nvPr/>
        </p:nvSpPr>
        <p:spPr>
          <a:xfrm>
            <a:off x="8531352" y="4793188"/>
            <a:ext cx="183743"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$2.27M</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5054599"/>
            <a:ext cx="178709"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$2.21M</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316010"/>
            <a:ext cx="128860"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$1.59M</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577420"/>
            <a:ext cx="124271" cy="120249"/>
          </a:xfrm>
          <a:prstGeom prst="rect">
            <a:avLst/>
          </a:prstGeom>
          <a:solidFill>
            <a:srgbClr val="2587C5"/>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$1.54M</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838831"/>
            <a:ext cx="78355" cy="120249"/>
          </a:xfrm>
          <a:prstGeom prst="rect">
            <a:avLst/>
          </a:prstGeom>
          <a:solidFill>
            <a:srgbClr val="2587C5"/>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$968,018</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+$7.47M  ·  +4.1%</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+$1.77M</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2" name="Shape 20"/>
          <p:cNvSpPr/>
          <p:nvPr/>
        </p:nvSpPr>
        <p:spPr>
          <a:xfrm>
            <a:off x="3579876" y="2405582"/>
            <a:ext cx="549630"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+$1.70M</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7" name="Shape 25"/>
          <p:cNvSpPr/>
          <p:nvPr/>
        </p:nvSpPr>
        <p:spPr>
          <a:xfrm>
            <a:off x="3579876" y="2629341"/>
            <a:ext cx="300417"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+$932K</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2" name="Shape 30"/>
          <p:cNvSpPr/>
          <p:nvPr/>
        </p:nvSpPr>
        <p:spPr>
          <a:xfrm>
            <a:off x="3579876" y="2853100"/>
            <a:ext cx="246220"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+$764K</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35" name="Shape 33"/>
          <p:cNvSpPr/>
          <p:nvPr/>
        </p:nvSpPr>
        <p:spPr>
          <a:xfrm>
            <a:off x="5907024" y="2838405"/>
            <a:ext cx="54864" cy="132319"/>
          </a:xfrm>
          <a:prstGeom prst="rect">
            <a:avLst/>
          </a:prstGeom>
          <a:solidFill>
            <a:srgbClr val="12A566"/>
          </a:solidFill>
          <a:ln/>
        </p:spPr>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8" name="Shape 36"/>
          <p:cNvSpPr/>
          <p:nvPr/>
        </p:nvSpPr>
        <p:spPr>
          <a:xfrm>
            <a:off x="3579876" y="3076859"/>
            <a:ext cx="231280"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+$717K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+31.7%</a:t>
            </a:r>
            <a:endParaRPr lang="en-US" sz="1200" dirty="0"/>
          </a:p>
        </p:txBody>
      </p:sp>
      <p:sp>
        <p:nvSpPr>
          <p:cNvPr id="41" name="Shape 39"/>
          <p:cNvSpPr/>
          <p:nvPr/>
        </p:nvSpPr>
        <p:spPr>
          <a:xfrm>
            <a:off x="5907024" y="3062164"/>
            <a:ext cx="54864" cy="132319"/>
          </a:xfrm>
          <a:prstGeom prst="rect">
            <a:avLst/>
          </a:prstGeom>
          <a:solidFill>
            <a:srgbClr val="12A566"/>
          </a:solidFill>
          <a:ln/>
        </p:spPr>
      </p:sp>
      <p:sp>
        <p:nvSpPr>
          <p:cNvPr id="42" name="Text 40"/>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4" name="Shape 42"/>
          <p:cNvSpPr/>
          <p:nvPr/>
        </p:nvSpPr>
        <p:spPr>
          <a:xfrm>
            <a:off x="3579876" y="3300618"/>
            <a:ext cx="214115" cy="102929"/>
          </a:xfrm>
          <a:prstGeom prst="rect">
            <a:avLst/>
          </a:prstGeom>
          <a:solidFill>
            <a:srgbClr val="12A566"/>
          </a:solidFill>
          <a:ln/>
        </p:spPr>
      </p:sp>
      <p:sp>
        <p:nvSpPr>
          <p:cNvPr id="45" name="Text 43"/>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+$664K</a:t>
            </a:r>
            <a:endParaRPr lang="en-US" sz="1200" dirty="0"/>
          </a:p>
        </p:txBody>
      </p:sp>
      <p:sp>
        <p:nvSpPr>
          <p:cNvPr id="46" name="Text 44"/>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+7.4%</a:t>
            </a:r>
            <a:endParaRPr lang="en-US" sz="1200" dirty="0"/>
          </a:p>
        </p:txBody>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9" name="Shape 47"/>
          <p:cNvSpPr/>
          <p:nvPr/>
        </p:nvSpPr>
        <p:spPr>
          <a:xfrm>
            <a:off x="3579876" y="3524377"/>
            <a:ext cx="188889" cy="102929"/>
          </a:xfrm>
          <a:prstGeom prst="rect">
            <a:avLst/>
          </a:prstGeom>
          <a:solidFill>
            <a:srgbClr val="12A566"/>
          </a:solidFill>
          <a:ln/>
        </p:spPr>
      </p:sp>
      <p:sp>
        <p:nvSpPr>
          <p:cNvPr id="50" name="Text 48"/>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+$586K</a:t>
            </a:r>
            <a:endParaRPr lang="en-US" sz="1200" dirty="0"/>
          </a:p>
        </p:txBody>
      </p:sp>
      <p:sp>
        <p:nvSpPr>
          <p:cNvPr id="51" name="Text 49"/>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+13.0%</a:t>
            </a:r>
            <a:endParaRPr lang="en-US" sz="1200" dirty="0"/>
          </a:p>
        </p:txBody>
      </p:sp>
      <p:sp>
        <p:nvSpPr>
          <p:cNvPr id="52" name="Text 50"/>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3" name="Text 51"/>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4" name="Shape 52"/>
          <p:cNvSpPr/>
          <p:nvPr/>
        </p:nvSpPr>
        <p:spPr>
          <a:xfrm>
            <a:off x="3579876" y="3748136"/>
            <a:ext cx="175547" cy="102929"/>
          </a:xfrm>
          <a:prstGeom prst="rect">
            <a:avLst/>
          </a:prstGeom>
          <a:solidFill>
            <a:srgbClr val="12A566"/>
          </a:solidFill>
          <a:ln/>
        </p:spPr>
      </p:sp>
      <p:sp>
        <p:nvSpPr>
          <p:cNvPr id="55" name="Text 53"/>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+$545K</a:t>
            </a:r>
            <a:endParaRPr lang="en-US" sz="1200" dirty="0"/>
          </a:p>
        </p:txBody>
      </p:sp>
      <p:sp>
        <p:nvSpPr>
          <p:cNvPr id="56" name="Text 54"/>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57" name="Text 55"/>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8" name="Text 56"/>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9" name="Shape 57"/>
          <p:cNvSpPr/>
          <p:nvPr/>
        </p:nvSpPr>
        <p:spPr>
          <a:xfrm>
            <a:off x="3579876" y="3971895"/>
            <a:ext cx="152295" cy="102929"/>
          </a:xfrm>
          <a:prstGeom prst="rect">
            <a:avLst/>
          </a:prstGeom>
          <a:solidFill>
            <a:srgbClr val="12A566"/>
          </a:solidFill>
          <a:ln/>
        </p:spPr>
      </p:sp>
      <p:sp>
        <p:nvSpPr>
          <p:cNvPr id="60" name="Text 58"/>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+$472K</a:t>
            </a:r>
            <a:endParaRPr lang="en-US" sz="1200" dirty="0"/>
          </a:p>
        </p:txBody>
      </p:sp>
      <p:sp>
        <p:nvSpPr>
          <p:cNvPr id="61" name="Text 59"/>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62" name="Text 60"/>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4" name="Shape 62"/>
          <p:cNvSpPr/>
          <p:nvPr/>
        </p:nvSpPr>
        <p:spPr>
          <a:xfrm>
            <a:off x="3579876" y="4195654"/>
            <a:ext cx="143334" cy="102929"/>
          </a:xfrm>
          <a:prstGeom prst="rect">
            <a:avLst/>
          </a:prstGeom>
          <a:solidFill>
            <a:srgbClr val="12A566"/>
          </a:solidFill>
          <a:ln/>
        </p:spPr>
      </p:sp>
      <p:sp>
        <p:nvSpPr>
          <p:cNvPr id="65" name="Text 63"/>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+$445K</a:t>
            </a:r>
            <a:endParaRPr lang="en-US" sz="1200" dirty="0"/>
          </a:p>
        </p:txBody>
      </p:sp>
      <p:sp>
        <p:nvSpPr>
          <p:cNvPr id="66" name="Text 64"/>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a:t>
            </a:r>
            <a:endParaRPr lang="en-US" sz="1200" dirty="0"/>
          </a:p>
        </p:txBody>
      </p:sp>
      <p:sp>
        <p:nvSpPr>
          <p:cNvPr id="67" name="Text 65"/>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8" name="Text 66"/>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9" name="Shape 67"/>
          <p:cNvSpPr/>
          <p:nvPr/>
        </p:nvSpPr>
        <p:spPr>
          <a:xfrm>
            <a:off x="3579876" y="4419414"/>
            <a:ext cx="136162" cy="102929"/>
          </a:xfrm>
          <a:prstGeom prst="rect">
            <a:avLst/>
          </a:prstGeom>
          <a:solidFill>
            <a:srgbClr val="12A566"/>
          </a:solidFill>
          <a:ln/>
        </p:spPr>
      </p:sp>
      <p:sp>
        <p:nvSpPr>
          <p:cNvPr id="70" name="Text 68"/>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+$422K</a:t>
            </a:r>
            <a:endParaRPr lang="en-US" sz="1200" dirty="0"/>
          </a:p>
        </p:txBody>
      </p:sp>
      <p:sp>
        <p:nvSpPr>
          <p:cNvPr id="71" name="Text 69"/>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a:t>
            </a:r>
            <a:endParaRPr lang="en-US" sz="1200" dirty="0"/>
          </a:p>
        </p:txBody>
      </p:sp>
      <p:sp>
        <p:nvSpPr>
          <p:cNvPr id="72" name="Text 70"/>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3" name="Text 71"/>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74" name="Shape 72"/>
          <p:cNvSpPr/>
          <p:nvPr/>
        </p:nvSpPr>
        <p:spPr>
          <a:xfrm>
            <a:off x="3579876" y="4643173"/>
            <a:ext cx="130403" cy="102929"/>
          </a:xfrm>
          <a:prstGeom prst="rect">
            <a:avLst/>
          </a:prstGeom>
          <a:solidFill>
            <a:srgbClr val="12A566"/>
          </a:solidFill>
          <a:ln/>
        </p:spPr>
      </p:sp>
      <p:sp>
        <p:nvSpPr>
          <p:cNvPr id="75" name="Text 73"/>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+$404K</a:t>
            </a:r>
            <a:endParaRPr lang="en-US" sz="1200" dirty="0"/>
          </a:p>
        </p:txBody>
      </p:sp>
      <p:sp>
        <p:nvSpPr>
          <p:cNvPr id="76" name="Text 74"/>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+35.8%</a:t>
            </a:r>
            <a:endParaRPr lang="en-US" sz="1200" dirty="0"/>
          </a:p>
        </p:txBody>
      </p:sp>
      <p:sp>
        <p:nvSpPr>
          <p:cNvPr id="77" name="Shape 75"/>
          <p:cNvSpPr/>
          <p:nvPr/>
        </p:nvSpPr>
        <p:spPr>
          <a:xfrm>
            <a:off x="5907024" y="4628478"/>
            <a:ext cx="54864" cy="132319"/>
          </a:xfrm>
          <a:prstGeom prst="rect">
            <a:avLst/>
          </a:prstGeom>
          <a:solidFill>
            <a:srgbClr val="12A566"/>
          </a:solidFill>
          <a:ln/>
        </p:spPr>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0" name="Shape 78"/>
          <p:cNvSpPr/>
          <p:nvPr/>
        </p:nvSpPr>
        <p:spPr>
          <a:xfrm>
            <a:off x="3579876" y="4866932"/>
            <a:ext cx="120222"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+$373K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5" name="Shape 83"/>
          <p:cNvSpPr/>
          <p:nvPr/>
        </p:nvSpPr>
        <p:spPr>
          <a:xfrm>
            <a:off x="3579876" y="5090691"/>
            <a:ext cx="118653"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+$368K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+15.8%</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90" name="Shape 88"/>
          <p:cNvSpPr/>
          <p:nvPr/>
        </p:nvSpPr>
        <p:spPr>
          <a:xfrm>
            <a:off x="3579876" y="5314450"/>
            <a:ext cx="69607"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+$216K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5" name="Shape 93"/>
          <p:cNvSpPr/>
          <p:nvPr/>
        </p:nvSpPr>
        <p:spPr>
          <a:xfrm>
            <a:off x="3579876" y="5538209"/>
            <a:ext cx="57491"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+$178K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a:t>
            </a:r>
            <a:endParaRPr lang="en-US" sz="1200" dirty="0"/>
          </a:p>
        </p:txBody>
      </p:sp>
      <p:sp>
        <p:nvSpPr>
          <p:cNvPr id="98" name="Text 96"/>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00" name="Shape 98"/>
          <p:cNvSpPr/>
          <p:nvPr/>
        </p:nvSpPr>
        <p:spPr>
          <a:xfrm>
            <a:off x="3579876" y="5761968"/>
            <a:ext cx="50512" cy="102929"/>
          </a:xfrm>
          <a:prstGeom prst="rect">
            <a:avLst/>
          </a:prstGeom>
          <a:solidFill>
            <a:srgbClr val="12A566"/>
          </a:solidFill>
          <a:ln/>
        </p:spPr>
      </p:sp>
      <p:sp>
        <p:nvSpPr>
          <p:cNvPr id="101" name="Text 99"/>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+$157K</a:t>
            </a:r>
            <a:endParaRPr lang="en-US" sz="1200" dirty="0"/>
          </a:p>
        </p:txBody>
      </p:sp>
      <p:sp>
        <p:nvSpPr>
          <p:cNvPr id="102" name="Text 100"/>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a:t>
            </a:r>
            <a:endParaRPr lang="en-US" sz="1200" dirty="0"/>
          </a:p>
        </p:txBody>
      </p:sp>
      <p:sp>
        <p:nvSpPr>
          <p:cNvPr id="103" name="Text 10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5" name="Shape 103"/>
          <p:cNvSpPr/>
          <p:nvPr/>
        </p:nvSpPr>
        <p:spPr>
          <a:xfrm>
            <a:off x="9130284" y="2181823"/>
            <a:ext cx="43577" cy="102929"/>
          </a:xfrm>
          <a:prstGeom prst="rect">
            <a:avLst/>
          </a:prstGeom>
          <a:solidFill>
            <a:srgbClr val="12A566"/>
          </a:solidFill>
          <a:ln/>
        </p:spPr>
      </p:sp>
      <p:sp>
        <p:nvSpPr>
          <p:cNvPr id="106" name="Text 104"/>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+$135K</a:t>
            </a:r>
            <a:endParaRPr lang="en-US" sz="1200" dirty="0"/>
          </a:p>
        </p:txBody>
      </p:sp>
      <p:sp>
        <p:nvSpPr>
          <p:cNvPr id="107" name="Text 105"/>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108" name="Text 106"/>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0" name="Shape 108"/>
          <p:cNvSpPr/>
          <p:nvPr/>
        </p:nvSpPr>
        <p:spPr>
          <a:xfrm>
            <a:off x="9130284" y="2405582"/>
            <a:ext cx="40298" cy="102929"/>
          </a:xfrm>
          <a:prstGeom prst="rect">
            <a:avLst/>
          </a:prstGeom>
          <a:solidFill>
            <a:srgbClr val="12A566"/>
          </a:solidFill>
          <a:ln/>
        </p:spPr>
      </p:sp>
      <p:sp>
        <p:nvSpPr>
          <p:cNvPr id="111" name="Text 109"/>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+$125K</a:t>
            </a:r>
            <a:endParaRPr lang="en-US" sz="1200" dirty="0"/>
          </a:p>
        </p:txBody>
      </p:sp>
      <p:sp>
        <p:nvSpPr>
          <p:cNvPr id="112" name="Text 110"/>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113" name="Text 111"/>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15" name="Shape 113"/>
          <p:cNvSpPr/>
          <p:nvPr/>
        </p:nvSpPr>
        <p:spPr>
          <a:xfrm>
            <a:off x="9130284" y="2629341"/>
            <a:ext cx="38573" cy="102929"/>
          </a:xfrm>
          <a:prstGeom prst="rect">
            <a:avLst/>
          </a:prstGeom>
          <a:solidFill>
            <a:srgbClr val="12A566"/>
          </a:solidFill>
          <a:ln/>
        </p:spPr>
      </p:sp>
      <p:sp>
        <p:nvSpPr>
          <p:cNvPr id="116" name="Text 114"/>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+$120K</a:t>
            </a:r>
            <a:endParaRPr lang="en-US" sz="1200" dirty="0"/>
          </a:p>
        </p:txBody>
      </p:sp>
      <p:sp>
        <p:nvSpPr>
          <p:cNvPr id="117" name="Text 115"/>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118" name="Text 116"/>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0" name="Shape 118"/>
          <p:cNvSpPr/>
          <p:nvPr/>
        </p:nvSpPr>
        <p:spPr>
          <a:xfrm>
            <a:off x="9130284" y="2853100"/>
            <a:ext cx="30667" cy="102929"/>
          </a:xfrm>
          <a:prstGeom prst="rect">
            <a:avLst/>
          </a:prstGeom>
          <a:solidFill>
            <a:srgbClr val="12A566"/>
          </a:solidFill>
          <a:ln/>
        </p:spPr>
      </p:sp>
      <p:sp>
        <p:nvSpPr>
          <p:cNvPr id="121" name="Text 119"/>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+$95K</a:t>
            </a:r>
            <a:endParaRPr lang="en-US" sz="1200" dirty="0"/>
          </a:p>
        </p:txBody>
      </p:sp>
      <p:sp>
        <p:nvSpPr>
          <p:cNvPr id="122" name="Text 120"/>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a:t>
            </a:r>
            <a:endParaRPr lang="en-US" sz="1200" dirty="0"/>
          </a:p>
        </p:txBody>
      </p:sp>
      <p:sp>
        <p:nvSpPr>
          <p:cNvPr id="123" name="Text 121"/>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130284" y="3076859"/>
            <a:ext cx="28430" cy="102929"/>
          </a:xfrm>
          <a:prstGeom prst="rect">
            <a:avLst/>
          </a:prstGeom>
          <a:solidFill>
            <a:srgbClr val="12A566"/>
          </a:solidFill>
          <a:ln/>
        </p:spPr>
      </p:sp>
      <p:sp>
        <p:nvSpPr>
          <p:cNvPr id="126" name="Text 124"/>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+$88K</a:t>
            </a:r>
            <a:endParaRPr lang="en-US" sz="1200" dirty="0"/>
          </a:p>
        </p:txBody>
      </p:sp>
      <p:sp>
        <p:nvSpPr>
          <p:cNvPr id="127" name="Text 125"/>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a:t>
            </a:r>
            <a:endParaRPr lang="en-US" sz="1200" dirty="0"/>
          </a:p>
        </p:txBody>
      </p:sp>
      <p:sp>
        <p:nvSpPr>
          <p:cNvPr id="128" name="Text 126"/>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0" name="Shape 128"/>
          <p:cNvSpPr/>
          <p:nvPr/>
        </p:nvSpPr>
        <p:spPr>
          <a:xfrm>
            <a:off x="9130284" y="3300618"/>
            <a:ext cx="20244" cy="102929"/>
          </a:xfrm>
          <a:prstGeom prst="rect">
            <a:avLst/>
          </a:prstGeom>
          <a:solidFill>
            <a:srgbClr val="12A566"/>
          </a:solidFill>
          <a:ln/>
        </p:spPr>
      </p:sp>
      <p:sp>
        <p:nvSpPr>
          <p:cNvPr id="131" name="Text 129"/>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+$63K</a:t>
            </a:r>
            <a:endParaRPr lang="en-US" sz="1200" dirty="0"/>
          </a:p>
        </p:txBody>
      </p:sp>
      <p:sp>
        <p:nvSpPr>
          <p:cNvPr id="132" name="Text 130"/>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a:t>
            </a:r>
            <a:endParaRPr lang="en-US" sz="1200" dirty="0"/>
          </a:p>
        </p:txBody>
      </p:sp>
      <p:sp>
        <p:nvSpPr>
          <p:cNvPr id="133" name="Text 131"/>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5" name="Shape 133"/>
          <p:cNvSpPr/>
          <p:nvPr/>
        </p:nvSpPr>
        <p:spPr>
          <a:xfrm>
            <a:off x="9130284" y="3524377"/>
            <a:ext cx="12802" cy="102929"/>
          </a:xfrm>
          <a:prstGeom prst="rect">
            <a:avLst/>
          </a:prstGeom>
          <a:solidFill>
            <a:srgbClr val="12A566"/>
          </a:solidFill>
          <a:ln/>
        </p:spPr>
      </p:sp>
      <p:sp>
        <p:nvSpPr>
          <p:cNvPr id="136" name="Text 134"/>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+$39K</a:t>
            </a:r>
            <a:endParaRPr lang="en-US" sz="1200" dirty="0"/>
          </a:p>
        </p:txBody>
      </p:sp>
      <p:sp>
        <p:nvSpPr>
          <p:cNvPr id="137" name="Text 135"/>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a:t>
            </a:r>
            <a:endParaRPr lang="en-US" sz="1200" dirty="0"/>
          </a:p>
        </p:txBody>
      </p:sp>
      <p:sp>
        <p:nvSpPr>
          <p:cNvPr id="138" name="Text 136"/>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0" name="Shape 138"/>
          <p:cNvSpPr/>
          <p:nvPr/>
        </p:nvSpPr>
        <p:spPr>
          <a:xfrm>
            <a:off x="9130284" y="3748136"/>
            <a:ext cx="12802" cy="102929"/>
          </a:xfrm>
          <a:prstGeom prst="rect">
            <a:avLst/>
          </a:prstGeom>
          <a:solidFill>
            <a:srgbClr val="12A566"/>
          </a:solidFill>
          <a:ln/>
        </p:spPr>
      </p:sp>
      <p:sp>
        <p:nvSpPr>
          <p:cNvPr id="141" name="Text 139"/>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+$23K</a:t>
            </a:r>
            <a:endParaRPr lang="en-US" sz="1200" dirty="0"/>
          </a:p>
        </p:txBody>
      </p:sp>
      <p:sp>
        <p:nvSpPr>
          <p:cNvPr id="142" name="Text 140"/>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143" name="Text 141"/>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5" name="Shape 143"/>
          <p:cNvSpPr/>
          <p:nvPr/>
        </p:nvSpPr>
        <p:spPr>
          <a:xfrm>
            <a:off x="9077784" y="3971895"/>
            <a:ext cx="52500" cy="102929"/>
          </a:xfrm>
          <a:prstGeom prst="rect">
            <a:avLst/>
          </a:prstGeom>
          <a:solidFill>
            <a:srgbClr val="C2352F"/>
          </a:solidFill>
          <a:ln/>
        </p:spPr>
      </p:sp>
      <p:sp>
        <p:nvSpPr>
          <p:cNvPr id="146" name="Text 144"/>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−$163K</a:t>
            </a:r>
            <a:endParaRPr lang="en-US" sz="1200" dirty="0"/>
          </a:p>
        </p:txBody>
      </p:sp>
      <p:sp>
        <p:nvSpPr>
          <p:cNvPr id="147" name="Text 145"/>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48" name="Shape 146"/>
          <p:cNvSpPr/>
          <p:nvPr/>
        </p:nvSpPr>
        <p:spPr>
          <a:xfrm>
            <a:off x="11457432" y="3957200"/>
            <a:ext cx="54864" cy="132319"/>
          </a:xfrm>
          <a:prstGeom prst="rect">
            <a:avLst/>
          </a:prstGeom>
          <a:solidFill>
            <a:srgbClr val="C2352F"/>
          </a:solidFill>
          <a:ln/>
        </p:spPr>
      </p:sp>
      <p:sp>
        <p:nvSpPr>
          <p:cNvPr id="149" name="Text 147"/>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0" name="Text 148"/>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51" name="Shape 149"/>
          <p:cNvSpPr/>
          <p:nvPr/>
        </p:nvSpPr>
        <p:spPr>
          <a:xfrm>
            <a:off x="9064631" y="4195654"/>
            <a:ext cx="65653" cy="102929"/>
          </a:xfrm>
          <a:prstGeom prst="rect">
            <a:avLst/>
          </a:prstGeom>
          <a:solidFill>
            <a:srgbClr val="C2352F"/>
          </a:solidFill>
          <a:ln/>
        </p:spPr>
      </p:sp>
      <p:sp>
        <p:nvSpPr>
          <p:cNvPr id="152" name="Text 150"/>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−$204K</a:t>
            </a:r>
            <a:endParaRPr lang="en-US" sz="1200" dirty="0"/>
          </a:p>
        </p:txBody>
      </p:sp>
      <p:sp>
        <p:nvSpPr>
          <p:cNvPr id="153" name="Text 151"/>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a:t>
            </a:r>
            <a:endParaRPr lang="en-US" sz="1200" dirty="0"/>
          </a:p>
        </p:txBody>
      </p:sp>
      <p:sp>
        <p:nvSpPr>
          <p:cNvPr id="154" name="Text 152"/>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5" name="Text 153"/>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56" name="Shape 154"/>
          <p:cNvSpPr/>
          <p:nvPr/>
        </p:nvSpPr>
        <p:spPr>
          <a:xfrm>
            <a:off x="8989404" y="4419414"/>
            <a:ext cx="140880" cy="102929"/>
          </a:xfrm>
          <a:prstGeom prst="rect">
            <a:avLst/>
          </a:prstGeom>
          <a:solidFill>
            <a:srgbClr val="C2352F"/>
          </a:solidFill>
          <a:ln/>
        </p:spPr>
      </p:sp>
      <p:sp>
        <p:nvSpPr>
          <p:cNvPr id="157" name="Text 155"/>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−$437K</a:t>
            </a:r>
            <a:endParaRPr lang="en-US" sz="1200" dirty="0"/>
          </a:p>
        </p:txBody>
      </p:sp>
      <p:sp>
        <p:nvSpPr>
          <p:cNvPr id="158" name="Text 156"/>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a:t>
            </a:r>
            <a:endParaRPr lang="en-US" sz="1200" dirty="0"/>
          </a:p>
        </p:txBody>
      </p:sp>
      <p:sp>
        <p:nvSpPr>
          <p:cNvPr id="159" name="Text 15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0" name="Text 15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61" name="Shape 159"/>
          <p:cNvSpPr/>
          <p:nvPr/>
        </p:nvSpPr>
        <p:spPr>
          <a:xfrm>
            <a:off x="8969548" y="4643173"/>
            <a:ext cx="160736" cy="102929"/>
          </a:xfrm>
          <a:prstGeom prst="rect">
            <a:avLst/>
          </a:prstGeom>
          <a:solidFill>
            <a:srgbClr val="C2352F"/>
          </a:solidFill>
          <a:ln/>
        </p:spPr>
      </p:sp>
      <p:sp>
        <p:nvSpPr>
          <p:cNvPr id="162" name="Text 160"/>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−$499K</a:t>
            </a:r>
            <a:endParaRPr lang="en-US" sz="1200" dirty="0"/>
          </a:p>
        </p:txBody>
      </p:sp>
      <p:sp>
        <p:nvSpPr>
          <p:cNvPr id="163" name="Text 161"/>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a:t>
            </a:r>
            <a:endParaRPr lang="en-US" sz="1200" dirty="0"/>
          </a:p>
        </p:txBody>
      </p:sp>
      <p:sp>
        <p:nvSpPr>
          <p:cNvPr id="164" name="Text 162"/>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5" name="Text 163"/>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6" name="Shape 164"/>
          <p:cNvSpPr/>
          <p:nvPr/>
        </p:nvSpPr>
        <p:spPr>
          <a:xfrm>
            <a:off x="8963677" y="4866932"/>
            <a:ext cx="166607" cy="102929"/>
          </a:xfrm>
          <a:prstGeom prst="rect">
            <a:avLst/>
          </a:prstGeom>
          <a:solidFill>
            <a:srgbClr val="C2352F"/>
          </a:solidFill>
          <a:ln/>
        </p:spPr>
      </p:sp>
      <p:sp>
        <p:nvSpPr>
          <p:cNvPr id="167" name="Text 165"/>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−$517K</a:t>
            </a:r>
            <a:endParaRPr lang="en-US" sz="1200" dirty="0"/>
          </a:p>
        </p:txBody>
      </p:sp>
      <p:sp>
        <p:nvSpPr>
          <p:cNvPr id="168" name="Text 166"/>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−15.2%</a:t>
            </a:r>
            <a:endParaRPr lang="en-US" sz="1200" dirty="0"/>
          </a:p>
        </p:txBody>
      </p:sp>
      <p:sp>
        <p:nvSpPr>
          <p:cNvPr id="169" name="Shape 167"/>
          <p:cNvSpPr/>
          <p:nvPr/>
        </p:nvSpPr>
        <p:spPr>
          <a:xfrm>
            <a:off x="11457432" y="4852237"/>
            <a:ext cx="54864" cy="132319"/>
          </a:xfrm>
          <a:prstGeom prst="rect">
            <a:avLst/>
          </a:prstGeom>
          <a:solidFill>
            <a:srgbClr val="C2352F"/>
          </a:solidFill>
          <a:ln/>
        </p:spPr>
      </p:sp>
      <p:sp>
        <p:nvSpPr>
          <p:cNvPr id="170" name="Text 168"/>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1" name="Text 169"/>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2" name="Shape 170"/>
          <p:cNvSpPr/>
          <p:nvPr/>
        </p:nvSpPr>
        <p:spPr>
          <a:xfrm>
            <a:off x="8962691" y="5090691"/>
            <a:ext cx="167593" cy="102929"/>
          </a:xfrm>
          <a:prstGeom prst="rect">
            <a:avLst/>
          </a:prstGeom>
          <a:solidFill>
            <a:srgbClr val="C2352F"/>
          </a:solidFill>
          <a:ln/>
        </p:spPr>
      </p:sp>
      <p:sp>
        <p:nvSpPr>
          <p:cNvPr id="173" name="Text 171"/>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−$520K</a:t>
            </a:r>
            <a:endParaRPr lang="en-US" sz="1200" dirty="0"/>
          </a:p>
        </p:txBody>
      </p:sp>
      <p:sp>
        <p:nvSpPr>
          <p:cNvPr id="174" name="Text 172"/>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−10.4%</a:t>
            </a:r>
            <a:endParaRPr lang="en-US" sz="1200" dirty="0"/>
          </a:p>
        </p:txBody>
      </p:sp>
      <p:sp>
        <p:nvSpPr>
          <p:cNvPr id="175" name="Text 173"/>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77" name="Shape 175"/>
          <p:cNvSpPr/>
          <p:nvPr/>
        </p:nvSpPr>
        <p:spPr>
          <a:xfrm>
            <a:off x="8884884" y="5314450"/>
            <a:ext cx="245400" cy="102929"/>
          </a:xfrm>
          <a:prstGeom prst="rect">
            <a:avLst/>
          </a:prstGeom>
          <a:solidFill>
            <a:srgbClr val="C2352F"/>
          </a:solidFill>
          <a:ln/>
        </p:spPr>
      </p:sp>
      <p:sp>
        <p:nvSpPr>
          <p:cNvPr id="178" name="Text 176"/>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−$761K</a:t>
            </a:r>
            <a:endParaRPr lang="en-US" sz="1200" dirty="0"/>
          </a:p>
        </p:txBody>
      </p:sp>
      <p:sp>
        <p:nvSpPr>
          <p:cNvPr id="179" name="Text 177"/>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−13.7%</a:t>
            </a:r>
            <a:endParaRPr lang="en-US" sz="1200" dirty="0"/>
          </a:p>
        </p:txBody>
      </p:sp>
      <p:sp>
        <p:nvSpPr>
          <p:cNvPr id="180" name="Shape 178"/>
          <p:cNvSpPr/>
          <p:nvPr/>
        </p:nvSpPr>
        <p:spPr>
          <a:xfrm>
            <a:off x="11457432" y="5299755"/>
            <a:ext cx="54864" cy="132319"/>
          </a:xfrm>
          <a:prstGeom prst="rect">
            <a:avLst/>
          </a:prstGeom>
          <a:solidFill>
            <a:srgbClr val="C2352F"/>
          </a:solidFill>
          <a:ln/>
        </p:spPr>
      </p:sp>
      <p:sp>
        <p:nvSpPr>
          <p:cNvPr id="181" name="Text 17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83" name="Shape 181"/>
          <p:cNvSpPr/>
          <p:nvPr/>
        </p:nvSpPr>
        <p:spPr>
          <a:xfrm>
            <a:off x="8859512" y="5538209"/>
            <a:ext cx="270772" cy="102929"/>
          </a:xfrm>
          <a:prstGeom prst="rect">
            <a:avLst/>
          </a:prstGeom>
          <a:solidFill>
            <a:srgbClr val="C2352F"/>
          </a:solidFill>
          <a:ln/>
        </p:spPr>
      </p:sp>
      <p:sp>
        <p:nvSpPr>
          <p:cNvPr id="184" name="Text 182"/>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−$840K</a:t>
            </a:r>
            <a:endParaRPr lang="en-US" sz="1200" dirty="0"/>
          </a:p>
        </p:txBody>
      </p:sp>
      <p:sp>
        <p:nvSpPr>
          <p:cNvPr id="185" name="Text 183"/>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a:t>
            </a:r>
            <a:endParaRPr lang="en-US" sz="1200" dirty="0"/>
          </a:p>
        </p:txBody>
      </p:sp>
      <p:sp>
        <p:nvSpPr>
          <p:cNvPr id="186" name="Shape 184"/>
          <p:cNvSpPr/>
          <p:nvPr/>
        </p:nvSpPr>
        <p:spPr>
          <a:xfrm>
            <a:off x="3574390" y="2121408"/>
            <a:ext cx="10973" cy="3803904"/>
          </a:xfrm>
          <a:prstGeom prst="rect">
            <a:avLst/>
          </a:prstGeom>
          <a:solidFill>
            <a:srgbClr val="9AA3AD"/>
          </a:solidFill>
          <a:ln/>
        </p:spPr>
      </p:sp>
      <p:sp>
        <p:nvSpPr>
          <p:cNvPr id="187" name="Shape 185"/>
          <p:cNvSpPr/>
          <p:nvPr/>
        </p:nvSpPr>
        <p:spPr>
          <a:xfrm>
            <a:off x="9124798" y="2121408"/>
            <a:ext cx="10973" cy="3803904"/>
          </a:xfrm>
          <a:prstGeom prst="rect">
            <a:avLst/>
          </a:prstGeom>
          <a:solidFill>
            <a:srgbClr val="9AA3AD"/>
          </a:solidFill>
          <a:ln/>
        </p:spPr>
      </p:sp>
      <p:sp>
        <p:nvSpPr>
          <p:cNvPr id="188" name="Shape 186"/>
          <p:cNvSpPr/>
          <p:nvPr/>
        </p:nvSpPr>
        <p:spPr>
          <a:xfrm>
            <a:off x="6085332" y="2121408"/>
            <a:ext cx="10973" cy="3803904"/>
          </a:xfrm>
          <a:prstGeom prst="rect">
            <a:avLst/>
          </a:prstGeom>
          <a:solidFill>
            <a:srgbClr val="D9D9D9"/>
          </a:solidFill>
          <a:ln/>
        </p:spPr>
      </p:sp>
      <p:sp>
        <p:nvSpPr>
          <p:cNvPr id="190" name="Shape 187"/>
          <p:cNvSpPr/>
          <p:nvPr/>
        </p:nvSpPr>
        <p:spPr>
          <a:xfrm>
            <a:off x="457200" y="6126480"/>
            <a:ext cx="11274552" cy="371856"/>
          </a:xfrm>
          <a:prstGeom prst="rect">
            <a:avLst/>
          </a:prstGeom>
          <a:solidFill>
            <a:srgbClr val="E6F6EE"/>
          </a:solidFill>
          <a:ln/>
        </p:spPr>
      </p:sp>
      <p:sp>
        <p:nvSpPr>
          <p:cNvPr id="191" name="Text 18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25 of 33 stores grew.</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$1.54M</a:t>
            </a:r>
            <a:endParaRPr lang="en-US" sz="1400" dirty="0"/>
          </a:p>
        </p:txBody>
      </p:sp>
      <p:sp>
        <p:nvSpPr>
          <p:cNvPr id="13" name="Text 11"/>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+35.8%</a:t>
            </a:r>
            <a:endParaRPr lang="en-US" sz="1600" dirty="0"/>
          </a:p>
        </p:txBody>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$2.26M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$2.98M</a:t>
            </a:r>
            <a:endParaRPr lang="en-US" sz="1400" dirty="0"/>
          </a:p>
        </p:txBody>
      </p:sp>
      <p:sp>
        <p:nvSpPr>
          <p:cNvPr id="16" name="Text 14"/>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+31.7%</a:t>
            </a:r>
            <a:endParaRPr lang="en-US" sz="1600" dirty="0"/>
          </a:p>
        </p:txBody>
      </p:sp>
      <p:sp>
        <p:nvSpPr>
          <p:cNvPr id="17" name="Shape 15"/>
          <p:cNvSpPr/>
          <p:nvPr/>
        </p:nvSpPr>
        <p:spPr>
          <a:xfrm>
            <a:off x="658368" y="3760013"/>
            <a:ext cx="3489960" cy="828446"/>
          </a:xfrm>
          <a:prstGeom prst="rect">
            <a:avLst/>
          </a:prstGeom>
          <a:solidFill>
            <a:srgbClr val="F7F7F7"/>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$3.38M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$4.15M</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+22.6%</a:t>
            </a:r>
            <a:endParaRPr lang="en-US" sz="1600" dirty="0"/>
          </a:p>
        </p:txBody>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$10.64M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$12.34M</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+16.0%</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Text 23"/>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$2.33M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$2.70M</a:t>
            </a:r>
            <a:endParaRPr lang="en-US" sz="1400" dirty="0"/>
          </a:p>
        </p:txBody>
      </p:sp>
      <p:sp>
        <p:nvSpPr>
          <p:cNvPr id="27" name="Text 25"/>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828446"/>
          </a:xfrm>
          <a:prstGeom prst="rect">
            <a:avLst/>
          </a:prstGeom>
          <a:solidFill>
            <a:srgbClr val="F7F7F7"/>
          </a:solidFill>
          <a:ln/>
        </p:spPr>
      </p:sp>
      <p:sp>
        <p:nvSpPr>
          <p:cNvPr id="32" name="Text 30"/>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$3.41M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$2.89M</a:t>
            </a:r>
            <a:endParaRPr lang="en-US" sz="1400" dirty="0"/>
          </a:p>
        </p:txBody>
      </p:sp>
      <p:sp>
        <p:nvSpPr>
          <p:cNvPr id="34" name="Text 32"/>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−15.2%</a:t>
            </a:r>
            <a:endParaRPr lang="en-US" sz="1600" dirty="0"/>
          </a:p>
        </p:txBody>
      </p:sp>
      <p:sp>
        <p:nvSpPr>
          <p:cNvPr id="35" name="Text 33"/>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$968K</a:t>
            </a:r>
            <a:endParaRPr lang="en-US" sz="1400" dirty="0"/>
          </a:p>
        </p:txBody>
      </p:sp>
      <p:sp>
        <p:nvSpPr>
          <p:cNvPr id="37" name="Text 35"/>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−14.4%</a:t>
            </a:r>
            <a:endParaRPr lang="en-US" sz="1600" dirty="0"/>
          </a:p>
        </p:txBody>
      </p:sp>
      <p:sp>
        <p:nvSpPr>
          <p:cNvPr id="38" name="Shape 36"/>
          <p:cNvSpPr/>
          <p:nvPr/>
        </p:nvSpPr>
        <p:spPr>
          <a:xfrm>
            <a:off x="4349496" y="3760013"/>
            <a:ext cx="3489960" cy="828446"/>
          </a:xfrm>
          <a:prstGeom prst="rect">
            <a:avLst/>
          </a:prstGeom>
          <a:solidFill>
            <a:srgbClr val="F7F7F7"/>
          </a:solidFill>
          <a:ln/>
        </p:spPr>
      </p:sp>
      <p:sp>
        <p:nvSpPr>
          <p:cNvPr id="39" name="Text 37"/>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$5.55M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$4.79M</a:t>
            </a:r>
            <a:endParaRPr lang="en-US" sz="1400" dirty="0"/>
          </a:p>
        </p:txBody>
      </p:sp>
      <p:sp>
        <p:nvSpPr>
          <p:cNvPr id="41" name="Text 39"/>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−13.7%</a:t>
            </a:r>
            <a:endParaRPr lang="en-US" sz="1600" dirty="0"/>
          </a:p>
        </p:txBody>
      </p:sp>
      <p:sp>
        <p:nvSpPr>
          <p:cNvPr id="42" name="Text 40"/>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$4.98M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$4.46M</a:t>
            </a:r>
            <a:endParaRPr lang="en-US" sz="1400" dirty="0"/>
          </a:p>
        </p:txBody>
      </p:sp>
      <p:sp>
        <p:nvSpPr>
          <p:cNvPr id="44" name="Text 42"/>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−10.4%</a:t>
            </a:r>
            <a:endParaRPr lang="en-US" sz="1600" dirty="0"/>
          </a:p>
        </p:txBody>
      </p:sp>
      <p:sp>
        <p:nvSpPr>
          <p:cNvPr id="45" name="Shape 43"/>
          <p:cNvSpPr/>
          <p:nvPr/>
        </p:nvSpPr>
        <p:spPr>
          <a:xfrm>
            <a:off x="4349496" y="5416906"/>
            <a:ext cx="3489960" cy="828446"/>
          </a:xfrm>
          <a:prstGeom prst="rect">
            <a:avLst/>
          </a:prstGeom>
          <a:solidFill>
            <a:srgbClr val="F7F7F7"/>
          </a:solidFill>
          <a:ln/>
        </p:spPr>
      </p:sp>
      <p:sp>
        <p:nvSpPr>
          <p:cNvPr id="46" name="Text 44"/>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$9.46M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$8.62M</a:t>
            </a:r>
            <a:endParaRPr lang="en-US" sz="1400" dirty="0"/>
          </a:p>
        </p:txBody>
      </p:sp>
      <p:sp>
        <p:nvSpPr>
          <p:cNvPr id="48" name="Text 46"/>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−8.9%</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2" name="Shape 50"/>
          <p:cNvSpPr/>
          <p:nvPr/>
        </p:nvSpPr>
        <p:spPr>
          <a:xfrm>
            <a:off x="8040624" y="2103120"/>
            <a:ext cx="3489960" cy="828446"/>
          </a:xfrm>
          <a:prstGeom prst="rect">
            <a:avLst/>
          </a:prstGeom>
          <a:solidFill>
            <a:srgbClr val="F7F7F7"/>
          </a:solidFill>
          <a:ln/>
        </p:spPr>
      </p:sp>
      <p:sp>
        <p:nvSpPr>
          <p:cNvPr id="53" name="Text 51"/>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$313K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$425K</a:t>
            </a:r>
            <a:endParaRPr lang="en-US" sz="1400" dirty="0"/>
          </a:p>
        </p:txBody>
      </p:sp>
      <p:sp>
        <p:nvSpPr>
          <p:cNvPr id="55" name="Text 53"/>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+35.7%</a:t>
            </a:r>
            <a:endParaRPr lang="en-US" sz="1600" dirty="0"/>
          </a:p>
        </p:txBody>
      </p:sp>
      <p:sp>
        <p:nvSpPr>
          <p:cNvPr id="56" name="Text 54"/>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$301K</a:t>
            </a:r>
            <a:endParaRPr lang="en-US" sz="1400" dirty="0"/>
          </a:p>
        </p:txBody>
      </p:sp>
      <p:sp>
        <p:nvSpPr>
          <p:cNvPr id="58" name="Text 56"/>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+32.7%</a:t>
            </a:r>
            <a:endParaRPr lang="en-US" sz="1600" dirty="0"/>
          </a:p>
        </p:txBody>
      </p:sp>
      <p:sp>
        <p:nvSpPr>
          <p:cNvPr id="59" name="Shape 57"/>
          <p:cNvSpPr/>
          <p:nvPr/>
        </p:nvSpPr>
        <p:spPr>
          <a:xfrm>
            <a:off x="8040624" y="3760013"/>
            <a:ext cx="3489960" cy="828446"/>
          </a:xfrm>
          <a:prstGeom prst="rect">
            <a:avLst/>
          </a:prstGeom>
          <a:solidFill>
            <a:srgbClr val="F7F7F7"/>
          </a:solidFill>
          <a:ln/>
        </p:spPr>
      </p:sp>
      <p:sp>
        <p:nvSpPr>
          <p:cNvPr id="60" name="Text 58"/>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1" name="Text 59"/>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$429K</a:t>
            </a:r>
            <a:endParaRPr lang="en-US" sz="1400" dirty="0"/>
          </a:p>
        </p:txBody>
      </p:sp>
      <p:sp>
        <p:nvSpPr>
          <p:cNvPr id="62" name="Text 60"/>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+29.1%</a:t>
            </a:r>
            <a:endParaRPr lang="en-US" sz="1600" dirty="0"/>
          </a:p>
        </p:txBody>
      </p:sp>
      <p:sp>
        <p:nvSpPr>
          <p:cNvPr id="63" name="Text 61"/>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4" name="Text 62"/>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$364K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$448K</a:t>
            </a:r>
            <a:endParaRPr lang="en-US" sz="1400" dirty="0"/>
          </a:p>
        </p:txBody>
      </p:sp>
      <p:sp>
        <p:nvSpPr>
          <p:cNvPr id="65" name="Text 63"/>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+23.2%</a:t>
            </a:r>
            <a:endParaRPr lang="en-US" sz="1600" dirty="0"/>
          </a:p>
        </p:txBody>
      </p:sp>
      <p:sp>
        <p:nvSpPr>
          <p:cNvPr id="66" name="Shape 64"/>
          <p:cNvSpPr/>
          <p:nvPr/>
        </p:nvSpPr>
        <p:spPr>
          <a:xfrm>
            <a:off x="8040624" y="5416906"/>
            <a:ext cx="3489960" cy="828446"/>
          </a:xfrm>
          <a:prstGeom prst="rect">
            <a:avLst/>
          </a:prstGeom>
          <a:solidFill>
            <a:srgbClr val="F7F7F7"/>
          </a:solidFill>
          <a:ln/>
        </p:spPr>
      </p:sp>
      <p:sp>
        <p:nvSpPr>
          <p:cNvPr id="67" name="Shape 65"/>
          <p:cNvSpPr/>
          <p:nvPr/>
        </p:nvSpPr>
        <p:spPr>
          <a:xfrm>
            <a:off x="11466576" y="5453482"/>
            <a:ext cx="64008" cy="755294"/>
          </a:xfrm>
          <a:prstGeom prst="rect">
            <a:avLst/>
          </a:prstGeom>
          <a:solidFill>
            <a:srgbClr val="12A566"/>
          </a:solidFill>
          <a:ln/>
        </p:spPr>
      </p:sp>
      <p:sp>
        <p:nvSpPr>
          <p:cNvPr id="68" name="Text 66"/>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$188K</a:t>
            </a:r>
            <a:endParaRPr lang="en-US" sz="1400" dirty="0"/>
          </a:p>
        </p:txBody>
      </p:sp>
      <p:sp>
        <p:nvSpPr>
          <p:cNvPr id="70" name="Text 68"/>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+19.1%</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$120.57M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$126.87M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+$6.30M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Service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6F6EE"/>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+$6,297,386 (5.2%) year to date; 9 of nine months ahead of 2025, best September at +$1,457,847.</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$126.87M</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$16.38M</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79080"/>
            <a:ext cx="1178132"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$10.55M</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 name="Shape 19"/>
          <p:cNvSpPr/>
          <p:nvPr/>
        </p:nvSpPr>
        <p:spPr>
          <a:xfrm>
            <a:off x="2980944" y="2440491"/>
            <a:ext cx="1171781"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$10.50M</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5" name="Shape 23"/>
          <p:cNvSpPr/>
          <p:nvPr/>
        </p:nvSpPr>
        <p:spPr>
          <a:xfrm>
            <a:off x="2980944" y="2701901"/>
            <a:ext cx="982405"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$8.80M</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9" name="Shape 27"/>
          <p:cNvSpPr/>
          <p:nvPr/>
        </p:nvSpPr>
        <p:spPr>
          <a:xfrm>
            <a:off x="2980944" y="2963312"/>
            <a:ext cx="724430"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$6.49M</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3" name="Shape 31"/>
          <p:cNvSpPr/>
          <p:nvPr/>
        </p:nvSpPr>
        <p:spPr>
          <a:xfrm>
            <a:off x="2980944" y="3224723"/>
            <a:ext cx="698259"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$6.26M</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486134"/>
            <a:ext cx="660750"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$5.92M</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747545"/>
            <a:ext cx="455591"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$4.08M</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2980944" y="4008956"/>
            <a:ext cx="452277"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$4.05M</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9" name="Shape 47"/>
          <p:cNvSpPr/>
          <p:nvPr/>
        </p:nvSpPr>
        <p:spPr>
          <a:xfrm>
            <a:off x="2980944" y="4270366"/>
            <a:ext cx="410917"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$3.68M</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2980944" y="4531777"/>
            <a:ext cx="405463"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$3.63M</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2980944" y="4793188"/>
            <a:ext cx="390976"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$3.50M</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5054599"/>
            <a:ext cx="356124"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$3.19M</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5" name="Shape 63"/>
          <p:cNvSpPr/>
          <p:nvPr/>
        </p:nvSpPr>
        <p:spPr>
          <a:xfrm>
            <a:off x="2980944" y="5316010"/>
            <a:ext cx="352683"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$3.16M</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2980944" y="5577420"/>
            <a:ext cx="340845"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$3.05M</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2980944" y="5838831"/>
            <a:ext cx="339380"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$3.04M</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2980944" y="6100242"/>
            <a:ext cx="329329"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$2.95M</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1" name="Shape 79"/>
          <p:cNvSpPr/>
          <p:nvPr/>
        </p:nvSpPr>
        <p:spPr>
          <a:xfrm>
            <a:off x="8531352" y="1917669"/>
            <a:ext cx="311294"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$2.79M</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5" name="Shape 83"/>
          <p:cNvSpPr/>
          <p:nvPr/>
        </p:nvSpPr>
        <p:spPr>
          <a:xfrm>
            <a:off x="8531352" y="2179080"/>
            <a:ext cx="270275"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$2.42M</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440491"/>
            <a:ext cx="256215"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$2.30M</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3" name="Shape 91"/>
          <p:cNvSpPr/>
          <p:nvPr/>
        </p:nvSpPr>
        <p:spPr>
          <a:xfrm>
            <a:off x="8531352" y="2701901"/>
            <a:ext cx="245763"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$2.20M</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7" name="Shape 95"/>
          <p:cNvSpPr/>
          <p:nvPr/>
        </p:nvSpPr>
        <p:spPr>
          <a:xfrm>
            <a:off x="8531352" y="2963312"/>
            <a:ext cx="238967"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$2.14M</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224723"/>
            <a:ext cx="235763"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$2.11M</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31352" y="3486134"/>
            <a:ext cx="232807"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$2.09M</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747545"/>
            <a:ext cx="210714"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$1.89M</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3" name="Shape 111"/>
          <p:cNvSpPr/>
          <p:nvPr/>
        </p:nvSpPr>
        <p:spPr>
          <a:xfrm>
            <a:off x="8531352" y="4008956"/>
            <a:ext cx="178756"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$1.60M</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31352" y="4270366"/>
            <a:ext cx="162808"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$1.46M</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1" name="Shape 119"/>
          <p:cNvSpPr/>
          <p:nvPr/>
        </p:nvSpPr>
        <p:spPr>
          <a:xfrm>
            <a:off x="8531352" y="4531777"/>
            <a:ext cx="160552"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$1.44M</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31352" y="4793188"/>
            <a:ext cx="155672"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$1.39M</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9" name="Shape 127"/>
          <p:cNvSpPr/>
          <p:nvPr/>
        </p:nvSpPr>
        <p:spPr>
          <a:xfrm>
            <a:off x="8531352" y="5054599"/>
            <a:ext cx="131649"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$1.18M</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316010"/>
            <a:ext cx="116550"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$1.04M</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577420"/>
            <a:ext cx="110797" cy="120249"/>
          </a:xfrm>
          <a:prstGeom prst="rect">
            <a:avLst/>
          </a:prstGeom>
          <a:solidFill>
            <a:srgbClr val="2587C5"/>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$992,560</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838831"/>
            <a:ext cx="65691" cy="120249"/>
          </a:xfrm>
          <a:prstGeom prst="rect">
            <a:avLst/>
          </a:prstGeom>
          <a:solidFill>
            <a:srgbClr val="2587C5"/>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$588,480</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+$6.30M  ·  +5.2%</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+$1.50M</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2" name="Shape 20"/>
          <p:cNvSpPr/>
          <p:nvPr/>
        </p:nvSpPr>
        <p:spPr>
          <a:xfrm>
            <a:off x="3579876" y="2405582"/>
            <a:ext cx="540193"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+$1.42M</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+19.2%</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7" name="Shape 25"/>
          <p:cNvSpPr/>
          <p:nvPr/>
        </p:nvSpPr>
        <p:spPr>
          <a:xfrm>
            <a:off x="3579876" y="2629341"/>
            <a:ext cx="243705"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+$639K</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+27.7%</a:t>
            </a:r>
            <a:endParaRPr lang="en-US" sz="1200" dirty="0"/>
          </a:p>
        </p:txBody>
      </p:sp>
      <p:sp>
        <p:nvSpPr>
          <p:cNvPr id="30" name="Shape 28"/>
          <p:cNvSpPr/>
          <p:nvPr/>
        </p:nvSpPr>
        <p:spPr>
          <a:xfrm>
            <a:off x="5907024" y="2614646"/>
            <a:ext cx="54864" cy="132319"/>
          </a:xfrm>
          <a:prstGeom prst="rect">
            <a:avLst/>
          </a:prstGeom>
          <a:solidFill>
            <a:srgbClr val="12A566"/>
          </a:solidFill>
          <a:ln/>
        </p:spPr>
      </p:sp>
      <p:sp>
        <p:nvSpPr>
          <p:cNvPr id="31" name="Text 29"/>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33" name="Shape 31"/>
          <p:cNvSpPr/>
          <p:nvPr/>
        </p:nvSpPr>
        <p:spPr>
          <a:xfrm>
            <a:off x="3579876" y="2853100"/>
            <a:ext cx="236000" cy="102929"/>
          </a:xfrm>
          <a:prstGeom prst="rect">
            <a:avLst/>
          </a:prstGeom>
          <a:solidFill>
            <a:srgbClr val="12A566"/>
          </a:solidFill>
          <a:ln/>
        </p:spPr>
      </p:sp>
      <p:sp>
        <p:nvSpPr>
          <p:cNvPr id="34" name="Text 32"/>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+$619K</a:t>
            </a:r>
            <a:endParaRPr lang="en-US" sz="1200" dirty="0"/>
          </a:p>
        </p:txBody>
      </p:sp>
      <p:sp>
        <p:nvSpPr>
          <p:cNvPr id="35" name="Text 33"/>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+20.5%</a:t>
            </a:r>
            <a:endParaRPr lang="en-US" sz="1200" dirty="0"/>
          </a:p>
        </p:txBody>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8" name="Shape 36"/>
          <p:cNvSpPr/>
          <p:nvPr/>
        </p:nvSpPr>
        <p:spPr>
          <a:xfrm>
            <a:off x="3579876" y="3076859"/>
            <a:ext cx="232878"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+$611K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3" name="Shape 41"/>
          <p:cNvSpPr/>
          <p:nvPr/>
        </p:nvSpPr>
        <p:spPr>
          <a:xfrm>
            <a:off x="3579876" y="3300618"/>
            <a:ext cx="229387" cy="102929"/>
          </a:xfrm>
          <a:prstGeom prst="rect">
            <a:avLst/>
          </a:prstGeom>
          <a:solidFill>
            <a:srgbClr val="12A566"/>
          </a:solidFill>
          <a:ln/>
        </p:spPr>
      </p:sp>
      <p:sp>
        <p:nvSpPr>
          <p:cNvPr id="44" name="Text 42"/>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+$602K</a:t>
            </a:r>
            <a:endParaRPr lang="en-US" sz="1200" dirty="0"/>
          </a:p>
        </p:txBody>
      </p:sp>
      <p:sp>
        <p:nvSpPr>
          <p:cNvPr id="45" name="Text 43"/>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+19.5%</a:t>
            </a:r>
            <a:endParaRPr lang="en-US" sz="1200" dirty="0"/>
          </a:p>
        </p:txBody>
      </p:sp>
      <p:sp>
        <p:nvSpPr>
          <p:cNvPr id="46" name="Text 44"/>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7" name="Text 45"/>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8" name="Shape 46"/>
          <p:cNvSpPr/>
          <p:nvPr/>
        </p:nvSpPr>
        <p:spPr>
          <a:xfrm>
            <a:off x="3579876" y="3524377"/>
            <a:ext cx="181006" cy="102929"/>
          </a:xfrm>
          <a:prstGeom prst="rect">
            <a:avLst/>
          </a:prstGeom>
          <a:solidFill>
            <a:srgbClr val="12A566"/>
          </a:solidFill>
          <a:ln/>
        </p:spPr>
      </p:sp>
      <p:sp>
        <p:nvSpPr>
          <p:cNvPr id="49" name="Text 47"/>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+$475K</a:t>
            </a:r>
            <a:endParaRPr lang="en-US" sz="1200" dirty="0"/>
          </a:p>
        </p:txBody>
      </p:sp>
      <p:sp>
        <p:nvSpPr>
          <p:cNvPr id="50" name="Text 48"/>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+29.5%</a:t>
            </a:r>
            <a:endParaRPr lang="en-US" sz="1200" dirty="0"/>
          </a:p>
        </p:txBody>
      </p:sp>
      <p:sp>
        <p:nvSpPr>
          <p:cNvPr id="51" name="Shape 49"/>
          <p:cNvSpPr/>
          <p:nvPr/>
        </p:nvSpPr>
        <p:spPr>
          <a:xfrm>
            <a:off x="5907024" y="3509682"/>
            <a:ext cx="54864" cy="132319"/>
          </a:xfrm>
          <a:prstGeom prst="rect">
            <a:avLst/>
          </a:prstGeom>
          <a:solidFill>
            <a:srgbClr val="12A566"/>
          </a:solidFill>
          <a:ln/>
        </p:spPr>
      </p:sp>
      <p:sp>
        <p:nvSpPr>
          <p:cNvPr id="52" name="Text 50"/>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3" name="Text 51"/>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4" name="Shape 52"/>
          <p:cNvSpPr/>
          <p:nvPr/>
        </p:nvSpPr>
        <p:spPr>
          <a:xfrm>
            <a:off x="3579876" y="3748136"/>
            <a:ext cx="148529" cy="102929"/>
          </a:xfrm>
          <a:prstGeom prst="rect">
            <a:avLst/>
          </a:prstGeom>
          <a:solidFill>
            <a:srgbClr val="12A566"/>
          </a:solidFill>
          <a:ln/>
        </p:spPr>
      </p:sp>
      <p:sp>
        <p:nvSpPr>
          <p:cNvPr id="55" name="Text 53"/>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+$390K</a:t>
            </a:r>
            <a:endParaRPr lang="en-US" sz="1200" dirty="0"/>
          </a:p>
        </p:txBody>
      </p:sp>
      <p:sp>
        <p:nvSpPr>
          <p:cNvPr id="56" name="Text 54"/>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+14.1%</a:t>
            </a:r>
            <a:endParaRPr lang="en-US" sz="1200" dirty="0"/>
          </a:p>
        </p:txBody>
      </p:sp>
      <p:sp>
        <p:nvSpPr>
          <p:cNvPr id="57" name="Text 55"/>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8" name="Text 56"/>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9" name="Shape 57"/>
          <p:cNvSpPr/>
          <p:nvPr/>
        </p:nvSpPr>
        <p:spPr>
          <a:xfrm>
            <a:off x="3579876" y="3971895"/>
            <a:ext cx="146541" cy="102929"/>
          </a:xfrm>
          <a:prstGeom prst="rect">
            <a:avLst/>
          </a:prstGeom>
          <a:solidFill>
            <a:srgbClr val="12A566"/>
          </a:solidFill>
          <a:ln/>
        </p:spPr>
      </p:sp>
      <p:sp>
        <p:nvSpPr>
          <p:cNvPr id="60" name="Text 58"/>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+$384K</a:t>
            </a:r>
            <a:endParaRPr lang="en-US" sz="1200" dirty="0"/>
          </a:p>
        </p:txBody>
      </p:sp>
      <p:sp>
        <p:nvSpPr>
          <p:cNvPr id="61" name="Text 59"/>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62" name="Text 60"/>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4" name="Shape 62"/>
          <p:cNvSpPr/>
          <p:nvPr/>
        </p:nvSpPr>
        <p:spPr>
          <a:xfrm>
            <a:off x="3579876" y="4195654"/>
            <a:ext cx="131469" cy="102929"/>
          </a:xfrm>
          <a:prstGeom prst="rect">
            <a:avLst/>
          </a:prstGeom>
          <a:solidFill>
            <a:srgbClr val="12A566"/>
          </a:solidFill>
          <a:ln/>
        </p:spPr>
      </p:sp>
      <p:sp>
        <p:nvSpPr>
          <p:cNvPr id="65" name="Text 63"/>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+$345K</a:t>
            </a:r>
            <a:endParaRPr lang="en-US" sz="1200" dirty="0"/>
          </a:p>
        </p:txBody>
      </p:sp>
      <p:sp>
        <p:nvSpPr>
          <p:cNvPr id="66" name="Text 64"/>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+53.3%</a:t>
            </a:r>
            <a:endParaRPr lang="en-US" sz="1200" dirty="0"/>
          </a:p>
        </p:txBody>
      </p:sp>
      <p:sp>
        <p:nvSpPr>
          <p:cNvPr id="67" name="Shape 65"/>
          <p:cNvSpPr/>
          <p:nvPr/>
        </p:nvSpPr>
        <p:spPr>
          <a:xfrm>
            <a:off x="5907024" y="4180960"/>
            <a:ext cx="54864" cy="132319"/>
          </a:xfrm>
          <a:prstGeom prst="rect">
            <a:avLst/>
          </a:prstGeom>
          <a:solidFill>
            <a:srgbClr val="12A566"/>
          </a:solidFill>
          <a:ln/>
        </p:spPr>
      </p:sp>
      <p:sp>
        <p:nvSpPr>
          <p:cNvPr id="68" name="Text 66"/>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9" name="Text 67"/>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70" name="Shape 68"/>
          <p:cNvSpPr/>
          <p:nvPr/>
        </p:nvSpPr>
        <p:spPr>
          <a:xfrm>
            <a:off x="3579876" y="4419414"/>
            <a:ext cx="120062" cy="102929"/>
          </a:xfrm>
          <a:prstGeom prst="rect">
            <a:avLst/>
          </a:prstGeom>
          <a:solidFill>
            <a:srgbClr val="12A566"/>
          </a:solidFill>
          <a:ln/>
        </p:spPr>
      </p:sp>
      <p:sp>
        <p:nvSpPr>
          <p:cNvPr id="71" name="Text 69"/>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+$315K</a:t>
            </a:r>
            <a:endParaRPr lang="en-US" sz="1200" dirty="0"/>
          </a:p>
        </p:txBody>
      </p:sp>
      <p:sp>
        <p:nvSpPr>
          <p:cNvPr id="72" name="Text 70"/>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+27.5%</a:t>
            </a:r>
            <a:endParaRPr lang="en-US" sz="1200" dirty="0"/>
          </a:p>
        </p:txBody>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5" name="Shape 73"/>
          <p:cNvSpPr/>
          <p:nvPr/>
        </p:nvSpPr>
        <p:spPr>
          <a:xfrm>
            <a:off x="3579876" y="4643173"/>
            <a:ext cx="111374"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+$292K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a:t>
            </a:r>
            <a:endParaRPr lang="en-US" sz="1200" dirty="0"/>
          </a:p>
        </p:txBody>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0" name="Shape 78"/>
          <p:cNvSpPr/>
          <p:nvPr/>
        </p:nvSpPr>
        <p:spPr>
          <a:xfrm>
            <a:off x="3579876" y="4866932"/>
            <a:ext cx="89160"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+$234K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5" name="Shape 83"/>
          <p:cNvSpPr/>
          <p:nvPr/>
        </p:nvSpPr>
        <p:spPr>
          <a:xfrm>
            <a:off x="3579876" y="5090691"/>
            <a:ext cx="82605"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+$217K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+15.7%</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0" name="Shape 88"/>
          <p:cNvSpPr/>
          <p:nvPr/>
        </p:nvSpPr>
        <p:spPr>
          <a:xfrm>
            <a:off x="3579876" y="5314450"/>
            <a:ext cx="76873"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+$202K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5" name="Shape 93"/>
          <p:cNvSpPr/>
          <p:nvPr/>
        </p:nvSpPr>
        <p:spPr>
          <a:xfrm>
            <a:off x="3579876" y="5538209"/>
            <a:ext cx="74606"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+$196K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+5.0%</a:t>
            </a:r>
            <a:endParaRPr lang="en-US" sz="1200" dirty="0"/>
          </a:p>
        </p:txBody>
      </p:sp>
      <p:sp>
        <p:nvSpPr>
          <p:cNvPr id="98" name="Text 96"/>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0" name="Shape 98"/>
          <p:cNvSpPr/>
          <p:nvPr/>
        </p:nvSpPr>
        <p:spPr>
          <a:xfrm>
            <a:off x="3579876" y="5761968"/>
            <a:ext cx="64461" cy="102929"/>
          </a:xfrm>
          <a:prstGeom prst="rect">
            <a:avLst/>
          </a:prstGeom>
          <a:solidFill>
            <a:srgbClr val="12A566"/>
          </a:solidFill>
          <a:ln/>
        </p:spPr>
      </p:sp>
      <p:sp>
        <p:nvSpPr>
          <p:cNvPr id="101" name="Text 99"/>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+$169K</a:t>
            </a:r>
            <a:endParaRPr lang="en-US" sz="1200" dirty="0"/>
          </a:p>
        </p:txBody>
      </p:sp>
      <p:sp>
        <p:nvSpPr>
          <p:cNvPr id="102" name="Text 100"/>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+13.8%</a:t>
            </a:r>
            <a:endParaRPr lang="en-US" sz="1200" dirty="0"/>
          </a:p>
        </p:txBody>
      </p:sp>
      <p:sp>
        <p:nvSpPr>
          <p:cNvPr id="103" name="Text 10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05" name="Shape 103"/>
          <p:cNvSpPr/>
          <p:nvPr/>
        </p:nvSpPr>
        <p:spPr>
          <a:xfrm>
            <a:off x="9130284" y="2181823"/>
            <a:ext cx="61599" cy="102929"/>
          </a:xfrm>
          <a:prstGeom prst="rect">
            <a:avLst/>
          </a:prstGeom>
          <a:solidFill>
            <a:srgbClr val="12A566"/>
          </a:solidFill>
          <a:ln/>
        </p:spPr>
      </p:sp>
      <p:sp>
        <p:nvSpPr>
          <p:cNvPr id="106" name="Text 104"/>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+$162K</a:t>
            </a:r>
            <a:endParaRPr lang="en-US" sz="1200" dirty="0"/>
          </a:p>
        </p:txBody>
      </p:sp>
      <p:sp>
        <p:nvSpPr>
          <p:cNvPr id="107" name="Text 105"/>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+12.7%</a:t>
            </a:r>
            <a:endParaRPr lang="en-US" sz="1200" dirty="0"/>
          </a:p>
        </p:txBody>
      </p:sp>
      <p:sp>
        <p:nvSpPr>
          <p:cNvPr id="108" name="Text 106"/>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0" name="Shape 108"/>
          <p:cNvSpPr/>
          <p:nvPr/>
        </p:nvSpPr>
        <p:spPr>
          <a:xfrm>
            <a:off x="9130284" y="2405582"/>
            <a:ext cx="43013" cy="102929"/>
          </a:xfrm>
          <a:prstGeom prst="rect">
            <a:avLst/>
          </a:prstGeom>
          <a:solidFill>
            <a:srgbClr val="12A566"/>
          </a:solidFill>
          <a:ln/>
        </p:spPr>
      </p:sp>
      <p:sp>
        <p:nvSpPr>
          <p:cNvPr id="111" name="Text 109"/>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+$113K</a:t>
            </a:r>
            <a:endParaRPr lang="en-US" sz="1200" dirty="0"/>
          </a:p>
        </p:txBody>
      </p:sp>
      <p:sp>
        <p:nvSpPr>
          <p:cNvPr id="112" name="Text 110"/>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a:t>
            </a:r>
            <a:endParaRPr lang="en-US" sz="1200" dirty="0"/>
          </a:p>
        </p:txBody>
      </p:sp>
      <p:sp>
        <p:nvSpPr>
          <p:cNvPr id="113" name="Text 111"/>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5" name="Shape 113"/>
          <p:cNvSpPr/>
          <p:nvPr/>
        </p:nvSpPr>
        <p:spPr>
          <a:xfrm>
            <a:off x="9130284" y="2629341"/>
            <a:ext cx="25977" cy="102929"/>
          </a:xfrm>
          <a:prstGeom prst="rect">
            <a:avLst/>
          </a:prstGeom>
          <a:solidFill>
            <a:srgbClr val="12A566"/>
          </a:solidFill>
          <a:ln/>
        </p:spPr>
      </p:sp>
      <p:sp>
        <p:nvSpPr>
          <p:cNvPr id="116" name="Text 114"/>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+$68K</a:t>
            </a:r>
            <a:endParaRPr lang="en-US" sz="1200" dirty="0"/>
          </a:p>
        </p:txBody>
      </p:sp>
      <p:sp>
        <p:nvSpPr>
          <p:cNvPr id="117" name="Text 115"/>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118" name="Text 116"/>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0" name="Shape 118"/>
          <p:cNvSpPr/>
          <p:nvPr/>
        </p:nvSpPr>
        <p:spPr>
          <a:xfrm>
            <a:off x="9130284" y="2853100"/>
            <a:ext cx="12802" cy="102929"/>
          </a:xfrm>
          <a:prstGeom prst="rect">
            <a:avLst/>
          </a:prstGeom>
          <a:solidFill>
            <a:srgbClr val="12A566"/>
          </a:solidFill>
          <a:ln/>
        </p:spPr>
      </p:sp>
      <p:sp>
        <p:nvSpPr>
          <p:cNvPr id="121" name="Text 119"/>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+$31K</a:t>
            </a:r>
            <a:endParaRPr lang="en-US" sz="1200" dirty="0"/>
          </a:p>
        </p:txBody>
      </p:sp>
      <p:sp>
        <p:nvSpPr>
          <p:cNvPr id="122" name="Text 120"/>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a:t>
            </a:r>
            <a:endParaRPr lang="en-US" sz="1200" dirty="0"/>
          </a:p>
        </p:txBody>
      </p:sp>
      <p:sp>
        <p:nvSpPr>
          <p:cNvPr id="123" name="Text 121"/>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9130284" y="3076859"/>
            <a:ext cx="12802" cy="102929"/>
          </a:xfrm>
          <a:prstGeom prst="rect">
            <a:avLst/>
          </a:prstGeom>
          <a:solidFill>
            <a:srgbClr val="12A566"/>
          </a:solidFill>
          <a:ln/>
        </p:spPr>
      </p:sp>
      <p:sp>
        <p:nvSpPr>
          <p:cNvPr id="126" name="Text 124"/>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+$20K</a:t>
            </a:r>
            <a:endParaRPr lang="en-US" sz="1200" dirty="0"/>
          </a:p>
        </p:txBody>
      </p:sp>
      <p:sp>
        <p:nvSpPr>
          <p:cNvPr id="127" name="Text 125"/>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+0.7%</a:t>
            </a:r>
            <a:endParaRPr lang="en-US" sz="1200" dirty="0"/>
          </a:p>
        </p:txBody>
      </p:sp>
      <p:sp>
        <p:nvSpPr>
          <p:cNvPr id="128" name="Text 126"/>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0" name="Shape 128"/>
          <p:cNvSpPr/>
          <p:nvPr/>
        </p:nvSpPr>
        <p:spPr>
          <a:xfrm>
            <a:off x="9130284" y="3300618"/>
            <a:ext cx="12802" cy="102929"/>
          </a:xfrm>
          <a:prstGeom prst="rect">
            <a:avLst/>
          </a:prstGeom>
          <a:solidFill>
            <a:srgbClr val="12A566"/>
          </a:solidFill>
          <a:ln/>
        </p:spPr>
      </p:sp>
      <p:sp>
        <p:nvSpPr>
          <p:cNvPr id="131" name="Text 129"/>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+$20K</a:t>
            </a:r>
            <a:endParaRPr lang="en-US" sz="1200" dirty="0"/>
          </a:p>
        </p:txBody>
      </p:sp>
      <p:sp>
        <p:nvSpPr>
          <p:cNvPr id="132" name="Text 130"/>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133" name="Text 131"/>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5" name="Shape 133"/>
          <p:cNvSpPr/>
          <p:nvPr/>
        </p:nvSpPr>
        <p:spPr>
          <a:xfrm>
            <a:off x="9121165" y="3524377"/>
            <a:ext cx="12802" cy="102929"/>
          </a:xfrm>
          <a:prstGeom prst="rect">
            <a:avLst/>
          </a:prstGeom>
          <a:solidFill>
            <a:srgbClr val="C2352F"/>
          </a:solidFill>
          <a:ln/>
        </p:spPr>
      </p:sp>
      <p:sp>
        <p:nvSpPr>
          <p:cNvPr id="136" name="Text 134"/>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−$24K</a:t>
            </a:r>
            <a:endParaRPr lang="en-US" sz="1200" dirty="0"/>
          </a:p>
        </p:txBody>
      </p:sp>
      <p:sp>
        <p:nvSpPr>
          <p:cNvPr id="137" name="Text 135"/>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38" name="Text 136"/>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0" name="Shape 138"/>
          <p:cNvSpPr/>
          <p:nvPr/>
        </p:nvSpPr>
        <p:spPr>
          <a:xfrm>
            <a:off x="9119721" y="3748136"/>
            <a:ext cx="12802" cy="102929"/>
          </a:xfrm>
          <a:prstGeom prst="rect">
            <a:avLst/>
          </a:prstGeom>
          <a:solidFill>
            <a:srgbClr val="C2352F"/>
          </a:solidFill>
          <a:ln/>
        </p:spPr>
      </p:sp>
      <p:sp>
        <p:nvSpPr>
          <p:cNvPr id="141" name="Text 139"/>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−$28K</a:t>
            </a:r>
            <a:endParaRPr lang="en-US" sz="1200" dirty="0"/>
          </a:p>
        </p:txBody>
      </p:sp>
      <p:sp>
        <p:nvSpPr>
          <p:cNvPr id="142" name="Text 140"/>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a:t>
            </a:r>
            <a:endParaRPr lang="en-US" sz="1200" dirty="0"/>
          </a:p>
        </p:txBody>
      </p:sp>
      <p:sp>
        <p:nvSpPr>
          <p:cNvPr id="143" name="Text 141"/>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5" name="Shape 143"/>
          <p:cNvSpPr/>
          <p:nvPr/>
        </p:nvSpPr>
        <p:spPr>
          <a:xfrm>
            <a:off x="9108276" y="3971895"/>
            <a:ext cx="22008" cy="102929"/>
          </a:xfrm>
          <a:prstGeom prst="rect">
            <a:avLst/>
          </a:prstGeom>
          <a:solidFill>
            <a:srgbClr val="C2352F"/>
          </a:solidFill>
          <a:ln/>
        </p:spPr>
      </p:sp>
      <p:sp>
        <p:nvSpPr>
          <p:cNvPr id="146" name="Text 144"/>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−$58K</a:t>
            </a:r>
            <a:endParaRPr lang="en-US" sz="1200" dirty="0"/>
          </a:p>
        </p:txBody>
      </p:sp>
      <p:sp>
        <p:nvSpPr>
          <p:cNvPr id="147" name="Text 145"/>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48" name="Text 146"/>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9" name="Text 147"/>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50" name="Shape 148"/>
          <p:cNvSpPr/>
          <p:nvPr/>
        </p:nvSpPr>
        <p:spPr>
          <a:xfrm>
            <a:off x="9078809" y="4195654"/>
            <a:ext cx="51475" cy="102929"/>
          </a:xfrm>
          <a:prstGeom prst="rect">
            <a:avLst/>
          </a:prstGeom>
          <a:solidFill>
            <a:srgbClr val="C2352F"/>
          </a:solidFill>
          <a:ln/>
        </p:spPr>
      </p:sp>
      <p:sp>
        <p:nvSpPr>
          <p:cNvPr id="151" name="Text 149"/>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−$135K</a:t>
            </a:r>
            <a:endParaRPr lang="en-US" sz="1200" dirty="0"/>
          </a:p>
        </p:txBody>
      </p:sp>
      <p:sp>
        <p:nvSpPr>
          <p:cNvPr id="152" name="Text 150"/>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−18.7%</a:t>
            </a:r>
            <a:endParaRPr lang="en-US" sz="1200" dirty="0"/>
          </a:p>
        </p:txBody>
      </p:sp>
      <p:sp>
        <p:nvSpPr>
          <p:cNvPr id="153" name="Shape 151"/>
          <p:cNvSpPr/>
          <p:nvPr/>
        </p:nvSpPr>
        <p:spPr>
          <a:xfrm>
            <a:off x="11457432" y="4180960"/>
            <a:ext cx="54864" cy="132319"/>
          </a:xfrm>
          <a:prstGeom prst="rect">
            <a:avLst/>
          </a:prstGeom>
          <a:solidFill>
            <a:srgbClr val="C2352F"/>
          </a:solidFill>
          <a:ln/>
        </p:spPr>
      </p:sp>
      <p:sp>
        <p:nvSpPr>
          <p:cNvPr id="154" name="Text 152"/>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5" name="Text 153"/>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56" name="Shape 154"/>
          <p:cNvSpPr/>
          <p:nvPr/>
        </p:nvSpPr>
        <p:spPr>
          <a:xfrm>
            <a:off x="9057123" y="4419414"/>
            <a:ext cx="73161" cy="102929"/>
          </a:xfrm>
          <a:prstGeom prst="rect">
            <a:avLst/>
          </a:prstGeom>
          <a:solidFill>
            <a:srgbClr val="C2352F"/>
          </a:solidFill>
          <a:ln/>
        </p:spPr>
      </p:sp>
      <p:sp>
        <p:nvSpPr>
          <p:cNvPr id="157" name="Text 155"/>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−$192K</a:t>
            </a:r>
            <a:endParaRPr lang="en-US" sz="1200" dirty="0"/>
          </a:p>
        </p:txBody>
      </p:sp>
      <p:sp>
        <p:nvSpPr>
          <p:cNvPr id="158" name="Text 156"/>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59" name="Text 15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0" name="Text 15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61" name="Shape 159"/>
          <p:cNvSpPr/>
          <p:nvPr/>
        </p:nvSpPr>
        <p:spPr>
          <a:xfrm>
            <a:off x="9049734" y="4643173"/>
            <a:ext cx="80550" cy="102929"/>
          </a:xfrm>
          <a:prstGeom prst="rect">
            <a:avLst/>
          </a:prstGeom>
          <a:solidFill>
            <a:srgbClr val="C2352F"/>
          </a:solidFill>
          <a:ln/>
        </p:spPr>
      </p:sp>
      <p:sp>
        <p:nvSpPr>
          <p:cNvPr id="162" name="Text 160"/>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−$211K</a:t>
            </a:r>
            <a:endParaRPr lang="en-US" sz="1200" dirty="0"/>
          </a:p>
        </p:txBody>
      </p:sp>
      <p:sp>
        <p:nvSpPr>
          <p:cNvPr id="163" name="Text 161"/>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a:t>
            </a:r>
            <a:endParaRPr lang="en-US" sz="1200" dirty="0"/>
          </a:p>
        </p:txBody>
      </p:sp>
      <p:sp>
        <p:nvSpPr>
          <p:cNvPr id="164" name="Text 162"/>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5" name="Text 163"/>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66" name="Shape 164"/>
          <p:cNvSpPr/>
          <p:nvPr/>
        </p:nvSpPr>
        <p:spPr>
          <a:xfrm>
            <a:off x="8979773" y="4866932"/>
            <a:ext cx="150511" cy="102929"/>
          </a:xfrm>
          <a:prstGeom prst="rect">
            <a:avLst/>
          </a:prstGeom>
          <a:solidFill>
            <a:srgbClr val="C2352F"/>
          </a:solidFill>
          <a:ln/>
        </p:spPr>
      </p:sp>
      <p:sp>
        <p:nvSpPr>
          <p:cNvPr id="167" name="Text 165"/>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−$395K</a:t>
            </a:r>
            <a:endParaRPr lang="en-US" sz="1200" dirty="0"/>
          </a:p>
        </p:txBody>
      </p:sp>
      <p:sp>
        <p:nvSpPr>
          <p:cNvPr id="168" name="Text 166"/>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169" name="Text 167"/>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0" name="Text 168"/>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71" name="Shape 169"/>
          <p:cNvSpPr/>
          <p:nvPr/>
        </p:nvSpPr>
        <p:spPr>
          <a:xfrm>
            <a:off x="8963351" y="5090691"/>
            <a:ext cx="166933" cy="102929"/>
          </a:xfrm>
          <a:prstGeom prst="rect">
            <a:avLst/>
          </a:prstGeom>
          <a:solidFill>
            <a:srgbClr val="C2352F"/>
          </a:solidFill>
          <a:ln/>
        </p:spPr>
      </p:sp>
      <p:sp>
        <p:nvSpPr>
          <p:cNvPr id="172" name="Text 170"/>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−$438K</a:t>
            </a:r>
            <a:endParaRPr lang="en-US" sz="1200" dirty="0"/>
          </a:p>
        </p:txBody>
      </p:sp>
      <p:sp>
        <p:nvSpPr>
          <p:cNvPr id="173" name="Text 171"/>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−18.8%</a:t>
            </a:r>
            <a:endParaRPr lang="en-US" sz="1200" dirty="0"/>
          </a:p>
        </p:txBody>
      </p:sp>
      <p:sp>
        <p:nvSpPr>
          <p:cNvPr id="174" name="Shape 172"/>
          <p:cNvSpPr/>
          <p:nvPr/>
        </p:nvSpPr>
        <p:spPr>
          <a:xfrm>
            <a:off x="11457432" y="5075996"/>
            <a:ext cx="54864" cy="132319"/>
          </a:xfrm>
          <a:prstGeom prst="rect">
            <a:avLst/>
          </a:prstGeom>
          <a:solidFill>
            <a:srgbClr val="C2352F"/>
          </a:solidFill>
          <a:ln/>
        </p:spPr>
      </p:sp>
      <p:sp>
        <p:nvSpPr>
          <p:cNvPr id="175" name="Text 173"/>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77" name="Shape 175"/>
          <p:cNvSpPr/>
          <p:nvPr/>
        </p:nvSpPr>
        <p:spPr>
          <a:xfrm>
            <a:off x="8921692" y="5314450"/>
            <a:ext cx="208592" cy="102929"/>
          </a:xfrm>
          <a:prstGeom prst="rect">
            <a:avLst/>
          </a:prstGeom>
          <a:solidFill>
            <a:srgbClr val="C2352F"/>
          </a:solidFill>
          <a:ln/>
        </p:spPr>
      </p:sp>
      <p:sp>
        <p:nvSpPr>
          <p:cNvPr id="178" name="Text 176"/>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−$547K</a:t>
            </a:r>
            <a:endParaRPr lang="en-US" sz="1200" dirty="0"/>
          </a:p>
        </p:txBody>
      </p:sp>
      <p:sp>
        <p:nvSpPr>
          <p:cNvPr id="179" name="Text 177"/>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180" name="Shape 178"/>
          <p:cNvSpPr/>
          <p:nvPr/>
        </p:nvSpPr>
        <p:spPr>
          <a:xfrm>
            <a:off x="11457432" y="5299755"/>
            <a:ext cx="54864" cy="132319"/>
          </a:xfrm>
          <a:prstGeom prst="rect">
            <a:avLst/>
          </a:prstGeom>
          <a:solidFill>
            <a:srgbClr val="C2352F"/>
          </a:solidFill>
          <a:ln/>
        </p:spPr>
      </p:sp>
      <p:sp>
        <p:nvSpPr>
          <p:cNvPr id="181" name="Text 17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83" name="Shape 181"/>
          <p:cNvSpPr/>
          <p:nvPr/>
        </p:nvSpPr>
        <p:spPr>
          <a:xfrm>
            <a:off x="8865502" y="5538209"/>
            <a:ext cx="264782" cy="102929"/>
          </a:xfrm>
          <a:prstGeom prst="rect">
            <a:avLst/>
          </a:prstGeom>
          <a:solidFill>
            <a:srgbClr val="C2352F"/>
          </a:solidFill>
          <a:ln/>
        </p:spPr>
      </p:sp>
      <p:sp>
        <p:nvSpPr>
          <p:cNvPr id="184" name="Text 182"/>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−$695K</a:t>
            </a:r>
            <a:endParaRPr lang="en-US" sz="1200" dirty="0"/>
          </a:p>
        </p:txBody>
      </p:sp>
      <p:sp>
        <p:nvSpPr>
          <p:cNvPr id="185" name="Text 183"/>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−10.5%</a:t>
            </a:r>
            <a:endParaRPr lang="en-US" sz="1200" dirty="0"/>
          </a:p>
        </p:txBody>
      </p:sp>
      <p:sp>
        <p:nvSpPr>
          <p:cNvPr id="186" name="Shape 184"/>
          <p:cNvSpPr/>
          <p:nvPr/>
        </p:nvSpPr>
        <p:spPr>
          <a:xfrm>
            <a:off x="3574390" y="2121408"/>
            <a:ext cx="10973" cy="3803904"/>
          </a:xfrm>
          <a:prstGeom prst="rect">
            <a:avLst/>
          </a:prstGeom>
          <a:solidFill>
            <a:srgbClr val="9AA3AD"/>
          </a:solidFill>
          <a:ln/>
        </p:spPr>
      </p:sp>
      <p:sp>
        <p:nvSpPr>
          <p:cNvPr id="187" name="Shape 185"/>
          <p:cNvSpPr/>
          <p:nvPr/>
        </p:nvSpPr>
        <p:spPr>
          <a:xfrm>
            <a:off x="9124798" y="2121408"/>
            <a:ext cx="10973" cy="3803904"/>
          </a:xfrm>
          <a:prstGeom prst="rect">
            <a:avLst/>
          </a:prstGeom>
          <a:solidFill>
            <a:srgbClr val="9AA3AD"/>
          </a:solidFill>
          <a:ln/>
        </p:spPr>
      </p:sp>
      <p:sp>
        <p:nvSpPr>
          <p:cNvPr id="188" name="Shape 186"/>
          <p:cNvSpPr/>
          <p:nvPr/>
        </p:nvSpPr>
        <p:spPr>
          <a:xfrm>
            <a:off x="6085332" y="2121408"/>
            <a:ext cx="10973" cy="3803904"/>
          </a:xfrm>
          <a:prstGeom prst="rect">
            <a:avLst/>
          </a:prstGeom>
          <a:solidFill>
            <a:srgbClr val="D9D9D9"/>
          </a:solidFill>
          <a:ln/>
        </p:spPr>
      </p:sp>
      <p:sp>
        <p:nvSpPr>
          <p:cNvPr id="190" name="Shape 187"/>
          <p:cNvSpPr/>
          <p:nvPr/>
        </p:nvSpPr>
        <p:spPr>
          <a:xfrm>
            <a:off x="457200" y="6126480"/>
            <a:ext cx="11274552" cy="371856"/>
          </a:xfrm>
          <a:prstGeom prst="rect">
            <a:avLst/>
          </a:prstGeom>
          <a:solidFill>
            <a:srgbClr val="E6F6EE"/>
          </a:solidFill>
          <a:ln/>
        </p:spPr>
      </p:sp>
      <p:sp>
        <p:nvSpPr>
          <p:cNvPr id="191" name="Text 18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grew.</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$648K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$993K</a:t>
            </a:r>
            <a:endParaRPr lang="en-US" sz="1400" dirty="0"/>
          </a:p>
        </p:txBody>
      </p:sp>
      <p:sp>
        <p:nvSpPr>
          <p:cNvPr id="13" name="Text 11"/>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+53.3%</a:t>
            </a:r>
            <a:endParaRPr lang="en-US" sz="1600" dirty="0"/>
          </a:p>
        </p:txBody>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$2.09M</a:t>
            </a:r>
            <a:endParaRPr lang="en-US" sz="1400" dirty="0"/>
          </a:p>
        </p:txBody>
      </p:sp>
      <p:sp>
        <p:nvSpPr>
          <p:cNvPr id="16" name="Text 14"/>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+29.5%</a:t>
            </a:r>
            <a:endParaRPr lang="en-US" sz="1600" dirty="0"/>
          </a:p>
        </p:txBody>
      </p:sp>
      <p:sp>
        <p:nvSpPr>
          <p:cNvPr id="17" name="Shape 15"/>
          <p:cNvSpPr/>
          <p:nvPr/>
        </p:nvSpPr>
        <p:spPr>
          <a:xfrm>
            <a:off x="658368" y="3760013"/>
            <a:ext cx="3489960" cy="828446"/>
          </a:xfrm>
          <a:prstGeom prst="rect">
            <a:avLst/>
          </a:prstGeom>
          <a:solidFill>
            <a:srgbClr val="F7F7F7"/>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$2.95M</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+27.7%</a:t>
            </a:r>
            <a:endParaRPr lang="en-US" sz="1600" dirty="0"/>
          </a:p>
        </p:txBody>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$1.46M</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+27.5%</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Text 23"/>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$3.63M</a:t>
            </a:r>
            <a:endParaRPr lang="en-US" sz="1400" dirty="0"/>
          </a:p>
        </p:txBody>
      </p:sp>
      <p:sp>
        <p:nvSpPr>
          <p:cNvPr id="27" name="Text 25"/>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+20.5%</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828446"/>
          </a:xfrm>
          <a:prstGeom prst="rect">
            <a:avLst/>
          </a:prstGeom>
          <a:solidFill>
            <a:srgbClr val="F7F7F7"/>
          </a:solidFill>
          <a:ln/>
        </p:spPr>
      </p:sp>
      <p:sp>
        <p:nvSpPr>
          <p:cNvPr id="32" name="Text 30"/>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$2.33M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$1.89M</a:t>
            </a:r>
            <a:endParaRPr lang="en-US" sz="1400" dirty="0"/>
          </a:p>
        </p:txBody>
      </p:sp>
      <p:sp>
        <p:nvSpPr>
          <p:cNvPr id="34" name="Text 32"/>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−18.8%</a:t>
            </a:r>
            <a:endParaRPr lang="en-US" sz="1600" dirty="0"/>
          </a:p>
        </p:txBody>
      </p:sp>
      <p:sp>
        <p:nvSpPr>
          <p:cNvPr id="35" name="Text 33"/>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$724K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$588K</a:t>
            </a:r>
            <a:endParaRPr lang="en-US" sz="1400" dirty="0"/>
          </a:p>
        </p:txBody>
      </p:sp>
      <p:sp>
        <p:nvSpPr>
          <p:cNvPr id="37" name="Text 35"/>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−18.7%</a:t>
            </a:r>
            <a:endParaRPr lang="en-US" sz="1600" dirty="0"/>
          </a:p>
        </p:txBody>
      </p:sp>
      <p:sp>
        <p:nvSpPr>
          <p:cNvPr id="38" name="Shape 36"/>
          <p:cNvSpPr/>
          <p:nvPr/>
        </p:nvSpPr>
        <p:spPr>
          <a:xfrm>
            <a:off x="4349496" y="3760013"/>
            <a:ext cx="3489960" cy="828446"/>
          </a:xfrm>
          <a:prstGeom prst="rect">
            <a:avLst/>
          </a:prstGeom>
          <a:solidFill>
            <a:srgbClr val="F7F7F7"/>
          </a:solidFill>
          <a:ln/>
        </p:spPr>
      </p:sp>
      <p:sp>
        <p:nvSpPr>
          <p:cNvPr id="39" name="Text 37"/>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$3.50M</a:t>
            </a:r>
            <a:endParaRPr lang="en-US" sz="1400" dirty="0"/>
          </a:p>
        </p:txBody>
      </p:sp>
      <p:sp>
        <p:nvSpPr>
          <p:cNvPr id="41" name="Text 39"/>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−13.5%</a:t>
            </a:r>
            <a:endParaRPr lang="en-US" sz="1600" dirty="0"/>
          </a:p>
        </p:txBody>
      </p:sp>
      <p:sp>
        <p:nvSpPr>
          <p:cNvPr id="42" name="Text 40"/>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$6.61M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$5.92M</a:t>
            </a:r>
            <a:endParaRPr lang="en-US" sz="1400" dirty="0"/>
          </a:p>
        </p:txBody>
      </p:sp>
      <p:sp>
        <p:nvSpPr>
          <p:cNvPr id="44" name="Text 42"/>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−10.5%</a:t>
            </a:r>
            <a:endParaRPr lang="en-US" sz="1600" dirty="0"/>
          </a:p>
        </p:txBody>
      </p:sp>
      <p:sp>
        <p:nvSpPr>
          <p:cNvPr id="45" name="Shape 43"/>
          <p:cNvSpPr/>
          <p:nvPr/>
        </p:nvSpPr>
        <p:spPr>
          <a:xfrm>
            <a:off x="4349496" y="5416906"/>
            <a:ext cx="3489960" cy="828446"/>
          </a:xfrm>
          <a:prstGeom prst="rect">
            <a:avLst/>
          </a:prstGeom>
          <a:solidFill>
            <a:srgbClr val="F7F7F7"/>
          </a:solidFill>
          <a:ln/>
        </p:spPr>
      </p:sp>
      <p:sp>
        <p:nvSpPr>
          <p:cNvPr id="46" name="Text 44"/>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$3.23M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$3.04M</a:t>
            </a:r>
            <a:endParaRPr lang="en-US" sz="1400" dirty="0"/>
          </a:p>
        </p:txBody>
      </p:sp>
      <p:sp>
        <p:nvSpPr>
          <p:cNvPr id="48" name="Text 46"/>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−5.9%</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2" name="Shape 50"/>
          <p:cNvSpPr/>
          <p:nvPr/>
        </p:nvSpPr>
        <p:spPr>
          <a:xfrm>
            <a:off x="8040624" y="2103120"/>
            <a:ext cx="3489960" cy="828446"/>
          </a:xfrm>
          <a:prstGeom prst="rect">
            <a:avLst/>
          </a:prstGeom>
          <a:solidFill>
            <a:srgbClr val="F7F7F7"/>
          </a:solidFill>
          <a:ln/>
        </p:spPr>
      </p:sp>
      <p:sp>
        <p:nvSpPr>
          <p:cNvPr id="53" name="Text 51"/>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$275K</a:t>
            </a:r>
            <a:endParaRPr lang="en-US" sz="1400" dirty="0"/>
          </a:p>
        </p:txBody>
      </p:sp>
      <p:sp>
        <p:nvSpPr>
          <p:cNvPr id="55" name="Text 53"/>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+38.0%</a:t>
            </a:r>
            <a:endParaRPr lang="en-US" sz="1600" dirty="0"/>
          </a:p>
        </p:txBody>
      </p:sp>
      <p:sp>
        <p:nvSpPr>
          <p:cNvPr id="56" name="Text 54"/>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$178K</a:t>
            </a:r>
            <a:endParaRPr lang="en-US" sz="1400" dirty="0"/>
          </a:p>
        </p:txBody>
      </p:sp>
      <p:sp>
        <p:nvSpPr>
          <p:cNvPr id="58" name="Text 56"/>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+34.5%</a:t>
            </a:r>
            <a:endParaRPr lang="en-US" sz="1600" dirty="0"/>
          </a:p>
        </p:txBody>
      </p:sp>
      <p:sp>
        <p:nvSpPr>
          <p:cNvPr id="59" name="Shape 57"/>
          <p:cNvSpPr/>
          <p:nvPr/>
        </p:nvSpPr>
        <p:spPr>
          <a:xfrm>
            <a:off x="8040624" y="3760013"/>
            <a:ext cx="3489960" cy="828446"/>
          </a:xfrm>
          <a:prstGeom prst="rect">
            <a:avLst/>
          </a:prstGeom>
          <a:solidFill>
            <a:srgbClr val="F7F7F7"/>
          </a:solidFill>
          <a:ln/>
        </p:spPr>
      </p:sp>
      <p:sp>
        <p:nvSpPr>
          <p:cNvPr id="60" name="Shape 58"/>
          <p:cNvSpPr/>
          <p:nvPr/>
        </p:nvSpPr>
        <p:spPr>
          <a:xfrm>
            <a:off x="11466576" y="3796589"/>
            <a:ext cx="64008" cy="755294"/>
          </a:xfrm>
          <a:prstGeom prst="rect">
            <a:avLst/>
          </a:prstGeom>
          <a:solidFill>
            <a:srgbClr val="12A566"/>
          </a:solidFill>
          <a:ln/>
        </p:spPr>
      </p:sp>
      <p:sp>
        <p:nvSpPr>
          <p:cNvPr id="61" name="Text 59"/>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2" name="Text 60"/>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$128K</a:t>
            </a:r>
            <a:endParaRPr lang="en-US" sz="1400" dirty="0"/>
          </a:p>
        </p:txBody>
      </p:sp>
      <p:sp>
        <p:nvSpPr>
          <p:cNvPr id="63" name="Text 61"/>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+34.2%</a:t>
            </a:r>
            <a:endParaRPr lang="en-US" sz="1600" dirty="0"/>
          </a:p>
        </p:txBody>
      </p:sp>
      <p:sp>
        <p:nvSpPr>
          <p:cNvPr id="64" name="Text 62"/>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$273K</a:t>
            </a:r>
            <a:endParaRPr lang="en-US" sz="1400" dirty="0"/>
          </a:p>
        </p:txBody>
      </p:sp>
      <p:sp>
        <p:nvSpPr>
          <p:cNvPr id="66" name="Text 64"/>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+32.4%</a:t>
            </a:r>
            <a:endParaRPr lang="en-US" sz="1600" dirty="0"/>
          </a:p>
        </p:txBody>
      </p:sp>
      <p:sp>
        <p:nvSpPr>
          <p:cNvPr id="67" name="Shape 65"/>
          <p:cNvSpPr/>
          <p:nvPr/>
        </p:nvSpPr>
        <p:spPr>
          <a:xfrm>
            <a:off x="8040624" y="5416906"/>
            <a:ext cx="3489960" cy="828446"/>
          </a:xfrm>
          <a:prstGeom prst="rect">
            <a:avLst/>
          </a:prstGeom>
          <a:solidFill>
            <a:srgbClr val="F7F7F7"/>
          </a:solidFill>
          <a:ln/>
        </p:spPr>
      </p:sp>
      <p:sp>
        <p:nvSpPr>
          <p:cNvPr id="68" name="Text 66"/>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$290K</a:t>
            </a:r>
            <a:endParaRPr lang="en-US" sz="1400" dirty="0"/>
          </a:p>
        </p:txBody>
      </p:sp>
      <p:sp>
        <p:nvSpPr>
          <p:cNvPr id="70" name="Text 68"/>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$60.76M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$61.93M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+$1.17M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+1.9%</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+$1,171,181 (1.9%) year to date; 6 of nine months ahead of 2025, best July at +$684,859.</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$61.93M</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$6.21M</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79080"/>
            <a:ext cx="1780953"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$6.05M</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440491"/>
            <a:ext cx="1139299"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$3.87M</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5" name="Shape 23"/>
          <p:cNvSpPr/>
          <p:nvPr/>
        </p:nvSpPr>
        <p:spPr>
          <a:xfrm>
            <a:off x="2980944" y="2701901"/>
            <a:ext cx="1126417"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$3.83M</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9" name="Shape 27"/>
          <p:cNvSpPr/>
          <p:nvPr/>
        </p:nvSpPr>
        <p:spPr>
          <a:xfrm>
            <a:off x="2980944" y="2963312"/>
            <a:ext cx="1042309"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$3.54M</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224723"/>
            <a:ext cx="915024"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$3.11M</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486134"/>
            <a:ext cx="794248"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$2.70M</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747545"/>
            <a:ext cx="743466"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$2.52M</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5" name="Shape 43"/>
          <p:cNvSpPr/>
          <p:nvPr/>
        </p:nvSpPr>
        <p:spPr>
          <a:xfrm>
            <a:off x="2980944" y="4008956"/>
            <a:ext cx="662635"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$2.25M</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270366"/>
            <a:ext cx="618790"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$2.10M</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3" name="Shape 51"/>
          <p:cNvSpPr/>
          <p:nvPr/>
        </p:nvSpPr>
        <p:spPr>
          <a:xfrm>
            <a:off x="2980944" y="4531777"/>
            <a:ext cx="469006"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$1.59M</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7" name="Shape 55"/>
          <p:cNvSpPr/>
          <p:nvPr/>
        </p:nvSpPr>
        <p:spPr>
          <a:xfrm>
            <a:off x="2980944" y="4793188"/>
            <a:ext cx="439517"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$1.49M</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1" name="Shape 59"/>
          <p:cNvSpPr/>
          <p:nvPr/>
        </p:nvSpPr>
        <p:spPr>
          <a:xfrm>
            <a:off x="2980944" y="5054599"/>
            <a:ext cx="434974"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$1.48M</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5" name="Shape 63"/>
          <p:cNvSpPr/>
          <p:nvPr/>
        </p:nvSpPr>
        <p:spPr>
          <a:xfrm>
            <a:off x="2980944" y="5316010"/>
            <a:ext cx="426399"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$1.45M</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9" name="Shape 67"/>
          <p:cNvSpPr/>
          <p:nvPr/>
        </p:nvSpPr>
        <p:spPr>
          <a:xfrm>
            <a:off x="2980944" y="5577420"/>
            <a:ext cx="418024"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$1.42M</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2980944" y="5838831"/>
            <a:ext cx="410579"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$1.39M</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2980944" y="6100242"/>
            <a:ext cx="386930"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$1.31M</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1" name="Shape 79"/>
          <p:cNvSpPr/>
          <p:nvPr/>
        </p:nvSpPr>
        <p:spPr>
          <a:xfrm>
            <a:off x="8531352" y="1917669"/>
            <a:ext cx="385510"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$1.31M</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5" name="Shape 83"/>
          <p:cNvSpPr/>
          <p:nvPr/>
        </p:nvSpPr>
        <p:spPr>
          <a:xfrm>
            <a:off x="8531352" y="2179080"/>
            <a:ext cx="379226"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$1.29M</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9" name="Shape 87"/>
          <p:cNvSpPr/>
          <p:nvPr/>
        </p:nvSpPr>
        <p:spPr>
          <a:xfrm>
            <a:off x="8531352" y="2440491"/>
            <a:ext cx="375575"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$1.28M</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8531352" y="2701901"/>
            <a:ext cx="370418"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$1.26M</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31352" y="2963312"/>
            <a:ext cx="351886"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$1.19M</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224723"/>
            <a:ext cx="351305"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$1.19M</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5" name="Shape 103"/>
          <p:cNvSpPr/>
          <p:nvPr/>
        </p:nvSpPr>
        <p:spPr>
          <a:xfrm>
            <a:off x="8531352" y="3486134"/>
            <a:ext cx="323594"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$1.10M</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9" name="Shape 107"/>
          <p:cNvSpPr/>
          <p:nvPr/>
        </p:nvSpPr>
        <p:spPr>
          <a:xfrm>
            <a:off x="8531352" y="3747545"/>
            <a:ext cx="321171"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$1.09M</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3" name="Shape 111"/>
          <p:cNvSpPr/>
          <p:nvPr/>
        </p:nvSpPr>
        <p:spPr>
          <a:xfrm>
            <a:off x="8531352" y="4008956"/>
            <a:ext cx="296096"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$1.01M</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7" name="Shape 115"/>
          <p:cNvSpPr/>
          <p:nvPr/>
        </p:nvSpPr>
        <p:spPr>
          <a:xfrm>
            <a:off x="8531352" y="4270366"/>
            <a:ext cx="277217"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$941,382</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1" name="Shape 119"/>
          <p:cNvSpPr/>
          <p:nvPr/>
        </p:nvSpPr>
        <p:spPr>
          <a:xfrm>
            <a:off x="8531352" y="4531777"/>
            <a:ext cx="263987"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$896,457</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8531352" y="4793188"/>
            <a:ext cx="243434"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$826,662</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5054599"/>
            <a:ext cx="226608"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$769,524</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316010"/>
            <a:ext cx="161334"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$547,864</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577420"/>
            <a:ext cx="159817" cy="120249"/>
          </a:xfrm>
          <a:prstGeom prst="rect">
            <a:avLst/>
          </a:prstGeom>
          <a:solidFill>
            <a:srgbClr val="2587C5"/>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$542,712</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838831"/>
            <a:ext cx="111766" cy="120249"/>
          </a:xfrm>
          <a:prstGeom prst="rect">
            <a:avLst/>
          </a:prstGeom>
          <a:solidFill>
            <a:srgbClr val="2587C5"/>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$379,537</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+$1.17M  ·  +1.9%</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+$688K</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+28.4%</a:t>
            </a:r>
            <a:endParaRPr lang="en-US" sz="1200" dirty="0"/>
          </a:p>
        </p:txBody>
      </p:sp>
      <p:sp>
        <p:nvSpPr>
          <p:cNvPr id="20" name="Shape 18"/>
          <p:cNvSpPr/>
          <p:nvPr/>
        </p:nvSpPr>
        <p:spPr>
          <a:xfrm>
            <a:off x="5907024" y="2167128"/>
            <a:ext cx="54864" cy="132319"/>
          </a:xfrm>
          <a:prstGeom prst="rect">
            <a:avLst/>
          </a:prstGeom>
          <a:solidFill>
            <a:srgbClr val="12A566"/>
          </a:solidFill>
          <a:ln/>
        </p:spPr>
      </p:sp>
      <p:sp>
        <p:nvSpPr>
          <p:cNvPr id="21" name="Text 19"/>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3" name="Shape 21"/>
          <p:cNvSpPr/>
          <p:nvPr/>
        </p:nvSpPr>
        <p:spPr>
          <a:xfrm>
            <a:off x="3579876" y="2405582"/>
            <a:ext cx="266553" cy="102929"/>
          </a:xfrm>
          <a:prstGeom prst="rect">
            <a:avLst/>
          </a:prstGeom>
          <a:solidFill>
            <a:srgbClr val="12A566"/>
          </a:solidFill>
          <a:ln/>
        </p:spPr>
      </p:sp>
      <p:sp>
        <p:nvSpPr>
          <p:cNvPr id="24" name="Text 22"/>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+$321K</a:t>
            </a:r>
            <a:endParaRPr lang="en-US" sz="1200" dirty="0"/>
          </a:p>
        </p:txBody>
      </p:sp>
      <p:sp>
        <p:nvSpPr>
          <p:cNvPr id="25" name="Text 23"/>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a:t>
            </a:r>
            <a:endParaRPr lang="en-US" sz="1200" dirty="0"/>
          </a:p>
        </p:txBody>
      </p:sp>
      <p:sp>
        <p:nvSpPr>
          <p:cNvPr id="26" name="Text 24"/>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7" name="Text 25"/>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8" name="Shape 26"/>
          <p:cNvSpPr/>
          <p:nvPr/>
        </p:nvSpPr>
        <p:spPr>
          <a:xfrm>
            <a:off x="3579876" y="2629341"/>
            <a:ext cx="238998" cy="102929"/>
          </a:xfrm>
          <a:prstGeom prst="rect">
            <a:avLst/>
          </a:prstGeom>
          <a:solidFill>
            <a:srgbClr val="12A566"/>
          </a:solidFill>
          <a:ln/>
        </p:spPr>
      </p:sp>
      <p:sp>
        <p:nvSpPr>
          <p:cNvPr id="29" name="Text 27"/>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+$288K</a:t>
            </a:r>
            <a:endParaRPr lang="en-US" sz="1200" dirty="0"/>
          </a:p>
        </p:txBody>
      </p:sp>
      <p:sp>
        <p:nvSpPr>
          <p:cNvPr id="30" name="Text 28"/>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a:t>
            </a:r>
            <a:endParaRPr lang="en-US" sz="1200" dirty="0"/>
          </a:p>
        </p:txBody>
      </p:sp>
      <p:sp>
        <p:nvSpPr>
          <p:cNvPr id="31" name="Text 29"/>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3" name="Shape 31"/>
          <p:cNvSpPr/>
          <p:nvPr/>
        </p:nvSpPr>
        <p:spPr>
          <a:xfrm>
            <a:off x="3579876" y="2853100"/>
            <a:ext cx="227128" cy="102929"/>
          </a:xfrm>
          <a:prstGeom prst="rect">
            <a:avLst/>
          </a:prstGeom>
          <a:solidFill>
            <a:srgbClr val="12A566"/>
          </a:solidFill>
          <a:ln/>
        </p:spPr>
      </p:sp>
      <p:sp>
        <p:nvSpPr>
          <p:cNvPr id="34" name="Text 32"/>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+$273K</a:t>
            </a:r>
            <a:endParaRPr lang="en-US" sz="1200" dirty="0"/>
          </a:p>
        </p:txBody>
      </p:sp>
      <p:sp>
        <p:nvSpPr>
          <p:cNvPr id="35" name="Text 33"/>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+4.6%</a:t>
            </a:r>
            <a:endParaRPr lang="en-US" sz="1200" dirty="0"/>
          </a:p>
        </p:txBody>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8" name="Shape 36"/>
          <p:cNvSpPr/>
          <p:nvPr/>
        </p:nvSpPr>
        <p:spPr>
          <a:xfrm>
            <a:off x="3579876" y="3076859"/>
            <a:ext cx="224863"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+$271K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+26.0%</a:t>
            </a:r>
            <a:endParaRPr lang="en-US" sz="1200" dirty="0"/>
          </a:p>
        </p:txBody>
      </p:sp>
      <p:sp>
        <p:nvSpPr>
          <p:cNvPr id="41" name="Shape 39"/>
          <p:cNvSpPr/>
          <p:nvPr/>
        </p:nvSpPr>
        <p:spPr>
          <a:xfrm>
            <a:off x="5907024" y="3062164"/>
            <a:ext cx="54864" cy="132319"/>
          </a:xfrm>
          <a:prstGeom prst="rect">
            <a:avLst/>
          </a:prstGeom>
          <a:solidFill>
            <a:srgbClr val="12A566"/>
          </a:solidFill>
          <a:ln/>
        </p:spPr>
      </p:sp>
      <p:sp>
        <p:nvSpPr>
          <p:cNvPr id="42" name="Text 40"/>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4" name="Shape 42"/>
          <p:cNvSpPr/>
          <p:nvPr/>
        </p:nvSpPr>
        <p:spPr>
          <a:xfrm>
            <a:off x="3579876" y="3300618"/>
            <a:ext cx="201457" cy="102929"/>
          </a:xfrm>
          <a:prstGeom prst="rect">
            <a:avLst/>
          </a:prstGeom>
          <a:solidFill>
            <a:srgbClr val="12A566"/>
          </a:solidFill>
          <a:ln/>
        </p:spPr>
      </p:sp>
      <p:sp>
        <p:nvSpPr>
          <p:cNvPr id="45" name="Text 43"/>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+$243K</a:t>
            </a:r>
            <a:endParaRPr lang="en-US" sz="1200" dirty="0"/>
          </a:p>
        </p:txBody>
      </p:sp>
      <p:sp>
        <p:nvSpPr>
          <p:cNvPr id="46" name="Text 44"/>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47" name="Shape 45"/>
          <p:cNvSpPr/>
          <p:nvPr/>
        </p:nvSpPr>
        <p:spPr>
          <a:xfrm>
            <a:off x="5907024" y="3285923"/>
            <a:ext cx="54864" cy="132319"/>
          </a:xfrm>
          <a:prstGeom prst="rect">
            <a:avLst/>
          </a:prstGeom>
          <a:solidFill>
            <a:srgbClr val="12A566"/>
          </a:solidFill>
          <a:ln/>
        </p:spPr>
      </p:sp>
      <p:sp>
        <p:nvSpPr>
          <p:cNvPr id="48" name="Text 46"/>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0" name="Shape 48"/>
          <p:cNvSpPr/>
          <p:nvPr/>
        </p:nvSpPr>
        <p:spPr>
          <a:xfrm>
            <a:off x="3579876" y="3524377"/>
            <a:ext cx="175005" cy="102929"/>
          </a:xfrm>
          <a:prstGeom prst="rect">
            <a:avLst/>
          </a:prstGeom>
          <a:solidFill>
            <a:srgbClr val="12A566"/>
          </a:solidFill>
          <a:ln/>
        </p:spPr>
      </p:sp>
      <p:sp>
        <p:nvSpPr>
          <p:cNvPr id="51" name="Text 49"/>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+$211K</a:t>
            </a:r>
            <a:endParaRPr lang="en-US" sz="1200" dirty="0"/>
          </a:p>
        </p:txBody>
      </p:sp>
      <p:sp>
        <p:nvSpPr>
          <p:cNvPr id="52" name="Text 50"/>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5" name="Shape 53"/>
          <p:cNvSpPr/>
          <p:nvPr/>
        </p:nvSpPr>
        <p:spPr>
          <a:xfrm>
            <a:off x="3579876" y="3748136"/>
            <a:ext cx="131404" cy="102929"/>
          </a:xfrm>
          <a:prstGeom prst="rect">
            <a:avLst/>
          </a:prstGeom>
          <a:solidFill>
            <a:srgbClr val="12A566"/>
          </a:solidFill>
          <a:ln/>
        </p:spPr>
      </p:sp>
      <p:sp>
        <p:nvSpPr>
          <p:cNvPr id="56" name="Text 54"/>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+$158K</a:t>
            </a:r>
            <a:endParaRPr lang="en-US" sz="1200" dirty="0"/>
          </a:p>
        </p:txBody>
      </p:sp>
      <p:sp>
        <p:nvSpPr>
          <p:cNvPr id="57" name="Text 55"/>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+17.0%</a:t>
            </a:r>
            <a:endParaRPr lang="en-US" sz="1200" dirty="0"/>
          </a:p>
        </p:txBody>
      </p:sp>
      <p:sp>
        <p:nvSpPr>
          <p:cNvPr id="58" name="Text 56"/>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9" name="Text 57"/>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0" name="Shape 58"/>
          <p:cNvSpPr/>
          <p:nvPr/>
        </p:nvSpPr>
        <p:spPr>
          <a:xfrm>
            <a:off x="3579876" y="3971895"/>
            <a:ext cx="125702" cy="102929"/>
          </a:xfrm>
          <a:prstGeom prst="rect">
            <a:avLst/>
          </a:prstGeom>
          <a:solidFill>
            <a:srgbClr val="12A566"/>
          </a:solidFill>
          <a:ln/>
        </p:spPr>
      </p:sp>
      <p:sp>
        <p:nvSpPr>
          <p:cNvPr id="61" name="Text 59"/>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+$151K</a:t>
            </a:r>
            <a:endParaRPr lang="en-US" sz="1200" dirty="0"/>
          </a:p>
        </p:txBody>
      </p:sp>
      <p:sp>
        <p:nvSpPr>
          <p:cNvPr id="62" name="Text 60"/>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63" name="Text 61"/>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4" name="Text 62"/>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5" name="Shape 63"/>
          <p:cNvSpPr/>
          <p:nvPr/>
        </p:nvSpPr>
        <p:spPr>
          <a:xfrm>
            <a:off x="3579876" y="4195654"/>
            <a:ext cx="103334" cy="102929"/>
          </a:xfrm>
          <a:prstGeom prst="rect">
            <a:avLst/>
          </a:prstGeom>
          <a:solidFill>
            <a:srgbClr val="12A566"/>
          </a:solidFill>
          <a:ln/>
        </p:spPr>
      </p:sp>
      <p:sp>
        <p:nvSpPr>
          <p:cNvPr id="66" name="Text 64"/>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+$124K</a:t>
            </a:r>
            <a:endParaRPr lang="en-US" sz="1200" dirty="0"/>
          </a:p>
        </p:txBody>
      </p:sp>
      <p:sp>
        <p:nvSpPr>
          <p:cNvPr id="67" name="Text 65"/>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68" name="Text 66"/>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9" name="Text 67"/>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0" name="Shape 68"/>
          <p:cNvSpPr/>
          <p:nvPr/>
        </p:nvSpPr>
        <p:spPr>
          <a:xfrm>
            <a:off x="3579876" y="4419414"/>
            <a:ext cx="73474" cy="102929"/>
          </a:xfrm>
          <a:prstGeom prst="rect">
            <a:avLst/>
          </a:prstGeom>
          <a:solidFill>
            <a:srgbClr val="12A566"/>
          </a:solidFill>
          <a:ln/>
        </p:spPr>
      </p:sp>
      <p:sp>
        <p:nvSpPr>
          <p:cNvPr id="71" name="Text 69"/>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+$88K</a:t>
            </a:r>
            <a:endParaRPr lang="en-US" sz="1200" dirty="0"/>
          </a:p>
        </p:txBody>
      </p:sp>
      <p:sp>
        <p:nvSpPr>
          <p:cNvPr id="72" name="Text 70"/>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a:t>
            </a:r>
            <a:endParaRPr lang="en-US" sz="1200" dirty="0"/>
          </a:p>
        </p:txBody>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75" name="Shape 73"/>
          <p:cNvSpPr/>
          <p:nvPr/>
        </p:nvSpPr>
        <p:spPr>
          <a:xfrm>
            <a:off x="3579876" y="4643173"/>
            <a:ext cx="49502"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+12.3%</a:t>
            </a:r>
            <a:endParaRPr lang="en-US" sz="1200" dirty="0"/>
          </a:p>
        </p:txBody>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0" name="Shape 78"/>
          <p:cNvSpPr/>
          <p:nvPr/>
        </p:nvSpPr>
        <p:spPr>
          <a:xfrm>
            <a:off x="3579876" y="4866932"/>
            <a:ext cx="41830"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+$50K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3579876" y="5090691"/>
            <a:ext cx="38877"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+5.2%</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0" name="Shape 88"/>
          <p:cNvSpPr/>
          <p:nvPr/>
        </p:nvSpPr>
        <p:spPr>
          <a:xfrm>
            <a:off x="3579876" y="5314450"/>
            <a:ext cx="27168"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5" name="Shape 93"/>
          <p:cNvSpPr/>
          <p:nvPr/>
        </p:nvSpPr>
        <p:spPr>
          <a:xfrm>
            <a:off x="3579876" y="5538209"/>
            <a:ext cx="22407"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98" name="Text 96"/>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0" name="Shape 98"/>
          <p:cNvSpPr/>
          <p:nvPr/>
        </p:nvSpPr>
        <p:spPr>
          <a:xfrm>
            <a:off x="3579876" y="5761968"/>
            <a:ext cx="15551" cy="102929"/>
          </a:xfrm>
          <a:prstGeom prst="rect">
            <a:avLst/>
          </a:prstGeom>
          <a:solidFill>
            <a:srgbClr val="12A566"/>
          </a:solidFill>
          <a:ln/>
        </p:spPr>
      </p:sp>
      <p:sp>
        <p:nvSpPr>
          <p:cNvPr id="101" name="Text 99"/>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+$19K</a:t>
            </a:r>
            <a:endParaRPr lang="en-US" sz="1200" dirty="0"/>
          </a:p>
        </p:txBody>
      </p:sp>
      <p:sp>
        <p:nvSpPr>
          <p:cNvPr id="102" name="Text 100"/>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05" name="Shape 103"/>
          <p:cNvSpPr/>
          <p:nvPr/>
        </p:nvSpPr>
        <p:spPr>
          <a:xfrm>
            <a:off x="9126201" y="2181823"/>
            <a:ext cx="12802" cy="102929"/>
          </a:xfrm>
          <a:prstGeom prst="rect">
            <a:avLst/>
          </a:prstGeom>
          <a:solidFill>
            <a:srgbClr val="C2352F"/>
          </a:solidFill>
          <a:ln/>
        </p:spPr>
      </p:sp>
      <p:sp>
        <p:nvSpPr>
          <p:cNvPr id="106" name="Text 104"/>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−$5K</a:t>
            </a:r>
            <a:endParaRPr lang="en-US" sz="1200" dirty="0"/>
          </a:p>
        </p:txBody>
      </p:sp>
      <p:sp>
        <p:nvSpPr>
          <p:cNvPr id="107" name="Text 105"/>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−0.6%</a:t>
            </a:r>
            <a:endParaRPr lang="en-US" sz="1200" dirty="0"/>
          </a:p>
        </p:txBody>
      </p:sp>
      <p:sp>
        <p:nvSpPr>
          <p:cNvPr id="108" name="Text 106"/>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0" name="Shape 108"/>
          <p:cNvSpPr/>
          <p:nvPr/>
        </p:nvSpPr>
        <p:spPr>
          <a:xfrm>
            <a:off x="9120717" y="2405582"/>
            <a:ext cx="12802" cy="102929"/>
          </a:xfrm>
          <a:prstGeom prst="rect">
            <a:avLst/>
          </a:prstGeom>
          <a:solidFill>
            <a:srgbClr val="C2352F"/>
          </a:solidFill>
          <a:ln/>
        </p:spPr>
      </p:sp>
      <p:sp>
        <p:nvSpPr>
          <p:cNvPr id="111" name="Text 109"/>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−$12K</a:t>
            </a:r>
            <a:endParaRPr lang="en-US" sz="1200" dirty="0"/>
          </a:p>
        </p:txBody>
      </p:sp>
      <p:sp>
        <p:nvSpPr>
          <p:cNvPr id="112" name="Text 110"/>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a:t>
            </a:r>
            <a:endParaRPr lang="en-US" sz="1200" dirty="0"/>
          </a:p>
        </p:txBody>
      </p:sp>
      <p:sp>
        <p:nvSpPr>
          <p:cNvPr id="113" name="Text 111"/>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5" name="Shape 113"/>
          <p:cNvSpPr/>
          <p:nvPr/>
        </p:nvSpPr>
        <p:spPr>
          <a:xfrm>
            <a:off x="9107185" y="2629341"/>
            <a:ext cx="23099" cy="102929"/>
          </a:xfrm>
          <a:prstGeom prst="rect">
            <a:avLst/>
          </a:prstGeom>
          <a:solidFill>
            <a:srgbClr val="C2352F"/>
          </a:solidFill>
          <a:ln/>
        </p:spPr>
      </p:sp>
      <p:sp>
        <p:nvSpPr>
          <p:cNvPr id="116" name="Text 114"/>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−$28K</a:t>
            </a:r>
            <a:endParaRPr lang="en-US" sz="1200" dirty="0"/>
          </a:p>
        </p:txBody>
      </p:sp>
      <p:sp>
        <p:nvSpPr>
          <p:cNvPr id="117" name="Text 115"/>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a:t>
            </a:r>
            <a:endParaRPr lang="en-US" sz="1200" dirty="0"/>
          </a:p>
        </p:txBody>
      </p:sp>
      <p:sp>
        <p:nvSpPr>
          <p:cNvPr id="118" name="Text 116"/>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20" name="Shape 118"/>
          <p:cNvSpPr/>
          <p:nvPr/>
        </p:nvSpPr>
        <p:spPr>
          <a:xfrm>
            <a:off x="9102703" y="2853100"/>
            <a:ext cx="27581" cy="102929"/>
          </a:xfrm>
          <a:prstGeom prst="rect">
            <a:avLst/>
          </a:prstGeom>
          <a:solidFill>
            <a:srgbClr val="C2352F"/>
          </a:solidFill>
          <a:ln/>
        </p:spPr>
      </p:sp>
      <p:sp>
        <p:nvSpPr>
          <p:cNvPr id="121" name="Text 119"/>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−$33K</a:t>
            </a:r>
            <a:endParaRPr lang="en-US" sz="1200" dirty="0"/>
          </a:p>
        </p:txBody>
      </p:sp>
      <p:sp>
        <p:nvSpPr>
          <p:cNvPr id="122" name="Text 120"/>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a:t>
            </a:r>
            <a:endParaRPr lang="en-US" sz="1200" dirty="0"/>
          </a:p>
        </p:txBody>
      </p:sp>
      <p:sp>
        <p:nvSpPr>
          <p:cNvPr id="123" name="Text 121"/>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9095278" y="3076859"/>
            <a:ext cx="35006" cy="102929"/>
          </a:xfrm>
          <a:prstGeom prst="rect">
            <a:avLst/>
          </a:prstGeom>
          <a:solidFill>
            <a:srgbClr val="C2352F"/>
          </a:solidFill>
          <a:ln/>
        </p:spPr>
      </p:sp>
      <p:sp>
        <p:nvSpPr>
          <p:cNvPr id="126" name="Text 124"/>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−$42K</a:t>
            </a:r>
            <a:endParaRPr lang="en-US" sz="1200" dirty="0"/>
          </a:p>
        </p:txBody>
      </p:sp>
      <p:sp>
        <p:nvSpPr>
          <p:cNvPr id="127" name="Text 125"/>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−0.7%</a:t>
            </a:r>
            <a:endParaRPr lang="en-US" sz="1200" dirty="0"/>
          </a:p>
        </p:txBody>
      </p:sp>
      <p:sp>
        <p:nvSpPr>
          <p:cNvPr id="128" name="Text 126"/>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0" name="Shape 128"/>
          <p:cNvSpPr/>
          <p:nvPr/>
        </p:nvSpPr>
        <p:spPr>
          <a:xfrm>
            <a:off x="9088719" y="3300618"/>
            <a:ext cx="41565" cy="102929"/>
          </a:xfrm>
          <a:prstGeom prst="rect">
            <a:avLst/>
          </a:prstGeom>
          <a:solidFill>
            <a:srgbClr val="C2352F"/>
          </a:solidFill>
          <a:ln/>
        </p:spPr>
      </p:sp>
      <p:sp>
        <p:nvSpPr>
          <p:cNvPr id="131" name="Text 129"/>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−$50K</a:t>
            </a:r>
            <a:endParaRPr lang="en-US" sz="1200" dirty="0"/>
          </a:p>
        </p:txBody>
      </p:sp>
      <p:sp>
        <p:nvSpPr>
          <p:cNvPr id="132" name="Text 130"/>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33" name="Text 131"/>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5" name="Shape 133"/>
          <p:cNvSpPr/>
          <p:nvPr/>
        </p:nvSpPr>
        <p:spPr>
          <a:xfrm>
            <a:off x="9082739" y="3524377"/>
            <a:ext cx="47545" cy="102929"/>
          </a:xfrm>
          <a:prstGeom prst="rect">
            <a:avLst/>
          </a:prstGeom>
          <a:solidFill>
            <a:srgbClr val="C2352F"/>
          </a:solidFill>
          <a:ln/>
        </p:spPr>
      </p:sp>
      <p:sp>
        <p:nvSpPr>
          <p:cNvPr id="136" name="Text 134"/>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−$57K</a:t>
            </a:r>
            <a:endParaRPr lang="en-US" sz="1200" dirty="0"/>
          </a:p>
        </p:txBody>
      </p:sp>
      <p:sp>
        <p:nvSpPr>
          <p:cNvPr id="137" name="Text 135"/>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38" name="Text 136"/>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40" name="Shape 138"/>
          <p:cNvSpPr/>
          <p:nvPr/>
        </p:nvSpPr>
        <p:spPr>
          <a:xfrm>
            <a:off x="9079991" y="3748136"/>
            <a:ext cx="50293" cy="102929"/>
          </a:xfrm>
          <a:prstGeom prst="rect">
            <a:avLst/>
          </a:prstGeom>
          <a:solidFill>
            <a:srgbClr val="C2352F"/>
          </a:solidFill>
          <a:ln/>
        </p:spPr>
      </p:sp>
      <p:sp>
        <p:nvSpPr>
          <p:cNvPr id="141" name="Text 139"/>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−$61K</a:t>
            </a:r>
            <a:endParaRPr lang="en-US" sz="1200" dirty="0"/>
          </a:p>
        </p:txBody>
      </p:sp>
      <p:sp>
        <p:nvSpPr>
          <p:cNvPr id="142" name="Text 140"/>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5" name="Shape 143"/>
          <p:cNvSpPr/>
          <p:nvPr/>
        </p:nvSpPr>
        <p:spPr>
          <a:xfrm>
            <a:off x="9064780" y="3971895"/>
            <a:ext cx="65504" cy="102929"/>
          </a:xfrm>
          <a:prstGeom prst="rect">
            <a:avLst/>
          </a:prstGeom>
          <a:solidFill>
            <a:srgbClr val="C2352F"/>
          </a:solidFill>
          <a:ln/>
        </p:spPr>
      </p:sp>
      <p:sp>
        <p:nvSpPr>
          <p:cNvPr id="146" name="Text 144"/>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−$79K</a:t>
            </a:r>
            <a:endParaRPr lang="en-US" sz="1200" dirty="0"/>
          </a:p>
        </p:txBody>
      </p:sp>
      <p:sp>
        <p:nvSpPr>
          <p:cNvPr id="147" name="Text 145"/>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148" name="Text 146"/>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9" name="Text 147"/>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0" name="Shape 148"/>
          <p:cNvSpPr/>
          <p:nvPr/>
        </p:nvSpPr>
        <p:spPr>
          <a:xfrm>
            <a:off x="9009622" y="4195654"/>
            <a:ext cx="120662" cy="102929"/>
          </a:xfrm>
          <a:prstGeom prst="rect">
            <a:avLst/>
          </a:prstGeom>
          <a:solidFill>
            <a:srgbClr val="C2352F"/>
          </a:solidFill>
          <a:ln/>
        </p:spPr>
      </p:sp>
      <p:sp>
        <p:nvSpPr>
          <p:cNvPr id="151" name="Text 149"/>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−$145K</a:t>
            </a:r>
            <a:endParaRPr lang="en-US" sz="1200" dirty="0"/>
          </a:p>
        </p:txBody>
      </p:sp>
      <p:sp>
        <p:nvSpPr>
          <p:cNvPr id="152" name="Text 150"/>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a:t>
            </a:r>
            <a:endParaRPr lang="en-US" sz="1200" dirty="0"/>
          </a:p>
        </p:txBody>
      </p:sp>
      <p:sp>
        <p:nvSpPr>
          <p:cNvPr id="153" name="Text 151"/>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4" name="Text 152"/>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55" name="Shape 153"/>
          <p:cNvSpPr/>
          <p:nvPr/>
        </p:nvSpPr>
        <p:spPr>
          <a:xfrm>
            <a:off x="9009094" y="4419414"/>
            <a:ext cx="121190" cy="102929"/>
          </a:xfrm>
          <a:prstGeom prst="rect">
            <a:avLst/>
          </a:prstGeom>
          <a:solidFill>
            <a:srgbClr val="C2352F"/>
          </a:solidFill>
          <a:ln/>
        </p:spPr>
      </p:sp>
      <p:sp>
        <p:nvSpPr>
          <p:cNvPr id="156" name="Text 154"/>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−$146K</a:t>
            </a:r>
            <a:endParaRPr lang="en-US" sz="1200" dirty="0"/>
          </a:p>
        </p:txBody>
      </p:sp>
      <p:sp>
        <p:nvSpPr>
          <p:cNvPr id="157" name="Text 155"/>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−10.4%</a:t>
            </a:r>
            <a:endParaRPr lang="en-US" sz="1200" dirty="0"/>
          </a:p>
        </p:txBody>
      </p:sp>
      <p:sp>
        <p:nvSpPr>
          <p:cNvPr id="158" name="Text 156"/>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9" name="Text 157"/>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0" name="Shape 158"/>
          <p:cNvSpPr/>
          <p:nvPr/>
        </p:nvSpPr>
        <p:spPr>
          <a:xfrm>
            <a:off x="8991431" y="4643173"/>
            <a:ext cx="138853" cy="102929"/>
          </a:xfrm>
          <a:prstGeom prst="rect">
            <a:avLst/>
          </a:prstGeom>
          <a:solidFill>
            <a:srgbClr val="C2352F"/>
          </a:solidFill>
          <a:ln/>
        </p:spPr>
      </p:sp>
      <p:sp>
        <p:nvSpPr>
          <p:cNvPr id="161" name="Text 159"/>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−$167K</a:t>
            </a:r>
            <a:endParaRPr lang="en-US" sz="1200" dirty="0"/>
          </a:p>
        </p:txBody>
      </p:sp>
      <p:sp>
        <p:nvSpPr>
          <p:cNvPr id="162" name="Text 160"/>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a:t>
            </a:r>
            <a:endParaRPr lang="en-US" sz="1200" dirty="0"/>
          </a:p>
        </p:txBody>
      </p:sp>
      <p:sp>
        <p:nvSpPr>
          <p:cNvPr id="163" name="Text 161"/>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4" name="Text 162"/>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65" name="Shape 163"/>
          <p:cNvSpPr/>
          <p:nvPr/>
        </p:nvSpPr>
        <p:spPr>
          <a:xfrm>
            <a:off x="8952555" y="4866932"/>
            <a:ext cx="177729" cy="102929"/>
          </a:xfrm>
          <a:prstGeom prst="rect">
            <a:avLst/>
          </a:prstGeom>
          <a:solidFill>
            <a:srgbClr val="C2352F"/>
          </a:solidFill>
          <a:ln/>
        </p:spPr>
      </p:sp>
      <p:sp>
        <p:nvSpPr>
          <p:cNvPr id="166" name="Text 164"/>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−$214K</a:t>
            </a:r>
            <a:endParaRPr lang="en-US" sz="1200" dirty="0"/>
          </a:p>
        </p:txBody>
      </p:sp>
      <p:sp>
        <p:nvSpPr>
          <p:cNvPr id="167" name="Text 165"/>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68" name="Shape 166"/>
          <p:cNvSpPr/>
          <p:nvPr/>
        </p:nvSpPr>
        <p:spPr>
          <a:xfrm>
            <a:off x="11457432" y="4852237"/>
            <a:ext cx="54864" cy="132319"/>
          </a:xfrm>
          <a:prstGeom prst="rect">
            <a:avLst/>
          </a:prstGeom>
          <a:solidFill>
            <a:srgbClr val="C2352F"/>
          </a:solidFill>
          <a:ln/>
        </p:spPr>
      </p:sp>
      <p:sp>
        <p:nvSpPr>
          <p:cNvPr id="169" name="Text 167"/>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0" name="Text 168"/>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1" name="Shape 169"/>
          <p:cNvSpPr/>
          <p:nvPr/>
        </p:nvSpPr>
        <p:spPr>
          <a:xfrm>
            <a:off x="8941928" y="5090691"/>
            <a:ext cx="188356" cy="102929"/>
          </a:xfrm>
          <a:prstGeom prst="rect">
            <a:avLst/>
          </a:prstGeom>
          <a:solidFill>
            <a:srgbClr val="C2352F"/>
          </a:solidFill>
          <a:ln/>
        </p:spPr>
      </p:sp>
      <p:sp>
        <p:nvSpPr>
          <p:cNvPr id="172" name="Text 170"/>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−$227K</a:t>
            </a:r>
            <a:endParaRPr lang="en-US" sz="1200" dirty="0"/>
          </a:p>
        </p:txBody>
      </p:sp>
      <p:sp>
        <p:nvSpPr>
          <p:cNvPr id="173" name="Text 171"/>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−21.5%</a:t>
            </a:r>
            <a:endParaRPr lang="en-US" sz="1200" dirty="0"/>
          </a:p>
        </p:txBody>
      </p:sp>
      <p:sp>
        <p:nvSpPr>
          <p:cNvPr id="174" name="Shape 172"/>
          <p:cNvSpPr/>
          <p:nvPr/>
        </p:nvSpPr>
        <p:spPr>
          <a:xfrm>
            <a:off x="11457432" y="5075996"/>
            <a:ext cx="54864" cy="132319"/>
          </a:xfrm>
          <a:prstGeom prst="rect">
            <a:avLst/>
          </a:prstGeom>
          <a:solidFill>
            <a:srgbClr val="C2352F"/>
          </a:solidFill>
          <a:ln/>
        </p:spPr>
      </p:sp>
      <p:sp>
        <p:nvSpPr>
          <p:cNvPr id="175" name="Text 173"/>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77" name="Shape 175"/>
          <p:cNvSpPr/>
          <p:nvPr/>
        </p:nvSpPr>
        <p:spPr>
          <a:xfrm>
            <a:off x="8891687" y="5314450"/>
            <a:ext cx="238597" cy="102929"/>
          </a:xfrm>
          <a:prstGeom prst="rect">
            <a:avLst/>
          </a:prstGeom>
          <a:solidFill>
            <a:srgbClr val="C2352F"/>
          </a:solidFill>
          <a:ln/>
        </p:spPr>
      </p:sp>
      <p:sp>
        <p:nvSpPr>
          <p:cNvPr id="178" name="Text 176"/>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−$287K</a:t>
            </a:r>
            <a:endParaRPr lang="en-US" sz="1200" dirty="0"/>
          </a:p>
        </p:txBody>
      </p:sp>
      <p:sp>
        <p:nvSpPr>
          <p:cNvPr id="179" name="Text 177"/>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180" name="Text 178"/>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1" name="Text 179"/>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82" name="Shape 180"/>
          <p:cNvSpPr/>
          <p:nvPr/>
        </p:nvSpPr>
        <p:spPr>
          <a:xfrm>
            <a:off x="8857921" y="5538209"/>
            <a:ext cx="272363" cy="102929"/>
          </a:xfrm>
          <a:prstGeom prst="rect">
            <a:avLst/>
          </a:prstGeom>
          <a:solidFill>
            <a:srgbClr val="C2352F"/>
          </a:solidFill>
          <a:ln/>
        </p:spPr>
      </p:sp>
      <p:sp>
        <p:nvSpPr>
          <p:cNvPr id="183" name="Text 181"/>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−$328K</a:t>
            </a:r>
            <a:endParaRPr lang="en-US" sz="1200" dirty="0"/>
          </a:p>
        </p:txBody>
      </p:sp>
      <p:sp>
        <p:nvSpPr>
          <p:cNvPr id="184" name="Text 182"/>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−18.8%</a:t>
            </a:r>
            <a:endParaRPr lang="en-US" sz="1200" dirty="0"/>
          </a:p>
        </p:txBody>
      </p:sp>
      <p:sp>
        <p:nvSpPr>
          <p:cNvPr id="185" name="Shape 183"/>
          <p:cNvSpPr/>
          <p:nvPr/>
        </p:nvSpPr>
        <p:spPr>
          <a:xfrm>
            <a:off x="11457432" y="5523514"/>
            <a:ext cx="54864" cy="132319"/>
          </a:xfrm>
          <a:prstGeom prst="rect">
            <a:avLst/>
          </a:prstGeom>
          <a:solidFill>
            <a:srgbClr val="C2352F"/>
          </a:solidFill>
          <a:ln/>
        </p:spPr>
      </p:sp>
      <p:sp>
        <p:nvSpPr>
          <p:cNvPr id="186" name="Shape 184"/>
          <p:cNvSpPr/>
          <p:nvPr/>
        </p:nvSpPr>
        <p:spPr>
          <a:xfrm>
            <a:off x="3574390" y="2121408"/>
            <a:ext cx="10973" cy="3803904"/>
          </a:xfrm>
          <a:prstGeom prst="rect">
            <a:avLst/>
          </a:prstGeom>
          <a:solidFill>
            <a:srgbClr val="9AA3AD"/>
          </a:solidFill>
          <a:ln/>
        </p:spPr>
      </p:sp>
      <p:sp>
        <p:nvSpPr>
          <p:cNvPr id="187" name="Shape 185"/>
          <p:cNvSpPr/>
          <p:nvPr/>
        </p:nvSpPr>
        <p:spPr>
          <a:xfrm>
            <a:off x="9124798" y="2121408"/>
            <a:ext cx="10973" cy="3803904"/>
          </a:xfrm>
          <a:prstGeom prst="rect">
            <a:avLst/>
          </a:prstGeom>
          <a:solidFill>
            <a:srgbClr val="9AA3AD"/>
          </a:solidFill>
          <a:ln/>
        </p:spPr>
      </p:sp>
      <p:sp>
        <p:nvSpPr>
          <p:cNvPr id="188" name="Shape 186"/>
          <p:cNvSpPr/>
          <p:nvPr/>
        </p:nvSpPr>
        <p:spPr>
          <a:xfrm>
            <a:off x="6085332" y="2121408"/>
            <a:ext cx="10973" cy="3803904"/>
          </a:xfrm>
          <a:prstGeom prst="rect">
            <a:avLst/>
          </a:prstGeom>
          <a:solidFill>
            <a:srgbClr val="D9D9D9"/>
          </a:solidFill>
          <a:ln/>
        </p:spPr>
      </p:sp>
      <p:sp>
        <p:nvSpPr>
          <p:cNvPr id="190" name="Shape 187"/>
          <p:cNvSpPr/>
          <p:nvPr/>
        </p:nvSpPr>
        <p:spPr>
          <a:xfrm>
            <a:off x="457200" y="6126480"/>
            <a:ext cx="11274552" cy="371856"/>
          </a:xfrm>
          <a:prstGeom prst="rect">
            <a:avLst/>
          </a:prstGeom>
          <a:solidFill>
            <a:srgbClr val="E6F6EE"/>
          </a:solidFill>
          <a:ln/>
        </p:spPr>
      </p:sp>
      <p:sp>
        <p:nvSpPr>
          <p:cNvPr id="191" name="Text 18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17 of 33 stores grew.</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$654K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$896K</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+37.1%</a:t>
            </a:r>
            <a:endParaRPr lang="en-US" sz="1600" dirty="0"/>
          </a:p>
        </p:txBody>
      </p:sp>
      <p:sp>
        <p:nvSpPr>
          <p:cNvPr id="13" name="Text 11"/>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$2.42M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$3.11M</a:t>
            </a:r>
            <a:endParaRPr lang="en-US" sz="1400" dirty="0"/>
          </a:p>
        </p:txBody>
      </p:sp>
      <p:sp>
        <p:nvSpPr>
          <p:cNvPr id="15" name="Text 13"/>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+28.4%</a:t>
            </a:r>
            <a:endParaRPr lang="en-US" sz="1600" dirty="0"/>
          </a:p>
        </p:txBody>
      </p:sp>
      <p:sp>
        <p:nvSpPr>
          <p:cNvPr id="16" name="Shape 14"/>
          <p:cNvSpPr/>
          <p:nvPr/>
        </p:nvSpPr>
        <p:spPr>
          <a:xfrm>
            <a:off x="658368" y="3760013"/>
            <a:ext cx="3489960" cy="828446"/>
          </a:xfrm>
          <a:prstGeom prst="rect">
            <a:avLst/>
          </a:prstGeom>
          <a:solidFill>
            <a:srgbClr val="F7F7F7"/>
          </a:solidFill>
          <a:ln/>
        </p:spPr>
      </p:sp>
      <p:sp>
        <p:nvSpPr>
          <p:cNvPr id="17" name="Text 15"/>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$1.31M</a:t>
            </a:r>
            <a:endParaRPr lang="en-US" sz="1400" dirty="0"/>
          </a:p>
        </p:txBody>
      </p:sp>
      <p:sp>
        <p:nvSpPr>
          <p:cNvPr id="19" name="Text 17"/>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+26.0%</a:t>
            </a:r>
            <a:endParaRPr lang="en-US" sz="1600" dirty="0"/>
          </a:p>
        </p:txBody>
      </p:sp>
      <p:sp>
        <p:nvSpPr>
          <p:cNvPr id="20" name="Text 18"/>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$932K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$1.09M</a:t>
            </a:r>
            <a:endParaRPr lang="en-US" sz="1400" dirty="0"/>
          </a:p>
        </p:txBody>
      </p:sp>
      <p:sp>
        <p:nvSpPr>
          <p:cNvPr id="22" name="Text 20"/>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+17.0%</a:t>
            </a:r>
            <a:endParaRPr lang="en-US" sz="1600" dirty="0"/>
          </a:p>
        </p:txBody>
      </p:sp>
      <p:sp>
        <p:nvSpPr>
          <p:cNvPr id="23" name="Shape 21"/>
          <p:cNvSpPr/>
          <p:nvPr/>
        </p:nvSpPr>
        <p:spPr>
          <a:xfrm>
            <a:off x="658368" y="5416906"/>
            <a:ext cx="3489960" cy="828446"/>
          </a:xfrm>
          <a:prstGeom prst="rect">
            <a:avLst/>
          </a:prstGeom>
          <a:solidFill>
            <a:srgbClr val="F7F7F7"/>
          </a:solidFill>
          <a:ln/>
        </p:spPr>
      </p:sp>
      <p:sp>
        <p:nvSpPr>
          <p:cNvPr id="24" name="Text 22"/>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$1.10M</a:t>
            </a:r>
            <a:endParaRPr lang="en-US" sz="1400" dirty="0"/>
          </a:p>
        </p:txBody>
      </p:sp>
      <p:sp>
        <p:nvSpPr>
          <p:cNvPr id="26" name="Text 24"/>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+16.0%</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0" name="Shape 28"/>
          <p:cNvSpPr/>
          <p:nvPr/>
        </p:nvSpPr>
        <p:spPr>
          <a:xfrm>
            <a:off x="4349496" y="2103120"/>
            <a:ext cx="3489960" cy="828446"/>
          </a:xfrm>
          <a:prstGeom prst="rect">
            <a:avLst/>
          </a:prstGeom>
          <a:solidFill>
            <a:srgbClr val="F7F7F7"/>
          </a:solidFill>
          <a:ln/>
        </p:spPr>
      </p:sp>
      <p:sp>
        <p:nvSpPr>
          <p:cNvPr id="31" name="Text 29"/>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$827K</a:t>
            </a:r>
            <a:endParaRPr lang="en-US" sz="1400" dirty="0"/>
          </a:p>
        </p:txBody>
      </p:sp>
      <p:sp>
        <p:nvSpPr>
          <p:cNvPr id="33" name="Text 31"/>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−21.5%</a:t>
            </a:r>
            <a:endParaRPr lang="en-US" sz="1600" dirty="0"/>
          </a:p>
        </p:txBody>
      </p:sp>
      <p:sp>
        <p:nvSpPr>
          <p:cNvPr id="34" name="Text 32"/>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$1.42M</a:t>
            </a:r>
            <a:endParaRPr lang="en-US" sz="1400" dirty="0"/>
          </a:p>
        </p:txBody>
      </p:sp>
      <p:sp>
        <p:nvSpPr>
          <p:cNvPr id="36" name="Text 34"/>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−18.8%</a:t>
            </a:r>
            <a:endParaRPr lang="en-US" sz="1600" dirty="0"/>
          </a:p>
        </p:txBody>
      </p:sp>
      <p:sp>
        <p:nvSpPr>
          <p:cNvPr id="37" name="Shape 35"/>
          <p:cNvSpPr/>
          <p:nvPr/>
        </p:nvSpPr>
        <p:spPr>
          <a:xfrm>
            <a:off x="4349496" y="3760013"/>
            <a:ext cx="3489960" cy="828446"/>
          </a:xfrm>
          <a:prstGeom prst="rect">
            <a:avLst/>
          </a:prstGeom>
          <a:solidFill>
            <a:srgbClr val="F7F7F7"/>
          </a:solidFill>
          <a:ln/>
        </p:spPr>
      </p:sp>
      <p:sp>
        <p:nvSpPr>
          <p:cNvPr id="38" name="Text 36"/>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$1.50M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$1.29M</a:t>
            </a:r>
            <a:endParaRPr lang="en-US" sz="1400" dirty="0"/>
          </a:p>
        </p:txBody>
      </p:sp>
      <p:sp>
        <p:nvSpPr>
          <p:cNvPr id="40" name="Text 38"/>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−14.2%</a:t>
            </a:r>
            <a:endParaRPr lang="en-US" sz="1600" dirty="0"/>
          </a:p>
        </p:txBody>
      </p:sp>
      <p:sp>
        <p:nvSpPr>
          <p:cNvPr id="41" name="Text 39"/>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$1.40M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$1.26M</a:t>
            </a:r>
            <a:endParaRPr lang="en-US" sz="1400" dirty="0"/>
          </a:p>
        </p:txBody>
      </p:sp>
      <p:sp>
        <p:nvSpPr>
          <p:cNvPr id="43" name="Text 41"/>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−10.4%</a:t>
            </a:r>
            <a:endParaRPr lang="en-US" sz="1600" dirty="0"/>
          </a:p>
        </p:txBody>
      </p:sp>
      <p:sp>
        <p:nvSpPr>
          <p:cNvPr id="44" name="Shape 42"/>
          <p:cNvSpPr/>
          <p:nvPr/>
        </p:nvSpPr>
        <p:spPr>
          <a:xfrm>
            <a:off x="4349496" y="5416906"/>
            <a:ext cx="3489960" cy="828446"/>
          </a:xfrm>
          <a:prstGeom prst="rect">
            <a:avLst/>
          </a:prstGeom>
          <a:solidFill>
            <a:srgbClr val="F7F7F7"/>
          </a:solidFill>
          <a:ln/>
        </p:spPr>
      </p:sp>
      <p:sp>
        <p:nvSpPr>
          <p:cNvPr id="45" name="Text 43"/>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$2.10M</a:t>
            </a:r>
            <a:endParaRPr lang="en-US" sz="1400" dirty="0"/>
          </a:p>
        </p:txBody>
      </p:sp>
      <p:sp>
        <p:nvSpPr>
          <p:cNvPr id="47" name="Text 45"/>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−7.4%</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1" name="Shape 49"/>
          <p:cNvSpPr/>
          <p:nvPr/>
        </p:nvSpPr>
        <p:spPr>
          <a:xfrm>
            <a:off x="8040624" y="2103120"/>
            <a:ext cx="3489960" cy="828446"/>
          </a:xfrm>
          <a:prstGeom prst="rect">
            <a:avLst/>
          </a:prstGeom>
          <a:solidFill>
            <a:srgbClr val="F7F7F7"/>
          </a:solidFill>
          <a:ln/>
        </p:spPr>
      </p:sp>
      <p:sp>
        <p:nvSpPr>
          <p:cNvPr id="52" name="Text 50"/>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$486K</a:t>
            </a:r>
            <a:endParaRPr lang="en-US" sz="1400" dirty="0"/>
          </a:p>
        </p:txBody>
      </p:sp>
      <p:sp>
        <p:nvSpPr>
          <p:cNvPr id="54" name="Text 52"/>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+43.4%</a:t>
            </a:r>
            <a:endParaRPr lang="en-US" sz="1600" dirty="0"/>
          </a:p>
        </p:txBody>
      </p:sp>
      <p:sp>
        <p:nvSpPr>
          <p:cNvPr id="55" name="Text 53"/>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$150K</a:t>
            </a:r>
            <a:endParaRPr lang="en-US" sz="1400" dirty="0"/>
          </a:p>
        </p:txBody>
      </p:sp>
      <p:sp>
        <p:nvSpPr>
          <p:cNvPr id="57" name="Text 55"/>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+31.5%</a:t>
            </a:r>
            <a:endParaRPr lang="en-US" sz="1600" dirty="0"/>
          </a:p>
        </p:txBody>
      </p:sp>
      <p:sp>
        <p:nvSpPr>
          <p:cNvPr id="58" name="Shape 56"/>
          <p:cNvSpPr/>
          <p:nvPr/>
        </p:nvSpPr>
        <p:spPr>
          <a:xfrm>
            <a:off x="8040624" y="3760013"/>
            <a:ext cx="3489960" cy="828446"/>
          </a:xfrm>
          <a:prstGeom prst="rect">
            <a:avLst/>
          </a:prstGeom>
          <a:solidFill>
            <a:srgbClr val="F7F7F7"/>
          </a:solidFill>
          <a:ln/>
        </p:spPr>
      </p:sp>
      <p:sp>
        <p:nvSpPr>
          <p:cNvPr id="59" name="Text 57"/>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$68K</a:t>
            </a:r>
            <a:endParaRPr lang="en-US" sz="1400" dirty="0"/>
          </a:p>
        </p:txBody>
      </p:sp>
      <p:sp>
        <p:nvSpPr>
          <p:cNvPr id="61" name="Text 59"/>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62" name="Text 60"/>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$123K</a:t>
            </a:r>
            <a:endParaRPr lang="en-US" sz="1400" dirty="0"/>
          </a:p>
        </p:txBody>
      </p:sp>
      <p:sp>
        <p:nvSpPr>
          <p:cNvPr id="64" name="Text 62"/>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+30.1%</a:t>
            </a:r>
            <a:endParaRPr lang="en-US" sz="1600" dirty="0"/>
          </a:p>
        </p:txBody>
      </p:sp>
      <p:sp>
        <p:nvSpPr>
          <p:cNvPr id="65" name="Shape 63"/>
          <p:cNvSpPr/>
          <p:nvPr/>
        </p:nvSpPr>
        <p:spPr>
          <a:xfrm>
            <a:off x="8040624" y="5416906"/>
            <a:ext cx="3489960" cy="828446"/>
          </a:xfrm>
          <a:prstGeom prst="rect">
            <a:avLst/>
          </a:prstGeom>
          <a:solidFill>
            <a:srgbClr val="F7F7F7"/>
          </a:solidFill>
          <a:ln/>
        </p:spPr>
      </p:sp>
      <p:sp>
        <p:nvSpPr>
          <p:cNvPr id="66" name="Text 64"/>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$198K</a:t>
            </a:r>
            <a:endParaRPr lang="en-US" sz="1400" dirty="0"/>
          </a:p>
        </p:txBody>
      </p:sp>
      <p:sp>
        <p:nvSpPr>
          <p:cNvPr id="68" name="Text 66"/>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+27.6%</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2026-10-27T18:05:22Z</dcterms:created>
  <dcterms:modified xsi:type="dcterms:W3CDTF">2026-10-27T18:05:22Z</dcterms:modified>
</cp:coreProperties>
</file>