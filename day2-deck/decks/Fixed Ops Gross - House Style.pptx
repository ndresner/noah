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19.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charts/chart2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24.xml" ContentType="application/vnd.openxmlformats-officedocument.drawingml.chart+xml"/>
  <Override PartName="/ppt/charts/chart25.xml" ContentType="application/vnd.openxmlformats-officedocument.drawingml.chart+xml"/>
  <Override PartName="/ppt/charts/chart26.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charts/chart39.xml" ContentType="application/vnd.openxmlformats-officedocument.drawingml.chart+xml"/>
  <Override PartName="/ppt/charts/chart40.xml" ContentType="application/vnd.openxmlformats-officedocument.drawingml.chart+xml"/>
  <Override PartName="/ppt/charts/chart4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42.xml" ContentType="application/vnd.openxmlformats-officedocument.drawingml.chart+xml"/>
  <Override PartName="/ppt/charts/chart43.xml" ContentType="application/vnd.openxmlformats-officedocument.drawingml.chart+xml"/>
  <Override PartName="/ppt/charts/chart44.xml" ContentType="application/vnd.openxmlformats-officedocument.drawingml.chart+xml"/>
  <Override PartName="/ppt/charts/chart45.xml" ContentType="application/vnd.openxmlformats-officedocument.drawingml.chart+xml"/>
  <Override PartName="/ppt/charts/chart46.xml" ContentType="application/vnd.openxmlformats-officedocument.drawingml.chart+xml"/>
  <Override PartName="/ppt/charts/chart47.xml" ContentType="application/vnd.openxmlformats-officedocument.drawingml.chart+xml"/>
  <Override PartName="/ppt/charts/chart48.xml" ContentType="application/vnd.openxmlformats-officedocument.drawingml.chart+xml"/>
  <Override PartName="/ppt/charts/chart49.xml" ContentType="application/vnd.openxmlformats-officedocument.drawingml.chart+xml"/>
  <Override PartName="/ppt/charts/chart50.xml" ContentType="application/vnd.openxmlformats-officedocument.drawingml.chart+xml"/>
  <Override PartName="/ppt/charts/chart51.xml" ContentType="application/vnd.openxmlformats-officedocument.drawingml.chart+xml"/>
  <Override PartName="/ppt/charts/chart52.xml" ContentType="application/vnd.openxmlformats-officedocument.drawingml.chart+xml"/>
  <Override PartName="/ppt/charts/chart53.xml" ContentType="application/vnd.openxmlformats-officedocument.drawingml.chart+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Relationships xmlns="http://schemas.openxmlformats.org/package/2006/relationships"><Relationship Id="rId1" Type="http://schemas.openxmlformats.org/officeDocument/2006/relationships/package" Target="../embeddings/Microsoft_Excel_Worksheet42.xlsx"/></Relationships>
</file>

<file path=ppt/charts/_rels/chart43.xml.rels><?xml version="1.0" encoding="UTF-8" standalone="yes"?><Relationships xmlns="http://schemas.openxmlformats.org/package/2006/relationships"><Relationship Id="rId1" Type="http://schemas.openxmlformats.org/officeDocument/2006/relationships/package" Target="../embeddings/Microsoft_Excel_Worksheet43.xlsx"/></Relationships>
</file>

<file path=ppt/charts/_rels/chart44.xml.rels><?xml version="1.0" encoding="UTF-8" standalone="yes"?><Relationships xmlns="http://schemas.openxmlformats.org/package/2006/relationships"><Relationship Id="rId1" Type="http://schemas.openxmlformats.org/officeDocument/2006/relationships/package" Target="../embeddings/Microsoft_Excel_Worksheet44.xlsx"/></Relationships>
</file>

<file path=ppt/charts/_rels/chart45.xml.rels><?xml version="1.0" encoding="UTF-8" standalone="yes"?><Relationships xmlns="http://schemas.openxmlformats.org/package/2006/relationships"><Relationship Id="rId1" Type="http://schemas.openxmlformats.org/officeDocument/2006/relationships/package" Target="../embeddings/Microsoft_Excel_Worksheet45.xlsx"/></Relationships>
</file>

<file path=ppt/charts/_rels/chart46.xml.rels><?xml version="1.0" encoding="UTF-8" standalone="yes"?><Relationships xmlns="http://schemas.openxmlformats.org/package/2006/relationships"><Relationship Id="rId1" Type="http://schemas.openxmlformats.org/officeDocument/2006/relationships/package" Target="../embeddings/Microsoft_Excel_Worksheet46.xlsx"/></Relationships>
</file>

<file path=ppt/charts/_rels/chart47.xml.rels><?xml version="1.0" encoding="UTF-8" standalone="yes"?><Relationships xmlns="http://schemas.openxmlformats.org/package/2006/relationships"><Relationship Id="rId1" Type="http://schemas.openxmlformats.org/officeDocument/2006/relationships/package" Target="../embeddings/Microsoft_Excel_Worksheet47.xlsx"/></Relationships>
</file>

<file path=ppt/charts/_rels/chart48.xml.rels><?xml version="1.0" encoding="UTF-8" standalone="yes"?><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Relationships xmlns="http://schemas.openxmlformats.org/package/2006/relationships"><Relationship Id="rId1" Type="http://schemas.openxmlformats.org/officeDocument/2006/relationships/package" Target="../embeddings/Microsoft_Excel_Worksheet51.xlsx"/></Relationships>
</file>

<file path=ppt/charts/_rels/chart52.xml.rels><?xml version="1.0" encoding="UTF-8" standalone="yes"?><Relationships xmlns="http://schemas.openxmlformats.org/package/2006/relationships"><Relationship Id="rId1" Type="http://schemas.openxmlformats.org/officeDocument/2006/relationships/package" Target="../embeddings/Microsoft_Excel_Worksheet52.xlsx"/></Relationships>
</file>

<file path=ppt/charts/_rels/chart53.xml.rels><?xml version="1.0" encoding="UTF-8" standalone="yes"?><Relationships xmlns="http://schemas.openxmlformats.org/package/2006/relationships"><Relationship Id="rId1" Type="http://schemas.openxmlformats.org/officeDocument/2006/relationships/package" Target="../embeddings/Microsoft_Excel_Worksheet5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21.12</c:v>
                </c:pt>
                <c:pt idx="3">
                  <c:v>21.8</c:v>
                </c:pt>
                <c:pt idx="4">
                  <c:v>20.12</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21.12</c:v>
                </c:pt>
                <c:pt idx="3">
                  <c:v>21.8</c:v>
                </c:pt>
                <c:pt idx="4">
                  <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
                </c:pt>
                <c:pt idx="3">
                  <c:v/>
                </c:pt>
                <c:pt idx="4">
                  <c:v>20.12</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
                </c:pt>
                <c:pt idx="3">
                  <c:v/>
                </c:pt>
                <c:pt idx="4">
                  <c:v>20.28</c:v>
                </c:pt>
                <c:pt idx="5">
                  <c:v/>
                </c:pt>
                <c:pt idx="6">
                  <c:v/>
                </c:pt>
                <c:pt idx="7">
                  <c:v/>
                </c:pt>
                <c:pt idx="8">
                  <c:v/>
                </c:pt>
                <c:pt idx="9">
                  <c:v>21.27</c:v>
                </c:pt>
                <c:pt idx="10">
                  <c:v/>
                </c:pt>
                <c:pt idx="11">
                  <c:v>19.32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20.19</c:v>
                </c:pt>
                <c:pt idx="3">
                  <c:v>20.85</c:v>
                </c:pt>
                <c:pt idx="4">
                  <c:v/>
                </c:pt>
                <c:pt idx="5">
                  <c:v>20.34</c:v>
                </c:pt>
                <c:pt idx="6">
                  <c:v>20.75</c:v>
                </c:pt>
                <c:pt idx="7">
                  <c:v>20.32</c:v>
                </c:pt>
                <c:pt idx="8">
                  <c:v>19.03</c:v>
                </c:pt>
                <c:pt idx="9">
                  <c:v/>
                </c:pt>
                <c:pt idx="10">
                  <c:v>17.74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20.19</c:v>
                </c:pt>
                <c:pt idx="3">
                  <c:v>20.85</c:v>
                </c:pt>
                <c:pt idx="4">
                  <c:v>20.28</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136708.57</c:v>
                </c:pt>
                <c:pt idx="1">
                  <c:v>112824.28</c:v>
                </c:pt>
                <c:pt idx="2">
                  <c:v>111636.20999999999</c:v>
                </c:pt>
                <c:pt idx="3">
                  <c:v>138557</c:v>
                </c:pt>
                <c:pt idx="4">
                  <c:v>102306.09</c:v>
                </c:pt>
                <c:pt idx="5">
                  <c:v>110209.59</c:v>
                </c:pt>
                <c:pt idx="6">
                  <c:v>167539.66999999998</c:v>
                </c:pt>
                <c:pt idx="7">
                  <c:v>130883.47</c:v>
                </c:pt>
                <c:pt idx="8">
                  <c:v>120116.82999999999</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122685.44</c:v>
                </c:pt>
                <c:pt idx="1">
                  <c:v>170274.09</c:v>
                </c:pt>
                <c:pt idx="2">
                  <c:v>181574.05</c:v>
                </c:pt>
                <c:pt idx="3">
                  <c:v>159002.65</c:v>
                </c:pt>
                <c:pt idx="4">
                  <c:v>158555.92</c:v>
                </c:pt>
                <c:pt idx="5">
                  <c:v>177958.81</c:v>
                </c:pt>
                <c:pt idx="6">
                  <c:v>206377.29</c:v>
                </c:pt>
                <c:pt idx="7">
                  <c:v>179348.7</c:v>
                </c:pt>
                <c:pt idx="8">
                  <c:v>179494.38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4702.986"/>
          <c:min val="93980.3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279158.61</c:v>
                </c:pt>
                <c:pt idx="1">
                  <c:v>246299.61</c:v>
                </c:pt>
                <c:pt idx="2">
                  <c:v>277949.06</c:v>
                </c:pt>
                <c:pt idx="3">
                  <c:v>257326.83000000002</c:v>
                </c:pt>
                <c:pt idx="4">
                  <c:v>261986.21</c:v>
                </c:pt>
                <c:pt idx="5">
                  <c:v>230101.88</c:v>
                </c:pt>
                <c:pt idx="6">
                  <c:v>240805.24</c:v>
                </c:pt>
                <c:pt idx="7">
                  <c:v>274478.65</c:v>
                </c:pt>
                <c:pt idx="8">
                  <c:v>196527.96000000002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318330.82</c:v>
                </c:pt>
                <c:pt idx="1">
                  <c:v>312431.39</c:v>
                </c:pt>
                <c:pt idx="2">
                  <c:v>357803.52999999997</c:v>
                </c:pt>
                <c:pt idx="3">
                  <c:v>316035.44</c:v>
                </c:pt>
                <c:pt idx="4">
                  <c:v>297229.79000000004</c:v>
                </c:pt>
                <c:pt idx="5">
                  <c:v>310532.31</c:v>
                </c:pt>
                <c:pt idx="6">
                  <c:v>341103.91000000003</c:v>
                </c:pt>
                <c:pt idx="7">
                  <c:v>359225.20999999996</c:v>
                </c:pt>
                <c:pt idx="8">
                  <c:v>369333.19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3157.6084"/>
          <c:min val="182703.5416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340480.1</c:v>
                </c:pt>
                <c:pt idx="1">
                  <c:v>275067.74</c:v>
                </c:pt>
                <c:pt idx="2">
                  <c:v>379293.83</c:v>
                </c:pt>
                <c:pt idx="3">
                  <c:v>394725.16000000003</c:v>
                </c:pt>
                <c:pt idx="4">
                  <c:v>367038.15</c:v>
                </c:pt>
                <c:pt idx="5">
                  <c:v>351035.32</c:v>
                </c:pt>
                <c:pt idx="6">
                  <c:v>419932</c:v>
                </c:pt>
                <c:pt idx="7">
                  <c:v>404285.91000000003</c:v>
                </c:pt>
                <c:pt idx="8">
                  <c:v>449602.85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439181.49</c:v>
                </c:pt>
                <c:pt idx="1">
                  <c:v>416904.62</c:v>
                </c:pt>
                <c:pt idx="2">
                  <c:v>459207.05</c:v>
                </c:pt>
                <c:pt idx="3">
                  <c:v>457504.79</c:v>
                </c:pt>
                <c:pt idx="4">
                  <c:v>496653.73</c:v>
                </c:pt>
                <c:pt idx="5">
                  <c:v>485200.04000000004</c:v>
                </c:pt>
                <c:pt idx="6">
                  <c:v>480320.26</c:v>
                </c:pt>
                <c:pt idx="7">
                  <c:v>447921.62</c:v>
                </c:pt>
                <c:pt idx="8">
                  <c:v>462303.26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14380.6092"/>
          <c:min val="257340.86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566830.23</c:v>
                </c:pt>
                <c:pt idx="1">
                  <c:v>504828.86</c:v>
                </c:pt>
                <c:pt idx="2">
                  <c:v>482747.35</c:v>
                </c:pt>
                <c:pt idx="3">
                  <c:v>372562.69999999995</c:v>
                </c:pt>
                <c:pt idx="4">
                  <c:v>307076.6</c:v>
                </c:pt>
                <c:pt idx="5">
                  <c:v>275196.9</c:v>
                </c:pt>
                <c:pt idx="6">
                  <c:v>261415.97000000003</c:v>
                </c:pt>
                <c:pt idx="7">
                  <c:v>340682.17</c:v>
                </c:pt>
                <c:pt idx="8">
                  <c:v>298596.23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292739.36</c:v>
                </c:pt>
                <c:pt idx="1">
                  <c:v>331018.14</c:v>
                </c:pt>
                <c:pt idx="2">
                  <c:v>334322.33</c:v>
                </c:pt>
                <c:pt idx="3">
                  <c:v>331403.36</c:v>
                </c:pt>
                <c:pt idx="4">
                  <c:v>350644.58</c:v>
                </c:pt>
                <c:pt idx="5">
                  <c:v>338879.20999999996</c:v>
                </c:pt>
                <c:pt idx="6">
                  <c:v>288153.72</c:v>
                </c:pt>
                <c:pt idx="7">
                  <c:v>329076.15</c:v>
                </c:pt>
                <c:pt idx="8">
                  <c:v>296912.56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91263.3708"/>
          <c:min val="236982.8292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159983.26</c:v>
                </c:pt>
                <c:pt idx="1">
                  <c:v>115519.44</c:v>
                </c:pt>
                <c:pt idx="2">
                  <c:v>118670.86</c:v>
                </c:pt>
                <c:pt idx="3">
                  <c:v>148822.94</c:v>
                </c:pt>
                <c:pt idx="4">
                  <c:v>126158.02</c:v>
                </c:pt>
                <c:pt idx="5">
                  <c:v>119292.35</c:v>
                </c:pt>
                <c:pt idx="6">
                  <c:v>122834.16999999998</c:v>
                </c:pt>
                <c:pt idx="7">
                  <c:v>123783.98999999999</c:v>
                </c:pt>
                <c:pt idx="8">
                  <c:v>95798.85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117493.94</c:v>
                </c:pt>
                <c:pt idx="1">
                  <c:v>82680.94</c:v>
                </c:pt>
                <c:pt idx="2">
                  <c:v>100488.31</c:v>
                </c:pt>
                <c:pt idx="3">
                  <c:v>115559.59</c:v>
                </c:pt>
                <c:pt idx="4">
                  <c:v>93798.13</c:v>
                </c:pt>
                <c:pt idx="5">
                  <c:v>131122.11</c:v>
                </c:pt>
                <c:pt idx="6">
                  <c:v>127210.19</c:v>
                </c:pt>
                <c:pt idx="7">
                  <c:v>99536.29</c:v>
                </c:pt>
                <c:pt idx="8">
                  <c:v>100128.37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6167.4456"/>
          <c:min val="76496.75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548417.28</c:v>
                </c:pt>
                <c:pt idx="1">
                  <c:v>545274.66</c:v>
                </c:pt>
                <c:pt idx="2">
                  <c:v>605611.99</c:v>
                </c:pt>
                <c:pt idx="3">
                  <c:v>542256.23</c:v>
                </c:pt>
                <c:pt idx="4">
                  <c:v>678618.97</c:v>
                </c:pt>
                <c:pt idx="5">
                  <c:v>662986.98</c:v>
                </c:pt>
                <c:pt idx="6">
                  <c:v>675535.23</c:v>
                </c:pt>
                <c:pt idx="7">
                  <c:v>684367.38</c:v>
                </c:pt>
                <c:pt idx="8">
                  <c:v>608424.47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583117.07</c:v>
                </c:pt>
                <c:pt idx="1">
                  <c:v>477083.23</c:v>
                </c:pt>
                <c:pt idx="2">
                  <c:v>515173.79</c:v>
                </c:pt>
                <c:pt idx="3">
                  <c:v>519619.25</c:v>
                </c:pt>
                <c:pt idx="4">
                  <c:v>526372.95</c:v>
                </c:pt>
                <c:pt idx="5">
                  <c:v>562682.6900000001</c:v>
                </c:pt>
                <c:pt idx="6">
                  <c:v>573702.03</c:v>
                </c:pt>
                <c:pt idx="7">
                  <c:v>538592.21</c:v>
                </c:pt>
                <c:pt idx="8">
                  <c:v>493957.77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950.112"/>
          <c:min val="460500.497999999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313194.3666666667</c:v>
                </c:pt>
                <c:pt idx="1">
                  <c:v>313194.3666666667</c:v>
                </c:pt>
                <c:pt idx="2">
                  <c:v>313194.3666666667</c:v>
                </c:pt>
                <c:pt idx="3">
                  <c:v>313194.3666666667</c:v>
                </c:pt>
                <c:pt idx="4">
                  <c:v>313194.3666666667</c:v>
                </c:pt>
                <c:pt idx="5">
                  <c:v>313194.3666666667</c:v>
                </c:pt>
                <c:pt idx="6">
                  <c:v>313194.3666666667</c:v>
                </c:pt>
                <c:pt idx="7">
                  <c:v>313194.3666666667</c:v>
                </c:pt>
                <c:pt idx="8">
                  <c:v>313194.3666666667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3499.21200000006"/>
          <c:min val="223451.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312195.81</c:v>
                </c:pt>
                <c:pt idx="1">
                  <c:v>244144.63</c:v>
                </c:pt>
                <c:pt idx="2">
                  <c:v>383242.66000000003</c:v>
                </c:pt>
                <c:pt idx="3">
                  <c:v>370587.38</c:v>
                </c:pt>
                <c:pt idx="4">
                  <c:v>346514.70999999996</c:v>
                </c:pt>
                <c:pt idx="5">
                  <c:v>373696.75</c:v>
                </c:pt>
                <c:pt idx="6">
                  <c:v>354810.52</c:v>
                </c:pt>
                <c:pt idx="7">
                  <c:v>417024.20999999996</c:v>
                </c:pt>
                <c:pt idx="8">
                  <c:v>502806.28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3499.21200000006"/>
          <c:min val="223451.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227106.68333333335</c:v>
                </c:pt>
                <c:pt idx="1">
                  <c:v>227106.68333333335</c:v>
                </c:pt>
                <c:pt idx="2">
                  <c:v>227106.68333333335</c:v>
                </c:pt>
                <c:pt idx="3">
                  <c:v>227106.68333333335</c:v>
                </c:pt>
                <c:pt idx="4">
                  <c:v>227106.68333333335</c:v>
                </c:pt>
                <c:pt idx="5">
                  <c:v>227106.68333333335</c:v>
                </c:pt>
                <c:pt idx="6">
                  <c:v>227106.68333333335</c:v>
                </c:pt>
                <c:pt idx="7">
                  <c:v>227106.68333333335</c:v>
                </c:pt>
                <c:pt idx="8">
                  <c:v>227106.68333333335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9166.5412"/>
          <c:min val="212049.298800000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220126.35</c:v>
                </c:pt>
                <c:pt idx="1">
                  <c:v>225929.27000000002</c:v>
                </c:pt>
                <c:pt idx="2">
                  <c:v>235264.43</c:v>
                </c:pt>
                <c:pt idx="3">
                  <c:v>268052.81</c:v>
                </c:pt>
                <c:pt idx="4">
                  <c:v>236399.33000000002</c:v>
                </c:pt>
                <c:pt idx="5">
                  <c:v>246286.1</c:v>
                </c:pt>
                <c:pt idx="6">
                  <c:v>321089.49</c:v>
                </c:pt>
                <c:pt idx="7">
                  <c:v>286186.58</c:v>
                </c:pt>
                <c:pt idx="8">
                  <c:v>296614.76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9166.5412"/>
          <c:min val="212049.298800000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332331.74333333335</c:v>
                </c:pt>
                <c:pt idx="1">
                  <c:v>332331.74333333335</c:v>
                </c:pt>
                <c:pt idx="2">
                  <c:v>332331.74333333335</c:v>
                </c:pt>
                <c:pt idx="3">
                  <c:v>332331.74333333335</c:v>
                </c:pt>
                <c:pt idx="4">
                  <c:v>332331.74333333335</c:v>
                </c:pt>
                <c:pt idx="5">
                  <c:v>332331.74333333335</c:v>
                </c:pt>
                <c:pt idx="6">
                  <c:v>332331.74333333335</c:v>
                </c:pt>
                <c:pt idx="7">
                  <c:v>332331.74333333335</c:v>
                </c:pt>
                <c:pt idx="8">
                  <c:v>332331.74333333335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43070.14239999995"/>
          <c:min val="310778.487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319902.05</c:v>
                </c:pt>
                <c:pt idx="1">
                  <c:v>332719.38</c:v>
                </c:pt>
                <c:pt idx="2">
                  <c:v>344373.8</c:v>
                </c:pt>
                <c:pt idx="3">
                  <c:v>411838.2</c:v>
                </c:pt>
                <c:pt idx="4">
                  <c:v>359315.94</c:v>
                </c:pt>
                <c:pt idx="5">
                  <c:v>360807.55</c:v>
                </c:pt>
                <c:pt idx="6">
                  <c:v>433946.57999999996</c:v>
                </c:pt>
                <c:pt idx="7">
                  <c:v>424949.79000000004</c:v>
                </c:pt>
                <c:pt idx="8">
                  <c:v>428298.29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43070.14239999995"/>
          <c:min val="310778.487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13.74</c:v>
                </c:pt>
                <c:pt idx="10">
                  <c:v/>
                </c:pt>
                <c:pt idx="11">
                  <c:v>12.92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
                </c:pt>
                <c:pt idx="10">
                  <c:v>11.84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69798.23</c:v>
                </c:pt>
                <c:pt idx="1">
                  <c:v>71904.48</c:v>
                </c:pt>
                <c:pt idx="2">
                  <c:v>59129.22</c:v>
                </c:pt>
                <c:pt idx="3">
                  <c:v>91421.93</c:v>
                </c:pt>
                <c:pt idx="4">
                  <c:v>64530.06</c:v>
                </c:pt>
                <c:pt idx="5">
                  <c:v>59551.19</c:v>
                </c:pt>
                <c:pt idx="6">
                  <c:v>95630.58</c:v>
                </c:pt>
                <c:pt idx="7">
                  <c:v>70250.86</c:v>
                </c:pt>
                <c:pt idx="8">
                  <c:v>65453.38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69682.41</c:v>
                </c:pt>
                <c:pt idx="1">
                  <c:v>92272.03</c:v>
                </c:pt>
                <c:pt idx="2">
                  <c:v>125178.68</c:v>
                </c:pt>
                <c:pt idx="3">
                  <c:v>95472.62</c:v>
                </c:pt>
                <c:pt idx="4">
                  <c:v>106105.6</c:v>
                </c:pt>
                <c:pt idx="5">
                  <c:v>118651.26</c:v>
                </c:pt>
                <c:pt idx="6">
                  <c:v>142107.98</c:v>
                </c:pt>
                <c:pt idx="7">
                  <c:v>123108.19</c:v>
                </c:pt>
                <c:pt idx="8">
                  <c:v>119981.01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8746.2808"/>
          <c:min val="52490.91920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202262.9</c:v>
                </c:pt>
                <c:pt idx="1">
                  <c:v>182948.08</c:v>
                </c:pt>
                <c:pt idx="2">
                  <c:v>203100.59</c:v>
                </c:pt>
                <c:pt idx="3">
                  <c:v>183103.26</c:v>
                </c:pt>
                <c:pt idx="4">
                  <c:v>191403.86</c:v>
                </c:pt>
                <c:pt idx="5">
                  <c:v>164166.47</c:v>
                </c:pt>
                <c:pt idx="6">
                  <c:v>165192.98</c:v>
                </c:pt>
                <c:pt idx="7">
                  <c:v>178976.28</c:v>
                </c:pt>
                <c:pt idx="8">
                  <c:v>139572.17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220081.2</c:v>
                </c:pt>
                <c:pt idx="1">
                  <c:v>219688.36</c:v>
                </c:pt>
                <c:pt idx="2">
                  <c:v>242099.99</c:v>
                </c:pt>
                <c:pt idx="3">
                  <c:v>225354.2</c:v>
                </c:pt>
                <c:pt idx="4">
                  <c:v>211300.66</c:v>
                </c:pt>
                <c:pt idx="5">
                  <c:v>220497.88</c:v>
                </c:pt>
                <c:pt idx="6">
                  <c:v>237136.14</c:v>
                </c:pt>
                <c:pt idx="7">
                  <c:v>246949.08</c:v>
                </c:pt>
                <c:pt idx="8">
                  <c:v>262460.99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2292.0956"/>
          <c:min val="129741.064400000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216918.34</c:v>
                </c:pt>
                <c:pt idx="1">
                  <c:v>168250.31</c:v>
                </c:pt>
                <c:pt idx="2">
                  <c:v>264333.21</c:v>
                </c:pt>
                <c:pt idx="3">
                  <c:v>282688.96</c:v>
                </c:pt>
                <c:pt idx="4">
                  <c:v>256619.26</c:v>
                </c:pt>
                <c:pt idx="5">
                  <c:v>238233.6</c:v>
                </c:pt>
                <c:pt idx="6">
                  <c:v>281263.05</c:v>
                </c:pt>
                <c:pt idx="7">
                  <c:v>276144.77</c:v>
                </c:pt>
                <c:pt idx="8">
                  <c:v>326475.32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328408.31</c:v>
                </c:pt>
                <c:pt idx="1">
                  <c:v>305255.29</c:v>
                </c:pt>
                <c:pt idx="2">
                  <c:v>340713.51</c:v>
                </c:pt>
                <c:pt idx="3">
                  <c:v>321010.17</c:v>
                </c:pt>
                <c:pt idx="4">
                  <c:v>342497.71</c:v>
                </c:pt>
                <c:pt idx="5">
                  <c:v>334870.15</c:v>
                </c:pt>
                <c:pt idx="6">
                  <c:v>330217.21</c:v>
                </c:pt>
                <c:pt idx="7">
                  <c:v>314456.25</c:v>
                </c:pt>
                <c:pt idx="8">
                  <c:v>332821.98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56437.50200000004"/>
          <c:min val="154310.517999999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353275.54</c:v>
                </c:pt>
                <c:pt idx="1">
                  <c:v>314975.53</c:v>
                </c:pt>
                <c:pt idx="2">
                  <c:v>314604.76</c:v>
                </c:pt>
                <c:pt idx="3">
                  <c:v>270945.17</c:v>
                </c:pt>
                <c:pt idx="4">
                  <c:v>236041.07</c:v>
                </c:pt>
                <c:pt idx="5">
                  <c:v>209056.48</c:v>
                </c:pt>
                <c:pt idx="6">
                  <c:v>181741.73</c:v>
                </c:pt>
                <c:pt idx="7">
                  <c:v>237104.9</c:v>
                </c:pt>
                <c:pt idx="8">
                  <c:v>207834.25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194970.43</c:v>
                </c:pt>
                <c:pt idx="1">
                  <c:v>238617.46</c:v>
                </c:pt>
                <c:pt idx="2">
                  <c:v>233128.95</c:v>
                </c:pt>
                <c:pt idx="3">
                  <c:v>222241.48</c:v>
                </c:pt>
                <c:pt idx="4">
                  <c:v>228299.88</c:v>
                </c:pt>
                <c:pt idx="5">
                  <c:v>217804.65</c:v>
                </c:pt>
                <c:pt idx="6">
                  <c:v>180347.34</c:v>
                </c:pt>
                <c:pt idx="7">
                  <c:v>197623.48</c:v>
                </c:pt>
                <c:pt idx="8">
                  <c:v>174623.32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67567.7176"/>
          <c:min val="160331.14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102033.74</c:v>
                </c:pt>
                <c:pt idx="1">
                  <c:v>76401</c:v>
                </c:pt>
                <c:pt idx="2">
                  <c:v>76469</c:v>
                </c:pt>
                <c:pt idx="3">
                  <c:v>97849.57</c:v>
                </c:pt>
                <c:pt idx="4">
                  <c:v>76957.35</c:v>
                </c:pt>
                <c:pt idx="5">
                  <c:v>80529.47</c:v>
                </c:pt>
                <c:pt idx="6">
                  <c:v>75751.65</c:v>
                </c:pt>
                <c:pt idx="7">
                  <c:v>76285.47</c:v>
                </c:pt>
                <c:pt idx="8">
                  <c:v>61238.72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77148.21</c:v>
                </c:pt>
                <c:pt idx="1">
                  <c:v>50714.3</c:v>
                </c:pt>
                <c:pt idx="2">
                  <c:v>62970.27</c:v>
                </c:pt>
                <c:pt idx="3">
                  <c:v>69943.09</c:v>
                </c:pt>
                <c:pt idx="4">
                  <c:v>57099.67</c:v>
                </c:pt>
                <c:pt idx="5">
                  <c:v>81302.86</c:v>
                </c:pt>
                <c:pt idx="6">
                  <c:v>71072.87</c:v>
                </c:pt>
                <c:pt idx="7">
                  <c:v>57804.52</c:v>
                </c:pt>
                <c:pt idx="8">
                  <c:v>60424.61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6139.29520000001"/>
          <c:min val="46608.74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391793.32</c:v>
                </c:pt>
                <c:pt idx="1">
                  <c:v>381151.32</c:v>
                </c:pt>
                <c:pt idx="2">
                  <c:v>436075.66</c:v>
                </c:pt>
                <c:pt idx="3">
                  <c:v>404816.51</c:v>
                </c:pt>
                <c:pt idx="4">
                  <c:v>482371.2</c:v>
                </c:pt>
                <c:pt idx="5">
                  <c:v>481502.62</c:v>
                </c:pt>
                <c:pt idx="6">
                  <c:v>517873.69</c:v>
                </c:pt>
                <c:pt idx="7">
                  <c:v>518472.34</c:v>
                </c:pt>
                <c:pt idx="8">
                  <c:v>435666.96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440569.72</c:v>
                </c:pt>
                <c:pt idx="1">
                  <c:v>353021.73</c:v>
                </c:pt>
                <c:pt idx="2">
                  <c:v>386548.74</c:v>
                </c:pt>
                <c:pt idx="3">
                  <c:v>386837.05</c:v>
                </c:pt>
                <c:pt idx="4">
                  <c:v>393064.84</c:v>
                </c:pt>
                <c:pt idx="5">
                  <c:v>409975.28</c:v>
                </c:pt>
                <c:pt idx="6">
                  <c:v>412383.09</c:v>
                </c:pt>
                <c:pt idx="7">
                  <c:v>379293.05</c:v>
                </c:pt>
                <c:pt idx="8">
                  <c:v>340820.23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32684.5088000001"/>
          <c:min val="326608.0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199414.9533333333</c:v>
                </c:pt>
                <c:pt idx="1">
                  <c:v>199414.9533333333</c:v>
                </c:pt>
                <c:pt idx="2">
                  <c:v>199414.9533333333</c:v>
                </c:pt>
                <c:pt idx="3">
                  <c:v>199414.9533333333</c:v>
                </c:pt>
                <c:pt idx="4">
                  <c:v>199414.9533333333</c:v>
                </c:pt>
                <c:pt idx="5">
                  <c:v>199414.9533333333</c:v>
                </c:pt>
                <c:pt idx="6">
                  <c:v>199414.9533333333</c:v>
                </c:pt>
                <c:pt idx="7">
                  <c:v>199414.9533333333</c:v>
                </c:pt>
                <c:pt idx="8">
                  <c:v>199414.9533333333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3970.87"/>
          <c:min val="14703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200653.06</c:v>
                </c:pt>
                <c:pt idx="1">
                  <c:v>158543.21</c:v>
                </c:pt>
                <c:pt idx="2">
                  <c:v>239048.59</c:v>
                </c:pt>
                <c:pt idx="3">
                  <c:v>229696.39</c:v>
                </c:pt>
                <c:pt idx="4">
                  <c:v>230043.21</c:v>
                </c:pt>
                <c:pt idx="5">
                  <c:v>228281.59</c:v>
                </c:pt>
                <c:pt idx="6">
                  <c:v>237882.27</c:v>
                </c:pt>
                <c:pt idx="7">
                  <c:v>285444.13</c:v>
                </c:pt>
                <c:pt idx="8">
                  <c:v>302457.71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3970.87"/>
          <c:min val="14703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132477.43333333335</c:v>
                </c:pt>
                <c:pt idx="1">
                  <c:v>132477.43333333335</c:v>
                </c:pt>
                <c:pt idx="2">
                  <c:v>132477.43333333335</c:v>
                </c:pt>
                <c:pt idx="3">
                  <c:v>132477.43333333335</c:v>
                </c:pt>
                <c:pt idx="4">
                  <c:v>132477.43333333335</c:v>
                </c:pt>
                <c:pt idx="5">
                  <c:v>132477.43333333335</c:v>
                </c:pt>
                <c:pt idx="6">
                  <c:v>132477.43333333335</c:v>
                </c:pt>
                <c:pt idx="7">
                  <c:v>132477.43333333335</c:v>
                </c:pt>
                <c:pt idx="8">
                  <c:v>132477.43333333335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2198.226"/>
          <c:min val="120486.794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125432.41</c:v>
                </c:pt>
                <c:pt idx="1">
                  <c:v>134497.26</c:v>
                </c:pt>
                <c:pt idx="2">
                  <c:v>137502.63</c:v>
                </c:pt>
                <c:pt idx="3">
                  <c:v>157909.72</c:v>
                </c:pt>
                <c:pt idx="4">
                  <c:v>150491.06</c:v>
                </c:pt>
                <c:pt idx="5">
                  <c:v>154136.1</c:v>
                </c:pt>
                <c:pt idx="6">
                  <c:v>187252.61</c:v>
                </c:pt>
                <c:pt idx="7">
                  <c:v>171149.75</c:v>
                </c:pt>
                <c:pt idx="8">
                  <c:v>176195.28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2198.226"/>
          <c:min val="120486.794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95711.04000000001</c:v>
                </c:pt>
                <c:pt idx="1">
                  <c:v>95711.04000000001</c:v>
                </c:pt>
                <c:pt idx="2">
                  <c:v>95711.04000000001</c:v>
                </c:pt>
                <c:pt idx="3">
                  <c:v>95711.04000000001</c:v>
                </c:pt>
                <c:pt idx="4">
                  <c:v>95711.04000000001</c:v>
                </c:pt>
                <c:pt idx="5">
                  <c:v>95711.04000000001</c:v>
                </c:pt>
                <c:pt idx="6">
                  <c:v>95711.04000000001</c:v>
                </c:pt>
                <c:pt idx="7">
                  <c:v>95711.04000000001</c:v>
                </c:pt>
                <c:pt idx="8">
                  <c:v>95711.04000000001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7902.02560000002"/>
          <c:min val="63888.3644000000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69682.41</c:v>
                </c:pt>
                <c:pt idx="1">
                  <c:v>92272.03</c:v>
                </c:pt>
                <c:pt idx="2">
                  <c:v>125178.68</c:v>
                </c:pt>
                <c:pt idx="3">
                  <c:v>95472.62</c:v>
                </c:pt>
                <c:pt idx="4">
                  <c:v>106105.6</c:v>
                </c:pt>
                <c:pt idx="5">
                  <c:v>118651.26</c:v>
                </c:pt>
                <c:pt idx="6">
                  <c:v>142107.98</c:v>
                </c:pt>
                <c:pt idx="7">
                  <c:v>123108.19</c:v>
                </c:pt>
                <c:pt idx="8">
                  <c:v>119981.01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7902.02560000002"/>
          <c:min val="63888.3644000000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6.77</c:v>
                </c:pt>
                <c:pt idx="3">
                  <c:v>7.14</c:v>
                </c:pt>
                <c:pt idx="4">
                  <c:v>6.41</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6.77</c:v>
                </c:pt>
                <c:pt idx="3">
                  <c:v>7.14</c:v>
                </c:pt>
                <c:pt idx="4">
                  <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
                </c:pt>
                <c:pt idx="3">
                  <c:v/>
                </c:pt>
                <c:pt idx="4">
                  <c:v>6.41</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
                </c:pt>
                <c:pt idx="3">
                  <c:v/>
                </c:pt>
                <c:pt idx="4">
                  <c:v>6.67</c:v>
                </c:pt>
                <c:pt idx="5">
                  <c:v/>
                </c:pt>
                <c:pt idx="6">
                  <c:v/>
                </c:pt>
                <c:pt idx="7">
                  <c:v/>
                </c:pt>
                <c:pt idx="8">
                  <c:v/>
                </c:pt>
                <c:pt idx="9">
                  <c:v>7.53</c:v>
                </c:pt>
                <c:pt idx="10">
                  <c:v/>
                </c:pt>
                <c:pt idx="11">
                  <c:v>6.4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6.6</c:v>
                </c:pt>
                <c:pt idx="3">
                  <c:v>6.84</c:v>
                </c:pt>
                <c:pt idx="4">
                  <c:v/>
                </c:pt>
                <c:pt idx="5">
                  <c:v>6.81</c:v>
                </c:pt>
                <c:pt idx="6">
                  <c:v>6.97</c:v>
                </c:pt>
                <c:pt idx="7">
                  <c:v>6.81</c:v>
                </c:pt>
                <c:pt idx="8">
                  <c:v>6.54</c:v>
                </c:pt>
                <c:pt idx="9">
                  <c:v/>
                </c:pt>
                <c:pt idx="10">
                  <c:v>5.91</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6.6</c:v>
                </c:pt>
                <c:pt idx="3">
                  <c:v>6.84</c:v>
                </c:pt>
                <c:pt idx="4">
                  <c:v>6.67</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76895.71</c:v>
                </c:pt>
                <c:pt idx="1">
                  <c:v>63351.53</c:v>
                </c:pt>
                <c:pt idx="2">
                  <c:v>74848.47</c:v>
                </c:pt>
                <c:pt idx="3">
                  <c:v>74223.57</c:v>
                </c:pt>
                <c:pt idx="4">
                  <c:v>70582.35</c:v>
                </c:pt>
                <c:pt idx="5">
                  <c:v>65935.41</c:v>
                </c:pt>
                <c:pt idx="6">
                  <c:v>75612.26</c:v>
                </c:pt>
                <c:pt idx="7">
                  <c:v>95502.37</c:v>
                </c:pt>
                <c:pt idx="8">
                  <c:v>56955.79</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98249.62</c:v>
                </c:pt>
                <c:pt idx="1">
                  <c:v>92743.03</c:v>
                </c:pt>
                <c:pt idx="2">
                  <c:v>115703.54</c:v>
                </c:pt>
                <c:pt idx="3">
                  <c:v>90681.24</c:v>
                </c:pt>
                <c:pt idx="4">
                  <c:v>85929.13</c:v>
                </c:pt>
                <c:pt idx="5">
                  <c:v>90034.43</c:v>
                </c:pt>
                <c:pt idx="6">
                  <c:v>103967.77</c:v>
                </c:pt>
                <c:pt idx="7">
                  <c:v>112276.13</c:v>
                </c:pt>
                <c:pt idx="8">
                  <c:v>106872.2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0403.35999999999"/>
          <c:min val="52255.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288780.22</c:v>
                </c:pt>
                <c:pt idx="1">
                  <c:v>287893.23</c:v>
                </c:pt>
                <c:pt idx="2">
                  <c:v>277157.05</c:v>
                </c:pt>
                <c:pt idx="3">
                  <c:v>249244.4</c:v>
                </c:pt>
                <c:pt idx="4">
                  <c:v>267904.23</c:v>
                </c:pt>
                <c:pt idx="5">
                  <c:v>262698.23</c:v>
                </c:pt>
                <c:pt idx="6">
                  <c:v>247923.28</c:v>
                </c:pt>
                <c:pt idx="7">
                  <c:v>263121.6</c:v>
                </c:pt>
                <c:pt idx="8">
                  <c:v>274470.91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329503.49</c:v>
                </c:pt>
                <c:pt idx="1">
                  <c:v>348356.24</c:v>
                </c:pt>
                <c:pt idx="2">
                  <c:v>317317.02</c:v>
                </c:pt>
                <c:pt idx="3">
                  <c:v>377563.15</c:v>
                </c:pt>
                <c:pt idx="4">
                  <c:v>339869.98</c:v>
                </c:pt>
                <c:pt idx="5">
                  <c:v>330694.3</c:v>
                </c:pt>
                <c:pt idx="6">
                  <c:v>375385.77</c:v>
                </c:pt>
                <c:pt idx="7">
                  <c:v>343496.27</c:v>
                </c:pt>
                <c:pt idx="8">
                  <c:v>345080.68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7934.3396"/>
          <c:min val="237552.09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106094.58</c:v>
                </c:pt>
                <c:pt idx="1">
                  <c:v>104588.12</c:v>
                </c:pt>
                <c:pt idx="2">
                  <c:v>102498.93</c:v>
                </c:pt>
                <c:pt idx="3">
                  <c:v>144262.77</c:v>
                </c:pt>
                <c:pt idx="4">
                  <c:v>109208.44</c:v>
                </c:pt>
                <c:pt idx="5">
                  <c:v>115148.29</c:v>
                </c:pt>
                <c:pt idx="6">
                  <c:v>123631.65</c:v>
                </c:pt>
                <c:pt idx="7">
                  <c:v>123522.18</c:v>
                </c:pt>
                <c:pt idx="8">
                  <c:v>114266.37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133304.69</c:v>
                </c:pt>
                <c:pt idx="1">
                  <c:v>132944.95</c:v>
                </c:pt>
                <c:pt idx="2">
                  <c:v>145709.43</c:v>
                </c:pt>
                <c:pt idx="3">
                  <c:v>156186.31</c:v>
                </c:pt>
                <c:pt idx="4">
                  <c:v>124661.75</c:v>
                </c:pt>
                <c:pt idx="5">
                  <c:v>174470.39</c:v>
                </c:pt>
                <c:pt idx="6">
                  <c:v>166389.2</c:v>
                </c:pt>
                <c:pt idx="7">
                  <c:v>137675.38</c:v>
                </c:pt>
                <c:pt idx="8">
                  <c:v>142608.93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0228.1068"/>
          <c:min val="96741.21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124816.87</c:v>
                </c:pt>
                <c:pt idx="1">
                  <c:v>93804.02</c:v>
                </c:pt>
                <c:pt idx="2">
                  <c:v>99730.27</c:v>
                </c:pt>
                <c:pt idx="3">
                  <c:v>108477.44</c:v>
                </c:pt>
                <c:pt idx="4">
                  <c:v>142761.56</c:v>
                </c:pt>
                <c:pt idx="5">
                  <c:v>109804.29</c:v>
                </c:pt>
                <c:pt idx="6">
                  <c:v>120024.28</c:v>
                </c:pt>
                <c:pt idx="7">
                  <c:v>128308.9</c:v>
                </c:pt>
                <c:pt idx="8">
                  <c:v>125710.97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96449.16</c:v>
                </c:pt>
                <c:pt idx="1">
                  <c:v>70961.75</c:v>
                </c:pt>
                <c:pt idx="2">
                  <c:v>91530.65</c:v>
                </c:pt>
                <c:pt idx="3">
                  <c:v>103342.66</c:v>
                </c:pt>
                <c:pt idx="4">
                  <c:v>94616.02</c:v>
                </c:pt>
                <c:pt idx="5">
                  <c:v>86731.08</c:v>
                </c:pt>
                <c:pt idx="6">
                  <c:v>76610.72</c:v>
                </c:pt>
                <c:pt idx="7">
                  <c:v>97999.31</c:v>
                </c:pt>
                <c:pt idx="8">
                  <c:v>108420.24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8505.5448"/>
          <c:min val="65217.76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213739.3</c:v>
                </c:pt>
                <c:pt idx="1">
                  <c:v>187991.39</c:v>
                </c:pt>
                <c:pt idx="2">
                  <c:v>179701.02</c:v>
                </c:pt>
                <c:pt idx="3">
                  <c:v>206330.77</c:v>
                </c:pt>
                <c:pt idx="4">
                  <c:v>191908.07</c:v>
                </c:pt>
                <c:pt idx="5">
                  <c:v>211691.7</c:v>
                </c:pt>
                <c:pt idx="6">
                  <c:v>198386.86</c:v>
                </c:pt>
                <c:pt idx="7">
                  <c:v>164820.35</c:v>
                </c:pt>
                <c:pt idx="8">
                  <c:v>192888.73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152133.4</c:v>
                </c:pt>
                <c:pt idx="1">
                  <c:v>168187.91</c:v>
                </c:pt>
                <c:pt idx="2">
                  <c:v>163714.23</c:v>
                </c:pt>
                <c:pt idx="3">
                  <c:v>133897.79</c:v>
                </c:pt>
                <c:pt idx="4">
                  <c:v>149550.14</c:v>
                </c:pt>
                <c:pt idx="5">
                  <c:v>177382.93</c:v>
                </c:pt>
                <c:pt idx="6">
                  <c:v>156031.88</c:v>
                </c:pt>
                <c:pt idx="7">
                  <c:v>173510.39</c:v>
                </c:pt>
                <c:pt idx="8">
                  <c:v>145130.83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20126.62079999998"/>
          <c:min val="127510.46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156623.96</c:v>
                </c:pt>
                <c:pt idx="1">
                  <c:v>164123.34</c:v>
                </c:pt>
                <c:pt idx="2">
                  <c:v>169536.33</c:v>
                </c:pt>
                <c:pt idx="3">
                  <c:v>137439.72</c:v>
                </c:pt>
                <c:pt idx="4">
                  <c:v>196247.77</c:v>
                </c:pt>
                <c:pt idx="5">
                  <c:v>181484.36</c:v>
                </c:pt>
                <c:pt idx="6">
                  <c:v>157661.54</c:v>
                </c:pt>
                <c:pt idx="7">
                  <c:v>165895.04</c:v>
                </c:pt>
                <c:pt idx="8">
                  <c:v>172757.51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142547.35</c:v>
                </c:pt>
                <c:pt idx="1">
                  <c:v>124061.5</c:v>
                </c:pt>
                <c:pt idx="2">
                  <c:v>128625.05</c:v>
                </c:pt>
                <c:pt idx="3">
                  <c:v>132782.2</c:v>
                </c:pt>
                <c:pt idx="4">
                  <c:v>133308.11</c:v>
                </c:pt>
                <c:pt idx="5">
                  <c:v>152707.41</c:v>
                </c:pt>
                <c:pt idx="6">
                  <c:v>161318.94</c:v>
                </c:pt>
                <c:pt idx="7">
                  <c:v>159299.16</c:v>
                </c:pt>
                <c:pt idx="8">
                  <c:v>153137.54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2022.6716"/>
          <c:min val="118286.59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338994.64333333337</c:v>
                </c:pt>
                <c:pt idx="1">
                  <c:v>338994.64333333337</c:v>
                </c:pt>
                <c:pt idx="2">
                  <c:v>338994.64333333337</c:v>
                </c:pt>
                <c:pt idx="3">
                  <c:v>338994.64333333337</c:v>
                </c:pt>
                <c:pt idx="4">
                  <c:v>338994.64333333337</c:v>
                </c:pt>
                <c:pt idx="5">
                  <c:v>338994.64333333337</c:v>
                </c:pt>
                <c:pt idx="6">
                  <c:v>338994.64333333337</c:v>
                </c:pt>
                <c:pt idx="7">
                  <c:v>338994.64333333337</c:v>
                </c:pt>
                <c:pt idx="8">
                  <c:v>338994.64333333337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16656.1460000001"/>
          <c:min val="244660.7340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330069.84</c:v>
                </c:pt>
                <c:pt idx="1">
                  <c:v>328865.04</c:v>
                </c:pt>
                <c:pt idx="2">
                  <c:v>358049.05</c:v>
                </c:pt>
                <c:pt idx="3">
                  <c:v>400948.54</c:v>
                </c:pt>
                <c:pt idx="4">
                  <c:v>270315.59</c:v>
                </c:pt>
                <c:pt idx="5">
                  <c:v>392703.12</c:v>
                </c:pt>
                <c:pt idx="6">
                  <c:v>591001.29</c:v>
                </c:pt>
                <c:pt idx="7">
                  <c:v>406582.71</c:v>
                </c:pt>
                <c:pt idx="8">
                  <c:v>460969.91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16656.1460000001"/>
          <c:min val="244660.7340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113779.41333333333</c:v>
                </c:pt>
                <c:pt idx="1">
                  <c:v>113779.41333333333</c:v>
                </c:pt>
                <c:pt idx="2">
                  <c:v>113779.41333333333</c:v>
                </c:pt>
                <c:pt idx="3">
                  <c:v>113779.41333333333</c:v>
                </c:pt>
                <c:pt idx="4">
                  <c:v>113779.41333333333</c:v>
                </c:pt>
                <c:pt idx="5">
                  <c:v>113779.41333333333</c:v>
                </c:pt>
                <c:pt idx="6">
                  <c:v>113779.41333333333</c:v>
                </c:pt>
                <c:pt idx="7">
                  <c:v>113779.41333333333</c:v>
                </c:pt>
                <c:pt idx="8">
                  <c:v>113779.41333333333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9528.342"/>
          <c:min val="76421.6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111542.75</c:v>
                </c:pt>
                <c:pt idx="1">
                  <c:v>85601.42</c:v>
                </c:pt>
                <c:pt idx="2">
                  <c:v>144194.07</c:v>
                </c:pt>
                <c:pt idx="3">
                  <c:v>140890.99</c:v>
                </c:pt>
                <c:pt idx="4">
                  <c:v>116471.5</c:v>
                </c:pt>
                <c:pt idx="5">
                  <c:v>145415.16</c:v>
                </c:pt>
                <c:pt idx="6">
                  <c:v>116928.25</c:v>
                </c:pt>
                <c:pt idx="7">
                  <c:v>131580.08</c:v>
                </c:pt>
                <c:pt idx="8">
                  <c:v>200348.57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9528.342"/>
          <c:min val="76421.6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51867.87666666666</c:v>
                </c:pt>
                <c:pt idx="1">
                  <c:v>51867.87666666666</c:v>
                </c:pt>
                <c:pt idx="2">
                  <c:v>51867.87666666666</c:v>
                </c:pt>
                <c:pt idx="3">
                  <c:v>51867.87666666666</c:v>
                </c:pt>
                <c:pt idx="4">
                  <c:v>51867.87666666666</c:v>
                </c:pt>
                <c:pt idx="5">
                  <c:v>51867.87666666666</c:v>
                </c:pt>
                <c:pt idx="6">
                  <c:v>51867.87666666666</c:v>
                </c:pt>
                <c:pt idx="7">
                  <c:v>51867.87666666666</c:v>
                </c:pt>
                <c:pt idx="8">
                  <c:v>51867.87666666666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3117.7384"/>
          <c:min val="44297.56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46596.07</c:v>
                </c:pt>
                <c:pt idx="1">
                  <c:v>46285.16</c:v>
                </c:pt>
                <c:pt idx="2">
                  <c:v>62722.4</c:v>
                </c:pt>
                <c:pt idx="3">
                  <c:v>61451.27</c:v>
                </c:pt>
                <c:pt idx="4">
                  <c:v>59931.85</c:v>
                </c:pt>
                <c:pt idx="5">
                  <c:v>66637.27</c:v>
                </c:pt>
                <c:pt idx="6">
                  <c:v>67929.32</c:v>
                </c:pt>
                <c:pt idx="7">
                  <c:v>65180.57</c:v>
                </c:pt>
                <c:pt idx="8">
                  <c:v>71130.14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3117.7384"/>
          <c:min val="44297.56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Same-store, INEOS excluded (opened 2026). Fixed ops = service + parts; GMC Prescott body shop gross excluded. Jan-Sep 2026 vs Jan-Sep 2025; 2025 shown January-December.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Toyota Henderson is $22.59M of the group's $188.80M; VW St George is smallest at $968,018.Source: Qlik - Profit &amp; Loss. Same-store, INEOS excluded (opened 2026). Fixed ops = service + parts; GMC Prescott body shop gross excluded. Jan-Sep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25 of 33 stores grew. Toyota Henderson added the most at +$1.77M (+8.5%); Honda North fell most at −$840K (−8.9%).Source: Qlik - Profit &amp; Loss. Same-store, INEOS excluded (opened 2026). Fixed ops = service + parts; GMC Prescott body shop gross excluded. Ranked by dollar change, Jan-Sep 2026 vs Jan-Sep 2025; percent change alongside, the top three and bottom three by percent marked.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Hyundai Prescott, Lincoln and Lexus what changed. Ask Acura, VW St George and VW Henderson what got in the way. Ask Mazda, Kia St George and LR Henderson what they started this year.Source: Qlik - Profit &amp; Loss. Same-store, INEOS excluded (opened 2026). Fixed ops = service + parts; GMC Prescott body shop gross excluded. Top and bottom three stores by percent change in fixed ops gross, Jan-Sep 2026 vs 2025. Moving now: Jul-Sep 2026 vs Jan-Mar 2026, each store against itself (monthly averages); the group moved +9.4% on the same basis, so part of every store's change is seasonal. Green bar at the right of a row: the store is on both the top three vs last year and the top three moving now. Blue bar: a turnaround, on the bottom three vs last year and the top three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Same-store, INEOS excluded (opened 2026). Fixed ops = service + parts; GMC Prescott body shop gross excluded. Jan-Sep 2026 vs Jan-Sep 2025; 2025 shown January-December.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Toyota Henderson is $16.38M of the group's $126.87M; VW St George is smallest at $588,480.Source: Qlik - Profit &amp; Loss. Same-store, INEOS excluded (opened 2026). Fixed ops = service + parts; GMC Prescott body shop gross excluded. Jan-Sep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23 of 33 stores grew. Toyota Henderson added the most at +$1.50M (+10.1%); Honda North fell most at −$695K (−10.5%).Source: Qlik - Profit &amp; Loss. Same-store, INEOS excluded (opened 2026). Fixed ops = service + parts; GMC Prescott body shop gross excluded. Ranked by dollar change, Jan-Sep 2026 vs Jan-Sep 2025; percent change alongside, the top three and bottom three by percent marked.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Hyundai Prescott, Lincoln and Lexus what changed. Ask Acura, VW St George and VW Henderson what got in the way. Ask Mazda, Kia St George and Hyundai Prescott what they started this year.Source: Qlik - Profit &amp; Loss. Same-store, INEOS excluded (opened 2026). Fixed ops = service + parts; GMC Prescott body shop gross excluded. Top and bottom three stores by percent change in service gross, Jan-Sep 2026 vs 2025. Moving now: Jul-Sep 2026 vs Jan-Mar 2026, each store against itself (monthly averages); the group moved +7.0% on the same basis, so part of every store's change is seasonal. Green bar at the right of a row: the store is on both the top three vs last year and the top three moving now. Blue bar: a turnaround, on the bottom three vs last year and the top three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Same-store, INEOS excluded (opened 2026). Fixed ops = service + parts; GMC Prescott body shop gross excluded. Jan-Sep 2026 vs Jan-Sep 2025; 2025 shown January-December.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Toyota Henderson is $6.21M of the group's $61.93M; VW St George is smallest at $379,537.Source: Qlik - Profit &amp; Loss. Same-store, INEOS excluded (opened 2026). Fixed ops = service + parts; GMC Prescott body shop gross excluded. Jan-Sep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17 of 33 stores grew. Cadillac added the most at +$688K (+28.4%); Audi Reno fell most at −$328K (−18.8%).Source: Qlik - Profit &amp; Loss. Same-store, INEOS excluded (opened 2026). Fixed ops = service + parts; GMC Prescott body shop gross excluded. Ranked by dollar change, Jan-Sep 2026 vs Jan-Sep 2025; percent change alongside, the top three and bottom three by percent marked.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Lincoln, Cadillac and Subaru St George what changed. Ask Hyundai St George, Audi Reno and VW Henderson what got in the way. Ask Audi Henderson, Mazda and Honda Flagstaff what they started this year.Source: Qlik - Profit &amp; Loss. Same-store, INEOS excluded (opened 2026). Fixed ops = service + parts; GMC Prescott body shop gross excluded. Top and bottom three stores by percent change in parts gross, Jan-Sep 2026 vs 2025. Moving now: Jul-Sep 2026 vs Jan-Mar 2026, each store against itself (monthly averages); the group moved +14.4% on the same basis, so part of every store's change is seasonal. Green bar at the right of a row: the store is on both the top three vs last year and the top three moving now. Blue bar: a turnaround, on the bottom three vs last year and the top three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chart" Target="/ppt/charts/chart6.xml"/><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chart" Target="/ppt/charts/chart9.xml"/><Relationship Id="rId4" Type="http://schemas.openxmlformats.org/officeDocument/2006/relationships/chart" Target="/ppt/charts/chart10.xml"/><Relationship Id="rId5" Type="http://schemas.openxmlformats.org/officeDocument/2006/relationships/chart" Target="/ppt/charts/chart11.xml"/><Relationship Id="rId6" Type="http://schemas.openxmlformats.org/officeDocument/2006/relationships/chart" Target="/ppt/charts/chart12.xml"/><Relationship Id="rId7" Type="http://schemas.openxmlformats.org/officeDocument/2006/relationships/chart" Target="/ppt/charts/chart13.xml"/><Relationship Id="rId8" Type="http://schemas.openxmlformats.org/officeDocument/2006/relationships/chart" Target="/ppt/charts/chart14.xml"/><Relationship Id="rId9" Type="http://schemas.openxmlformats.org/officeDocument/2006/relationships/chart" Target="/ppt/charts/chart15.xml"/><Relationship Id="rId10" Type="http://schemas.openxmlformats.org/officeDocument/2006/relationships/chart" Target="/ppt/charts/chart16.xml"/><Relationship Id="rId11" Type="http://schemas.openxmlformats.org/officeDocument/2006/relationships/chart" Target="/ppt/charts/chart17.xml"/><Relationship Id="rId12" Type="http://schemas.openxmlformats.org/officeDocument/2006/relationships/chart" Target="/ppt/charts/chart18.xml"/><Relationship Id="rId13" Type="http://schemas.openxmlformats.org/officeDocument/2006/relationships/slideLayout" Target="../slideLayouts/slideLayout1.xml"/><Relationship Id="rId1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9.xml"/><Relationship Id="rId2" Type="http://schemas.openxmlformats.org/officeDocument/2006/relationships/chart" Target="/ppt/charts/chart20.xml"/><Relationship Id="rId3" Type="http://schemas.openxmlformats.org/officeDocument/2006/relationships/chart" Target="/ppt/charts/chart21.xml"/><Relationship Id="rId4" Type="http://schemas.openxmlformats.org/officeDocument/2006/relationships/chart" Target="/ppt/charts/chart22.xml"/><Relationship Id="rId5" Type="http://schemas.openxmlformats.org/officeDocument/2006/relationships/chart" Target="/ppt/charts/chart23.xml"/><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24.xml"/><Relationship Id="rId2" Type="http://schemas.openxmlformats.org/officeDocument/2006/relationships/chart" Target="/ppt/charts/chart25.xml"/><Relationship Id="rId3" Type="http://schemas.openxmlformats.org/officeDocument/2006/relationships/chart" Target="/ppt/charts/chart26.xml"/><Relationship Id="rId4" Type="http://schemas.openxmlformats.org/officeDocument/2006/relationships/chart" Target="/ppt/charts/chart27.xml"/><Relationship Id="rId5" Type="http://schemas.openxmlformats.org/officeDocument/2006/relationships/chart" Target="/ppt/charts/chart28.xml"/><Relationship Id="rId6" Type="http://schemas.openxmlformats.org/officeDocument/2006/relationships/chart" Target="/ppt/charts/chart29.xml"/><Relationship Id="rId7" Type="http://schemas.openxmlformats.org/officeDocument/2006/relationships/chart" Target="/ppt/charts/chart30.xml"/><Relationship Id="rId8" Type="http://schemas.openxmlformats.org/officeDocument/2006/relationships/chart" Target="/ppt/charts/chart31.xml"/><Relationship Id="rId9" Type="http://schemas.openxmlformats.org/officeDocument/2006/relationships/chart" Target="/ppt/charts/chart32.xml"/><Relationship Id="rId10" Type="http://schemas.openxmlformats.org/officeDocument/2006/relationships/chart" Target="/ppt/charts/chart33.xml"/><Relationship Id="rId11" Type="http://schemas.openxmlformats.org/officeDocument/2006/relationships/chart" Target="/ppt/charts/chart34.xml"/><Relationship Id="rId12" Type="http://schemas.openxmlformats.org/officeDocument/2006/relationships/chart" Target="/ppt/charts/chart35.xml"/><Relationship Id="rId13" Type="http://schemas.openxmlformats.org/officeDocument/2006/relationships/slideLayout" Target="../slideLayouts/slideLayout1.xml"/><Relationship Id="rId1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36.xml"/><Relationship Id="rId2" Type="http://schemas.openxmlformats.org/officeDocument/2006/relationships/chart" Target="/ppt/charts/chart37.xml"/><Relationship Id="rId3" Type="http://schemas.openxmlformats.org/officeDocument/2006/relationships/chart" Target="/ppt/charts/chart38.xml"/><Relationship Id="rId4" Type="http://schemas.openxmlformats.org/officeDocument/2006/relationships/chart" Target="/ppt/charts/chart39.xml"/><Relationship Id="rId5" Type="http://schemas.openxmlformats.org/officeDocument/2006/relationships/chart" Target="/ppt/charts/chart40.xml"/><Relationship Id="rId6" Type="http://schemas.openxmlformats.org/officeDocument/2006/relationships/chart" Target="/ppt/charts/chart41.xml"/><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42.xml"/><Relationship Id="rId2" Type="http://schemas.openxmlformats.org/officeDocument/2006/relationships/chart" Target="/ppt/charts/chart43.xml"/><Relationship Id="rId3" Type="http://schemas.openxmlformats.org/officeDocument/2006/relationships/chart" Target="/ppt/charts/chart44.xml"/><Relationship Id="rId4" Type="http://schemas.openxmlformats.org/officeDocument/2006/relationships/chart" Target="/ppt/charts/chart45.xml"/><Relationship Id="rId5" Type="http://schemas.openxmlformats.org/officeDocument/2006/relationships/chart" Target="/ppt/charts/chart46.xml"/><Relationship Id="rId6" Type="http://schemas.openxmlformats.org/officeDocument/2006/relationships/chart" Target="/ppt/charts/chart47.xml"/><Relationship Id="rId7" Type="http://schemas.openxmlformats.org/officeDocument/2006/relationships/chart" Target="/ppt/charts/chart48.xml"/><Relationship Id="rId8" Type="http://schemas.openxmlformats.org/officeDocument/2006/relationships/chart" Target="/ppt/charts/chart49.xml"/><Relationship Id="rId9" Type="http://schemas.openxmlformats.org/officeDocument/2006/relationships/chart" Target="/ppt/charts/chart50.xml"/><Relationship Id="rId10" Type="http://schemas.openxmlformats.org/officeDocument/2006/relationships/chart" Target="/ppt/charts/chart51.xml"/><Relationship Id="rId11" Type="http://schemas.openxmlformats.org/officeDocument/2006/relationships/chart" Target="/ppt/charts/chart52.xml"/><Relationship Id="rId12" Type="http://schemas.openxmlformats.org/officeDocument/2006/relationships/chart" Target="/ppt/charts/chart53.xml"/><Relationship Id="rId13" Type="http://schemas.openxmlformats.org/officeDocument/2006/relationships/slideLayout" Target="../slideLayouts/slideLayout1.xml"/><Relationship Id="rId14"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FIXED OPS</a:t>
            </a:r>
            <a:endParaRPr lang="en-US" sz="2000" dirty="0"/>
          </a:p>
        </p:txBody>
      </p:sp>
      <p:sp>
        <p:nvSpPr>
          <p:cNvPr id="3"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Gross</a:t>
            </a:r>
            <a:endParaRPr lang="en-US" sz="7600" dirty="0"/>
          </a:p>
        </p:txBody>
      </p:sp>
      <p:sp>
        <p:nvSpPr>
          <p:cNvPr id="4"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Fixed ops   ·   Service   ·   Parts</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$181.33M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$188.80M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+$7.47M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56616"/>
          </a:xfrm>
          <a:prstGeom prst="rect">
            <a:avLst/>
          </a:prstGeom>
          <a:solidFill>
            <a:srgbClr val="E6F6EE"/>
          </a:solidFill>
          <a:ln/>
        </p:spPr>
      </p:sp>
      <p:sp>
        <p:nvSpPr>
          <p:cNvPr id="30"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+$7,468,567 (4.1%) year to date; 6 of nine months ahead of 2025, largest gain in September, +$2,098,497.</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$188.80M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$22.59M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339226"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$16.55M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440491"/>
            <a:ext cx="1167458"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$14.42M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701901"/>
            <a:ext cx="998871"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$12.34M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815948"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$10.08M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776819"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$9.60M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486134"/>
            <a:ext cx="697445"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$8.62M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534720"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$6.61M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4008956"/>
            <a:ext cx="498047"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$6.15M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270366"/>
            <a:ext cx="480108"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$5.93M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531777"/>
            <a:ext cx="411218"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$5.08M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793188"/>
            <a:ext cx="387746"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$4.79M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5054599"/>
            <a:ext cx="387152"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2980944" y="5316010"/>
            <a:ext cx="366719"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$4.53M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2980944" y="5577420"/>
            <a:ext cx="361706"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$4.47M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838831"/>
            <a:ext cx="360997"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$4.46M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2980944" y="6100242"/>
            <a:ext cx="338585"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$4.18M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31352" y="1917669"/>
            <a:ext cx="335529"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$4.15M</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79080"/>
            <a:ext cx="316795"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$3.91M</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287606"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$3.55M</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701901"/>
            <a:ext cx="284566"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$3.52M</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963312"/>
            <a:ext cx="276517"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$3.42M</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224723"/>
            <a:ext cx="267522"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$3.31M</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486134"/>
            <a:ext cx="241377"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$2.98M</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747545"/>
            <a:ext cx="234183"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$2.89M</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4008956"/>
            <a:ext cx="218568"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270366"/>
            <a:ext cx="189081"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$2.34M</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531777"/>
            <a:ext cx="184970"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$2.29M</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31352" y="4793188"/>
            <a:ext cx="18374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5054599"/>
            <a:ext cx="178709"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$2.21M</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28860"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124271"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$1.54M</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78355"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$968,018</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+$7.47M  ·  +4.1%</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+$1.77M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54963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+$1.70M</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7" name="Shape 25"/>
          <p:cNvSpPr/>
          <p:nvPr/>
        </p:nvSpPr>
        <p:spPr>
          <a:xfrm>
            <a:off x="3579876" y="2629341"/>
            <a:ext cx="30041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+$932K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2" name="Shape 30"/>
          <p:cNvSpPr/>
          <p:nvPr/>
        </p:nvSpPr>
        <p:spPr>
          <a:xfrm>
            <a:off x="3579876" y="2853100"/>
            <a:ext cx="24622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+$764K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35" name="Shape 33"/>
          <p:cNvSpPr/>
          <p:nvPr/>
        </p:nvSpPr>
        <p:spPr>
          <a:xfrm>
            <a:off x="5907024" y="2838405"/>
            <a:ext cx="54864" cy="132319"/>
          </a:xfrm>
          <a:prstGeom prst="rect">
            <a:avLst/>
          </a:prstGeom>
          <a:solidFill>
            <a:srgbClr val="12A566"/>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231280"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+$717K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+31.7%</a:t>
            </a:r>
            <a:endParaRPr lang="en-US" sz="1200" dirty="0"/>
          </a:p>
        </p:txBody>
      </p:sp>
      <p:sp>
        <p:nvSpPr>
          <p:cNvPr id="41" name="Shape 39"/>
          <p:cNvSpPr/>
          <p:nvPr/>
        </p:nvSpPr>
        <p:spPr>
          <a:xfrm>
            <a:off x="5907024" y="3062164"/>
            <a:ext cx="54864" cy="132319"/>
          </a:xfrm>
          <a:prstGeom prst="rect">
            <a:avLst/>
          </a:prstGeom>
          <a:solidFill>
            <a:srgbClr val="12A566"/>
          </a:solidFill>
          <a:ln/>
        </p:spPr>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3579876" y="3300618"/>
            <a:ext cx="214115"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+$664K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579876" y="3524377"/>
            <a:ext cx="188889" cy="102929"/>
          </a:xfrm>
          <a:prstGeom prst="rect">
            <a:avLst/>
          </a:prstGeom>
          <a:solidFill>
            <a:srgbClr val="12A566"/>
          </a:solidFill>
          <a:ln/>
        </p:spPr>
      </p:sp>
      <p:sp>
        <p:nvSpPr>
          <p:cNvPr id="50" name="Text 48"/>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+$586K</a:t>
            </a:r>
            <a:endParaRPr lang="en-US" sz="1200" dirty="0"/>
          </a:p>
        </p:txBody>
      </p:sp>
      <p:sp>
        <p:nvSpPr>
          <p:cNvPr id="51" name="Text 49"/>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+13.0%</a:t>
            </a:r>
            <a:endParaRPr lang="en-US" sz="1200" dirty="0"/>
          </a:p>
        </p:txBody>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4" name="Shape 52"/>
          <p:cNvSpPr/>
          <p:nvPr/>
        </p:nvSpPr>
        <p:spPr>
          <a:xfrm>
            <a:off x="3579876" y="3748136"/>
            <a:ext cx="175547"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+$545K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9" name="Shape 57"/>
          <p:cNvSpPr/>
          <p:nvPr/>
        </p:nvSpPr>
        <p:spPr>
          <a:xfrm>
            <a:off x="3579876" y="3971895"/>
            <a:ext cx="152295"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+$472K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4" name="Shape 62"/>
          <p:cNvSpPr/>
          <p:nvPr/>
        </p:nvSpPr>
        <p:spPr>
          <a:xfrm>
            <a:off x="3579876" y="4195654"/>
            <a:ext cx="143334"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+$445K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67" name="Text 65"/>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3579876" y="4419414"/>
            <a:ext cx="136162" cy="102929"/>
          </a:xfrm>
          <a:prstGeom prst="rect">
            <a:avLst/>
          </a:prstGeom>
          <a:solidFill>
            <a:srgbClr val="12A566"/>
          </a:solidFill>
          <a:ln/>
        </p:spPr>
      </p:sp>
      <p:sp>
        <p:nvSpPr>
          <p:cNvPr id="70" name="Text 68"/>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71" name="Text 69"/>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a:t>
            </a:r>
            <a:endParaRPr lang="en-US" sz="1200" dirty="0"/>
          </a:p>
        </p:txBody>
      </p:sp>
      <p:sp>
        <p:nvSpPr>
          <p:cNvPr id="72" name="Text 70"/>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3" name="Text 71"/>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4" name="Shape 72"/>
          <p:cNvSpPr/>
          <p:nvPr/>
        </p:nvSpPr>
        <p:spPr>
          <a:xfrm>
            <a:off x="3579876" y="4643173"/>
            <a:ext cx="130403" cy="102929"/>
          </a:xfrm>
          <a:prstGeom prst="rect">
            <a:avLst/>
          </a:prstGeom>
          <a:solidFill>
            <a:srgbClr val="12A566"/>
          </a:solidFill>
          <a:ln/>
        </p:spPr>
      </p:sp>
      <p:sp>
        <p:nvSpPr>
          <p:cNvPr id="75" name="Text 73"/>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+$404K</a:t>
            </a:r>
            <a:endParaRPr lang="en-US" sz="1200" dirty="0"/>
          </a:p>
        </p:txBody>
      </p:sp>
      <p:sp>
        <p:nvSpPr>
          <p:cNvPr id="76" name="Text 74"/>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77" name="Shape 75"/>
          <p:cNvSpPr/>
          <p:nvPr/>
        </p:nvSpPr>
        <p:spPr>
          <a:xfrm>
            <a:off x="5907024" y="4628478"/>
            <a:ext cx="54864" cy="132319"/>
          </a:xfrm>
          <a:prstGeom prst="rect">
            <a:avLst/>
          </a:prstGeom>
          <a:solidFill>
            <a:srgbClr val="12A566"/>
          </a:solidFill>
          <a:ln/>
        </p:spPr>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0" name="Shape 78"/>
          <p:cNvSpPr/>
          <p:nvPr/>
        </p:nvSpPr>
        <p:spPr>
          <a:xfrm>
            <a:off x="3579876" y="4866932"/>
            <a:ext cx="12022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+$373K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118653"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+$368K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0" name="Shape 88"/>
          <p:cNvSpPr/>
          <p:nvPr/>
        </p:nvSpPr>
        <p:spPr>
          <a:xfrm>
            <a:off x="3579876" y="5314450"/>
            <a:ext cx="69607"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+$216K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5" name="Shape 93"/>
          <p:cNvSpPr/>
          <p:nvPr/>
        </p:nvSpPr>
        <p:spPr>
          <a:xfrm>
            <a:off x="3579876" y="5538209"/>
            <a:ext cx="57491"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+$178K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0" name="Shape 98"/>
          <p:cNvSpPr/>
          <p:nvPr/>
        </p:nvSpPr>
        <p:spPr>
          <a:xfrm>
            <a:off x="3579876" y="5761968"/>
            <a:ext cx="5051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+$157K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5" name="Shape 103"/>
          <p:cNvSpPr/>
          <p:nvPr/>
        </p:nvSpPr>
        <p:spPr>
          <a:xfrm>
            <a:off x="9130284" y="2181823"/>
            <a:ext cx="43577"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+$135K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0" name="Shape 108"/>
          <p:cNvSpPr/>
          <p:nvPr/>
        </p:nvSpPr>
        <p:spPr>
          <a:xfrm>
            <a:off x="9130284" y="2405582"/>
            <a:ext cx="40298" cy="102929"/>
          </a:xfrm>
          <a:prstGeom prst="rect">
            <a:avLst/>
          </a:prstGeom>
          <a:solidFill>
            <a:srgbClr val="12A566"/>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+$125K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5" name="Shape 113"/>
          <p:cNvSpPr/>
          <p:nvPr/>
        </p:nvSpPr>
        <p:spPr>
          <a:xfrm>
            <a:off x="9130284" y="2629341"/>
            <a:ext cx="38573" cy="102929"/>
          </a:xfrm>
          <a:prstGeom prst="rect">
            <a:avLst/>
          </a:prstGeom>
          <a:solidFill>
            <a:srgbClr val="12A566"/>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+$120K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0" name="Shape 118"/>
          <p:cNvSpPr/>
          <p:nvPr/>
        </p:nvSpPr>
        <p:spPr>
          <a:xfrm>
            <a:off x="9130284" y="2853100"/>
            <a:ext cx="30667" cy="102929"/>
          </a:xfrm>
          <a:prstGeom prst="rect">
            <a:avLst/>
          </a:prstGeom>
          <a:solidFill>
            <a:srgbClr val="12A566"/>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30284" y="3076859"/>
            <a:ext cx="28430" cy="102929"/>
          </a:xfrm>
          <a:prstGeom prst="rect">
            <a:avLst/>
          </a:prstGeom>
          <a:solidFill>
            <a:srgbClr val="12A566"/>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130284" y="3300618"/>
            <a:ext cx="20244"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5" name="Shape 133"/>
          <p:cNvSpPr/>
          <p:nvPr/>
        </p:nvSpPr>
        <p:spPr>
          <a:xfrm>
            <a:off x="9130284" y="3524377"/>
            <a:ext cx="12802" cy="102929"/>
          </a:xfrm>
          <a:prstGeom prst="rect">
            <a:avLst/>
          </a:prstGeom>
          <a:solidFill>
            <a:srgbClr val="12A566"/>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30284" y="3748136"/>
            <a:ext cx="12802" cy="102929"/>
          </a:xfrm>
          <a:prstGeom prst="rect">
            <a:avLst/>
          </a:prstGeom>
          <a:solidFill>
            <a:srgbClr val="12A566"/>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5" name="Shape 143"/>
          <p:cNvSpPr/>
          <p:nvPr/>
        </p:nvSpPr>
        <p:spPr>
          <a:xfrm>
            <a:off x="9077784" y="3971895"/>
            <a:ext cx="52500"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−$163K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8" name="Shape 146"/>
          <p:cNvSpPr/>
          <p:nvPr/>
        </p:nvSpPr>
        <p:spPr>
          <a:xfrm>
            <a:off x="11457432" y="3957200"/>
            <a:ext cx="54864" cy="132319"/>
          </a:xfrm>
          <a:prstGeom prst="rect">
            <a:avLst/>
          </a:prstGeom>
          <a:solidFill>
            <a:srgbClr val="C2352F"/>
          </a:solidFill>
          <a:ln/>
        </p:spPr>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1" name="Shape 149"/>
          <p:cNvSpPr/>
          <p:nvPr/>
        </p:nvSpPr>
        <p:spPr>
          <a:xfrm>
            <a:off x="9064631" y="4195654"/>
            <a:ext cx="65653"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−$204K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6" name="Shape 154"/>
          <p:cNvSpPr/>
          <p:nvPr/>
        </p:nvSpPr>
        <p:spPr>
          <a:xfrm>
            <a:off x="8989404" y="4419414"/>
            <a:ext cx="140880"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−$437K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8969548" y="4643173"/>
            <a:ext cx="160736"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−$499K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6" name="Shape 164"/>
          <p:cNvSpPr/>
          <p:nvPr/>
        </p:nvSpPr>
        <p:spPr>
          <a:xfrm>
            <a:off x="8963677" y="4866932"/>
            <a:ext cx="166607"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−$517K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−15.2%</a:t>
            </a:r>
            <a:endParaRPr lang="en-US" sz="1200" dirty="0"/>
          </a:p>
        </p:txBody>
      </p:sp>
      <p:sp>
        <p:nvSpPr>
          <p:cNvPr id="169" name="Shape 167"/>
          <p:cNvSpPr/>
          <p:nvPr/>
        </p:nvSpPr>
        <p:spPr>
          <a:xfrm>
            <a:off x="11457432" y="4852237"/>
            <a:ext cx="54864" cy="132319"/>
          </a:xfrm>
          <a:prstGeom prst="rect">
            <a:avLst/>
          </a:prstGeom>
          <a:solidFill>
            <a:srgbClr val="C2352F"/>
          </a:solidFill>
          <a:ln/>
        </p:spPr>
      </p:sp>
      <p:sp>
        <p:nvSpPr>
          <p:cNvPr id="170" name="Text 168"/>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1" name="Text 169"/>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2" name="Shape 170"/>
          <p:cNvSpPr/>
          <p:nvPr/>
        </p:nvSpPr>
        <p:spPr>
          <a:xfrm>
            <a:off x="8962691" y="5090691"/>
            <a:ext cx="167593" cy="102929"/>
          </a:xfrm>
          <a:prstGeom prst="rect">
            <a:avLst/>
          </a:prstGeom>
          <a:solidFill>
            <a:srgbClr val="C2352F"/>
          </a:solidFill>
          <a:ln/>
        </p:spPr>
      </p:sp>
      <p:sp>
        <p:nvSpPr>
          <p:cNvPr id="173" name="Text 171"/>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−$520K</a:t>
            </a:r>
            <a:endParaRPr lang="en-US" sz="1200" dirty="0"/>
          </a:p>
        </p:txBody>
      </p:sp>
      <p:sp>
        <p:nvSpPr>
          <p:cNvPr id="174" name="Text 172"/>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884884" y="5314450"/>
            <a:ext cx="245400"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−$761K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−13.7%</a:t>
            </a:r>
            <a:endParaRPr lang="en-US" sz="1200" dirty="0"/>
          </a:p>
        </p:txBody>
      </p:sp>
      <p:sp>
        <p:nvSpPr>
          <p:cNvPr id="180" name="Shape 178"/>
          <p:cNvSpPr/>
          <p:nvPr/>
        </p:nvSpPr>
        <p:spPr>
          <a:xfrm>
            <a:off x="11457432" y="5299755"/>
            <a:ext cx="54864" cy="132319"/>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59512" y="5538209"/>
            <a:ext cx="27077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−$840K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25 of 33 stores grew.</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3 VS LAST YEAR</a:t>
            </a:r>
            <a:endParaRPr lang="en-US" sz="1500" dirty="0"/>
          </a:p>
        </p:txBody>
      </p:sp>
      <p:sp>
        <p:nvSpPr>
          <p:cNvPr id="9" name="Shape 7"/>
          <p:cNvSpPr/>
          <p:nvPr/>
        </p:nvSpPr>
        <p:spPr>
          <a:xfrm>
            <a:off x="658368" y="1810512"/>
            <a:ext cx="3489960" cy="1478280"/>
          </a:xfrm>
          <a:prstGeom prst="rect">
            <a:avLst/>
          </a:prstGeom>
          <a:solidFill>
            <a:srgbClr val="F7F7F7"/>
          </a:solidFill>
          <a:ln/>
        </p:spPr>
      </p:sp>
      <p:sp>
        <p:nvSpPr>
          <p:cNvPr id="10" name="Text 8"/>
          <p:cNvSpPr txBox="1"/>
          <p:nvPr/>
        </p:nvSpPr>
        <p:spPr>
          <a:xfrm>
            <a:off x="749808" y="181051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1</a:t>
            </a:r>
            <a:endParaRPr lang="en-US" sz="2000" dirty="0"/>
          </a:p>
        </p:txBody>
      </p:sp>
      <p:sp>
        <p:nvSpPr>
          <p:cNvPr id="11" name="Text 9"/>
          <p:cNvSpPr txBox="1"/>
          <p:nvPr/>
        </p:nvSpPr>
        <p:spPr>
          <a:xfrm>
            <a:off x="1097280" y="188442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$1.54M</a:t>
            </a:r>
            <a:endParaRPr lang="en-US" sz="1400" dirty="0"/>
          </a:p>
        </p:txBody>
      </p:sp>
      <p:graphicFrame>
        <p:nvGraphicFramePr>
          <p:cNvPr id="12" name="Chart 0" descr=""/>
          <p:cNvGraphicFramePr/>
          <p:nvPr/>
        </p:nvGraphicFramePr>
        <p:xfrm>
          <a:off x="1097280" y="2697480"/>
          <a:ext cx="1972056" cy="502615"/>
        </p:xfrm>
        <a:graphic xmlns:a="http://schemas.openxmlformats.org/drawingml/2006/main">
          <a:graphicData uri="http://schemas.openxmlformats.org/drawingml/2006/chart">
            <c:chart xmlns:c="http://schemas.openxmlformats.org/drawingml/2006/chart" r:id="rId1"/>
          </a:graphicData>
        </a:graphic>
      </p:graphicFrame>
      <p:sp>
        <p:nvSpPr>
          <p:cNvPr id="13" name="Text 10"/>
          <p:cNvSpPr txBox="1"/>
          <p:nvPr/>
        </p:nvSpPr>
        <p:spPr>
          <a:xfrm>
            <a:off x="3160776" y="2253996"/>
            <a:ext cx="896112" cy="532181"/>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+35.8%</a:t>
            </a:r>
            <a:endParaRPr lang="en-US" sz="1600" dirty="0"/>
          </a:p>
        </p:txBody>
      </p:sp>
      <p:sp>
        <p:nvSpPr>
          <p:cNvPr id="14" name="Text 11"/>
          <p:cNvSpPr txBox="1"/>
          <p:nvPr/>
        </p:nvSpPr>
        <p:spPr>
          <a:xfrm>
            <a:off x="3160776" y="278617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+$404K</a:t>
            </a:r>
            <a:endParaRPr lang="en-US" sz="1300" dirty="0"/>
          </a:p>
        </p:txBody>
      </p:sp>
      <p:sp>
        <p:nvSpPr>
          <p:cNvPr id="15" name="Text 12"/>
          <p:cNvSpPr txBox="1"/>
          <p:nvPr/>
        </p:nvSpPr>
        <p:spPr>
          <a:xfrm>
            <a:off x="749808" y="328879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2</a:t>
            </a:r>
            <a:endParaRPr lang="en-US" sz="2000" dirty="0"/>
          </a:p>
        </p:txBody>
      </p:sp>
      <p:sp>
        <p:nvSpPr>
          <p:cNvPr id="16" name="Text 13"/>
          <p:cNvSpPr txBox="1"/>
          <p:nvPr/>
        </p:nvSpPr>
        <p:spPr>
          <a:xfrm>
            <a:off x="1097280" y="336270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$2.26M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$2.98M</a:t>
            </a:r>
            <a:endParaRPr lang="en-US" sz="1400" dirty="0"/>
          </a:p>
        </p:txBody>
      </p:sp>
      <p:graphicFrame>
        <p:nvGraphicFramePr>
          <p:cNvPr id="17" name="Chart 1" descr=""/>
          <p:cNvGraphicFramePr/>
          <p:nvPr/>
        </p:nvGraphicFramePr>
        <p:xfrm>
          <a:off x="1097280" y="4175760"/>
          <a:ext cx="1972056" cy="502615"/>
        </p:xfrm>
        <a:graphic xmlns:a="http://schemas.openxmlformats.org/drawingml/2006/main">
          <a:graphicData uri="http://schemas.openxmlformats.org/drawingml/2006/chart">
            <c:chart xmlns:c="http://schemas.openxmlformats.org/drawingml/2006/chart" r:id="rId2"/>
          </a:graphicData>
        </a:graphic>
      </p:graphicFrame>
      <p:sp>
        <p:nvSpPr>
          <p:cNvPr id="18" name="Text 14"/>
          <p:cNvSpPr txBox="1"/>
          <p:nvPr/>
        </p:nvSpPr>
        <p:spPr>
          <a:xfrm>
            <a:off x="3160776" y="3732276"/>
            <a:ext cx="896112" cy="532181"/>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+31.7%</a:t>
            </a:r>
            <a:endParaRPr lang="en-US" sz="1600" dirty="0"/>
          </a:p>
        </p:txBody>
      </p:sp>
      <p:sp>
        <p:nvSpPr>
          <p:cNvPr id="19" name="Text 15"/>
          <p:cNvSpPr txBox="1"/>
          <p:nvPr/>
        </p:nvSpPr>
        <p:spPr>
          <a:xfrm>
            <a:off x="3160776" y="426445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+$717K</a:t>
            </a:r>
            <a:endParaRPr lang="en-US" sz="1300" dirty="0"/>
          </a:p>
        </p:txBody>
      </p:sp>
      <p:sp>
        <p:nvSpPr>
          <p:cNvPr id="20" name="Shape 16"/>
          <p:cNvSpPr/>
          <p:nvPr/>
        </p:nvSpPr>
        <p:spPr>
          <a:xfrm>
            <a:off x="658368" y="4767072"/>
            <a:ext cx="3489960" cy="1478280"/>
          </a:xfrm>
          <a:prstGeom prst="rect">
            <a:avLst/>
          </a:prstGeom>
          <a:solidFill>
            <a:srgbClr val="F7F7F7"/>
          </a:solidFill>
          <a:ln/>
        </p:spPr>
      </p:sp>
      <p:sp>
        <p:nvSpPr>
          <p:cNvPr id="21" name="Text 17"/>
          <p:cNvSpPr txBox="1"/>
          <p:nvPr/>
        </p:nvSpPr>
        <p:spPr>
          <a:xfrm>
            <a:off x="749808" y="476707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a:t>
            </a:r>
            <a:endParaRPr lang="en-US" sz="2000" dirty="0"/>
          </a:p>
        </p:txBody>
      </p:sp>
      <p:sp>
        <p:nvSpPr>
          <p:cNvPr id="22" name="Text 18"/>
          <p:cNvSpPr txBox="1"/>
          <p:nvPr/>
        </p:nvSpPr>
        <p:spPr>
          <a:xfrm>
            <a:off x="1097280" y="484098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$4.15M</a:t>
            </a:r>
            <a:endParaRPr lang="en-US" sz="1400" dirty="0"/>
          </a:p>
        </p:txBody>
      </p:sp>
      <p:graphicFrame>
        <p:nvGraphicFramePr>
          <p:cNvPr id="23" name="Chart 2" descr=""/>
          <p:cNvGraphicFramePr/>
          <p:nvPr/>
        </p:nvGraphicFramePr>
        <p:xfrm>
          <a:off x="1097280" y="5654040"/>
          <a:ext cx="1972056" cy="502615"/>
        </p:xfrm>
        <a:graphic xmlns:a="http://schemas.openxmlformats.org/drawingml/2006/main">
          <a:graphicData uri="http://schemas.openxmlformats.org/drawingml/2006/chart">
            <c:chart xmlns:c="http://schemas.openxmlformats.org/drawingml/2006/chart" r:id="rId3"/>
          </a:graphicData>
        </a:graphic>
      </p:graphicFrame>
      <p:sp>
        <p:nvSpPr>
          <p:cNvPr id="24" name="Text 19"/>
          <p:cNvSpPr txBox="1"/>
          <p:nvPr/>
        </p:nvSpPr>
        <p:spPr>
          <a:xfrm>
            <a:off x="3160776" y="5210556"/>
            <a:ext cx="896112" cy="532181"/>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+22.6%</a:t>
            </a:r>
            <a:endParaRPr lang="en-US" sz="1600" dirty="0"/>
          </a:p>
        </p:txBody>
      </p:sp>
      <p:sp>
        <p:nvSpPr>
          <p:cNvPr id="25" name="Text 20"/>
          <p:cNvSpPr txBox="1"/>
          <p:nvPr/>
        </p:nvSpPr>
        <p:spPr>
          <a:xfrm>
            <a:off x="3160776" y="574273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+$764K</a:t>
            </a:r>
            <a:endParaRPr lang="en-US" sz="1300" dirty="0"/>
          </a:p>
        </p:txBody>
      </p:sp>
      <p:sp>
        <p:nvSpPr>
          <p:cNvPr id="26" name="Shape 21"/>
          <p:cNvSpPr/>
          <p:nvPr/>
        </p:nvSpPr>
        <p:spPr>
          <a:xfrm>
            <a:off x="4349496" y="1371600"/>
            <a:ext cx="3489960" cy="45720"/>
          </a:xfrm>
          <a:prstGeom prst="rect">
            <a:avLst/>
          </a:prstGeom>
          <a:solidFill>
            <a:srgbClr val="C2352F"/>
          </a:solidFill>
          <a:ln/>
        </p:spPr>
      </p:sp>
      <p:sp>
        <p:nvSpPr>
          <p:cNvPr id="27" name="Text 2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3 VS LAST YEAR</a:t>
            </a:r>
            <a:endParaRPr lang="en-US" sz="1500" dirty="0"/>
          </a:p>
        </p:txBody>
      </p:sp>
      <p:sp>
        <p:nvSpPr>
          <p:cNvPr id="28" name="Shape 23"/>
          <p:cNvSpPr/>
          <p:nvPr/>
        </p:nvSpPr>
        <p:spPr>
          <a:xfrm>
            <a:off x="4349496" y="1810512"/>
            <a:ext cx="3489960" cy="1478280"/>
          </a:xfrm>
          <a:prstGeom prst="rect">
            <a:avLst/>
          </a:prstGeom>
          <a:solidFill>
            <a:srgbClr val="F7F7F7"/>
          </a:solidFill>
          <a:ln/>
        </p:spPr>
      </p:sp>
      <p:sp>
        <p:nvSpPr>
          <p:cNvPr id="29" name="Text 24"/>
          <p:cNvSpPr txBox="1"/>
          <p:nvPr/>
        </p:nvSpPr>
        <p:spPr>
          <a:xfrm>
            <a:off x="4440936" y="181051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33</a:t>
            </a:r>
            <a:endParaRPr lang="en-US" sz="2000" dirty="0"/>
          </a:p>
        </p:txBody>
      </p:sp>
      <p:sp>
        <p:nvSpPr>
          <p:cNvPr id="30" name="Text 25"/>
          <p:cNvSpPr txBox="1"/>
          <p:nvPr/>
        </p:nvSpPr>
        <p:spPr>
          <a:xfrm>
            <a:off x="4788408" y="188442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$2.89M</a:t>
            </a:r>
            <a:endParaRPr lang="en-US" sz="1400" dirty="0"/>
          </a:p>
        </p:txBody>
      </p:sp>
      <p:graphicFrame>
        <p:nvGraphicFramePr>
          <p:cNvPr id="31" name="Chart 3" descr=""/>
          <p:cNvGraphicFramePr/>
          <p:nvPr/>
        </p:nvGraphicFramePr>
        <p:xfrm>
          <a:off x="4788408" y="2697480"/>
          <a:ext cx="1972056" cy="502615"/>
        </p:xfrm>
        <a:graphic xmlns:a="http://schemas.openxmlformats.org/drawingml/2006/main">
          <a:graphicData uri="http://schemas.openxmlformats.org/drawingml/2006/chart">
            <c:chart xmlns:c="http://schemas.openxmlformats.org/drawingml/2006/chart" r:id="rId4"/>
          </a:graphicData>
        </a:graphic>
      </p:graphicFrame>
      <p:sp>
        <p:nvSpPr>
          <p:cNvPr id="32" name="Text 26"/>
          <p:cNvSpPr txBox="1"/>
          <p:nvPr/>
        </p:nvSpPr>
        <p:spPr>
          <a:xfrm>
            <a:off x="6851904" y="2253996"/>
            <a:ext cx="896112" cy="532181"/>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−15.2%</a:t>
            </a:r>
            <a:endParaRPr lang="en-US" sz="1600" dirty="0"/>
          </a:p>
        </p:txBody>
      </p:sp>
      <p:sp>
        <p:nvSpPr>
          <p:cNvPr id="33" name="Text 27"/>
          <p:cNvSpPr txBox="1"/>
          <p:nvPr/>
        </p:nvSpPr>
        <p:spPr>
          <a:xfrm>
            <a:off x="6851904" y="278617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−$517K</a:t>
            </a:r>
            <a:endParaRPr lang="en-US" sz="1300" dirty="0"/>
          </a:p>
        </p:txBody>
      </p:sp>
      <p:sp>
        <p:nvSpPr>
          <p:cNvPr id="34" name="Text 28"/>
          <p:cNvSpPr txBox="1"/>
          <p:nvPr/>
        </p:nvSpPr>
        <p:spPr>
          <a:xfrm>
            <a:off x="4440936" y="328879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32</a:t>
            </a:r>
            <a:endParaRPr lang="en-US" sz="2000" dirty="0"/>
          </a:p>
        </p:txBody>
      </p:sp>
      <p:sp>
        <p:nvSpPr>
          <p:cNvPr id="35" name="Text 29"/>
          <p:cNvSpPr txBox="1"/>
          <p:nvPr/>
        </p:nvSpPr>
        <p:spPr>
          <a:xfrm>
            <a:off x="4788408" y="336270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$968K</a:t>
            </a:r>
            <a:endParaRPr lang="en-US" sz="1400" dirty="0"/>
          </a:p>
        </p:txBody>
      </p:sp>
      <p:graphicFrame>
        <p:nvGraphicFramePr>
          <p:cNvPr id="36" name="Chart 4" descr=""/>
          <p:cNvGraphicFramePr/>
          <p:nvPr/>
        </p:nvGraphicFramePr>
        <p:xfrm>
          <a:off x="4788408" y="4175760"/>
          <a:ext cx="1972056" cy="502615"/>
        </p:xfrm>
        <a:graphic xmlns:a="http://schemas.openxmlformats.org/drawingml/2006/main">
          <a:graphicData uri="http://schemas.openxmlformats.org/drawingml/2006/chart">
            <c:chart xmlns:c="http://schemas.openxmlformats.org/drawingml/2006/chart" r:id="rId5"/>
          </a:graphicData>
        </a:graphic>
      </p:graphicFrame>
      <p:sp>
        <p:nvSpPr>
          <p:cNvPr id="37" name="Text 30"/>
          <p:cNvSpPr txBox="1"/>
          <p:nvPr/>
        </p:nvSpPr>
        <p:spPr>
          <a:xfrm>
            <a:off x="6851904" y="3732276"/>
            <a:ext cx="896112" cy="532181"/>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−14.4%</a:t>
            </a:r>
            <a:endParaRPr lang="en-US" sz="1600" dirty="0"/>
          </a:p>
        </p:txBody>
      </p:sp>
      <p:sp>
        <p:nvSpPr>
          <p:cNvPr id="38" name="Text 31"/>
          <p:cNvSpPr txBox="1"/>
          <p:nvPr/>
        </p:nvSpPr>
        <p:spPr>
          <a:xfrm>
            <a:off x="6851904" y="426445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39" name="Shape 32"/>
          <p:cNvSpPr/>
          <p:nvPr/>
        </p:nvSpPr>
        <p:spPr>
          <a:xfrm>
            <a:off x="4349496" y="4767072"/>
            <a:ext cx="3489960" cy="1478280"/>
          </a:xfrm>
          <a:prstGeom prst="rect">
            <a:avLst/>
          </a:prstGeom>
          <a:solidFill>
            <a:srgbClr val="F7F7F7"/>
          </a:solidFill>
          <a:ln/>
        </p:spPr>
      </p:sp>
      <p:sp>
        <p:nvSpPr>
          <p:cNvPr id="40" name="Text 33"/>
          <p:cNvSpPr txBox="1"/>
          <p:nvPr/>
        </p:nvSpPr>
        <p:spPr>
          <a:xfrm>
            <a:off x="4440936" y="476707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31</a:t>
            </a:r>
            <a:endParaRPr lang="en-US" sz="2000" dirty="0"/>
          </a:p>
        </p:txBody>
      </p:sp>
      <p:sp>
        <p:nvSpPr>
          <p:cNvPr id="41" name="Text 34"/>
          <p:cNvSpPr txBox="1"/>
          <p:nvPr/>
        </p:nvSpPr>
        <p:spPr>
          <a:xfrm>
            <a:off x="4788408" y="484098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$4.79M</a:t>
            </a:r>
            <a:endParaRPr lang="en-US" sz="1400" dirty="0"/>
          </a:p>
        </p:txBody>
      </p:sp>
      <p:graphicFrame>
        <p:nvGraphicFramePr>
          <p:cNvPr id="42" name="Chart 5" descr=""/>
          <p:cNvGraphicFramePr/>
          <p:nvPr/>
        </p:nvGraphicFramePr>
        <p:xfrm>
          <a:off x="4788408" y="5654040"/>
          <a:ext cx="1972056" cy="502615"/>
        </p:xfrm>
        <a:graphic xmlns:a="http://schemas.openxmlformats.org/drawingml/2006/main">
          <a:graphicData uri="http://schemas.openxmlformats.org/drawingml/2006/chart">
            <c:chart xmlns:c="http://schemas.openxmlformats.org/drawingml/2006/chart" r:id="rId6"/>
          </a:graphicData>
        </a:graphic>
      </p:graphicFrame>
      <p:sp>
        <p:nvSpPr>
          <p:cNvPr id="43" name="Text 35"/>
          <p:cNvSpPr txBox="1"/>
          <p:nvPr/>
        </p:nvSpPr>
        <p:spPr>
          <a:xfrm>
            <a:off x="6851904" y="5210556"/>
            <a:ext cx="896112" cy="532181"/>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4" name="Text 36"/>
          <p:cNvSpPr txBox="1"/>
          <p:nvPr/>
        </p:nvSpPr>
        <p:spPr>
          <a:xfrm>
            <a:off x="6851904" y="574273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−$761K</a:t>
            </a:r>
            <a:endParaRPr lang="en-US" sz="1300" dirty="0"/>
          </a:p>
        </p:txBody>
      </p:sp>
      <p:sp>
        <p:nvSpPr>
          <p:cNvPr id="45" name="Shape 37"/>
          <p:cNvSpPr/>
          <p:nvPr/>
        </p:nvSpPr>
        <p:spPr>
          <a:xfrm>
            <a:off x="8040624" y="1371600"/>
            <a:ext cx="3489960" cy="45720"/>
          </a:xfrm>
          <a:prstGeom prst="rect">
            <a:avLst/>
          </a:prstGeom>
          <a:solidFill>
            <a:srgbClr val="2587C5"/>
          </a:solidFill>
          <a:ln/>
        </p:spPr>
      </p:sp>
      <p:sp>
        <p:nvSpPr>
          <p:cNvPr id="46" name="Text 3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3 MOVING NOW</a:t>
            </a:r>
            <a:endParaRPr lang="en-US" sz="1500" dirty="0"/>
          </a:p>
        </p:txBody>
      </p:sp>
      <p:sp>
        <p:nvSpPr>
          <p:cNvPr id="47" name="Shape 39"/>
          <p:cNvSpPr/>
          <p:nvPr/>
        </p:nvSpPr>
        <p:spPr>
          <a:xfrm>
            <a:off x="8040624" y="1810512"/>
            <a:ext cx="3489960" cy="1478280"/>
          </a:xfrm>
          <a:prstGeom prst="rect">
            <a:avLst/>
          </a:prstGeom>
          <a:solidFill>
            <a:srgbClr val="F7F7F7"/>
          </a:solidFill>
          <a:ln/>
        </p:spPr>
      </p:sp>
      <p:sp>
        <p:nvSpPr>
          <p:cNvPr id="48" name="Text 40"/>
          <p:cNvSpPr txBox="1"/>
          <p:nvPr/>
        </p:nvSpPr>
        <p:spPr>
          <a:xfrm>
            <a:off x="8132064" y="181051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1</a:t>
            </a:r>
            <a:endParaRPr lang="en-US" sz="2000" dirty="0"/>
          </a:p>
        </p:txBody>
      </p:sp>
      <p:sp>
        <p:nvSpPr>
          <p:cNvPr id="49" name="Text 41"/>
          <p:cNvSpPr txBox="1"/>
          <p:nvPr/>
        </p:nvSpPr>
        <p:spPr>
          <a:xfrm>
            <a:off x="8479536" y="188442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$425K</a:t>
            </a:r>
            <a:endParaRPr lang="en-US" sz="1400" dirty="0"/>
          </a:p>
        </p:txBody>
      </p:sp>
      <p:graphicFrame>
        <p:nvGraphicFramePr>
          <p:cNvPr id="50" name="Chart 6" descr=""/>
          <p:cNvGraphicFramePr/>
          <p:nvPr/>
        </p:nvGraphicFramePr>
        <p:xfrm>
          <a:off x="8479536" y="2697480"/>
          <a:ext cx="1972056" cy="502615"/>
        </p:xfrm>
        <a:graphic xmlns:a="http://schemas.openxmlformats.org/drawingml/2006/main">
          <a:graphicData uri="http://schemas.openxmlformats.org/drawingml/2006/chart">
            <c:chart xmlns:c="http://schemas.openxmlformats.org/drawingml/2006/chart" r:id="rId7"/>
          </a:graphicData>
        </a:graphic>
      </p:graphicFrame>
      <p:graphicFrame>
        <p:nvGraphicFramePr>
          <p:cNvPr id="51" name="Chart 7" descr=""/>
          <p:cNvGraphicFramePr/>
          <p:nvPr/>
        </p:nvGraphicFramePr>
        <p:xfrm>
          <a:off x="8479536" y="2697480"/>
          <a:ext cx="1972056" cy="502615"/>
        </p:xfrm>
        <a:graphic xmlns:a="http://schemas.openxmlformats.org/drawingml/2006/main">
          <a:graphicData uri="http://schemas.openxmlformats.org/drawingml/2006/chart">
            <c:chart xmlns:c="http://schemas.openxmlformats.org/drawingml/2006/chart" r:id="rId8"/>
          </a:graphicData>
        </a:graphic>
      </p:graphicFrame>
      <p:sp>
        <p:nvSpPr>
          <p:cNvPr id="52" name="Text 42"/>
          <p:cNvSpPr txBox="1"/>
          <p:nvPr/>
        </p:nvSpPr>
        <p:spPr>
          <a:xfrm>
            <a:off x="10543032" y="2253996"/>
            <a:ext cx="896112" cy="532181"/>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+35.7%</a:t>
            </a:r>
            <a:endParaRPr lang="en-US" sz="1600" dirty="0"/>
          </a:p>
        </p:txBody>
      </p:sp>
      <p:sp>
        <p:nvSpPr>
          <p:cNvPr id="53" name="Text 43"/>
          <p:cNvSpPr txBox="1"/>
          <p:nvPr/>
        </p:nvSpPr>
        <p:spPr>
          <a:xfrm>
            <a:off x="10543032" y="278617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54" name="Text 44"/>
          <p:cNvSpPr txBox="1"/>
          <p:nvPr/>
        </p:nvSpPr>
        <p:spPr>
          <a:xfrm>
            <a:off x="8132064" y="328879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2</a:t>
            </a:r>
            <a:endParaRPr lang="en-US" sz="2000" dirty="0"/>
          </a:p>
        </p:txBody>
      </p:sp>
      <p:sp>
        <p:nvSpPr>
          <p:cNvPr id="55" name="Text 45"/>
          <p:cNvSpPr txBox="1"/>
          <p:nvPr/>
        </p:nvSpPr>
        <p:spPr>
          <a:xfrm>
            <a:off x="8479536" y="336270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$301K</a:t>
            </a:r>
            <a:endParaRPr lang="en-US" sz="1400" dirty="0"/>
          </a:p>
        </p:txBody>
      </p:sp>
      <p:graphicFrame>
        <p:nvGraphicFramePr>
          <p:cNvPr id="56" name="Chart 8" descr=""/>
          <p:cNvGraphicFramePr/>
          <p:nvPr/>
        </p:nvGraphicFramePr>
        <p:xfrm>
          <a:off x="8479536" y="4175760"/>
          <a:ext cx="1972056" cy="502615"/>
        </p:xfrm>
        <a:graphic xmlns:a="http://schemas.openxmlformats.org/drawingml/2006/main">
          <a:graphicData uri="http://schemas.openxmlformats.org/drawingml/2006/chart">
            <c:chart xmlns:c="http://schemas.openxmlformats.org/drawingml/2006/chart" r:id="rId9"/>
          </a:graphicData>
        </a:graphic>
      </p:graphicFrame>
      <p:graphicFrame>
        <p:nvGraphicFramePr>
          <p:cNvPr id="57" name="Chart 9" descr=""/>
          <p:cNvGraphicFramePr/>
          <p:nvPr/>
        </p:nvGraphicFramePr>
        <p:xfrm>
          <a:off x="8479536" y="4175760"/>
          <a:ext cx="1972056" cy="502615"/>
        </p:xfrm>
        <a:graphic xmlns:a="http://schemas.openxmlformats.org/drawingml/2006/main">
          <a:graphicData uri="http://schemas.openxmlformats.org/drawingml/2006/chart">
            <c:chart xmlns:c="http://schemas.openxmlformats.org/drawingml/2006/chart" r:id="rId10"/>
          </a:graphicData>
        </a:graphic>
      </p:graphicFrame>
      <p:sp>
        <p:nvSpPr>
          <p:cNvPr id="58" name="Text 46"/>
          <p:cNvSpPr txBox="1"/>
          <p:nvPr/>
        </p:nvSpPr>
        <p:spPr>
          <a:xfrm>
            <a:off x="10543032" y="3732276"/>
            <a:ext cx="896112" cy="532181"/>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+32.7%</a:t>
            </a:r>
            <a:endParaRPr lang="en-US" sz="1600" dirty="0"/>
          </a:p>
        </p:txBody>
      </p:sp>
      <p:sp>
        <p:nvSpPr>
          <p:cNvPr id="59" name="Text 47"/>
          <p:cNvSpPr txBox="1"/>
          <p:nvPr/>
        </p:nvSpPr>
        <p:spPr>
          <a:xfrm>
            <a:off x="10543032" y="426445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60" name="Shape 48"/>
          <p:cNvSpPr/>
          <p:nvPr/>
        </p:nvSpPr>
        <p:spPr>
          <a:xfrm>
            <a:off x="8040624" y="4767072"/>
            <a:ext cx="3489960" cy="1478280"/>
          </a:xfrm>
          <a:prstGeom prst="rect">
            <a:avLst/>
          </a:prstGeom>
          <a:solidFill>
            <a:srgbClr val="F7F7F7"/>
          </a:solidFill>
          <a:ln/>
        </p:spPr>
      </p:sp>
      <p:sp>
        <p:nvSpPr>
          <p:cNvPr id="61" name="Text 49"/>
          <p:cNvSpPr txBox="1"/>
          <p:nvPr/>
        </p:nvSpPr>
        <p:spPr>
          <a:xfrm>
            <a:off x="8132064" y="476707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a:t>
            </a:r>
            <a:endParaRPr lang="en-US" sz="2000" dirty="0"/>
          </a:p>
        </p:txBody>
      </p:sp>
      <p:sp>
        <p:nvSpPr>
          <p:cNvPr id="62" name="Text 50"/>
          <p:cNvSpPr txBox="1"/>
          <p:nvPr/>
        </p:nvSpPr>
        <p:spPr>
          <a:xfrm>
            <a:off x="8479536" y="484098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$429K</a:t>
            </a:r>
            <a:endParaRPr lang="en-US" sz="1400" dirty="0"/>
          </a:p>
        </p:txBody>
      </p:sp>
      <p:graphicFrame>
        <p:nvGraphicFramePr>
          <p:cNvPr id="63" name="Chart 10" descr=""/>
          <p:cNvGraphicFramePr/>
          <p:nvPr/>
        </p:nvGraphicFramePr>
        <p:xfrm>
          <a:off x="8479536" y="5654040"/>
          <a:ext cx="1972056" cy="502615"/>
        </p:xfrm>
        <a:graphic xmlns:a="http://schemas.openxmlformats.org/drawingml/2006/main">
          <a:graphicData uri="http://schemas.openxmlformats.org/drawingml/2006/chart">
            <c:chart xmlns:c="http://schemas.openxmlformats.org/drawingml/2006/chart" r:id="rId11"/>
          </a:graphicData>
        </a:graphic>
      </p:graphicFrame>
      <p:graphicFrame>
        <p:nvGraphicFramePr>
          <p:cNvPr id="64" name="Chart 11" descr=""/>
          <p:cNvGraphicFramePr/>
          <p:nvPr/>
        </p:nvGraphicFramePr>
        <p:xfrm>
          <a:off x="8479536" y="5654040"/>
          <a:ext cx="1972056" cy="502615"/>
        </p:xfrm>
        <a:graphic xmlns:a="http://schemas.openxmlformats.org/drawingml/2006/main">
          <a:graphicData uri="http://schemas.openxmlformats.org/drawingml/2006/chart">
            <c:chart xmlns:c="http://schemas.openxmlformats.org/drawingml/2006/chart" r:id="rId12"/>
          </a:graphicData>
        </a:graphic>
      </p:graphicFrame>
      <p:sp>
        <p:nvSpPr>
          <p:cNvPr id="65" name="Text 51"/>
          <p:cNvSpPr txBox="1"/>
          <p:nvPr/>
        </p:nvSpPr>
        <p:spPr>
          <a:xfrm>
            <a:off x="10543032" y="5210556"/>
            <a:ext cx="896112" cy="532181"/>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66" name="Text 52"/>
          <p:cNvSpPr txBox="1"/>
          <p:nvPr/>
        </p:nvSpPr>
        <p:spPr>
          <a:xfrm>
            <a:off x="10543032" y="574273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+$97K</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$120.57M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+$6.30M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56616"/>
          </a:xfrm>
          <a:prstGeom prst="rect">
            <a:avLst/>
          </a:prstGeom>
          <a:solidFill>
            <a:srgbClr val="E6F6EE"/>
          </a:solidFill>
          <a:ln/>
        </p:spPr>
      </p:sp>
      <p:sp>
        <p:nvSpPr>
          <p:cNvPr id="29"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+$6,297,386 (5.2%) year to date; 9 of nine months ahead of 2025, largest gain in September, +$1,457,847.</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$126.87M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$16.38M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1178132"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$10.55M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440491"/>
            <a:ext cx="1171781"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$10.50M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701901"/>
            <a:ext cx="982405"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$8.80M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9" name="Shape 27"/>
          <p:cNvSpPr/>
          <p:nvPr/>
        </p:nvSpPr>
        <p:spPr>
          <a:xfrm>
            <a:off x="2980944" y="2963312"/>
            <a:ext cx="724430"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$6.49M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3" name="Shape 31"/>
          <p:cNvSpPr/>
          <p:nvPr/>
        </p:nvSpPr>
        <p:spPr>
          <a:xfrm>
            <a:off x="2980944" y="3224723"/>
            <a:ext cx="698259"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$6.26M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486134"/>
            <a:ext cx="660750"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$5.92M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455591"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$4.08M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4008956"/>
            <a:ext cx="452277"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$4.05M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270366"/>
            <a:ext cx="410917"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$3.68M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531777"/>
            <a:ext cx="405463"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$3.63M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793188"/>
            <a:ext cx="390976"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$3.50M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5054599"/>
            <a:ext cx="356124"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$3.19M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2980944" y="5316010"/>
            <a:ext cx="352683"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$3.16M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2980944" y="5577420"/>
            <a:ext cx="340845"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$3.05M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838831"/>
            <a:ext cx="339380"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2980944" y="6100242"/>
            <a:ext cx="329329"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$2.95M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31352" y="1917669"/>
            <a:ext cx="311294"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$2.79M</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79080"/>
            <a:ext cx="270275"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$2.42M</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256215"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$2.30M</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701901"/>
            <a:ext cx="245763"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$2.20M</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963312"/>
            <a:ext cx="238967"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$2.14M</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224723"/>
            <a:ext cx="235763"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$2.11M</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486134"/>
            <a:ext cx="232807"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$2.09M</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747545"/>
            <a:ext cx="210714"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$1.89M</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4008956"/>
            <a:ext cx="178756"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$1.60M</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270366"/>
            <a:ext cx="162808"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$1.46M</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531352" y="4531777"/>
            <a:ext cx="160552"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$1.44M</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793188"/>
            <a:ext cx="155672"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5054599"/>
            <a:ext cx="131649"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$1.18M</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16550"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110797"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$992,560</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65691"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$588,480</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+$6.30M  ·  +5.2%</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+$1.50M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540193"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579876" y="2629341"/>
            <a:ext cx="243705"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+$639K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+27.7%</a:t>
            </a:r>
            <a:endParaRPr lang="en-US" sz="1200" dirty="0"/>
          </a:p>
        </p:txBody>
      </p:sp>
      <p:sp>
        <p:nvSpPr>
          <p:cNvPr id="30" name="Shape 28"/>
          <p:cNvSpPr/>
          <p:nvPr/>
        </p:nvSpPr>
        <p:spPr>
          <a:xfrm>
            <a:off x="5907024" y="2614646"/>
            <a:ext cx="54864" cy="132319"/>
          </a:xfrm>
          <a:prstGeom prst="rect">
            <a:avLst/>
          </a:prstGeom>
          <a:solidFill>
            <a:srgbClr val="12A566"/>
          </a:solidFill>
          <a:ln/>
        </p:spPr>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579876" y="2853100"/>
            <a:ext cx="236000"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+$619K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8" name="Shape 36"/>
          <p:cNvSpPr/>
          <p:nvPr/>
        </p:nvSpPr>
        <p:spPr>
          <a:xfrm>
            <a:off x="3579876" y="3076859"/>
            <a:ext cx="23287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+$611K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3" name="Shape 41"/>
          <p:cNvSpPr/>
          <p:nvPr/>
        </p:nvSpPr>
        <p:spPr>
          <a:xfrm>
            <a:off x="3579876" y="3300618"/>
            <a:ext cx="229387"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+$602K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8" name="Shape 46"/>
          <p:cNvSpPr/>
          <p:nvPr/>
        </p:nvSpPr>
        <p:spPr>
          <a:xfrm>
            <a:off x="3579876" y="3524377"/>
            <a:ext cx="181006"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+$475K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51" name="Shape 49"/>
          <p:cNvSpPr/>
          <p:nvPr/>
        </p:nvSpPr>
        <p:spPr>
          <a:xfrm>
            <a:off x="5907024" y="3509682"/>
            <a:ext cx="54864" cy="132319"/>
          </a:xfrm>
          <a:prstGeom prst="rect">
            <a:avLst/>
          </a:prstGeom>
          <a:solidFill>
            <a:srgbClr val="12A566"/>
          </a:solidFill>
          <a:ln/>
        </p:spPr>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579876" y="3748136"/>
            <a:ext cx="148529"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+$390K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a:t>
            </a:r>
            <a:endParaRPr lang="en-US" sz="1200" dirty="0"/>
          </a:p>
        </p:txBody>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9" name="Shape 57"/>
          <p:cNvSpPr/>
          <p:nvPr/>
        </p:nvSpPr>
        <p:spPr>
          <a:xfrm>
            <a:off x="3579876" y="3971895"/>
            <a:ext cx="146541"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4" name="Shape 62"/>
          <p:cNvSpPr/>
          <p:nvPr/>
        </p:nvSpPr>
        <p:spPr>
          <a:xfrm>
            <a:off x="3579876" y="4195654"/>
            <a:ext cx="131469"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+$345K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+53.3%</a:t>
            </a:r>
            <a:endParaRPr lang="en-US" sz="1200" dirty="0"/>
          </a:p>
        </p:txBody>
      </p:sp>
      <p:sp>
        <p:nvSpPr>
          <p:cNvPr id="67" name="Shape 65"/>
          <p:cNvSpPr/>
          <p:nvPr/>
        </p:nvSpPr>
        <p:spPr>
          <a:xfrm>
            <a:off x="5907024" y="4180960"/>
            <a:ext cx="54864" cy="132319"/>
          </a:xfrm>
          <a:prstGeom prst="rect">
            <a:avLst/>
          </a:prstGeom>
          <a:solidFill>
            <a:srgbClr val="12A566"/>
          </a:solidFill>
          <a:ln/>
        </p:spPr>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0" name="Shape 68"/>
          <p:cNvSpPr/>
          <p:nvPr/>
        </p:nvSpPr>
        <p:spPr>
          <a:xfrm>
            <a:off x="3579876" y="4419414"/>
            <a:ext cx="120062"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+$315K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5" name="Shape 73"/>
          <p:cNvSpPr/>
          <p:nvPr/>
        </p:nvSpPr>
        <p:spPr>
          <a:xfrm>
            <a:off x="3579876" y="4643173"/>
            <a:ext cx="111374"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0" name="Shape 78"/>
          <p:cNvSpPr/>
          <p:nvPr/>
        </p:nvSpPr>
        <p:spPr>
          <a:xfrm>
            <a:off x="3579876" y="4866932"/>
            <a:ext cx="89160"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+$234K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82605"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0" name="Shape 88"/>
          <p:cNvSpPr/>
          <p:nvPr/>
        </p:nvSpPr>
        <p:spPr>
          <a:xfrm>
            <a:off x="3579876" y="5314450"/>
            <a:ext cx="76873"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+$202K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5" name="Shape 93"/>
          <p:cNvSpPr/>
          <p:nvPr/>
        </p:nvSpPr>
        <p:spPr>
          <a:xfrm>
            <a:off x="3579876" y="5538209"/>
            <a:ext cx="74606"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0" name="Shape 98"/>
          <p:cNvSpPr/>
          <p:nvPr/>
        </p:nvSpPr>
        <p:spPr>
          <a:xfrm>
            <a:off x="3579876" y="5761968"/>
            <a:ext cx="64461"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30284" y="2181823"/>
            <a:ext cx="61599"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+$162K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0" name="Shape 108"/>
          <p:cNvSpPr/>
          <p:nvPr/>
        </p:nvSpPr>
        <p:spPr>
          <a:xfrm>
            <a:off x="9130284" y="2405582"/>
            <a:ext cx="43013" cy="102929"/>
          </a:xfrm>
          <a:prstGeom prst="rect">
            <a:avLst/>
          </a:prstGeom>
          <a:solidFill>
            <a:srgbClr val="12A566"/>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5" name="Shape 113"/>
          <p:cNvSpPr/>
          <p:nvPr/>
        </p:nvSpPr>
        <p:spPr>
          <a:xfrm>
            <a:off x="9130284" y="2629341"/>
            <a:ext cx="25977" cy="102929"/>
          </a:xfrm>
          <a:prstGeom prst="rect">
            <a:avLst/>
          </a:prstGeom>
          <a:solidFill>
            <a:srgbClr val="12A566"/>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0" name="Shape 118"/>
          <p:cNvSpPr/>
          <p:nvPr/>
        </p:nvSpPr>
        <p:spPr>
          <a:xfrm>
            <a:off x="9130284" y="2853100"/>
            <a:ext cx="12802" cy="102929"/>
          </a:xfrm>
          <a:prstGeom prst="rect">
            <a:avLst/>
          </a:prstGeom>
          <a:solidFill>
            <a:srgbClr val="12A566"/>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130284" y="3076859"/>
            <a:ext cx="12802" cy="102929"/>
          </a:xfrm>
          <a:prstGeom prst="rect">
            <a:avLst/>
          </a:prstGeom>
          <a:solidFill>
            <a:srgbClr val="12A566"/>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0" name="Shape 128"/>
          <p:cNvSpPr/>
          <p:nvPr/>
        </p:nvSpPr>
        <p:spPr>
          <a:xfrm>
            <a:off x="9130284" y="3300618"/>
            <a:ext cx="12802"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5" name="Shape 133"/>
          <p:cNvSpPr/>
          <p:nvPr/>
        </p:nvSpPr>
        <p:spPr>
          <a:xfrm>
            <a:off x="9121165" y="3524377"/>
            <a:ext cx="12802"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−$24K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19721" y="3748136"/>
            <a:ext cx="12802"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5" name="Shape 143"/>
          <p:cNvSpPr/>
          <p:nvPr/>
        </p:nvSpPr>
        <p:spPr>
          <a:xfrm>
            <a:off x="9108276" y="3971895"/>
            <a:ext cx="22008"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0" name="Shape 148"/>
          <p:cNvSpPr/>
          <p:nvPr/>
        </p:nvSpPr>
        <p:spPr>
          <a:xfrm>
            <a:off x="9078809" y="4195654"/>
            <a:ext cx="51475"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−$135K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53" name="Shape 151"/>
          <p:cNvSpPr/>
          <p:nvPr/>
        </p:nvSpPr>
        <p:spPr>
          <a:xfrm>
            <a:off x="11457432" y="4180960"/>
            <a:ext cx="54864" cy="132319"/>
          </a:xfrm>
          <a:prstGeom prst="rect">
            <a:avLst/>
          </a:prstGeom>
          <a:solidFill>
            <a:srgbClr val="C2352F"/>
          </a:solidFill>
          <a:ln/>
        </p:spPr>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6" name="Shape 154"/>
          <p:cNvSpPr/>
          <p:nvPr/>
        </p:nvSpPr>
        <p:spPr>
          <a:xfrm>
            <a:off x="9057123" y="4419414"/>
            <a:ext cx="73161"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−$192K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9049734" y="4643173"/>
            <a:ext cx="80550"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−$211K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66" name="Shape 164"/>
          <p:cNvSpPr/>
          <p:nvPr/>
        </p:nvSpPr>
        <p:spPr>
          <a:xfrm>
            <a:off x="8979773" y="4866932"/>
            <a:ext cx="150511"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−$395K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69" name="Text 167"/>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1" name="Shape 169"/>
          <p:cNvSpPr/>
          <p:nvPr/>
        </p:nvSpPr>
        <p:spPr>
          <a:xfrm>
            <a:off x="8963351" y="5090691"/>
            <a:ext cx="166933" cy="102929"/>
          </a:xfrm>
          <a:prstGeom prst="rect">
            <a:avLst/>
          </a:prstGeom>
          <a:solidFill>
            <a:srgbClr val="C2352F"/>
          </a:solidFill>
          <a:ln/>
        </p:spPr>
      </p:sp>
      <p:sp>
        <p:nvSpPr>
          <p:cNvPr id="172" name="Text 170"/>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−$438K</a:t>
            </a:r>
            <a:endParaRPr lang="en-US" sz="1200" dirty="0"/>
          </a:p>
        </p:txBody>
      </p:sp>
      <p:sp>
        <p:nvSpPr>
          <p:cNvPr id="173" name="Text 171"/>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74" name="Shape 172"/>
          <p:cNvSpPr/>
          <p:nvPr/>
        </p:nvSpPr>
        <p:spPr>
          <a:xfrm>
            <a:off x="11457432" y="5075996"/>
            <a:ext cx="54864" cy="132319"/>
          </a:xfrm>
          <a:prstGeom prst="rect">
            <a:avLst/>
          </a:prstGeom>
          <a:solidFill>
            <a:srgbClr val="C2352F"/>
          </a:solidFill>
          <a:ln/>
        </p:spPr>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921692" y="5314450"/>
            <a:ext cx="208592"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−$547K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80" name="Shape 178"/>
          <p:cNvSpPr/>
          <p:nvPr/>
        </p:nvSpPr>
        <p:spPr>
          <a:xfrm>
            <a:off x="11457432" y="5299755"/>
            <a:ext cx="54864" cy="132319"/>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65502" y="5538209"/>
            <a:ext cx="26478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−$695K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grew.</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3 VS LAST YEAR</a:t>
            </a:r>
            <a:endParaRPr lang="en-US" sz="1500" dirty="0"/>
          </a:p>
        </p:txBody>
      </p:sp>
      <p:sp>
        <p:nvSpPr>
          <p:cNvPr id="9" name="Shape 7"/>
          <p:cNvSpPr/>
          <p:nvPr/>
        </p:nvSpPr>
        <p:spPr>
          <a:xfrm>
            <a:off x="658368" y="1810512"/>
            <a:ext cx="3489960" cy="1478280"/>
          </a:xfrm>
          <a:prstGeom prst="rect">
            <a:avLst/>
          </a:prstGeom>
          <a:solidFill>
            <a:srgbClr val="F7F7F7"/>
          </a:solidFill>
          <a:ln/>
        </p:spPr>
      </p:sp>
      <p:sp>
        <p:nvSpPr>
          <p:cNvPr id="10" name="Shape 8"/>
          <p:cNvSpPr/>
          <p:nvPr/>
        </p:nvSpPr>
        <p:spPr>
          <a:xfrm>
            <a:off x="4084320" y="1847088"/>
            <a:ext cx="64008" cy="1405128"/>
          </a:xfrm>
          <a:prstGeom prst="rect">
            <a:avLst/>
          </a:prstGeom>
          <a:solidFill>
            <a:srgbClr val="12A566"/>
          </a:solidFill>
          <a:ln/>
        </p:spPr>
      </p:sp>
      <p:sp>
        <p:nvSpPr>
          <p:cNvPr id="11" name="Text 9"/>
          <p:cNvSpPr txBox="1"/>
          <p:nvPr/>
        </p:nvSpPr>
        <p:spPr>
          <a:xfrm>
            <a:off x="749808" y="181051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1</a:t>
            </a:r>
            <a:endParaRPr lang="en-US" sz="2000" dirty="0"/>
          </a:p>
        </p:txBody>
      </p:sp>
      <p:sp>
        <p:nvSpPr>
          <p:cNvPr id="12" name="Text 10"/>
          <p:cNvSpPr txBox="1"/>
          <p:nvPr/>
        </p:nvSpPr>
        <p:spPr>
          <a:xfrm>
            <a:off x="1097280" y="188442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$993K</a:t>
            </a:r>
            <a:endParaRPr lang="en-US" sz="1400" dirty="0"/>
          </a:p>
        </p:txBody>
      </p:sp>
      <p:graphicFrame>
        <p:nvGraphicFramePr>
          <p:cNvPr id="13" name="Chart 0" descr=""/>
          <p:cNvGraphicFramePr/>
          <p:nvPr/>
        </p:nvGraphicFramePr>
        <p:xfrm>
          <a:off x="1097280" y="2697480"/>
          <a:ext cx="1972056" cy="502615"/>
        </p:xfrm>
        <a:graphic xmlns:a="http://schemas.openxmlformats.org/drawingml/2006/main">
          <a:graphicData uri="http://schemas.openxmlformats.org/drawingml/2006/chart">
            <c:chart xmlns:c="http://schemas.openxmlformats.org/drawingml/2006/chart" r:id="rId1"/>
          </a:graphicData>
        </a:graphic>
      </p:graphicFrame>
      <p:sp>
        <p:nvSpPr>
          <p:cNvPr id="14" name="Text 11"/>
          <p:cNvSpPr txBox="1"/>
          <p:nvPr/>
        </p:nvSpPr>
        <p:spPr>
          <a:xfrm>
            <a:off x="3160776" y="2253996"/>
            <a:ext cx="896112" cy="532181"/>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+53.3%</a:t>
            </a:r>
            <a:endParaRPr lang="en-US" sz="1600" dirty="0"/>
          </a:p>
        </p:txBody>
      </p:sp>
      <p:sp>
        <p:nvSpPr>
          <p:cNvPr id="15" name="Text 12"/>
          <p:cNvSpPr txBox="1"/>
          <p:nvPr/>
        </p:nvSpPr>
        <p:spPr>
          <a:xfrm>
            <a:off x="3160776" y="278617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+$345K</a:t>
            </a:r>
            <a:endParaRPr lang="en-US" sz="1300" dirty="0"/>
          </a:p>
        </p:txBody>
      </p:sp>
      <p:sp>
        <p:nvSpPr>
          <p:cNvPr id="16" name="Text 13"/>
          <p:cNvSpPr txBox="1"/>
          <p:nvPr/>
        </p:nvSpPr>
        <p:spPr>
          <a:xfrm>
            <a:off x="749808" y="328879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2</a:t>
            </a:r>
            <a:endParaRPr lang="en-US" sz="2000" dirty="0"/>
          </a:p>
        </p:txBody>
      </p:sp>
      <p:sp>
        <p:nvSpPr>
          <p:cNvPr id="17" name="Text 14"/>
          <p:cNvSpPr txBox="1"/>
          <p:nvPr/>
        </p:nvSpPr>
        <p:spPr>
          <a:xfrm>
            <a:off x="1097280" y="336270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$2.09M</a:t>
            </a:r>
            <a:endParaRPr lang="en-US" sz="1400" dirty="0"/>
          </a:p>
        </p:txBody>
      </p:sp>
      <p:graphicFrame>
        <p:nvGraphicFramePr>
          <p:cNvPr id="18" name="Chart 1" descr=""/>
          <p:cNvGraphicFramePr/>
          <p:nvPr/>
        </p:nvGraphicFramePr>
        <p:xfrm>
          <a:off x="1097280" y="4175760"/>
          <a:ext cx="1972056" cy="502615"/>
        </p:xfrm>
        <a:graphic xmlns:a="http://schemas.openxmlformats.org/drawingml/2006/main">
          <a:graphicData uri="http://schemas.openxmlformats.org/drawingml/2006/chart">
            <c:chart xmlns:c="http://schemas.openxmlformats.org/drawingml/2006/chart" r:id="rId2"/>
          </a:graphicData>
        </a:graphic>
      </p:graphicFrame>
      <p:sp>
        <p:nvSpPr>
          <p:cNvPr id="19" name="Text 15"/>
          <p:cNvSpPr txBox="1"/>
          <p:nvPr/>
        </p:nvSpPr>
        <p:spPr>
          <a:xfrm>
            <a:off x="3160776" y="3732276"/>
            <a:ext cx="896112" cy="532181"/>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20" name="Text 16"/>
          <p:cNvSpPr txBox="1"/>
          <p:nvPr/>
        </p:nvSpPr>
        <p:spPr>
          <a:xfrm>
            <a:off x="3160776" y="426445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+$475K</a:t>
            </a:r>
            <a:endParaRPr lang="en-US" sz="1300" dirty="0"/>
          </a:p>
        </p:txBody>
      </p:sp>
      <p:sp>
        <p:nvSpPr>
          <p:cNvPr id="21" name="Shape 17"/>
          <p:cNvSpPr/>
          <p:nvPr/>
        </p:nvSpPr>
        <p:spPr>
          <a:xfrm>
            <a:off x="658368" y="4767072"/>
            <a:ext cx="3489960" cy="1478280"/>
          </a:xfrm>
          <a:prstGeom prst="rect">
            <a:avLst/>
          </a:prstGeom>
          <a:solidFill>
            <a:srgbClr val="F7F7F7"/>
          </a:solidFill>
          <a:ln/>
        </p:spPr>
      </p:sp>
      <p:sp>
        <p:nvSpPr>
          <p:cNvPr id="22" name="Text 18"/>
          <p:cNvSpPr txBox="1"/>
          <p:nvPr/>
        </p:nvSpPr>
        <p:spPr>
          <a:xfrm>
            <a:off x="749808" y="476707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a:t>
            </a:r>
            <a:endParaRPr lang="en-US" sz="2000" dirty="0"/>
          </a:p>
        </p:txBody>
      </p:sp>
      <p:sp>
        <p:nvSpPr>
          <p:cNvPr id="23" name="Text 19"/>
          <p:cNvSpPr txBox="1"/>
          <p:nvPr/>
        </p:nvSpPr>
        <p:spPr>
          <a:xfrm>
            <a:off x="1097280" y="484098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$2.95M</a:t>
            </a:r>
            <a:endParaRPr lang="en-US" sz="1400" dirty="0"/>
          </a:p>
        </p:txBody>
      </p:sp>
      <p:graphicFrame>
        <p:nvGraphicFramePr>
          <p:cNvPr id="24" name="Chart 2" descr=""/>
          <p:cNvGraphicFramePr/>
          <p:nvPr/>
        </p:nvGraphicFramePr>
        <p:xfrm>
          <a:off x="1097280" y="5654040"/>
          <a:ext cx="1972056" cy="502615"/>
        </p:xfrm>
        <a:graphic xmlns:a="http://schemas.openxmlformats.org/drawingml/2006/main">
          <a:graphicData uri="http://schemas.openxmlformats.org/drawingml/2006/chart">
            <c:chart xmlns:c="http://schemas.openxmlformats.org/drawingml/2006/chart" r:id="rId3"/>
          </a:graphicData>
        </a:graphic>
      </p:graphicFrame>
      <p:sp>
        <p:nvSpPr>
          <p:cNvPr id="25" name="Text 20"/>
          <p:cNvSpPr txBox="1"/>
          <p:nvPr/>
        </p:nvSpPr>
        <p:spPr>
          <a:xfrm>
            <a:off x="3160776" y="5210556"/>
            <a:ext cx="896112" cy="532181"/>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+27.7%</a:t>
            </a:r>
            <a:endParaRPr lang="en-US" sz="1600" dirty="0"/>
          </a:p>
        </p:txBody>
      </p:sp>
      <p:sp>
        <p:nvSpPr>
          <p:cNvPr id="26" name="Text 21"/>
          <p:cNvSpPr txBox="1"/>
          <p:nvPr/>
        </p:nvSpPr>
        <p:spPr>
          <a:xfrm>
            <a:off x="3160776" y="574273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+$639K</a:t>
            </a:r>
            <a:endParaRPr lang="en-US" sz="1300" dirty="0"/>
          </a:p>
        </p:txBody>
      </p:sp>
      <p:sp>
        <p:nvSpPr>
          <p:cNvPr id="27" name="Shape 22"/>
          <p:cNvSpPr/>
          <p:nvPr/>
        </p:nvSpPr>
        <p:spPr>
          <a:xfrm>
            <a:off x="4349496" y="1371600"/>
            <a:ext cx="3489960" cy="45720"/>
          </a:xfrm>
          <a:prstGeom prst="rect">
            <a:avLst/>
          </a:prstGeom>
          <a:solidFill>
            <a:srgbClr val="C2352F"/>
          </a:solidFill>
          <a:ln/>
        </p:spPr>
      </p:sp>
      <p:sp>
        <p:nvSpPr>
          <p:cNvPr id="28" name="Text 2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3 VS LAST YEAR</a:t>
            </a:r>
            <a:endParaRPr lang="en-US" sz="1500" dirty="0"/>
          </a:p>
        </p:txBody>
      </p:sp>
      <p:sp>
        <p:nvSpPr>
          <p:cNvPr id="29" name="Shape 24"/>
          <p:cNvSpPr/>
          <p:nvPr/>
        </p:nvSpPr>
        <p:spPr>
          <a:xfrm>
            <a:off x="4349496" y="1810512"/>
            <a:ext cx="3489960" cy="1478280"/>
          </a:xfrm>
          <a:prstGeom prst="rect">
            <a:avLst/>
          </a:prstGeom>
          <a:solidFill>
            <a:srgbClr val="F7F7F7"/>
          </a:solidFill>
          <a:ln/>
        </p:spPr>
      </p:sp>
      <p:sp>
        <p:nvSpPr>
          <p:cNvPr id="30" name="Text 25"/>
          <p:cNvSpPr txBox="1"/>
          <p:nvPr/>
        </p:nvSpPr>
        <p:spPr>
          <a:xfrm>
            <a:off x="4440936" y="181051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33</a:t>
            </a:r>
            <a:endParaRPr lang="en-US" sz="2000" dirty="0"/>
          </a:p>
        </p:txBody>
      </p:sp>
      <p:sp>
        <p:nvSpPr>
          <p:cNvPr id="31" name="Text 26"/>
          <p:cNvSpPr txBox="1"/>
          <p:nvPr/>
        </p:nvSpPr>
        <p:spPr>
          <a:xfrm>
            <a:off x="4788408" y="188442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$1.89M</a:t>
            </a:r>
            <a:endParaRPr lang="en-US" sz="1400" dirty="0"/>
          </a:p>
        </p:txBody>
      </p:sp>
      <p:graphicFrame>
        <p:nvGraphicFramePr>
          <p:cNvPr id="32" name="Chart 3" descr=""/>
          <p:cNvGraphicFramePr/>
          <p:nvPr/>
        </p:nvGraphicFramePr>
        <p:xfrm>
          <a:off x="4788408" y="2697480"/>
          <a:ext cx="1972056" cy="502615"/>
        </p:xfrm>
        <a:graphic xmlns:a="http://schemas.openxmlformats.org/drawingml/2006/main">
          <a:graphicData uri="http://schemas.openxmlformats.org/drawingml/2006/chart">
            <c:chart xmlns:c="http://schemas.openxmlformats.org/drawingml/2006/chart" r:id="rId4"/>
          </a:graphicData>
        </a:graphic>
      </p:graphicFrame>
      <p:sp>
        <p:nvSpPr>
          <p:cNvPr id="33" name="Text 27"/>
          <p:cNvSpPr txBox="1"/>
          <p:nvPr/>
        </p:nvSpPr>
        <p:spPr>
          <a:xfrm>
            <a:off x="6851904" y="2253996"/>
            <a:ext cx="896112" cy="532181"/>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4" name="Text 28"/>
          <p:cNvSpPr txBox="1"/>
          <p:nvPr/>
        </p:nvSpPr>
        <p:spPr>
          <a:xfrm>
            <a:off x="6851904" y="278617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−$438K</a:t>
            </a:r>
            <a:endParaRPr lang="en-US" sz="1300" dirty="0"/>
          </a:p>
        </p:txBody>
      </p:sp>
      <p:sp>
        <p:nvSpPr>
          <p:cNvPr id="35" name="Text 29"/>
          <p:cNvSpPr txBox="1"/>
          <p:nvPr/>
        </p:nvSpPr>
        <p:spPr>
          <a:xfrm>
            <a:off x="4440936" y="328879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32</a:t>
            </a:r>
            <a:endParaRPr lang="en-US" sz="2000" dirty="0"/>
          </a:p>
        </p:txBody>
      </p:sp>
      <p:sp>
        <p:nvSpPr>
          <p:cNvPr id="36" name="Text 30"/>
          <p:cNvSpPr txBox="1"/>
          <p:nvPr/>
        </p:nvSpPr>
        <p:spPr>
          <a:xfrm>
            <a:off x="4788408" y="336270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$724K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$588K</a:t>
            </a:r>
            <a:endParaRPr lang="en-US" sz="1400" dirty="0"/>
          </a:p>
        </p:txBody>
      </p:sp>
      <p:graphicFrame>
        <p:nvGraphicFramePr>
          <p:cNvPr id="37" name="Chart 4" descr=""/>
          <p:cNvGraphicFramePr/>
          <p:nvPr/>
        </p:nvGraphicFramePr>
        <p:xfrm>
          <a:off x="4788408" y="4175760"/>
          <a:ext cx="1972056" cy="502615"/>
        </p:xfrm>
        <a:graphic xmlns:a="http://schemas.openxmlformats.org/drawingml/2006/main">
          <a:graphicData uri="http://schemas.openxmlformats.org/drawingml/2006/chart">
            <c:chart xmlns:c="http://schemas.openxmlformats.org/drawingml/2006/chart" r:id="rId5"/>
          </a:graphicData>
        </a:graphic>
      </p:graphicFrame>
      <p:sp>
        <p:nvSpPr>
          <p:cNvPr id="38" name="Text 31"/>
          <p:cNvSpPr txBox="1"/>
          <p:nvPr/>
        </p:nvSpPr>
        <p:spPr>
          <a:xfrm>
            <a:off x="6851904" y="3732276"/>
            <a:ext cx="896112" cy="532181"/>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−18.7%</a:t>
            </a:r>
            <a:endParaRPr lang="en-US" sz="1600" dirty="0"/>
          </a:p>
        </p:txBody>
      </p:sp>
      <p:sp>
        <p:nvSpPr>
          <p:cNvPr id="39" name="Text 32"/>
          <p:cNvSpPr txBox="1"/>
          <p:nvPr/>
        </p:nvSpPr>
        <p:spPr>
          <a:xfrm>
            <a:off x="6851904" y="426445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40" name="Shape 33"/>
          <p:cNvSpPr/>
          <p:nvPr/>
        </p:nvSpPr>
        <p:spPr>
          <a:xfrm>
            <a:off x="4349496" y="4767072"/>
            <a:ext cx="3489960" cy="1478280"/>
          </a:xfrm>
          <a:prstGeom prst="rect">
            <a:avLst/>
          </a:prstGeom>
          <a:solidFill>
            <a:srgbClr val="F7F7F7"/>
          </a:solidFill>
          <a:ln/>
        </p:spPr>
      </p:sp>
      <p:sp>
        <p:nvSpPr>
          <p:cNvPr id="41" name="Text 34"/>
          <p:cNvSpPr txBox="1"/>
          <p:nvPr/>
        </p:nvSpPr>
        <p:spPr>
          <a:xfrm>
            <a:off x="4440936" y="476707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31</a:t>
            </a:r>
            <a:endParaRPr lang="en-US" sz="2000" dirty="0"/>
          </a:p>
        </p:txBody>
      </p:sp>
      <p:sp>
        <p:nvSpPr>
          <p:cNvPr id="42" name="Text 35"/>
          <p:cNvSpPr txBox="1"/>
          <p:nvPr/>
        </p:nvSpPr>
        <p:spPr>
          <a:xfrm>
            <a:off x="4788408" y="484098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$3.50M</a:t>
            </a:r>
            <a:endParaRPr lang="en-US" sz="1400" dirty="0"/>
          </a:p>
        </p:txBody>
      </p:sp>
      <p:graphicFrame>
        <p:nvGraphicFramePr>
          <p:cNvPr id="43" name="Chart 5" descr=""/>
          <p:cNvGraphicFramePr/>
          <p:nvPr/>
        </p:nvGraphicFramePr>
        <p:xfrm>
          <a:off x="4788408" y="5654040"/>
          <a:ext cx="1972056" cy="502615"/>
        </p:xfrm>
        <a:graphic xmlns:a="http://schemas.openxmlformats.org/drawingml/2006/main">
          <a:graphicData uri="http://schemas.openxmlformats.org/drawingml/2006/chart">
            <c:chart xmlns:c="http://schemas.openxmlformats.org/drawingml/2006/chart" r:id="rId6"/>
          </a:graphicData>
        </a:graphic>
      </p:graphicFrame>
      <p:sp>
        <p:nvSpPr>
          <p:cNvPr id="44" name="Text 36"/>
          <p:cNvSpPr txBox="1"/>
          <p:nvPr/>
        </p:nvSpPr>
        <p:spPr>
          <a:xfrm>
            <a:off x="6851904" y="5210556"/>
            <a:ext cx="896112" cy="532181"/>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−13.5%</a:t>
            </a:r>
            <a:endParaRPr lang="en-US" sz="1600" dirty="0"/>
          </a:p>
        </p:txBody>
      </p:sp>
      <p:sp>
        <p:nvSpPr>
          <p:cNvPr id="45" name="Text 37"/>
          <p:cNvSpPr txBox="1"/>
          <p:nvPr/>
        </p:nvSpPr>
        <p:spPr>
          <a:xfrm>
            <a:off x="6851904" y="574273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−$547K</a:t>
            </a:r>
            <a:endParaRPr lang="en-US" sz="1300" dirty="0"/>
          </a:p>
        </p:txBody>
      </p:sp>
      <p:sp>
        <p:nvSpPr>
          <p:cNvPr id="46" name="Shape 38"/>
          <p:cNvSpPr/>
          <p:nvPr/>
        </p:nvSpPr>
        <p:spPr>
          <a:xfrm>
            <a:off x="8040624" y="1371600"/>
            <a:ext cx="3489960" cy="45720"/>
          </a:xfrm>
          <a:prstGeom prst="rect">
            <a:avLst/>
          </a:prstGeom>
          <a:solidFill>
            <a:srgbClr val="2587C5"/>
          </a:solidFill>
          <a:ln/>
        </p:spPr>
      </p:sp>
      <p:sp>
        <p:nvSpPr>
          <p:cNvPr id="47" name="Text 3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3 MOVING NOW</a:t>
            </a:r>
            <a:endParaRPr lang="en-US" sz="1500" dirty="0"/>
          </a:p>
        </p:txBody>
      </p:sp>
      <p:sp>
        <p:nvSpPr>
          <p:cNvPr id="48" name="Shape 40"/>
          <p:cNvSpPr/>
          <p:nvPr/>
        </p:nvSpPr>
        <p:spPr>
          <a:xfrm>
            <a:off x="8040624" y="1810512"/>
            <a:ext cx="3489960" cy="1478280"/>
          </a:xfrm>
          <a:prstGeom prst="rect">
            <a:avLst/>
          </a:prstGeom>
          <a:solidFill>
            <a:srgbClr val="F7F7F7"/>
          </a:solidFill>
          <a:ln/>
        </p:spPr>
      </p:sp>
      <p:sp>
        <p:nvSpPr>
          <p:cNvPr id="49" name="Text 41"/>
          <p:cNvSpPr txBox="1"/>
          <p:nvPr/>
        </p:nvSpPr>
        <p:spPr>
          <a:xfrm>
            <a:off x="8132064" y="181051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1</a:t>
            </a:r>
            <a:endParaRPr lang="en-US" sz="2000" dirty="0"/>
          </a:p>
        </p:txBody>
      </p:sp>
      <p:sp>
        <p:nvSpPr>
          <p:cNvPr id="50" name="Text 42"/>
          <p:cNvSpPr txBox="1"/>
          <p:nvPr/>
        </p:nvSpPr>
        <p:spPr>
          <a:xfrm>
            <a:off x="8479536" y="188442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$275K</a:t>
            </a:r>
            <a:endParaRPr lang="en-US" sz="1400" dirty="0"/>
          </a:p>
        </p:txBody>
      </p:sp>
      <p:graphicFrame>
        <p:nvGraphicFramePr>
          <p:cNvPr id="51" name="Chart 6" descr=""/>
          <p:cNvGraphicFramePr/>
          <p:nvPr/>
        </p:nvGraphicFramePr>
        <p:xfrm>
          <a:off x="8479536" y="2697480"/>
          <a:ext cx="1972056" cy="502615"/>
        </p:xfrm>
        <a:graphic xmlns:a="http://schemas.openxmlformats.org/drawingml/2006/main">
          <a:graphicData uri="http://schemas.openxmlformats.org/drawingml/2006/chart">
            <c:chart xmlns:c="http://schemas.openxmlformats.org/drawingml/2006/chart" r:id="rId7"/>
          </a:graphicData>
        </a:graphic>
      </p:graphicFrame>
      <p:graphicFrame>
        <p:nvGraphicFramePr>
          <p:cNvPr id="52" name="Chart 7" descr=""/>
          <p:cNvGraphicFramePr/>
          <p:nvPr/>
        </p:nvGraphicFramePr>
        <p:xfrm>
          <a:off x="8479536" y="2697480"/>
          <a:ext cx="1972056" cy="502615"/>
        </p:xfrm>
        <a:graphic xmlns:a="http://schemas.openxmlformats.org/drawingml/2006/main">
          <a:graphicData uri="http://schemas.openxmlformats.org/drawingml/2006/chart">
            <c:chart xmlns:c="http://schemas.openxmlformats.org/drawingml/2006/chart" r:id="rId8"/>
          </a:graphicData>
        </a:graphic>
      </p:graphicFrame>
      <p:sp>
        <p:nvSpPr>
          <p:cNvPr id="53" name="Text 43"/>
          <p:cNvSpPr txBox="1"/>
          <p:nvPr/>
        </p:nvSpPr>
        <p:spPr>
          <a:xfrm>
            <a:off x="10543032" y="2253996"/>
            <a:ext cx="896112" cy="532181"/>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54" name="Text 44"/>
          <p:cNvSpPr txBox="1"/>
          <p:nvPr/>
        </p:nvSpPr>
        <p:spPr>
          <a:xfrm>
            <a:off x="10543032" y="278617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55" name="Text 45"/>
          <p:cNvSpPr txBox="1"/>
          <p:nvPr/>
        </p:nvSpPr>
        <p:spPr>
          <a:xfrm>
            <a:off x="8132064" y="328879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2</a:t>
            </a:r>
            <a:endParaRPr lang="en-US" sz="2000" dirty="0"/>
          </a:p>
        </p:txBody>
      </p:sp>
      <p:sp>
        <p:nvSpPr>
          <p:cNvPr id="56" name="Text 46"/>
          <p:cNvSpPr txBox="1"/>
          <p:nvPr/>
        </p:nvSpPr>
        <p:spPr>
          <a:xfrm>
            <a:off x="8479536" y="336270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$178K</a:t>
            </a:r>
            <a:endParaRPr lang="en-US" sz="1400" dirty="0"/>
          </a:p>
        </p:txBody>
      </p:sp>
      <p:graphicFrame>
        <p:nvGraphicFramePr>
          <p:cNvPr id="57" name="Chart 8" descr=""/>
          <p:cNvGraphicFramePr/>
          <p:nvPr/>
        </p:nvGraphicFramePr>
        <p:xfrm>
          <a:off x="8479536" y="4175760"/>
          <a:ext cx="1972056" cy="502615"/>
        </p:xfrm>
        <a:graphic xmlns:a="http://schemas.openxmlformats.org/drawingml/2006/main">
          <a:graphicData uri="http://schemas.openxmlformats.org/drawingml/2006/chart">
            <c:chart xmlns:c="http://schemas.openxmlformats.org/drawingml/2006/chart" r:id="rId9"/>
          </a:graphicData>
        </a:graphic>
      </p:graphicFrame>
      <p:graphicFrame>
        <p:nvGraphicFramePr>
          <p:cNvPr id="58" name="Chart 9" descr=""/>
          <p:cNvGraphicFramePr/>
          <p:nvPr/>
        </p:nvGraphicFramePr>
        <p:xfrm>
          <a:off x="8479536" y="4175760"/>
          <a:ext cx="1972056" cy="502615"/>
        </p:xfrm>
        <a:graphic xmlns:a="http://schemas.openxmlformats.org/drawingml/2006/main">
          <a:graphicData uri="http://schemas.openxmlformats.org/drawingml/2006/chart">
            <c:chart xmlns:c="http://schemas.openxmlformats.org/drawingml/2006/chart" r:id="rId10"/>
          </a:graphicData>
        </a:graphic>
      </p:graphicFrame>
      <p:sp>
        <p:nvSpPr>
          <p:cNvPr id="59" name="Text 47"/>
          <p:cNvSpPr txBox="1"/>
          <p:nvPr/>
        </p:nvSpPr>
        <p:spPr>
          <a:xfrm>
            <a:off x="10543032" y="3732276"/>
            <a:ext cx="896112" cy="532181"/>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+34.5%</a:t>
            </a:r>
            <a:endParaRPr lang="en-US" sz="1600" dirty="0"/>
          </a:p>
        </p:txBody>
      </p:sp>
      <p:sp>
        <p:nvSpPr>
          <p:cNvPr id="60" name="Text 48"/>
          <p:cNvSpPr txBox="1"/>
          <p:nvPr/>
        </p:nvSpPr>
        <p:spPr>
          <a:xfrm>
            <a:off x="10543032" y="426445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+$46K</a:t>
            </a:r>
            <a:endParaRPr lang="en-US" sz="1300" dirty="0"/>
          </a:p>
        </p:txBody>
      </p:sp>
      <p:sp>
        <p:nvSpPr>
          <p:cNvPr id="61" name="Shape 49"/>
          <p:cNvSpPr/>
          <p:nvPr/>
        </p:nvSpPr>
        <p:spPr>
          <a:xfrm>
            <a:off x="8040624" y="4767072"/>
            <a:ext cx="3489960" cy="1478280"/>
          </a:xfrm>
          <a:prstGeom prst="rect">
            <a:avLst/>
          </a:prstGeom>
          <a:solidFill>
            <a:srgbClr val="F7F7F7"/>
          </a:solidFill>
          <a:ln/>
        </p:spPr>
      </p:sp>
      <p:sp>
        <p:nvSpPr>
          <p:cNvPr id="62" name="Shape 50"/>
          <p:cNvSpPr/>
          <p:nvPr/>
        </p:nvSpPr>
        <p:spPr>
          <a:xfrm>
            <a:off x="11466576" y="4803648"/>
            <a:ext cx="64008" cy="1405128"/>
          </a:xfrm>
          <a:prstGeom prst="rect">
            <a:avLst/>
          </a:prstGeom>
          <a:solidFill>
            <a:srgbClr val="12A566"/>
          </a:solidFill>
          <a:ln/>
        </p:spPr>
      </p:sp>
      <p:sp>
        <p:nvSpPr>
          <p:cNvPr id="63" name="Text 51"/>
          <p:cNvSpPr txBox="1"/>
          <p:nvPr/>
        </p:nvSpPr>
        <p:spPr>
          <a:xfrm>
            <a:off x="8132064" y="476707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a:t>
            </a:r>
            <a:endParaRPr lang="en-US" sz="2000" dirty="0"/>
          </a:p>
        </p:txBody>
      </p:sp>
      <p:sp>
        <p:nvSpPr>
          <p:cNvPr id="64" name="Text 52"/>
          <p:cNvSpPr txBox="1"/>
          <p:nvPr/>
        </p:nvSpPr>
        <p:spPr>
          <a:xfrm>
            <a:off x="8479536" y="484098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$128K</a:t>
            </a:r>
            <a:endParaRPr lang="en-US" sz="1400" dirty="0"/>
          </a:p>
        </p:txBody>
      </p:sp>
      <p:graphicFrame>
        <p:nvGraphicFramePr>
          <p:cNvPr id="65" name="Chart 10" descr=""/>
          <p:cNvGraphicFramePr/>
          <p:nvPr/>
        </p:nvGraphicFramePr>
        <p:xfrm>
          <a:off x="8479536" y="5654040"/>
          <a:ext cx="1972056" cy="502615"/>
        </p:xfrm>
        <a:graphic xmlns:a="http://schemas.openxmlformats.org/drawingml/2006/main">
          <a:graphicData uri="http://schemas.openxmlformats.org/drawingml/2006/chart">
            <c:chart xmlns:c="http://schemas.openxmlformats.org/drawingml/2006/chart" r:id="rId11"/>
          </a:graphicData>
        </a:graphic>
      </p:graphicFrame>
      <p:graphicFrame>
        <p:nvGraphicFramePr>
          <p:cNvPr id="66" name="Chart 11" descr=""/>
          <p:cNvGraphicFramePr/>
          <p:nvPr/>
        </p:nvGraphicFramePr>
        <p:xfrm>
          <a:off x="8479536" y="5654040"/>
          <a:ext cx="1972056" cy="502615"/>
        </p:xfrm>
        <a:graphic xmlns:a="http://schemas.openxmlformats.org/drawingml/2006/main">
          <a:graphicData uri="http://schemas.openxmlformats.org/drawingml/2006/chart">
            <c:chart xmlns:c="http://schemas.openxmlformats.org/drawingml/2006/chart" r:id="rId12"/>
          </a:graphicData>
        </a:graphic>
      </p:graphicFrame>
      <p:sp>
        <p:nvSpPr>
          <p:cNvPr id="67" name="Text 53"/>
          <p:cNvSpPr txBox="1"/>
          <p:nvPr/>
        </p:nvSpPr>
        <p:spPr>
          <a:xfrm>
            <a:off x="10543032" y="5210556"/>
            <a:ext cx="896112" cy="532181"/>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+34.2%</a:t>
            </a:r>
            <a:endParaRPr lang="en-US" sz="1600" dirty="0"/>
          </a:p>
        </p:txBody>
      </p:sp>
      <p:sp>
        <p:nvSpPr>
          <p:cNvPr id="68" name="Text 54"/>
          <p:cNvSpPr txBox="1"/>
          <p:nvPr/>
        </p:nvSpPr>
        <p:spPr>
          <a:xfrm>
            <a:off x="10543032" y="574273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+$33K</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$60.76M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$61.93M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+$1,171,181 (1.9%) year to date; 6 of nine months ahead of 2025, largest gain in July, +$684,859.</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$61.93M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$6.21M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780953"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$6.05M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440491"/>
            <a:ext cx="1139299"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$3.87M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5" name="Shape 23"/>
          <p:cNvSpPr/>
          <p:nvPr/>
        </p:nvSpPr>
        <p:spPr>
          <a:xfrm>
            <a:off x="2980944" y="2701901"/>
            <a:ext cx="1126417"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2980944" y="2963312"/>
            <a:ext cx="1042309"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$3.54M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915024"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$3.11M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486134"/>
            <a:ext cx="794248"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743466"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$2.52M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2980944" y="4008956"/>
            <a:ext cx="662635"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270366"/>
            <a:ext cx="618790"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$2.10M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531777"/>
            <a:ext cx="469006"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7" name="Shape 55"/>
          <p:cNvSpPr/>
          <p:nvPr/>
        </p:nvSpPr>
        <p:spPr>
          <a:xfrm>
            <a:off x="2980944" y="4793188"/>
            <a:ext cx="439517"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$1.49M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2980944" y="5054599"/>
            <a:ext cx="434974"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$1.48M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5" name="Shape 63"/>
          <p:cNvSpPr/>
          <p:nvPr/>
        </p:nvSpPr>
        <p:spPr>
          <a:xfrm>
            <a:off x="2980944" y="5316010"/>
            <a:ext cx="426399"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2980944" y="5577420"/>
            <a:ext cx="418024"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2980944" y="5838831"/>
            <a:ext cx="410579"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2980944" y="6100242"/>
            <a:ext cx="386930"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8531352" y="1917669"/>
            <a:ext cx="385510"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5" name="Shape 83"/>
          <p:cNvSpPr/>
          <p:nvPr/>
        </p:nvSpPr>
        <p:spPr>
          <a:xfrm>
            <a:off x="8531352" y="2179080"/>
            <a:ext cx="379226"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$1.29M</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9" name="Shape 87"/>
          <p:cNvSpPr/>
          <p:nvPr/>
        </p:nvSpPr>
        <p:spPr>
          <a:xfrm>
            <a:off x="8531352" y="2440491"/>
            <a:ext cx="375575"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$1.28M</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31352" y="2701901"/>
            <a:ext cx="370418"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$1.26M</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31352" y="2963312"/>
            <a:ext cx="351886"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224723"/>
            <a:ext cx="351305"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5" name="Shape 103"/>
          <p:cNvSpPr/>
          <p:nvPr/>
        </p:nvSpPr>
        <p:spPr>
          <a:xfrm>
            <a:off x="8531352" y="3486134"/>
            <a:ext cx="323594"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8531352" y="3747545"/>
            <a:ext cx="321171"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4008956"/>
            <a:ext cx="296096"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270366"/>
            <a:ext cx="277217"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$941,382</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31352" y="4531777"/>
            <a:ext cx="263987"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$896,457</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8531352" y="4793188"/>
            <a:ext cx="243434"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$826,662</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5054599"/>
            <a:ext cx="226608"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$769,524</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61334"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$547,864</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159817"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$542,712</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111766"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$379,537</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+$1.17M  ·  +1.9%</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+$688K</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+28.4%</a:t>
            </a:r>
            <a:endParaRPr lang="en-US" sz="1200" dirty="0"/>
          </a:p>
        </p:txBody>
      </p:sp>
      <p:sp>
        <p:nvSpPr>
          <p:cNvPr id="20" name="Shape 18"/>
          <p:cNvSpPr/>
          <p:nvPr/>
        </p:nvSpPr>
        <p:spPr>
          <a:xfrm>
            <a:off x="5907024" y="2167128"/>
            <a:ext cx="54864" cy="132319"/>
          </a:xfrm>
          <a:prstGeom prst="rect">
            <a:avLst/>
          </a:prstGeom>
          <a:solidFill>
            <a:srgbClr val="12A566"/>
          </a:solidFill>
          <a:ln/>
        </p:spPr>
      </p:sp>
      <p:sp>
        <p:nvSpPr>
          <p:cNvPr id="21" name="Text 19"/>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3" name="Shape 21"/>
          <p:cNvSpPr/>
          <p:nvPr/>
        </p:nvSpPr>
        <p:spPr>
          <a:xfrm>
            <a:off x="3579876" y="2405582"/>
            <a:ext cx="266553" cy="102929"/>
          </a:xfrm>
          <a:prstGeom prst="rect">
            <a:avLst/>
          </a:prstGeom>
          <a:solidFill>
            <a:srgbClr val="12A566"/>
          </a:solidFill>
          <a:ln/>
        </p:spPr>
      </p:sp>
      <p:sp>
        <p:nvSpPr>
          <p:cNvPr id="24" name="Text 22"/>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+$321K</a:t>
            </a:r>
            <a:endParaRPr lang="en-US" sz="1200" dirty="0"/>
          </a:p>
        </p:txBody>
      </p:sp>
      <p:sp>
        <p:nvSpPr>
          <p:cNvPr id="25" name="Text 23"/>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a:t>
            </a:r>
            <a:endParaRPr lang="en-US" sz="1200" dirty="0"/>
          </a:p>
        </p:txBody>
      </p:sp>
      <p:sp>
        <p:nvSpPr>
          <p:cNvPr id="26" name="Text 24"/>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579876" y="2629341"/>
            <a:ext cx="238998" cy="102929"/>
          </a:xfrm>
          <a:prstGeom prst="rect">
            <a:avLst/>
          </a:prstGeom>
          <a:solidFill>
            <a:srgbClr val="12A566"/>
          </a:solidFill>
          <a:ln/>
        </p:spPr>
      </p:sp>
      <p:sp>
        <p:nvSpPr>
          <p:cNvPr id="29" name="Text 27"/>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+$288K</a:t>
            </a:r>
            <a:endParaRPr lang="en-US" sz="1200" dirty="0"/>
          </a:p>
        </p:txBody>
      </p:sp>
      <p:sp>
        <p:nvSpPr>
          <p:cNvPr id="30" name="Text 28"/>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a:t>
            </a:r>
            <a:endParaRPr lang="en-US" sz="1200" dirty="0"/>
          </a:p>
        </p:txBody>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3" name="Shape 31"/>
          <p:cNvSpPr/>
          <p:nvPr/>
        </p:nvSpPr>
        <p:spPr>
          <a:xfrm>
            <a:off x="3579876" y="2853100"/>
            <a:ext cx="227128"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8" name="Shape 36"/>
          <p:cNvSpPr/>
          <p:nvPr/>
        </p:nvSpPr>
        <p:spPr>
          <a:xfrm>
            <a:off x="3579876" y="3076859"/>
            <a:ext cx="224863"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+$271K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+26.0%</a:t>
            </a:r>
            <a:endParaRPr lang="en-US" sz="1200" dirty="0"/>
          </a:p>
        </p:txBody>
      </p:sp>
      <p:sp>
        <p:nvSpPr>
          <p:cNvPr id="41" name="Shape 39"/>
          <p:cNvSpPr/>
          <p:nvPr/>
        </p:nvSpPr>
        <p:spPr>
          <a:xfrm>
            <a:off x="5907024" y="3062164"/>
            <a:ext cx="54864" cy="132319"/>
          </a:xfrm>
          <a:prstGeom prst="rect">
            <a:avLst/>
          </a:prstGeom>
          <a:solidFill>
            <a:srgbClr val="12A566"/>
          </a:solidFill>
          <a:ln/>
        </p:spPr>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4" name="Shape 42"/>
          <p:cNvSpPr/>
          <p:nvPr/>
        </p:nvSpPr>
        <p:spPr>
          <a:xfrm>
            <a:off x="3579876" y="3300618"/>
            <a:ext cx="201457"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47" name="Shape 45"/>
          <p:cNvSpPr/>
          <p:nvPr/>
        </p:nvSpPr>
        <p:spPr>
          <a:xfrm>
            <a:off x="5907024" y="3285923"/>
            <a:ext cx="54864" cy="132319"/>
          </a:xfrm>
          <a:prstGeom prst="rect">
            <a:avLst/>
          </a:prstGeom>
          <a:solidFill>
            <a:srgbClr val="12A566"/>
          </a:solidFill>
          <a:ln/>
        </p:spPr>
      </p:sp>
      <p:sp>
        <p:nvSpPr>
          <p:cNvPr id="48" name="Text 46"/>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0" name="Shape 48"/>
          <p:cNvSpPr/>
          <p:nvPr/>
        </p:nvSpPr>
        <p:spPr>
          <a:xfrm>
            <a:off x="3579876" y="3524377"/>
            <a:ext cx="175005" cy="102929"/>
          </a:xfrm>
          <a:prstGeom prst="rect">
            <a:avLst/>
          </a:prstGeom>
          <a:solidFill>
            <a:srgbClr val="12A566"/>
          </a:solidFill>
          <a:ln/>
        </p:spPr>
      </p:sp>
      <p:sp>
        <p:nvSpPr>
          <p:cNvPr id="51" name="Text 49"/>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+$211K</a:t>
            </a:r>
            <a:endParaRPr lang="en-US" sz="1200" dirty="0"/>
          </a:p>
        </p:txBody>
      </p:sp>
      <p:sp>
        <p:nvSpPr>
          <p:cNvPr id="52" name="Text 50"/>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5" name="Shape 53"/>
          <p:cNvSpPr/>
          <p:nvPr/>
        </p:nvSpPr>
        <p:spPr>
          <a:xfrm>
            <a:off x="3579876" y="3748136"/>
            <a:ext cx="131404"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+$158K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0" name="Shape 58"/>
          <p:cNvSpPr/>
          <p:nvPr/>
        </p:nvSpPr>
        <p:spPr>
          <a:xfrm>
            <a:off x="3579876" y="3971895"/>
            <a:ext cx="125702"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+$151K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579876" y="4195654"/>
            <a:ext cx="103334"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+$124K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0" name="Shape 68"/>
          <p:cNvSpPr/>
          <p:nvPr/>
        </p:nvSpPr>
        <p:spPr>
          <a:xfrm>
            <a:off x="3579876" y="4419414"/>
            <a:ext cx="73474"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5" name="Shape 73"/>
          <p:cNvSpPr/>
          <p:nvPr/>
        </p:nvSpPr>
        <p:spPr>
          <a:xfrm>
            <a:off x="3579876" y="4643173"/>
            <a:ext cx="49502"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0" name="Shape 78"/>
          <p:cNvSpPr/>
          <p:nvPr/>
        </p:nvSpPr>
        <p:spPr>
          <a:xfrm>
            <a:off x="3579876" y="4866932"/>
            <a:ext cx="41830"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579876" y="5090691"/>
            <a:ext cx="38877"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0" name="Shape 88"/>
          <p:cNvSpPr/>
          <p:nvPr/>
        </p:nvSpPr>
        <p:spPr>
          <a:xfrm>
            <a:off x="3579876" y="5314450"/>
            <a:ext cx="27168"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5" name="Shape 93"/>
          <p:cNvSpPr/>
          <p:nvPr/>
        </p:nvSpPr>
        <p:spPr>
          <a:xfrm>
            <a:off x="3579876" y="5538209"/>
            <a:ext cx="22407"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3579876" y="5761968"/>
            <a:ext cx="15551"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26201" y="2181823"/>
            <a:ext cx="12802" cy="102929"/>
          </a:xfrm>
          <a:prstGeom prst="rect">
            <a:avLst/>
          </a:prstGeom>
          <a:solidFill>
            <a:srgbClr val="C2352F"/>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0" name="Shape 108"/>
          <p:cNvSpPr/>
          <p:nvPr/>
        </p:nvSpPr>
        <p:spPr>
          <a:xfrm>
            <a:off x="9120717" y="2405582"/>
            <a:ext cx="12802"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5" name="Shape 113"/>
          <p:cNvSpPr/>
          <p:nvPr/>
        </p:nvSpPr>
        <p:spPr>
          <a:xfrm>
            <a:off x="9107185" y="2629341"/>
            <a:ext cx="23099"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20" name="Shape 118"/>
          <p:cNvSpPr/>
          <p:nvPr/>
        </p:nvSpPr>
        <p:spPr>
          <a:xfrm>
            <a:off x="9102703" y="2853100"/>
            <a:ext cx="27581"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−$33K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095278" y="3076859"/>
            <a:ext cx="35006"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088719" y="3300618"/>
            <a:ext cx="41565"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−$50K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5" name="Shape 133"/>
          <p:cNvSpPr/>
          <p:nvPr/>
        </p:nvSpPr>
        <p:spPr>
          <a:xfrm>
            <a:off x="9082739" y="3524377"/>
            <a:ext cx="47545"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−$57K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0" name="Shape 138"/>
          <p:cNvSpPr/>
          <p:nvPr/>
        </p:nvSpPr>
        <p:spPr>
          <a:xfrm>
            <a:off x="9079991" y="3748136"/>
            <a:ext cx="50293"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5" name="Shape 143"/>
          <p:cNvSpPr/>
          <p:nvPr/>
        </p:nvSpPr>
        <p:spPr>
          <a:xfrm>
            <a:off x="9064780" y="3971895"/>
            <a:ext cx="65504"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−$79K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0" name="Shape 148"/>
          <p:cNvSpPr/>
          <p:nvPr/>
        </p:nvSpPr>
        <p:spPr>
          <a:xfrm>
            <a:off x="9009622" y="4195654"/>
            <a:ext cx="120662"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−$145K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153" name="Text 15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4" name="Text 15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5" name="Shape 153"/>
          <p:cNvSpPr/>
          <p:nvPr/>
        </p:nvSpPr>
        <p:spPr>
          <a:xfrm>
            <a:off x="9009094" y="4419414"/>
            <a:ext cx="121190" cy="102929"/>
          </a:xfrm>
          <a:prstGeom prst="rect">
            <a:avLst/>
          </a:prstGeom>
          <a:solidFill>
            <a:srgbClr val="C2352F"/>
          </a:solidFill>
          <a:ln/>
        </p:spPr>
      </p:sp>
      <p:sp>
        <p:nvSpPr>
          <p:cNvPr id="156" name="Text 154"/>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−$146K</a:t>
            </a:r>
            <a:endParaRPr lang="en-US" sz="1200" dirty="0"/>
          </a:p>
        </p:txBody>
      </p:sp>
      <p:sp>
        <p:nvSpPr>
          <p:cNvPr id="157" name="Text 155"/>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58" name="Text 156"/>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0" name="Shape 158"/>
          <p:cNvSpPr/>
          <p:nvPr/>
        </p:nvSpPr>
        <p:spPr>
          <a:xfrm>
            <a:off x="8991431" y="4643173"/>
            <a:ext cx="138853" cy="102929"/>
          </a:xfrm>
          <a:prstGeom prst="rect">
            <a:avLst/>
          </a:prstGeom>
          <a:solidFill>
            <a:srgbClr val="C2352F"/>
          </a:solidFill>
          <a:ln/>
        </p:spPr>
      </p:sp>
      <p:sp>
        <p:nvSpPr>
          <p:cNvPr id="161" name="Text 159"/>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−$167K</a:t>
            </a:r>
            <a:endParaRPr lang="en-US" sz="1200" dirty="0"/>
          </a:p>
        </p:txBody>
      </p:sp>
      <p:sp>
        <p:nvSpPr>
          <p:cNvPr id="162" name="Text 160"/>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63" name="Text 161"/>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4" name="Text 162"/>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5" name="Shape 163"/>
          <p:cNvSpPr/>
          <p:nvPr/>
        </p:nvSpPr>
        <p:spPr>
          <a:xfrm>
            <a:off x="8952555" y="4866932"/>
            <a:ext cx="177729" cy="102929"/>
          </a:xfrm>
          <a:prstGeom prst="rect">
            <a:avLst/>
          </a:prstGeom>
          <a:solidFill>
            <a:srgbClr val="C2352F"/>
          </a:solidFill>
          <a:ln/>
        </p:spPr>
      </p:sp>
      <p:sp>
        <p:nvSpPr>
          <p:cNvPr id="166" name="Text 164"/>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−$214K</a:t>
            </a:r>
            <a:endParaRPr lang="en-US" sz="1200" dirty="0"/>
          </a:p>
        </p:txBody>
      </p:sp>
      <p:sp>
        <p:nvSpPr>
          <p:cNvPr id="167" name="Text 165"/>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68" name="Shape 166"/>
          <p:cNvSpPr/>
          <p:nvPr/>
        </p:nvSpPr>
        <p:spPr>
          <a:xfrm>
            <a:off x="11457432" y="4852237"/>
            <a:ext cx="54864" cy="132319"/>
          </a:xfrm>
          <a:prstGeom prst="rect">
            <a:avLst/>
          </a:prstGeom>
          <a:solidFill>
            <a:srgbClr val="C2352F"/>
          </a:solidFill>
          <a:ln/>
        </p:spPr>
      </p:sp>
      <p:sp>
        <p:nvSpPr>
          <p:cNvPr id="169" name="Text 167"/>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1" name="Shape 169"/>
          <p:cNvSpPr/>
          <p:nvPr/>
        </p:nvSpPr>
        <p:spPr>
          <a:xfrm>
            <a:off x="8941928" y="5090691"/>
            <a:ext cx="188356" cy="102929"/>
          </a:xfrm>
          <a:prstGeom prst="rect">
            <a:avLst/>
          </a:prstGeom>
          <a:solidFill>
            <a:srgbClr val="C2352F"/>
          </a:solidFill>
          <a:ln/>
        </p:spPr>
      </p:sp>
      <p:sp>
        <p:nvSpPr>
          <p:cNvPr id="172" name="Text 170"/>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−$227K</a:t>
            </a:r>
            <a:endParaRPr lang="en-US" sz="1200" dirty="0"/>
          </a:p>
        </p:txBody>
      </p:sp>
      <p:sp>
        <p:nvSpPr>
          <p:cNvPr id="173" name="Text 171"/>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174" name="Shape 172"/>
          <p:cNvSpPr/>
          <p:nvPr/>
        </p:nvSpPr>
        <p:spPr>
          <a:xfrm>
            <a:off x="11457432" y="5075996"/>
            <a:ext cx="54864" cy="132319"/>
          </a:xfrm>
          <a:prstGeom prst="rect">
            <a:avLst/>
          </a:prstGeom>
          <a:solidFill>
            <a:srgbClr val="C2352F"/>
          </a:solidFill>
          <a:ln/>
        </p:spPr>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77" name="Shape 175"/>
          <p:cNvSpPr/>
          <p:nvPr/>
        </p:nvSpPr>
        <p:spPr>
          <a:xfrm>
            <a:off x="8891687" y="5314450"/>
            <a:ext cx="238597"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80" name="Text 178"/>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1" name="Text 179"/>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82" name="Shape 180"/>
          <p:cNvSpPr/>
          <p:nvPr/>
        </p:nvSpPr>
        <p:spPr>
          <a:xfrm>
            <a:off x="8857921" y="5538209"/>
            <a:ext cx="272363" cy="102929"/>
          </a:xfrm>
          <a:prstGeom prst="rect">
            <a:avLst/>
          </a:prstGeom>
          <a:solidFill>
            <a:srgbClr val="C2352F"/>
          </a:solidFill>
          <a:ln/>
        </p:spPr>
      </p:sp>
      <p:sp>
        <p:nvSpPr>
          <p:cNvPr id="183" name="Text 181"/>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−$328K</a:t>
            </a:r>
            <a:endParaRPr lang="en-US" sz="1200" dirty="0"/>
          </a:p>
        </p:txBody>
      </p:sp>
      <p:sp>
        <p:nvSpPr>
          <p:cNvPr id="184" name="Text 182"/>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85" name="Shape 183"/>
          <p:cNvSpPr/>
          <p:nvPr/>
        </p:nvSpPr>
        <p:spPr>
          <a:xfrm>
            <a:off x="11457432" y="5523514"/>
            <a:ext cx="54864" cy="132319"/>
          </a:xfrm>
          <a:prstGeom prst="rect">
            <a:avLst/>
          </a:prstGeom>
          <a:solidFill>
            <a:srgbClr val="C2352F"/>
          </a:solidFill>
          <a:ln/>
        </p:spPr>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17 of 33 stores grew.</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3 VS LAST YEAR</a:t>
            </a:r>
            <a:endParaRPr lang="en-US" sz="1500" dirty="0"/>
          </a:p>
        </p:txBody>
      </p:sp>
      <p:sp>
        <p:nvSpPr>
          <p:cNvPr id="9" name="Shape 7"/>
          <p:cNvSpPr/>
          <p:nvPr/>
        </p:nvSpPr>
        <p:spPr>
          <a:xfrm>
            <a:off x="658368" y="1810512"/>
            <a:ext cx="3489960" cy="1478280"/>
          </a:xfrm>
          <a:prstGeom prst="rect">
            <a:avLst/>
          </a:prstGeom>
          <a:solidFill>
            <a:srgbClr val="F7F7F7"/>
          </a:solidFill>
          <a:ln/>
        </p:spPr>
      </p:sp>
      <p:sp>
        <p:nvSpPr>
          <p:cNvPr id="10" name="Text 8"/>
          <p:cNvSpPr txBox="1"/>
          <p:nvPr/>
        </p:nvSpPr>
        <p:spPr>
          <a:xfrm>
            <a:off x="749808" y="181051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1</a:t>
            </a:r>
            <a:endParaRPr lang="en-US" sz="2000" dirty="0"/>
          </a:p>
        </p:txBody>
      </p:sp>
      <p:sp>
        <p:nvSpPr>
          <p:cNvPr id="11" name="Text 9"/>
          <p:cNvSpPr txBox="1"/>
          <p:nvPr/>
        </p:nvSpPr>
        <p:spPr>
          <a:xfrm>
            <a:off x="1097280" y="188442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$896K</a:t>
            </a:r>
            <a:endParaRPr lang="en-US" sz="1400" dirty="0"/>
          </a:p>
        </p:txBody>
      </p:sp>
      <p:graphicFrame>
        <p:nvGraphicFramePr>
          <p:cNvPr id="12" name="Chart 0" descr=""/>
          <p:cNvGraphicFramePr/>
          <p:nvPr/>
        </p:nvGraphicFramePr>
        <p:xfrm>
          <a:off x="1097280" y="2697480"/>
          <a:ext cx="1972056" cy="502615"/>
        </p:xfrm>
        <a:graphic xmlns:a="http://schemas.openxmlformats.org/drawingml/2006/main">
          <a:graphicData uri="http://schemas.openxmlformats.org/drawingml/2006/chart">
            <c:chart xmlns:c="http://schemas.openxmlformats.org/drawingml/2006/chart" r:id="rId1"/>
          </a:graphicData>
        </a:graphic>
      </p:graphicFrame>
      <p:sp>
        <p:nvSpPr>
          <p:cNvPr id="13" name="Text 10"/>
          <p:cNvSpPr txBox="1"/>
          <p:nvPr/>
        </p:nvSpPr>
        <p:spPr>
          <a:xfrm>
            <a:off x="3160776" y="2253996"/>
            <a:ext cx="896112" cy="532181"/>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+37.1%</a:t>
            </a:r>
            <a:endParaRPr lang="en-US" sz="1600" dirty="0"/>
          </a:p>
        </p:txBody>
      </p:sp>
      <p:sp>
        <p:nvSpPr>
          <p:cNvPr id="14" name="Text 11"/>
          <p:cNvSpPr txBox="1"/>
          <p:nvPr/>
        </p:nvSpPr>
        <p:spPr>
          <a:xfrm>
            <a:off x="3160776" y="278617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+$243K</a:t>
            </a:r>
            <a:endParaRPr lang="en-US" sz="1300" dirty="0"/>
          </a:p>
        </p:txBody>
      </p:sp>
      <p:sp>
        <p:nvSpPr>
          <p:cNvPr id="15" name="Text 12"/>
          <p:cNvSpPr txBox="1"/>
          <p:nvPr/>
        </p:nvSpPr>
        <p:spPr>
          <a:xfrm>
            <a:off x="749808" y="328879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2</a:t>
            </a:r>
            <a:endParaRPr lang="en-US" sz="2000" dirty="0"/>
          </a:p>
        </p:txBody>
      </p:sp>
      <p:sp>
        <p:nvSpPr>
          <p:cNvPr id="16" name="Text 13"/>
          <p:cNvSpPr txBox="1"/>
          <p:nvPr/>
        </p:nvSpPr>
        <p:spPr>
          <a:xfrm>
            <a:off x="1097280" y="336270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$3.11M</a:t>
            </a:r>
            <a:endParaRPr lang="en-US" sz="1400" dirty="0"/>
          </a:p>
        </p:txBody>
      </p:sp>
      <p:graphicFrame>
        <p:nvGraphicFramePr>
          <p:cNvPr id="17" name="Chart 1" descr=""/>
          <p:cNvGraphicFramePr/>
          <p:nvPr/>
        </p:nvGraphicFramePr>
        <p:xfrm>
          <a:off x="1097280" y="4175760"/>
          <a:ext cx="1972056" cy="502615"/>
        </p:xfrm>
        <a:graphic xmlns:a="http://schemas.openxmlformats.org/drawingml/2006/main">
          <a:graphicData uri="http://schemas.openxmlformats.org/drawingml/2006/chart">
            <c:chart xmlns:c="http://schemas.openxmlformats.org/drawingml/2006/chart" r:id="rId2"/>
          </a:graphicData>
        </a:graphic>
      </p:graphicFrame>
      <p:sp>
        <p:nvSpPr>
          <p:cNvPr id="18" name="Text 14"/>
          <p:cNvSpPr txBox="1"/>
          <p:nvPr/>
        </p:nvSpPr>
        <p:spPr>
          <a:xfrm>
            <a:off x="3160776" y="3732276"/>
            <a:ext cx="896112" cy="532181"/>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+28.4%</a:t>
            </a:r>
            <a:endParaRPr lang="en-US" sz="1600" dirty="0"/>
          </a:p>
        </p:txBody>
      </p:sp>
      <p:sp>
        <p:nvSpPr>
          <p:cNvPr id="19" name="Text 15"/>
          <p:cNvSpPr txBox="1"/>
          <p:nvPr/>
        </p:nvSpPr>
        <p:spPr>
          <a:xfrm>
            <a:off x="3160776" y="426445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+$688K</a:t>
            </a:r>
            <a:endParaRPr lang="en-US" sz="1300" dirty="0"/>
          </a:p>
        </p:txBody>
      </p:sp>
      <p:sp>
        <p:nvSpPr>
          <p:cNvPr id="20" name="Shape 16"/>
          <p:cNvSpPr/>
          <p:nvPr/>
        </p:nvSpPr>
        <p:spPr>
          <a:xfrm>
            <a:off x="658368" y="4767072"/>
            <a:ext cx="3489960" cy="1478280"/>
          </a:xfrm>
          <a:prstGeom prst="rect">
            <a:avLst/>
          </a:prstGeom>
          <a:solidFill>
            <a:srgbClr val="F7F7F7"/>
          </a:solidFill>
          <a:ln/>
        </p:spPr>
      </p:sp>
      <p:sp>
        <p:nvSpPr>
          <p:cNvPr id="21" name="Text 17"/>
          <p:cNvSpPr txBox="1"/>
          <p:nvPr/>
        </p:nvSpPr>
        <p:spPr>
          <a:xfrm>
            <a:off x="749808" y="476707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a:t>
            </a:r>
            <a:endParaRPr lang="en-US" sz="2000" dirty="0"/>
          </a:p>
        </p:txBody>
      </p:sp>
      <p:sp>
        <p:nvSpPr>
          <p:cNvPr id="22" name="Text 18"/>
          <p:cNvSpPr txBox="1"/>
          <p:nvPr/>
        </p:nvSpPr>
        <p:spPr>
          <a:xfrm>
            <a:off x="1097280" y="484098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$1.31M</a:t>
            </a:r>
            <a:endParaRPr lang="en-US" sz="1400" dirty="0"/>
          </a:p>
        </p:txBody>
      </p:sp>
      <p:graphicFrame>
        <p:nvGraphicFramePr>
          <p:cNvPr id="23" name="Chart 2" descr=""/>
          <p:cNvGraphicFramePr/>
          <p:nvPr/>
        </p:nvGraphicFramePr>
        <p:xfrm>
          <a:off x="1097280" y="5654040"/>
          <a:ext cx="1972056" cy="502615"/>
        </p:xfrm>
        <a:graphic xmlns:a="http://schemas.openxmlformats.org/drawingml/2006/main">
          <a:graphicData uri="http://schemas.openxmlformats.org/drawingml/2006/chart">
            <c:chart xmlns:c="http://schemas.openxmlformats.org/drawingml/2006/chart" r:id="rId3"/>
          </a:graphicData>
        </a:graphic>
      </p:graphicFrame>
      <p:sp>
        <p:nvSpPr>
          <p:cNvPr id="24" name="Text 19"/>
          <p:cNvSpPr txBox="1"/>
          <p:nvPr/>
        </p:nvSpPr>
        <p:spPr>
          <a:xfrm>
            <a:off x="3160776" y="5210556"/>
            <a:ext cx="896112" cy="532181"/>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+26.0%</a:t>
            </a:r>
            <a:endParaRPr lang="en-US" sz="1600" dirty="0"/>
          </a:p>
        </p:txBody>
      </p:sp>
      <p:sp>
        <p:nvSpPr>
          <p:cNvPr id="25" name="Text 20"/>
          <p:cNvSpPr txBox="1"/>
          <p:nvPr/>
        </p:nvSpPr>
        <p:spPr>
          <a:xfrm>
            <a:off x="3160776" y="574273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+$271K</a:t>
            </a:r>
            <a:endParaRPr lang="en-US" sz="1300" dirty="0"/>
          </a:p>
        </p:txBody>
      </p:sp>
      <p:sp>
        <p:nvSpPr>
          <p:cNvPr id="26" name="Shape 21"/>
          <p:cNvSpPr/>
          <p:nvPr/>
        </p:nvSpPr>
        <p:spPr>
          <a:xfrm>
            <a:off x="4349496" y="1371600"/>
            <a:ext cx="3489960" cy="45720"/>
          </a:xfrm>
          <a:prstGeom prst="rect">
            <a:avLst/>
          </a:prstGeom>
          <a:solidFill>
            <a:srgbClr val="C2352F"/>
          </a:solidFill>
          <a:ln/>
        </p:spPr>
      </p:sp>
      <p:sp>
        <p:nvSpPr>
          <p:cNvPr id="27" name="Text 2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3 VS LAST YEAR</a:t>
            </a:r>
            <a:endParaRPr lang="en-US" sz="1500" dirty="0"/>
          </a:p>
        </p:txBody>
      </p:sp>
      <p:sp>
        <p:nvSpPr>
          <p:cNvPr id="28" name="Shape 23"/>
          <p:cNvSpPr/>
          <p:nvPr/>
        </p:nvSpPr>
        <p:spPr>
          <a:xfrm>
            <a:off x="4349496" y="1810512"/>
            <a:ext cx="3489960" cy="1478280"/>
          </a:xfrm>
          <a:prstGeom prst="rect">
            <a:avLst/>
          </a:prstGeom>
          <a:solidFill>
            <a:srgbClr val="F7F7F7"/>
          </a:solidFill>
          <a:ln/>
        </p:spPr>
      </p:sp>
      <p:sp>
        <p:nvSpPr>
          <p:cNvPr id="29" name="Text 24"/>
          <p:cNvSpPr txBox="1"/>
          <p:nvPr/>
        </p:nvSpPr>
        <p:spPr>
          <a:xfrm>
            <a:off x="4440936" y="181051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33</a:t>
            </a:r>
            <a:endParaRPr lang="en-US" sz="2000" dirty="0"/>
          </a:p>
        </p:txBody>
      </p:sp>
      <p:sp>
        <p:nvSpPr>
          <p:cNvPr id="30" name="Text 25"/>
          <p:cNvSpPr txBox="1"/>
          <p:nvPr/>
        </p:nvSpPr>
        <p:spPr>
          <a:xfrm>
            <a:off x="4788408" y="188442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$827K</a:t>
            </a:r>
            <a:endParaRPr lang="en-US" sz="1400" dirty="0"/>
          </a:p>
        </p:txBody>
      </p:sp>
      <p:graphicFrame>
        <p:nvGraphicFramePr>
          <p:cNvPr id="31" name="Chart 3" descr=""/>
          <p:cNvGraphicFramePr/>
          <p:nvPr/>
        </p:nvGraphicFramePr>
        <p:xfrm>
          <a:off x="4788408" y="2697480"/>
          <a:ext cx="1972056" cy="502615"/>
        </p:xfrm>
        <a:graphic xmlns:a="http://schemas.openxmlformats.org/drawingml/2006/main">
          <a:graphicData uri="http://schemas.openxmlformats.org/drawingml/2006/chart">
            <c:chart xmlns:c="http://schemas.openxmlformats.org/drawingml/2006/chart" r:id="rId4"/>
          </a:graphicData>
        </a:graphic>
      </p:graphicFrame>
      <p:sp>
        <p:nvSpPr>
          <p:cNvPr id="32" name="Text 26"/>
          <p:cNvSpPr txBox="1"/>
          <p:nvPr/>
        </p:nvSpPr>
        <p:spPr>
          <a:xfrm>
            <a:off x="6851904" y="2253996"/>
            <a:ext cx="896112" cy="532181"/>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−21.5%</a:t>
            </a:r>
            <a:endParaRPr lang="en-US" sz="1600" dirty="0"/>
          </a:p>
        </p:txBody>
      </p:sp>
      <p:sp>
        <p:nvSpPr>
          <p:cNvPr id="33" name="Text 27"/>
          <p:cNvSpPr txBox="1"/>
          <p:nvPr/>
        </p:nvSpPr>
        <p:spPr>
          <a:xfrm>
            <a:off x="6851904" y="278617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−$227K</a:t>
            </a:r>
            <a:endParaRPr lang="en-US" sz="1300" dirty="0"/>
          </a:p>
        </p:txBody>
      </p:sp>
      <p:sp>
        <p:nvSpPr>
          <p:cNvPr id="34" name="Text 28"/>
          <p:cNvSpPr txBox="1"/>
          <p:nvPr/>
        </p:nvSpPr>
        <p:spPr>
          <a:xfrm>
            <a:off x="4440936" y="328879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32</a:t>
            </a:r>
            <a:endParaRPr lang="en-US" sz="2000" dirty="0"/>
          </a:p>
        </p:txBody>
      </p:sp>
      <p:sp>
        <p:nvSpPr>
          <p:cNvPr id="35" name="Text 29"/>
          <p:cNvSpPr txBox="1"/>
          <p:nvPr/>
        </p:nvSpPr>
        <p:spPr>
          <a:xfrm>
            <a:off x="4788408" y="336270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$1.42M</a:t>
            </a:r>
            <a:endParaRPr lang="en-US" sz="1400" dirty="0"/>
          </a:p>
        </p:txBody>
      </p:sp>
      <p:graphicFrame>
        <p:nvGraphicFramePr>
          <p:cNvPr id="36" name="Chart 4" descr=""/>
          <p:cNvGraphicFramePr/>
          <p:nvPr/>
        </p:nvGraphicFramePr>
        <p:xfrm>
          <a:off x="4788408" y="4175760"/>
          <a:ext cx="1972056" cy="502615"/>
        </p:xfrm>
        <a:graphic xmlns:a="http://schemas.openxmlformats.org/drawingml/2006/main">
          <a:graphicData uri="http://schemas.openxmlformats.org/drawingml/2006/chart">
            <c:chart xmlns:c="http://schemas.openxmlformats.org/drawingml/2006/chart" r:id="rId5"/>
          </a:graphicData>
        </a:graphic>
      </p:graphicFrame>
      <p:sp>
        <p:nvSpPr>
          <p:cNvPr id="37" name="Text 30"/>
          <p:cNvSpPr txBox="1"/>
          <p:nvPr/>
        </p:nvSpPr>
        <p:spPr>
          <a:xfrm>
            <a:off x="6851904" y="3732276"/>
            <a:ext cx="896112" cy="532181"/>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8" name="Text 31"/>
          <p:cNvSpPr txBox="1"/>
          <p:nvPr/>
        </p:nvSpPr>
        <p:spPr>
          <a:xfrm>
            <a:off x="6851904" y="426445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−$328K</a:t>
            </a:r>
            <a:endParaRPr lang="en-US" sz="1300" dirty="0"/>
          </a:p>
        </p:txBody>
      </p:sp>
      <p:sp>
        <p:nvSpPr>
          <p:cNvPr id="39" name="Shape 32"/>
          <p:cNvSpPr/>
          <p:nvPr/>
        </p:nvSpPr>
        <p:spPr>
          <a:xfrm>
            <a:off x="4349496" y="4767072"/>
            <a:ext cx="3489960" cy="1478280"/>
          </a:xfrm>
          <a:prstGeom prst="rect">
            <a:avLst/>
          </a:prstGeom>
          <a:solidFill>
            <a:srgbClr val="F7F7F7"/>
          </a:solidFill>
          <a:ln/>
        </p:spPr>
      </p:sp>
      <p:sp>
        <p:nvSpPr>
          <p:cNvPr id="40" name="Text 33"/>
          <p:cNvSpPr txBox="1"/>
          <p:nvPr/>
        </p:nvSpPr>
        <p:spPr>
          <a:xfrm>
            <a:off x="4440936" y="476707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31</a:t>
            </a:r>
            <a:endParaRPr lang="en-US" sz="2000" dirty="0"/>
          </a:p>
        </p:txBody>
      </p:sp>
      <p:sp>
        <p:nvSpPr>
          <p:cNvPr id="41" name="Text 34"/>
          <p:cNvSpPr txBox="1"/>
          <p:nvPr/>
        </p:nvSpPr>
        <p:spPr>
          <a:xfrm>
            <a:off x="4788408" y="484098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$1.29M</a:t>
            </a:r>
            <a:endParaRPr lang="en-US" sz="1400" dirty="0"/>
          </a:p>
        </p:txBody>
      </p:sp>
      <p:graphicFrame>
        <p:nvGraphicFramePr>
          <p:cNvPr id="42" name="Chart 5" descr=""/>
          <p:cNvGraphicFramePr/>
          <p:nvPr/>
        </p:nvGraphicFramePr>
        <p:xfrm>
          <a:off x="4788408" y="5654040"/>
          <a:ext cx="1972056" cy="502615"/>
        </p:xfrm>
        <a:graphic xmlns:a="http://schemas.openxmlformats.org/drawingml/2006/main">
          <a:graphicData uri="http://schemas.openxmlformats.org/drawingml/2006/chart">
            <c:chart xmlns:c="http://schemas.openxmlformats.org/drawingml/2006/chart" r:id="rId6"/>
          </a:graphicData>
        </a:graphic>
      </p:graphicFrame>
      <p:sp>
        <p:nvSpPr>
          <p:cNvPr id="43" name="Text 35"/>
          <p:cNvSpPr txBox="1"/>
          <p:nvPr/>
        </p:nvSpPr>
        <p:spPr>
          <a:xfrm>
            <a:off x="6851904" y="5210556"/>
            <a:ext cx="896112" cy="532181"/>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44" name="Text 36"/>
          <p:cNvSpPr txBox="1"/>
          <p:nvPr/>
        </p:nvSpPr>
        <p:spPr>
          <a:xfrm>
            <a:off x="6851904" y="574273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−$214K</a:t>
            </a:r>
            <a:endParaRPr lang="en-US" sz="1300" dirty="0"/>
          </a:p>
        </p:txBody>
      </p:sp>
      <p:sp>
        <p:nvSpPr>
          <p:cNvPr id="45" name="Shape 37"/>
          <p:cNvSpPr/>
          <p:nvPr/>
        </p:nvSpPr>
        <p:spPr>
          <a:xfrm>
            <a:off x="8040624" y="1371600"/>
            <a:ext cx="3489960" cy="45720"/>
          </a:xfrm>
          <a:prstGeom prst="rect">
            <a:avLst/>
          </a:prstGeom>
          <a:solidFill>
            <a:srgbClr val="2587C5"/>
          </a:solidFill>
          <a:ln/>
        </p:spPr>
      </p:sp>
      <p:sp>
        <p:nvSpPr>
          <p:cNvPr id="46" name="Text 3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3 MOVING NOW</a:t>
            </a:r>
            <a:endParaRPr lang="en-US" sz="1500" dirty="0"/>
          </a:p>
        </p:txBody>
      </p:sp>
      <p:sp>
        <p:nvSpPr>
          <p:cNvPr id="47" name="Shape 39"/>
          <p:cNvSpPr/>
          <p:nvPr/>
        </p:nvSpPr>
        <p:spPr>
          <a:xfrm>
            <a:off x="8040624" y="1810512"/>
            <a:ext cx="3489960" cy="1478280"/>
          </a:xfrm>
          <a:prstGeom prst="rect">
            <a:avLst/>
          </a:prstGeom>
          <a:solidFill>
            <a:srgbClr val="F7F7F7"/>
          </a:solidFill>
          <a:ln/>
        </p:spPr>
      </p:sp>
      <p:sp>
        <p:nvSpPr>
          <p:cNvPr id="48" name="Text 40"/>
          <p:cNvSpPr txBox="1"/>
          <p:nvPr/>
        </p:nvSpPr>
        <p:spPr>
          <a:xfrm>
            <a:off x="8132064" y="181051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1</a:t>
            </a:r>
            <a:endParaRPr lang="en-US" sz="2000" dirty="0"/>
          </a:p>
        </p:txBody>
      </p:sp>
      <p:sp>
        <p:nvSpPr>
          <p:cNvPr id="49" name="Text 41"/>
          <p:cNvSpPr txBox="1"/>
          <p:nvPr/>
        </p:nvSpPr>
        <p:spPr>
          <a:xfrm>
            <a:off x="8479536" y="188442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$486K</a:t>
            </a:r>
            <a:endParaRPr lang="en-US" sz="1400" dirty="0"/>
          </a:p>
        </p:txBody>
      </p:sp>
      <p:graphicFrame>
        <p:nvGraphicFramePr>
          <p:cNvPr id="50" name="Chart 6" descr=""/>
          <p:cNvGraphicFramePr/>
          <p:nvPr/>
        </p:nvGraphicFramePr>
        <p:xfrm>
          <a:off x="8479536" y="2697480"/>
          <a:ext cx="1972056" cy="502615"/>
        </p:xfrm>
        <a:graphic xmlns:a="http://schemas.openxmlformats.org/drawingml/2006/main">
          <a:graphicData uri="http://schemas.openxmlformats.org/drawingml/2006/chart">
            <c:chart xmlns:c="http://schemas.openxmlformats.org/drawingml/2006/chart" r:id="rId7"/>
          </a:graphicData>
        </a:graphic>
      </p:graphicFrame>
      <p:graphicFrame>
        <p:nvGraphicFramePr>
          <p:cNvPr id="51" name="Chart 7" descr=""/>
          <p:cNvGraphicFramePr/>
          <p:nvPr/>
        </p:nvGraphicFramePr>
        <p:xfrm>
          <a:off x="8479536" y="2697480"/>
          <a:ext cx="1972056" cy="502615"/>
        </p:xfrm>
        <a:graphic xmlns:a="http://schemas.openxmlformats.org/drawingml/2006/main">
          <a:graphicData uri="http://schemas.openxmlformats.org/drawingml/2006/chart">
            <c:chart xmlns:c="http://schemas.openxmlformats.org/drawingml/2006/chart" r:id="rId8"/>
          </a:graphicData>
        </a:graphic>
      </p:graphicFrame>
      <p:sp>
        <p:nvSpPr>
          <p:cNvPr id="52" name="Text 42"/>
          <p:cNvSpPr txBox="1"/>
          <p:nvPr/>
        </p:nvSpPr>
        <p:spPr>
          <a:xfrm>
            <a:off x="10543032" y="2253996"/>
            <a:ext cx="896112" cy="532181"/>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+43.4%</a:t>
            </a:r>
            <a:endParaRPr lang="en-US" sz="1600" dirty="0"/>
          </a:p>
        </p:txBody>
      </p:sp>
      <p:sp>
        <p:nvSpPr>
          <p:cNvPr id="53" name="Text 43"/>
          <p:cNvSpPr txBox="1"/>
          <p:nvPr/>
        </p:nvSpPr>
        <p:spPr>
          <a:xfrm>
            <a:off x="10543032" y="278617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+$147K</a:t>
            </a:r>
            <a:endParaRPr lang="en-US" sz="1300" dirty="0"/>
          </a:p>
        </p:txBody>
      </p:sp>
      <p:sp>
        <p:nvSpPr>
          <p:cNvPr id="54" name="Text 44"/>
          <p:cNvSpPr txBox="1"/>
          <p:nvPr/>
        </p:nvSpPr>
        <p:spPr>
          <a:xfrm>
            <a:off x="8132064" y="328879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2</a:t>
            </a:r>
            <a:endParaRPr lang="en-US" sz="2000" dirty="0"/>
          </a:p>
        </p:txBody>
      </p:sp>
      <p:sp>
        <p:nvSpPr>
          <p:cNvPr id="55" name="Text 45"/>
          <p:cNvSpPr txBox="1"/>
          <p:nvPr/>
        </p:nvSpPr>
        <p:spPr>
          <a:xfrm>
            <a:off x="8479536" y="336270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$150K</a:t>
            </a:r>
            <a:endParaRPr lang="en-US" sz="1400" dirty="0"/>
          </a:p>
        </p:txBody>
      </p:sp>
      <p:graphicFrame>
        <p:nvGraphicFramePr>
          <p:cNvPr id="56" name="Chart 8" descr=""/>
          <p:cNvGraphicFramePr/>
          <p:nvPr/>
        </p:nvGraphicFramePr>
        <p:xfrm>
          <a:off x="8479536" y="4175760"/>
          <a:ext cx="1972056" cy="502615"/>
        </p:xfrm>
        <a:graphic xmlns:a="http://schemas.openxmlformats.org/drawingml/2006/main">
          <a:graphicData uri="http://schemas.openxmlformats.org/drawingml/2006/chart">
            <c:chart xmlns:c="http://schemas.openxmlformats.org/drawingml/2006/chart" r:id="rId9"/>
          </a:graphicData>
        </a:graphic>
      </p:graphicFrame>
      <p:graphicFrame>
        <p:nvGraphicFramePr>
          <p:cNvPr id="57" name="Chart 9" descr=""/>
          <p:cNvGraphicFramePr/>
          <p:nvPr/>
        </p:nvGraphicFramePr>
        <p:xfrm>
          <a:off x="8479536" y="4175760"/>
          <a:ext cx="1972056" cy="502615"/>
        </p:xfrm>
        <a:graphic xmlns:a="http://schemas.openxmlformats.org/drawingml/2006/main">
          <a:graphicData uri="http://schemas.openxmlformats.org/drawingml/2006/chart">
            <c:chart xmlns:c="http://schemas.openxmlformats.org/drawingml/2006/chart" r:id="rId10"/>
          </a:graphicData>
        </a:graphic>
      </p:graphicFrame>
      <p:sp>
        <p:nvSpPr>
          <p:cNvPr id="58" name="Text 46"/>
          <p:cNvSpPr txBox="1"/>
          <p:nvPr/>
        </p:nvSpPr>
        <p:spPr>
          <a:xfrm>
            <a:off x="10543032" y="3732276"/>
            <a:ext cx="896112" cy="532181"/>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+31.5%</a:t>
            </a:r>
            <a:endParaRPr lang="en-US" sz="1600" dirty="0"/>
          </a:p>
        </p:txBody>
      </p:sp>
      <p:sp>
        <p:nvSpPr>
          <p:cNvPr id="59" name="Text 47"/>
          <p:cNvSpPr txBox="1"/>
          <p:nvPr/>
        </p:nvSpPr>
        <p:spPr>
          <a:xfrm>
            <a:off x="10543032" y="426445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+$36K</a:t>
            </a:r>
            <a:endParaRPr lang="en-US" sz="1300" dirty="0"/>
          </a:p>
        </p:txBody>
      </p:sp>
      <p:sp>
        <p:nvSpPr>
          <p:cNvPr id="60" name="Shape 48"/>
          <p:cNvSpPr/>
          <p:nvPr/>
        </p:nvSpPr>
        <p:spPr>
          <a:xfrm>
            <a:off x="8040624" y="4767072"/>
            <a:ext cx="3489960" cy="1478280"/>
          </a:xfrm>
          <a:prstGeom prst="rect">
            <a:avLst/>
          </a:prstGeom>
          <a:solidFill>
            <a:srgbClr val="F7F7F7"/>
          </a:solidFill>
          <a:ln/>
        </p:spPr>
      </p:sp>
      <p:sp>
        <p:nvSpPr>
          <p:cNvPr id="61" name="Text 49"/>
          <p:cNvSpPr txBox="1"/>
          <p:nvPr/>
        </p:nvSpPr>
        <p:spPr>
          <a:xfrm>
            <a:off x="8132064" y="476707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a:t>
            </a:r>
            <a:endParaRPr lang="en-US" sz="2000" dirty="0"/>
          </a:p>
        </p:txBody>
      </p:sp>
      <p:sp>
        <p:nvSpPr>
          <p:cNvPr id="62" name="Text 50"/>
          <p:cNvSpPr txBox="1"/>
          <p:nvPr/>
        </p:nvSpPr>
        <p:spPr>
          <a:xfrm>
            <a:off x="8479536" y="484098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$68K</a:t>
            </a:r>
            <a:endParaRPr lang="en-US" sz="1400" dirty="0"/>
          </a:p>
        </p:txBody>
      </p:sp>
      <p:graphicFrame>
        <p:nvGraphicFramePr>
          <p:cNvPr id="63" name="Chart 10" descr=""/>
          <p:cNvGraphicFramePr/>
          <p:nvPr/>
        </p:nvGraphicFramePr>
        <p:xfrm>
          <a:off x="8479536" y="5654040"/>
          <a:ext cx="1972056" cy="502615"/>
        </p:xfrm>
        <a:graphic xmlns:a="http://schemas.openxmlformats.org/drawingml/2006/main">
          <a:graphicData uri="http://schemas.openxmlformats.org/drawingml/2006/chart">
            <c:chart xmlns:c="http://schemas.openxmlformats.org/drawingml/2006/chart" r:id="rId11"/>
          </a:graphicData>
        </a:graphic>
      </p:graphicFrame>
      <p:graphicFrame>
        <p:nvGraphicFramePr>
          <p:cNvPr id="64" name="Chart 11" descr=""/>
          <p:cNvGraphicFramePr/>
          <p:nvPr/>
        </p:nvGraphicFramePr>
        <p:xfrm>
          <a:off x="8479536" y="5654040"/>
          <a:ext cx="1972056" cy="502615"/>
        </p:xfrm>
        <a:graphic xmlns:a="http://schemas.openxmlformats.org/drawingml/2006/main">
          <a:graphicData uri="http://schemas.openxmlformats.org/drawingml/2006/chart">
            <c:chart xmlns:c="http://schemas.openxmlformats.org/drawingml/2006/chart" r:id="rId12"/>
          </a:graphicData>
        </a:graphic>
      </p:graphicFrame>
      <p:sp>
        <p:nvSpPr>
          <p:cNvPr id="65" name="Text 51"/>
          <p:cNvSpPr txBox="1"/>
          <p:nvPr/>
        </p:nvSpPr>
        <p:spPr>
          <a:xfrm>
            <a:off x="10543032" y="5210556"/>
            <a:ext cx="896112" cy="532181"/>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66" name="Text 52"/>
          <p:cNvSpPr txBox="1"/>
          <p:nvPr/>
        </p:nvSpPr>
        <p:spPr>
          <a:xfrm>
            <a:off x="10543032" y="5742737"/>
            <a:ext cx="896112" cy="399136"/>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+$16K</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2026-10-29T16:33:47Z</dcterms:created>
  <dcterms:modified xsi:type="dcterms:W3CDTF">2026-10-29T16:33:47Z</dcterms:modified>
</cp:coreProperties>
</file>