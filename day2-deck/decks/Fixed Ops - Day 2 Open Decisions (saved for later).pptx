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652.xml" ContentType="application/vnd.openxmlformats-officedocument.drawingml.chart+xml"/>
  <Override PartName="/ppt/charts/chart653.xml" ContentType="application/vnd.openxmlformats-officedocument.drawingml.chart+xml"/>
  <Override PartName="/ppt/charts/chart654.xml" ContentType="application/vnd.openxmlformats-officedocument.drawingml.chart+xml"/>
  <Override PartName="/ppt/charts/chart655.xml" ContentType="application/vnd.openxmlformats-officedocument.drawingml.chart+xml"/>
  <Override PartName="/ppt/charts/chart656.xml" ContentType="application/vnd.openxmlformats-officedocument.drawingml.chart+xml"/>
  <Override PartName="/ppt/charts/chart657.xml" ContentType="application/vnd.openxmlformats-officedocument.drawingml.chart+xml"/>
  <Override PartName="/ppt/charts/chart658.xml" ContentType="application/vnd.openxmlformats-officedocument.drawingml.chart+xml"/>
  <Override PartName="/ppt/charts/chart659.xml" ContentType="application/vnd.openxmlformats-officedocument.drawingml.chart+xml"/>
  <Override PartName="/ppt/charts/chart660.xml" ContentType="application/vnd.openxmlformats-officedocument.drawingml.chart+xml"/>
  <Override PartName="/ppt/charts/chart661.xml" ContentType="application/vnd.openxmlformats-officedocument.drawingml.chart+xml"/>
  <Override PartName="/ppt/charts/chart662.xml" ContentType="application/vnd.openxmlformats-officedocument.drawingml.chart+xml"/>
  <Override PartName="/ppt/charts/chart663.xml" ContentType="application/vnd.openxmlformats-officedocument.drawingml.chart+xml"/>
  <Override PartName="/ppt/charts/chart664.xml" ContentType="application/vnd.openxmlformats-officedocument.drawingml.chart+xml"/>
  <Override PartName="/ppt/charts/chart665.xml" ContentType="application/vnd.openxmlformats-officedocument.drawingml.chart+xml"/>
  <Override PartName="/ppt/charts/chart666.xml" ContentType="application/vnd.openxmlformats-officedocument.drawingml.chart+xml"/>
  <Override PartName="/ppt/charts/chart667.xml" ContentType="application/vnd.openxmlformats-officedocument.drawingml.chart+xml"/>
  <Override PartName="/ppt/charts/chart668.xml" ContentType="application/vnd.openxmlformats-officedocument.drawingml.chart+xml"/>
  <Override PartName="/ppt/charts/chart669.xml" ContentType="application/vnd.openxmlformats-officedocument.drawingml.chart+xml"/>
  <Override PartName="/ppt/charts/chart670.xml" ContentType="application/vnd.openxmlformats-officedocument.drawingml.chart+xml"/>
  <Override PartName="/ppt/charts/chart671.xml" ContentType="application/vnd.openxmlformats-officedocument.drawingml.chart+xml"/>
  <Override PartName="/ppt/charts/chart672.xml" ContentType="application/vnd.openxmlformats-officedocument.drawingml.chart+xml"/>
  <Override PartName="/ppt/charts/chart673.xml" ContentType="application/vnd.openxmlformats-officedocument.drawingml.chart+xml"/>
  <Override PartName="/ppt/charts/chart674.xml" ContentType="application/vnd.openxmlformats-officedocument.drawingml.chart+xml"/>
  <Override PartName="/ppt/charts/chart675.xml" ContentType="application/vnd.openxmlformats-officedocument.drawingml.chart+xml"/>
  <Override PartName="/ppt/charts/chart676.xml" ContentType="application/vnd.openxmlformats-officedocument.drawingml.chart+xml"/>
  <Override PartName="/ppt/charts/chart677.xml" ContentType="application/vnd.openxmlformats-officedocument.drawingml.chart+xml"/>
  <Override PartName="/ppt/charts/chart678.xml" ContentType="application/vnd.openxmlformats-officedocument.drawingml.chart+xml"/>
  <Override PartName="/ppt/charts/chart679.xml" ContentType="application/vnd.openxmlformats-officedocument.drawingml.chart+xml"/>
  <Override PartName="/ppt/charts/chart680.xml" ContentType="application/vnd.openxmlformats-officedocument.drawingml.chart+xml"/>
  <Override PartName="/ppt/charts/chart681.xml" ContentType="application/vnd.openxmlformats-officedocument.drawingml.chart+xml"/>
  <Override PartName="/ppt/charts/chart682.xml" ContentType="application/vnd.openxmlformats-officedocument.drawingml.chart+xml"/>
  <Override PartName="/ppt/charts/chart683.xml" ContentType="application/vnd.openxmlformats-officedocument.drawingml.chart+xml"/>
  <Override PartName="/ppt/charts/chart684.xml" ContentType="application/vnd.openxmlformats-officedocument.drawingml.chart+xml"/>
  <Override PartName="/ppt/charts/chart685.xml" ContentType="application/vnd.openxmlformats-officedocument.drawingml.chart+xml"/>
  <Override PartName="/ppt/charts/chart686.xml" ContentType="application/vnd.openxmlformats-officedocument.drawingml.chart+xml"/>
  <Override PartName="/ppt/charts/chart687.xml" ContentType="application/vnd.openxmlformats-officedocument.drawingml.chart+xml"/>
  <Override PartName="/ppt/charts/chart688.xml" ContentType="application/vnd.openxmlformats-officedocument.drawingml.chart+xml"/>
  <Override PartName="/ppt/charts/chart689.xml" ContentType="application/vnd.openxmlformats-officedocument.drawingml.chart+xml"/>
  <Override PartName="/ppt/charts/chart690.xml" ContentType="application/vnd.openxmlformats-officedocument.drawingml.chart+xml"/>
  <Override PartName="/ppt/charts/chart691.xml" ContentType="application/vnd.openxmlformats-officedocument.drawingml.chart+xml"/>
  <Override PartName="/ppt/charts/chart692.xml" ContentType="application/vnd.openxmlformats-officedocument.drawingml.chart+xml"/>
  <Override PartName="/ppt/charts/chart693.xml" ContentType="application/vnd.openxmlformats-officedocument.drawingml.chart+xml"/>
  <Override PartName="/ppt/charts/chart694.xml" ContentType="application/vnd.openxmlformats-officedocument.drawingml.chart+xml"/>
  <Override PartName="/ppt/charts/chart695.xml" ContentType="application/vnd.openxmlformats-officedocument.drawingml.chart+xml"/>
  <Override PartName="/ppt/charts/chart696.xml" ContentType="application/vnd.openxmlformats-officedocument.drawingml.chart+xml"/>
  <Override PartName="/ppt/charts/chart697.xml" ContentType="application/vnd.openxmlformats-officedocument.drawingml.chart+xml"/>
  <Override PartName="/ppt/charts/chart698.xml" ContentType="application/vnd.openxmlformats-officedocument.drawingml.chart+xml"/>
  <Override PartName="/ppt/charts/chart699.xml" ContentType="application/vnd.openxmlformats-officedocument.drawingml.chart+xml"/>
  <Override PartName="/ppt/charts/chart700.xml" ContentType="application/vnd.openxmlformats-officedocument.drawingml.chart+xml"/>
  <Override PartName="/ppt/charts/chart701.xml" ContentType="application/vnd.openxmlformats-officedocument.drawingml.chart+xml"/>
  <Override PartName="/ppt/charts/chart702.xml" ContentType="application/vnd.openxmlformats-officedocument.drawingml.chart+xml"/>
  <Override PartName="/ppt/charts/chart703.xml" ContentType="application/vnd.openxmlformats-officedocument.drawingml.chart+xml"/>
  <Override PartName="/ppt/charts/chart704.xml" ContentType="application/vnd.openxmlformats-officedocument.drawingml.chart+xml"/>
  <Override PartName="/ppt/charts/chart705.xml" ContentType="application/vnd.openxmlformats-officedocument.drawingml.chart+xml"/>
  <Override PartName="/ppt/charts/chart706.xml" ContentType="application/vnd.openxmlformats-officedocument.drawingml.chart+xml"/>
  <Override PartName="/ppt/charts/chart707.xml" ContentType="application/vnd.openxmlformats-officedocument.drawingml.chart+xml"/>
  <Override PartName="/ppt/charts/chart708.xml" ContentType="application/vnd.openxmlformats-officedocument.drawingml.chart+xml"/>
  <Override PartName="/ppt/charts/chart709.xml" ContentType="application/vnd.openxmlformats-officedocument.drawingml.chart+xml"/>
  <Override PartName="/ppt/charts/chart710.xml" ContentType="application/vnd.openxmlformats-officedocument.drawingml.chart+xml"/>
  <Override PartName="/ppt/charts/chart711.xml" ContentType="application/vnd.openxmlformats-officedocument.drawingml.chart+xml"/>
  <Override PartName="/ppt/charts/chart712.xml" ContentType="application/vnd.openxmlformats-officedocument.drawingml.chart+xml"/>
  <Override PartName="/ppt/charts/chart713.xml" ContentType="application/vnd.openxmlformats-officedocument.drawingml.chart+xml"/>
  <Override PartName="/ppt/charts/chart714.xml" ContentType="application/vnd.openxmlformats-officedocument.drawingml.chart+xml"/>
  <Override PartName="/ppt/charts/chart715.xml" ContentType="application/vnd.openxmlformats-officedocument.drawingml.chart+xml"/>
  <Override PartName="/ppt/charts/chart716.xml" ContentType="application/vnd.openxmlformats-officedocument.drawingml.chart+xml"/>
  <Override PartName="/ppt/charts/chart717.xml" ContentType="application/vnd.openxmlformats-officedocument.drawingml.chart+xml"/>
  <Override PartName="/ppt/charts/chart718.xml" ContentType="application/vnd.openxmlformats-officedocument.drawingml.chart+xml"/>
  <Override PartName="/ppt/charts/chart719.xml" ContentType="application/vnd.openxmlformats-officedocument.drawingml.chart+xml"/>
  <Override PartName="/ppt/charts/chart720.xml" ContentType="application/vnd.openxmlformats-officedocument.drawingml.chart+xml"/>
  <Override PartName="/ppt/charts/chart721.xml" ContentType="application/vnd.openxmlformats-officedocument.drawingml.chart+xml"/>
  <Override PartName="/ppt/charts/chart722.xml" ContentType="application/vnd.openxmlformats-officedocument.drawingml.chart+xml"/>
  <Override PartName="/ppt/charts/chart723.xml" ContentType="application/vnd.openxmlformats-officedocument.drawingml.chart+xml"/>
  <Override PartName="/ppt/charts/chart724.xml" ContentType="application/vnd.openxmlformats-officedocument.drawingml.chart+xml"/>
  <Override PartName="/ppt/charts/chart725.xml" ContentType="application/vnd.openxmlformats-officedocument.drawingml.chart+xml"/>
  <Override PartName="/ppt/charts/chart726.xml" ContentType="application/vnd.openxmlformats-officedocument.drawingml.chart+xml"/>
  <Override PartName="/ppt/charts/chart727.xml" ContentType="application/vnd.openxmlformats-officedocument.drawingml.chart+xml"/>
  <Override PartName="/ppt/charts/chart728.xml" ContentType="application/vnd.openxmlformats-officedocument.drawingml.chart+xml"/>
  <Override PartName="/ppt/charts/chart729.xml" ContentType="application/vnd.openxmlformats-officedocument.drawingml.chart+xml"/>
  <Override PartName="/ppt/charts/chart730.xml" ContentType="application/vnd.openxmlformats-officedocument.drawingml.chart+xml"/>
  <Override PartName="/ppt/charts/chart731.xml" ContentType="application/vnd.openxmlformats-officedocument.drawingml.chart+xml"/>
  <Override PartName="/ppt/charts/chart732.xml" ContentType="application/vnd.openxmlformats-officedocument.drawingml.chart+xml"/>
  <Override PartName="/ppt/charts/chart733.xml" ContentType="application/vnd.openxmlformats-officedocument.drawingml.chart+xml"/>
  <Override PartName="/ppt/charts/chart734.xml" ContentType="application/vnd.openxmlformats-officedocument.drawingml.chart+xml"/>
  <Override PartName="/ppt/charts/chart735.xml" ContentType="application/vnd.openxmlformats-officedocument.drawingml.chart+xml"/>
  <Override PartName="/ppt/charts/chart736.xml" ContentType="application/vnd.openxmlformats-officedocument.drawingml.chart+xml"/>
  <Override PartName="/ppt/charts/chart737.xml" ContentType="application/vnd.openxmlformats-officedocument.drawingml.chart+xml"/>
  <Override PartName="/ppt/charts/chart738.xml" ContentType="application/vnd.openxmlformats-officedocument.drawingml.chart+xml"/>
  <Override PartName="/ppt/charts/chart739.xml" ContentType="application/vnd.openxmlformats-officedocument.drawingml.chart+xml"/>
  <Override PartName="/ppt/charts/chart740.xml" ContentType="application/vnd.openxmlformats-officedocument.drawingml.chart+xml"/>
  <Override PartName="/ppt/charts/chart741.xml" ContentType="application/vnd.openxmlformats-officedocument.drawingml.chart+xml"/>
  <Override PartName="/ppt/charts/chart742.xml" ContentType="application/vnd.openxmlformats-officedocument.drawingml.chart+xml"/>
  <Override PartName="/ppt/charts/chart743.xml" ContentType="application/vnd.openxmlformats-officedocument.drawingml.chart+xml"/>
  <Override PartName="/ppt/charts/chart744.xml" ContentType="application/vnd.openxmlformats-officedocument.drawingml.chart+xml"/>
  <Override PartName="/ppt/charts/chart745.xml" ContentType="application/vnd.openxmlformats-officedocument.drawingml.chart+xml"/>
  <Override PartName="/ppt/charts/chart746.xml" ContentType="application/vnd.openxmlformats-officedocument.drawingml.chart+xml"/>
  <Override PartName="/ppt/charts/chart747.xml" ContentType="application/vnd.openxmlformats-officedocument.drawingml.chart+xml"/>
  <Override PartName="/ppt/charts/chart748.xml" ContentType="application/vnd.openxmlformats-officedocument.drawingml.chart+xml"/>
  <Override PartName="/ppt/charts/chart749.xml" ContentType="application/vnd.openxmlformats-officedocument.drawingml.chart+xml"/>
  <Override PartName="/ppt/charts/chart750.xml" ContentType="application/vnd.openxmlformats-officedocument.drawingml.chart+xml"/>
  <Override PartName="/ppt/charts/chart751.xml" ContentType="application/vnd.openxmlformats-officedocument.drawingml.chart+xml"/>
  <Override PartName="/ppt/charts/chart752.xml" ContentType="application/vnd.openxmlformats-officedocument.drawingml.chart+xml"/>
  <Override PartName="/ppt/charts/chart753.xml" ContentType="application/vnd.openxmlformats-officedocument.drawingml.chart+xml"/>
  <Override PartName="/ppt/charts/chart754.xml" ContentType="application/vnd.openxmlformats-officedocument.drawingml.chart+xml"/>
  <Override PartName="/ppt/charts/chart755.xml" ContentType="application/vnd.openxmlformats-officedocument.drawingml.chart+xml"/>
  <Override PartName="/ppt/charts/chart756.xml" ContentType="application/vnd.openxmlformats-officedocument.drawingml.chart+xml"/>
  <Override PartName="/ppt/charts/chart757.xml" ContentType="application/vnd.openxmlformats-officedocument.drawingml.chart+xml"/>
  <Override PartName="/ppt/charts/chart758.xml" ContentType="application/vnd.openxmlformats-officedocument.drawingml.chart+xml"/>
  <Override PartName="/ppt/charts/chart759.xml" ContentType="application/vnd.openxmlformats-officedocument.drawingml.chart+xml"/>
  <Override PartName="/ppt/charts/chart760.xml" ContentType="application/vnd.openxmlformats-officedocument.drawingml.chart+xml"/>
  <Override PartName="/ppt/charts/chart761.xml" ContentType="application/vnd.openxmlformats-officedocument.drawingml.chart+xml"/>
  <Override PartName="/ppt/charts/chart762.xml" ContentType="application/vnd.openxmlformats-officedocument.drawingml.chart+xml"/>
  <Override PartName="/ppt/charts/chart763.xml" ContentType="application/vnd.openxmlformats-officedocument.drawingml.chart+xml"/>
  <Override PartName="/ppt/charts/chart764.xml" ContentType="application/vnd.openxmlformats-officedocument.drawingml.chart+xml"/>
  <Override PartName="/ppt/charts/chart765.xml" ContentType="application/vnd.openxmlformats-officedocument.drawingml.chart+xml"/>
  <Override PartName="/ppt/charts/chart766.xml" ContentType="application/vnd.openxmlformats-officedocument.drawingml.chart+xml"/>
  <Override PartName="/ppt/charts/chart767.xml" ContentType="application/vnd.openxmlformats-officedocument.drawingml.chart+xml"/>
  <Override PartName="/ppt/charts/chart768.xml" ContentType="application/vnd.openxmlformats-officedocument.drawingml.chart+xml"/>
  <Override PartName="/ppt/charts/chart769.xml" ContentType="application/vnd.openxmlformats-officedocument.drawingml.chart+xml"/>
  <Override PartName="/ppt/charts/chart770.xml" ContentType="application/vnd.openxmlformats-officedocument.drawingml.chart+xml"/>
  <Override PartName="/ppt/charts/chart771.xml" ContentType="application/vnd.openxmlformats-officedocument.drawingml.chart+xml"/>
  <Override PartName="/ppt/charts/chart772.xml" ContentType="application/vnd.openxmlformats-officedocument.drawingml.chart+xml"/>
  <Override PartName="/ppt/charts/chart773.xml" ContentType="application/vnd.openxmlformats-officedocument.drawingml.chart+xml"/>
  <Override PartName="/ppt/charts/chart774.xml" ContentType="application/vnd.openxmlformats-officedocument.drawingml.chart+xml"/>
  <Override PartName="/ppt/charts/chart775.xml" ContentType="application/vnd.openxmlformats-officedocument.drawingml.chart+xml"/>
  <Override PartName="/ppt/charts/chart776.xml" ContentType="application/vnd.openxmlformats-officedocument.drawingml.chart+xml"/>
  <Override PartName="/ppt/charts/chart777.xml" ContentType="application/vnd.openxmlformats-officedocument.drawingml.chart+xml"/>
  <Override PartName="/ppt/charts/chart778.xml" ContentType="application/vnd.openxmlformats-officedocument.drawingml.chart+xml"/>
  <Override PartName="/ppt/charts/chart779.xml" ContentType="application/vnd.openxmlformats-officedocument.drawingml.chart+xml"/>
  <Override PartName="/ppt/charts/chart780.xml" ContentType="application/vnd.openxmlformats-officedocument.drawingml.chart+xml"/>
  <Override PartName="/ppt/charts/chart781.xml" ContentType="application/vnd.openxmlformats-officedocument.drawingml.chart+xml"/>
  <Override PartName="/ppt/charts/chart782.xml" ContentType="application/vnd.openxmlformats-officedocument.drawingml.chart+xml"/>
  <Override PartName="/ppt/charts/chart783.xml" ContentType="application/vnd.openxmlformats-officedocument.drawingml.chart+xml"/>
  <Override PartName="/ppt/charts/chart784.xml" ContentType="application/vnd.openxmlformats-officedocument.drawingml.chart+xml"/>
  <Override PartName="/ppt/charts/chart785.xml" ContentType="application/vnd.openxmlformats-officedocument.drawingml.chart+xml"/>
  <Override PartName="/ppt/charts/chart786.xml" ContentType="application/vnd.openxmlformats-officedocument.drawingml.chart+xml"/>
  <Override PartName="/ppt/charts/chart787.xml" ContentType="application/vnd.openxmlformats-officedocument.drawingml.chart+xml"/>
  <Override PartName="/ppt/charts/chart788.xml" ContentType="application/vnd.openxmlformats-officedocument.drawingml.chart+xml"/>
  <Override PartName="/ppt/charts/chart789.xml" ContentType="application/vnd.openxmlformats-officedocument.drawingml.chart+xml"/>
  <Override PartName="/ppt/charts/chart790.xml" ContentType="application/vnd.openxmlformats-officedocument.drawingml.chart+xml"/>
  <Override PartName="/ppt/charts/chart791.xml" ContentType="application/vnd.openxmlformats-officedocument.drawingml.chart+xml"/>
  <Override PartName="/ppt/charts/chart792.xml" ContentType="application/vnd.openxmlformats-officedocument.drawingml.chart+xml"/>
  <Override PartName="/ppt/charts/chart793.xml" ContentType="application/vnd.openxmlformats-officedocument.drawingml.chart+xml"/>
  <Override PartName="/ppt/charts/chart794.xml" ContentType="application/vnd.openxmlformats-officedocument.drawingml.chart+xml"/>
  <Override PartName="/ppt/charts/chart795.xml" ContentType="application/vnd.openxmlformats-officedocument.drawingml.chart+xml"/>
  <Override PartName="/ppt/charts/chart796.xml" ContentType="application/vnd.openxmlformats-officedocument.drawingml.chart+xml"/>
  <Override PartName="/ppt/charts/chart797.xml" ContentType="application/vnd.openxmlformats-officedocument.drawingml.chart+xml"/>
  <Override PartName="/ppt/charts/chart798.xml" ContentType="application/vnd.openxmlformats-officedocument.drawingml.chart+xml"/>
  <Override PartName="/ppt/charts/chart799.xml" ContentType="application/vnd.openxmlformats-officedocument.drawingml.chart+xml"/>
  <Override PartName="/ppt/charts/chart800.xml" ContentType="application/vnd.openxmlformats-officedocument.drawingml.chart+xml"/>
  <Override PartName="/ppt/charts/chart801.xml" ContentType="application/vnd.openxmlformats-officedocument.drawingml.chart+xml"/>
  <Override PartName="/ppt/charts/chart802.xml" ContentType="application/vnd.openxmlformats-officedocument.drawingml.chart+xml"/>
  <Override PartName="/ppt/charts/chart803.xml" ContentType="application/vnd.openxmlformats-officedocument.drawingml.chart+xml"/>
  <Override PartName="/ppt/charts/chart804.xml" ContentType="application/vnd.openxmlformats-officedocument.drawingml.chart+xml"/>
  <Override PartName="/ppt/charts/chart805.xml" ContentType="application/vnd.openxmlformats-officedocument.drawingml.chart+xml"/>
  <Override PartName="/ppt/charts/chart806.xml" ContentType="application/vnd.openxmlformats-officedocument.drawingml.chart+xml"/>
  <Override PartName="/ppt/charts/chart807.xml" ContentType="application/vnd.openxmlformats-officedocument.drawingml.chart+xml"/>
  <Override PartName="/ppt/charts/chart808.xml" ContentType="application/vnd.openxmlformats-officedocument.drawingml.chart+xml"/>
  <Override PartName="/ppt/charts/chart809.xml" ContentType="application/vnd.openxmlformats-officedocument.drawingml.chart+xml"/>
  <Override PartName="/ppt/charts/chart810.xml" ContentType="application/vnd.openxmlformats-officedocument.drawingml.chart+xml"/>
  <Override PartName="/ppt/charts/chart811.xml" ContentType="application/vnd.openxmlformats-officedocument.drawingml.chart+xml"/>
  <Override PartName="/ppt/charts/chart812.xml" ContentType="application/vnd.openxmlformats-officedocument.drawingml.chart+xml"/>
  <Override PartName="/ppt/charts/chart813.xml" ContentType="application/vnd.openxmlformats-officedocument.drawingml.chart+xml"/>
  <Override PartName="/ppt/charts/chart814.xml" ContentType="application/vnd.openxmlformats-officedocument.drawingml.chart+xml"/>
  <Override PartName="/ppt/charts/chart815.xml" ContentType="application/vnd.openxmlformats-officedocument.drawingml.chart+xml"/>
  <Override PartName="/ppt/charts/chart816.xml" ContentType="application/vnd.openxmlformats-officedocument.drawingml.chart+xml"/>
  <Override PartName="/ppt/charts/chart817.xml" ContentType="application/vnd.openxmlformats-officedocument.drawingml.chart+xml"/>
  <Override PartName="/ppt/charts/chart818.xml" ContentType="application/vnd.openxmlformats-officedocument.drawingml.chart+xml"/>
  <Override PartName="/ppt/charts/chart819.xml" ContentType="application/vnd.openxmlformats-officedocument.drawingml.chart+xml"/>
  <Override PartName="/ppt/charts/chart820.xml" ContentType="application/vnd.openxmlformats-officedocument.drawingml.chart+xml"/>
  <Override PartName="/ppt/charts/chart821.xml" ContentType="application/vnd.openxmlformats-officedocument.drawingml.chart+xml"/>
  <Override PartName="/ppt/charts/chart822.xml" ContentType="application/vnd.openxmlformats-officedocument.drawingml.chart+xml"/>
  <Override PartName="/ppt/charts/chart823.xml" ContentType="application/vnd.openxmlformats-officedocument.drawingml.chart+xml"/>
  <Override PartName="/ppt/charts/chart824.xml" ContentType="application/vnd.openxmlformats-officedocument.drawingml.chart+xml"/>
  <Override PartName="/ppt/charts/chart825.xml" ContentType="application/vnd.openxmlformats-officedocument.drawingml.chart+xml"/>
  <Override PartName="/ppt/charts/chart826.xml" ContentType="application/vnd.openxmlformats-officedocument.drawingml.chart+xml"/>
  <Override PartName="/ppt/charts/chart827.xml" ContentType="application/vnd.openxmlformats-officedocument.drawingml.chart+xml"/>
  <Override PartName="/ppt/charts/chart828.xml" ContentType="application/vnd.openxmlformats-officedocument.drawingml.chart+xml"/>
  <Override PartName="/ppt/charts/chart829.xml" ContentType="application/vnd.openxmlformats-officedocument.drawingml.chart+xml"/>
  <Override PartName="/ppt/charts/chart830.xml" ContentType="application/vnd.openxmlformats-officedocument.drawingml.chart+xml"/>
  <Override PartName="/ppt/charts/chart831.xml" ContentType="application/vnd.openxmlformats-officedocument.drawingml.chart+xml"/>
  <Override PartName="/ppt/charts/chart832.xml" ContentType="application/vnd.openxmlformats-officedocument.drawingml.chart+xml"/>
  <Override PartName="/ppt/charts/chart833.xml" ContentType="application/vnd.openxmlformats-officedocument.drawingml.chart+xml"/>
  <Override PartName="/ppt/charts/chart834.xml" ContentType="application/vnd.openxmlformats-officedocument.drawingml.chart+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slide" Target="slides/slide206.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s>
</file>

<file path=ppt/charts/_rels/chart652.xml.rels><?xml version='1.0' encoding='UTF-8' standalone='yes'?>
<Relationships xmlns="http://schemas.openxmlformats.org/package/2006/relationships"><Relationship Id="rId1" Type="http://schemas.openxmlformats.org/officeDocument/2006/relationships/package" Target="../embeddings/Microsoft_Excel_Worksheet652.xlsx"/></Relationships>
</file>

<file path=ppt/charts/_rels/chart653.xml.rels><?xml version='1.0' encoding='UTF-8' standalone='yes'?>
<Relationships xmlns="http://schemas.openxmlformats.org/package/2006/relationships"><Relationship Id="rId1" Type="http://schemas.openxmlformats.org/officeDocument/2006/relationships/package" Target="../embeddings/Microsoft_Excel_Worksheet653.xlsx"/></Relationships>
</file>

<file path=ppt/charts/_rels/chart654.xml.rels><?xml version='1.0' encoding='UTF-8' standalone='yes'?>
<Relationships xmlns="http://schemas.openxmlformats.org/package/2006/relationships"><Relationship Id="rId1" Type="http://schemas.openxmlformats.org/officeDocument/2006/relationships/package" Target="../embeddings/Microsoft_Excel_Worksheet654.xlsx"/></Relationships>
</file>

<file path=ppt/charts/_rels/chart655.xml.rels><?xml version='1.0' encoding='UTF-8' standalone='yes'?>
<Relationships xmlns="http://schemas.openxmlformats.org/package/2006/relationships"><Relationship Id="rId1" Type="http://schemas.openxmlformats.org/officeDocument/2006/relationships/package" Target="../embeddings/Microsoft_Excel_Worksheet655.xlsx"/></Relationships>
</file>

<file path=ppt/charts/_rels/chart656.xml.rels><?xml version='1.0' encoding='UTF-8' standalone='yes'?>
<Relationships xmlns="http://schemas.openxmlformats.org/package/2006/relationships"><Relationship Id="rId1" Type="http://schemas.openxmlformats.org/officeDocument/2006/relationships/package" Target="../embeddings/Microsoft_Excel_Worksheet656.xlsx"/></Relationships>
</file>

<file path=ppt/charts/_rels/chart657.xml.rels><?xml version='1.0' encoding='UTF-8' standalone='yes'?>
<Relationships xmlns="http://schemas.openxmlformats.org/package/2006/relationships"><Relationship Id="rId1" Type="http://schemas.openxmlformats.org/officeDocument/2006/relationships/package" Target="../embeddings/Microsoft_Excel_Worksheet657.xlsx"/></Relationships>
</file>

<file path=ppt/charts/_rels/chart658.xml.rels><?xml version='1.0' encoding='UTF-8' standalone='yes'?>
<Relationships xmlns="http://schemas.openxmlformats.org/package/2006/relationships"><Relationship Id="rId1" Type="http://schemas.openxmlformats.org/officeDocument/2006/relationships/package" Target="../embeddings/Microsoft_Excel_Worksheet658.xlsx"/></Relationships>
</file>

<file path=ppt/charts/_rels/chart659.xml.rels><?xml version='1.0' encoding='UTF-8' standalone='yes'?>
<Relationships xmlns="http://schemas.openxmlformats.org/package/2006/relationships"><Relationship Id="rId1" Type="http://schemas.openxmlformats.org/officeDocument/2006/relationships/package" Target="../embeddings/Microsoft_Excel_Worksheet659.xlsx"/></Relationships>
</file>

<file path=ppt/charts/_rels/chart660.xml.rels><?xml version='1.0' encoding='UTF-8' standalone='yes'?>
<Relationships xmlns="http://schemas.openxmlformats.org/package/2006/relationships"><Relationship Id="rId1" Type="http://schemas.openxmlformats.org/officeDocument/2006/relationships/package" Target="../embeddings/Microsoft_Excel_Worksheet660.xlsx"/></Relationships>
</file>

<file path=ppt/charts/_rels/chart661.xml.rels><?xml version='1.0' encoding='UTF-8' standalone='yes'?>
<Relationships xmlns="http://schemas.openxmlformats.org/package/2006/relationships"><Relationship Id="rId1" Type="http://schemas.openxmlformats.org/officeDocument/2006/relationships/package" Target="../embeddings/Microsoft_Excel_Worksheet661.xlsx"/></Relationships>
</file>

<file path=ppt/charts/_rels/chart662.xml.rels><?xml version='1.0' encoding='UTF-8' standalone='yes'?>
<Relationships xmlns="http://schemas.openxmlformats.org/package/2006/relationships"><Relationship Id="rId1" Type="http://schemas.openxmlformats.org/officeDocument/2006/relationships/package" Target="../embeddings/Microsoft_Excel_Worksheet662.xlsx"/></Relationships>
</file>

<file path=ppt/charts/_rels/chart663.xml.rels><?xml version='1.0' encoding='UTF-8' standalone='yes'?>
<Relationships xmlns="http://schemas.openxmlformats.org/package/2006/relationships"><Relationship Id="rId1" Type="http://schemas.openxmlformats.org/officeDocument/2006/relationships/package" Target="../embeddings/Microsoft_Excel_Worksheet663.xlsx"/></Relationships>
</file>

<file path=ppt/charts/_rels/chart664.xml.rels><?xml version='1.0' encoding='UTF-8' standalone='yes'?>
<Relationships xmlns="http://schemas.openxmlformats.org/package/2006/relationships"><Relationship Id="rId1" Type="http://schemas.openxmlformats.org/officeDocument/2006/relationships/package" Target="../embeddings/Microsoft_Excel_Worksheet664.xlsx"/></Relationships>
</file>

<file path=ppt/charts/_rels/chart665.xml.rels><?xml version='1.0' encoding='UTF-8' standalone='yes'?>
<Relationships xmlns="http://schemas.openxmlformats.org/package/2006/relationships"><Relationship Id="rId1" Type="http://schemas.openxmlformats.org/officeDocument/2006/relationships/package" Target="../embeddings/Microsoft_Excel_Worksheet665.xlsx"/></Relationships>
</file>

<file path=ppt/charts/_rels/chart666.xml.rels><?xml version='1.0' encoding='UTF-8' standalone='yes'?>
<Relationships xmlns="http://schemas.openxmlformats.org/package/2006/relationships"><Relationship Id="rId1" Type="http://schemas.openxmlformats.org/officeDocument/2006/relationships/package" Target="../embeddings/Microsoft_Excel_Worksheet666.xlsx"/></Relationships>
</file>

<file path=ppt/charts/_rels/chart667.xml.rels><?xml version='1.0' encoding='UTF-8' standalone='yes'?>
<Relationships xmlns="http://schemas.openxmlformats.org/package/2006/relationships"><Relationship Id="rId1" Type="http://schemas.openxmlformats.org/officeDocument/2006/relationships/package" Target="../embeddings/Microsoft_Excel_Worksheet667.xlsx"/></Relationships>
</file>

<file path=ppt/charts/_rels/chart668.xml.rels><?xml version='1.0' encoding='UTF-8' standalone='yes'?>
<Relationships xmlns="http://schemas.openxmlformats.org/package/2006/relationships"><Relationship Id="rId1" Type="http://schemas.openxmlformats.org/officeDocument/2006/relationships/package" Target="../embeddings/Microsoft_Excel_Worksheet668.xlsx"/></Relationships>
</file>

<file path=ppt/charts/_rels/chart669.xml.rels><?xml version='1.0' encoding='UTF-8' standalone='yes'?>
<Relationships xmlns="http://schemas.openxmlformats.org/package/2006/relationships"><Relationship Id="rId1" Type="http://schemas.openxmlformats.org/officeDocument/2006/relationships/package" Target="../embeddings/Microsoft_Excel_Worksheet669.xlsx"/></Relationships>
</file>

<file path=ppt/charts/_rels/chart670.xml.rels><?xml version='1.0' encoding='UTF-8' standalone='yes'?>
<Relationships xmlns="http://schemas.openxmlformats.org/package/2006/relationships"><Relationship Id="rId1" Type="http://schemas.openxmlformats.org/officeDocument/2006/relationships/package" Target="../embeddings/Microsoft_Excel_Worksheet670.xlsx"/></Relationships>
</file>

<file path=ppt/charts/_rels/chart671.xml.rels><?xml version='1.0' encoding='UTF-8' standalone='yes'?>
<Relationships xmlns="http://schemas.openxmlformats.org/package/2006/relationships"><Relationship Id="rId1" Type="http://schemas.openxmlformats.org/officeDocument/2006/relationships/package" Target="../embeddings/Microsoft_Excel_Worksheet671.xlsx"/></Relationships>
</file>

<file path=ppt/charts/_rels/chart672.xml.rels><?xml version='1.0' encoding='UTF-8' standalone='yes'?>
<Relationships xmlns="http://schemas.openxmlformats.org/package/2006/relationships"><Relationship Id="rId1" Type="http://schemas.openxmlformats.org/officeDocument/2006/relationships/package" Target="../embeddings/Microsoft_Excel_Worksheet672.xlsx"/></Relationships>
</file>

<file path=ppt/charts/_rels/chart673.xml.rels><?xml version='1.0' encoding='UTF-8' standalone='yes'?>
<Relationships xmlns="http://schemas.openxmlformats.org/package/2006/relationships"><Relationship Id="rId1" Type="http://schemas.openxmlformats.org/officeDocument/2006/relationships/package" Target="../embeddings/Microsoft_Excel_Worksheet673.xlsx"/></Relationships>
</file>

<file path=ppt/charts/_rels/chart674.xml.rels><?xml version='1.0' encoding='UTF-8' standalone='yes'?>
<Relationships xmlns="http://schemas.openxmlformats.org/package/2006/relationships"><Relationship Id="rId1" Type="http://schemas.openxmlformats.org/officeDocument/2006/relationships/package" Target="../embeddings/Microsoft_Excel_Worksheet674.xlsx"/></Relationships>
</file>

<file path=ppt/charts/_rels/chart675.xml.rels><?xml version='1.0' encoding='UTF-8' standalone='yes'?>
<Relationships xmlns="http://schemas.openxmlformats.org/package/2006/relationships"><Relationship Id="rId1" Type="http://schemas.openxmlformats.org/officeDocument/2006/relationships/package" Target="../embeddings/Microsoft_Excel_Worksheet675.xlsx"/></Relationships>
</file>

<file path=ppt/charts/_rels/chart676.xml.rels><?xml version='1.0' encoding='UTF-8' standalone='yes'?>
<Relationships xmlns="http://schemas.openxmlformats.org/package/2006/relationships"><Relationship Id="rId1" Type="http://schemas.openxmlformats.org/officeDocument/2006/relationships/package" Target="../embeddings/Microsoft_Excel_Worksheet676.xlsx"/></Relationships>
</file>

<file path=ppt/charts/_rels/chart677.xml.rels><?xml version='1.0' encoding='UTF-8' standalone='yes'?>
<Relationships xmlns="http://schemas.openxmlformats.org/package/2006/relationships"><Relationship Id="rId1" Type="http://schemas.openxmlformats.org/officeDocument/2006/relationships/package" Target="../embeddings/Microsoft_Excel_Worksheet677.xlsx"/></Relationships>
</file>

<file path=ppt/charts/_rels/chart678.xml.rels><?xml version='1.0' encoding='UTF-8' standalone='yes'?>
<Relationships xmlns="http://schemas.openxmlformats.org/package/2006/relationships"><Relationship Id="rId1" Type="http://schemas.openxmlformats.org/officeDocument/2006/relationships/package" Target="../embeddings/Microsoft_Excel_Worksheet678.xlsx"/></Relationships>
</file>

<file path=ppt/charts/_rels/chart679.xml.rels><?xml version='1.0' encoding='UTF-8' standalone='yes'?>
<Relationships xmlns="http://schemas.openxmlformats.org/package/2006/relationships"><Relationship Id="rId1" Type="http://schemas.openxmlformats.org/officeDocument/2006/relationships/package" Target="../embeddings/Microsoft_Excel_Worksheet679.xlsx"/></Relationships>
</file>

<file path=ppt/charts/_rels/chart680.xml.rels><?xml version='1.0' encoding='UTF-8' standalone='yes'?>
<Relationships xmlns="http://schemas.openxmlformats.org/package/2006/relationships"><Relationship Id="rId1" Type="http://schemas.openxmlformats.org/officeDocument/2006/relationships/package" Target="../embeddings/Microsoft_Excel_Worksheet680.xlsx"/></Relationships>
</file>

<file path=ppt/charts/_rels/chart681.xml.rels><?xml version='1.0' encoding='UTF-8' standalone='yes'?>
<Relationships xmlns="http://schemas.openxmlformats.org/package/2006/relationships"><Relationship Id="rId1" Type="http://schemas.openxmlformats.org/officeDocument/2006/relationships/package" Target="../embeddings/Microsoft_Excel_Worksheet681.xlsx"/></Relationships>
</file>

<file path=ppt/charts/_rels/chart682.xml.rels><?xml version='1.0' encoding='UTF-8' standalone='yes'?>
<Relationships xmlns="http://schemas.openxmlformats.org/package/2006/relationships"><Relationship Id="rId1" Type="http://schemas.openxmlformats.org/officeDocument/2006/relationships/package" Target="../embeddings/Microsoft_Excel_Worksheet682.xlsx"/></Relationships>
</file>

<file path=ppt/charts/_rels/chart683.xml.rels><?xml version='1.0' encoding='UTF-8' standalone='yes'?>
<Relationships xmlns="http://schemas.openxmlformats.org/package/2006/relationships"><Relationship Id="rId1" Type="http://schemas.openxmlformats.org/officeDocument/2006/relationships/package" Target="../embeddings/Microsoft_Excel_Worksheet683.xlsx"/></Relationships>
</file>

<file path=ppt/charts/_rels/chart684.xml.rels><?xml version='1.0' encoding='UTF-8' standalone='yes'?>
<Relationships xmlns="http://schemas.openxmlformats.org/package/2006/relationships"><Relationship Id="rId1" Type="http://schemas.openxmlformats.org/officeDocument/2006/relationships/package" Target="../embeddings/Microsoft_Excel_Worksheet684.xlsx"/></Relationships>
</file>

<file path=ppt/charts/_rels/chart685.xml.rels><?xml version='1.0' encoding='UTF-8' standalone='yes'?>
<Relationships xmlns="http://schemas.openxmlformats.org/package/2006/relationships"><Relationship Id="rId1" Type="http://schemas.openxmlformats.org/officeDocument/2006/relationships/package" Target="../embeddings/Microsoft_Excel_Worksheet685.xlsx"/></Relationships>
</file>

<file path=ppt/charts/_rels/chart686.xml.rels><?xml version='1.0' encoding='UTF-8' standalone='yes'?>
<Relationships xmlns="http://schemas.openxmlformats.org/package/2006/relationships"><Relationship Id="rId1" Type="http://schemas.openxmlformats.org/officeDocument/2006/relationships/package" Target="../embeddings/Microsoft_Excel_Worksheet686.xlsx"/></Relationships>
</file>

<file path=ppt/charts/_rels/chart687.xml.rels><?xml version='1.0' encoding='UTF-8' standalone='yes'?>
<Relationships xmlns="http://schemas.openxmlformats.org/package/2006/relationships"><Relationship Id="rId1" Type="http://schemas.openxmlformats.org/officeDocument/2006/relationships/package" Target="../embeddings/Microsoft_Excel_Worksheet687.xlsx"/></Relationships>
</file>

<file path=ppt/charts/_rels/chart688.xml.rels><?xml version='1.0' encoding='UTF-8' standalone='yes'?>
<Relationships xmlns="http://schemas.openxmlformats.org/package/2006/relationships"><Relationship Id="rId1" Type="http://schemas.openxmlformats.org/officeDocument/2006/relationships/package" Target="../embeddings/Microsoft_Excel_Worksheet688.xlsx"/></Relationships>
</file>

<file path=ppt/charts/_rels/chart689.xml.rels><?xml version='1.0' encoding='UTF-8' standalone='yes'?>
<Relationships xmlns="http://schemas.openxmlformats.org/package/2006/relationships"><Relationship Id="rId1" Type="http://schemas.openxmlformats.org/officeDocument/2006/relationships/package" Target="../embeddings/Microsoft_Excel_Worksheet689.xlsx"/></Relationships>
</file>

<file path=ppt/charts/_rels/chart690.xml.rels><?xml version='1.0' encoding='UTF-8' standalone='yes'?>
<Relationships xmlns="http://schemas.openxmlformats.org/package/2006/relationships"><Relationship Id="rId1" Type="http://schemas.openxmlformats.org/officeDocument/2006/relationships/package" Target="../embeddings/Microsoft_Excel_Worksheet690.xlsx"/></Relationships>
</file>

<file path=ppt/charts/_rels/chart691.xml.rels><?xml version='1.0' encoding='UTF-8' standalone='yes'?>
<Relationships xmlns="http://schemas.openxmlformats.org/package/2006/relationships"><Relationship Id="rId1" Type="http://schemas.openxmlformats.org/officeDocument/2006/relationships/package" Target="../embeddings/Microsoft_Excel_Worksheet691.xlsx"/></Relationships>
</file>

<file path=ppt/charts/_rels/chart692.xml.rels><?xml version='1.0' encoding='UTF-8' standalone='yes'?>
<Relationships xmlns="http://schemas.openxmlformats.org/package/2006/relationships"><Relationship Id="rId1" Type="http://schemas.openxmlformats.org/officeDocument/2006/relationships/package" Target="../embeddings/Microsoft_Excel_Worksheet692.xlsx"/></Relationships>
</file>

<file path=ppt/charts/_rels/chart693.xml.rels><?xml version='1.0' encoding='UTF-8' standalone='yes'?>
<Relationships xmlns="http://schemas.openxmlformats.org/package/2006/relationships"><Relationship Id="rId1" Type="http://schemas.openxmlformats.org/officeDocument/2006/relationships/package" Target="../embeddings/Microsoft_Excel_Worksheet693.xlsx"/></Relationships>
</file>

<file path=ppt/charts/_rels/chart694.xml.rels><?xml version='1.0' encoding='UTF-8' standalone='yes'?>
<Relationships xmlns="http://schemas.openxmlformats.org/package/2006/relationships"><Relationship Id="rId1" Type="http://schemas.openxmlformats.org/officeDocument/2006/relationships/package" Target="../embeddings/Microsoft_Excel_Worksheet694.xlsx"/></Relationships>
</file>

<file path=ppt/charts/_rels/chart695.xml.rels><?xml version='1.0' encoding='UTF-8' standalone='yes'?>
<Relationships xmlns="http://schemas.openxmlformats.org/package/2006/relationships"><Relationship Id="rId1" Type="http://schemas.openxmlformats.org/officeDocument/2006/relationships/package" Target="../embeddings/Microsoft_Excel_Worksheet695.xlsx"/></Relationships>
</file>

<file path=ppt/charts/_rels/chart696.xml.rels><?xml version='1.0' encoding='UTF-8' standalone='yes'?>
<Relationships xmlns="http://schemas.openxmlformats.org/package/2006/relationships"><Relationship Id="rId1" Type="http://schemas.openxmlformats.org/officeDocument/2006/relationships/package" Target="../embeddings/Microsoft_Excel_Worksheet696.xlsx"/></Relationships>
</file>

<file path=ppt/charts/_rels/chart697.xml.rels><?xml version='1.0' encoding='UTF-8' standalone='yes'?>
<Relationships xmlns="http://schemas.openxmlformats.org/package/2006/relationships"><Relationship Id="rId1" Type="http://schemas.openxmlformats.org/officeDocument/2006/relationships/package" Target="../embeddings/Microsoft_Excel_Worksheet697.xlsx"/></Relationships>
</file>

<file path=ppt/charts/_rels/chart698.xml.rels><?xml version='1.0' encoding='UTF-8' standalone='yes'?>
<Relationships xmlns="http://schemas.openxmlformats.org/package/2006/relationships"><Relationship Id="rId1" Type="http://schemas.openxmlformats.org/officeDocument/2006/relationships/package" Target="../embeddings/Microsoft_Excel_Worksheet698.xlsx"/></Relationships>
</file>

<file path=ppt/charts/_rels/chart699.xml.rels><?xml version='1.0' encoding='UTF-8' standalone='yes'?>
<Relationships xmlns="http://schemas.openxmlformats.org/package/2006/relationships"><Relationship Id="rId1" Type="http://schemas.openxmlformats.org/officeDocument/2006/relationships/package" Target="../embeddings/Microsoft_Excel_Worksheet699.xlsx"/></Relationships>
</file>

<file path=ppt/charts/_rels/chart700.xml.rels><?xml version='1.0' encoding='UTF-8' standalone='yes'?>
<Relationships xmlns="http://schemas.openxmlformats.org/package/2006/relationships"><Relationship Id="rId1" Type="http://schemas.openxmlformats.org/officeDocument/2006/relationships/package" Target="../embeddings/Microsoft_Excel_Worksheet700.xlsx"/></Relationships>
</file>

<file path=ppt/charts/_rels/chart701.xml.rels><?xml version='1.0' encoding='UTF-8' standalone='yes'?>
<Relationships xmlns="http://schemas.openxmlformats.org/package/2006/relationships"><Relationship Id="rId1" Type="http://schemas.openxmlformats.org/officeDocument/2006/relationships/package" Target="../embeddings/Microsoft_Excel_Worksheet701.xlsx"/></Relationships>
</file>

<file path=ppt/charts/_rels/chart702.xml.rels><?xml version='1.0' encoding='UTF-8' standalone='yes'?>
<Relationships xmlns="http://schemas.openxmlformats.org/package/2006/relationships"><Relationship Id="rId1" Type="http://schemas.openxmlformats.org/officeDocument/2006/relationships/package" Target="../embeddings/Microsoft_Excel_Worksheet702.xlsx"/></Relationships>
</file>

<file path=ppt/charts/_rels/chart703.xml.rels><?xml version='1.0' encoding='UTF-8' standalone='yes'?>
<Relationships xmlns="http://schemas.openxmlformats.org/package/2006/relationships"><Relationship Id="rId1" Type="http://schemas.openxmlformats.org/officeDocument/2006/relationships/package" Target="../embeddings/Microsoft_Excel_Worksheet703.xlsx"/></Relationships>
</file>

<file path=ppt/charts/_rels/chart704.xml.rels><?xml version='1.0' encoding='UTF-8' standalone='yes'?>
<Relationships xmlns="http://schemas.openxmlformats.org/package/2006/relationships"><Relationship Id="rId1" Type="http://schemas.openxmlformats.org/officeDocument/2006/relationships/package" Target="../embeddings/Microsoft_Excel_Worksheet704.xlsx"/></Relationships>
</file>

<file path=ppt/charts/_rels/chart705.xml.rels><?xml version='1.0' encoding='UTF-8' standalone='yes'?>
<Relationships xmlns="http://schemas.openxmlformats.org/package/2006/relationships"><Relationship Id="rId1" Type="http://schemas.openxmlformats.org/officeDocument/2006/relationships/package" Target="../embeddings/Microsoft_Excel_Worksheet705.xlsx"/></Relationships>
</file>

<file path=ppt/charts/_rels/chart706.xml.rels><?xml version='1.0' encoding='UTF-8' standalone='yes'?>
<Relationships xmlns="http://schemas.openxmlformats.org/package/2006/relationships"><Relationship Id="rId1" Type="http://schemas.openxmlformats.org/officeDocument/2006/relationships/package" Target="../embeddings/Microsoft_Excel_Worksheet706.xlsx"/></Relationships>
</file>

<file path=ppt/charts/_rels/chart707.xml.rels><?xml version='1.0' encoding='UTF-8' standalone='yes'?>
<Relationships xmlns="http://schemas.openxmlformats.org/package/2006/relationships"><Relationship Id="rId1" Type="http://schemas.openxmlformats.org/officeDocument/2006/relationships/package" Target="../embeddings/Microsoft_Excel_Worksheet707.xlsx"/></Relationships>
</file>

<file path=ppt/charts/_rels/chart708.xml.rels><?xml version='1.0' encoding='UTF-8' standalone='yes'?>
<Relationships xmlns="http://schemas.openxmlformats.org/package/2006/relationships"><Relationship Id="rId1" Type="http://schemas.openxmlformats.org/officeDocument/2006/relationships/package" Target="../embeddings/Microsoft_Excel_Worksheet708.xlsx"/></Relationships>
</file>

<file path=ppt/charts/_rels/chart709.xml.rels><?xml version='1.0' encoding='UTF-8' standalone='yes'?>
<Relationships xmlns="http://schemas.openxmlformats.org/package/2006/relationships"><Relationship Id="rId1" Type="http://schemas.openxmlformats.org/officeDocument/2006/relationships/package" Target="../embeddings/Microsoft_Excel_Worksheet709.xlsx"/></Relationships>
</file>

<file path=ppt/charts/_rels/chart710.xml.rels><?xml version='1.0' encoding='UTF-8' standalone='yes'?>
<Relationships xmlns="http://schemas.openxmlformats.org/package/2006/relationships"><Relationship Id="rId1" Type="http://schemas.openxmlformats.org/officeDocument/2006/relationships/package" Target="../embeddings/Microsoft_Excel_Worksheet710.xlsx"/></Relationships>
</file>

<file path=ppt/charts/_rels/chart711.xml.rels><?xml version='1.0' encoding='UTF-8' standalone='yes'?>
<Relationships xmlns="http://schemas.openxmlformats.org/package/2006/relationships"><Relationship Id="rId1" Type="http://schemas.openxmlformats.org/officeDocument/2006/relationships/package" Target="../embeddings/Microsoft_Excel_Worksheet711.xlsx"/></Relationships>
</file>

<file path=ppt/charts/_rels/chart712.xml.rels><?xml version='1.0' encoding='UTF-8' standalone='yes'?>
<Relationships xmlns="http://schemas.openxmlformats.org/package/2006/relationships"><Relationship Id="rId1" Type="http://schemas.openxmlformats.org/officeDocument/2006/relationships/package" Target="../embeddings/Microsoft_Excel_Worksheet712.xlsx"/></Relationships>
</file>

<file path=ppt/charts/_rels/chart713.xml.rels><?xml version='1.0' encoding='UTF-8' standalone='yes'?>
<Relationships xmlns="http://schemas.openxmlformats.org/package/2006/relationships"><Relationship Id="rId1" Type="http://schemas.openxmlformats.org/officeDocument/2006/relationships/package" Target="../embeddings/Microsoft_Excel_Worksheet713.xlsx"/></Relationships>
</file>

<file path=ppt/charts/_rels/chart714.xml.rels><?xml version='1.0' encoding='UTF-8' standalone='yes'?>
<Relationships xmlns="http://schemas.openxmlformats.org/package/2006/relationships"><Relationship Id="rId1" Type="http://schemas.openxmlformats.org/officeDocument/2006/relationships/package" Target="../embeddings/Microsoft_Excel_Worksheet714.xlsx"/></Relationships>
</file>

<file path=ppt/charts/_rels/chart715.xml.rels><?xml version='1.0' encoding='UTF-8' standalone='yes'?>
<Relationships xmlns="http://schemas.openxmlformats.org/package/2006/relationships"><Relationship Id="rId1" Type="http://schemas.openxmlformats.org/officeDocument/2006/relationships/package" Target="../embeddings/Microsoft_Excel_Worksheet715.xlsx"/></Relationships>
</file>

<file path=ppt/charts/_rels/chart716.xml.rels><?xml version='1.0' encoding='UTF-8' standalone='yes'?>
<Relationships xmlns="http://schemas.openxmlformats.org/package/2006/relationships"><Relationship Id="rId1" Type="http://schemas.openxmlformats.org/officeDocument/2006/relationships/package" Target="../embeddings/Microsoft_Excel_Worksheet716.xlsx"/></Relationships>
</file>

<file path=ppt/charts/_rels/chart717.xml.rels><?xml version='1.0' encoding='UTF-8' standalone='yes'?>
<Relationships xmlns="http://schemas.openxmlformats.org/package/2006/relationships"><Relationship Id="rId1" Type="http://schemas.openxmlformats.org/officeDocument/2006/relationships/package" Target="../embeddings/Microsoft_Excel_Worksheet717.xlsx"/></Relationships>
</file>

<file path=ppt/charts/_rels/chart718.xml.rels><?xml version='1.0' encoding='UTF-8' standalone='yes'?>
<Relationships xmlns="http://schemas.openxmlformats.org/package/2006/relationships"><Relationship Id="rId1" Type="http://schemas.openxmlformats.org/officeDocument/2006/relationships/package" Target="../embeddings/Microsoft_Excel_Worksheet718.xlsx"/></Relationships>
</file>

<file path=ppt/charts/_rels/chart719.xml.rels><?xml version='1.0' encoding='UTF-8' standalone='yes'?>
<Relationships xmlns="http://schemas.openxmlformats.org/package/2006/relationships"><Relationship Id="rId1" Type="http://schemas.openxmlformats.org/officeDocument/2006/relationships/package" Target="../embeddings/Microsoft_Excel_Worksheet719.xlsx"/></Relationships>
</file>

<file path=ppt/charts/_rels/chart720.xml.rels><?xml version='1.0' encoding='UTF-8' standalone='yes'?>
<Relationships xmlns="http://schemas.openxmlformats.org/package/2006/relationships"><Relationship Id="rId1" Type="http://schemas.openxmlformats.org/officeDocument/2006/relationships/package" Target="../embeddings/Microsoft_Excel_Worksheet720.xlsx"/></Relationships>
</file>

<file path=ppt/charts/_rels/chart721.xml.rels><?xml version='1.0' encoding='UTF-8' standalone='yes'?>
<Relationships xmlns="http://schemas.openxmlformats.org/package/2006/relationships"><Relationship Id="rId1" Type="http://schemas.openxmlformats.org/officeDocument/2006/relationships/package" Target="../embeddings/Microsoft_Excel_Worksheet721.xlsx"/></Relationships>
</file>

<file path=ppt/charts/_rels/chart722.xml.rels><?xml version='1.0' encoding='UTF-8' standalone='yes'?>
<Relationships xmlns="http://schemas.openxmlformats.org/package/2006/relationships"><Relationship Id="rId1" Type="http://schemas.openxmlformats.org/officeDocument/2006/relationships/package" Target="../embeddings/Microsoft_Excel_Worksheet722.xlsx"/></Relationships>
</file>

<file path=ppt/charts/_rels/chart723.xml.rels><?xml version='1.0' encoding='UTF-8' standalone='yes'?>
<Relationships xmlns="http://schemas.openxmlformats.org/package/2006/relationships"><Relationship Id="rId1" Type="http://schemas.openxmlformats.org/officeDocument/2006/relationships/package" Target="../embeddings/Microsoft_Excel_Worksheet723.xlsx"/></Relationships>
</file>

<file path=ppt/charts/_rels/chart724.xml.rels><?xml version='1.0' encoding='UTF-8' standalone='yes'?>
<Relationships xmlns="http://schemas.openxmlformats.org/package/2006/relationships"><Relationship Id="rId1" Type="http://schemas.openxmlformats.org/officeDocument/2006/relationships/package" Target="../embeddings/Microsoft_Excel_Worksheet724.xlsx"/></Relationships>
</file>

<file path=ppt/charts/_rels/chart725.xml.rels><?xml version='1.0' encoding='UTF-8' standalone='yes'?>
<Relationships xmlns="http://schemas.openxmlformats.org/package/2006/relationships"><Relationship Id="rId1" Type="http://schemas.openxmlformats.org/officeDocument/2006/relationships/package" Target="../embeddings/Microsoft_Excel_Worksheet725.xlsx"/></Relationships>
</file>

<file path=ppt/charts/_rels/chart726.xml.rels><?xml version='1.0' encoding='UTF-8' standalone='yes'?>
<Relationships xmlns="http://schemas.openxmlformats.org/package/2006/relationships"><Relationship Id="rId1" Type="http://schemas.openxmlformats.org/officeDocument/2006/relationships/package" Target="../embeddings/Microsoft_Excel_Worksheet726.xlsx"/></Relationships>
</file>

<file path=ppt/charts/_rels/chart727.xml.rels><?xml version='1.0' encoding='UTF-8' standalone='yes'?>
<Relationships xmlns="http://schemas.openxmlformats.org/package/2006/relationships"><Relationship Id="rId1" Type="http://schemas.openxmlformats.org/officeDocument/2006/relationships/package" Target="../embeddings/Microsoft_Excel_Worksheet727.xlsx"/></Relationships>
</file>

<file path=ppt/charts/_rels/chart728.xml.rels><?xml version='1.0' encoding='UTF-8' standalone='yes'?>
<Relationships xmlns="http://schemas.openxmlformats.org/package/2006/relationships"><Relationship Id="rId1" Type="http://schemas.openxmlformats.org/officeDocument/2006/relationships/package" Target="../embeddings/Microsoft_Excel_Worksheet728.xlsx"/></Relationships>
</file>

<file path=ppt/charts/_rels/chart729.xml.rels><?xml version='1.0' encoding='UTF-8' standalone='yes'?>
<Relationships xmlns="http://schemas.openxmlformats.org/package/2006/relationships"><Relationship Id="rId1" Type="http://schemas.openxmlformats.org/officeDocument/2006/relationships/package" Target="../embeddings/Microsoft_Excel_Worksheet729.xlsx"/></Relationships>
</file>

<file path=ppt/charts/_rels/chart730.xml.rels><?xml version='1.0' encoding='UTF-8' standalone='yes'?>
<Relationships xmlns="http://schemas.openxmlformats.org/package/2006/relationships"><Relationship Id="rId1" Type="http://schemas.openxmlformats.org/officeDocument/2006/relationships/package" Target="../embeddings/Microsoft_Excel_Worksheet730.xlsx"/></Relationships>
</file>

<file path=ppt/charts/_rels/chart731.xml.rels><?xml version='1.0' encoding='UTF-8' standalone='yes'?>
<Relationships xmlns="http://schemas.openxmlformats.org/package/2006/relationships"><Relationship Id="rId1" Type="http://schemas.openxmlformats.org/officeDocument/2006/relationships/package" Target="../embeddings/Microsoft_Excel_Worksheet731.xlsx"/></Relationships>
</file>

<file path=ppt/charts/_rels/chart732.xml.rels><?xml version='1.0' encoding='UTF-8' standalone='yes'?>
<Relationships xmlns="http://schemas.openxmlformats.org/package/2006/relationships"><Relationship Id="rId1" Type="http://schemas.openxmlformats.org/officeDocument/2006/relationships/package" Target="../embeddings/Microsoft_Excel_Worksheet732.xlsx"/></Relationships>
</file>

<file path=ppt/charts/_rels/chart733.xml.rels><?xml version='1.0' encoding='UTF-8' standalone='yes'?>
<Relationships xmlns="http://schemas.openxmlformats.org/package/2006/relationships"><Relationship Id="rId1" Type="http://schemas.openxmlformats.org/officeDocument/2006/relationships/package" Target="../embeddings/Microsoft_Excel_Worksheet733.xlsx"/></Relationships>
</file>

<file path=ppt/charts/_rels/chart734.xml.rels><?xml version='1.0' encoding='UTF-8' standalone='yes'?>
<Relationships xmlns="http://schemas.openxmlformats.org/package/2006/relationships"><Relationship Id="rId1" Type="http://schemas.openxmlformats.org/officeDocument/2006/relationships/package" Target="../embeddings/Microsoft_Excel_Worksheet734.xlsx"/></Relationships>
</file>

<file path=ppt/charts/_rels/chart735.xml.rels><?xml version='1.0' encoding='UTF-8' standalone='yes'?>
<Relationships xmlns="http://schemas.openxmlformats.org/package/2006/relationships"><Relationship Id="rId1" Type="http://schemas.openxmlformats.org/officeDocument/2006/relationships/package" Target="../embeddings/Microsoft_Excel_Worksheet735.xlsx"/></Relationships>
</file>

<file path=ppt/charts/_rels/chart736.xml.rels><?xml version='1.0' encoding='UTF-8' standalone='yes'?>
<Relationships xmlns="http://schemas.openxmlformats.org/package/2006/relationships"><Relationship Id="rId1" Type="http://schemas.openxmlformats.org/officeDocument/2006/relationships/package" Target="../embeddings/Microsoft_Excel_Worksheet736.xlsx"/></Relationships>
</file>

<file path=ppt/charts/_rels/chart737.xml.rels><?xml version='1.0' encoding='UTF-8' standalone='yes'?>
<Relationships xmlns="http://schemas.openxmlformats.org/package/2006/relationships"><Relationship Id="rId1" Type="http://schemas.openxmlformats.org/officeDocument/2006/relationships/package" Target="../embeddings/Microsoft_Excel_Worksheet737.xlsx"/></Relationships>
</file>

<file path=ppt/charts/_rels/chart738.xml.rels><?xml version='1.0' encoding='UTF-8' standalone='yes'?>
<Relationships xmlns="http://schemas.openxmlformats.org/package/2006/relationships"><Relationship Id="rId1" Type="http://schemas.openxmlformats.org/officeDocument/2006/relationships/package" Target="../embeddings/Microsoft_Excel_Worksheet738.xlsx"/></Relationships>
</file>

<file path=ppt/charts/_rels/chart739.xml.rels><?xml version='1.0' encoding='UTF-8' standalone='yes'?>
<Relationships xmlns="http://schemas.openxmlformats.org/package/2006/relationships"><Relationship Id="rId1" Type="http://schemas.openxmlformats.org/officeDocument/2006/relationships/package" Target="../embeddings/Microsoft_Excel_Worksheet739.xlsx"/></Relationships>
</file>

<file path=ppt/charts/_rels/chart740.xml.rels><?xml version='1.0' encoding='UTF-8' standalone='yes'?>
<Relationships xmlns="http://schemas.openxmlformats.org/package/2006/relationships"><Relationship Id="rId1" Type="http://schemas.openxmlformats.org/officeDocument/2006/relationships/package" Target="../embeddings/Microsoft_Excel_Worksheet740.xlsx"/></Relationships>
</file>

<file path=ppt/charts/_rels/chart741.xml.rels><?xml version='1.0' encoding='UTF-8' standalone='yes'?>
<Relationships xmlns="http://schemas.openxmlformats.org/package/2006/relationships"><Relationship Id="rId1" Type="http://schemas.openxmlformats.org/officeDocument/2006/relationships/package" Target="../embeddings/Microsoft_Excel_Worksheet741.xlsx"/></Relationships>
</file>

<file path=ppt/charts/_rels/chart742.xml.rels><?xml version='1.0' encoding='UTF-8' standalone='yes'?>
<Relationships xmlns="http://schemas.openxmlformats.org/package/2006/relationships"><Relationship Id="rId1" Type="http://schemas.openxmlformats.org/officeDocument/2006/relationships/package" Target="../embeddings/Microsoft_Excel_Worksheet742.xlsx"/></Relationships>
</file>

<file path=ppt/charts/_rels/chart743.xml.rels><?xml version='1.0' encoding='UTF-8' standalone='yes'?>
<Relationships xmlns="http://schemas.openxmlformats.org/package/2006/relationships"><Relationship Id="rId1" Type="http://schemas.openxmlformats.org/officeDocument/2006/relationships/package" Target="../embeddings/Microsoft_Excel_Worksheet743.xlsx"/></Relationships>
</file>

<file path=ppt/charts/_rels/chart744.xml.rels><?xml version='1.0' encoding='UTF-8' standalone='yes'?>
<Relationships xmlns="http://schemas.openxmlformats.org/package/2006/relationships"><Relationship Id="rId1" Type="http://schemas.openxmlformats.org/officeDocument/2006/relationships/package" Target="../embeddings/Microsoft_Excel_Worksheet744.xlsx"/></Relationships>
</file>

<file path=ppt/charts/_rels/chart745.xml.rels><?xml version='1.0' encoding='UTF-8' standalone='yes'?>
<Relationships xmlns="http://schemas.openxmlformats.org/package/2006/relationships"><Relationship Id="rId1" Type="http://schemas.openxmlformats.org/officeDocument/2006/relationships/package" Target="../embeddings/Microsoft_Excel_Worksheet745.xlsx"/></Relationships>
</file>

<file path=ppt/charts/_rels/chart746.xml.rels><?xml version='1.0' encoding='UTF-8' standalone='yes'?>
<Relationships xmlns="http://schemas.openxmlformats.org/package/2006/relationships"><Relationship Id="rId1" Type="http://schemas.openxmlformats.org/officeDocument/2006/relationships/package" Target="../embeddings/Microsoft_Excel_Worksheet746.xlsx"/></Relationships>
</file>

<file path=ppt/charts/_rels/chart747.xml.rels><?xml version='1.0' encoding='UTF-8' standalone='yes'?>
<Relationships xmlns="http://schemas.openxmlformats.org/package/2006/relationships"><Relationship Id="rId1" Type="http://schemas.openxmlformats.org/officeDocument/2006/relationships/package" Target="../embeddings/Microsoft_Excel_Worksheet747.xlsx"/></Relationships>
</file>

<file path=ppt/charts/_rels/chart748.xml.rels><?xml version='1.0' encoding='UTF-8' standalone='yes'?>
<Relationships xmlns="http://schemas.openxmlformats.org/package/2006/relationships"><Relationship Id="rId1" Type="http://schemas.openxmlformats.org/officeDocument/2006/relationships/package" Target="../embeddings/Microsoft_Excel_Worksheet748.xlsx"/></Relationships>
</file>

<file path=ppt/charts/_rels/chart749.xml.rels><?xml version='1.0' encoding='UTF-8' standalone='yes'?>
<Relationships xmlns="http://schemas.openxmlformats.org/package/2006/relationships"><Relationship Id="rId1" Type="http://schemas.openxmlformats.org/officeDocument/2006/relationships/package" Target="../embeddings/Microsoft_Excel_Worksheet749.xlsx"/></Relationships>
</file>

<file path=ppt/charts/_rels/chart750.xml.rels><?xml version='1.0' encoding='UTF-8' standalone='yes'?>
<Relationships xmlns="http://schemas.openxmlformats.org/package/2006/relationships"><Relationship Id="rId1" Type="http://schemas.openxmlformats.org/officeDocument/2006/relationships/package" Target="../embeddings/Microsoft_Excel_Worksheet750.xlsx"/></Relationships>
</file>

<file path=ppt/charts/_rels/chart751.xml.rels><?xml version='1.0' encoding='UTF-8' standalone='yes'?>
<Relationships xmlns="http://schemas.openxmlformats.org/package/2006/relationships"><Relationship Id="rId1" Type="http://schemas.openxmlformats.org/officeDocument/2006/relationships/package" Target="../embeddings/Microsoft_Excel_Worksheet751.xlsx"/></Relationships>
</file>

<file path=ppt/charts/_rels/chart752.xml.rels><?xml version='1.0' encoding='UTF-8' standalone='yes'?>
<Relationships xmlns="http://schemas.openxmlformats.org/package/2006/relationships"><Relationship Id="rId1" Type="http://schemas.openxmlformats.org/officeDocument/2006/relationships/package" Target="../embeddings/Microsoft_Excel_Worksheet752.xlsx"/></Relationships>
</file>

<file path=ppt/charts/_rels/chart753.xml.rels><?xml version='1.0' encoding='UTF-8' standalone='yes'?>
<Relationships xmlns="http://schemas.openxmlformats.org/package/2006/relationships"><Relationship Id="rId1" Type="http://schemas.openxmlformats.org/officeDocument/2006/relationships/package" Target="../embeddings/Microsoft_Excel_Worksheet753.xlsx"/></Relationships>
</file>

<file path=ppt/charts/_rels/chart754.xml.rels><?xml version='1.0' encoding='UTF-8' standalone='yes'?>
<Relationships xmlns="http://schemas.openxmlformats.org/package/2006/relationships"><Relationship Id="rId1" Type="http://schemas.openxmlformats.org/officeDocument/2006/relationships/package" Target="../embeddings/Microsoft_Excel_Worksheet754.xlsx"/></Relationships>
</file>

<file path=ppt/charts/_rels/chart755.xml.rels><?xml version='1.0' encoding='UTF-8' standalone='yes'?>
<Relationships xmlns="http://schemas.openxmlformats.org/package/2006/relationships"><Relationship Id="rId1" Type="http://schemas.openxmlformats.org/officeDocument/2006/relationships/package" Target="../embeddings/Microsoft_Excel_Worksheet755.xlsx"/></Relationships>
</file>

<file path=ppt/charts/_rels/chart756.xml.rels><?xml version='1.0' encoding='UTF-8' standalone='yes'?>
<Relationships xmlns="http://schemas.openxmlformats.org/package/2006/relationships"><Relationship Id="rId1" Type="http://schemas.openxmlformats.org/officeDocument/2006/relationships/package" Target="../embeddings/Microsoft_Excel_Worksheet756.xlsx"/></Relationships>
</file>

<file path=ppt/charts/_rels/chart757.xml.rels><?xml version='1.0' encoding='UTF-8' standalone='yes'?>
<Relationships xmlns="http://schemas.openxmlformats.org/package/2006/relationships"><Relationship Id="rId1" Type="http://schemas.openxmlformats.org/officeDocument/2006/relationships/package" Target="../embeddings/Microsoft_Excel_Worksheet757.xlsx"/></Relationships>
</file>

<file path=ppt/charts/_rels/chart758.xml.rels><?xml version='1.0' encoding='UTF-8' standalone='yes'?>
<Relationships xmlns="http://schemas.openxmlformats.org/package/2006/relationships"><Relationship Id="rId1" Type="http://schemas.openxmlformats.org/officeDocument/2006/relationships/package" Target="../embeddings/Microsoft_Excel_Worksheet758.xlsx"/></Relationships>
</file>

<file path=ppt/charts/_rels/chart759.xml.rels><?xml version='1.0' encoding='UTF-8' standalone='yes'?>
<Relationships xmlns="http://schemas.openxmlformats.org/package/2006/relationships"><Relationship Id="rId1" Type="http://schemas.openxmlformats.org/officeDocument/2006/relationships/package" Target="../embeddings/Microsoft_Excel_Worksheet759.xlsx"/></Relationships>
</file>

<file path=ppt/charts/_rels/chart760.xml.rels><?xml version='1.0' encoding='UTF-8' standalone='yes'?>
<Relationships xmlns="http://schemas.openxmlformats.org/package/2006/relationships"><Relationship Id="rId1" Type="http://schemas.openxmlformats.org/officeDocument/2006/relationships/package" Target="../embeddings/Microsoft_Excel_Worksheet760.xlsx"/></Relationships>
</file>

<file path=ppt/charts/_rels/chart761.xml.rels><?xml version='1.0' encoding='UTF-8' standalone='yes'?>
<Relationships xmlns="http://schemas.openxmlformats.org/package/2006/relationships"><Relationship Id="rId1" Type="http://schemas.openxmlformats.org/officeDocument/2006/relationships/package" Target="../embeddings/Microsoft_Excel_Worksheet761.xlsx"/></Relationships>
</file>

<file path=ppt/charts/_rels/chart762.xml.rels><?xml version='1.0' encoding='UTF-8' standalone='yes'?>
<Relationships xmlns="http://schemas.openxmlformats.org/package/2006/relationships"><Relationship Id="rId1" Type="http://schemas.openxmlformats.org/officeDocument/2006/relationships/package" Target="../embeddings/Microsoft_Excel_Worksheet762.xlsx"/></Relationships>
</file>

<file path=ppt/charts/_rels/chart763.xml.rels><?xml version='1.0' encoding='UTF-8' standalone='yes'?>
<Relationships xmlns="http://schemas.openxmlformats.org/package/2006/relationships"><Relationship Id="rId1" Type="http://schemas.openxmlformats.org/officeDocument/2006/relationships/package" Target="../embeddings/Microsoft_Excel_Worksheet763.xlsx"/></Relationships>
</file>

<file path=ppt/charts/_rels/chart764.xml.rels><?xml version='1.0' encoding='UTF-8' standalone='yes'?>
<Relationships xmlns="http://schemas.openxmlformats.org/package/2006/relationships"><Relationship Id="rId1" Type="http://schemas.openxmlformats.org/officeDocument/2006/relationships/package" Target="../embeddings/Microsoft_Excel_Worksheet764.xlsx"/></Relationships>
</file>

<file path=ppt/charts/_rels/chart765.xml.rels><?xml version='1.0' encoding='UTF-8' standalone='yes'?>
<Relationships xmlns="http://schemas.openxmlformats.org/package/2006/relationships"><Relationship Id="rId1" Type="http://schemas.openxmlformats.org/officeDocument/2006/relationships/package" Target="../embeddings/Microsoft_Excel_Worksheet765.xlsx"/></Relationships>
</file>

<file path=ppt/charts/_rels/chart766.xml.rels><?xml version='1.0' encoding='UTF-8' standalone='yes'?>
<Relationships xmlns="http://schemas.openxmlformats.org/package/2006/relationships"><Relationship Id="rId1" Type="http://schemas.openxmlformats.org/officeDocument/2006/relationships/package" Target="../embeddings/Microsoft_Excel_Worksheet766.xlsx"/></Relationships>
</file>

<file path=ppt/charts/_rels/chart767.xml.rels><?xml version='1.0' encoding='UTF-8' standalone='yes'?>
<Relationships xmlns="http://schemas.openxmlformats.org/package/2006/relationships"><Relationship Id="rId1" Type="http://schemas.openxmlformats.org/officeDocument/2006/relationships/package" Target="../embeddings/Microsoft_Excel_Worksheet767.xlsx"/></Relationships>
</file>

<file path=ppt/charts/_rels/chart768.xml.rels><?xml version='1.0' encoding='UTF-8' standalone='yes'?>
<Relationships xmlns="http://schemas.openxmlformats.org/package/2006/relationships"><Relationship Id="rId1" Type="http://schemas.openxmlformats.org/officeDocument/2006/relationships/package" Target="../embeddings/Microsoft_Excel_Worksheet768.xlsx"/></Relationships>
</file>

<file path=ppt/charts/_rels/chart769.xml.rels><?xml version='1.0' encoding='UTF-8' standalone='yes'?>
<Relationships xmlns="http://schemas.openxmlformats.org/package/2006/relationships"><Relationship Id="rId1" Type="http://schemas.openxmlformats.org/officeDocument/2006/relationships/package" Target="../embeddings/Microsoft_Excel_Worksheet769.xlsx"/></Relationships>
</file>

<file path=ppt/charts/_rels/chart770.xml.rels><?xml version='1.0' encoding='UTF-8' standalone='yes'?>
<Relationships xmlns="http://schemas.openxmlformats.org/package/2006/relationships"><Relationship Id="rId1" Type="http://schemas.openxmlformats.org/officeDocument/2006/relationships/package" Target="../embeddings/Microsoft_Excel_Worksheet770.xlsx"/></Relationships>
</file>

<file path=ppt/charts/_rels/chart771.xml.rels><?xml version='1.0' encoding='UTF-8' standalone='yes'?>
<Relationships xmlns="http://schemas.openxmlformats.org/package/2006/relationships"><Relationship Id="rId1" Type="http://schemas.openxmlformats.org/officeDocument/2006/relationships/package" Target="../embeddings/Microsoft_Excel_Worksheet771.xlsx"/></Relationships>
</file>

<file path=ppt/charts/_rels/chart772.xml.rels><?xml version='1.0' encoding='UTF-8' standalone='yes'?>
<Relationships xmlns="http://schemas.openxmlformats.org/package/2006/relationships"><Relationship Id="rId1" Type="http://schemas.openxmlformats.org/officeDocument/2006/relationships/package" Target="../embeddings/Microsoft_Excel_Worksheet772.xlsx"/></Relationships>
</file>

<file path=ppt/charts/_rels/chart773.xml.rels><?xml version='1.0' encoding='UTF-8' standalone='yes'?>
<Relationships xmlns="http://schemas.openxmlformats.org/package/2006/relationships"><Relationship Id="rId1" Type="http://schemas.openxmlformats.org/officeDocument/2006/relationships/package" Target="../embeddings/Microsoft_Excel_Worksheet773.xlsx"/></Relationships>
</file>

<file path=ppt/charts/_rels/chart774.xml.rels><?xml version='1.0' encoding='UTF-8' standalone='yes'?>
<Relationships xmlns="http://schemas.openxmlformats.org/package/2006/relationships"><Relationship Id="rId1" Type="http://schemas.openxmlformats.org/officeDocument/2006/relationships/package" Target="../embeddings/Microsoft_Excel_Worksheet774.xlsx"/></Relationships>
</file>

<file path=ppt/charts/_rels/chart775.xml.rels><?xml version='1.0' encoding='UTF-8' standalone='yes'?>
<Relationships xmlns="http://schemas.openxmlformats.org/package/2006/relationships"><Relationship Id="rId1" Type="http://schemas.openxmlformats.org/officeDocument/2006/relationships/package" Target="../embeddings/Microsoft_Excel_Worksheet775.xlsx"/></Relationships>
</file>

<file path=ppt/charts/_rels/chart776.xml.rels><?xml version='1.0' encoding='UTF-8' standalone='yes'?>
<Relationships xmlns="http://schemas.openxmlformats.org/package/2006/relationships"><Relationship Id="rId1" Type="http://schemas.openxmlformats.org/officeDocument/2006/relationships/package" Target="../embeddings/Microsoft_Excel_Worksheet776.xlsx"/></Relationships>
</file>

<file path=ppt/charts/_rels/chart777.xml.rels><?xml version='1.0' encoding='UTF-8' standalone='yes'?>
<Relationships xmlns="http://schemas.openxmlformats.org/package/2006/relationships"><Relationship Id="rId1" Type="http://schemas.openxmlformats.org/officeDocument/2006/relationships/package" Target="../embeddings/Microsoft_Excel_Worksheet777.xlsx"/></Relationships>
</file>

<file path=ppt/charts/_rels/chart778.xml.rels><?xml version='1.0' encoding='UTF-8' standalone='yes'?>
<Relationships xmlns="http://schemas.openxmlformats.org/package/2006/relationships"><Relationship Id="rId1" Type="http://schemas.openxmlformats.org/officeDocument/2006/relationships/package" Target="../embeddings/Microsoft_Excel_Worksheet778.xlsx"/></Relationships>
</file>

<file path=ppt/charts/_rels/chart779.xml.rels><?xml version='1.0' encoding='UTF-8' standalone='yes'?>
<Relationships xmlns="http://schemas.openxmlformats.org/package/2006/relationships"><Relationship Id="rId1" Type="http://schemas.openxmlformats.org/officeDocument/2006/relationships/package" Target="../embeddings/Microsoft_Excel_Worksheet779.xlsx"/></Relationships>
</file>

<file path=ppt/charts/_rels/chart780.xml.rels><?xml version='1.0' encoding='UTF-8' standalone='yes'?>
<Relationships xmlns="http://schemas.openxmlformats.org/package/2006/relationships"><Relationship Id="rId1" Type="http://schemas.openxmlformats.org/officeDocument/2006/relationships/package" Target="../embeddings/Microsoft_Excel_Worksheet780.xlsx"/></Relationships>
</file>

<file path=ppt/charts/_rels/chart781.xml.rels><?xml version='1.0' encoding='UTF-8' standalone='yes'?>
<Relationships xmlns="http://schemas.openxmlformats.org/package/2006/relationships"><Relationship Id="rId1" Type="http://schemas.openxmlformats.org/officeDocument/2006/relationships/package" Target="../embeddings/Microsoft_Excel_Worksheet781.xlsx"/></Relationships>
</file>

<file path=ppt/charts/_rels/chart782.xml.rels><?xml version='1.0' encoding='UTF-8' standalone='yes'?>
<Relationships xmlns="http://schemas.openxmlformats.org/package/2006/relationships"><Relationship Id="rId1" Type="http://schemas.openxmlformats.org/officeDocument/2006/relationships/package" Target="../embeddings/Microsoft_Excel_Worksheet782.xlsx"/></Relationships>
</file>

<file path=ppt/charts/_rels/chart783.xml.rels><?xml version='1.0' encoding='UTF-8' standalone='yes'?>
<Relationships xmlns="http://schemas.openxmlformats.org/package/2006/relationships"><Relationship Id="rId1" Type="http://schemas.openxmlformats.org/officeDocument/2006/relationships/package" Target="../embeddings/Microsoft_Excel_Worksheet783.xlsx"/></Relationships>
</file>

<file path=ppt/charts/_rels/chart784.xml.rels><?xml version='1.0' encoding='UTF-8' standalone='yes'?>
<Relationships xmlns="http://schemas.openxmlformats.org/package/2006/relationships"><Relationship Id="rId1" Type="http://schemas.openxmlformats.org/officeDocument/2006/relationships/package" Target="../embeddings/Microsoft_Excel_Worksheet784.xlsx"/></Relationships>
</file>

<file path=ppt/charts/_rels/chart785.xml.rels><?xml version='1.0' encoding='UTF-8' standalone='yes'?>
<Relationships xmlns="http://schemas.openxmlformats.org/package/2006/relationships"><Relationship Id="rId1" Type="http://schemas.openxmlformats.org/officeDocument/2006/relationships/package" Target="../embeddings/Microsoft_Excel_Worksheet785.xlsx"/></Relationships>
</file>

<file path=ppt/charts/_rels/chart786.xml.rels><?xml version='1.0' encoding='UTF-8' standalone='yes'?>
<Relationships xmlns="http://schemas.openxmlformats.org/package/2006/relationships"><Relationship Id="rId1" Type="http://schemas.openxmlformats.org/officeDocument/2006/relationships/package" Target="../embeddings/Microsoft_Excel_Worksheet786.xlsx"/></Relationships>
</file>

<file path=ppt/charts/_rels/chart787.xml.rels><?xml version='1.0' encoding='UTF-8' standalone='yes'?>
<Relationships xmlns="http://schemas.openxmlformats.org/package/2006/relationships"><Relationship Id="rId1" Type="http://schemas.openxmlformats.org/officeDocument/2006/relationships/package" Target="../embeddings/Microsoft_Excel_Worksheet787.xlsx"/></Relationships>
</file>

<file path=ppt/charts/_rels/chart788.xml.rels><?xml version='1.0' encoding='UTF-8' standalone='yes'?>
<Relationships xmlns="http://schemas.openxmlformats.org/package/2006/relationships"><Relationship Id="rId1" Type="http://schemas.openxmlformats.org/officeDocument/2006/relationships/package" Target="../embeddings/Microsoft_Excel_Worksheet788.xlsx"/></Relationships>
</file>

<file path=ppt/charts/_rels/chart789.xml.rels><?xml version='1.0' encoding='UTF-8' standalone='yes'?>
<Relationships xmlns="http://schemas.openxmlformats.org/package/2006/relationships"><Relationship Id="rId1" Type="http://schemas.openxmlformats.org/officeDocument/2006/relationships/package" Target="../embeddings/Microsoft_Excel_Worksheet789.xlsx"/></Relationships>
</file>

<file path=ppt/charts/_rels/chart790.xml.rels><?xml version='1.0' encoding='UTF-8' standalone='yes'?>
<Relationships xmlns="http://schemas.openxmlformats.org/package/2006/relationships"><Relationship Id="rId1" Type="http://schemas.openxmlformats.org/officeDocument/2006/relationships/package" Target="../embeddings/Microsoft_Excel_Worksheet790.xlsx"/></Relationships>
</file>

<file path=ppt/charts/_rels/chart791.xml.rels><?xml version='1.0' encoding='UTF-8' standalone='yes'?>
<Relationships xmlns="http://schemas.openxmlformats.org/package/2006/relationships"><Relationship Id="rId1" Type="http://schemas.openxmlformats.org/officeDocument/2006/relationships/package" Target="../embeddings/Microsoft_Excel_Worksheet791.xlsx"/></Relationships>
</file>

<file path=ppt/charts/_rels/chart792.xml.rels><?xml version='1.0' encoding='UTF-8' standalone='yes'?>
<Relationships xmlns="http://schemas.openxmlformats.org/package/2006/relationships"><Relationship Id="rId1" Type="http://schemas.openxmlformats.org/officeDocument/2006/relationships/package" Target="../embeddings/Microsoft_Excel_Worksheet792.xlsx"/></Relationships>
</file>

<file path=ppt/charts/_rels/chart793.xml.rels><?xml version='1.0' encoding='UTF-8' standalone='yes'?>
<Relationships xmlns="http://schemas.openxmlformats.org/package/2006/relationships"><Relationship Id="rId1" Type="http://schemas.openxmlformats.org/officeDocument/2006/relationships/package" Target="../embeddings/Microsoft_Excel_Worksheet793.xlsx"/></Relationships>
</file>

<file path=ppt/charts/_rels/chart794.xml.rels><?xml version='1.0' encoding='UTF-8' standalone='yes'?>
<Relationships xmlns="http://schemas.openxmlformats.org/package/2006/relationships"><Relationship Id="rId1" Type="http://schemas.openxmlformats.org/officeDocument/2006/relationships/package" Target="../embeddings/Microsoft_Excel_Worksheet794.xlsx"/></Relationships>
</file>

<file path=ppt/charts/_rels/chart795.xml.rels><?xml version='1.0' encoding='UTF-8' standalone='yes'?>
<Relationships xmlns="http://schemas.openxmlformats.org/package/2006/relationships"><Relationship Id="rId1" Type="http://schemas.openxmlformats.org/officeDocument/2006/relationships/package" Target="../embeddings/Microsoft_Excel_Worksheet795.xlsx"/></Relationships>
</file>

<file path=ppt/charts/_rels/chart796.xml.rels><?xml version='1.0' encoding='UTF-8' standalone='yes'?>
<Relationships xmlns="http://schemas.openxmlformats.org/package/2006/relationships"><Relationship Id="rId1" Type="http://schemas.openxmlformats.org/officeDocument/2006/relationships/package" Target="../embeddings/Microsoft_Excel_Worksheet796.xlsx"/></Relationships>
</file>

<file path=ppt/charts/_rels/chart797.xml.rels><?xml version='1.0' encoding='UTF-8' standalone='yes'?>
<Relationships xmlns="http://schemas.openxmlformats.org/package/2006/relationships"><Relationship Id="rId1" Type="http://schemas.openxmlformats.org/officeDocument/2006/relationships/package" Target="../embeddings/Microsoft_Excel_Worksheet797.xlsx"/></Relationships>
</file>

<file path=ppt/charts/_rels/chart798.xml.rels><?xml version='1.0' encoding='UTF-8' standalone='yes'?>
<Relationships xmlns="http://schemas.openxmlformats.org/package/2006/relationships"><Relationship Id="rId1" Type="http://schemas.openxmlformats.org/officeDocument/2006/relationships/package" Target="../embeddings/Microsoft_Excel_Worksheet798.xlsx"/></Relationships>
</file>

<file path=ppt/charts/_rels/chart799.xml.rels><?xml version='1.0' encoding='UTF-8' standalone='yes'?>
<Relationships xmlns="http://schemas.openxmlformats.org/package/2006/relationships"><Relationship Id="rId1" Type="http://schemas.openxmlformats.org/officeDocument/2006/relationships/package" Target="../embeddings/Microsoft_Excel_Worksheet799.xlsx"/></Relationships>
</file>

<file path=ppt/charts/_rels/chart800.xml.rels><?xml version='1.0' encoding='UTF-8' standalone='yes'?>
<Relationships xmlns="http://schemas.openxmlformats.org/package/2006/relationships"><Relationship Id="rId1" Type="http://schemas.openxmlformats.org/officeDocument/2006/relationships/package" Target="../embeddings/Microsoft_Excel_Worksheet800.xlsx"/></Relationships>
</file>

<file path=ppt/charts/_rels/chart801.xml.rels><?xml version='1.0' encoding='UTF-8' standalone='yes'?>
<Relationships xmlns="http://schemas.openxmlformats.org/package/2006/relationships"><Relationship Id="rId1" Type="http://schemas.openxmlformats.org/officeDocument/2006/relationships/package" Target="../embeddings/Microsoft_Excel_Worksheet801.xlsx"/></Relationships>
</file>

<file path=ppt/charts/_rels/chart802.xml.rels><?xml version='1.0' encoding='UTF-8' standalone='yes'?>
<Relationships xmlns="http://schemas.openxmlformats.org/package/2006/relationships"><Relationship Id="rId1" Type="http://schemas.openxmlformats.org/officeDocument/2006/relationships/package" Target="../embeddings/Microsoft_Excel_Worksheet802.xlsx"/></Relationships>
</file>

<file path=ppt/charts/_rels/chart803.xml.rels><?xml version='1.0' encoding='UTF-8' standalone='yes'?>
<Relationships xmlns="http://schemas.openxmlformats.org/package/2006/relationships"><Relationship Id="rId1" Type="http://schemas.openxmlformats.org/officeDocument/2006/relationships/package" Target="../embeddings/Microsoft_Excel_Worksheet803.xlsx"/></Relationships>
</file>

<file path=ppt/charts/_rels/chart804.xml.rels><?xml version='1.0' encoding='UTF-8' standalone='yes'?>
<Relationships xmlns="http://schemas.openxmlformats.org/package/2006/relationships"><Relationship Id="rId1" Type="http://schemas.openxmlformats.org/officeDocument/2006/relationships/package" Target="../embeddings/Microsoft_Excel_Worksheet804.xlsx"/></Relationships>
</file>

<file path=ppt/charts/_rels/chart805.xml.rels><?xml version='1.0' encoding='UTF-8' standalone='yes'?>
<Relationships xmlns="http://schemas.openxmlformats.org/package/2006/relationships"><Relationship Id="rId1" Type="http://schemas.openxmlformats.org/officeDocument/2006/relationships/package" Target="../embeddings/Microsoft_Excel_Worksheet805.xlsx"/></Relationships>
</file>

<file path=ppt/charts/_rels/chart806.xml.rels><?xml version='1.0' encoding='UTF-8' standalone='yes'?>
<Relationships xmlns="http://schemas.openxmlformats.org/package/2006/relationships"><Relationship Id="rId1" Type="http://schemas.openxmlformats.org/officeDocument/2006/relationships/package" Target="../embeddings/Microsoft_Excel_Worksheet806.xlsx"/></Relationships>
</file>

<file path=ppt/charts/_rels/chart807.xml.rels><?xml version='1.0' encoding='UTF-8' standalone='yes'?>
<Relationships xmlns="http://schemas.openxmlformats.org/package/2006/relationships"><Relationship Id="rId1" Type="http://schemas.openxmlformats.org/officeDocument/2006/relationships/package" Target="../embeddings/Microsoft_Excel_Worksheet807.xlsx"/></Relationships>
</file>

<file path=ppt/charts/_rels/chart808.xml.rels><?xml version='1.0' encoding='UTF-8' standalone='yes'?>
<Relationships xmlns="http://schemas.openxmlformats.org/package/2006/relationships"><Relationship Id="rId1" Type="http://schemas.openxmlformats.org/officeDocument/2006/relationships/package" Target="../embeddings/Microsoft_Excel_Worksheet808.xlsx"/></Relationships>
</file>

<file path=ppt/charts/_rels/chart809.xml.rels><?xml version='1.0' encoding='UTF-8' standalone='yes'?>
<Relationships xmlns="http://schemas.openxmlformats.org/package/2006/relationships"><Relationship Id="rId1" Type="http://schemas.openxmlformats.org/officeDocument/2006/relationships/package" Target="../embeddings/Microsoft_Excel_Worksheet809.xlsx"/></Relationships>
</file>

<file path=ppt/charts/_rels/chart810.xml.rels><?xml version='1.0' encoding='UTF-8' standalone='yes'?>
<Relationships xmlns="http://schemas.openxmlformats.org/package/2006/relationships"><Relationship Id="rId1" Type="http://schemas.openxmlformats.org/officeDocument/2006/relationships/package" Target="../embeddings/Microsoft_Excel_Worksheet810.xlsx"/></Relationships>
</file>

<file path=ppt/charts/_rels/chart811.xml.rels><?xml version='1.0' encoding='UTF-8' standalone='yes'?>
<Relationships xmlns="http://schemas.openxmlformats.org/package/2006/relationships"><Relationship Id="rId1" Type="http://schemas.openxmlformats.org/officeDocument/2006/relationships/package" Target="../embeddings/Microsoft_Excel_Worksheet811.xlsx"/></Relationships>
</file>

<file path=ppt/charts/_rels/chart812.xml.rels><?xml version='1.0' encoding='UTF-8' standalone='yes'?>
<Relationships xmlns="http://schemas.openxmlformats.org/package/2006/relationships"><Relationship Id="rId1" Type="http://schemas.openxmlformats.org/officeDocument/2006/relationships/package" Target="../embeddings/Microsoft_Excel_Worksheet812.xlsx"/></Relationships>
</file>

<file path=ppt/charts/_rels/chart813.xml.rels><?xml version='1.0' encoding='UTF-8' standalone='yes'?>
<Relationships xmlns="http://schemas.openxmlformats.org/package/2006/relationships"><Relationship Id="rId1" Type="http://schemas.openxmlformats.org/officeDocument/2006/relationships/package" Target="../embeddings/Microsoft_Excel_Worksheet813.xlsx"/></Relationships>
</file>

<file path=ppt/charts/_rels/chart814.xml.rels><?xml version='1.0' encoding='UTF-8' standalone='yes'?>
<Relationships xmlns="http://schemas.openxmlformats.org/package/2006/relationships"><Relationship Id="rId1" Type="http://schemas.openxmlformats.org/officeDocument/2006/relationships/package" Target="../embeddings/Microsoft_Excel_Worksheet814.xlsx"/></Relationships>
</file>

<file path=ppt/charts/_rels/chart815.xml.rels><?xml version='1.0' encoding='UTF-8' standalone='yes'?>
<Relationships xmlns="http://schemas.openxmlformats.org/package/2006/relationships"><Relationship Id="rId1" Type="http://schemas.openxmlformats.org/officeDocument/2006/relationships/package" Target="../embeddings/Microsoft_Excel_Worksheet815.xlsx"/></Relationships>
</file>

<file path=ppt/charts/_rels/chart816.xml.rels><?xml version='1.0' encoding='UTF-8' standalone='yes'?>
<Relationships xmlns="http://schemas.openxmlformats.org/package/2006/relationships"><Relationship Id="rId1" Type="http://schemas.openxmlformats.org/officeDocument/2006/relationships/package" Target="../embeddings/Microsoft_Excel_Worksheet816.xlsx"/></Relationships>
</file>

<file path=ppt/charts/_rels/chart817.xml.rels><?xml version='1.0' encoding='UTF-8' standalone='yes'?>
<Relationships xmlns="http://schemas.openxmlformats.org/package/2006/relationships"><Relationship Id="rId1" Type="http://schemas.openxmlformats.org/officeDocument/2006/relationships/package" Target="../embeddings/Microsoft_Excel_Worksheet817.xlsx"/></Relationships>
</file>

<file path=ppt/charts/_rels/chart818.xml.rels><?xml version='1.0' encoding='UTF-8' standalone='yes'?>
<Relationships xmlns="http://schemas.openxmlformats.org/package/2006/relationships"><Relationship Id="rId1" Type="http://schemas.openxmlformats.org/officeDocument/2006/relationships/package" Target="../embeddings/Microsoft_Excel_Worksheet818.xlsx"/></Relationships>
</file>

<file path=ppt/charts/_rels/chart819.xml.rels><?xml version='1.0' encoding='UTF-8' standalone='yes'?>
<Relationships xmlns="http://schemas.openxmlformats.org/package/2006/relationships"><Relationship Id="rId1" Type="http://schemas.openxmlformats.org/officeDocument/2006/relationships/package" Target="../embeddings/Microsoft_Excel_Worksheet819.xlsx"/></Relationships>
</file>

<file path=ppt/charts/_rels/chart820.xml.rels><?xml version='1.0' encoding='UTF-8' standalone='yes'?>
<Relationships xmlns="http://schemas.openxmlformats.org/package/2006/relationships"><Relationship Id="rId1" Type="http://schemas.openxmlformats.org/officeDocument/2006/relationships/package" Target="../embeddings/Microsoft_Excel_Worksheet820.xlsx"/></Relationships>
</file>

<file path=ppt/charts/_rels/chart821.xml.rels><?xml version='1.0' encoding='UTF-8' standalone='yes'?>
<Relationships xmlns="http://schemas.openxmlformats.org/package/2006/relationships"><Relationship Id="rId1" Type="http://schemas.openxmlformats.org/officeDocument/2006/relationships/package" Target="../embeddings/Microsoft_Excel_Worksheet821.xlsx"/></Relationships>
</file>

<file path=ppt/charts/_rels/chart822.xml.rels><?xml version='1.0' encoding='UTF-8' standalone='yes'?>
<Relationships xmlns="http://schemas.openxmlformats.org/package/2006/relationships"><Relationship Id="rId1" Type="http://schemas.openxmlformats.org/officeDocument/2006/relationships/package" Target="../embeddings/Microsoft_Excel_Worksheet822.xlsx"/></Relationships>
</file>

<file path=ppt/charts/_rels/chart823.xml.rels><?xml version='1.0' encoding='UTF-8' standalone='yes'?>
<Relationships xmlns="http://schemas.openxmlformats.org/package/2006/relationships"><Relationship Id="rId1" Type="http://schemas.openxmlformats.org/officeDocument/2006/relationships/package" Target="../embeddings/Microsoft_Excel_Worksheet823.xlsx"/></Relationships>
</file>

<file path=ppt/charts/_rels/chart824.xml.rels><?xml version='1.0' encoding='UTF-8' standalone='yes'?>
<Relationships xmlns="http://schemas.openxmlformats.org/package/2006/relationships"><Relationship Id="rId1" Type="http://schemas.openxmlformats.org/officeDocument/2006/relationships/package" Target="../embeddings/Microsoft_Excel_Worksheet824.xlsx"/></Relationships>
</file>

<file path=ppt/charts/_rels/chart825.xml.rels><?xml version='1.0' encoding='UTF-8' standalone='yes'?>
<Relationships xmlns="http://schemas.openxmlformats.org/package/2006/relationships"><Relationship Id="rId1" Type="http://schemas.openxmlformats.org/officeDocument/2006/relationships/package" Target="../embeddings/Microsoft_Excel_Worksheet825.xlsx"/></Relationships>
</file>

<file path=ppt/charts/_rels/chart826.xml.rels><?xml version='1.0' encoding='UTF-8' standalone='yes'?>
<Relationships xmlns="http://schemas.openxmlformats.org/package/2006/relationships"><Relationship Id="rId1" Type="http://schemas.openxmlformats.org/officeDocument/2006/relationships/package" Target="../embeddings/Microsoft_Excel_Worksheet826.xlsx"/></Relationships>
</file>

<file path=ppt/charts/_rels/chart827.xml.rels><?xml version='1.0' encoding='UTF-8' standalone='yes'?>
<Relationships xmlns="http://schemas.openxmlformats.org/package/2006/relationships"><Relationship Id="rId1" Type="http://schemas.openxmlformats.org/officeDocument/2006/relationships/package" Target="../embeddings/Microsoft_Excel_Worksheet827.xlsx"/></Relationships>
</file>

<file path=ppt/charts/_rels/chart828.xml.rels><?xml version='1.0' encoding='UTF-8' standalone='yes'?>
<Relationships xmlns="http://schemas.openxmlformats.org/package/2006/relationships"><Relationship Id="rId1" Type="http://schemas.openxmlformats.org/officeDocument/2006/relationships/package" Target="../embeddings/Microsoft_Excel_Worksheet828.xlsx"/></Relationships>
</file>

<file path=ppt/charts/_rels/chart829.xml.rels><?xml version='1.0' encoding='UTF-8' standalone='yes'?>
<Relationships xmlns="http://schemas.openxmlformats.org/package/2006/relationships"><Relationship Id="rId1" Type="http://schemas.openxmlformats.org/officeDocument/2006/relationships/package" Target="../embeddings/Microsoft_Excel_Worksheet829.xlsx"/></Relationships>
</file>

<file path=ppt/charts/_rels/chart830.xml.rels><?xml version='1.0' encoding='UTF-8' standalone='yes'?>
<Relationships xmlns="http://schemas.openxmlformats.org/package/2006/relationships"><Relationship Id="rId1" Type="http://schemas.openxmlformats.org/officeDocument/2006/relationships/package" Target="../embeddings/Microsoft_Excel_Worksheet830.xlsx"/></Relationships>
</file>

<file path=ppt/charts/_rels/chart831.xml.rels><?xml version='1.0' encoding='UTF-8' standalone='yes'?>
<Relationships xmlns="http://schemas.openxmlformats.org/package/2006/relationships"><Relationship Id="rId1" Type="http://schemas.openxmlformats.org/officeDocument/2006/relationships/package" Target="../embeddings/Microsoft_Excel_Worksheet831.xlsx"/></Relationships>
</file>

<file path=ppt/charts/_rels/chart832.xml.rels><?xml version='1.0' encoding='UTF-8' standalone='yes'?>
<Relationships xmlns="http://schemas.openxmlformats.org/package/2006/relationships"><Relationship Id="rId1" Type="http://schemas.openxmlformats.org/officeDocument/2006/relationships/package" Target="../embeddings/Microsoft_Excel_Worksheet832.xlsx"/></Relationships>
</file>

<file path=ppt/charts/_rels/chart833.xml.rels><?xml version='1.0' encoding='UTF-8' standalone='yes'?>
<Relationships xmlns="http://schemas.openxmlformats.org/package/2006/relationships"><Relationship Id="rId1" Type="http://schemas.openxmlformats.org/officeDocument/2006/relationships/package" Target="../embeddings/Microsoft_Excel_Worksheet833.xlsx"/></Relationships>
</file>

<file path=ppt/charts/_rels/chart834.xml.rels><?xml version='1.0' encoding='UTF-8' standalone='yes'?>
<Relationships xmlns="http://schemas.openxmlformats.org/package/2006/relationships"><Relationship Id="rId1" Type="http://schemas.openxmlformats.org/officeDocument/2006/relationships/package" Target="../embeddings/Microsoft_Excel_Worksheet834.xlsx"/></Relationships>
</file>

<file path=ppt/charts/chart6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165.0483870967742</c:v>
                </c:pt>
                <c:pt idx="1">
                  <c:v>148.57142857142858</c:v>
                </c:pt>
                <c:pt idx="2">
                  <c:v>165.3531746031746</c:v>
                </c:pt>
                <c:pt idx="3">
                  <c:v>163.812</c:v>
                </c:pt>
                <c:pt idx="4">
                  <c:v>157.87007874015748</c:v>
                </c:pt>
                <c:pt idx="5">
                  <c:v>171.412</c:v>
                </c:pt>
                <c:pt idx="6">
                  <c:v>174.588</c:v>
                </c:pt>
                <c:pt idx="7">
                  <c:v>176.49180327868854</c:v>
                </c:pt>
                <c:pt idx="8">
                  <c:v>172.46058091286307</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00"/>
          <c:min val="120"/>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6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171.412</c:v>
                </c:pt>
                <c:pt idx="6">
                  <c:v/>
                </c:pt>
                <c:pt idx="7">
                  <c:v>176.49180327868854</c:v>
                </c:pt>
                <c:pt idx="8">
                  <c:v>172.46058091286307</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00"/>
          <c:min val="12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165.0483870967742</c:v>
                </c:pt>
                <c:pt idx="1">
                  <c:v>148.57142857142858</c:v>
                </c:pt>
                <c:pt idx="2">
                  <c:v>165.3531746031746</c:v>
                </c:pt>
                <c:pt idx="3">
                  <c:v>163.812</c:v>
                </c:pt>
                <c:pt idx="4">
                  <c:v>157.87007874015748</c:v>
                </c:pt>
                <c:pt idx="5">
                  <c:v/>
                </c:pt>
                <c:pt idx="6">
                  <c:v>174.588</c:v>
                </c:pt>
                <c:pt idx="7">
                  <c:v/>
                </c:pt>
                <c:pt idx="8">
                  <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00"/>
          <c:min val="12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181.76470588235293</c:v>
                </c:pt>
                <c:pt idx="1">
                  <c:v>167.49789029535864</c:v>
                </c:pt>
                <c:pt idx="2">
                  <c:v>178.79166666666666</c:v>
                </c:pt>
                <c:pt idx="3">
                  <c:v>176.42561983471074</c:v>
                </c:pt>
                <c:pt idx="4">
                  <c:v>169.248</c:v>
                </c:pt>
                <c:pt idx="5">
                  <c:v/>
                </c:pt>
                <c:pt idx="6">
                  <c:v>177.77732793522267</c:v>
                </c:pt>
                <c:pt idx="7">
                  <c:v/>
                </c:pt>
                <c:pt idx="8">
                  <c:v/>
                </c:pt>
                <c:pt idx="9">
                  <c:v>173.3413654618474</c:v>
                </c:pt>
                <c:pt idx="10">
                  <c:v/>
                </c:pt>
                <c:pt idx="11">
                  <c:v>159.43373493975903</c:v>
                </c:pt>
              </c:numCache>
            </c:numRef>
          </c:val>
          <c:smooth val="0"/>
        </c:ser>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00"/>
          <c:min val="12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171.10526315789474</c:v>
                </c:pt>
                <c:pt idx="6">
                  <c:v/>
                </c:pt>
                <c:pt idx="7">
                  <c:v>171.31075697211156</c:v>
                </c:pt>
                <c:pt idx="8">
                  <c:v>160.78225806451613</c:v>
                </c:pt>
                <c:pt idx="9">
                  <c:v/>
                </c:pt>
                <c:pt idx="10">
                  <c:v>152.834008097166</c:v>
                </c:pt>
                <c:pt idx="11">
                  <c:v/>
                </c:pt>
              </c:numCache>
            </c:numRef>
          </c:val>
          <c:smooth val="0"/>
        </c:ser>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00"/>
          <c:min val="12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181.76470588235293</c:v>
                </c:pt>
                <c:pt idx="1">
                  <c:v>167.49789029535864</c:v>
                </c:pt>
                <c:pt idx="2">
                  <c:v>178.79166666666666</c:v>
                </c:pt>
                <c:pt idx="3">
                  <c:v>176.42561983471074</c:v>
                </c:pt>
                <c:pt idx="4">
                  <c:v>169.248</c:v>
                </c:pt>
                <c:pt idx="5">
                  <c:v>171.10526315789474</c:v>
                </c:pt>
                <c:pt idx="6">
                  <c:v>177.77732793522267</c:v>
                </c:pt>
                <c:pt idx="7">
                  <c:v>171.31075697211156</c:v>
                </c:pt>
                <c:pt idx="8">
                  <c:v>160.78225806451613</c:v>
                </c:pt>
                <c:pt idx="9">
                  <c:v>173.3413654618474</c:v>
                </c:pt>
                <c:pt idx="10">
                  <c:v>152.834008097166</c:v>
                </c:pt>
                <c:pt idx="11">
                  <c:v>159.43373493975903</c:v>
                </c:pt>
              </c:numCache>
            </c:numRef>
          </c:val>
          <c:smooth val="0"/>
        </c:ser>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200"/>
          <c:min val="12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c:v>
                </c:pt>
                <c:pt idx="1">
                  <c:v>119.8</c:v>
                </c:pt>
                <c:pt idx="2">
                  <c:v>121.2</c:v>
                </c:pt>
                <c:pt idx="3">
                  <c:v>118.6</c:v>
                </c:pt>
                <c:pt idx="4">
                  <c:v>154.25</c:v>
                </c:pt>
                <c:pt idx="5">
                  <c:v>141.75</c:v>
                </c:pt>
                <c:pt idx="6">
                  <c:v>152</c:v>
                </c:pt>
                <c:pt idx="7">
                  <c:v>159.5</c:v>
                </c:pt>
                <c:pt idx="8">
                  <c:v>132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153.33333333333334</c:v>
                </c:pt>
                <c:pt idx="1">
                  <c:v>168.33333333333334</c:v>
                </c:pt>
                <c:pt idx="2">
                  <c:v>187</c:v>
                </c:pt>
                <c:pt idx="3">
                  <c:v>195</c:v>
                </c:pt>
                <c:pt idx="4">
                  <c:v>185.66666666666666</c:v>
                </c:pt>
                <c:pt idx="5">
                  <c:v>196.33333333333334</c:v>
                </c:pt>
                <c:pt idx="6">
                  <c:v>191</c:v>
                </c:pt>
                <c:pt idx="7">
                  <c:v>180.66666666666666</c:v>
                </c:pt>
                <c:pt idx="8">
                  <c:v>135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2.55200000000002"/>
          <c:min val="112.3813333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122</c:v>
                </c:pt>
                <c:pt idx="1">
                  <c:v>116.66666666666667</c:v>
                </c:pt>
                <c:pt idx="2">
                  <c:v>106.66666666666667</c:v>
                </c:pt>
                <c:pt idx="3">
                  <c:v>111.66666666666667</c:v>
                </c:pt>
                <c:pt idx="4">
                  <c:v>103</c:v>
                </c:pt>
                <c:pt idx="5">
                  <c:v>103.33333333333333</c:v>
                </c:pt>
                <c:pt idx="6">
                  <c:v>125.33333333333333</c:v>
                </c:pt>
                <c:pt idx="7">
                  <c:v>132</c:v>
                </c:pt>
                <c:pt idx="8">
                  <c:v>142.66666666666666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132</c:v>
                </c:pt>
                <c:pt idx="1">
                  <c:v>140.66666666666666</c:v>
                </c:pt>
                <c:pt idx="2">
                  <c:v>142.66666666666666</c:v>
                </c:pt>
                <c:pt idx="3">
                  <c:v>148.33333333333334</c:v>
                </c:pt>
                <c:pt idx="4">
                  <c:v>160.33333333333334</c:v>
                </c:pt>
                <c:pt idx="5">
                  <c:v>184</c:v>
                </c:pt>
                <c:pt idx="6">
                  <c:v>177.66666666666666</c:v>
                </c:pt>
                <c:pt idx="7">
                  <c:v>147.33333333333334</c:v>
                </c:pt>
                <c:pt idx="8">
                  <c:v>149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0.48"/>
          <c:min val="96.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216.375</c:v>
                </c:pt>
                <c:pt idx="1">
                  <c:v>183</c:v>
                </c:pt>
                <c:pt idx="2">
                  <c:v>197.5</c:v>
                </c:pt>
                <c:pt idx="3">
                  <c:v>223.375</c:v>
                </c:pt>
                <c:pt idx="4">
                  <c:v>219.625</c:v>
                </c:pt>
                <c:pt idx="5">
                  <c:v>238.14285714285714</c:v>
                </c:pt>
                <c:pt idx="6">
                  <c:v>254.85714285714286</c:v>
                </c:pt>
                <c:pt idx="7">
                  <c:v>246</c:v>
                </c:pt>
                <c:pt idx="8">
                  <c:v>225.28571428571428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243.28571428571428</c:v>
                </c:pt>
                <c:pt idx="1">
                  <c:v>206.42857142857142</c:v>
                </c:pt>
                <c:pt idx="2">
                  <c:v>265.85714285714283</c:v>
                </c:pt>
                <c:pt idx="3">
                  <c:v>245.57142857142858</c:v>
                </c:pt>
                <c:pt idx="4">
                  <c:v>252</c:v>
                </c:pt>
                <c:pt idx="5">
                  <c:v>273.7142857142857</c:v>
                </c:pt>
                <c:pt idx="6">
                  <c:v>273.2857142857143</c:v>
                </c:pt>
                <c:pt idx="7">
                  <c:v>255.71428571428572</c:v>
                </c:pt>
                <c:pt idx="8">
                  <c:v>261.85714285714283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0.9714285714286"/>
          <c:min val="175.742857142857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195</c:v>
                </c:pt>
                <c:pt idx="1">
                  <c:v>164</c:v>
                </c:pt>
                <c:pt idx="2">
                  <c:v>194.33333333333334</c:v>
                </c:pt>
                <c:pt idx="3">
                  <c:v>178</c:v>
                </c:pt>
                <c:pt idx="4">
                  <c:v>189.75</c:v>
                </c:pt>
                <c:pt idx="5">
                  <c:v>174.75</c:v>
                </c:pt>
                <c:pt idx="6">
                  <c:v>189.75</c:v>
                </c:pt>
                <c:pt idx="7">
                  <c:v>160.75</c:v>
                </c:pt>
                <c:pt idx="8">
                  <c:v>129.25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197.33333333333334</c:v>
                </c:pt>
                <c:pt idx="1">
                  <c:v>176</c:v>
                </c:pt>
                <c:pt idx="2">
                  <c:v>208.66666666666666</c:v>
                </c:pt>
                <c:pt idx="3">
                  <c:v>212</c:v>
                </c:pt>
                <c:pt idx="4">
                  <c:v>179.66666666666666</c:v>
                </c:pt>
                <c:pt idx="5">
                  <c:v>204.66666666666666</c:v>
                </c:pt>
                <c:pt idx="6">
                  <c:v>196.33333333333334</c:v>
                </c:pt>
                <c:pt idx="7">
                  <c:v>186</c:v>
                </c:pt>
                <c:pt idx="8">
                  <c:v>188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8.62"/>
          <c:min val="122.6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153.28571428571428</c:v>
                </c:pt>
                <c:pt idx="1">
                  <c:v>145.42857142857142</c:v>
                </c:pt>
                <c:pt idx="2">
                  <c:v>169</c:v>
                </c:pt>
                <c:pt idx="3">
                  <c:v>149.14285714285714</c:v>
                </c:pt>
                <c:pt idx="4">
                  <c:v>152.57142857142858</c:v>
                </c:pt>
                <c:pt idx="5">
                  <c:v>188.83333333333334</c:v>
                </c:pt>
                <c:pt idx="6">
                  <c:v>185.5</c:v>
                </c:pt>
                <c:pt idx="7">
                  <c:v>191.83333333333334</c:v>
                </c:pt>
                <c:pt idx="8">
                  <c:v>165.66666666666666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187.8</c:v>
                </c:pt>
                <c:pt idx="1">
                  <c:v>165.6</c:v>
                </c:pt>
                <c:pt idx="2">
                  <c:v>201.2</c:v>
                </c:pt>
                <c:pt idx="3">
                  <c:v>164.66666666666666</c:v>
                </c:pt>
                <c:pt idx="4">
                  <c:v>153.66666666666666</c:v>
                </c:pt>
                <c:pt idx="5">
                  <c:v>187.33333333333334</c:v>
                </c:pt>
                <c:pt idx="6">
                  <c:v>202.2</c:v>
                </c:pt>
                <c:pt idx="7">
                  <c:v>198.8</c:v>
                </c:pt>
                <c:pt idx="8">
                  <c:v>169.16666666666666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6.74171428571427"/>
          <c:min val="140.886857142857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318</c:v>
                </c:pt>
                <c:pt idx="1">
                  <c:v>290.5</c:v>
                </c:pt>
                <c:pt idx="2">
                  <c:v>337.6666666666667</c:v>
                </c:pt>
                <c:pt idx="3">
                  <c:v>343.3333333333333</c:v>
                </c:pt>
                <c:pt idx="4">
                  <c:v>333</c:v>
                </c:pt>
                <c:pt idx="5">
                  <c:v>323</c:v>
                </c:pt>
                <c:pt idx="6">
                  <c:v>294.7142857142857</c:v>
                </c:pt>
                <c:pt idx="7">
                  <c:v>267</c:v>
                </c:pt>
                <c:pt idx="8">
                  <c:v>242.75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240.875</c:v>
                </c:pt>
                <c:pt idx="1">
                  <c:v>225.25</c:v>
                </c:pt>
                <c:pt idx="2">
                  <c:v>249.875</c:v>
                </c:pt>
                <c:pt idx="3">
                  <c:v>267.125</c:v>
                </c:pt>
                <c:pt idx="4">
                  <c:v>225.66666666666666</c:v>
                </c:pt>
                <c:pt idx="5">
                  <c:v>245.33333333333334</c:v>
                </c:pt>
                <c:pt idx="6">
                  <c:v>246.77777777777777</c:v>
                </c:pt>
                <c:pt idx="7">
                  <c:v>225.55555555555554</c:v>
                </c:pt>
                <c:pt idx="8">
                  <c:v>270.5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2.78"/>
          <c:min val="215.803333333333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227</c:v>
                </c:pt>
                <c:pt idx="1">
                  <c:v>185.5</c:v>
                </c:pt>
                <c:pt idx="2">
                  <c:v>188</c:v>
                </c:pt>
                <c:pt idx="3">
                  <c:v>205</c:v>
                </c:pt>
                <c:pt idx="4">
                  <c:v>189</c:v>
                </c:pt>
                <c:pt idx="5">
                  <c:v>200</c:v>
                </c:pt>
                <c:pt idx="6">
                  <c:v>213</c:v>
                </c:pt>
                <c:pt idx="7">
                  <c:v>186</c:v>
                </c:pt>
                <c:pt idx="8">
                  <c:v>178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168.5</c:v>
                </c:pt>
                <c:pt idx="1">
                  <c:v>136</c:v>
                </c:pt>
                <c:pt idx="2">
                  <c:v>168.5</c:v>
                </c:pt>
                <c:pt idx="3">
                  <c:v>126</c:v>
                </c:pt>
                <c:pt idx="4">
                  <c:v>112.66666666666667</c:v>
                </c:pt>
                <c:pt idx="5">
                  <c:v>136.33333333333334</c:v>
                </c:pt>
                <c:pt idx="6">
                  <c:v>114.33333333333333</c:v>
                </c:pt>
                <c:pt idx="7">
                  <c:v>172.5</c:v>
                </c:pt>
                <c:pt idx="8">
                  <c:v>145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6.14666666666668"/>
          <c:min val="103.520000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181.33333333333334</c:v>
                </c:pt>
                <c:pt idx="1">
                  <c:v>163.5</c:v>
                </c:pt>
                <c:pt idx="2">
                  <c:v>177.66666666666666</c:v>
                </c:pt>
                <c:pt idx="3">
                  <c:v>182.33333333333334</c:v>
                </c:pt>
                <c:pt idx="4">
                  <c:v>158.42857142857142</c:v>
                </c:pt>
                <c:pt idx="5">
                  <c:v>159.57142857142858</c:v>
                </c:pt>
                <c:pt idx="6">
                  <c:v>159</c:v>
                </c:pt>
                <c:pt idx="7">
                  <c:v>171</c:v>
                </c:pt>
                <c:pt idx="8">
                  <c:v>150</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134.25</c:v>
                </c:pt>
                <c:pt idx="1">
                  <c:v>112.25</c:v>
                </c:pt>
                <c:pt idx="2">
                  <c:v>133.77777777777777</c:v>
                </c:pt>
                <c:pt idx="3">
                  <c:v>117.11111111111111</c:v>
                </c:pt>
                <c:pt idx="4">
                  <c:v>117.55555555555556</c:v>
                </c:pt>
                <c:pt idx="5">
                  <c:v>116</c:v>
                </c:pt>
                <c:pt idx="6">
                  <c:v>122</c:v>
                </c:pt>
                <c:pt idx="7">
                  <c:v>131.125</c:v>
                </c:pt>
                <c:pt idx="8">
                  <c:v>122.625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7.94"/>
          <c:min val="106.6433333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186</c:v>
                </c:pt>
                <c:pt idx="1">
                  <c:v>202</c:v>
                </c:pt>
                <c:pt idx="2">
                  <c:v>201.33333333333334</c:v>
                </c:pt>
                <c:pt idx="3">
                  <c:v>227</c:v>
                </c:pt>
                <c:pt idx="4">
                  <c:v>230</c:v>
                </c:pt>
                <c:pt idx="5">
                  <c:v>267</c:v>
                </c:pt>
                <c:pt idx="6">
                  <c:v>199.5</c:v>
                </c:pt>
                <c:pt idx="7">
                  <c:v>170.25</c:v>
                </c:pt>
                <c:pt idx="8">
                  <c:v>161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165</c:v>
                </c:pt>
                <c:pt idx="1">
                  <c:v>135.25</c:v>
                </c:pt>
                <c:pt idx="2">
                  <c:v>169.75</c:v>
                </c:pt>
                <c:pt idx="3">
                  <c:v>166.25</c:v>
                </c:pt>
                <c:pt idx="4">
                  <c:v>175.75</c:v>
                </c:pt>
                <c:pt idx="5">
                  <c:v>166.75</c:v>
                </c:pt>
                <c:pt idx="6">
                  <c:v>155.25</c:v>
                </c:pt>
                <c:pt idx="7">
                  <c:v>163.75</c:v>
                </c:pt>
                <c:pt idx="8">
                  <c:v>150.25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7.54"/>
          <c:min val="124.7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290</c:v>
                </c:pt>
                <c:pt idx="1">
                  <c:v>263</c:v>
                </c:pt>
                <c:pt idx="2">
                  <c:v>272.6666666666667</c:v>
                </c:pt>
                <c:pt idx="3">
                  <c:v>297.6666666666667</c:v>
                </c:pt>
                <c:pt idx="4">
                  <c:v>294.3333333333333</c:v>
                </c:pt>
                <c:pt idx="5">
                  <c:v>275.3333333333333</c:v>
                </c:pt>
                <c:pt idx="6">
                  <c:v>285.6666666666667</c:v>
                </c:pt>
                <c:pt idx="7">
                  <c:v>201</c:v>
                </c:pt>
                <c:pt idx="8">
                  <c:v>202.25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217.25</c:v>
                </c:pt>
                <c:pt idx="1">
                  <c:v>203.25</c:v>
                </c:pt>
                <c:pt idx="2">
                  <c:v>237.75</c:v>
                </c:pt>
                <c:pt idx="3">
                  <c:v>236.25</c:v>
                </c:pt>
                <c:pt idx="4">
                  <c:v>213.5</c:v>
                </c:pt>
                <c:pt idx="5">
                  <c:v>235.75</c:v>
                </c:pt>
                <c:pt idx="6">
                  <c:v>244.25</c:v>
                </c:pt>
                <c:pt idx="7">
                  <c:v>218.25</c:v>
                </c:pt>
                <c:pt idx="8">
                  <c:v>214.75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05.40000000000003"/>
          <c:min val="193.266666666666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117.41176470588235</c:v>
                </c:pt>
                <c:pt idx="1">
                  <c:v>117.41176470588235</c:v>
                </c:pt>
                <c:pt idx="2">
                  <c:v>117.41176470588235</c:v>
                </c:pt>
                <c:pt idx="3">
                  <c:v>117.41176470588235</c:v>
                </c:pt>
                <c:pt idx="4">
                  <c:v>117.41176470588235</c:v>
                </c:pt>
                <c:pt idx="5">
                  <c:v>117.41176470588235</c:v>
                </c:pt>
                <c:pt idx="6">
                  <c:v>117.41176470588235</c:v>
                </c:pt>
                <c:pt idx="7">
                  <c:v>117.41176470588235</c:v>
                </c:pt>
                <c:pt idx="8">
                  <c:v>117.41176470588235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5.53"/>
          <c:min val="107.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114</c:v>
                </c:pt>
                <c:pt idx="1">
                  <c:v>119.4</c:v>
                </c:pt>
                <c:pt idx="2">
                  <c:v>119.16666666666667</c:v>
                </c:pt>
                <c:pt idx="3">
                  <c:v>127</c:v>
                </c:pt>
                <c:pt idx="4">
                  <c:v>126.16666666666667</c:v>
                </c:pt>
                <c:pt idx="5">
                  <c:v>189</c:v>
                </c:pt>
                <c:pt idx="6">
                  <c:v>157.6</c:v>
                </c:pt>
                <c:pt idx="7">
                  <c:v>172.6</c:v>
                </c:pt>
                <c:pt idx="8">
                  <c:v>198.75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5.53"/>
          <c:min val="107.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165.43589743589743</c:v>
                </c:pt>
                <c:pt idx="1">
                  <c:v>165.43589743589743</c:v>
                </c:pt>
                <c:pt idx="2">
                  <c:v>165.43589743589743</c:v>
                </c:pt>
                <c:pt idx="3">
                  <c:v>165.43589743589743</c:v>
                </c:pt>
                <c:pt idx="4">
                  <c:v>165.43589743589743</c:v>
                </c:pt>
                <c:pt idx="5">
                  <c:v>165.43589743589743</c:v>
                </c:pt>
                <c:pt idx="6">
                  <c:v>165.43589743589743</c:v>
                </c:pt>
                <c:pt idx="7">
                  <c:v>165.43589743589743</c:v>
                </c:pt>
                <c:pt idx="8">
                  <c:v>165.43589743589743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7.81384615384616"/>
          <c:min val="150.429743589743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171</c:v>
                </c:pt>
                <c:pt idx="1">
                  <c:v>155.07692307692307</c:v>
                </c:pt>
                <c:pt idx="2">
                  <c:v>170.23076923076923</c:v>
                </c:pt>
                <c:pt idx="3">
                  <c:v>164.53846153846155</c:v>
                </c:pt>
                <c:pt idx="4">
                  <c:v>193.58333333333334</c:v>
                </c:pt>
                <c:pt idx="5">
                  <c:v>201.75</c:v>
                </c:pt>
                <c:pt idx="6">
                  <c:v>193.75</c:v>
                </c:pt>
                <c:pt idx="7">
                  <c:v>213.16666666666666</c:v>
                </c:pt>
                <c:pt idx="8">
                  <c:v>203.5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7.81384615384616"/>
          <c:min val="150.429743589743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211.2</c:v>
                </c:pt>
                <c:pt idx="1">
                  <c:v>211.2</c:v>
                </c:pt>
                <c:pt idx="2">
                  <c:v>211.2</c:v>
                </c:pt>
                <c:pt idx="3">
                  <c:v>211.2</c:v>
                </c:pt>
                <c:pt idx="4">
                  <c:v>211.2</c:v>
                </c:pt>
                <c:pt idx="5">
                  <c:v>211.2</c:v>
                </c:pt>
                <c:pt idx="6">
                  <c:v>211.2</c:v>
                </c:pt>
                <c:pt idx="7">
                  <c:v>211.2</c:v>
                </c:pt>
                <c:pt idx="8">
                  <c:v>211.2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7.48"/>
          <c:min val="182.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227.6</c:v>
                </c:pt>
                <c:pt idx="1">
                  <c:v>187</c:v>
                </c:pt>
                <c:pt idx="2">
                  <c:v>219</c:v>
                </c:pt>
                <c:pt idx="3">
                  <c:v>220</c:v>
                </c:pt>
                <c:pt idx="4">
                  <c:v>225.8</c:v>
                </c:pt>
                <c:pt idx="5">
                  <c:v>242.8</c:v>
                </c:pt>
                <c:pt idx="6">
                  <c:v>243</c:v>
                </c:pt>
                <c:pt idx="7">
                  <c:v>225.8</c:v>
                </c:pt>
                <c:pt idx="8">
                  <c:v>241.8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7.48"/>
          <c:min val="182.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160.8</c:v>
                </c:pt>
                <c:pt idx="1">
                  <c:v>160.8</c:v>
                </c:pt>
                <c:pt idx="2">
                  <c:v>160.8</c:v>
                </c:pt>
                <c:pt idx="3">
                  <c:v>160.8</c:v>
                </c:pt>
                <c:pt idx="4">
                  <c:v>160.8</c:v>
                </c:pt>
                <c:pt idx="5">
                  <c:v>160.8</c:v>
                </c:pt>
                <c:pt idx="6">
                  <c:v>160.8</c:v>
                </c:pt>
                <c:pt idx="7">
                  <c:v>160.8</c:v>
                </c:pt>
                <c:pt idx="8">
                  <c:v>160.8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0.892"/>
          <c:min val="146.87466666666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158.6</c:v>
                </c:pt>
                <c:pt idx="1">
                  <c:v>150.6</c:v>
                </c:pt>
                <c:pt idx="2">
                  <c:v>173.2</c:v>
                </c:pt>
                <c:pt idx="3">
                  <c:v>157.2</c:v>
                </c:pt>
                <c:pt idx="4">
                  <c:v>155.2</c:v>
                </c:pt>
                <c:pt idx="5">
                  <c:v>188.4</c:v>
                </c:pt>
                <c:pt idx="6">
                  <c:v>171.83333333333334</c:v>
                </c:pt>
                <c:pt idx="7">
                  <c:v>197.16666666666666</c:v>
                </c:pt>
                <c:pt idx="8">
                  <c:v>190.8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0.892"/>
          <c:min val="146.87466666666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161.58333333333334</c:v>
                </c:pt>
                <c:pt idx="1">
                  <c:v>161.58333333333334</c:v>
                </c:pt>
                <c:pt idx="2">
                  <c:v>161.58333333333334</c:v>
                </c:pt>
                <c:pt idx="3">
                  <c:v>161.58333333333334</c:v>
                </c:pt>
                <c:pt idx="4">
                  <c:v>161.58333333333334</c:v>
                </c:pt>
                <c:pt idx="5">
                  <c:v>161.58333333333334</c:v>
                </c:pt>
                <c:pt idx="6">
                  <c:v>161.58333333333334</c:v>
                </c:pt>
                <c:pt idx="7">
                  <c:v>161.58333333333334</c:v>
                </c:pt>
                <c:pt idx="8">
                  <c:v>161.58333333333334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1.52"/>
          <c:min val="151.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164.75</c:v>
                </c:pt>
                <c:pt idx="1">
                  <c:v>157</c:v>
                </c:pt>
                <c:pt idx="2">
                  <c:v>163</c:v>
                </c:pt>
                <c:pt idx="3">
                  <c:v>226</c:v>
                </c:pt>
                <c:pt idx="4">
                  <c:v>165.5</c:v>
                </c:pt>
                <c:pt idx="5">
                  <c:v>178.75</c:v>
                </c:pt>
                <c:pt idx="6">
                  <c:v>177</c:v>
                </c:pt>
                <c:pt idx="7">
                  <c:v>216</c:v>
                </c:pt>
                <c:pt idx="8">
                  <c:v>175.5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1.52"/>
          <c:min val="151.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7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386.1509433962264</c:v>
                </c:pt>
                <c:pt idx="1">
                  <c:v>337.037037037037</c:v>
                </c:pt>
                <c:pt idx="2">
                  <c:v>389.4299065420561</c:v>
                </c:pt>
                <c:pt idx="3">
                  <c:v>386.3490566037736</c:v>
                </c:pt>
                <c:pt idx="4">
                  <c:v>381.8952380952381</c:v>
                </c:pt>
                <c:pt idx="5">
                  <c:v>408.12380952380954</c:v>
                </c:pt>
                <c:pt idx="6">
                  <c:v>411.7641509433962</c:v>
                </c:pt>
                <c:pt idx="7">
                  <c:v>414.0769230769231</c:v>
                </c:pt>
                <c:pt idx="8">
                  <c:v>399.6442307692308</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0"/>
          <c:min val="300"/>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67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386.1509433962264</c:v>
                </c:pt>
                <c:pt idx="1">
                  <c:v/>
                </c:pt>
                <c:pt idx="2">
                  <c:v>389.4299065420561</c:v>
                </c:pt>
                <c:pt idx="3">
                  <c:v>386.3490566037736</c:v>
                </c:pt>
                <c:pt idx="4">
                  <c:v>381.8952380952381</c:v>
                </c:pt>
                <c:pt idx="5">
                  <c:v>408.12380952380954</c:v>
                </c:pt>
                <c:pt idx="6">
                  <c:v>411.7641509433962</c:v>
                </c:pt>
                <c:pt idx="7">
                  <c:v>414.0769230769231</c:v>
                </c:pt>
                <c:pt idx="8">
                  <c:v>399.6442307692308</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0"/>
          <c:min val="3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8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337.037037037037</c:v>
                </c:pt>
                <c:pt idx="2">
                  <c:v/>
                </c:pt>
                <c:pt idx="3">
                  <c:v/>
                </c:pt>
                <c:pt idx="4">
                  <c:v/>
                </c:pt>
                <c:pt idx="5">
                  <c:v/>
                </c:pt>
                <c:pt idx="6">
                  <c:v/>
                </c:pt>
                <c:pt idx="7">
                  <c:v/>
                </c:pt>
                <c:pt idx="8">
                  <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0"/>
          <c:min val="3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342.2155172413793</c:v>
                </c:pt>
                <c:pt idx="2">
                  <c:v/>
                </c:pt>
                <c:pt idx="3">
                  <c:v/>
                </c:pt>
                <c:pt idx="4">
                  <c:v/>
                </c:pt>
                <c:pt idx="5">
                  <c:v/>
                </c:pt>
                <c:pt idx="6">
                  <c:v/>
                </c:pt>
                <c:pt idx="7">
                  <c:v/>
                </c:pt>
                <c:pt idx="8">
                  <c:v/>
                </c:pt>
                <c:pt idx="9">
                  <c:v>395.9816513761468</c:v>
                </c:pt>
                <c:pt idx="10">
                  <c:v/>
                </c:pt>
                <c:pt idx="11">
                  <c:v>371.01869158878503</c:v>
                </c:pt>
              </c:numCache>
            </c:numRef>
          </c:val>
          <c:smooth val="0"/>
        </c:ser>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0"/>
          <c:min val="3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369.7435897435897</c:v>
                </c:pt>
                <c:pt idx="1">
                  <c:v/>
                </c:pt>
                <c:pt idx="2">
                  <c:v>369.91379310344826</c:v>
                </c:pt>
                <c:pt idx="3">
                  <c:v>384.63963963963965</c:v>
                </c:pt>
                <c:pt idx="4">
                  <c:v>381.18918918918916</c:v>
                </c:pt>
                <c:pt idx="5">
                  <c:v>387.73394495412845</c:v>
                </c:pt>
                <c:pt idx="6">
                  <c:v>399.1909090909091</c:v>
                </c:pt>
                <c:pt idx="7">
                  <c:v>390.9</c:v>
                </c:pt>
                <c:pt idx="8">
                  <c:v>372.6542056074766</c:v>
                </c:pt>
                <c:pt idx="9">
                  <c:v/>
                </c:pt>
                <c:pt idx="10">
                  <c:v>352.803738317757</c:v>
                </c:pt>
                <c:pt idx="11">
                  <c:v/>
                </c:pt>
              </c:numCache>
            </c:numRef>
          </c:val>
          <c:smooth val="0"/>
        </c:ser>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0"/>
          <c:min val="3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8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369.7435897435897</c:v>
                </c:pt>
                <c:pt idx="1">
                  <c:v>342.2155172413793</c:v>
                </c:pt>
                <c:pt idx="2">
                  <c:v>369.91379310344826</c:v>
                </c:pt>
                <c:pt idx="3">
                  <c:v>384.63963963963965</c:v>
                </c:pt>
                <c:pt idx="4">
                  <c:v>381.18918918918916</c:v>
                </c:pt>
                <c:pt idx="5">
                  <c:v>387.73394495412845</c:v>
                </c:pt>
                <c:pt idx="6">
                  <c:v>399.1909090909091</c:v>
                </c:pt>
                <c:pt idx="7">
                  <c:v>390.9</c:v>
                </c:pt>
                <c:pt idx="8">
                  <c:v>372.6542056074766</c:v>
                </c:pt>
                <c:pt idx="9">
                  <c:v>395.9816513761468</c:v>
                </c:pt>
                <c:pt idx="10">
                  <c:v>352.803738317757</c:v>
                </c:pt>
                <c:pt idx="11">
                  <c:v>371.01869158878503</c:v>
                </c:pt>
              </c:numCache>
            </c:numRef>
          </c:val>
          <c:smooth val="0"/>
        </c:ser>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450"/>
          <c:min val="3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788.25</c:v>
                </c:pt>
                <c:pt idx="1">
                  <c:v>743</c:v>
                </c:pt>
                <c:pt idx="2">
                  <c:v>799.875</c:v>
                </c:pt>
                <c:pt idx="3">
                  <c:v>809.375</c:v>
                </c:pt>
                <c:pt idx="4">
                  <c:v>793.75</c:v>
                </c:pt>
                <c:pt idx="5">
                  <c:v>918.4285714285714</c:v>
                </c:pt>
                <c:pt idx="6">
                  <c:v>949.8571428571429</c:v>
                </c:pt>
                <c:pt idx="7">
                  <c:v>917.4285714285714</c:v>
                </c:pt>
                <c:pt idx="8">
                  <c:v>876.7142857142857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955.5714285714286</c:v>
                </c:pt>
                <c:pt idx="1">
                  <c:v>813.1428571428571</c:v>
                </c:pt>
                <c:pt idx="2">
                  <c:v>928.8571428571429</c:v>
                </c:pt>
                <c:pt idx="3">
                  <c:v>1032.6666666666667</c:v>
                </c:pt>
                <c:pt idx="4">
                  <c:v>1035.6666666666667</c:v>
                </c:pt>
                <c:pt idx="5">
                  <c:v>1089.5</c:v>
                </c:pt>
                <c:pt idx="6">
                  <c:v>1147.8333333333333</c:v>
                </c:pt>
                <c:pt idx="7">
                  <c:v>1197.8333333333333</c:v>
                </c:pt>
                <c:pt idx="8">
                  <c:v>1056.5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34.22"/>
          <c:min val="706.613333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477</c:v>
                </c:pt>
                <c:pt idx="1">
                  <c:v>435.75</c:v>
                </c:pt>
                <c:pt idx="2">
                  <c:v>506.5</c:v>
                </c:pt>
                <c:pt idx="3">
                  <c:v>515</c:v>
                </c:pt>
                <c:pt idx="4">
                  <c:v>499.5</c:v>
                </c:pt>
                <c:pt idx="5">
                  <c:v>484.5</c:v>
                </c:pt>
                <c:pt idx="6">
                  <c:v>515.75</c:v>
                </c:pt>
                <c:pt idx="7">
                  <c:v>623</c:v>
                </c:pt>
                <c:pt idx="8">
                  <c:v>647.3333333333334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642.3333333333334</c:v>
                </c:pt>
                <c:pt idx="1">
                  <c:v>600.6666666666666</c:v>
                </c:pt>
                <c:pt idx="2">
                  <c:v>666.3333333333334</c:v>
                </c:pt>
                <c:pt idx="3">
                  <c:v>712.3333333333334</c:v>
                </c:pt>
                <c:pt idx="4">
                  <c:v>677</c:v>
                </c:pt>
                <c:pt idx="5">
                  <c:v>736</c:v>
                </c:pt>
                <c:pt idx="6">
                  <c:v>740.3333333333334</c:v>
                </c:pt>
                <c:pt idx="7">
                  <c:v>676.6666666666666</c:v>
                </c:pt>
                <c:pt idx="8">
                  <c:v>721.3333333333334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64.7"/>
          <c:min val="411.383333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544.3333333333334</c:v>
                </c:pt>
                <c:pt idx="1">
                  <c:v>496.3333333333333</c:v>
                </c:pt>
                <c:pt idx="2">
                  <c:v>512.3333333333334</c:v>
                </c:pt>
                <c:pt idx="3">
                  <c:v>563.3333333333334</c:v>
                </c:pt>
                <c:pt idx="4">
                  <c:v>527.3333333333334</c:v>
                </c:pt>
                <c:pt idx="5">
                  <c:v>567</c:v>
                </c:pt>
                <c:pt idx="6">
                  <c:v>579</c:v>
                </c:pt>
                <c:pt idx="7">
                  <c:v>512</c:v>
                </c:pt>
                <c:pt idx="8">
                  <c:v>519.3333333333334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545</c:v>
                </c:pt>
                <c:pt idx="1">
                  <c:v>473</c:v>
                </c:pt>
                <c:pt idx="2">
                  <c:v>527.3333333333334</c:v>
                </c:pt>
                <c:pt idx="3">
                  <c:v>538</c:v>
                </c:pt>
                <c:pt idx="4">
                  <c:v>733</c:v>
                </c:pt>
                <c:pt idx="5">
                  <c:v>808</c:v>
                </c:pt>
                <c:pt idx="6">
                  <c:v>847.5</c:v>
                </c:pt>
                <c:pt idx="7">
                  <c:v>862</c:v>
                </c:pt>
                <c:pt idx="8">
                  <c:v>851.5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93.12"/>
          <c:min val="4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432.75</c:v>
                </c:pt>
                <c:pt idx="1">
                  <c:v>366</c:v>
                </c:pt>
                <c:pt idx="2">
                  <c:v>395</c:v>
                </c:pt>
                <c:pt idx="3">
                  <c:v>446.75</c:v>
                </c:pt>
                <c:pt idx="4">
                  <c:v>439.25</c:v>
                </c:pt>
                <c:pt idx="5">
                  <c:v>555.6666666666666</c:v>
                </c:pt>
                <c:pt idx="6">
                  <c:v>594.6666666666666</c:v>
                </c:pt>
                <c:pt idx="7">
                  <c:v>574</c:v>
                </c:pt>
                <c:pt idx="8">
                  <c:v>525.6666666666666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567.6666666666666</c:v>
                </c:pt>
                <c:pt idx="1">
                  <c:v>481.6666666666667</c:v>
                </c:pt>
                <c:pt idx="2">
                  <c:v>620.3333333333334</c:v>
                </c:pt>
                <c:pt idx="3">
                  <c:v>573</c:v>
                </c:pt>
                <c:pt idx="4">
                  <c:v>588</c:v>
                </c:pt>
                <c:pt idx="5">
                  <c:v>638.6666666666666</c:v>
                </c:pt>
                <c:pt idx="6">
                  <c:v>637.6666666666666</c:v>
                </c:pt>
                <c:pt idx="7">
                  <c:v>596.6666666666666</c:v>
                </c:pt>
                <c:pt idx="8">
                  <c:v>611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60.4799999999999"/>
          <c:min val="344.1866666666666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639</c:v>
                </c:pt>
                <c:pt idx="1">
                  <c:v>652</c:v>
                </c:pt>
                <c:pt idx="2">
                  <c:v>692.5</c:v>
                </c:pt>
                <c:pt idx="3">
                  <c:v>612.75</c:v>
                </c:pt>
                <c:pt idx="4">
                  <c:v>615.5</c:v>
                </c:pt>
                <c:pt idx="5">
                  <c:v>627.75</c:v>
                </c:pt>
                <c:pt idx="6">
                  <c:v>661.5</c:v>
                </c:pt>
                <c:pt idx="7">
                  <c:v>640</c:v>
                </c:pt>
                <c:pt idx="8">
                  <c:v>713.6666666666666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741</c:v>
                </c:pt>
                <c:pt idx="1">
                  <c:v>672</c:v>
                </c:pt>
                <c:pt idx="2">
                  <c:v>737.6666666666666</c:v>
                </c:pt>
                <c:pt idx="3">
                  <c:v>713</c:v>
                </c:pt>
                <c:pt idx="4">
                  <c:v>774.3333333333334</c:v>
                </c:pt>
                <c:pt idx="5">
                  <c:v>807</c:v>
                </c:pt>
                <c:pt idx="6">
                  <c:v>775</c:v>
                </c:pt>
                <c:pt idx="7">
                  <c:v>852.6666666666666</c:v>
                </c:pt>
                <c:pt idx="8">
                  <c:v>814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71.86"/>
          <c:min val="593.5566666666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896</c:v>
                </c:pt>
                <c:pt idx="1">
                  <c:v>672</c:v>
                </c:pt>
                <c:pt idx="2">
                  <c:v>832</c:v>
                </c:pt>
                <c:pt idx="3">
                  <c:v>812</c:v>
                </c:pt>
                <c:pt idx="4">
                  <c:v>779</c:v>
                </c:pt>
                <c:pt idx="5">
                  <c:v>826</c:v>
                </c:pt>
                <c:pt idx="6">
                  <c:v>990</c:v>
                </c:pt>
                <c:pt idx="7">
                  <c:v>920</c:v>
                </c:pt>
                <c:pt idx="8">
                  <c:v>840</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684</c:v>
                </c:pt>
                <c:pt idx="1">
                  <c:v>597</c:v>
                </c:pt>
                <c:pt idx="2">
                  <c:v>715</c:v>
                </c:pt>
                <c:pt idx="3">
                  <c:v>762</c:v>
                </c:pt>
                <c:pt idx="4">
                  <c:v>757</c:v>
                </c:pt>
                <c:pt idx="5">
                  <c:v>756</c:v>
                </c:pt>
                <c:pt idx="6">
                  <c:v>394</c:v>
                </c:pt>
                <c:pt idx="7">
                  <c:v>431.5</c:v>
                </c:pt>
                <c:pt idx="8">
                  <c:v>397.5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37.68"/>
          <c:min val="346.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346.6666666666667</c:v>
                </c:pt>
                <c:pt idx="1">
                  <c:v>508</c:v>
                </c:pt>
                <c:pt idx="2">
                  <c:v>492.5</c:v>
                </c:pt>
                <c:pt idx="3">
                  <c:v>528</c:v>
                </c:pt>
                <c:pt idx="4">
                  <c:v>474.5</c:v>
                </c:pt>
                <c:pt idx="5">
                  <c:v>492.5</c:v>
                </c:pt>
                <c:pt idx="6">
                  <c:v>303</c:v>
                </c:pt>
                <c:pt idx="7">
                  <c:v>324</c:v>
                </c:pt>
                <c:pt idx="8">
                  <c:v>316.6666666666667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322.3333333333333</c:v>
                </c:pt>
                <c:pt idx="1">
                  <c:v>277.6666666666667</c:v>
                </c:pt>
                <c:pt idx="2">
                  <c:v>336.6666666666667</c:v>
                </c:pt>
                <c:pt idx="3">
                  <c:v>315.3333333333333</c:v>
                </c:pt>
                <c:pt idx="4">
                  <c:v>313</c:v>
                </c:pt>
                <c:pt idx="5">
                  <c:v>323.6666666666667</c:v>
                </c:pt>
                <c:pt idx="6">
                  <c:v>307</c:v>
                </c:pt>
                <c:pt idx="7">
                  <c:v>283</c:v>
                </c:pt>
                <c:pt idx="8">
                  <c:v>296.3333333333333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48.0266666666666"/>
          <c:min val="257.6400000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472</c:v>
                </c:pt>
                <c:pt idx="1">
                  <c:v>412</c:v>
                </c:pt>
                <c:pt idx="2">
                  <c:v>461</c:v>
                </c:pt>
                <c:pt idx="3">
                  <c:v>444.3333333333333</c:v>
                </c:pt>
                <c:pt idx="4">
                  <c:v>454.6666666666667</c:v>
                </c:pt>
                <c:pt idx="5">
                  <c:v>398.6666666666667</c:v>
                </c:pt>
                <c:pt idx="6">
                  <c:v>433</c:v>
                </c:pt>
                <c:pt idx="7">
                  <c:v>410</c:v>
                </c:pt>
                <c:pt idx="8">
                  <c:v>597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379.3333333333333</c:v>
                </c:pt>
                <c:pt idx="1">
                  <c:v>311.6666666666667</c:v>
                </c:pt>
                <c:pt idx="2">
                  <c:v>365</c:v>
                </c:pt>
                <c:pt idx="3">
                  <c:v>366.6666666666667</c:v>
                </c:pt>
                <c:pt idx="4">
                  <c:v>376.3333333333333</c:v>
                </c:pt>
                <c:pt idx="5">
                  <c:v>404.6666666666667</c:v>
                </c:pt>
                <c:pt idx="6">
                  <c:v>405</c:v>
                </c:pt>
                <c:pt idx="7">
                  <c:v>376.3333333333333</c:v>
                </c:pt>
                <c:pt idx="8">
                  <c:v>403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9.8266666666667"/>
          <c:min val="288.8400000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472.125</c:v>
                </c:pt>
                <c:pt idx="1">
                  <c:v>440.5</c:v>
                </c:pt>
                <c:pt idx="2">
                  <c:v>501.625</c:v>
                </c:pt>
                <c:pt idx="3">
                  <c:v>434.75</c:v>
                </c:pt>
                <c:pt idx="4">
                  <c:v>435.5</c:v>
                </c:pt>
                <c:pt idx="5">
                  <c:v>436.75</c:v>
                </c:pt>
                <c:pt idx="6">
                  <c:v>444.75</c:v>
                </c:pt>
                <c:pt idx="7">
                  <c:v>462.125</c:v>
                </c:pt>
                <c:pt idx="8">
                  <c:v>401.75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409.375</c:v>
                </c:pt>
                <c:pt idx="1">
                  <c:v>331.5</c:v>
                </c:pt>
                <c:pt idx="2">
                  <c:v>389.5</c:v>
                </c:pt>
                <c:pt idx="3">
                  <c:v>368.625</c:v>
                </c:pt>
                <c:pt idx="4">
                  <c:v>387.125</c:v>
                </c:pt>
                <c:pt idx="5">
                  <c:v>415.125</c:v>
                </c:pt>
                <c:pt idx="6">
                  <c:v>417.25</c:v>
                </c:pt>
                <c:pt idx="7">
                  <c:v>403.625</c:v>
                </c:pt>
                <c:pt idx="8">
                  <c:v>406.125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15.235"/>
          <c:min val="317.8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350</c:v>
                </c:pt>
                <c:pt idx="1">
                  <c:v>369.75</c:v>
                </c:pt>
                <c:pt idx="2">
                  <c:v>406</c:v>
                </c:pt>
                <c:pt idx="3">
                  <c:v>389.75</c:v>
                </c:pt>
                <c:pt idx="4">
                  <c:v>479</c:v>
                </c:pt>
                <c:pt idx="5">
                  <c:v>473</c:v>
                </c:pt>
                <c:pt idx="6">
                  <c:v>473.3333333333333</c:v>
                </c:pt>
                <c:pt idx="7">
                  <c:v>407</c:v>
                </c:pt>
                <c:pt idx="8">
                  <c:v>334.5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494</c:v>
                </c:pt>
                <c:pt idx="1">
                  <c:v>343.75</c:v>
                </c:pt>
                <c:pt idx="2">
                  <c:v>404</c:v>
                </c:pt>
                <c:pt idx="3">
                  <c:v>387</c:v>
                </c:pt>
                <c:pt idx="4">
                  <c:v>344.25</c:v>
                </c:pt>
                <c:pt idx="5">
                  <c:v>369.25</c:v>
                </c:pt>
                <c:pt idx="6">
                  <c:v>301.6</c:v>
                </c:pt>
                <c:pt idx="7">
                  <c:v>283.6</c:v>
                </c:pt>
                <c:pt idx="8">
                  <c:v>309.6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10.832"/>
          <c:min val="266.7680000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515.1111111111112</c:v>
                </c:pt>
                <c:pt idx="1">
                  <c:v>515.1111111111112</c:v>
                </c:pt>
                <c:pt idx="2">
                  <c:v>515.1111111111112</c:v>
                </c:pt>
                <c:pt idx="3">
                  <c:v>515.1111111111112</c:v>
                </c:pt>
                <c:pt idx="4">
                  <c:v>515.1111111111112</c:v>
                </c:pt>
                <c:pt idx="5">
                  <c:v>515.1111111111112</c:v>
                </c:pt>
                <c:pt idx="6">
                  <c:v>515.1111111111112</c:v>
                </c:pt>
                <c:pt idx="7">
                  <c:v>515.1111111111112</c:v>
                </c:pt>
                <c:pt idx="8">
                  <c:v>515.1111111111112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93.12"/>
          <c:min val="4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545</c:v>
                </c:pt>
                <c:pt idx="1">
                  <c:v>473</c:v>
                </c:pt>
                <c:pt idx="2">
                  <c:v>527.3333333333334</c:v>
                </c:pt>
                <c:pt idx="3">
                  <c:v>538</c:v>
                </c:pt>
                <c:pt idx="4">
                  <c:v>733</c:v>
                </c:pt>
                <c:pt idx="5">
                  <c:v>808</c:v>
                </c:pt>
                <c:pt idx="6">
                  <c:v>847.5</c:v>
                </c:pt>
                <c:pt idx="7">
                  <c:v>862</c:v>
                </c:pt>
                <c:pt idx="8">
                  <c:v>851.5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93.12"/>
          <c:min val="4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899.1904761904763</c:v>
                </c:pt>
                <c:pt idx="1">
                  <c:v>899.1904761904763</c:v>
                </c:pt>
                <c:pt idx="2">
                  <c:v>899.1904761904763</c:v>
                </c:pt>
                <c:pt idx="3">
                  <c:v>899.1904761904763</c:v>
                </c:pt>
                <c:pt idx="4">
                  <c:v>899.1904761904763</c:v>
                </c:pt>
                <c:pt idx="5">
                  <c:v>899.1904761904763</c:v>
                </c:pt>
                <c:pt idx="6">
                  <c:v>899.1904761904763</c:v>
                </c:pt>
                <c:pt idx="7">
                  <c:v>899.1904761904763</c:v>
                </c:pt>
                <c:pt idx="8">
                  <c:v>899.1904761904763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28.6085714285714"/>
          <c:min val="782.3676190476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955.5714285714286</c:v>
                </c:pt>
                <c:pt idx="1">
                  <c:v>813.1428571428571</c:v>
                </c:pt>
                <c:pt idx="2">
                  <c:v>928.8571428571429</c:v>
                </c:pt>
                <c:pt idx="3">
                  <c:v>1032.6666666666667</c:v>
                </c:pt>
                <c:pt idx="4">
                  <c:v>1035.6666666666667</c:v>
                </c:pt>
                <c:pt idx="5">
                  <c:v>1089.5</c:v>
                </c:pt>
                <c:pt idx="6">
                  <c:v>1147.8333333333333</c:v>
                </c:pt>
                <c:pt idx="7">
                  <c:v>1197.8333333333333</c:v>
                </c:pt>
                <c:pt idx="8">
                  <c:v>1056.5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28.6085714285714"/>
          <c:min val="782.3676190476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157.66666666666666</c:v>
                </c:pt>
                <c:pt idx="1">
                  <c:v>157.66666666666666</c:v>
                </c:pt>
                <c:pt idx="2">
                  <c:v>157.66666666666666</c:v>
                </c:pt>
                <c:pt idx="3">
                  <c:v>157.66666666666666</c:v>
                </c:pt>
                <c:pt idx="4">
                  <c:v>157.66666666666666</c:v>
                </c:pt>
                <c:pt idx="5">
                  <c:v>157.66666666666666</c:v>
                </c:pt>
                <c:pt idx="6">
                  <c:v>157.66666666666666</c:v>
                </c:pt>
                <c:pt idx="7">
                  <c:v>157.66666666666666</c:v>
                </c:pt>
                <c:pt idx="8">
                  <c:v>157.66666666666666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1.72"/>
          <c:min val="119.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168.5</c:v>
                </c:pt>
                <c:pt idx="1">
                  <c:v>136</c:v>
                </c:pt>
                <c:pt idx="2">
                  <c:v>168.5</c:v>
                </c:pt>
                <c:pt idx="3">
                  <c:v>189</c:v>
                </c:pt>
                <c:pt idx="4">
                  <c:v>169</c:v>
                </c:pt>
                <c:pt idx="5">
                  <c:v>204.5</c:v>
                </c:pt>
                <c:pt idx="6">
                  <c:v>343</c:v>
                </c:pt>
                <c:pt idx="7">
                  <c:v>345</c:v>
                </c:pt>
                <c:pt idx="8">
                  <c:v>290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1.72"/>
          <c:min val="119.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141.88235294117646</c:v>
                </c:pt>
                <c:pt idx="1">
                  <c:v>141.88235294117646</c:v>
                </c:pt>
                <c:pt idx="2">
                  <c:v>141.88235294117646</c:v>
                </c:pt>
                <c:pt idx="3">
                  <c:v>141.88235294117646</c:v>
                </c:pt>
                <c:pt idx="4">
                  <c:v>141.88235294117646</c:v>
                </c:pt>
                <c:pt idx="5">
                  <c:v>141.88235294117646</c:v>
                </c:pt>
                <c:pt idx="6">
                  <c:v>141.88235294117646</c:v>
                </c:pt>
                <c:pt idx="7">
                  <c:v>141.88235294117646</c:v>
                </c:pt>
                <c:pt idx="8">
                  <c:v>141.88235294117646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09.37"/>
          <c:min val="11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132.16666666666666</c:v>
                </c:pt>
                <c:pt idx="1">
                  <c:v>125.5</c:v>
                </c:pt>
                <c:pt idx="2">
                  <c:v>173.2</c:v>
                </c:pt>
                <c:pt idx="3">
                  <c:v>157.2</c:v>
                </c:pt>
                <c:pt idx="4">
                  <c:v>194</c:v>
                </c:pt>
                <c:pt idx="5">
                  <c:v>235.5</c:v>
                </c:pt>
                <c:pt idx="6">
                  <c:v>257.75</c:v>
                </c:pt>
                <c:pt idx="7">
                  <c:v>295.75</c:v>
                </c:pt>
                <c:pt idx="8">
                  <c:v>238.5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09.37"/>
          <c:min val="11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716.8888888888888</c:v>
                </c:pt>
                <c:pt idx="1">
                  <c:v>716.8888888888888</c:v>
                </c:pt>
                <c:pt idx="2">
                  <c:v>716.8888888888888</c:v>
                </c:pt>
                <c:pt idx="3">
                  <c:v>716.8888888888888</c:v>
                </c:pt>
                <c:pt idx="4">
                  <c:v>716.8888888888888</c:v>
                </c:pt>
                <c:pt idx="5">
                  <c:v>716.8888888888888</c:v>
                </c:pt>
                <c:pt idx="6">
                  <c:v>716.8888888888888</c:v>
                </c:pt>
                <c:pt idx="7">
                  <c:v>716.8888888888888</c:v>
                </c:pt>
                <c:pt idx="8">
                  <c:v>716.8888888888888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67.12"/>
          <c:min val="657.5466666666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741</c:v>
                </c:pt>
                <c:pt idx="1">
                  <c:v>672</c:v>
                </c:pt>
                <c:pt idx="2">
                  <c:v>737.6666666666666</c:v>
                </c:pt>
                <c:pt idx="3">
                  <c:v>713</c:v>
                </c:pt>
                <c:pt idx="4">
                  <c:v>774.3333333333334</c:v>
                </c:pt>
                <c:pt idx="5">
                  <c:v>807</c:v>
                </c:pt>
                <c:pt idx="6">
                  <c:v>775</c:v>
                </c:pt>
                <c:pt idx="7">
                  <c:v>852.6666666666666</c:v>
                </c:pt>
                <c:pt idx="8">
                  <c:v>814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67.12"/>
          <c:min val="657.5466666666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26.75294117647059</c:v>
                </c:pt>
                <c:pt idx="1">
                  <c:v>23.790849673202615</c:v>
                </c:pt>
                <c:pt idx="2">
                  <c:v>27.057792207792208</c:v>
                </c:pt>
                <c:pt idx="3">
                  <c:v>26.506796116504855</c:v>
                </c:pt>
                <c:pt idx="4">
                  <c:v>26.089134677944045</c:v>
                </c:pt>
                <c:pt idx="5">
                  <c:v>27.71862871927555</c:v>
                </c:pt>
                <c:pt idx="6">
                  <c:v>28.19573643410853</c:v>
                </c:pt>
                <c:pt idx="7">
                  <c:v>27.801162040025822</c:v>
                </c:pt>
                <c:pt idx="8">
                  <c:v>26.98896103896104</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22"/>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70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26.75294117647059</c:v>
                </c:pt>
                <c:pt idx="1">
                  <c:v/>
                </c:pt>
                <c:pt idx="2">
                  <c:v>27.057792207792208</c:v>
                </c:pt>
                <c:pt idx="3">
                  <c:v>26.506796116504855</c:v>
                </c:pt>
                <c:pt idx="4">
                  <c:v>26.089134677944045</c:v>
                </c:pt>
                <c:pt idx="5">
                  <c:v>27.71862871927555</c:v>
                </c:pt>
                <c:pt idx="6">
                  <c:v>28.19573643410853</c:v>
                </c:pt>
                <c:pt idx="7">
                  <c:v>27.801162040025822</c:v>
                </c:pt>
                <c:pt idx="8">
                  <c:v>26.98896103896104</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22"/>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0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23.790849673202615</c:v>
                </c:pt>
                <c:pt idx="2">
                  <c:v/>
                </c:pt>
                <c:pt idx="3">
                  <c:v/>
                </c:pt>
                <c:pt idx="4">
                  <c:v/>
                </c:pt>
                <c:pt idx="5">
                  <c:v/>
                </c:pt>
                <c:pt idx="6">
                  <c:v/>
                </c:pt>
                <c:pt idx="7">
                  <c:v/>
                </c:pt>
                <c:pt idx="8">
                  <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22"/>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0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24.324142156862745</c:v>
                </c:pt>
                <c:pt idx="2">
                  <c:v/>
                </c:pt>
                <c:pt idx="3">
                  <c:v/>
                </c:pt>
                <c:pt idx="4">
                  <c:v/>
                </c:pt>
                <c:pt idx="5">
                  <c:v/>
                </c:pt>
                <c:pt idx="6">
                  <c:v/>
                </c:pt>
                <c:pt idx="7">
                  <c:v/>
                </c:pt>
                <c:pt idx="8">
                  <c:v/>
                </c:pt>
                <c:pt idx="9">
                  <c:v>26.908977556109726</c:v>
                </c:pt>
                <c:pt idx="10">
                  <c:v/>
                </c:pt>
                <c:pt idx="11">
                  <c:v>25.399232245681382</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22"/>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0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26.62153846153846</c:v>
                </c:pt>
                <c:pt idx="1">
                  <c:v/>
                </c:pt>
                <c:pt idx="2">
                  <c:v>26.341313689379987</c:v>
                </c:pt>
                <c:pt idx="3">
                  <c:v>26.436532507739937</c:v>
                </c:pt>
                <c:pt idx="4">
                  <c:v>26.070240295748615</c:v>
                </c:pt>
                <c:pt idx="5">
                  <c:v>26.152846534653467</c:v>
                </c:pt>
                <c:pt idx="6">
                  <c:v>26.955801104972377</c:v>
                </c:pt>
                <c:pt idx="7">
                  <c:v>26.42839582052858</c:v>
                </c:pt>
                <c:pt idx="8">
                  <c:v>24.67450495049505</c:v>
                </c:pt>
                <c:pt idx="9">
                  <c:v/>
                </c:pt>
                <c:pt idx="10">
                  <c:v>23.8621997471555</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22"/>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0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26.62153846153846</c:v>
                </c:pt>
                <c:pt idx="1">
                  <c:v>24.324142156862745</c:v>
                </c:pt>
                <c:pt idx="2">
                  <c:v>26.341313689379987</c:v>
                </c:pt>
                <c:pt idx="3">
                  <c:v>26.436532507739937</c:v>
                </c:pt>
                <c:pt idx="4">
                  <c:v>26.070240295748615</c:v>
                </c:pt>
                <c:pt idx="5">
                  <c:v>26.152846534653467</c:v>
                </c:pt>
                <c:pt idx="6">
                  <c:v>26.955801104972377</c:v>
                </c:pt>
                <c:pt idx="7">
                  <c:v>26.42839582052858</c:v>
                </c:pt>
                <c:pt idx="8">
                  <c:v>24.67450495049505</c:v>
                </c:pt>
                <c:pt idx="9">
                  <c:v>26.908977556109726</c:v>
                </c:pt>
                <c:pt idx="10">
                  <c:v>23.8621997471555</c:v>
                </c:pt>
                <c:pt idx="11">
                  <c:v>25.399232245681382</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30"/>
          <c:min val="22"/>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26.142857142857142</c:v>
                </c:pt>
                <c:pt idx="1">
                  <c:v>26.923076923076923</c:v>
                </c:pt>
                <c:pt idx="2">
                  <c:v>26.666666666666668</c:v>
                </c:pt>
                <c:pt idx="3">
                  <c:v>25.76923076923077</c:v>
                </c:pt>
                <c:pt idx="4">
                  <c:v>23.76923076923077</c:v>
                </c:pt>
                <c:pt idx="5">
                  <c:v>20.666666666666668</c:v>
                </c:pt>
                <c:pt idx="6">
                  <c:v>22.11764705882353</c:v>
                </c:pt>
                <c:pt idx="7">
                  <c:v>23.294117647058822</c:v>
                </c:pt>
                <c:pt idx="8">
                  <c:v>26.75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26.4</c:v>
                </c:pt>
                <c:pt idx="1">
                  <c:v>28.133333333333333</c:v>
                </c:pt>
                <c:pt idx="2">
                  <c:v>26.75</c:v>
                </c:pt>
                <c:pt idx="3">
                  <c:v>29.666666666666668</c:v>
                </c:pt>
                <c:pt idx="4">
                  <c:v>34.357142857142854</c:v>
                </c:pt>
                <c:pt idx="5">
                  <c:v>39.42857142857143</c:v>
                </c:pt>
                <c:pt idx="6">
                  <c:v>38.07142857142857</c:v>
                </c:pt>
                <c:pt idx="7">
                  <c:v>31.571428571428573</c:v>
                </c:pt>
                <c:pt idx="8">
                  <c:v>29.8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929523809523815"/>
          <c:min val="19.16571428571428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22.22222222222222</c:v>
                </c:pt>
                <c:pt idx="1">
                  <c:v>22.074626865671643</c:v>
                </c:pt>
                <c:pt idx="2">
                  <c:v>23.88235294117647</c:v>
                </c:pt>
                <c:pt idx="3">
                  <c:v>25.14516129032258</c:v>
                </c:pt>
                <c:pt idx="4">
                  <c:v>23.95</c:v>
                </c:pt>
                <c:pt idx="5">
                  <c:v>23.65</c:v>
                </c:pt>
                <c:pt idx="6">
                  <c:v>24.06779661016949</c:v>
                </c:pt>
                <c:pt idx="7">
                  <c:v>27.593220338983052</c:v>
                </c:pt>
                <c:pt idx="8">
                  <c:v>23.892857142857142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31.53191489361702</c:v>
                </c:pt>
                <c:pt idx="1">
                  <c:v>27.5</c:v>
                </c:pt>
                <c:pt idx="2">
                  <c:v>31.076923076923077</c:v>
                </c:pt>
                <c:pt idx="3">
                  <c:v>30.352941176470587</c:v>
                </c:pt>
                <c:pt idx="4">
                  <c:v>25.5</c:v>
                </c:pt>
                <c:pt idx="5">
                  <c:v>28.403846153846153</c:v>
                </c:pt>
                <c:pt idx="6">
                  <c:v>29</c:v>
                </c:pt>
                <c:pt idx="7">
                  <c:v>27.80392156862745</c:v>
                </c:pt>
                <c:pt idx="8">
                  <c:v>28.666666666666668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288497935852654"/>
          <c:min val="21.3180438234360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27.833333333333332</c:v>
                </c:pt>
                <c:pt idx="1">
                  <c:v>22.04</c:v>
                </c:pt>
                <c:pt idx="2">
                  <c:v>27.26086956521739</c:v>
                </c:pt>
                <c:pt idx="3">
                  <c:v>30</c:v>
                </c:pt>
                <c:pt idx="4">
                  <c:v>25.625</c:v>
                </c:pt>
                <c:pt idx="5">
                  <c:v>29.608695652173914</c:v>
                </c:pt>
                <c:pt idx="6">
                  <c:v>25.192307692307693</c:v>
                </c:pt>
                <c:pt idx="7">
                  <c:v>27.583333333333332</c:v>
                </c:pt>
                <c:pt idx="8">
                  <c:v>26.73913043478261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31.38095238095238</c:v>
                </c:pt>
                <c:pt idx="1">
                  <c:v>28.545454545454547</c:v>
                </c:pt>
                <c:pt idx="2">
                  <c:v>29.636363636363637</c:v>
                </c:pt>
                <c:pt idx="3">
                  <c:v>26.076923076923077</c:v>
                </c:pt>
                <c:pt idx="4">
                  <c:v>30.09090909090909</c:v>
                </c:pt>
                <c:pt idx="5">
                  <c:v>34.04761904761905</c:v>
                </c:pt>
                <c:pt idx="6">
                  <c:v>33.714285714285715</c:v>
                </c:pt>
                <c:pt idx="7">
                  <c:v>30.857142857142858</c:v>
                </c:pt>
                <c:pt idx="8">
                  <c:v>31.90909090909091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008228571428575"/>
          <c:min val="21.0793904761904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33.54838709677419</c:v>
                </c:pt>
                <c:pt idx="1">
                  <c:v>33.86666666666667</c:v>
                </c:pt>
                <c:pt idx="2">
                  <c:v>31.774193548387096</c:v>
                </c:pt>
                <c:pt idx="3">
                  <c:v>35.2</c:v>
                </c:pt>
                <c:pt idx="4">
                  <c:v>30.612903225806452</c:v>
                </c:pt>
                <c:pt idx="5">
                  <c:v>36.48148148148148</c:v>
                </c:pt>
                <c:pt idx="6">
                  <c:v>32.464285714285715</c:v>
                </c:pt>
                <c:pt idx="7">
                  <c:v>33.51724137931034</c:v>
                </c:pt>
                <c:pt idx="8">
                  <c:v>31.666666666666668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31.193548387096776</c:v>
                </c:pt>
                <c:pt idx="1">
                  <c:v>26.870967741935484</c:v>
                </c:pt>
                <c:pt idx="2">
                  <c:v>31.5625</c:v>
                </c:pt>
                <c:pt idx="3">
                  <c:v>43</c:v>
                </c:pt>
                <c:pt idx="4">
                  <c:v>42.68181818181818</c:v>
                </c:pt>
                <c:pt idx="5">
                  <c:v>44.13636363636363</c:v>
                </c:pt>
                <c:pt idx="6">
                  <c:v>41.86363636363637</c:v>
                </c:pt>
                <c:pt idx="7">
                  <c:v>38.59090909090909</c:v>
                </c:pt>
                <c:pt idx="8">
                  <c:v>40.40909090909091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51759530791789"/>
          <c:min val="25.4897360703812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16.24137931034483</c:v>
                </c:pt>
                <c:pt idx="1">
                  <c:v>14.147540983606557</c:v>
                </c:pt>
                <c:pt idx="2">
                  <c:v>15.6</c:v>
                </c:pt>
                <c:pt idx="3">
                  <c:v>16.879310344827587</c:v>
                </c:pt>
                <c:pt idx="4">
                  <c:v>16.05263157894737</c:v>
                </c:pt>
                <c:pt idx="5">
                  <c:v>16.54385964912281</c:v>
                </c:pt>
                <c:pt idx="6">
                  <c:v>15.60344827586207</c:v>
                </c:pt>
                <c:pt idx="7">
                  <c:v>15.857142857142858</c:v>
                </c:pt>
                <c:pt idx="8">
                  <c:v>16.589285714285715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18.372549019607842</c:v>
                </c:pt>
                <c:pt idx="1">
                  <c:v>17.632653061224488</c:v>
                </c:pt>
                <c:pt idx="2">
                  <c:v>21.395833333333332</c:v>
                </c:pt>
                <c:pt idx="3">
                  <c:v>19.916666666666668</c:v>
                </c:pt>
                <c:pt idx="4">
                  <c:v>18.4375</c:v>
                </c:pt>
                <c:pt idx="5">
                  <c:v>19.145833333333332</c:v>
                </c:pt>
                <c:pt idx="6">
                  <c:v>20.520833333333332</c:v>
                </c:pt>
                <c:pt idx="7">
                  <c:v>18.958333333333332</c:v>
                </c:pt>
                <c:pt idx="8">
                  <c:v>18.416666666666668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975696721311476"/>
          <c:min val="13.5676775956284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48.588235294117645</c:v>
                </c:pt>
                <c:pt idx="1">
                  <c:v>47.294117647058826</c:v>
                </c:pt>
                <c:pt idx="2">
                  <c:v>51.470588235294116</c:v>
                </c:pt>
                <c:pt idx="3">
                  <c:v>46.94444444444444</c:v>
                </c:pt>
                <c:pt idx="4">
                  <c:v>46.833333333333336</c:v>
                </c:pt>
                <c:pt idx="5">
                  <c:v>50.1764705882353</c:v>
                </c:pt>
                <c:pt idx="6">
                  <c:v>48.8235294117647</c:v>
                </c:pt>
                <c:pt idx="7">
                  <c:v>40.611111111111114</c:v>
                </c:pt>
                <c:pt idx="8">
                  <c:v>38.5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39.35</c:v>
                </c:pt>
                <c:pt idx="1">
                  <c:v>39.476190476190474</c:v>
                </c:pt>
                <c:pt idx="2">
                  <c:v>39.27272727272727</c:v>
                </c:pt>
                <c:pt idx="3">
                  <c:v>44.857142857142854</c:v>
                </c:pt>
                <c:pt idx="4">
                  <c:v>39.3</c:v>
                </c:pt>
                <c:pt idx="5">
                  <c:v>40.5</c:v>
                </c:pt>
                <c:pt idx="6">
                  <c:v>40.08695652173913</c:v>
                </c:pt>
                <c:pt idx="7">
                  <c:v>36.43478260869565</c:v>
                </c:pt>
                <c:pt idx="8">
                  <c:v>39.65217391304348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67345268542199"/>
          <c:min val="35.2319181585677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37.333333333333336</c:v>
                </c:pt>
                <c:pt idx="1">
                  <c:v>30.545454545454547</c:v>
                </c:pt>
                <c:pt idx="2">
                  <c:v>37.81818181818182</c:v>
                </c:pt>
                <c:pt idx="3">
                  <c:v>35.30434782608695</c:v>
                </c:pt>
                <c:pt idx="4">
                  <c:v>35.40909090909091</c:v>
                </c:pt>
                <c:pt idx="5">
                  <c:v>39.333333333333336</c:v>
                </c:pt>
                <c:pt idx="6">
                  <c:v>45</c:v>
                </c:pt>
                <c:pt idx="7">
                  <c:v>43.80952380952381</c:v>
                </c:pt>
                <c:pt idx="8">
                  <c:v>40</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29.73913043478261</c:v>
                </c:pt>
                <c:pt idx="1">
                  <c:v>27.136363636363637</c:v>
                </c:pt>
                <c:pt idx="2">
                  <c:v>32.5</c:v>
                </c:pt>
                <c:pt idx="3">
                  <c:v>33.130434782608695</c:v>
                </c:pt>
                <c:pt idx="4">
                  <c:v>34.40909090909091</c:v>
                </c:pt>
                <c:pt idx="5">
                  <c:v>37.8</c:v>
                </c:pt>
                <c:pt idx="6">
                  <c:v>34.26086956521739</c:v>
                </c:pt>
                <c:pt idx="7">
                  <c:v>33.19230769230769</c:v>
                </c:pt>
                <c:pt idx="8">
                  <c:v>30.576923076923077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6.42909090909091"/>
          <c:min val="25.70727272727272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41.27272727272727</c:v>
                </c:pt>
                <c:pt idx="1">
                  <c:v>30.916666666666668</c:v>
                </c:pt>
                <c:pt idx="2">
                  <c:v>31.333333333333332</c:v>
                </c:pt>
                <c:pt idx="3">
                  <c:v>37.27272727272727</c:v>
                </c:pt>
                <c:pt idx="4">
                  <c:v>34.36363636363637</c:v>
                </c:pt>
                <c:pt idx="5">
                  <c:v>33.333333333333336</c:v>
                </c:pt>
                <c:pt idx="6">
                  <c:v>42.6</c:v>
                </c:pt>
                <c:pt idx="7">
                  <c:v>33.81818181818182</c:v>
                </c:pt>
                <c:pt idx="8">
                  <c:v>32.36363636363637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30.636363636363637</c:v>
                </c:pt>
                <c:pt idx="1">
                  <c:v>27.2</c:v>
                </c:pt>
                <c:pt idx="2">
                  <c:v>33.7</c:v>
                </c:pt>
                <c:pt idx="3">
                  <c:v>31.5</c:v>
                </c:pt>
                <c:pt idx="4">
                  <c:v>28.166666666666668</c:v>
                </c:pt>
                <c:pt idx="5">
                  <c:v>34.083333333333336</c:v>
                </c:pt>
                <c:pt idx="6">
                  <c:v>31.181818181818183</c:v>
                </c:pt>
                <c:pt idx="7">
                  <c:v>34.5</c:v>
                </c:pt>
                <c:pt idx="8">
                  <c:v>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832"/>
          <c:min val="25.9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36.66990291262136</c:v>
                </c:pt>
                <c:pt idx="1">
                  <c:v>33.88461538461539</c:v>
                </c:pt>
                <c:pt idx="2">
                  <c:v>38.21904761904762</c:v>
                </c:pt>
                <c:pt idx="3">
                  <c:v>33.12380952380953</c:v>
                </c:pt>
                <c:pt idx="4">
                  <c:v>33.180952380952384</c:v>
                </c:pt>
                <c:pt idx="5">
                  <c:v>33.59615384615385</c:v>
                </c:pt>
                <c:pt idx="6">
                  <c:v>34.21153846153846</c:v>
                </c:pt>
                <c:pt idx="7">
                  <c:v>35.20952380952381</c:v>
                </c:pt>
                <c:pt idx="8">
                  <c:v>30.60952380952381</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32.42574257425743</c:v>
                </c:pt>
                <c:pt idx="1">
                  <c:v>27.06122448979592</c:v>
                </c:pt>
                <c:pt idx="2">
                  <c:v>32.8</c:v>
                </c:pt>
                <c:pt idx="3">
                  <c:v>30.4020618556701</c:v>
                </c:pt>
                <c:pt idx="4">
                  <c:v>30.97</c:v>
                </c:pt>
                <c:pt idx="5">
                  <c:v>32.24271844660194</c:v>
                </c:pt>
                <c:pt idx="6">
                  <c:v>32.407766990291265</c:v>
                </c:pt>
                <c:pt idx="7">
                  <c:v>32.61616161616162</c:v>
                </c:pt>
                <c:pt idx="8">
                  <c:v>31.852941176470587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9.11167346938776"/>
          <c:min val="26.1685986394557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21.32</c:v>
                </c:pt>
                <c:pt idx="1">
                  <c:v>20.565217391304348</c:v>
                </c:pt>
                <c:pt idx="2">
                  <c:v>26.347826086956523</c:v>
                </c:pt>
                <c:pt idx="3">
                  <c:v>26.916666666666668</c:v>
                </c:pt>
                <c:pt idx="4">
                  <c:v>28.727272727272727</c:v>
                </c:pt>
                <c:pt idx="5">
                  <c:v>24.91304347826087</c:v>
                </c:pt>
                <c:pt idx="6">
                  <c:v>31</c:v>
                </c:pt>
                <c:pt idx="7">
                  <c:v>26.115384615384617</c:v>
                </c:pt>
                <c:pt idx="8">
                  <c:v>26.77777777777778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23.074074074074073</c:v>
                </c:pt>
                <c:pt idx="1">
                  <c:v>21.037037037037038</c:v>
                </c:pt>
                <c:pt idx="2">
                  <c:v>23.51851851851852</c:v>
                </c:pt>
                <c:pt idx="3">
                  <c:v>25.77777777777778</c:v>
                </c:pt>
                <c:pt idx="4">
                  <c:v>24.384615384615383</c:v>
                </c:pt>
                <c:pt idx="5">
                  <c:v>25.321428571428573</c:v>
                </c:pt>
                <c:pt idx="6">
                  <c:v>26.296296296296298</c:v>
                </c:pt>
                <c:pt idx="7">
                  <c:v>25.25</c:v>
                </c:pt>
                <c:pt idx="8">
                  <c:v>25.321428571428573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83478260869565"/>
          <c:min val="19.7304347826086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29.893617021276597</c:v>
                </c:pt>
                <c:pt idx="1">
                  <c:v>29.893617021276597</c:v>
                </c:pt>
                <c:pt idx="2">
                  <c:v>29.893617021276597</c:v>
                </c:pt>
                <c:pt idx="3">
                  <c:v>29.893617021276597</c:v>
                </c:pt>
                <c:pt idx="4">
                  <c:v>29.893617021276597</c:v>
                </c:pt>
                <c:pt idx="5">
                  <c:v>29.893617021276597</c:v>
                </c:pt>
                <c:pt idx="6">
                  <c:v>29.893617021276597</c:v>
                </c:pt>
                <c:pt idx="7">
                  <c:v>29.893617021276597</c:v>
                </c:pt>
                <c:pt idx="8">
                  <c:v>29.893617021276597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51759530791789"/>
          <c:min val="25.4897360703812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31.193548387096776</c:v>
                </c:pt>
                <c:pt idx="1">
                  <c:v>26.870967741935484</c:v>
                </c:pt>
                <c:pt idx="2">
                  <c:v>31.5625</c:v>
                </c:pt>
                <c:pt idx="3">
                  <c:v>43</c:v>
                </c:pt>
                <c:pt idx="4">
                  <c:v>42.68181818181818</c:v>
                </c:pt>
                <c:pt idx="5">
                  <c:v>44.13636363636363</c:v>
                </c:pt>
                <c:pt idx="6">
                  <c:v>41.86363636363637</c:v>
                </c:pt>
                <c:pt idx="7">
                  <c:v>38.59090909090909</c:v>
                </c:pt>
                <c:pt idx="8">
                  <c:v>40.40909090909091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51759530791789"/>
          <c:min val="25.4897360703812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18.843749999999996</c:v>
                </c:pt>
                <c:pt idx="1">
                  <c:v>18.843749999999996</c:v>
                </c:pt>
                <c:pt idx="2">
                  <c:v>18.843749999999996</c:v>
                </c:pt>
                <c:pt idx="3">
                  <c:v>18.843749999999996</c:v>
                </c:pt>
                <c:pt idx="4">
                  <c:v>18.843749999999996</c:v>
                </c:pt>
                <c:pt idx="5">
                  <c:v>18.843749999999996</c:v>
                </c:pt>
                <c:pt idx="6">
                  <c:v>18.843749999999996</c:v>
                </c:pt>
                <c:pt idx="7">
                  <c:v>18.843749999999996</c:v>
                </c:pt>
                <c:pt idx="8">
                  <c:v>18.843749999999996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4.05571428571429"/>
          <c:min val="16.7339682539682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18.441860465116278</c:v>
                </c:pt>
                <c:pt idx="1">
                  <c:v>17.928571428571427</c:v>
                </c:pt>
                <c:pt idx="2">
                  <c:v>20.13953488372093</c:v>
                </c:pt>
                <c:pt idx="3">
                  <c:v>19.170731707317074</c:v>
                </c:pt>
                <c:pt idx="4">
                  <c:v>20.42105263157895</c:v>
                </c:pt>
                <c:pt idx="5">
                  <c:v>24.789473684210527</c:v>
                </c:pt>
                <c:pt idx="6">
                  <c:v>25.775</c:v>
                </c:pt>
                <c:pt idx="7">
                  <c:v>32.861111111111114</c:v>
                </c:pt>
                <c:pt idx="8">
                  <c:v>26.5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4.05571428571429"/>
          <c:min val="16.7339682539682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27.08695652173913</c:v>
                </c:pt>
                <c:pt idx="1">
                  <c:v>27.08695652173913</c:v>
                </c:pt>
                <c:pt idx="2">
                  <c:v>27.08695652173913</c:v>
                </c:pt>
                <c:pt idx="3">
                  <c:v>27.08695652173913</c:v>
                </c:pt>
                <c:pt idx="4">
                  <c:v>27.08695652173913</c:v>
                </c:pt>
                <c:pt idx="5">
                  <c:v>27.08695652173913</c:v>
                </c:pt>
                <c:pt idx="6">
                  <c:v>27.08695652173913</c:v>
                </c:pt>
                <c:pt idx="7">
                  <c:v>27.08695652173913</c:v>
                </c:pt>
                <c:pt idx="8">
                  <c:v>27.08695652173913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47085714285714"/>
          <c:min val="25.3577142857142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26.4</c:v>
                </c:pt>
                <c:pt idx="1">
                  <c:v>28.133333333333333</c:v>
                </c:pt>
                <c:pt idx="2">
                  <c:v>26.75</c:v>
                </c:pt>
                <c:pt idx="3">
                  <c:v>29.666666666666668</c:v>
                </c:pt>
                <c:pt idx="4">
                  <c:v>34.357142857142854</c:v>
                </c:pt>
                <c:pt idx="5">
                  <c:v>39.42857142857143</c:v>
                </c:pt>
                <c:pt idx="6">
                  <c:v>38.07142857142857</c:v>
                </c:pt>
                <c:pt idx="7">
                  <c:v>31.571428571428573</c:v>
                </c:pt>
                <c:pt idx="8">
                  <c:v>29.8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47085714285714"/>
          <c:min val="25.3577142857142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32.91836734693877</c:v>
                </c:pt>
                <c:pt idx="1">
                  <c:v>32.91836734693877</c:v>
                </c:pt>
                <c:pt idx="2">
                  <c:v>32.91836734693877</c:v>
                </c:pt>
                <c:pt idx="3">
                  <c:v>32.91836734693877</c:v>
                </c:pt>
                <c:pt idx="4">
                  <c:v>32.91836734693877</c:v>
                </c:pt>
                <c:pt idx="5">
                  <c:v>32.91836734693877</c:v>
                </c:pt>
                <c:pt idx="6">
                  <c:v>32.91836734693877</c:v>
                </c:pt>
                <c:pt idx="7">
                  <c:v>32.91836734693877</c:v>
                </c:pt>
                <c:pt idx="8">
                  <c:v>32.91836734693877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9.414545454545454"/>
          <c:min val="29.888484848484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33.68181818181818</c:v>
                </c:pt>
                <c:pt idx="1">
                  <c:v>30.545454545454547</c:v>
                </c:pt>
                <c:pt idx="2">
                  <c:v>34.578125</c:v>
                </c:pt>
                <c:pt idx="3">
                  <c:v>31.925373134328357</c:v>
                </c:pt>
                <c:pt idx="4">
                  <c:v>35.738461538461536</c:v>
                </c:pt>
                <c:pt idx="5">
                  <c:v>36.68181818181818</c:v>
                </c:pt>
                <c:pt idx="6">
                  <c:v>35.22727272727273</c:v>
                </c:pt>
                <c:pt idx="7">
                  <c:v>38.75757575757576</c:v>
                </c:pt>
                <c:pt idx="8">
                  <c:v>38.15625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9.414545454545454"/>
          <c:min val="29.888484848484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13.142857142857142</c:v>
                </c:pt>
                <c:pt idx="1">
                  <c:v>13.142857142857142</c:v>
                </c:pt>
                <c:pt idx="2">
                  <c:v>13.142857142857142</c:v>
                </c:pt>
                <c:pt idx="3">
                  <c:v>13.142857142857142</c:v>
                </c:pt>
                <c:pt idx="4">
                  <c:v>13.142857142857142</c:v>
                </c:pt>
                <c:pt idx="5">
                  <c:v>13.142857142857142</c:v>
                </c:pt>
                <c:pt idx="6">
                  <c:v>13.142857142857142</c:v>
                </c:pt>
                <c:pt idx="7">
                  <c:v>13.142857142857142</c:v>
                </c:pt>
                <c:pt idx="8">
                  <c:v>13.142857142857142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668235294117647"/>
          <c:min val="10.9788235294117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14.117647058823529</c:v>
                </c:pt>
                <c:pt idx="1">
                  <c:v>12.6</c:v>
                </c:pt>
                <c:pt idx="2">
                  <c:v>12.647058823529411</c:v>
                </c:pt>
                <c:pt idx="3">
                  <c:v>13.764705882352942</c:v>
                </c:pt>
                <c:pt idx="4">
                  <c:v>11.647058823529411</c:v>
                </c:pt>
                <c:pt idx="5">
                  <c:v>16.8125</c:v>
                </c:pt>
                <c:pt idx="6">
                  <c:v>16.375</c:v>
                </c:pt>
                <c:pt idx="7">
                  <c:v>20</c:v>
                </c:pt>
                <c:pt idx="8">
                  <c:v>15.2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668235294117647"/>
          <c:min val="10.9788235294117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140105.4</c:v>
                </c:pt>
                <c:pt idx="1">
                  <c:v>129994.04000000001</c:v>
                </c:pt>
                <c:pt idx="2">
                  <c:v>194655.32</c:v>
                </c:pt>
                <c:pt idx="3">
                  <c:v>176169.16</c:v>
                </c:pt>
                <c:pt idx="4">
                  <c:v>174810.36</c:v>
                </c:pt>
                <c:pt idx="5">
                  <c:v>155900.23</c:v>
                </c:pt>
                <c:pt idx="6">
                  <c:v>168039.07</c:v>
                </c:pt>
                <c:pt idx="7">
                  <c:v>230368.93</c:v>
                </c:pt>
                <c:pt idx="8">
                  <c:v>227165.53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5425.1635"/>
          <c:min val="114937.80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86980.36</c:v>
                </c:pt>
                <c:pt idx="1">
                  <c:v>82836.39</c:v>
                </c:pt>
                <c:pt idx="2">
                  <c:v>86106.14</c:v>
                </c:pt>
                <c:pt idx="3">
                  <c:v>91223.19</c:v>
                </c:pt>
                <c:pt idx="4">
                  <c:v>82915.06</c:v>
                </c:pt>
                <c:pt idx="5">
                  <c:v>95470.58</c:v>
                </c:pt>
                <c:pt idx="6">
                  <c:v>121071.78</c:v>
                </c:pt>
                <c:pt idx="7">
                  <c:v>113797.79000000001</c:v>
                </c:pt>
                <c:pt idx="8">
                  <c:v>101183.02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6807.0885"/>
          <c:min val="77101.08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CDJR POST FALLS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236533.56</c:v>
                </c:pt>
                <c:pt idx="1">
                  <c:v>198065</c:v>
                </c:pt>
                <c:pt idx="2">
                  <c:v>220283.83000000002</c:v>
                </c:pt>
                <c:pt idx="3">
                  <c:v>202377.06</c:v>
                </c:pt>
                <c:pt idx="4">
                  <c:v>210946.1</c:v>
                </c:pt>
                <c:pt idx="5">
                  <c:v>234862.74</c:v>
                </c:pt>
                <c:pt idx="6">
                  <c:v>300394.59</c:v>
                </c:pt>
                <c:pt idx="7">
                  <c:v>271122.35000000003</c:v>
                </c:pt>
                <c:pt idx="8">
                  <c:v>265586.5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5744.0285"/>
          <c:min val="182715.56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63266.58</c:v>
                </c:pt>
                <c:pt idx="1">
                  <c:v>48675.05</c:v>
                </c:pt>
                <c:pt idx="2">
                  <c:v>49504.81</c:v>
                </c:pt>
                <c:pt idx="3">
                  <c:v>58672.880000000005</c:v>
                </c:pt>
                <c:pt idx="4">
                  <c:v>58583.36</c:v>
                </c:pt>
                <c:pt idx="5">
                  <c:v>82540.21</c:v>
                </c:pt>
                <c:pt idx="6">
                  <c:v>77897.88</c:v>
                </c:pt>
                <c:pt idx="7">
                  <c:v>64144.34</c:v>
                </c:pt>
                <c:pt idx="8">
                  <c:v>57011.62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7619.98400000001"/>
          <c:min val="43595.276000000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47133.479999999996</c:v>
                </c:pt>
                <c:pt idx="1">
                  <c:v>42518.81</c:v>
                </c:pt>
                <c:pt idx="2">
                  <c:v>57961.69</c:v>
                </c:pt>
                <c:pt idx="3">
                  <c:v>50013.479999999996</c:v>
                </c:pt>
                <c:pt idx="4">
                  <c:v>50169.79</c:v>
                </c:pt>
                <c:pt idx="5">
                  <c:v>48661.44</c:v>
                </c:pt>
                <c:pt idx="6">
                  <c:v>64651.67</c:v>
                </c:pt>
                <c:pt idx="7">
                  <c:v>56663.37</c:v>
                </c:pt>
                <c:pt idx="8">
                  <c:v>58829.520000000004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7971.599"/>
          <c:min val="39198.8809999999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LEXUS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176585.11</c:v>
                </c:pt>
                <c:pt idx="1">
                  <c:v>184273.9</c:v>
                </c:pt>
                <c:pt idx="2">
                  <c:v>243873.84</c:v>
                </c:pt>
                <c:pt idx="3">
                  <c:v>231682.97</c:v>
                </c:pt>
                <c:pt idx="4">
                  <c:v>262721.61</c:v>
                </c:pt>
                <c:pt idx="5">
                  <c:v>263340.99</c:v>
                </c:pt>
                <c:pt idx="6">
                  <c:v>244041.77</c:v>
                </c:pt>
                <c:pt idx="7">
                  <c:v>244446.27</c:v>
                </c:pt>
                <c:pt idx="8">
                  <c:v>249281.88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6354.372"/>
          <c:min val="163571.727999999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294309.57999999996</c:v>
                </c:pt>
                <c:pt idx="1">
                  <c:v>278868.58</c:v>
                </c:pt>
                <c:pt idx="2">
                  <c:v>359908.79</c:v>
                </c:pt>
                <c:pt idx="3">
                  <c:v>393728.92000000004</c:v>
                </c:pt>
                <c:pt idx="4">
                  <c:v>359273.68</c:v>
                </c:pt>
                <c:pt idx="5">
                  <c:v>386316.45</c:v>
                </c:pt>
                <c:pt idx="6">
                  <c:v>384135.08</c:v>
                </c:pt>
                <c:pt idx="7">
                  <c:v>397933.38999999996</c:v>
                </c:pt>
                <c:pt idx="8">
                  <c:v>341938.74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15793.11149999994"/>
          <c:min val="261008.8585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177080.6</c:v>
                </c:pt>
                <c:pt idx="1">
                  <c:v>116317.49</c:v>
                </c:pt>
                <c:pt idx="2">
                  <c:v>151683.66999999998</c:v>
                </c:pt>
                <c:pt idx="3">
                  <c:v>189304.13</c:v>
                </c:pt>
                <c:pt idx="4">
                  <c:v>164925.71000000002</c:v>
                </c:pt>
                <c:pt idx="5">
                  <c:v>166070.51</c:v>
                </c:pt>
                <c:pt idx="6">
                  <c:v>172210.90000000002</c:v>
                </c:pt>
                <c:pt idx="7">
                  <c:v>228828.82</c:v>
                </c:pt>
                <c:pt idx="8">
                  <c:v>129178.53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5705.5195"/>
          <c:min val="99440.79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GMC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86931.73000000001</c:v>
                </c:pt>
                <c:pt idx="1">
                  <c:v>109867.53</c:v>
                </c:pt>
                <c:pt idx="2">
                  <c:v>104137.82</c:v>
                </c:pt>
                <c:pt idx="3">
                  <c:v>100928.84</c:v>
                </c:pt>
                <c:pt idx="4">
                  <c:v>93945.76000000001</c:v>
                </c:pt>
                <c:pt idx="5">
                  <c:v>108346.47</c:v>
                </c:pt>
                <c:pt idx="6">
                  <c:v>126637.39</c:v>
                </c:pt>
                <c:pt idx="7">
                  <c:v>106298.13999999998</c:v>
                </c:pt>
                <c:pt idx="8">
                  <c:v>124862.66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2593.239"/>
          <c:min val="80975.881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SPOKANE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293762.4</c:v>
                </c:pt>
                <c:pt idx="1">
                  <c:v>268037.54000000004</c:v>
                </c:pt>
                <c:pt idx="2">
                  <c:v>319668.25</c:v>
                </c:pt>
                <c:pt idx="3">
                  <c:v>349268.96</c:v>
                </c:pt>
                <c:pt idx="4">
                  <c:v>347415.9</c:v>
                </c:pt>
                <c:pt idx="5">
                  <c:v>340633.41000000003</c:v>
                </c:pt>
                <c:pt idx="6">
                  <c:v>373611</c:v>
                </c:pt>
                <c:pt idx="7">
                  <c:v>323504.43</c:v>
                </c:pt>
                <c:pt idx="8">
                  <c:v>336990.87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9447.019"/>
          <c:min val="252201.5210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LEXUS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395</c:v>
                </c:pt>
                <c:pt idx="1">
                  <c:v>390</c:v>
                </c:pt>
                <c:pt idx="2">
                  <c:v>491</c:v>
                </c:pt>
                <c:pt idx="3">
                  <c:v>543</c:v>
                </c:pt>
                <c:pt idx="4">
                  <c:v>485</c:v>
                </c:pt>
                <c:pt idx="5">
                  <c:v>553</c:v>
                </c:pt>
                <c:pt idx="6">
                  <c:v>564</c:v>
                </c:pt>
                <c:pt idx="7">
                  <c:v>577</c:v>
                </c:pt>
                <c:pt idx="8">
                  <c:v>569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05.05"/>
          <c:min val="361.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CDJR POST FALLS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567</c:v>
                </c:pt>
                <c:pt idx="1">
                  <c:v>513</c:v>
                </c:pt>
                <c:pt idx="2">
                  <c:v>550</c:v>
                </c:pt>
                <c:pt idx="3">
                  <c:v>539</c:v>
                </c:pt>
                <c:pt idx="4">
                  <c:v>538</c:v>
                </c:pt>
                <c:pt idx="5">
                  <c:v>649</c:v>
                </c:pt>
                <c:pt idx="6">
                  <c:v>716</c:v>
                </c:pt>
                <c:pt idx="7">
                  <c:v>663</c:v>
                </c:pt>
                <c:pt idx="8">
                  <c:v>623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46.45"/>
          <c:min val="482.5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352</c:v>
                </c:pt>
                <c:pt idx="1">
                  <c:v>362</c:v>
                </c:pt>
                <c:pt idx="2">
                  <c:v>336</c:v>
                </c:pt>
                <c:pt idx="3">
                  <c:v>402</c:v>
                </c:pt>
                <c:pt idx="4">
                  <c:v>356</c:v>
                </c:pt>
                <c:pt idx="5">
                  <c:v>442</c:v>
                </c:pt>
                <c:pt idx="6">
                  <c:v>449</c:v>
                </c:pt>
                <c:pt idx="7">
                  <c:v>396</c:v>
                </c:pt>
                <c:pt idx="8">
                  <c:v>401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65.95"/>
          <c:min val="319.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578</c:v>
                </c:pt>
                <c:pt idx="1">
                  <c:v>519</c:v>
                </c:pt>
                <c:pt idx="2">
                  <c:v>637</c:v>
                </c:pt>
                <c:pt idx="3">
                  <c:v>642</c:v>
                </c:pt>
                <c:pt idx="4">
                  <c:v>663</c:v>
                </c:pt>
                <c:pt idx="5">
                  <c:v>654</c:v>
                </c:pt>
                <c:pt idx="6">
                  <c:v>674</c:v>
                </c:pt>
                <c:pt idx="7">
                  <c:v>677</c:v>
                </c:pt>
                <c:pt idx="8">
                  <c:v>657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0.7"/>
          <c:min val="49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FLAGSTAFF</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364</c:v>
                </c:pt>
                <c:pt idx="1">
                  <c:v>375</c:v>
                </c:pt>
                <c:pt idx="2">
                  <c:v>452</c:v>
                </c:pt>
                <c:pt idx="3">
                  <c:v>507</c:v>
                </c:pt>
                <c:pt idx="4">
                  <c:v>463</c:v>
                </c:pt>
                <c:pt idx="5">
                  <c:v>493</c:v>
                </c:pt>
                <c:pt idx="6">
                  <c:v>493</c:v>
                </c:pt>
                <c:pt idx="7">
                  <c:v>458</c:v>
                </c:pt>
                <c:pt idx="8">
                  <c:v>425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8.45"/>
          <c:min val="342.5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549</c:v>
                </c:pt>
                <c:pt idx="1">
                  <c:v>531</c:v>
                </c:pt>
                <c:pt idx="2">
                  <c:v>556</c:v>
                </c:pt>
                <c:pt idx="3">
                  <c:v>544</c:v>
                </c:pt>
                <c:pt idx="4">
                  <c:v>516</c:v>
                </c:pt>
                <c:pt idx="5">
                  <c:v>599</c:v>
                </c:pt>
                <c:pt idx="6">
                  <c:v>622</c:v>
                </c:pt>
                <c:pt idx="7">
                  <c:v>587</c:v>
                </c:pt>
                <c:pt idx="8">
                  <c:v>641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59.75"/>
          <c:min val="497.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NORTH</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1576</c:v>
                </c:pt>
                <c:pt idx="1">
                  <c:v>1477</c:v>
                </c:pt>
                <c:pt idx="2">
                  <c:v>1631</c:v>
                </c:pt>
                <c:pt idx="3">
                  <c:v>1610</c:v>
                </c:pt>
                <c:pt idx="4">
                  <c:v>1739</c:v>
                </c:pt>
                <c:pt idx="5">
                  <c:v>1738</c:v>
                </c:pt>
                <c:pt idx="6">
                  <c:v>1723</c:v>
                </c:pt>
                <c:pt idx="7">
                  <c:v>1875</c:v>
                </c:pt>
                <c:pt idx="8">
                  <c:v>1679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34.7"/>
          <c:min val="1417.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GMC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311</c:v>
                </c:pt>
                <c:pt idx="1">
                  <c:v>327</c:v>
                </c:pt>
                <c:pt idx="2">
                  <c:v>353</c:v>
                </c:pt>
                <c:pt idx="3">
                  <c:v>344</c:v>
                </c:pt>
                <c:pt idx="4">
                  <c:v>308</c:v>
                </c:pt>
                <c:pt idx="5">
                  <c:v>355</c:v>
                </c:pt>
                <c:pt idx="6">
                  <c:v>370</c:v>
                </c:pt>
                <c:pt idx="7">
                  <c:v>382</c:v>
                </c:pt>
                <c:pt idx="8">
                  <c:v>357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93.1"/>
          <c:min val="296.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SPOKANE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1764</c:v>
                </c:pt>
                <c:pt idx="1">
                  <c:v>1687</c:v>
                </c:pt>
                <c:pt idx="2">
                  <c:v>1914</c:v>
                </c:pt>
                <c:pt idx="3">
                  <c:v>2057</c:v>
                </c:pt>
                <c:pt idx="4">
                  <c:v>1923</c:v>
                </c:pt>
                <c:pt idx="5">
                  <c:v>2056</c:v>
                </c:pt>
                <c:pt idx="6">
                  <c:v>2095</c:v>
                </c:pt>
                <c:pt idx="7">
                  <c:v>1882</c:v>
                </c:pt>
                <c:pt idx="8">
                  <c:v>1998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56.2"/>
          <c:min val="162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SUBARU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615</c:v>
                </c:pt>
                <c:pt idx="1">
                  <c:v>524</c:v>
                </c:pt>
                <c:pt idx="2">
                  <c:v>607</c:v>
                </c:pt>
                <c:pt idx="3">
                  <c:v>608</c:v>
                </c:pt>
                <c:pt idx="4">
                  <c:v>639</c:v>
                </c:pt>
                <c:pt idx="5">
                  <c:v>637</c:v>
                </c:pt>
                <c:pt idx="6">
                  <c:v>632</c:v>
                </c:pt>
                <c:pt idx="7">
                  <c:v>632</c:v>
                </c:pt>
                <c:pt idx="8">
                  <c:v>659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79.25"/>
          <c:min val="503.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1.1961937716262976</c:v>
                </c:pt>
                <c:pt idx="1">
                  <c:v>1.3</c:v>
                </c:pt>
                <c:pt idx="2">
                  <c:v>1.524175824175824</c:v>
                </c:pt>
                <c:pt idx="3">
                  <c:v>1.4054517133956386</c:v>
                </c:pt>
                <c:pt idx="4">
                  <c:v>1.4104072398190046</c:v>
                </c:pt>
                <c:pt idx="5">
                  <c:v>1.25</c:v>
                </c:pt>
                <c:pt idx="6">
                  <c:v>1.3206231454005934</c:v>
                </c:pt>
                <c:pt idx="7">
                  <c:v>1.7601181683899556</c:v>
                </c:pt>
                <c:pt idx="8">
                  <c:v>1.8642313546423135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644369920947158"/>
          <c:min val="1.09598813417389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1.4608490566037735</c:v>
                </c:pt>
                <c:pt idx="1">
                  <c:v>1.4711340206185566</c:v>
                </c:pt>
                <c:pt idx="2">
                  <c:v>1.7298642533936652</c:v>
                </c:pt>
                <c:pt idx="3">
                  <c:v>1.7783898305084744</c:v>
                </c:pt>
                <c:pt idx="4">
                  <c:v>1.441391304347826</c:v>
                </c:pt>
                <c:pt idx="5">
                  <c:v>1.5297619047619047</c:v>
                </c:pt>
                <c:pt idx="6">
                  <c:v>1.819439655172414</c:v>
                </c:pt>
                <c:pt idx="7">
                  <c:v>1.7451485148514851</c:v>
                </c:pt>
                <c:pt idx="8">
                  <c:v>1.725108225108225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761469077961022"/>
          <c:min val="1.384684051724137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1.2968932038834953</c:v>
                </c:pt>
                <c:pt idx="1">
                  <c:v>1.3835549132947977</c:v>
                </c:pt>
                <c:pt idx="2">
                  <c:v>1.4527419354838709</c:v>
                </c:pt>
                <c:pt idx="3">
                  <c:v>1.3560913705583755</c:v>
                </c:pt>
                <c:pt idx="4">
                  <c:v>1.272883435582822</c:v>
                </c:pt>
                <c:pt idx="5">
                  <c:v>1.4657920792079207</c:v>
                </c:pt>
                <c:pt idx="6">
                  <c:v>1.5742705570291777</c:v>
                </c:pt>
                <c:pt idx="7">
                  <c:v>1.6565988372093023</c:v>
                </c:pt>
                <c:pt idx="8">
                  <c:v>1.4058823529411764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141561474532745"/>
          <c:min val="1.21532612533884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1.208095238095238</c:v>
                </c:pt>
                <c:pt idx="1">
                  <c:v>1.2542997542997543</c:v>
                </c:pt>
                <c:pt idx="2">
                  <c:v>1.23446261682243</c:v>
                </c:pt>
                <c:pt idx="3">
                  <c:v>1.2625570776255708</c:v>
                </c:pt>
                <c:pt idx="4">
                  <c:v>1.2171394799054374</c:v>
                </c:pt>
                <c:pt idx="5">
                  <c:v>1.2735507246376812</c:v>
                </c:pt>
                <c:pt idx="6">
                  <c:v>1.3877800407331975</c:v>
                </c:pt>
                <c:pt idx="7">
                  <c:v>1.4995475113122172</c:v>
                </c:pt>
                <c:pt idx="8">
                  <c:v>1.2453229398663697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432653522947641"/>
          <c:min val="1.16437739711269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CHEVY GMC BULLHEAD</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1.575798319327731</c:v>
                </c:pt>
                <c:pt idx="1">
                  <c:v>1.6981651376146787</c:v>
                </c:pt>
                <c:pt idx="2">
                  <c:v>1.6719839142091153</c:v>
                </c:pt>
                <c:pt idx="3">
                  <c:v>1.9406276150627615</c:v>
                </c:pt>
                <c:pt idx="4">
                  <c:v>1.7418429003021147</c:v>
                </c:pt>
                <c:pt idx="5">
                  <c:v>1.6785185185185185</c:v>
                </c:pt>
                <c:pt idx="6">
                  <c:v>1.8784676354029062</c:v>
                </c:pt>
                <c:pt idx="7">
                  <c:v>1.8579465541490858</c:v>
                </c:pt>
                <c:pt idx="8">
                  <c:v>1.6184249628528975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953520094230162"/>
          <c:min val="1.521073924967476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1.188239247311828</c:v>
                </c:pt>
                <c:pt idx="1">
                  <c:v>1.275762195121951</c:v>
                </c:pt>
                <c:pt idx="2">
                  <c:v>1.4099208965062624</c:v>
                </c:pt>
                <c:pt idx="3">
                  <c:v>1.4275265957446808</c:v>
                </c:pt>
                <c:pt idx="4">
                  <c:v>1.4609295570079883</c:v>
                </c:pt>
                <c:pt idx="5">
                  <c:v>1.4721141374837874</c:v>
                </c:pt>
                <c:pt idx="6">
                  <c:v>1.4142063001852996</c:v>
                </c:pt>
                <c:pt idx="7">
                  <c:v>1.4298619824341279</c:v>
                </c:pt>
                <c:pt idx="8">
                  <c:v>1.3524723487312946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146953710095814"/>
          <c:min val="1.1456580137860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ACURA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1.385793450881612</c:v>
                </c:pt>
                <c:pt idx="1">
                  <c:v>1.3389645776566756</c:v>
                </c:pt>
                <c:pt idx="2">
                  <c:v>1.2803874092009684</c:v>
                </c:pt>
                <c:pt idx="3">
                  <c:v>1.333613231552163</c:v>
                </c:pt>
                <c:pt idx="4">
                  <c:v>1.67296568627451</c:v>
                </c:pt>
                <c:pt idx="5">
                  <c:v>1.5423764705882352</c:v>
                </c:pt>
                <c:pt idx="6">
                  <c:v>1.4005580357142857</c:v>
                </c:pt>
                <c:pt idx="7">
                  <c:v>1.3604513064133017</c:v>
                </c:pt>
                <c:pt idx="8">
                  <c:v>1.4541353383458648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18524278355412"/>
          <c:min val="1.221500667639937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CDJR POST FALLS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2.221710758377425</c:v>
                </c:pt>
                <c:pt idx="1">
                  <c:v>2.0838986354775826</c:v>
                </c:pt>
                <c:pt idx="2">
                  <c:v>2.2707272727272727</c:v>
                </c:pt>
                <c:pt idx="3">
                  <c:v>2.2252504638218924</c:v>
                </c:pt>
                <c:pt idx="4">
                  <c:v>2.1553717472118956</c:v>
                </c:pt>
                <c:pt idx="5">
                  <c:v>1.9233127889060093</c:v>
                </c:pt>
                <c:pt idx="6">
                  <c:v>2.230418994413408</c:v>
                </c:pt>
                <c:pt idx="7">
                  <c:v>2.2426998491704375</c:v>
                </c:pt>
                <c:pt idx="8">
                  <c:v>2.44900481540931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27858619384805"/>
          <c:min val="1.844458984930514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2.604809843400447</c:v>
                </c:pt>
                <c:pt idx="1">
                  <c:v>2.3054666666666663</c:v>
                </c:pt>
                <c:pt idx="2">
                  <c:v>2.8330453563714904</c:v>
                </c:pt>
                <c:pt idx="3">
                  <c:v>2.798717948717949</c:v>
                </c:pt>
                <c:pt idx="4">
                  <c:v>2.574561403508772</c:v>
                </c:pt>
                <c:pt idx="5">
                  <c:v>3.172391304347826</c:v>
                </c:pt>
                <c:pt idx="6">
                  <c:v>2.7021809744779586</c:v>
                </c:pt>
                <c:pt idx="7">
                  <c:v>2.878063063063063</c:v>
                </c:pt>
                <c:pt idx="8">
                  <c:v>2.5885922330097086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024299999999998"/>
          <c:min val="2.17542797101449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3.5072</c:v>
                </c:pt>
                <c:pt idx="1">
                  <c:v>2.8326470588235293</c:v>
                </c:pt>
                <c:pt idx="2">
                  <c:v>3.3393630573248405</c:v>
                </c:pt>
                <c:pt idx="3">
                  <c:v>3.9942944785276078</c:v>
                </c:pt>
                <c:pt idx="4">
                  <c:v>4.023714285714286</c:v>
                </c:pt>
                <c:pt idx="5">
                  <c:v>3.3935403726708073</c:v>
                </c:pt>
                <c:pt idx="6">
                  <c:v>3.0639884393063586</c:v>
                </c:pt>
                <c:pt idx="7">
                  <c:v>3.7738297872340425</c:v>
                </c:pt>
                <c:pt idx="8">
                  <c:v>3.325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2023743697479"/>
          <c:min val="2.65398697478991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133.50852736170845</c:v>
                </c:pt>
                <c:pt idx="1">
                  <c:v>124.52905604719764</c:v>
                </c:pt>
                <c:pt idx="2">
                  <c:v>125.66441779876723</c:v>
                </c:pt>
                <c:pt idx="3">
                  <c:v>131.4519062005467</c:v>
                </c:pt>
                <c:pt idx="4">
                  <c:v>132.6886803693774</c:v>
                </c:pt>
                <c:pt idx="5">
                  <c:v>140.1975303339418</c:v>
                </c:pt>
                <c:pt idx="6">
                  <c:v>142.53003268369446</c:v>
                </c:pt>
                <c:pt idx="7">
                  <c:v>141.47412587412586</c:v>
                </c:pt>
                <c:pt idx="8">
                  <c:v>141.50217039196633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5.23017917916897"/>
          <c:min val="121.828909551723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226.99655601837938</c:v>
                </c:pt>
                <c:pt idx="1">
                  <c:v>230.6832340523972</c:v>
                </c:pt>
                <c:pt idx="2">
                  <c:v>225.44062666768312</c:v>
                </c:pt>
                <c:pt idx="3">
                  <c:v>220.3694915254237</c:v>
                </c:pt>
                <c:pt idx="4">
                  <c:v>229.04754684838161</c:v>
                </c:pt>
                <c:pt idx="5">
                  <c:v>247.9044473377647</c:v>
                </c:pt>
                <c:pt idx="6">
                  <c:v>243.19138102761363</c:v>
                </c:pt>
                <c:pt idx="7">
                  <c:v>243.7889909692768</c:v>
                </c:pt>
                <c:pt idx="8">
                  <c:v>245.53794655414907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2.03469070961586"/>
          <c:min val="216.239248153572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SPOKANE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135.50618900582526</c:v>
                </c:pt>
                <c:pt idx="1">
                  <c:v>139.43354100521177</c:v>
                </c:pt>
                <c:pt idx="2">
                  <c:v>143.04070476965322</c:v>
                </c:pt>
                <c:pt idx="3">
                  <c:v>144.27756894597658</c:v>
                </c:pt>
                <c:pt idx="4">
                  <c:v>143.9452209905324</c:v>
                </c:pt>
                <c:pt idx="5">
                  <c:v>143.4172847205565</c:v>
                </c:pt>
                <c:pt idx="6">
                  <c:v>148.4194108316338</c:v>
                </c:pt>
                <c:pt idx="7">
                  <c:v>146.32433479457643</c:v>
                </c:pt>
                <c:pt idx="8">
                  <c:v>148.9747782648588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99506665371382"/>
          <c:min val="133.485900616970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146.10917942519472</c:v>
                </c:pt>
                <c:pt idx="1">
                  <c:v>139.31016738481938</c:v>
                </c:pt>
                <c:pt idx="2">
                  <c:v>141.53525925925928</c:v>
                </c:pt>
                <c:pt idx="3">
                  <c:v>149.0938108315364</c:v>
                </c:pt>
                <c:pt idx="4">
                  <c:v>157.86236726813692</c:v>
                </c:pt>
                <c:pt idx="5">
                  <c:v>155.1640949727532</c:v>
                </c:pt>
                <c:pt idx="6">
                  <c:v>145.80333762018492</c:v>
                </c:pt>
                <c:pt idx="7">
                  <c:v>147.881053660003</c:v>
                </c:pt>
                <c:pt idx="8">
                  <c:v>159.61675912057146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2.66274788093426"/>
          <c:min val="136.264178624456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141.29899487583762</c:v>
                </c:pt>
                <c:pt idx="1">
                  <c:v>141.12609206660136</c:v>
                </c:pt>
                <c:pt idx="2">
                  <c:v>134.98959023374655</c:v>
                </c:pt>
                <c:pt idx="3">
                  <c:v>134.82066907775769</c:v>
                </c:pt>
                <c:pt idx="4">
                  <c:v>134.81227542002526</c:v>
                </c:pt>
                <c:pt idx="5">
                  <c:v>141.9157515410147</c:v>
                </c:pt>
                <c:pt idx="6">
                  <c:v>145.1528764308776</c:v>
                </c:pt>
                <c:pt idx="7">
                  <c:v>145.4075890162945</c:v>
                </c:pt>
                <c:pt idx="8">
                  <c:v>147.8839667352231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9.84472043250278"/>
          <c:min val="132.85152172274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NISSAN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170.91694630872482</c:v>
                </c:pt>
                <c:pt idx="1">
                  <c:v>174.94393030380394</c:v>
                </c:pt>
                <c:pt idx="2">
                  <c:v>171.33260055096417</c:v>
                </c:pt>
                <c:pt idx="3">
                  <c:v>169.3619524405507</c:v>
                </c:pt>
                <c:pt idx="4">
                  <c:v>178.97402165816766</c:v>
                </c:pt>
                <c:pt idx="5">
                  <c:v>176.8534134157945</c:v>
                </c:pt>
                <c:pt idx="6">
                  <c:v>178.75288589721362</c:v>
                </c:pt>
                <c:pt idx="7">
                  <c:v>178.72942668879108</c:v>
                </c:pt>
                <c:pt idx="8">
                  <c:v>183.27923149141628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5.36682334904611"/>
          <c:min val="167.274360582920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GMC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147.17883416109635</c:v>
                </c:pt>
                <c:pt idx="1">
                  <c:v>135.63777641695583</c:v>
                </c:pt>
                <c:pt idx="2">
                  <c:v>141.64139075345048</c:v>
                </c:pt>
                <c:pt idx="3">
                  <c:v>139.12898539404827</c:v>
                </c:pt>
                <c:pt idx="4">
                  <c:v>140.79767083404693</c:v>
                </c:pt>
                <c:pt idx="5">
                  <c:v>142.24952097083244</c:v>
                </c:pt>
                <c:pt idx="6">
                  <c:v>142.61742003865575</c:v>
                </c:pt>
                <c:pt idx="7">
                  <c:v>143.95335221631723</c:v>
                </c:pt>
                <c:pt idx="8">
                  <c:v>154.41898907103825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7.2361709691506"/>
          <c:min val="132.820594518843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VOLVO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208.9492918178626</c:v>
                </c:pt>
                <c:pt idx="1">
                  <c:v>217.9379829257705</c:v>
                </c:pt>
                <c:pt idx="2">
                  <c:v>223.98379699248122</c:v>
                </c:pt>
                <c:pt idx="3">
                  <c:v>226.2475382875938</c:v>
                </c:pt>
                <c:pt idx="4">
                  <c:v>219.74642583470168</c:v>
                </c:pt>
                <c:pt idx="5">
                  <c:v>224.43341441458693</c:v>
                </c:pt>
                <c:pt idx="6">
                  <c:v>228.6857179372484</c:v>
                </c:pt>
                <c:pt idx="7">
                  <c:v>221.59294258373205</c:v>
                </c:pt>
                <c:pt idx="8">
                  <c:v>226.9213371266003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1.64618185515627"/>
          <c:min val="205.988827899954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CHEVY GMC BULLHEAD</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153.1491574232082</c:v>
                </c:pt>
                <c:pt idx="1">
                  <c:v>157.95352962362688</c:v>
                </c:pt>
                <c:pt idx="2">
                  <c:v>156.04347791229054</c:v>
                </c:pt>
                <c:pt idx="3">
                  <c:v>157.37133021424003</c:v>
                </c:pt>
                <c:pt idx="4">
                  <c:v>149.20385916225828</c:v>
                </c:pt>
                <c:pt idx="5">
                  <c:v>155.4821624007061</c:v>
                </c:pt>
                <c:pt idx="6">
                  <c:v>158.9620323488045</c:v>
                </c:pt>
                <c:pt idx="7">
                  <c:v>164.2580469341408</c:v>
                </c:pt>
                <c:pt idx="8">
                  <c:v>162.51214652956298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6.51617509992317"/>
          <c:min val="146.945730996475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CADILLAC</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169.23952076348527</c:v>
                </c:pt>
                <c:pt idx="1">
                  <c:v>171.362331838565</c:v>
                </c:pt>
                <c:pt idx="2">
                  <c:v>168.18649634020764</c:v>
                </c:pt>
                <c:pt idx="3">
                  <c:v>180.00863368961805</c:v>
                </c:pt>
                <c:pt idx="4">
                  <c:v>151.5942152678995</c:v>
                </c:pt>
                <c:pt idx="5">
                  <c:v>163.62502533205532</c:v>
                </c:pt>
                <c:pt idx="6">
                  <c:v>179.30890045543268</c:v>
                </c:pt>
                <c:pt idx="7">
                  <c:v>175.9947113813166</c:v>
                </c:pt>
                <c:pt idx="8">
                  <c:v>169.93955489368741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4.27079645287583"/>
          <c:min val="147.332052504641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226.22956521739133</c:v>
                </c:pt>
                <c:pt idx="1">
                  <c:v>248.52270270270267</c:v>
                </c:pt>
                <c:pt idx="2">
                  <c:v>200.74942028985507</c:v>
                </c:pt>
                <c:pt idx="3">
                  <c:v>243.29641592920353</c:v>
                </c:pt>
                <c:pt idx="4">
                  <c:v>234.13774647887323</c:v>
                </c:pt>
                <c:pt idx="5">
                  <c:v>287.9189156626506</c:v>
                </c:pt>
                <c:pt idx="6">
                  <c:v>324.6299523809524</c:v>
                </c:pt>
                <c:pt idx="7">
                  <c:v>281.9111059907834</c:v>
                </c:pt>
                <c:pt idx="8">
                  <c:v>287.2737362637363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43.212032194617"/>
          <c:min val="182.1673404761904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735.0373714285714</c:v>
                </c:pt>
                <c:pt idx="1">
                  <c:v>633.5144852941177</c:v>
                </c:pt>
                <c:pt idx="2">
                  <c:v>695.5033121019109</c:v>
                </c:pt>
                <c:pt idx="3">
                  <c:v>845.1699386503068</c:v>
                </c:pt>
                <c:pt idx="4">
                  <c:v>839.2182857142857</c:v>
                </c:pt>
                <c:pt idx="5">
                  <c:v>919.2100621118013</c:v>
                </c:pt>
                <c:pt idx="6">
                  <c:v>872.8272254335259</c:v>
                </c:pt>
                <c:pt idx="7">
                  <c:v>956.7090425531915</c:v>
                </c:pt>
                <c:pt idx="8">
                  <c:v>764.899375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5.1882261420525"/>
          <c:min val="585.03530170525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ACURA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240.3025692695214</c:v>
                </c:pt>
                <c:pt idx="1">
                  <c:v>216.6792098092643</c:v>
                </c:pt>
                <c:pt idx="2">
                  <c:v>230.04961259079906</c:v>
                </c:pt>
                <c:pt idx="3">
                  <c:v>243.99435114503817</c:v>
                </c:pt>
                <c:pt idx="4">
                  <c:v>304.9811274509804</c:v>
                </c:pt>
                <c:pt idx="5">
                  <c:v>286.73334117647056</c:v>
                </c:pt>
                <c:pt idx="6">
                  <c:v>273.25761160714285</c:v>
                </c:pt>
                <c:pt idx="7">
                  <c:v>260.6470308788598</c:v>
                </c:pt>
                <c:pt idx="8">
                  <c:v>314.04050125313285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8.6446949697131"/>
          <c:min val="202.075016092684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FLAGSTAFF</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181.37186813186813</c:v>
                </c:pt>
                <c:pt idx="1">
                  <c:v>163.32138666666665</c:v>
                </c:pt>
                <c:pt idx="2">
                  <c:v>246.46716814159294</c:v>
                </c:pt>
                <c:pt idx="3">
                  <c:v>218.6002958579882</c:v>
                </c:pt>
                <c:pt idx="4">
                  <c:v>169.2365010799136</c:v>
                </c:pt>
                <c:pt idx="5">
                  <c:v>212.3986206896552</c:v>
                </c:pt>
                <c:pt idx="6">
                  <c:v>233.71951318458417</c:v>
                </c:pt>
                <c:pt idx="7">
                  <c:v>230.95786026200872</c:v>
                </c:pt>
                <c:pt idx="8">
                  <c:v>238.70922352941176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8.9390353628319"/>
          <c:min val="150.8495194454277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178.2198300970874</c:v>
                </c:pt>
                <c:pt idx="1">
                  <c:v>209.37557803468206</c:v>
                </c:pt>
                <c:pt idx="2">
                  <c:v>226.22274193548387</c:v>
                </c:pt>
                <c:pt idx="3">
                  <c:v>224.48005076142132</c:v>
                </c:pt>
                <c:pt idx="4">
                  <c:v>221.7853680981595</c:v>
                </c:pt>
                <c:pt idx="5">
                  <c:v>210.79133663366335</c:v>
                </c:pt>
                <c:pt idx="6">
                  <c:v>209.2606100795756</c:v>
                </c:pt>
                <c:pt idx="7">
                  <c:v>270.77191860465115</c:v>
                </c:pt>
                <c:pt idx="8">
                  <c:v>225.52879679144385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4.65473188078573"/>
          <c:min val="164.337016820952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128.18389112903225</c:v>
                </c:pt>
                <c:pt idx="1">
                  <c:v>143.6304268292683</c:v>
                </c:pt>
                <c:pt idx="2">
                  <c:v>136.9080487804878</c:v>
                </c:pt>
                <c:pt idx="3">
                  <c:v>198.15143617021278</c:v>
                </c:pt>
                <c:pt idx="4">
                  <c:v>159.63840958605664</c:v>
                </c:pt>
                <c:pt idx="5">
                  <c:v>147.4817120622568</c:v>
                </c:pt>
                <c:pt idx="6">
                  <c:v>150.852402717727</c:v>
                </c:pt>
                <c:pt idx="7">
                  <c:v>176.80212672521958</c:v>
                </c:pt>
                <c:pt idx="8">
                  <c:v>139.20603773584907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8.64656792638985"/>
          <c:min val="117.6887593728551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CHEVY GMC BULLHEAD</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233.84593837535013</c:v>
                </c:pt>
                <c:pt idx="1">
                  <c:v>272.64770642201836</c:v>
                </c:pt>
                <c:pt idx="2">
                  <c:v>264.5160053619303</c:v>
                </c:pt>
                <c:pt idx="3">
                  <c:v>300.4536959553696</c:v>
                </c:pt>
                <c:pt idx="4">
                  <c:v>288.36308157099694</c:v>
                </c:pt>
                <c:pt idx="5">
                  <c:v>250.08998518518518</c:v>
                </c:pt>
                <c:pt idx="6">
                  <c:v>321.2700792602378</c:v>
                </c:pt>
                <c:pt idx="7">
                  <c:v>293.4214486638537</c:v>
                </c:pt>
                <c:pt idx="8">
                  <c:v>258.24791976225856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34.383700392971"/>
          <c:min val="220.732317242616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640.6571929824562</c:v>
                </c:pt>
                <c:pt idx="1">
                  <c:v>906.8386104218363</c:v>
                </c:pt>
                <c:pt idx="2">
                  <c:v>634.7025063291139</c:v>
                </c:pt>
                <c:pt idx="3">
                  <c:v>665.1664390243902</c:v>
                </c:pt>
                <c:pt idx="4">
                  <c:v>689.3056844547564</c:v>
                </c:pt>
                <c:pt idx="5">
                  <c:v>652.1006864988558</c:v>
                </c:pt>
                <c:pt idx="6">
                  <c:v>693.769124726477</c:v>
                </c:pt>
                <c:pt idx="7">
                  <c:v>709.0950352941177</c:v>
                </c:pt>
                <c:pt idx="8">
                  <c:v>1041.912085308057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2.9935221548983"/>
          <c:min val="573.62106948227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7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879.8076687116564</c:v>
                </c:pt>
                <c:pt idx="1">
                  <c:v>925.1433742331288</c:v>
                </c:pt>
                <c:pt idx="2">
                  <c:v>886.3305590062112</c:v>
                </c:pt>
                <c:pt idx="3">
                  <c:v>953.3849523809523</c:v>
                </c:pt>
                <c:pt idx="4">
                  <c:v>911.7989444444445</c:v>
                </c:pt>
                <c:pt idx="5">
                  <c:v>804.3490058479532</c:v>
                </c:pt>
                <c:pt idx="6">
                  <c:v>1035.5124242424242</c:v>
                </c:pt>
                <c:pt idx="7">
                  <c:v>994.8709444444444</c:v>
                </c:pt>
                <c:pt idx="8">
                  <c:v>934.7331325301205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70.186937001595"/>
          <c:min val="769.674493088782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7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268.8725</c:v>
                </c:pt>
                <c:pt idx="1">
                  <c:v>180.48355670103092</c:v>
                </c:pt>
                <c:pt idx="2">
                  <c:v>249.92049773755656</c:v>
                </c:pt>
                <c:pt idx="3">
                  <c:v>255.83444915254236</c:v>
                </c:pt>
                <c:pt idx="4">
                  <c:v>224.2878260869565</c:v>
                </c:pt>
                <c:pt idx="5">
                  <c:v>167.36384920634922</c:v>
                </c:pt>
                <c:pt idx="6">
                  <c:v>269.1880172413793</c:v>
                </c:pt>
                <c:pt idx="7">
                  <c:v>279.6357425742574</c:v>
                </c:pt>
                <c:pt idx="8">
                  <c:v>227.57493506493506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6.4765265794436"/>
          <c:min val="150.523065201162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8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ACURA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0.3838170224523827</c:v>
                </c:pt>
                <c:pt idx="1">
                  <c:v>0.4035019812938098</c:v>
                </c:pt>
                <c:pt idx="2">
                  <c:v>0.3952216223703298</c:v>
                </c:pt>
                <c:pt idx="3">
                  <c:v>0.4448395856159019</c:v>
                </c:pt>
                <c:pt idx="4">
                  <c:v>0.47606328903347445</c:v>
                </c:pt>
                <c:pt idx="5">
                  <c:v>0.49427527129736526</c:v>
                </c:pt>
                <c:pt idx="6">
                  <c:v>0.4642179700098211</c:v>
                </c:pt>
                <c:pt idx="7">
                  <c:v>0.48270738633256904</c:v>
                </c:pt>
                <c:pt idx="8">
                  <c:v>0.45289434755155056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108440086241126"/>
          <c:min val="0.36724828512563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0.40001902646023274</c:v>
                </c:pt>
                <c:pt idx="1">
                  <c:v>0.3720732457962403</c:v>
                </c:pt>
                <c:pt idx="2">
                  <c:v>0.4018829925450841</c:v>
                </c:pt>
                <c:pt idx="3">
                  <c:v>0.40962760928027814</c:v>
                </c:pt>
                <c:pt idx="4">
                  <c:v>0.4597764968817762</c:v>
                </c:pt>
                <c:pt idx="5">
                  <c:v>0.40350076249992856</c:v>
                </c:pt>
                <c:pt idx="6">
                  <c:v>0.45445150808341633</c:v>
                </c:pt>
                <c:pt idx="7">
                  <c:v>0.42913664813449875</c:v>
                </c:pt>
                <c:pt idx="8">
                  <c:v>0.425523613232545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7293198454460655"/>
          <c:min val="0.35891775813340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GMC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0.34774542164070493</c:v>
                </c:pt>
                <c:pt idx="1">
                  <c:v>0.3428853815363897</c:v>
                </c:pt>
                <c:pt idx="2">
                  <c:v>0.3678319883700978</c:v>
                </c:pt>
                <c:pt idx="3">
                  <c:v>0.3451036516062462</c:v>
                </c:pt>
                <c:pt idx="4">
                  <c:v>0.37383512874032615</c:v>
                </c:pt>
                <c:pt idx="5">
                  <c:v>0.37442614515827255</c:v>
                </c:pt>
                <c:pt idx="6">
                  <c:v>0.3765012914668214</c:v>
                </c:pt>
                <c:pt idx="7">
                  <c:v>0.4109924749697751</c:v>
                </c:pt>
                <c:pt idx="8">
                  <c:v>0.39565037718326934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212085389847829"/>
          <c:min val="0.33266931752138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8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0.41530601520715416</c:v>
                </c:pt>
                <c:pt idx="1">
                  <c:v>0.4108890052717672</c:v>
                </c:pt>
                <c:pt idx="2">
                  <c:v>0.405583451418382</c:v>
                </c:pt>
                <c:pt idx="3">
                  <c:v>0.41689218345561846</c:v>
                </c:pt>
                <c:pt idx="4">
                  <c:v>0.458754837572283</c:v>
                </c:pt>
                <c:pt idx="5">
                  <c:v>0.47543115549863596</c:v>
                </c:pt>
                <c:pt idx="6">
                  <c:v>0.44051206489623174</c:v>
                </c:pt>
                <c:pt idx="7">
                  <c:v>0.44067846901952584</c:v>
                </c:pt>
                <c:pt idx="8">
                  <c:v>0.4379850163841297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590831111067406"/>
          <c:min val="0.395106295806343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0.40057589442118835</c:v>
                </c:pt>
                <c:pt idx="1">
                  <c:v>0.3824592298574588</c:v>
                </c:pt>
                <c:pt idx="2">
                  <c:v>0.3990699220487699</c:v>
                </c:pt>
                <c:pt idx="3">
                  <c:v>0.3369845083698473</c:v>
                </c:pt>
                <c:pt idx="4">
                  <c:v>0.42446429931693574</c:v>
                </c:pt>
                <c:pt idx="5">
                  <c:v>0.4242123912395645</c:v>
                </c:pt>
                <c:pt idx="6">
                  <c:v>0.4125803196455596</c:v>
                </c:pt>
                <c:pt idx="7">
                  <c:v>0.4279628930950305</c:v>
                </c:pt>
                <c:pt idx="8">
                  <c:v>0.41019587611883684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1609650803808"/>
          <c:min val="0.32333775066106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0.39385465162077204</c:v>
                </c:pt>
                <c:pt idx="1">
                  <c:v>0.4104798110566934</c:v>
                </c:pt>
                <c:pt idx="2">
                  <c:v>0.39984615107565896</c:v>
                </c:pt>
                <c:pt idx="3">
                  <c:v>0.4242643654011316</c:v>
                </c:pt>
                <c:pt idx="4">
                  <c:v>0.43535929201653073</c:v>
                </c:pt>
                <c:pt idx="5">
                  <c:v>0.4359650422122587</c:v>
                </c:pt>
                <c:pt idx="6">
                  <c:v>0.4310274406950725</c:v>
                </c:pt>
                <c:pt idx="7">
                  <c:v>0.4257261405886852</c:v>
                </c:pt>
                <c:pt idx="8">
                  <c:v>0.4125780793358778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228160080098167"/>
          <c:min val="0.387538093032049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CDJR POST FALLS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0.34615649425879996</c:v>
                </c:pt>
                <c:pt idx="1">
                  <c:v>0.3553626019087758</c:v>
                </c:pt>
                <c:pt idx="2">
                  <c:v>0.33286088298414096</c:v>
                </c:pt>
                <c:pt idx="3">
                  <c:v>0.33135079455831645</c:v>
                </c:pt>
                <c:pt idx="4">
                  <c:v>0.36466133494564634</c:v>
                </c:pt>
                <c:pt idx="5">
                  <c:v>0.38118653720091344</c:v>
                </c:pt>
                <c:pt idx="6">
                  <c:v>0.3809185720341265</c:v>
                </c:pt>
                <c:pt idx="7">
                  <c:v>0.37479736400081787</c:v>
                </c:pt>
                <c:pt idx="8">
                  <c:v>0.3350495696231172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88661898597303"/>
          <c:min val="0.323875433161926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0.414351536191364</c:v>
                </c:pt>
                <c:pt idx="1">
                  <c:v>0.39318087070517616</c:v>
                </c:pt>
                <c:pt idx="2">
                  <c:v>0.4185113634289955</c:v>
                </c:pt>
                <c:pt idx="3">
                  <c:v>0.3984325401778728</c:v>
                </c:pt>
                <c:pt idx="4">
                  <c:v>0.4275287802058474</c:v>
                </c:pt>
                <c:pt idx="5">
                  <c:v>0.4314231842150624</c:v>
                </c:pt>
                <c:pt idx="6">
                  <c:v>0.40647931761383654</c:v>
                </c:pt>
                <c:pt idx="7">
                  <c:v>0.42811568086149515</c:v>
                </c:pt>
                <c:pt idx="8">
                  <c:v>0.4328714643805786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38825053431889"/>
          <c:min val="0.38722728165386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0.4411058127734458</c:v>
                </c:pt>
                <c:pt idx="1">
                  <c:v>0.45645701726723603</c:v>
                </c:pt>
                <c:pt idx="2">
                  <c:v>0.43879838840991475</c:v>
                </c:pt>
                <c:pt idx="3">
                  <c:v>0.40377729240207977</c:v>
                </c:pt>
                <c:pt idx="4">
                  <c:v>0.4744010071958122</c:v>
                </c:pt>
                <c:pt idx="5">
                  <c:v>0.4339098342743925</c:v>
                </c:pt>
                <c:pt idx="6">
                  <c:v>0.44740581583560335</c:v>
                </c:pt>
                <c:pt idx="7">
                  <c:v>0.46909418535282466</c:v>
                </c:pt>
                <c:pt idx="8">
                  <c:v>0.45065660188962764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499456441487204"/>
          <c:min val="0.39318373518301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CHEVY GMC BULLHEAD</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0.3680342105578381</c:v>
                </c:pt>
                <c:pt idx="1">
                  <c:v>0.3691001034144722</c:v>
                </c:pt>
                <c:pt idx="2">
                  <c:v>0.3670958755466887</c:v>
                </c:pt>
                <c:pt idx="3">
                  <c:v>0.37086270739787763</c:v>
                </c:pt>
                <c:pt idx="4">
                  <c:v>0.3526965626793513</c:v>
                </c:pt>
                <c:pt idx="5">
                  <c:v>0.37527049523033906</c:v>
                </c:pt>
                <c:pt idx="6">
                  <c:v>0.3587371292399778</c:v>
                </c:pt>
                <c:pt idx="7">
                  <c:v>0.3863209963060099</c:v>
                </c:pt>
                <c:pt idx="8">
                  <c:v>0.40033452080355186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0748021452218197"/>
          <c:min val="0.34555086896072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LEXUS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395</c:v>
                </c:pt>
                <c:pt idx="1">
                  <c:v>390</c:v>
                </c:pt>
                <c:pt idx="2">
                  <c:v>491</c:v>
                </c:pt>
                <c:pt idx="3">
                  <c:v>543</c:v>
                </c:pt>
                <c:pt idx="4">
                  <c:v>485</c:v>
                </c:pt>
                <c:pt idx="5">
                  <c:v>553</c:v>
                </c:pt>
                <c:pt idx="6">
                  <c:v>564</c:v>
                </c:pt>
                <c:pt idx="7">
                  <c:v>577</c:v>
                </c:pt>
                <c:pt idx="8">
                  <c:v>569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05.05"/>
          <c:min val="361.9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CDJR POST FALLS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567</c:v>
                </c:pt>
                <c:pt idx="1">
                  <c:v>513</c:v>
                </c:pt>
                <c:pt idx="2">
                  <c:v>550</c:v>
                </c:pt>
                <c:pt idx="3">
                  <c:v>539</c:v>
                </c:pt>
                <c:pt idx="4">
                  <c:v>538</c:v>
                </c:pt>
                <c:pt idx="5">
                  <c:v>649</c:v>
                </c:pt>
                <c:pt idx="6">
                  <c:v>716</c:v>
                </c:pt>
                <c:pt idx="7">
                  <c:v>663</c:v>
                </c:pt>
                <c:pt idx="8">
                  <c:v>623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46.45"/>
          <c:min val="482.5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LR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352</c:v>
                </c:pt>
                <c:pt idx="1">
                  <c:v>362</c:v>
                </c:pt>
                <c:pt idx="2">
                  <c:v>336</c:v>
                </c:pt>
                <c:pt idx="3">
                  <c:v>402</c:v>
                </c:pt>
                <c:pt idx="4">
                  <c:v>356</c:v>
                </c:pt>
                <c:pt idx="5">
                  <c:v>442</c:v>
                </c:pt>
                <c:pt idx="6">
                  <c:v>449</c:v>
                </c:pt>
                <c:pt idx="7">
                  <c:v>396</c:v>
                </c:pt>
                <c:pt idx="8">
                  <c:v>401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65.95"/>
          <c:min val="319.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578</c:v>
                </c:pt>
                <c:pt idx="1">
                  <c:v>519</c:v>
                </c:pt>
                <c:pt idx="2">
                  <c:v>637</c:v>
                </c:pt>
                <c:pt idx="3">
                  <c:v>642</c:v>
                </c:pt>
                <c:pt idx="4">
                  <c:v>663</c:v>
                </c:pt>
                <c:pt idx="5">
                  <c:v>654</c:v>
                </c:pt>
                <c:pt idx="6">
                  <c:v>674</c:v>
                </c:pt>
                <c:pt idx="7">
                  <c:v>677</c:v>
                </c:pt>
                <c:pt idx="8">
                  <c:v>657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0.7"/>
          <c:min val="49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FLAGSTAFF</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364</c:v>
                </c:pt>
                <c:pt idx="1">
                  <c:v>375</c:v>
                </c:pt>
                <c:pt idx="2">
                  <c:v>452</c:v>
                </c:pt>
                <c:pt idx="3">
                  <c:v>507</c:v>
                </c:pt>
                <c:pt idx="4">
                  <c:v>463</c:v>
                </c:pt>
                <c:pt idx="5">
                  <c:v>493</c:v>
                </c:pt>
                <c:pt idx="6">
                  <c:v>493</c:v>
                </c:pt>
                <c:pt idx="7">
                  <c:v>458</c:v>
                </c:pt>
                <c:pt idx="8">
                  <c:v>425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8.45"/>
          <c:min val="342.5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1.1961937716262976</c:v>
                </c:pt>
                <c:pt idx="1">
                  <c:v>1.3</c:v>
                </c:pt>
                <c:pt idx="2">
                  <c:v>1.524175824175824</c:v>
                </c:pt>
                <c:pt idx="3">
                  <c:v>1.4054517133956386</c:v>
                </c:pt>
                <c:pt idx="4">
                  <c:v>1.4104072398190046</c:v>
                </c:pt>
                <c:pt idx="5">
                  <c:v>1.25</c:v>
                </c:pt>
                <c:pt idx="6">
                  <c:v>1.3206231454005934</c:v>
                </c:pt>
                <c:pt idx="7">
                  <c:v>1.7601181683899556</c:v>
                </c:pt>
                <c:pt idx="8">
                  <c:v>1.8642313546423135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644369920947158"/>
          <c:min val="1.09598813417389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1.4608490566037735</c:v>
                </c:pt>
                <c:pt idx="1">
                  <c:v>1.4711340206185566</c:v>
                </c:pt>
                <c:pt idx="2">
                  <c:v>1.7298642533936652</c:v>
                </c:pt>
                <c:pt idx="3">
                  <c:v>1.7783898305084744</c:v>
                </c:pt>
                <c:pt idx="4">
                  <c:v>1.441391304347826</c:v>
                </c:pt>
                <c:pt idx="5">
                  <c:v>1.5297619047619047</c:v>
                </c:pt>
                <c:pt idx="6">
                  <c:v>1.819439655172414</c:v>
                </c:pt>
                <c:pt idx="7">
                  <c:v>1.7451485148514851</c:v>
                </c:pt>
                <c:pt idx="8">
                  <c:v>1.725108225108225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761469077961022"/>
          <c:min val="1.384684051724137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1.2968932038834953</c:v>
                </c:pt>
                <c:pt idx="1">
                  <c:v>1.3835549132947977</c:v>
                </c:pt>
                <c:pt idx="2">
                  <c:v>1.4527419354838709</c:v>
                </c:pt>
                <c:pt idx="3">
                  <c:v>1.3560913705583755</c:v>
                </c:pt>
                <c:pt idx="4">
                  <c:v>1.272883435582822</c:v>
                </c:pt>
                <c:pt idx="5">
                  <c:v>1.4657920792079207</c:v>
                </c:pt>
                <c:pt idx="6">
                  <c:v>1.5742705570291777</c:v>
                </c:pt>
                <c:pt idx="7">
                  <c:v>1.6565988372093023</c:v>
                </c:pt>
                <c:pt idx="8">
                  <c:v>1.4058823529411764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141561474532745"/>
          <c:min val="1.21532612533884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7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1.208095238095238</c:v>
                </c:pt>
                <c:pt idx="1">
                  <c:v>1.2542997542997543</c:v>
                </c:pt>
                <c:pt idx="2">
                  <c:v>1.23446261682243</c:v>
                </c:pt>
                <c:pt idx="3">
                  <c:v>1.2625570776255708</c:v>
                </c:pt>
                <c:pt idx="4">
                  <c:v>1.2171394799054374</c:v>
                </c:pt>
                <c:pt idx="5">
                  <c:v>1.2735507246376812</c:v>
                </c:pt>
                <c:pt idx="6">
                  <c:v>1.3877800407331975</c:v>
                </c:pt>
                <c:pt idx="7">
                  <c:v>1.4995475113122172</c:v>
                </c:pt>
                <c:pt idx="8">
                  <c:v>1.2453229398663697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432653522947641"/>
          <c:min val="1.16437739711269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7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CHEVY GMC BULLHEAD</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1.575798319327731</c:v>
                </c:pt>
                <c:pt idx="1">
                  <c:v>1.6981651376146787</c:v>
                </c:pt>
                <c:pt idx="2">
                  <c:v>1.6719839142091153</c:v>
                </c:pt>
                <c:pt idx="3">
                  <c:v>1.9406276150627615</c:v>
                </c:pt>
                <c:pt idx="4">
                  <c:v>1.7418429003021147</c:v>
                </c:pt>
                <c:pt idx="5">
                  <c:v>1.6785185185185185</c:v>
                </c:pt>
                <c:pt idx="6">
                  <c:v>1.8784676354029062</c:v>
                </c:pt>
                <c:pt idx="7">
                  <c:v>1.8579465541490858</c:v>
                </c:pt>
                <c:pt idx="8">
                  <c:v>1.6184249628528975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953520094230162"/>
          <c:min val="1.521073924967476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133.50852736170845</c:v>
                </c:pt>
                <c:pt idx="1">
                  <c:v>124.52905604719764</c:v>
                </c:pt>
                <c:pt idx="2">
                  <c:v>125.66441779876723</c:v>
                </c:pt>
                <c:pt idx="3">
                  <c:v>131.4519062005467</c:v>
                </c:pt>
                <c:pt idx="4">
                  <c:v>132.6886803693774</c:v>
                </c:pt>
                <c:pt idx="5">
                  <c:v>140.1975303339418</c:v>
                </c:pt>
                <c:pt idx="6">
                  <c:v>142.53003268369446</c:v>
                </c:pt>
                <c:pt idx="7">
                  <c:v>141.47412587412586</c:v>
                </c:pt>
                <c:pt idx="8">
                  <c:v>141.50217039196633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5.23017917916897"/>
          <c:min val="121.828909551723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226.99655601837938</c:v>
                </c:pt>
                <c:pt idx="1">
                  <c:v>230.6832340523972</c:v>
                </c:pt>
                <c:pt idx="2">
                  <c:v>225.44062666768312</c:v>
                </c:pt>
                <c:pt idx="3">
                  <c:v>220.3694915254237</c:v>
                </c:pt>
                <c:pt idx="4">
                  <c:v>229.04754684838161</c:v>
                </c:pt>
                <c:pt idx="5">
                  <c:v>247.9044473377647</c:v>
                </c:pt>
                <c:pt idx="6">
                  <c:v>243.19138102761363</c:v>
                </c:pt>
                <c:pt idx="7">
                  <c:v>243.7889909692768</c:v>
                </c:pt>
                <c:pt idx="8">
                  <c:v>245.53794655414907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2.03469070961586"/>
          <c:min val="216.239248153572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SPOKANE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135.50618900582526</c:v>
                </c:pt>
                <c:pt idx="1">
                  <c:v>139.43354100521177</c:v>
                </c:pt>
                <c:pt idx="2">
                  <c:v>143.04070476965322</c:v>
                </c:pt>
                <c:pt idx="3">
                  <c:v>144.27756894597658</c:v>
                </c:pt>
                <c:pt idx="4">
                  <c:v>143.9452209905324</c:v>
                </c:pt>
                <c:pt idx="5">
                  <c:v>143.4172847205565</c:v>
                </c:pt>
                <c:pt idx="6">
                  <c:v>148.4194108316338</c:v>
                </c:pt>
                <c:pt idx="7">
                  <c:v>146.32433479457643</c:v>
                </c:pt>
                <c:pt idx="8">
                  <c:v>148.9747782648588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99506665371382"/>
          <c:min val="133.485900616970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146.10917942519472</c:v>
                </c:pt>
                <c:pt idx="1">
                  <c:v>139.31016738481938</c:v>
                </c:pt>
                <c:pt idx="2">
                  <c:v>141.53525925925928</c:v>
                </c:pt>
                <c:pt idx="3">
                  <c:v>149.0938108315364</c:v>
                </c:pt>
                <c:pt idx="4">
                  <c:v>157.86236726813692</c:v>
                </c:pt>
                <c:pt idx="5">
                  <c:v>155.1640949727532</c:v>
                </c:pt>
                <c:pt idx="6">
                  <c:v>145.80333762018492</c:v>
                </c:pt>
                <c:pt idx="7">
                  <c:v>147.881053660003</c:v>
                </c:pt>
                <c:pt idx="8">
                  <c:v>159.61675912057146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2.66274788093426"/>
          <c:min val="136.2641786244565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141.29899487583762</c:v>
                </c:pt>
                <c:pt idx="1">
                  <c:v>141.12609206660136</c:v>
                </c:pt>
                <c:pt idx="2">
                  <c:v>134.98959023374655</c:v>
                </c:pt>
                <c:pt idx="3">
                  <c:v>134.82066907775769</c:v>
                </c:pt>
                <c:pt idx="4">
                  <c:v>134.81227542002526</c:v>
                </c:pt>
                <c:pt idx="5">
                  <c:v>141.9157515410147</c:v>
                </c:pt>
                <c:pt idx="6">
                  <c:v>145.1528764308776</c:v>
                </c:pt>
                <c:pt idx="7">
                  <c:v>145.4075890162945</c:v>
                </c:pt>
                <c:pt idx="8">
                  <c:v>147.8839667352231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9.84472043250278"/>
          <c:min val="132.85152172274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0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ACURA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0.3838170224523827</c:v>
                </c:pt>
                <c:pt idx="1">
                  <c:v>0.4035019812938098</c:v>
                </c:pt>
                <c:pt idx="2">
                  <c:v>0.3952216223703298</c:v>
                </c:pt>
                <c:pt idx="3">
                  <c:v>0.4448395856159019</c:v>
                </c:pt>
                <c:pt idx="4">
                  <c:v>0.47606328903347445</c:v>
                </c:pt>
                <c:pt idx="5">
                  <c:v>0.49427527129736526</c:v>
                </c:pt>
                <c:pt idx="6">
                  <c:v>0.4642179700098211</c:v>
                </c:pt>
                <c:pt idx="7">
                  <c:v>0.48270738633256904</c:v>
                </c:pt>
                <c:pt idx="8">
                  <c:v>0.45289434755155056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5108440086241126"/>
          <c:min val="0.36724828512563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0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0.40001902646023274</c:v>
                </c:pt>
                <c:pt idx="1">
                  <c:v>0.3720732457962403</c:v>
                </c:pt>
                <c:pt idx="2">
                  <c:v>0.4018829925450841</c:v>
                </c:pt>
                <c:pt idx="3">
                  <c:v>0.40962760928027814</c:v>
                </c:pt>
                <c:pt idx="4">
                  <c:v>0.4597764968817762</c:v>
                </c:pt>
                <c:pt idx="5">
                  <c:v>0.40350076249992856</c:v>
                </c:pt>
                <c:pt idx="6">
                  <c:v>0.45445150808341633</c:v>
                </c:pt>
                <c:pt idx="7">
                  <c:v>0.42913664813449875</c:v>
                </c:pt>
                <c:pt idx="8">
                  <c:v>0.425523613232545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7293198454460655"/>
          <c:min val="0.35891775813340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0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GMC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0.34774542164070493</c:v>
                </c:pt>
                <c:pt idx="1">
                  <c:v>0.3428853815363897</c:v>
                </c:pt>
                <c:pt idx="2">
                  <c:v>0.3678319883700978</c:v>
                </c:pt>
                <c:pt idx="3">
                  <c:v>0.3451036516062462</c:v>
                </c:pt>
                <c:pt idx="4">
                  <c:v>0.37383512874032615</c:v>
                </c:pt>
                <c:pt idx="5">
                  <c:v>0.37442614515827255</c:v>
                </c:pt>
                <c:pt idx="6">
                  <c:v>0.3765012914668214</c:v>
                </c:pt>
                <c:pt idx="7">
                  <c:v>0.4109924749697751</c:v>
                </c:pt>
                <c:pt idx="8">
                  <c:v>0.39565037718326934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212085389847829"/>
          <c:min val="0.33266931752138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0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0.41530601520715416</c:v>
                </c:pt>
                <c:pt idx="1">
                  <c:v>0.4108890052717672</c:v>
                </c:pt>
                <c:pt idx="2">
                  <c:v>0.405583451418382</c:v>
                </c:pt>
                <c:pt idx="3">
                  <c:v>0.41689218345561846</c:v>
                </c:pt>
                <c:pt idx="4">
                  <c:v>0.458754837572283</c:v>
                </c:pt>
                <c:pt idx="5">
                  <c:v>0.47543115549863596</c:v>
                </c:pt>
                <c:pt idx="6">
                  <c:v>0.44051206489623174</c:v>
                </c:pt>
                <c:pt idx="7">
                  <c:v>0.44067846901952584</c:v>
                </c:pt>
                <c:pt idx="8">
                  <c:v>0.4379850163841297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8590831111067406"/>
          <c:min val="0.395106295806343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0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TOYOTA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0.40057589442118835</c:v>
                </c:pt>
                <c:pt idx="1">
                  <c:v>0.3824592298574588</c:v>
                </c:pt>
                <c:pt idx="2">
                  <c:v>0.3990699220487699</c:v>
                </c:pt>
                <c:pt idx="3">
                  <c:v>0.3369845083698473</c:v>
                </c:pt>
                <c:pt idx="4">
                  <c:v>0.42446429931693574</c:v>
                </c:pt>
                <c:pt idx="5">
                  <c:v>0.4242123912395645</c:v>
                </c:pt>
                <c:pt idx="6">
                  <c:v>0.4125803196455596</c:v>
                </c:pt>
                <c:pt idx="7">
                  <c:v>0.4279628930950305</c:v>
                </c:pt>
                <c:pt idx="8">
                  <c:v>0.41019587611883684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41609650803808"/>
          <c:min val="0.32333775066106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140105.4</c:v>
                </c:pt>
                <c:pt idx="1">
                  <c:v>129994.04000000001</c:v>
                </c:pt>
                <c:pt idx="2">
                  <c:v>194655.32</c:v>
                </c:pt>
                <c:pt idx="3">
                  <c:v>176169.16</c:v>
                </c:pt>
                <c:pt idx="4">
                  <c:v>174810.36</c:v>
                </c:pt>
                <c:pt idx="5">
                  <c:v>155900.23</c:v>
                </c:pt>
                <c:pt idx="6">
                  <c:v>168039.07</c:v>
                </c:pt>
                <c:pt idx="7">
                  <c:v>230368.93</c:v>
                </c:pt>
                <c:pt idx="8">
                  <c:v>227165.53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5425.1635"/>
          <c:min val="114937.80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86980.36</c:v>
                </c:pt>
                <c:pt idx="1">
                  <c:v>82836.39</c:v>
                </c:pt>
                <c:pt idx="2">
                  <c:v>86106.14</c:v>
                </c:pt>
                <c:pt idx="3">
                  <c:v>91223.19</c:v>
                </c:pt>
                <c:pt idx="4">
                  <c:v>82915.06</c:v>
                </c:pt>
                <c:pt idx="5">
                  <c:v>95470.58</c:v>
                </c:pt>
                <c:pt idx="6">
                  <c:v>121071.78</c:v>
                </c:pt>
                <c:pt idx="7">
                  <c:v>113797.79000000001</c:v>
                </c:pt>
                <c:pt idx="8">
                  <c:v>101183.02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6807.0885"/>
          <c:min val="77101.08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CDJR POST FALLS</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236533.56</c:v>
                </c:pt>
                <c:pt idx="1">
                  <c:v>198065</c:v>
                </c:pt>
                <c:pt idx="2">
                  <c:v>220283.83000000002</c:v>
                </c:pt>
                <c:pt idx="3">
                  <c:v>202377.06</c:v>
                </c:pt>
                <c:pt idx="4">
                  <c:v>210946.1</c:v>
                </c:pt>
                <c:pt idx="5">
                  <c:v>234862.74</c:v>
                </c:pt>
                <c:pt idx="6">
                  <c:v>300394.59</c:v>
                </c:pt>
                <c:pt idx="7">
                  <c:v>271122.35000000003</c:v>
                </c:pt>
                <c:pt idx="8">
                  <c:v>265586.5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5744.0285"/>
          <c:min val="182715.56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VW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63266.58</c:v>
                </c:pt>
                <c:pt idx="1">
                  <c:v>48675.05</c:v>
                </c:pt>
                <c:pt idx="2">
                  <c:v>49504.81</c:v>
                </c:pt>
                <c:pt idx="3">
                  <c:v>58672.880000000005</c:v>
                </c:pt>
                <c:pt idx="4">
                  <c:v>58583.36</c:v>
                </c:pt>
                <c:pt idx="5">
                  <c:v>82540.21</c:v>
                </c:pt>
                <c:pt idx="6">
                  <c:v>77897.88</c:v>
                </c:pt>
                <c:pt idx="7">
                  <c:v>64144.34</c:v>
                </c:pt>
                <c:pt idx="8">
                  <c:v>57011.62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7619.98400000001"/>
          <c:min val="43595.276000000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47133.479999999996</c:v>
                </c:pt>
                <c:pt idx="1">
                  <c:v>42518.81</c:v>
                </c:pt>
                <c:pt idx="2">
                  <c:v>57961.69</c:v>
                </c:pt>
                <c:pt idx="3">
                  <c:v>50013.479999999996</c:v>
                </c:pt>
                <c:pt idx="4">
                  <c:v>50169.79</c:v>
                </c:pt>
                <c:pt idx="5">
                  <c:v>48661.44</c:v>
                </c:pt>
                <c:pt idx="6">
                  <c:v>64651.67</c:v>
                </c:pt>
                <c:pt idx="7">
                  <c:v>56663.37</c:v>
                </c:pt>
                <c:pt idx="8">
                  <c:v>58829.520000000004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7971.599"/>
          <c:min val="39198.8809999999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HENDERSON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0.23308270676691728</c:v>
                </c:pt>
                <c:pt idx="1">
                  <c:v>0.18114143920595532</c:v>
                </c:pt>
                <c:pt idx="2">
                  <c:v>0.21772151898734177</c:v>
                </c:pt>
                <c:pt idx="3">
                  <c:v>0.20243902439024392</c:v>
                </c:pt>
                <c:pt idx="4">
                  <c:v>0.33410672853828305</c:v>
                </c:pt>
                <c:pt idx="5">
                  <c:v>0.33638443935926776</c:v>
                </c:pt>
                <c:pt idx="6">
                  <c:v>0.31072210065645517</c:v>
                </c:pt>
                <c:pt idx="7">
                  <c:v>0.28941176470588237</c:v>
                </c:pt>
                <c:pt idx="8">
                  <c:v>0.35308056872037913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788714381475427"/>
          <c:min val="0.155350569778791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0.07439446366782007</c:v>
                </c:pt>
                <c:pt idx="1">
                  <c:v>0.16377649325626203</c:v>
                </c:pt>
                <c:pt idx="2">
                  <c:v>0.14285714285714285</c:v>
                </c:pt>
                <c:pt idx="3">
                  <c:v>0.16510903426791276</c:v>
                </c:pt>
                <c:pt idx="4">
                  <c:v>0.1493212669683258</c:v>
                </c:pt>
                <c:pt idx="5">
                  <c:v>0.10703363914373089</c:v>
                </c:pt>
                <c:pt idx="6">
                  <c:v>0.16468842729970326</c:v>
                </c:pt>
                <c:pt idx="7">
                  <c:v>0.25258493353028066</c:v>
                </c:pt>
                <c:pt idx="8">
                  <c:v>0.2678843226788432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969078015304967"/>
          <c:min val="0.04537098481616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0.016666666666666666</c:v>
                </c:pt>
                <c:pt idx="1">
                  <c:v>0.04176904176904177</c:v>
                </c:pt>
                <c:pt idx="2">
                  <c:v>0.0630841121495327</c:v>
                </c:pt>
                <c:pt idx="3">
                  <c:v>0.06621004566210045</c:v>
                </c:pt>
                <c:pt idx="4">
                  <c:v>0.08983451536643026</c:v>
                </c:pt>
                <c:pt idx="5">
                  <c:v>0.07729468599033816</c:v>
                </c:pt>
                <c:pt idx="6">
                  <c:v>0.11608961303462322</c:v>
                </c:pt>
                <c:pt idx="7">
                  <c:v>0.11764705882352941</c:v>
                </c:pt>
                <c:pt idx="8">
                  <c:v>0.12026726057906459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3580734966592428"/>
          <c:min val="0.001126577579806978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0.16037735849056603</c:v>
                </c:pt>
                <c:pt idx="1">
                  <c:v>0.15463917525773196</c:v>
                </c:pt>
                <c:pt idx="2">
                  <c:v>0.23076923076923078</c:v>
                </c:pt>
                <c:pt idx="3">
                  <c:v>0.23728813559322035</c:v>
                </c:pt>
                <c:pt idx="4">
                  <c:v>0.1826086956521739</c:v>
                </c:pt>
                <c:pt idx="5">
                  <c:v>0.21428571428571427</c:v>
                </c:pt>
                <c:pt idx="6">
                  <c:v>0.24568965517241378</c:v>
                </c:pt>
                <c:pt idx="7">
                  <c:v>0.24752475247524752</c:v>
                </c:pt>
                <c:pt idx="8">
                  <c:v>0.27705627705627706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954188423260588"/>
          <c:min val="0.1362766099879502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0.15048543689320387</c:v>
                </c:pt>
                <c:pt idx="1">
                  <c:v>0.13583815028901733</c:v>
                </c:pt>
                <c:pt idx="2">
                  <c:v>0.0967741935483871</c:v>
                </c:pt>
                <c:pt idx="3">
                  <c:v>0.1116751269035533</c:v>
                </c:pt>
                <c:pt idx="4">
                  <c:v>0.11042944785276074</c:v>
                </c:pt>
                <c:pt idx="5">
                  <c:v>0.1485148514851485</c:v>
                </c:pt>
                <c:pt idx="6">
                  <c:v>0.19363395225464192</c:v>
                </c:pt>
                <c:pt idx="7">
                  <c:v>0.19186046511627908</c:v>
                </c:pt>
                <c:pt idx="8">
                  <c:v>0.19518716577540107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0994911160945318"/>
          <c:min val="0.082012247714334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0.05536332179930796</c:v>
                </c:pt>
                <c:pt idx="1">
                  <c:v>0.1252408477842004</c:v>
                </c:pt>
                <c:pt idx="2">
                  <c:v>0.12401883830455258</c:v>
                </c:pt>
                <c:pt idx="3">
                  <c:v>0.11682242990654206</c:v>
                </c:pt>
                <c:pt idx="4">
                  <c:v>0.09803921568627451</c:v>
                </c:pt>
                <c:pt idx="5">
                  <c:v>0.07339449541284404</c:v>
                </c:pt>
                <c:pt idx="6">
                  <c:v>0.12166172106824925</c:v>
                </c:pt>
                <c:pt idx="7">
                  <c:v>0.22156573116691286</c:v>
                </c:pt>
                <c:pt idx="8">
                  <c:v>0.2374429223744292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647548624606974"/>
          <c:min val="0.02805138171303977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0.09433962264150944</c:v>
                </c:pt>
                <c:pt idx="1">
                  <c:v>0.11855670103092783</c:v>
                </c:pt>
                <c:pt idx="2">
                  <c:v>0.11312217194570136</c:v>
                </c:pt>
                <c:pt idx="3">
                  <c:v>0.1440677966101695</c:v>
                </c:pt>
                <c:pt idx="4">
                  <c:v>0.12173913043478261</c:v>
                </c:pt>
                <c:pt idx="5">
                  <c:v>0.1388888888888889</c:v>
                </c:pt>
                <c:pt idx="6">
                  <c:v>0.125</c:v>
                </c:pt>
                <c:pt idx="7">
                  <c:v>0.14356435643564355</c:v>
                </c:pt>
                <c:pt idx="8">
                  <c:v>0.21212121212121213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2978845054316754"/>
          <c:min val="0.076672384219554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SPOKANE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0.004873294346978557</c:v>
                </c:pt>
                <c:pt idx="1">
                  <c:v>0.0012048192771084338</c:v>
                </c:pt>
                <c:pt idx="2">
                  <c:v>0.015321756894790603</c:v>
                </c:pt>
                <c:pt idx="3">
                  <c:v>0.011099899091826439</c:v>
                </c:pt>
                <c:pt idx="4">
                  <c:v>0.003972194637537239</c:v>
                </c:pt>
                <c:pt idx="5">
                  <c:v>0.03501945525291829</c:v>
                </c:pt>
                <c:pt idx="6">
                  <c:v>0.05103969754253308</c:v>
                </c:pt>
                <c:pt idx="7">
                  <c:v>0.04133064516129032</c:v>
                </c:pt>
                <c:pt idx="8">
                  <c:v>0.02747791952894995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5851492928234678"/>
          <c:min val="-0.00627041246270526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0.011904761904761904</c:v>
                </c:pt>
                <c:pt idx="1">
                  <c:v>0.05405405405405406</c:v>
                </c:pt>
                <c:pt idx="2">
                  <c:v>0.09345794392523364</c:v>
                </c:pt>
                <c:pt idx="3">
                  <c:v>0.1278538812785388</c:v>
                </c:pt>
                <c:pt idx="4">
                  <c:v>0.09219858156028368</c:v>
                </c:pt>
                <c:pt idx="5">
                  <c:v>0.05314009661835749</c:v>
                </c:pt>
                <c:pt idx="6">
                  <c:v>0.05702647657841141</c:v>
                </c:pt>
                <c:pt idx="7">
                  <c:v>0.10180995475113122</c:v>
                </c:pt>
                <c:pt idx="8">
                  <c:v>0.10022271714922049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4524624918460532"/>
          <c:min val="-0.00548760600130462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NORTH</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0.09898477157360407</c:v>
                </c:pt>
                <c:pt idx="1">
                  <c:v>0.08869329722410291</c:v>
                </c:pt>
                <c:pt idx="2">
                  <c:v>0.10177805027590435</c:v>
                </c:pt>
                <c:pt idx="3">
                  <c:v>0.13354037267080746</c:v>
                </c:pt>
                <c:pt idx="4">
                  <c:v>0.156411730879816</c:v>
                </c:pt>
                <c:pt idx="5">
                  <c:v>0.1283084004602992</c:v>
                </c:pt>
                <c:pt idx="6">
                  <c:v>0.11723737666860128</c:v>
                </c:pt>
                <c:pt idx="7">
                  <c:v>0.13226666666666667</c:v>
                </c:pt>
                <c:pt idx="8">
                  <c:v>0.11554496724240619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6656949592817297"/>
          <c:min val="0.078535532175745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0.04325259515570934</c:v>
                </c:pt>
                <c:pt idx="1">
                  <c:v>0.05009633911368015</c:v>
                </c:pt>
                <c:pt idx="2">
                  <c:v>0.061224489795918366</c:v>
                </c:pt>
                <c:pt idx="3">
                  <c:v>0.06542056074766354</c:v>
                </c:pt>
                <c:pt idx="4">
                  <c:v>0.058823529411764705</c:v>
                </c:pt>
                <c:pt idx="5">
                  <c:v>0.04434250764525994</c:v>
                </c:pt>
                <c:pt idx="6">
                  <c:v>0.057863501483679525</c:v>
                </c:pt>
                <c:pt idx="7">
                  <c:v>0.17725258493353027</c:v>
                </c:pt>
                <c:pt idx="8">
                  <c:v>0.1902587519025875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1230967541461923"/>
          <c:min val="0.0212016716436776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0.007444168734491315</c:v>
                </c:pt>
                <c:pt idx="1">
                  <c:v>0.0030959752321981426</c:v>
                </c:pt>
                <c:pt idx="2">
                  <c:v>0.004796163069544364</c:v>
                </c:pt>
                <c:pt idx="3">
                  <c:v>0</c:v>
                </c:pt>
                <c:pt idx="4">
                  <c:v>0</c:v>
                </c:pt>
                <c:pt idx="5">
                  <c:v>0</c:v>
                </c:pt>
                <c:pt idx="6">
                  <c:v>0</c:v>
                </c:pt>
                <c:pt idx="7">
                  <c:v>0.05952380952380952</c:v>
                </c:pt>
                <c:pt idx="8">
                  <c:v>0.10632183908045977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227011494252873"/>
          <c:min val="-0.01594827586206896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0.03333333333333333</c:v>
                </c:pt>
                <c:pt idx="1">
                  <c:v>0.044226044226044224</c:v>
                </c:pt>
                <c:pt idx="2">
                  <c:v>0.0397196261682243</c:v>
                </c:pt>
                <c:pt idx="3">
                  <c:v>0.0684931506849315</c:v>
                </c:pt>
                <c:pt idx="4">
                  <c:v>0.05200945626477541</c:v>
                </c:pt>
                <c:pt idx="5">
                  <c:v>0.05555555555555555</c:v>
                </c:pt>
                <c:pt idx="6">
                  <c:v>0.06720977596741344</c:v>
                </c:pt>
                <c:pt idx="7">
                  <c:v>0.083710407239819</c:v>
                </c:pt>
                <c:pt idx="8">
                  <c:v>0.08685968819599109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9488864142538975"/>
          <c:min val="0.0253043801039346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PRESCOTT</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0.08490566037735849</c:v>
                </c:pt>
                <c:pt idx="1">
                  <c:v>0.0979381443298969</c:v>
                </c:pt>
                <c:pt idx="2">
                  <c:v>0.06787330316742081</c:v>
                </c:pt>
                <c:pt idx="3">
                  <c:v>0.08898305084745763</c:v>
                </c:pt>
                <c:pt idx="4">
                  <c:v>0.0782608695652174</c:v>
                </c:pt>
                <c:pt idx="5">
                  <c:v>0.0992063492063492</c:v>
                </c:pt>
                <c:pt idx="6">
                  <c:v>0.09913793103448276</c:v>
                </c:pt>
                <c:pt idx="7">
                  <c:v>0.09900990099009901</c:v>
                </c:pt>
                <c:pt idx="8">
                  <c:v>0.15151515151515152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640614287673111"/>
          <c:min val="0.0553270259152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KIA LV</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0.08198489751887811</c:v>
                </c:pt>
                <c:pt idx="1">
                  <c:v>0.08132147395171538</c:v>
                </c:pt>
                <c:pt idx="2">
                  <c:v>0.07900432900432901</c:v>
                </c:pt>
                <c:pt idx="3">
                  <c:v>0.07203389830508475</c:v>
                </c:pt>
                <c:pt idx="4">
                  <c:v>0.05573770491803279</c:v>
                </c:pt>
                <c:pt idx="5">
                  <c:v>0.06837606837606838</c:v>
                </c:pt>
                <c:pt idx="6">
                  <c:v>0.10104166666666667</c:v>
                </c:pt>
                <c:pt idx="7">
                  <c:v>0.08740068104426787</c:v>
                </c:pt>
                <c:pt idx="8">
                  <c:v>0.119906868451688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295322429817363"/>
          <c:min val="0.0461123303879845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MAZDA</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0.02249134948096886</c:v>
                </c:pt>
                <c:pt idx="1">
                  <c:v>0.030828516377649325</c:v>
                </c:pt>
                <c:pt idx="2">
                  <c:v>0.023547880690737835</c:v>
                </c:pt>
                <c:pt idx="3">
                  <c:v>0.020249221183800622</c:v>
                </c:pt>
                <c:pt idx="4">
                  <c:v>0.027149321266968326</c:v>
                </c:pt>
                <c:pt idx="5">
                  <c:v>0.012232415902140673</c:v>
                </c:pt>
                <c:pt idx="6">
                  <c:v>0.026706231454005934</c:v>
                </c:pt>
                <c:pt idx="7">
                  <c:v>0.10635155096011817</c:v>
                </c:pt>
                <c:pt idx="8">
                  <c:v>0.1887366818873668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1521232178515073"/>
          <c:min val="-0.014243223995643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HYUNDAI ST GEORGE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0.03398058252427184</c:v>
                </c:pt>
                <c:pt idx="1">
                  <c:v>0.04335260115606936</c:v>
                </c:pt>
                <c:pt idx="2">
                  <c:v>0.04838709677419355</c:v>
                </c:pt>
                <c:pt idx="3">
                  <c:v>0.04060913705583756</c:v>
                </c:pt>
                <c:pt idx="4">
                  <c:v>0.06134969325153374</c:v>
                </c:pt>
                <c:pt idx="5">
                  <c:v>0.06188118811881188</c:v>
                </c:pt>
                <c:pt idx="6">
                  <c:v>0.0636604774535809</c:v>
                </c:pt>
                <c:pt idx="7">
                  <c:v>0.061046511627906974</c:v>
                </c:pt>
                <c:pt idx="8">
                  <c:v>0.11764705882352941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3019703026841806"/>
          <c:min val="0.0214306110793832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HONDA SPOKANE</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c:v>
                </c:pt>
                <c:pt idx="1">
                  <c:v>0.0012048192771084338</c:v>
                </c:pt>
                <c:pt idx="2">
                  <c:v>0.033707865168539325</c:v>
                </c:pt>
                <c:pt idx="3">
                  <c:v>0.028254288597376387</c:v>
                </c:pt>
                <c:pt idx="4">
                  <c:v>0.030784508440913606</c:v>
                </c:pt>
                <c:pt idx="5">
                  <c:v>0.04377431906614786</c:v>
                </c:pt>
                <c:pt idx="6">
                  <c:v>0.04158790170132325</c:v>
                </c:pt>
                <c:pt idx="7">
                  <c:v>0.05141129032258065</c:v>
                </c:pt>
                <c:pt idx="8">
                  <c:v>0.053974484789008834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2070657507360155"/>
          <c:min val="-0.0080961727183513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charts/chart8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LINCOLN</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0.04912280701754386</c:v>
                </c:pt>
                <c:pt idx="1">
                  <c:v>0.08914728682170543</c:v>
                </c:pt>
                <c:pt idx="2">
                  <c:v>0.06493506493506493</c:v>
                </c:pt>
                <c:pt idx="3">
                  <c:v>0.06498194945848375</c:v>
                </c:pt>
                <c:pt idx="4">
                  <c:v>0.06007067137809187</c:v>
                </c:pt>
                <c:pt idx="5">
                  <c:v>0.1044776119402985</c:v>
                </c:pt>
                <c:pt idx="6">
                  <c:v>0.11987381703470032</c:v>
                </c:pt>
                <c:pt idx="7">
                  <c:v>0.11450381679389313</c:v>
                </c:pt>
                <c:pt idx="8">
                  <c:v>0.06885245901639345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3048646853727378"/>
          <c:min val="0.0385101555149703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8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AUDI RENO</c:v>
                </c:pt>
              </c:strCache>
            </c:strRef>
          </c:tx>
          <c:spPr>
            <a:solidFill>
              <a:srgbClr val="12A566"/>
            </a:solidFill>
            <a:ln w="25400" cap="flat">
              <a:solidFill>
                <a:srgbClr val="12A5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2A566"/>
              </a:solidFill>
              <a:ln w="9525" cap="flat">
                <a:solidFill>
                  <a:srgbClr val="12A566"/>
                </a:solidFill>
                <a:prstDash val="solid"/>
                <a:round/>
              </a:ln>
              <a:effectLst/>
            </c:spPr>
          </c:marker>
          <c:cat>
            <c:multiLvlStrRef>
              <c:f>Sheet1!$A$2:$A$10</c:f>
              <c:multiLvlStrCache>
                <c:ptCount val="9"/>
                <c:lvl>
                  <c:pt idx="0">
                    <c:v>J</c:v>
                  </c:pt>
                  <c:pt idx="1">
                    <c:v>F</c:v>
                  </c:pt>
                  <c:pt idx="2">
                    <c:v>M</c:v>
                  </c:pt>
                  <c:pt idx="3">
                    <c:v>A</c:v>
                  </c:pt>
                  <c:pt idx="4">
                    <c:v>M</c:v>
                  </c:pt>
                  <c:pt idx="5">
                    <c:v>J</c:v>
                  </c:pt>
                  <c:pt idx="6">
                    <c:v>J</c:v>
                  </c:pt>
                  <c:pt idx="7">
                    <c:v>A</c:v>
                  </c:pt>
                  <c:pt idx="8">
                    <c:v>S</c:v>
                  </c:pt>
                </c:lvl>
              </c:multiLvlStrCache>
            </c:multiLvlStrRef>
          </c:cat>
          <c:val>
            <c:numRef>
              <c:f>Sheet1!$B$2:$B$10</c:f>
              <c:numCache>
                <c:formatCode>General</c:formatCode>
                <c:ptCount val="9"/>
                <c:pt idx="0">
                  <c:v>0</c:v>
                </c:pt>
                <c:pt idx="1">
                  <c:v>0</c:v>
                </c:pt>
                <c:pt idx="2">
                  <c:v>0</c:v>
                </c:pt>
                <c:pt idx="3">
                  <c:v>0</c:v>
                </c:pt>
                <c:pt idx="4">
                  <c:v>0</c:v>
                </c:pt>
                <c:pt idx="5">
                  <c:v>0</c:v>
                </c:pt>
                <c:pt idx="6">
                  <c:v>0</c:v>
                </c:pt>
                <c:pt idx="7">
                  <c:v>0.023809523809523808</c:v>
                </c:pt>
                <c:pt idx="8">
                  <c:v>0.05459770114942529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06278735632183909"/>
          <c:min val="-0.0081896551724137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7F7"/>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review with Tommy, not for the room. Every slide built but not placed in the deck: alternate versions of slides already in it, and slides not yet decided on. In deck order: Store Records (five designs), Door Rate option A, CP vs Internal GP % option A, Photo completion % (optional measure), Productivity slides taken out of the flow (gross per employee gap, 5% more per employee, ROs per advisor, ROs per manager; Oct 23), Who's Moving Now alternate versions and the line-chart versions taken out of the flow (Oct 23), Most Improved v1. Pick what moves into the deck, then delete this section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OPTION D - door rate by store, split by labor grid, standard rate only. Store door rate sheet (Oct 15 2026); averages weighted by Jul-Sep CP sold hours. Bars start at $100. INEOS on the sheet but excluded (same-store).</a:t>
            </a:r>
          </a:p>
          <a:p>
            <a:r>
              <a:t>CHEVY LV: premium $265 (Diesel/Corvette)</a:t>
            </a:r>
          </a:p>
          <a:p>
            <a:r>
              <a:t>AUDI HENDERSON: premium $399 (Lambo Non-Grid)</a:t>
            </a:r>
          </a:p>
          <a:p>
            <a:r>
              <a:t>VW HENDERSON: premium $210 (EV)</a:t>
            </a:r>
          </a:p>
          <a:p>
            <a:r>
              <a:t>CHEVY GMC BULLHEAD: premium $200 (Non-Standard Grid)</a:t>
            </a:r>
          </a:p>
          <a:p>
            <a:r>
              <a:t>SUBARU ST GEORGE: premium $210 (EV)</a:t>
            </a:r>
          </a:p>
          <a:p>
            <a:r>
              <a:t>HONDA FLAGSTAFF: premium $215 (EV)</a:t>
            </a:r>
          </a:p>
          <a:p>
            <a:r>
              <a:t>GMC PRESCOTT: premium $230 (EV)</a:t>
            </a:r>
          </a:p>
          <a:p>
            <a:r>
              <a:t>KIA ST GEORGE: premium $195 (EV)</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Jul–Sep: 25 of 33 stores realize at least 70% of door rate; the group is at 74.7%. Audi Reno leads at 103.4%; Cadillac is lowest at 61.5%.Source: CURRENT VERSION - bars and % only. Qlik - Closed Repair Orders. Customer pay, Jan-Sep by close month. Same-store, INEOS excluded (opened 2026). GMC Prescott body shop labor types excluded. CP ELR for JUL-SEP 2026 (last three months, to match current door rates) / store door rate (standard rate from the store door rate sheet; premium, EV and diesel rates not applied). Group = group CP labor sale / hours-weighted door rate. Green at or above 70%, red below. Bars start at 40%. Percentages are truncated, not rounded.</a:t>
            </a:r>
          </a:p>
          <a:p>
            <a:r>
              <a:t>AUDI RENO: ELR $244 / door $236 = 103.4%</a:t>
            </a:r>
          </a:p>
          <a:p>
            <a:r>
              <a:t>VOLVO: ELR $225 / door $250 = 90.2%</a:t>
            </a:r>
          </a:p>
          <a:p>
            <a:r>
              <a:t>CHEVY GMC BULLHEAD: ELR $162 / door $180 = 89.9%</a:t>
            </a:r>
          </a:p>
          <a:p>
            <a:r>
              <a:t>HYUNDAI ST GEORGE: ELR $166 / door $185 = 89.7%</a:t>
            </a:r>
          </a:p>
          <a:p>
            <a:r>
              <a:t>ACURA: ELR $199 / door $225 = 88.5%</a:t>
            </a:r>
          </a:p>
          <a:p>
            <a:r>
              <a:t>LR RENO: ELR $239 / door $275 = 86.7%</a:t>
            </a:r>
          </a:p>
          <a:p>
            <a:r>
              <a:t>HONDA FLAGSTAFF: ELR $160 / door $185 = 86.3%</a:t>
            </a:r>
          </a:p>
          <a:p>
            <a:r>
              <a:t>HONDA SPOKANE: ELR $148 / door $179 = 82.6%</a:t>
            </a:r>
          </a:p>
          <a:p>
            <a:r>
              <a:t>LEXUS: ELR $187 / door $230 = 81.5%</a:t>
            </a:r>
          </a:p>
          <a:p>
            <a:r>
              <a:t>CDJR POST FALLS: ELR $162 / door $200 = 80.9%</a:t>
            </a:r>
          </a:p>
          <a:p>
            <a:r>
              <a:t>TOYOTA PRESCOTT: ELR $156 / door $195 = 79.8%</a:t>
            </a:r>
          </a:p>
          <a:p>
            <a:r>
              <a:t>LR HENDERSON: ELR $234 / door $295 = 79.5%</a:t>
            </a:r>
          </a:p>
          <a:p>
            <a:r>
              <a:t>KIA ST GEORGE: ELR $146 / door $185 = 78.9%</a:t>
            </a:r>
          </a:p>
          <a:p>
            <a:r>
              <a:t>MAZDA: ELR $166 / door $210 = 78.9%</a:t>
            </a:r>
          </a:p>
          <a:p>
            <a:r>
              <a:t>VW HENDERSON: ELR $161 / door $205 = 78.5%</a:t>
            </a:r>
          </a:p>
          <a:p>
            <a:r>
              <a:t>VW ST GEORGE: ELR $142 / door $185 = 76.7%</a:t>
            </a:r>
          </a:p>
          <a:p>
            <a:r>
              <a:t>AUDI HENDERSON: ELR $267 / door $349 = 76.4%</a:t>
            </a:r>
          </a:p>
          <a:p>
            <a:r>
              <a:t>LR LV: ELR $234 / door $310 = 75.4%</a:t>
            </a:r>
          </a:p>
          <a:p>
            <a:r>
              <a:t>SUBARU LV: ELR $162 / door $215 = 75.2%</a:t>
            </a:r>
          </a:p>
          <a:p>
            <a:r>
              <a:t>NISSAN: ELR $180 / door $240 = 75.1%</a:t>
            </a:r>
          </a:p>
          <a:p>
            <a:r>
              <a:t>TOYOTA FLAGSTAFF: ELR $143 / door $190 = 75.0%</a:t>
            </a:r>
          </a:p>
          <a:p>
            <a:r>
              <a:t>SUBARU ST GEORGE: ELR $137 / door $185 = 73.8%</a:t>
            </a:r>
          </a:p>
          <a:p>
            <a:r>
              <a:t>TOYOTA HENDERSON: ELR $155 / door $211 = 73.1%</a:t>
            </a:r>
          </a:p>
          <a:p>
            <a:r>
              <a:t>HONDA HENDERSON: ELR $153 / door $212 = 72.4%</a:t>
            </a:r>
          </a:p>
          <a:p>
            <a:r>
              <a:t>HONDA NORTH: ELR $150 / door $212 = 70.6%</a:t>
            </a:r>
          </a:p>
          <a:p>
            <a:r>
              <a:t>KIA LV: ELR $151 / door $220 = 68.5%</a:t>
            </a:r>
          </a:p>
          <a:p>
            <a:r>
              <a:t>LINCOLN: ELR $167 / door $245 = 68.2%</a:t>
            </a:r>
          </a:p>
          <a:p>
            <a:r>
              <a:t>TOYOTA SPOKANE: ELR $125 / door $185 = 67.5%</a:t>
            </a:r>
          </a:p>
          <a:p>
            <a:r>
              <a:t>GMC PRESCOTT: ELR $147 / door $220 = 66.7%</a:t>
            </a:r>
          </a:p>
          <a:p>
            <a:r>
              <a:t>SUBARU PRESCOTT: ELR $140 / door $210 = 66.5%</a:t>
            </a:r>
          </a:p>
          <a:p>
            <a:r>
              <a:t>CHEVY LV: ELR $146 / door $225 = 65.0%</a:t>
            </a:r>
          </a:p>
          <a:p>
            <a:r>
              <a:t>HYUNDAI PRESCOTT: ELR $136 / door $210 = 64.8%</a:t>
            </a:r>
          </a:p>
          <a:p>
            <a:r>
              <a:t>CADILLAC: ELR $175 / door $285 = 61.5%</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Qlik - Productivity app, P&amp;L Total Gross Profit - Fixed Ops. Headcount: ADP Employee Master extract 10/19/2026 (rebuilt 2026-10-20; the Qlik headcount history undercounted). Fixed gross per fixed employee = gross / fixed employees, Jan-Sep 2026 monthly average. Same-store, INEOS excluded (opened 2026). GMC Prescott body shop gross and body shop staff excluded. Each store compared with its own segment average a month: luxury $16,998, non-luxury $12,714 (luxury = Lexus, Lincoln, Cadillac, Volvo, Audi Reno, Audi Henderson, LR Reno, LR LV, LR Henderson). Gross/yr = (segment average - store) x the store's average fixed employees x 12. Stores at or above their segment average are not shown. Per emp = the store's fixed gross per fixed employee a month. Seg avg = its segment's average.Framing: gross the team already in the building could produce, not a headcount target. Luxury stores are measured against luxury, non-luxury against non-luxury. Audi Henderson ($23,686) lifts the luxury average; Lincoln ($11,127) sits below even the non-luxury average.</a:t>
            </a:r>
          </a:p>
          <a:p>
            <a:r>
              <a:t>CADILLAC (luxury): $14,260 per employee a month vs $16,998; 74.8 fixed employees; $2,456,862 a year</a:t>
            </a:r>
          </a:p>
          <a:p>
            <a:r>
              <a:t>LINCOLN (luxury): $10,963 per employee a month vs $16,998; 30.2 fixed employees; $2,188,561 a year</a:t>
            </a:r>
          </a:p>
          <a:p>
            <a:r>
              <a:t>CHEVY GMC BULLHEAD (non-luxury): $10,391 per employee a month vs $12,714; 48.4 fixed employees; $1,350,504 a year</a:t>
            </a:r>
          </a:p>
          <a:p>
            <a:r>
              <a:t>CDJR POST FALLS (non-luxury): $9,953 per employee a month vs $12,714; 39.7 fixed employees; $1,314,435 a year</a:t>
            </a:r>
          </a:p>
          <a:p>
            <a:r>
              <a:t>CHEVY LV (non-luxury): $12,042 per employee a month vs $12,714; 152.7 fixed employees; $1,232,343 a year</a:t>
            </a:r>
          </a:p>
          <a:p>
            <a:r>
              <a:t>TOYOTA SPOKANE (non-luxury): $11,128 per employee a month vs $12,714; 59.2 fixed employees; $1,127,104 a year</a:t>
            </a:r>
          </a:p>
          <a:p>
            <a:r>
              <a:t>TOYOTA FLAGSTAFF (non-luxury): $10,794 per employee a month vs $12,714; 46.0 fixed employees; $1,060,118 a year</a:t>
            </a:r>
          </a:p>
          <a:p>
            <a:r>
              <a:t>GMC PRESCOTT (non-luxury): $9,498 per employee a month vs $12,714; 26.6 fixed employees; $1,024,925 a year</a:t>
            </a:r>
          </a:p>
          <a:p>
            <a:r>
              <a:t>TOYOTA PRESCOTT (non-luxury): $11,044 per employee a month vs $12,714; 51.1 fixed employees; $1,024,357 a year</a:t>
            </a:r>
          </a:p>
          <a:p>
            <a:r>
              <a:t>AUDI RENO (luxury): $14,916 per employee a month vs $16,998; 33.2 fixed employees; $830,073 a year</a:t>
            </a:r>
          </a:p>
          <a:p>
            <a:r>
              <a:t>HONDA FLAGSTAFF (non-luxury): $9,149 per employee a month vs $12,714; 19.3 fixed employees; $827,082 a year</a:t>
            </a:r>
          </a:p>
          <a:p>
            <a:r>
              <a:t>NISSAN (non-luxury): $11,957 per employee a month vs $12,714; 44.4 fixed employees; $403,638 a year</a:t>
            </a:r>
          </a:p>
          <a:p>
            <a:r>
              <a:t>VW HENDERSON (non-luxury): $12,006 per employee a month vs $12,714; 44.3 fixed employees; $376,895 a year</a:t>
            </a:r>
          </a:p>
          <a:p>
            <a:r>
              <a:t>VW ST GEORGE (non-luxury): $9,878 per employee a month vs $12,714; 10.9 fixed employees; $370,634 a year</a:t>
            </a:r>
          </a:p>
          <a:p>
            <a:r>
              <a:t>LR RENO (luxury): $15,226 per employee a month vs $16,998; 16.1 fixed employees; $342,526 a year</a:t>
            </a:r>
          </a:p>
          <a:p>
            <a:r>
              <a:t>HYUNDAI ST GEORGE (non-luxury): $11,541 per employee a month vs $12,714; 22.0 fixed employees; $309,678 a year</a:t>
            </a:r>
          </a:p>
          <a:p>
            <a:r>
              <a:t>HYUNDAI PRESCOTT (non-luxury): $11,631 per employee a month vs $12,714; 14.7 fixed employees; $190,674 a year</a:t>
            </a:r>
          </a:p>
          <a:p>
            <a:r>
              <a:t>KIA ST GEORGE (non-luxury): $12,103 per employee a month vs $12,714; 21.4 fixed employees; $157,193 a year</a:t>
            </a:r>
          </a:p>
          <a:p>
            <a:r>
              <a:t>ACURA (non-luxury): $12,364 per employee a month vs $12,714; 26.0 fixed employees; $109,303 a year</a:t>
            </a:r>
          </a:p>
          <a:p>
            <a:r>
              <a:t>SUBARU PRESCOTT (non-luxury): $12,501 per employee a month vs $12,714; 24.0 fixed employees; $61,379 a year</a:t>
            </a:r>
          </a:p>
          <a:p>
            <a:r>
              <a:t>LEXUS (luxury): $16,919 per employee a month vs $16,998; 27.2 fixed employees; $25,739 a year</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Qlik - Productivity app, P&amp;L Total Gross Profit - Fixed Ops. Headcount: ADP Employee Master extract 10/19/2026 (rebuilt 2026-10-20; the Qlik headcount history undercounted). Fixed gross per fixed employee = gross / fixed employees, Jan-Sep 2026 monthly average. Same-store, INEOS excluded (opened 2026). GMC Prescott body shop gross and body shop staff excluded. Each store is measured against its own number: Target = today + 5%. Gross/yr = 5% x the store's gross per employee x its average fixed employees x 12 (the same staff producing 5% more). Per working day uses 307 days open a year (6 days a week less the 6 service holidays). Today and Target = fixed gross per fixed employee a month.Framing: every store is measured against itself, so an Audi store does not set a Lincoln store's target. 5% is roughly one more customer-pay RO a day for a small store, or a few tenths of an hour per RO.</a:t>
            </a:r>
          </a:p>
          <a:p>
            <a:r>
              <a:t>TOYOTA HENDERSON: $14,174 today -&gt; $14,883 target per employee a month; 177.1 fixed employees; $1,506,225 a year</a:t>
            </a:r>
          </a:p>
          <a:p>
            <a:r>
              <a:t>CHEVY LV: $12,042 today -&gt; $12,644 target per employee a month; 152.7 fixed employees; $1,103,005 a year</a:t>
            </a:r>
          </a:p>
          <a:p>
            <a:r>
              <a:t>HONDA HENDERSON: $16,061 today -&gt; $16,864 target per employee a month; 99.8 fixed employees; $961,535 a year</a:t>
            </a:r>
          </a:p>
          <a:p>
            <a:r>
              <a:t>AUDI HENDERSON: $23,461 today -&gt; $24,634 target per employee a month; 58.4 fixed employees; $822,684 a year</a:t>
            </a:r>
          </a:p>
          <a:p>
            <a:r>
              <a:t>SUBARU LV: $12,874 today -&gt; $13,518 target per employee a month; 87.0 fixed employees; $672,026 a year</a:t>
            </a:r>
          </a:p>
          <a:p>
            <a:r>
              <a:t>CADILLAC: $14,260 today -&gt; $14,973 target per employee a month; 74.8 fixed employees; $639,799 a year</a:t>
            </a:r>
          </a:p>
          <a:p>
            <a:r>
              <a:t>HONDA NORTH: $14,604 today -&gt; $15,334 target per employee a month; 65.6 fixed employees; $574,425 a year</a:t>
            </a:r>
          </a:p>
          <a:p>
            <a:r>
              <a:t>LR LV: $18,148 today -&gt; $19,056 target per employee a month; 40.4 fixed employees; $440,403 a year</a:t>
            </a:r>
          </a:p>
          <a:p>
            <a:r>
              <a:t>KIA LV: $13,289 today -&gt; $13,954 target per employee a month; 51.4 fixed employees; $410,199 a year</a:t>
            </a:r>
          </a:p>
          <a:p>
            <a:r>
              <a:t>TOYOTA SPOKANE: $11,128 today -&gt; $11,685 target per employee a month; 59.2 fixed employees; $395,423 a year</a:t>
            </a:r>
          </a:p>
          <a:p>
            <a:r>
              <a:t>TOYOTA PRESCOTT: $11,044 today -&gt; $11,596 target per employee a month; 51.1 fixed employees; $338,685 a year</a:t>
            </a:r>
          </a:p>
          <a:p>
            <a:r>
              <a:t>VW HENDERSON: $12,006 today -&gt; $12,606 target per employee a month; 44.3 fixed employees; $319,353 a year</a:t>
            </a:r>
          </a:p>
          <a:p>
            <a:r>
              <a:t>NISSAN: $11,957 today -&gt; $12,555 target per employee a month; 44.4 fixed employees; $318,864 a year</a:t>
            </a:r>
          </a:p>
          <a:p>
            <a:r>
              <a:t>CHEVY GMC BULLHEAD: $10,391 today -&gt; $10,911 target per employee a month; 48.4 fixed employees; $302,035 a year</a:t>
            </a:r>
          </a:p>
          <a:p>
            <a:r>
              <a:t>TOYOTA FLAGSTAFF: $10,794 today -&gt; $11,333 target per employee a month; 46.0 fixed employees; $297,906 a year</a:t>
            </a:r>
          </a:p>
          <a:p>
            <a:r>
              <a:t>AUDI RENO: $14,916 today -&gt; $15,662 target per employee a month; 33.2 fixed employees; $297,322 a year</a:t>
            </a:r>
          </a:p>
          <a:p>
            <a:r>
              <a:t>HONDA SPOKANE: $12,871 today -&gt; $13,514 target per employee a month; 36.1 fixed employees; $278,863 a year</a:t>
            </a:r>
          </a:p>
          <a:p>
            <a:r>
              <a:t>LEXUS: $16,919 today -&gt; $17,765 target per employee a month; 27.2 fixed employees; $276,346 a year</a:t>
            </a:r>
          </a:p>
          <a:p>
            <a:r>
              <a:t>VOLVO: $18,549 today -&gt; $19,476 target per employee a month; 23.4 fixed employees; $260,917 a year</a:t>
            </a:r>
          </a:p>
          <a:p>
            <a:r>
              <a:t>CDJR POST FALLS: $9,953 today -&gt; $10,450 target per employee a month; 39.7 fixed employees; $236,877 a year</a:t>
            </a:r>
          </a:p>
          <a:p>
            <a:r>
              <a:t>SUBARU ST GEORGE: $15,556 today -&gt; $16,333 target per employee a month; 25.1 fixed employees; $234,372 a year</a:t>
            </a:r>
          </a:p>
          <a:p>
            <a:r>
              <a:t>LR HENDERSON: $18,268 today -&gt; $19,182 target per employee a month; 20.8 fixed employees; $227,743 a year</a:t>
            </a:r>
          </a:p>
          <a:p>
            <a:r>
              <a:t>MAZDA: $15,966 today -&gt; $16,765 target per employee a month; 23.0 fixed employees; $220,335 a year</a:t>
            </a:r>
          </a:p>
          <a:p>
            <a:r>
              <a:t>LINCOLN: $10,963 today -&gt; $11,511 target per employee a month; 30.2 fixed employees; $198,802 a year</a:t>
            </a:r>
          </a:p>
          <a:p>
            <a:r>
              <a:t>ACURA: $12,364 today -&gt; $12,982 target per employee a month; 26.0 fixed employees; $192,877 a year</a:t>
            </a:r>
          </a:p>
          <a:p>
            <a:r>
              <a:t>SUBARU PRESCOTT: $12,501 today -&gt; $13,126 target per employee a month; 24.0 fixed employees; $180,016 a year</a:t>
            </a:r>
          </a:p>
          <a:p>
            <a:r>
              <a:t>KIA ST GEORGE: $12,103 today -&gt; $12,709 target per employee a month; 21.4 fixed employees; $155,730 a year</a:t>
            </a:r>
          </a:p>
          <a:p>
            <a:r>
              <a:t>HYUNDAI ST GEORGE: $11,541 today -&gt; $12,118 target per employee a month; 22.0 fixed employees; $152,344 a year</a:t>
            </a:r>
          </a:p>
          <a:p>
            <a:r>
              <a:t>GMC PRESCOTT: $9,498 today -&gt; $9,973 target per employee a month; 26.6 fixed employees; $151,334 a year</a:t>
            </a:r>
          </a:p>
          <a:p>
            <a:r>
              <a:t>LR RENO: $15,226 today -&gt; $15,988 target per employee a month; 16.1 fixed employees; $147,187 a year</a:t>
            </a:r>
          </a:p>
          <a:p>
            <a:r>
              <a:t>HONDA FLAGSTAFF: $9,149 today -&gt; $9,607 target per employee a month; 19.3 fixed employees; $106,131 a year</a:t>
            </a:r>
          </a:p>
          <a:p>
            <a:r>
              <a:t>HYUNDAI PRESCOTT: $11,631 today -&gt; $12,212 target per employee a month; 14.7 fixed employees; $102,351 a year</a:t>
            </a:r>
          </a:p>
          <a:p>
            <a:r>
              <a:t>VW ST GEORGE: $9,878 today -&gt; $10,372 target per employee a month; 10.9 fixed employees; $64,535 a year</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service advisors. YTD from YTD totals, not the mean of months. Store rows reconcile to the group on every input, both years. 2025 shown January-December; October-December pulled Oct 22 on the same basis (chart only).</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Against their own segment, 5 of 9 luxury stores beat 123 and 12 of 24 others beat 176. Toyota Flagstaff leads non-luxury at 253.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service advisors. Jan-Sep 2026 YTD. Green at or above own segment average, red below. Segment averages from segment totals. Luxury = Lexus, Lincoln, Cadillac, Volvo, Audi Reno, Audi Henderson, LR Reno, LR LV, LR Henderson; Acura counted as non-luxury.</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17 of 33 stores raised ROs per advisor, led by Honda Flagstaff at +40 to 175. 16 declined; Toyota Spokane fell most at −59.Source: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CP &amp; W ROs per Service Advisor,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Honda Flagstaff, Hyundai Prescott and Toyota Flagstaff what changed. Ask Toyota Spokane, VW St George and Nissan what got in the way. Ask Mazda, Honda North and Honda Spokane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service advisors. Top and bottom five stores by change in CP &amp; W ROs per Service Advisor, Jan-Sep 2026 vs 2025. Moving now: Jul-Sep 2026 vs Jan-Mar 2026, each store against itself; the group moved +15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managers. Small stores carry one to three managers, so one hire moves the ratio sharply. YTD from YTD totals, not the mean of months. Store rows reconcile to the group on every input, both years. 2025 shown January-December; October-December pulled Oct 22 on the same basis (chart only).</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Against their own segment, 5 of 9 luxury stores beat 276 and 7 of 24 others beat 418. Toyota Henderson leads non-luxury at 1,022.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managers. Small stores carry one to three managers, so one hire moves the ratio sharply. Jan-Sep 2026 YTD. Green at or above own segment average, red below. Segment averages from segment totals. Luxury = Lexus, Lincoln, Cadillac, Volvo, Audi Reno, Audi Henderson, LR Reno, LR LV, LR Henderson; Acura counted as non-luxury.</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22 of 33 stores raised ROs per manager, led by Toyota Henderson at +182 to 1,022. 11 declined; Mazda fell most at −281.Source: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CP &amp; W ROs per Fixed Manager,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Toyota Henderson, Toyota Spokane and Toyota Prescott what changed. Ask Mazda, Subaru St George and Honda Spokane what got in the way. Ask Toyota Prescott, Toyota Henderson and VW St George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managers. Small stores carry one to three managers, so one hire moves the ratio sharply. Top and bottom five stores by change in CP &amp; W ROs per Fixed Manager, Jan-Sep 2026 vs 2025. Moving now: Jul-Sep 2026 vs Jan-Mar 2026, each store against itself; the group moved +38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employees. YTD from YTD totals, not the mean of months. Store rows reconcile to the group on every input, both years. 2025 shown January-December; October-December pulled Oct 22 on the same basis (chart only).</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Against their own segment, 4 of 9 luxury stores beat 17.4 and 14 of 24 others beat 29.3. Kia St George leads non-luxury at 39.8.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employees. Jan-Sep 2026 YTD. Green at or above own segment average, red below. Segment averages from segment totals. Luxury = Lexus, Lincoln, Cadillac, Volvo, Audi Reno, Audi Henderson, LR Reno, LR LV, LR Henderson; Acura counted as non-luxury.</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22 of 33 stores raised ROs per fixed employee, led by Hyundai Prescott at +6.9 to 31.4. 11 declined; Kia St George fell most at −6.6.Source: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CP &amp; W ROs per Fixed Employee,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Kia LV and Hyundai St George what changed. Ask Kia St George, Mazda and VW St George what got in the way. Ask Subaru St George, CDJR Post Falls and Hyundai Prescott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employees. Top and bottom five stores by change in CP &amp; W ROs per Fixed Employee, Jan-Sep 2026 vs 2025. Moving now: Jul-Sep 2026 vs Jan-Mar 2026, each store against itself; the group moved +1.8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ADP worked hours (regular + overtime) and Qlik - Closed Repair Orders sold hours, all pay types, matched by tech number. Dec 25, 2025 - Oct 9, 2026 (shown as Jan-Sep). Same-store, INEOS excluded (opened 2026). Service, express, team-leader and shop-foreman titles only; body shop, detail and tint excluded. Outliers dropped: shop foremen at or below 30% (workbook uses 20%; under 30% a foreman is mainly dispatching), team leaders at or below 20%, service and express technicians at or below 10% (workbook uses 2%; under 10% a tech is not working as a line tech). Unassigned codes (MULT, 999, 77777) excluded. Role changes: ADP shows one current title with worked hours for the whole period, so when a tech's worked hours exceed 125% of full time over the months they actually flagged, worked hours are scaled to that span (56 techs). 45 keying-error lines removed from sold hours (5,399 hrs: single lines of 20+ hours with under $25 labor sale per hour, e.g. 940.58 hrs for $0 at Hyundai St George, RO 177970). Top quarter = the store's most proficient quarter of counted technicians (at least one), sold / worked hours combined. Bars capped at 190%.ACURA: 67.4%; 11 of 11 under 85%; gap 2,954 hrs; labor $50K/mo + parts $26K/mo; tech pay $14K/mo; 25.4% of $299K/mo RO gross; top quarter 74% (3 techs); 3.46 ROs/tech day; 1.75 hrs/RO</a:t>
            </a:r>
          </a:p>
          <a:p>
            <a:r>
              <a:t>AUDI HENDERSON: 91.0%; 13 of 23 under 85%; gap 3,426 hrs; labor $81K/mo + parts $20K/mo; tech pay $14K/mo; 8.3% of $1.23M/mo RO gross; top quarter 135% (6 techs); 2.77 ROs/tech day; 3.23 hrs/RO</a:t>
            </a:r>
          </a:p>
          <a:p>
            <a:r>
              <a:t>AUDI RENO: 117.1%; 4 of 10 under 85%; gap 826 hrs; labor $14K/mo + parts $6K/mo; tech pay $4K/mo; 4.0% of $504K/mo RO gross; top quarter 194% (2 techs); 4.08 ROs/tech day; 2.88 hrs/RO</a:t>
            </a:r>
          </a:p>
          <a:p>
            <a:r>
              <a:t>CADILLAC: 87.7%; 16 of 29 under 85%; gap 6,705 hrs; labor $108K/mo + parts $49K/mo; tech pay $24K/mo; 13.6% of $1.16M/mo RO gross; top quarter 143% (7 techs); 2.48 ROs/tech day; 3.41 hrs/RO</a:t>
            </a:r>
          </a:p>
          <a:p>
            <a:r>
              <a:t>CDJR POST FALLS: 71.2%; 9 of 14 under 85%; gap 5,005 hrs; labor $68K/mo + parts $32K/mo; tech pay $18K/mo; 24.6% of $408K/mo RO gross; top quarter 129% (4 techs); 3.77 ROs/tech day; 2.25 hrs/RO</a:t>
            </a:r>
          </a:p>
          <a:p>
            <a:r>
              <a:t>CHEVY GMC BULLHEAD: 68.4%; 16 of 20 under 85%; gap 5,809 hrs; labor $73K/mo + parts $39K/mo; tech pay $20K/mo; 23.2% of $483K/mo RO gross; top quarter 96% (5 techs); 3.06 ROs/tech day; 2.19 hrs/RO</a:t>
            </a:r>
          </a:p>
          <a:p>
            <a:r>
              <a:t>CHEVY LV: 103.4%; 16 of 51 under 85%; gap 5,102 hrs; labor $62K/mo + parts $25K/mo; tech pay $17K/mo; 5.2% of $1.69M/mo RO gross; top quarter 164% (13 techs); 3.95 ROs/tech day; 2.69 hrs/RO</a:t>
            </a:r>
          </a:p>
          <a:p>
            <a:r>
              <a:t>GMC PRESCOTT: 73.6%; 7 of 12 under 85%; gap 2,741 hrs; labor $31K/mo + parts $17K/mo; tech pay $12K/mo; 14.4% of $333K/mo RO gross; top quarter 104% (3 techs); 3.59 ROs/tech day; 4.21 hrs/RO</a:t>
            </a:r>
          </a:p>
          <a:p>
            <a:r>
              <a:t>HONDA FLAGSTAFF: 78.5%; 4 of 6 under 85%; gap 2,217 hrs; labor $28K/mo + parts $12K/mo; tech pay $8K/mo; 19.6% of $202K/mo RO gross; top quarter 131% (2 techs); 5.23 ROs/tech day; 1.85 hrs/RO</a:t>
            </a:r>
          </a:p>
          <a:p>
            <a:r>
              <a:t>HONDA HENDERSON: 118.5%; 5 of 28 under 85%; gap 669 hrs; labor $9K/mo + parts $4K/mo; tech pay $2K/mo; 0.8% of $1.54M/mo RO gross; top quarter 172% (7 techs); 6.04 ROs/tech day; 2.11 hrs/RO</a:t>
            </a:r>
          </a:p>
          <a:p>
            <a:r>
              <a:t>HONDA NORTH: 109.3%; 4 of 22 under 85%; gap 764 hrs; labor $9K/mo + parts $4K/mo; tech pay $2K/mo; 1.4% of $949K/mo RO gross; top quarter 152% (6 techs); 6.08 ROs/tech day; 2.29 hrs/RO</a:t>
            </a:r>
          </a:p>
          <a:p>
            <a:r>
              <a:t>HONDA SPOKANE: 109.0%; 2 of 15 under 85%; gap 57 hrs; labor $1K/mo + parts $0K/mo; tech pay $0K/mo; 0.2% of $453K/mo RO gross; top quarter 130% (4 techs); 6.24 ROs/tech day; 2.14 hrs/RO</a:t>
            </a:r>
          </a:p>
          <a:p>
            <a:r>
              <a:t>HYUNDAI PRESCOTT: 78.8%; 6 of 9 under 85%; gap 1,873 hrs; labor $23K/mo + parts $11K/mo; tech pay $8K/mo; 18.5% of $185K/mo RO gross; top quarter 113% (2 techs); 3.75 ROs/tech day; 1.78 hrs/RO</a:t>
            </a:r>
          </a:p>
          <a:p>
            <a:r>
              <a:t>HYUNDAI ST GEORGE: 69.0%; 8 of 11 under 85%; gap 3,952 hrs; labor $58K/mo + parts $30K/mo; tech pay $13K/mo; 31.9% of $277K/mo RO gross; top quarter 122% (3 techs); 4.23 ROs/tech day; 1.45 hrs/RO</a:t>
            </a:r>
          </a:p>
          <a:p>
            <a:r>
              <a:t>KIA LV: 76.8%; 16 of 20 under 85%; gap 3,389 hrs; labor $51K/mo + parts $23K/mo; tech pay $12K/mo; 11.6% of $643K/mo RO gross; top quarter 101% (5 techs); 5.22 ROs/tech day; 1.70 hrs/RO</a:t>
            </a:r>
          </a:p>
          <a:p>
            <a:r>
              <a:t>KIA ST GEORGE: 67.5%; 9 of 12 under 85%; gap 3,713 hrs; labor $48K/mo + parts $29K/mo; tech pay $11K/mo; 29.7% of $258K/mo RO gross; top quarter 98% (3 techs); 4.25 ROs/tech day; 1.31 hrs/RO</a:t>
            </a:r>
          </a:p>
          <a:p>
            <a:r>
              <a:t>LEXUS: 104.7%; 6 of 11 under 85%; gap 1,451 hrs; labor $24K/mo + parts $7K/mo; tech pay $5K/mo; 7.9% of $400K/mo RO gross; top quarter 178% (3 techs); 4.01 ROs/tech day; 2.44 hrs/RO</a:t>
            </a:r>
          </a:p>
          <a:p>
            <a:r>
              <a:t>LINCOLN: 94.9%; 5 of 11 under 85%; gap 1,236 hrs; labor $17K/mo + parts $7K/mo; tech pay $4K/mo; 7.6% of $312K/mo RO gross; top quarter 125% (3 techs); 3.24 ROs/tech day; 2.35 hrs/RO</a:t>
            </a:r>
          </a:p>
          <a:p>
            <a:r>
              <a:t>LR HENDERSON: 106.0%; 3 of 7 under 85%; gap 567 hrs; labor $9K/mo + parts $5K/mo; tech pay $2K/mo; 4.2% of $357K/mo RO gross; top quarter 145% (2 techs); 2.94 ROs/tech day; 3.68 hrs/RO</a:t>
            </a:r>
          </a:p>
          <a:p>
            <a:r>
              <a:t>LR LV: 91.2%; 8 of 16 under 85%; gap 2,154 hrs; labor $42K/mo + parts $21K/mo; tech pay $9K/mo; 9.0% of $702K/mo RO gross; top quarter 131% (4 techs); 2.41 ROs/tech day; 3.54 hrs/RO</a:t>
            </a:r>
          </a:p>
          <a:p>
            <a:r>
              <a:t>LR RENO: 81.4%; 2 of 6 under 85%; gap 724 hrs; labor $14K/mo + parts $7K/mo; tech pay $3K/mo; 8.0% of $257K/mo RO gross; top quarter 96% (2 techs); 2.36 ROs/tech day; 3.20 hrs/RO</a:t>
            </a:r>
          </a:p>
          <a:p>
            <a:r>
              <a:t>MAZDA: 101.6%; 4 of 11 under 85%; gap 415 hrs; labor $6K/mo + parts $3K/mo; tech pay $1K/mo; 2.7% of $322K/mo RO gross; top quarter 123% (3 techs); 5.78 ROs/tech day; 1.54 hrs/RO</a:t>
            </a:r>
          </a:p>
          <a:p>
            <a:r>
              <a:t>NISSAN: 91.1%; 8 of 17 under 85%; gap 2,291 hrs; labor $30K/mo + parts $13K/mo; tech pay $9K/mo; 8.0% of $532K/mo RO gross; top quarter 132% (4 techs); 4.08 ROs/tech day; 2.29 hrs/RO</a:t>
            </a:r>
          </a:p>
          <a:p>
            <a:r>
              <a:t>SUBARU LV: 96.9%; 11 of 27 under 85%; gap 2,050 hrs; labor $29K/mo + parts $15K/mo; tech pay $5K/mo; 4.1% of $1.07M/mo RO gross; top quarter 132% (7 techs); 4.64 ROs/tech day; 2.07 hrs/RO</a:t>
            </a:r>
          </a:p>
          <a:p>
            <a:r>
              <a:t>SUBARU PRESCOTT: 98.4%; 6 of 12 under 85%; gap 3,523 hrs; labor $37K/mo + parts $21K/mo; tech pay $13K/mo; 20.0% of $288K/mo RO gross; top quarter 179% (3 techs); 4.73 ROs/tech day; 1.68 hrs/RO</a:t>
            </a:r>
          </a:p>
          <a:p>
            <a:r>
              <a:t>SUBARU ST GEORGE: 109.7%; 3 of 12 under 85%; gap 1,248 hrs; labor $14K/mo + parts $8K/mo; tech pay $5K/mo; 5.8% of $382K/mo RO gross; top quarter 146% (3 techs); 4.11 ROs/tech day; 2.20 hrs/RO</a:t>
            </a:r>
          </a:p>
          <a:p>
            <a:r>
              <a:t>TOYOTA FLAGSTAFF: 102.4%; 6 of 18 under 85%; gap 662 hrs; labor $8K/mo + parts $3K/mo; tech pay $2K/mo; 1.9% of $542K/mo RO gross; top quarter 151% (4 techs); 4.96 ROs/tech day; 1.84 hrs/RO</a:t>
            </a:r>
          </a:p>
          <a:p>
            <a:r>
              <a:t>TOYOTA HENDERSON: 104.3%; 20 of 59 under 85%; gap 4,057 hrs; labor $51K/mo + parts $19K/mo; tech pay $14K/mo; 2.9% of $2.44M/mo RO gross; top quarter 153% (15 techs); 6.41 ROs/tech day; 1.88 hrs/RO</a:t>
            </a:r>
          </a:p>
          <a:p>
            <a:r>
              <a:t>TOYOTA PRESCOTT: 83.6%; 11 of 22 under 85%; gap 4,174 hrs; labor $57K/mo + parts $20K/mo; tech pay $16K/mo; 13.5% of $573K/mo RO gross; top quarter 118% (6 techs); 4.22 ROs/tech day; 1.72 hrs/RO</a:t>
            </a:r>
          </a:p>
          <a:p>
            <a:r>
              <a:t>TOYOTA SPOKANE: 108.0%; 4 of 28 under 85%; gap 745 hrs; labor $8K/mo + parts $4K/mo; tech pay $3K/mo; 1.9% of $609K/mo RO gross; top quarter 134% (7 techs); 5.36 ROs/tech day; 1.81 hrs/RO</a:t>
            </a:r>
          </a:p>
          <a:p>
            <a:r>
              <a:t>VOLVO: 72.3%; 8 of 9 under 85%; gap 1,963 hrs; labor $40K/mo + parts $22K/mo; tech pay $5K/mo; 14.8% of $417K/mo RO gross; top quarter 89% (2 techs); 3.81 ROs/tech day; 1.92 hrs/RO</a:t>
            </a:r>
          </a:p>
          <a:p>
            <a:r>
              <a:t>VW HENDERSON: 92.2%; 6 of 19 under 85%; gap 1,416 hrs; labor $19K/mo + parts $5K/mo; tech pay $4K/mo; 4.8% of $516K/mo RO gross; top quarter 115% (5 techs); 3.77 ROs/tech day; 2.28 hrs/RO</a:t>
            </a:r>
          </a:p>
          <a:p>
            <a:r>
              <a:t>VW ST GEORGE: 70.0%; 5 of 5 under 85%; gap 1,149 hrs; labor $13K/mo + parts $7K/mo; tech pay $3K/mo; 19.0% of $109K/mo RO gross; top quarter 76% (1 techs); 3.81 ROs/tech day; 1.65 hrs/RO</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Mazda went $155K to $209K, stepping up in August.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gross per month,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Lexus went 425 to 570, stepping up in April.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ros per month,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Mazda went 1.35 to 1.65, stepping up in August.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hours per ro,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VW St George went $128.27 to $141.89, stepping up in June.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elr,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VW St George went $224 to $298, stepping up in June.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parts $ per ro,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Acura went 39.4% to 46.6%, stepping up in April.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parts gp %,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Lexus went 425 to 570, stepping up in April.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ros per month,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Mazda went 1.35 to 1.65, stepping up in August.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hours per ro,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VW St George went $128.27 to $141.89, stepping up in June.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elr,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Acura went 39.4% to 46.6%, stepping up in April.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parts gp %,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Mazda went $155K to $209K, stepping up in August.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a:p/>
          <a:p>
            <a:r>
              <a:t>Review note: the month line is the store's own monthly cp gross per month,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Audi Henderson went 21.1% to 31.7%, stepping up in May.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Opcode closing % = ROs with the service ÷ customer-pay ROs on the op-code report basis, same as the Opcode Benchmarks slides.</a:t>
            </a:r>
          </a:p>
          <a:p/>
          <a:p>
            <a:r>
              <a:t>Review note: the month line is the store's own monthly alignment %,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Mazda went 10.1% to 19.3%, stepping up in August.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Opcode closing % = ROs with the service ÷ customer-pay ROs on the op-code report basis, same as the Opcode Benchmarks slides.</a:t>
            </a:r>
          </a:p>
          <a:p/>
          <a:p>
            <a:r>
              <a:t>Review note: the month line is the store's own monthly balance %,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Mazda went 5.2% to 14.1%, stepping up in August.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Opcode closing % = ROs with the service ÷ customer-pay ROs on the op-code report basis, same as the Opcode Benchmarks slides.</a:t>
            </a:r>
          </a:p>
          <a:p/>
          <a:p>
            <a:r>
              <a:t>Review note: the month line is the store's own monthly brake fluid %,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Mazda went 2.5% to 10.7%, stepping up in August. Ask what changed that month.Source: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Opcode closing % = ROs with the service ÷ customer-pay ROs on the op-code report basis, same as the Opcode Benchmarks slides.</a:t>
            </a:r>
          </a:p>
          <a:p/>
          <a:p>
            <a:r>
              <a:t>Review note: the month line is the store's own monthly fuel service %, so a step up shows as the line moving to a higher level and staying there. Volume measures (gross, ROs) still carry some store-specific seasonality (snowbird markets) the group baseline cannot fully remove; the rate measures are the cleanest read.</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Lincoln makes three of six lists; three stores make two.Source: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 Period: Jan–Sep 2026 vs Jan–Sep 2025. Stores with under 50 CP ROs in the base period not ranked (none were excluded).</a:t>
            </a:r>
          </a:p>
          <a:p/>
          <a:p>
            <a:r>
              <a:t>Review note: percent change rewards a store coming off a weak base. The before → after values are on the card so the room sees the starting point.</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Lincoln and Kia St George each make three of six lists.Source: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 Period: Jul–Sep 2026 vs Jul–Sep 2025. Stores with under 50 CP ROs in the base period not ranked (none were excluded).</a:t>
            </a:r>
          </a:p>
          <a:p/>
          <a:p>
            <a:r>
              <a:t>Review note: percent change rewards a store coming off a weak base. The before → after values are on the card so the room sees the starting point.</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Lincoln has 6 top-3 finishes of 12. 8 stores make a top-3 list in both periods.Source: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 Top-3 finishes counted across six measures in each of two periods (Jan-Sep and Jul-Sep), 12 lists in all. Top 8 stores shown.</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Lincoln leads both periods. Three stores are top five in both.Source: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Kia LV leads Jan–Sep; LR Reno leads the last 90 days. Three stores are top five in both.Source: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Hyundai St George leads both periods. Hyundai St George and Kia St George are top five in both.Source: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Honda Spokane leads Jan–Sep; Lincoln leads the last 90 days. Five stores are top five in both.Source: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Lincoln leads both periods. Three stores are top five in both.Source: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Acura leads both periods. Acura and Subaru Prescott are top five in both.Source: Qlik - Closed Repair Orders. Customer pay, by close date. Same-store, 33 stores (INEOS excluded, opened 2026). GMC Prescott body shop labor types excluded. Change is 2026 vs the same months of 2025, so seasonality cancels out. Stores ranked by percent change (points for parts GP %), so store size does not drive the ranking. CP gross = CP labor gross + CP parts gross.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the close, after the last Productivity / Proficiency slide.</a:t>
            </a:r>
          </a:p>
          <a:p>
            <a:r>
              <a:t>Said: Roundtable slide 24 (Misc &amp; Closing). Commitments are reviewed at the next meeting (Noah, Oct 27): keep a list of what each store names.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06.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52.xml"/><Relationship Id="rId3" Type="http://schemas.openxmlformats.org/officeDocument/2006/relationships/chart" Target="../charts/chart653.xml"/><Relationship Id="rId4" Type="http://schemas.openxmlformats.org/officeDocument/2006/relationships/chart" Target="../charts/chart654.xml"/><Relationship Id="rId5" Type="http://schemas.openxmlformats.org/officeDocument/2006/relationships/chart" Target="../charts/chart655.xml"/><Relationship Id="rId6" Type="http://schemas.openxmlformats.org/officeDocument/2006/relationships/chart" Target="../charts/chart656.xml"/><Relationship Id="rId7" Type="http://schemas.openxmlformats.org/officeDocument/2006/relationships/chart" Target="../charts/chart657.xml"/><Relationship Id="rId8"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58.xml"/><Relationship Id="rId3" Type="http://schemas.openxmlformats.org/officeDocument/2006/relationships/chart" Target="../charts/chart659.xml"/><Relationship Id="rId4" Type="http://schemas.openxmlformats.org/officeDocument/2006/relationships/chart" Target="../charts/chart660.xml"/><Relationship Id="rId5" Type="http://schemas.openxmlformats.org/officeDocument/2006/relationships/chart" Target="../charts/chart661.xml"/><Relationship Id="rId6" Type="http://schemas.openxmlformats.org/officeDocument/2006/relationships/chart" Target="../charts/chart662.xml"/><Relationship Id="rId7" Type="http://schemas.openxmlformats.org/officeDocument/2006/relationships/chart" Target="../charts/chart663.xml"/><Relationship Id="rId8" Type="http://schemas.openxmlformats.org/officeDocument/2006/relationships/chart" Target="../charts/chart664.xml"/><Relationship Id="rId9" Type="http://schemas.openxmlformats.org/officeDocument/2006/relationships/chart" Target="../charts/chart665.xml"/><Relationship Id="rId10" Type="http://schemas.openxmlformats.org/officeDocument/2006/relationships/chart" Target="../charts/chart666.xml"/><Relationship Id="rId11" Type="http://schemas.openxmlformats.org/officeDocument/2006/relationships/chart" Target="../charts/chart667.xml"/><Relationship Id="rId12" Type="http://schemas.openxmlformats.org/officeDocument/2006/relationships/chart" Target="../charts/chart668.xml"/><Relationship Id="rId13" Type="http://schemas.openxmlformats.org/officeDocument/2006/relationships/chart" Target="../charts/chart669.xml"/><Relationship Id="rId14" Type="http://schemas.openxmlformats.org/officeDocument/2006/relationships/chart" Target="../charts/chart670.xml"/><Relationship Id="rId15" Type="http://schemas.openxmlformats.org/officeDocument/2006/relationships/chart" Target="../charts/chart671.xml"/><Relationship Id="rId16" Type="http://schemas.openxmlformats.org/officeDocument/2006/relationships/chart" Target="../charts/chart672.xml"/><Relationship Id="rId17" Type="http://schemas.openxmlformats.org/officeDocument/2006/relationships/chart" Target="../charts/chart673.xml"/><Relationship Id="rId18" Type="http://schemas.openxmlformats.org/officeDocument/2006/relationships/chart" Target="../charts/chart674.xml"/><Relationship Id="rId19" Type="http://schemas.openxmlformats.org/officeDocument/2006/relationships/chart" Target="../charts/chart675.xml"/><Relationship Id="rId20" Type="http://schemas.openxmlformats.org/officeDocument/2006/relationships/chart" Target="../charts/chart676.xml"/><Relationship Id="rId21" Type="http://schemas.openxmlformats.org/officeDocument/2006/relationships/chart" Target="../charts/chart677.xml"/><Relationship Id="rId2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78.xml"/><Relationship Id="rId3" Type="http://schemas.openxmlformats.org/officeDocument/2006/relationships/chart" Target="../charts/chart679.xml"/><Relationship Id="rId4" Type="http://schemas.openxmlformats.org/officeDocument/2006/relationships/chart" Target="../charts/chart680.xml"/><Relationship Id="rId5" Type="http://schemas.openxmlformats.org/officeDocument/2006/relationships/chart" Target="../charts/chart681.xml"/><Relationship Id="rId6" Type="http://schemas.openxmlformats.org/officeDocument/2006/relationships/chart" Target="../charts/chart682.xml"/><Relationship Id="rId7" Type="http://schemas.openxmlformats.org/officeDocument/2006/relationships/chart" Target="../charts/chart683.xml"/><Relationship Id="rId8"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84.xml"/><Relationship Id="rId3" Type="http://schemas.openxmlformats.org/officeDocument/2006/relationships/chart" Target="../charts/chart685.xml"/><Relationship Id="rId4" Type="http://schemas.openxmlformats.org/officeDocument/2006/relationships/chart" Target="../charts/chart686.xml"/><Relationship Id="rId5" Type="http://schemas.openxmlformats.org/officeDocument/2006/relationships/chart" Target="../charts/chart687.xml"/><Relationship Id="rId6" Type="http://schemas.openxmlformats.org/officeDocument/2006/relationships/chart" Target="../charts/chart688.xml"/><Relationship Id="rId7" Type="http://schemas.openxmlformats.org/officeDocument/2006/relationships/chart" Target="../charts/chart689.xml"/><Relationship Id="rId8" Type="http://schemas.openxmlformats.org/officeDocument/2006/relationships/chart" Target="../charts/chart690.xml"/><Relationship Id="rId9" Type="http://schemas.openxmlformats.org/officeDocument/2006/relationships/chart" Target="../charts/chart691.xml"/><Relationship Id="rId10" Type="http://schemas.openxmlformats.org/officeDocument/2006/relationships/chart" Target="../charts/chart692.xml"/><Relationship Id="rId11" Type="http://schemas.openxmlformats.org/officeDocument/2006/relationships/chart" Target="../charts/chart693.xml"/><Relationship Id="rId12" Type="http://schemas.openxmlformats.org/officeDocument/2006/relationships/chart" Target="../charts/chart694.xml"/><Relationship Id="rId13" Type="http://schemas.openxmlformats.org/officeDocument/2006/relationships/chart" Target="../charts/chart695.xml"/><Relationship Id="rId14" Type="http://schemas.openxmlformats.org/officeDocument/2006/relationships/chart" Target="../charts/chart696.xml"/><Relationship Id="rId15" Type="http://schemas.openxmlformats.org/officeDocument/2006/relationships/chart" Target="../charts/chart697.xml"/><Relationship Id="rId16" Type="http://schemas.openxmlformats.org/officeDocument/2006/relationships/chart" Target="../charts/chart698.xml"/><Relationship Id="rId17" Type="http://schemas.openxmlformats.org/officeDocument/2006/relationships/chart" Target="../charts/chart699.xml"/><Relationship Id="rId18" Type="http://schemas.openxmlformats.org/officeDocument/2006/relationships/chart" Target="../charts/chart700.xml"/><Relationship Id="rId19" Type="http://schemas.openxmlformats.org/officeDocument/2006/relationships/chart" Target="../charts/chart701.xml"/><Relationship Id="rId20" Type="http://schemas.openxmlformats.org/officeDocument/2006/relationships/chart" Target="../charts/chart702.xml"/><Relationship Id="rId21" Type="http://schemas.openxmlformats.org/officeDocument/2006/relationships/chart" Target="../charts/chart703.xml"/><Relationship Id="rId2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04.xml"/><Relationship Id="rId3" Type="http://schemas.openxmlformats.org/officeDocument/2006/relationships/chart" Target="../charts/chart705.xml"/><Relationship Id="rId4" Type="http://schemas.openxmlformats.org/officeDocument/2006/relationships/chart" Target="../charts/chart706.xml"/><Relationship Id="rId5" Type="http://schemas.openxmlformats.org/officeDocument/2006/relationships/chart" Target="../charts/chart707.xml"/><Relationship Id="rId6" Type="http://schemas.openxmlformats.org/officeDocument/2006/relationships/chart" Target="../charts/chart708.xml"/><Relationship Id="rId7" Type="http://schemas.openxmlformats.org/officeDocument/2006/relationships/chart" Target="../charts/chart709.xml"/><Relationship Id="rId8"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10.xml"/><Relationship Id="rId3" Type="http://schemas.openxmlformats.org/officeDocument/2006/relationships/chart" Target="../charts/chart711.xml"/><Relationship Id="rId4" Type="http://schemas.openxmlformats.org/officeDocument/2006/relationships/chart" Target="../charts/chart712.xml"/><Relationship Id="rId5" Type="http://schemas.openxmlformats.org/officeDocument/2006/relationships/chart" Target="../charts/chart713.xml"/><Relationship Id="rId6" Type="http://schemas.openxmlformats.org/officeDocument/2006/relationships/chart" Target="../charts/chart714.xml"/><Relationship Id="rId7" Type="http://schemas.openxmlformats.org/officeDocument/2006/relationships/chart" Target="../charts/chart715.xml"/><Relationship Id="rId8" Type="http://schemas.openxmlformats.org/officeDocument/2006/relationships/chart" Target="../charts/chart716.xml"/><Relationship Id="rId9" Type="http://schemas.openxmlformats.org/officeDocument/2006/relationships/chart" Target="../charts/chart717.xml"/><Relationship Id="rId10" Type="http://schemas.openxmlformats.org/officeDocument/2006/relationships/chart" Target="../charts/chart718.xml"/><Relationship Id="rId11" Type="http://schemas.openxmlformats.org/officeDocument/2006/relationships/chart" Target="../charts/chart719.xml"/><Relationship Id="rId12" Type="http://schemas.openxmlformats.org/officeDocument/2006/relationships/chart" Target="../charts/chart720.xml"/><Relationship Id="rId13" Type="http://schemas.openxmlformats.org/officeDocument/2006/relationships/chart" Target="../charts/chart721.xml"/><Relationship Id="rId14" Type="http://schemas.openxmlformats.org/officeDocument/2006/relationships/chart" Target="../charts/chart722.xml"/><Relationship Id="rId15" Type="http://schemas.openxmlformats.org/officeDocument/2006/relationships/chart" Target="../charts/chart723.xml"/><Relationship Id="rId16" Type="http://schemas.openxmlformats.org/officeDocument/2006/relationships/chart" Target="../charts/chart724.xml"/><Relationship Id="rId17" Type="http://schemas.openxmlformats.org/officeDocument/2006/relationships/chart" Target="../charts/chart725.xml"/><Relationship Id="rId18" Type="http://schemas.openxmlformats.org/officeDocument/2006/relationships/chart" Target="../charts/chart726.xml"/><Relationship Id="rId19" Type="http://schemas.openxmlformats.org/officeDocument/2006/relationships/chart" Target="../charts/chart727.xml"/><Relationship Id="rId20" Type="http://schemas.openxmlformats.org/officeDocument/2006/relationships/chart" Target="../charts/chart728.xml"/><Relationship Id="rId21" Type="http://schemas.openxmlformats.org/officeDocument/2006/relationships/chart" Target="../charts/chart729.xml"/><Relationship Id="rId2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30.xml"/><Relationship Id="rId3" Type="http://schemas.openxmlformats.org/officeDocument/2006/relationships/chart" Target="../charts/chart731.xml"/><Relationship Id="rId4" Type="http://schemas.openxmlformats.org/officeDocument/2006/relationships/chart" Target="../charts/chart732.xml"/><Relationship Id="rId5" Type="http://schemas.openxmlformats.org/officeDocument/2006/relationships/chart" Target="../charts/chart733.xml"/><Relationship Id="rId6" Type="http://schemas.openxmlformats.org/officeDocument/2006/relationships/chart" Target="../charts/chart734.xml"/><Relationship Id="rId7" Type="http://schemas.openxmlformats.org/officeDocument/2006/relationships/chart" Target="../charts/chart735.xml"/><Relationship Id="rId8" Type="http://schemas.openxmlformats.org/officeDocument/2006/relationships/chart" Target="../charts/chart736.xml"/><Relationship Id="rId9" Type="http://schemas.openxmlformats.org/officeDocument/2006/relationships/chart" Target="../charts/chart737.xml"/><Relationship Id="rId10" Type="http://schemas.openxmlformats.org/officeDocument/2006/relationships/chart" Target="../charts/chart738.xml"/><Relationship Id="rId11" Type="http://schemas.openxmlformats.org/officeDocument/2006/relationships/chart" Target="../charts/chart739.xml"/><Relationship Id="rId1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40.xml"/><Relationship Id="rId3" Type="http://schemas.openxmlformats.org/officeDocument/2006/relationships/chart" Target="../charts/chart741.xml"/><Relationship Id="rId4" Type="http://schemas.openxmlformats.org/officeDocument/2006/relationships/chart" Target="../charts/chart742.xml"/><Relationship Id="rId5" Type="http://schemas.openxmlformats.org/officeDocument/2006/relationships/chart" Target="../charts/chart743.xml"/><Relationship Id="rId6" Type="http://schemas.openxmlformats.org/officeDocument/2006/relationships/chart" Target="../charts/chart744.xml"/><Relationship Id="rId7" Type="http://schemas.openxmlformats.org/officeDocument/2006/relationships/chart" Target="../charts/chart745.xml"/><Relationship Id="rId8" Type="http://schemas.openxmlformats.org/officeDocument/2006/relationships/chart" Target="../charts/chart746.xml"/><Relationship Id="rId9" Type="http://schemas.openxmlformats.org/officeDocument/2006/relationships/chart" Target="../charts/chart747.xml"/><Relationship Id="rId10" Type="http://schemas.openxmlformats.org/officeDocument/2006/relationships/chart" Target="../charts/chart748.xml"/><Relationship Id="rId11" Type="http://schemas.openxmlformats.org/officeDocument/2006/relationships/chart" Target="../charts/chart749.xml"/><Relationship Id="rId1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50.xml"/><Relationship Id="rId3" Type="http://schemas.openxmlformats.org/officeDocument/2006/relationships/chart" Target="../charts/chart751.xml"/><Relationship Id="rId4" Type="http://schemas.openxmlformats.org/officeDocument/2006/relationships/chart" Target="../charts/chart752.xml"/><Relationship Id="rId5" Type="http://schemas.openxmlformats.org/officeDocument/2006/relationships/chart" Target="../charts/chart753.xml"/><Relationship Id="rId6" Type="http://schemas.openxmlformats.org/officeDocument/2006/relationships/chart" Target="../charts/chart754.xml"/><Relationship Id="rId7" Type="http://schemas.openxmlformats.org/officeDocument/2006/relationships/chart" Target="../charts/chart755.xml"/><Relationship Id="rId8" Type="http://schemas.openxmlformats.org/officeDocument/2006/relationships/chart" Target="../charts/chart756.xml"/><Relationship Id="rId9" Type="http://schemas.openxmlformats.org/officeDocument/2006/relationships/chart" Target="../charts/chart757.xml"/><Relationship Id="rId10" Type="http://schemas.openxmlformats.org/officeDocument/2006/relationships/chart" Target="../charts/chart758.xml"/><Relationship Id="rId11" Type="http://schemas.openxmlformats.org/officeDocument/2006/relationships/chart" Target="../charts/chart759.xml"/><Relationship Id="rId1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60.xml"/><Relationship Id="rId3" Type="http://schemas.openxmlformats.org/officeDocument/2006/relationships/chart" Target="../charts/chart761.xml"/><Relationship Id="rId4" Type="http://schemas.openxmlformats.org/officeDocument/2006/relationships/chart" Target="../charts/chart762.xml"/><Relationship Id="rId5" Type="http://schemas.openxmlformats.org/officeDocument/2006/relationships/chart" Target="../charts/chart763.xml"/><Relationship Id="rId6" Type="http://schemas.openxmlformats.org/officeDocument/2006/relationships/chart" Target="../charts/chart764.xml"/><Relationship Id="rId7" Type="http://schemas.openxmlformats.org/officeDocument/2006/relationships/chart" Target="../charts/chart765.xml"/><Relationship Id="rId8" Type="http://schemas.openxmlformats.org/officeDocument/2006/relationships/chart" Target="../charts/chart766.xml"/><Relationship Id="rId9" Type="http://schemas.openxmlformats.org/officeDocument/2006/relationships/chart" Target="../charts/chart767.xml"/><Relationship Id="rId10" Type="http://schemas.openxmlformats.org/officeDocument/2006/relationships/chart" Target="../charts/chart768.xml"/><Relationship Id="rId11" Type="http://schemas.openxmlformats.org/officeDocument/2006/relationships/chart" Target="../charts/chart769.xml"/><Relationship Id="rId1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70.xml"/><Relationship Id="rId3" Type="http://schemas.openxmlformats.org/officeDocument/2006/relationships/chart" Target="../charts/chart771.xml"/><Relationship Id="rId4" Type="http://schemas.openxmlformats.org/officeDocument/2006/relationships/chart" Target="../charts/chart772.xml"/><Relationship Id="rId5" Type="http://schemas.openxmlformats.org/officeDocument/2006/relationships/chart" Target="../charts/chart773.xml"/><Relationship Id="rId6" Type="http://schemas.openxmlformats.org/officeDocument/2006/relationships/chart" Target="../charts/chart774.xml"/><Relationship Id="rId7" Type="http://schemas.openxmlformats.org/officeDocument/2006/relationships/chart" Target="../charts/chart775.xml"/><Relationship Id="rId8" Type="http://schemas.openxmlformats.org/officeDocument/2006/relationships/chart" Target="../charts/chart776.xml"/><Relationship Id="rId9" Type="http://schemas.openxmlformats.org/officeDocument/2006/relationships/chart" Target="../charts/chart777.xml"/><Relationship Id="rId10" Type="http://schemas.openxmlformats.org/officeDocument/2006/relationships/chart" Target="../charts/chart778.xml"/><Relationship Id="rId11" Type="http://schemas.openxmlformats.org/officeDocument/2006/relationships/chart" Target="../charts/chart779.xml"/><Relationship Id="rId1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80.xml"/><Relationship Id="rId3" Type="http://schemas.openxmlformats.org/officeDocument/2006/relationships/chart" Target="../charts/chart781.xml"/><Relationship Id="rId4" Type="http://schemas.openxmlformats.org/officeDocument/2006/relationships/chart" Target="../charts/chart782.xml"/><Relationship Id="rId5" Type="http://schemas.openxmlformats.org/officeDocument/2006/relationships/chart" Target="../charts/chart783.xml"/><Relationship Id="rId6" Type="http://schemas.openxmlformats.org/officeDocument/2006/relationships/chart" Target="../charts/chart784.xml"/><Relationship Id="rId7" Type="http://schemas.openxmlformats.org/officeDocument/2006/relationships/chart" Target="../charts/chart785.xml"/><Relationship Id="rId8" Type="http://schemas.openxmlformats.org/officeDocument/2006/relationships/chart" Target="../charts/chart786.xml"/><Relationship Id="rId9" Type="http://schemas.openxmlformats.org/officeDocument/2006/relationships/chart" Target="../charts/chart787.xml"/><Relationship Id="rId10" Type="http://schemas.openxmlformats.org/officeDocument/2006/relationships/chart" Target="../charts/chart788.xml"/><Relationship Id="rId11" Type="http://schemas.openxmlformats.org/officeDocument/2006/relationships/chart" Target="../charts/chart789.xml"/><Relationship Id="rId1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90.xml"/><Relationship Id="rId3" Type="http://schemas.openxmlformats.org/officeDocument/2006/relationships/chart" Target="../charts/chart791.xml"/><Relationship Id="rId4" Type="http://schemas.openxmlformats.org/officeDocument/2006/relationships/chart" Target="../charts/chart792.xml"/><Relationship Id="rId5" Type="http://schemas.openxmlformats.org/officeDocument/2006/relationships/chart" Target="../charts/chart793.xml"/><Relationship Id="rId6" Type="http://schemas.openxmlformats.org/officeDocument/2006/relationships/chart" Target="../charts/chart794.xml"/><Relationship Id="rId7"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95.xml"/><Relationship Id="rId3" Type="http://schemas.openxmlformats.org/officeDocument/2006/relationships/chart" Target="../charts/chart796.xml"/><Relationship Id="rId4" Type="http://schemas.openxmlformats.org/officeDocument/2006/relationships/chart" Target="../charts/chart797.xml"/><Relationship Id="rId5" Type="http://schemas.openxmlformats.org/officeDocument/2006/relationships/chart" Target="../charts/chart798.xml"/><Relationship Id="rId6" Type="http://schemas.openxmlformats.org/officeDocument/2006/relationships/chart" Target="../charts/chart799.xml"/><Relationship Id="rId7"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00.xml"/><Relationship Id="rId3" Type="http://schemas.openxmlformats.org/officeDocument/2006/relationships/chart" Target="../charts/chart801.xml"/><Relationship Id="rId4" Type="http://schemas.openxmlformats.org/officeDocument/2006/relationships/chart" Target="../charts/chart802.xml"/><Relationship Id="rId5" Type="http://schemas.openxmlformats.org/officeDocument/2006/relationships/chart" Target="../charts/chart803.xml"/><Relationship Id="rId6" Type="http://schemas.openxmlformats.org/officeDocument/2006/relationships/chart" Target="../charts/chart804.xml"/><Relationship Id="rId7"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05.xml"/><Relationship Id="rId3" Type="http://schemas.openxmlformats.org/officeDocument/2006/relationships/chart" Target="../charts/chart806.xml"/><Relationship Id="rId4" Type="http://schemas.openxmlformats.org/officeDocument/2006/relationships/chart" Target="../charts/chart807.xml"/><Relationship Id="rId5" Type="http://schemas.openxmlformats.org/officeDocument/2006/relationships/chart" Target="../charts/chart808.xml"/><Relationship Id="rId6" Type="http://schemas.openxmlformats.org/officeDocument/2006/relationships/chart" Target="../charts/chart809.xml"/><Relationship Id="rId7"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10.xml"/><Relationship Id="rId3" Type="http://schemas.openxmlformats.org/officeDocument/2006/relationships/chart" Target="../charts/chart811.xml"/><Relationship Id="rId4" Type="http://schemas.openxmlformats.org/officeDocument/2006/relationships/chart" Target="../charts/chart812.xml"/><Relationship Id="rId5" Type="http://schemas.openxmlformats.org/officeDocument/2006/relationships/chart" Target="../charts/chart813.xml"/><Relationship Id="rId6" Type="http://schemas.openxmlformats.org/officeDocument/2006/relationships/chart" Target="../charts/chart814.xml"/><Relationship Id="rId7"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15.xml"/><Relationship Id="rId3" Type="http://schemas.openxmlformats.org/officeDocument/2006/relationships/chart" Target="../charts/chart816.xml"/><Relationship Id="rId4" Type="http://schemas.openxmlformats.org/officeDocument/2006/relationships/chart" Target="../charts/chart817.xml"/><Relationship Id="rId5" Type="http://schemas.openxmlformats.org/officeDocument/2006/relationships/chart" Target="../charts/chart818.xml"/><Relationship Id="rId6" Type="http://schemas.openxmlformats.org/officeDocument/2006/relationships/chart" Target="../charts/chart819.xml"/><Relationship Id="rId7"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20.xml"/><Relationship Id="rId3" Type="http://schemas.openxmlformats.org/officeDocument/2006/relationships/chart" Target="../charts/chart821.xml"/><Relationship Id="rId4" Type="http://schemas.openxmlformats.org/officeDocument/2006/relationships/chart" Target="../charts/chart822.xml"/><Relationship Id="rId5" Type="http://schemas.openxmlformats.org/officeDocument/2006/relationships/chart" Target="../charts/chart823.xml"/><Relationship Id="rId6" Type="http://schemas.openxmlformats.org/officeDocument/2006/relationships/chart" Target="../charts/chart824.xml"/><Relationship Id="rId7"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25.xml"/><Relationship Id="rId3" Type="http://schemas.openxmlformats.org/officeDocument/2006/relationships/chart" Target="../charts/chart826.xml"/><Relationship Id="rId4" Type="http://schemas.openxmlformats.org/officeDocument/2006/relationships/chart" Target="../charts/chart827.xml"/><Relationship Id="rId5" Type="http://schemas.openxmlformats.org/officeDocument/2006/relationships/chart" Target="../charts/chart828.xml"/><Relationship Id="rId6" Type="http://schemas.openxmlformats.org/officeDocument/2006/relationships/chart" Target="../charts/chart829.xml"/><Relationship Id="rId7"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30.xml"/><Relationship Id="rId3" Type="http://schemas.openxmlformats.org/officeDocument/2006/relationships/chart" Target="../charts/chart831.xml"/><Relationship Id="rId4" Type="http://schemas.openxmlformats.org/officeDocument/2006/relationships/chart" Target="../charts/chart832.xml"/><Relationship Id="rId5" Type="http://schemas.openxmlformats.org/officeDocument/2006/relationships/chart" Target="../charts/chart833.xml"/><Relationship Id="rId6" Type="http://schemas.openxmlformats.org/officeDocument/2006/relationships/chart" Target="../charts/chart834.xml"/><Relationship Id="rId7"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slide20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566928"/>
            <a:ext cx="1828800" cy="555955"/>
          </a:xfrm>
          <a:prstGeom prst="rect">
            <a:avLst/>
          </a:prstGeom>
        </p:spPr>
      </p:pic>
      <p:sp>
        <p:nvSpPr>
          <p:cNvPr id="3" name="Text 0"/>
          <p:cNvSpPr txBox="1"/>
          <p:nvPr/>
        </p:nvSpPr>
        <p:spPr>
          <a:xfrm>
            <a:off x="713232" y="2121408"/>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NOT PRESENTED · FOR REVIEW</a:t>
            </a:r>
            <a:endParaRPr lang="en-US" sz="2000" dirty="0"/>
          </a:p>
        </p:txBody>
      </p:sp>
      <p:sp>
        <p:nvSpPr>
          <p:cNvPr id="4" name="Text 1"/>
          <p:cNvSpPr txBox="1"/>
          <p:nvPr/>
        </p:nvSpPr>
        <p:spPr>
          <a:xfrm>
            <a:off x="667512" y="2487168"/>
            <a:ext cx="10789920" cy="1188720"/>
          </a:xfrm>
          <a:prstGeom prst="rect">
            <a:avLst/>
          </a:prstGeom>
          <a:noFill/>
          <a:ln/>
        </p:spPr>
        <p:txBody>
          <a:bodyPr wrap="none" lIns="0" tIns="0" rIns="0" bIns="0" rtlCol="0" anchor="ctr"/>
          <a:lstStyle/>
          <a:p>
            <a:pPr indent="0" marL="0">
              <a:buNone/>
            </a:pPr>
            <a:r>
              <a:rPr lang="en-US" sz="7600" b="1" dirty="0">
                <a:solidFill>
                  <a:srgbClr val="1A1A1A"/>
                </a:solidFill>
                <a:latin typeface="Inter" pitchFamily="34" charset="0"/>
                <a:ea typeface="Inter" pitchFamily="34" charset="-122"/>
                <a:cs typeface="Inter" pitchFamily="34" charset="-120"/>
              </a:rPr>
              <a:t>Open Decisions</a:t>
            </a:r>
            <a:endParaRPr lang="en-US" sz="7600" dirty="0"/>
          </a:p>
        </p:txBody>
      </p:sp>
      <p:sp>
        <p:nvSpPr>
          <p:cNvPr id="5" name="Text 2"/>
          <p:cNvSpPr txBox="1"/>
          <p:nvPr/>
        </p:nvSpPr>
        <p:spPr>
          <a:xfrm>
            <a:off x="694944" y="376732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Door rate   ·   Productivity   ·   Proficiency   ·   Who's moving now   ·   Most improved   ·   Before you leave</a:t>
            </a:r>
            <a:endParaRPr lang="en-US" sz="2200" dirty="0"/>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DOOR RATE · STORE DOOR RATES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Door Rate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658368" y="1316736"/>
            <a:ext cx="433425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512064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8" name="Text 6"/>
          <p:cNvSpPr txBox="1"/>
          <p:nvPr/>
        </p:nvSpPr>
        <p:spPr>
          <a:xfrm>
            <a:off x="658368" y="175564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9" name="Shape 7"/>
          <p:cNvSpPr/>
          <p:nvPr/>
        </p:nvSpPr>
        <p:spPr>
          <a:xfrm>
            <a:off x="2651760" y="1813560"/>
            <a:ext cx="2414016" cy="115824"/>
          </a:xfrm>
          <a:prstGeom prst="rect">
            <a:avLst/>
          </a:prstGeom>
          <a:solidFill>
            <a:srgbClr val="2587C5"/>
          </a:solidFill>
          <a:ln/>
        </p:spPr>
      </p:sp>
      <p:sp>
        <p:nvSpPr>
          <p:cNvPr id="10" name="Text 8"/>
          <p:cNvSpPr txBox="1"/>
          <p:nvPr/>
        </p:nvSpPr>
        <p:spPr>
          <a:xfrm>
            <a:off x="5120640" y="175564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$349</a:t>
            </a:r>
            <a:endParaRPr lang="en-US" sz="1300" dirty="0"/>
          </a:p>
        </p:txBody>
      </p:sp>
      <p:sp>
        <p:nvSpPr>
          <p:cNvPr id="11" name="Text 9"/>
          <p:cNvSpPr txBox="1"/>
          <p:nvPr/>
        </p:nvSpPr>
        <p:spPr>
          <a:xfrm>
            <a:off x="658368" y="198729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2" name="Shape 10"/>
          <p:cNvSpPr/>
          <p:nvPr/>
        </p:nvSpPr>
        <p:spPr>
          <a:xfrm>
            <a:off x="2651760" y="2045208"/>
            <a:ext cx="2036981" cy="115824"/>
          </a:xfrm>
          <a:prstGeom prst="rect">
            <a:avLst/>
          </a:prstGeom>
          <a:solidFill>
            <a:srgbClr val="2587C5"/>
          </a:solidFill>
          <a:ln/>
        </p:spPr>
      </p:sp>
      <p:sp>
        <p:nvSpPr>
          <p:cNvPr id="13" name="Text 11"/>
          <p:cNvSpPr txBox="1"/>
          <p:nvPr/>
        </p:nvSpPr>
        <p:spPr>
          <a:xfrm>
            <a:off x="5120640" y="198729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$310</a:t>
            </a:r>
            <a:endParaRPr lang="en-US" sz="1300" dirty="0"/>
          </a:p>
        </p:txBody>
      </p:sp>
      <p:sp>
        <p:nvSpPr>
          <p:cNvPr id="14" name="Text 12"/>
          <p:cNvSpPr txBox="1"/>
          <p:nvPr/>
        </p:nvSpPr>
        <p:spPr>
          <a:xfrm>
            <a:off x="658368" y="221894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5" name="Shape 13"/>
          <p:cNvSpPr/>
          <p:nvPr/>
        </p:nvSpPr>
        <p:spPr>
          <a:xfrm>
            <a:off x="2651760" y="2276856"/>
            <a:ext cx="1890221" cy="115824"/>
          </a:xfrm>
          <a:prstGeom prst="rect">
            <a:avLst/>
          </a:prstGeom>
          <a:solidFill>
            <a:srgbClr val="2587C5"/>
          </a:solidFill>
          <a:ln/>
        </p:spPr>
      </p:sp>
      <p:sp>
        <p:nvSpPr>
          <p:cNvPr id="16" name="Text 14"/>
          <p:cNvSpPr txBox="1"/>
          <p:nvPr/>
        </p:nvSpPr>
        <p:spPr>
          <a:xfrm>
            <a:off x="5120640" y="221894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$295</a:t>
            </a:r>
            <a:endParaRPr lang="en-US" sz="1300" dirty="0"/>
          </a:p>
        </p:txBody>
      </p:sp>
      <p:sp>
        <p:nvSpPr>
          <p:cNvPr id="17" name="Text 15"/>
          <p:cNvSpPr txBox="1"/>
          <p:nvPr/>
        </p:nvSpPr>
        <p:spPr>
          <a:xfrm>
            <a:off x="658368" y="245059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8" name="Shape 16"/>
          <p:cNvSpPr/>
          <p:nvPr/>
        </p:nvSpPr>
        <p:spPr>
          <a:xfrm>
            <a:off x="2651760" y="2508504"/>
            <a:ext cx="1794483" cy="115824"/>
          </a:xfrm>
          <a:prstGeom prst="rect">
            <a:avLst/>
          </a:prstGeom>
          <a:solidFill>
            <a:srgbClr val="2587C5"/>
          </a:solidFill>
          <a:ln/>
        </p:spPr>
      </p:sp>
      <p:sp>
        <p:nvSpPr>
          <p:cNvPr id="19" name="Text 17"/>
          <p:cNvSpPr txBox="1"/>
          <p:nvPr/>
        </p:nvSpPr>
        <p:spPr>
          <a:xfrm>
            <a:off x="5120640" y="245059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$285</a:t>
            </a:r>
            <a:endParaRPr lang="en-US" sz="1300" dirty="0"/>
          </a:p>
        </p:txBody>
      </p:sp>
      <p:sp>
        <p:nvSpPr>
          <p:cNvPr id="20" name="Text 18"/>
          <p:cNvSpPr txBox="1"/>
          <p:nvPr/>
        </p:nvSpPr>
        <p:spPr>
          <a:xfrm>
            <a:off x="658368" y="268224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1" name="Shape 19"/>
          <p:cNvSpPr/>
          <p:nvPr/>
        </p:nvSpPr>
        <p:spPr>
          <a:xfrm>
            <a:off x="2651760" y="2740152"/>
            <a:ext cx="1356726" cy="115824"/>
          </a:xfrm>
          <a:prstGeom prst="rect">
            <a:avLst/>
          </a:prstGeom>
          <a:solidFill>
            <a:srgbClr val="2587C5"/>
          </a:solidFill>
          <a:ln/>
        </p:spPr>
      </p:sp>
      <p:sp>
        <p:nvSpPr>
          <p:cNvPr id="22" name="Text 20"/>
          <p:cNvSpPr txBox="1"/>
          <p:nvPr/>
        </p:nvSpPr>
        <p:spPr>
          <a:xfrm>
            <a:off x="5120640" y="268224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$240</a:t>
            </a:r>
            <a:endParaRPr lang="en-US" sz="1300" dirty="0"/>
          </a:p>
        </p:txBody>
      </p:sp>
      <p:sp>
        <p:nvSpPr>
          <p:cNvPr id="23" name="Text 21"/>
          <p:cNvSpPr txBox="1"/>
          <p:nvPr/>
        </p:nvSpPr>
        <p:spPr>
          <a:xfrm>
            <a:off x="658368" y="291388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4" name="Shape 22"/>
          <p:cNvSpPr/>
          <p:nvPr/>
        </p:nvSpPr>
        <p:spPr>
          <a:xfrm>
            <a:off x="2651760" y="2971800"/>
            <a:ext cx="1317926" cy="115824"/>
          </a:xfrm>
          <a:prstGeom prst="rect">
            <a:avLst/>
          </a:prstGeom>
          <a:solidFill>
            <a:srgbClr val="2587C5"/>
          </a:solidFill>
          <a:ln/>
        </p:spPr>
      </p:sp>
      <p:sp>
        <p:nvSpPr>
          <p:cNvPr id="25" name="Text 23"/>
          <p:cNvSpPr txBox="1"/>
          <p:nvPr/>
        </p:nvSpPr>
        <p:spPr>
          <a:xfrm>
            <a:off x="5120640" y="291388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$236</a:t>
            </a:r>
            <a:endParaRPr lang="en-US" sz="1300" dirty="0"/>
          </a:p>
        </p:txBody>
      </p:sp>
      <p:sp>
        <p:nvSpPr>
          <p:cNvPr id="26" name="Shape 24"/>
          <p:cNvSpPr/>
          <p:nvPr/>
        </p:nvSpPr>
        <p:spPr>
          <a:xfrm>
            <a:off x="603504" y="3145536"/>
            <a:ext cx="5285232" cy="222504"/>
          </a:xfrm>
          <a:prstGeom prst="rect">
            <a:avLst/>
          </a:prstGeom>
          <a:solidFill>
            <a:srgbClr val="EDF4FA"/>
          </a:solidFill>
          <a:ln/>
        </p:spPr>
      </p:sp>
      <p:sp>
        <p:nvSpPr>
          <p:cNvPr id="27" name="Text 25"/>
          <p:cNvSpPr txBox="1"/>
          <p:nvPr/>
        </p:nvSpPr>
        <p:spPr>
          <a:xfrm>
            <a:off x="658368" y="3145536"/>
            <a:ext cx="1920240" cy="23164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28" name="Shape 26"/>
          <p:cNvSpPr/>
          <p:nvPr/>
        </p:nvSpPr>
        <p:spPr>
          <a:xfrm>
            <a:off x="2651760" y="3203448"/>
            <a:ext cx="1246950" cy="115824"/>
          </a:xfrm>
          <a:prstGeom prst="rect">
            <a:avLst/>
          </a:prstGeom>
          <a:solidFill>
            <a:srgbClr val="0B2C4A"/>
          </a:solidFill>
          <a:ln/>
        </p:spPr>
      </p:sp>
      <p:sp>
        <p:nvSpPr>
          <p:cNvPr id="29" name="Text 27"/>
          <p:cNvSpPr txBox="1"/>
          <p:nvPr/>
        </p:nvSpPr>
        <p:spPr>
          <a:xfrm>
            <a:off x="5120640" y="3145536"/>
            <a:ext cx="749808" cy="23164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$229</a:t>
            </a:r>
            <a:endParaRPr lang="en-US" sz="1300" dirty="0"/>
          </a:p>
        </p:txBody>
      </p:sp>
      <p:sp>
        <p:nvSpPr>
          <p:cNvPr id="30" name="Text 28"/>
          <p:cNvSpPr txBox="1"/>
          <p:nvPr/>
        </p:nvSpPr>
        <p:spPr>
          <a:xfrm>
            <a:off x="658368" y="337718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1" name="Shape 29"/>
          <p:cNvSpPr/>
          <p:nvPr/>
        </p:nvSpPr>
        <p:spPr>
          <a:xfrm>
            <a:off x="2651760" y="3435096"/>
            <a:ext cx="1211227" cy="115824"/>
          </a:xfrm>
          <a:prstGeom prst="rect">
            <a:avLst/>
          </a:prstGeom>
          <a:solidFill>
            <a:srgbClr val="2587C5"/>
          </a:solidFill>
          <a:ln/>
        </p:spPr>
      </p:sp>
      <p:sp>
        <p:nvSpPr>
          <p:cNvPr id="32" name="Text 30"/>
          <p:cNvSpPr txBox="1"/>
          <p:nvPr/>
        </p:nvSpPr>
        <p:spPr>
          <a:xfrm>
            <a:off x="5120640" y="337718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$225</a:t>
            </a:r>
            <a:endParaRPr lang="en-US" sz="1300" dirty="0"/>
          </a:p>
        </p:txBody>
      </p:sp>
      <p:sp>
        <p:nvSpPr>
          <p:cNvPr id="33" name="Text 31"/>
          <p:cNvSpPr txBox="1"/>
          <p:nvPr/>
        </p:nvSpPr>
        <p:spPr>
          <a:xfrm>
            <a:off x="658368" y="360883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4" name="Shape 32"/>
          <p:cNvSpPr/>
          <p:nvPr/>
        </p:nvSpPr>
        <p:spPr>
          <a:xfrm>
            <a:off x="2651760" y="3666744"/>
            <a:ext cx="1211227" cy="115824"/>
          </a:xfrm>
          <a:prstGeom prst="rect">
            <a:avLst/>
          </a:prstGeom>
          <a:solidFill>
            <a:srgbClr val="2587C5"/>
          </a:solidFill>
          <a:ln/>
        </p:spPr>
      </p:sp>
      <p:sp>
        <p:nvSpPr>
          <p:cNvPr id="35" name="Text 33"/>
          <p:cNvSpPr txBox="1"/>
          <p:nvPr/>
        </p:nvSpPr>
        <p:spPr>
          <a:xfrm>
            <a:off x="5120640" y="360883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$225</a:t>
            </a:r>
            <a:endParaRPr lang="en-US" sz="1300" dirty="0"/>
          </a:p>
        </p:txBody>
      </p:sp>
      <p:sp>
        <p:nvSpPr>
          <p:cNvPr id="36" name="Text 34"/>
          <p:cNvSpPr txBox="1"/>
          <p:nvPr/>
        </p:nvSpPr>
        <p:spPr>
          <a:xfrm>
            <a:off x="658368" y="384048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7" name="Shape 35"/>
          <p:cNvSpPr/>
          <p:nvPr/>
        </p:nvSpPr>
        <p:spPr>
          <a:xfrm>
            <a:off x="2651760" y="3898392"/>
            <a:ext cx="1162728" cy="115824"/>
          </a:xfrm>
          <a:prstGeom prst="rect">
            <a:avLst/>
          </a:prstGeom>
          <a:solidFill>
            <a:srgbClr val="2587C5"/>
          </a:solidFill>
          <a:ln/>
        </p:spPr>
      </p:sp>
      <p:sp>
        <p:nvSpPr>
          <p:cNvPr id="38" name="Text 36"/>
          <p:cNvSpPr txBox="1"/>
          <p:nvPr/>
        </p:nvSpPr>
        <p:spPr>
          <a:xfrm>
            <a:off x="5120640" y="384048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$220</a:t>
            </a:r>
            <a:endParaRPr lang="en-US" sz="1300" dirty="0"/>
          </a:p>
        </p:txBody>
      </p:sp>
      <p:sp>
        <p:nvSpPr>
          <p:cNvPr id="39" name="Text 37"/>
          <p:cNvSpPr txBox="1"/>
          <p:nvPr/>
        </p:nvSpPr>
        <p:spPr>
          <a:xfrm>
            <a:off x="658368" y="407212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0" name="Shape 38"/>
          <p:cNvSpPr/>
          <p:nvPr/>
        </p:nvSpPr>
        <p:spPr>
          <a:xfrm>
            <a:off x="2651760" y="4130040"/>
            <a:ext cx="1085129" cy="115824"/>
          </a:xfrm>
          <a:prstGeom prst="rect">
            <a:avLst/>
          </a:prstGeom>
          <a:solidFill>
            <a:srgbClr val="2587C5"/>
          </a:solidFill>
          <a:ln/>
        </p:spPr>
      </p:sp>
      <p:sp>
        <p:nvSpPr>
          <p:cNvPr id="41" name="Text 39"/>
          <p:cNvSpPr txBox="1"/>
          <p:nvPr/>
        </p:nvSpPr>
        <p:spPr>
          <a:xfrm>
            <a:off x="5120640" y="407212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$212</a:t>
            </a:r>
            <a:endParaRPr lang="en-US" sz="1300" dirty="0"/>
          </a:p>
        </p:txBody>
      </p:sp>
      <p:sp>
        <p:nvSpPr>
          <p:cNvPr id="42" name="Text 40"/>
          <p:cNvSpPr txBox="1"/>
          <p:nvPr/>
        </p:nvSpPr>
        <p:spPr>
          <a:xfrm>
            <a:off x="658368" y="430377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3" name="Shape 41"/>
          <p:cNvSpPr/>
          <p:nvPr/>
        </p:nvSpPr>
        <p:spPr>
          <a:xfrm>
            <a:off x="2651760" y="4361688"/>
            <a:ext cx="1085129" cy="115824"/>
          </a:xfrm>
          <a:prstGeom prst="rect">
            <a:avLst/>
          </a:prstGeom>
          <a:solidFill>
            <a:srgbClr val="2587C5"/>
          </a:solidFill>
          <a:ln/>
        </p:spPr>
      </p:sp>
      <p:sp>
        <p:nvSpPr>
          <p:cNvPr id="44" name="Text 42"/>
          <p:cNvSpPr txBox="1"/>
          <p:nvPr/>
        </p:nvSpPr>
        <p:spPr>
          <a:xfrm>
            <a:off x="5120640" y="430377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$212</a:t>
            </a:r>
            <a:endParaRPr lang="en-US" sz="1300" dirty="0"/>
          </a:p>
        </p:txBody>
      </p:sp>
      <p:sp>
        <p:nvSpPr>
          <p:cNvPr id="45" name="Text 43"/>
          <p:cNvSpPr txBox="1"/>
          <p:nvPr/>
        </p:nvSpPr>
        <p:spPr>
          <a:xfrm>
            <a:off x="658368" y="453542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6" name="Shape 44"/>
          <p:cNvSpPr/>
          <p:nvPr/>
        </p:nvSpPr>
        <p:spPr>
          <a:xfrm>
            <a:off x="2651760" y="4593336"/>
            <a:ext cx="1079212" cy="115824"/>
          </a:xfrm>
          <a:prstGeom prst="rect">
            <a:avLst/>
          </a:prstGeom>
          <a:solidFill>
            <a:srgbClr val="2587C5"/>
          </a:solidFill>
          <a:ln/>
        </p:spPr>
      </p:sp>
      <p:sp>
        <p:nvSpPr>
          <p:cNvPr id="47" name="Text 45"/>
          <p:cNvSpPr txBox="1"/>
          <p:nvPr/>
        </p:nvSpPr>
        <p:spPr>
          <a:xfrm>
            <a:off x="5120640" y="453542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a:t>
            </a:r>
            <a:endParaRPr lang="en-US" sz="1300" dirty="0"/>
          </a:p>
        </p:txBody>
      </p:sp>
      <p:sp>
        <p:nvSpPr>
          <p:cNvPr id="48" name="Text 46"/>
          <p:cNvSpPr txBox="1"/>
          <p:nvPr/>
        </p:nvSpPr>
        <p:spPr>
          <a:xfrm>
            <a:off x="658368" y="476707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9" name="Shape 47"/>
          <p:cNvSpPr/>
          <p:nvPr/>
        </p:nvSpPr>
        <p:spPr>
          <a:xfrm>
            <a:off x="2651760" y="4824984"/>
            <a:ext cx="1065729" cy="115824"/>
          </a:xfrm>
          <a:prstGeom prst="rect">
            <a:avLst/>
          </a:prstGeom>
          <a:solidFill>
            <a:srgbClr val="2587C5"/>
          </a:solidFill>
          <a:ln/>
        </p:spPr>
      </p:sp>
      <p:sp>
        <p:nvSpPr>
          <p:cNvPr id="50" name="Text 48"/>
          <p:cNvSpPr txBox="1"/>
          <p:nvPr/>
        </p:nvSpPr>
        <p:spPr>
          <a:xfrm>
            <a:off x="5120640" y="476707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a:t>
            </a:r>
            <a:endParaRPr lang="en-US" sz="1300" dirty="0"/>
          </a:p>
        </p:txBody>
      </p:sp>
      <p:sp>
        <p:nvSpPr>
          <p:cNvPr id="51" name="Text 49"/>
          <p:cNvSpPr txBox="1"/>
          <p:nvPr/>
        </p:nvSpPr>
        <p:spPr>
          <a:xfrm>
            <a:off x="658368" y="499872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2" name="Shape 50"/>
          <p:cNvSpPr/>
          <p:nvPr/>
        </p:nvSpPr>
        <p:spPr>
          <a:xfrm>
            <a:off x="2651760" y="5056632"/>
            <a:ext cx="1017229" cy="115824"/>
          </a:xfrm>
          <a:prstGeom prst="rect">
            <a:avLst/>
          </a:prstGeom>
          <a:solidFill>
            <a:srgbClr val="2587C5"/>
          </a:solidFill>
          <a:ln/>
        </p:spPr>
      </p:sp>
      <p:sp>
        <p:nvSpPr>
          <p:cNvPr id="53" name="Text 51"/>
          <p:cNvSpPr txBox="1"/>
          <p:nvPr/>
        </p:nvSpPr>
        <p:spPr>
          <a:xfrm>
            <a:off x="5120640" y="499872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$205</a:t>
            </a:r>
            <a:endParaRPr lang="en-US" sz="1300" dirty="0"/>
          </a:p>
        </p:txBody>
      </p:sp>
      <p:sp>
        <p:nvSpPr>
          <p:cNvPr id="54" name="Text 52"/>
          <p:cNvSpPr txBox="1"/>
          <p:nvPr/>
        </p:nvSpPr>
        <p:spPr>
          <a:xfrm>
            <a:off x="658368" y="523036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5" name="Shape 53"/>
          <p:cNvSpPr/>
          <p:nvPr/>
        </p:nvSpPr>
        <p:spPr>
          <a:xfrm>
            <a:off x="2651760" y="5288280"/>
            <a:ext cx="823231" cy="115824"/>
          </a:xfrm>
          <a:prstGeom prst="rect">
            <a:avLst/>
          </a:prstGeom>
          <a:solidFill>
            <a:srgbClr val="2587C5"/>
          </a:solidFill>
          <a:ln/>
        </p:spPr>
      </p:sp>
      <p:sp>
        <p:nvSpPr>
          <p:cNvPr id="56" name="Text 54"/>
          <p:cNvSpPr txBox="1"/>
          <p:nvPr/>
        </p:nvSpPr>
        <p:spPr>
          <a:xfrm>
            <a:off x="5120640" y="523036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a:t>
            </a:r>
            <a:endParaRPr lang="en-US" sz="1300" dirty="0"/>
          </a:p>
        </p:txBody>
      </p:sp>
      <p:sp>
        <p:nvSpPr>
          <p:cNvPr id="57" name="Text 55"/>
          <p:cNvSpPr txBox="1"/>
          <p:nvPr/>
        </p:nvSpPr>
        <p:spPr>
          <a:xfrm>
            <a:off x="658368" y="546201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8" name="Shape 56"/>
          <p:cNvSpPr/>
          <p:nvPr/>
        </p:nvSpPr>
        <p:spPr>
          <a:xfrm>
            <a:off x="2651760" y="5519928"/>
            <a:ext cx="823231" cy="115824"/>
          </a:xfrm>
          <a:prstGeom prst="rect">
            <a:avLst/>
          </a:prstGeom>
          <a:solidFill>
            <a:srgbClr val="2587C5"/>
          </a:solidFill>
          <a:ln/>
        </p:spPr>
      </p:sp>
      <p:sp>
        <p:nvSpPr>
          <p:cNvPr id="59" name="Text 57"/>
          <p:cNvSpPr txBox="1"/>
          <p:nvPr/>
        </p:nvSpPr>
        <p:spPr>
          <a:xfrm>
            <a:off x="5120640" y="546201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a:t>
            </a:r>
            <a:endParaRPr lang="en-US" sz="1300" dirty="0"/>
          </a:p>
        </p:txBody>
      </p:sp>
      <p:sp>
        <p:nvSpPr>
          <p:cNvPr id="60" name="Text 58"/>
          <p:cNvSpPr txBox="1"/>
          <p:nvPr/>
        </p:nvSpPr>
        <p:spPr>
          <a:xfrm>
            <a:off x="658368" y="569366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1" name="Shape 59"/>
          <p:cNvSpPr/>
          <p:nvPr/>
        </p:nvSpPr>
        <p:spPr>
          <a:xfrm>
            <a:off x="2651760" y="5751576"/>
            <a:ext cx="774732" cy="115824"/>
          </a:xfrm>
          <a:prstGeom prst="rect">
            <a:avLst/>
          </a:prstGeom>
          <a:solidFill>
            <a:srgbClr val="2587C5"/>
          </a:solidFill>
          <a:ln/>
        </p:spPr>
      </p:sp>
      <p:sp>
        <p:nvSpPr>
          <p:cNvPr id="62" name="Text 60"/>
          <p:cNvSpPr txBox="1"/>
          <p:nvPr/>
        </p:nvSpPr>
        <p:spPr>
          <a:xfrm>
            <a:off x="5120640" y="569366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$180</a:t>
            </a:r>
            <a:endParaRPr lang="en-US" sz="1300" dirty="0"/>
          </a:p>
        </p:txBody>
      </p:sp>
      <p:sp>
        <p:nvSpPr>
          <p:cNvPr id="63" name="Text 61"/>
          <p:cNvSpPr txBox="1"/>
          <p:nvPr/>
        </p:nvSpPr>
        <p:spPr>
          <a:xfrm>
            <a:off x="6208776" y="1316736"/>
            <a:ext cx="433425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64" name="Text 62"/>
          <p:cNvSpPr txBox="1"/>
          <p:nvPr/>
        </p:nvSpPr>
        <p:spPr>
          <a:xfrm>
            <a:off x="1067104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65" name="Text 63"/>
          <p:cNvSpPr txBox="1"/>
          <p:nvPr/>
        </p:nvSpPr>
        <p:spPr>
          <a:xfrm>
            <a:off x="6208776" y="175564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6" name="Shape 64"/>
          <p:cNvSpPr/>
          <p:nvPr/>
        </p:nvSpPr>
        <p:spPr>
          <a:xfrm>
            <a:off x="8202168" y="1813560"/>
            <a:ext cx="1697484" cy="115824"/>
          </a:xfrm>
          <a:prstGeom prst="rect">
            <a:avLst/>
          </a:prstGeom>
          <a:solidFill>
            <a:srgbClr val="2587C5"/>
          </a:solidFill>
          <a:ln/>
        </p:spPr>
      </p:sp>
      <p:sp>
        <p:nvSpPr>
          <p:cNvPr id="67" name="Text 65"/>
          <p:cNvSpPr txBox="1"/>
          <p:nvPr/>
        </p:nvSpPr>
        <p:spPr>
          <a:xfrm>
            <a:off x="10671048" y="175564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$275</a:t>
            </a:r>
            <a:endParaRPr lang="en-US" sz="1300" dirty="0"/>
          </a:p>
        </p:txBody>
      </p:sp>
      <p:sp>
        <p:nvSpPr>
          <p:cNvPr id="68" name="Text 66"/>
          <p:cNvSpPr txBox="1"/>
          <p:nvPr/>
        </p:nvSpPr>
        <p:spPr>
          <a:xfrm>
            <a:off x="6208776" y="198729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9" name="Shape 67"/>
          <p:cNvSpPr/>
          <p:nvPr/>
        </p:nvSpPr>
        <p:spPr>
          <a:xfrm>
            <a:off x="8202168" y="2045208"/>
            <a:ext cx="1454501" cy="115824"/>
          </a:xfrm>
          <a:prstGeom prst="rect">
            <a:avLst/>
          </a:prstGeom>
          <a:solidFill>
            <a:srgbClr val="2587C5"/>
          </a:solidFill>
          <a:ln/>
        </p:spPr>
      </p:sp>
      <p:sp>
        <p:nvSpPr>
          <p:cNvPr id="70" name="Text 68"/>
          <p:cNvSpPr txBox="1"/>
          <p:nvPr/>
        </p:nvSpPr>
        <p:spPr>
          <a:xfrm>
            <a:off x="10671048" y="198729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$250</a:t>
            </a:r>
            <a:endParaRPr lang="en-US" sz="1300" dirty="0"/>
          </a:p>
        </p:txBody>
      </p:sp>
      <p:sp>
        <p:nvSpPr>
          <p:cNvPr id="71" name="Text 69"/>
          <p:cNvSpPr txBox="1"/>
          <p:nvPr/>
        </p:nvSpPr>
        <p:spPr>
          <a:xfrm>
            <a:off x="6208776" y="221894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72" name="Shape 70"/>
          <p:cNvSpPr/>
          <p:nvPr/>
        </p:nvSpPr>
        <p:spPr>
          <a:xfrm>
            <a:off x="8202168" y="2276856"/>
            <a:ext cx="1405226" cy="115824"/>
          </a:xfrm>
          <a:prstGeom prst="rect">
            <a:avLst/>
          </a:prstGeom>
          <a:solidFill>
            <a:srgbClr val="2587C5"/>
          </a:solidFill>
          <a:ln/>
        </p:spPr>
      </p:sp>
      <p:sp>
        <p:nvSpPr>
          <p:cNvPr id="73" name="Text 71"/>
          <p:cNvSpPr txBox="1"/>
          <p:nvPr/>
        </p:nvSpPr>
        <p:spPr>
          <a:xfrm>
            <a:off x="10671048" y="221894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$245</a:t>
            </a:r>
            <a:endParaRPr lang="en-US" sz="1300" dirty="0"/>
          </a:p>
        </p:txBody>
      </p:sp>
      <p:sp>
        <p:nvSpPr>
          <p:cNvPr id="74" name="Text 72"/>
          <p:cNvSpPr txBox="1"/>
          <p:nvPr/>
        </p:nvSpPr>
        <p:spPr>
          <a:xfrm>
            <a:off x="6208776" y="245059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5" name="Shape 73"/>
          <p:cNvSpPr/>
          <p:nvPr/>
        </p:nvSpPr>
        <p:spPr>
          <a:xfrm>
            <a:off x="8202168" y="2508504"/>
            <a:ext cx="1260503" cy="115824"/>
          </a:xfrm>
          <a:prstGeom prst="rect">
            <a:avLst/>
          </a:prstGeom>
          <a:solidFill>
            <a:srgbClr val="2587C5"/>
          </a:solidFill>
          <a:ln/>
        </p:spPr>
      </p:sp>
      <p:sp>
        <p:nvSpPr>
          <p:cNvPr id="76" name="Text 74"/>
          <p:cNvSpPr txBox="1"/>
          <p:nvPr/>
        </p:nvSpPr>
        <p:spPr>
          <a:xfrm>
            <a:off x="10671048" y="245059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$230</a:t>
            </a:r>
            <a:endParaRPr lang="en-US" sz="1300" dirty="0"/>
          </a:p>
        </p:txBody>
      </p:sp>
      <p:sp>
        <p:nvSpPr>
          <p:cNvPr id="77" name="Text 75"/>
          <p:cNvSpPr txBox="1"/>
          <p:nvPr/>
        </p:nvSpPr>
        <p:spPr>
          <a:xfrm>
            <a:off x="6208776" y="268224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8" name="Shape 76"/>
          <p:cNvSpPr/>
          <p:nvPr/>
        </p:nvSpPr>
        <p:spPr>
          <a:xfrm>
            <a:off x="8202168" y="2740152"/>
            <a:ext cx="1163989" cy="115824"/>
          </a:xfrm>
          <a:prstGeom prst="rect">
            <a:avLst/>
          </a:prstGeom>
          <a:solidFill>
            <a:srgbClr val="2587C5"/>
          </a:solidFill>
          <a:ln/>
        </p:spPr>
      </p:sp>
      <p:sp>
        <p:nvSpPr>
          <p:cNvPr id="79" name="Text 77"/>
          <p:cNvSpPr txBox="1"/>
          <p:nvPr/>
        </p:nvSpPr>
        <p:spPr>
          <a:xfrm>
            <a:off x="10671048" y="268224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$220</a:t>
            </a:r>
            <a:endParaRPr lang="en-US" sz="1300" dirty="0"/>
          </a:p>
        </p:txBody>
      </p:sp>
      <p:sp>
        <p:nvSpPr>
          <p:cNvPr id="80" name="Text 78"/>
          <p:cNvSpPr txBox="1"/>
          <p:nvPr/>
        </p:nvSpPr>
        <p:spPr>
          <a:xfrm>
            <a:off x="6208776" y="291388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1" name="Shape 79"/>
          <p:cNvSpPr/>
          <p:nvPr/>
        </p:nvSpPr>
        <p:spPr>
          <a:xfrm>
            <a:off x="8202168" y="2971800"/>
            <a:ext cx="1119078" cy="115824"/>
          </a:xfrm>
          <a:prstGeom prst="rect">
            <a:avLst/>
          </a:prstGeom>
          <a:solidFill>
            <a:srgbClr val="2587C5"/>
          </a:solidFill>
          <a:ln/>
        </p:spPr>
      </p:sp>
      <p:sp>
        <p:nvSpPr>
          <p:cNvPr id="82" name="Text 80"/>
          <p:cNvSpPr txBox="1"/>
          <p:nvPr/>
        </p:nvSpPr>
        <p:spPr>
          <a:xfrm>
            <a:off x="10671048" y="291388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$215</a:t>
            </a:r>
            <a:endParaRPr lang="en-US" sz="1300" dirty="0"/>
          </a:p>
        </p:txBody>
      </p:sp>
      <p:sp>
        <p:nvSpPr>
          <p:cNvPr id="83" name="Text 81"/>
          <p:cNvSpPr txBox="1"/>
          <p:nvPr/>
        </p:nvSpPr>
        <p:spPr>
          <a:xfrm>
            <a:off x="6208776" y="314553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4" name="Shape 82"/>
          <p:cNvSpPr/>
          <p:nvPr/>
        </p:nvSpPr>
        <p:spPr>
          <a:xfrm>
            <a:off x="8202168" y="3203448"/>
            <a:ext cx="1066990" cy="115824"/>
          </a:xfrm>
          <a:prstGeom prst="rect">
            <a:avLst/>
          </a:prstGeom>
          <a:solidFill>
            <a:srgbClr val="2587C5"/>
          </a:solidFill>
          <a:ln/>
        </p:spPr>
      </p:sp>
      <p:sp>
        <p:nvSpPr>
          <p:cNvPr id="85" name="Text 83"/>
          <p:cNvSpPr txBox="1"/>
          <p:nvPr/>
        </p:nvSpPr>
        <p:spPr>
          <a:xfrm>
            <a:off x="10671048" y="314553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a:t>
            </a:r>
            <a:endParaRPr lang="en-US" sz="1300" dirty="0"/>
          </a:p>
        </p:txBody>
      </p:sp>
      <p:sp>
        <p:nvSpPr>
          <p:cNvPr id="86" name="Text 84"/>
          <p:cNvSpPr txBox="1"/>
          <p:nvPr/>
        </p:nvSpPr>
        <p:spPr>
          <a:xfrm>
            <a:off x="6208776" y="337718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7" name="Shape 85"/>
          <p:cNvSpPr/>
          <p:nvPr/>
        </p:nvSpPr>
        <p:spPr>
          <a:xfrm>
            <a:off x="8202168" y="3435096"/>
            <a:ext cx="1066990" cy="115824"/>
          </a:xfrm>
          <a:prstGeom prst="rect">
            <a:avLst/>
          </a:prstGeom>
          <a:solidFill>
            <a:srgbClr val="2587C5"/>
          </a:solidFill>
          <a:ln/>
        </p:spPr>
      </p:sp>
      <p:sp>
        <p:nvSpPr>
          <p:cNvPr id="88" name="Text 86"/>
          <p:cNvSpPr txBox="1"/>
          <p:nvPr/>
        </p:nvSpPr>
        <p:spPr>
          <a:xfrm>
            <a:off x="10671048" y="337718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a:t>
            </a:r>
            <a:endParaRPr lang="en-US" sz="1300" dirty="0"/>
          </a:p>
        </p:txBody>
      </p:sp>
      <p:sp>
        <p:nvSpPr>
          <p:cNvPr id="89" name="Shape 87"/>
          <p:cNvSpPr/>
          <p:nvPr/>
        </p:nvSpPr>
        <p:spPr>
          <a:xfrm>
            <a:off x="6153912" y="3608832"/>
            <a:ext cx="5285232" cy="222504"/>
          </a:xfrm>
          <a:prstGeom prst="rect">
            <a:avLst/>
          </a:prstGeom>
          <a:solidFill>
            <a:srgbClr val="EDF4FA"/>
          </a:solidFill>
          <a:ln/>
        </p:spPr>
      </p:sp>
      <p:sp>
        <p:nvSpPr>
          <p:cNvPr id="90" name="Text 88"/>
          <p:cNvSpPr txBox="1"/>
          <p:nvPr/>
        </p:nvSpPr>
        <p:spPr>
          <a:xfrm>
            <a:off x="6208776" y="3608832"/>
            <a:ext cx="1920240" cy="23164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91" name="Shape 89"/>
          <p:cNvSpPr/>
          <p:nvPr/>
        </p:nvSpPr>
        <p:spPr>
          <a:xfrm>
            <a:off x="8202168" y="3666744"/>
            <a:ext cx="997468" cy="115824"/>
          </a:xfrm>
          <a:prstGeom prst="rect">
            <a:avLst/>
          </a:prstGeom>
          <a:solidFill>
            <a:srgbClr val="0B2C4A"/>
          </a:solidFill>
          <a:ln/>
        </p:spPr>
      </p:sp>
      <p:sp>
        <p:nvSpPr>
          <p:cNvPr id="92" name="Text 90"/>
          <p:cNvSpPr txBox="1"/>
          <p:nvPr/>
        </p:nvSpPr>
        <p:spPr>
          <a:xfrm>
            <a:off x="10671048" y="3608832"/>
            <a:ext cx="749808" cy="23164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$203</a:t>
            </a:r>
            <a:endParaRPr lang="en-US" sz="1300" dirty="0"/>
          </a:p>
        </p:txBody>
      </p:sp>
      <p:sp>
        <p:nvSpPr>
          <p:cNvPr id="93" name="Text 91"/>
          <p:cNvSpPr txBox="1"/>
          <p:nvPr/>
        </p:nvSpPr>
        <p:spPr>
          <a:xfrm>
            <a:off x="6208776" y="384048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4" name="Shape 92"/>
          <p:cNvSpPr/>
          <p:nvPr/>
        </p:nvSpPr>
        <p:spPr>
          <a:xfrm>
            <a:off x="8202168" y="3898392"/>
            <a:ext cx="969506" cy="115824"/>
          </a:xfrm>
          <a:prstGeom prst="rect">
            <a:avLst/>
          </a:prstGeom>
          <a:solidFill>
            <a:srgbClr val="2587C5"/>
          </a:solidFill>
          <a:ln/>
        </p:spPr>
      </p:sp>
      <p:sp>
        <p:nvSpPr>
          <p:cNvPr id="95" name="Text 93"/>
          <p:cNvSpPr txBox="1"/>
          <p:nvPr/>
        </p:nvSpPr>
        <p:spPr>
          <a:xfrm>
            <a:off x="10671048" y="384048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$200</a:t>
            </a:r>
            <a:endParaRPr lang="en-US" sz="1300" dirty="0"/>
          </a:p>
        </p:txBody>
      </p:sp>
      <p:sp>
        <p:nvSpPr>
          <p:cNvPr id="96" name="Text 94"/>
          <p:cNvSpPr txBox="1"/>
          <p:nvPr/>
        </p:nvSpPr>
        <p:spPr>
          <a:xfrm>
            <a:off x="6208776" y="407212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97" name="Shape 95"/>
          <p:cNvSpPr/>
          <p:nvPr/>
        </p:nvSpPr>
        <p:spPr>
          <a:xfrm>
            <a:off x="8202168" y="4130040"/>
            <a:ext cx="921491" cy="115824"/>
          </a:xfrm>
          <a:prstGeom prst="rect">
            <a:avLst/>
          </a:prstGeom>
          <a:solidFill>
            <a:srgbClr val="2587C5"/>
          </a:solidFill>
          <a:ln/>
        </p:spPr>
      </p:sp>
      <p:sp>
        <p:nvSpPr>
          <p:cNvPr id="98" name="Text 96"/>
          <p:cNvSpPr txBox="1"/>
          <p:nvPr/>
        </p:nvSpPr>
        <p:spPr>
          <a:xfrm>
            <a:off x="10671048" y="407212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$195</a:t>
            </a:r>
            <a:endParaRPr lang="en-US" sz="1300" dirty="0"/>
          </a:p>
        </p:txBody>
      </p:sp>
      <p:sp>
        <p:nvSpPr>
          <p:cNvPr id="99" name="Text 97"/>
          <p:cNvSpPr txBox="1"/>
          <p:nvPr/>
        </p:nvSpPr>
        <p:spPr>
          <a:xfrm>
            <a:off x="6208776" y="430377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0" name="Shape 98"/>
          <p:cNvSpPr/>
          <p:nvPr/>
        </p:nvSpPr>
        <p:spPr>
          <a:xfrm>
            <a:off x="8202168" y="4361688"/>
            <a:ext cx="872992" cy="115824"/>
          </a:xfrm>
          <a:prstGeom prst="rect">
            <a:avLst/>
          </a:prstGeom>
          <a:solidFill>
            <a:srgbClr val="2587C5"/>
          </a:solidFill>
          <a:ln/>
        </p:spPr>
      </p:sp>
      <p:sp>
        <p:nvSpPr>
          <p:cNvPr id="101" name="Text 99"/>
          <p:cNvSpPr txBox="1"/>
          <p:nvPr/>
        </p:nvSpPr>
        <p:spPr>
          <a:xfrm>
            <a:off x="10671048" y="430377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$190</a:t>
            </a:r>
            <a:endParaRPr lang="en-US" sz="1300" dirty="0"/>
          </a:p>
        </p:txBody>
      </p:sp>
      <p:sp>
        <p:nvSpPr>
          <p:cNvPr id="102" name="Text 100"/>
          <p:cNvSpPr txBox="1"/>
          <p:nvPr/>
        </p:nvSpPr>
        <p:spPr>
          <a:xfrm>
            <a:off x="6208776" y="453542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3" name="Shape 101"/>
          <p:cNvSpPr/>
          <p:nvPr/>
        </p:nvSpPr>
        <p:spPr>
          <a:xfrm>
            <a:off x="8202168" y="4593336"/>
            <a:ext cx="824492" cy="115824"/>
          </a:xfrm>
          <a:prstGeom prst="rect">
            <a:avLst/>
          </a:prstGeom>
          <a:solidFill>
            <a:srgbClr val="2587C5"/>
          </a:solidFill>
          <a:ln/>
        </p:spPr>
      </p:sp>
      <p:sp>
        <p:nvSpPr>
          <p:cNvPr id="104" name="Text 102"/>
          <p:cNvSpPr txBox="1"/>
          <p:nvPr/>
        </p:nvSpPr>
        <p:spPr>
          <a:xfrm>
            <a:off x="10671048" y="453542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a:t>
            </a:r>
            <a:endParaRPr lang="en-US" sz="1300" dirty="0"/>
          </a:p>
        </p:txBody>
      </p:sp>
      <p:sp>
        <p:nvSpPr>
          <p:cNvPr id="105" name="Text 103"/>
          <p:cNvSpPr txBox="1"/>
          <p:nvPr/>
        </p:nvSpPr>
        <p:spPr>
          <a:xfrm>
            <a:off x="6208776" y="476707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6" name="Shape 104"/>
          <p:cNvSpPr/>
          <p:nvPr/>
        </p:nvSpPr>
        <p:spPr>
          <a:xfrm>
            <a:off x="8202168" y="4824984"/>
            <a:ext cx="824492" cy="115824"/>
          </a:xfrm>
          <a:prstGeom prst="rect">
            <a:avLst/>
          </a:prstGeom>
          <a:solidFill>
            <a:srgbClr val="2587C5"/>
          </a:solidFill>
          <a:ln/>
        </p:spPr>
      </p:sp>
      <p:sp>
        <p:nvSpPr>
          <p:cNvPr id="107" name="Text 105"/>
          <p:cNvSpPr txBox="1"/>
          <p:nvPr/>
        </p:nvSpPr>
        <p:spPr>
          <a:xfrm>
            <a:off x="10671048" y="476707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a:t>
            </a:r>
            <a:endParaRPr lang="en-US" sz="1300" dirty="0"/>
          </a:p>
        </p:txBody>
      </p:sp>
      <p:sp>
        <p:nvSpPr>
          <p:cNvPr id="108" name="Text 106"/>
          <p:cNvSpPr txBox="1"/>
          <p:nvPr/>
        </p:nvSpPr>
        <p:spPr>
          <a:xfrm>
            <a:off x="6208776" y="499872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9" name="Shape 107"/>
          <p:cNvSpPr/>
          <p:nvPr/>
        </p:nvSpPr>
        <p:spPr>
          <a:xfrm>
            <a:off x="8202168" y="5056632"/>
            <a:ext cx="824492" cy="115824"/>
          </a:xfrm>
          <a:prstGeom prst="rect">
            <a:avLst/>
          </a:prstGeom>
          <a:solidFill>
            <a:srgbClr val="2587C5"/>
          </a:solidFill>
          <a:ln/>
        </p:spPr>
      </p:sp>
      <p:sp>
        <p:nvSpPr>
          <p:cNvPr id="110" name="Text 108"/>
          <p:cNvSpPr txBox="1"/>
          <p:nvPr/>
        </p:nvSpPr>
        <p:spPr>
          <a:xfrm>
            <a:off x="10671048" y="499872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a:t>
            </a:r>
            <a:endParaRPr lang="en-US" sz="1300" dirty="0"/>
          </a:p>
        </p:txBody>
      </p:sp>
      <p:sp>
        <p:nvSpPr>
          <p:cNvPr id="111" name="Text 109"/>
          <p:cNvSpPr txBox="1"/>
          <p:nvPr/>
        </p:nvSpPr>
        <p:spPr>
          <a:xfrm>
            <a:off x="6208776" y="523036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12" name="Shape 110"/>
          <p:cNvSpPr/>
          <p:nvPr/>
        </p:nvSpPr>
        <p:spPr>
          <a:xfrm>
            <a:off x="8202168" y="5288280"/>
            <a:ext cx="824492" cy="115824"/>
          </a:xfrm>
          <a:prstGeom prst="rect">
            <a:avLst/>
          </a:prstGeom>
          <a:solidFill>
            <a:srgbClr val="2587C5"/>
          </a:solidFill>
          <a:ln/>
        </p:spPr>
      </p:sp>
      <p:sp>
        <p:nvSpPr>
          <p:cNvPr id="113" name="Text 111"/>
          <p:cNvSpPr txBox="1"/>
          <p:nvPr/>
        </p:nvSpPr>
        <p:spPr>
          <a:xfrm>
            <a:off x="10671048" y="523036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a:t>
            </a:r>
            <a:endParaRPr lang="en-US" sz="1300" dirty="0"/>
          </a:p>
        </p:txBody>
      </p:sp>
      <p:sp>
        <p:nvSpPr>
          <p:cNvPr id="114" name="Text 112"/>
          <p:cNvSpPr txBox="1"/>
          <p:nvPr/>
        </p:nvSpPr>
        <p:spPr>
          <a:xfrm>
            <a:off x="6208776" y="546201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15" name="Shape 113"/>
          <p:cNvSpPr/>
          <p:nvPr/>
        </p:nvSpPr>
        <p:spPr>
          <a:xfrm>
            <a:off x="8202168" y="5519928"/>
            <a:ext cx="766293" cy="115824"/>
          </a:xfrm>
          <a:prstGeom prst="rect">
            <a:avLst/>
          </a:prstGeom>
          <a:solidFill>
            <a:srgbClr val="2587C5"/>
          </a:solidFill>
          <a:ln/>
        </p:spPr>
      </p:sp>
      <p:sp>
        <p:nvSpPr>
          <p:cNvPr id="116" name="Text 114"/>
          <p:cNvSpPr txBox="1"/>
          <p:nvPr/>
        </p:nvSpPr>
        <p:spPr>
          <a:xfrm>
            <a:off x="10671048" y="546201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a:t>
            </a:r>
            <a:endParaRPr lang="en-US" sz="1300" dirty="0"/>
          </a:p>
        </p:txBody>
      </p:sp>
      <p:sp>
        <p:nvSpPr>
          <p:cNvPr id="117" name="Shape 115"/>
          <p:cNvSpPr/>
          <p:nvPr/>
        </p:nvSpPr>
        <p:spPr>
          <a:xfrm>
            <a:off x="6035040" y="1371600"/>
            <a:ext cx="10973" cy="4553712"/>
          </a:xfrm>
          <a:prstGeom prst="rect">
            <a:avLst/>
          </a:prstGeom>
          <a:solidFill>
            <a:srgbClr val="D9D9D9"/>
          </a:solidFill>
          <a:ln/>
        </p:spPr>
      </p:sp>
      <p:sp>
        <p:nvSpPr>
          <p:cNvPr id="118" name="Shape 116"/>
          <p:cNvSpPr/>
          <p:nvPr/>
        </p:nvSpPr>
        <p:spPr>
          <a:xfrm>
            <a:off x="457200" y="6126480"/>
            <a:ext cx="11274552" cy="348996"/>
          </a:xfrm>
          <a:prstGeom prst="rect">
            <a:avLst/>
          </a:prstGeom>
          <a:solidFill>
            <a:srgbClr val="EDF4FA"/>
          </a:solidFill>
          <a:ln/>
        </p:spPr>
      </p:sp>
      <p:sp>
        <p:nvSpPr>
          <p:cNvPr id="119" name="Text 117"/>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0B2C4A"/>
                </a:solidFill>
                <a:latin typeface="Inter" pitchFamily="34" charset="0"/>
                <a:ea typeface="Inter" pitchFamily="34" charset="-122"/>
                <a:cs typeface="Inter" pitchFamily="34" charset="-120"/>
              </a:rPr>
              <a:t>17 stores price labor on a grid, 16 at a flat door rate. Hours-weighted door rate: $229 grid, $203 no grid.</a:t>
            </a:r>
            <a:endParaRPr lang="en-US" sz="1450" dirty="0"/>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DOOR RATE · ELR % OF DOOR RATE, BARS ONLY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61747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ELR % OF DOOR RATE</a:t>
            </a:r>
            <a:endParaRPr lang="en-US" sz="1500" dirty="0"/>
          </a:p>
        </p:txBody>
      </p:sp>
      <p:sp>
        <p:nvSpPr>
          <p:cNvPr id="9" name="Text 7"/>
          <p:cNvSpPr txBox="1"/>
          <p:nvPr/>
        </p:nvSpPr>
        <p:spPr>
          <a:xfrm>
            <a:off x="3531870" y="1335024"/>
            <a:ext cx="451485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BENCHMARK 70.0%</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74.7%</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103.4%</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7" name="Shape 15"/>
          <p:cNvSpPr/>
          <p:nvPr/>
        </p:nvSpPr>
        <p:spPr>
          <a:xfrm>
            <a:off x="3008376" y="2146957"/>
            <a:ext cx="1337833"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90.2%</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21" name="Shape 19"/>
          <p:cNvSpPr/>
          <p:nvPr/>
        </p:nvSpPr>
        <p:spPr>
          <a:xfrm>
            <a:off x="3008376" y="2386853"/>
            <a:ext cx="1330750"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89.9%</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25" name="Shape 23"/>
          <p:cNvSpPr/>
          <p:nvPr/>
        </p:nvSpPr>
        <p:spPr>
          <a:xfrm>
            <a:off x="3008376" y="2626748"/>
            <a:ext cx="1325919"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89.7%</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9" name="Shape 27"/>
          <p:cNvSpPr/>
          <p:nvPr/>
        </p:nvSpPr>
        <p:spPr>
          <a:xfrm>
            <a:off x="3008376" y="2866644"/>
            <a:ext cx="1292406"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88.5%</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33" name="Shape 31"/>
          <p:cNvSpPr/>
          <p:nvPr/>
        </p:nvSpPr>
        <p:spPr>
          <a:xfrm>
            <a:off x="3008376" y="3106540"/>
            <a:ext cx="1245988"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86.7%</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37" name="Shape 35"/>
          <p:cNvSpPr/>
          <p:nvPr/>
        </p:nvSpPr>
        <p:spPr>
          <a:xfrm>
            <a:off x="3008376" y="3346435"/>
            <a:ext cx="1233940"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86.3%</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41" name="Shape 39"/>
          <p:cNvSpPr/>
          <p:nvPr/>
        </p:nvSpPr>
        <p:spPr>
          <a:xfrm>
            <a:off x="3008376" y="3586331"/>
            <a:ext cx="1135970"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82.6%</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5" name="Shape 43"/>
          <p:cNvSpPr/>
          <p:nvPr/>
        </p:nvSpPr>
        <p:spPr>
          <a:xfrm>
            <a:off x="3008376" y="3826226"/>
            <a:ext cx="1105695"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81.5%</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49" name="Shape 47"/>
          <p:cNvSpPr/>
          <p:nvPr/>
        </p:nvSpPr>
        <p:spPr>
          <a:xfrm>
            <a:off x="3008376" y="4066122"/>
            <a:ext cx="1091852"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80.9%</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53" name="Shape 51"/>
          <p:cNvSpPr/>
          <p:nvPr/>
        </p:nvSpPr>
        <p:spPr>
          <a:xfrm>
            <a:off x="3008376" y="4306017"/>
            <a:ext cx="1062579"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79.8%</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57" name="Shape 55"/>
          <p:cNvSpPr/>
          <p:nvPr/>
        </p:nvSpPr>
        <p:spPr>
          <a:xfrm>
            <a:off x="3008376" y="4545913"/>
            <a:ext cx="1052866"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79.5%</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61" name="Shape 59"/>
          <p:cNvSpPr/>
          <p:nvPr/>
        </p:nvSpPr>
        <p:spPr>
          <a:xfrm>
            <a:off x="3008376" y="4785808"/>
            <a:ext cx="1037454" cy="119948"/>
          </a:xfrm>
          <a:prstGeom prst="rect">
            <a:avLst/>
          </a:prstGeom>
          <a:solidFill>
            <a:srgbClr val="12A566"/>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78.9%</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5" name="Shape 63"/>
          <p:cNvSpPr/>
          <p:nvPr/>
        </p:nvSpPr>
        <p:spPr>
          <a:xfrm>
            <a:off x="3008376" y="5025704"/>
            <a:ext cx="1037318" cy="119948"/>
          </a:xfrm>
          <a:prstGeom prst="rect">
            <a:avLst/>
          </a:prstGeom>
          <a:solidFill>
            <a:srgbClr val="12A566"/>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78.9%</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69" name="Shape 67"/>
          <p:cNvSpPr/>
          <p:nvPr/>
        </p:nvSpPr>
        <p:spPr>
          <a:xfrm>
            <a:off x="3008376" y="5265599"/>
            <a:ext cx="1025918" cy="119948"/>
          </a:xfrm>
          <a:prstGeom prst="rect">
            <a:avLst/>
          </a:prstGeom>
          <a:solidFill>
            <a:srgbClr val="12A566"/>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78.5%</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73" name="Shape 71"/>
          <p:cNvSpPr/>
          <p:nvPr/>
        </p:nvSpPr>
        <p:spPr>
          <a:xfrm>
            <a:off x="3008376" y="5505495"/>
            <a:ext cx="979141" cy="119948"/>
          </a:xfrm>
          <a:prstGeom prst="rect">
            <a:avLst/>
          </a:prstGeom>
          <a:solidFill>
            <a:srgbClr val="12A566"/>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76.7%</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77" name="Shape 75"/>
          <p:cNvSpPr/>
          <p:nvPr/>
        </p:nvSpPr>
        <p:spPr>
          <a:xfrm>
            <a:off x="3008376" y="5745390"/>
            <a:ext cx="971152" cy="119948"/>
          </a:xfrm>
          <a:prstGeom prst="rect">
            <a:avLst/>
          </a:prstGeom>
          <a:solidFill>
            <a:srgbClr val="12A566"/>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76.4%</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81" name="Shape 79"/>
          <p:cNvSpPr/>
          <p:nvPr/>
        </p:nvSpPr>
        <p:spPr>
          <a:xfrm>
            <a:off x="8558784" y="1907062"/>
            <a:ext cx="944283" cy="119948"/>
          </a:xfrm>
          <a:prstGeom prst="rect">
            <a:avLst/>
          </a:prstGeom>
          <a:solidFill>
            <a:srgbClr val="12A566"/>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75.4%</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85" name="Shape 83"/>
          <p:cNvSpPr/>
          <p:nvPr/>
        </p:nvSpPr>
        <p:spPr>
          <a:xfrm>
            <a:off x="8558784" y="2146957"/>
            <a:ext cx="939782" cy="119948"/>
          </a:xfrm>
          <a:prstGeom prst="rect">
            <a:avLst/>
          </a:prstGeom>
          <a:solidFill>
            <a:srgbClr val="12A566"/>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75.2%</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9" name="Shape 87"/>
          <p:cNvSpPr/>
          <p:nvPr/>
        </p:nvSpPr>
        <p:spPr>
          <a:xfrm>
            <a:off x="8558784" y="2386853"/>
            <a:ext cx="935092" cy="119948"/>
          </a:xfrm>
          <a:prstGeom prst="rect">
            <a:avLst/>
          </a:prstGeom>
          <a:solidFill>
            <a:srgbClr val="12A566"/>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75.1%</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3" name="Shape 91"/>
          <p:cNvSpPr/>
          <p:nvPr/>
        </p:nvSpPr>
        <p:spPr>
          <a:xfrm>
            <a:off x="8558784" y="2626748"/>
            <a:ext cx="932611" cy="119948"/>
          </a:xfrm>
          <a:prstGeom prst="rect">
            <a:avLst/>
          </a:prstGeom>
          <a:solidFill>
            <a:srgbClr val="12A566"/>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75.0%</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97" name="Shape 95"/>
          <p:cNvSpPr/>
          <p:nvPr/>
        </p:nvSpPr>
        <p:spPr>
          <a:xfrm>
            <a:off x="8558784" y="2866644"/>
            <a:ext cx="903003" cy="119948"/>
          </a:xfrm>
          <a:prstGeom prst="rect">
            <a:avLst/>
          </a:prstGeom>
          <a:solidFill>
            <a:srgbClr val="12A566"/>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73.8%</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01" name="Shape 99"/>
          <p:cNvSpPr/>
          <p:nvPr/>
        </p:nvSpPr>
        <p:spPr>
          <a:xfrm>
            <a:off x="8558784" y="3106540"/>
            <a:ext cx="883327" cy="119948"/>
          </a:xfrm>
          <a:prstGeom prst="rect">
            <a:avLst/>
          </a:prstGeom>
          <a:solidFill>
            <a:srgbClr val="12A566"/>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73.1%</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05" name="Shape 103"/>
          <p:cNvSpPr/>
          <p:nvPr/>
        </p:nvSpPr>
        <p:spPr>
          <a:xfrm>
            <a:off x="8558784" y="3346435"/>
            <a:ext cx="863903" cy="119948"/>
          </a:xfrm>
          <a:prstGeom prst="rect">
            <a:avLst/>
          </a:prstGeom>
          <a:solidFill>
            <a:srgbClr val="12A566"/>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72.4%</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09" name="Shape 107"/>
          <p:cNvSpPr/>
          <p:nvPr/>
        </p:nvSpPr>
        <p:spPr>
          <a:xfrm>
            <a:off x="8558784" y="3586331"/>
            <a:ext cx="816673" cy="119948"/>
          </a:xfrm>
          <a:prstGeom prst="rect">
            <a:avLst/>
          </a:prstGeom>
          <a:solidFill>
            <a:srgbClr val="12A566"/>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70.6%</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13" name="Shape 111"/>
          <p:cNvSpPr/>
          <p:nvPr/>
        </p:nvSpPr>
        <p:spPr>
          <a:xfrm>
            <a:off x="8558784" y="3826226"/>
            <a:ext cx="760618"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68.5%</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17" name="Shape 115"/>
          <p:cNvSpPr/>
          <p:nvPr/>
        </p:nvSpPr>
        <p:spPr>
          <a:xfrm>
            <a:off x="8558784" y="4066122"/>
            <a:ext cx="753672"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68.2%</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21" name="Shape 119"/>
          <p:cNvSpPr/>
          <p:nvPr/>
        </p:nvSpPr>
        <p:spPr>
          <a:xfrm>
            <a:off x="8558784" y="4306017"/>
            <a:ext cx="733304"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67.5%</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25" name="Shape 123"/>
          <p:cNvSpPr/>
          <p:nvPr/>
        </p:nvSpPr>
        <p:spPr>
          <a:xfrm>
            <a:off x="8558784" y="4545913"/>
            <a:ext cx="713521"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66.7%</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29" name="Shape 127"/>
          <p:cNvSpPr/>
          <p:nvPr/>
        </p:nvSpPr>
        <p:spPr>
          <a:xfrm>
            <a:off x="8558784" y="4785808"/>
            <a:ext cx="707954"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66.5%</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33" name="Shape 131"/>
          <p:cNvSpPr/>
          <p:nvPr/>
        </p:nvSpPr>
        <p:spPr>
          <a:xfrm>
            <a:off x="8558784" y="5025704"/>
            <a:ext cx="666961"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65.0%</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7" name="Shape 135"/>
          <p:cNvSpPr/>
          <p:nvPr/>
        </p:nvSpPr>
        <p:spPr>
          <a:xfrm>
            <a:off x="8558784" y="5265599"/>
            <a:ext cx="661223"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64.8%</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41" name="Shape 139"/>
          <p:cNvSpPr/>
          <p:nvPr/>
        </p:nvSpPr>
        <p:spPr>
          <a:xfrm>
            <a:off x="8558784" y="5505495"/>
            <a:ext cx="574635"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61.5%</a:t>
            </a:r>
            <a:endParaRPr lang="en-US" sz="1200" dirty="0"/>
          </a:p>
        </p:txBody>
      </p:sp>
      <p:sp>
        <p:nvSpPr>
          <p:cNvPr id="143" name="Shape 141"/>
          <p:cNvSpPr/>
          <p:nvPr/>
        </p:nvSpPr>
        <p:spPr>
          <a:xfrm>
            <a:off x="3800278" y="1847088"/>
            <a:ext cx="14630" cy="4078224"/>
          </a:xfrm>
          <a:prstGeom prst="rect">
            <a:avLst/>
          </a:prstGeom>
          <a:solidFill>
            <a:srgbClr val="0B2C4A"/>
          </a:solidFill>
          <a:ln/>
        </p:spPr>
      </p:sp>
      <p:sp>
        <p:nvSpPr>
          <p:cNvPr id="144" name="Shape 142"/>
          <p:cNvSpPr/>
          <p:nvPr/>
        </p:nvSpPr>
        <p:spPr>
          <a:xfrm>
            <a:off x="9350686"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DF4FA"/>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realize at least 70% of door rate; the group is at 74.7%.</a:t>
            </a:r>
            <a:endParaRPr lang="en-US" sz="1600" dirty="0"/>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GROSS PER EMPLOYEE GAP</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355848" y="1316736"/>
            <a:ext cx="10241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7" name="Text 5"/>
          <p:cNvSpPr txBox="1"/>
          <p:nvPr/>
        </p:nvSpPr>
        <p:spPr>
          <a:xfrm>
            <a:off x="4379976" y="1316736"/>
            <a:ext cx="76809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emp</a:t>
            </a:r>
            <a:endParaRPr lang="en-US" sz="1400" dirty="0"/>
          </a:p>
        </p:txBody>
      </p:sp>
      <p:sp>
        <p:nvSpPr>
          <p:cNvPr id="8" name="Text 6"/>
          <p:cNvSpPr txBox="1"/>
          <p:nvPr/>
        </p:nvSpPr>
        <p:spPr>
          <a:xfrm>
            <a:off x="5148072" y="1316736"/>
            <a:ext cx="76809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Seg avg</a:t>
            </a:r>
            <a:endParaRPr lang="en-US" sz="1400" dirty="0"/>
          </a:p>
        </p:txBody>
      </p:sp>
      <p:sp>
        <p:nvSpPr>
          <p:cNvPr id="9" name="Text 7"/>
          <p:cNvSpPr txBox="1"/>
          <p:nvPr/>
        </p:nvSpPr>
        <p:spPr>
          <a:xfrm>
            <a:off x="8906256" y="1316736"/>
            <a:ext cx="102412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10" name="Text 8"/>
          <p:cNvSpPr txBox="1"/>
          <p:nvPr/>
        </p:nvSpPr>
        <p:spPr>
          <a:xfrm>
            <a:off x="9930384" y="1316736"/>
            <a:ext cx="76809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emp</a:t>
            </a:r>
            <a:endParaRPr lang="en-US" sz="1400" dirty="0"/>
          </a:p>
        </p:txBody>
      </p:sp>
      <p:sp>
        <p:nvSpPr>
          <p:cNvPr id="11" name="Text 9"/>
          <p:cNvSpPr txBox="1"/>
          <p:nvPr/>
        </p:nvSpPr>
        <p:spPr>
          <a:xfrm>
            <a:off x="10698480" y="1316736"/>
            <a:ext cx="76809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Seg avg</a:t>
            </a:r>
            <a:endParaRPr lang="en-US" sz="1400" dirty="0"/>
          </a:p>
        </p:txBody>
      </p:sp>
      <p:sp>
        <p:nvSpPr>
          <p:cNvPr id="12" name="Text 10"/>
          <p:cNvSpPr txBox="1"/>
          <p:nvPr/>
        </p:nvSpPr>
        <p:spPr>
          <a:xfrm>
            <a:off x="658368" y="1700784"/>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4" name="Shape 12"/>
          <p:cNvSpPr/>
          <p:nvPr/>
        </p:nvSpPr>
        <p:spPr>
          <a:xfrm>
            <a:off x="2871216" y="1787195"/>
            <a:ext cx="429768" cy="211226"/>
          </a:xfrm>
          <a:prstGeom prst="rect">
            <a:avLst/>
          </a:prstGeom>
          <a:solidFill>
            <a:srgbClr val="C2352F"/>
          </a:solidFill>
          <a:ln/>
        </p:spPr>
      </p:sp>
      <p:sp>
        <p:nvSpPr>
          <p:cNvPr id="15" name="Text 13"/>
          <p:cNvSpPr txBox="1"/>
          <p:nvPr/>
        </p:nvSpPr>
        <p:spPr>
          <a:xfrm>
            <a:off x="3355848" y="1700784"/>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$2,456,862</a:t>
            </a:r>
            <a:endParaRPr lang="en-US" sz="1300" dirty="0"/>
          </a:p>
        </p:txBody>
      </p:sp>
      <p:sp>
        <p:nvSpPr>
          <p:cNvPr id="16" name="Text 14"/>
          <p:cNvSpPr txBox="1"/>
          <p:nvPr/>
        </p:nvSpPr>
        <p:spPr>
          <a:xfrm>
            <a:off x="4379976" y="1700784"/>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$14,260</a:t>
            </a:r>
            <a:endParaRPr lang="en-US" sz="1300" dirty="0"/>
          </a:p>
        </p:txBody>
      </p:sp>
      <p:sp>
        <p:nvSpPr>
          <p:cNvPr id="17" name="Text 15"/>
          <p:cNvSpPr txBox="1"/>
          <p:nvPr/>
        </p:nvSpPr>
        <p:spPr>
          <a:xfrm>
            <a:off x="5148072" y="1700784"/>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$16,998</a:t>
            </a:r>
            <a:endParaRPr lang="en-US" sz="1300" dirty="0"/>
          </a:p>
        </p:txBody>
      </p:sp>
      <p:sp>
        <p:nvSpPr>
          <p:cNvPr id="18" name="Text 16"/>
          <p:cNvSpPr txBox="1"/>
          <p:nvPr/>
        </p:nvSpPr>
        <p:spPr>
          <a:xfrm>
            <a:off x="658368" y="2084832"/>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2084832"/>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20" name="Shape 18"/>
          <p:cNvSpPr/>
          <p:nvPr/>
        </p:nvSpPr>
        <p:spPr>
          <a:xfrm>
            <a:off x="2871216" y="2171243"/>
            <a:ext cx="382835" cy="211226"/>
          </a:xfrm>
          <a:prstGeom prst="rect">
            <a:avLst/>
          </a:prstGeom>
          <a:solidFill>
            <a:srgbClr val="C2352F"/>
          </a:solidFill>
          <a:ln/>
        </p:spPr>
      </p:sp>
      <p:sp>
        <p:nvSpPr>
          <p:cNvPr id="21" name="Text 19"/>
          <p:cNvSpPr txBox="1"/>
          <p:nvPr/>
        </p:nvSpPr>
        <p:spPr>
          <a:xfrm>
            <a:off x="3355848" y="2084832"/>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$2,188,561</a:t>
            </a:r>
            <a:endParaRPr lang="en-US" sz="1300" dirty="0"/>
          </a:p>
        </p:txBody>
      </p:sp>
      <p:sp>
        <p:nvSpPr>
          <p:cNvPr id="22" name="Text 20"/>
          <p:cNvSpPr txBox="1"/>
          <p:nvPr/>
        </p:nvSpPr>
        <p:spPr>
          <a:xfrm>
            <a:off x="4379976" y="2084832"/>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$10,963</a:t>
            </a:r>
            <a:endParaRPr lang="en-US" sz="1300" dirty="0"/>
          </a:p>
        </p:txBody>
      </p:sp>
      <p:sp>
        <p:nvSpPr>
          <p:cNvPr id="23" name="Text 21"/>
          <p:cNvSpPr txBox="1"/>
          <p:nvPr/>
        </p:nvSpPr>
        <p:spPr>
          <a:xfrm>
            <a:off x="5148072" y="2084832"/>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$16,998</a:t>
            </a:r>
            <a:endParaRPr lang="en-US" sz="1300" dirty="0"/>
          </a:p>
        </p:txBody>
      </p:sp>
      <p:sp>
        <p:nvSpPr>
          <p:cNvPr id="24" name="Text 22"/>
          <p:cNvSpPr txBox="1"/>
          <p:nvPr/>
        </p:nvSpPr>
        <p:spPr>
          <a:xfrm>
            <a:off x="658368" y="2468880"/>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468880"/>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26" name="Shape 24"/>
          <p:cNvSpPr/>
          <p:nvPr/>
        </p:nvSpPr>
        <p:spPr>
          <a:xfrm>
            <a:off x="2871216" y="2555291"/>
            <a:ext cx="236238" cy="211226"/>
          </a:xfrm>
          <a:prstGeom prst="rect">
            <a:avLst/>
          </a:prstGeom>
          <a:solidFill>
            <a:srgbClr val="C2352F"/>
          </a:solidFill>
          <a:ln/>
        </p:spPr>
      </p:sp>
      <p:sp>
        <p:nvSpPr>
          <p:cNvPr id="27" name="Text 25"/>
          <p:cNvSpPr txBox="1"/>
          <p:nvPr/>
        </p:nvSpPr>
        <p:spPr>
          <a:xfrm>
            <a:off x="3355848" y="2468880"/>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$1,350,504</a:t>
            </a:r>
            <a:endParaRPr lang="en-US" sz="1300" dirty="0"/>
          </a:p>
        </p:txBody>
      </p:sp>
      <p:sp>
        <p:nvSpPr>
          <p:cNvPr id="28" name="Text 26"/>
          <p:cNvSpPr txBox="1"/>
          <p:nvPr/>
        </p:nvSpPr>
        <p:spPr>
          <a:xfrm>
            <a:off x="4379976" y="2468880"/>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$10,391</a:t>
            </a:r>
            <a:endParaRPr lang="en-US" sz="1300" dirty="0"/>
          </a:p>
        </p:txBody>
      </p:sp>
      <p:sp>
        <p:nvSpPr>
          <p:cNvPr id="29" name="Text 27"/>
          <p:cNvSpPr txBox="1"/>
          <p:nvPr/>
        </p:nvSpPr>
        <p:spPr>
          <a:xfrm>
            <a:off x="5148072" y="2468880"/>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30" name="Text 28"/>
          <p:cNvSpPr txBox="1"/>
          <p:nvPr/>
        </p:nvSpPr>
        <p:spPr>
          <a:xfrm>
            <a:off x="658368" y="2852928"/>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852928"/>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32" name="Shape 30"/>
          <p:cNvSpPr/>
          <p:nvPr/>
        </p:nvSpPr>
        <p:spPr>
          <a:xfrm>
            <a:off x="2871216" y="2939339"/>
            <a:ext cx="229928" cy="211226"/>
          </a:xfrm>
          <a:prstGeom prst="rect">
            <a:avLst/>
          </a:prstGeom>
          <a:solidFill>
            <a:srgbClr val="C2352F"/>
          </a:solidFill>
          <a:ln/>
        </p:spPr>
      </p:sp>
      <p:sp>
        <p:nvSpPr>
          <p:cNvPr id="33" name="Text 31"/>
          <p:cNvSpPr txBox="1"/>
          <p:nvPr/>
        </p:nvSpPr>
        <p:spPr>
          <a:xfrm>
            <a:off x="3355848" y="2852928"/>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$1,314,435</a:t>
            </a:r>
            <a:endParaRPr lang="en-US" sz="1300" dirty="0"/>
          </a:p>
        </p:txBody>
      </p:sp>
      <p:sp>
        <p:nvSpPr>
          <p:cNvPr id="34" name="Text 32"/>
          <p:cNvSpPr txBox="1"/>
          <p:nvPr/>
        </p:nvSpPr>
        <p:spPr>
          <a:xfrm>
            <a:off x="4379976" y="2852928"/>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$9,953</a:t>
            </a:r>
            <a:endParaRPr lang="en-US" sz="1300" dirty="0"/>
          </a:p>
        </p:txBody>
      </p:sp>
      <p:sp>
        <p:nvSpPr>
          <p:cNvPr id="35" name="Text 33"/>
          <p:cNvSpPr txBox="1"/>
          <p:nvPr/>
        </p:nvSpPr>
        <p:spPr>
          <a:xfrm>
            <a:off x="5148072" y="2852928"/>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36" name="Text 34"/>
          <p:cNvSpPr txBox="1"/>
          <p:nvPr/>
        </p:nvSpPr>
        <p:spPr>
          <a:xfrm>
            <a:off x="658368" y="3236976"/>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3236976"/>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38" name="Shape 36"/>
          <p:cNvSpPr/>
          <p:nvPr/>
        </p:nvSpPr>
        <p:spPr>
          <a:xfrm>
            <a:off x="2871216" y="3323387"/>
            <a:ext cx="215568" cy="211226"/>
          </a:xfrm>
          <a:prstGeom prst="rect">
            <a:avLst/>
          </a:prstGeom>
          <a:solidFill>
            <a:srgbClr val="C2352F"/>
          </a:solidFill>
          <a:ln/>
        </p:spPr>
      </p:sp>
      <p:sp>
        <p:nvSpPr>
          <p:cNvPr id="39" name="Text 37"/>
          <p:cNvSpPr txBox="1"/>
          <p:nvPr/>
        </p:nvSpPr>
        <p:spPr>
          <a:xfrm>
            <a:off x="3355848" y="3236976"/>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$1,232,343</a:t>
            </a:r>
            <a:endParaRPr lang="en-US" sz="1300" dirty="0"/>
          </a:p>
        </p:txBody>
      </p:sp>
      <p:sp>
        <p:nvSpPr>
          <p:cNvPr id="40" name="Text 38"/>
          <p:cNvSpPr txBox="1"/>
          <p:nvPr/>
        </p:nvSpPr>
        <p:spPr>
          <a:xfrm>
            <a:off x="4379976" y="3236976"/>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$12,042</a:t>
            </a:r>
            <a:endParaRPr lang="en-US" sz="1300" dirty="0"/>
          </a:p>
        </p:txBody>
      </p:sp>
      <p:sp>
        <p:nvSpPr>
          <p:cNvPr id="41" name="Text 39"/>
          <p:cNvSpPr txBox="1"/>
          <p:nvPr/>
        </p:nvSpPr>
        <p:spPr>
          <a:xfrm>
            <a:off x="5148072" y="3236976"/>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42" name="Text 40"/>
          <p:cNvSpPr txBox="1"/>
          <p:nvPr/>
        </p:nvSpPr>
        <p:spPr>
          <a:xfrm>
            <a:off x="658368" y="3621024"/>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3621024"/>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44" name="Shape 42"/>
          <p:cNvSpPr/>
          <p:nvPr/>
        </p:nvSpPr>
        <p:spPr>
          <a:xfrm>
            <a:off x="2871216" y="3707435"/>
            <a:ext cx="197159" cy="211226"/>
          </a:xfrm>
          <a:prstGeom prst="rect">
            <a:avLst/>
          </a:prstGeom>
          <a:solidFill>
            <a:srgbClr val="C2352F"/>
          </a:solidFill>
          <a:ln/>
        </p:spPr>
      </p:sp>
      <p:sp>
        <p:nvSpPr>
          <p:cNvPr id="45" name="Text 43"/>
          <p:cNvSpPr txBox="1"/>
          <p:nvPr/>
        </p:nvSpPr>
        <p:spPr>
          <a:xfrm>
            <a:off x="3355848" y="3621024"/>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$1,127,104</a:t>
            </a:r>
            <a:endParaRPr lang="en-US" sz="1300" dirty="0"/>
          </a:p>
        </p:txBody>
      </p:sp>
      <p:sp>
        <p:nvSpPr>
          <p:cNvPr id="46" name="Text 44"/>
          <p:cNvSpPr txBox="1"/>
          <p:nvPr/>
        </p:nvSpPr>
        <p:spPr>
          <a:xfrm>
            <a:off x="4379976" y="3621024"/>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$11,128</a:t>
            </a:r>
            <a:endParaRPr lang="en-US" sz="1300" dirty="0"/>
          </a:p>
        </p:txBody>
      </p:sp>
      <p:sp>
        <p:nvSpPr>
          <p:cNvPr id="47" name="Text 45"/>
          <p:cNvSpPr txBox="1"/>
          <p:nvPr/>
        </p:nvSpPr>
        <p:spPr>
          <a:xfrm>
            <a:off x="5148072" y="3621024"/>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48" name="Text 46"/>
          <p:cNvSpPr txBox="1"/>
          <p:nvPr/>
        </p:nvSpPr>
        <p:spPr>
          <a:xfrm>
            <a:off x="658368" y="4005072"/>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9" name="Text 47"/>
          <p:cNvSpPr txBox="1"/>
          <p:nvPr/>
        </p:nvSpPr>
        <p:spPr>
          <a:xfrm>
            <a:off x="1014984" y="4005072"/>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50" name="Shape 48"/>
          <p:cNvSpPr/>
          <p:nvPr/>
        </p:nvSpPr>
        <p:spPr>
          <a:xfrm>
            <a:off x="2871216" y="4091483"/>
            <a:ext cx="185442" cy="211226"/>
          </a:xfrm>
          <a:prstGeom prst="rect">
            <a:avLst/>
          </a:prstGeom>
          <a:solidFill>
            <a:srgbClr val="C2352F"/>
          </a:solidFill>
          <a:ln/>
        </p:spPr>
      </p:sp>
      <p:sp>
        <p:nvSpPr>
          <p:cNvPr id="51" name="Text 49"/>
          <p:cNvSpPr txBox="1"/>
          <p:nvPr/>
        </p:nvSpPr>
        <p:spPr>
          <a:xfrm>
            <a:off x="3355848" y="4005072"/>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$1,060,118</a:t>
            </a:r>
            <a:endParaRPr lang="en-US" sz="1300" dirty="0"/>
          </a:p>
        </p:txBody>
      </p:sp>
      <p:sp>
        <p:nvSpPr>
          <p:cNvPr id="52" name="Text 50"/>
          <p:cNvSpPr txBox="1"/>
          <p:nvPr/>
        </p:nvSpPr>
        <p:spPr>
          <a:xfrm>
            <a:off x="4379976" y="4005072"/>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$10,794</a:t>
            </a:r>
            <a:endParaRPr lang="en-US" sz="1300" dirty="0"/>
          </a:p>
        </p:txBody>
      </p:sp>
      <p:sp>
        <p:nvSpPr>
          <p:cNvPr id="53" name="Text 51"/>
          <p:cNvSpPr txBox="1"/>
          <p:nvPr/>
        </p:nvSpPr>
        <p:spPr>
          <a:xfrm>
            <a:off x="5148072" y="4005072"/>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54" name="Text 52"/>
          <p:cNvSpPr txBox="1"/>
          <p:nvPr/>
        </p:nvSpPr>
        <p:spPr>
          <a:xfrm>
            <a:off x="658368" y="4389120"/>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5" name="Text 53"/>
          <p:cNvSpPr txBox="1"/>
          <p:nvPr/>
        </p:nvSpPr>
        <p:spPr>
          <a:xfrm>
            <a:off x="1014984" y="4389120"/>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56" name="Shape 54"/>
          <p:cNvSpPr/>
          <p:nvPr/>
        </p:nvSpPr>
        <p:spPr>
          <a:xfrm>
            <a:off x="2871216" y="4475531"/>
            <a:ext cx="179286" cy="211226"/>
          </a:xfrm>
          <a:prstGeom prst="rect">
            <a:avLst/>
          </a:prstGeom>
          <a:solidFill>
            <a:srgbClr val="C2352F"/>
          </a:solidFill>
          <a:ln/>
        </p:spPr>
      </p:sp>
      <p:sp>
        <p:nvSpPr>
          <p:cNvPr id="57" name="Text 55"/>
          <p:cNvSpPr txBox="1"/>
          <p:nvPr/>
        </p:nvSpPr>
        <p:spPr>
          <a:xfrm>
            <a:off x="3355848" y="4389120"/>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$1,024,925</a:t>
            </a:r>
            <a:endParaRPr lang="en-US" sz="1300" dirty="0"/>
          </a:p>
        </p:txBody>
      </p:sp>
      <p:sp>
        <p:nvSpPr>
          <p:cNvPr id="58" name="Text 56"/>
          <p:cNvSpPr txBox="1"/>
          <p:nvPr/>
        </p:nvSpPr>
        <p:spPr>
          <a:xfrm>
            <a:off x="4379976" y="4389120"/>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$9,498</a:t>
            </a:r>
            <a:endParaRPr lang="en-US" sz="1300" dirty="0"/>
          </a:p>
        </p:txBody>
      </p:sp>
      <p:sp>
        <p:nvSpPr>
          <p:cNvPr id="59" name="Text 57"/>
          <p:cNvSpPr txBox="1"/>
          <p:nvPr/>
        </p:nvSpPr>
        <p:spPr>
          <a:xfrm>
            <a:off x="5148072" y="4389120"/>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60" name="Text 58"/>
          <p:cNvSpPr txBox="1"/>
          <p:nvPr/>
        </p:nvSpPr>
        <p:spPr>
          <a:xfrm>
            <a:off x="658368" y="4773168"/>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1" name="Text 59"/>
          <p:cNvSpPr txBox="1"/>
          <p:nvPr/>
        </p:nvSpPr>
        <p:spPr>
          <a:xfrm>
            <a:off x="1014984" y="4773168"/>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62" name="Shape 60"/>
          <p:cNvSpPr/>
          <p:nvPr/>
        </p:nvSpPr>
        <p:spPr>
          <a:xfrm>
            <a:off x="2871216" y="4859579"/>
            <a:ext cx="179186" cy="211226"/>
          </a:xfrm>
          <a:prstGeom prst="rect">
            <a:avLst/>
          </a:prstGeom>
          <a:solidFill>
            <a:srgbClr val="C2352F"/>
          </a:solidFill>
          <a:ln/>
        </p:spPr>
      </p:sp>
      <p:sp>
        <p:nvSpPr>
          <p:cNvPr id="63" name="Text 61"/>
          <p:cNvSpPr txBox="1"/>
          <p:nvPr/>
        </p:nvSpPr>
        <p:spPr>
          <a:xfrm>
            <a:off x="3355848" y="4773168"/>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$1,024,357</a:t>
            </a:r>
            <a:endParaRPr lang="en-US" sz="1300" dirty="0"/>
          </a:p>
        </p:txBody>
      </p:sp>
      <p:sp>
        <p:nvSpPr>
          <p:cNvPr id="64" name="Text 62"/>
          <p:cNvSpPr txBox="1"/>
          <p:nvPr/>
        </p:nvSpPr>
        <p:spPr>
          <a:xfrm>
            <a:off x="4379976" y="4773168"/>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$11,044</a:t>
            </a:r>
            <a:endParaRPr lang="en-US" sz="1300" dirty="0"/>
          </a:p>
        </p:txBody>
      </p:sp>
      <p:sp>
        <p:nvSpPr>
          <p:cNvPr id="65" name="Text 63"/>
          <p:cNvSpPr txBox="1"/>
          <p:nvPr/>
        </p:nvSpPr>
        <p:spPr>
          <a:xfrm>
            <a:off x="5148072" y="4773168"/>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66" name="Text 64"/>
          <p:cNvSpPr txBox="1"/>
          <p:nvPr/>
        </p:nvSpPr>
        <p:spPr>
          <a:xfrm>
            <a:off x="658368" y="5157216"/>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7" name="Text 65"/>
          <p:cNvSpPr txBox="1"/>
          <p:nvPr/>
        </p:nvSpPr>
        <p:spPr>
          <a:xfrm>
            <a:off x="1014984" y="5157216"/>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68" name="Shape 66"/>
          <p:cNvSpPr/>
          <p:nvPr/>
        </p:nvSpPr>
        <p:spPr>
          <a:xfrm>
            <a:off x="2871216" y="5243627"/>
            <a:ext cx="145201" cy="211226"/>
          </a:xfrm>
          <a:prstGeom prst="rect">
            <a:avLst/>
          </a:prstGeom>
          <a:solidFill>
            <a:srgbClr val="C2352F"/>
          </a:solidFill>
          <a:ln/>
        </p:spPr>
      </p:sp>
      <p:sp>
        <p:nvSpPr>
          <p:cNvPr id="69" name="Text 67"/>
          <p:cNvSpPr txBox="1"/>
          <p:nvPr/>
        </p:nvSpPr>
        <p:spPr>
          <a:xfrm>
            <a:off x="3355848" y="5157216"/>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$830,073</a:t>
            </a:r>
            <a:endParaRPr lang="en-US" sz="1300" dirty="0"/>
          </a:p>
        </p:txBody>
      </p:sp>
      <p:sp>
        <p:nvSpPr>
          <p:cNvPr id="70" name="Text 68"/>
          <p:cNvSpPr txBox="1"/>
          <p:nvPr/>
        </p:nvSpPr>
        <p:spPr>
          <a:xfrm>
            <a:off x="4379976" y="5157216"/>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$14,916</a:t>
            </a:r>
            <a:endParaRPr lang="en-US" sz="1300" dirty="0"/>
          </a:p>
        </p:txBody>
      </p:sp>
      <p:sp>
        <p:nvSpPr>
          <p:cNvPr id="71" name="Text 69"/>
          <p:cNvSpPr txBox="1"/>
          <p:nvPr/>
        </p:nvSpPr>
        <p:spPr>
          <a:xfrm>
            <a:off x="5148072" y="5157216"/>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$16,998</a:t>
            </a:r>
            <a:endParaRPr lang="en-US" sz="1300" dirty="0"/>
          </a:p>
        </p:txBody>
      </p:sp>
      <p:sp>
        <p:nvSpPr>
          <p:cNvPr id="72" name="Text 70"/>
          <p:cNvSpPr txBox="1"/>
          <p:nvPr/>
        </p:nvSpPr>
        <p:spPr>
          <a:xfrm>
            <a:off x="658368" y="5541264"/>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3" name="Text 71"/>
          <p:cNvSpPr txBox="1"/>
          <p:nvPr/>
        </p:nvSpPr>
        <p:spPr>
          <a:xfrm>
            <a:off x="1014984" y="5541264"/>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74" name="Shape 72"/>
          <p:cNvSpPr/>
          <p:nvPr/>
        </p:nvSpPr>
        <p:spPr>
          <a:xfrm>
            <a:off x="2871216" y="5627675"/>
            <a:ext cx="144678" cy="211226"/>
          </a:xfrm>
          <a:prstGeom prst="rect">
            <a:avLst/>
          </a:prstGeom>
          <a:solidFill>
            <a:srgbClr val="C2352F"/>
          </a:solidFill>
          <a:ln/>
        </p:spPr>
      </p:sp>
      <p:sp>
        <p:nvSpPr>
          <p:cNvPr id="75" name="Text 73"/>
          <p:cNvSpPr txBox="1"/>
          <p:nvPr/>
        </p:nvSpPr>
        <p:spPr>
          <a:xfrm>
            <a:off x="3355848" y="5541264"/>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$827,082</a:t>
            </a:r>
            <a:endParaRPr lang="en-US" sz="1300" dirty="0"/>
          </a:p>
        </p:txBody>
      </p:sp>
      <p:sp>
        <p:nvSpPr>
          <p:cNvPr id="76" name="Text 74"/>
          <p:cNvSpPr txBox="1"/>
          <p:nvPr/>
        </p:nvSpPr>
        <p:spPr>
          <a:xfrm>
            <a:off x="4379976" y="5541264"/>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$9,149</a:t>
            </a:r>
            <a:endParaRPr lang="en-US" sz="1300" dirty="0"/>
          </a:p>
        </p:txBody>
      </p:sp>
      <p:sp>
        <p:nvSpPr>
          <p:cNvPr id="77" name="Text 75"/>
          <p:cNvSpPr txBox="1"/>
          <p:nvPr/>
        </p:nvSpPr>
        <p:spPr>
          <a:xfrm>
            <a:off x="5148072" y="5541264"/>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78" name="Text 76"/>
          <p:cNvSpPr txBox="1"/>
          <p:nvPr/>
        </p:nvSpPr>
        <p:spPr>
          <a:xfrm>
            <a:off x="6208776" y="1700784"/>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9" name="Text 77"/>
          <p:cNvSpPr txBox="1"/>
          <p:nvPr/>
        </p:nvSpPr>
        <p:spPr>
          <a:xfrm>
            <a:off x="6565392" y="1700784"/>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0" name="Shape 78"/>
          <p:cNvSpPr/>
          <p:nvPr/>
        </p:nvSpPr>
        <p:spPr>
          <a:xfrm>
            <a:off x="8421624" y="1787195"/>
            <a:ext cx="70607" cy="211226"/>
          </a:xfrm>
          <a:prstGeom prst="rect">
            <a:avLst/>
          </a:prstGeom>
          <a:solidFill>
            <a:srgbClr val="C2352F"/>
          </a:solidFill>
          <a:ln/>
        </p:spPr>
      </p:sp>
      <p:sp>
        <p:nvSpPr>
          <p:cNvPr id="81" name="Text 79"/>
          <p:cNvSpPr txBox="1"/>
          <p:nvPr/>
        </p:nvSpPr>
        <p:spPr>
          <a:xfrm>
            <a:off x="8906256" y="1700784"/>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$403,638</a:t>
            </a:r>
            <a:endParaRPr lang="en-US" sz="1300" dirty="0"/>
          </a:p>
        </p:txBody>
      </p:sp>
      <p:sp>
        <p:nvSpPr>
          <p:cNvPr id="82" name="Text 80"/>
          <p:cNvSpPr txBox="1"/>
          <p:nvPr/>
        </p:nvSpPr>
        <p:spPr>
          <a:xfrm>
            <a:off x="9930384" y="1700784"/>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$11,957</a:t>
            </a:r>
            <a:endParaRPr lang="en-US" sz="1300" dirty="0"/>
          </a:p>
        </p:txBody>
      </p:sp>
      <p:sp>
        <p:nvSpPr>
          <p:cNvPr id="83" name="Text 81"/>
          <p:cNvSpPr txBox="1"/>
          <p:nvPr/>
        </p:nvSpPr>
        <p:spPr>
          <a:xfrm>
            <a:off x="10698480" y="1700784"/>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84" name="Text 82"/>
          <p:cNvSpPr txBox="1"/>
          <p:nvPr/>
        </p:nvSpPr>
        <p:spPr>
          <a:xfrm>
            <a:off x="6208776" y="2084832"/>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5" name="Text 83"/>
          <p:cNvSpPr txBox="1"/>
          <p:nvPr/>
        </p:nvSpPr>
        <p:spPr>
          <a:xfrm>
            <a:off x="6565392" y="2084832"/>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86" name="Shape 84"/>
          <p:cNvSpPr/>
          <p:nvPr/>
        </p:nvSpPr>
        <p:spPr>
          <a:xfrm>
            <a:off x="8421624" y="2171243"/>
            <a:ext cx="65929" cy="211226"/>
          </a:xfrm>
          <a:prstGeom prst="rect">
            <a:avLst/>
          </a:prstGeom>
          <a:solidFill>
            <a:srgbClr val="C2352F"/>
          </a:solidFill>
          <a:ln/>
        </p:spPr>
      </p:sp>
      <p:sp>
        <p:nvSpPr>
          <p:cNvPr id="87" name="Text 85"/>
          <p:cNvSpPr txBox="1"/>
          <p:nvPr/>
        </p:nvSpPr>
        <p:spPr>
          <a:xfrm>
            <a:off x="8906256" y="2084832"/>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$376,895</a:t>
            </a:r>
            <a:endParaRPr lang="en-US" sz="1300" dirty="0"/>
          </a:p>
        </p:txBody>
      </p:sp>
      <p:sp>
        <p:nvSpPr>
          <p:cNvPr id="88" name="Text 86"/>
          <p:cNvSpPr txBox="1"/>
          <p:nvPr/>
        </p:nvSpPr>
        <p:spPr>
          <a:xfrm>
            <a:off x="9930384" y="2084832"/>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$12,006</a:t>
            </a:r>
            <a:endParaRPr lang="en-US" sz="1300" dirty="0"/>
          </a:p>
        </p:txBody>
      </p:sp>
      <p:sp>
        <p:nvSpPr>
          <p:cNvPr id="89" name="Text 87"/>
          <p:cNvSpPr txBox="1"/>
          <p:nvPr/>
        </p:nvSpPr>
        <p:spPr>
          <a:xfrm>
            <a:off x="10698480" y="2084832"/>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90" name="Text 88"/>
          <p:cNvSpPr txBox="1"/>
          <p:nvPr/>
        </p:nvSpPr>
        <p:spPr>
          <a:xfrm>
            <a:off x="6208776" y="2468880"/>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6565392" y="2468880"/>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92" name="Shape 90"/>
          <p:cNvSpPr/>
          <p:nvPr/>
        </p:nvSpPr>
        <p:spPr>
          <a:xfrm>
            <a:off x="8421624" y="2555291"/>
            <a:ext cx="64833" cy="211226"/>
          </a:xfrm>
          <a:prstGeom prst="rect">
            <a:avLst/>
          </a:prstGeom>
          <a:solidFill>
            <a:srgbClr val="C2352F"/>
          </a:solidFill>
          <a:ln/>
        </p:spPr>
      </p:sp>
      <p:sp>
        <p:nvSpPr>
          <p:cNvPr id="93" name="Text 91"/>
          <p:cNvSpPr txBox="1"/>
          <p:nvPr/>
        </p:nvSpPr>
        <p:spPr>
          <a:xfrm>
            <a:off x="8906256" y="2468880"/>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$370,634</a:t>
            </a:r>
            <a:endParaRPr lang="en-US" sz="1300" dirty="0"/>
          </a:p>
        </p:txBody>
      </p:sp>
      <p:sp>
        <p:nvSpPr>
          <p:cNvPr id="94" name="Text 92"/>
          <p:cNvSpPr txBox="1"/>
          <p:nvPr/>
        </p:nvSpPr>
        <p:spPr>
          <a:xfrm>
            <a:off x="9930384" y="2468880"/>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$9,878</a:t>
            </a:r>
            <a:endParaRPr lang="en-US" sz="1300" dirty="0"/>
          </a:p>
        </p:txBody>
      </p:sp>
      <p:sp>
        <p:nvSpPr>
          <p:cNvPr id="95" name="Text 93"/>
          <p:cNvSpPr txBox="1"/>
          <p:nvPr/>
        </p:nvSpPr>
        <p:spPr>
          <a:xfrm>
            <a:off x="10698480" y="2468880"/>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96" name="Text 94"/>
          <p:cNvSpPr txBox="1"/>
          <p:nvPr/>
        </p:nvSpPr>
        <p:spPr>
          <a:xfrm>
            <a:off x="6208776" y="2852928"/>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7" name="Text 95"/>
          <p:cNvSpPr txBox="1"/>
          <p:nvPr/>
        </p:nvSpPr>
        <p:spPr>
          <a:xfrm>
            <a:off x="6565392" y="2852928"/>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98" name="Shape 96"/>
          <p:cNvSpPr/>
          <p:nvPr/>
        </p:nvSpPr>
        <p:spPr>
          <a:xfrm>
            <a:off x="8421624" y="2939339"/>
            <a:ext cx="59917" cy="211226"/>
          </a:xfrm>
          <a:prstGeom prst="rect">
            <a:avLst/>
          </a:prstGeom>
          <a:solidFill>
            <a:srgbClr val="C2352F"/>
          </a:solidFill>
          <a:ln/>
        </p:spPr>
      </p:sp>
      <p:sp>
        <p:nvSpPr>
          <p:cNvPr id="99" name="Text 97"/>
          <p:cNvSpPr txBox="1"/>
          <p:nvPr/>
        </p:nvSpPr>
        <p:spPr>
          <a:xfrm>
            <a:off x="8906256" y="2852928"/>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$342,526</a:t>
            </a:r>
            <a:endParaRPr lang="en-US" sz="1300" dirty="0"/>
          </a:p>
        </p:txBody>
      </p:sp>
      <p:sp>
        <p:nvSpPr>
          <p:cNvPr id="100" name="Text 98"/>
          <p:cNvSpPr txBox="1"/>
          <p:nvPr/>
        </p:nvSpPr>
        <p:spPr>
          <a:xfrm>
            <a:off x="9930384" y="2852928"/>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$15,226</a:t>
            </a:r>
            <a:endParaRPr lang="en-US" sz="1300" dirty="0"/>
          </a:p>
        </p:txBody>
      </p:sp>
      <p:sp>
        <p:nvSpPr>
          <p:cNvPr id="101" name="Text 99"/>
          <p:cNvSpPr txBox="1"/>
          <p:nvPr/>
        </p:nvSpPr>
        <p:spPr>
          <a:xfrm>
            <a:off x="10698480" y="2852928"/>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$16,998</a:t>
            </a:r>
            <a:endParaRPr lang="en-US" sz="1300" dirty="0"/>
          </a:p>
        </p:txBody>
      </p:sp>
      <p:sp>
        <p:nvSpPr>
          <p:cNvPr id="102" name="Text 100"/>
          <p:cNvSpPr txBox="1"/>
          <p:nvPr/>
        </p:nvSpPr>
        <p:spPr>
          <a:xfrm>
            <a:off x="6208776" y="3236976"/>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3" name="Text 101"/>
          <p:cNvSpPr txBox="1"/>
          <p:nvPr/>
        </p:nvSpPr>
        <p:spPr>
          <a:xfrm>
            <a:off x="6565392" y="3236976"/>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4" name="Shape 102"/>
          <p:cNvSpPr/>
          <p:nvPr/>
        </p:nvSpPr>
        <p:spPr>
          <a:xfrm>
            <a:off x="8421624" y="3323387"/>
            <a:ext cx="54171" cy="211226"/>
          </a:xfrm>
          <a:prstGeom prst="rect">
            <a:avLst/>
          </a:prstGeom>
          <a:solidFill>
            <a:srgbClr val="C2352F"/>
          </a:solidFill>
          <a:ln/>
        </p:spPr>
      </p:sp>
      <p:sp>
        <p:nvSpPr>
          <p:cNvPr id="105" name="Text 103"/>
          <p:cNvSpPr txBox="1"/>
          <p:nvPr/>
        </p:nvSpPr>
        <p:spPr>
          <a:xfrm>
            <a:off x="8906256" y="3236976"/>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$309,678</a:t>
            </a:r>
            <a:endParaRPr lang="en-US" sz="1300" dirty="0"/>
          </a:p>
        </p:txBody>
      </p:sp>
      <p:sp>
        <p:nvSpPr>
          <p:cNvPr id="106" name="Text 104"/>
          <p:cNvSpPr txBox="1"/>
          <p:nvPr/>
        </p:nvSpPr>
        <p:spPr>
          <a:xfrm>
            <a:off x="9930384" y="3236976"/>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$11,541</a:t>
            </a:r>
            <a:endParaRPr lang="en-US" sz="1300" dirty="0"/>
          </a:p>
        </p:txBody>
      </p:sp>
      <p:sp>
        <p:nvSpPr>
          <p:cNvPr id="107" name="Text 105"/>
          <p:cNvSpPr txBox="1"/>
          <p:nvPr/>
        </p:nvSpPr>
        <p:spPr>
          <a:xfrm>
            <a:off x="10698480" y="3236976"/>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108" name="Text 106"/>
          <p:cNvSpPr txBox="1"/>
          <p:nvPr/>
        </p:nvSpPr>
        <p:spPr>
          <a:xfrm>
            <a:off x="6208776" y="3621024"/>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9" name="Text 107"/>
          <p:cNvSpPr txBox="1"/>
          <p:nvPr/>
        </p:nvSpPr>
        <p:spPr>
          <a:xfrm>
            <a:off x="6565392" y="3621024"/>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10" name="Shape 108"/>
          <p:cNvSpPr/>
          <p:nvPr/>
        </p:nvSpPr>
        <p:spPr>
          <a:xfrm>
            <a:off x="8421624" y="3707435"/>
            <a:ext cx="33354" cy="211226"/>
          </a:xfrm>
          <a:prstGeom prst="rect">
            <a:avLst/>
          </a:prstGeom>
          <a:solidFill>
            <a:srgbClr val="C2352F"/>
          </a:solidFill>
          <a:ln/>
        </p:spPr>
      </p:sp>
      <p:sp>
        <p:nvSpPr>
          <p:cNvPr id="111" name="Text 109"/>
          <p:cNvSpPr txBox="1"/>
          <p:nvPr/>
        </p:nvSpPr>
        <p:spPr>
          <a:xfrm>
            <a:off x="8906256" y="3621024"/>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$190,674</a:t>
            </a:r>
            <a:endParaRPr lang="en-US" sz="1300" dirty="0"/>
          </a:p>
        </p:txBody>
      </p:sp>
      <p:sp>
        <p:nvSpPr>
          <p:cNvPr id="112" name="Text 110"/>
          <p:cNvSpPr txBox="1"/>
          <p:nvPr/>
        </p:nvSpPr>
        <p:spPr>
          <a:xfrm>
            <a:off x="9930384" y="3621024"/>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$11,631</a:t>
            </a:r>
            <a:endParaRPr lang="en-US" sz="1300" dirty="0"/>
          </a:p>
        </p:txBody>
      </p:sp>
      <p:sp>
        <p:nvSpPr>
          <p:cNvPr id="113" name="Text 111"/>
          <p:cNvSpPr txBox="1"/>
          <p:nvPr/>
        </p:nvSpPr>
        <p:spPr>
          <a:xfrm>
            <a:off x="10698480" y="3621024"/>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114" name="Text 112"/>
          <p:cNvSpPr txBox="1"/>
          <p:nvPr/>
        </p:nvSpPr>
        <p:spPr>
          <a:xfrm>
            <a:off x="6208776" y="4005072"/>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5" name="Text 113"/>
          <p:cNvSpPr txBox="1"/>
          <p:nvPr/>
        </p:nvSpPr>
        <p:spPr>
          <a:xfrm>
            <a:off x="6565392" y="4005072"/>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16" name="Shape 114"/>
          <p:cNvSpPr/>
          <p:nvPr/>
        </p:nvSpPr>
        <p:spPr>
          <a:xfrm>
            <a:off x="8421624" y="4091483"/>
            <a:ext cx="27497" cy="211226"/>
          </a:xfrm>
          <a:prstGeom prst="rect">
            <a:avLst/>
          </a:prstGeom>
          <a:solidFill>
            <a:srgbClr val="C2352F"/>
          </a:solidFill>
          <a:ln/>
        </p:spPr>
      </p:sp>
      <p:sp>
        <p:nvSpPr>
          <p:cNvPr id="117" name="Text 115"/>
          <p:cNvSpPr txBox="1"/>
          <p:nvPr/>
        </p:nvSpPr>
        <p:spPr>
          <a:xfrm>
            <a:off x="8906256" y="4005072"/>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$157,193</a:t>
            </a:r>
            <a:endParaRPr lang="en-US" sz="1300" dirty="0"/>
          </a:p>
        </p:txBody>
      </p:sp>
      <p:sp>
        <p:nvSpPr>
          <p:cNvPr id="118" name="Text 116"/>
          <p:cNvSpPr txBox="1"/>
          <p:nvPr/>
        </p:nvSpPr>
        <p:spPr>
          <a:xfrm>
            <a:off x="9930384" y="4005072"/>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$12,103</a:t>
            </a:r>
            <a:endParaRPr lang="en-US" sz="1300" dirty="0"/>
          </a:p>
        </p:txBody>
      </p:sp>
      <p:sp>
        <p:nvSpPr>
          <p:cNvPr id="119" name="Text 117"/>
          <p:cNvSpPr txBox="1"/>
          <p:nvPr/>
        </p:nvSpPr>
        <p:spPr>
          <a:xfrm>
            <a:off x="10698480" y="4005072"/>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120" name="Text 118"/>
          <p:cNvSpPr txBox="1"/>
          <p:nvPr/>
        </p:nvSpPr>
        <p:spPr>
          <a:xfrm>
            <a:off x="6208776" y="4389120"/>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1" name="Text 119"/>
          <p:cNvSpPr txBox="1"/>
          <p:nvPr/>
        </p:nvSpPr>
        <p:spPr>
          <a:xfrm>
            <a:off x="6565392" y="4389120"/>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22" name="Shape 120"/>
          <p:cNvSpPr/>
          <p:nvPr/>
        </p:nvSpPr>
        <p:spPr>
          <a:xfrm>
            <a:off x="8421624" y="4475531"/>
            <a:ext cx="19120" cy="211226"/>
          </a:xfrm>
          <a:prstGeom prst="rect">
            <a:avLst/>
          </a:prstGeom>
          <a:solidFill>
            <a:srgbClr val="C2352F"/>
          </a:solidFill>
          <a:ln/>
        </p:spPr>
      </p:sp>
      <p:sp>
        <p:nvSpPr>
          <p:cNvPr id="123" name="Text 121"/>
          <p:cNvSpPr txBox="1"/>
          <p:nvPr/>
        </p:nvSpPr>
        <p:spPr>
          <a:xfrm>
            <a:off x="8906256" y="4389120"/>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$109,303</a:t>
            </a:r>
            <a:endParaRPr lang="en-US" sz="1300" dirty="0"/>
          </a:p>
        </p:txBody>
      </p:sp>
      <p:sp>
        <p:nvSpPr>
          <p:cNvPr id="124" name="Text 122"/>
          <p:cNvSpPr txBox="1"/>
          <p:nvPr/>
        </p:nvSpPr>
        <p:spPr>
          <a:xfrm>
            <a:off x="9930384" y="4389120"/>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$12,364</a:t>
            </a:r>
            <a:endParaRPr lang="en-US" sz="1300" dirty="0"/>
          </a:p>
        </p:txBody>
      </p:sp>
      <p:sp>
        <p:nvSpPr>
          <p:cNvPr id="125" name="Text 123"/>
          <p:cNvSpPr txBox="1"/>
          <p:nvPr/>
        </p:nvSpPr>
        <p:spPr>
          <a:xfrm>
            <a:off x="10698480" y="4389120"/>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126" name="Text 124"/>
          <p:cNvSpPr txBox="1"/>
          <p:nvPr/>
        </p:nvSpPr>
        <p:spPr>
          <a:xfrm>
            <a:off x="6208776" y="4773168"/>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7" name="Text 125"/>
          <p:cNvSpPr txBox="1"/>
          <p:nvPr/>
        </p:nvSpPr>
        <p:spPr>
          <a:xfrm>
            <a:off x="6565392" y="4773168"/>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28" name="Shape 126"/>
          <p:cNvSpPr/>
          <p:nvPr/>
        </p:nvSpPr>
        <p:spPr>
          <a:xfrm>
            <a:off x="8421624" y="4859579"/>
            <a:ext cx="18288" cy="211226"/>
          </a:xfrm>
          <a:prstGeom prst="rect">
            <a:avLst/>
          </a:prstGeom>
          <a:solidFill>
            <a:srgbClr val="C2352F"/>
          </a:solidFill>
          <a:ln/>
        </p:spPr>
      </p:sp>
      <p:sp>
        <p:nvSpPr>
          <p:cNvPr id="129" name="Text 127"/>
          <p:cNvSpPr txBox="1"/>
          <p:nvPr/>
        </p:nvSpPr>
        <p:spPr>
          <a:xfrm>
            <a:off x="8906256" y="4773168"/>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$61,379</a:t>
            </a:r>
            <a:endParaRPr lang="en-US" sz="1300" dirty="0"/>
          </a:p>
        </p:txBody>
      </p:sp>
      <p:sp>
        <p:nvSpPr>
          <p:cNvPr id="130" name="Text 128"/>
          <p:cNvSpPr txBox="1"/>
          <p:nvPr/>
        </p:nvSpPr>
        <p:spPr>
          <a:xfrm>
            <a:off x="9930384" y="4773168"/>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$12,501</a:t>
            </a:r>
            <a:endParaRPr lang="en-US" sz="1300" dirty="0"/>
          </a:p>
        </p:txBody>
      </p:sp>
      <p:sp>
        <p:nvSpPr>
          <p:cNvPr id="131" name="Text 129"/>
          <p:cNvSpPr txBox="1"/>
          <p:nvPr/>
        </p:nvSpPr>
        <p:spPr>
          <a:xfrm>
            <a:off x="10698480" y="4773168"/>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$12,714</a:t>
            </a:r>
            <a:endParaRPr lang="en-US" sz="1300" dirty="0"/>
          </a:p>
        </p:txBody>
      </p:sp>
      <p:sp>
        <p:nvSpPr>
          <p:cNvPr id="132" name="Text 130"/>
          <p:cNvSpPr txBox="1"/>
          <p:nvPr/>
        </p:nvSpPr>
        <p:spPr>
          <a:xfrm>
            <a:off x="6208776" y="5157216"/>
            <a:ext cx="310896" cy="38404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5157216"/>
            <a:ext cx="1783080" cy="38404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34" name="Shape 132"/>
          <p:cNvSpPr/>
          <p:nvPr/>
        </p:nvSpPr>
        <p:spPr>
          <a:xfrm>
            <a:off x="8421624" y="5243627"/>
            <a:ext cx="18288" cy="211226"/>
          </a:xfrm>
          <a:prstGeom prst="rect">
            <a:avLst/>
          </a:prstGeom>
          <a:solidFill>
            <a:srgbClr val="C2352F"/>
          </a:solidFill>
          <a:ln/>
        </p:spPr>
      </p:sp>
      <p:sp>
        <p:nvSpPr>
          <p:cNvPr id="135" name="Text 133"/>
          <p:cNvSpPr txBox="1"/>
          <p:nvPr/>
        </p:nvSpPr>
        <p:spPr>
          <a:xfrm>
            <a:off x="8906256" y="5157216"/>
            <a:ext cx="1024128" cy="384048"/>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$25,739</a:t>
            </a:r>
            <a:endParaRPr lang="en-US" sz="1300" dirty="0"/>
          </a:p>
        </p:txBody>
      </p:sp>
      <p:sp>
        <p:nvSpPr>
          <p:cNvPr id="136" name="Text 134"/>
          <p:cNvSpPr txBox="1"/>
          <p:nvPr/>
        </p:nvSpPr>
        <p:spPr>
          <a:xfrm>
            <a:off x="9930384" y="5157216"/>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$16,919</a:t>
            </a:r>
            <a:endParaRPr lang="en-US" sz="1300" dirty="0"/>
          </a:p>
        </p:txBody>
      </p:sp>
      <p:sp>
        <p:nvSpPr>
          <p:cNvPr id="137" name="Text 135"/>
          <p:cNvSpPr txBox="1"/>
          <p:nvPr/>
        </p:nvSpPr>
        <p:spPr>
          <a:xfrm>
            <a:off x="10698480" y="5157216"/>
            <a:ext cx="768096" cy="3840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$16,998</a:t>
            </a:r>
            <a:endParaRPr lang="en-US" sz="1300" dirty="0"/>
          </a:p>
        </p:txBody>
      </p:sp>
      <p:sp>
        <p:nvSpPr>
          <p:cNvPr id="138" name="Shape 136"/>
          <p:cNvSpPr/>
          <p:nvPr/>
        </p:nvSpPr>
        <p:spPr>
          <a:xfrm>
            <a:off x="6085332" y="1700784"/>
            <a:ext cx="10973" cy="4224528"/>
          </a:xfrm>
          <a:prstGeom prst="rect">
            <a:avLst/>
          </a:prstGeom>
          <a:solidFill>
            <a:srgbClr val="D9D9D9"/>
          </a:solidFill>
          <a:ln/>
        </p:spPr>
      </p:sp>
      <p:sp>
        <p:nvSpPr>
          <p:cNvPr id="139" name="Shape 137"/>
          <p:cNvSpPr/>
          <p:nvPr/>
        </p:nvSpPr>
        <p:spPr>
          <a:xfrm>
            <a:off x="457200" y="6126480"/>
            <a:ext cx="11274552" cy="615696"/>
          </a:xfrm>
          <a:prstGeom prst="rect">
            <a:avLst/>
          </a:prstGeom>
          <a:solidFill>
            <a:srgbClr val="FBEBEA"/>
          </a:solidFill>
          <a:ln/>
        </p:spPr>
      </p:sp>
      <p:sp>
        <p:nvSpPr>
          <p:cNvPr id="140" name="Text 13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Luxury stores are compared with $16,998 a month, non-luxury with $12,714. 21 stores below their average leave $16,784,025 a year with the same staff.</a:t>
            </a:r>
            <a:endParaRPr lang="en-US" sz="1600" dirty="0"/>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5% MORE PER EMPLOYEE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5% More per Employee Is Worth</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502152" y="1316736"/>
            <a:ext cx="91440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7" name="Text 5"/>
          <p:cNvSpPr txBox="1"/>
          <p:nvPr/>
        </p:nvSpPr>
        <p:spPr>
          <a:xfrm>
            <a:off x="4416552"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Today</a:t>
            </a:r>
            <a:endParaRPr lang="en-US" sz="1400" dirty="0"/>
          </a:p>
        </p:txBody>
      </p:sp>
      <p:sp>
        <p:nvSpPr>
          <p:cNvPr id="8" name="Text 6"/>
          <p:cNvSpPr txBox="1"/>
          <p:nvPr/>
        </p:nvSpPr>
        <p:spPr>
          <a:xfrm>
            <a:off x="516636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Target</a:t>
            </a:r>
            <a:endParaRPr lang="en-US" sz="1400" dirty="0"/>
          </a:p>
        </p:txBody>
      </p:sp>
      <p:sp>
        <p:nvSpPr>
          <p:cNvPr id="9" name="Text 7"/>
          <p:cNvSpPr txBox="1"/>
          <p:nvPr/>
        </p:nvSpPr>
        <p:spPr>
          <a:xfrm>
            <a:off x="9052560" y="1316736"/>
            <a:ext cx="91440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Gross/yr</a:t>
            </a:r>
            <a:endParaRPr lang="en-US" sz="1400" dirty="0"/>
          </a:p>
        </p:txBody>
      </p:sp>
      <p:sp>
        <p:nvSpPr>
          <p:cNvPr id="10" name="Text 8"/>
          <p:cNvSpPr txBox="1"/>
          <p:nvPr/>
        </p:nvSpPr>
        <p:spPr>
          <a:xfrm>
            <a:off x="996696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Today</a:t>
            </a:r>
            <a:endParaRPr lang="en-US" sz="1400" dirty="0"/>
          </a:p>
        </p:txBody>
      </p:sp>
      <p:sp>
        <p:nvSpPr>
          <p:cNvPr id="11" name="Text 9"/>
          <p:cNvSpPr txBox="1"/>
          <p:nvPr/>
        </p:nvSpPr>
        <p:spPr>
          <a:xfrm>
            <a:off x="1071676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Target</a:t>
            </a:r>
            <a:endParaRPr lang="en-US" sz="1400" dirty="0"/>
          </a:p>
        </p:txBody>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4" name="Shape 12"/>
          <p:cNvSpPr/>
          <p:nvPr/>
        </p:nvSpPr>
        <p:spPr>
          <a:xfrm>
            <a:off x="2871216" y="1756697"/>
            <a:ext cx="576072" cy="136676"/>
          </a:xfrm>
          <a:prstGeom prst="rect">
            <a:avLst/>
          </a:prstGeom>
          <a:solidFill>
            <a:srgbClr val="2587C5"/>
          </a:solidFill>
          <a:ln/>
        </p:spPr>
      </p:sp>
      <p:sp>
        <p:nvSpPr>
          <p:cNvPr id="15" name="Text 13"/>
          <p:cNvSpPr txBox="1"/>
          <p:nvPr/>
        </p:nvSpPr>
        <p:spPr>
          <a:xfrm>
            <a:off x="3502152" y="1700784"/>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$1.51M</a:t>
            </a:r>
            <a:endParaRPr lang="en-US" sz="1300" dirty="0"/>
          </a:p>
        </p:txBody>
      </p:sp>
      <p:sp>
        <p:nvSpPr>
          <p:cNvPr id="16" name="Text 14"/>
          <p:cNvSpPr txBox="1"/>
          <p:nvPr/>
        </p:nvSpPr>
        <p:spPr>
          <a:xfrm>
            <a:off x="4416552" y="170078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$14.2K</a:t>
            </a:r>
            <a:endParaRPr lang="en-US" sz="1300" dirty="0"/>
          </a:p>
        </p:txBody>
      </p:sp>
      <p:sp>
        <p:nvSpPr>
          <p:cNvPr id="17" name="Text 15"/>
          <p:cNvSpPr txBox="1"/>
          <p:nvPr/>
        </p:nvSpPr>
        <p:spPr>
          <a:xfrm>
            <a:off x="5166360" y="170078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$14.9K</a:t>
            </a:r>
            <a:endParaRPr lang="en-US" sz="1300" dirty="0"/>
          </a:p>
        </p:txBody>
      </p:sp>
      <p:sp>
        <p:nvSpPr>
          <p:cNvPr id="18" name="Text 16"/>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20" name="Shape 18"/>
          <p:cNvSpPr/>
          <p:nvPr/>
        </p:nvSpPr>
        <p:spPr>
          <a:xfrm>
            <a:off x="2871216" y="2005199"/>
            <a:ext cx="421856" cy="136676"/>
          </a:xfrm>
          <a:prstGeom prst="rect">
            <a:avLst/>
          </a:prstGeom>
          <a:solidFill>
            <a:srgbClr val="2587C5"/>
          </a:solidFill>
          <a:ln/>
        </p:spPr>
      </p:sp>
      <p:sp>
        <p:nvSpPr>
          <p:cNvPr id="21" name="Text 19"/>
          <p:cNvSpPr txBox="1"/>
          <p:nvPr/>
        </p:nvSpPr>
        <p:spPr>
          <a:xfrm>
            <a:off x="3502152" y="1949286"/>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$1.10M</a:t>
            </a:r>
            <a:endParaRPr lang="en-US" sz="1300" dirty="0"/>
          </a:p>
        </p:txBody>
      </p:sp>
      <p:sp>
        <p:nvSpPr>
          <p:cNvPr id="22" name="Text 20"/>
          <p:cNvSpPr txBox="1"/>
          <p:nvPr/>
        </p:nvSpPr>
        <p:spPr>
          <a:xfrm>
            <a:off x="4416552" y="1949286"/>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$12.0K</a:t>
            </a:r>
            <a:endParaRPr lang="en-US" sz="1300" dirty="0"/>
          </a:p>
        </p:txBody>
      </p:sp>
      <p:sp>
        <p:nvSpPr>
          <p:cNvPr id="23" name="Text 21"/>
          <p:cNvSpPr txBox="1"/>
          <p:nvPr/>
        </p:nvSpPr>
        <p:spPr>
          <a:xfrm>
            <a:off x="5166360" y="1949286"/>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$12.6K</a:t>
            </a:r>
            <a:endParaRPr lang="en-US" sz="1300" dirty="0"/>
          </a:p>
        </p:txBody>
      </p:sp>
      <p:sp>
        <p:nvSpPr>
          <p:cNvPr id="24" name="Text 22"/>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6" name="Shape 24"/>
          <p:cNvSpPr/>
          <p:nvPr/>
        </p:nvSpPr>
        <p:spPr>
          <a:xfrm>
            <a:off x="2871216" y="2253700"/>
            <a:ext cx="367749" cy="136676"/>
          </a:xfrm>
          <a:prstGeom prst="rect">
            <a:avLst/>
          </a:prstGeom>
          <a:solidFill>
            <a:srgbClr val="2587C5"/>
          </a:solidFill>
          <a:ln/>
        </p:spPr>
      </p:sp>
      <p:sp>
        <p:nvSpPr>
          <p:cNvPr id="27" name="Text 25"/>
          <p:cNvSpPr txBox="1"/>
          <p:nvPr/>
        </p:nvSpPr>
        <p:spPr>
          <a:xfrm>
            <a:off x="3502152" y="2197787"/>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$962K</a:t>
            </a:r>
            <a:endParaRPr lang="en-US" sz="1300" dirty="0"/>
          </a:p>
        </p:txBody>
      </p:sp>
      <p:sp>
        <p:nvSpPr>
          <p:cNvPr id="28" name="Text 26"/>
          <p:cNvSpPr txBox="1"/>
          <p:nvPr/>
        </p:nvSpPr>
        <p:spPr>
          <a:xfrm>
            <a:off x="4416552" y="219778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$16.1K</a:t>
            </a:r>
            <a:endParaRPr lang="en-US" sz="1300" dirty="0"/>
          </a:p>
        </p:txBody>
      </p:sp>
      <p:sp>
        <p:nvSpPr>
          <p:cNvPr id="29" name="Text 27"/>
          <p:cNvSpPr txBox="1"/>
          <p:nvPr/>
        </p:nvSpPr>
        <p:spPr>
          <a:xfrm>
            <a:off x="5166360" y="219778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$16.9K</a:t>
            </a:r>
            <a:endParaRPr lang="en-US" sz="1300" dirty="0"/>
          </a:p>
        </p:txBody>
      </p:sp>
      <p:sp>
        <p:nvSpPr>
          <p:cNvPr id="30" name="Text 28"/>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32" name="Shape 30"/>
          <p:cNvSpPr/>
          <p:nvPr/>
        </p:nvSpPr>
        <p:spPr>
          <a:xfrm>
            <a:off x="2871216" y="2502202"/>
            <a:ext cx="314644" cy="136676"/>
          </a:xfrm>
          <a:prstGeom prst="rect">
            <a:avLst/>
          </a:prstGeom>
          <a:solidFill>
            <a:srgbClr val="2587C5"/>
          </a:solidFill>
          <a:ln/>
        </p:spPr>
      </p:sp>
      <p:sp>
        <p:nvSpPr>
          <p:cNvPr id="33" name="Text 31"/>
          <p:cNvSpPr txBox="1"/>
          <p:nvPr/>
        </p:nvSpPr>
        <p:spPr>
          <a:xfrm>
            <a:off x="3502152" y="2446289"/>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$823K</a:t>
            </a:r>
            <a:endParaRPr lang="en-US" sz="1300" dirty="0"/>
          </a:p>
        </p:txBody>
      </p:sp>
      <p:sp>
        <p:nvSpPr>
          <p:cNvPr id="34" name="Text 32"/>
          <p:cNvSpPr txBox="1"/>
          <p:nvPr/>
        </p:nvSpPr>
        <p:spPr>
          <a:xfrm>
            <a:off x="4416552" y="244628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$23.5K</a:t>
            </a:r>
            <a:endParaRPr lang="en-US" sz="1300" dirty="0"/>
          </a:p>
        </p:txBody>
      </p:sp>
      <p:sp>
        <p:nvSpPr>
          <p:cNvPr id="35" name="Text 33"/>
          <p:cNvSpPr txBox="1"/>
          <p:nvPr/>
        </p:nvSpPr>
        <p:spPr>
          <a:xfrm>
            <a:off x="5166360" y="244628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$24.6K</a:t>
            </a:r>
            <a:endParaRPr lang="en-US" sz="1300" dirty="0"/>
          </a:p>
        </p:txBody>
      </p:sp>
      <p:sp>
        <p:nvSpPr>
          <p:cNvPr id="36" name="Text 34"/>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38" name="Shape 36"/>
          <p:cNvSpPr/>
          <p:nvPr/>
        </p:nvSpPr>
        <p:spPr>
          <a:xfrm>
            <a:off x="2871216" y="2750703"/>
            <a:ext cx="257024" cy="136676"/>
          </a:xfrm>
          <a:prstGeom prst="rect">
            <a:avLst/>
          </a:prstGeom>
          <a:solidFill>
            <a:srgbClr val="2587C5"/>
          </a:solidFill>
          <a:ln/>
        </p:spPr>
      </p:sp>
      <p:sp>
        <p:nvSpPr>
          <p:cNvPr id="39" name="Text 37"/>
          <p:cNvSpPr txBox="1"/>
          <p:nvPr/>
        </p:nvSpPr>
        <p:spPr>
          <a:xfrm>
            <a:off x="3502152" y="2694791"/>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$672K</a:t>
            </a:r>
            <a:endParaRPr lang="en-US" sz="1300" dirty="0"/>
          </a:p>
        </p:txBody>
      </p:sp>
      <p:sp>
        <p:nvSpPr>
          <p:cNvPr id="40" name="Text 38"/>
          <p:cNvSpPr txBox="1"/>
          <p:nvPr/>
        </p:nvSpPr>
        <p:spPr>
          <a:xfrm>
            <a:off x="4416552" y="2694791"/>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$12.9K</a:t>
            </a:r>
            <a:endParaRPr lang="en-US" sz="1300" dirty="0"/>
          </a:p>
        </p:txBody>
      </p:sp>
      <p:sp>
        <p:nvSpPr>
          <p:cNvPr id="41" name="Text 39"/>
          <p:cNvSpPr txBox="1"/>
          <p:nvPr/>
        </p:nvSpPr>
        <p:spPr>
          <a:xfrm>
            <a:off x="5166360" y="2694791"/>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$13.5K</a:t>
            </a:r>
            <a:endParaRPr lang="en-US" sz="1300" dirty="0"/>
          </a:p>
        </p:txBody>
      </p:sp>
      <p:sp>
        <p:nvSpPr>
          <p:cNvPr id="42" name="Text 40"/>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44" name="Shape 42"/>
          <p:cNvSpPr/>
          <p:nvPr/>
        </p:nvSpPr>
        <p:spPr>
          <a:xfrm>
            <a:off x="2871216" y="2999205"/>
            <a:ext cx="244698" cy="136676"/>
          </a:xfrm>
          <a:prstGeom prst="rect">
            <a:avLst/>
          </a:prstGeom>
          <a:solidFill>
            <a:srgbClr val="2587C5"/>
          </a:solidFill>
          <a:ln/>
        </p:spPr>
      </p:sp>
      <p:sp>
        <p:nvSpPr>
          <p:cNvPr id="45" name="Text 43"/>
          <p:cNvSpPr txBox="1"/>
          <p:nvPr/>
        </p:nvSpPr>
        <p:spPr>
          <a:xfrm>
            <a:off x="3502152" y="2943292"/>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$640K</a:t>
            </a:r>
            <a:endParaRPr lang="en-US" sz="1300" dirty="0"/>
          </a:p>
        </p:txBody>
      </p:sp>
      <p:sp>
        <p:nvSpPr>
          <p:cNvPr id="46" name="Text 44"/>
          <p:cNvSpPr txBox="1"/>
          <p:nvPr/>
        </p:nvSpPr>
        <p:spPr>
          <a:xfrm>
            <a:off x="4416552" y="2943292"/>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$14.3K</a:t>
            </a:r>
            <a:endParaRPr lang="en-US" sz="1300" dirty="0"/>
          </a:p>
        </p:txBody>
      </p:sp>
      <p:sp>
        <p:nvSpPr>
          <p:cNvPr id="47" name="Text 45"/>
          <p:cNvSpPr txBox="1"/>
          <p:nvPr/>
        </p:nvSpPr>
        <p:spPr>
          <a:xfrm>
            <a:off x="5166360" y="2943292"/>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$15.0K</a:t>
            </a:r>
            <a:endParaRPr lang="en-US" sz="1300" dirty="0"/>
          </a:p>
        </p:txBody>
      </p:sp>
      <p:sp>
        <p:nvSpPr>
          <p:cNvPr id="48" name="Text 46"/>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9" name="Text 47"/>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50" name="Shape 48"/>
          <p:cNvSpPr/>
          <p:nvPr/>
        </p:nvSpPr>
        <p:spPr>
          <a:xfrm>
            <a:off x="2871216" y="3247707"/>
            <a:ext cx="219695" cy="136676"/>
          </a:xfrm>
          <a:prstGeom prst="rect">
            <a:avLst/>
          </a:prstGeom>
          <a:solidFill>
            <a:srgbClr val="2587C5"/>
          </a:solidFill>
          <a:ln/>
        </p:spPr>
      </p:sp>
      <p:sp>
        <p:nvSpPr>
          <p:cNvPr id="51" name="Text 49"/>
          <p:cNvSpPr txBox="1"/>
          <p:nvPr/>
        </p:nvSpPr>
        <p:spPr>
          <a:xfrm>
            <a:off x="3502152" y="3191794"/>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$574K</a:t>
            </a:r>
            <a:endParaRPr lang="en-US" sz="1300" dirty="0"/>
          </a:p>
        </p:txBody>
      </p:sp>
      <p:sp>
        <p:nvSpPr>
          <p:cNvPr id="52" name="Text 50"/>
          <p:cNvSpPr txBox="1"/>
          <p:nvPr/>
        </p:nvSpPr>
        <p:spPr>
          <a:xfrm>
            <a:off x="4416552" y="319179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$14.6K</a:t>
            </a:r>
            <a:endParaRPr lang="en-US" sz="1300" dirty="0"/>
          </a:p>
        </p:txBody>
      </p:sp>
      <p:sp>
        <p:nvSpPr>
          <p:cNvPr id="53" name="Text 51"/>
          <p:cNvSpPr txBox="1"/>
          <p:nvPr/>
        </p:nvSpPr>
        <p:spPr>
          <a:xfrm>
            <a:off x="5166360" y="319179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$15.3K</a:t>
            </a:r>
            <a:endParaRPr lang="en-US" sz="1300" dirty="0"/>
          </a:p>
        </p:txBody>
      </p:sp>
      <p:sp>
        <p:nvSpPr>
          <p:cNvPr id="54" name="Text 52"/>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5" name="Text 53"/>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56" name="Shape 54"/>
          <p:cNvSpPr/>
          <p:nvPr/>
        </p:nvSpPr>
        <p:spPr>
          <a:xfrm>
            <a:off x="2871216" y="3496208"/>
            <a:ext cx="168437" cy="136676"/>
          </a:xfrm>
          <a:prstGeom prst="rect">
            <a:avLst/>
          </a:prstGeom>
          <a:solidFill>
            <a:srgbClr val="2587C5"/>
          </a:solidFill>
          <a:ln/>
        </p:spPr>
      </p:sp>
      <p:sp>
        <p:nvSpPr>
          <p:cNvPr id="57" name="Text 55"/>
          <p:cNvSpPr txBox="1"/>
          <p:nvPr/>
        </p:nvSpPr>
        <p:spPr>
          <a:xfrm>
            <a:off x="3502152" y="3440296"/>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$440K</a:t>
            </a:r>
            <a:endParaRPr lang="en-US" sz="1300" dirty="0"/>
          </a:p>
        </p:txBody>
      </p:sp>
      <p:sp>
        <p:nvSpPr>
          <p:cNvPr id="58" name="Text 56"/>
          <p:cNvSpPr txBox="1"/>
          <p:nvPr/>
        </p:nvSpPr>
        <p:spPr>
          <a:xfrm>
            <a:off x="4416552" y="3440296"/>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$18.1K</a:t>
            </a:r>
            <a:endParaRPr lang="en-US" sz="1300" dirty="0"/>
          </a:p>
        </p:txBody>
      </p:sp>
      <p:sp>
        <p:nvSpPr>
          <p:cNvPr id="59" name="Text 57"/>
          <p:cNvSpPr txBox="1"/>
          <p:nvPr/>
        </p:nvSpPr>
        <p:spPr>
          <a:xfrm>
            <a:off x="5166360" y="3440296"/>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$19.1K</a:t>
            </a:r>
            <a:endParaRPr lang="en-US" sz="1300" dirty="0"/>
          </a:p>
        </p:txBody>
      </p:sp>
      <p:sp>
        <p:nvSpPr>
          <p:cNvPr id="60" name="Text 58"/>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1" name="Text 59"/>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2" name="Shape 60"/>
          <p:cNvSpPr/>
          <p:nvPr/>
        </p:nvSpPr>
        <p:spPr>
          <a:xfrm>
            <a:off x="2871216" y="3744710"/>
            <a:ext cx="156885" cy="136676"/>
          </a:xfrm>
          <a:prstGeom prst="rect">
            <a:avLst/>
          </a:prstGeom>
          <a:solidFill>
            <a:srgbClr val="2587C5"/>
          </a:solidFill>
          <a:ln/>
        </p:spPr>
      </p:sp>
      <p:sp>
        <p:nvSpPr>
          <p:cNvPr id="63" name="Text 61"/>
          <p:cNvSpPr txBox="1"/>
          <p:nvPr/>
        </p:nvSpPr>
        <p:spPr>
          <a:xfrm>
            <a:off x="3502152" y="3688797"/>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$410K</a:t>
            </a:r>
            <a:endParaRPr lang="en-US" sz="1300" dirty="0"/>
          </a:p>
        </p:txBody>
      </p:sp>
      <p:sp>
        <p:nvSpPr>
          <p:cNvPr id="64" name="Text 62"/>
          <p:cNvSpPr txBox="1"/>
          <p:nvPr/>
        </p:nvSpPr>
        <p:spPr>
          <a:xfrm>
            <a:off x="4416552" y="368879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$13.3K</a:t>
            </a:r>
            <a:endParaRPr lang="en-US" sz="1300" dirty="0"/>
          </a:p>
        </p:txBody>
      </p:sp>
      <p:sp>
        <p:nvSpPr>
          <p:cNvPr id="65" name="Text 63"/>
          <p:cNvSpPr txBox="1"/>
          <p:nvPr/>
        </p:nvSpPr>
        <p:spPr>
          <a:xfrm>
            <a:off x="5166360" y="368879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$14.0K</a:t>
            </a:r>
            <a:endParaRPr lang="en-US" sz="1300" dirty="0"/>
          </a:p>
        </p:txBody>
      </p:sp>
      <p:sp>
        <p:nvSpPr>
          <p:cNvPr id="66" name="Text 64"/>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7" name="Text 65"/>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68" name="Shape 66"/>
          <p:cNvSpPr/>
          <p:nvPr/>
        </p:nvSpPr>
        <p:spPr>
          <a:xfrm>
            <a:off x="2871216" y="3993212"/>
            <a:ext cx="151234" cy="136676"/>
          </a:xfrm>
          <a:prstGeom prst="rect">
            <a:avLst/>
          </a:prstGeom>
          <a:solidFill>
            <a:srgbClr val="2587C5"/>
          </a:solidFill>
          <a:ln/>
        </p:spPr>
      </p:sp>
      <p:sp>
        <p:nvSpPr>
          <p:cNvPr id="69" name="Text 67"/>
          <p:cNvSpPr txBox="1"/>
          <p:nvPr/>
        </p:nvSpPr>
        <p:spPr>
          <a:xfrm>
            <a:off x="3502152" y="3937299"/>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$395K</a:t>
            </a:r>
            <a:endParaRPr lang="en-US" sz="1300" dirty="0"/>
          </a:p>
        </p:txBody>
      </p:sp>
      <p:sp>
        <p:nvSpPr>
          <p:cNvPr id="70" name="Text 68"/>
          <p:cNvSpPr txBox="1"/>
          <p:nvPr/>
        </p:nvSpPr>
        <p:spPr>
          <a:xfrm>
            <a:off x="4416552" y="393729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$11.1K</a:t>
            </a:r>
            <a:endParaRPr lang="en-US" sz="1300" dirty="0"/>
          </a:p>
        </p:txBody>
      </p:sp>
      <p:sp>
        <p:nvSpPr>
          <p:cNvPr id="71" name="Text 69"/>
          <p:cNvSpPr txBox="1"/>
          <p:nvPr/>
        </p:nvSpPr>
        <p:spPr>
          <a:xfrm>
            <a:off x="5166360" y="393729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$11.7K</a:t>
            </a:r>
            <a:endParaRPr lang="en-US" sz="1300" dirty="0"/>
          </a:p>
        </p:txBody>
      </p:sp>
      <p:sp>
        <p:nvSpPr>
          <p:cNvPr id="72" name="Text 7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3" name="Text 71"/>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74" name="Shape 72"/>
          <p:cNvSpPr/>
          <p:nvPr/>
        </p:nvSpPr>
        <p:spPr>
          <a:xfrm>
            <a:off x="2871216" y="4241713"/>
            <a:ext cx="129534" cy="136676"/>
          </a:xfrm>
          <a:prstGeom prst="rect">
            <a:avLst/>
          </a:prstGeom>
          <a:solidFill>
            <a:srgbClr val="2587C5"/>
          </a:solidFill>
          <a:ln/>
        </p:spPr>
      </p:sp>
      <p:sp>
        <p:nvSpPr>
          <p:cNvPr id="75" name="Text 73"/>
          <p:cNvSpPr txBox="1"/>
          <p:nvPr/>
        </p:nvSpPr>
        <p:spPr>
          <a:xfrm>
            <a:off x="3502152" y="4185800"/>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$339K</a:t>
            </a:r>
            <a:endParaRPr lang="en-US" sz="1300" dirty="0"/>
          </a:p>
        </p:txBody>
      </p:sp>
      <p:sp>
        <p:nvSpPr>
          <p:cNvPr id="76" name="Text 74"/>
          <p:cNvSpPr txBox="1"/>
          <p:nvPr/>
        </p:nvSpPr>
        <p:spPr>
          <a:xfrm>
            <a:off x="4416552" y="4185800"/>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$11.0K</a:t>
            </a:r>
            <a:endParaRPr lang="en-US" sz="1300" dirty="0"/>
          </a:p>
        </p:txBody>
      </p:sp>
      <p:sp>
        <p:nvSpPr>
          <p:cNvPr id="77" name="Text 75"/>
          <p:cNvSpPr txBox="1"/>
          <p:nvPr/>
        </p:nvSpPr>
        <p:spPr>
          <a:xfrm>
            <a:off x="5166360" y="4185800"/>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$11.6K</a:t>
            </a:r>
            <a:endParaRPr lang="en-US" sz="1300" dirty="0"/>
          </a:p>
        </p:txBody>
      </p:sp>
      <p:sp>
        <p:nvSpPr>
          <p:cNvPr id="78" name="Text 76"/>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9" name="Text 77"/>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80" name="Shape 78"/>
          <p:cNvSpPr/>
          <p:nvPr/>
        </p:nvSpPr>
        <p:spPr>
          <a:xfrm>
            <a:off x="2871216" y="4490215"/>
            <a:ext cx="122140" cy="136676"/>
          </a:xfrm>
          <a:prstGeom prst="rect">
            <a:avLst/>
          </a:prstGeom>
          <a:solidFill>
            <a:srgbClr val="2587C5"/>
          </a:solidFill>
          <a:ln/>
        </p:spPr>
      </p:sp>
      <p:sp>
        <p:nvSpPr>
          <p:cNvPr id="81" name="Text 79"/>
          <p:cNvSpPr txBox="1"/>
          <p:nvPr/>
        </p:nvSpPr>
        <p:spPr>
          <a:xfrm>
            <a:off x="3502152" y="4434302"/>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$319K</a:t>
            </a:r>
            <a:endParaRPr lang="en-US" sz="1300" dirty="0"/>
          </a:p>
        </p:txBody>
      </p:sp>
      <p:sp>
        <p:nvSpPr>
          <p:cNvPr id="82" name="Text 80"/>
          <p:cNvSpPr txBox="1"/>
          <p:nvPr/>
        </p:nvSpPr>
        <p:spPr>
          <a:xfrm>
            <a:off x="4416552" y="4434302"/>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$12.0K</a:t>
            </a:r>
            <a:endParaRPr lang="en-US" sz="1300" dirty="0"/>
          </a:p>
        </p:txBody>
      </p:sp>
      <p:sp>
        <p:nvSpPr>
          <p:cNvPr id="83" name="Text 81"/>
          <p:cNvSpPr txBox="1"/>
          <p:nvPr/>
        </p:nvSpPr>
        <p:spPr>
          <a:xfrm>
            <a:off x="5166360" y="4434302"/>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$12.6K</a:t>
            </a:r>
            <a:endParaRPr lang="en-US" sz="1300" dirty="0"/>
          </a:p>
        </p:txBody>
      </p:sp>
      <p:sp>
        <p:nvSpPr>
          <p:cNvPr id="84" name="Text 82"/>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5" name="Text 83"/>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6" name="Shape 84"/>
          <p:cNvSpPr/>
          <p:nvPr/>
        </p:nvSpPr>
        <p:spPr>
          <a:xfrm>
            <a:off x="2871216" y="4738717"/>
            <a:ext cx="121953" cy="136676"/>
          </a:xfrm>
          <a:prstGeom prst="rect">
            <a:avLst/>
          </a:prstGeom>
          <a:solidFill>
            <a:srgbClr val="2587C5"/>
          </a:solidFill>
          <a:ln/>
        </p:spPr>
      </p:sp>
      <p:sp>
        <p:nvSpPr>
          <p:cNvPr id="87" name="Text 85"/>
          <p:cNvSpPr txBox="1"/>
          <p:nvPr/>
        </p:nvSpPr>
        <p:spPr>
          <a:xfrm>
            <a:off x="3502152" y="4682804"/>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$319K</a:t>
            </a:r>
            <a:endParaRPr lang="en-US" sz="1300" dirty="0"/>
          </a:p>
        </p:txBody>
      </p:sp>
      <p:sp>
        <p:nvSpPr>
          <p:cNvPr id="88" name="Text 86"/>
          <p:cNvSpPr txBox="1"/>
          <p:nvPr/>
        </p:nvSpPr>
        <p:spPr>
          <a:xfrm>
            <a:off x="4416552" y="468280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$12.0K</a:t>
            </a:r>
            <a:endParaRPr lang="en-US" sz="1300" dirty="0"/>
          </a:p>
        </p:txBody>
      </p:sp>
      <p:sp>
        <p:nvSpPr>
          <p:cNvPr id="89" name="Text 87"/>
          <p:cNvSpPr txBox="1"/>
          <p:nvPr/>
        </p:nvSpPr>
        <p:spPr>
          <a:xfrm>
            <a:off x="5166360" y="468280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$12.6K</a:t>
            </a:r>
            <a:endParaRPr lang="en-US" sz="1300" dirty="0"/>
          </a:p>
        </p:txBody>
      </p:sp>
      <p:sp>
        <p:nvSpPr>
          <p:cNvPr id="90" name="Text 88"/>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92" name="Shape 90"/>
          <p:cNvSpPr/>
          <p:nvPr/>
        </p:nvSpPr>
        <p:spPr>
          <a:xfrm>
            <a:off x="2871216" y="4987218"/>
            <a:ext cx="115516" cy="136676"/>
          </a:xfrm>
          <a:prstGeom prst="rect">
            <a:avLst/>
          </a:prstGeom>
          <a:solidFill>
            <a:srgbClr val="2587C5"/>
          </a:solidFill>
          <a:ln/>
        </p:spPr>
      </p:sp>
      <p:sp>
        <p:nvSpPr>
          <p:cNvPr id="93" name="Text 91"/>
          <p:cNvSpPr txBox="1"/>
          <p:nvPr/>
        </p:nvSpPr>
        <p:spPr>
          <a:xfrm>
            <a:off x="3502152" y="4931305"/>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$302K</a:t>
            </a:r>
            <a:endParaRPr lang="en-US" sz="1300" dirty="0"/>
          </a:p>
        </p:txBody>
      </p:sp>
      <p:sp>
        <p:nvSpPr>
          <p:cNvPr id="94" name="Text 92"/>
          <p:cNvSpPr txBox="1"/>
          <p:nvPr/>
        </p:nvSpPr>
        <p:spPr>
          <a:xfrm>
            <a:off x="4416552" y="4931305"/>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$10.4K</a:t>
            </a:r>
            <a:endParaRPr lang="en-US" sz="1300" dirty="0"/>
          </a:p>
        </p:txBody>
      </p:sp>
      <p:sp>
        <p:nvSpPr>
          <p:cNvPr id="95" name="Text 93"/>
          <p:cNvSpPr txBox="1"/>
          <p:nvPr/>
        </p:nvSpPr>
        <p:spPr>
          <a:xfrm>
            <a:off x="5166360" y="4931305"/>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$10.9K</a:t>
            </a:r>
            <a:endParaRPr lang="en-US" sz="1300" dirty="0"/>
          </a:p>
        </p:txBody>
      </p:sp>
      <p:sp>
        <p:nvSpPr>
          <p:cNvPr id="96" name="Text 94"/>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7" name="Text 95"/>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8" name="Shape 96"/>
          <p:cNvSpPr/>
          <p:nvPr/>
        </p:nvSpPr>
        <p:spPr>
          <a:xfrm>
            <a:off x="2871216" y="5235720"/>
            <a:ext cx="113938" cy="136676"/>
          </a:xfrm>
          <a:prstGeom prst="rect">
            <a:avLst/>
          </a:prstGeom>
          <a:solidFill>
            <a:srgbClr val="2587C5"/>
          </a:solidFill>
          <a:ln/>
        </p:spPr>
      </p:sp>
      <p:sp>
        <p:nvSpPr>
          <p:cNvPr id="99" name="Text 97"/>
          <p:cNvSpPr txBox="1"/>
          <p:nvPr/>
        </p:nvSpPr>
        <p:spPr>
          <a:xfrm>
            <a:off x="3502152" y="5179807"/>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$298K</a:t>
            </a:r>
            <a:endParaRPr lang="en-US" sz="1300" dirty="0"/>
          </a:p>
        </p:txBody>
      </p:sp>
      <p:sp>
        <p:nvSpPr>
          <p:cNvPr id="100" name="Text 98"/>
          <p:cNvSpPr txBox="1"/>
          <p:nvPr/>
        </p:nvSpPr>
        <p:spPr>
          <a:xfrm>
            <a:off x="4416552" y="517980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$10.8K</a:t>
            </a:r>
            <a:endParaRPr lang="en-US" sz="1300" dirty="0"/>
          </a:p>
        </p:txBody>
      </p:sp>
      <p:sp>
        <p:nvSpPr>
          <p:cNvPr id="101" name="Text 99"/>
          <p:cNvSpPr txBox="1"/>
          <p:nvPr/>
        </p:nvSpPr>
        <p:spPr>
          <a:xfrm>
            <a:off x="5166360" y="517980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$11.3K</a:t>
            </a:r>
            <a:endParaRPr lang="en-US" sz="1300" dirty="0"/>
          </a:p>
        </p:txBody>
      </p:sp>
      <p:sp>
        <p:nvSpPr>
          <p:cNvPr id="102" name="Text 100"/>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3" name="Text 101"/>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04" name="Shape 102"/>
          <p:cNvSpPr/>
          <p:nvPr/>
        </p:nvSpPr>
        <p:spPr>
          <a:xfrm>
            <a:off x="2871216" y="5484222"/>
            <a:ext cx="113714" cy="136676"/>
          </a:xfrm>
          <a:prstGeom prst="rect">
            <a:avLst/>
          </a:prstGeom>
          <a:solidFill>
            <a:srgbClr val="2587C5"/>
          </a:solidFill>
          <a:ln/>
        </p:spPr>
      </p:sp>
      <p:sp>
        <p:nvSpPr>
          <p:cNvPr id="105" name="Text 103"/>
          <p:cNvSpPr txBox="1"/>
          <p:nvPr/>
        </p:nvSpPr>
        <p:spPr>
          <a:xfrm>
            <a:off x="3502152" y="5428309"/>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$297K</a:t>
            </a:r>
            <a:endParaRPr lang="en-US" sz="1300" dirty="0"/>
          </a:p>
        </p:txBody>
      </p:sp>
      <p:sp>
        <p:nvSpPr>
          <p:cNvPr id="106" name="Text 104"/>
          <p:cNvSpPr txBox="1"/>
          <p:nvPr/>
        </p:nvSpPr>
        <p:spPr>
          <a:xfrm>
            <a:off x="4416552" y="542830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$14.9K</a:t>
            </a:r>
            <a:endParaRPr lang="en-US" sz="1300" dirty="0"/>
          </a:p>
        </p:txBody>
      </p:sp>
      <p:sp>
        <p:nvSpPr>
          <p:cNvPr id="107" name="Text 105"/>
          <p:cNvSpPr txBox="1"/>
          <p:nvPr/>
        </p:nvSpPr>
        <p:spPr>
          <a:xfrm>
            <a:off x="5166360" y="542830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$15.7K</a:t>
            </a:r>
            <a:endParaRPr lang="en-US" sz="1300" dirty="0"/>
          </a:p>
        </p:txBody>
      </p:sp>
      <p:sp>
        <p:nvSpPr>
          <p:cNvPr id="108" name="Text 106"/>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9" name="Text 107"/>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10" name="Shape 108"/>
          <p:cNvSpPr/>
          <p:nvPr/>
        </p:nvSpPr>
        <p:spPr>
          <a:xfrm>
            <a:off x="2871216" y="5732723"/>
            <a:ext cx="106654" cy="136676"/>
          </a:xfrm>
          <a:prstGeom prst="rect">
            <a:avLst/>
          </a:prstGeom>
          <a:solidFill>
            <a:srgbClr val="2587C5"/>
          </a:solidFill>
          <a:ln/>
        </p:spPr>
      </p:sp>
      <p:sp>
        <p:nvSpPr>
          <p:cNvPr id="111" name="Text 109"/>
          <p:cNvSpPr txBox="1"/>
          <p:nvPr/>
        </p:nvSpPr>
        <p:spPr>
          <a:xfrm>
            <a:off x="3502152" y="5676810"/>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$279K</a:t>
            </a:r>
            <a:endParaRPr lang="en-US" sz="1300" dirty="0"/>
          </a:p>
        </p:txBody>
      </p:sp>
      <p:sp>
        <p:nvSpPr>
          <p:cNvPr id="112" name="Text 110"/>
          <p:cNvSpPr txBox="1"/>
          <p:nvPr/>
        </p:nvSpPr>
        <p:spPr>
          <a:xfrm>
            <a:off x="4416552" y="5676810"/>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$12.9K</a:t>
            </a:r>
            <a:endParaRPr lang="en-US" sz="1300" dirty="0"/>
          </a:p>
        </p:txBody>
      </p:sp>
      <p:sp>
        <p:nvSpPr>
          <p:cNvPr id="113" name="Text 111"/>
          <p:cNvSpPr txBox="1"/>
          <p:nvPr/>
        </p:nvSpPr>
        <p:spPr>
          <a:xfrm>
            <a:off x="5166360" y="5676810"/>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$13.5K</a:t>
            </a:r>
            <a:endParaRPr lang="en-US" sz="1300" dirty="0"/>
          </a:p>
        </p:txBody>
      </p:sp>
      <p:sp>
        <p:nvSpPr>
          <p:cNvPr id="114" name="Text 112"/>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5" name="Text 113"/>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16" name="Shape 114"/>
          <p:cNvSpPr/>
          <p:nvPr/>
        </p:nvSpPr>
        <p:spPr>
          <a:xfrm>
            <a:off x="8421624" y="1756697"/>
            <a:ext cx="105692" cy="136676"/>
          </a:xfrm>
          <a:prstGeom prst="rect">
            <a:avLst/>
          </a:prstGeom>
          <a:solidFill>
            <a:srgbClr val="2587C5"/>
          </a:solidFill>
          <a:ln/>
        </p:spPr>
      </p:sp>
      <p:sp>
        <p:nvSpPr>
          <p:cNvPr id="117" name="Text 115"/>
          <p:cNvSpPr txBox="1"/>
          <p:nvPr/>
        </p:nvSpPr>
        <p:spPr>
          <a:xfrm>
            <a:off x="9052560" y="1700784"/>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$276K</a:t>
            </a:r>
            <a:endParaRPr lang="en-US" sz="1300" dirty="0"/>
          </a:p>
        </p:txBody>
      </p:sp>
      <p:sp>
        <p:nvSpPr>
          <p:cNvPr id="118" name="Text 116"/>
          <p:cNvSpPr txBox="1"/>
          <p:nvPr/>
        </p:nvSpPr>
        <p:spPr>
          <a:xfrm>
            <a:off x="9966960" y="170078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$16.9K</a:t>
            </a:r>
            <a:endParaRPr lang="en-US" sz="1300" dirty="0"/>
          </a:p>
        </p:txBody>
      </p:sp>
      <p:sp>
        <p:nvSpPr>
          <p:cNvPr id="119" name="Text 117"/>
          <p:cNvSpPr txBox="1"/>
          <p:nvPr/>
        </p:nvSpPr>
        <p:spPr>
          <a:xfrm>
            <a:off x="10716768" y="170078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$17.8K</a:t>
            </a:r>
            <a:endParaRPr lang="en-US" sz="1300" dirty="0"/>
          </a:p>
        </p:txBody>
      </p:sp>
      <p:sp>
        <p:nvSpPr>
          <p:cNvPr id="120" name="Text 118"/>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1" name="Text 119"/>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22" name="Shape 120"/>
          <p:cNvSpPr/>
          <p:nvPr/>
        </p:nvSpPr>
        <p:spPr>
          <a:xfrm>
            <a:off x="8421624" y="2005199"/>
            <a:ext cx="99790" cy="136676"/>
          </a:xfrm>
          <a:prstGeom prst="rect">
            <a:avLst/>
          </a:prstGeom>
          <a:solidFill>
            <a:srgbClr val="2587C5"/>
          </a:solidFill>
          <a:ln/>
        </p:spPr>
      </p:sp>
      <p:sp>
        <p:nvSpPr>
          <p:cNvPr id="123" name="Text 121"/>
          <p:cNvSpPr txBox="1"/>
          <p:nvPr/>
        </p:nvSpPr>
        <p:spPr>
          <a:xfrm>
            <a:off x="9052560" y="1949286"/>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$261K</a:t>
            </a:r>
            <a:endParaRPr lang="en-US" sz="1300" dirty="0"/>
          </a:p>
        </p:txBody>
      </p:sp>
      <p:sp>
        <p:nvSpPr>
          <p:cNvPr id="124" name="Text 122"/>
          <p:cNvSpPr txBox="1"/>
          <p:nvPr/>
        </p:nvSpPr>
        <p:spPr>
          <a:xfrm>
            <a:off x="9966960" y="1949286"/>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$18.5K</a:t>
            </a:r>
            <a:endParaRPr lang="en-US" sz="1300" dirty="0"/>
          </a:p>
        </p:txBody>
      </p:sp>
      <p:sp>
        <p:nvSpPr>
          <p:cNvPr id="125" name="Text 123"/>
          <p:cNvSpPr txBox="1"/>
          <p:nvPr/>
        </p:nvSpPr>
        <p:spPr>
          <a:xfrm>
            <a:off x="10716768" y="1949286"/>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$19.5K</a:t>
            </a:r>
            <a:endParaRPr lang="en-US" sz="1300" dirty="0"/>
          </a:p>
        </p:txBody>
      </p:sp>
      <p:sp>
        <p:nvSpPr>
          <p:cNvPr id="126" name="Text 124"/>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7" name="Text 125"/>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28" name="Shape 126"/>
          <p:cNvSpPr/>
          <p:nvPr/>
        </p:nvSpPr>
        <p:spPr>
          <a:xfrm>
            <a:off x="8421624" y="2253700"/>
            <a:ext cx="90596" cy="136676"/>
          </a:xfrm>
          <a:prstGeom prst="rect">
            <a:avLst/>
          </a:prstGeom>
          <a:solidFill>
            <a:srgbClr val="2587C5"/>
          </a:solidFill>
          <a:ln/>
        </p:spPr>
      </p:sp>
      <p:sp>
        <p:nvSpPr>
          <p:cNvPr id="129" name="Text 127"/>
          <p:cNvSpPr txBox="1"/>
          <p:nvPr/>
        </p:nvSpPr>
        <p:spPr>
          <a:xfrm>
            <a:off x="9052560" y="2197787"/>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$237K</a:t>
            </a:r>
            <a:endParaRPr lang="en-US" sz="1300" dirty="0"/>
          </a:p>
        </p:txBody>
      </p:sp>
      <p:sp>
        <p:nvSpPr>
          <p:cNvPr id="130" name="Text 128"/>
          <p:cNvSpPr txBox="1"/>
          <p:nvPr/>
        </p:nvSpPr>
        <p:spPr>
          <a:xfrm>
            <a:off x="9966960" y="219778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$10.0K</a:t>
            </a:r>
            <a:endParaRPr lang="en-US" sz="1300" dirty="0"/>
          </a:p>
        </p:txBody>
      </p:sp>
      <p:sp>
        <p:nvSpPr>
          <p:cNvPr id="131" name="Text 129"/>
          <p:cNvSpPr txBox="1"/>
          <p:nvPr/>
        </p:nvSpPr>
        <p:spPr>
          <a:xfrm>
            <a:off x="10716768" y="219778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$10.5K</a:t>
            </a:r>
            <a:endParaRPr lang="en-US" sz="1300" dirty="0"/>
          </a:p>
        </p:txBody>
      </p:sp>
      <p:sp>
        <p:nvSpPr>
          <p:cNvPr id="132" name="Text 13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4" name="Shape 132"/>
          <p:cNvSpPr/>
          <p:nvPr/>
        </p:nvSpPr>
        <p:spPr>
          <a:xfrm>
            <a:off x="8421624" y="2502202"/>
            <a:ext cx="89638" cy="136676"/>
          </a:xfrm>
          <a:prstGeom prst="rect">
            <a:avLst/>
          </a:prstGeom>
          <a:solidFill>
            <a:srgbClr val="2587C5"/>
          </a:solidFill>
          <a:ln/>
        </p:spPr>
      </p:sp>
      <p:sp>
        <p:nvSpPr>
          <p:cNvPr id="135" name="Text 133"/>
          <p:cNvSpPr txBox="1"/>
          <p:nvPr/>
        </p:nvSpPr>
        <p:spPr>
          <a:xfrm>
            <a:off x="9052560" y="2446289"/>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$234K</a:t>
            </a:r>
            <a:endParaRPr lang="en-US" sz="1300" dirty="0"/>
          </a:p>
        </p:txBody>
      </p:sp>
      <p:sp>
        <p:nvSpPr>
          <p:cNvPr id="136" name="Text 134"/>
          <p:cNvSpPr txBox="1"/>
          <p:nvPr/>
        </p:nvSpPr>
        <p:spPr>
          <a:xfrm>
            <a:off x="9966960" y="244628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$15.6K</a:t>
            </a:r>
            <a:endParaRPr lang="en-US" sz="1300" dirty="0"/>
          </a:p>
        </p:txBody>
      </p:sp>
      <p:sp>
        <p:nvSpPr>
          <p:cNvPr id="137" name="Text 135"/>
          <p:cNvSpPr txBox="1"/>
          <p:nvPr/>
        </p:nvSpPr>
        <p:spPr>
          <a:xfrm>
            <a:off x="10716768" y="244628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$16.3K</a:t>
            </a:r>
            <a:endParaRPr lang="en-US" sz="1300" dirty="0"/>
          </a:p>
        </p:txBody>
      </p:sp>
      <p:sp>
        <p:nvSpPr>
          <p:cNvPr id="138" name="Text 136"/>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40" name="Shape 138"/>
          <p:cNvSpPr/>
          <p:nvPr/>
        </p:nvSpPr>
        <p:spPr>
          <a:xfrm>
            <a:off x="8421624" y="2750703"/>
            <a:ext cx="87103" cy="136676"/>
          </a:xfrm>
          <a:prstGeom prst="rect">
            <a:avLst/>
          </a:prstGeom>
          <a:solidFill>
            <a:srgbClr val="2587C5"/>
          </a:solidFill>
          <a:ln/>
        </p:spPr>
      </p:sp>
      <p:sp>
        <p:nvSpPr>
          <p:cNvPr id="141" name="Text 139"/>
          <p:cNvSpPr txBox="1"/>
          <p:nvPr/>
        </p:nvSpPr>
        <p:spPr>
          <a:xfrm>
            <a:off x="9052560" y="2694791"/>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$228K</a:t>
            </a:r>
            <a:endParaRPr lang="en-US" sz="1300" dirty="0"/>
          </a:p>
        </p:txBody>
      </p:sp>
      <p:sp>
        <p:nvSpPr>
          <p:cNvPr id="142" name="Text 140"/>
          <p:cNvSpPr txBox="1"/>
          <p:nvPr/>
        </p:nvSpPr>
        <p:spPr>
          <a:xfrm>
            <a:off x="9966960" y="2694791"/>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$18.3K</a:t>
            </a:r>
            <a:endParaRPr lang="en-US" sz="1300" dirty="0"/>
          </a:p>
        </p:txBody>
      </p:sp>
      <p:sp>
        <p:nvSpPr>
          <p:cNvPr id="143" name="Text 141"/>
          <p:cNvSpPr txBox="1"/>
          <p:nvPr/>
        </p:nvSpPr>
        <p:spPr>
          <a:xfrm>
            <a:off x="10716768" y="2694791"/>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$19.2K</a:t>
            </a:r>
            <a:endParaRPr lang="en-US" sz="1300" dirty="0"/>
          </a:p>
        </p:txBody>
      </p:sp>
      <p:sp>
        <p:nvSpPr>
          <p:cNvPr id="144" name="Text 142"/>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5" name="Text 143"/>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46" name="Shape 144"/>
          <p:cNvSpPr/>
          <p:nvPr/>
        </p:nvSpPr>
        <p:spPr>
          <a:xfrm>
            <a:off x="8421624" y="2999205"/>
            <a:ext cx="84269" cy="136676"/>
          </a:xfrm>
          <a:prstGeom prst="rect">
            <a:avLst/>
          </a:prstGeom>
          <a:solidFill>
            <a:srgbClr val="2587C5"/>
          </a:solidFill>
          <a:ln/>
        </p:spPr>
      </p:sp>
      <p:sp>
        <p:nvSpPr>
          <p:cNvPr id="147" name="Text 145"/>
          <p:cNvSpPr txBox="1"/>
          <p:nvPr/>
        </p:nvSpPr>
        <p:spPr>
          <a:xfrm>
            <a:off x="9052560" y="2943292"/>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$220K</a:t>
            </a:r>
            <a:endParaRPr lang="en-US" sz="1300" dirty="0"/>
          </a:p>
        </p:txBody>
      </p:sp>
      <p:sp>
        <p:nvSpPr>
          <p:cNvPr id="148" name="Text 146"/>
          <p:cNvSpPr txBox="1"/>
          <p:nvPr/>
        </p:nvSpPr>
        <p:spPr>
          <a:xfrm>
            <a:off x="9966960" y="2943292"/>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$16.0K</a:t>
            </a:r>
            <a:endParaRPr lang="en-US" sz="1300" dirty="0"/>
          </a:p>
        </p:txBody>
      </p:sp>
      <p:sp>
        <p:nvSpPr>
          <p:cNvPr id="149" name="Text 147"/>
          <p:cNvSpPr txBox="1"/>
          <p:nvPr/>
        </p:nvSpPr>
        <p:spPr>
          <a:xfrm>
            <a:off x="10716768" y="2943292"/>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$16.8K</a:t>
            </a:r>
            <a:endParaRPr lang="en-US" sz="1300" dirty="0"/>
          </a:p>
        </p:txBody>
      </p:sp>
      <p:sp>
        <p:nvSpPr>
          <p:cNvPr id="150" name="Text 148"/>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1" name="Text 149"/>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52" name="Shape 150"/>
          <p:cNvSpPr/>
          <p:nvPr/>
        </p:nvSpPr>
        <p:spPr>
          <a:xfrm>
            <a:off x="8421624" y="3247707"/>
            <a:ext cx="76034" cy="136676"/>
          </a:xfrm>
          <a:prstGeom prst="rect">
            <a:avLst/>
          </a:prstGeom>
          <a:solidFill>
            <a:srgbClr val="2587C5"/>
          </a:solidFill>
          <a:ln/>
        </p:spPr>
      </p:sp>
      <p:sp>
        <p:nvSpPr>
          <p:cNvPr id="153" name="Text 151"/>
          <p:cNvSpPr txBox="1"/>
          <p:nvPr/>
        </p:nvSpPr>
        <p:spPr>
          <a:xfrm>
            <a:off x="9052560" y="3191794"/>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$199K</a:t>
            </a:r>
            <a:endParaRPr lang="en-US" sz="1300" dirty="0"/>
          </a:p>
        </p:txBody>
      </p:sp>
      <p:sp>
        <p:nvSpPr>
          <p:cNvPr id="154" name="Text 152"/>
          <p:cNvSpPr txBox="1"/>
          <p:nvPr/>
        </p:nvSpPr>
        <p:spPr>
          <a:xfrm>
            <a:off x="9966960" y="319179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$11.0K</a:t>
            </a:r>
            <a:endParaRPr lang="en-US" sz="1300" dirty="0"/>
          </a:p>
        </p:txBody>
      </p:sp>
      <p:sp>
        <p:nvSpPr>
          <p:cNvPr id="155" name="Text 153"/>
          <p:cNvSpPr txBox="1"/>
          <p:nvPr/>
        </p:nvSpPr>
        <p:spPr>
          <a:xfrm>
            <a:off x="10716768" y="319179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$11.5K</a:t>
            </a:r>
            <a:endParaRPr lang="en-US" sz="1300" dirty="0"/>
          </a:p>
        </p:txBody>
      </p:sp>
      <p:sp>
        <p:nvSpPr>
          <p:cNvPr id="156" name="Text 154"/>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57" name="Text 155"/>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58" name="Shape 156"/>
          <p:cNvSpPr/>
          <p:nvPr/>
        </p:nvSpPr>
        <p:spPr>
          <a:xfrm>
            <a:off x="8421624" y="3496208"/>
            <a:ext cx="73768" cy="136676"/>
          </a:xfrm>
          <a:prstGeom prst="rect">
            <a:avLst/>
          </a:prstGeom>
          <a:solidFill>
            <a:srgbClr val="2587C5"/>
          </a:solidFill>
          <a:ln/>
        </p:spPr>
      </p:sp>
      <p:sp>
        <p:nvSpPr>
          <p:cNvPr id="159" name="Text 157"/>
          <p:cNvSpPr txBox="1"/>
          <p:nvPr/>
        </p:nvSpPr>
        <p:spPr>
          <a:xfrm>
            <a:off x="9052560" y="3440296"/>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$193K</a:t>
            </a:r>
            <a:endParaRPr lang="en-US" sz="1300" dirty="0"/>
          </a:p>
        </p:txBody>
      </p:sp>
      <p:sp>
        <p:nvSpPr>
          <p:cNvPr id="160" name="Text 158"/>
          <p:cNvSpPr txBox="1"/>
          <p:nvPr/>
        </p:nvSpPr>
        <p:spPr>
          <a:xfrm>
            <a:off x="9966960" y="3440296"/>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$12.4K</a:t>
            </a:r>
            <a:endParaRPr lang="en-US" sz="1300" dirty="0"/>
          </a:p>
        </p:txBody>
      </p:sp>
      <p:sp>
        <p:nvSpPr>
          <p:cNvPr id="161" name="Text 159"/>
          <p:cNvSpPr txBox="1"/>
          <p:nvPr/>
        </p:nvSpPr>
        <p:spPr>
          <a:xfrm>
            <a:off x="10716768" y="3440296"/>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$13.0K</a:t>
            </a:r>
            <a:endParaRPr lang="en-US" sz="1300" dirty="0"/>
          </a:p>
        </p:txBody>
      </p:sp>
      <p:sp>
        <p:nvSpPr>
          <p:cNvPr id="162" name="Text 160"/>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3" name="Text 161"/>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64" name="Shape 162"/>
          <p:cNvSpPr/>
          <p:nvPr/>
        </p:nvSpPr>
        <p:spPr>
          <a:xfrm>
            <a:off x="8421624" y="3744710"/>
            <a:ext cx="68849" cy="136676"/>
          </a:xfrm>
          <a:prstGeom prst="rect">
            <a:avLst/>
          </a:prstGeom>
          <a:solidFill>
            <a:srgbClr val="2587C5"/>
          </a:solidFill>
          <a:ln/>
        </p:spPr>
      </p:sp>
      <p:sp>
        <p:nvSpPr>
          <p:cNvPr id="165" name="Text 163"/>
          <p:cNvSpPr txBox="1"/>
          <p:nvPr/>
        </p:nvSpPr>
        <p:spPr>
          <a:xfrm>
            <a:off x="9052560" y="3688797"/>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$180K</a:t>
            </a:r>
            <a:endParaRPr lang="en-US" sz="1300" dirty="0"/>
          </a:p>
        </p:txBody>
      </p:sp>
      <p:sp>
        <p:nvSpPr>
          <p:cNvPr id="166" name="Text 164"/>
          <p:cNvSpPr txBox="1"/>
          <p:nvPr/>
        </p:nvSpPr>
        <p:spPr>
          <a:xfrm>
            <a:off x="9966960" y="368879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$12.5K</a:t>
            </a:r>
            <a:endParaRPr lang="en-US" sz="1300" dirty="0"/>
          </a:p>
        </p:txBody>
      </p:sp>
      <p:sp>
        <p:nvSpPr>
          <p:cNvPr id="167" name="Text 165"/>
          <p:cNvSpPr txBox="1"/>
          <p:nvPr/>
        </p:nvSpPr>
        <p:spPr>
          <a:xfrm>
            <a:off x="10716768" y="368879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$13.1K</a:t>
            </a:r>
            <a:endParaRPr lang="en-US" sz="1300" dirty="0"/>
          </a:p>
        </p:txBody>
      </p:sp>
      <p:sp>
        <p:nvSpPr>
          <p:cNvPr id="168" name="Text 166"/>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69" name="Text 167"/>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70" name="Shape 168"/>
          <p:cNvSpPr/>
          <p:nvPr/>
        </p:nvSpPr>
        <p:spPr>
          <a:xfrm>
            <a:off x="8421624" y="3993212"/>
            <a:ext cx="59561" cy="136676"/>
          </a:xfrm>
          <a:prstGeom prst="rect">
            <a:avLst/>
          </a:prstGeom>
          <a:solidFill>
            <a:srgbClr val="2587C5"/>
          </a:solidFill>
          <a:ln/>
        </p:spPr>
      </p:sp>
      <p:sp>
        <p:nvSpPr>
          <p:cNvPr id="171" name="Text 169"/>
          <p:cNvSpPr txBox="1"/>
          <p:nvPr/>
        </p:nvSpPr>
        <p:spPr>
          <a:xfrm>
            <a:off x="9052560" y="3937299"/>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$156K</a:t>
            </a:r>
            <a:endParaRPr lang="en-US" sz="1300" dirty="0"/>
          </a:p>
        </p:txBody>
      </p:sp>
      <p:sp>
        <p:nvSpPr>
          <p:cNvPr id="172" name="Text 170"/>
          <p:cNvSpPr txBox="1"/>
          <p:nvPr/>
        </p:nvSpPr>
        <p:spPr>
          <a:xfrm>
            <a:off x="9966960" y="393729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$12.1K</a:t>
            </a:r>
            <a:endParaRPr lang="en-US" sz="1300" dirty="0"/>
          </a:p>
        </p:txBody>
      </p:sp>
      <p:sp>
        <p:nvSpPr>
          <p:cNvPr id="173" name="Text 171"/>
          <p:cNvSpPr txBox="1"/>
          <p:nvPr/>
        </p:nvSpPr>
        <p:spPr>
          <a:xfrm>
            <a:off x="10716768" y="393729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$12.7K</a:t>
            </a:r>
            <a:endParaRPr lang="en-US" sz="1300" dirty="0"/>
          </a:p>
        </p:txBody>
      </p:sp>
      <p:sp>
        <p:nvSpPr>
          <p:cNvPr id="174" name="Text 172"/>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75" name="Text 173"/>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76" name="Shape 174"/>
          <p:cNvSpPr/>
          <p:nvPr/>
        </p:nvSpPr>
        <p:spPr>
          <a:xfrm>
            <a:off x="8421624" y="4241713"/>
            <a:ext cx="58266" cy="136676"/>
          </a:xfrm>
          <a:prstGeom prst="rect">
            <a:avLst/>
          </a:prstGeom>
          <a:solidFill>
            <a:srgbClr val="2587C5"/>
          </a:solidFill>
          <a:ln/>
        </p:spPr>
      </p:sp>
      <p:sp>
        <p:nvSpPr>
          <p:cNvPr id="177" name="Text 175"/>
          <p:cNvSpPr txBox="1"/>
          <p:nvPr/>
        </p:nvSpPr>
        <p:spPr>
          <a:xfrm>
            <a:off x="9052560" y="4185800"/>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$152K</a:t>
            </a:r>
            <a:endParaRPr lang="en-US" sz="1300" dirty="0"/>
          </a:p>
        </p:txBody>
      </p:sp>
      <p:sp>
        <p:nvSpPr>
          <p:cNvPr id="178" name="Text 176"/>
          <p:cNvSpPr txBox="1"/>
          <p:nvPr/>
        </p:nvSpPr>
        <p:spPr>
          <a:xfrm>
            <a:off x="9966960" y="4185800"/>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$11.5K</a:t>
            </a:r>
            <a:endParaRPr lang="en-US" sz="1300" dirty="0"/>
          </a:p>
        </p:txBody>
      </p:sp>
      <p:sp>
        <p:nvSpPr>
          <p:cNvPr id="179" name="Text 177"/>
          <p:cNvSpPr txBox="1"/>
          <p:nvPr/>
        </p:nvSpPr>
        <p:spPr>
          <a:xfrm>
            <a:off x="10716768" y="4185800"/>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$12.1K</a:t>
            </a:r>
            <a:endParaRPr lang="en-US" sz="1300" dirty="0"/>
          </a:p>
        </p:txBody>
      </p:sp>
      <p:sp>
        <p:nvSpPr>
          <p:cNvPr id="180" name="Text 178"/>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1" name="Text 179"/>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82" name="Shape 180"/>
          <p:cNvSpPr/>
          <p:nvPr/>
        </p:nvSpPr>
        <p:spPr>
          <a:xfrm>
            <a:off x="8421624" y="4490215"/>
            <a:ext cx="57879" cy="136676"/>
          </a:xfrm>
          <a:prstGeom prst="rect">
            <a:avLst/>
          </a:prstGeom>
          <a:solidFill>
            <a:srgbClr val="2587C5"/>
          </a:solidFill>
          <a:ln/>
        </p:spPr>
      </p:sp>
      <p:sp>
        <p:nvSpPr>
          <p:cNvPr id="183" name="Text 181"/>
          <p:cNvSpPr txBox="1"/>
          <p:nvPr/>
        </p:nvSpPr>
        <p:spPr>
          <a:xfrm>
            <a:off x="9052560" y="4434302"/>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$151K</a:t>
            </a:r>
            <a:endParaRPr lang="en-US" sz="1300" dirty="0"/>
          </a:p>
        </p:txBody>
      </p:sp>
      <p:sp>
        <p:nvSpPr>
          <p:cNvPr id="184" name="Text 182"/>
          <p:cNvSpPr txBox="1"/>
          <p:nvPr/>
        </p:nvSpPr>
        <p:spPr>
          <a:xfrm>
            <a:off x="9966960" y="4434302"/>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$9.5K</a:t>
            </a:r>
            <a:endParaRPr lang="en-US" sz="1300" dirty="0"/>
          </a:p>
        </p:txBody>
      </p:sp>
      <p:sp>
        <p:nvSpPr>
          <p:cNvPr id="185" name="Text 183"/>
          <p:cNvSpPr txBox="1"/>
          <p:nvPr/>
        </p:nvSpPr>
        <p:spPr>
          <a:xfrm>
            <a:off x="10716768" y="4434302"/>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$10.0K</a:t>
            </a:r>
            <a:endParaRPr lang="en-US" sz="1300" dirty="0"/>
          </a:p>
        </p:txBody>
      </p:sp>
      <p:sp>
        <p:nvSpPr>
          <p:cNvPr id="186" name="Text 18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87" name="Text 185"/>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88" name="Shape 186"/>
          <p:cNvSpPr/>
          <p:nvPr/>
        </p:nvSpPr>
        <p:spPr>
          <a:xfrm>
            <a:off x="8421624" y="4738717"/>
            <a:ext cx="56293" cy="136676"/>
          </a:xfrm>
          <a:prstGeom prst="rect">
            <a:avLst/>
          </a:prstGeom>
          <a:solidFill>
            <a:srgbClr val="2587C5"/>
          </a:solidFill>
          <a:ln/>
        </p:spPr>
      </p:sp>
      <p:sp>
        <p:nvSpPr>
          <p:cNvPr id="189" name="Text 187"/>
          <p:cNvSpPr txBox="1"/>
          <p:nvPr/>
        </p:nvSpPr>
        <p:spPr>
          <a:xfrm>
            <a:off x="9052560" y="4682804"/>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$147K</a:t>
            </a:r>
            <a:endParaRPr lang="en-US" sz="1300" dirty="0"/>
          </a:p>
        </p:txBody>
      </p:sp>
      <p:sp>
        <p:nvSpPr>
          <p:cNvPr id="190" name="Text 188"/>
          <p:cNvSpPr txBox="1"/>
          <p:nvPr/>
        </p:nvSpPr>
        <p:spPr>
          <a:xfrm>
            <a:off x="9966960" y="468280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$15.2K</a:t>
            </a:r>
            <a:endParaRPr lang="en-US" sz="1300" dirty="0"/>
          </a:p>
        </p:txBody>
      </p:sp>
      <p:sp>
        <p:nvSpPr>
          <p:cNvPr id="191" name="Text 189"/>
          <p:cNvSpPr txBox="1"/>
          <p:nvPr/>
        </p:nvSpPr>
        <p:spPr>
          <a:xfrm>
            <a:off x="10716768" y="468280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$16.0K</a:t>
            </a:r>
            <a:endParaRPr lang="en-US" sz="1300" dirty="0"/>
          </a:p>
        </p:txBody>
      </p:sp>
      <p:sp>
        <p:nvSpPr>
          <p:cNvPr id="192" name="Text 19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3" name="Text 191"/>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94" name="Shape 192"/>
          <p:cNvSpPr/>
          <p:nvPr/>
        </p:nvSpPr>
        <p:spPr>
          <a:xfrm>
            <a:off x="8421624" y="4987218"/>
            <a:ext cx="40591" cy="136676"/>
          </a:xfrm>
          <a:prstGeom prst="rect">
            <a:avLst/>
          </a:prstGeom>
          <a:solidFill>
            <a:srgbClr val="2587C5"/>
          </a:solidFill>
          <a:ln/>
        </p:spPr>
      </p:sp>
      <p:sp>
        <p:nvSpPr>
          <p:cNvPr id="195" name="Text 193"/>
          <p:cNvSpPr txBox="1"/>
          <p:nvPr/>
        </p:nvSpPr>
        <p:spPr>
          <a:xfrm>
            <a:off x="9052560" y="4931305"/>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$106K</a:t>
            </a:r>
            <a:endParaRPr lang="en-US" sz="1300" dirty="0"/>
          </a:p>
        </p:txBody>
      </p:sp>
      <p:sp>
        <p:nvSpPr>
          <p:cNvPr id="196" name="Text 194"/>
          <p:cNvSpPr txBox="1"/>
          <p:nvPr/>
        </p:nvSpPr>
        <p:spPr>
          <a:xfrm>
            <a:off x="9966960" y="4931305"/>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$9.1K</a:t>
            </a:r>
            <a:endParaRPr lang="en-US" sz="1300" dirty="0"/>
          </a:p>
        </p:txBody>
      </p:sp>
      <p:sp>
        <p:nvSpPr>
          <p:cNvPr id="197" name="Text 195"/>
          <p:cNvSpPr txBox="1"/>
          <p:nvPr/>
        </p:nvSpPr>
        <p:spPr>
          <a:xfrm>
            <a:off x="10716768" y="4931305"/>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$9.6K</a:t>
            </a:r>
            <a:endParaRPr lang="en-US" sz="1300" dirty="0"/>
          </a:p>
        </p:txBody>
      </p:sp>
      <p:sp>
        <p:nvSpPr>
          <p:cNvPr id="198" name="Text 196"/>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99" name="Text 197"/>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200" name="Shape 198"/>
          <p:cNvSpPr/>
          <p:nvPr/>
        </p:nvSpPr>
        <p:spPr>
          <a:xfrm>
            <a:off x="8421624" y="5235720"/>
            <a:ext cx="39145" cy="136676"/>
          </a:xfrm>
          <a:prstGeom prst="rect">
            <a:avLst/>
          </a:prstGeom>
          <a:solidFill>
            <a:srgbClr val="2587C5"/>
          </a:solidFill>
          <a:ln/>
        </p:spPr>
      </p:sp>
      <p:sp>
        <p:nvSpPr>
          <p:cNvPr id="201" name="Text 199"/>
          <p:cNvSpPr txBox="1"/>
          <p:nvPr/>
        </p:nvSpPr>
        <p:spPr>
          <a:xfrm>
            <a:off x="9052560" y="5179807"/>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$102K</a:t>
            </a:r>
            <a:endParaRPr lang="en-US" sz="1300" dirty="0"/>
          </a:p>
        </p:txBody>
      </p:sp>
      <p:sp>
        <p:nvSpPr>
          <p:cNvPr id="202" name="Text 200"/>
          <p:cNvSpPr txBox="1"/>
          <p:nvPr/>
        </p:nvSpPr>
        <p:spPr>
          <a:xfrm>
            <a:off x="9966960" y="517980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$11.6K</a:t>
            </a:r>
            <a:endParaRPr lang="en-US" sz="1300" dirty="0"/>
          </a:p>
        </p:txBody>
      </p:sp>
      <p:sp>
        <p:nvSpPr>
          <p:cNvPr id="203" name="Text 201"/>
          <p:cNvSpPr txBox="1"/>
          <p:nvPr/>
        </p:nvSpPr>
        <p:spPr>
          <a:xfrm>
            <a:off x="10716768" y="517980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$12.2K</a:t>
            </a:r>
            <a:endParaRPr lang="en-US" sz="1300" dirty="0"/>
          </a:p>
        </p:txBody>
      </p:sp>
      <p:sp>
        <p:nvSpPr>
          <p:cNvPr id="204" name="Text 202"/>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05" name="Text 203"/>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206" name="Shape 204"/>
          <p:cNvSpPr/>
          <p:nvPr/>
        </p:nvSpPr>
        <p:spPr>
          <a:xfrm>
            <a:off x="8421624" y="5484222"/>
            <a:ext cx="24682" cy="136676"/>
          </a:xfrm>
          <a:prstGeom prst="rect">
            <a:avLst/>
          </a:prstGeom>
          <a:solidFill>
            <a:srgbClr val="2587C5"/>
          </a:solidFill>
          <a:ln/>
        </p:spPr>
      </p:sp>
      <p:sp>
        <p:nvSpPr>
          <p:cNvPr id="207" name="Text 205"/>
          <p:cNvSpPr txBox="1"/>
          <p:nvPr/>
        </p:nvSpPr>
        <p:spPr>
          <a:xfrm>
            <a:off x="9052560" y="5428309"/>
            <a:ext cx="91440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$65K</a:t>
            </a:r>
            <a:endParaRPr lang="en-US" sz="1300" dirty="0"/>
          </a:p>
        </p:txBody>
      </p:sp>
      <p:sp>
        <p:nvSpPr>
          <p:cNvPr id="208" name="Text 206"/>
          <p:cNvSpPr txBox="1"/>
          <p:nvPr/>
        </p:nvSpPr>
        <p:spPr>
          <a:xfrm>
            <a:off x="9966960" y="542830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$9.9K</a:t>
            </a:r>
            <a:endParaRPr lang="en-US" sz="1300" dirty="0"/>
          </a:p>
        </p:txBody>
      </p:sp>
      <p:sp>
        <p:nvSpPr>
          <p:cNvPr id="209" name="Text 207"/>
          <p:cNvSpPr txBox="1"/>
          <p:nvPr/>
        </p:nvSpPr>
        <p:spPr>
          <a:xfrm>
            <a:off x="10716768" y="542830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$10.4K</a:t>
            </a:r>
            <a:endParaRPr lang="en-US" sz="1300" dirty="0"/>
          </a:p>
        </p:txBody>
      </p:sp>
      <p:sp>
        <p:nvSpPr>
          <p:cNvPr id="210" name="Shape 208"/>
          <p:cNvSpPr/>
          <p:nvPr/>
        </p:nvSpPr>
        <p:spPr>
          <a:xfrm>
            <a:off x="6085332" y="1700784"/>
            <a:ext cx="10973" cy="4224528"/>
          </a:xfrm>
          <a:prstGeom prst="rect">
            <a:avLst/>
          </a:prstGeom>
          <a:solidFill>
            <a:srgbClr val="D9D9D9"/>
          </a:solidFill>
          <a:ln/>
        </p:spPr>
      </p:sp>
      <p:sp>
        <p:nvSpPr>
          <p:cNvPr id="211" name="Shape 209"/>
          <p:cNvSpPr/>
          <p:nvPr/>
        </p:nvSpPr>
        <p:spPr>
          <a:xfrm>
            <a:off x="457200" y="6126480"/>
            <a:ext cx="11274552" cy="615696"/>
          </a:xfrm>
          <a:prstGeom prst="rect">
            <a:avLst/>
          </a:prstGeom>
          <a:solidFill>
            <a:srgbClr val="E6F6EE"/>
          </a:solidFill>
          <a:ln/>
        </p:spPr>
      </p:sp>
      <p:sp>
        <p:nvSpPr>
          <p:cNvPr id="212" name="Text 21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5% more gross from the people already on staff is worth $12,586,648 a year. For the average employee that is $681 more a month, about $27 a working day.</a:t>
            </a:r>
            <a:endParaRPr lang="en-US" sz="1600" dirty="0"/>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ADVISOR</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173</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166</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−7</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−3.8%</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&amp; W ROs per Service Advisor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FBEBEA"/>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7 to 166, behind 2025 in six of nine months. Advisors grew 1.5%; ROs fell 2.3%.</a:t>
            </a:r>
            <a:endParaRPr lang="en-US" sz="1600" dirty="0"/>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ADVISOR</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6804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&amp; W ROS PER SERVICE ADVISOR</a:t>
            </a:r>
            <a:endParaRPr lang="en-US" sz="1500" dirty="0"/>
          </a:p>
        </p:txBody>
      </p:sp>
      <p:sp>
        <p:nvSpPr>
          <p:cNvPr id="9" name="Text 7"/>
          <p:cNvSpPr txBox="1"/>
          <p:nvPr/>
        </p:nvSpPr>
        <p:spPr>
          <a:xfrm>
            <a:off x="4594860" y="1335024"/>
            <a:ext cx="345186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166</a:t>
            </a:r>
            <a:endParaRPr lang="en-US" sz="2000" dirty="0"/>
          </a:p>
        </p:txBody>
      </p:sp>
      <p:sp>
        <p:nvSpPr>
          <p:cNvPr id="11" name="Text 9"/>
          <p:cNvSpPr txBox="1"/>
          <p:nvPr/>
        </p:nvSpPr>
        <p:spPr>
          <a:xfrm>
            <a:off x="658368" y="184708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LUXURY · AVERAGE 123</a:t>
            </a:r>
            <a:endParaRPr lang="en-US" sz="1300" dirty="0"/>
          </a:p>
        </p:txBody>
      </p:sp>
      <p:sp>
        <p:nvSpPr>
          <p:cNvPr id="12" name="Shape 10"/>
          <p:cNvSpPr/>
          <p:nvPr/>
        </p:nvSpPr>
        <p:spPr>
          <a:xfrm>
            <a:off x="658368" y="2075688"/>
            <a:ext cx="5303520" cy="18288"/>
          </a:xfrm>
          <a:prstGeom prst="rect">
            <a:avLst/>
          </a:prstGeom>
          <a:solidFill>
            <a:srgbClr val="0B2C4A"/>
          </a:solidFill>
          <a:ln/>
        </p:spPr>
      </p:sp>
      <p:sp>
        <p:nvSpPr>
          <p:cNvPr id="13" name="Text 11"/>
          <p:cNvSpPr txBox="1"/>
          <p:nvPr/>
        </p:nvSpPr>
        <p:spPr>
          <a:xfrm>
            <a:off x="658368" y="209397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4" name="Text 12"/>
          <p:cNvSpPr txBox="1"/>
          <p:nvPr/>
        </p:nvSpPr>
        <p:spPr>
          <a:xfrm>
            <a:off x="1014984" y="209397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5" name="Shape 13"/>
          <p:cNvSpPr/>
          <p:nvPr/>
        </p:nvSpPr>
        <p:spPr>
          <a:xfrm>
            <a:off x="3008376" y="2155698"/>
            <a:ext cx="1658471" cy="123444"/>
          </a:xfrm>
          <a:prstGeom prst="rect">
            <a:avLst/>
          </a:prstGeom>
          <a:solidFill>
            <a:srgbClr val="12A566"/>
          </a:solidFill>
          <a:ln/>
        </p:spPr>
      </p:sp>
      <p:sp>
        <p:nvSpPr>
          <p:cNvPr id="16" name="Text 14"/>
          <p:cNvSpPr txBox="1"/>
          <p:nvPr/>
        </p:nvSpPr>
        <p:spPr>
          <a:xfrm>
            <a:off x="4754880" y="209397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194</a:t>
            </a:r>
            <a:endParaRPr lang="en-US" sz="1200" dirty="0"/>
          </a:p>
        </p:txBody>
      </p:sp>
      <p:sp>
        <p:nvSpPr>
          <p:cNvPr id="17" name="Text 15"/>
          <p:cNvSpPr txBox="1"/>
          <p:nvPr/>
        </p:nvSpPr>
        <p:spPr>
          <a:xfrm>
            <a:off x="658368" y="234086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234086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9" name="Shape 17"/>
          <p:cNvSpPr/>
          <p:nvPr/>
        </p:nvSpPr>
        <p:spPr>
          <a:xfrm>
            <a:off x="3008376" y="2402586"/>
            <a:ext cx="1636341" cy="123444"/>
          </a:xfrm>
          <a:prstGeom prst="rect">
            <a:avLst/>
          </a:prstGeom>
          <a:solidFill>
            <a:srgbClr val="12A566"/>
          </a:solidFill>
          <a:ln/>
        </p:spPr>
      </p:sp>
      <p:sp>
        <p:nvSpPr>
          <p:cNvPr id="20" name="Text 18"/>
          <p:cNvSpPr txBox="1"/>
          <p:nvPr/>
        </p:nvSpPr>
        <p:spPr>
          <a:xfrm>
            <a:off x="4754880" y="234086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192</a:t>
            </a:r>
            <a:endParaRPr lang="en-US" sz="1200" dirty="0"/>
          </a:p>
        </p:txBody>
      </p:sp>
      <p:sp>
        <p:nvSpPr>
          <p:cNvPr id="21" name="Text 19"/>
          <p:cNvSpPr txBox="1"/>
          <p:nvPr/>
        </p:nvSpPr>
        <p:spPr>
          <a:xfrm>
            <a:off x="658368" y="258775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2" name="Text 20"/>
          <p:cNvSpPr txBox="1"/>
          <p:nvPr/>
        </p:nvSpPr>
        <p:spPr>
          <a:xfrm>
            <a:off x="1014984" y="258775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23" name="Shape 21"/>
          <p:cNvSpPr/>
          <p:nvPr/>
        </p:nvSpPr>
        <p:spPr>
          <a:xfrm>
            <a:off x="3008376" y="2649474"/>
            <a:ext cx="1373312" cy="123444"/>
          </a:xfrm>
          <a:prstGeom prst="rect">
            <a:avLst/>
          </a:prstGeom>
          <a:solidFill>
            <a:srgbClr val="12A566"/>
          </a:solidFill>
          <a:ln/>
        </p:spPr>
      </p:sp>
      <p:sp>
        <p:nvSpPr>
          <p:cNvPr id="24" name="Text 22"/>
          <p:cNvSpPr txBox="1"/>
          <p:nvPr/>
        </p:nvSpPr>
        <p:spPr>
          <a:xfrm>
            <a:off x="4754880" y="258775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161</a:t>
            </a:r>
            <a:endParaRPr lang="en-US" sz="1200" dirty="0"/>
          </a:p>
        </p:txBody>
      </p:sp>
      <p:sp>
        <p:nvSpPr>
          <p:cNvPr id="25" name="Text 23"/>
          <p:cNvSpPr txBox="1"/>
          <p:nvPr/>
        </p:nvSpPr>
        <p:spPr>
          <a:xfrm>
            <a:off x="658368" y="283464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6" name="Text 24"/>
          <p:cNvSpPr txBox="1"/>
          <p:nvPr/>
        </p:nvSpPr>
        <p:spPr>
          <a:xfrm>
            <a:off x="1014984" y="283464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27" name="Shape 25"/>
          <p:cNvSpPr/>
          <p:nvPr/>
        </p:nvSpPr>
        <p:spPr>
          <a:xfrm>
            <a:off x="3008376" y="2896362"/>
            <a:ext cx="1136397" cy="123444"/>
          </a:xfrm>
          <a:prstGeom prst="rect">
            <a:avLst/>
          </a:prstGeom>
          <a:solidFill>
            <a:srgbClr val="12A566"/>
          </a:solidFill>
          <a:ln/>
        </p:spPr>
      </p:sp>
      <p:sp>
        <p:nvSpPr>
          <p:cNvPr id="28" name="Text 26"/>
          <p:cNvSpPr txBox="1"/>
          <p:nvPr/>
        </p:nvSpPr>
        <p:spPr>
          <a:xfrm>
            <a:off x="4754880" y="283464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133</a:t>
            </a:r>
            <a:endParaRPr lang="en-US" sz="1200" dirty="0"/>
          </a:p>
        </p:txBody>
      </p:sp>
      <p:sp>
        <p:nvSpPr>
          <p:cNvPr id="29" name="Text 27"/>
          <p:cNvSpPr txBox="1"/>
          <p:nvPr/>
        </p:nvSpPr>
        <p:spPr>
          <a:xfrm>
            <a:off x="658368" y="308152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0" name="Text 28"/>
          <p:cNvSpPr txBox="1"/>
          <p:nvPr/>
        </p:nvSpPr>
        <p:spPr>
          <a:xfrm>
            <a:off x="1014984" y="308152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31" name="Shape 29"/>
          <p:cNvSpPr/>
          <p:nvPr/>
        </p:nvSpPr>
        <p:spPr>
          <a:xfrm>
            <a:off x="3008376" y="3143250"/>
            <a:ext cx="1062404" cy="123444"/>
          </a:xfrm>
          <a:prstGeom prst="rect">
            <a:avLst/>
          </a:prstGeom>
          <a:solidFill>
            <a:srgbClr val="12A566"/>
          </a:solidFill>
          <a:ln/>
        </p:spPr>
      </p:sp>
      <p:sp>
        <p:nvSpPr>
          <p:cNvPr id="32" name="Text 30"/>
          <p:cNvSpPr txBox="1"/>
          <p:nvPr/>
        </p:nvSpPr>
        <p:spPr>
          <a:xfrm>
            <a:off x="4754880" y="308152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124</a:t>
            </a:r>
            <a:endParaRPr lang="en-US" sz="1200" dirty="0"/>
          </a:p>
        </p:txBody>
      </p:sp>
      <p:sp>
        <p:nvSpPr>
          <p:cNvPr id="33" name="Text 31"/>
          <p:cNvSpPr txBox="1"/>
          <p:nvPr/>
        </p:nvSpPr>
        <p:spPr>
          <a:xfrm>
            <a:off x="658368" y="332841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4" name="Text 32"/>
          <p:cNvSpPr txBox="1"/>
          <p:nvPr/>
        </p:nvSpPr>
        <p:spPr>
          <a:xfrm>
            <a:off x="1014984" y="332841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5" name="Shape 33"/>
          <p:cNvSpPr/>
          <p:nvPr/>
        </p:nvSpPr>
        <p:spPr>
          <a:xfrm>
            <a:off x="3008376" y="3390138"/>
            <a:ext cx="949294" cy="123444"/>
          </a:xfrm>
          <a:prstGeom prst="rect">
            <a:avLst/>
          </a:prstGeom>
          <a:solidFill>
            <a:srgbClr val="C2352F"/>
          </a:solidFill>
          <a:ln/>
        </p:spPr>
      </p:sp>
      <p:sp>
        <p:nvSpPr>
          <p:cNvPr id="36" name="Text 34"/>
          <p:cNvSpPr txBox="1"/>
          <p:nvPr/>
        </p:nvSpPr>
        <p:spPr>
          <a:xfrm>
            <a:off x="4754880" y="332841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111</a:t>
            </a:r>
            <a:endParaRPr lang="en-US" sz="1200" dirty="0"/>
          </a:p>
        </p:txBody>
      </p:sp>
      <p:sp>
        <p:nvSpPr>
          <p:cNvPr id="37" name="Text 35"/>
          <p:cNvSpPr txBox="1"/>
          <p:nvPr/>
        </p:nvSpPr>
        <p:spPr>
          <a:xfrm>
            <a:off x="658368" y="357530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8" name="Text 36"/>
          <p:cNvSpPr txBox="1"/>
          <p:nvPr/>
        </p:nvSpPr>
        <p:spPr>
          <a:xfrm>
            <a:off x="1014984" y="357530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39" name="Shape 37"/>
          <p:cNvSpPr/>
          <p:nvPr/>
        </p:nvSpPr>
        <p:spPr>
          <a:xfrm>
            <a:off x="3008376" y="3637026"/>
            <a:ext cx="762245" cy="123444"/>
          </a:xfrm>
          <a:prstGeom prst="rect">
            <a:avLst/>
          </a:prstGeom>
          <a:solidFill>
            <a:srgbClr val="C2352F"/>
          </a:solidFill>
          <a:ln/>
        </p:spPr>
      </p:sp>
      <p:sp>
        <p:nvSpPr>
          <p:cNvPr id="40" name="Text 38"/>
          <p:cNvSpPr txBox="1"/>
          <p:nvPr/>
        </p:nvSpPr>
        <p:spPr>
          <a:xfrm>
            <a:off x="4754880" y="357530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89</a:t>
            </a:r>
            <a:endParaRPr lang="en-US" sz="1200" dirty="0"/>
          </a:p>
        </p:txBody>
      </p:sp>
      <p:sp>
        <p:nvSpPr>
          <p:cNvPr id="41" name="Text 39"/>
          <p:cNvSpPr txBox="1"/>
          <p:nvPr/>
        </p:nvSpPr>
        <p:spPr>
          <a:xfrm>
            <a:off x="658368" y="382219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2" name="Text 40"/>
          <p:cNvSpPr txBox="1"/>
          <p:nvPr/>
        </p:nvSpPr>
        <p:spPr>
          <a:xfrm>
            <a:off x="1014984" y="382219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43" name="Shape 41"/>
          <p:cNvSpPr/>
          <p:nvPr/>
        </p:nvSpPr>
        <p:spPr>
          <a:xfrm>
            <a:off x="3008376" y="3883914"/>
            <a:ext cx="728956" cy="123444"/>
          </a:xfrm>
          <a:prstGeom prst="rect">
            <a:avLst/>
          </a:prstGeom>
          <a:solidFill>
            <a:srgbClr val="C2352F"/>
          </a:solidFill>
          <a:ln/>
        </p:spPr>
      </p:sp>
      <p:sp>
        <p:nvSpPr>
          <p:cNvPr id="44" name="Text 42"/>
          <p:cNvSpPr txBox="1"/>
          <p:nvPr/>
        </p:nvSpPr>
        <p:spPr>
          <a:xfrm>
            <a:off x="4754880" y="382219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85</a:t>
            </a:r>
            <a:endParaRPr lang="en-US" sz="1200" dirty="0"/>
          </a:p>
        </p:txBody>
      </p:sp>
      <p:sp>
        <p:nvSpPr>
          <p:cNvPr id="45" name="Text 43"/>
          <p:cNvSpPr txBox="1"/>
          <p:nvPr/>
        </p:nvSpPr>
        <p:spPr>
          <a:xfrm>
            <a:off x="658368" y="406908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6" name="Text 44"/>
          <p:cNvSpPr txBox="1"/>
          <p:nvPr/>
        </p:nvSpPr>
        <p:spPr>
          <a:xfrm>
            <a:off x="1014984" y="406908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47" name="Shape 45"/>
          <p:cNvSpPr/>
          <p:nvPr/>
        </p:nvSpPr>
        <p:spPr>
          <a:xfrm>
            <a:off x="3008376" y="4130802"/>
            <a:ext cx="605092" cy="123444"/>
          </a:xfrm>
          <a:prstGeom prst="rect">
            <a:avLst/>
          </a:prstGeom>
          <a:solidFill>
            <a:srgbClr val="C2352F"/>
          </a:solidFill>
          <a:ln/>
        </p:spPr>
      </p:sp>
      <p:sp>
        <p:nvSpPr>
          <p:cNvPr id="48" name="Text 46"/>
          <p:cNvSpPr txBox="1"/>
          <p:nvPr/>
        </p:nvSpPr>
        <p:spPr>
          <a:xfrm>
            <a:off x="4754880" y="406908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71</a:t>
            </a:r>
            <a:endParaRPr lang="en-US" sz="1200" dirty="0"/>
          </a:p>
        </p:txBody>
      </p:sp>
      <p:sp>
        <p:nvSpPr>
          <p:cNvPr id="49" name="Shape 47"/>
          <p:cNvSpPr/>
          <p:nvPr/>
        </p:nvSpPr>
        <p:spPr>
          <a:xfrm>
            <a:off x="658368" y="4297680"/>
            <a:ext cx="5303520" cy="18288"/>
          </a:xfrm>
          <a:prstGeom prst="rect">
            <a:avLst/>
          </a:prstGeom>
          <a:solidFill>
            <a:srgbClr val="0B2C4A"/>
          </a:solidFill>
          <a:ln/>
        </p:spPr>
      </p:sp>
      <p:sp>
        <p:nvSpPr>
          <p:cNvPr id="50" name="Text 48"/>
          <p:cNvSpPr txBox="1"/>
          <p:nvPr/>
        </p:nvSpPr>
        <p:spPr>
          <a:xfrm>
            <a:off x="658368" y="431596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176</a:t>
            </a:r>
            <a:endParaRPr lang="en-US" sz="1300" dirty="0"/>
          </a:p>
        </p:txBody>
      </p:sp>
      <p:sp>
        <p:nvSpPr>
          <p:cNvPr id="51" name="Shape 49"/>
          <p:cNvSpPr/>
          <p:nvPr/>
        </p:nvSpPr>
        <p:spPr>
          <a:xfrm>
            <a:off x="658368" y="4544568"/>
            <a:ext cx="5303520" cy="18288"/>
          </a:xfrm>
          <a:prstGeom prst="rect">
            <a:avLst/>
          </a:prstGeom>
          <a:solidFill>
            <a:srgbClr val="0B2C4A"/>
          </a:solidFill>
          <a:ln/>
        </p:spPr>
      </p:sp>
      <p:sp>
        <p:nvSpPr>
          <p:cNvPr id="52" name="Text 50"/>
          <p:cNvSpPr txBox="1"/>
          <p:nvPr/>
        </p:nvSpPr>
        <p:spPr>
          <a:xfrm>
            <a:off x="658368" y="456285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53" name="Text 51"/>
          <p:cNvSpPr txBox="1"/>
          <p:nvPr/>
        </p:nvSpPr>
        <p:spPr>
          <a:xfrm>
            <a:off x="1014984" y="456285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54" name="Shape 52"/>
          <p:cNvSpPr/>
          <p:nvPr/>
        </p:nvSpPr>
        <p:spPr>
          <a:xfrm>
            <a:off x="3008376" y="4624578"/>
            <a:ext cx="1503240" cy="123444"/>
          </a:xfrm>
          <a:prstGeom prst="rect">
            <a:avLst/>
          </a:prstGeom>
          <a:solidFill>
            <a:srgbClr val="12A566"/>
          </a:solidFill>
          <a:ln/>
        </p:spPr>
      </p:sp>
      <p:sp>
        <p:nvSpPr>
          <p:cNvPr id="55" name="Text 53"/>
          <p:cNvSpPr txBox="1"/>
          <p:nvPr/>
        </p:nvSpPr>
        <p:spPr>
          <a:xfrm>
            <a:off x="4754880" y="456285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253</a:t>
            </a:r>
            <a:endParaRPr lang="en-US" sz="1200" dirty="0"/>
          </a:p>
        </p:txBody>
      </p:sp>
      <p:sp>
        <p:nvSpPr>
          <p:cNvPr id="56" name="Text 54"/>
          <p:cNvSpPr txBox="1"/>
          <p:nvPr/>
        </p:nvSpPr>
        <p:spPr>
          <a:xfrm>
            <a:off x="658368" y="480974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57" name="Text 55"/>
          <p:cNvSpPr txBox="1"/>
          <p:nvPr/>
        </p:nvSpPr>
        <p:spPr>
          <a:xfrm>
            <a:off x="1014984" y="480974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58" name="Shape 56"/>
          <p:cNvSpPr/>
          <p:nvPr/>
        </p:nvSpPr>
        <p:spPr>
          <a:xfrm>
            <a:off x="3008376" y="4871466"/>
            <a:ext cx="1447357" cy="123444"/>
          </a:xfrm>
          <a:prstGeom prst="rect">
            <a:avLst/>
          </a:prstGeom>
          <a:solidFill>
            <a:srgbClr val="12A566"/>
          </a:solidFill>
          <a:ln/>
        </p:spPr>
      </p:sp>
      <p:sp>
        <p:nvSpPr>
          <p:cNvPr id="59" name="Text 57"/>
          <p:cNvSpPr txBox="1"/>
          <p:nvPr/>
        </p:nvSpPr>
        <p:spPr>
          <a:xfrm>
            <a:off x="4754880" y="480974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244</a:t>
            </a:r>
            <a:endParaRPr lang="en-US" sz="1200" dirty="0"/>
          </a:p>
        </p:txBody>
      </p:sp>
      <p:sp>
        <p:nvSpPr>
          <p:cNvPr id="60" name="Text 58"/>
          <p:cNvSpPr txBox="1"/>
          <p:nvPr/>
        </p:nvSpPr>
        <p:spPr>
          <a:xfrm>
            <a:off x="658368" y="505663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61" name="Text 59"/>
          <p:cNvSpPr txBox="1"/>
          <p:nvPr/>
        </p:nvSpPr>
        <p:spPr>
          <a:xfrm>
            <a:off x="1014984" y="505663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62" name="Shape 60"/>
          <p:cNvSpPr/>
          <p:nvPr/>
        </p:nvSpPr>
        <p:spPr>
          <a:xfrm>
            <a:off x="3008376" y="5118354"/>
            <a:ext cx="1373578" cy="123444"/>
          </a:xfrm>
          <a:prstGeom prst="rect">
            <a:avLst/>
          </a:prstGeom>
          <a:solidFill>
            <a:srgbClr val="12A566"/>
          </a:solidFill>
          <a:ln/>
        </p:spPr>
      </p:sp>
      <p:sp>
        <p:nvSpPr>
          <p:cNvPr id="63" name="Text 61"/>
          <p:cNvSpPr txBox="1"/>
          <p:nvPr/>
        </p:nvSpPr>
        <p:spPr>
          <a:xfrm>
            <a:off x="4754880" y="505663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231</a:t>
            </a:r>
            <a:endParaRPr lang="en-US" sz="1200" dirty="0"/>
          </a:p>
        </p:txBody>
      </p:sp>
      <p:sp>
        <p:nvSpPr>
          <p:cNvPr id="64" name="Text 62"/>
          <p:cNvSpPr txBox="1"/>
          <p:nvPr/>
        </p:nvSpPr>
        <p:spPr>
          <a:xfrm>
            <a:off x="658368" y="530352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65" name="Text 63"/>
          <p:cNvSpPr txBox="1"/>
          <p:nvPr/>
        </p:nvSpPr>
        <p:spPr>
          <a:xfrm>
            <a:off x="1014984" y="530352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66" name="Shape 64"/>
          <p:cNvSpPr/>
          <p:nvPr/>
        </p:nvSpPr>
        <p:spPr>
          <a:xfrm>
            <a:off x="3008376" y="5365242"/>
            <a:ext cx="1343443" cy="123444"/>
          </a:xfrm>
          <a:prstGeom prst="rect">
            <a:avLst/>
          </a:prstGeom>
          <a:solidFill>
            <a:srgbClr val="12A566"/>
          </a:solidFill>
          <a:ln/>
        </p:spPr>
      </p:sp>
      <p:sp>
        <p:nvSpPr>
          <p:cNvPr id="67" name="Text 65"/>
          <p:cNvSpPr txBox="1"/>
          <p:nvPr/>
        </p:nvSpPr>
        <p:spPr>
          <a:xfrm>
            <a:off x="4754880" y="530352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226</a:t>
            </a:r>
            <a:endParaRPr lang="en-US" sz="1200" dirty="0"/>
          </a:p>
        </p:txBody>
      </p:sp>
      <p:sp>
        <p:nvSpPr>
          <p:cNvPr id="68" name="Text 66"/>
          <p:cNvSpPr txBox="1"/>
          <p:nvPr/>
        </p:nvSpPr>
        <p:spPr>
          <a:xfrm>
            <a:off x="658368" y="555040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69" name="Text 67"/>
          <p:cNvSpPr txBox="1"/>
          <p:nvPr/>
        </p:nvSpPr>
        <p:spPr>
          <a:xfrm>
            <a:off x="1014984" y="555040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70" name="Shape 68"/>
          <p:cNvSpPr/>
          <p:nvPr/>
        </p:nvSpPr>
        <p:spPr>
          <a:xfrm>
            <a:off x="3008376" y="5612130"/>
            <a:ext cx="1341602" cy="123444"/>
          </a:xfrm>
          <a:prstGeom prst="rect">
            <a:avLst/>
          </a:prstGeom>
          <a:solidFill>
            <a:srgbClr val="12A566"/>
          </a:solidFill>
          <a:ln/>
        </p:spPr>
      </p:sp>
      <p:sp>
        <p:nvSpPr>
          <p:cNvPr id="71" name="Text 69"/>
          <p:cNvSpPr txBox="1"/>
          <p:nvPr/>
        </p:nvSpPr>
        <p:spPr>
          <a:xfrm>
            <a:off x="4754880" y="555040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226</a:t>
            </a:r>
            <a:endParaRPr lang="en-US" sz="1200" dirty="0"/>
          </a:p>
        </p:txBody>
      </p:sp>
      <p:sp>
        <p:nvSpPr>
          <p:cNvPr id="72" name="Text 70"/>
          <p:cNvSpPr txBox="1"/>
          <p:nvPr/>
        </p:nvSpPr>
        <p:spPr>
          <a:xfrm>
            <a:off x="658368" y="579729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73" name="Text 71"/>
          <p:cNvSpPr txBox="1"/>
          <p:nvPr/>
        </p:nvSpPr>
        <p:spPr>
          <a:xfrm>
            <a:off x="1014984" y="579729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74" name="Shape 72"/>
          <p:cNvSpPr/>
          <p:nvPr/>
        </p:nvSpPr>
        <p:spPr>
          <a:xfrm>
            <a:off x="3008376" y="5859018"/>
            <a:ext cx="1333815" cy="123444"/>
          </a:xfrm>
          <a:prstGeom prst="rect">
            <a:avLst/>
          </a:prstGeom>
          <a:solidFill>
            <a:srgbClr val="12A566"/>
          </a:solidFill>
          <a:ln/>
        </p:spPr>
      </p:sp>
      <p:sp>
        <p:nvSpPr>
          <p:cNvPr id="75" name="Text 73"/>
          <p:cNvSpPr txBox="1"/>
          <p:nvPr/>
        </p:nvSpPr>
        <p:spPr>
          <a:xfrm>
            <a:off x="4754880" y="579729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225</a:t>
            </a:r>
            <a:endParaRPr lang="en-US" sz="1200" dirty="0"/>
          </a:p>
        </p:txBody>
      </p:sp>
      <p:sp>
        <p:nvSpPr>
          <p:cNvPr id="76" name="Text 74"/>
          <p:cNvSpPr txBox="1"/>
          <p:nvPr/>
        </p:nvSpPr>
        <p:spPr>
          <a:xfrm>
            <a:off x="658368" y="604418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77" name="Text 75"/>
          <p:cNvSpPr txBox="1"/>
          <p:nvPr/>
        </p:nvSpPr>
        <p:spPr>
          <a:xfrm>
            <a:off x="1014984" y="604418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78" name="Shape 76"/>
          <p:cNvSpPr/>
          <p:nvPr/>
        </p:nvSpPr>
        <p:spPr>
          <a:xfrm>
            <a:off x="3008376" y="6105906"/>
            <a:ext cx="1164283" cy="123444"/>
          </a:xfrm>
          <a:prstGeom prst="rect">
            <a:avLst/>
          </a:prstGeom>
          <a:solidFill>
            <a:srgbClr val="12A566"/>
          </a:solidFill>
          <a:ln/>
        </p:spPr>
      </p:sp>
      <p:sp>
        <p:nvSpPr>
          <p:cNvPr id="79" name="Text 77"/>
          <p:cNvSpPr txBox="1"/>
          <p:nvPr/>
        </p:nvSpPr>
        <p:spPr>
          <a:xfrm>
            <a:off x="4754880" y="604418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196</a:t>
            </a:r>
            <a:endParaRPr lang="en-US" sz="1200" dirty="0"/>
          </a:p>
        </p:txBody>
      </p:sp>
      <p:sp>
        <p:nvSpPr>
          <p:cNvPr id="80" name="Text 78"/>
          <p:cNvSpPr txBox="1"/>
          <p:nvPr/>
        </p:nvSpPr>
        <p:spPr>
          <a:xfrm>
            <a:off x="6208776" y="184708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176  (CONTINUED)</a:t>
            </a:r>
            <a:endParaRPr lang="en-US" sz="1300" dirty="0"/>
          </a:p>
        </p:txBody>
      </p:sp>
      <p:sp>
        <p:nvSpPr>
          <p:cNvPr id="81" name="Shape 79"/>
          <p:cNvSpPr/>
          <p:nvPr/>
        </p:nvSpPr>
        <p:spPr>
          <a:xfrm>
            <a:off x="6208776" y="2075688"/>
            <a:ext cx="5303520" cy="18288"/>
          </a:xfrm>
          <a:prstGeom prst="rect">
            <a:avLst/>
          </a:prstGeom>
          <a:solidFill>
            <a:srgbClr val="0B2C4A"/>
          </a:solidFill>
          <a:ln/>
        </p:spPr>
      </p:sp>
      <p:sp>
        <p:nvSpPr>
          <p:cNvPr id="82" name="Text 80"/>
          <p:cNvSpPr txBox="1"/>
          <p:nvPr/>
        </p:nvSpPr>
        <p:spPr>
          <a:xfrm>
            <a:off x="6208776" y="209397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83" name="Text 81"/>
          <p:cNvSpPr txBox="1"/>
          <p:nvPr/>
        </p:nvSpPr>
        <p:spPr>
          <a:xfrm>
            <a:off x="6565392" y="209397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84" name="Shape 82"/>
          <p:cNvSpPr/>
          <p:nvPr/>
        </p:nvSpPr>
        <p:spPr>
          <a:xfrm>
            <a:off x="8558784" y="2155698"/>
            <a:ext cx="1134268" cy="123444"/>
          </a:xfrm>
          <a:prstGeom prst="rect">
            <a:avLst/>
          </a:prstGeom>
          <a:solidFill>
            <a:srgbClr val="12A566"/>
          </a:solidFill>
          <a:ln/>
        </p:spPr>
      </p:sp>
      <p:sp>
        <p:nvSpPr>
          <p:cNvPr id="85" name="Text 83"/>
          <p:cNvSpPr txBox="1"/>
          <p:nvPr/>
        </p:nvSpPr>
        <p:spPr>
          <a:xfrm>
            <a:off x="10305288" y="209397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191</a:t>
            </a:r>
            <a:endParaRPr lang="en-US" sz="1200" dirty="0"/>
          </a:p>
        </p:txBody>
      </p:sp>
      <p:sp>
        <p:nvSpPr>
          <p:cNvPr id="86" name="Text 84"/>
          <p:cNvSpPr txBox="1"/>
          <p:nvPr/>
        </p:nvSpPr>
        <p:spPr>
          <a:xfrm>
            <a:off x="6208776" y="234086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87" name="Text 85"/>
          <p:cNvSpPr txBox="1"/>
          <p:nvPr/>
        </p:nvSpPr>
        <p:spPr>
          <a:xfrm>
            <a:off x="6565392" y="234086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88" name="Shape 86"/>
          <p:cNvSpPr/>
          <p:nvPr/>
        </p:nvSpPr>
        <p:spPr>
          <a:xfrm>
            <a:off x="8558784" y="2402586"/>
            <a:ext cx="1095681" cy="123444"/>
          </a:xfrm>
          <a:prstGeom prst="rect">
            <a:avLst/>
          </a:prstGeom>
          <a:solidFill>
            <a:srgbClr val="12A566"/>
          </a:solidFill>
          <a:ln/>
        </p:spPr>
      </p:sp>
      <p:sp>
        <p:nvSpPr>
          <p:cNvPr id="89" name="Text 87"/>
          <p:cNvSpPr txBox="1"/>
          <p:nvPr/>
        </p:nvSpPr>
        <p:spPr>
          <a:xfrm>
            <a:off x="10305288" y="234086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184</a:t>
            </a:r>
            <a:endParaRPr lang="en-US" sz="1200" dirty="0"/>
          </a:p>
        </p:txBody>
      </p:sp>
      <p:sp>
        <p:nvSpPr>
          <p:cNvPr id="90" name="Text 88"/>
          <p:cNvSpPr txBox="1"/>
          <p:nvPr/>
        </p:nvSpPr>
        <p:spPr>
          <a:xfrm>
            <a:off x="6208776" y="258775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91" name="Text 89"/>
          <p:cNvSpPr txBox="1"/>
          <p:nvPr/>
        </p:nvSpPr>
        <p:spPr>
          <a:xfrm>
            <a:off x="6565392" y="258775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92" name="Shape 90"/>
          <p:cNvSpPr/>
          <p:nvPr/>
        </p:nvSpPr>
        <p:spPr>
          <a:xfrm>
            <a:off x="8558784" y="2649474"/>
            <a:ext cx="1073173" cy="123444"/>
          </a:xfrm>
          <a:prstGeom prst="rect">
            <a:avLst/>
          </a:prstGeom>
          <a:solidFill>
            <a:srgbClr val="12A566"/>
          </a:solidFill>
          <a:ln/>
        </p:spPr>
      </p:sp>
      <p:sp>
        <p:nvSpPr>
          <p:cNvPr id="93" name="Text 91"/>
          <p:cNvSpPr txBox="1"/>
          <p:nvPr/>
        </p:nvSpPr>
        <p:spPr>
          <a:xfrm>
            <a:off x="10305288" y="258775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181</a:t>
            </a:r>
            <a:endParaRPr lang="en-US" sz="1200" dirty="0"/>
          </a:p>
        </p:txBody>
      </p:sp>
      <p:sp>
        <p:nvSpPr>
          <p:cNvPr id="94" name="Text 92"/>
          <p:cNvSpPr txBox="1"/>
          <p:nvPr/>
        </p:nvSpPr>
        <p:spPr>
          <a:xfrm>
            <a:off x="6208776" y="283464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95" name="Text 93"/>
          <p:cNvSpPr txBox="1"/>
          <p:nvPr/>
        </p:nvSpPr>
        <p:spPr>
          <a:xfrm>
            <a:off x="6565392" y="283464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6" name="Shape 94"/>
          <p:cNvSpPr/>
          <p:nvPr/>
        </p:nvSpPr>
        <p:spPr>
          <a:xfrm>
            <a:off x="8558784" y="2896362"/>
            <a:ext cx="1070012" cy="123444"/>
          </a:xfrm>
          <a:prstGeom prst="rect">
            <a:avLst/>
          </a:prstGeom>
          <a:solidFill>
            <a:srgbClr val="12A566"/>
          </a:solidFill>
          <a:ln/>
        </p:spPr>
      </p:sp>
      <p:sp>
        <p:nvSpPr>
          <p:cNvPr id="97" name="Text 95"/>
          <p:cNvSpPr txBox="1"/>
          <p:nvPr/>
        </p:nvSpPr>
        <p:spPr>
          <a:xfrm>
            <a:off x="10305288" y="283464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180</a:t>
            </a:r>
            <a:endParaRPr lang="en-US" sz="1200" dirty="0"/>
          </a:p>
        </p:txBody>
      </p:sp>
      <p:sp>
        <p:nvSpPr>
          <p:cNvPr id="98" name="Text 96"/>
          <p:cNvSpPr txBox="1"/>
          <p:nvPr/>
        </p:nvSpPr>
        <p:spPr>
          <a:xfrm>
            <a:off x="6208776" y="308152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99" name="Text 97"/>
          <p:cNvSpPr txBox="1"/>
          <p:nvPr/>
        </p:nvSpPr>
        <p:spPr>
          <a:xfrm>
            <a:off x="6565392" y="308152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0" name="Shape 98"/>
          <p:cNvSpPr/>
          <p:nvPr/>
        </p:nvSpPr>
        <p:spPr>
          <a:xfrm>
            <a:off x="8558784" y="3143250"/>
            <a:ext cx="1057284" cy="123444"/>
          </a:xfrm>
          <a:prstGeom prst="rect">
            <a:avLst/>
          </a:prstGeom>
          <a:solidFill>
            <a:srgbClr val="12A566"/>
          </a:solidFill>
          <a:ln/>
        </p:spPr>
      </p:sp>
      <p:sp>
        <p:nvSpPr>
          <p:cNvPr id="101" name="Text 99"/>
          <p:cNvSpPr txBox="1"/>
          <p:nvPr/>
        </p:nvSpPr>
        <p:spPr>
          <a:xfrm>
            <a:off x="10305288" y="308152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178</a:t>
            </a:r>
            <a:endParaRPr lang="en-US" sz="1200" dirty="0"/>
          </a:p>
        </p:txBody>
      </p:sp>
      <p:sp>
        <p:nvSpPr>
          <p:cNvPr id="102" name="Text 100"/>
          <p:cNvSpPr txBox="1"/>
          <p:nvPr/>
        </p:nvSpPr>
        <p:spPr>
          <a:xfrm>
            <a:off x="6208776" y="332841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103" name="Text 101"/>
          <p:cNvSpPr txBox="1"/>
          <p:nvPr/>
        </p:nvSpPr>
        <p:spPr>
          <a:xfrm>
            <a:off x="6565392" y="332841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4" name="Shape 102"/>
          <p:cNvSpPr/>
          <p:nvPr/>
        </p:nvSpPr>
        <p:spPr>
          <a:xfrm>
            <a:off x="8558784" y="3390138"/>
            <a:ext cx="1042010" cy="123444"/>
          </a:xfrm>
          <a:prstGeom prst="rect">
            <a:avLst/>
          </a:prstGeom>
          <a:solidFill>
            <a:srgbClr val="C2352F"/>
          </a:solidFill>
          <a:ln/>
        </p:spPr>
      </p:sp>
      <p:sp>
        <p:nvSpPr>
          <p:cNvPr id="105" name="Text 103"/>
          <p:cNvSpPr txBox="1"/>
          <p:nvPr/>
        </p:nvSpPr>
        <p:spPr>
          <a:xfrm>
            <a:off x="10305288" y="332841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175</a:t>
            </a:r>
            <a:endParaRPr lang="en-US" sz="1200" dirty="0"/>
          </a:p>
        </p:txBody>
      </p:sp>
      <p:sp>
        <p:nvSpPr>
          <p:cNvPr id="106" name="Text 104"/>
          <p:cNvSpPr txBox="1"/>
          <p:nvPr/>
        </p:nvSpPr>
        <p:spPr>
          <a:xfrm>
            <a:off x="6208776" y="357530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107" name="Text 105"/>
          <p:cNvSpPr txBox="1"/>
          <p:nvPr/>
        </p:nvSpPr>
        <p:spPr>
          <a:xfrm>
            <a:off x="6565392" y="357530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08" name="Shape 106"/>
          <p:cNvSpPr/>
          <p:nvPr/>
        </p:nvSpPr>
        <p:spPr>
          <a:xfrm>
            <a:off x="8558784" y="3637026"/>
            <a:ext cx="1021645" cy="123444"/>
          </a:xfrm>
          <a:prstGeom prst="rect">
            <a:avLst/>
          </a:prstGeom>
          <a:solidFill>
            <a:srgbClr val="C2352F"/>
          </a:solidFill>
          <a:ln/>
        </p:spPr>
      </p:sp>
      <p:sp>
        <p:nvSpPr>
          <p:cNvPr id="109" name="Text 107"/>
          <p:cNvSpPr txBox="1"/>
          <p:nvPr/>
        </p:nvSpPr>
        <p:spPr>
          <a:xfrm>
            <a:off x="10305288" y="357530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172</a:t>
            </a:r>
            <a:endParaRPr lang="en-US" sz="1200" dirty="0"/>
          </a:p>
        </p:txBody>
      </p:sp>
      <p:sp>
        <p:nvSpPr>
          <p:cNvPr id="110" name="Text 108"/>
          <p:cNvSpPr txBox="1"/>
          <p:nvPr/>
        </p:nvSpPr>
        <p:spPr>
          <a:xfrm>
            <a:off x="6208776" y="382219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11" name="Text 109"/>
          <p:cNvSpPr txBox="1"/>
          <p:nvPr/>
        </p:nvSpPr>
        <p:spPr>
          <a:xfrm>
            <a:off x="6565392" y="382219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12" name="Shape 110"/>
          <p:cNvSpPr/>
          <p:nvPr/>
        </p:nvSpPr>
        <p:spPr>
          <a:xfrm>
            <a:off x="8558784" y="3883914"/>
            <a:ext cx="981754" cy="123444"/>
          </a:xfrm>
          <a:prstGeom prst="rect">
            <a:avLst/>
          </a:prstGeom>
          <a:solidFill>
            <a:srgbClr val="C2352F"/>
          </a:solidFill>
          <a:ln/>
        </p:spPr>
      </p:sp>
      <p:sp>
        <p:nvSpPr>
          <p:cNvPr id="113" name="Text 111"/>
          <p:cNvSpPr txBox="1"/>
          <p:nvPr/>
        </p:nvSpPr>
        <p:spPr>
          <a:xfrm>
            <a:off x="10305288" y="382219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165</a:t>
            </a:r>
            <a:endParaRPr lang="en-US" sz="1200" dirty="0"/>
          </a:p>
        </p:txBody>
      </p:sp>
      <p:sp>
        <p:nvSpPr>
          <p:cNvPr id="114" name="Text 112"/>
          <p:cNvSpPr txBox="1"/>
          <p:nvPr/>
        </p:nvSpPr>
        <p:spPr>
          <a:xfrm>
            <a:off x="6208776" y="406908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15" name="Text 113"/>
          <p:cNvSpPr txBox="1"/>
          <p:nvPr/>
        </p:nvSpPr>
        <p:spPr>
          <a:xfrm>
            <a:off x="6565392" y="406908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16" name="Shape 114"/>
          <p:cNvSpPr/>
          <p:nvPr/>
        </p:nvSpPr>
        <p:spPr>
          <a:xfrm>
            <a:off x="8558784" y="4130802"/>
            <a:ext cx="943933" cy="123444"/>
          </a:xfrm>
          <a:prstGeom prst="rect">
            <a:avLst/>
          </a:prstGeom>
          <a:solidFill>
            <a:srgbClr val="C2352F"/>
          </a:solidFill>
          <a:ln/>
        </p:spPr>
      </p:sp>
      <p:sp>
        <p:nvSpPr>
          <p:cNvPr id="117" name="Text 115"/>
          <p:cNvSpPr txBox="1"/>
          <p:nvPr/>
        </p:nvSpPr>
        <p:spPr>
          <a:xfrm>
            <a:off x="10305288" y="406908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159</a:t>
            </a:r>
            <a:endParaRPr lang="en-US" sz="1200" dirty="0"/>
          </a:p>
        </p:txBody>
      </p:sp>
      <p:sp>
        <p:nvSpPr>
          <p:cNvPr id="118" name="Text 116"/>
          <p:cNvSpPr txBox="1"/>
          <p:nvPr/>
        </p:nvSpPr>
        <p:spPr>
          <a:xfrm>
            <a:off x="6208776" y="431596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9" name="Text 117"/>
          <p:cNvSpPr txBox="1"/>
          <p:nvPr/>
        </p:nvSpPr>
        <p:spPr>
          <a:xfrm>
            <a:off x="6565392" y="431596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20" name="Shape 118"/>
          <p:cNvSpPr/>
          <p:nvPr/>
        </p:nvSpPr>
        <p:spPr>
          <a:xfrm>
            <a:off x="8558784" y="4377690"/>
            <a:ext cx="912089" cy="123444"/>
          </a:xfrm>
          <a:prstGeom prst="rect">
            <a:avLst/>
          </a:prstGeom>
          <a:solidFill>
            <a:srgbClr val="C2352F"/>
          </a:solidFill>
          <a:ln/>
        </p:spPr>
      </p:sp>
      <p:sp>
        <p:nvSpPr>
          <p:cNvPr id="121" name="Text 119"/>
          <p:cNvSpPr txBox="1"/>
          <p:nvPr/>
        </p:nvSpPr>
        <p:spPr>
          <a:xfrm>
            <a:off x="10305288" y="431596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154</a:t>
            </a:r>
            <a:endParaRPr lang="en-US" sz="1200" dirty="0"/>
          </a:p>
        </p:txBody>
      </p:sp>
      <p:sp>
        <p:nvSpPr>
          <p:cNvPr id="122" name="Text 120"/>
          <p:cNvSpPr txBox="1"/>
          <p:nvPr/>
        </p:nvSpPr>
        <p:spPr>
          <a:xfrm>
            <a:off x="6208776" y="456285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3" name="Text 121"/>
          <p:cNvSpPr txBox="1"/>
          <p:nvPr/>
        </p:nvSpPr>
        <p:spPr>
          <a:xfrm>
            <a:off x="6565392" y="456285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24" name="Shape 122"/>
          <p:cNvSpPr/>
          <p:nvPr/>
        </p:nvSpPr>
        <p:spPr>
          <a:xfrm>
            <a:off x="8558784" y="4624578"/>
            <a:ext cx="848886" cy="123444"/>
          </a:xfrm>
          <a:prstGeom prst="rect">
            <a:avLst/>
          </a:prstGeom>
          <a:solidFill>
            <a:srgbClr val="C2352F"/>
          </a:solidFill>
          <a:ln/>
        </p:spPr>
      </p:sp>
      <p:sp>
        <p:nvSpPr>
          <p:cNvPr id="125" name="Text 123"/>
          <p:cNvSpPr txBox="1"/>
          <p:nvPr/>
        </p:nvSpPr>
        <p:spPr>
          <a:xfrm>
            <a:off x="10305288" y="456285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143</a:t>
            </a:r>
            <a:endParaRPr lang="en-US" sz="1200" dirty="0"/>
          </a:p>
        </p:txBody>
      </p:sp>
      <p:sp>
        <p:nvSpPr>
          <p:cNvPr id="126" name="Text 124"/>
          <p:cNvSpPr txBox="1"/>
          <p:nvPr/>
        </p:nvSpPr>
        <p:spPr>
          <a:xfrm>
            <a:off x="6208776" y="480974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7" name="Text 125"/>
          <p:cNvSpPr txBox="1"/>
          <p:nvPr/>
        </p:nvSpPr>
        <p:spPr>
          <a:xfrm>
            <a:off x="6565392" y="480974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28" name="Shape 126"/>
          <p:cNvSpPr/>
          <p:nvPr/>
        </p:nvSpPr>
        <p:spPr>
          <a:xfrm>
            <a:off x="8558784" y="4871466"/>
            <a:ext cx="823202" cy="123444"/>
          </a:xfrm>
          <a:prstGeom prst="rect">
            <a:avLst/>
          </a:prstGeom>
          <a:solidFill>
            <a:srgbClr val="C2352F"/>
          </a:solidFill>
          <a:ln/>
        </p:spPr>
      </p:sp>
      <p:sp>
        <p:nvSpPr>
          <p:cNvPr id="129" name="Text 127"/>
          <p:cNvSpPr txBox="1"/>
          <p:nvPr/>
        </p:nvSpPr>
        <p:spPr>
          <a:xfrm>
            <a:off x="10305288" y="480974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139</a:t>
            </a:r>
            <a:endParaRPr lang="en-US" sz="1200" dirty="0"/>
          </a:p>
        </p:txBody>
      </p:sp>
      <p:sp>
        <p:nvSpPr>
          <p:cNvPr id="130" name="Text 128"/>
          <p:cNvSpPr txBox="1"/>
          <p:nvPr/>
        </p:nvSpPr>
        <p:spPr>
          <a:xfrm>
            <a:off x="6208776" y="505663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31" name="Text 129"/>
          <p:cNvSpPr txBox="1"/>
          <p:nvPr/>
        </p:nvSpPr>
        <p:spPr>
          <a:xfrm>
            <a:off x="6565392" y="505663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32" name="Shape 130"/>
          <p:cNvSpPr/>
          <p:nvPr/>
        </p:nvSpPr>
        <p:spPr>
          <a:xfrm>
            <a:off x="8558784" y="5118354"/>
            <a:ext cx="759533" cy="123444"/>
          </a:xfrm>
          <a:prstGeom prst="rect">
            <a:avLst/>
          </a:prstGeom>
          <a:solidFill>
            <a:srgbClr val="C2352F"/>
          </a:solidFill>
          <a:ln/>
        </p:spPr>
      </p:sp>
      <p:sp>
        <p:nvSpPr>
          <p:cNvPr id="133" name="Text 131"/>
          <p:cNvSpPr txBox="1"/>
          <p:nvPr/>
        </p:nvSpPr>
        <p:spPr>
          <a:xfrm>
            <a:off x="10305288" y="505663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128</a:t>
            </a:r>
            <a:endParaRPr lang="en-US" sz="1200" dirty="0"/>
          </a:p>
        </p:txBody>
      </p:sp>
      <p:sp>
        <p:nvSpPr>
          <p:cNvPr id="134" name="Text 132"/>
          <p:cNvSpPr txBox="1"/>
          <p:nvPr/>
        </p:nvSpPr>
        <p:spPr>
          <a:xfrm>
            <a:off x="6208776" y="530352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5" name="Text 133"/>
          <p:cNvSpPr txBox="1"/>
          <p:nvPr/>
        </p:nvSpPr>
        <p:spPr>
          <a:xfrm>
            <a:off x="6565392" y="530352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36" name="Shape 134"/>
          <p:cNvSpPr/>
          <p:nvPr/>
        </p:nvSpPr>
        <p:spPr>
          <a:xfrm>
            <a:off x="8558784" y="5365242"/>
            <a:ext cx="729747" cy="123444"/>
          </a:xfrm>
          <a:prstGeom prst="rect">
            <a:avLst/>
          </a:prstGeom>
          <a:solidFill>
            <a:srgbClr val="C2352F"/>
          </a:solidFill>
          <a:ln/>
        </p:spPr>
      </p:sp>
      <p:sp>
        <p:nvSpPr>
          <p:cNvPr id="137" name="Text 135"/>
          <p:cNvSpPr txBox="1"/>
          <p:nvPr/>
        </p:nvSpPr>
        <p:spPr>
          <a:xfrm>
            <a:off x="10305288" y="530352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123</a:t>
            </a:r>
            <a:endParaRPr lang="en-US" sz="1200" dirty="0"/>
          </a:p>
        </p:txBody>
      </p:sp>
      <p:sp>
        <p:nvSpPr>
          <p:cNvPr id="138" name="Text 136"/>
          <p:cNvSpPr txBox="1"/>
          <p:nvPr/>
        </p:nvSpPr>
        <p:spPr>
          <a:xfrm>
            <a:off x="6208776" y="555040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555040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40" name="Shape 138"/>
          <p:cNvSpPr/>
          <p:nvPr/>
        </p:nvSpPr>
        <p:spPr>
          <a:xfrm>
            <a:off x="8558784" y="5612130"/>
            <a:ext cx="709976" cy="123444"/>
          </a:xfrm>
          <a:prstGeom prst="rect">
            <a:avLst/>
          </a:prstGeom>
          <a:solidFill>
            <a:srgbClr val="C2352F"/>
          </a:solidFill>
          <a:ln/>
        </p:spPr>
      </p:sp>
      <p:sp>
        <p:nvSpPr>
          <p:cNvPr id="141" name="Text 139"/>
          <p:cNvSpPr txBox="1"/>
          <p:nvPr/>
        </p:nvSpPr>
        <p:spPr>
          <a:xfrm>
            <a:off x="10305288" y="555040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120</a:t>
            </a:r>
            <a:endParaRPr lang="en-US" sz="1200" dirty="0"/>
          </a:p>
        </p:txBody>
      </p:sp>
      <p:sp>
        <p:nvSpPr>
          <p:cNvPr id="142" name="Text 140"/>
          <p:cNvSpPr txBox="1"/>
          <p:nvPr/>
        </p:nvSpPr>
        <p:spPr>
          <a:xfrm>
            <a:off x="6208776" y="579729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3" name="Text 141"/>
          <p:cNvSpPr txBox="1"/>
          <p:nvPr/>
        </p:nvSpPr>
        <p:spPr>
          <a:xfrm>
            <a:off x="6565392" y="579729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44" name="Shape 142"/>
          <p:cNvSpPr/>
          <p:nvPr/>
        </p:nvSpPr>
        <p:spPr>
          <a:xfrm>
            <a:off x="8558784" y="5859018"/>
            <a:ext cx="703612" cy="123444"/>
          </a:xfrm>
          <a:prstGeom prst="rect">
            <a:avLst/>
          </a:prstGeom>
          <a:solidFill>
            <a:srgbClr val="C2352F"/>
          </a:solidFill>
          <a:ln/>
        </p:spPr>
      </p:sp>
      <p:sp>
        <p:nvSpPr>
          <p:cNvPr id="145" name="Text 143"/>
          <p:cNvSpPr txBox="1"/>
          <p:nvPr/>
        </p:nvSpPr>
        <p:spPr>
          <a:xfrm>
            <a:off x="10305288" y="579729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118</a:t>
            </a:r>
            <a:endParaRPr lang="en-US" sz="1200" dirty="0"/>
          </a:p>
        </p:txBody>
      </p:sp>
      <p:sp>
        <p:nvSpPr>
          <p:cNvPr id="146" name="Text 144"/>
          <p:cNvSpPr txBox="1"/>
          <p:nvPr/>
        </p:nvSpPr>
        <p:spPr>
          <a:xfrm>
            <a:off x="6208776" y="604418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47" name="Text 145"/>
          <p:cNvSpPr txBox="1"/>
          <p:nvPr/>
        </p:nvSpPr>
        <p:spPr>
          <a:xfrm>
            <a:off x="6565392" y="604418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48" name="Shape 146"/>
          <p:cNvSpPr/>
          <p:nvPr/>
        </p:nvSpPr>
        <p:spPr>
          <a:xfrm>
            <a:off x="8558784" y="6105906"/>
            <a:ext cx="692411" cy="123444"/>
          </a:xfrm>
          <a:prstGeom prst="rect">
            <a:avLst/>
          </a:prstGeom>
          <a:solidFill>
            <a:srgbClr val="C2352F"/>
          </a:solidFill>
          <a:ln/>
        </p:spPr>
      </p:sp>
      <p:sp>
        <p:nvSpPr>
          <p:cNvPr id="149" name="Text 147"/>
          <p:cNvSpPr txBox="1"/>
          <p:nvPr/>
        </p:nvSpPr>
        <p:spPr>
          <a:xfrm>
            <a:off x="10305288" y="604418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117</a:t>
            </a:r>
            <a:endParaRPr lang="en-US" sz="1200" dirty="0"/>
          </a:p>
        </p:txBody>
      </p:sp>
      <p:sp>
        <p:nvSpPr>
          <p:cNvPr id="150" name="Shape 148"/>
          <p:cNvSpPr/>
          <p:nvPr/>
        </p:nvSpPr>
        <p:spPr>
          <a:xfrm>
            <a:off x="4047207" y="2093976"/>
            <a:ext cx="14630" cy="2221992"/>
          </a:xfrm>
          <a:prstGeom prst="rect">
            <a:avLst/>
          </a:prstGeom>
          <a:solidFill>
            <a:srgbClr val="0B2C4A"/>
          </a:solidFill>
          <a:ln/>
        </p:spPr>
      </p:sp>
      <p:sp>
        <p:nvSpPr>
          <p:cNvPr id="151" name="Shape 149"/>
          <p:cNvSpPr/>
          <p:nvPr/>
        </p:nvSpPr>
        <p:spPr>
          <a:xfrm>
            <a:off x="4047207" y="4562856"/>
            <a:ext cx="14630" cy="1728216"/>
          </a:xfrm>
          <a:prstGeom prst="rect">
            <a:avLst/>
          </a:prstGeom>
          <a:solidFill>
            <a:srgbClr val="0B2C4A"/>
          </a:solidFill>
          <a:ln/>
        </p:spPr>
      </p:sp>
      <p:sp>
        <p:nvSpPr>
          <p:cNvPr id="152" name="Shape 150"/>
          <p:cNvSpPr/>
          <p:nvPr/>
        </p:nvSpPr>
        <p:spPr>
          <a:xfrm>
            <a:off x="9597615" y="2093976"/>
            <a:ext cx="14630" cy="4197096"/>
          </a:xfrm>
          <a:prstGeom prst="rect">
            <a:avLst/>
          </a:prstGeom>
          <a:solidFill>
            <a:srgbClr val="0B2C4A"/>
          </a:solidFill>
          <a:ln/>
        </p:spPr>
      </p:sp>
      <p:sp>
        <p:nvSpPr>
          <p:cNvPr id="153" name="Shape 151"/>
          <p:cNvSpPr/>
          <p:nvPr/>
        </p:nvSpPr>
        <p:spPr>
          <a:xfrm>
            <a:off x="6085332" y="1847088"/>
            <a:ext cx="10973" cy="4443984"/>
          </a:xfrm>
          <a:prstGeom prst="rect">
            <a:avLst/>
          </a:prstGeom>
          <a:solidFill>
            <a:srgbClr val="D9D9D9"/>
          </a:solidFill>
          <a:ln/>
        </p:spPr>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ADVISOR</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6804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&amp; W ROS PER SERVICE ADVISOR</a:t>
            </a:r>
            <a:endParaRPr lang="en-US" sz="1500" dirty="0"/>
          </a:p>
        </p:txBody>
      </p:sp>
      <p:sp>
        <p:nvSpPr>
          <p:cNvPr id="9" name="Text 7"/>
          <p:cNvSpPr txBox="1"/>
          <p:nvPr/>
        </p:nvSpPr>
        <p:spPr>
          <a:xfrm>
            <a:off x="4594860" y="1335024"/>
            <a:ext cx="345186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A82B26"/>
                </a:solidFill>
                <a:latin typeface="Inter" pitchFamily="34" charset="0"/>
                <a:ea typeface="Inter" pitchFamily="34" charset="-122"/>
                <a:cs typeface="Inter" pitchFamily="34" charset="-120"/>
              </a:rPr>
              <a:t>−7</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3" name="Shape 11"/>
          <p:cNvSpPr/>
          <p:nvPr/>
        </p:nvSpPr>
        <p:spPr>
          <a:xfrm>
            <a:off x="3785616" y="1911860"/>
            <a:ext cx="525241"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+40</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7" name="Shape 15"/>
          <p:cNvSpPr/>
          <p:nvPr/>
        </p:nvSpPr>
        <p:spPr>
          <a:xfrm>
            <a:off x="3785616" y="2151755"/>
            <a:ext cx="467524"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+35</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21" name="Shape 19"/>
          <p:cNvSpPr/>
          <p:nvPr/>
        </p:nvSpPr>
        <p:spPr>
          <a:xfrm>
            <a:off x="3785616" y="2391651"/>
            <a:ext cx="415619"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+31</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25" name="Shape 23"/>
          <p:cNvSpPr/>
          <p:nvPr/>
        </p:nvSpPr>
        <p:spPr>
          <a:xfrm>
            <a:off x="3785616" y="2631546"/>
            <a:ext cx="265194"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29" name="Shape 27"/>
          <p:cNvSpPr/>
          <p:nvPr/>
        </p:nvSpPr>
        <p:spPr>
          <a:xfrm>
            <a:off x="3785616" y="2871442"/>
            <a:ext cx="190549"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33" name="Shape 31"/>
          <p:cNvSpPr/>
          <p:nvPr/>
        </p:nvSpPr>
        <p:spPr>
          <a:xfrm>
            <a:off x="3785616" y="3111337"/>
            <a:ext cx="179531"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37" name="Shape 35"/>
          <p:cNvSpPr/>
          <p:nvPr/>
        </p:nvSpPr>
        <p:spPr>
          <a:xfrm>
            <a:off x="3785616" y="3351233"/>
            <a:ext cx="174904"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41" name="Shape 39"/>
          <p:cNvSpPr/>
          <p:nvPr/>
        </p:nvSpPr>
        <p:spPr>
          <a:xfrm>
            <a:off x="3785616" y="3591128"/>
            <a:ext cx="157180"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45" name="Shape 43"/>
          <p:cNvSpPr/>
          <p:nvPr/>
        </p:nvSpPr>
        <p:spPr>
          <a:xfrm>
            <a:off x="3785616" y="3831024"/>
            <a:ext cx="146799"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49" name="Shape 47"/>
          <p:cNvSpPr/>
          <p:nvPr/>
        </p:nvSpPr>
        <p:spPr>
          <a:xfrm>
            <a:off x="3785616" y="4070920"/>
            <a:ext cx="136967"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53" name="Shape 51"/>
          <p:cNvSpPr/>
          <p:nvPr/>
        </p:nvSpPr>
        <p:spPr>
          <a:xfrm>
            <a:off x="3785616" y="4310815"/>
            <a:ext cx="76979"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57" name="Shape 55"/>
          <p:cNvSpPr/>
          <p:nvPr/>
        </p:nvSpPr>
        <p:spPr>
          <a:xfrm>
            <a:off x="3785616" y="4550711"/>
            <a:ext cx="75062"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61" name="Shape 59"/>
          <p:cNvSpPr/>
          <p:nvPr/>
        </p:nvSpPr>
        <p:spPr>
          <a:xfrm>
            <a:off x="3785616" y="4790606"/>
            <a:ext cx="60320"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5" name="Shape 63"/>
          <p:cNvSpPr/>
          <p:nvPr/>
        </p:nvSpPr>
        <p:spPr>
          <a:xfrm>
            <a:off x="3785616" y="5030502"/>
            <a:ext cx="35578"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9" name="Shape 67"/>
          <p:cNvSpPr/>
          <p:nvPr/>
        </p:nvSpPr>
        <p:spPr>
          <a:xfrm>
            <a:off x="3785616" y="5270397"/>
            <a:ext cx="21435"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73" name="Shape 71"/>
          <p:cNvSpPr/>
          <p:nvPr/>
        </p:nvSpPr>
        <p:spPr>
          <a:xfrm>
            <a:off x="3785616" y="5510293"/>
            <a:ext cx="12802"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77" name="Shape 75"/>
          <p:cNvSpPr/>
          <p:nvPr/>
        </p:nvSpPr>
        <p:spPr>
          <a:xfrm>
            <a:off x="3785616" y="5750188"/>
            <a:ext cx="12802"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81" name="Shape 79"/>
          <p:cNvSpPr/>
          <p:nvPr/>
        </p:nvSpPr>
        <p:spPr>
          <a:xfrm>
            <a:off x="9306884" y="1911860"/>
            <a:ext cx="29140" cy="110352"/>
          </a:xfrm>
          <a:prstGeom prst="rect">
            <a:avLst/>
          </a:prstGeom>
          <a:solidFill>
            <a:srgbClr val="C2352F"/>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85" name="Shape 83"/>
          <p:cNvSpPr/>
          <p:nvPr/>
        </p:nvSpPr>
        <p:spPr>
          <a:xfrm>
            <a:off x="9216705" y="2151755"/>
            <a:ext cx="119319" cy="110352"/>
          </a:xfrm>
          <a:prstGeom prst="rect">
            <a:avLst/>
          </a:prstGeom>
          <a:solidFill>
            <a:srgbClr val="C2352F"/>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−9</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89" name="Shape 87"/>
          <p:cNvSpPr/>
          <p:nvPr/>
        </p:nvSpPr>
        <p:spPr>
          <a:xfrm>
            <a:off x="9155707" y="2391651"/>
            <a:ext cx="180317" cy="110352"/>
          </a:xfrm>
          <a:prstGeom prst="rect">
            <a:avLst/>
          </a:prstGeom>
          <a:solidFill>
            <a:srgbClr val="C2352F"/>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93" name="Shape 91"/>
          <p:cNvSpPr/>
          <p:nvPr/>
        </p:nvSpPr>
        <p:spPr>
          <a:xfrm>
            <a:off x="9144900" y="2631546"/>
            <a:ext cx="191124" cy="110352"/>
          </a:xfrm>
          <a:prstGeom prst="rect">
            <a:avLst/>
          </a:prstGeom>
          <a:solidFill>
            <a:srgbClr val="C2352F"/>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97" name="Shape 95"/>
          <p:cNvSpPr/>
          <p:nvPr/>
        </p:nvSpPr>
        <p:spPr>
          <a:xfrm>
            <a:off x="9113369" y="2871442"/>
            <a:ext cx="222655" cy="110352"/>
          </a:xfrm>
          <a:prstGeom prst="rect">
            <a:avLst/>
          </a:prstGeom>
          <a:solidFill>
            <a:srgbClr val="C2352F"/>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−17</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01" name="Shape 99"/>
          <p:cNvSpPr/>
          <p:nvPr/>
        </p:nvSpPr>
        <p:spPr>
          <a:xfrm>
            <a:off x="9069301" y="3111337"/>
            <a:ext cx="266723"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−20</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05" name="Shape 103"/>
          <p:cNvSpPr/>
          <p:nvPr/>
        </p:nvSpPr>
        <p:spPr>
          <a:xfrm>
            <a:off x="9051012" y="3351233"/>
            <a:ext cx="285012"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−22</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9" name="Shape 107"/>
          <p:cNvSpPr/>
          <p:nvPr/>
        </p:nvSpPr>
        <p:spPr>
          <a:xfrm>
            <a:off x="8963630" y="3591128"/>
            <a:ext cx="372394"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−28</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13" name="Shape 111"/>
          <p:cNvSpPr/>
          <p:nvPr/>
        </p:nvSpPr>
        <p:spPr>
          <a:xfrm>
            <a:off x="8947862" y="3831024"/>
            <a:ext cx="388162"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−29</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17" name="Shape 115"/>
          <p:cNvSpPr/>
          <p:nvPr/>
        </p:nvSpPr>
        <p:spPr>
          <a:xfrm>
            <a:off x="8941405" y="4070920"/>
            <a:ext cx="394619"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−30</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21" name="Shape 119"/>
          <p:cNvSpPr/>
          <p:nvPr/>
        </p:nvSpPr>
        <p:spPr>
          <a:xfrm>
            <a:off x="8905154" y="4310815"/>
            <a:ext cx="430870"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−33</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25" name="Shape 123"/>
          <p:cNvSpPr/>
          <p:nvPr/>
        </p:nvSpPr>
        <p:spPr>
          <a:xfrm>
            <a:off x="8863913" y="4550711"/>
            <a:ext cx="472111"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−36</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29" name="Shape 127"/>
          <p:cNvSpPr/>
          <p:nvPr/>
        </p:nvSpPr>
        <p:spPr>
          <a:xfrm>
            <a:off x="8798725" y="4790606"/>
            <a:ext cx="537299"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−41</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33" name="Shape 131"/>
          <p:cNvSpPr/>
          <p:nvPr/>
        </p:nvSpPr>
        <p:spPr>
          <a:xfrm>
            <a:off x="8761661" y="5030502"/>
            <a:ext cx="574363"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−43</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7" name="Shape 135"/>
          <p:cNvSpPr/>
          <p:nvPr/>
        </p:nvSpPr>
        <p:spPr>
          <a:xfrm>
            <a:off x="8566984" y="5270397"/>
            <a:ext cx="769040"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−58</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41" name="Shape 139"/>
          <p:cNvSpPr/>
          <p:nvPr/>
        </p:nvSpPr>
        <p:spPr>
          <a:xfrm>
            <a:off x="8558784" y="5510293"/>
            <a:ext cx="77724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−59</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FBEBEA"/>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17 of 33 stores raised ROs per advisor. 16 declined.</a:t>
            </a:r>
            <a:endParaRPr lang="en-US" sz="1600" dirty="0"/>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ADVISOR</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Text 8"/>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175</a:t>
            </a:r>
            <a:endParaRPr lang="en-US" sz="1400" dirty="0"/>
          </a:p>
        </p:txBody>
      </p:sp>
      <p:graphicFrame>
        <p:nvGraphicFramePr>
          <p:cNvPr id="12"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3" name="Text 10"/>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a:t>
            </a:r>
            <a:endParaRPr lang="en-US" sz="1600" dirty="0"/>
          </a:p>
        </p:txBody>
      </p:sp>
      <p:sp>
        <p:nvSpPr>
          <p:cNvPr id="14" name="Text 11"/>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2"/>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a:t>
            </a:r>
            <a:endParaRPr lang="en-US" sz="1400" dirty="0"/>
          </a:p>
        </p:txBody>
      </p:sp>
      <p:graphicFrame>
        <p:nvGraphicFramePr>
          <p:cNvPr id="16"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7" name="Text 13"/>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a:t>
            </a:r>
            <a:endParaRPr lang="en-US" sz="1600" dirty="0"/>
          </a:p>
        </p:txBody>
      </p:sp>
      <p:sp>
        <p:nvSpPr>
          <p:cNvPr id="18" name="Shape 14"/>
          <p:cNvSpPr/>
          <p:nvPr/>
        </p:nvSpPr>
        <p:spPr>
          <a:xfrm>
            <a:off x="658368" y="3584448"/>
            <a:ext cx="3489960" cy="886968"/>
          </a:xfrm>
          <a:prstGeom prst="rect">
            <a:avLst/>
          </a:prstGeom>
          <a:solidFill>
            <a:srgbClr val="F7F7F7"/>
          </a:solidFill>
          <a:ln/>
        </p:spPr>
      </p:sp>
      <p:sp>
        <p:nvSpPr>
          <p:cNvPr id="19" name="Text 15"/>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0" name="Text 16"/>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253</a:t>
            </a:r>
            <a:endParaRPr lang="en-US" sz="1400" dirty="0"/>
          </a:p>
        </p:txBody>
      </p:sp>
      <p:graphicFrame>
        <p:nvGraphicFramePr>
          <p:cNvPr id="21"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2" name="Text 17"/>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+31</a:t>
            </a:r>
            <a:endParaRPr lang="en-US" sz="1600" dirty="0"/>
          </a:p>
        </p:txBody>
      </p:sp>
      <p:sp>
        <p:nvSpPr>
          <p:cNvPr id="23" name="Text 18"/>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4" name="Text 19"/>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194</a:t>
            </a:r>
            <a:endParaRPr lang="en-US" sz="1400" dirty="0"/>
          </a:p>
        </p:txBody>
      </p:sp>
      <p:graphicFrame>
        <p:nvGraphicFramePr>
          <p:cNvPr id="25"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6" name="Text 20"/>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a:t>
            </a:r>
            <a:endParaRPr lang="en-US" sz="1600" dirty="0"/>
          </a:p>
        </p:txBody>
      </p:sp>
      <p:sp>
        <p:nvSpPr>
          <p:cNvPr id="27" name="Shape 21"/>
          <p:cNvSpPr/>
          <p:nvPr/>
        </p:nvSpPr>
        <p:spPr>
          <a:xfrm>
            <a:off x="658368" y="5358384"/>
            <a:ext cx="3489960" cy="886968"/>
          </a:xfrm>
          <a:prstGeom prst="rect">
            <a:avLst/>
          </a:prstGeom>
          <a:solidFill>
            <a:srgbClr val="F7F7F7"/>
          </a:solidFill>
          <a:ln/>
        </p:spPr>
      </p:sp>
      <p:sp>
        <p:nvSpPr>
          <p:cNvPr id="28" name="Text 22"/>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9" name="Text 23"/>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180</a:t>
            </a:r>
            <a:endParaRPr lang="en-US" sz="1400" dirty="0"/>
          </a:p>
        </p:txBody>
      </p:sp>
      <p:graphicFrame>
        <p:nvGraphicFramePr>
          <p:cNvPr id="30"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1" name="Text 24"/>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a:t>
            </a:r>
            <a:endParaRPr lang="en-US" sz="1600" dirty="0"/>
          </a:p>
        </p:txBody>
      </p:sp>
      <p:sp>
        <p:nvSpPr>
          <p:cNvPr id="32" name="Shape 25"/>
          <p:cNvSpPr/>
          <p:nvPr/>
        </p:nvSpPr>
        <p:spPr>
          <a:xfrm>
            <a:off x="4349496" y="1371600"/>
            <a:ext cx="3489960" cy="45720"/>
          </a:xfrm>
          <a:prstGeom prst="rect">
            <a:avLst/>
          </a:prstGeom>
          <a:solidFill>
            <a:srgbClr val="C2352F"/>
          </a:solidFill>
          <a:ln/>
        </p:spPr>
      </p:sp>
      <p:sp>
        <p:nvSpPr>
          <p:cNvPr id="33"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4" name="Shape 27"/>
          <p:cNvSpPr/>
          <p:nvPr/>
        </p:nvSpPr>
        <p:spPr>
          <a:xfrm>
            <a:off x="4349496" y="1810512"/>
            <a:ext cx="3489960" cy="886968"/>
          </a:xfrm>
          <a:prstGeom prst="rect">
            <a:avLst/>
          </a:prstGeom>
          <a:solidFill>
            <a:srgbClr val="F7F7F7"/>
          </a:solidFill>
          <a:ln/>
        </p:spPr>
      </p:sp>
      <p:sp>
        <p:nvSpPr>
          <p:cNvPr id="35" name="Text 28"/>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6" name="Text 29"/>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244</a:t>
            </a:r>
            <a:endParaRPr lang="en-US" sz="1400" dirty="0"/>
          </a:p>
        </p:txBody>
      </p:sp>
      <p:graphicFrame>
        <p:nvGraphicFramePr>
          <p:cNvPr id="37"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38" name="Text 30"/>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−59</a:t>
            </a:r>
            <a:endParaRPr lang="en-US" sz="1600" dirty="0"/>
          </a:p>
        </p:txBody>
      </p:sp>
      <p:sp>
        <p:nvSpPr>
          <p:cNvPr id="39" name="Text 31"/>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0" name="Text 32"/>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139</a:t>
            </a:r>
            <a:endParaRPr lang="en-US" sz="1400" dirty="0"/>
          </a:p>
        </p:txBody>
      </p:sp>
      <p:graphicFrame>
        <p:nvGraphicFramePr>
          <p:cNvPr id="41"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2" name="Text 33"/>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−58</a:t>
            </a:r>
            <a:endParaRPr lang="en-US" sz="1600" dirty="0"/>
          </a:p>
        </p:txBody>
      </p:sp>
      <p:sp>
        <p:nvSpPr>
          <p:cNvPr id="43" name="Shape 34"/>
          <p:cNvSpPr/>
          <p:nvPr/>
        </p:nvSpPr>
        <p:spPr>
          <a:xfrm>
            <a:off x="4349496" y="3584448"/>
            <a:ext cx="3489960" cy="886968"/>
          </a:xfrm>
          <a:prstGeom prst="rect">
            <a:avLst/>
          </a:prstGeom>
          <a:solidFill>
            <a:srgbClr val="F7F7F7"/>
          </a:solidFill>
          <a:ln/>
        </p:spPr>
      </p:sp>
      <p:sp>
        <p:nvSpPr>
          <p:cNvPr id="44" name="Text 35"/>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5" name="Text 36"/>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123</a:t>
            </a:r>
            <a:endParaRPr lang="en-US" sz="1400" dirty="0"/>
          </a:p>
        </p:txBody>
      </p:sp>
      <p:graphicFrame>
        <p:nvGraphicFramePr>
          <p:cNvPr id="46"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7" name="Text 37"/>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−43</a:t>
            </a:r>
            <a:endParaRPr lang="en-US" sz="1600" dirty="0"/>
          </a:p>
        </p:txBody>
      </p:sp>
      <p:sp>
        <p:nvSpPr>
          <p:cNvPr id="48" name="Text 38"/>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9" name="Text 39"/>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161</a:t>
            </a:r>
            <a:endParaRPr lang="en-US" sz="1400" dirty="0"/>
          </a:p>
        </p:txBody>
      </p:sp>
      <p:graphicFrame>
        <p:nvGraphicFramePr>
          <p:cNvPr id="50"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1" name="Text 40"/>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−41</a:t>
            </a:r>
            <a:endParaRPr lang="en-US" sz="1600" dirty="0"/>
          </a:p>
        </p:txBody>
      </p:sp>
      <p:sp>
        <p:nvSpPr>
          <p:cNvPr id="52" name="Shape 41"/>
          <p:cNvSpPr/>
          <p:nvPr/>
        </p:nvSpPr>
        <p:spPr>
          <a:xfrm>
            <a:off x="4349496" y="5358384"/>
            <a:ext cx="3489960" cy="886968"/>
          </a:xfrm>
          <a:prstGeom prst="rect">
            <a:avLst/>
          </a:prstGeom>
          <a:solidFill>
            <a:srgbClr val="F7F7F7"/>
          </a:solidFill>
          <a:ln/>
        </p:spPr>
      </p:sp>
      <p:sp>
        <p:nvSpPr>
          <p:cNvPr id="53" name="Text 42"/>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4" name="Text 43"/>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225</a:t>
            </a:r>
            <a:endParaRPr lang="en-US" sz="1400" dirty="0"/>
          </a:p>
        </p:txBody>
      </p:sp>
      <p:graphicFrame>
        <p:nvGraphicFramePr>
          <p:cNvPr id="55"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6" name="Text 44"/>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−36</a:t>
            </a:r>
            <a:endParaRPr lang="en-US" sz="1600" dirty="0"/>
          </a:p>
        </p:txBody>
      </p:sp>
      <p:sp>
        <p:nvSpPr>
          <p:cNvPr id="57" name="Shape 45"/>
          <p:cNvSpPr/>
          <p:nvPr/>
        </p:nvSpPr>
        <p:spPr>
          <a:xfrm>
            <a:off x="8040624" y="1371600"/>
            <a:ext cx="3489960" cy="45720"/>
          </a:xfrm>
          <a:prstGeom prst="rect">
            <a:avLst/>
          </a:prstGeom>
          <a:solidFill>
            <a:srgbClr val="2587C5"/>
          </a:solidFill>
          <a:ln/>
        </p:spPr>
      </p:sp>
      <p:sp>
        <p:nvSpPr>
          <p:cNvPr id="58" name="Text 46"/>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9" name="Shape 47"/>
          <p:cNvSpPr/>
          <p:nvPr/>
        </p:nvSpPr>
        <p:spPr>
          <a:xfrm>
            <a:off x="8040624" y="1810512"/>
            <a:ext cx="3489960" cy="886968"/>
          </a:xfrm>
          <a:prstGeom prst="rect">
            <a:avLst/>
          </a:prstGeom>
          <a:solidFill>
            <a:srgbClr val="F7F7F7"/>
          </a:solidFill>
          <a:ln/>
        </p:spPr>
      </p:sp>
      <p:sp>
        <p:nvSpPr>
          <p:cNvPr id="60" name="Text 48"/>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1" name="Text 49"/>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175</a:t>
            </a:r>
            <a:endParaRPr lang="en-US" sz="1400" dirty="0"/>
          </a:p>
        </p:txBody>
      </p:sp>
      <p:graphicFrame>
        <p:nvGraphicFramePr>
          <p:cNvPr id="62"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3"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4" name="Text 50"/>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+57</a:t>
            </a:r>
            <a:endParaRPr lang="en-US" sz="1600" dirty="0"/>
          </a:p>
        </p:txBody>
      </p:sp>
      <p:sp>
        <p:nvSpPr>
          <p:cNvPr id="65" name="Text 51"/>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6" name="Text 52"/>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203</a:t>
            </a:r>
            <a:endParaRPr lang="en-US" sz="1400" dirty="0"/>
          </a:p>
        </p:txBody>
      </p:sp>
      <p:graphicFrame>
        <p:nvGraphicFramePr>
          <p:cNvPr id="67"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68"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69" name="Text 53"/>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a:t>
            </a:r>
            <a:endParaRPr lang="en-US" sz="1600" dirty="0"/>
          </a:p>
        </p:txBody>
      </p:sp>
      <p:sp>
        <p:nvSpPr>
          <p:cNvPr id="70" name="Shape 54"/>
          <p:cNvSpPr/>
          <p:nvPr/>
        </p:nvSpPr>
        <p:spPr>
          <a:xfrm>
            <a:off x="8040624" y="3584448"/>
            <a:ext cx="3489960" cy="886968"/>
          </a:xfrm>
          <a:prstGeom prst="rect">
            <a:avLst/>
          </a:prstGeom>
          <a:solidFill>
            <a:srgbClr val="F7F7F7"/>
          </a:solidFill>
          <a:ln/>
        </p:spPr>
      </p:sp>
      <p:sp>
        <p:nvSpPr>
          <p:cNvPr id="71" name="Text 55"/>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2" name="Text 56"/>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237</a:t>
            </a:r>
            <a:endParaRPr lang="en-US" sz="1400" dirty="0"/>
          </a:p>
        </p:txBody>
      </p:sp>
      <p:graphicFrame>
        <p:nvGraphicFramePr>
          <p:cNvPr id="73"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4"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5" name="Text 57"/>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a:t>
            </a:r>
            <a:endParaRPr lang="en-US" sz="1600" dirty="0"/>
          </a:p>
        </p:txBody>
      </p:sp>
      <p:sp>
        <p:nvSpPr>
          <p:cNvPr id="76" name="Text 58"/>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7" name="Text 59"/>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186</a:t>
            </a:r>
            <a:endParaRPr lang="en-US" sz="1400" dirty="0"/>
          </a:p>
        </p:txBody>
      </p:sp>
      <p:graphicFrame>
        <p:nvGraphicFramePr>
          <p:cNvPr id="78"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79"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0" name="Text 60"/>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a:t>
            </a:r>
            <a:endParaRPr lang="en-US" sz="1600" dirty="0"/>
          </a:p>
        </p:txBody>
      </p:sp>
      <p:sp>
        <p:nvSpPr>
          <p:cNvPr id="81" name="Shape 61"/>
          <p:cNvSpPr/>
          <p:nvPr/>
        </p:nvSpPr>
        <p:spPr>
          <a:xfrm>
            <a:off x="8040624" y="5358384"/>
            <a:ext cx="3489960" cy="886968"/>
          </a:xfrm>
          <a:prstGeom prst="rect">
            <a:avLst/>
          </a:prstGeom>
          <a:solidFill>
            <a:srgbClr val="F7F7F7"/>
          </a:solidFill>
          <a:ln/>
        </p:spPr>
      </p:sp>
      <p:sp>
        <p:nvSpPr>
          <p:cNvPr id="82" name="Text 62"/>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3" name="Text 63"/>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187</a:t>
            </a:r>
            <a:endParaRPr lang="en-US" sz="1400" dirty="0"/>
          </a:p>
        </p:txBody>
      </p:sp>
      <p:graphicFrame>
        <p:nvGraphicFramePr>
          <p:cNvPr id="84"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5"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86" name="Text 64"/>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a:t>
            </a:r>
            <a:endParaRPr lang="en-US" sz="1600" dirty="0"/>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MANAGER</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377</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390</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+13</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+3.5%</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&amp; W ROs per Fixed Manager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13 to 390, ahead of 2025 in eight of nine months. Managers fell 5.6%.</a:t>
            </a:r>
            <a:endParaRPr lang="en-US" sz="1600" dirty="0"/>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MANAGER</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4442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&amp; W ROS PER FIXED MANAGER</a:t>
            </a:r>
            <a:endParaRPr lang="en-US" sz="1500" dirty="0"/>
          </a:p>
        </p:txBody>
      </p:sp>
      <p:sp>
        <p:nvSpPr>
          <p:cNvPr id="9" name="Text 7"/>
          <p:cNvSpPr txBox="1"/>
          <p:nvPr/>
        </p:nvSpPr>
        <p:spPr>
          <a:xfrm>
            <a:off x="4358640" y="1335024"/>
            <a:ext cx="36880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390</a:t>
            </a:r>
            <a:endParaRPr lang="en-US" sz="2000" dirty="0"/>
          </a:p>
        </p:txBody>
      </p:sp>
      <p:sp>
        <p:nvSpPr>
          <p:cNvPr id="11" name="Text 9"/>
          <p:cNvSpPr txBox="1"/>
          <p:nvPr/>
        </p:nvSpPr>
        <p:spPr>
          <a:xfrm>
            <a:off x="658368" y="184708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LUXURY · AVERAGE 276</a:t>
            </a:r>
            <a:endParaRPr lang="en-US" sz="1300" dirty="0"/>
          </a:p>
        </p:txBody>
      </p:sp>
      <p:sp>
        <p:nvSpPr>
          <p:cNvPr id="12" name="Shape 10"/>
          <p:cNvSpPr/>
          <p:nvPr/>
        </p:nvSpPr>
        <p:spPr>
          <a:xfrm>
            <a:off x="658368" y="2075688"/>
            <a:ext cx="5303520" cy="18288"/>
          </a:xfrm>
          <a:prstGeom prst="rect">
            <a:avLst/>
          </a:prstGeom>
          <a:solidFill>
            <a:srgbClr val="0B2C4A"/>
          </a:solidFill>
          <a:ln/>
        </p:spPr>
      </p:sp>
      <p:sp>
        <p:nvSpPr>
          <p:cNvPr id="13" name="Text 11"/>
          <p:cNvSpPr txBox="1"/>
          <p:nvPr/>
        </p:nvSpPr>
        <p:spPr>
          <a:xfrm>
            <a:off x="658368" y="209397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4" name="Text 12"/>
          <p:cNvSpPr txBox="1"/>
          <p:nvPr/>
        </p:nvSpPr>
        <p:spPr>
          <a:xfrm>
            <a:off x="1014984" y="209397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5" name="Shape 13"/>
          <p:cNvSpPr/>
          <p:nvPr/>
        </p:nvSpPr>
        <p:spPr>
          <a:xfrm>
            <a:off x="3008376" y="2155698"/>
            <a:ext cx="1208610" cy="123444"/>
          </a:xfrm>
          <a:prstGeom prst="rect">
            <a:avLst/>
          </a:prstGeom>
          <a:solidFill>
            <a:srgbClr val="12A566"/>
          </a:solidFill>
          <a:ln/>
        </p:spPr>
      </p:sp>
      <p:sp>
        <p:nvSpPr>
          <p:cNvPr id="16" name="Text 14"/>
          <p:cNvSpPr txBox="1"/>
          <p:nvPr/>
        </p:nvSpPr>
        <p:spPr>
          <a:xfrm>
            <a:off x="4754880" y="209397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491</a:t>
            </a:r>
            <a:endParaRPr lang="en-US" sz="1200" dirty="0"/>
          </a:p>
        </p:txBody>
      </p:sp>
      <p:sp>
        <p:nvSpPr>
          <p:cNvPr id="17" name="Text 15"/>
          <p:cNvSpPr txBox="1"/>
          <p:nvPr/>
        </p:nvSpPr>
        <p:spPr>
          <a:xfrm>
            <a:off x="658368" y="234086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234086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9" name="Shape 17"/>
          <p:cNvSpPr/>
          <p:nvPr/>
        </p:nvSpPr>
        <p:spPr>
          <a:xfrm>
            <a:off x="3008376" y="2402586"/>
            <a:ext cx="902480" cy="123444"/>
          </a:xfrm>
          <a:prstGeom prst="rect">
            <a:avLst/>
          </a:prstGeom>
          <a:solidFill>
            <a:srgbClr val="12A566"/>
          </a:solidFill>
          <a:ln/>
        </p:spPr>
      </p:sp>
      <p:sp>
        <p:nvSpPr>
          <p:cNvPr id="20" name="Text 18"/>
          <p:cNvSpPr txBox="1"/>
          <p:nvPr/>
        </p:nvSpPr>
        <p:spPr>
          <a:xfrm>
            <a:off x="4754880" y="234086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367</a:t>
            </a:r>
            <a:endParaRPr lang="en-US" sz="1200" dirty="0"/>
          </a:p>
        </p:txBody>
      </p:sp>
      <p:sp>
        <p:nvSpPr>
          <p:cNvPr id="21" name="Text 19"/>
          <p:cNvSpPr txBox="1"/>
          <p:nvPr/>
        </p:nvSpPr>
        <p:spPr>
          <a:xfrm>
            <a:off x="658368" y="258775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2" name="Text 20"/>
          <p:cNvSpPr txBox="1"/>
          <p:nvPr/>
        </p:nvSpPr>
        <p:spPr>
          <a:xfrm>
            <a:off x="1014984" y="258775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23" name="Shape 21"/>
          <p:cNvSpPr/>
          <p:nvPr/>
        </p:nvSpPr>
        <p:spPr>
          <a:xfrm>
            <a:off x="3008376" y="2649474"/>
            <a:ext cx="819371" cy="123444"/>
          </a:xfrm>
          <a:prstGeom prst="rect">
            <a:avLst/>
          </a:prstGeom>
          <a:solidFill>
            <a:srgbClr val="12A566"/>
          </a:solidFill>
          <a:ln/>
        </p:spPr>
      </p:sp>
      <p:sp>
        <p:nvSpPr>
          <p:cNvPr id="24" name="Text 22"/>
          <p:cNvSpPr txBox="1"/>
          <p:nvPr/>
        </p:nvSpPr>
        <p:spPr>
          <a:xfrm>
            <a:off x="4754880" y="258775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333</a:t>
            </a:r>
            <a:endParaRPr lang="en-US" sz="1200" dirty="0"/>
          </a:p>
        </p:txBody>
      </p:sp>
      <p:sp>
        <p:nvSpPr>
          <p:cNvPr id="25" name="Text 23"/>
          <p:cNvSpPr txBox="1"/>
          <p:nvPr/>
        </p:nvSpPr>
        <p:spPr>
          <a:xfrm>
            <a:off x="658368" y="283464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6" name="Text 24"/>
          <p:cNvSpPr txBox="1"/>
          <p:nvPr/>
        </p:nvSpPr>
        <p:spPr>
          <a:xfrm>
            <a:off x="1014984" y="283464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27" name="Shape 25"/>
          <p:cNvSpPr/>
          <p:nvPr/>
        </p:nvSpPr>
        <p:spPr>
          <a:xfrm>
            <a:off x="3008376" y="2896362"/>
            <a:ext cx="717480" cy="123444"/>
          </a:xfrm>
          <a:prstGeom prst="rect">
            <a:avLst/>
          </a:prstGeom>
          <a:solidFill>
            <a:srgbClr val="12A566"/>
          </a:solidFill>
          <a:ln/>
        </p:spPr>
      </p:sp>
      <p:sp>
        <p:nvSpPr>
          <p:cNvPr id="28" name="Text 26"/>
          <p:cNvSpPr txBox="1"/>
          <p:nvPr/>
        </p:nvSpPr>
        <p:spPr>
          <a:xfrm>
            <a:off x="4754880" y="283464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291</a:t>
            </a:r>
            <a:endParaRPr lang="en-US" sz="1200" dirty="0"/>
          </a:p>
        </p:txBody>
      </p:sp>
      <p:sp>
        <p:nvSpPr>
          <p:cNvPr id="29" name="Text 27"/>
          <p:cNvSpPr txBox="1"/>
          <p:nvPr/>
        </p:nvSpPr>
        <p:spPr>
          <a:xfrm>
            <a:off x="658368" y="308152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0" name="Text 28"/>
          <p:cNvSpPr txBox="1"/>
          <p:nvPr/>
        </p:nvSpPr>
        <p:spPr>
          <a:xfrm>
            <a:off x="1014984" y="308152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31" name="Shape 29"/>
          <p:cNvSpPr/>
          <p:nvPr/>
        </p:nvSpPr>
        <p:spPr>
          <a:xfrm>
            <a:off x="3008376" y="3143250"/>
            <a:ext cx="707906" cy="123444"/>
          </a:xfrm>
          <a:prstGeom prst="rect">
            <a:avLst/>
          </a:prstGeom>
          <a:solidFill>
            <a:srgbClr val="12A566"/>
          </a:solidFill>
          <a:ln/>
        </p:spPr>
      </p:sp>
      <p:sp>
        <p:nvSpPr>
          <p:cNvPr id="32" name="Text 30"/>
          <p:cNvSpPr txBox="1"/>
          <p:nvPr/>
        </p:nvSpPr>
        <p:spPr>
          <a:xfrm>
            <a:off x="4754880" y="308152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288</a:t>
            </a:r>
            <a:endParaRPr lang="en-US" sz="1200" dirty="0"/>
          </a:p>
        </p:txBody>
      </p:sp>
      <p:sp>
        <p:nvSpPr>
          <p:cNvPr id="33" name="Text 31"/>
          <p:cNvSpPr txBox="1"/>
          <p:nvPr/>
        </p:nvSpPr>
        <p:spPr>
          <a:xfrm>
            <a:off x="658368" y="332841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4" name="Text 32"/>
          <p:cNvSpPr txBox="1"/>
          <p:nvPr/>
        </p:nvSpPr>
        <p:spPr>
          <a:xfrm>
            <a:off x="1014984" y="332841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35" name="Shape 33"/>
          <p:cNvSpPr/>
          <p:nvPr/>
        </p:nvSpPr>
        <p:spPr>
          <a:xfrm>
            <a:off x="3008376" y="3390138"/>
            <a:ext cx="619947" cy="123444"/>
          </a:xfrm>
          <a:prstGeom prst="rect">
            <a:avLst/>
          </a:prstGeom>
          <a:solidFill>
            <a:srgbClr val="C2352F"/>
          </a:solidFill>
          <a:ln/>
        </p:spPr>
      </p:sp>
      <p:sp>
        <p:nvSpPr>
          <p:cNvPr id="36" name="Text 34"/>
          <p:cNvSpPr txBox="1"/>
          <p:nvPr/>
        </p:nvSpPr>
        <p:spPr>
          <a:xfrm>
            <a:off x="4754880" y="332841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252</a:t>
            </a:r>
            <a:endParaRPr lang="en-US" sz="1200" dirty="0"/>
          </a:p>
        </p:txBody>
      </p:sp>
      <p:sp>
        <p:nvSpPr>
          <p:cNvPr id="37" name="Text 35"/>
          <p:cNvSpPr txBox="1"/>
          <p:nvPr/>
        </p:nvSpPr>
        <p:spPr>
          <a:xfrm>
            <a:off x="658368" y="357530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8" name="Text 36"/>
          <p:cNvSpPr txBox="1"/>
          <p:nvPr/>
        </p:nvSpPr>
        <p:spPr>
          <a:xfrm>
            <a:off x="1014984" y="357530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39" name="Shape 37"/>
          <p:cNvSpPr/>
          <p:nvPr/>
        </p:nvSpPr>
        <p:spPr>
          <a:xfrm>
            <a:off x="3008376" y="3637026"/>
            <a:ext cx="488532" cy="123444"/>
          </a:xfrm>
          <a:prstGeom prst="rect">
            <a:avLst/>
          </a:prstGeom>
          <a:solidFill>
            <a:srgbClr val="C2352F"/>
          </a:solidFill>
          <a:ln/>
        </p:spPr>
      </p:sp>
      <p:sp>
        <p:nvSpPr>
          <p:cNvPr id="40" name="Text 38"/>
          <p:cNvSpPr txBox="1"/>
          <p:nvPr/>
        </p:nvSpPr>
        <p:spPr>
          <a:xfrm>
            <a:off x="4754880" y="357530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198</a:t>
            </a:r>
            <a:endParaRPr lang="en-US" sz="1200" dirty="0"/>
          </a:p>
        </p:txBody>
      </p:sp>
      <p:sp>
        <p:nvSpPr>
          <p:cNvPr id="41" name="Text 39"/>
          <p:cNvSpPr txBox="1"/>
          <p:nvPr/>
        </p:nvSpPr>
        <p:spPr>
          <a:xfrm>
            <a:off x="658368" y="382219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2" name="Text 40"/>
          <p:cNvSpPr txBox="1"/>
          <p:nvPr/>
        </p:nvSpPr>
        <p:spPr>
          <a:xfrm>
            <a:off x="1014984" y="382219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43" name="Shape 41"/>
          <p:cNvSpPr/>
          <p:nvPr/>
        </p:nvSpPr>
        <p:spPr>
          <a:xfrm>
            <a:off x="3008376" y="3883914"/>
            <a:ext cx="349030" cy="123444"/>
          </a:xfrm>
          <a:prstGeom prst="rect">
            <a:avLst/>
          </a:prstGeom>
          <a:solidFill>
            <a:srgbClr val="C2352F"/>
          </a:solidFill>
          <a:ln/>
        </p:spPr>
      </p:sp>
      <p:sp>
        <p:nvSpPr>
          <p:cNvPr id="44" name="Text 42"/>
          <p:cNvSpPr txBox="1"/>
          <p:nvPr/>
        </p:nvSpPr>
        <p:spPr>
          <a:xfrm>
            <a:off x="4754880" y="382219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142</a:t>
            </a:r>
            <a:endParaRPr lang="en-US" sz="1200" dirty="0"/>
          </a:p>
        </p:txBody>
      </p:sp>
      <p:sp>
        <p:nvSpPr>
          <p:cNvPr id="45" name="Text 43"/>
          <p:cNvSpPr txBox="1"/>
          <p:nvPr/>
        </p:nvSpPr>
        <p:spPr>
          <a:xfrm>
            <a:off x="658368" y="406908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6" name="Text 44"/>
          <p:cNvSpPr txBox="1"/>
          <p:nvPr/>
        </p:nvSpPr>
        <p:spPr>
          <a:xfrm>
            <a:off x="1014984" y="406908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47" name="Shape 45"/>
          <p:cNvSpPr/>
          <p:nvPr/>
        </p:nvSpPr>
        <p:spPr>
          <a:xfrm>
            <a:off x="3008376" y="4130802"/>
            <a:ext cx="291998" cy="123444"/>
          </a:xfrm>
          <a:prstGeom prst="rect">
            <a:avLst/>
          </a:prstGeom>
          <a:solidFill>
            <a:srgbClr val="C2352F"/>
          </a:solidFill>
          <a:ln/>
        </p:spPr>
      </p:sp>
      <p:sp>
        <p:nvSpPr>
          <p:cNvPr id="48" name="Text 46"/>
          <p:cNvSpPr txBox="1"/>
          <p:nvPr/>
        </p:nvSpPr>
        <p:spPr>
          <a:xfrm>
            <a:off x="4754880" y="406908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119</a:t>
            </a:r>
            <a:endParaRPr lang="en-US" sz="1200" dirty="0"/>
          </a:p>
        </p:txBody>
      </p:sp>
      <p:sp>
        <p:nvSpPr>
          <p:cNvPr id="49" name="Shape 47"/>
          <p:cNvSpPr/>
          <p:nvPr/>
        </p:nvSpPr>
        <p:spPr>
          <a:xfrm>
            <a:off x="658368" y="4297680"/>
            <a:ext cx="5303520" cy="18288"/>
          </a:xfrm>
          <a:prstGeom prst="rect">
            <a:avLst/>
          </a:prstGeom>
          <a:solidFill>
            <a:srgbClr val="0B2C4A"/>
          </a:solidFill>
          <a:ln/>
        </p:spPr>
      </p:sp>
      <p:sp>
        <p:nvSpPr>
          <p:cNvPr id="50" name="Text 48"/>
          <p:cNvSpPr txBox="1"/>
          <p:nvPr/>
        </p:nvSpPr>
        <p:spPr>
          <a:xfrm>
            <a:off x="658368" y="431596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418</a:t>
            </a:r>
            <a:endParaRPr lang="en-US" sz="1300" dirty="0"/>
          </a:p>
        </p:txBody>
      </p:sp>
      <p:sp>
        <p:nvSpPr>
          <p:cNvPr id="51" name="Shape 49"/>
          <p:cNvSpPr/>
          <p:nvPr/>
        </p:nvSpPr>
        <p:spPr>
          <a:xfrm>
            <a:off x="658368" y="4544568"/>
            <a:ext cx="5303520" cy="18288"/>
          </a:xfrm>
          <a:prstGeom prst="rect">
            <a:avLst/>
          </a:prstGeom>
          <a:solidFill>
            <a:srgbClr val="0B2C4A"/>
          </a:solidFill>
          <a:ln/>
        </p:spPr>
      </p:sp>
      <p:sp>
        <p:nvSpPr>
          <p:cNvPr id="52" name="Text 50"/>
          <p:cNvSpPr txBox="1"/>
          <p:nvPr/>
        </p:nvSpPr>
        <p:spPr>
          <a:xfrm>
            <a:off x="658368" y="456285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53" name="Text 51"/>
          <p:cNvSpPr txBox="1"/>
          <p:nvPr/>
        </p:nvSpPr>
        <p:spPr>
          <a:xfrm>
            <a:off x="1014984" y="456285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54" name="Shape 52"/>
          <p:cNvSpPr/>
          <p:nvPr/>
        </p:nvSpPr>
        <p:spPr>
          <a:xfrm>
            <a:off x="3008376" y="4624578"/>
            <a:ext cx="1658471" cy="123444"/>
          </a:xfrm>
          <a:prstGeom prst="rect">
            <a:avLst/>
          </a:prstGeom>
          <a:solidFill>
            <a:srgbClr val="12A566"/>
          </a:solidFill>
          <a:ln/>
        </p:spPr>
      </p:sp>
      <p:sp>
        <p:nvSpPr>
          <p:cNvPr id="55" name="Text 53"/>
          <p:cNvSpPr txBox="1"/>
          <p:nvPr/>
        </p:nvSpPr>
        <p:spPr>
          <a:xfrm>
            <a:off x="4754880" y="456285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1,022</a:t>
            </a:r>
            <a:endParaRPr lang="en-US" sz="1200" dirty="0"/>
          </a:p>
        </p:txBody>
      </p:sp>
      <p:sp>
        <p:nvSpPr>
          <p:cNvPr id="56" name="Text 54"/>
          <p:cNvSpPr txBox="1"/>
          <p:nvPr/>
        </p:nvSpPr>
        <p:spPr>
          <a:xfrm>
            <a:off x="658368" y="480974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57" name="Text 55"/>
          <p:cNvSpPr txBox="1"/>
          <p:nvPr/>
        </p:nvSpPr>
        <p:spPr>
          <a:xfrm>
            <a:off x="1014984" y="480974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58" name="Shape 56"/>
          <p:cNvSpPr/>
          <p:nvPr/>
        </p:nvSpPr>
        <p:spPr>
          <a:xfrm>
            <a:off x="3008376" y="4871466"/>
            <a:ext cx="1241954" cy="123444"/>
          </a:xfrm>
          <a:prstGeom prst="rect">
            <a:avLst/>
          </a:prstGeom>
          <a:solidFill>
            <a:srgbClr val="12A566"/>
          </a:solidFill>
          <a:ln/>
        </p:spPr>
      </p:sp>
      <p:sp>
        <p:nvSpPr>
          <p:cNvPr id="59" name="Text 57"/>
          <p:cNvSpPr txBox="1"/>
          <p:nvPr/>
        </p:nvSpPr>
        <p:spPr>
          <a:xfrm>
            <a:off x="4754880" y="480974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765</a:t>
            </a:r>
            <a:endParaRPr lang="en-US" sz="1200" dirty="0"/>
          </a:p>
        </p:txBody>
      </p:sp>
      <p:sp>
        <p:nvSpPr>
          <p:cNvPr id="60" name="Text 58"/>
          <p:cNvSpPr txBox="1"/>
          <p:nvPr/>
        </p:nvSpPr>
        <p:spPr>
          <a:xfrm>
            <a:off x="658368" y="505663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61" name="Text 59"/>
          <p:cNvSpPr txBox="1"/>
          <p:nvPr/>
        </p:nvSpPr>
        <p:spPr>
          <a:xfrm>
            <a:off x="1014984" y="505663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62" name="Shape 60"/>
          <p:cNvSpPr/>
          <p:nvPr/>
        </p:nvSpPr>
        <p:spPr>
          <a:xfrm>
            <a:off x="3008376" y="5118354"/>
            <a:ext cx="1113250" cy="123444"/>
          </a:xfrm>
          <a:prstGeom prst="rect">
            <a:avLst/>
          </a:prstGeom>
          <a:solidFill>
            <a:srgbClr val="12A566"/>
          </a:solidFill>
          <a:ln/>
        </p:spPr>
      </p:sp>
      <p:sp>
        <p:nvSpPr>
          <p:cNvPr id="63" name="Text 61"/>
          <p:cNvSpPr txBox="1"/>
          <p:nvPr/>
        </p:nvSpPr>
        <p:spPr>
          <a:xfrm>
            <a:off x="4754880" y="505663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686</a:t>
            </a:r>
            <a:endParaRPr lang="en-US" sz="1200" dirty="0"/>
          </a:p>
        </p:txBody>
      </p:sp>
      <p:sp>
        <p:nvSpPr>
          <p:cNvPr id="64" name="Text 62"/>
          <p:cNvSpPr txBox="1"/>
          <p:nvPr/>
        </p:nvSpPr>
        <p:spPr>
          <a:xfrm>
            <a:off x="658368" y="530352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65" name="Text 63"/>
          <p:cNvSpPr txBox="1"/>
          <p:nvPr/>
        </p:nvSpPr>
        <p:spPr>
          <a:xfrm>
            <a:off x="1014984" y="530352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66" name="Shape 64"/>
          <p:cNvSpPr/>
          <p:nvPr/>
        </p:nvSpPr>
        <p:spPr>
          <a:xfrm>
            <a:off x="3008376" y="5365242"/>
            <a:ext cx="1066361" cy="123444"/>
          </a:xfrm>
          <a:prstGeom prst="rect">
            <a:avLst/>
          </a:prstGeom>
          <a:solidFill>
            <a:srgbClr val="12A566"/>
          </a:solidFill>
          <a:ln/>
        </p:spPr>
      </p:sp>
      <p:sp>
        <p:nvSpPr>
          <p:cNvPr id="67" name="Text 65"/>
          <p:cNvSpPr txBox="1"/>
          <p:nvPr/>
        </p:nvSpPr>
        <p:spPr>
          <a:xfrm>
            <a:off x="4754880" y="530352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657</a:t>
            </a:r>
            <a:endParaRPr lang="en-US" sz="1200" dirty="0"/>
          </a:p>
        </p:txBody>
      </p:sp>
      <p:sp>
        <p:nvSpPr>
          <p:cNvPr id="68" name="Text 66"/>
          <p:cNvSpPr txBox="1"/>
          <p:nvPr/>
        </p:nvSpPr>
        <p:spPr>
          <a:xfrm>
            <a:off x="658368" y="555040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69" name="Text 67"/>
          <p:cNvSpPr txBox="1"/>
          <p:nvPr/>
        </p:nvSpPr>
        <p:spPr>
          <a:xfrm>
            <a:off x="1014984" y="555040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70" name="Shape 68"/>
          <p:cNvSpPr/>
          <p:nvPr/>
        </p:nvSpPr>
        <p:spPr>
          <a:xfrm>
            <a:off x="3008376" y="5612130"/>
            <a:ext cx="958457" cy="123444"/>
          </a:xfrm>
          <a:prstGeom prst="rect">
            <a:avLst/>
          </a:prstGeom>
          <a:solidFill>
            <a:srgbClr val="12A566"/>
          </a:solidFill>
          <a:ln/>
        </p:spPr>
      </p:sp>
      <p:sp>
        <p:nvSpPr>
          <p:cNvPr id="71" name="Text 69"/>
          <p:cNvSpPr txBox="1"/>
          <p:nvPr/>
        </p:nvSpPr>
        <p:spPr>
          <a:xfrm>
            <a:off x="4754880" y="555040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591</a:t>
            </a:r>
            <a:endParaRPr lang="en-US" sz="1200" dirty="0"/>
          </a:p>
        </p:txBody>
      </p:sp>
      <p:sp>
        <p:nvSpPr>
          <p:cNvPr id="72" name="Text 70"/>
          <p:cNvSpPr txBox="1"/>
          <p:nvPr/>
        </p:nvSpPr>
        <p:spPr>
          <a:xfrm>
            <a:off x="658368" y="579729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73" name="Text 71"/>
          <p:cNvSpPr txBox="1"/>
          <p:nvPr/>
        </p:nvSpPr>
        <p:spPr>
          <a:xfrm>
            <a:off x="1014984" y="579729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74" name="Shape 72"/>
          <p:cNvSpPr/>
          <p:nvPr/>
        </p:nvSpPr>
        <p:spPr>
          <a:xfrm>
            <a:off x="3008376" y="5859018"/>
            <a:ext cx="908517" cy="123444"/>
          </a:xfrm>
          <a:prstGeom prst="rect">
            <a:avLst/>
          </a:prstGeom>
          <a:solidFill>
            <a:srgbClr val="12A566"/>
          </a:solidFill>
          <a:ln/>
        </p:spPr>
      </p:sp>
      <p:sp>
        <p:nvSpPr>
          <p:cNvPr id="75" name="Text 73"/>
          <p:cNvSpPr txBox="1"/>
          <p:nvPr/>
        </p:nvSpPr>
        <p:spPr>
          <a:xfrm>
            <a:off x="4754880" y="579729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560</a:t>
            </a:r>
            <a:endParaRPr lang="en-US" sz="1200" dirty="0"/>
          </a:p>
        </p:txBody>
      </p:sp>
      <p:sp>
        <p:nvSpPr>
          <p:cNvPr id="76" name="Text 74"/>
          <p:cNvSpPr txBox="1"/>
          <p:nvPr/>
        </p:nvSpPr>
        <p:spPr>
          <a:xfrm>
            <a:off x="658368" y="604418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77" name="Text 75"/>
          <p:cNvSpPr txBox="1"/>
          <p:nvPr/>
        </p:nvSpPr>
        <p:spPr>
          <a:xfrm>
            <a:off x="1014984" y="604418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78" name="Shape 76"/>
          <p:cNvSpPr/>
          <p:nvPr/>
        </p:nvSpPr>
        <p:spPr>
          <a:xfrm>
            <a:off x="3008376" y="6105906"/>
            <a:ext cx="693414" cy="123444"/>
          </a:xfrm>
          <a:prstGeom prst="rect">
            <a:avLst/>
          </a:prstGeom>
          <a:solidFill>
            <a:srgbClr val="12A566"/>
          </a:solidFill>
          <a:ln/>
        </p:spPr>
      </p:sp>
      <p:sp>
        <p:nvSpPr>
          <p:cNvPr id="79" name="Text 77"/>
          <p:cNvSpPr txBox="1"/>
          <p:nvPr/>
        </p:nvSpPr>
        <p:spPr>
          <a:xfrm>
            <a:off x="4754880" y="604418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427</a:t>
            </a:r>
            <a:endParaRPr lang="en-US" sz="1200" dirty="0"/>
          </a:p>
        </p:txBody>
      </p:sp>
      <p:sp>
        <p:nvSpPr>
          <p:cNvPr id="80" name="Text 78"/>
          <p:cNvSpPr txBox="1"/>
          <p:nvPr/>
        </p:nvSpPr>
        <p:spPr>
          <a:xfrm>
            <a:off x="6208776" y="184708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418  (CONTINUED)</a:t>
            </a:r>
            <a:endParaRPr lang="en-US" sz="1300" dirty="0"/>
          </a:p>
        </p:txBody>
      </p:sp>
      <p:sp>
        <p:nvSpPr>
          <p:cNvPr id="81" name="Shape 79"/>
          <p:cNvSpPr/>
          <p:nvPr/>
        </p:nvSpPr>
        <p:spPr>
          <a:xfrm>
            <a:off x="6208776" y="2075688"/>
            <a:ext cx="5303520" cy="18288"/>
          </a:xfrm>
          <a:prstGeom prst="rect">
            <a:avLst/>
          </a:prstGeom>
          <a:solidFill>
            <a:srgbClr val="0B2C4A"/>
          </a:solidFill>
          <a:ln/>
        </p:spPr>
      </p:sp>
      <p:sp>
        <p:nvSpPr>
          <p:cNvPr id="82" name="Text 80"/>
          <p:cNvSpPr txBox="1"/>
          <p:nvPr/>
        </p:nvSpPr>
        <p:spPr>
          <a:xfrm>
            <a:off x="6208776" y="209397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83" name="Text 81"/>
          <p:cNvSpPr txBox="1"/>
          <p:nvPr/>
        </p:nvSpPr>
        <p:spPr>
          <a:xfrm>
            <a:off x="6565392" y="209397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84" name="Shape 82"/>
          <p:cNvSpPr/>
          <p:nvPr/>
        </p:nvSpPr>
        <p:spPr>
          <a:xfrm>
            <a:off x="8558784" y="2155698"/>
            <a:ext cx="647677" cy="123444"/>
          </a:xfrm>
          <a:prstGeom prst="rect">
            <a:avLst/>
          </a:prstGeom>
          <a:solidFill>
            <a:srgbClr val="C2352F"/>
          </a:solidFill>
          <a:ln/>
        </p:spPr>
      </p:sp>
      <p:sp>
        <p:nvSpPr>
          <p:cNvPr id="85" name="Text 83"/>
          <p:cNvSpPr txBox="1"/>
          <p:nvPr/>
        </p:nvSpPr>
        <p:spPr>
          <a:xfrm>
            <a:off x="10305288" y="209397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399</a:t>
            </a:r>
            <a:endParaRPr lang="en-US" sz="1200" dirty="0"/>
          </a:p>
        </p:txBody>
      </p:sp>
      <p:sp>
        <p:nvSpPr>
          <p:cNvPr id="86" name="Text 84"/>
          <p:cNvSpPr txBox="1"/>
          <p:nvPr/>
        </p:nvSpPr>
        <p:spPr>
          <a:xfrm>
            <a:off x="6208776" y="234086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87" name="Text 85"/>
          <p:cNvSpPr txBox="1"/>
          <p:nvPr/>
        </p:nvSpPr>
        <p:spPr>
          <a:xfrm>
            <a:off x="6565392" y="234086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88" name="Shape 86"/>
          <p:cNvSpPr/>
          <p:nvPr/>
        </p:nvSpPr>
        <p:spPr>
          <a:xfrm>
            <a:off x="8558784" y="2402586"/>
            <a:ext cx="636291" cy="123444"/>
          </a:xfrm>
          <a:prstGeom prst="rect">
            <a:avLst/>
          </a:prstGeom>
          <a:solidFill>
            <a:srgbClr val="C2352F"/>
          </a:solidFill>
          <a:ln/>
        </p:spPr>
      </p:sp>
      <p:sp>
        <p:nvSpPr>
          <p:cNvPr id="89" name="Text 87"/>
          <p:cNvSpPr txBox="1"/>
          <p:nvPr/>
        </p:nvSpPr>
        <p:spPr>
          <a:xfrm>
            <a:off x="10305288" y="234086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392</a:t>
            </a:r>
            <a:endParaRPr lang="en-US" sz="1200" dirty="0"/>
          </a:p>
        </p:txBody>
      </p:sp>
      <p:sp>
        <p:nvSpPr>
          <p:cNvPr id="90" name="Text 88"/>
          <p:cNvSpPr txBox="1"/>
          <p:nvPr/>
        </p:nvSpPr>
        <p:spPr>
          <a:xfrm>
            <a:off x="6208776" y="258775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91" name="Text 89"/>
          <p:cNvSpPr txBox="1"/>
          <p:nvPr/>
        </p:nvSpPr>
        <p:spPr>
          <a:xfrm>
            <a:off x="6565392" y="258775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92" name="Shape 90"/>
          <p:cNvSpPr/>
          <p:nvPr/>
        </p:nvSpPr>
        <p:spPr>
          <a:xfrm>
            <a:off x="8558784" y="2649474"/>
            <a:ext cx="610998" cy="123444"/>
          </a:xfrm>
          <a:prstGeom prst="rect">
            <a:avLst/>
          </a:prstGeom>
          <a:solidFill>
            <a:srgbClr val="C2352F"/>
          </a:solidFill>
          <a:ln/>
        </p:spPr>
      </p:sp>
      <p:sp>
        <p:nvSpPr>
          <p:cNvPr id="93" name="Text 91"/>
          <p:cNvSpPr txBox="1"/>
          <p:nvPr/>
        </p:nvSpPr>
        <p:spPr>
          <a:xfrm>
            <a:off x="10305288" y="258775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376</a:t>
            </a:r>
            <a:endParaRPr lang="en-US" sz="1200" dirty="0"/>
          </a:p>
        </p:txBody>
      </p:sp>
      <p:sp>
        <p:nvSpPr>
          <p:cNvPr id="94" name="Text 92"/>
          <p:cNvSpPr txBox="1"/>
          <p:nvPr/>
        </p:nvSpPr>
        <p:spPr>
          <a:xfrm>
            <a:off x="6208776" y="283464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95" name="Text 93"/>
          <p:cNvSpPr txBox="1"/>
          <p:nvPr/>
        </p:nvSpPr>
        <p:spPr>
          <a:xfrm>
            <a:off x="6565392" y="283464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96" name="Shape 94"/>
          <p:cNvSpPr/>
          <p:nvPr/>
        </p:nvSpPr>
        <p:spPr>
          <a:xfrm>
            <a:off x="8558784" y="2896362"/>
            <a:ext cx="599576" cy="123444"/>
          </a:xfrm>
          <a:prstGeom prst="rect">
            <a:avLst/>
          </a:prstGeom>
          <a:solidFill>
            <a:srgbClr val="C2352F"/>
          </a:solidFill>
          <a:ln/>
        </p:spPr>
      </p:sp>
      <p:sp>
        <p:nvSpPr>
          <p:cNvPr id="97" name="Text 95"/>
          <p:cNvSpPr txBox="1"/>
          <p:nvPr/>
        </p:nvSpPr>
        <p:spPr>
          <a:xfrm>
            <a:off x="10305288" y="283464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369</a:t>
            </a:r>
            <a:endParaRPr lang="en-US" sz="1200" dirty="0"/>
          </a:p>
        </p:txBody>
      </p:sp>
      <p:sp>
        <p:nvSpPr>
          <p:cNvPr id="98" name="Text 96"/>
          <p:cNvSpPr txBox="1"/>
          <p:nvPr/>
        </p:nvSpPr>
        <p:spPr>
          <a:xfrm>
            <a:off x="6208776" y="308152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99" name="Text 97"/>
          <p:cNvSpPr txBox="1"/>
          <p:nvPr/>
        </p:nvSpPr>
        <p:spPr>
          <a:xfrm>
            <a:off x="6565392" y="308152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0" name="Shape 98"/>
          <p:cNvSpPr/>
          <p:nvPr/>
        </p:nvSpPr>
        <p:spPr>
          <a:xfrm>
            <a:off x="8558784" y="3143250"/>
            <a:ext cx="577815" cy="123444"/>
          </a:xfrm>
          <a:prstGeom prst="rect">
            <a:avLst/>
          </a:prstGeom>
          <a:solidFill>
            <a:srgbClr val="C2352F"/>
          </a:solidFill>
          <a:ln/>
        </p:spPr>
      </p:sp>
      <p:sp>
        <p:nvSpPr>
          <p:cNvPr id="101" name="Text 99"/>
          <p:cNvSpPr txBox="1"/>
          <p:nvPr/>
        </p:nvSpPr>
        <p:spPr>
          <a:xfrm>
            <a:off x="10305288" y="308152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356</a:t>
            </a:r>
            <a:endParaRPr lang="en-US" sz="1200" dirty="0"/>
          </a:p>
        </p:txBody>
      </p:sp>
      <p:sp>
        <p:nvSpPr>
          <p:cNvPr id="102" name="Text 100"/>
          <p:cNvSpPr txBox="1"/>
          <p:nvPr/>
        </p:nvSpPr>
        <p:spPr>
          <a:xfrm>
            <a:off x="6208776" y="332841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103" name="Text 101"/>
          <p:cNvSpPr txBox="1"/>
          <p:nvPr/>
        </p:nvSpPr>
        <p:spPr>
          <a:xfrm>
            <a:off x="6565392" y="332841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04" name="Shape 102"/>
          <p:cNvSpPr/>
          <p:nvPr/>
        </p:nvSpPr>
        <p:spPr>
          <a:xfrm>
            <a:off x="8558784" y="3390138"/>
            <a:ext cx="570170" cy="123444"/>
          </a:xfrm>
          <a:prstGeom prst="rect">
            <a:avLst/>
          </a:prstGeom>
          <a:solidFill>
            <a:srgbClr val="C2352F"/>
          </a:solidFill>
          <a:ln/>
        </p:spPr>
      </p:sp>
      <p:sp>
        <p:nvSpPr>
          <p:cNvPr id="105" name="Text 103"/>
          <p:cNvSpPr txBox="1"/>
          <p:nvPr/>
        </p:nvSpPr>
        <p:spPr>
          <a:xfrm>
            <a:off x="10305288" y="332841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351</a:t>
            </a:r>
            <a:endParaRPr lang="en-US" sz="1200" dirty="0"/>
          </a:p>
        </p:txBody>
      </p:sp>
      <p:sp>
        <p:nvSpPr>
          <p:cNvPr id="106" name="Text 104"/>
          <p:cNvSpPr txBox="1"/>
          <p:nvPr/>
        </p:nvSpPr>
        <p:spPr>
          <a:xfrm>
            <a:off x="6208776" y="357530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107" name="Text 105"/>
          <p:cNvSpPr txBox="1"/>
          <p:nvPr/>
        </p:nvSpPr>
        <p:spPr>
          <a:xfrm>
            <a:off x="6565392" y="357530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08" name="Shape 106"/>
          <p:cNvSpPr/>
          <p:nvPr/>
        </p:nvSpPr>
        <p:spPr>
          <a:xfrm>
            <a:off x="8558784" y="3637026"/>
            <a:ext cx="530626" cy="123444"/>
          </a:xfrm>
          <a:prstGeom prst="rect">
            <a:avLst/>
          </a:prstGeom>
          <a:solidFill>
            <a:srgbClr val="C2352F"/>
          </a:solidFill>
          <a:ln/>
        </p:spPr>
      </p:sp>
      <p:sp>
        <p:nvSpPr>
          <p:cNvPr id="109" name="Text 107"/>
          <p:cNvSpPr txBox="1"/>
          <p:nvPr/>
        </p:nvSpPr>
        <p:spPr>
          <a:xfrm>
            <a:off x="10305288" y="357530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327</a:t>
            </a:r>
            <a:endParaRPr lang="en-US" sz="1200" dirty="0"/>
          </a:p>
        </p:txBody>
      </p:sp>
      <p:sp>
        <p:nvSpPr>
          <p:cNvPr id="110" name="Text 108"/>
          <p:cNvSpPr txBox="1"/>
          <p:nvPr/>
        </p:nvSpPr>
        <p:spPr>
          <a:xfrm>
            <a:off x="6208776" y="382219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11" name="Text 109"/>
          <p:cNvSpPr txBox="1"/>
          <p:nvPr/>
        </p:nvSpPr>
        <p:spPr>
          <a:xfrm>
            <a:off x="6565392" y="382219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12" name="Shape 110"/>
          <p:cNvSpPr/>
          <p:nvPr/>
        </p:nvSpPr>
        <p:spPr>
          <a:xfrm>
            <a:off x="8558784" y="3883914"/>
            <a:ext cx="500448" cy="123444"/>
          </a:xfrm>
          <a:prstGeom prst="rect">
            <a:avLst/>
          </a:prstGeom>
          <a:solidFill>
            <a:srgbClr val="C2352F"/>
          </a:solidFill>
          <a:ln/>
        </p:spPr>
      </p:sp>
      <p:sp>
        <p:nvSpPr>
          <p:cNvPr id="113" name="Text 111"/>
          <p:cNvSpPr txBox="1"/>
          <p:nvPr/>
        </p:nvSpPr>
        <p:spPr>
          <a:xfrm>
            <a:off x="10305288" y="382219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308</a:t>
            </a:r>
            <a:endParaRPr lang="en-US" sz="1200" dirty="0"/>
          </a:p>
        </p:txBody>
      </p:sp>
      <p:sp>
        <p:nvSpPr>
          <p:cNvPr id="114" name="Text 112"/>
          <p:cNvSpPr txBox="1"/>
          <p:nvPr/>
        </p:nvSpPr>
        <p:spPr>
          <a:xfrm>
            <a:off x="6208776" y="406908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15" name="Text 113"/>
          <p:cNvSpPr txBox="1"/>
          <p:nvPr/>
        </p:nvSpPr>
        <p:spPr>
          <a:xfrm>
            <a:off x="6565392" y="406908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16" name="Shape 114"/>
          <p:cNvSpPr/>
          <p:nvPr/>
        </p:nvSpPr>
        <p:spPr>
          <a:xfrm>
            <a:off x="8558784" y="4130802"/>
            <a:ext cx="485961" cy="123444"/>
          </a:xfrm>
          <a:prstGeom prst="rect">
            <a:avLst/>
          </a:prstGeom>
          <a:solidFill>
            <a:srgbClr val="C2352F"/>
          </a:solidFill>
          <a:ln/>
        </p:spPr>
      </p:sp>
      <p:sp>
        <p:nvSpPr>
          <p:cNvPr id="117" name="Text 115"/>
          <p:cNvSpPr txBox="1"/>
          <p:nvPr/>
        </p:nvSpPr>
        <p:spPr>
          <a:xfrm>
            <a:off x="10305288" y="406908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299</a:t>
            </a:r>
            <a:endParaRPr lang="en-US" sz="1200" dirty="0"/>
          </a:p>
        </p:txBody>
      </p:sp>
      <p:sp>
        <p:nvSpPr>
          <p:cNvPr id="118" name="Text 116"/>
          <p:cNvSpPr txBox="1"/>
          <p:nvPr/>
        </p:nvSpPr>
        <p:spPr>
          <a:xfrm>
            <a:off x="6208776" y="431596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9" name="Text 117"/>
          <p:cNvSpPr txBox="1"/>
          <p:nvPr/>
        </p:nvSpPr>
        <p:spPr>
          <a:xfrm>
            <a:off x="6565392" y="431596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0" name="Shape 118"/>
          <p:cNvSpPr/>
          <p:nvPr/>
        </p:nvSpPr>
        <p:spPr>
          <a:xfrm>
            <a:off x="8558784" y="4377690"/>
            <a:ext cx="442919" cy="123444"/>
          </a:xfrm>
          <a:prstGeom prst="rect">
            <a:avLst/>
          </a:prstGeom>
          <a:solidFill>
            <a:srgbClr val="C2352F"/>
          </a:solidFill>
          <a:ln/>
        </p:spPr>
      </p:sp>
      <p:sp>
        <p:nvSpPr>
          <p:cNvPr id="121" name="Text 119"/>
          <p:cNvSpPr txBox="1"/>
          <p:nvPr/>
        </p:nvSpPr>
        <p:spPr>
          <a:xfrm>
            <a:off x="10305288" y="431596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273</a:t>
            </a:r>
            <a:endParaRPr lang="en-US" sz="1200" dirty="0"/>
          </a:p>
        </p:txBody>
      </p:sp>
      <p:sp>
        <p:nvSpPr>
          <p:cNvPr id="122" name="Text 120"/>
          <p:cNvSpPr txBox="1"/>
          <p:nvPr/>
        </p:nvSpPr>
        <p:spPr>
          <a:xfrm>
            <a:off x="6208776" y="456285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3" name="Text 121"/>
          <p:cNvSpPr txBox="1"/>
          <p:nvPr/>
        </p:nvSpPr>
        <p:spPr>
          <a:xfrm>
            <a:off x="6565392" y="456285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24" name="Shape 122"/>
          <p:cNvSpPr/>
          <p:nvPr/>
        </p:nvSpPr>
        <p:spPr>
          <a:xfrm>
            <a:off x="8558784" y="4624578"/>
            <a:ext cx="441477" cy="123444"/>
          </a:xfrm>
          <a:prstGeom prst="rect">
            <a:avLst/>
          </a:prstGeom>
          <a:solidFill>
            <a:srgbClr val="C2352F"/>
          </a:solidFill>
          <a:ln/>
        </p:spPr>
      </p:sp>
      <p:sp>
        <p:nvSpPr>
          <p:cNvPr id="125" name="Text 123"/>
          <p:cNvSpPr txBox="1"/>
          <p:nvPr/>
        </p:nvSpPr>
        <p:spPr>
          <a:xfrm>
            <a:off x="10305288" y="456285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272</a:t>
            </a:r>
            <a:endParaRPr lang="en-US" sz="1200" dirty="0"/>
          </a:p>
        </p:txBody>
      </p:sp>
      <p:sp>
        <p:nvSpPr>
          <p:cNvPr id="126" name="Text 124"/>
          <p:cNvSpPr txBox="1"/>
          <p:nvPr/>
        </p:nvSpPr>
        <p:spPr>
          <a:xfrm>
            <a:off x="6208776" y="480974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7" name="Text 125"/>
          <p:cNvSpPr txBox="1"/>
          <p:nvPr/>
        </p:nvSpPr>
        <p:spPr>
          <a:xfrm>
            <a:off x="6565392" y="480974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28" name="Shape 126"/>
          <p:cNvSpPr/>
          <p:nvPr/>
        </p:nvSpPr>
        <p:spPr>
          <a:xfrm>
            <a:off x="8558784" y="4871466"/>
            <a:ext cx="377230" cy="123444"/>
          </a:xfrm>
          <a:prstGeom prst="rect">
            <a:avLst/>
          </a:prstGeom>
          <a:solidFill>
            <a:srgbClr val="C2352F"/>
          </a:solidFill>
          <a:ln/>
        </p:spPr>
      </p:sp>
      <p:sp>
        <p:nvSpPr>
          <p:cNvPr id="129" name="Text 127"/>
          <p:cNvSpPr txBox="1"/>
          <p:nvPr/>
        </p:nvSpPr>
        <p:spPr>
          <a:xfrm>
            <a:off x="10305288" y="480974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232</a:t>
            </a:r>
            <a:endParaRPr lang="en-US" sz="1200" dirty="0"/>
          </a:p>
        </p:txBody>
      </p:sp>
      <p:sp>
        <p:nvSpPr>
          <p:cNvPr id="130" name="Text 128"/>
          <p:cNvSpPr txBox="1"/>
          <p:nvPr/>
        </p:nvSpPr>
        <p:spPr>
          <a:xfrm>
            <a:off x="6208776" y="505663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31" name="Text 129"/>
          <p:cNvSpPr txBox="1"/>
          <p:nvPr/>
        </p:nvSpPr>
        <p:spPr>
          <a:xfrm>
            <a:off x="6565392" y="505663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2" name="Shape 130"/>
          <p:cNvSpPr/>
          <p:nvPr/>
        </p:nvSpPr>
        <p:spPr>
          <a:xfrm>
            <a:off x="8558784" y="5118354"/>
            <a:ext cx="373849" cy="123444"/>
          </a:xfrm>
          <a:prstGeom prst="rect">
            <a:avLst/>
          </a:prstGeom>
          <a:solidFill>
            <a:srgbClr val="C2352F"/>
          </a:solidFill>
          <a:ln/>
        </p:spPr>
      </p:sp>
      <p:sp>
        <p:nvSpPr>
          <p:cNvPr id="133" name="Text 131"/>
          <p:cNvSpPr txBox="1"/>
          <p:nvPr/>
        </p:nvSpPr>
        <p:spPr>
          <a:xfrm>
            <a:off x="10305288" y="505663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230</a:t>
            </a:r>
            <a:endParaRPr lang="en-US" sz="1200" dirty="0"/>
          </a:p>
        </p:txBody>
      </p:sp>
      <p:sp>
        <p:nvSpPr>
          <p:cNvPr id="134" name="Text 132"/>
          <p:cNvSpPr txBox="1"/>
          <p:nvPr/>
        </p:nvSpPr>
        <p:spPr>
          <a:xfrm>
            <a:off x="6208776" y="530352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5" name="Text 133"/>
          <p:cNvSpPr txBox="1"/>
          <p:nvPr/>
        </p:nvSpPr>
        <p:spPr>
          <a:xfrm>
            <a:off x="6565392" y="530352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36" name="Shape 134"/>
          <p:cNvSpPr/>
          <p:nvPr/>
        </p:nvSpPr>
        <p:spPr>
          <a:xfrm>
            <a:off x="8558784" y="5365242"/>
            <a:ext cx="357077" cy="123444"/>
          </a:xfrm>
          <a:prstGeom prst="rect">
            <a:avLst/>
          </a:prstGeom>
          <a:solidFill>
            <a:srgbClr val="C2352F"/>
          </a:solidFill>
          <a:ln/>
        </p:spPr>
      </p:sp>
      <p:sp>
        <p:nvSpPr>
          <p:cNvPr id="137" name="Text 135"/>
          <p:cNvSpPr txBox="1"/>
          <p:nvPr/>
        </p:nvSpPr>
        <p:spPr>
          <a:xfrm>
            <a:off x="10305288" y="530352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220</a:t>
            </a:r>
            <a:endParaRPr lang="en-US" sz="1200" dirty="0"/>
          </a:p>
        </p:txBody>
      </p:sp>
      <p:sp>
        <p:nvSpPr>
          <p:cNvPr id="138" name="Text 136"/>
          <p:cNvSpPr txBox="1"/>
          <p:nvPr/>
        </p:nvSpPr>
        <p:spPr>
          <a:xfrm>
            <a:off x="6208776" y="555040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555040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0" name="Shape 138"/>
          <p:cNvSpPr/>
          <p:nvPr/>
        </p:nvSpPr>
        <p:spPr>
          <a:xfrm>
            <a:off x="8558784" y="5612130"/>
            <a:ext cx="329917" cy="123444"/>
          </a:xfrm>
          <a:prstGeom prst="rect">
            <a:avLst/>
          </a:prstGeom>
          <a:solidFill>
            <a:srgbClr val="C2352F"/>
          </a:solidFill>
          <a:ln/>
        </p:spPr>
      </p:sp>
      <p:sp>
        <p:nvSpPr>
          <p:cNvPr id="141" name="Text 139"/>
          <p:cNvSpPr txBox="1"/>
          <p:nvPr/>
        </p:nvSpPr>
        <p:spPr>
          <a:xfrm>
            <a:off x="10305288" y="555040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203</a:t>
            </a:r>
            <a:endParaRPr lang="en-US" sz="1200" dirty="0"/>
          </a:p>
        </p:txBody>
      </p:sp>
      <p:sp>
        <p:nvSpPr>
          <p:cNvPr id="142" name="Text 140"/>
          <p:cNvSpPr txBox="1"/>
          <p:nvPr/>
        </p:nvSpPr>
        <p:spPr>
          <a:xfrm>
            <a:off x="6208776" y="579729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3" name="Text 141"/>
          <p:cNvSpPr txBox="1"/>
          <p:nvPr/>
        </p:nvSpPr>
        <p:spPr>
          <a:xfrm>
            <a:off x="6565392" y="579729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44" name="Shape 142"/>
          <p:cNvSpPr/>
          <p:nvPr/>
        </p:nvSpPr>
        <p:spPr>
          <a:xfrm>
            <a:off x="8558784" y="5859018"/>
            <a:ext cx="312404" cy="123444"/>
          </a:xfrm>
          <a:prstGeom prst="rect">
            <a:avLst/>
          </a:prstGeom>
          <a:solidFill>
            <a:srgbClr val="C2352F"/>
          </a:solidFill>
          <a:ln/>
        </p:spPr>
      </p:sp>
      <p:sp>
        <p:nvSpPr>
          <p:cNvPr id="145" name="Text 143"/>
          <p:cNvSpPr txBox="1"/>
          <p:nvPr/>
        </p:nvSpPr>
        <p:spPr>
          <a:xfrm>
            <a:off x="10305288" y="579729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192</a:t>
            </a:r>
            <a:endParaRPr lang="en-US" sz="1200" dirty="0"/>
          </a:p>
        </p:txBody>
      </p:sp>
      <p:sp>
        <p:nvSpPr>
          <p:cNvPr id="146" name="Text 144"/>
          <p:cNvSpPr txBox="1"/>
          <p:nvPr/>
        </p:nvSpPr>
        <p:spPr>
          <a:xfrm>
            <a:off x="6208776" y="604418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47" name="Text 145"/>
          <p:cNvSpPr txBox="1"/>
          <p:nvPr/>
        </p:nvSpPr>
        <p:spPr>
          <a:xfrm>
            <a:off x="6565392" y="604418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48" name="Shape 146"/>
          <p:cNvSpPr/>
          <p:nvPr/>
        </p:nvSpPr>
        <p:spPr>
          <a:xfrm>
            <a:off x="8558784" y="6105906"/>
            <a:ext cx="249232" cy="123444"/>
          </a:xfrm>
          <a:prstGeom prst="rect">
            <a:avLst/>
          </a:prstGeom>
          <a:solidFill>
            <a:srgbClr val="C2352F"/>
          </a:solidFill>
          <a:ln/>
        </p:spPr>
      </p:sp>
      <p:sp>
        <p:nvSpPr>
          <p:cNvPr id="149" name="Text 147"/>
          <p:cNvSpPr txBox="1"/>
          <p:nvPr/>
        </p:nvSpPr>
        <p:spPr>
          <a:xfrm>
            <a:off x="10305288" y="604418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154</a:t>
            </a:r>
            <a:endParaRPr lang="en-US" sz="1200" dirty="0"/>
          </a:p>
        </p:txBody>
      </p:sp>
      <p:sp>
        <p:nvSpPr>
          <p:cNvPr id="150" name="Shape 148"/>
          <p:cNvSpPr/>
          <p:nvPr/>
        </p:nvSpPr>
        <p:spPr>
          <a:xfrm>
            <a:off x="3679521" y="2093976"/>
            <a:ext cx="14630" cy="2221992"/>
          </a:xfrm>
          <a:prstGeom prst="rect">
            <a:avLst/>
          </a:prstGeom>
          <a:solidFill>
            <a:srgbClr val="0B2C4A"/>
          </a:solidFill>
          <a:ln/>
        </p:spPr>
      </p:sp>
      <p:sp>
        <p:nvSpPr>
          <p:cNvPr id="151" name="Shape 149"/>
          <p:cNvSpPr/>
          <p:nvPr/>
        </p:nvSpPr>
        <p:spPr>
          <a:xfrm>
            <a:off x="3679521" y="4562856"/>
            <a:ext cx="14630" cy="1728216"/>
          </a:xfrm>
          <a:prstGeom prst="rect">
            <a:avLst/>
          </a:prstGeom>
          <a:solidFill>
            <a:srgbClr val="0B2C4A"/>
          </a:solidFill>
          <a:ln/>
        </p:spPr>
      </p:sp>
      <p:sp>
        <p:nvSpPr>
          <p:cNvPr id="152" name="Shape 150"/>
          <p:cNvSpPr/>
          <p:nvPr/>
        </p:nvSpPr>
        <p:spPr>
          <a:xfrm>
            <a:off x="9229929" y="2093976"/>
            <a:ext cx="14630" cy="4197096"/>
          </a:xfrm>
          <a:prstGeom prst="rect">
            <a:avLst/>
          </a:prstGeom>
          <a:solidFill>
            <a:srgbClr val="0B2C4A"/>
          </a:solidFill>
          <a:ln/>
        </p:spPr>
      </p:sp>
      <p:sp>
        <p:nvSpPr>
          <p:cNvPr id="153" name="Shape 151"/>
          <p:cNvSpPr/>
          <p:nvPr/>
        </p:nvSpPr>
        <p:spPr>
          <a:xfrm>
            <a:off x="6085332" y="1847088"/>
            <a:ext cx="10973" cy="4443984"/>
          </a:xfrm>
          <a:prstGeom prst="rect">
            <a:avLst/>
          </a:prstGeom>
          <a:solidFill>
            <a:srgbClr val="D9D9D9"/>
          </a:solidFill>
          <a:ln/>
        </p:spPr>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MANAGER</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4442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&amp; W ROS PER FIXED MANAGER</a:t>
            </a:r>
            <a:endParaRPr lang="en-US" sz="1500" dirty="0"/>
          </a:p>
        </p:txBody>
      </p:sp>
      <p:sp>
        <p:nvSpPr>
          <p:cNvPr id="9" name="Text 7"/>
          <p:cNvSpPr txBox="1"/>
          <p:nvPr/>
        </p:nvSpPr>
        <p:spPr>
          <a:xfrm>
            <a:off x="4358640" y="1335024"/>
            <a:ext cx="36880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+13</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3785616" y="1911860"/>
            <a:ext cx="503191"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+182</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7" name="Shape 15"/>
          <p:cNvSpPr/>
          <p:nvPr/>
        </p:nvSpPr>
        <p:spPr>
          <a:xfrm>
            <a:off x="3785616" y="2151755"/>
            <a:ext cx="469619"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+170</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21" name="Shape 19"/>
          <p:cNvSpPr/>
          <p:nvPr/>
        </p:nvSpPr>
        <p:spPr>
          <a:xfrm>
            <a:off x="3785616" y="2391651"/>
            <a:ext cx="335572"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+121</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25" name="Shape 23"/>
          <p:cNvSpPr/>
          <p:nvPr/>
        </p:nvSpPr>
        <p:spPr>
          <a:xfrm>
            <a:off x="3785616" y="2631546"/>
            <a:ext cx="330812"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+120</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9" name="Shape 27"/>
          <p:cNvSpPr/>
          <p:nvPr/>
        </p:nvSpPr>
        <p:spPr>
          <a:xfrm>
            <a:off x="3785616" y="2871442"/>
            <a:ext cx="322124"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+116</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33" name="Shape 31"/>
          <p:cNvSpPr/>
          <p:nvPr/>
        </p:nvSpPr>
        <p:spPr>
          <a:xfrm>
            <a:off x="3785616" y="3111337"/>
            <a:ext cx="146890"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+53</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37" name="Shape 35"/>
          <p:cNvSpPr/>
          <p:nvPr/>
        </p:nvSpPr>
        <p:spPr>
          <a:xfrm>
            <a:off x="3785616" y="3351233"/>
            <a:ext cx="132129"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+48</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41" name="Shape 39"/>
          <p:cNvSpPr/>
          <p:nvPr/>
        </p:nvSpPr>
        <p:spPr>
          <a:xfrm>
            <a:off x="3785616" y="3591128"/>
            <a:ext cx="129359"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+47</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45" name="Shape 43"/>
          <p:cNvSpPr/>
          <p:nvPr/>
        </p:nvSpPr>
        <p:spPr>
          <a:xfrm>
            <a:off x="3785616" y="3831024"/>
            <a:ext cx="122411"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+44</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49" name="Shape 47"/>
          <p:cNvSpPr/>
          <p:nvPr/>
        </p:nvSpPr>
        <p:spPr>
          <a:xfrm>
            <a:off x="3785616" y="4070920"/>
            <a:ext cx="105953"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+38</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53" name="Shape 51"/>
          <p:cNvSpPr/>
          <p:nvPr/>
        </p:nvSpPr>
        <p:spPr>
          <a:xfrm>
            <a:off x="3785616" y="4310815"/>
            <a:ext cx="63458"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+23</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57" name="Shape 55"/>
          <p:cNvSpPr/>
          <p:nvPr/>
        </p:nvSpPr>
        <p:spPr>
          <a:xfrm>
            <a:off x="3785616" y="4550711"/>
            <a:ext cx="48093"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61" name="Shape 59"/>
          <p:cNvSpPr/>
          <p:nvPr/>
        </p:nvSpPr>
        <p:spPr>
          <a:xfrm>
            <a:off x="3785616" y="4790606"/>
            <a:ext cx="39795"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65" name="Shape 63"/>
          <p:cNvSpPr/>
          <p:nvPr/>
        </p:nvSpPr>
        <p:spPr>
          <a:xfrm>
            <a:off x="3785616" y="5030502"/>
            <a:ext cx="29040"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69" name="Shape 67"/>
          <p:cNvSpPr/>
          <p:nvPr/>
        </p:nvSpPr>
        <p:spPr>
          <a:xfrm>
            <a:off x="3785616" y="5270397"/>
            <a:ext cx="28477"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73" name="Shape 71"/>
          <p:cNvSpPr/>
          <p:nvPr/>
        </p:nvSpPr>
        <p:spPr>
          <a:xfrm>
            <a:off x="3785616" y="5510293"/>
            <a:ext cx="14904"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77" name="Shape 75"/>
          <p:cNvSpPr/>
          <p:nvPr/>
        </p:nvSpPr>
        <p:spPr>
          <a:xfrm>
            <a:off x="3785616" y="5750188"/>
            <a:ext cx="12802"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1" name="Shape 79"/>
          <p:cNvSpPr/>
          <p:nvPr/>
        </p:nvSpPr>
        <p:spPr>
          <a:xfrm>
            <a:off x="9336024" y="1911860"/>
            <a:ext cx="12802"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85" name="Shape 83"/>
          <p:cNvSpPr/>
          <p:nvPr/>
        </p:nvSpPr>
        <p:spPr>
          <a:xfrm>
            <a:off x="9336024" y="2151755"/>
            <a:ext cx="12802"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89" name="Shape 87"/>
          <p:cNvSpPr/>
          <p:nvPr/>
        </p:nvSpPr>
        <p:spPr>
          <a:xfrm>
            <a:off x="9336024" y="2391651"/>
            <a:ext cx="12802"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93" name="Shape 91"/>
          <p:cNvSpPr/>
          <p:nvPr/>
        </p:nvSpPr>
        <p:spPr>
          <a:xfrm>
            <a:off x="9336024" y="2631546"/>
            <a:ext cx="12802"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97" name="Shape 95"/>
          <p:cNvSpPr/>
          <p:nvPr/>
        </p:nvSpPr>
        <p:spPr>
          <a:xfrm>
            <a:off x="9336024" y="2871442"/>
            <a:ext cx="12802"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01" name="Shape 99"/>
          <p:cNvSpPr/>
          <p:nvPr/>
        </p:nvSpPr>
        <p:spPr>
          <a:xfrm>
            <a:off x="9321794" y="3111337"/>
            <a:ext cx="14230"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05" name="Shape 103"/>
          <p:cNvSpPr/>
          <p:nvPr/>
        </p:nvSpPr>
        <p:spPr>
          <a:xfrm>
            <a:off x="9260296" y="3351233"/>
            <a:ext cx="75728"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−27</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09" name="Shape 107"/>
          <p:cNvSpPr/>
          <p:nvPr/>
        </p:nvSpPr>
        <p:spPr>
          <a:xfrm>
            <a:off x="9258738" y="3591128"/>
            <a:ext cx="77286"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−28</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3" name="Shape 111"/>
          <p:cNvSpPr/>
          <p:nvPr/>
        </p:nvSpPr>
        <p:spPr>
          <a:xfrm>
            <a:off x="9257048" y="3831024"/>
            <a:ext cx="78976"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−29</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17" name="Shape 115"/>
          <p:cNvSpPr/>
          <p:nvPr/>
        </p:nvSpPr>
        <p:spPr>
          <a:xfrm>
            <a:off x="9246915" y="4070920"/>
            <a:ext cx="89109"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−32</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21" name="Shape 119"/>
          <p:cNvSpPr/>
          <p:nvPr/>
        </p:nvSpPr>
        <p:spPr>
          <a:xfrm>
            <a:off x="9238712" y="4310815"/>
            <a:ext cx="97312"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−35</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25" name="Shape 123"/>
          <p:cNvSpPr/>
          <p:nvPr/>
        </p:nvSpPr>
        <p:spPr>
          <a:xfrm>
            <a:off x="9192589" y="4550711"/>
            <a:ext cx="143435"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−52</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29" name="Shape 127"/>
          <p:cNvSpPr/>
          <p:nvPr/>
        </p:nvSpPr>
        <p:spPr>
          <a:xfrm>
            <a:off x="9181874" y="4790606"/>
            <a:ext cx="154150"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−56</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33" name="Shape 131"/>
          <p:cNvSpPr/>
          <p:nvPr/>
        </p:nvSpPr>
        <p:spPr>
          <a:xfrm>
            <a:off x="9137803" y="5030502"/>
            <a:ext cx="198221"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−72</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7" name="Shape 135"/>
          <p:cNvSpPr/>
          <p:nvPr/>
        </p:nvSpPr>
        <p:spPr>
          <a:xfrm>
            <a:off x="9074707" y="5270397"/>
            <a:ext cx="261317"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−94</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41" name="Shape 139"/>
          <p:cNvSpPr/>
          <p:nvPr/>
        </p:nvSpPr>
        <p:spPr>
          <a:xfrm>
            <a:off x="8558784" y="5510293"/>
            <a:ext cx="77724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−281</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6F6EE"/>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 of 33 stores raised ROs per manager. 11 declined.</a:t>
            </a:r>
            <a:endParaRPr lang="en-US" sz="1600" dirty="0"/>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MANAGER</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Shape 8"/>
          <p:cNvSpPr/>
          <p:nvPr/>
        </p:nvSpPr>
        <p:spPr>
          <a:xfrm>
            <a:off x="4084320" y="1847088"/>
            <a:ext cx="64008" cy="813816"/>
          </a:xfrm>
          <a:prstGeom prst="rect">
            <a:avLst/>
          </a:prstGeom>
          <a:solidFill>
            <a:srgbClr val="12A566"/>
          </a:solidFill>
          <a:ln/>
        </p:spPr>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1,022</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+182</a:t>
            </a:r>
            <a:endParaRPr lang="en-US" sz="16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686</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+170</a:t>
            </a:r>
            <a:endParaRPr lang="en-US" sz="1600" dirty="0"/>
          </a:p>
        </p:txBody>
      </p:sp>
      <p:sp>
        <p:nvSpPr>
          <p:cNvPr id="19" name="Shape 15"/>
          <p:cNvSpPr/>
          <p:nvPr/>
        </p:nvSpPr>
        <p:spPr>
          <a:xfrm>
            <a:off x="658368" y="3584448"/>
            <a:ext cx="3489960" cy="886968"/>
          </a:xfrm>
          <a:prstGeom prst="rect">
            <a:avLst/>
          </a:prstGeom>
          <a:solidFill>
            <a:srgbClr val="F7F7F7"/>
          </a:solidFill>
          <a:ln/>
        </p:spPr>
      </p:sp>
      <p:sp>
        <p:nvSpPr>
          <p:cNvPr id="20" name="Shape 16"/>
          <p:cNvSpPr/>
          <p:nvPr/>
        </p:nvSpPr>
        <p:spPr>
          <a:xfrm>
            <a:off x="4084320" y="3621024"/>
            <a:ext cx="64008" cy="813816"/>
          </a:xfrm>
          <a:prstGeom prst="rect">
            <a:avLst/>
          </a:prstGeom>
          <a:solidFill>
            <a:srgbClr val="12A566"/>
          </a:solidFill>
          <a:ln/>
        </p:spPr>
      </p:sp>
      <p:sp>
        <p:nvSpPr>
          <p:cNvPr id="21" name="Text 17"/>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2" name="Text 18"/>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657</a:t>
            </a:r>
            <a:endParaRPr lang="en-US" sz="1400" dirty="0"/>
          </a:p>
        </p:txBody>
      </p:sp>
      <p:graphicFrame>
        <p:nvGraphicFramePr>
          <p:cNvPr id="23"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4" name="Text 19"/>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+121</a:t>
            </a:r>
            <a:endParaRPr lang="en-US" sz="1600" dirty="0"/>
          </a:p>
        </p:txBody>
      </p:sp>
      <p:sp>
        <p:nvSpPr>
          <p:cNvPr id="25" name="Text 20"/>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6" name="Text 21"/>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471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591</a:t>
            </a:r>
            <a:endParaRPr lang="en-US" sz="1400" dirty="0"/>
          </a:p>
        </p:txBody>
      </p:sp>
      <p:graphicFrame>
        <p:nvGraphicFramePr>
          <p:cNvPr id="27"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8" name="Text 22"/>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+120</a:t>
            </a:r>
            <a:endParaRPr lang="en-US" sz="1600" dirty="0"/>
          </a:p>
        </p:txBody>
      </p:sp>
      <p:sp>
        <p:nvSpPr>
          <p:cNvPr id="29" name="Shape 23"/>
          <p:cNvSpPr/>
          <p:nvPr/>
        </p:nvSpPr>
        <p:spPr>
          <a:xfrm>
            <a:off x="658368" y="5358384"/>
            <a:ext cx="3489960" cy="886968"/>
          </a:xfrm>
          <a:prstGeom prst="rect">
            <a:avLst/>
          </a:prstGeom>
          <a:solidFill>
            <a:srgbClr val="F7F7F7"/>
          </a:solidFill>
          <a:ln/>
        </p:spPr>
      </p:sp>
      <p:sp>
        <p:nvSpPr>
          <p:cNvPr id="30" name="Shape 24"/>
          <p:cNvSpPr/>
          <p:nvPr/>
        </p:nvSpPr>
        <p:spPr>
          <a:xfrm>
            <a:off x="4084320" y="5394960"/>
            <a:ext cx="64008" cy="813816"/>
          </a:xfrm>
          <a:prstGeom prst="rect">
            <a:avLst/>
          </a:prstGeom>
          <a:solidFill>
            <a:srgbClr val="12A566"/>
          </a:solidFill>
          <a:ln/>
        </p:spPr>
      </p:sp>
      <p:sp>
        <p:nvSpPr>
          <p:cNvPr id="31" name="Text 25"/>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2" name="Text 26"/>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765</a:t>
            </a:r>
            <a:endParaRPr lang="en-US" sz="1400" dirty="0"/>
          </a:p>
        </p:txBody>
      </p:sp>
      <p:graphicFrame>
        <p:nvGraphicFramePr>
          <p:cNvPr id="33"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4" name="Text 27"/>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+116</a:t>
            </a:r>
            <a:endParaRPr lang="en-US" sz="1600" dirty="0"/>
          </a:p>
        </p:txBody>
      </p:sp>
      <p:sp>
        <p:nvSpPr>
          <p:cNvPr id="35" name="Shape 28"/>
          <p:cNvSpPr/>
          <p:nvPr/>
        </p:nvSpPr>
        <p:spPr>
          <a:xfrm>
            <a:off x="4349496" y="1371600"/>
            <a:ext cx="3489960" cy="45720"/>
          </a:xfrm>
          <a:prstGeom prst="rect">
            <a:avLst/>
          </a:prstGeom>
          <a:solidFill>
            <a:srgbClr val="C2352F"/>
          </a:solidFill>
          <a:ln/>
        </p:spPr>
      </p:sp>
      <p:sp>
        <p:nvSpPr>
          <p:cNvPr id="36" name="Text 2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7" name="Shape 30"/>
          <p:cNvSpPr/>
          <p:nvPr/>
        </p:nvSpPr>
        <p:spPr>
          <a:xfrm>
            <a:off x="4349496" y="1810512"/>
            <a:ext cx="3489960" cy="886968"/>
          </a:xfrm>
          <a:prstGeom prst="rect">
            <a:avLst/>
          </a:prstGeom>
          <a:solidFill>
            <a:srgbClr val="F7F7F7"/>
          </a:solidFill>
          <a:ln/>
        </p:spPr>
      </p:sp>
      <p:sp>
        <p:nvSpPr>
          <p:cNvPr id="38" name="Text 31"/>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9" name="Text 32"/>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560</a:t>
            </a:r>
            <a:endParaRPr lang="en-US" sz="1400" dirty="0"/>
          </a:p>
        </p:txBody>
      </p:sp>
      <p:graphicFrame>
        <p:nvGraphicFramePr>
          <p:cNvPr id="40"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1" name="Text 33"/>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−281</a:t>
            </a:r>
            <a:endParaRPr lang="en-US" sz="1600" dirty="0"/>
          </a:p>
        </p:txBody>
      </p:sp>
      <p:sp>
        <p:nvSpPr>
          <p:cNvPr id="42" name="Text 34"/>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3" name="Text 35"/>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308</a:t>
            </a:r>
            <a:endParaRPr lang="en-US" sz="1400" dirty="0"/>
          </a:p>
        </p:txBody>
      </p:sp>
      <p:graphicFrame>
        <p:nvGraphicFramePr>
          <p:cNvPr id="44"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5" name="Text 36"/>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−94</a:t>
            </a:r>
            <a:endParaRPr lang="en-US" sz="1600" dirty="0"/>
          </a:p>
        </p:txBody>
      </p:sp>
      <p:sp>
        <p:nvSpPr>
          <p:cNvPr id="46" name="Shape 37"/>
          <p:cNvSpPr/>
          <p:nvPr/>
        </p:nvSpPr>
        <p:spPr>
          <a:xfrm>
            <a:off x="4349496" y="3584448"/>
            <a:ext cx="3489960" cy="886968"/>
          </a:xfrm>
          <a:prstGeom prst="rect">
            <a:avLst/>
          </a:prstGeom>
          <a:solidFill>
            <a:srgbClr val="F7F7F7"/>
          </a:solidFill>
          <a:ln/>
        </p:spPr>
      </p:sp>
      <p:sp>
        <p:nvSpPr>
          <p:cNvPr id="47" name="Text 38"/>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8" name="Text 39"/>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448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376</a:t>
            </a:r>
            <a:endParaRPr lang="en-US" sz="1400" dirty="0"/>
          </a:p>
        </p:txBody>
      </p:sp>
      <p:graphicFrame>
        <p:nvGraphicFramePr>
          <p:cNvPr id="49"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50" name="Text 40"/>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−72</a:t>
            </a:r>
            <a:endParaRPr lang="en-US" sz="1600" dirty="0"/>
          </a:p>
        </p:txBody>
      </p:sp>
      <p:sp>
        <p:nvSpPr>
          <p:cNvPr id="51" name="Text 41"/>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2" name="Text 42"/>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448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392</a:t>
            </a:r>
            <a:endParaRPr lang="en-US" sz="1400" dirty="0"/>
          </a:p>
        </p:txBody>
      </p:sp>
      <p:graphicFrame>
        <p:nvGraphicFramePr>
          <p:cNvPr id="53"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4" name="Text 43"/>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−56</a:t>
            </a:r>
            <a:endParaRPr lang="en-US" sz="1600" dirty="0"/>
          </a:p>
        </p:txBody>
      </p:sp>
      <p:sp>
        <p:nvSpPr>
          <p:cNvPr id="55" name="Shape 44"/>
          <p:cNvSpPr/>
          <p:nvPr/>
        </p:nvSpPr>
        <p:spPr>
          <a:xfrm>
            <a:off x="4349496" y="5358384"/>
            <a:ext cx="3489960" cy="886968"/>
          </a:xfrm>
          <a:prstGeom prst="rect">
            <a:avLst/>
          </a:prstGeom>
          <a:solidFill>
            <a:srgbClr val="F7F7F7"/>
          </a:solidFill>
          <a:ln/>
        </p:spPr>
      </p:sp>
      <p:sp>
        <p:nvSpPr>
          <p:cNvPr id="56" name="Text 45"/>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7" name="Text 46"/>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351</a:t>
            </a:r>
            <a:endParaRPr lang="en-US" sz="1400" dirty="0"/>
          </a:p>
        </p:txBody>
      </p:sp>
      <p:graphicFrame>
        <p:nvGraphicFramePr>
          <p:cNvPr id="58"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9" name="Text 47"/>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−52</a:t>
            </a:r>
            <a:endParaRPr lang="en-US" sz="1600" dirty="0"/>
          </a:p>
        </p:txBody>
      </p:sp>
      <p:sp>
        <p:nvSpPr>
          <p:cNvPr id="60" name="Shape 48"/>
          <p:cNvSpPr/>
          <p:nvPr/>
        </p:nvSpPr>
        <p:spPr>
          <a:xfrm>
            <a:off x="8040624" y="1371600"/>
            <a:ext cx="3489960" cy="45720"/>
          </a:xfrm>
          <a:prstGeom prst="rect">
            <a:avLst/>
          </a:prstGeom>
          <a:solidFill>
            <a:srgbClr val="2587C5"/>
          </a:solidFill>
          <a:ln/>
        </p:spPr>
      </p:sp>
      <p:sp>
        <p:nvSpPr>
          <p:cNvPr id="6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2" name="Shape 50"/>
          <p:cNvSpPr/>
          <p:nvPr/>
        </p:nvSpPr>
        <p:spPr>
          <a:xfrm>
            <a:off x="8040624" y="1810512"/>
            <a:ext cx="3489960" cy="886968"/>
          </a:xfrm>
          <a:prstGeom prst="rect">
            <a:avLst/>
          </a:prstGeom>
          <a:solidFill>
            <a:srgbClr val="F7F7F7"/>
          </a:solidFill>
          <a:ln/>
        </p:spPr>
      </p:sp>
      <p:sp>
        <p:nvSpPr>
          <p:cNvPr id="63" name="Shape 51"/>
          <p:cNvSpPr/>
          <p:nvPr/>
        </p:nvSpPr>
        <p:spPr>
          <a:xfrm>
            <a:off x="11466576" y="1847088"/>
            <a:ext cx="64008" cy="813816"/>
          </a:xfrm>
          <a:prstGeom prst="rect">
            <a:avLst/>
          </a:prstGeom>
          <a:solidFill>
            <a:srgbClr val="12A566"/>
          </a:solidFill>
          <a:ln/>
        </p:spPr>
      </p:sp>
      <p:sp>
        <p:nvSpPr>
          <p:cNvPr id="64" name="Text 52"/>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5" name="Text 53"/>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854</a:t>
            </a:r>
            <a:endParaRPr lang="en-US" sz="1400" dirty="0"/>
          </a:p>
        </p:txBody>
      </p:sp>
      <p:graphicFrame>
        <p:nvGraphicFramePr>
          <p:cNvPr id="66"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7"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8" name="Text 54"/>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+339</a:t>
            </a:r>
            <a:endParaRPr lang="en-US" sz="1600" dirty="0"/>
          </a:p>
        </p:txBody>
      </p:sp>
      <p:sp>
        <p:nvSpPr>
          <p:cNvPr id="69" name="Shape 55"/>
          <p:cNvSpPr/>
          <p:nvPr/>
        </p:nvSpPr>
        <p:spPr>
          <a:xfrm>
            <a:off x="11466576" y="2734056"/>
            <a:ext cx="64008" cy="813816"/>
          </a:xfrm>
          <a:prstGeom prst="rect">
            <a:avLst/>
          </a:prstGeom>
          <a:solidFill>
            <a:srgbClr val="12A566"/>
          </a:solidFill>
          <a:ln/>
        </p:spPr>
      </p:sp>
      <p:sp>
        <p:nvSpPr>
          <p:cNvPr id="70" name="Text 56"/>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1" name="Text 57"/>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899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1,134</a:t>
            </a:r>
            <a:endParaRPr lang="en-US" sz="1400" dirty="0"/>
          </a:p>
        </p:txBody>
      </p:sp>
      <p:graphicFrame>
        <p:nvGraphicFramePr>
          <p:cNvPr id="72"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3"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4" name="Text 58"/>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+235</a:t>
            </a:r>
            <a:endParaRPr lang="en-US" sz="1600" dirty="0"/>
          </a:p>
        </p:txBody>
      </p:sp>
      <p:sp>
        <p:nvSpPr>
          <p:cNvPr id="75" name="Shape 59"/>
          <p:cNvSpPr/>
          <p:nvPr/>
        </p:nvSpPr>
        <p:spPr>
          <a:xfrm>
            <a:off x="8040624" y="3584448"/>
            <a:ext cx="3489960" cy="886968"/>
          </a:xfrm>
          <a:prstGeom prst="rect">
            <a:avLst/>
          </a:prstGeom>
          <a:solidFill>
            <a:srgbClr val="F7F7F7"/>
          </a:solidFill>
          <a:ln/>
        </p:spPr>
      </p:sp>
      <p:sp>
        <p:nvSpPr>
          <p:cNvPr id="76" name="Text 60"/>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7" name="Text 61"/>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326</a:t>
            </a:r>
            <a:endParaRPr lang="en-US" sz="1400" dirty="0"/>
          </a:p>
        </p:txBody>
      </p:sp>
      <p:graphicFrame>
        <p:nvGraphicFramePr>
          <p:cNvPr id="78"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9"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80" name="Text 62"/>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+168</a:t>
            </a:r>
            <a:endParaRPr lang="en-US" sz="1600" dirty="0"/>
          </a:p>
        </p:txBody>
      </p:sp>
      <p:sp>
        <p:nvSpPr>
          <p:cNvPr id="81" name="Text 63"/>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2" name="Text 64"/>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264</a:t>
            </a:r>
            <a:endParaRPr lang="en-US" sz="1400" dirty="0"/>
          </a:p>
        </p:txBody>
      </p:sp>
      <p:graphicFrame>
        <p:nvGraphicFramePr>
          <p:cNvPr id="83"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4"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5" name="Text 65"/>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+122</a:t>
            </a:r>
            <a:endParaRPr lang="en-US" sz="1600" dirty="0"/>
          </a:p>
        </p:txBody>
      </p:sp>
      <p:sp>
        <p:nvSpPr>
          <p:cNvPr id="86" name="Shape 66"/>
          <p:cNvSpPr/>
          <p:nvPr/>
        </p:nvSpPr>
        <p:spPr>
          <a:xfrm>
            <a:off x="8040624" y="5358384"/>
            <a:ext cx="3489960" cy="886968"/>
          </a:xfrm>
          <a:prstGeom prst="rect">
            <a:avLst/>
          </a:prstGeom>
          <a:solidFill>
            <a:srgbClr val="F7F7F7"/>
          </a:solidFill>
          <a:ln/>
        </p:spPr>
      </p:sp>
      <p:sp>
        <p:nvSpPr>
          <p:cNvPr id="87" name="Shape 67"/>
          <p:cNvSpPr/>
          <p:nvPr/>
        </p:nvSpPr>
        <p:spPr>
          <a:xfrm>
            <a:off x="11466576" y="5394960"/>
            <a:ext cx="64008" cy="813816"/>
          </a:xfrm>
          <a:prstGeom prst="rect">
            <a:avLst/>
          </a:prstGeom>
          <a:solidFill>
            <a:srgbClr val="12A566"/>
          </a:solidFill>
          <a:ln/>
        </p:spPr>
      </p:sp>
      <p:sp>
        <p:nvSpPr>
          <p:cNvPr id="88" name="Text 68"/>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9" name="Text 69"/>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814</a:t>
            </a:r>
            <a:endParaRPr lang="en-US" sz="1400" dirty="0"/>
          </a:p>
        </p:txBody>
      </p:sp>
      <p:graphicFrame>
        <p:nvGraphicFramePr>
          <p:cNvPr id="90"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91"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92" name="Text 70"/>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+97</a:t>
            </a:r>
            <a:endParaRPr lang="en-US" sz="1600" dirty="0"/>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EMPLOYEE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26.0</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26.8</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+0.8</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+3.0%</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&amp; W ROs per Fixed Employee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0.8 to 26.8, ahead of 2025 in eight of nine months. Headcount fell 5.1%; ROs fell 2.3%.</a:t>
            </a:r>
            <a:endParaRPr lang="en-US" sz="1600" dirty="0"/>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EMPLOYEE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56235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&amp; W ROS PER FIXED EMPLOYEE</a:t>
            </a:r>
            <a:endParaRPr lang="en-US" sz="1500" dirty="0"/>
          </a:p>
        </p:txBody>
      </p:sp>
      <p:sp>
        <p:nvSpPr>
          <p:cNvPr id="9" name="Text 7"/>
          <p:cNvSpPr txBox="1"/>
          <p:nvPr/>
        </p:nvSpPr>
        <p:spPr>
          <a:xfrm>
            <a:off x="4476750" y="1335024"/>
            <a:ext cx="356997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26.8</a:t>
            </a:r>
            <a:endParaRPr lang="en-US" sz="2000" dirty="0"/>
          </a:p>
        </p:txBody>
      </p:sp>
      <p:sp>
        <p:nvSpPr>
          <p:cNvPr id="11" name="Text 9"/>
          <p:cNvSpPr txBox="1"/>
          <p:nvPr/>
        </p:nvSpPr>
        <p:spPr>
          <a:xfrm>
            <a:off x="658368" y="184708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LUXURY · AVERAGE 17.4</a:t>
            </a:r>
            <a:endParaRPr lang="en-US" sz="1300" dirty="0"/>
          </a:p>
        </p:txBody>
      </p:sp>
      <p:sp>
        <p:nvSpPr>
          <p:cNvPr id="12" name="Shape 10"/>
          <p:cNvSpPr/>
          <p:nvPr/>
        </p:nvSpPr>
        <p:spPr>
          <a:xfrm>
            <a:off x="658368" y="2075688"/>
            <a:ext cx="5303520" cy="18288"/>
          </a:xfrm>
          <a:prstGeom prst="rect">
            <a:avLst/>
          </a:prstGeom>
          <a:solidFill>
            <a:srgbClr val="0B2C4A"/>
          </a:solidFill>
          <a:ln/>
        </p:spPr>
      </p:sp>
      <p:sp>
        <p:nvSpPr>
          <p:cNvPr id="13" name="Text 11"/>
          <p:cNvSpPr txBox="1"/>
          <p:nvPr/>
        </p:nvSpPr>
        <p:spPr>
          <a:xfrm>
            <a:off x="658368" y="209397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4" name="Text 12"/>
          <p:cNvSpPr txBox="1"/>
          <p:nvPr/>
        </p:nvSpPr>
        <p:spPr>
          <a:xfrm>
            <a:off x="1014984" y="209397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5" name="Shape 13"/>
          <p:cNvSpPr/>
          <p:nvPr/>
        </p:nvSpPr>
        <p:spPr>
          <a:xfrm>
            <a:off x="3008376" y="2155698"/>
            <a:ext cx="1658471" cy="123444"/>
          </a:xfrm>
          <a:prstGeom prst="rect">
            <a:avLst/>
          </a:prstGeom>
          <a:solidFill>
            <a:srgbClr val="12A566"/>
          </a:solidFill>
          <a:ln/>
        </p:spPr>
      </p:sp>
      <p:sp>
        <p:nvSpPr>
          <p:cNvPr id="16" name="Text 14"/>
          <p:cNvSpPr txBox="1"/>
          <p:nvPr/>
        </p:nvSpPr>
        <p:spPr>
          <a:xfrm>
            <a:off x="4754880" y="209397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24.9</a:t>
            </a:r>
            <a:endParaRPr lang="en-US" sz="1200" dirty="0"/>
          </a:p>
        </p:txBody>
      </p:sp>
      <p:sp>
        <p:nvSpPr>
          <p:cNvPr id="17" name="Text 15"/>
          <p:cNvSpPr txBox="1"/>
          <p:nvPr/>
        </p:nvSpPr>
        <p:spPr>
          <a:xfrm>
            <a:off x="658368" y="234086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234086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9" name="Shape 17"/>
          <p:cNvSpPr/>
          <p:nvPr/>
        </p:nvSpPr>
        <p:spPr>
          <a:xfrm>
            <a:off x="3008376" y="2402586"/>
            <a:ext cx="1631155" cy="123444"/>
          </a:xfrm>
          <a:prstGeom prst="rect">
            <a:avLst/>
          </a:prstGeom>
          <a:solidFill>
            <a:srgbClr val="12A566"/>
          </a:solidFill>
          <a:ln/>
        </p:spPr>
      </p:sp>
      <p:sp>
        <p:nvSpPr>
          <p:cNvPr id="20" name="Text 18"/>
          <p:cNvSpPr txBox="1"/>
          <p:nvPr/>
        </p:nvSpPr>
        <p:spPr>
          <a:xfrm>
            <a:off x="4754880" y="234086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24.5</a:t>
            </a:r>
            <a:endParaRPr lang="en-US" sz="1200" dirty="0"/>
          </a:p>
        </p:txBody>
      </p:sp>
      <p:sp>
        <p:nvSpPr>
          <p:cNvPr id="21" name="Text 19"/>
          <p:cNvSpPr txBox="1"/>
          <p:nvPr/>
        </p:nvSpPr>
        <p:spPr>
          <a:xfrm>
            <a:off x="658368" y="258775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2" name="Text 20"/>
          <p:cNvSpPr txBox="1"/>
          <p:nvPr/>
        </p:nvSpPr>
        <p:spPr>
          <a:xfrm>
            <a:off x="1014984" y="258775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23" name="Shape 21"/>
          <p:cNvSpPr/>
          <p:nvPr/>
        </p:nvSpPr>
        <p:spPr>
          <a:xfrm>
            <a:off x="3008376" y="2649474"/>
            <a:ext cx="1292169" cy="123444"/>
          </a:xfrm>
          <a:prstGeom prst="rect">
            <a:avLst/>
          </a:prstGeom>
          <a:solidFill>
            <a:srgbClr val="12A566"/>
          </a:solidFill>
          <a:ln/>
        </p:spPr>
      </p:sp>
      <p:sp>
        <p:nvSpPr>
          <p:cNvPr id="24" name="Text 22"/>
          <p:cNvSpPr txBox="1"/>
          <p:nvPr/>
        </p:nvSpPr>
        <p:spPr>
          <a:xfrm>
            <a:off x="4754880" y="258775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19.4</a:t>
            </a:r>
            <a:endParaRPr lang="en-US" sz="1200" dirty="0"/>
          </a:p>
        </p:txBody>
      </p:sp>
      <p:sp>
        <p:nvSpPr>
          <p:cNvPr id="25" name="Text 23"/>
          <p:cNvSpPr txBox="1"/>
          <p:nvPr/>
        </p:nvSpPr>
        <p:spPr>
          <a:xfrm>
            <a:off x="658368" y="283464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6" name="Text 24"/>
          <p:cNvSpPr txBox="1"/>
          <p:nvPr/>
        </p:nvSpPr>
        <p:spPr>
          <a:xfrm>
            <a:off x="1014984" y="283464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27" name="Shape 25"/>
          <p:cNvSpPr/>
          <p:nvPr/>
        </p:nvSpPr>
        <p:spPr>
          <a:xfrm>
            <a:off x="3008376" y="2896362"/>
            <a:ext cx="1269367" cy="123444"/>
          </a:xfrm>
          <a:prstGeom prst="rect">
            <a:avLst/>
          </a:prstGeom>
          <a:solidFill>
            <a:srgbClr val="12A566"/>
          </a:solidFill>
          <a:ln/>
        </p:spPr>
      </p:sp>
      <p:sp>
        <p:nvSpPr>
          <p:cNvPr id="28" name="Text 26"/>
          <p:cNvSpPr txBox="1"/>
          <p:nvPr/>
        </p:nvSpPr>
        <p:spPr>
          <a:xfrm>
            <a:off x="4754880" y="283464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19.0</a:t>
            </a:r>
            <a:endParaRPr lang="en-US" sz="1200" dirty="0"/>
          </a:p>
        </p:txBody>
      </p:sp>
      <p:sp>
        <p:nvSpPr>
          <p:cNvPr id="29" name="Text 27"/>
          <p:cNvSpPr txBox="1"/>
          <p:nvPr/>
        </p:nvSpPr>
        <p:spPr>
          <a:xfrm>
            <a:off x="658368" y="308152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0" name="Text 28"/>
          <p:cNvSpPr txBox="1"/>
          <p:nvPr/>
        </p:nvSpPr>
        <p:spPr>
          <a:xfrm>
            <a:off x="1014984" y="308152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31" name="Shape 29"/>
          <p:cNvSpPr/>
          <p:nvPr/>
        </p:nvSpPr>
        <p:spPr>
          <a:xfrm>
            <a:off x="3008376" y="3143250"/>
            <a:ext cx="1120679" cy="123444"/>
          </a:xfrm>
          <a:prstGeom prst="rect">
            <a:avLst/>
          </a:prstGeom>
          <a:solidFill>
            <a:srgbClr val="C2352F"/>
          </a:solidFill>
          <a:ln/>
        </p:spPr>
      </p:sp>
      <p:sp>
        <p:nvSpPr>
          <p:cNvPr id="32" name="Text 30"/>
          <p:cNvSpPr txBox="1"/>
          <p:nvPr/>
        </p:nvSpPr>
        <p:spPr>
          <a:xfrm>
            <a:off x="4754880" y="308152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16.8</a:t>
            </a:r>
            <a:endParaRPr lang="en-US" sz="1200" dirty="0"/>
          </a:p>
        </p:txBody>
      </p:sp>
      <p:sp>
        <p:nvSpPr>
          <p:cNvPr id="33" name="Text 31"/>
          <p:cNvSpPr txBox="1"/>
          <p:nvPr/>
        </p:nvSpPr>
        <p:spPr>
          <a:xfrm>
            <a:off x="658368" y="332841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4" name="Text 32"/>
          <p:cNvSpPr txBox="1"/>
          <p:nvPr/>
        </p:nvSpPr>
        <p:spPr>
          <a:xfrm>
            <a:off x="1014984" y="332841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35" name="Shape 33"/>
          <p:cNvSpPr/>
          <p:nvPr/>
        </p:nvSpPr>
        <p:spPr>
          <a:xfrm>
            <a:off x="3008376" y="3390138"/>
            <a:ext cx="982182" cy="123444"/>
          </a:xfrm>
          <a:prstGeom prst="rect">
            <a:avLst/>
          </a:prstGeom>
          <a:solidFill>
            <a:srgbClr val="C2352F"/>
          </a:solidFill>
          <a:ln/>
        </p:spPr>
      </p:sp>
      <p:sp>
        <p:nvSpPr>
          <p:cNvPr id="36" name="Text 34"/>
          <p:cNvSpPr txBox="1"/>
          <p:nvPr/>
        </p:nvSpPr>
        <p:spPr>
          <a:xfrm>
            <a:off x="4754880" y="332841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14.7</a:t>
            </a:r>
            <a:endParaRPr lang="en-US" sz="1200" dirty="0"/>
          </a:p>
        </p:txBody>
      </p:sp>
      <p:sp>
        <p:nvSpPr>
          <p:cNvPr id="37" name="Text 35"/>
          <p:cNvSpPr txBox="1"/>
          <p:nvPr/>
        </p:nvSpPr>
        <p:spPr>
          <a:xfrm>
            <a:off x="658368" y="357530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8" name="Text 36"/>
          <p:cNvSpPr txBox="1"/>
          <p:nvPr/>
        </p:nvSpPr>
        <p:spPr>
          <a:xfrm>
            <a:off x="1014984" y="357530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39" name="Shape 37"/>
          <p:cNvSpPr/>
          <p:nvPr/>
        </p:nvSpPr>
        <p:spPr>
          <a:xfrm>
            <a:off x="3008376" y="3637026"/>
            <a:ext cx="981891" cy="123444"/>
          </a:xfrm>
          <a:prstGeom prst="rect">
            <a:avLst/>
          </a:prstGeom>
          <a:solidFill>
            <a:srgbClr val="C2352F"/>
          </a:solidFill>
          <a:ln/>
        </p:spPr>
      </p:sp>
      <p:sp>
        <p:nvSpPr>
          <p:cNvPr id="40" name="Text 38"/>
          <p:cNvSpPr txBox="1"/>
          <p:nvPr/>
        </p:nvSpPr>
        <p:spPr>
          <a:xfrm>
            <a:off x="4754880" y="357530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14.7</a:t>
            </a:r>
            <a:endParaRPr lang="en-US" sz="1200" dirty="0"/>
          </a:p>
        </p:txBody>
      </p:sp>
      <p:sp>
        <p:nvSpPr>
          <p:cNvPr id="41" name="Text 39"/>
          <p:cNvSpPr txBox="1"/>
          <p:nvPr/>
        </p:nvSpPr>
        <p:spPr>
          <a:xfrm>
            <a:off x="658368" y="382219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2" name="Text 40"/>
          <p:cNvSpPr txBox="1"/>
          <p:nvPr/>
        </p:nvSpPr>
        <p:spPr>
          <a:xfrm>
            <a:off x="1014984" y="382219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43" name="Shape 41"/>
          <p:cNvSpPr/>
          <p:nvPr/>
        </p:nvSpPr>
        <p:spPr>
          <a:xfrm>
            <a:off x="3008376" y="3883914"/>
            <a:ext cx="981057" cy="123444"/>
          </a:xfrm>
          <a:prstGeom prst="rect">
            <a:avLst/>
          </a:prstGeom>
          <a:solidFill>
            <a:srgbClr val="C2352F"/>
          </a:solidFill>
          <a:ln/>
        </p:spPr>
      </p:sp>
      <p:sp>
        <p:nvSpPr>
          <p:cNvPr id="44" name="Text 42"/>
          <p:cNvSpPr txBox="1"/>
          <p:nvPr/>
        </p:nvSpPr>
        <p:spPr>
          <a:xfrm>
            <a:off x="4754880" y="382219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14.7</a:t>
            </a:r>
            <a:endParaRPr lang="en-US" sz="1200" dirty="0"/>
          </a:p>
        </p:txBody>
      </p:sp>
      <p:sp>
        <p:nvSpPr>
          <p:cNvPr id="45" name="Text 43"/>
          <p:cNvSpPr txBox="1"/>
          <p:nvPr/>
        </p:nvSpPr>
        <p:spPr>
          <a:xfrm>
            <a:off x="658368" y="406908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6" name="Text 44"/>
          <p:cNvSpPr txBox="1"/>
          <p:nvPr/>
        </p:nvSpPr>
        <p:spPr>
          <a:xfrm>
            <a:off x="1014984" y="406908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47" name="Shape 45"/>
          <p:cNvSpPr/>
          <p:nvPr/>
        </p:nvSpPr>
        <p:spPr>
          <a:xfrm>
            <a:off x="3008376" y="4130802"/>
            <a:ext cx="910335" cy="123444"/>
          </a:xfrm>
          <a:prstGeom prst="rect">
            <a:avLst/>
          </a:prstGeom>
          <a:solidFill>
            <a:srgbClr val="C2352F"/>
          </a:solidFill>
          <a:ln/>
        </p:spPr>
      </p:sp>
      <p:sp>
        <p:nvSpPr>
          <p:cNvPr id="48" name="Text 46"/>
          <p:cNvSpPr txBox="1"/>
          <p:nvPr/>
        </p:nvSpPr>
        <p:spPr>
          <a:xfrm>
            <a:off x="4754880" y="406908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13.6</a:t>
            </a:r>
            <a:endParaRPr lang="en-US" sz="1200" dirty="0"/>
          </a:p>
        </p:txBody>
      </p:sp>
      <p:sp>
        <p:nvSpPr>
          <p:cNvPr id="49" name="Shape 47"/>
          <p:cNvSpPr/>
          <p:nvPr/>
        </p:nvSpPr>
        <p:spPr>
          <a:xfrm>
            <a:off x="658368" y="4297680"/>
            <a:ext cx="5303520" cy="18288"/>
          </a:xfrm>
          <a:prstGeom prst="rect">
            <a:avLst/>
          </a:prstGeom>
          <a:solidFill>
            <a:srgbClr val="0B2C4A"/>
          </a:solidFill>
          <a:ln/>
        </p:spPr>
      </p:sp>
      <p:sp>
        <p:nvSpPr>
          <p:cNvPr id="50" name="Text 48"/>
          <p:cNvSpPr txBox="1"/>
          <p:nvPr/>
        </p:nvSpPr>
        <p:spPr>
          <a:xfrm>
            <a:off x="658368" y="431596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29.3</a:t>
            </a:r>
            <a:endParaRPr lang="en-US" sz="1300" dirty="0"/>
          </a:p>
        </p:txBody>
      </p:sp>
      <p:sp>
        <p:nvSpPr>
          <p:cNvPr id="51" name="Shape 49"/>
          <p:cNvSpPr/>
          <p:nvPr/>
        </p:nvSpPr>
        <p:spPr>
          <a:xfrm>
            <a:off x="658368" y="4544568"/>
            <a:ext cx="5303520" cy="18288"/>
          </a:xfrm>
          <a:prstGeom prst="rect">
            <a:avLst/>
          </a:prstGeom>
          <a:solidFill>
            <a:srgbClr val="0B2C4A"/>
          </a:solidFill>
          <a:ln/>
        </p:spPr>
      </p:sp>
      <p:sp>
        <p:nvSpPr>
          <p:cNvPr id="52" name="Text 50"/>
          <p:cNvSpPr txBox="1"/>
          <p:nvPr/>
        </p:nvSpPr>
        <p:spPr>
          <a:xfrm>
            <a:off x="658368" y="456285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53" name="Text 51"/>
          <p:cNvSpPr txBox="1"/>
          <p:nvPr/>
        </p:nvSpPr>
        <p:spPr>
          <a:xfrm>
            <a:off x="1014984" y="456285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54" name="Shape 52"/>
          <p:cNvSpPr/>
          <p:nvPr/>
        </p:nvSpPr>
        <p:spPr>
          <a:xfrm>
            <a:off x="3008376" y="4624578"/>
            <a:ext cx="1584948" cy="123444"/>
          </a:xfrm>
          <a:prstGeom prst="rect">
            <a:avLst/>
          </a:prstGeom>
          <a:solidFill>
            <a:srgbClr val="12A566"/>
          </a:solidFill>
          <a:ln/>
        </p:spPr>
      </p:sp>
      <p:sp>
        <p:nvSpPr>
          <p:cNvPr id="55" name="Text 53"/>
          <p:cNvSpPr txBox="1"/>
          <p:nvPr/>
        </p:nvSpPr>
        <p:spPr>
          <a:xfrm>
            <a:off x="4754880" y="456285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39.8</a:t>
            </a:r>
            <a:endParaRPr lang="en-US" sz="1200" dirty="0"/>
          </a:p>
        </p:txBody>
      </p:sp>
      <p:sp>
        <p:nvSpPr>
          <p:cNvPr id="56" name="Text 54"/>
          <p:cNvSpPr txBox="1"/>
          <p:nvPr/>
        </p:nvSpPr>
        <p:spPr>
          <a:xfrm>
            <a:off x="658368" y="480974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57" name="Text 55"/>
          <p:cNvSpPr txBox="1"/>
          <p:nvPr/>
        </p:nvSpPr>
        <p:spPr>
          <a:xfrm>
            <a:off x="1014984" y="480974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58" name="Shape 56"/>
          <p:cNvSpPr/>
          <p:nvPr/>
        </p:nvSpPr>
        <p:spPr>
          <a:xfrm>
            <a:off x="3008376" y="4871466"/>
            <a:ext cx="1531944" cy="123444"/>
          </a:xfrm>
          <a:prstGeom prst="rect">
            <a:avLst/>
          </a:prstGeom>
          <a:solidFill>
            <a:srgbClr val="12A566"/>
          </a:solidFill>
          <a:ln/>
        </p:spPr>
      </p:sp>
      <p:sp>
        <p:nvSpPr>
          <p:cNvPr id="59" name="Text 57"/>
          <p:cNvSpPr txBox="1"/>
          <p:nvPr/>
        </p:nvSpPr>
        <p:spPr>
          <a:xfrm>
            <a:off x="4754880" y="480974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38.5</a:t>
            </a:r>
            <a:endParaRPr lang="en-US" sz="1200" dirty="0"/>
          </a:p>
        </p:txBody>
      </p:sp>
      <p:sp>
        <p:nvSpPr>
          <p:cNvPr id="60" name="Text 58"/>
          <p:cNvSpPr txBox="1"/>
          <p:nvPr/>
        </p:nvSpPr>
        <p:spPr>
          <a:xfrm>
            <a:off x="658368" y="505663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61" name="Text 59"/>
          <p:cNvSpPr txBox="1"/>
          <p:nvPr/>
        </p:nvSpPr>
        <p:spPr>
          <a:xfrm>
            <a:off x="1014984" y="505663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62" name="Shape 60"/>
          <p:cNvSpPr/>
          <p:nvPr/>
        </p:nvSpPr>
        <p:spPr>
          <a:xfrm>
            <a:off x="3008376" y="5118354"/>
            <a:ext cx="1488739" cy="123444"/>
          </a:xfrm>
          <a:prstGeom prst="rect">
            <a:avLst/>
          </a:prstGeom>
          <a:solidFill>
            <a:srgbClr val="12A566"/>
          </a:solidFill>
          <a:ln/>
        </p:spPr>
      </p:sp>
      <p:sp>
        <p:nvSpPr>
          <p:cNvPr id="63" name="Text 61"/>
          <p:cNvSpPr txBox="1"/>
          <p:nvPr/>
        </p:nvSpPr>
        <p:spPr>
          <a:xfrm>
            <a:off x="4754880" y="505663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37.4</a:t>
            </a:r>
            <a:endParaRPr lang="en-US" sz="1200" dirty="0"/>
          </a:p>
        </p:txBody>
      </p:sp>
      <p:sp>
        <p:nvSpPr>
          <p:cNvPr id="64" name="Text 62"/>
          <p:cNvSpPr txBox="1"/>
          <p:nvPr/>
        </p:nvSpPr>
        <p:spPr>
          <a:xfrm>
            <a:off x="658368" y="530352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65" name="Text 63"/>
          <p:cNvSpPr txBox="1"/>
          <p:nvPr/>
        </p:nvSpPr>
        <p:spPr>
          <a:xfrm>
            <a:off x="1014984" y="530352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66" name="Shape 64"/>
          <p:cNvSpPr/>
          <p:nvPr/>
        </p:nvSpPr>
        <p:spPr>
          <a:xfrm>
            <a:off x="3008376" y="5365242"/>
            <a:ext cx="1465284" cy="123444"/>
          </a:xfrm>
          <a:prstGeom prst="rect">
            <a:avLst/>
          </a:prstGeom>
          <a:solidFill>
            <a:srgbClr val="12A566"/>
          </a:solidFill>
          <a:ln/>
        </p:spPr>
      </p:sp>
      <p:sp>
        <p:nvSpPr>
          <p:cNvPr id="67" name="Text 65"/>
          <p:cNvSpPr txBox="1"/>
          <p:nvPr/>
        </p:nvSpPr>
        <p:spPr>
          <a:xfrm>
            <a:off x="4754880" y="530352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36.8</a:t>
            </a:r>
            <a:endParaRPr lang="en-US" sz="1200" dirty="0"/>
          </a:p>
        </p:txBody>
      </p:sp>
      <p:sp>
        <p:nvSpPr>
          <p:cNvPr id="68" name="Text 66"/>
          <p:cNvSpPr txBox="1"/>
          <p:nvPr/>
        </p:nvSpPr>
        <p:spPr>
          <a:xfrm>
            <a:off x="658368" y="555040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69" name="Text 67"/>
          <p:cNvSpPr txBox="1"/>
          <p:nvPr/>
        </p:nvSpPr>
        <p:spPr>
          <a:xfrm>
            <a:off x="1014984" y="555040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70" name="Shape 68"/>
          <p:cNvSpPr/>
          <p:nvPr/>
        </p:nvSpPr>
        <p:spPr>
          <a:xfrm>
            <a:off x="3008376" y="5612130"/>
            <a:ext cx="1453454" cy="123444"/>
          </a:xfrm>
          <a:prstGeom prst="rect">
            <a:avLst/>
          </a:prstGeom>
          <a:solidFill>
            <a:srgbClr val="12A566"/>
          </a:solidFill>
          <a:ln/>
        </p:spPr>
      </p:sp>
      <p:sp>
        <p:nvSpPr>
          <p:cNvPr id="71" name="Text 69"/>
          <p:cNvSpPr txBox="1"/>
          <p:nvPr/>
        </p:nvSpPr>
        <p:spPr>
          <a:xfrm>
            <a:off x="4754880" y="555040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36.5</a:t>
            </a:r>
            <a:endParaRPr lang="en-US" sz="1200" dirty="0"/>
          </a:p>
        </p:txBody>
      </p:sp>
      <p:sp>
        <p:nvSpPr>
          <p:cNvPr id="72" name="Text 70"/>
          <p:cNvSpPr txBox="1"/>
          <p:nvPr/>
        </p:nvSpPr>
        <p:spPr>
          <a:xfrm>
            <a:off x="658368" y="579729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73" name="Text 71"/>
          <p:cNvSpPr txBox="1"/>
          <p:nvPr/>
        </p:nvSpPr>
        <p:spPr>
          <a:xfrm>
            <a:off x="1014984" y="579729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74" name="Shape 72"/>
          <p:cNvSpPr/>
          <p:nvPr/>
        </p:nvSpPr>
        <p:spPr>
          <a:xfrm>
            <a:off x="3008376" y="5859018"/>
            <a:ext cx="1392914" cy="123444"/>
          </a:xfrm>
          <a:prstGeom prst="rect">
            <a:avLst/>
          </a:prstGeom>
          <a:solidFill>
            <a:srgbClr val="12A566"/>
          </a:solidFill>
          <a:ln/>
        </p:spPr>
      </p:sp>
      <p:sp>
        <p:nvSpPr>
          <p:cNvPr id="75" name="Text 73"/>
          <p:cNvSpPr txBox="1"/>
          <p:nvPr/>
        </p:nvSpPr>
        <p:spPr>
          <a:xfrm>
            <a:off x="4754880" y="579729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35.0</a:t>
            </a:r>
            <a:endParaRPr lang="en-US" sz="1200" dirty="0"/>
          </a:p>
        </p:txBody>
      </p:sp>
      <p:sp>
        <p:nvSpPr>
          <p:cNvPr id="76" name="Text 74"/>
          <p:cNvSpPr txBox="1"/>
          <p:nvPr/>
        </p:nvSpPr>
        <p:spPr>
          <a:xfrm>
            <a:off x="658368" y="604418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77" name="Text 75"/>
          <p:cNvSpPr txBox="1"/>
          <p:nvPr/>
        </p:nvSpPr>
        <p:spPr>
          <a:xfrm>
            <a:off x="1014984" y="604418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78" name="Shape 76"/>
          <p:cNvSpPr/>
          <p:nvPr/>
        </p:nvSpPr>
        <p:spPr>
          <a:xfrm>
            <a:off x="3008376" y="6105906"/>
            <a:ext cx="1382090" cy="123444"/>
          </a:xfrm>
          <a:prstGeom prst="rect">
            <a:avLst/>
          </a:prstGeom>
          <a:solidFill>
            <a:srgbClr val="12A566"/>
          </a:solidFill>
          <a:ln/>
        </p:spPr>
      </p:sp>
      <p:sp>
        <p:nvSpPr>
          <p:cNvPr id="79" name="Text 77"/>
          <p:cNvSpPr txBox="1"/>
          <p:nvPr/>
        </p:nvSpPr>
        <p:spPr>
          <a:xfrm>
            <a:off x="4754880" y="604418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34.7</a:t>
            </a:r>
            <a:endParaRPr lang="en-US" sz="1200" dirty="0"/>
          </a:p>
        </p:txBody>
      </p:sp>
      <p:sp>
        <p:nvSpPr>
          <p:cNvPr id="80" name="Text 78"/>
          <p:cNvSpPr txBox="1"/>
          <p:nvPr/>
        </p:nvSpPr>
        <p:spPr>
          <a:xfrm>
            <a:off x="6208776" y="184708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29.3  (CONTINUED)</a:t>
            </a:r>
            <a:endParaRPr lang="en-US" sz="1300" dirty="0"/>
          </a:p>
        </p:txBody>
      </p:sp>
      <p:sp>
        <p:nvSpPr>
          <p:cNvPr id="81" name="Shape 79"/>
          <p:cNvSpPr/>
          <p:nvPr/>
        </p:nvSpPr>
        <p:spPr>
          <a:xfrm>
            <a:off x="6208776" y="2075688"/>
            <a:ext cx="5303520" cy="18288"/>
          </a:xfrm>
          <a:prstGeom prst="rect">
            <a:avLst/>
          </a:prstGeom>
          <a:solidFill>
            <a:srgbClr val="0B2C4A"/>
          </a:solidFill>
          <a:ln/>
        </p:spPr>
      </p:sp>
      <p:sp>
        <p:nvSpPr>
          <p:cNvPr id="82" name="Text 80"/>
          <p:cNvSpPr txBox="1"/>
          <p:nvPr/>
        </p:nvSpPr>
        <p:spPr>
          <a:xfrm>
            <a:off x="6208776" y="209397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83" name="Text 81"/>
          <p:cNvSpPr txBox="1"/>
          <p:nvPr/>
        </p:nvSpPr>
        <p:spPr>
          <a:xfrm>
            <a:off x="6565392" y="209397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84" name="Shape 82"/>
          <p:cNvSpPr/>
          <p:nvPr/>
        </p:nvSpPr>
        <p:spPr>
          <a:xfrm>
            <a:off x="8558784" y="2155698"/>
            <a:ext cx="1290776" cy="123444"/>
          </a:xfrm>
          <a:prstGeom prst="rect">
            <a:avLst/>
          </a:prstGeom>
          <a:solidFill>
            <a:srgbClr val="12A566"/>
          </a:solidFill>
          <a:ln/>
        </p:spPr>
      </p:sp>
      <p:sp>
        <p:nvSpPr>
          <p:cNvPr id="85" name="Text 83"/>
          <p:cNvSpPr txBox="1"/>
          <p:nvPr/>
        </p:nvSpPr>
        <p:spPr>
          <a:xfrm>
            <a:off x="10305288" y="209397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32.4</a:t>
            </a:r>
            <a:endParaRPr lang="en-US" sz="1200" dirty="0"/>
          </a:p>
        </p:txBody>
      </p:sp>
      <p:sp>
        <p:nvSpPr>
          <p:cNvPr id="86" name="Text 84"/>
          <p:cNvSpPr txBox="1"/>
          <p:nvPr/>
        </p:nvSpPr>
        <p:spPr>
          <a:xfrm>
            <a:off x="6208776" y="234086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87" name="Text 85"/>
          <p:cNvSpPr txBox="1"/>
          <p:nvPr/>
        </p:nvSpPr>
        <p:spPr>
          <a:xfrm>
            <a:off x="6565392" y="234086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88" name="Shape 86"/>
          <p:cNvSpPr/>
          <p:nvPr/>
        </p:nvSpPr>
        <p:spPr>
          <a:xfrm>
            <a:off x="8558784" y="2402586"/>
            <a:ext cx="1250314" cy="123444"/>
          </a:xfrm>
          <a:prstGeom prst="rect">
            <a:avLst/>
          </a:prstGeom>
          <a:solidFill>
            <a:srgbClr val="12A566"/>
          </a:solidFill>
          <a:ln/>
        </p:spPr>
      </p:sp>
      <p:sp>
        <p:nvSpPr>
          <p:cNvPr id="89" name="Text 87"/>
          <p:cNvSpPr txBox="1"/>
          <p:nvPr/>
        </p:nvSpPr>
        <p:spPr>
          <a:xfrm>
            <a:off x="10305288" y="234086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31.4</a:t>
            </a:r>
            <a:endParaRPr lang="en-US" sz="1200" dirty="0"/>
          </a:p>
        </p:txBody>
      </p:sp>
      <p:sp>
        <p:nvSpPr>
          <p:cNvPr id="90" name="Text 88"/>
          <p:cNvSpPr txBox="1"/>
          <p:nvPr/>
        </p:nvSpPr>
        <p:spPr>
          <a:xfrm>
            <a:off x="6208776" y="258775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91" name="Text 89"/>
          <p:cNvSpPr txBox="1"/>
          <p:nvPr/>
        </p:nvSpPr>
        <p:spPr>
          <a:xfrm>
            <a:off x="6565392" y="258775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92" name="Shape 90"/>
          <p:cNvSpPr/>
          <p:nvPr/>
        </p:nvSpPr>
        <p:spPr>
          <a:xfrm>
            <a:off x="8558784" y="2649474"/>
            <a:ext cx="1249903" cy="123444"/>
          </a:xfrm>
          <a:prstGeom prst="rect">
            <a:avLst/>
          </a:prstGeom>
          <a:solidFill>
            <a:srgbClr val="12A566"/>
          </a:solidFill>
          <a:ln/>
        </p:spPr>
      </p:sp>
      <p:sp>
        <p:nvSpPr>
          <p:cNvPr id="93" name="Text 91"/>
          <p:cNvSpPr txBox="1"/>
          <p:nvPr/>
        </p:nvSpPr>
        <p:spPr>
          <a:xfrm>
            <a:off x="10305288" y="258775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31.4</a:t>
            </a:r>
            <a:endParaRPr lang="en-US" sz="1200" dirty="0"/>
          </a:p>
        </p:txBody>
      </p:sp>
      <p:sp>
        <p:nvSpPr>
          <p:cNvPr id="94" name="Text 92"/>
          <p:cNvSpPr txBox="1"/>
          <p:nvPr/>
        </p:nvSpPr>
        <p:spPr>
          <a:xfrm>
            <a:off x="6208776" y="283464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95" name="Text 93"/>
          <p:cNvSpPr txBox="1"/>
          <p:nvPr/>
        </p:nvSpPr>
        <p:spPr>
          <a:xfrm>
            <a:off x="6565392" y="283464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96" name="Shape 94"/>
          <p:cNvSpPr/>
          <p:nvPr/>
        </p:nvSpPr>
        <p:spPr>
          <a:xfrm>
            <a:off x="8558784" y="2896362"/>
            <a:ext cx="1249400" cy="123444"/>
          </a:xfrm>
          <a:prstGeom prst="rect">
            <a:avLst/>
          </a:prstGeom>
          <a:solidFill>
            <a:srgbClr val="12A566"/>
          </a:solidFill>
          <a:ln/>
        </p:spPr>
      </p:sp>
      <p:sp>
        <p:nvSpPr>
          <p:cNvPr id="97" name="Text 95"/>
          <p:cNvSpPr txBox="1"/>
          <p:nvPr/>
        </p:nvSpPr>
        <p:spPr>
          <a:xfrm>
            <a:off x="10305288" y="283464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31.4</a:t>
            </a:r>
            <a:endParaRPr lang="en-US" sz="1200" dirty="0"/>
          </a:p>
        </p:txBody>
      </p:sp>
      <p:sp>
        <p:nvSpPr>
          <p:cNvPr id="98" name="Text 96"/>
          <p:cNvSpPr txBox="1"/>
          <p:nvPr/>
        </p:nvSpPr>
        <p:spPr>
          <a:xfrm>
            <a:off x="6208776" y="308152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99" name="Text 97"/>
          <p:cNvSpPr txBox="1"/>
          <p:nvPr/>
        </p:nvSpPr>
        <p:spPr>
          <a:xfrm>
            <a:off x="6565392" y="308152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00" name="Shape 98"/>
          <p:cNvSpPr/>
          <p:nvPr/>
        </p:nvSpPr>
        <p:spPr>
          <a:xfrm>
            <a:off x="8558784" y="3143250"/>
            <a:ext cx="1244020" cy="123444"/>
          </a:xfrm>
          <a:prstGeom prst="rect">
            <a:avLst/>
          </a:prstGeom>
          <a:solidFill>
            <a:srgbClr val="12A566"/>
          </a:solidFill>
          <a:ln/>
        </p:spPr>
      </p:sp>
      <p:sp>
        <p:nvSpPr>
          <p:cNvPr id="101" name="Text 99"/>
          <p:cNvSpPr txBox="1"/>
          <p:nvPr/>
        </p:nvSpPr>
        <p:spPr>
          <a:xfrm>
            <a:off x="10305288" y="308152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31.3</a:t>
            </a:r>
            <a:endParaRPr lang="en-US" sz="1200" dirty="0"/>
          </a:p>
        </p:txBody>
      </p:sp>
      <p:sp>
        <p:nvSpPr>
          <p:cNvPr id="102" name="Text 100"/>
          <p:cNvSpPr txBox="1"/>
          <p:nvPr/>
        </p:nvSpPr>
        <p:spPr>
          <a:xfrm>
            <a:off x="6208776" y="332841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103" name="Text 101"/>
          <p:cNvSpPr txBox="1"/>
          <p:nvPr/>
        </p:nvSpPr>
        <p:spPr>
          <a:xfrm>
            <a:off x="6565392" y="332841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04" name="Shape 102"/>
          <p:cNvSpPr/>
          <p:nvPr/>
        </p:nvSpPr>
        <p:spPr>
          <a:xfrm>
            <a:off x="8558784" y="3390138"/>
            <a:ext cx="1237592" cy="123444"/>
          </a:xfrm>
          <a:prstGeom prst="rect">
            <a:avLst/>
          </a:prstGeom>
          <a:solidFill>
            <a:srgbClr val="12A566"/>
          </a:solidFill>
          <a:ln/>
        </p:spPr>
      </p:sp>
      <p:sp>
        <p:nvSpPr>
          <p:cNvPr id="105" name="Text 103"/>
          <p:cNvSpPr txBox="1"/>
          <p:nvPr/>
        </p:nvSpPr>
        <p:spPr>
          <a:xfrm>
            <a:off x="10305288" y="332841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31.1</a:t>
            </a:r>
            <a:endParaRPr lang="en-US" sz="1200" dirty="0"/>
          </a:p>
        </p:txBody>
      </p:sp>
      <p:sp>
        <p:nvSpPr>
          <p:cNvPr id="106" name="Text 104"/>
          <p:cNvSpPr txBox="1"/>
          <p:nvPr/>
        </p:nvSpPr>
        <p:spPr>
          <a:xfrm>
            <a:off x="6208776" y="357530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107" name="Text 105"/>
          <p:cNvSpPr txBox="1"/>
          <p:nvPr/>
        </p:nvSpPr>
        <p:spPr>
          <a:xfrm>
            <a:off x="6565392" y="357530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8" name="Shape 106"/>
          <p:cNvSpPr/>
          <p:nvPr/>
        </p:nvSpPr>
        <p:spPr>
          <a:xfrm>
            <a:off x="8558784" y="3637026"/>
            <a:ext cx="1215849" cy="123444"/>
          </a:xfrm>
          <a:prstGeom prst="rect">
            <a:avLst/>
          </a:prstGeom>
          <a:solidFill>
            <a:srgbClr val="12A566"/>
          </a:solidFill>
          <a:ln/>
        </p:spPr>
      </p:sp>
      <p:sp>
        <p:nvSpPr>
          <p:cNvPr id="109" name="Text 107"/>
          <p:cNvSpPr txBox="1"/>
          <p:nvPr/>
        </p:nvSpPr>
        <p:spPr>
          <a:xfrm>
            <a:off x="10305288" y="357530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30.6</a:t>
            </a:r>
            <a:endParaRPr lang="en-US" sz="1200" dirty="0"/>
          </a:p>
        </p:txBody>
      </p:sp>
      <p:sp>
        <p:nvSpPr>
          <p:cNvPr id="110" name="Text 108"/>
          <p:cNvSpPr txBox="1"/>
          <p:nvPr/>
        </p:nvSpPr>
        <p:spPr>
          <a:xfrm>
            <a:off x="6208776" y="382219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11" name="Text 109"/>
          <p:cNvSpPr txBox="1"/>
          <p:nvPr/>
        </p:nvSpPr>
        <p:spPr>
          <a:xfrm>
            <a:off x="6565392" y="382219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12" name="Shape 110"/>
          <p:cNvSpPr/>
          <p:nvPr/>
        </p:nvSpPr>
        <p:spPr>
          <a:xfrm>
            <a:off x="8558784" y="3883914"/>
            <a:ext cx="1146869" cy="123444"/>
          </a:xfrm>
          <a:prstGeom prst="rect">
            <a:avLst/>
          </a:prstGeom>
          <a:solidFill>
            <a:srgbClr val="C2352F"/>
          </a:solidFill>
          <a:ln/>
        </p:spPr>
      </p:sp>
      <p:sp>
        <p:nvSpPr>
          <p:cNvPr id="113" name="Text 111"/>
          <p:cNvSpPr txBox="1"/>
          <p:nvPr/>
        </p:nvSpPr>
        <p:spPr>
          <a:xfrm>
            <a:off x="10305288" y="382219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28.8</a:t>
            </a:r>
            <a:endParaRPr lang="en-US" sz="1200" dirty="0"/>
          </a:p>
        </p:txBody>
      </p:sp>
      <p:sp>
        <p:nvSpPr>
          <p:cNvPr id="114" name="Text 112"/>
          <p:cNvSpPr txBox="1"/>
          <p:nvPr/>
        </p:nvSpPr>
        <p:spPr>
          <a:xfrm>
            <a:off x="6208776" y="406908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15" name="Text 113"/>
          <p:cNvSpPr txBox="1"/>
          <p:nvPr/>
        </p:nvSpPr>
        <p:spPr>
          <a:xfrm>
            <a:off x="6565392" y="406908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6" name="Shape 114"/>
          <p:cNvSpPr/>
          <p:nvPr/>
        </p:nvSpPr>
        <p:spPr>
          <a:xfrm>
            <a:off x="8558784" y="4130802"/>
            <a:ext cx="1122936" cy="123444"/>
          </a:xfrm>
          <a:prstGeom prst="rect">
            <a:avLst/>
          </a:prstGeom>
          <a:solidFill>
            <a:srgbClr val="C2352F"/>
          </a:solidFill>
          <a:ln/>
        </p:spPr>
      </p:sp>
      <p:sp>
        <p:nvSpPr>
          <p:cNvPr id="117" name="Text 115"/>
          <p:cNvSpPr txBox="1"/>
          <p:nvPr/>
        </p:nvSpPr>
        <p:spPr>
          <a:xfrm>
            <a:off x="10305288" y="406908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28.2</a:t>
            </a:r>
            <a:endParaRPr lang="en-US" sz="1200" dirty="0"/>
          </a:p>
        </p:txBody>
      </p:sp>
      <p:sp>
        <p:nvSpPr>
          <p:cNvPr id="118" name="Text 116"/>
          <p:cNvSpPr txBox="1"/>
          <p:nvPr/>
        </p:nvSpPr>
        <p:spPr>
          <a:xfrm>
            <a:off x="6208776" y="431596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9" name="Text 117"/>
          <p:cNvSpPr txBox="1"/>
          <p:nvPr/>
        </p:nvSpPr>
        <p:spPr>
          <a:xfrm>
            <a:off x="6565392" y="431596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20" name="Shape 118"/>
          <p:cNvSpPr/>
          <p:nvPr/>
        </p:nvSpPr>
        <p:spPr>
          <a:xfrm>
            <a:off x="8558784" y="4377690"/>
            <a:ext cx="1013406" cy="123444"/>
          </a:xfrm>
          <a:prstGeom prst="rect">
            <a:avLst/>
          </a:prstGeom>
          <a:solidFill>
            <a:srgbClr val="C2352F"/>
          </a:solidFill>
          <a:ln/>
        </p:spPr>
      </p:sp>
      <p:sp>
        <p:nvSpPr>
          <p:cNvPr id="121" name="Text 119"/>
          <p:cNvSpPr txBox="1"/>
          <p:nvPr/>
        </p:nvSpPr>
        <p:spPr>
          <a:xfrm>
            <a:off x="10305288" y="431596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25.5</a:t>
            </a:r>
            <a:endParaRPr lang="en-US" sz="1200" dirty="0"/>
          </a:p>
        </p:txBody>
      </p:sp>
      <p:sp>
        <p:nvSpPr>
          <p:cNvPr id="122" name="Text 120"/>
          <p:cNvSpPr txBox="1"/>
          <p:nvPr/>
        </p:nvSpPr>
        <p:spPr>
          <a:xfrm>
            <a:off x="6208776" y="456285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3" name="Text 121"/>
          <p:cNvSpPr txBox="1"/>
          <p:nvPr/>
        </p:nvSpPr>
        <p:spPr>
          <a:xfrm>
            <a:off x="6565392" y="456285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24" name="Shape 122"/>
          <p:cNvSpPr/>
          <p:nvPr/>
        </p:nvSpPr>
        <p:spPr>
          <a:xfrm>
            <a:off x="8558784" y="4624578"/>
            <a:ext cx="940756" cy="123444"/>
          </a:xfrm>
          <a:prstGeom prst="rect">
            <a:avLst/>
          </a:prstGeom>
          <a:solidFill>
            <a:srgbClr val="C2352F"/>
          </a:solidFill>
          <a:ln/>
        </p:spPr>
      </p:sp>
      <p:sp>
        <p:nvSpPr>
          <p:cNvPr id="125" name="Text 123"/>
          <p:cNvSpPr txBox="1"/>
          <p:nvPr/>
        </p:nvSpPr>
        <p:spPr>
          <a:xfrm>
            <a:off x="10305288" y="456285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23.6</a:t>
            </a:r>
            <a:endParaRPr lang="en-US" sz="1200" dirty="0"/>
          </a:p>
        </p:txBody>
      </p:sp>
      <p:sp>
        <p:nvSpPr>
          <p:cNvPr id="126" name="Text 124"/>
          <p:cNvSpPr txBox="1"/>
          <p:nvPr/>
        </p:nvSpPr>
        <p:spPr>
          <a:xfrm>
            <a:off x="6208776" y="480974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7" name="Text 125"/>
          <p:cNvSpPr txBox="1"/>
          <p:nvPr/>
        </p:nvSpPr>
        <p:spPr>
          <a:xfrm>
            <a:off x="6565392" y="480974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28" name="Shape 126"/>
          <p:cNvSpPr/>
          <p:nvPr/>
        </p:nvSpPr>
        <p:spPr>
          <a:xfrm>
            <a:off x="8558784" y="4871466"/>
            <a:ext cx="900750" cy="123444"/>
          </a:xfrm>
          <a:prstGeom prst="rect">
            <a:avLst/>
          </a:prstGeom>
          <a:solidFill>
            <a:srgbClr val="C2352F"/>
          </a:solidFill>
          <a:ln/>
        </p:spPr>
      </p:sp>
      <p:sp>
        <p:nvSpPr>
          <p:cNvPr id="129" name="Text 127"/>
          <p:cNvSpPr txBox="1"/>
          <p:nvPr/>
        </p:nvSpPr>
        <p:spPr>
          <a:xfrm>
            <a:off x="10305288" y="480974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22.6</a:t>
            </a:r>
            <a:endParaRPr lang="en-US" sz="1200" dirty="0"/>
          </a:p>
        </p:txBody>
      </p:sp>
      <p:sp>
        <p:nvSpPr>
          <p:cNvPr id="130" name="Text 128"/>
          <p:cNvSpPr txBox="1"/>
          <p:nvPr/>
        </p:nvSpPr>
        <p:spPr>
          <a:xfrm>
            <a:off x="6208776" y="505663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31" name="Text 129"/>
          <p:cNvSpPr txBox="1"/>
          <p:nvPr/>
        </p:nvSpPr>
        <p:spPr>
          <a:xfrm>
            <a:off x="6565392" y="505663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32" name="Shape 130"/>
          <p:cNvSpPr/>
          <p:nvPr/>
        </p:nvSpPr>
        <p:spPr>
          <a:xfrm>
            <a:off x="8558784" y="5118354"/>
            <a:ext cx="880007" cy="123444"/>
          </a:xfrm>
          <a:prstGeom prst="rect">
            <a:avLst/>
          </a:prstGeom>
          <a:solidFill>
            <a:srgbClr val="C2352F"/>
          </a:solidFill>
          <a:ln/>
        </p:spPr>
      </p:sp>
      <p:sp>
        <p:nvSpPr>
          <p:cNvPr id="133" name="Text 131"/>
          <p:cNvSpPr txBox="1"/>
          <p:nvPr/>
        </p:nvSpPr>
        <p:spPr>
          <a:xfrm>
            <a:off x="10305288" y="505663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22.1</a:t>
            </a:r>
            <a:endParaRPr lang="en-US" sz="1200" dirty="0"/>
          </a:p>
        </p:txBody>
      </p:sp>
      <p:sp>
        <p:nvSpPr>
          <p:cNvPr id="134" name="Text 132"/>
          <p:cNvSpPr txBox="1"/>
          <p:nvPr/>
        </p:nvSpPr>
        <p:spPr>
          <a:xfrm>
            <a:off x="6208776" y="530352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5" name="Text 133"/>
          <p:cNvSpPr txBox="1"/>
          <p:nvPr/>
        </p:nvSpPr>
        <p:spPr>
          <a:xfrm>
            <a:off x="6565392" y="530352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36" name="Shape 134"/>
          <p:cNvSpPr/>
          <p:nvPr/>
        </p:nvSpPr>
        <p:spPr>
          <a:xfrm>
            <a:off x="8558784" y="5365242"/>
            <a:ext cx="832284" cy="123444"/>
          </a:xfrm>
          <a:prstGeom prst="rect">
            <a:avLst/>
          </a:prstGeom>
          <a:solidFill>
            <a:srgbClr val="C2352F"/>
          </a:solidFill>
          <a:ln/>
        </p:spPr>
      </p:sp>
      <p:sp>
        <p:nvSpPr>
          <p:cNvPr id="137" name="Text 135"/>
          <p:cNvSpPr txBox="1"/>
          <p:nvPr/>
        </p:nvSpPr>
        <p:spPr>
          <a:xfrm>
            <a:off x="10305288" y="530352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20.9</a:t>
            </a:r>
            <a:endParaRPr lang="en-US" sz="1200" dirty="0"/>
          </a:p>
        </p:txBody>
      </p:sp>
      <p:sp>
        <p:nvSpPr>
          <p:cNvPr id="138" name="Text 136"/>
          <p:cNvSpPr txBox="1"/>
          <p:nvPr/>
        </p:nvSpPr>
        <p:spPr>
          <a:xfrm>
            <a:off x="6208776" y="555040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555040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40" name="Shape 138"/>
          <p:cNvSpPr/>
          <p:nvPr/>
        </p:nvSpPr>
        <p:spPr>
          <a:xfrm>
            <a:off x="8558784" y="5612130"/>
            <a:ext cx="808680" cy="123444"/>
          </a:xfrm>
          <a:prstGeom prst="rect">
            <a:avLst/>
          </a:prstGeom>
          <a:solidFill>
            <a:srgbClr val="C2352F"/>
          </a:solidFill>
          <a:ln/>
        </p:spPr>
      </p:sp>
      <p:sp>
        <p:nvSpPr>
          <p:cNvPr id="141" name="Text 139"/>
          <p:cNvSpPr txBox="1"/>
          <p:nvPr/>
        </p:nvSpPr>
        <p:spPr>
          <a:xfrm>
            <a:off x="10305288" y="555040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20.3</a:t>
            </a:r>
            <a:endParaRPr lang="en-US" sz="1200" dirty="0"/>
          </a:p>
        </p:txBody>
      </p:sp>
      <p:sp>
        <p:nvSpPr>
          <p:cNvPr id="142" name="Text 140"/>
          <p:cNvSpPr txBox="1"/>
          <p:nvPr/>
        </p:nvSpPr>
        <p:spPr>
          <a:xfrm>
            <a:off x="6208776" y="579729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3" name="Text 141"/>
          <p:cNvSpPr txBox="1"/>
          <p:nvPr/>
        </p:nvSpPr>
        <p:spPr>
          <a:xfrm>
            <a:off x="6565392" y="579729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44" name="Shape 142"/>
          <p:cNvSpPr/>
          <p:nvPr/>
        </p:nvSpPr>
        <p:spPr>
          <a:xfrm>
            <a:off x="8558784" y="5859018"/>
            <a:ext cx="763360" cy="123444"/>
          </a:xfrm>
          <a:prstGeom prst="rect">
            <a:avLst/>
          </a:prstGeom>
          <a:solidFill>
            <a:srgbClr val="C2352F"/>
          </a:solidFill>
          <a:ln/>
        </p:spPr>
      </p:sp>
      <p:sp>
        <p:nvSpPr>
          <p:cNvPr id="145" name="Text 143"/>
          <p:cNvSpPr txBox="1"/>
          <p:nvPr/>
        </p:nvSpPr>
        <p:spPr>
          <a:xfrm>
            <a:off x="10305288" y="579729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19.2</a:t>
            </a:r>
            <a:endParaRPr lang="en-US" sz="1200" dirty="0"/>
          </a:p>
        </p:txBody>
      </p:sp>
      <p:sp>
        <p:nvSpPr>
          <p:cNvPr id="146" name="Text 144"/>
          <p:cNvSpPr txBox="1"/>
          <p:nvPr/>
        </p:nvSpPr>
        <p:spPr>
          <a:xfrm>
            <a:off x="6208776" y="604418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47" name="Text 145"/>
          <p:cNvSpPr txBox="1"/>
          <p:nvPr/>
        </p:nvSpPr>
        <p:spPr>
          <a:xfrm>
            <a:off x="6565392" y="604418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48" name="Shape 146"/>
          <p:cNvSpPr/>
          <p:nvPr/>
        </p:nvSpPr>
        <p:spPr>
          <a:xfrm>
            <a:off x="8558784" y="6105906"/>
            <a:ext cx="690045" cy="123444"/>
          </a:xfrm>
          <a:prstGeom prst="rect">
            <a:avLst/>
          </a:prstGeom>
          <a:solidFill>
            <a:srgbClr val="C2352F"/>
          </a:solidFill>
          <a:ln/>
        </p:spPr>
      </p:sp>
      <p:sp>
        <p:nvSpPr>
          <p:cNvPr id="149" name="Text 147"/>
          <p:cNvSpPr txBox="1"/>
          <p:nvPr/>
        </p:nvSpPr>
        <p:spPr>
          <a:xfrm>
            <a:off x="10305288" y="604418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17.3</a:t>
            </a:r>
            <a:endParaRPr lang="en-US" sz="1200" dirty="0"/>
          </a:p>
        </p:txBody>
      </p:sp>
      <p:sp>
        <p:nvSpPr>
          <p:cNvPr id="150" name="Shape 148"/>
          <p:cNvSpPr/>
          <p:nvPr/>
        </p:nvSpPr>
        <p:spPr>
          <a:xfrm>
            <a:off x="4164984" y="2093976"/>
            <a:ext cx="14630" cy="2221992"/>
          </a:xfrm>
          <a:prstGeom prst="rect">
            <a:avLst/>
          </a:prstGeom>
          <a:solidFill>
            <a:srgbClr val="0B2C4A"/>
          </a:solidFill>
          <a:ln/>
        </p:spPr>
      </p:sp>
      <p:sp>
        <p:nvSpPr>
          <p:cNvPr id="151" name="Shape 149"/>
          <p:cNvSpPr/>
          <p:nvPr/>
        </p:nvSpPr>
        <p:spPr>
          <a:xfrm>
            <a:off x="4164984" y="4562856"/>
            <a:ext cx="14630" cy="1728216"/>
          </a:xfrm>
          <a:prstGeom prst="rect">
            <a:avLst/>
          </a:prstGeom>
          <a:solidFill>
            <a:srgbClr val="0B2C4A"/>
          </a:solidFill>
          <a:ln/>
        </p:spPr>
      </p:sp>
      <p:sp>
        <p:nvSpPr>
          <p:cNvPr id="152" name="Shape 150"/>
          <p:cNvSpPr/>
          <p:nvPr/>
        </p:nvSpPr>
        <p:spPr>
          <a:xfrm>
            <a:off x="9715392" y="2093976"/>
            <a:ext cx="14630" cy="4197096"/>
          </a:xfrm>
          <a:prstGeom prst="rect">
            <a:avLst/>
          </a:prstGeom>
          <a:solidFill>
            <a:srgbClr val="0B2C4A"/>
          </a:solidFill>
          <a:ln/>
        </p:spPr>
      </p:sp>
      <p:sp>
        <p:nvSpPr>
          <p:cNvPr id="153" name="Shape 151"/>
          <p:cNvSpPr/>
          <p:nvPr/>
        </p:nvSpPr>
        <p:spPr>
          <a:xfrm>
            <a:off x="6085332" y="1847088"/>
            <a:ext cx="10973" cy="4443984"/>
          </a:xfrm>
          <a:prstGeom prst="rect">
            <a:avLst/>
          </a:prstGeom>
          <a:solidFill>
            <a:srgbClr val="D9D9D9"/>
          </a:solidFill>
          <a:ln/>
        </p:spPr>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EMPLOYEE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56235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&amp; W ROS PER FIXED EMPLOYEE</a:t>
            </a:r>
            <a:endParaRPr lang="en-US" sz="1500" dirty="0"/>
          </a:p>
        </p:txBody>
      </p:sp>
      <p:sp>
        <p:nvSpPr>
          <p:cNvPr id="9" name="Text 7"/>
          <p:cNvSpPr txBox="1"/>
          <p:nvPr/>
        </p:nvSpPr>
        <p:spPr>
          <a:xfrm>
            <a:off x="4476750" y="1335024"/>
            <a:ext cx="356997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+0.8</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 name="Shape 11"/>
          <p:cNvSpPr/>
          <p:nvPr/>
        </p:nvSpPr>
        <p:spPr>
          <a:xfrm>
            <a:off x="3785616" y="1911860"/>
            <a:ext cx="77724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+6.9</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7" name="Shape 15"/>
          <p:cNvSpPr/>
          <p:nvPr/>
        </p:nvSpPr>
        <p:spPr>
          <a:xfrm>
            <a:off x="3785616" y="2151755"/>
            <a:ext cx="544934"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+4.8</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21" name="Shape 19"/>
          <p:cNvSpPr/>
          <p:nvPr/>
        </p:nvSpPr>
        <p:spPr>
          <a:xfrm>
            <a:off x="3785616" y="2391651"/>
            <a:ext cx="430045"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+3.8</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25" name="Shape 23"/>
          <p:cNvSpPr/>
          <p:nvPr/>
        </p:nvSpPr>
        <p:spPr>
          <a:xfrm>
            <a:off x="3785616" y="2631546"/>
            <a:ext cx="412371"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+3.6</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29" name="Shape 27"/>
          <p:cNvSpPr/>
          <p:nvPr/>
        </p:nvSpPr>
        <p:spPr>
          <a:xfrm>
            <a:off x="3785616" y="2871442"/>
            <a:ext cx="368727"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33" name="Shape 31"/>
          <p:cNvSpPr/>
          <p:nvPr/>
        </p:nvSpPr>
        <p:spPr>
          <a:xfrm>
            <a:off x="3785616" y="3111337"/>
            <a:ext cx="313981"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+2.8</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37" name="Shape 35"/>
          <p:cNvSpPr/>
          <p:nvPr/>
        </p:nvSpPr>
        <p:spPr>
          <a:xfrm>
            <a:off x="3785616" y="3351233"/>
            <a:ext cx="246169"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+2.2</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1" name="Shape 39"/>
          <p:cNvSpPr/>
          <p:nvPr/>
        </p:nvSpPr>
        <p:spPr>
          <a:xfrm>
            <a:off x="3785616" y="3591128"/>
            <a:ext cx="243244"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+2.2</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45" name="Shape 43"/>
          <p:cNvSpPr/>
          <p:nvPr/>
        </p:nvSpPr>
        <p:spPr>
          <a:xfrm>
            <a:off x="3785616" y="3831024"/>
            <a:ext cx="202065"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49" name="Shape 47"/>
          <p:cNvSpPr/>
          <p:nvPr/>
        </p:nvSpPr>
        <p:spPr>
          <a:xfrm>
            <a:off x="3785616" y="4070920"/>
            <a:ext cx="178519"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+1.6</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53" name="Shape 51"/>
          <p:cNvSpPr/>
          <p:nvPr/>
        </p:nvSpPr>
        <p:spPr>
          <a:xfrm>
            <a:off x="3785616" y="4310815"/>
            <a:ext cx="170934"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57" name="Shape 55"/>
          <p:cNvSpPr/>
          <p:nvPr/>
        </p:nvSpPr>
        <p:spPr>
          <a:xfrm>
            <a:off x="3785616" y="4550711"/>
            <a:ext cx="116180"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61" name="Shape 59"/>
          <p:cNvSpPr/>
          <p:nvPr/>
        </p:nvSpPr>
        <p:spPr>
          <a:xfrm>
            <a:off x="3785616" y="4790606"/>
            <a:ext cx="109258"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65" name="Shape 63"/>
          <p:cNvSpPr/>
          <p:nvPr/>
        </p:nvSpPr>
        <p:spPr>
          <a:xfrm>
            <a:off x="3785616" y="5030502"/>
            <a:ext cx="99898"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+0.9</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9" name="Shape 67"/>
          <p:cNvSpPr/>
          <p:nvPr/>
        </p:nvSpPr>
        <p:spPr>
          <a:xfrm>
            <a:off x="3785616" y="5270397"/>
            <a:ext cx="89782"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+0.8</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73" name="Shape 71"/>
          <p:cNvSpPr/>
          <p:nvPr/>
        </p:nvSpPr>
        <p:spPr>
          <a:xfrm>
            <a:off x="3785616" y="5510293"/>
            <a:ext cx="81310"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+0.7</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77" name="Shape 75"/>
          <p:cNvSpPr/>
          <p:nvPr/>
        </p:nvSpPr>
        <p:spPr>
          <a:xfrm>
            <a:off x="3785616" y="5750188"/>
            <a:ext cx="73463"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+0.6</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81" name="Shape 79"/>
          <p:cNvSpPr/>
          <p:nvPr/>
        </p:nvSpPr>
        <p:spPr>
          <a:xfrm>
            <a:off x="9336024" y="1911860"/>
            <a:ext cx="61540"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+0.5</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85" name="Shape 83"/>
          <p:cNvSpPr/>
          <p:nvPr/>
        </p:nvSpPr>
        <p:spPr>
          <a:xfrm>
            <a:off x="9336024" y="2151755"/>
            <a:ext cx="55474"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+0.5</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89" name="Shape 87"/>
          <p:cNvSpPr/>
          <p:nvPr/>
        </p:nvSpPr>
        <p:spPr>
          <a:xfrm>
            <a:off x="9336024" y="2391651"/>
            <a:ext cx="45730"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+0.4</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93" name="Shape 91"/>
          <p:cNvSpPr/>
          <p:nvPr/>
        </p:nvSpPr>
        <p:spPr>
          <a:xfrm>
            <a:off x="9336024" y="2631546"/>
            <a:ext cx="33279"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7" name="Shape 95"/>
          <p:cNvSpPr/>
          <p:nvPr/>
        </p:nvSpPr>
        <p:spPr>
          <a:xfrm>
            <a:off x="9336024" y="2871442"/>
            <a:ext cx="28318"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01" name="Shape 99"/>
          <p:cNvSpPr/>
          <p:nvPr/>
        </p:nvSpPr>
        <p:spPr>
          <a:xfrm>
            <a:off x="9331623" y="3111337"/>
            <a:ext cx="12802"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−0.0</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05" name="Shape 103"/>
          <p:cNvSpPr/>
          <p:nvPr/>
        </p:nvSpPr>
        <p:spPr>
          <a:xfrm>
            <a:off x="9320203" y="3351233"/>
            <a:ext cx="15821"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−0.1</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09" name="Shape 107"/>
          <p:cNvSpPr/>
          <p:nvPr/>
        </p:nvSpPr>
        <p:spPr>
          <a:xfrm>
            <a:off x="9316313" y="3591128"/>
            <a:ext cx="19711"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−0.2</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13" name="Shape 111"/>
          <p:cNvSpPr/>
          <p:nvPr/>
        </p:nvSpPr>
        <p:spPr>
          <a:xfrm>
            <a:off x="9221677" y="3831024"/>
            <a:ext cx="114347"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17" name="Shape 115"/>
          <p:cNvSpPr/>
          <p:nvPr/>
        </p:nvSpPr>
        <p:spPr>
          <a:xfrm>
            <a:off x="9212713" y="4070920"/>
            <a:ext cx="123311"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21" name="Shape 119"/>
          <p:cNvSpPr/>
          <p:nvPr/>
        </p:nvSpPr>
        <p:spPr>
          <a:xfrm>
            <a:off x="9201004" y="4310815"/>
            <a:ext cx="135020"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−1.2</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25" name="Shape 123"/>
          <p:cNvSpPr/>
          <p:nvPr/>
        </p:nvSpPr>
        <p:spPr>
          <a:xfrm>
            <a:off x="9180928" y="4550711"/>
            <a:ext cx="155096"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29" name="Shape 127"/>
          <p:cNvSpPr/>
          <p:nvPr/>
        </p:nvSpPr>
        <p:spPr>
          <a:xfrm>
            <a:off x="9011951" y="4790606"/>
            <a:ext cx="324073"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−2.9</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3" name="Shape 131"/>
          <p:cNvSpPr/>
          <p:nvPr/>
        </p:nvSpPr>
        <p:spPr>
          <a:xfrm>
            <a:off x="8887261" y="5030502"/>
            <a:ext cx="448763"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−4.0</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37" name="Shape 135"/>
          <p:cNvSpPr/>
          <p:nvPr/>
        </p:nvSpPr>
        <p:spPr>
          <a:xfrm>
            <a:off x="8683531" y="5270397"/>
            <a:ext cx="652493"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−5.8</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41" name="Shape 139"/>
          <p:cNvSpPr/>
          <p:nvPr/>
        </p:nvSpPr>
        <p:spPr>
          <a:xfrm>
            <a:off x="8594867" y="5510293"/>
            <a:ext cx="741157"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−6.6</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6F6EE"/>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 of 33 stores raised ROs per fixed employee. 11 declined.</a:t>
            </a:r>
            <a:endParaRPr lang="en-US" sz="1600" dirty="0"/>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PRODUCTIVITY · ROS PER EMPLOYEE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9" name="Shape 7"/>
          <p:cNvSpPr/>
          <p:nvPr/>
        </p:nvSpPr>
        <p:spPr>
          <a:xfrm>
            <a:off x="658368" y="1810512"/>
            <a:ext cx="3489960" cy="886968"/>
          </a:xfrm>
          <a:prstGeom prst="rect">
            <a:avLst/>
          </a:prstGeom>
          <a:solidFill>
            <a:srgbClr val="F7F7F7"/>
          </a:solidFill>
          <a:ln/>
        </p:spPr>
      </p:sp>
      <p:sp>
        <p:nvSpPr>
          <p:cNvPr id="10" name="Shape 8"/>
          <p:cNvSpPr/>
          <p:nvPr/>
        </p:nvSpPr>
        <p:spPr>
          <a:xfrm>
            <a:off x="4084320" y="1847088"/>
            <a:ext cx="64008" cy="813816"/>
          </a:xfrm>
          <a:prstGeom prst="rect">
            <a:avLst/>
          </a:prstGeom>
          <a:solidFill>
            <a:srgbClr val="12A566"/>
          </a:solidFill>
          <a:ln/>
        </p:spPr>
      </p:sp>
      <p:sp>
        <p:nvSpPr>
          <p:cNvPr id="11" name="Text 9"/>
          <p:cNvSpPr txBox="1"/>
          <p:nvPr/>
        </p:nvSpPr>
        <p:spPr>
          <a:xfrm>
            <a:off x="749808"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31.4</a:t>
            </a:r>
            <a:endParaRPr lang="en-US" sz="1400" dirty="0"/>
          </a:p>
        </p:txBody>
      </p:sp>
      <p:graphicFrame>
        <p:nvGraphicFramePr>
          <p:cNvPr id="13" name="Chart 0" descr=""/>
          <p:cNvGraphicFramePr/>
          <p:nvPr/>
        </p:nvGraphicFramePr>
        <p:xfrm>
          <a:off x="1097280" y="2342693"/>
          <a:ext cx="1972056" cy="301569"/>
        </p:xfrm>
        <a:graphic>
          <a:graphicData uri="http://schemas.openxmlformats.org/drawingml/2006/chart">
            <c:chart xmlns:c="http://schemas.openxmlformats.org/drawingml/2006/chart" r:id="rId2"/>
          </a:graphicData>
        </a:graphic>
      </p:graphicFrame>
      <p:sp>
        <p:nvSpPr>
          <p:cNvPr id="14" name="Text 11"/>
          <p:cNvSpPr txBox="1"/>
          <p:nvPr/>
        </p:nvSpPr>
        <p:spPr>
          <a:xfrm>
            <a:off x="2941320"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+6.9</a:t>
            </a:r>
            <a:endParaRPr lang="en-US" sz="1600" dirty="0"/>
          </a:p>
        </p:txBody>
      </p:sp>
      <p:sp>
        <p:nvSpPr>
          <p:cNvPr id="15" name="Text 12"/>
          <p:cNvSpPr txBox="1"/>
          <p:nvPr/>
        </p:nvSpPr>
        <p:spPr>
          <a:xfrm>
            <a:off x="749808"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3"/>
          <p:cNvSpPr txBox="1"/>
          <p:nvPr/>
        </p:nvSpPr>
        <p:spPr>
          <a:xfrm>
            <a:off x="1097280"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28.8</a:t>
            </a:r>
            <a:endParaRPr lang="en-US" sz="1400" dirty="0"/>
          </a:p>
        </p:txBody>
      </p:sp>
      <p:graphicFrame>
        <p:nvGraphicFramePr>
          <p:cNvPr id="17" name="Chart 1" descr=""/>
          <p:cNvGraphicFramePr/>
          <p:nvPr/>
        </p:nvGraphicFramePr>
        <p:xfrm>
          <a:off x="1097280" y="3229661"/>
          <a:ext cx="1972056" cy="301569"/>
        </p:xfrm>
        <a:graphic>
          <a:graphicData uri="http://schemas.openxmlformats.org/drawingml/2006/chart">
            <c:chart xmlns:c="http://schemas.openxmlformats.org/drawingml/2006/chart" r:id="rId3"/>
          </a:graphicData>
        </a:graphic>
      </p:graphicFrame>
      <p:sp>
        <p:nvSpPr>
          <p:cNvPr id="18" name="Text 14"/>
          <p:cNvSpPr txBox="1"/>
          <p:nvPr/>
        </p:nvSpPr>
        <p:spPr>
          <a:xfrm>
            <a:off x="2941320"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a:t>
            </a:r>
            <a:endParaRPr lang="en-US" sz="1600" dirty="0"/>
          </a:p>
        </p:txBody>
      </p:sp>
      <p:sp>
        <p:nvSpPr>
          <p:cNvPr id="19" name="Shape 15"/>
          <p:cNvSpPr/>
          <p:nvPr/>
        </p:nvSpPr>
        <p:spPr>
          <a:xfrm>
            <a:off x="658368" y="3584448"/>
            <a:ext cx="3489960" cy="886968"/>
          </a:xfrm>
          <a:prstGeom prst="rect">
            <a:avLst/>
          </a:prstGeom>
          <a:solidFill>
            <a:srgbClr val="F7F7F7"/>
          </a:solidFill>
          <a:ln/>
        </p:spPr>
      </p:sp>
      <p:sp>
        <p:nvSpPr>
          <p:cNvPr id="20" name="Text 16"/>
          <p:cNvSpPr txBox="1"/>
          <p:nvPr/>
        </p:nvSpPr>
        <p:spPr>
          <a:xfrm>
            <a:off x="749808"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7"/>
          <p:cNvSpPr txBox="1"/>
          <p:nvPr/>
        </p:nvSpPr>
        <p:spPr>
          <a:xfrm>
            <a:off x="1097280"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30.6</a:t>
            </a:r>
            <a:endParaRPr lang="en-US" sz="1400" dirty="0"/>
          </a:p>
        </p:txBody>
      </p:sp>
      <p:graphicFrame>
        <p:nvGraphicFramePr>
          <p:cNvPr id="22" name="Chart 2" descr=""/>
          <p:cNvGraphicFramePr/>
          <p:nvPr/>
        </p:nvGraphicFramePr>
        <p:xfrm>
          <a:off x="1097280" y="4116629"/>
          <a:ext cx="1972056" cy="301569"/>
        </p:xfrm>
        <a:graphic>
          <a:graphicData uri="http://schemas.openxmlformats.org/drawingml/2006/chart">
            <c:chart xmlns:c="http://schemas.openxmlformats.org/drawingml/2006/chart" r:id="rId4"/>
          </a:graphicData>
        </a:graphic>
      </p:graphicFrame>
      <p:sp>
        <p:nvSpPr>
          <p:cNvPr id="23" name="Text 18"/>
          <p:cNvSpPr txBox="1"/>
          <p:nvPr/>
        </p:nvSpPr>
        <p:spPr>
          <a:xfrm>
            <a:off x="2941320"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a:t>
            </a:r>
            <a:endParaRPr lang="en-US" sz="1600" dirty="0"/>
          </a:p>
        </p:txBody>
      </p:sp>
      <p:sp>
        <p:nvSpPr>
          <p:cNvPr id="24" name="Shape 19"/>
          <p:cNvSpPr/>
          <p:nvPr/>
        </p:nvSpPr>
        <p:spPr>
          <a:xfrm>
            <a:off x="4084320" y="4507992"/>
            <a:ext cx="64008" cy="813816"/>
          </a:xfrm>
          <a:prstGeom prst="rect">
            <a:avLst/>
          </a:prstGeom>
          <a:solidFill>
            <a:srgbClr val="12A566"/>
          </a:solidFill>
          <a:ln/>
        </p:spPr>
      </p:sp>
      <p:sp>
        <p:nvSpPr>
          <p:cNvPr id="25" name="Text 20"/>
          <p:cNvSpPr txBox="1"/>
          <p:nvPr/>
        </p:nvSpPr>
        <p:spPr>
          <a:xfrm>
            <a:off x="749808"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6" name="Text 21"/>
          <p:cNvSpPr txBox="1"/>
          <p:nvPr/>
        </p:nvSpPr>
        <p:spPr>
          <a:xfrm>
            <a:off x="1097280"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36.8</a:t>
            </a:r>
            <a:endParaRPr lang="en-US" sz="1400" dirty="0"/>
          </a:p>
        </p:txBody>
      </p:sp>
      <p:graphicFrame>
        <p:nvGraphicFramePr>
          <p:cNvPr id="27" name="Chart 3" descr=""/>
          <p:cNvGraphicFramePr/>
          <p:nvPr/>
        </p:nvGraphicFramePr>
        <p:xfrm>
          <a:off x="1097280" y="5003597"/>
          <a:ext cx="1972056" cy="301569"/>
        </p:xfrm>
        <a:graphic>
          <a:graphicData uri="http://schemas.openxmlformats.org/drawingml/2006/chart">
            <c:chart xmlns:c="http://schemas.openxmlformats.org/drawingml/2006/chart" r:id="rId5"/>
          </a:graphicData>
        </a:graphic>
      </p:graphicFrame>
      <p:sp>
        <p:nvSpPr>
          <p:cNvPr id="28" name="Text 22"/>
          <p:cNvSpPr txBox="1"/>
          <p:nvPr/>
        </p:nvSpPr>
        <p:spPr>
          <a:xfrm>
            <a:off x="2941320"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+3.6</a:t>
            </a:r>
            <a:endParaRPr lang="en-US" sz="1600" dirty="0"/>
          </a:p>
        </p:txBody>
      </p:sp>
      <p:sp>
        <p:nvSpPr>
          <p:cNvPr id="29" name="Shape 23"/>
          <p:cNvSpPr/>
          <p:nvPr/>
        </p:nvSpPr>
        <p:spPr>
          <a:xfrm>
            <a:off x="658368" y="5358384"/>
            <a:ext cx="3489960" cy="886968"/>
          </a:xfrm>
          <a:prstGeom prst="rect">
            <a:avLst/>
          </a:prstGeom>
          <a:solidFill>
            <a:srgbClr val="F7F7F7"/>
          </a:solidFill>
          <a:ln/>
        </p:spPr>
      </p:sp>
      <p:sp>
        <p:nvSpPr>
          <p:cNvPr id="30" name="Text 24"/>
          <p:cNvSpPr txBox="1"/>
          <p:nvPr/>
        </p:nvSpPr>
        <p:spPr>
          <a:xfrm>
            <a:off x="749808"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1" name="Text 25"/>
          <p:cNvSpPr txBox="1"/>
          <p:nvPr/>
        </p:nvSpPr>
        <p:spPr>
          <a:xfrm>
            <a:off x="1097280"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19.2</a:t>
            </a:r>
            <a:endParaRPr lang="en-US" sz="1400" dirty="0"/>
          </a:p>
        </p:txBody>
      </p:sp>
      <p:graphicFrame>
        <p:nvGraphicFramePr>
          <p:cNvPr id="32" name="Chart 4" descr=""/>
          <p:cNvGraphicFramePr/>
          <p:nvPr/>
        </p:nvGraphicFramePr>
        <p:xfrm>
          <a:off x="1097280" y="5890565"/>
          <a:ext cx="1972056" cy="301569"/>
        </p:xfrm>
        <a:graphic>
          <a:graphicData uri="http://schemas.openxmlformats.org/drawingml/2006/chart">
            <c:chart xmlns:c="http://schemas.openxmlformats.org/drawingml/2006/chart" r:id="rId6"/>
          </a:graphicData>
        </a:graphic>
      </p:graphicFrame>
      <p:sp>
        <p:nvSpPr>
          <p:cNvPr id="33" name="Text 26"/>
          <p:cNvSpPr txBox="1"/>
          <p:nvPr/>
        </p:nvSpPr>
        <p:spPr>
          <a:xfrm>
            <a:off x="2941320"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a:t>
            </a:r>
            <a:endParaRPr lang="en-US" sz="1600" dirty="0"/>
          </a:p>
        </p:txBody>
      </p:sp>
      <p:sp>
        <p:nvSpPr>
          <p:cNvPr id="34" name="Shape 27"/>
          <p:cNvSpPr/>
          <p:nvPr/>
        </p:nvSpPr>
        <p:spPr>
          <a:xfrm>
            <a:off x="4349496" y="1371600"/>
            <a:ext cx="3489960" cy="45720"/>
          </a:xfrm>
          <a:prstGeom prst="rect">
            <a:avLst/>
          </a:prstGeom>
          <a:solidFill>
            <a:srgbClr val="C2352F"/>
          </a:solidFill>
          <a:ln/>
        </p:spPr>
      </p:sp>
      <p:sp>
        <p:nvSpPr>
          <p:cNvPr id="35"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6" name="Shape 29"/>
          <p:cNvSpPr/>
          <p:nvPr/>
        </p:nvSpPr>
        <p:spPr>
          <a:xfrm>
            <a:off x="4349496" y="1810512"/>
            <a:ext cx="3489960" cy="886968"/>
          </a:xfrm>
          <a:prstGeom prst="rect">
            <a:avLst/>
          </a:prstGeom>
          <a:solidFill>
            <a:srgbClr val="F7F7F7"/>
          </a:solidFill>
          <a:ln/>
        </p:spPr>
      </p:sp>
      <p:sp>
        <p:nvSpPr>
          <p:cNvPr id="37" name="Text 30"/>
          <p:cNvSpPr txBox="1"/>
          <p:nvPr/>
        </p:nvSpPr>
        <p:spPr>
          <a:xfrm>
            <a:off x="4440936"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8" name="Text 31"/>
          <p:cNvSpPr txBox="1"/>
          <p:nvPr/>
        </p:nvSpPr>
        <p:spPr>
          <a:xfrm>
            <a:off x="4788408"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46.4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39.8</a:t>
            </a:r>
            <a:endParaRPr lang="en-US" sz="1400" dirty="0"/>
          </a:p>
        </p:txBody>
      </p:sp>
      <p:graphicFrame>
        <p:nvGraphicFramePr>
          <p:cNvPr id="39" name="Chart 5" descr=""/>
          <p:cNvGraphicFramePr/>
          <p:nvPr/>
        </p:nvGraphicFramePr>
        <p:xfrm>
          <a:off x="4788408" y="2342693"/>
          <a:ext cx="1972056" cy="301569"/>
        </p:xfrm>
        <a:graphic>
          <a:graphicData uri="http://schemas.openxmlformats.org/drawingml/2006/chart">
            <c:chart xmlns:c="http://schemas.openxmlformats.org/drawingml/2006/chart" r:id="rId7"/>
          </a:graphicData>
        </a:graphic>
      </p:graphicFrame>
      <p:sp>
        <p:nvSpPr>
          <p:cNvPr id="40" name="Text 32"/>
          <p:cNvSpPr txBox="1"/>
          <p:nvPr/>
        </p:nvSpPr>
        <p:spPr>
          <a:xfrm>
            <a:off x="6632448" y="1810512"/>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−6.6</a:t>
            </a:r>
            <a:endParaRPr lang="en-US" sz="1600" dirty="0"/>
          </a:p>
        </p:txBody>
      </p:sp>
      <p:sp>
        <p:nvSpPr>
          <p:cNvPr id="41" name="Text 33"/>
          <p:cNvSpPr txBox="1"/>
          <p:nvPr/>
        </p:nvSpPr>
        <p:spPr>
          <a:xfrm>
            <a:off x="4440936"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2" name="Text 34"/>
          <p:cNvSpPr txBox="1"/>
          <p:nvPr/>
        </p:nvSpPr>
        <p:spPr>
          <a:xfrm>
            <a:off x="4788408"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32.4</a:t>
            </a:r>
            <a:endParaRPr lang="en-US" sz="1400" dirty="0"/>
          </a:p>
        </p:txBody>
      </p:sp>
      <p:graphicFrame>
        <p:nvGraphicFramePr>
          <p:cNvPr id="43" name="Chart 6" descr=""/>
          <p:cNvGraphicFramePr/>
          <p:nvPr/>
        </p:nvGraphicFramePr>
        <p:xfrm>
          <a:off x="4788408" y="3229661"/>
          <a:ext cx="1972056" cy="301569"/>
        </p:xfrm>
        <a:graphic>
          <a:graphicData uri="http://schemas.openxmlformats.org/drawingml/2006/chart">
            <c:chart xmlns:c="http://schemas.openxmlformats.org/drawingml/2006/chart" r:id="rId8"/>
          </a:graphicData>
        </a:graphic>
      </p:graphicFrame>
      <p:sp>
        <p:nvSpPr>
          <p:cNvPr id="44" name="Text 35"/>
          <p:cNvSpPr txBox="1"/>
          <p:nvPr/>
        </p:nvSpPr>
        <p:spPr>
          <a:xfrm>
            <a:off x="6632448" y="2697480"/>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−5.8</a:t>
            </a:r>
            <a:endParaRPr lang="en-US" sz="1600" dirty="0"/>
          </a:p>
        </p:txBody>
      </p:sp>
      <p:sp>
        <p:nvSpPr>
          <p:cNvPr id="45" name="Shape 36"/>
          <p:cNvSpPr/>
          <p:nvPr/>
        </p:nvSpPr>
        <p:spPr>
          <a:xfrm>
            <a:off x="4349496" y="3584448"/>
            <a:ext cx="3489960" cy="886968"/>
          </a:xfrm>
          <a:prstGeom prst="rect">
            <a:avLst/>
          </a:prstGeom>
          <a:solidFill>
            <a:srgbClr val="F7F7F7"/>
          </a:solidFill>
          <a:ln/>
        </p:spPr>
      </p:sp>
      <p:sp>
        <p:nvSpPr>
          <p:cNvPr id="46" name="Text 37"/>
          <p:cNvSpPr txBox="1"/>
          <p:nvPr/>
        </p:nvSpPr>
        <p:spPr>
          <a:xfrm>
            <a:off x="4440936"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7" name="Text 38"/>
          <p:cNvSpPr txBox="1"/>
          <p:nvPr/>
        </p:nvSpPr>
        <p:spPr>
          <a:xfrm>
            <a:off x="4788408"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31.1</a:t>
            </a:r>
            <a:endParaRPr lang="en-US" sz="1400" dirty="0"/>
          </a:p>
        </p:txBody>
      </p:sp>
      <p:graphicFrame>
        <p:nvGraphicFramePr>
          <p:cNvPr id="48" name="Chart 7" descr=""/>
          <p:cNvGraphicFramePr/>
          <p:nvPr/>
        </p:nvGraphicFramePr>
        <p:xfrm>
          <a:off x="4788408" y="4116629"/>
          <a:ext cx="1972056" cy="301569"/>
        </p:xfrm>
        <a:graphic>
          <a:graphicData uri="http://schemas.openxmlformats.org/drawingml/2006/chart">
            <c:chart xmlns:c="http://schemas.openxmlformats.org/drawingml/2006/chart" r:id="rId9"/>
          </a:graphicData>
        </a:graphic>
      </p:graphicFrame>
      <p:sp>
        <p:nvSpPr>
          <p:cNvPr id="49" name="Text 39"/>
          <p:cNvSpPr txBox="1"/>
          <p:nvPr/>
        </p:nvSpPr>
        <p:spPr>
          <a:xfrm>
            <a:off x="6632448" y="3584448"/>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−4.0</a:t>
            </a:r>
            <a:endParaRPr lang="en-US" sz="1600" dirty="0"/>
          </a:p>
        </p:txBody>
      </p:sp>
      <p:sp>
        <p:nvSpPr>
          <p:cNvPr id="50" name="Text 40"/>
          <p:cNvSpPr txBox="1"/>
          <p:nvPr/>
        </p:nvSpPr>
        <p:spPr>
          <a:xfrm>
            <a:off x="4440936"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1" name="Text 41"/>
          <p:cNvSpPr txBox="1"/>
          <p:nvPr/>
        </p:nvSpPr>
        <p:spPr>
          <a:xfrm>
            <a:off x="4788408"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31.4</a:t>
            </a:r>
            <a:endParaRPr lang="en-US" sz="1400" dirty="0"/>
          </a:p>
        </p:txBody>
      </p:sp>
      <p:graphicFrame>
        <p:nvGraphicFramePr>
          <p:cNvPr id="52" name="Chart 8" descr=""/>
          <p:cNvGraphicFramePr/>
          <p:nvPr/>
        </p:nvGraphicFramePr>
        <p:xfrm>
          <a:off x="4788408" y="5003597"/>
          <a:ext cx="1972056" cy="301569"/>
        </p:xfrm>
        <a:graphic>
          <a:graphicData uri="http://schemas.openxmlformats.org/drawingml/2006/chart">
            <c:chart xmlns:c="http://schemas.openxmlformats.org/drawingml/2006/chart" r:id="rId10"/>
          </a:graphicData>
        </a:graphic>
      </p:graphicFrame>
      <p:sp>
        <p:nvSpPr>
          <p:cNvPr id="53" name="Text 42"/>
          <p:cNvSpPr txBox="1"/>
          <p:nvPr/>
        </p:nvSpPr>
        <p:spPr>
          <a:xfrm>
            <a:off x="6632448" y="4471416"/>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−2.9</a:t>
            </a:r>
            <a:endParaRPr lang="en-US" sz="1600" dirty="0"/>
          </a:p>
        </p:txBody>
      </p:sp>
      <p:sp>
        <p:nvSpPr>
          <p:cNvPr id="54" name="Shape 43"/>
          <p:cNvSpPr/>
          <p:nvPr/>
        </p:nvSpPr>
        <p:spPr>
          <a:xfrm>
            <a:off x="4349496" y="5358384"/>
            <a:ext cx="3489960" cy="886968"/>
          </a:xfrm>
          <a:prstGeom prst="rect">
            <a:avLst/>
          </a:prstGeom>
          <a:solidFill>
            <a:srgbClr val="F7F7F7"/>
          </a:solidFill>
          <a:ln/>
        </p:spPr>
      </p:sp>
      <p:sp>
        <p:nvSpPr>
          <p:cNvPr id="55" name="Text 44"/>
          <p:cNvSpPr txBox="1"/>
          <p:nvPr/>
        </p:nvSpPr>
        <p:spPr>
          <a:xfrm>
            <a:off x="4440936"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6" name="Text 45"/>
          <p:cNvSpPr txBox="1"/>
          <p:nvPr/>
        </p:nvSpPr>
        <p:spPr>
          <a:xfrm>
            <a:off x="4788408"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24.5</a:t>
            </a:r>
            <a:endParaRPr lang="en-US" sz="1400" dirty="0"/>
          </a:p>
        </p:txBody>
      </p:sp>
      <p:graphicFrame>
        <p:nvGraphicFramePr>
          <p:cNvPr id="57" name="Chart 9" descr=""/>
          <p:cNvGraphicFramePr/>
          <p:nvPr/>
        </p:nvGraphicFramePr>
        <p:xfrm>
          <a:off x="4788408" y="5890565"/>
          <a:ext cx="1972056" cy="301569"/>
        </p:xfrm>
        <a:graphic>
          <a:graphicData uri="http://schemas.openxmlformats.org/drawingml/2006/chart">
            <c:chart xmlns:c="http://schemas.openxmlformats.org/drawingml/2006/chart" r:id="rId11"/>
          </a:graphicData>
        </a:graphic>
      </p:graphicFrame>
      <p:sp>
        <p:nvSpPr>
          <p:cNvPr id="58" name="Text 46"/>
          <p:cNvSpPr txBox="1"/>
          <p:nvPr/>
        </p:nvSpPr>
        <p:spPr>
          <a:xfrm>
            <a:off x="6632448" y="5358384"/>
            <a:ext cx="1115568" cy="886968"/>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−1.4</a:t>
            </a:r>
            <a:endParaRPr lang="en-US" sz="1600" dirty="0"/>
          </a:p>
        </p:txBody>
      </p:sp>
      <p:sp>
        <p:nvSpPr>
          <p:cNvPr id="59" name="Shape 47"/>
          <p:cNvSpPr/>
          <p:nvPr/>
        </p:nvSpPr>
        <p:spPr>
          <a:xfrm>
            <a:off x="8040624" y="1371600"/>
            <a:ext cx="3489960" cy="45720"/>
          </a:xfrm>
          <a:prstGeom prst="rect">
            <a:avLst/>
          </a:prstGeom>
          <a:solidFill>
            <a:srgbClr val="2587C5"/>
          </a:solidFill>
          <a:ln/>
        </p:spPr>
      </p:sp>
      <p:sp>
        <p:nvSpPr>
          <p:cNvPr id="6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1" name="Shape 49"/>
          <p:cNvSpPr/>
          <p:nvPr/>
        </p:nvSpPr>
        <p:spPr>
          <a:xfrm>
            <a:off x="8040624" y="1810512"/>
            <a:ext cx="3489960" cy="886968"/>
          </a:xfrm>
          <a:prstGeom prst="rect">
            <a:avLst/>
          </a:prstGeom>
          <a:solidFill>
            <a:srgbClr val="F7F7F7"/>
          </a:solidFill>
          <a:ln/>
        </p:spPr>
      </p:sp>
      <p:sp>
        <p:nvSpPr>
          <p:cNvPr id="62" name="Shape 50"/>
          <p:cNvSpPr/>
          <p:nvPr/>
        </p:nvSpPr>
        <p:spPr>
          <a:xfrm>
            <a:off x="11466576" y="1847088"/>
            <a:ext cx="64008" cy="813816"/>
          </a:xfrm>
          <a:prstGeom prst="rect">
            <a:avLst/>
          </a:prstGeom>
          <a:solidFill>
            <a:srgbClr val="12A566"/>
          </a:solidFill>
          <a:ln/>
        </p:spPr>
      </p:sp>
      <p:sp>
        <p:nvSpPr>
          <p:cNvPr id="63" name="Text 51"/>
          <p:cNvSpPr txBox="1"/>
          <p:nvPr/>
        </p:nvSpPr>
        <p:spPr>
          <a:xfrm>
            <a:off x="8132064" y="1810512"/>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4" name="Text 52"/>
          <p:cNvSpPr txBox="1"/>
          <p:nvPr/>
        </p:nvSpPr>
        <p:spPr>
          <a:xfrm>
            <a:off x="8479536" y="1854860"/>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40.3</a:t>
            </a:r>
            <a:endParaRPr lang="en-US" sz="1400" dirty="0"/>
          </a:p>
        </p:txBody>
      </p:sp>
      <p:graphicFrame>
        <p:nvGraphicFramePr>
          <p:cNvPr id="65" name="Chart 10" descr=""/>
          <p:cNvGraphicFramePr/>
          <p:nvPr/>
        </p:nvGraphicFramePr>
        <p:xfrm>
          <a:off x="8479536" y="2342693"/>
          <a:ext cx="1972056" cy="301569"/>
        </p:xfrm>
        <a:graphic>
          <a:graphicData uri="http://schemas.openxmlformats.org/drawingml/2006/chart">
            <c:chart xmlns:c="http://schemas.openxmlformats.org/drawingml/2006/chart" r:id="rId12"/>
          </a:graphicData>
        </a:graphic>
      </p:graphicFrame>
      <p:graphicFrame>
        <p:nvGraphicFramePr>
          <p:cNvPr id="66" name="Chart 11" descr=""/>
          <p:cNvGraphicFramePr/>
          <p:nvPr/>
        </p:nvGraphicFramePr>
        <p:xfrm>
          <a:off x="8479536" y="2342693"/>
          <a:ext cx="1972056" cy="301569"/>
        </p:xfrm>
        <a:graphic>
          <a:graphicData uri="http://schemas.openxmlformats.org/drawingml/2006/chart">
            <c:chart xmlns:c="http://schemas.openxmlformats.org/drawingml/2006/chart" r:id="rId13"/>
          </a:graphicData>
        </a:graphic>
      </p:graphicFrame>
      <p:sp>
        <p:nvSpPr>
          <p:cNvPr id="67" name="Text 53"/>
          <p:cNvSpPr txBox="1"/>
          <p:nvPr/>
        </p:nvSpPr>
        <p:spPr>
          <a:xfrm>
            <a:off x="10323576" y="1810512"/>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+10.4</a:t>
            </a:r>
            <a:endParaRPr lang="en-US" sz="1600" dirty="0"/>
          </a:p>
        </p:txBody>
      </p:sp>
      <p:sp>
        <p:nvSpPr>
          <p:cNvPr id="68" name="Text 54"/>
          <p:cNvSpPr txBox="1"/>
          <p:nvPr/>
        </p:nvSpPr>
        <p:spPr>
          <a:xfrm>
            <a:off x="8132064" y="2697480"/>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9" name="Text 55"/>
          <p:cNvSpPr txBox="1"/>
          <p:nvPr/>
        </p:nvSpPr>
        <p:spPr>
          <a:xfrm>
            <a:off x="8479536" y="2741828"/>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28.3</a:t>
            </a:r>
            <a:endParaRPr lang="en-US" sz="1400" dirty="0"/>
          </a:p>
        </p:txBody>
      </p:sp>
      <p:graphicFrame>
        <p:nvGraphicFramePr>
          <p:cNvPr id="70" name="Chart 12" descr=""/>
          <p:cNvGraphicFramePr/>
          <p:nvPr/>
        </p:nvGraphicFramePr>
        <p:xfrm>
          <a:off x="8479536" y="3229661"/>
          <a:ext cx="1972056" cy="301569"/>
        </p:xfrm>
        <a:graphic>
          <a:graphicData uri="http://schemas.openxmlformats.org/drawingml/2006/chart">
            <c:chart xmlns:c="http://schemas.openxmlformats.org/drawingml/2006/chart" r:id="rId14"/>
          </a:graphicData>
        </a:graphic>
      </p:graphicFrame>
      <p:graphicFrame>
        <p:nvGraphicFramePr>
          <p:cNvPr id="71" name="Chart 13" descr=""/>
          <p:cNvGraphicFramePr/>
          <p:nvPr/>
        </p:nvGraphicFramePr>
        <p:xfrm>
          <a:off x="8479536" y="3229661"/>
          <a:ext cx="1972056" cy="301569"/>
        </p:xfrm>
        <a:graphic>
          <a:graphicData uri="http://schemas.openxmlformats.org/drawingml/2006/chart">
            <c:chart xmlns:c="http://schemas.openxmlformats.org/drawingml/2006/chart" r:id="rId15"/>
          </a:graphicData>
        </a:graphic>
      </p:graphicFrame>
      <p:sp>
        <p:nvSpPr>
          <p:cNvPr id="72" name="Text 56"/>
          <p:cNvSpPr txBox="1"/>
          <p:nvPr/>
        </p:nvSpPr>
        <p:spPr>
          <a:xfrm>
            <a:off x="10323576" y="2697480"/>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+9.4</a:t>
            </a:r>
            <a:endParaRPr lang="en-US" sz="1600" dirty="0"/>
          </a:p>
        </p:txBody>
      </p:sp>
      <p:sp>
        <p:nvSpPr>
          <p:cNvPr id="73" name="Shape 57"/>
          <p:cNvSpPr/>
          <p:nvPr/>
        </p:nvSpPr>
        <p:spPr>
          <a:xfrm>
            <a:off x="8040624" y="3584448"/>
            <a:ext cx="3489960" cy="886968"/>
          </a:xfrm>
          <a:prstGeom prst="rect">
            <a:avLst/>
          </a:prstGeom>
          <a:solidFill>
            <a:srgbClr val="F7F7F7"/>
          </a:solidFill>
          <a:ln/>
        </p:spPr>
      </p:sp>
      <p:sp>
        <p:nvSpPr>
          <p:cNvPr id="74" name="Shape 58"/>
          <p:cNvSpPr/>
          <p:nvPr/>
        </p:nvSpPr>
        <p:spPr>
          <a:xfrm>
            <a:off x="11466576" y="3621024"/>
            <a:ext cx="64008" cy="813816"/>
          </a:xfrm>
          <a:prstGeom prst="rect">
            <a:avLst/>
          </a:prstGeom>
          <a:solidFill>
            <a:srgbClr val="12A566"/>
          </a:solidFill>
          <a:ln/>
        </p:spPr>
      </p:sp>
      <p:sp>
        <p:nvSpPr>
          <p:cNvPr id="75" name="Text 59"/>
          <p:cNvSpPr txBox="1"/>
          <p:nvPr/>
        </p:nvSpPr>
        <p:spPr>
          <a:xfrm>
            <a:off x="8132064" y="3584448"/>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6" name="Text 60"/>
          <p:cNvSpPr txBox="1"/>
          <p:nvPr/>
        </p:nvSpPr>
        <p:spPr>
          <a:xfrm>
            <a:off x="8479536" y="3628796"/>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33.1</a:t>
            </a:r>
            <a:endParaRPr lang="en-US" sz="1400" dirty="0"/>
          </a:p>
        </p:txBody>
      </p:sp>
      <p:graphicFrame>
        <p:nvGraphicFramePr>
          <p:cNvPr id="77" name="Chart 14" descr=""/>
          <p:cNvGraphicFramePr/>
          <p:nvPr/>
        </p:nvGraphicFramePr>
        <p:xfrm>
          <a:off x="8479536" y="4116629"/>
          <a:ext cx="1972056" cy="301569"/>
        </p:xfrm>
        <a:graphic>
          <a:graphicData uri="http://schemas.openxmlformats.org/drawingml/2006/chart">
            <c:chart xmlns:c="http://schemas.openxmlformats.org/drawingml/2006/chart" r:id="rId16"/>
          </a:graphicData>
        </a:graphic>
      </p:graphicFrame>
      <p:graphicFrame>
        <p:nvGraphicFramePr>
          <p:cNvPr id="78" name="Chart 15" descr=""/>
          <p:cNvGraphicFramePr/>
          <p:nvPr/>
        </p:nvGraphicFramePr>
        <p:xfrm>
          <a:off x="8479536" y="4116629"/>
          <a:ext cx="1972056" cy="301569"/>
        </p:xfrm>
        <a:graphic>
          <a:graphicData uri="http://schemas.openxmlformats.org/drawingml/2006/chart">
            <c:chart xmlns:c="http://schemas.openxmlformats.org/drawingml/2006/chart" r:id="rId17"/>
          </a:graphicData>
        </a:graphic>
      </p:graphicFrame>
      <p:sp>
        <p:nvSpPr>
          <p:cNvPr id="79" name="Text 61"/>
          <p:cNvSpPr txBox="1"/>
          <p:nvPr/>
        </p:nvSpPr>
        <p:spPr>
          <a:xfrm>
            <a:off x="10323576" y="3584448"/>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+6.0</a:t>
            </a:r>
            <a:endParaRPr lang="en-US" sz="1600" dirty="0"/>
          </a:p>
        </p:txBody>
      </p:sp>
      <p:sp>
        <p:nvSpPr>
          <p:cNvPr id="80" name="Text 62"/>
          <p:cNvSpPr txBox="1"/>
          <p:nvPr/>
        </p:nvSpPr>
        <p:spPr>
          <a:xfrm>
            <a:off x="8132064" y="4471416"/>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1" name="Text 63"/>
          <p:cNvSpPr txBox="1"/>
          <p:nvPr/>
        </p:nvSpPr>
        <p:spPr>
          <a:xfrm>
            <a:off x="8479536" y="4515764"/>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37.4</a:t>
            </a:r>
            <a:endParaRPr lang="en-US" sz="1400" dirty="0"/>
          </a:p>
        </p:txBody>
      </p:sp>
      <p:graphicFrame>
        <p:nvGraphicFramePr>
          <p:cNvPr id="82" name="Chart 16" descr=""/>
          <p:cNvGraphicFramePr/>
          <p:nvPr/>
        </p:nvGraphicFramePr>
        <p:xfrm>
          <a:off x="8479536" y="5003597"/>
          <a:ext cx="1972056" cy="301569"/>
        </p:xfrm>
        <a:graphic>
          <a:graphicData uri="http://schemas.openxmlformats.org/drawingml/2006/chart">
            <c:chart xmlns:c="http://schemas.openxmlformats.org/drawingml/2006/chart" r:id="rId18"/>
          </a:graphicData>
        </a:graphic>
      </p:graphicFrame>
      <p:graphicFrame>
        <p:nvGraphicFramePr>
          <p:cNvPr id="83" name="Chart 17" descr=""/>
          <p:cNvGraphicFramePr/>
          <p:nvPr/>
        </p:nvGraphicFramePr>
        <p:xfrm>
          <a:off x="8479536" y="5003597"/>
          <a:ext cx="1972056" cy="301569"/>
        </p:xfrm>
        <a:graphic>
          <a:graphicData uri="http://schemas.openxmlformats.org/drawingml/2006/chart">
            <c:chart xmlns:c="http://schemas.openxmlformats.org/drawingml/2006/chart" r:id="rId19"/>
          </a:graphicData>
        </a:graphic>
      </p:graphicFrame>
      <p:sp>
        <p:nvSpPr>
          <p:cNvPr id="84" name="Text 64"/>
          <p:cNvSpPr txBox="1"/>
          <p:nvPr/>
        </p:nvSpPr>
        <p:spPr>
          <a:xfrm>
            <a:off x="10323576" y="4471416"/>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a:t>
            </a:r>
            <a:endParaRPr lang="en-US" sz="1600" dirty="0"/>
          </a:p>
        </p:txBody>
      </p:sp>
      <p:sp>
        <p:nvSpPr>
          <p:cNvPr id="85" name="Shape 65"/>
          <p:cNvSpPr/>
          <p:nvPr/>
        </p:nvSpPr>
        <p:spPr>
          <a:xfrm>
            <a:off x="8040624" y="5358384"/>
            <a:ext cx="3489960" cy="886968"/>
          </a:xfrm>
          <a:prstGeom prst="rect">
            <a:avLst/>
          </a:prstGeom>
          <a:solidFill>
            <a:srgbClr val="F7F7F7"/>
          </a:solidFill>
          <a:ln/>
        </p:spPr>
      </p:sp>
      <p:sp>
        <p:nvSpPr>
          <p:cNvPr id="86" name="Text 66"/>
          <p:cNvSpPr txBox="1"/>
          <p:nvPr/>
        </p:nvSpPr>
        <p:spPr>
          <a:xfrm>
            <a:off x="8132064" y="5358384"/>
            <a:ext cx="365760" cy="88696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7" name="Text 67"/>
          <p:cNvSpPr txBox="1"/>
          <p:nvPr/>
        </p:nvSpPr>
        <p:spPr>
          <a:xfrm>
            <a:off x="8479536" y="5402732"/>
            <a:ext cx="2959608" cy="461223"/>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17.2</a:t>
            </a:r>
            <a:endParaRPr lang="en-US" sz="1400" dirty="0"/>
          </a:p>
        </p:txBody>
      </p:sp>
      <p:graphicFrame>
        <p:nvGraphicFramePr>
          <p:cNvPr id="88" name="Chart 18" descr=""/>
          <p:cNvGraphicFramePr/>
          <p:nvPr/>
        </p:nvGraphicFramePr>
        <p:xfrm>
          <a:off x="8479536" y="5890565"/>
          <a:ext cx="1972056" cy="301569"/>
        </p:xfrm>
        <a:graphic>
          <a:graphicData uri="http://schemas.openxmlformats.org/drawingml/2006/chart">
            <c:chart xmlns:c="http://schemas.openxmlformats.org/drawingml/2006/chart" r:id="rId20"/>
          </a:graphicData>
        </a:graphic>
      </p:graphicFrame>
      <p:graphicFrame>
        <p:nvGraphicFramePr>
          <p:cNvPr id="89" name="Chart 19" descr=""/>
          <p:cNvGraphicFramePr/>
          <p:nvPr/>
        </p:nvGraphicFramePr>
        <p:xfrm>
          <a:off x="8479536" y="5890565"/>
          <a:ext cx="1972056" cy="301569"/>
        </p:xfrm>
        <a:graphic>
          <a:graphicData uri="http://schemas.openxmlformats.org/drawingml/2006/chart">
            <c:chart xmlns:c="http://schemas.openxmlformats.org/drawingml/2006/chart" r:id="rId21"/>
          </a:graphicData>
        </a:graphic>
      </p:graphicFrame>
      <p:sp>
        <p:nvSpPr>
          <p:cNvPr id="90" name="Text 68"/>
          <p:cNvSpPr txBox="1"/>
          <p:nvPr/>
        </p:nvSpPr>
        <p:spPr>
          <a:xfrm>
            <a:off x="10323576" y="5358384"/>
            <a:ext cx="1115568" cy="886968"/>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a:t>
            </a:r>
            <a:endParaRPr lang="en-US" sz="1600" dirty="0"/>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TECHNICIAN PROFICIENCY · YOUR BEST TECHS PROVE 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Your Best Techs Prove It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182880" cy="182880"/>
          </a:xfrm>
          <a:prstGeom prst="ellipse">
            <a:avLst/>
          </a:prstGeom>
          <a:solidFill>
            <a:srgbClr val="C2352F"/>
          </a:solidFill>
          <a:ln/>
        </p:spPr>
      </p:sp>
      <p:sp>
        <p:nvSpPr>
          <p:cNvPr id="7" name="Text 5"/>
          <p:cNvSpPr txBox="1"/>
          <p:nvPr/>
        </p:nvSpPr>
        <p:spPr>
          <a:xfrm>
            <a:off x="932688" y="1298448"/>
            <a:ext cx="5120640"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Store proficiency (green at or above 85%)</a:t>
            </a:r>
            <a:endParaRPr lang="en-US" sz="1400" dirty="0"/>
          </a:p>
        </p:txBody>
      </p:sp>
      <p:sp>
        <p:nvSpPr>
          <p:cNvPr id="8" name="Shape 6"/>
          <p:cNvSpPr/>
          <p:nvPr/>
        </p:nvSpPr>
        <p:spPr>
          <a:xfrm>
            <a:off x="6208776" y="1371600"/>
            <a:ext cx="182880" cy="182880"/>
          </a:xfrm>
          <a:prstGeom prst="ellipse">
            <a:avLst/>
          </a:prstGeom>
          <a:solidFill>
            <a:srgbClr val="0B2C4A"/>
          </a:solidFill>
          <a:ln/>
        </p:spPr>
      </p:sp>
      <p:sp>
        <p:nvSpPr>
          <p:cNvPr id="9" name="Text 7"/>
          <p:cNvSpPr txBox="1"/>
          <p:nvPr/>
        </p:nvSpPr>
        <p:spPr>
          <a:xfrm>
            <a:off x="6483096" y="1298448"/>
            <a:ext cx="5120640"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Top quarter of that store's techs</a:t>
            </a:r>
            <a:endParaRPr lang="en-US" sz="1400" dirty="0"/>
          </a:p>
        </p:txBody>
      </p:sp>
      <p:sp>
        <p:nvSpPr>
          <p:cNvPr id="10" name="Shape 8"/>
          <p:cNvSpPr/>
          <p:nvPr/>
        </p:nvSpPr>
        <p:spPr>
          <a:xfrm>
            <a:off x="3099359" y="1737360"/>
            <a:ext cx="14630" cy="4187952"/>
          </a:xfrm>
          <a:prstGeom prst="rect">
            <a:avLst/>
          </a:prstGeom>
          <a:solidFill>
            <a:srgbClr val="9AA3AD"/>
          </a:solidFill>
          <a:ln/>
        </p:spPr>
      </p:sp>
      <p:sp>
        <p:nvSpPr>
          <p:cNvPr id="11" name="Shape 9"/>
          <p:cNvSpPr/>
          <p:nvPr/>
        </p:nvSpPr>
        <p:spPr>
          <a:xfrm>
            <a:off x="8649767" y="1737360"/>
            <a:ext cx="14630" cy="3941602"/>
          </a:xfrm>
          <a:prstGeom prst="rect">
            <a:avLst/>
          </a:prstGeom>
          <a:solidFill>
            <a:srgbClr val="9AA3AD"/>
          </a:solidFill>
          <a:ln/>
        </p:spPr>
      </p:sp>
      <p:sp>
        <p:nvSpPr>
          <p:cNvPr id="12" name="Text 10"/>
          <p:cNvSpPr txBox="1"/>
          <p:nvPr/>
        </p:nvSpPr>
        <p:spPr>
          <a:xfrm>
            <a:off x="658368" y="173736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3" name="Shape 11"/>
          <p:cNvSpPr/>
          <p:nvPr/>
        </p:nvSpPr>
        <p:spPr>
          <a:xfrm>
            <a:off x="3507248" y="1846819"/>
            <a:ext cx="645269" cy="27432"/>
          </a:xfrm>
          <a:prstGeom prst="rect">
            <a:avLst/>
          </a:prstGeom>
          <a:solidFill>
            <a:srgbClr val="D9D9D9"/>
          </a:solidFill>
          <a:ln/>
        </p:spPr>
      </p:sp>
      <p:sp>
        <p:nvSpPr>
          <p:cNvPr id="14" name="Shape 12"/>
          <p:cNvSpPr/>
          <p:nvPr/>
        </p:nvSpPr>
        <p:spPr>
          <a:xfrm>
            <a:off x="4074793" y="1782811"/>
            <a:ext cx="155448" cy="155448"/>
          </a:xfrm>
          <a:prstGeom prst="ellipse">
            <a:avLst/>
          </a:prstGeom>
          <a:solidFill>
            <a:srgbClr val="0B2C4A"/>
          </a:solidFill>
          <a:ln/>
        </p:spPr>
      </p:sp>
      <p:sp>
        <p:nvSpPr>
          <p:cNvPr id="15" name="Shape 13"/>
          <p:cNvSpPr/>
          <p:nvPr/>
        </p:nvSpPr>
        <p:spPr>
          <a:xfrm>
            <a:off x="3429524" y="1782811"/>
            <a:ext cx="155448" cy="155448"/>
          </a:xfrm>
          <a:prstGeom prst="ellipse">
            <a:avLst/>
          </a:prstGeom>
          <a:solidFill>
            <a:srgbClr val="12A566"/>
          </a:solidFill>
          <a:ln/>
        </p:spPr>
      </p:sp>
      <p:sp>
        <p:nvSpPr>
          <p:cNvPr id="16" name="Text 14"/>
          <p:cNvSpPr txBox="1"/>
          <p:nvPr/>
        </p:nvSpPr>
        <p:spPr>
          <a:xfrm>
            <a:off x="4498848" y="173736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119%</a:t>
            </a:r>
            <a:pPr algn="r" indent="0" marL="0">
              <a:buNone/>
            </a:pPr>
            <a:r>
              <a:rPr lang="en-US" sz="1300" dirty="0">
                <a:solidFill>
                  <a:srgbClr val="0B2C4A"/>
                </a:solidFill>
                <a:latin typeface="Inter" pitchFamily="34" charset="0"/>
                <a:ea typeface="Inter" pitchFamily="34" charset="-122"/>
                <a:cs typeface="Inter" pitchFamily="34" charset="-120"/>
              </a:rPr>
              <a:t>  172%</a:t>
            </a:r>
            <a:endParaRPr lang="en-US" sz="1300" dirty="0"/>
          </a:p>
        </p:txBody>
      </p:sp>
      <p:sp>
        <p:nvSpPr>
          <p:cNvPr id="17" name="Text 15"/>
          <p:cNvSpPr txBox="1"/>
          <p:nvPr/>
        </p:nvSpPr>
        <p:spPr>
          <a:xfrm>
            <a:off x="658368" y="198371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8" name="Shape 16"/>
          <p:cNvSpPr/>
          <p:nvPr/>
        </p:nvSpPr>
        <p:spPr>
          <a:xfrm>
            <a:off x="3491377" y="2093169"/>
            <a:ext cx="870311" cy="27432"/>
          </a:xfrm>
          <a:prstGeom prst="rect">
            <a:avLst/>
          </a:prstGeom>
          <a:solidFill>
            <a:srgbClr val="D9D9D9"/>
          </a:solidFill>
          <a:ln/>
        </p:spPr>
      </p:sp>
      <p:sp>
        <p:nvSpPr>
          <p:cNvPr id="19" name="Shape 17"/>
          <p:cNvSpPr/>
          <p:nvPr/>
        </p:nvSpPr>
        <p:spPr>
          <a:xfrm>
            <a:off x="4283964" y="2029161"/>
            <a:ext cx="155448" cy="155448"/>
          </a:xfrm>
          <a:prstGeom prst="ellipse">
            <a:avLst/>
          </a:prstGeom>
          <a:solidFill>
            <a:srgbClr val="0B2C4A"/>
          </a:solidFill>
          <a:ln/>
        </p:spPr>
      </p:sp>
      <p:sp>
        <p:nvSpPr>
          <p:cNvPr id="20" name="Shape 18"/>
          <p:cNvSpPr/>
          <p:nvPr/>
        </p:nvSpPr>
        <p:spPr>
          <a:xfrm>
            <a:off x="3413653" y="2029161"/>
            <a:ext cx="155448" cy="155448"/>
          </a:xfrm>
          <a:prstGeom prst="ellipse">
            <a:avLst/>
          </a:prstGeom>
          <a:solidFill>
            <a:srgbClr val="12A566"/>
          </a:solidFill>
          <a:ln/>
        </p:spPr>
      </p:sp>
      <p:sp>
        <p:nvSpPr>
          <p:cNvPr id="21" name="Text 19"/>
          <p:cNvSpPr txBox="1"/>
          <p:nvPr/>
        </p:nvSpPr>
        <p:spPr>
          <a:xfrm>
            <a:off x="4498848" y="198371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117%</a:t>
            </a:r>
            <a:pPr algn="r" indent="0" marL="0">
              <a:buNone/>
            </a:pPr>
            <a:r>
              <a:rPr lang="en-US" sz="1300" dirty="0">
                <a:solidFill>
                  <a:srgbClr val="0B2C4A"/>
                </a:solidFill>
                <a:latin typeface="Inter" pitchFamily="34" charset="0"/>
                <a:ea typeface="Inter" pitchFamily="34" charset="-122"/>
                <a:cs typeface="Inter" pitchFamily="34" charset="-120"/>
              </a:rPr>
              <a:t>  194%</a:t>
            </a:r>
            <a:endParaRPr lang="en-US" sz="1300" dirty="0"/>
          </a:p>
        </p:txBody>
      </p:sp>
      <p:sp>
        <p:nvSpPr>
          <p:cNvPr id="22" name="Text 20"/>
          <p:cNvSpPr txBox="1"/>
          <p:nvPr/>
        </p:nvSpPr>
        <p:spPr>
          <a:xfrm>
            <a:off x="658368" y="223006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3" name="Shape 21"/>
          <p:cNvSpPr/>
          <p:nvPr/>
        </p:nvSpPr>
        <p:spPr>
          <a:xfrm>
            <a:off x="3402985" y="2339519"/>
            <a:ext cx="434135" cy="27432"/>
          </a:xfrm>
          <a:prstGeom prst="rect">
            <a:avLst/>
          </a:prstGeom>
          <a:solidFill>
            <a:srgbClr val="D9D9D9"/>
          </a:solidFill>
          <a:ln/>
        </p:spPr>
      </p:sp>
      <p:sp>
        <p:nvSpPr>
          <p:cNvPr id="24" name="Shape 22"/>
          <p:cNvSpPr/>
          <p:nvPr/>
        </p:nvSpPr>
        <p:spPr>
          <a:xfrm>
            <a:off x="3759396" y="2275511"/>
            <a:ext cx="155448" cy="155448"/>
          </a:xfrm>
          <a:prstGeom prst="ellipse">
            <a:avLst/>
          </a:prstGeom>
          <a:solidFill>
            <a:srgbClr val="0B2C4A"/>
          </a:solidFill>
          <a:ln/>
        </p:spPr>
      </p:sp>
      <p:sp>
        <p:nvSpPr>
          <p:cNvPr id="25" name="Shape 23"/>
          <p:cNvSpPr/>
          <p:nvPr/>
        </p:nvSpPr>
        <p:spPr>
          <a:xfrm>
            <a:off x="3325261" y="2275511"/>
            <a:ext cx="155448" cy="155448"/>
          </a:xfrm>
          <a:prstGeom prst="ellipse">
            <a:avLst/>
          </a:prstGeom>
          <a:solidFill>
            <a:srgbClr val="12A566"/>
          </a:solidFill>
          <a:ln/>
        </p:spPr>
      </p:sp>
      <p:sp>
        <p:nvSpPr>
          <p:cNvPr id="26" name="Text 24"/>
          <p:cNvSpPr txBox="1"/>
          <p:nvPr/>
        </p:nvSpPr>
        <p:spPr>
          <a:xfrm>
            <a:off x="4498848" y="223006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110%</a:t>
            </a:r>
            <a:pPr algn="r" indent="0" marL="0">
              <a:buNone/>
            </a:pPr>
            <a:r>
              <a:rPr lang="en-US" sz="1300" dirty="0">
                <a:solidFill>
                  <a:srgbClr val="0B2C4A"/>
                </a:solidFill>
                <a:latin typeface="Inter" pitchFamily="34" charset="0"/>
                <a:ea typeface="Inter" pitchFamily="34" charset="-122"/>
                <a:cs typeface="Inter" pitchFamily="34" charset="-120"/>
              </a:rPr>
              <a:t>  146%</a:t>
            </a:r>
            <a:endParaRPr lang="en-US" sz="1300" dirty="0"/>
          </a:p>
        </p:txBody>
      </p:sp>
      <p:sp>
        <p:nvSpPr>
          <p:cNvPr id="27" name="Text 25"/>
          <p:cNvSpPr txBox="1"/>
          <p:nvPr/>
        </p:nvSpPr>
        <p:spPr>
          <a:xfrm>
            <a:off x="658368" y="247641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8" name="Shape 26"/>
          <p:cNvSpPr/>
          <p:nvPr/>
        </p:nvSpPr>
        <p:spPr>
          <a:xfrm>
            <a:off x="3397238" y="2585869"/>
            <a:ext cx="510500" cy="27432"/>
          </a:xfrm>
          <a:prstGeom prst="rect">
            <a:avLst/>
          </a:prstGeom>
          <a:solidFill>
            <a:srgbClr val="D9D9D9"/>
          </a:solidFill>
          <a:ln/>
        </p:spPr>
      </p:sp>
      <p:sp>
        <p:nvSpPr>
          <p:cNvPr id="29" name="Shape 27"/>
          <p:cNvSpPr/>
          <p:nvPr/>
        </p:nvSpPr>
        <p:spPr>
          <a:xfrm>
            <a:off x="3830014" y="2521861"/>
            <a:ext cx="155448" cy="155448"/>
          </a:xfrm>
          <a:prstGeom prst="ellipse">
            <a:avLst/>
          </a:prstGeom>
          <a:solidFill>
            <a:srgbClr val="0B2C4A"/>
          </a:solidFill>
          <a:ln/>
        </p:spPr>
      </p:sp>
      <p:sp>
        <p:nvSpPr>
          <p:cNvPr id="30" name="Shape 28"/>
          <p:cNvSpPr/>
          <p:nvPr/>
        </p:nvSpPr>
        <p:spPr>
          <a:xfrm>
            <a:off x="3319514" y="2521861"/>
            <a:ext cx="155448" cy="155448"/>
          </a:xfrm>
          <a:prstGeom prst="ellipse">
            <a:avLst/>
          </a:prstGeom>
          <a:solidFill>
            <a:srgbClr val="12A566"/>
          </a:solidFill>
          <a:ln/>
        </p:spPr>
      </p:sp>
      <p:sp>
        <p:nvSpPr>
          <p:cNvPr id="31" name="Text 29"/>
          <p:cNvSpPr txBox="1"/>
          <p:nvPr/>
        </p:nvSpPr>
        <p:spPr>
          <a:xfrm>
            <a:off x="4498848" y="247641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109%</a:t>
            </a:r>
            <a:pPr algn="r" indent="0" marL="0">
              <a:buNone/>
            </a:pPr>
            <a:r>
              <a:rPr lang="en-US" sz="1300" dirty="0">
                <a:solidFill>
                  <a:srgbClr val="0B2C4A"/>
                </a:solidFill>
                <a:latin typeface="Inter" pitchFamily="34" charset="0"/>
                <a:ea typeface="Inter" pitchFamily="34" charset="-122"/>
                <a:cs typeface="Inter" pitchFamily="34" charset="-120"/>
              </a:rPr>
              <a:t>  152%</a:t>
            </a:r>
            <a:endParaRPr lang="en-US" sz="1300" dirty="0"/>
          </a:p>
        </p:txBody>
      </p:sp>
      <p:sp>
        <p:nvSpPr>
          <p:cNvPr id="32" name="Text 30"/>
          <p:cNvSpPr txBox="1"/>
          <p:nvPr/>
        </p:nvSpPr>
        <p:spPr>
          <a:xfrm>
            <a:off x="658368" y="272276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3" name="Shape 31"/>
          <p:cNvSpPr/>
          <p:nvPr/>
        </p:nvSpPr>
        <p:spPr>
          <a:xfrm>
            <a:off x="3394584" y="2832220"/>
            <a:ext cx="248054" cy="27432"/>
          </a:xfrm>
          <a:prstGeom prst="rect">
            <a:avLst/>
          </a:prstGeom>
          <a:solidFill>
            <a:srgbClr val="D9D9D9"/>
          </a:solidFill>
          <a:ln/>
        </p:spPr>
      </p:sp>
      <p:sp>
        <p:nvSpPr>
          <p:cNvPr id="34" name="Shape 32"/>
          <p:cNvSpPr/>
          <p:nvPr/>
        </p:nvSpPr>
        <p:spPr>
          <a:xfrm>
            <a:off x="3564914" y="2768212"/>
            <a:ext cx="155448" cy="155448"/>
          </a:xfrm>
          <a:prstGeom prst="ellipse">
            <a:avLst/>
          </a:prstGeom>
          <a:solidFill>
            <a:srgbClr val="0B2C4A"/>
          </a:solidFill>
          <a:ln/>
        </p:spPr>
      </p:sp>
      <p:sp>
        <p:nvSpPr>
          <p:cNvPr id="35" name="Shape 33"/>
          <p:cNvSpPr/>
          <p:nvPr/>
        </p:nvSpPr>
        <p:spPr>
          <a:xfrm>
            <a:off x="3316860" y="2768212"/>
            <a:ext cx="155448" cy="155448"/>
          </a:xfrm>
          <a:prstGeom prst="ellipse">
            <a:avLst/>
          </a:prstGeom>
          <a:solidFill>
            <a:srgbClr val="12A566"/>
          </a:solidFill>
          <a:ln/>
        </p:spPr>
      </p:sp>
      <p:sp>
        <p:nvSpPr>
          <p:cNvPr id="36" name="Text 34"/>
          <p:cNvSpPr txBox="1"/>
          <p:nvPr/>
        </p:nvSpPr>
        <p:spPr>
          <a:xfrm>
            <a:off x="4498848" y="272276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109%</a:t>
            </a:r>
            <a:pPr algn="r" indent="0" marL="0">
              <a:buNone/>
            </a:pPr>
            <a:r>
              <a:rPr lang="en-US" sz="1300" dirty="0">
                <a:solidFill>
                  <a:srgbClr val="0B2C4A"/>
                </a:solidFill>
                <a:latin typeface="Inter" pitchFamily="34" charset="0"/>
                <a:ea typeface="Inter" pitchFamily="34" charset="-122"/>
                <a:cs typeface="Inter" pitchFamily="34" charset="-120"/>
              </a:rPr>
              <a:t>  130%</a:t>
            </a:r>
            <a:endParaRPr lang="en-US" sz="1300" dirty="0"/>
          </a:p>
        </p:txBody>
      </p:sp>
      <p:sp>
        <p:nvSpPr>
          <p:cNvPr id="37" name="Text 35"/>
          <p:cNvSpPr txBox="1"/>
          <p:nvPr/>
        </p:nvSpPr>
        <p:spPr>
          <a:xfrm>
            <a:off x="658368" y="29691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8" name="Shape 36"/>
          <p:cNvSpPr/>
          <p:nvPr/>
        </p:nvSpPr>
        <p:spPr>
          <a:xfrm>
            <a:off x="3381966" y="3078570"/>
            <a:ext cx="305207" cy="27432"/>
          </a:xfrm>
          <a:prstGeom prst="rect">
            <a:avLst/>
          </a:prstGeom>
          <a:solidFill>
            <a:srgbClr val="D9D9D9"/>
          </a:solidFill>
          <a:ln/>
        </p:spPr>
      </p:sp>
      <p:sp>
        <p:nvSpPr>
          <p:cNvPr id="39" name="Shape 37"/>
          <p:cNvSpPr/>
          <p:nvPr/>
        </p:nvSpPr>
        <p:spPr>
          <a:xfrm>
            <a:off x="3609449" y="3014562"/>
            <a:ext cx="155448" cy="155448"/>
          </a:xfrm>
          <a:prstGeom prst="ellipse">
            <a:avLst/>
          </a:prstGeom>
          <a:solidFill>
            <a:srgbClr val="0B2C4A"/>
          </a:solidFill>
          <a:ln/>
        </p:spPr>
      </p:sp>
      <p:sp>
        <p:nvSpPr>
          <p:cNvPr id="40" name="Shape 38"/>
          <p:cNvSpPr/>
          <p:nvPr/>
        </p:nvSpPr>
        <p:spPr>
          <a:xfrm>
            <a:off x="3304242" y="3014562"/>
            <a:ext cx="155448" cy="155448"/>
          </a:xfrm>
          <a:prstGeom prst="ellipse">
            <a:avLst/>
          </a:prstGeom>
          <a:solidFill>
            <a:srgbClr val="12A566"/>
          </a:solidFill>
          <a:ln/>
        </p:spPr>
      </p:sp>
      <p:sp>
        <p:nvSpPr>
          <p:cNvPr id="41" name="Text 39"/>
          <p:cNvSpPr txBox="1"/>
          <p:nvPr/>
        </p:nvSpPr>
        <p:spPr>
          <a:xfrm>
            <a:off x="4498848" y="296911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108%</a:t>
            </a:r>
            <a:pPr algn="r" indent="0" marL="0">
              <a:buNone/>
            </a:pPr>
            <a:r>
              <a:rPr lang="en-US" sz="1300" dirty="0">
                <a:solidFill>
                  <a:srgbClr val="0B2C4A"/>
                </a:solidFill>
                <a:latin typeface="Inter" pitchFamily="34" charset="0"/>
                <a:ea typeface="Inter" pitchFamily="34" charset="-122"/>
                <a:cs typeface="Inter" pitchFamily="34" charset="-120"/>
              </a:rPr>
              <a:t>  134%</a:t>
            </a:r>
            <a:endParaRPr lang="en-US" sz="1300" dirty="0"/>
          </a:p>
        </p:txBody>
      </p:sp>
      <p:sp>
        <p:nvSpPr>
          <p:cNvPr id="42" name="Text 40"/>
          <p:cNvSpPr txBox="1"/>
          <p:nvPr/>
        </p:nvSpPr>
        <p:spPr>
          <a:xfrm>
            <a:off x="658368" y="32154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3" name="Shape 41"/>
          <p:cNvSpPr/>
          <p:nvPr/>
        </p:nvSpPr>
        <p:spPr>
          <a:xfrm>
            <a:off x="3358657" y="3324920"/>
            <a:ext cx="461897" cy="27432"/>
          </a:xfrm>
          <a:prstGeom prst="rect">
            <a:avLst/>
          </a:prstGeom>
          <a:solidFill>
            <a:srgbClr val="D9D9D9"/>
          </a:solidFill>
          <a:ln/>
        </p:spPr>
      </p:sp>
      <p:sp>
        <p:nvSpPr>
          <p:cNvPr id="44" name="Shape 42"/>
          <p:cNvSpPr/>
          <p:nvPr/>
        </p:nvSpPr>
        <p:spPr>
          <a:xfrm>
            <a:off x="3742830" y="3260912"/>
            <a:ext cx="155448" cy="155448"/>
          </a:xfrm>
          <a:prstGeom prst="ellipse">
            <a:avLst/>
          </a:prstGeom>
          <a:solidFill>
            <a:srgbClr val="0B2C4A"/>
          </a:solidFill>
          <a:ln/>
        </p:spPr>
      </p:sp>
      <p:sp>
        <p:nvSpPr>
          <p:cNvPr id="45" name="Shape 43"/>
          <p:cNvSpPr/>
          <p:nvPr/>
        </p:nvSpPr>
        <p:spPr>
          <a:xfrm>
            <a:off x="3280933" y="3260912"/>
            <a:ext cx="155448" cy="155448"/>
          </a:xfrm>
          <a:prstGeom prst="ellipse">
            <a:avLst/>
          </a:prstGeom>
          <a:solidFill>
            <a:srgbClr val="12A566"/>
          </a:solidFill>
          <a:ln/>
        </p:spPr>
      </p:sp>
      <p:sp>
        <p:nvSpPr>
          <p:cNvPr id="46" name="Text 44"/>
          <p:cNvSpPr txBox="1"/>
          <p:nvPr/>
        </p:nvSpPr>
        <p:spPr>
          <a:xfrm>
            <a:off x="4498848" y="321546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106%</a:t>
            </a:r>
            <a:pPr algn="r" indent="0" marL="0">
              <a:buNone/>
            </a:pPr>
            <a:r>
              <a:rPr lang="en-US" sz="1300" dirty="0">
                <a:solidFill>
                  <a:srgbClr val="0B2C4A"/>
                </a:solidFill>
                <a:latin typeface="Inter" pitchFamily="34" charset="0"/>
                <a:ea typeface="Inter" pitchFamily="34" charset="-122"/>
                <a:cs typeface="Inter" pitchFamily="34" charset="-120"/>
              </a:rPr>
              <a:t>  145%</a:t>
            </a:r>
            <a:endParaRPr lang="en-US" sz="1300" dirty="0"/>
          </a:p>
        </p:txBody>
      </p:sp>
      <p:sp>
        <p:nvSpPr>
          <p:cNvPr id="47" name="Text 45"/>
          <p:cNvSpPr txBox="1"/>
          <p:nvPr/>
        </p:nvSpPr>
        <p:spPr>
          <a:xfrm>
            <a:off x="658368" y="34618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8" name="Shape 46"/>
          <p:cNvSpPr/>
          <p:nvPr/>
        </p:nvSpPr>
        <p:spPr>
          <a:xfrm>
            <a:off x="3342460" y="3571270"/>
            <a:ext cx="879840" cy="27432"/>
          </a:xfrm>
          <a:prstGeom prst="rect">
            <a:avLst/>
          </a:prstGeom>
          <a:solidFill>
            <a:srgbClr val="D9D9D9"/>
          </a:solidFill>
          <a:ln/>
        </p:spPr>
      </p:sp>
      <p:sp>
        <p:nvSpPr>
          <p:cNvPr id="49" name="Shape 47"/>
          <p:cNvSpPr/>
          <p:nvPr/>
        </p:nvSpPr>
        <p:spPr>
          <a:xfrm>
            <a:off x="4144576" y="3507262"/>
            <a:ext cx="155448" cy="155448"/>
          </a:xfrm>
          <a:prstGeom prst="ellipse">
            <a:avLst/>
          </a:prstGeom>
          <a:solidFill>
            <a:srgbClr val="0B2C4A"/>
          </a:solidFill>
          <a:ln/>
        </p:spPr>
      </p:sp>
      <p:sp>
        <p:nvSpPr>
          <p:cNvPr id="50" name="Shape 48"/>
          <p:cNvSpPr/>
          <p:nvPr/>
        </p:nvSpPr>
        <p:spPr>
          <a:xfrm>
            <a:off x="3264736" y="3507262"/>
            <a:ext cx="155448" cy="155448"/>
          </a:xfrm>
          <a:prstGeom prst="ellipse">
            <a:avLst/>
          </a:prstGeom>
          <a:solidFill>
            <a:srgbClr val="12A566"/>
          </a:solidFill>
          <a:ln/>
        </p:spPr>
      </p:sp>
      <p:sp>
        <p:nvSpPr>
          <p:cNvPr id="51" name="Text 49"/>
          <p:cNvSpPr txBox="1"/>
          <p:nvPr/>
        </p:nvSpPr>
        <p:spPr>
          <a:xfrm>
            <a:off x="4498848" y="346181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105%</a:t>
            </a:r>
            <a:pPr algn="r" indent="0" marL="0">
              <a:buNone/>
            </a:pPr>
            <a:r>
              <a:rPr lang="en-US" sz="1300" dirty="0">
                <a:solidFill>
                  <a:srgbClr val="0B2C4A"/>
                </a:solidFill>
                <a:latin typeface="Inter" pitchFamily="34" charset="0"/>
                <a:ea typeface="Inter" pitchFamily="34" charset="-122"/>
                <a:cs typeface="Inter" pitchFamily="34" charset="-120"/>
              </a:rPr>
              <a:t>  178%</a:t>
            </a:r>
            <a:endParaRPr lang="en-US" sz="1300" dirty="0"/>
          </a:p>
        </p:txBody>
      </p:sp>
      <p:sp>
        <p:nvSpPr>
          <p:cNvPr id="52" name="Text 50"/>
          <p:cNvSpPr txBox="1"/>
          <p:nvPr/>
        </p:nvSpPr>
        <p:spPr>
          <a:xfrm>
            <a:off x="658368" y="37081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53" name="Shape 51"/>
          <p:cNvSpPr/>
          <p:nvPr/>
        </p:nvSpPr>
        <p:spPr>
          <a:xfrm>
            <a:off x="3338325" y="3817620"/>
            <a:ext cx="578029" cy="27432"/>
          </a:xfrm>
          <a:prstGeom prst="rect">
            <a:avLst/>
          </a:prstGeom>
          <a:solidFill>
            <a:srgbClr val="D9D9D9"/>
          </a:solidFill>
          <a:ln/>
        </p:spPr>
      </p:sp>
      <p:sp>
        <p:nvSpPr>
          <p:cNvPr id="54" name="Shape 52"/>
          <p:cNvSpPr/>
          <p:nvPr/>
        </p:nvSpPr>
        <p:spPr>
          <a:xfrm>
            <a:off x="3838629" y="3753612"/>
            <a:ext cx="155448" cy="155448"/>
          </a:xfrm>
          <a:prstGeom prst="ellipse">
            <a:avLst/>
          </a:prstGeom>
          <a:solidFill>
            <a:srgbClr val="0B2C4A"/>
          </a:solidFill>
          <a:ln/>
        </p:spPr>
      </p:sp>
      <p:sp>
        <p:nvSpPr>
          <p:cNvPr id="55" name="Shape 53"/>
          <p:cNvSpPr/>
          <p:nvPr/>
        </p:nvSpPr>
        <p:spPr>
          <a:xfrm>
            <a:off x="3260601" y="3753612"/>
            <a:ext cx="155448" cy="155448"/>
          </a:xfrm>
          <a:prstGeom prst="ellipse">
            <a:avLst/>
          </a:prstGeom>
          <a:solidFill>
            <a:srgbClr val="12A566"/>
          </a:solidFill>
          <a:ln/>
        </p:spPr>
      </p:sp>
      <p:sp>
        <p:nvSpPr>
          <p:cNvPr id="56" name="Text 54"/>
          <p:cNvSpPr txBox="1"/>
          <p:nvPr/>
        </p:nvSpPr>
        <p:spPr>
          <a:xfrm>
            <a:off x="4498848" y="370816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104%</a:t>
            </a:r>
            <a:pPr algn="r" indent="0" marL="0">
              <a:buNone/>
            </a:pPr>
            <a:r>
              <a:rPr lang="en-US" sz="1300" dirty="0">
                <a:solidFill>
                  <a:srgbClr val="0B2C4A"/>
                </a:solidFill>
                <a:latin typeface="Inter" pitchFamily="34" charset="0"/>
                <a:ea typeface="Inter" pitchFamily="34" charset="-122"/>
                <a:cs typeface="Inter" pitchFamily="34" charset="-120"/>
              </a:rPr>
              <a:t>  153%</a:t>
            </a:r>
            <a:endParaRPr lang="en-US" sz="1300" dirty="0"/>
          </a:p>
        </p:txBody>
      </p:sp>
      <p:sp>
        <p:nvSpPr>
          <p:cNvPr id="57" name="Text 55"/>
          <p:cNvSpPr txBox="1"/>
          <p:nvPr/>
        </p:nvSpPr>
        <p:spPr>
          <a:xfrm>
            <a:off x="658368" y="39545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8" name="Shape 56"/>
          <p:cNvSpPr/>
          <p:nvPr/>
        </p:nvSpPr>
        <p:spPr>
          <a:xfrm>
            <a:off x="3326693" y="4063970"/>
            <a:ext cx="718840" cy="27432"/>
          </a:xfrm>
          <a:prstGeom prst="rect">
            <a:avLst/>
          </a:prstGeom>
          <a:solidFill>
            <a:srgbClr val="D9D9D9"/>
          </a:solidFill>
          <a:ln/>
        </p:spPr>
      </p:sp>
      <p:sp>
        <p:nvSpPr>
          <p:cNvPr id="59" name="Shape 57"/>
          <p:cNvSpPr/>
          <p:nvPr/>
        </p:nvSpPr>
        <p:spPr>
          <a:xfrm>
            <a:off x="3967809" y="3999962"/>
            <a:ext cx="155448" cy="155448"/>
          </a:xfrm>
          <a:prstGeom prst="ellipse">
            <a:avLst/>
          </a:prstGeom>
          <a:solidFill>
            <a:srgbClr val="0B2C4A"/>
          </a:solidFill>
          <a:ln/>
        </p:spPr>
      </p:sp>
      <p:sp>
        <p:nvSpPr>
          <p:cNvPr id="60" name="Shape 58"/>
          <p:cNvSpPr/>
          <p:nvPr/>
        </p:nvSpPr>
        <p:spPr>
          <a:xfrm>
            <a:off x="3248969" y="3999962"/>
            <a:ext cx="155448" cy="155448"/>
          </a:xfrm>
          <a:prstGeom prst="ellipse">
            <a:avLst/>
          </a:prstGeom>
          <a:solidFill>
            <a:srgbClr val="12A566"/>
          </a:solidFill>
          <a:ln/>
        </p:spPr>
      </p:sp>
      <p:sp>
        <p:nvSpPr>
          <p:cNvPr id="61" name="Text 59"/>
          <p:cNvSpPr txBox="1"/>
          <p:nvPr/>
        </p:nvSpPr>
        <p:spPr>
          <a:xfrm>
            <a:off x="4498848" y="395451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103%</a:t>
            </a:r>
            <a:pPr algn="r" indent="0" marL="0">
              <a:buNone/>
            </a:pPr>
            <a:r>
              <a:rPr lang="en-US" sz="1300" dirty="0">
                <a:solidFill>
                  <a:srgbClr val="0B2C4A"/>
                </a:solidFill>
                <a:latin typeface="Inter" pitchFamily="34" charset="0"/>
                <a:ea typeface="Inter" pitchFamily="34" charset="-122"/>
                <a:cs typeface="Inter" pitchFamily="34" charset="-120"/>
              </a:rPr>
              <a:t>  164%</a:t>
            </a:r>
            <a:endParaRPr lang="en-US" sz="1300" dirty="0"/>
          </a:p>
        </p:txBody>
      </p:sp>
      <p:sp>
        <p:nvSpPr>
          <p:cNvPr id="62" name="Text 60"/>
          <p:cNvSpPr txBox="1"/>
          <p:nvPr/>
        </p:nvSpPr>
        <p:spPr>
          <a:xfrm>
            <a:off x="658368" y="42008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3" name="Shape 61"/>
          <p:cNvSpPr/>
          <p:nvPr/>
        </p:nvSpPr>
        <p:spPr>
          <a:xfrm>
            <a:off x="3315137" y="4310320"/>
            <a:ext cx="576560" cy="27432"/>
          </a:xfrm>
          <a:prstGeom prst="rect">
            <a:avLst/>
          </a:prstGeom>
          <a:solidFill>
            <a:srgbClr val="D9D9D9"/>
          </a:solidFill>
          <a:ln/>
        </p:spPr>
      </p:sp>
      <p:sp>
        <p:nvSpPr>
          <p:cNvPr id="64" name="Shape 62"/>
          <p:cNvSpPr/>
          <p:nvPr/>
        </p:nvSpPr>
        <p:spPr>
          <a:xfrm>
            <a:off x="3813973" y="4246312"/>
            <a:ext cx="155448" cy="155448"/>
          </a:xfrm>
          <a:prstGeom prst="ellipse">
            <a:avLst/>
          </a:prstGeom>
          <a:solidFill>
            <a:srgbClr val="0B2C4A"/>
          </a:solidFill>
          <a:ln/>
        </p:spPr>
      </p:sp>
      <p:sp>
        <p:nvSpPr>
          <p:cNvPr id="65" name="Shape 63"/>
          <p:cNvSpPr/>
          <p:nvPr/>
        </p:nvSpPr>
        <p:spPr>
          <a:xfrm>
            <a:off x="3237413" y="4246312"/>
            <a:ext cx="155448" cy="155448"/>
          </a:xfrm>
          <a:prstGeom prst="ellipse">
            <a:avLst/>
          </a:prstGeom>
          <a:solidFill>
            <a:srgbClr val="12A566"/>
          </a:solidFill>
          <a:ln/>
        </p:spPr>
      </p:sp>
      <p:sp>
        <p:nvSpPr>
          <p:cNvPr id="66" name="Text 64"/>
          <p:cNvSpPr txBox="1"/>
          <p:nvPr/>
        </p:nvSpPr>
        <p:spPr>
          <a:xfrm>
            <a:off x="4498848" y="420086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102%</a:t>
            </a:r>
            <a:pPr algn="r" indent="0" marL="0">
              <a:buNone/>
            </a:pPr>
            <a:r>
              <a:rPr lang="en-US" sz="1300" dirty="0">
                <a:solidFill>
                  <a:srgbClr val="0B2C4A"/>
                </a:solidFill>
                <a:latin typeface="Inter" pitchFamily="34" charset="0"/>
                <a:ea typeface="Inter" pitchFamily="34" charset="-122"/>
                <a:cs typeface="Inter" pitchFamily="34" charset="-120"/>
              </a:rPr>
              <a:t>  151%</a:t>
            </a:r>
            <a:endParaRPr lang="en-US" sz="1300" dirty="0"/>
          </a:p>
        </p:txBody>
      </p:sp>
      <p:sp>
        <p:nvSpPr>
          <p:cNvPr id="67" name="Text 65"/>
          <p:cNvSpPr txBox="1"/>
          <p:nvPr/>
        </p:nvSpPr>
        <p:spPr>
          <a:xfrm>
            <a:off x="658368" y="44472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8" name="Shape 66"/>
          <p:cNvSpPr/>
          <p:nvPr/>
        </p:nvSpPr>
        <p:spPr>
          <a:xfrm>
            <a:off x="3305834" y="4556670"/>
            <a:ext cx="253206" cy="27432"/>
          </a:xfrm>
          <a:prstGeom prst="rect">
            <a:avLst/>
          </a:prstGeom>
          <a:solidFill>
            <a:srgbClr val="D9D9D9"/>
          </a:solidFill>
          <a:ln/>
        </p:spPr>
      </p:sp>
      <p:sp>
        <p:nvSpPr>
          <p:cNvPr id="69" name="Shape 67"/>
          <p:cNvSpPr/>
          <p:nvPr/>
        </p:nvSpPr>
        <p:spPr>
          <a:xfrm>
            <a:off x="3481317" y="4492662"/>
            <a:ext cx="155448" cy="155448"/>
          </a:xfrm>
          <a:prstGeom prst="ellipse">
            <a:avLst/>
          </a:prstGeom>
          <a:solidFill>
            <a:srgbClr val="0B2C4A"/>
          </a:solidFill>
          <a:ln/>
        </p:spPr>
      </p:sp>
      <p:sp>
        <p:nvSpPr>
          <p:cNvPr id="70" name="Shape 68"/>
          <p:cNvSpPr/>
          <p:nvPr/>
        </p:nvSpPr>
        <p:spPr>
          <a:xfrm>
            <a:off x="3228110" y="4492662"/>
            <a:ext cx="155448" cy="155448"/>
          </a:xfrm>
          <a:prstGeom prst="ellipse">
            <a:avLst/>
          </a:prstGeom>
          <a:solidFill>
            <a:srgbClr val="12A566"/>
          </a:solidFill>
          <a:ln/>
        </p:spPr>
      </p:sp>
      <p:sp>
        <p:nvSpPr>
          <p:cNvPr id="71" name="Text 69"/>
          <p:cNvSpPr txBox="1"/>
          <p:nvPr/>
        </p:nvSpPr>
        <p:spPr>
          <a:xfrm>
            <a:off x="4498848" y="444721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102%</a:t>
            </a:r>
            <a:pPr algn="r" indent="0" marL="0">
              <a:buNone/>
            </a:pPr>
            <a:r>
              <a:rPr lang="en-US" sz="1300" dirty="0">
                <a:solidFill>
                  <a:srgbClr val="0B2C4A"/>
                </a:solidFill>
                <a:latin typeface="Inter" pitchFamily="34" charset="0"/>
                <a:ea typeface="Inter" pitchFamily="34" charset="-122"/>
                <a:cs typeface="Inter" pitchFamily="34" charset="-120"/>
              </a:rPr>
              <a:t>  123%</a:t>
            </a:r>
            <a:endParaRPr lang="en-US" sz="1300" dirty="0"/>
          </a:p>
        </p:txBody>
      </p:sp>
      <p:sp>
        <p:nvSpPr>
          <p:cNvPr id="72" name="Text 70"/>
          <p:cNvSpPr txBox="1"/>
          <p:nvPr/>
        </p:nvSpPr>
        <p:spPr>
          <a:xfrm>
            <a:off x="658368" y="46935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73" name="Shape 71"/>
          <p:cNvSpPr/>
          <p:nvPr/>
        </p:nvSpPr>
        <p:spPr>
          <a:xfrm>
            <a:off x="3267627" y="4803020"/>
            <a:ext cx="968031" cy="27432"/>
          </a:xfrm>
          <a:prstGeom prst="rect">
            <a:avLst/>
          </a:prstGeom>
          <a:solidFill>
            <a:srgbClr val="D9D9D9"/>
          </a:solidFill>
          <a:ln/>
        </p:spPr>
      </p:sp>
      <p:sp>
        <p:nvSpPr>
          <p:cNvPr id="74" name="Shape 72"/>
          <p:cNvSpPr/>
          <p:nvPr/>
        </p:nvSpPr>
        <p:spPr>
          <a:xfrm>
            <a:off x="4157934" y="4739012"/>
            <a:ext cx="155448" cy="155448"/>
          </a:xfrm>
          <a:prstGeom prst="ellipse">
            <a:avLst/>
          </a:prstGeom>
          <a:solidFill>
            <a:srgbClr val="0B2C4A"/>
          </a:solidFill>
          <a:ln/>
        </p:spPr>
      </p:sp>
      <p:sp>
        <p:nvSpPr>
          <p:cNvPr id="75" name="Shape 73"/>
          <p:cNvSpPr/>
          <p:nvPr/>
        </p:nvSpPr>
        <p:spPr>
          <a:xfrm>
            <a:off x="3189903" y="4739012"/>
            <a:ext cx="155448" cy="155448"/>
          </a:xfrm>
          <a:prstGeom prst="ellipse">
            <a:avLst/>
          </a:prstGeom>
          <a:solidFill>
            <a:srgbClr val="12A566"/>
          </a:solidFill>
          <a:ln/>
        </p:spPr>
      </p:sp>
      <p:sp>
        <p:nvSpPr>
          <p:cNvPr id="76" name="Text 74"/>
          <p:cNvSpPr txBox="1"/>
          <p:nvPr/>
        </p:nvSpPr>
        <p:spPr>
          <a:xfrm>
            <a:off x="4498848" y="4693561"/>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98%</a:t>
            </a:r>
            <a:pPr algn="r" indent="0" marL="0">
              <a:buNone/>
            </a:pPr>
            <a:r>
              <a:rPr lang="en-US" sz="1300" dirty="0">
                <a:solidFill>
                  <a:srgbClr val="0B2C4A"/>
                </a:solidFill>
                <a:latin typeface="Inter" pitchFamily="34" charset="0"/>
                <a:ea typeface="Inter" pitchFamily="34" charset="-122"/>
                <a:cs typeface="Inter" pitchFamily="34" charset="-120"/>
              </a:rPr>
              <a:t>  179%</a:t>
            </a:r>
            <a:endParaRPr lang="en-US" sz="1300" dirty="0"/>
          </a:p>
        </p:txBody>
      </p:sp>
      <p:sp>
        <p:nvSpPr>
          <p:cNvPr id="77" name="Text 75"/>
          <p:cNvSpPr txBox="1"/>
          <p:nvPr/>
        </p:nvSpPr>
        <p:spPr>
          <a:xfrm>
            <a:off x="658368" y="493991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8" name="Shape 76"/>
          <p:cNvSpPr/>
          <p:nvPr/>
        </p:nvSpPr>
        <p:spPr>
          <a:xfrm>
            <a:off x="3249769" y="5049371"/>
            <a:ext cx="416296" cy="27432"/>
          </a:xfrm>
          <a:prstGeom prst="rect">
            <a:avLst/>
          </a:prstGeom>
          <a:solidFill>
            <a:srgbClr val="D9D9D9"/>
          </a:solidFill>
          <a:ln/>
        </p:spPr>
      </p:sp>
      <p:sp>
        <p:nvSpPr>
          <p:cNvPr id="79" name="Shape 77"/>
          <p:cNvSpPr/>
          <p:nvPr/>
        </p:nvSpPr>
        <p:spPr>
          <a:xfrm>
            <a:off x="3588341" y="4985363"/>
            <a:ext cx="155448" cy="155448"/>
          </a:xfrm>
          <a:prstGeom prst="ellipse">
            <a:avLst/>
          </a:prstGeom>
          <a:solidFill>
            <a:srgbClr val="0B2C4A"/>
          </a:solidFill>
          <a:ln/>
        </p:spPr>
      </p:sp>
      <p:sp>
        <p:nvSpPr>
          <p:cNvPr id="80" name="Shape 78"/>
          <p:cNvSpPr/>
          <p:nvPr/>
        </p:nvSpPr>
        <p:spPr>
          <a:xfrm>
            <a:off x="3172045" y="4985363"/>
            <a:ext cx="155448" cy="155448"/>
          </a:xfrm>
          <a:prstGeom prst="ellipse">
            <a:avLst/>
          </a:prstGeom>
          <a:solidFill>
            <a:srgbClr val="12A566"/>
          </a:solidFill>
          <a:ln/>
        </p:spPr>
      </p:sp>
      <p:sp>
        <p:nvSpPr>
          <p:cNvPr id="81" name="Text 79"/>
          <p:cNvSpPr txBox="1"/>
          <p:nvPr/>
        </p:nvSpPr>
        <p:spPr>
          <a:xfrm>
            <a:off x="4498848" y="4939912"/>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97%</a:t>
            </a:r>
            <a:pPr algn="r" indent="0" marL="0">
              <a:buNone/>
            </a:pPr>
            <a:r>
              <a:rPr lang="en-US" sz="1300" dirty="0">
                <a:solidFill>
                  <a:srgbClr val="0B2C4A"/>
                </a:solidFill>
                <a:latin typeface="Inter" pitchFamily="34" charset="0"/>
                <a:ea typeface="Inter" pitchFamily="34" charset="-122"/>
                <a:cs typeface="Inter" pitchFamily="34" charset="-120"/>
              </a:rPr>
              <a:t>  132%</a:t>
            </a:r>
            <a:endParaRPr lang="en-US" sz="1300" dirty="0"/>
          </a:p>
        </p:txBody>
      </p:sp>
      <p:sp>
        <p:nvSpPr>
          <p:cNvPr id="82" name="Text 80"/>
          <p:cNvSpPr txBox="1"/>
          <p:nvPr/>
        </p:nvSpPr>
        <p:spPr>
          <a:xfrm>
            <a:off x="658368" y="518626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3" name="Shape 81"/>
          <p:cNvSpPr/>
          <p:nvPr/>
        </p:nvSpPr>
        <p:spPr>
          <a:xfrm>
            <a:off x="3225383" y="5295721"/>
            <a:ext cx="363571" cy="27432"/>
          </a:xfrm>
          <a:prstGeom prst="rect">
            <a:avLst/>
          </a:prstGeom>
          <a:solidFill>
            <a:srgbClr val="D9D9D9"/>
          </a:solidFill>
          <a:ln/>
        </p:spPr>
      </p:sp>
      <p:sp>
        <p:nvSpPr>
          <p:cNvPr id="84" name="Shape 82"/>
          <p:cNvSpPr/>
          <p:nvPr/>
        </p:nvSpPr>
        <p:spPr>
          <a:xfrm>
            <a:off x="3511230" y="5231713"/>
            <a:ext cx="155448" cy="155448"/>
          </a:xfrm>
          <a:prstGeom prst="ellipse">
            <a:avLst/>
          </a:prstGeom>
          <a:solidFill>
            <a:srgbClr val="0B2C4A"/>
          </a:solidFill>
          <a:ln/>
        </p:spPr>
      </p:sp>
      <p:sp>
        <p:nvSpPr>
          <p:cNvPr id="85" name="Shape 83"/>
          <p:cNvSpPr/>
          <p:nvPr/>
        </p:nvSpPr>
        <p:spPr>
          <a:xfrm>
            <a:off x="3147659" y="5231713"/>
            <a:ext cx="155448" cy="155448"/>
          </a:xfrm>
          <a:prstGeom prst="ellipse">
            <a:avLst/>
          </a:prstGeom>
          <a:solidFill>
            <a:srgbClr val="12A566"/>
          </a:solidFill>
          <a:ln/>
        </p:spPr>
      </p:sp>
      <p:sp>
        <p:nvSpPr>
          <p:cNvPr id="86" name="Text 84"/>
          <p:cNvSpPr txBox="1"/>
          <p:nvPr/>
        </p:nvSpPr>
        <p:spPr>
          <a:xfrm>
            <a:off x="4498848" y="5186262"/>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95%</a:t>
            </a:r>
            <a:pPr algn="r" indent="0" marL="0">
              <a:buNone/>
            </a:pPr>
            <a:r>
              <a:rPr lang="en-US" sz="1300" dirty="0">
                <a:solidFill>
                  <a:srgbClr val="0B2C4A"/>
                </a:solidFill>
                <a:latin typeface="Inter" pitchFamily="34" charset="0"/>
                <a:ea typeface="Inter" pitchFamily="34" charset="-122"/>
                <a:cs typeface="Inter" pitchFamily="34" charset="-120"/>
              </a:rPr>
              <a:t>  125%</a:t>
            </a:r>
            <a:endParaRPr lang="en-US" sz="1300" dirty="0"/>
          </a:p>
        </p:txBody>
      </p:sp>
      <p:sp>
        <p:nvSpPr>
          <p:cNvPr id="87" name="Text 85"/>
          <p:cNvSpPr txBox="1"/>
          <p:nvPr/>
        </p:nvSpPr>
        <p:spPr>
          <a:xfrm>
            <a:off x="658368" y="543261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8" name="Shape 86"/>
          <p:cNvSpPr/>
          <p:nvPr/>
        </p:nvSpPr>
        <p:spPr>
          <a:xfrm>
            <a:off x="3193370" y="5542071"/>
            <a:ext cx="267102" cy="27432"/>
          </a:xfrm>
          <a:prstGeom prst="rect">
            <a:avLst/>
          </a:prstGeom>
          <a:solidFill>
            <a:srgbClr val="D9D9D9"/>
          </a:solidFill>
          <a:ln/>
        </p:spPr>
      </p:sp>
      <p:sp>
        <p:nvSpPr>
          <p:cNvPr id="89" name="Shape 87"/>
          <p:cNvSpPr/>
          <p:nvPr/>
        </p:nvSpPr>
        <p:spPr>
          <a:xfrm>
            <a:off x="3382748" y="5478063"/>
            <a:ext cx="155448" cy="155448"/>
          </a:xfrm>
          <a:prstGeom prst="ellipse">
            <a:avLst/>
          </a:prstGeom>
          <a:solidFill>
            <a:srgbClr val="0B2C4A"/>
          </a:solidFill>
          <a:ln/>
        </p:spPr>
      </p:sp>
      <p:sp>
        <p:nvSpPr>
          <p:cNvPr id="90" name="Shape 88"/>
          <p:cNvSpPr/>
          <p:nvPr/>
        </p:nvSpPr>
        <p:spPr>
          <a:xfrm>
            <a:off x="3115646" y="5478063"/>
            <a:ext cx="155448" cy="155448"/>
          </a:xfrm>
          <a:prstGeom prst="ellipse">
            <a:avLst/>
          </a:prstGeom>
          <a:solidFill>
            <a:srgbClr val="12A566"/>
          </a:solidFill>
          <a:ln/>
        </p:spPr>
      </p:sp>
      <p:sp>
        <p:nvSpPr>
          <p:cNvPr id="91" name="Text 89"/>
          <p:cNvSpPr txBox="1"/>
          <p:nvPr/>
        </p:nvSpPr>
        <p:spPr>
          <a:xfrm>
            <a:off x="4498848" y="5432612"/>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92%</a:t>
            </a:r>
            <a:pPr algn="r" indent="0" marL="0">
              <a:buNone/>
            </a:pPr>
            <a:r>
              <a:rPr lang="en-US" sz="1300" dirty="0">
                <a:solidFill>
                  <a:srgbClr val="0B2C4A"/>
                </a:solidFill>
                <a:latin typeface="Inter" pitchFamily="34" charset="0"/>
                <a:ea typeface="Inter" pitchFamily="34" charset="-122"/>
                <a:cs typeface="Inter" pitchFamily="34" charset="-120"/>
              </a:rPr>
              <a:t>  115%</a:t>
            </a:r>
            <a:endParaRPr lang="en-US" sz="1300" dirty="0"/>
          </a:p>
        </p:txBody>
      </p:sp>
      <p:sp>
        <p:nvSpPr>
          <p:cNvPr id="92" name="Text 90"/>
          <p:cNvSpPr txBox="1"/>
          <p:nvPr/>
        </p:nvSpPr>
        <p:spPr>
          <a:xfrm>
            <a:off x="658368" y="567896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3" name="Shape 91"/>
          <p:cNvSpPr/>
          <p:nvPr/>
        </p:nvSpPr>
        <p:spPr>
          <a:xfrm>
            <a:off x="3180836" y="5788421"/>
            <a:ext cx="479504" cy="27432"/>
          </a:xfrm>
          <a:prstGeom prst="rect">
            <a:avLst/>
          </a:prstGeom>
          <a:solidFill>
            <a:srgbClr val="D9D9D9"/>
          </a:solidFill>
          <a:ln/>
        </p:spPr>
      </p:sp>
      <p:sp>
        <p:nvSpPr>
          <p:cNvPr id="94" name="Shape 92"/>
          <p:cNvSpPr/>
          <p:nvPr/>
        </p:nvSpPr>
        <p:spPr>
          <a:xfrm>
            <a:off x="3582616" y="5724413"/>
            <a:ext cx="155448" cy="155448"/>
          </a:xfrm>
          <a:prstGeom prst="ellipse">
            <a:avLst/>
          </a:prstGeom>
          <a:solidFill>
            <a:srgbClr val="0B2C4A"/>
          </a:solidFill>
          <a:ln/>
        </p:spPr>
      </p:sp>
      <p:sp>
        <p:nvSpPr>
          <p:cNvPr id="95" name="Shape 93"/>
          <p:cNvSpPr/>
          <p:nvPr/>
        </p:nvSpPr>
        <p:spPr>
          <a:xfrm>
            <a:off x="3103112" y="5724413"/>
            <a:ext cx="155448" cy="155448"/>
          </a:xfrm>
          <a:prstGeom prst="ellipse">
            <a:avLst/>
          </a:prstGeom>
          <a:solidFill>
            <a:srgbClr val="12A566"/>
          </a:solidFill>
          <a:ln/>
        </p:spPr>
      </p:sp>
      <p:sp>
        <p:nvSpPr>
          <p:cNvPr id="96" name="Text 94"/>
          <p:cNvSpPr txBox="1"/>
          <p:nvPr/>
        </p:nvSpPr>
        <p:spPr>
          <a:xfrm>
            <a:off x="4498848" y="5678962"/>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91%</a:t>
            </a:r>
            <a:pPr algn="r" indent="0" marL="0">
              <a:buNone/>
            </a:pPr>
            <a:r>
              <a:rPr lang="en-US" sz="1300" dirty="0">
                <a:solidFill>
                  <a:srgbClr val="0B2C4A"/>
                </a:solidFill>
                <a:latin typeface="Inter" pitchFamily="34" charset="0"/>
                <a:ea typeface="Inter" pitchFamily="34" charset="-122"/>
                <a:cs typeface="Inter" pitchFamily="34" charset="-120"/>
              </a:rPr>
              <a:t>  131%</a:t>
            </a:r>
            <a:endParaRPr lang="en-US" sz="1300" dirty="0"/>
          </a:p>
        </p:txBody>
      </p:sp>
      <p:sp>
        <p:nvSpPr>
          <p:cNvPr id="97" name="Text 95"/>
          <p:cNvSpPr txBox="1"/>
          <p:nvPr/>
        </p:nvSpPr>
        <p:spPr>
          <a:xfrm>
            <a:off x="6208776" y="173736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8" name="Shape 96"/>
          <p:cNvSpPr/>
          <p:nvPr/>
        </p:nvSpPr>
        <p:spPr>
          <a:xfrm>
            <a:off x="8730696" y="1846819"/>
            <a:ext cx="492337" cy="27432"/>
          </a:xfrm>
          <a:prstGeom prst="rect">
            <a:avLst/>
          </a:prstGeom>
          <a:solidFill>
            <a:srgbClr val="D9D9D9"/>
          </a:solidFill>
          <a:ln/>
        </p:spPr>
      </p:sp>
      <p:sp>
        <p:nvSpPr>
          <p:cNvPr id="99" name="Shape 97"/>
          <p:cNvSpPr/>
          <p:nvPr/>
        </p:nvSpPr>
        <p:spPr>
          <a:xfrm>
            <a:off x="9145308" y="1782811"/>
            <a:ext cx="155448" cy="155448"/>
          </a:xfrm>
          <a:prstGeom prst="ellipse">
            <a:avLst/>
          </a:prstGeom>
          <a:solidFill>
            <a:srgbClr val="0B2C4A"/>
          </a:solidFill>
          <a:ln/>
        </p:spPr>
      </p:sp>
      <p:sp>
        <p:nvSpPr>
          <p:cNvPr id="100" name="Shape 98"/>
          <p:cNvSpPr/>
          <p:nvPr/>
        </p:nvSpPr>
        <p:spPr>
          <a:xfrm>
            <a:off x="8652972" y="1782811"/>
            <a:ext cx="155448" cy="155448"/>
          </a:xfrm>
          <a:prstGeom prst="ellipse">
            <a:avLst/>
          </a:prstGeom>
          <a:solidFill>
            <a:srgbClr val="12A566"/>
          </a:solidFill>
          <a:ln/>
        </p:spPr>
      </p:sp>
      <p:sp>
        <p:nvSpPr>
          <p:cNvPr id="101" name="Text 99"/>
          <p:cNvSpPr txBox="1"/>
          <p:nvPr/>
        </p:nvSpPr>
        <p:spPr>
          <a:xfrm>
            <a:off x="10049256" y="173736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91%</a:t>
            </a:r>
            <a:pPr algn="r" indent="0" marL="0">
              <a:buNone/>
            </a:pPr>
            <a:r>
              <a:rPr lang="en-US" sz="1300" dirty="0">
                <a:solidFill>
                  <a:srgbClr val="0B2C4A"/>
                </a:solidFill>
                <a:latin typeface="Inter" pitchFamily="34" charset="0"/>
                <a:ea typeface="Inter" pitchFamily="34" charset="-122"/>
                <a:cs typeface="Inter" pitchFamily="34" charset="-120"/>
              </a:rPr>
              <a:t>  132%</a:t>
            </a:r>
            <a:endParaRPr lang="en-US" sz="1300" dirty="0"/>
          </a:p>
        </p:txBody>
      </p:sp>
      <p:sp>
        <p:nvSpPr>
          <p:cNvPr id="102" name="Text 100"/>
          <p:cNvSpPr txBox="1"/>
          <p:nvPr/>
        </p:nvSpPr>
        <p:spPr>
          <a:xfrm>
            <a:off x="6208776" y="198371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3" name="Shape 101"/>
          <p:cNvSpPr/>
          <p:nvPr/>
        </p:nvSpPr>
        <p:spPr>
          <a:xfrm>
            <a:off x="8729573" y="2093169"/>
            <a:ext cx="521449" cy="27432"/>
          </a:xfrm>
          <a:prstGeom prst="rect">
            <a:avLst/>
          </a:prstGeom>
          <a:solidFill>
            <a:srgbClr val="D9D9D9"/>
          </a:solidFill>
          <a:ln/>
        </p:spPr>
      </p:sp>
      <p:sp>
        <p:nvSpPr>
          <p:cNvPr id="104" name="Shape 102"/>
          <p:cNvSpPr/>
          <p:nvPr/>
        </p:nvSpPr>
        <p:spPr>
          <a:xfrm>
            <a:off x="9173299" y="2029161"/>
            <a:ext cx="155448" cy="155448"/>
          </a:xfrm>
          <a:prstGeom prst="ellipse">
            <a:avLst/>
          </a:prstGeom>
          <a:solidFill>
            <a:srgbClr val="0B2C4A"/>
          </a:solidFill>
          <a:ln/>
        </p:spPr>
      </p:sp>
      <p:sp>
        <p:nvSpPr>
          <p:cNvPr id="105" name="Shape 103"/>
          <p:cNvSpPr/>
          <p:nvPr/>
        </p:nvSpPr>
        <p:spPr>
          <a:xfrm>
            <a:off x="8651849" y="2029161"/>
            <a:ext cx="155448" cy="155448"/>
          </a:xfrm>
          <a:prstGeom prst="ellipse">
            <a:avLst/>
          </a:prstGeom>
          <a:solidFill>
            <a:srgbClr val="12A566"/>
          </a:solidFill>
          <a:ln/>
        </p:spPr>
      </p:sp>
      <p:sp>
        <p:nvSpPr>
          <p:cNvPr id="106" name="Text 104"/>
          <p:cNvSpPr txBox="1"/>
          <p:nvPr/>
        </p:nvSpPr>
        <p:spPr>
          <a:xfrm>
            <a:off x="10049256" y="198371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91%</a:t>
            </a:r>
            <a:pPr algn="r" indent="0" marL="0">
              <a:buNone/>
            </a:pPr>
            <a:r>
              <a:rPr lang="en-US" sz="1300" dirty="0">
                <a:solidFill>
                  <a:srgbClr val="0B2C4A"/>
                </a:solidFill>
                <a:latin typeface="Inter" pitchFamily="34" charset="0"/>
                <a:ea typeface="Inter" pitchFamily="34" charset="-122"/>
                <a:cs typeface="Inter" pitchFamily="34" charset="-120"/>
              </a:rPr>
              <a:t>  135%</a:t>
            </a:r>
            <a:endParaRPr lang="en-US" sz="1300" dirty="0"/>
          </a:p>
        </p:txBody>
      </p:sp>
      <p:sp>
        <p:nvSpPr>
          <p:cNvPr id="107" name="Text 105"/>
          <p:cNvSpPr txBox="1"/>
          <p:nvPr/>
        </p:nvSpPr>
        <p:spPr>
          <a:xfrm>
            <a:off x="6208776" y="223006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8" name="Shape 106"/>
          <p:cNvSpPr/>
          <p:nvPr/>
        </p:nvSpPr>
        <p:spPr>
          <a:xfrm>
            <a:off x="8689828" y="2339519"/>
            <a:ext cx="659446" cy="27432"/>
          </a:xfrm>
          <a:prstGeom prst="rect">
            <a:avLst/>
          </a:prstGeom>
          <a:solidFill>
            <a:srgbClr val="D9D9D9"/>
          </a:solidFill>
          <a:ln/>
        </p:spPr>
      </p:sp>
      <p:sp>
        <p:nvSpPr>
          <p:cNvPr id="109" name="Shape 107"/>
          <p:cNvSpPr/>
          <p:nvPr/>
        </p:nvSpPr>
        <p:spPr>
          <a:xfrm>
            <a:off x="9271550" y="2275511"/>
            <a:ext cx="155448" cy="155448"/>
          </a:xfrm>
          <a:prstGeom prst="ellipse">
            <a:avLst/>
          </a:prstGeom>
          <a:solidFill>
            <a:srgbClr val="0B2C4A"/>
          </a:solidFill>
          <a:ln/>
        </p:spPr>
      </p:sp>
      <p:sp>
        <p:nvSpPr>
          <p:cNvPr id="110" name="Shape 108"/>
          <p:cNvSpPr/>
          <p:nvPr/>
        </p:nvSpPr>
        <p:spPr>
          <a:xfrm>
            <a:off x="8612104" y="2275511"/>
            <a:ext cx="155448" cy="155448"/>
          </a:xfrm>
          <a:prstGeom prst="ellipse">
            <a:avLst/>
          </a:prstGeom>
          <a:solidFill>
            <a:srgbClr val="12A566"/>
          </a:solidFill>
          <a:ln/>
        </p:spPr>
      </p:sp>
      <p:sp>
        <p:nvSpPr>
          <p:cNvPr id="111" name="Text 109"/>
          <p:cNvSpPr txBox="1"/>
          <p:nvPr/>
        </p:nvSpPr>
        <p:spPr>
          <a:xfrm>
            <a:off x="10049256" y="2230060"/>
            <a:ext cx="1325880" cy="246350"/>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88%</a:t>
            </a:r>
            <a:pPr algn="r" indent="0" marL="0">
              <a:buNone/>
            </a:pPr>
            <a:r>
              <a:rPr lang="en-US" sz="1300" dirty="0">
                <a:solidFill>
                  <a:srgbClr val="0B2C4A"/>
                </a:solidFill>
                <a:latin typeface="Inter" pitchFamily="34" charset="0"/>
                <a:ea typeface="Inter" pitchFamily="34" charset="-122"/>
                <a:cs typeface="Inter" pitchFamily="34" charset="-120"/>
              </a:rPr>
              <a:t>  143%</a:t>
            </a:r>
            <a:endParaRPr lang="en-US" sz="1300" dirty="0"/>
          </a:p>
        </p:txBody>
      </p:sp>
      <p:sp>
        <p:nvSpPr>
          <p:cNvPr id="112" name="Text 110"/>
          <p:cNvSpPr txBox="1"/>
          <p:nvPr/>
        </p:nvSpPr>
        <p:spPr>
          <a:xfrm>
            <a:off x="6208776" y="247641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3" name="Shape 111"/>
          <p:cNvSpPr/>
          <p:nvPr/>
        </p:nvSpPr>
        <p:spPr>
          <a:xfrm>
            <a:off x="8640786" y="2585869"/>
            <a:ext cx="406163" cy="27432"/>
          </a:xfrm>
          <a:prstGeom prst="rect">
            <a:avLst/>
          </a:prstGeom>
          <a:solidFill>
            <a:srgbClr val="D9D9D9"/>
          </a:solidFill>
          <a:ln/>
        </p:spPr>
      </p:sp>
      <p:sp>
        <p:nvSpPr>
          <p:cNvPr id="114" name="Shape 112"/>
          <p:cNvSpPr/>
          <p:nvPr/>
        </p:nvSpPr>
        <p:spPr>
          <a:xfrm>
            <a:off x="8969225" y="2521861"/>
            <a:ext cx="155448" cy="155448"/>
          </a:xfrm>
          <a:prstGeom prst="ellipse">
            <a:avLst/>
          </a:prstGeom>
          <a:solidFill>
            <a:srgbClr val="0B2C4A"/>
          </a:solidFill>
          <a:ln/>
        </p:spPr>
      </p:sp>
      <p:sp>
        <p:nvSpPr>
          <p:cNvPr id="115" name="Shape 113"/>
          <p:cNvSpPr/>
          <p:nvPr/>
        </p:nvSpPr>
        <p:spPr>
          <a:xfrm>
            <a:off x="8563062" y="2521861"/>
            <a:ext cx="155448" cy="155448"/>
          </a:xfrm>
          <a:prstGeom prst="ellipse">
            <a:avLst/>
          </a:prstGeom>
          <a:solidFill>
            <a:srgbClr val="C2352F"/>
          </a:solidFill>
          <a:ln/>
        </p:spPr>
      </p:sp>
      <p:sp>
        <p:nvSpPr>
          <p:cNvPr id="116" name="Text 114"/>
          <p:cNvSpPr txBox="1"/>
          <p:nvPr/>
        </p:nvSpPr>
        <p:spPr>
          <a:xfrm>
            <a:off x="10049256" y="2476410"/>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84%</a:t>
            </a:r>
            <a:pPr algn="r" indent="0" marL="0">
              <a:buNone/>
            </a:pPr>
            <a:r>
              <a:rPr lang="en-US" sz="1300" dirty="0">
                <a:solidFill>
                  <a:srgbClr val="0B2C4A"/>
                </a:solidFill>
                <a:latin typeface="Inter" pitchFamily="34" charset="0"/>
                <a:ea typeface="Inter" pitchFamily="34" charset="-122"/>
                <a:cs typeface="Inter" pitchFamily="34" charset="-120"/>
              </a:rPr>
              <a:t>  118%</a:t>
            </a:r>
            <a:endParaRPr lang="en-US" sz="1300" dirty="0"/>
          </a:p>
        </p:txBody>
      </p:sp>
      <p:sp>
        <p:nvSpPr>
          <p:cNvPr id="117" name="Text 115"/>
          <p:cNvSpPr txBox="1"/>
          <p:nvPr/>
        </p:nvSpPr>
        <p:spPr>
          <a:xfrm>
            <a:off x="6208776" y="2722760"/>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18" name="Shape 116"/>
          <p:cNvSpPr/>
          <p:nvPr/>
        </p:nvSpPr>
        <p:spPr>
          <a:xfrm>
            <a:off x="8614372" y="2832220"/>
            <a:ext cx="174890" cy="27432"/>
          </a:xfrm>
          <a:prstGeom prst="rect">
            <a:avLst/>
          </a:prstGeom>
          <a:solidFill>
            <a:srgbClr val="D9D9D9"/>
          </a:solidFill>
          <a:ln/>
        </p:spPr>
      </p:sp>
      <p:sp>
        <p:nvSpPr>
          <p:cNvPr id="119" name="Shape 117"/>
          <p:cNvSpPr/>
          <p:nvPr/>
        </p:nvSpPr>
        <p:spPr>
          <a:xfrm>
            <a:off x="8711538" y="2768212"/>
            <a:ext cx="155448" cy="155448"/>
          </a:xfrm>
          <a:prstGeom prst="ellipse">
            <a:avLst/>
          </a:prstGeom>
          <a:solidFill>
            <a:srgbClr val="0B2C4A"/>
          </a:solidFill>
          <a:ln/>
        </p:spPr>
      </p:sp>
      <p:sp>
        <p:nvSpPr>
          <p:cNvPr id="120" name="Shape 118"/>
          <p:cNvSpPr/>
          <p:nvPr/>
        </p:nvSpPr>
        <p:spPr>
          <a:xfrm>
            <a:off x="8536648" y="2768212"/>
            <a:ext cx="155448" cy="155448"/>
          </a:xfrm>
          <a:prstGeom prst="ellipse">
            <a:avLst/>
          </a:prstGeom>
          <a:solidFill>
            <a:srgbClr val="C2352F"/>
          </a:solidFill>
          <a:ln/>
        </p:spPr>
      </p:sp>
      <p:sp>
        <p:nvSpPr>
          <p:cNvPr id="121" name="Text 119"/>
          <p:cNvSpPr txBox="1"/>
          <p:nvPr/>
        </p:nvSpPr>
        <p:spPr>
          <a:xfrm>
            <a:off x="10049256" y="2722760"/>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81%</a:t>
            </a:r>
            <a:pPr algn="r" indent="0" marL="0">
              <a:buNone/>
            </a:pPr>
            <a:r>
              <a:rPr lang="en-US" sz="1300" dirty="0">
                <a:solidFill>
                  <a:srgbClr val="0B2C4A"/>
                </a:solidFill>
                <a:latin typeface="Inter" pitchFamily="34" charset="0"/>
                <a:ea typeface="Inter" pitchFamily="34" charset="-122"/>
                <a:cs typeface="Inter" pitchFamily="34" charset="-120"/>
              </a:rPr>
              <a:t>  96%</a:t>
            </a:r>
            <a:endParaRPr lang="en-US" sz="1300" dirty="0"/>
          </a:p>
        </p:txBody>
      </p:sp>
      <p:sp>
        <p:nvSpPr>
          <p:cNvPr id="122" name="Text 120"/>
          <p:cNvSpPr txBox="1"/>
          <p:nvPr/>
        </p:nvSpPr>
        <p:spPr>
          <a:xfrm>
            <a:off x="6208776" y="29691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3" name="Shape 121"/>
          <p:cNvSpPr/>
          <p:nvPr/>
        </p:nvSpPr>
        <p:spPr>
          <a:xfrm>
            <a:off x="8583295" y="3078570"/>
            <a:ext cx="403087" cy="27432"/>
          </a:xfrm>
          <a:prstGeom prst="rect">
            <a:avLst/>
          </a:prstGeom>
          <a:solidFill>
            <a:srgbClr val="D9D9D9"/>
          </a:solidFill>
          <a:ln/>
        </p:spPr>
      </p:sp>
      <p:sp>
        <p:nvSpPr>
          <p:cNvPr id="124" name="Shape 122"/>
          <p:cNvSpPr/>
          <p:nvPr/>
        </p:nvSpPr>
        <p:spPr>
          <a:xfrm>
            <a:off x="8908658" y="3014562"/>
            <a:ext cx="155448" cy="155448"/>
          </a:xfrm>
          <a:prstGeom prst="ellipse">
            <a:avLst/>
          </a:prstGeom>
          <a:solidFill>
            <a:srgbClr val="0B2C4A"/>
          </a:solidFill>
          <a:ln/>
        </p:spPr>
      </p:sp>
      <p:sp>
        <p:nvSpPr>
          <p:cNvPr id="125" name="Shape 123"/>
          <p:cNvSpPr/>
          <p:nvPr/>
        </p:nvSpPr>
        <p:spPr>
          <a:xfrm>
            <a:off x="8505571" y="3014562"/>
            <a:ext cx="155448" cy="155448"/>
          </a:xfrm>
          <a:prstGeom prst="ellipse">
            <a:avLst/>
          </a:prstGeom>
          <a:solidFill>
            <a:srgbClr val="C2352F"/>
          </a:solidFill>
          <a:ln/>
        </p:spPr>
      </p:sp>
      <p:sp>
        <p:nvSpPr>
          <p:cNvPr id="126" name="Text 124"/>
          <p:cNvSpPr txBox="1"/>
          <p:nvPr/>
        </p:nvSpPr>
        <p:spPr>
          <a:xfrm>
            <a:off x="10049256" y="296911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79%</a:t>
            </a:r>
            <a:pPr algn="r" indent="0" marL="0">
              <a:buNone/>
            </a:pPr>
            <a:r>
              <a:rPr lang="en-US" sz="1300" dirty="0">
                <a:solidFill>
                  <a:srgbClr val="0B2C4A"/>
                </a:solidFill>
                <a:latin typeface="Inter" pitchFamily="34" charset="0"/>
                <a:ea typeface="Inter" pitchFamily="34" charset="-122"/>
                <a:cs typeface="Inter" pitchFamily="34" charset="-120"/>
              </a:rPr>
              <a:t>  113%</a:t>
            </a:r>
            <a:endParaRPr lang="en-US" sz="1300" dirty="0"/>
          </a:p>
        </p:txBody>
      </p:sp>
      <p:sp>
        <p:nvSpPr>
          <p:cNvPr id="127" name="Text 125"/>
          <p:cNvSpPr txBox="1"/>
          <p:nvPr/>
        </p:nvSpPr>
        <p:spPr>
          <a:xfrm>
            <a:off x="6208776" y="32154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28" name="Shape 126"/>
          <p:cNvSpPr/>
          <p:nvPr/>
        </p:nvSpPr>
        <p:spPr>
          <a:xfrm>
            <a:off x="8579993" y="3324920"/>
            <a:ext cx="626069" cy="27432"/>
          </a:xfrm>
          <a:prstGeom prst="rect">
            <a:avLst/>
          </a:prstGeom>
          <a:solidFill>
            <a:srgbClr val="D9D9D9"/>
          </a:solidFill>
          <a:ln/>
        </p:spPr>
      </p:sp>
      <p:sp>
        <p:nvSpPr>
          <p:cNvPr id="129" name="Shape 127"/>
          <p:cNvSpPr/>
          <p:nvPr/>
        </p:nvSpPr>
        <p:spPr>
          <a:xfrm>
            <a:off x="9128338" y="3260912"/>
            <a:ext cx="155448" cy="155448"/>
          </a:xfrm>
          <a:prstGeom prst="ellipse">
            <a:avLst/>
          </a:prstGeom>
          <a:solidFill>
            <a:srgbClr val="0B2C4A"/>
          </a:solidFill>
          <a:ln/>
        </p:spPr>
      </p:sp>
      <p:sp>
        <p:nvSpPr>
          <p:cNvPr id="130" name="Shape 128"/>
          <p:cNvSpPr/>
          <p:nvPr/>
        </p:nvSpPr>
        <p:spPr>
          <a:xfrm>
            <a:off x="8502269" y="3260912"/>
            <a:ext cx="155448" cy="155448"/>
          </a:xfrm>
          <a:prstGeom prst="ellipse">
            <a:avLst/>
          </a:prstGeom>
          <a:solidFill>
            <a:srgbClr val="C2352F"/>
          </a:solidFill>
          <a:ln/>
        </p:spPr>
      </p:sp>
      <p:sp>
        <p:nvSpPr>
          <p:cNvPr id="131" name="Text 129"/>
          <p:cNvSpPr txBox="1"/>
          <p:nvPr/>
        </p:nvSpPr>
        <p:spPr>
          <a:xfrm>
            <a:off x="10049256" y="321546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79%</a:t>
            </a:r>
            <a:pPr algn="r" indent="0" marL="0">
              <a:buNone/>
            </a:pPr>
            <a:r>
              <a:rPr lang="en-US" sz="1300" dirty="0">
                <a:solidFill>
                  <a:srgbClr val="0B2C4A"/>
                </a:solidFill>
                <a:latin typeface="Inter" pitchFamily="34" charset="0"/>
                <a:ea typeface="Inter" pitchFamily="34" charset="-122"/>
                <a:cs typeface="Inter" pitchFamily="34" charset="-120"/>
              </a:rPr>
              <a:t>  131%</a:t>
            </a:r>
            <a:endParaRPr lang="en-US" sz="1300" dirty="0"/>
          </a:p>
        </p:txBody>
      </p:sp>
      <p:sp>
        <p:nvSpPr>
          <p:cNvPr id="132" name="Text 130"/>
          <p:cNvSpPr txBox="1"/>
          <p:nvPr/>
        </p:nvSpPr>
        <p:spPr>
          <a:xfrm>
            <a:off x="6208776" y="34618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3" name="Shape 131"/>
          <p:cNvSpPr/>
          <p:nvPr/>
        </p:nvSpPr>
        <p:spPr>
          <a:xfrm>
            <a:off x="8559791" y="3571270"/>
            <a:ext cx="285552" cy="27432"/>
          </a:xfrm>
          <a:prstGeom prst="rect">
            <a:avLst/>
          </a:prstGeom>
          <a:solidFill>
            <a:srgbClr val="D9D9D9"/>
          </a:solidFill>
          <a:ln/>
        </p:spPr>
      </p:sp>
      <p:sp>
        <p:nvSpPr>
          <p:cNvPr id="134" name="Shape 132"/>
          <p:cNvSpPr/>
          <p:nvPr/>
        </p:nvSpPr>
        <p:spPr>
          <a:xfrm>
            <a:off x="8767619" y="3507262"/>
            <a:ext cx="155448" cy="155448"/>
          </a:xfrm>
          <a:prstGeom prst="ellipse">
            <a:avLst/>
          </a:prstGeom>
          <a:solidFill>
            <a:srgbClr val="0B2C4A"/>
          </a:solidFill>
          <a:ln/>
        </p:spPr>
      </p:sp>
      <p:sp>
        <p:nvSpPr>
          <p:cNvPr id="135" name="Shape 133"/>
          <p:cNvSpPr/>
          <p:nvPr/>
        </p:nvSpPr>
        <p:spPr>
          <a:xfrm>
            <a:off x="8482067" y="3507262"/>
            <a:ext cx="155448" cy="155448"/>
          </a:xfrm>
          <a:prstGeom prst="ellipse">
            <a:avLst/>
          </a:prstGeom>
          <a:solidFill>
            <a:srgbClr val="C2352F"/>
          </a:solidFill>
          <a:ln/>
        </p:spPr>
      </p:sp>
      <p:sp>
        <p:nvSpPr>
          <p:cNvPr id="136" name="Text 134"/>
          <p:cNvSpPr txBox="1"/>
          <p:nvPr/>
        </p:nvSpPr>
        <p:spPr>
          <a:xfrm>
            <a:off x="10049256" y="346181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a:t>
            </a:r>
            <a:pPr algn="r" indent="0" marL="0">
              <a:buNone/>
            </a:pPr>
            <a:r>
              <a:rPr lang="en-US" sz="1300" dirty="0">
                <a:solidFill>
                  <a:srgbClr val="0B2C4A"/>
                </a:solidFill>
                <a:latin typeface="Inter" pitchFamily="34" charset="0"/>
                <a:ea typeface="Inter" pitchFamily="34" charset="-122"/>
                <a:cs typeface="Inter" pitchFamily="34" charset="-120"/>
              </a:rPr>
              <a:t>  101%</a:t>
            </a:r>
            <a:endParaRPr lang="en-US" sz="1300" dirty="0"/>
          </a:p>
        </p:txBody>
      </p:sp>
      <p:sp>
        <p:nvSpPr>
          <p:cNvPr id="137" name="Text 135"/>
          <p:cNvSpPr txBox="1"/>
          <p:nvPr/>
        </p:nvSpPr>
        <p:spPr>
          <a:xfrm>
            <a:off x="6208776" y="37081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38" name="Shape 136"/>
          <p:cNvSpPr/>
          <p:nvPr/>
        </p:nvSpPr>
        <p:spPr>
          <a:xfrm>
            <a:off x="8520910" y="3817620"/>
            <a:ext cx="360320" cy="27432"/>
          </a:xfrm>
          <a:prstGeom prst="rect">
            <a:avLst/>
          </a:prstGeom>
          <a:solidFill>
            <a:srgbClr val="D9D9D9"/>
          </a:solidFill>
          <a:ln/>
        </p:spPr>
      </p:sp>
      <p:sp>
        <p:nvSpPr>
          <p:cNvPr id="139" name="Shape 137"/>
          <p:cNvSpPr/>
          <p:nvPr/>
        </p:nvSpPr>
        <p:spPr>
          <a:xfrm>
            <a:off x="8803506" y="3753612"/>
            <a:ext cx="155448" cy="155448"/>
          </a:xfrm>
          <a:prstGeom prst="ellipse">
            <a:avLst/>
          </a:prstGeom>
          <a:solidFill>
            <a:srgbClr val="0B2C4A"/>
          </a:solidFill>
          <a:ln/>
        </p:spPr>
      </p:sp>
      <p:sp>
        <p:nvSpPr>
          <p:cNvPr id="140" name="Shape 138"/>
          <p:cNvSpPr/>
          <p:nvPr/>
        </p:nvSpPr>
        <p:spPr>
          <a:xfrm>
            <a:off x="8443186" y="3753612"/>
            <a:ext cx="155448" cy="155448"/>
          </a:xfrm>
          <a:prstGeom prst="ellipse">
            <a:avLst/>
          </a:prstGeom>
          <a:solidFill>
            <a:srgbClr val="C2352F"/>
          </a:solidFill>
          <a:ln/>
        </p:spPr>
      </p:sp>
      <p:sp>
        <p:nvSpPr>
          <p:cNvPr id="141" name="Text 139"/>
          <p:cNvSpPr txBox="1"/>
          <p:nvPr/>
        </p:nvSpPr>
        <p:spPr>
          <a:xfrm>
            <a:off x="10049256" y="370816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74%</a:t>
            </a:r>
            <a:pPr algn="r" indent="0" marL="0">
              <a:buNone/>
            </a:pPr>
            <a:r>
              <a:rPr lang="en-US" sz="1300" dirty="0">
                <a:solidFill>
                  <a:srgbClr val="0B2C4A"/>
                </a:solidFill>
                <a:latin typeface="Inter" pitchFamily="34" charset="0"/>
                <a:ea typeface="Inter" pitchFamily="34" charset="-122"/>
                <a:cs typeface="Inter" pitchFamily="34" charset="-120"/>
              </a:rPr>
              <a:t>  104%</a:t>
            </a:r>
            <a:endParaRPr lang="en-US" sz="1300" dirty="0"/>
          </a:p>
        </p:txBody>
      </p:sp>
      <p:sp>
        <p:nvSpPr>
          <p:cNvPr id="142" name="Text 140"/>
          <p:cNvSpPr txBox="1"/>
          <p:nvPr/>
        </p:nvSpPr>
        <p:spPr>
          <a:xfrm>
            <a:off x="6208776" y="39545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43" name="Shape 141"/>
          <p:cNvSpPr/>
          <p:nvPr/>
        </p:nvSpPr>
        <p:spPr>
          <a:xfrm>
            <a:off x="8506383" y="4063970"/>
            <a:ext cx="198400" cy="27432"/>
          </a:xfrm>
          <a:prstGeom prst="rect">
            <a:avLst/>
          </a:prstGeom>
          <a:solidFill>
            <a:srgbClr val="D9D9D9"/>
          </a:solidFill>
          <a:ln/>
        </p:spPr>
      </p:sp>
      <p:sp>
        <p:nvSpPr>
          <p:cNvPr id="144" name="Shape 142"/>
          <p:cNvSpPr/>
          <p:nvPr/>
        </p:nvSpPr>
        <p:spPr>
          <a:xfrm>
            <a:off x="8627059" y="3999962"/>
            <a:ext cx="155448" cy="155448"/>
          </a:xfrm>
          <a:prstGeom prst="ellipse">
            <a:avLst/>
          </a:prstGeom>
          <a:solidFill>
            <a:srgbClr val="0B2C4A"/>
          </a:solidFill>
          <a:ln/>
        </p:spPr>
      </p:sp>
      <p:sp>
        <p:nvSpPr>
          <p:cNvPr id="145" name="Shape 143"/>
          <p:cNvSpPr/>
          <p:nvPr/>
        </p:nvSpPr>
        <p:spPr>
          <a:xfrm>
            <a:off x="8428659" y="3999962"/>
            <a:ext cx="155448" cy="155448"/>
          </a:xfrm>
          <a:prstGeom prst="ellipse">
            <a:avLst/>
          </a:prstGeom>
          <a:solidFill>
            <a:srgbClr val="C2352F"/>
          </a:solidFill>
          <a:ln/>
        </p:spPr>
      </p:sp>
      <p:sp>
        <p:nvSpPr>
          <p:cNvPr id="146" name="Text 144"/>
          <p:cNvSpPr txBox="1"/>
          <p:nvPr/>
        </p:nvSpPr>
        <p:spPr>
          <a:xfrm>
            <a:off x="10049256" y="395451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72%</a:t>
            </a:r>
            <a:pPr algn="r" indent="0" marL="0">
              <a:buNone/>
            </a:pPr>
            <a:r>
              <a:rPr lang="en-US" sz="1300" dirty="0">
                <a:solidFill>
                  <a:srgbClr val="0B2C4A"/>
                </a:solidFill>
                <a:latin typeface="Inter" pitchFamily="34" charset="0"/>
                <a:ea typeface="Inter" pitchFamily="34" charset="-122"/>
                <a:cs typeface="Inter" pitchFamily="34" charset="-120"/>
              </a:rPr>
              <a:t>  89%</a:t>
            </a:r>
            <a:endParaRPr lang="en-US" sz="1300" dirty="0"/>
          </a:p>
        </p:txBody>
      </p:sp>
      <p:sp>
        <p:nvSpPr>
          <p:cNvPr id="147" name="Text 145"/>
          <p:cNvSpPr txBox="1"/>
          <p:nvPr/>
        </p:nvSpPr>
        <p:spPr>
          <a:xfrm>
            <a:off x="6208776" y="42008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48" name="Shape 146"/>
          <p:cNvSpPr/>
          <p:nvPr/>
        </p:nvSpPr>
        <p:spPr>
          <a:xfrm>
            <a:off x="8492153" y="4310320"/>
            <a:ext cx="689844" cy="27432"/>
          </a:xfrm>
          <a:prstGeom prst="rect">
            <a:avLst/>
          </a:prstGeom>
          <a:solidFill>
            <a:srgbClr val="D9D9D9"/>
          </a:solidFill>
          <a:ln/>
        </p:spPr>
      </p:sp>
      <p:sp>
        <p:nvSpPr>
          <p:cNvPr id="149" name="Shape 147"/>
          <p:cNvSpPr/>
          <p:nvPr/>
        </p:nvSpPr>
        <p:spPr>
          <a:xfrm>
            <a:off x="9104273" y="4246312"/>
            <a:ext cx="155448" cy="155448"/>
          </a:xfrm>
          <a:prstGeom prst="ellipse">
            <a:avLst/>
          </a:prstGeom>
          <a:solidFill>
            <a:srgbClr val="0B2C4A"/>
          </a:solidFill>
          <a:ln/>
        </p:spPr>
      </p:sp>
      <p:sp>
        <p:nvSpPr>
          <p:cNvPr id="150" name="Shape 148"/>
          <p:cNvSpPr/>
          <p:nvPr/>
        </p:nvSpPr>
        <p:spPr>
          <a:xfrm>
            <a:off x="8414429" y="4246312"/>
            <a:ext cx="155448" cy="155448"/>
          </a:xfrm>
          <a:prstGeom prst="ellipse">
            <a:avLst/>
          </a:prstGeom>
          <a:solidFill>
            <a:srgbClr val="C2352F"/>
          </a:solidFill>
          <a:ln/>
        </p:spPr>
      </p:sp>
      <p:sp>
        <p:nvSpPr>
          <p:cNvPr id="151" name="Text 149"/>
          <p:cNvSpPr txBox="1"/>
          <p:nvPr/>
        </p:nvSpPr>
        <p:spPr>
          <a:xfrm>
            <a:off x="10049256" y="420086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71%</a:t>
            </a:r>
            <a:pPr algn="r" indent="0" marL="0">
              <a:buNone/>
            </a:pPr>
            <a:r>
              <a:rPr lang="en-US" sz="1300" dirty="0">
                <a:solidFill>
                  <a:srgbClr val="0B2C4A"/>
                </a:solidFill>
                <a:latin typeface="Inter" pitchFamily="34" charset="0"/>
                <a:ea typeface="Inter" pitchFamily="34" charset="-122"/>
                <a:cs typeface="Inter" pitchFamily="34" charset="-120"/>
              </a:rPr>
              <a:t>  129%</a:t>
            </a:r>
            <a:endParaRPr lang="en-US" sz="1300" dirty="0"/>
          </a:p>
        </p:txBody>
      </p:sp>
      <p:sp>
        <p:nvSpPr>
          <p:cNvPr id="152" name="Text 150"/>
          <p:cNvSpPr txBox="1"/>
          <p:nvPr/>
        </p:nvSpPr>
        <p:spPr>
          <a:xfrm>
            <a:off x="6208776" y="444721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53" name="Shape 151"/>
          <p:cNvSpPr/>
          <p:nvPr/>
        </p:nvSpPr>
        <p:spPr>
          <a:xfrm>
            <a:off x="8478173" y="4556670"/>
            <a:ext cx="73001" cy="27432"/>
          </a:xfrm>
          <a:prstGeom prst="rect">
            <a:avLst/>
          </a:prstGeom>
          <a:solidFill>
            <a:srgbClr val="D9D9D9"/>
          </a:solidFill>
          <a:ln/>
        </p:spPr>
      </p:sp>
      <p:sp>
        <p:nvSpPr>
          <p:cNvPr id="154" name="Shape 152"/>
          <p:cNvSpPr/>
          <p:nvPr/>
        </p:nvSpPr>
        <p:spPr>
          <a:xfrm>
            <a:off x="8473450" y="4492662"/>
            <a:ext cx="155448" cy="155448"/>
          </a:xfrm>
          <a:prstGeom prst="ellipse">
            <a:avLst/>
          </a:prstGeom>
          <a:solidFill>
            <a:srgbClr val="0B2C4A"/>
          </a:solidFill>
          <a:ln/>
        </p:spPr>
      </p:sp>
      <p:sp>
        <p:nvSpPr>
          <p:cNvPr id="155" name="Shape 153"/>
          <p:cNvSpPr/>
          <p:nvPr/>
        </p:nvSpPr>
        <p:spPr>
          <a:xfrm>
            <a:off x="8400449" y="4492662"/>
            <a:ext cx="155448" cy="155448"/>
          </a:xfrm>
          <a:prstGeom prst="ellipse">
            <a:avLst/>
          </a:prstGeom>
          <a:solidFill>
            <a:srgbClr val="C2352F"/>
          </a:solidFill>
          <a:ln/>
        </p:spPr>
      </p:sp>
      <p:sp>
        <p:nvSpPr>
          <p:cNvPr id="156" name="Text 154"/>
          <p:cNvSpPr txBox="1"/>
          <p:nvPr/>
        </p:nvSpPr>
        <p:spPr>
          <a:xfrm>
            <a:off x="10049256" y="444721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70%</a:t>
            </a:r>
            <a:pPr algn="r" indent="0" marL="0">
              <a:buNone/>
            </a:pPr>
            <a:r>
              <a:rPr lang="en-US" sz="1300" dirty="0">
                <a:solidFill>
                  <a:srgbClr val="0B2C4A"/>
                </a:solidFill>
                <a:latin typeface="Inter" pitchFamily="34" charset="0"/>
                <a:ea typeface="Inter" pitchFamily="34" charset="-122"/>
                <a:cs typeface="Inter" pitchFamily="34" charset="-120"/>
              </a:rPr>
              <a:t>  76%</a:t>
            </a:r>
            <a:endParaRPr lang="en-US" sz="1300" dirty="0"/>
          </a:p>
        </p:txBody>
      </p:sp>
      <p:sp>
        <p:nvSpPr>
          <p:cNvPr id="157" name="Text 155"/>
          <p:cNvSpPr txBox="1"/>
          <p:nvPr/>
        </p:nvSpPr>
        <p:spPr>
          <a:xfrm>
            <a:off x="6208776" y="4693561"/>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58" name="Shape 156"/>
          <p:cNvSpPr/>
          <p:nvPr/>
        </p:nvSpPr>
        <p:spPr>
          <a:xfrm>
            <a:off x="8466129" y="4803020"/>
            <a:ext cx="635814" cy="27432"/>
          </a:xfrm>
          <a:prstGeom prst="rect">
            <a:avLst/>
          </a:prstGeom>
          <a:solidFill>
            <a:srgbClr val="D9D9D9"/>
          </a:solidFill>
          <a:ln/>
        </p:spPr>
      </p:sp>
      <p:sp>
        <p:nvSpPr>
          <p:cNvPr id="159" name="Shape 157"/>
          <p:cNvSpPr/>
          <p:nvPr/>
        </p:nvSpPr>
        <p:spPr>
          <a:xfrm>
            <a:off x="9024219" y="4739012"/>
            <a:ext cx="155448" cy="155448"/>
          </a:xfrm>
          <a:prstGeom prst="ellipse">
            <a:avLst/>
          </a:prstGeom>
          <a:solidFill>
            <a:srgbClr val="0B2C4A"/>
          </a:solidFill>
          <a:ln/>
        </p:spPr>
      </p:sp>
      <p:sp>
        <p:nvSpPr>
          <p:cNvPr id="160" name="Shape 158"/>
          <p:cNvSpPr/>
          <p:nvPr/>
        </p:nvSpPr>
        <p:spPr>
          <a:xfrm>
            <a:off x="8388405" y="4739012"/>
            <a:ext cx="155448" cy="155448"/>
          </a:xfrm>
          <a:prstGeom prst="ellipse">
            <a:avLst/>
          </a:prstGeom>
          <a:solidFill>
            <a:srgbClr val="C2352F"/>
          </a:solidFill>
          <a:ln/>
        </p:spPr>
      </p:sp>
      <p:sp>
        <p:nvSpPr>
          <p:cNvPr id="161" name="Text 159"/>
          <p:cNvSpPr txBox="1"/>
          <p:nvPr/>
        </p:nvSpPr>
        <p:spPr>
          <a:xfrm>
            <a:off x="10049256" y="4693561"/>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69%</a:t>
            </a:r>
            <a:pPr algn="r" indent="0" marL="0">
              <a:buNone/>
            </a:pPr>
            <a:r>
              <a:rPr lang="en-US" sz="1300" dirty="0">
                <a:solidFill>
                  <a:srgbClr val="0B2C4A"/>
                </a:solidFill>
                <a:latin typeface="Inter" pitchFamily="34" charset="0"/>
                <a:ea typeface="Inter" pitchFamily="34" charset="-122"/>
                <a:cs typeface="Inter" pitchFamily="34" charset="-120"/>
              </a:rPr>
              <a:t>  122%</a:t>
            </a:r>
            <a:endParaRPr lang="en-US" sz="1300" dirty="0"/>
          </a:p>
        </p:txBody>
      </p:sp>
      <p:sp>
        <p:nvSpPr>
          <p:cNvPr id="162" name="Text 160"/>
          <p:cNvSpPr txBox="1"/>
          <p:nvPr/>
        </p:nvSpPr>
        <p:spPr>
          <a:xfrm>
            <a:off x="6208776" y="493991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63" name="Shape 161"/>
          <p:cNvSpPr/>
          <p:nvPr/>
        </p:nvSpPr>
        <p:spPr>
          <a:xfrm>
            <a:off x="8458867" y="5049371"/>
            <a:ext cx="335577" cy="27432"/>
          </a:xfrm>
          <a:prstGeom prst="rect">
            <a:avLst/>
          </a:prstGeom>
          <a:solidFill>
            <a:srgbClr val="D9D9D9"/>
          </a:solidFill>
          <a:ln/>
        </p:spPr>
      </p:sp>
      <p:sp>
        <p:nvSpPr>
          <p:cNvPr id="164" name="Shape 162"/>
          <p:cNvSpPr/>
          <p:nvPr/>
        </p:nvSpPr>
        <p:spPr>
          <a:xfrm>
            <a:off x="8716721" y="4985363"/>
            <a:ext cx="155448" cy="155448"/>
          </a:xfrm>
          <a:prstGeom prst="ellipse">
            <a:avLst/>
          </a:prstGeom>
          <a:solidFill>
            <a:srgbClr val="0B2C4A"/>
          </a:solidFill>
          <a:ln/>
        </p:spPr>
      </p:sp>
      <p:sp>
        <p:nvSpPr>
          <p:cNvPr id="165" name="Shape 163"/>
          <p:cNvSpPr/>
          <p:nvPr/>
        </p:nvSpPr>
        <p:spPr>
          <a:xfrm>
            <a:off x="8381143" y="4985363"/>
            <a:ext cx="155448" cy="155448"/>
          </a:xfrm>
          <a:prstGeom prst="ellipse">
            <a:avLst/>
          </a:prstGeom>
          <a:solidFill>
            <a:srgbClr val="C2352F"/>
          </a:solidFill>
          <a:ln/>
        </p:spPr>
      </p:sp>
      <p:sp>
        <p:nvSpPr>
          <p:cNvPr id="166" name="Text 164"/>
          <p:cNvSpPr txBox="1"/>
          <p:nvPr/>
        </p:nvSpPr>
        <p:spPr>
          <a:xfrm>
            <a:off x="10049256" y="4939912"/>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68%</a:t>
            </a:r>
            <a:pPr algn="r" indent="0" marL="0">
              <a:buNone/>
            </a:pPr>
            <a:r>
              <a:rPr lang="en-US" sz="1300" dirty="0">
                <a:solidFill>
                  <a:srgbClr val="0B2C4A"/>
                </a:solidFill>
                <a:latin typeface="Inter" pitchFamily="34" charset="0"/>
                <a:ea typeface="Inter" pitchFamily="34" charset="-122"/>
                <a:cs typeface="Inter" pitchFamily="34" charset="-120"/>
              </a:rPr>
              <a:t>  96%</a:t>
            </a:r>
            <a:endParaRPr lang="en-US" sz="1300" dirty="0"/>
          </a:p>
        </p:txBody>
      </p:sp>
      <p:sp>
        <p:nvSpPr>
          <p:cNvPr id="167" name="Text 165"/>
          <p:cNvSpPr txBox="1"/>
          <p:nvPr/>
        </p:nvSpPr>
        <p:spPr>
          <a:xfrm>
            <a:off x="6208776" y="518626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68" name="Shape 166"/>
          <p:cNvSpPr/>
          <p:nvPr/>
        </p:nvSpPr>
        <p:spPr>
          <a:xfrm>
            <a:off x="8448076" y="5295721"/>
            <a:ext cx="363217" cy="27432"/>
          </a:xfrm>
          <a:prstGeom prst="rect">
            <a:avLst/>
          </a:prstGeom>
          <a:solidFill>
            <a:srgbClr val="D9D9D9"/>
          </a:solidFill>
          <a:ln/>
        </p:spPr>
      </p:sp>
      <p:sp>
        <p:nvSpPr>
          <p:cNvPr id="169" name="Shape 167"/>
          <p:cNvSpPr/>
          <p:nvPr/>
        </p:nvSpPr>
        <p:spPr>
          <a:xfrm>
            <a:off x="8733569" y="5231713"/>
            <a:ext cx="155448" cy="155448"/>
          </a:xfrm>
          <a:prstGeom prst="ellipse">
            <a:avLst/>
          </a:prstGeom>
          <a:solidFill>
            <a:srgbClr val="0B2C4A"/>
          </a:solidFill>
          <a:ln/>
        </p:spPr>
      </p:sp>
      <p:sp>
        <p:nvSpPr>
          <p:cNvPr id="170" name="Shape 168"/>
          <p:cNvSpPr/>
          <p:nvPr/>
        </p:nvSpPr>
        <p:spPr>
          <a:xfrm>
            <a:off x="8370352" y="5231713"/>
            <a:ext cx="155448" cy="155448"/>
          </a:xfrm>
          <a:prstGeom prst="ellipse">
            <a:avLst/>
          </a:prstGeom>
          <a:solidFill>
            <a:srgbClr val="C2352F"/>
          </a:solidFill>
          <a:ln/>
        </p:spPr>
      </p:sp>
      <p:sp>
        <p:nvSpPr>
          <p:cNvPr id="171" name="Text 169"/>
          <p:cNvSpPr txBox="1"/>
          <p:nvPr/>
        </p:nvSpPr>
        <p:spPr>
          <a:xfrm>
            <a:off x="10049256" y="5186262"/>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68%</a:t>
            </a:r>
            <a:pPr algn="r" indent="0" marL="0">
              <a:buNone/>
            </a:pPr>
            <a:r>
              <a:rPr lang="en-US" sz="1300" dirty="0">
                <a:solidFill>
                  <a:srgbClr val="0B2C4A"/>
                </a:solidFill>
                <a:latin typeface="Inter" pitchFamily="34" charset="0"/>
                <a:ea typeface="Inter" pitchFamily="34" charset="-122"/>
                <a:cs typeface="Inter" pitchFamily="34" charset="-120"/>
              </a:rPr>
              <a:t>  98%</a:t>
            </a:r>
            <a:endParaRPr lang="en-US" sz="1300" dirty="0"/>
          </a:p>
        </p:txBody>
      </p:sp>
      <p:sp>
        <p:nvSpPr>
          <p:cNvPr id="172" name="Text 170"/>
          <p:cNvSpPr txBox="1"/>
          <p:nvPr/>
        </p:nvSpPr>
        <p:spPr>
          <a:xfrm>
            <a:off x="6208776" y="5432612"/>
            <a:ext cx="1938528" cy="24635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73" name="Shape 171"/>
          <p:cNvSpPr/>
          <p:nvPr/>
        </p:nvSpPr>
        <p:spPr>
          <a:xfrm>
            <a:off x="8447091" y="5542071"/>
            <a:ext cx="75203" cy="27432"/>
          </a:xfrm>
          <a:prstGeom prst="rect">
            <a:avLst/>
          </a:prstGeom>
          <a:solidFill>
            <a:srgbClr val="D9D9D9"/>
          </a:solidFill>
          <a:ln/>
        </p:spPr>
      </p:sp>
      <p:sp>
        <p:nvSpPr>
          <p:cNvPr id="174" name="Shape 172"/>
          <p:cNvSpPr/>
          <p:nvPr/>
        </p:nvSpPr>
        <p:spPr>
          <a:xfrm>
            <a:off x="8444570" y="5478063"/>
            <a:ext cx="155448" cy="155448"/>
          </a:xfrm>
          <a:prstGeom prst="ellipse">
            <a:avLst/>
          </a:prstGeom>
          <a:solidFill>
            <a:srgbClr val="0B2C4A"/>
          </a:solidFill>
          <a:ln/>
        </p:spPr>
      </p:sp>
      <p:sp>
        <p:nvSpPr>
          <p:cNvPr id="175" name="Shape 173"/>
          <p:cNvSpPr/>
          <p:nvPr/>
        </p:nvSpPr>
        <p:spPr>
          <a:xfrm>
            <a:off x="8369367" y="5478063"/>
            <a:ext cx="155448" cy="155448"/>
          </a:xfrm>
          <a:prstGeom prst="ellipse">
            <a:avLst/>
          </a:prstGeom>
          <a:solidFill>
            <a:srgbClr val="C2352F"/>
          </a:solidFill>
          <a:ln/>
        </p:spPr>
      </p:sp>
      <p:sp>
        <p:nvSpPr>
          <p:cNvPr id="176" name="Text 174"/>
          <p:cNvSpPr txBox="1"/>
          <p:nvPr/>
        </p:nvSpPr>
        <p:spPr>
          <a:xfrm>
            <a:off x="10049256" y="5432612"/>
            <a:ext cx="1325880" cy="246350"/>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67%</a:t>
            </a:r>
            <a:pPr algn="r" indent="0" marL="0">
              <a:buNone/>
            </a:pPr>
            <a:r>
              <a:rPr lang="en-US" sz="1300" dirty="0">
                <a:solidFill>
                  <a:srgbClr val="0B2C4A"/>
                </a:solidFill>
                <a:latin typeface="Inter" pitchFamily="34" charset="0"/>
                <a:ea typeface="Inter" pitchFamily="34" charset="-122"/>
                <a:cs typeface="Inter" pitchFamily="34" charset="-120"/>
              </a:rPr>
              <a:t>  74%</a:t>
            </a:r>
            <a:endParaRPr lang="en-US" sz="1300" dirty="0"/>
          </a:p>
        </p:txBody>
      </p:sp>
      <p:sp>
        <p:nvSpPr>
          <p:cNvPr id="177" name="Shape 175"/>
          <p:cNvSpPr/>
          <p:nvPr/>
        </p:nvSpPr>
        <p:spPr>
          <a:xfrm>
            <a:off x="457200" y="6126480"/>
            <a:ext cx="11274552" cy="615696"/>
          </a:xfrm>
          <a:prstGeom prst="rect">
            <a:avLst/>
          </a:prstGeom>
          <a:solidFill>
            <a:srgbClr val="EDF4FA"/>
          </a:solidFill>
          <a:ln/>
        </p:spPr>
      </p:sp>
      <p:sp>
        <p:nvSpPr>
          <p:cNvPr id="178" name="Text 17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At 11 of the 13 stores under 85%, the top quarter of techs already run above 85%. Same bays, same dispatch, same car count.</a:t>
            </a:r>
            <a:endParaRPr lang="en-US" sz="1600" dirty="0"/>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ALTERNATE VERSION</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Gross per Month</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$10.10M → $10.96M, +8.4%: that is the season. 21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$155K → $209K</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+34.6%</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$85K → $112K</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$218K → $279K</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+27.8%</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$54K → $66K</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+23.3%</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$49K → $60K</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+22.0%</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$202K → $246K</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+22.0%</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$311K → $375K</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+20.5%</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RENO</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$148K → $177K</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+19.1%</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$100K → $119K</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+18.9%</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$294K → $345K</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+17.3%</a:t>
            </a:r>
            <a:endParaRPr lang="en-US" sz="1600" dirty="0"/>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ALTERNATE VERSION</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ROs per Month</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29,846 → 32,085, +7.5%: that is the season. 17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425 → 570</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+34.0%</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543 → 667</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+22.8%</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LV</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350 → 415</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+18.7%</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578 → 669</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397 → 459</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+15.5%</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545 → 617</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+13.1%</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1,561 → 1,759</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+12.7%</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330 → 370</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+11.9%</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1,788 → 1,992</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+11.4%</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582 → 641</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+10.1%</a:t>
            </a:r>
            <a:endParaRPr lang="en-US" sz="1600" dirty="0"/>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ALTERNATE VERSION</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Hours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1.87 → 1.84, −1.9%: that is the season. 22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1.35 → 1.65</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+22.2%</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1.56 → 1.76</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+13.2%</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1.37 → 1.54</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+12.2%</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1.23 → 1.38</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+11.8%</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1.65 → 1.79</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+8.6%</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1.29 → 1.40</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+8.3%</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1.33 → 1.40</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+5.2%</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2.19 → 2.30</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2.60 → 2.73</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RENO</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3.25 → 3.41</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+4.6%</a:t>
            </a:r>
            <a:endParaRPr lang="en-US" sz="1600" dirty="0"/>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ALTERNATE VERSION</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$161.81 → $163.67, +1.1%: that is the season. 15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$128.27 → $141.89</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$227.34 → $244.12</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+7.4%</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$139.40 → $147.93</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+6.1%</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LV</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$142.56 → $150.72</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+5.7%</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$139.09 → $146.04</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+5.0%</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NISSAN</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$172.35 → $180.14</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$140.89 → $146.92</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+4.3%</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VOLVO</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$216.72 → $225.50</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$155.72 → $161.80</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CADILLAC</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$169.51 → $175.47</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a:t>
            </a:r>
            <a:endParaRPr lang="en-US" sz="1600" dirty="0"/>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ALTERNATE VERSION</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Parts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$230 → $242, +5.2%: that is the season. 19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$224 → $298</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+32.9%</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RENO</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$692 → $877</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+26.7%</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$229 → $282</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$200 → $234</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+16.9%</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$204 → $234</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+15.0%</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$136 → $156</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+14.6%</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$257 → $292</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+13.8%</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$728 → $811</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+11.4%</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$897 → $988</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+10.2%</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$235 → $258</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+9.8%</a:t>
            </a:r>
            <a:endParaRPr lang="en-US" sz="1600" dirty="0"/>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ALTERNATE VERSION</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Parts GP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40.6% → 40.6%, 0.0 pts: that is the season. 18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382219"/>
          </a:xfrm>
          <a:prstGeom prst="rect">
            <a:avLst/>
          </a:prstGeom>
          <a:solidFill>
            <a:srgbClr val="F7F7F7"/>
          </a:solidFill>
          <a:ln/>
        </p:spPr>
      </p:sp>
      <p:sp>
        <p:nvSpPr>
          <p:cNvPr id="12" name="Text 10"/>
          <p:cNvSpPr txBox="1"/>
          <p:nvPr/>
        </p:nvSpPr>
        <p:spPr>
          <a:xfrm>
            <a:off x="749808" y="1993392"/>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14" name="Text 12"/>
          <p:cNvSpPr txBox="1"/>
          <p:nvPr/>
        </p:nvSpPr>
        <p:spPr>
          <a:xfrm>
            <a:off x="3657600" y="1993392"/>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39.4% → 46.6%</a:t>
            </a:r>
            <a:endParaRPr lang="en-US" sz="1400" dirty="0"/>
          </a:p>
        </p:txBody>
      </p:sp>
      <p:graphicFrame>
        <p:nvGraphicFramePr>
          <p:cNvPr id="15" name="Chart 0" descr=""/>
          <p:cNvGraphicFramePr/>
          <p:nvPr/>
        </p:nvGraphicFramePr>
        <p:xfrm>
          <a:off x="5276088" y="2011680"/>
          <a:ext cx="2697480" cy="345643"/>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17" name="Text 14"/>
          <p:cNvSpPr txBox="1"/>
          <p:nvPr/>
        </p:nvSpPr>
        <p:spPr>
          <a:xfrm>
            <a:off x="10195560" y="1993392"/>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+7.2 pts</a:t>
            </a:r>
            <a:endParaRPr lang="en-US" sz="1600" dirty="0"/>
          </a:p>
        </p:txBody>
      </p:sp>
      <p:sp>
        <p:nvSpPr>
          <p:cNvPr id="18" name="Text 15"/>
          <p:cNvSpPr txBox="1"/>
          <p:nvPr/>
        </p:nvSpPr>
        <p:spPr>
          <a:xfrm>
            <a:off x="749808" y="2375611"/>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375611"/>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20" name="Text 17"/>
          <p:cNvSpPr txBox="1"/>
          <p:nvPr/>
        </p:nvSpPr>
        <p:spPr>
          <a:xfrm>
            <a:off x="3657600" y="2375611"/>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39.1% → 43.8%</a:t>
            </a:r>
            <a:endParaRPr lang="en-US" sz="1400" dirty="0"/>
          </a:p>
        </p:txBody>
      </p:sp>
      <p:graphicFrame>
        <p:nvGraphicFramePr>
          <p:cNvPr id="21" name="Chart 1" descr=""/>
          <p:cNvGraphicFramePr/>
          <p:nvPr/>
        </p:nvGraphicFramePr>
        <p:xfrm>
          <a:off x="5276088" y="2393899"/>
          <a:ext cx="2697480" cy="345643"/>
        </p:xfrm>
        <a:graphic>
          <a:graphicData uri="http://schemas.openxmlformats.org/drawingml/2006/chart">
            <c:chart xmlns:c="http://schemas.openxmlformats.org/drawingml/2006/chart" r:id="rId3"/>
          </a:graphicData>
        </a:graphic>
      </p:graphicFrame>
      <p:sp>
        <p:nvSpPr>
          <p:cNvPr id="22" name="Text 18"/>
          <p:cNvSpPr txBox="1"/>
          <p:nvPr/>
        </p:nvSpPr>
        <p:spPr>
          <a:xfrm>
            <a:off x="8183880" y="2375611"/>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23" name="Text 19"/>
          <p:cNvSpPr txBox="1"/>
          <p:nvPr/>
        </p:nvSpPr>
        <p:spPr>
          <a:xfrm>
            <a:off x="10195560" y="2375611"/>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+4.7 pts</a:t>
            </a:r>
            <a:endParaRPr lang="en-US" sz="1600" dirty="0"/>
          </a:p>
        </p:txBody>
      </p:sp>
      <p:sp>
        <p:nvSpPr>
          <p:cNvPr id="24" name="Shape 20"/>
          <p:cNvSpPr/>
          <p:nvPr/>
        </p:nvSpPr>
        <p:spPr>
          <a:xfrm>
            <a:off x="621792" y="2757830"/>
            <a:ext cx="10945368" cy="382219"/>
          </a:xfrm>
          <a:prstGeom prst="rect">
            <a:avLst/>
          </a:prstGeom>
          <a:solidFill>
            <a:srgbClr val="F7F7F7"/>
          </a:solidFill>
          <a:ln/>
        </p:spPr>
      </p:sp>
      <p:sp>
        <p:nvSpPr>
          <p:cNvPr id="25" name="Text 21"/>
          <p:cNvSpPr txBox="1"/>
          <p:nvPr/>
        </p:nvSpPr>
        <p:spPr>
          <a:xfrm>
            <a:off x="749808" y="275783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275783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27" name="Text 23"/>
          <p:cNvSpPr txBox="1"/>
          <p:nvPr/>
        </p:nvSpPr>
        <p:spPr>
          <a:xfrm>
            <a:off x="3657600" y="275783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35.3% → 39.2%</a:t>
            </a:r>
            <a:endParaRPr lang="en-US" sz="1400" dirty="0"/>
          </a:p>
        </p:txBody>
      </p:sp>
      <p:graphicFrame>
        <p:nvGraphicFramePr>
          <p:cNvPr id="28" name="Chart 2" descr=""/>
          <p:cNvGraphicFramePr/>
          <p:nvPr/>
        </p:nvGraphicFramePr>
        <p:xfrm>
          <a:off x="5276088" y="2776118"/>
          <a:ext cx="2697480" cy="345643"/>
        </p:xfrm>
        <a:graphic>
          <a:graphicData uri="http://schemas.openxmlformats.org/drawingml/2006/chart">
            <c:chart xmlns:c="http://schemas.openxmlformats.org/drawingml/2006/chart" r:id="rId4"/>
          </a:graphicData>
        </a:graphic>
      </p:graphicFrame>
      <p:sp>
        <p:nvSpPr>
          <p:cNvPr id="29" name="Text 24"/>
          <p:cNvSpPr txBox="1"/>
          <p:nvPr/>
        </p:nvSpPr>
        <p:spPr>
          <a:xfrm>
            <a:off x="8183880" y="275783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30" name="Text 25"/>
          <p:cNvSpPr txBox="1"/>
          <p:nvPr/>
        </p:nvSpPr>
        <p:spPr>
          <a:xfrm>
            <a:off x="10195560" y="275783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31" name="Text 26"/>
          <p:cNvSpPr txBox="1"/>
          <p:nvPr/>
        </p:nvSpPr>
        <p:spPr>
          <a:xfrm>
            <a:off x="749808" y="3140050"/>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3140050"/>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33" name="Text 28"/>
          <p:cNvSpPr txBox="1"/>
          <p:nvPr/>
        </p:nvSpPr>
        <p:spPr>
          <a:xfrm>
            <a:off x="3657600" y="3140050"/>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41.1% → 44.0%</a:t>
            </a:r>
            <a:endParaRPr lang="en-US" sz="1400" dirty="0"/>
          </a:p>
        </p:txBody>
      </p:sp>
      <p:graphicFrame>
        <p:nvGraphicFramePr>
          <p:cNvPr id="34" name="Chart 3" descr=""/>
          <p:cNvGraphicFramePr/>
          <p:nvPr/>
        </p:nvGraphicFramePr>
        <p:xfrm>
          <a:off x="5276088" y="3158338"/>
          <a:ext cx="2697480" cy="345643"/>
        </p:xfrm>
        <a:graphic>
          <a:graphicData uri="http://schemas.openxmlformats.org/drawingml/2006/chart">
            <c:chart xmlns:c="http://schemas.openxmlformats.org/drawingml/2006/chart" r:id="rId5"/>
          </a:graphicData>
        </a:graphic>
      </p:graphicFrame>
      <p:sp>
        <p:nvSpPr>
          <p:cNvPr id="35" name="Text 29"/>
          <p:cNvSpPr txBox="1"/>
          <p:nvPr/>
        </p:nvSpPr>
        <p:spPr>
          <a:xfrm>
            <a:off x="8183880" y="3140050"/>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36" name="Text 30"/>
          <p:cNvSpPr txBox="1"/>
          <p:nvPr/>
        </p:nvSpPr>
        <p:spPr>
          <a:xfrm>
            <a:off x="10195560" y="3140050"/>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 pts</a:t>
            </a:r>
            <a:endParaRPr lang="en-US" sz="1600" dirty="0"/>
          </a:p>
        </p:txBody>
      </p:sp>
      <p:sp>
        <p:nvSpPr>
          <p:cNvPr id="37" name="Shape 31"/>
          <p:cNvSpPr/>
          <p:nvPr/>
        </p:nvSpPr>
        <p:spPr>
          <a:xfrm>
            <a:off x="621792" y="3522269"/>
            <a:ext cx="10945368" cy="382219"/>
          </a:xfrm>
          <a:prstGeom prst="rect">
            <a:avLst/>
          </a:prstGeom>
          <a:solidFill>
            <a:srgbClr val="F7F7F7"/>
          </a:solidFill>
          <a:ln/>
        </p:spPr>
      </p:sp>
      <p:sp>
        <p:nvSpPr>
          <p:cNvPr id="38" name="Text 32"/>
          <p:cNvSpPr txBox="1"/>
          <p:nvPr/>
        </p:nvSpPr>
        <p:spPr>
          <a:xfrm>
            <a:off x="749808" y="3522269"/>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3522269"/>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p:txBody>
      </p:sp>
      <p:sp>
        <p:nvSpPr>
          <p:cNvPr id="40" name="Text 34"/>
          <p:cNvSpPr txBox="1"/>
          <p:nvPr/>
        </p:nvSpPr>
        <p:spPr>
          <a:xfrm>
            <a:off x="3657600" y="3522269"/>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39.4% → 41.7%</a:t>
            </a:r>
            <a:endParaRPr lang="en-US" sz="1400" dirty="0"/>
          </a:p>
        </p:txBody>
      </p:sp>
      <p:graphicFrame>
        <p:nvGraphicFramePr>
          <p:cNvPr id="41" name="Chart 4" descr=""/>
          <p:cNvGraphicFramePr/>
          <p:nvPr/>
        </p:nvGraphicFramePr>
        <p:xfrm>
          <a:off x="5276088" y="3540557"/>
          <a:ext cx="2697480" cy="345643"/>
        </p:xfrm>
        <a:graphic>
          <a:graphicData uri="http://schemas.openxmlformats.org/drawingml/2006/chart">
            <c:chart xmlns:c="http://schemas.openxmlformats.org/drawingml/2006/chart" r:id="rId6"/>
          </a:graphicData>
        </a:graphic>
      </p:graphicFrame>
      <p:sp>
        <p:nvSpPr>
          <p:cNvPr id="42" name="Text 35"/>
          <p:cNvSpPr txBox="1"/>
          <p:nvPr/>
        </p:nvSpPr>
        <p:spPr>
          <a:xfrm>
            <a:off x="8183880" y="3522269"/>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43" name="Text 36"/>
          <p:cNvSpPr txBox="1"/>
          <p:nvPr/>
        </p:nvSpPr>
        <p:spPr>
          <a:xfrm>
            <a:off x="10195560" y="3522269"/>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 pts</a:t>
            </a:r>
            <a:endParaRPr lang="en-US" sz="1600" dirty="0"/>
          </a:p>
        </p:txBody>
      </p:sp>
      <p:sp>
        <p:nvSpPr>
          <p:cNvPr id="44" name="Text 37"/>
          <p:cNvSpPr txBox="1"/>
          <p:nvPr/>
        </p:nvSpPr>
        <p:spPr>
          <a:xfrm>
            <a:off x="749808" y="3904488"/>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6</a:t>
            </a:r>
            <a:endParaRPr lang="en-US" sz="1500" dirty="0"/>
          </a:p>
        </p:txBody>
      </p:sp>
      <p:sp>
        <p:nvSpPr>
          <p:cNvPr id="45" name="Text 38"/>
          <p:cNvSpPr txBox="1"/>
          <p:nvPr/>
        </p:nvSpPr>
        <p:spPr>
          <a:xfrm>
            <a:off x="1097280" y="3904488"/>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46" name="Text 39"/>
          <p:cNvSpPr txBox="1"/>
          <p:nvPr/>
        </p:nvSpPr>
        <p:spPr>
          <a:xfrm>
            <a:off x="3657600" y="3904488"/>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40.1% → 42.4%</a:t>
            </a:r>
            <a:endParaRPr lang="en-US" sz="1400" dirty="0"/>
          </a:p>
        </p:txBody>
      </p:sp>
      <p:graphicFrame>
        <p:nvGraphicFramePr>
          <p:cNvPr id="47" name="Chart 5" descr=""/>
          <p:cNvGraphicFramePr/>
          <p:nvPr/>
        </p:nvGraphicFramePr>
        <p:xfrm>
          <a:off x="5276088" y="3922776"/>
          <a:ext cx="2697480" cy="345643"/>
        </p:xfrm>
        <a:graphic>
          <a:graphicData uri="http://schemas.openxmlformats.org/drawingml/2006/chart">
            <c:chart xmlns:c="http://schemas.openxmlformats.org/drawingml/2006/chart" r:id="rId7"/>
          </a:graphicData>
        </a:graphic>
      </p:graphicFrame>
      <p:sp>
        <p:nvSpPr>
          <p:cNvPr id="48" name="Text 40"/>
          <p:cNvSpPr txBox="1"/>
          <p:nvPr/>
        </p:nvSpPr>
        <p:spPr>
          <a:xfrm>
            <a:off x="8183880" y="3904488"/>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9" name="Text 41"/>
          <p:cNvSpPr txBox="1"/>
          <p:nvPr/>
        </p:nvSpPr>
        <p:spPr>
          <a:xfrm>
            <a:off x="10195560" y="3904488"/>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 pts</a:t>
            </a:r>
            <a:endParaRPr lang="en-US" sz="1600" dirty="0"/>
          </a:p>
        </p:txBody>
      </p:sp>
      <p:sp>
        <p:nvSpPr>
          <p:cNvPr id="50" name="Shape 42"/>
          <p:cNvSpPr/>
          <p:nvPr/>
        </p:nvSpPr>
        <p:spPr>
          <a:xfrm>
            <a:off x="621792" y="4286707"/>
            <a:ext cx="10945368" cy="382219"/>
          </a:xfrm>
          <a:prstGeom prst="rect">
            <a:avLst/>
          </a:prstGeom>
          <a:solidFill>
            <a:srgbClr val="F7F7F7"/>
          </a:solidFill>
          <a:ln/>
        </p:spPr>
      </p:sp>
      <p:sp>
        <p:nvSpPr>
          <p:cNvPr id="51" name="Text 43"/>
          <p:cNvSpPr txBox="1"/>
          <p:nvPr/>
        </p:nvSpPr>
        <p:spPr>
          <a:xfrm>
            <a:off x="749808" y="4286707"/>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7</a:t>
            </a:r>
            <a:endParaRPr lang="en-US" sz="1500" dirty="0"/>
          </a:p>
        </p:txBody>
      </p:sp>
      <p:sp>
        <p:nvSpPr>
          <p:cNvPr id="52" name="Text 44"/>
          <p:cNvSpPr txBox="1"/>
          <p:nvPr/>
        </p:nvSpPr>
        <p:spPr>
          <a:xfrm>
            <a:off x="1097280" y="4286707"/>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53" name="Text 45"/>
          <p:cNvSpPr txBox="1"/>
          <p:nvPr/>
        </p:nvSpPr>
        <p:spPr>
          <a:xfrm>
            <a:off x="3657600" y="4286707"/>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34.4% → 36.3%</a:t>
            </a:r>
            <a:endParaRPr lang="en-US" sz="1400" dirty="0"/>
          </a:p>
        </p:txBody>
      </p:sp>
      <p:graphicFrame>
        <p:nvGraphicFramePr>
          <p:cNvPr id="54" name="Chart 6" descr=""/>
          <p:cNvGraphicFramePr/>
          <p:nvPr/>
        </p:nvGraphicFramePr>
        <p:xfrm>
          <a:off x="5276088" y="4304995"/>
          <a:ext cx="2697480" cy="345643"/>
        </p:xfrm>
        <a:graphic>
          <a:graphicData uri="http://schemas.openxmlformats.org/drawingml/2006/chart">
            <c:chart xmlns:c="http://schemas.openxmlformats.org/drawingml/2006/chart" r:id="rId8"/>
          </a:graphicData>
        </a:graphic>
      </p:graphicFrame>
      <p:sp>
        <p:nvSpPr>
          <p:cNvPr id="55" name="Text 46"/>
          <p:cNvSpPr txBox="1"/>
          <p:nvPr/>
        </p:nvSpPr>
        <p:spPr>
          <a:xfrm>
            <a:off x="8183880" y="4286707"/>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56" name="Text 47"/>
          <p:cNvSpPr txBox="1"/>
          <p:nvPr/>
        </p:nvSpPr>
        <p:spPr>
          <a:xfrm>
            <a:off x="10195560" y="4286707"/>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+1.9 pts</a:t>
            </a:r>
            <a:endParaRPr lang="en-US" sz="1600" dirty="0"/>
          </a:p>
        </p:txBody>
      </p:sp>
      <p:sp>
        <p:nvSpPr>
          <p:cNvPr id="57" name="Text 48"/>
          <p:cNvSpPr txBox="1"/>
          <p:nvPr/>
        </p:nvSpPr>
        <p:spPr>
          <a:xfrm>
            <a:off x="749808" y="466892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8</a:t>
            </a:r>
            <a:endParaRPr lang="en-US" sz="1500" dirty="0"/>
          </a:p>
        </p:txBody>
      </p:sp>
      <p:sp>
        <p:nvSpPr>
          <p:cNvPr id="58" name="Text 49"/>
          <p:cNvSpPr txBox="1"/>
          <p:nvPr/>
        </p:nvSpPr>
        <p:spPr>
          <a:xfrm>
            <a:off x="1097280" y="466892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p:txBody>
      </p:sp>
      <p:sp>
        <p:nvSpPr>
          <p:cNvPr id="59" name="Text 50"/>
          <p:cNvSpPr txBox="1"/>
          <p:nvPr/>
        </p:nvSpPr>
        <p:spPr>
          <a:xfrm>
            <a:off x="3657600" y="466892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40.9% → 42.2%</a:t>
            </a:r>
            <a:endParaRPr lang="en-US" sz="1400" dirty="0"/>
          </a:p>
        </p:txBody>
      </p:sp>
      <p:graphicFrame>
        <p:nvGraphicFramePr>
          <p:cNvPr id="60" name="Chart 7" descr=""/>
          <p:cNvGraphicFramePr/>
          <p:nvPr/>
        </p:nvGraphicFramePr>
        <p:xfrm>
          <a:off x="5276088" y="4687214"/>
          <a:ext cx="2697480" cy="345643"/>
        </p:xfrm>
        <a:graphic>
          <a:graphicData uri="http://schemas.openxmlformats.org/drawingml/2006/chart">
            <c:chart xmlns:c="http://schemas.openxmlformats.org/drawingml/2006/chart" r:id="rId9"/>
          </a:graphicData>
        </a:graphic>
      </p:graphicFrame>
      <p:sp>
        <p:nvSpPr>
          <p:cNvPr id="61" name="Text 51"/>
          <p:cNvSpPr txBox="1"/>
          <p:nvPr/>
        </p:nvSpPr>
        <p:spPr>
          <a:xfrm>
            <a:off x="8183880" y="466892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62" name="Text 52"/>
          <p:cNvSpPr txBox="1"/>
          <p:nvPr/>
        </p:nvSpPr>
        <p:spPr>
          <a:xfrm>
            <a:off x="10195560" y="466892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 pts</a:t>
            </a:r>
            <a:endParaRPr lang="en-US" sz="1600" dirty="0"/>
          </a:p>
        </p:txBody>
      </p:sp>
      <p:sp>
        <p:nvSpPr>
          <p:cNvPr id="63" name="Shape 53"/>
          <p:cNvSpPr/>
          <p:nvPr/>
        </p:nvSpPr>
        <p:spPr>
          <a:xfrm>
            <a:off x="621792" y="5051146"/>
            <a:ext cx="10945368" cy="382219"/>
          </a:xfrm>
          <a:prstGeom prst="rect">
            <a:avLst/>
          </a:prstGeom>
          <a:solidFill>
            <a:srgbClr val="F7F7F7"/>
          </a:solidFill>
          <a:ln/>
        </p:spPr>
      </p:sp>
      <p:sp>
        <p:nvSpPr>
          <p:cNvPr id="64" name="Text 54"/>
          <p:cNvSpPr txBox="1"/>
          <p:nvPr/>
        </p:nvSpPr>
        <p:spPr>
          <a:xfrm>
            <a:off x="749808" y="5051146"/>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9</a:t>
            </a:r>
            <a:endParaRPr lang="en-US" sz="1500" dirty="0"/>
          </a:p>
        </p:txBody>
      </p:sp>
      <p:sp>
        <p:nvSpPr>
          <p:cNvPr id="65" name="Text 55"/>
          <p:cNvSpPr txBox="1"/>
          <p:nvPr/>
        </p:nvSpPr>
        <p:spPr>
          <a:xfrm>
            <a:off x="1097280" y="5051146"/>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RENO</a:t>
            </a:r>
            <a:endParaRPr lang="en-US" sz="1400" dirty="0"/>
          </a:p>
        </p:txBody>
      </p:sp>
      <p:sp>
        <p:nvSpPr>
          <p:cNvPr id="66" name="Text 56"/>
          <p:cNvSpPr txBox="1"/>
          <p:nvPr/>
        </p:nvSpPr>
        <p:spPr>
          <a:xfrm>
            <a:off x="3657600" y="5051146"/>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44.4% → 45.7%</a:t>
            </a:r>
            <a:endParaRPr lang="en-US" sz="1400" dirty="0"/>
          </a:p>
        </p:txBody>
      </p:sp>
      <p:graphicFrame>
        <p:nvGraphicFramePr>
          <p:cNvPr id="67" name="Chart 8" descr=""/>
          <p:cNvGraphicFramePr/>
          <p:nvPr/>
        </p:nvGraphicFramePr>
        <p:xfrm>
          <a:off x="5276088" y="5069434"/>
          <a:ext cx="2697480" cy="345643"/>
        </p:xfrm>
        <a:graphic>
          <a:graphicData uri="http://schemas.openxmlformats.org/drawingml/2006/chart">
            <c:chart xmlns:c="http://schemas.openxmlformats.org/drawingml/2006/chart" r:id="rId10"/>
          </a:graphicData>
        </a:graphic>
      </p:graphicFrame>
      <p:sp>
        <p:nvSpPr>
          <p:cNvPr id="68" name="Text 57"/>
          <p:cNvSpPr txBox="1"/>
          <p:nvPr/>
        </p:nvSpPr>
        <p:spPr>
          <a:xfrm>
            <a:off x="8183880" y="5051146"/>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69" name="Text 58"/>
          <p:cNvSpPr txBox="1"/>
          <p:nvPr/>
        </p:nvSpPr>
        <p:spPr>
          <a:xfrm>
            <a:off x="10195560" y="5051146"/>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 pts</a:t>
            </a:r>
            <a:endParaRPr lang="en-US" sz="1600" dirty="0"/>
          </a:p>
        </p:txBody>
      </p:sp>
      <p:sp>
        <p:nvSpPr>
          <p:cNvPr id="70" name="Text 59"/>
          <p:cNvSpPr txBox="1"/>
          <p:nvPr/>
        </p:nvSpPr>
        <p:spPr>
          <a:xfrm>
            <a:off x="749808" y="5433365"/>
            <a:ext cx="310896" cy="382219"/>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10</a:t>
            </a:r>
            <a:endParaRPr lang="en-US" sz="1500" dirty="0"/>
          </a:p>
        </p:txBody>
      </p:sp>
      <p:sp>
        <p:nvSpPr>
          <p:cNvPr id="71" name="Text 60"/>
          <p:cNvSpPr txBox="1"/>
          <p:nvPr/>
        </p:nvSpPr>
        <p:spPr>
          <a:xfrm>
            <a:off x="1097280" y="5433365"/>
            <a:ext cx="2468880" cy="382219"/>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p:txBody>
      </p:sp>
      <p:sp>
        <p:nvSpPr>
          <p:cNvPr id="72" name="Text 61"/>
          <p:cNvSpPr txBox="1"/>
          <p:nvPr/>
        </p:nvSpPr>
        <p:spPr>
          <a:xfrm>
            <a:off x="3657600" y="5433365"/>
            <a:ext cx="1645920" cy="382219"/>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36.8% → 37.9%</a:t>
            </a:r>
            <a:endParaRPr lang="en-US" sz="1400" dirty="0"/>
          </a:p>
        </p:txBody>
      </p:sp>
      <p:graphicFrame>
        <p:nvGraphicFramePr>
          <p:cNvPr id="73" name="Chart 9" descr=""/>
          <p:cNvGraphicFramePr/>
          <p:nvPr/>
        </p:nvGraphicFramePr>
        <p:xfrm>
          <a:off x="5276088" y="5451653"/>
          <a:ext cx="2697480" cy="345643"/>
        </p:xfrm>
        <a:graphic>
          <a:graphicData uri="http://schemas.openxmlformats.org/drawingml/2006/chart">
            <c:chart xmlns:c="http://schemas.openxmlformats.org/drawingml/2006/chart" r:id="rId11"/>
          </a:graphicData>
        </a:graphic>
      </p:graphicFrame>
      <p:sp>
        <p:nvSpPr>
          <p:cNvPr id="74" name="Text 62"/>
          <p:cNvSpPr txBox="1"/>
          <p:nvPr/>
        </p:nvSpPr>
        <p:spPr>
          <a:xfrm>
            <a:off x="8183880" y="5433365"/>
            <a:ext cx="1737360" cy="382219"/>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75" name="Text 63"/>
          <p:cNvSpPr txBox="1"/>
          <p:nvPr/>
        </p:nvSpPr>
        <p:spPr>
          <a:xfrm>
            <a:off x="10195560" y="5433365"/>
            <a:ext cx="1371600" cy="382219"/>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 pts</a:t>
            </a:r>
            <a:endParaRPr lang="en-US" sz="1600" dirty="0"/>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LINE CHART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ROs per Month</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29,846 → 32,085, +7.5%: that is the season. 17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731520"/>
          </a:xfrm>
          <a:prstGeom prst="rect">
            <a:avLst/>
          </a:prstGeom>
          <a:solidFill>
            <a:srgbClr val="F7F7F7"/>
          </a:solidFill>
          <a:ln/>
        </p:spPr>
      </p:sp>
      <p:sp>
        <p:nvSpPr>
          <p:cNvPr id="12" name="Text 10"/>
          <p:cNvSpPr txBox="1"/>
          <p:nvPr/>
        </p:nvSpPr>
        <p:spPr>
          <a:xfrm>
            <a:off x="749808" y="199339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14" name="Text 12"/>
          <p:cNvSpPr txBox="1"/>
          <p:nvPr/>
        </p:nvSpPr>
        <p:spPr>
          <a:xfrm>
            <a:off x="3657600" y="199339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425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570</a:t>
            </a:r>
            <a:endParaRPr lang="en-US" sz="1400" dirty="0"/>
          </a:p>
        </p:txBody>
      </p:sp>
      <p:graphicFrame>
        <p:nvGraphicFramePr>
          <p:cNvPr id="15" name="Chart 0" descr=""/>
          <p:cNvGraphicFramePr/>
          <p:nvPr/>
        </p:nvGraphicFramePr>
        <p:xfrm>
          <a:off x="5276088" y="2011680"/>
          <a:ext cx="2697480" cy="694944"/>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17" name="Text 14"/>
          <p:cNvSpPr txBox="1"/>
          <p:nvPr/>
        </p:nvSpPr>
        <p:spPr>
          <a:xfrm>
            <a:off x="10195560" y="199339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+34.0%</a:t>
            </a:r>
            <a:endParaRPr lang="en-US" sz="1600" dirty="0"/>
          </a:p>
        </p:txBody>
      </p:sp>
      <p:sp>
        <p:nvSpPr>
          <p:cNvPr id="18" name="Text 15"/>
          <p:cNvSpPr txBox="1"/>
          <p:nvPr/>
        </p:nvSpPr>
        <p:spPr>
          <a:xfrm>
            <a:off x="749808" y="272491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72491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20" name="Text 17"/>
          <p:cNvSpPr txBox="1"/>
          <p:nvPr/>
        </p:nvSpPr>
        <p:spPr>
          <a:xfrm>
            <a:off x="3657600" y="272491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543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667</a:t>
            </a:r>
            <a:endParaRPr lang="en-US" sz="1400" dirty="0"/>
          </a:p>
        </p:txBody>
      </p:sp>
      <p:graphicFrame>
        <p:nvGraphicFramePr>
          <p:cNvPr id="21" name="Chart 1" descr=""/>
          <p:cNvGraphicFramePr/>
          <p:nvPr/>
        </p:nvGraphicFramePr>
        <p:xfrm>
          <a:off x="5276088" y="2743200"/>
          <a:ext cx="2697480" cy="694944"/>
        </p:xfrm>
        <a:graphic>
          <a:graphicData uri="http://schemas.openxmlformats.org/drawingml/2006/chart">
            <c:chart xmlns:c="http://schemas.openxmlformats.org/drawingml/2006/chart" r:id="rId3"/>
          </a:graphicData>
        </a:graphic>
      </p:graphicFrame>
      <p:sp>
        <p:nvSpPr>
          <p:cNvPr id="22" name="Text 18"/>
          <p:cNvSpPr txBox="1"/>
          <p:nvPr/>
        </p:nvSpPr>
        <p:spPr>
          <a:xfrm>
            <a:off x="8183880" y="272491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23" name="Text 19"/>
          <p:cNvSpPr txBox="1"/>
          <p:nvPr/>
        </p:nvSpPr>
        <p:spPr>
          <a:xfrm>
            <a:off x="10195560" y="272491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+22.8%</a:t>
            </a:r>
            <a:endParaRPr lang="en-US" sz="1600" dirty="0"/>
          </a:p>
        </p:txBody>
      </p:sp>
      <p:sp>
        <p:nvSpPr>
          <p:cNvPr id="24" name="Shape 20"/>
          <p:cNvSpPr/>
          <p:nvPr/>
        </p:nvSpPr>
        <p:spPr>
          <a:xfrm>
            <a:off x="621792" y="3456432"/>
            <a:ext cx="10945368" cy="731520"/>
          </a:xfrm>
          <a:prstGeom prst="rect">
            <a:avLst/>
          </a:prstGeom>
          <a:solidFill>
            <a:srgbClr val="F7F7F7"/>
          </a:solidFill>
          <a:ln/>
        </p:spPr>
      </p:sp>
      <p:sp>
        <p:nvSpPr>
          <p:cNvPr id="25" name="Text 21"/>
          <p:cNvSpPr txBox="1"/>
          <p:nvPr/>
        </p:nvSpPr>
        <p:spPr>
          <a:xfrm>
            <a:off x="749808" y="345643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345643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LV</a:t>
            </a:r>
            <a:endParaRPr lang="en-US" sz="1400" dirty="0"/>
          </a:p>
        </p:txBody>
      </p:sp>
      <p:sp>
        <p:nvSpPr>
          <p:cNvPr id="27" name="Text 23"/>
          <p:cNvSpPr txBox="1"/>
          <p:nvPr/>
        </p:nvSpPr>
        <p:spPr>
          <a:xfrm>
            <a:off x="3657600" y="345643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350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415</a:t>
            </a:r>
            <a:endParaRPr lang="en-US" sz="1400" dirty="0"/>
          </a:p>
        </p:txBody>
      </p:sp>
      <p:graphicFrame>
        <p:nvGraphicFramePr>
          <p:cNvPr id="28" name="Chart 2" descr=""/>
          <p:cNvGraphicFramePr/>
          <p:nvPr/>
        </p:nvGraphicFramePr>
        <p:xfrm>
          <a:off x="5276088" y="3474720"/>
          <a:ext cx="2697480" cy="694944"/>
        </p:xfrm>
        <a:graphic>
          <a:graphicData uri="http://schemas.openxmlformats.org/drawingml/2006/chart">
            <c:chart xmlns:c="http://schemas.openxmlformats.org/drawingml/2006/chart" r:id="rId4"/>
          </a:graphicData>
        </a:graphic>
      </p:graphicFrame>
      <p:sp>
        <p:nvSpPr>
          <p:cNvPr id="29" name="Text 24"/>
          <p:cNvSpPr txBox="1"/>
          <p:nvPr/>
        </p:nvSpPr>
        <p:spPr>
          <a:xfrm>
            <a:off x="8183880" y="345643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0" name="Text 25"/>
          <p:cNvSpPr txBox="1"/>
          <p:nvPr/>
        </p:nvSpPr>
        <p:spPr>
          <a:xfrm>
            <a:off x="10195560" y="345643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+18.6%</a:t>
            </a:r>
            <a:endParaRPr lang="en-US" sz="1600" dirty="0"/>
          </a:p>
        </p:txBody>
      </p:sp>
      <p:sp>
        <p:nvSpPr>
          <p:cNvPr id="31" name="Text 26"/>
          <p:cNvSpPr txBox="1"/>
          <p:nvPr/>
        </p:nvSpPr>
        <p:spPr>
          <a:xfrm>
            <a:off x="749808" y="418795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418795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33" name="Text 28"/>
          <p:cNvSpPr txBox="1"/>
          <p:nvPr/>
        </p:nvSpPr>
        <p:spPr>
          <a:xfrm>
            <a:off x="3657600" y="418795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578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669</a:t>
            </a:r>
            <a:endParaRPr lang="en-US" sz="1400" dirty="0"/>
          </a:p>
        </p:txBody>
      </p:sp>
      <p:graphicFrame>
        <p:nvGraphicFramePr>
          <p:cNvPr id="34" name="Chart 3" descr=""/>
          <p:cNvGraphicFramePr/>
          <p:nvPr/>
        </p:nvGraphicFramePr>
        <p:xfrm>
          <a:off x="5276088" y="4206240"/>
          <a:ext cx="2697480" cy="694944"/>
        </p:xfrm>
        <a:graphic>
          <a:graphicData uri="http://schemas.openxmlformats.org/drawingml/2006/chart">
            <c:chart xmlns:c="http://schemas.openxmlformats.org/drawingml/2006/chart" r:id="rId5"/>
          </a:graphicData>
        </a:graphic>
      </p:graphicFrame>
      <p:sp>
        <p:nvSpPr>
          <p:cNvPr id="35" name="Text 29"/>
          <p:cNvSpPr txBox="1"/>
          <p:nvPr/>
        </p:nvSpPr>
        <p:spPr>
          <a:xfrm>
            <a:off x="8183880" y="418795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6" name="Text 30"/>
          <p:cNvSpPr txBox="1"/>
          <p:nvPr/>
        </p:nvSpPr>
        <p:spPr>
          <a:xfrm>
            <a:off x="10195560" y="418795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37" name="Shape 31"/>
          <p:cNvSpPr/>
          <p:nvPr/>
        </p:nvSpPr>
        <p:spPr>
          <a:xfrm>
            <a:off x="621792" y="4919472"/>
            <a:ext cx="10945368" cy="731520"/>
          </a:xfrm>
          <a:prstGeom prst="rect">
            <a:avLst/>
          </a:prstGeom>
          <a:solidFill>
            <a:srgbClr val="F7F7F7"/>
          </a:solidFill>
          <a:ln/>
        </p:spPr>
      </p:sp>
      <p:sp>
        <p:nvSpPr>
          <p:cNvPr id="38" name="Text 32"/>
          <p:cNvSpPr txBox="1"/>
          <p:nvPr/>
        </p:nvSpPr>
        <p:spPr>
          <a:xfrm>
            <a:off x="749808" y="491947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491947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40" name="Text 34"/>
          <p:cNvSpPr txBox="1"/>
          <p:nvPr/>
        </p:nvSpPr>
        <p:spPr>
          <a:xfrm>
            <a:off x="3657600" y="491947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397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459</a:t>
            </a:r>
            <a:endParaRPr lang="en-US" sz="1400" dirty="0"/>
          </a:p>
        </p:txBody>
      </p:sp>
      <p:graphicFrame>
        <p:nvGraphicFramePr>
          <p:cNvPr id="41" name="Chart 4" descr=""/>
          <p:cNvGraphicFramePr/>
          <p:nvPr/>
        </p:nvGraphicFramePr>
        <p:xfrm>
          <a:off x="5276088" y="4937760"/>
          <a:ext cx="2697480" cy="694944"/>
        </p:xfrm>
        <a:graphic>
          <a:graphicData uri="http://schemas.openxmlformats.org/drawingml/2006/chart">
            <c:chart xmlns:c="http://schemas.openxmlformats.org/drawingml/2006/chart" r:id="rId6"/>
          </a:graphicData>
        </a:graphic>
      </p:graphicFrame>
      <p:sp>
        <p:nvSpPr>
          <p:cNvPr id="42" name="Text 35"/>
          <p:cNvSpPr txBox="1"/>
          <p:nvPr/>
        </p:nvSpPr>
        <p:spPr>
          <a:xfrm>
            <a:off x="8183880" y="491947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3" name="Text 36"/>
          <p:cNvSpPr txBox="1"/>
          <p:nvPr/>
        </p:nvSpPr>
        <p:spPr>
          <a:xfrm>
            <a:off x="10195560" y="491947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+15.5%</a:t>
            </a:r>
            <a:endParaRPr lang="en-US" sz="1600" dirty="0"/>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LINE CHART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Hours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1.87 → 1.84, −1.8%: that is the season. 22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731520"/>
          </a:xfrm>
          <a:prstGeom prst="rect">
            <a:avLst/>
          </a:prstGeom>
          <a:solidFill>
            <a:srgbClr val="F7F7F7"/>
          </a:solidFill>
          <a:ln/>
        </p:spPr>
      </p:sp>
      <p:sp>
        <p:nvSpPr>
          <p:cNvPr id="12" name="Text 10"/>
          <p:cNvSpPr txBox="1"/>
          <p:nvPr/>
        </p:nvSpPr>
        <p:spPr>
          <a:xfrm>
            <a:off x="749808" y="199339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4" name="Text 12"/>
          <p:cNvSpPr txBox="1"/>
          <p:nvPr/>
        </p:nvSpPr>
        <p:spPr>
          <a:xfrm>
            <a:off x="3657600" y="199339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1.35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1.65</a:t>
            </a:r>
            <a:endParaRPr lang="en-US" sz="1400" dirty="0"/>
          </a:p>
        </p:txBody>
      </p:sp>
      <p:graphicFrame>
        <p:nvGraphicFramePr>
          <p:cNvPr id="15" name="Chart 0" descr=""/>
          <p:cNvGraphicFramePr/>
          <p:nvPr/>
        </p:nvGraphicFramePr>
        <p:xfrm>
          <a:off x="5276088" y="2011680"/>
          <a:ext cx="2697480" cy="694944"/>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7" name="Text 14"/>
          <p:cNvSpPr txBox="1"/>
          <p:nvPr/>
        </p:nvSpPr>
        <p:spPr>
          <a:xfrm>
            <a:off x="10195560" y="199339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+22.1%</a:t>
            </a:r>
            <a:endParaRPr lang="en-US" sz="1600" dirty="0"/>
          </a:p>
        </p:txBody>
      </p:sp>
      <p:sp>
        <p:nvSpPr>
          <p:cNvPr id="18" name="Text 15"/>
          <p:cNvSpPr txBox="1"/>
          <p:nvPr/>
        </p:nvSpPr>
        <p:spPr>
          <a:xfrm>
            <a:off x="749808" y="272491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72491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20" name="Text 17"/>
          <p:cNvSpPr txBox="1"/>
          <p:nvPr/>
        </p:nvSpPr>
        <p:spPr>
          <a:xfrm>
            <a:off x="3657600" y="272491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1.56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1.76</a:t>
            </a:r>
            <a:endParaRPr lang="en-US" sz="1400" dirty="0"/>
          </a:p>
        </p:txBody>
      </p:sp>
      <p:graphicFrame>
        <p:nvGraphicFramePr>
          <p:cNvPr id="21" name="Chart 1" descr=""/>
          <p:cNvGraphicFramePr/>
          <p:nvPr/>
        </p:nvGraphicFramePr>
        <p:xfrm>
          <a:off x="5276088" y="2743200"/>
          <a:ext cx="2697480" cy="694944"/>
        </p:xfrm>
        <a:graphic>
          <a:graphicData uri="http://schemas.openxmlformats.org/drawingml/2006/chart">
            <c:chart xmlns:c="http://schemas.openxmlformats.org/drawingml/2006/chart" r:id="rId3"/>
          </a:graphicData>
        </a:graphic>
      </p:graphicFrame>
      <p:sp>
        <p:nvSpPr>
          <p:cNvPr id="22" name="Text 18"/>
          <p:cNvSpPr txBox="1"/>
          <p:nvPr/>
        </p:nvSpPr>
        <p:spPr>
          <a:xfrm>
            <a:off x="8183880" y="272491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23" name="Text 19"/>
          <p:cNvSpPr txBox="1"/>
          <p:nvPr/>
        </p:nvSpPr>
        <p:spPr>
          <a:xfrm>
            <a:off x="10195560" y="272491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+13.1%</a:t>
            </a:r>
            <a:endParaRPr lang="en-US" sz="1600" dirty="0"/>
          </a:p>
        </p:txBody>
      </p:sp>
      <p:sp>
        <p:nvSpPr>
          <p:cNvPr id="24" name="Shape 20"/>
          <p:cNvSpPr/>
          <p:nvPr/>
        </p:nvSpPr>
        <p:spPr>
          <a:xfrm>
            <a:off x="621792" y="3456432"/>
            <a:ext cx="10945368" cy="731520"/>
          </a:xfrm>
          <a:prstGeom prst="rect">
            <a:avLst/>
          </a:prstGeom>
          <a:solidFill>
            <a:srgbClr val="F7F7F7"/>
          </a:solidFill>
          <a:ln/>
        </p:spPr>
      </p:sp>
      <p:sp>
        <p:nvSpPr>
          <p:cNvPr id="25" name="Text 21"/>
          <p:cNvSpPr txBox="1"/>
          <p:nvPr/>
        </p:nvSpPr>
        <p:spPr>
          <a:xfrm>
            <a:off x="749808" y="345643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345643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27" name="Text 23"/>
          <p:cNvSpPr txBox="1"/>
          <p:nvPr/>
        </p:nvSpPr>
        <p:spPr>
          <a:xfrm>
            <a:off x="3657600" y="345643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1.37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1.54</a:t>
            </a:r>
            <a:endParaRPr lang="en-US" sz="1400" dirty="0"/>
          </a:p>
        </p:txBody>
      </p:sp>
      <p:graphicFrame>
        <p:nvGraphicFramePr>
          <p:cNvPr id="28" name="Chart 2" descr=""/>
          <p:cNvGraphicFramePr/>
          <p:nvPr/>
        </p:nvGraphicFramePr>
        <p:xfrm>
          <a:off x="5276088" y="3474720"/>
          <a:ext cx="2697480" cy="694944"/>
        </p:xfrm>
        <a:graphic>
          <a:graphicData uri="http://schemas.openxmlformats.org/drawingml/2006/chart">
            <c:chart xmlns:c="http://schemas.openxmlformats.org/drawingml/2006/chart" r:id="rId4"/>
          </a:graphicData>
        </a:graphic>
      </p:graphicFrame>
      <p:sp>
        <p:nvSpPr>
          <p:cNvPr id="29" name="Text 24"/>
          <p:cNvSpPr txBox="1"/>
          <p:nvPr/>
        </p:nvSpPr>
        <p:spPr>
          <a:xfrm>
            <a:off x="8183880" y="345643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0" name="Text 25"/>
          <p:cNvSpPr txBox="1"/>
          <p:nvPr/>
        </p:nvSpPr>
        <p:spPr>
          <a:xfrm>
            <a:off x="10195560" y="345643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+12.2%</a:t>
            </a:r>
            <a:endParaRPr lang="en-US" sz="1600" dirty="0"/>
          </a:p>
        </p:txBody>
      </p:sp>
      <p:sp>
        <p:nvSpPr>
          <p:cNvPr id="31" name="Text 26"/>
          <p:cNvSpPr txBox="1"/>
          <p:nvPr/>
        </p:nvSpPr>
        <p:spPr>
          <a:xfrm>
            <a:off x="749808" y="418795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418795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33" name="Text 28"/>
          <p:cNvSpPr txBox="1"/>
          <p:nvPr/>
        </p:nvSpPr>
        <p:spPr>
          <a:xfrm>
            <a:off x="3657600" y="418795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1.23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1.38</a:t>
            </a:r>
            <a:endParaRPr lang="en-US" sz="1400" dirty="0"/>
          </a:p>
        </p:txBody>
      </p:sp>
      <p:graphicFrame>
        <p:nvGraphicFramePr>
          <p:cNvPr id="34" name="Chart 3" descr=""/>
          <p:cNvGraphicFramePr/>
          <p:nvPr/>
        </p:nvGraphicFramePr>
        <p:xfrm>
          <a:off x="5276088" y="4206240"/>
          <a:ext cx="2697480" cy="694944"/>
        </p:xfrm>
        <a:graphic>
          <a:graphicData uri="http://schemas.openxmlformats.org/drawingml/2006/chart">
            <c:chart xmlns:c="http://schemas.openxmlformats.org/drawingml/2006/chart" r:id="rId5"/>
          </a:graphicData>
        </a:graphic>
      </p:graphicFrame>
      <p:sp>
        <p:nvSpPr>
          <p:cNvPr id="35" name="Text 29"/>
          <p:cNvSpPr txBox="1"/>
          <p:nvPr/>
        </p:nvSpPr>
        <p:spPr>
          <a:xfrm>
            <a:off x="8183880" y="418795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36" name="Text 30"/>
          <p:cNvSpPr txBox="1"/>
          <p:nvPr/>
        </p:nvSpPr>
        <p:spPr>
          <a:xfrm>
            <a:off x="10195560" y="418795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+11.7%</a:t>
            </a:r>
            <a:endParaRPr lang="en-US" sz="1600" dirty="0"/>
          </a:p>
        </p:txBody>
      </p:sp>
      <p:sp>
        <p:nvSpPr>
          <p:cNvPr id="37" name="Shape 31"/>
          <p:cNvSpPr/>
          <p:nvPr/>
        </p:nvSpPr>
        <p:spPr>
          <a:xfrm>
            <a:off x="621792" y="4919472"/>
            <a:ext cx="10945368" cy="731520"/>
          </a:xfrm>
          <a:prstGeom prst="rect">
            <a:avLst/>
          </a:prstGeom>
          <a:solidFill>
            <a:srgbClr val="F7F7F7"/>
          </a:solidFill>
          <a:ln/>
        </p:spPr>
      </p:sp>
      <p:sp>
        <p:nvSpPr>
          <p:cNvPr id="38" name="Text 32"/>
          <p:cNvSpPr txBox="1"/>
          <p:nvPr/>
        </p:nvSpPr>
        <p:spPr>
          <a:xfrm>
            <a:off x="749808" y="491947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491947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p:txBody>
      </p:sp>
      <p:sp>
        <p:nvSpPr>
          <p:cNvPr id="40" name="Text 34"/>
          <p:cNvSpPr txBox="1"/>
          <p:nvPr/>
        </p:nvSpPr>
        <p:spPr>
          <a:xfrm>
            <a:off x="3657600" y="491947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1.65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1.79</a:t>
            </a:r>
            <a:endParaRPr lang="en-US" sz="1400" dirty="0"/>
          </a:p>
        </p:txBody>
      </p:sp>
      <p:graphicFrame>
        <p:nvGraphicFramePr>
          <p:cNvPr id="41" name="Chart 4" descr=""/>
          <p:cNvGraphicFramePr/>
          <p:nvPr/>
        </p:nvGraphicFramePr>
        <p:xfrm>
          <a:off x="5276088" y="4937760"/>
          <a:ext cx="2697480" cy="694944"/>
        </p:xfrm>
        <a:graphic>
          <a:graphicData uri="http://schemas.openxmlformats.org/drawingml/2006/chart">
            <c:chart xmlns:c="http://schemas.openxmlformats.org/drawingml/2006/chart" r:id="rId6"/>
          </a:graphicData>
        </a:graphic>
      </p:graphicFrame>
      <p:sp>
        <p:nvSpPr>
          <p:cNvPr id="42" name="Text 35"/>
          <p:cNvSpPr txBox="1"/>
          <p:nvPr/>
        </p:nvSpPr>
        <p:spPr>
          <a:xfrm>
            <a:off x="8183880" y="491947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3" name="Text 36"/>
          <p:cNvSpPr txBox="1"/>
          <p:nvPr/>
        </p:nvSpPr>
        <p:spPr>
          <a:xfrm>
            <a:off x="10195560" y="491947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+8.6%</a:t>
            </a:r>
            <a:endParaRPr lang="en-US" sz="1600" dirty="0"/>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LINE CHART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$161.81 → $163.67, +1.1%: that is the season. 15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731520"/>
          </a:xfrm>
          <a:prstGeom prst="rect">
            <a:avLst/>
          </a:prstGeom>
          <a:solidFill>
            <a:srgbClr val="F7F7F7"/>
          </a:solidFill>
          <a:ln/>
        </p:spPr>
      </p:sp>
      <p:sp>
        <p:nvSpPr>
          <p:cNvPr id="12" name="Text 10"/>
          <p:cNvSpPr txBox="1"/>
          <p:nvPr/>
        </p:nvSpPr>
        <p:spPr>
          <a:xfrm>
            <a:off x="749808" y="199339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14" name="Text 12"/>
          <p:cNvSpPr txBox="1"/>
          <p:nvPr/>
        </p:nvSpPr>
        <p:spPr>
          <a:xfrm>
            <a:off x="3657600" y="199339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$128.27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$141.89</a:t>
            </a:r>
            <a:endParaRPr lang="en-US" sz="1400" dirty="0"/>
          </a:p>
        </p:txBody>
      </p:sp>
      <p:graphicFrame>
        <p:nvGraphicFramePr>
          <p:cNvPr id="15" name="Chart 0" descr=""/>
          <p:cNvGraphicFramePr/>
          <p:nvPr/>
        </p:nvGraphicFramePr>
        <p:xfrm>
          <a:off x="5276088" y="2011680"/>
          <a:ext cx="2697480" cy="694944"/>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17" name="Text 14"/>
          <p:cNvSpPr txBox="1"/>
          <p:nvPr/>
        </p:nvSpPr>
        <p:spPr>
          <a:xfrm>
            <a:off x="10195560" y="199339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18" name="Text 15"/>
          <p:cNvSpPr txBox="1"/>
          <p:nvPr/>
        </p:nvSpPr>
        <p:spPr>
          <a:xfrm>
            <a:off x="749808" y="272491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72491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20" name="Text 17"/>
          <p:cNvSpPr txBox="1"/>
          <p:nvPr/>
        </p:nvSpPr>
        <p:spPr>
          <a:xfrm>
            <a:off x="3657600" y="272491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$227.34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$244.12</a:t>
            </a:r>
            <a:endParaRPr lang="en-US" sz="1400" dirty="0"/>
          </a:p>
        </p:txBody>
      </p:sp>
      <p:graphicFrame>
        <p:nvGraphicFramePr>
          <p:cNvPr id="21" name="Chart 1" descr=""/>
          <p:cNvGraphicFramePr/>
          <p:nvPr/>
        </p:nvGraphicFramePr>
        <p:xfrm>
          <a:off x="5276088" y="2743200"/>
          <a:ext cx="2697480" cy="694944"/>
        </p:xfrm>
        <a:graphic>
          <a:graphicData uri="http://schemas.openxmlformats.org/drawingml/2006/chart">
            <c:chart xmlns:c="http://schemas.openxmlformats.org/drawingml/2006/chart" r:id="rId3"/>
          </a:graphicData>
        </a:graphic>
      </p:graphicFrame>
      <p:sp>
        <p:nvSpPr>
          <p:cNvPr id="22" name="Text 18"/>
          <p:cNvSpPr txBox="1"/>
          <p:nvPr/>
        </p:nvSpPr>
        <p:spPr>
          <a:xfrm>
            <a:off x="8183880" y="272491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23" name="Text 19"/>
          <p:cNvSpPr txBox="1"/>
          <p:nvPr/>
        </p:nvSpPr>
        <p:spPr>
          <a:xfrm>
            <a:off x="10195560" y="272491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+7.3%</a:t>
            </a:r>
            <a:endParaRPr lang="en-US" sz="1600" dirty="0"/>
          </a:p>
        </p:txBody>
      </p:sp>
      <p:sp>
        <p:nvSpPr>
          <p:cNvPr id="24" name="Shape 20"/>
          <p:cNvSpPr/>
          <p:nvPr/>
        </p:nvSpPr>
        <p:spPr>
          <a:xfrm>
            <a:off x="621792" y="3456432"/>
            <a:ext cx="10945368" cy="731520"/>
          </a:xfrm>
          <a:prstGeom prst="rect">
            <a:avLst/>
          </a:prstGeom>
          <a:solidFill>
            <a:srgbClr val="F7F7F7"/>
          </a:solidFill>
          <a:ln/>
        </p:spPr>
      </p:sp>
      <p:sp>
        <p:nvSpPr>
          <p:cNvPr id="25" name="Text 21"/>
          <p:cNvSpPr txBox="1"/>
          <p:nvPr/>
        </p:nvSpPr>
        <p:spPr>
          <a:xfrm>
            <a:off x="749808" y="345643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345643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27" name="Text 23"/>
          <p:cNvSpPr txBox="1"/>
          <p:nvPr/>
        </p:nvSpPr>
        <p:spPr>
          <a:xfrm>
            <a:off x="3657600" y="345643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$139.40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$147.93</a:t>
            </a:r>
            <a:endParaRPr lang="en-US" sz="1400" dirty="0"/>
          </a:p>
        </p:txBody>
      </p:sp>
      <p:graphicFrame>
        <p:nvGraphicFramePr>
          <p:cNvPr id="28" name="Chart 2" descr=""/>
          <p:cNvGraphicFramePr/>
          <p:nvPr/>
        </p:nvGraphicFramePr>
        <p:xfrm>
          <a:off x="5276088" y="3474720"/>
          <a:ext cx="2697480" cy="694944"/>
        </p:xfrm>
        <a:graphic>
          <a:graphicData uri="http://schemas.openxmlformats.org/drawingml/2006/chart">
            <c:chart xmlns:c="http://schemas.openxmlformats.org/drawingml/2006/chart" r:id="rId4"/>
          </a:graphicData>
        </a:graphic>
      </p:graphicFrame>
      <p:sp>
        <p:nvSpPr>
          <p:cNvPr id="29" name="Text 24"/>
          <p:cNvSpPr txBox="1"/>
          <p:nvPr/>
        </p:nvSpPr>
        <p:spPr>
          <a:xfrm>
            <a:off x="8183880" y="345643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0" name="Text 25"/>
          <p:cNvSpPr txBox="1"/>
          <p:nvPr/>
        </p:nvSpPr>
        <p:spPr>
          <a:xfrm>
            <a:off x="10195560" y="345643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+6.1%</a:t>
            </a:r>
            <a:endParaRPr lang="en-US" sz="1600" dirty="0"/>
          </a:p>
        </p:txBody>
      </p:sp>
      <p:sp>
        <p:nvSpPr>
          <p:cNvPr id="31" name="Text 26"/>
          <p:cNvSpPr txBox="1"/>
          <p:nvPr/>
        </p:nvSpPr>
        <p:spPr>
          <a:xfrm>
            <a:off x="749808" y="418795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418795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LV</a:t>
            </a:r>
            <a:endParaRPr lang="en-US" sz="1400" dirty="0"/>
          </a:p>
        </p:txBody>
      </p:sp>
      <p:sp>
        <p:nvSpPr>
          <p:cNvPr id="33" name="Text 28"/>
          <p:cNvSpPr txBox="1"/>
          <p:nvPr/>
        </p:nvSpPr>
        <p:spPr>
          <a:xfrm>
            <a:off x="3657600" y="418795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$142.56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$150.72</a:t>
            </a:r>
            <a:endParaRPr lang="en-US" sz="1400" dirty="0"/>
          </a:p>
        </p:txBody>
      </p:sp>
      <p:graphicFrame>
        <p:nvGraphicFramePr>
          <p:cNvPr id="34" name="Chart 3" descr=""/>
          <p:cNvGraphicFramePr/>
          <p:nvPr/>
        </p:nvGraphicFramePr>
        <p:xfrm>
          <a:off x="5276088" y="4206240"/>
          <a:ext cx="2697480" cy="694944"/>
        </p:xfrm>
        <a:graphic>
          <a:graphicData uri="http://schemas.openxmlformats.org/drawingml/2006/chart">
            <c:chart xmlns:c="http://schemas.openxmlformats.org/drawingml/2006/chart" r:id="rId5"/>
          </a:graphicData>
        </a:graphic>
      </p:graphicFrame>
      <p:sp>
        <p:nvSpPr>
          <p:cNvPr id="35" name="Text 29"/>
          <p:cNvSpPr txBox="1"/>
          <p:nvPr/>
        </p:nvSpPr>
        <p:spPr>
          <a:xfrm>
            <a:off x="8183880" y="418795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6" name="Text 30"/>
          <p:cNvSpPr txBox="1"/>
          <p:nvPr/>
        </p:nvSpPr>
        <p:spPr>
          <a:xfrm>
            <a:off x="10195560" y="418795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+5.7%</a:t>
            </a:r>
            <a:endParaRPr lang="en-US" sz="1600" dirty="0"/>
          </a:p>
        </p:txBody>
      </p:sp>
      <p:sp>
        <p:nvSpPr>
          <p:cNvPr id="37" name="Shape 31"/>
          <p:cNvSpPr/>
          <p:nvPr/>
        </p:nvSpPr>
        <p:spPr>
          <a:xfrm>
            <a:off x="621792" y="4919472"/>
            <a:ext cx="10945368" cy="731520"/>
          </a:xfrm>
          <a:prstGeom prst="rect">
            <a:avLst/>
          </a:prstGeom>
          <a:solidFill>
            <a:srgbClr val="F7F7F7"/>
          </a:solidFill>
          <a:ln/>
        </p:spPr>
      </p:sp>
      <p:sp>
        <p:nvSpPr>
          <p:cNvPr id="38" name="Text 32"/>
          <p:cNvSpPr txBox="1"/>
          <p:nvPr/>
        </p:nvSpPr>
        <p:spPr>
          <a:xfrm>
            <a:off x="749808" y="491947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491947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40" name="Text 34"/>
          <p:cNvSpPr txBox="1"/>
          <p:nvPr/>
        </p:nvSpPr>
        <p:spPr>
          <a:xfrm>
            <a:off x="3657600" y="491947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$139.09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$146.04</a:t>
            </a:r>
            <a:endParaRPr lang="en-US" sz="1400" dirty="0"/>
          </a:p>
        </p:txBody>
      </p:sp>
      <p:graphicFrame>
        <p:nvGraphicFramePr>
          <p:cNvPr id="41" name="Chart 4" descr=""/>
          <p:cNvGraphicFramePr/>
          <p:nvPr/>
        </p:nvGraphicFramePr>
        <p:xfrm>
          <a:off x="5276088" y="4937760"/>
          <a:ext cx="2697480" cy="694944"/>
        </p:xfrm>
        <a:graphic>
          <a:graphicData uri="http://schemas.openxmlformats.org/drawingml/2006/chart">
            <c:chart xmlns:c="http://schemas.openxmlformats.org/drawingml/2006/chart" r:id="rId6"/>
          </a:graphicData>
        </a:graphic>
      </p:graphicFrame>
      <p:sp>
        <p:nvSpPr>
          <p:cNvPr id="42" name="Text 35"/>
          <p:cNvSpPr txBox="1"/>
          <p:nvPr/>
        </p:nvSpPr>
        <p:spPr>
          <a:xfrm>
            <a:off x="8183880" y="491947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43" name="Text 36"/>
          <p:cNvSpPr txBox="1"/>
          <p:nvPr/>
        </p:nvSpPr>
        <p:spPr>
          <a:xfrm>
            <a:off x="10195560" y="491947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+5.0%</a:t>
            </a:r>
            <a:endParaRPr lang="en-US" sz="1600" dirty="0"/>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LINE CHART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Parts GP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40.6% → 40.6%, 0.0 pts: that is the season. 18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731520"/>
          </a:xfrm>
          <a:prstGeom prst="rect">
            <a:avLst/>
          </a:prstGeom>
          <a:solidFill>
            <a:srgbClr val="F7F7F7"/>
          </a:solidFill>
          <a:ln/>
        </p:spPr>
      </p:sp>
      <p:sp>
        <p:nvSpPr>
          <p:cNvPr id="12" name="Text 10"/>
          <p:cNvSpPr txBox="1"/>
          <p:nvPr/>
        </p:nvSpPr>
        <p:spPr>
          <a:xfrm>
            <a:off x="749808" y="199339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14" name="Text 12"/>
          <p:cNvSpPr txBox="1"/>
          <p:nvPr/>
        </p:nvSpPr>
        <p:spPr>
          <a:xfrm>
            <a:off x="3657600" y="199339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39.4%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46.6%</a:t>
            </a:r>
            <a:endParaRPr lang="en-US" sz="1400" dirty="0"/>
          </a:p>
        </p:txBody>
      </p:sp>
      <p:graphicFrame>
        <p:nvGraphicFramePr>
          <p:cNvPr id="15" name="Chart 0" descr=""/>
          <p:cNvGraphicFramePr/>
          <p:nvPr/>
        </p:nvGraphicFramePr>
        <p:xfrm>
          <a:off x="5276088" y="2011680"/>
          <a:ext cx="2697480" cy="694944"/>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17" name="Text 14"/>
          <p:cNvSpPr txBox="1"/>
          <p:nvPr/>
        </p:nvSpPr>
        <p:spPr>
          <a:xfrm>
            <a:off x="10195560" y="199339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+7.2 pts</a:t>
            </a:r>
            <a:endParaRPr lang="en-US" sz="1600" dirty="0"/>
          </a:p>
        </p:txBody>
      </p:sp>
      <p:sp>
        <p:nvSpPr>
          <p:cNvPr id="18" name="Text 15"/>
          <p:cNvSpPr txBox="1"/>
          <p:nvPr/>
        </p:nvSpPr>
        <p:spPr>
          <a:xfrm>
            <a:off x="749808" y="272491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72491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20" name="Text 17"/>
          <p:cNvSpPr txBox="1"/>
          <p:nvPr/>
        </p:nvSpPr>
        <p:spPr>
          <a:xfrm>
            <a:off x="3657600" y="272491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39.1%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43.8%</a:t>
            </a:r>
            <a:endParaRPr lang="en-US" sz="1400" dirty="0"/>
          </a:p>
        </p:txBody>
      </p:sp>
      <p:graphicFrame>
        <p:nvGraphicFramePr>
          <p:cNvPr id="21" name="Chart 1" descr=""/>
          <p:cNvGraphicFramePr/>
          <p:nvPr/>
        </p:nvGraphicFramePr>
        <p:xfrm>
          <a:off x="5276088" y="2743200"/>
          <a:ext cx="2697480" cy="694944"/>
        </p:xfrm>
        <a:graphic>
          <a:graphicData uri="http://schemas.openxmlformats.org/drawingml/2006/chart">
            <c:chart xmlns:c="http://schemas.openxmlformats.org/drawingml/2006/chart" r:id="rId3"/>
          </a:graphicData>
        </a:graphic>
      </p:graphicFrame>
      <p:sp>
        <p:nvSpPr>
          <p:cNvPr id="22" name="Text 18"/>
          <p:cNvSpPr txBox="1"/>
          <p:nvPr/>
        </p:nvSpPr>
        <p:spPr>
          <a:xfrm>
            <a:off x="8183880" y="272491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23" name="Text 19"/>
          <p:cNvSpPr txBox="1"/>
          <p:nvPr/>
        </p:nvSpPr>
        <p:spPr>
          <a:xfrm>
            <a:off x="10195560" y="272491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+4.6 pts</a:t>
            </a:r>
            <a:endParaRPr lang="en-US" sz="1600" dirty="0"/>
          </a:p>
        </p:txBody>
      </p:sp>
      <p:sp>
        <p:nvSpPr>
          <p:cNvPr id="24" name="Shape 20"/>
          <p:cNvSpPr/>
          <p:nvPr/>
        </p:nvSpPr>
        <p:spPr>
          <a:xfrm>
            <a:off x="621792" y="3456432"/>
            <a:ext cx="10945368" cy="731520"/>
          </a:xfrm>
          <a:prstGeom prst="rect">
            <a:avLst/>
          </a:prstGeom>
          <a:solidFill>
            <a:srgbClr val="F7F7F7"/>
          </a:solidFill>
          <a:ln/>
        </p:spPr>
      </p:sp>
      <p:sp>
        <p:nvSpPr>
          <p:cNvPr id="25" name="Text 21"/>
          <p:cNvSpPr txBox="1"/>
          <p:nvPr/>
        </p:nvSpPr>
        <p:spPr>
          <a:xfrm>
            <a:off x="749808" y="345643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345643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27" name="Text 23"/>
          <p:cNvSpPr txBox="1"/>
          <p:nvPr/>
        </p:nvSpPr>
        <p:spPr>
          <a:xfrm>
            <a:off x="3657600" y="345643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35.3%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39.2%</a:t>
            </a:r>
            <a:endParaRPr lang="en-US" sz="1400" dirty="0"/>
          </a:p>
        </p:txBody>
      </p:sp>
      <p:graphicFrame>
        <p:nvGraphicFramePr>
          <p:cNvPr id="28" name="Chart 2" descr=""/>
          <p:cNvGraphicFramePr/>
          <p:nvPr/>
        </p:nvGraphicFramePr>
        <p:xfrm>
          <a:off x="5276088" y="3474720"/>
          <a:ext cx="2697480" cy="694944"/>
        </p:xfrm>
        <a:graphic>
          <a:graphicData uri="http://schemas.openxmlformats.org/drawingml/2006/chart">
            <c:chart xmlns:c="http://schemas.openxmlformats.org/drawingml/2006/chart" r:id="rId4"/>
          </a:graphicData>
        </a:graphic>
      </p:graphicFrame>
      <p:sp>
        <p:nvSpPr>
          <p:cNvPr id="29" name="Text 24"/>
          <p:cNvSpPr txBox="1"/>
          <p:nvPr/>
        </p:nvSpPr>
        <p:spPr>
          <a:xfrm>
            <a:off x="8183880" y="345643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30" name="Text 25"/>
          <p:cNvSpPr txBox="1"/>
          <p:nvPr/>
        </p:nvSpPr>
        <p:spPr>
          <a:xfrm>
            <a:off x="10195560" y="345643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31" name="Text 26"/>
          <p:cNvSpPr txBox="1"/>
          <p:nvPr/>
        </p:nvSpPr>
        <p:spPr>
          <a:xfrm>
            <a:off x="749808" y="418795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418795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33" name="Text 28"/>
          <p:cNvSpPr txBox="1"/>
          <p:nvPr/>
        </p:nvSpPr>
        <p:spPr>
          <a:xfrm>
            <a:off x="3657600" y="418795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41.1%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44.0%</a:t>
            </a:r>
            <a:endParaRPr lang="en-US" sz="1400" dirty="0"/>
          </a:p>
        </p:txBody>
      </p:sp>
      <p:graphicFrame>
        <p:nvGraphicFramePr>
          <p:cNvPr id="34" name="Chart 3" descr=""/>
          <p:cNvGraphicFramePr/>
          <p:nvPr/>
        </p:nvGraphicFramePr>
        <p:xfrm>
          <a:off x="5276088" y="4206240"/>
          <a:ext cx="2697480" cy="694944"/>
        </p:xfrm>
        <a:graphic>
          <a:graphicData uri="http://schemas.openxmlformats.org/drawingml/2006/chart">
            <c:chart xmlns:c="http://schemas.openxmlformats.org/drawingml/2006/chart" r:id="rId5"/>
          </a:graphicData>
        </a:graphic>
      </p:graphicFrame>
      <p:sp>
        <p:nvSpPr>
          <p:cNvPr id="35" name="Text 29"/>
          <p:cNvSpPr txBox="1"/>
          <p:nvPr/>
        </p:nvSpPr>
        <p:spPr>
          <a:xfrm>
            <a:off x="8183880" y="418795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36" name="Text 30"/>
          <p:cNvSpPr txBox="1"/>
          <p:nvPr/>
        </p:nvSpPr>
        <p:spPr>
          <a:xfrm>
            <a:off x="10195560" y="418795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 pts</a:t>
            </a:r>
            <a:endParaRPr lang="en-US" sz="1600" dirty="0"/>
          </a:p>
        </p:txBody>
      </p:sp>
      <p:sp>
        <p:nvSpPr>
          <p:cNvPr id="37" name="Shape 31"/>
          <p:cNvSpPr/>
          <p:nvPr/>
        </p:nvSpPr>
        <p:spPr>
          <a:xfrm>
            <a:off x="621792" y="4919472"/>
            <a:ext cx="10945368" cy="731520"/>
          </a:xfrm>
          <a:prstGeom prst="rect">
            <a:avLst/>
          </a:prstGeom>
          <a:solidFill>
            <a:srgbClr val="F7F7F7"/>
          </a:solidFill>
          <a:ln/>
        </p:spPr>
      </p:sp>
      <p:sp>
        <p:nvSpPr>
          <p:cNvPr id="38" name="Text 32"/>
          <p:cNvSpPr txBox="1"/>
          <p:nvPr/>
        </p:nvSpPr>
        <p:spPr>
          <a:xfrm>
            <a:off x="749808" y="491947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491947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p:txBody>
      </p:sp>
      <p:sp>
        <p:nvSpPr>
          <p:cNvPr id="40" name="Text 34"/>
          <p:cNvSpPr txBox="1"/>
          <p:nvPr/>
        </p:nvSpPr>
        <p:spPr>
          <a:xfrm>
            <a:off x="3657600" y="491947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39.4%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41.7%</a:t>
            </a:r>
            <a:endParaRPr lang="en-US" sz="1400" dirty="0"/>
          </a:p>
        </p:txBody>
      </p:sp>
      <p:graphicFrame>
        <p:nvGraphicFramePr>
          <p:cNvPr id="41" name="Chart 4" descr=""/>
          <p:cNvGraphicFramePr/>
          <p:nvPr/>
        </p:nvGraphicFramePr>
        <p:xfrm>
          <a:off x="5276088" y="4937760"/>
          <a:ext cx="2697480" cy="694944"/>
        </p:xfrm>
        <a:graphic>
          <a:graphicData uri="http://schemas.openxmlformats.org/drawingml/2006/chart">
            <c:chart xmlns:c="http://schemas.openxmlformats.org/drawingml/2006/chart" r:id="rId6"/>
          </a:graphicData>
        </a:graphic>
      </p:graphicFrame>
      <p:sp>
        <p:nvSpPr>
          <p:cNvPr id="42" name="Text 35"/>
          <p:cNvSpPr txBox="1"/>
          <p:nvPr/>
        </p:nvSpPr>
        <p:spPr>
          <a:xfrm>
            <a:off x="8183880" y="491947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43" name="Text 36"/>
          <p:cNvSpPr txBox="1"/>
          <p:nvPr/>
        </p:nvSpPr>
        <p:spPr>
          <a:xfrm>
            <a:off x="10195560" y="491947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 pts</a:t>
            </a:r>
            <a:endParaRPr lang="en-US" sz="1600" dirty="0"/>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LINE CHART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CP Gross per Month</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$10.10M → $10.96M, +8.4%: that is the season. 21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731520"/>
          </a:xfrm>
          <a:prstGeom prst="rect">
            <a:avLst/>
          </a:prstGeom>
          <a:solidFill>
            <a:srgbClr val="F7F7F7"/>
          </a:solidFill>
          <a:ln/>
        </p:spPr>
      </p:sp>
      <p:sp>
        <p:nvSpPr>
          <p:cNvPr id="12" name="Text 10"/>
          <p:cNvSpPr txBox="1"/>
          <p:nvPr/>
        </p:nvSpPr>
        <p:spPr>
          <a:xfrm>
            <a:off x="749808" y="199339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4" name="Text 12"/>
          <p:cNvSpPr txBox="1"/>
          <p:nvPr/>
        </p:nvSpPr>
        <p:spPr>
          <a:xfrm>
            <a:off x="3657600" y="199339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$155K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$209K</a:t>
            </a:r>
            <a:endParaRPr lang="en-US" sz="1400" dirty="0"/>
          </a:p>
        </p:txBody>
      </p:sp>
      <p:graphicFrame>
        <p:nvGraphicFramePr>
          <p:cNvPr id="15" name="Chart 0" descr=""/>
          <p:cNvGraphicFramePr/>
          <p:nvPr/>
        </p:nvGraphicFramePr>
        <p:xfrm>
          <a:off x="5276088" y="2011680"/>
          <a:ext cx="2697480" cy="694944"/>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7" name="Text 14"/>
          <p:cNvSpPr txBox="1"/>
          <p:nvPr/>
        </p:nvSpPr>
        <p:spPr>
          <a:xfrm>
            <a:off x="10195560" y="199339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+34.6%</a:t>
            </a:r>
            <a:endParaRPr lang="en-US" sz="1600" dirty="0"/>
          </a:p>
        </p:txBody>
      </p:sp>
      <p:sp>
        <p:nvSpPr>
          <p:cNvPr id="18" name="Text 15"/>
          <p:cNvSpPr txBox="1"/>
          <p:nvPr/>
        </p:nvSpPr>
        <p:spPr>
          <a:xfrm>
            <a:off x="749808" y="272491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72491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20" name="Text 17"/>
          <p:cNvSpPr txBox="1"/>
          <p:nvPr/>
        </p:nvSpPr>
        <p:spPr>
          <a:xfrm>
            <a:off x="3657600" y="272491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$85K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$112K</a:t>
            </a:r>
            <a:endParaRPr lang="en-US" sz="1400" dirty="0"/>
          </a:p>
        </p:txBody>
      </p:sp>
      <p:graphicFrame>
        <p:nvGraphicFramePr>
          <p:cNvPr id="21" name="Chart 1" descr=""/>
          <p:cNvGraphicFramePr/>
          <p:nvPr/>
        </p:nvGraphicFramePr>
        <p:xfrm>
          <a:off x="5276088" y="2743200"/>
          <a:ext cx="2697480" cy="694944"/>
        </p:xfrm>
        <a:graphic>
          <a:graphicData uri="http://schemas.openxmlformats.org/drawingml/2006/chart">
            <c:chart xmlns:c="http://schemas.openxmlformats.org/drawingml/2006/chart" r:id="rId3"/>
          </a:graphicData>
        </a:graphic>
      </p:graphicFrame>
      <p:sp>
        <p:nvSpPr>
          <p:cNvPr id="22" name="Text 18"/>
          <p:cNvSpPr txBox="1"/>
          <p:nvPr/>
        </p:nvSpPr>
        <p:spPr>
          <a:xfrm>
            <a:off x="8183880" y="272491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23" name="Text 19"/>
          <p:cNvSpPr txBox="1"/>
          <p:nvPr/>
        </p:nvSpPr>
        <p:spPr>
          <a:xfrm>
            <a:off x="10195560" y="272491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24" name="Shape 20"/>
          <p:cNvSpPr/>
          <p:nvPr/>
        </p:nvSpPr>
        <p:spPr>
          <a:xfrm>
            <a:off x="621792" y="3456432"/>
            <a:ext cx="10945368" cy="731520"/>
          </a:xfrm>
          <a:prstGeom prst="rect">
            <a:avLst/>
          </a:prstGeom>
          <a:solidFill>
            <a:srgbClr val="F7F7F7"/>
          </a:solidFill>
          <a:ln/>
        </p:spPr>
      </p:sp>
      <p:sp>
        <p:nvSpPr>
          <p:cNvPr id="25" name="Text 21"/>
          <p:cNvSpPr txBox="1"/>
          <p:nvPr/>
        </p:nvSpPr>
        <p:spPr>
          <a:xfrm>
            <a:off x="749808" y="345643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345643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27" name="Text 23"/>
          <p:cNvSpPr txBox="1"/>
          <p:nvPr/>
        </p:nvSpPr>
        <p:spPr>
          <a:xfrm>
            <a:off x="3657600" y="345643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$218K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$279K</a:t>
            </a:r>
            <a:endParaRPr lang="en-US" sz="1400" dirty="0"/>
          </a:p>
        </p:txBody>
      </p:sp>
      <p:graphicFrame>
        <p:nvGraphicFramePr>
          <p:cNvPr id="28" name="Chart 2" descr=""/>
          <p:cNvGraphicFramePr/>
          <p:nvPr/>
        </p:nvGraphicFramePr>
        <p:xfrm>
          <a:off x="5276088" y="3474720"/>
          <a:ext cx="2697480" cy="694944"/>
        </p:xfrm>
        <a:graphic>
          <a:graphicData uri="http://schemas.openxmlformats.org/drawingml/2006/chart">
            <c:chart xmlns:c="http://schemas.openxmlformats.org/drawingml/2006/chart" r:id="rId4"/>
          </a:graphicData>
        </a:graphic>
      </p:graphicFrame>
      <p:sp>
        <p:nvSpPr>
          <p:cNvPr id="29" name="Text 24"/>
          <p:cNvSpPr txBox="1"/>
          <p:nvPr/>
        </p:nvSpPr>
        <p:spPr>
          <a:xfrm>
            <a:off x="8183880" y="345643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30" name="Text 25"/>
          <p:cNvSpPr txBox="1"/>
          <p:nvPr/>
        </p:nvSpPr>
        <p:spPr>
          <a:xfrm>
            <a:off x="10195560" y="345643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+27.8%</a:t>
            </a:r>
            <a:endParaRPr lang="en-US" sz="1600" dirty="0"/>
          </a:p>
        </p:txBody>
      </p:sp>
      <p:sp>
        <p:nvSpPr>
          <p:cNvPr id="31" name="Text 26"/>
          <p:cNvSpPr txBox="1"/>
          <p:nvPr/>
        </p:nvSpPr>
        <p:spPr>
          <a:xfrm>
            <a:off x="749808" y="418795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418795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33" name="Text 28"/>
          <p:cNvSpPr txBox="1"/>
          <p:nvPr/>
        </p:nvSpPr>
        <p:spPr>
          <a:xfrm>
            <a:off x="3657600" y="418795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$54K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$66K</a:t>
            </a:r>
            <a:endParaRPr lang="en-US" sz="1400" dirty="0"/>
          </a:p>
        </p:txBody>
      </p:sp>
      <p:graphicFrame>
        <p:nvGraphicFramePr>
          <p:cNvPr id="34" name="Chart 3" descr=""/>
          <p:cNvGraphicFramePr/>
          <p:nvPr/>
        </p:nvGraphicFramePr>
        <p:xfrm>
          <a:off x="5276088" y="4206240"/>
          <a:ext cx="2697480" cy="694944"/>
        </p:xfrm>
        <a:graphic>
          <a:graphicData uri="http://schemas.openxmlformats.org/drawingml/2006/chart">
            <c:chart xmlns:c="http://schemas.openxmlformats.org/drawingml/2006/chart" r:id="rId5"/>
          </a:graphicData>
        </a:graphic>
      </p:graphicFrame>
      <p:sp>
        <p:nvSpPr>
          <p:cNvPr id="35" name="Text 29"/>
          <p:cNvSpPr txBox="1"/>
          <p:nvPr/>
        </p:nvSpPr>
        <p:spPr>
          <a:xfrm>
            <a:off x="8183880" y="418795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6" name="Text 30"/>
          <p:cNvSpPr txBox="1"/>
          <p:nvPr/>
        </p:nvSpPr>
        <p:spPr>
          <a:xfrm>
            <a:off x="10195560" y="418795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+23.2%</a:t>
            </a:r>
            <a:endParaRPr lang="en-US" sz="1600" dirty="0"/>
          </a:p>
        </p:txBody>
      </p:sp>
      <p:sp>
        <p:nvSpPr>
          <p:cNvPr id="37" name="Shape 31"/>
          <p:cNvSpPr/>
          <p:nvPr/>
        </p:nvSpPr>
        <p:spPr>
          <a:xfrm>
            <a:off x="621792" y="4919472"/>
            <a:ext cx="10945368" cy="731520"/>
          </a:xfrm>
          <a:prstGeom prst="rect">
            <a:avLst/>
          </a:prstGeom>
          <a:solidFill>
            <a:srgbClr val="F7F7F7"/>
          </a:solidFill>
          <a:ln/>
        </p:spPr>
      </p:sp>
      <p:sp>
        <p:nvSpPr>
          <p:cNvPr id="38" name="Text 32"/>
          <p:cNvSpPr txBox="1"/>
          <p:nvPr/>
        </p:nvSpPr>
        <p:spPr>
          <a:xfrm>
            <a:off x="749808" y="491947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491947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40" name="Text 34"/>
          <p:cNvSpPr txBox="1"/>
          <p:nvPr/>
        </p:nvSpPr>
        <p:spPr>
          <a:xfrm>
            <a:off x="3657600" y="491947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$49K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$60K</a:t>
            </a:r>
            <a:endParaRPr lang="en-US" sz="1400" dirty="0"/>
          </a:p>
        </p:txBody>
      </p:sp>
      <p:graphicFrame>
        <p:nvGraphicFramePr>
          <p:cNvPr id="41" name="Chart 4" descr=""/>
          <p:cNvGraphicFramePr/>
          <p:nvPr/>
        </p:nvGraphicFramePr>
        <p:xfrm>
          <a:off x="5276088" y="4937760"/>
          <a:ext cx="2697480" cy="694944"/>
        </p:xfrm>
        <a:graphic>
          <a:graphicData uri="http://schemas.openxmlformats.org/drawingml/2006/chart">
            <c:chart xmlns:c="http://schemas.openxmlformats.org/drawingml/2006/chart" r:id="rId6"/>
          </a:graphicData>
        </a:graphic>
      </p:graphicFrame>
      <p:sp>
        <p:nvSpPr>
          <p:cNvPr id="42" name="Text 35"/>
          <p:cNvSpPr txBox="1"/>
          <p:nvPr/>
        </p:nvSpPr>
        <p:spPr>
          <a:xfrm>
            <a:off x="8183880" y="491947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43" name="Text 36"/>
          <p:cNvSpPr txBox="1"/>
          <p:nvPr/>
        </p:nvSpPr>
        <p:spPr>
          <a:xfrm>
            <a:off x="10195560" y="491947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+22.0%</a:t>
            </a:r>
            <a:endParaRPr lang="en-US" sz="1600" dirty="0"/>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LINE CHART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Alignment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12.9% → 13.1%, +0.1 pts: that is the season. 15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731520"/>
          </a:xfrm>
          <a:prstGeom prst="rect">
            <a:avLst/>
          </a:prstGeom>
          <a:solidFill>
            <a:srgbClr val="F7F7F7"/>
          </a:solidFill>
          <a:ln/>
        </p:spPr>
      </p:sp>
      <p:sp>
        <p:nvSpPr>
          <p:cNvPr id="12" name="Text 10"/>
          <p:cNvSpPr txBox="1"/>
          <p:nvPr/>
        </p:nvSpPr>
        <p:spPr>
          <a:xfrm>
            <a:off x="749808" y="199339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p:txBody>
      </p:sp>
      <p:sp>
        <p:nvSpPr>
          <p:cNvPr id="14" name="Text 12"/>
          <p:cNvSpPr txBox="1"/>
          <p:nvPr/>
        </p:nvSpPr>
        <p:spPr>
          <a:xfrm>
            <a:off x="3657600" y="199339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21.1%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31.7%</a:t>
            </a:r>
            <a:endParaRPr lang="en-US" sz="1400" dirty="0"/>
          </a:p>
        </p:txBody>
      </p:sp>
      <p:graphicFrame>
        <p:nvGraphicFramePr>
          <p:cNvPr id="15" name="Chart 0" descr=""/>
          <p:cNvGraphicFramePr/>
          <p:nvPr/>
        </p:nvGraphicFramePr>
        <p:xfrm>
          <a:off x="5276088" y="2011680"/>
          <a:ext cx="2697480" cy="694944"/>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May</a:t>
            </a:r>
            <a:endParaRPr lang="en-US" sz="1400" dirty="0"/>
          </a:p>
        </p:txBody>
      </p:sp>
      <p:sp>
        <p:nvSpPr>
          <p:cNvPr id="17" name="Text 14"/>
          <p:cNvSpPr txBox="1"/>
          <p:nvPr/>
        </p:nvSpPr>
        <p:spPr>
          <a:xfrm>
            <a:off x="10195560" y="199339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+10.6 pts</a:t>
            </a:r>
            <a:endParaRPr lang="en-US" sz="1600" dirty="0"/>
          </a:p>
        </p:txBody>
      </p:sp>
      <p:sp>
        <p:nvSpPr>
          <p:cNvPr id="18" name="Text 15"/>
          <p:cNvSpPr txBox="1"/>
          <p:nvPr/>
        </p:nvSpPr>
        <p:spPr>
          <a:xfrm>
            <a:off x="749808" y="272491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72491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20" name="Text 17"/>
          <p:cNvSpPr txBox="1"/>
          <p:nvPr/>
        </p:nvSpPr>
        <p:spPr>
          <a:xfrm>
            <a:off x="3657600" y="272491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12.6%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22.8%</a:t>
            </a:r>
            <a:endParaRPr lang="en-US" sz="1400" dirty="0"/>
          </a:p>
        </p:txBody>
      </p:sp>
      <p:graphicFrame>
        <p:nvGraphicFramePr>
          <p:cNvPr id="21" name="Chart 1" descr=""/>
          <p:cNvGraphicFramePr/>
          <p:nvPr/>
        </p:nvGraphicFramePr>
        <p:xfrm>
          <a:off x="5276088" y="2743200"/>
          <a:ext cx="2697480" cy="694944"/>
        </p:xfrm>
        <a:graphic>
          <a:graphicData uri="http://schemas.openxmlformats.org/drawingml/2006/chart">
            <c:chart xmlns:c="http://schemas.openxmlformats.org/drawingml/2006/chart" r:id="rId3"/>
          </a:graphicData>
        </a:graphic>
      </p:graphicFrame>
      <p:sp>
        <p:nvSpPr>
          <p:cNvPr id="22" name="Text 18"/>
          <p:cNvSpPr txBox="1"/>
          <p:nvPr/>
        </p:nvSpPr>
        <p:spPr>
          <a:xfrm>
            <a:off x="8183880" y="272491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23" name="Text 19"/>
          <p:cNvSpPr txBox="1"/>
          <p:nvPr/>
        </p:nvSpPr>
        <p:spPr>
          <a:xfrm>
            <a:off x="10195560" y="272491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+10.1 pts</a:t>
            </a:r>
            <a:endParaRPr lang="en-US" sz="1600" dirty="0"/>
          </a:p>
        </p:txBody>
      </p:sp>
      <p:sp>
        <p:nvSpPr>
          <p:cNvPr id="24" name="Shape 20"/>
          <p:cNvSpPr/>
          <p:nvPr/>
        </p:nvSpPr>
        <p:spPr>
          <a:xfrm>
            <a:off x="621792" y="3456432"/>
            <a:ext cx="10945368" cy="731520"/>
          </a:xfrm>
          <a:prstGeom prst="rect">
            <a:avLst/>
          </a:prstGeom>
          <a:solidFill>
            <a:srgbClr val="F7F7F7"/>
          </a:solidFill>
          <a:ln/>
        </p:spPr>
      </p:sp>
      <p:sp>
        <p:nvSpPr>
          <p:cNvPr id="25" name="Text 21"/>
          <p:cNvSpPr txBox="1"/>
          <p:nvPr/>
        </p:nvSpPr>
        <p:spPr>
          <a:xfrm>
            <a:off x="749808" y="345643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345643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27" name="Text 23"/>
          <p:cNvSpPr txBox="1"/>
          <p:nvPr/>
        </p:nvSpPr>
        <p:spPr>
          <a:xfrm>
            <a:off x="3657600" y="345643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4.1%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11.8%</a:t>
            </a:r>
            <a:endParaRPr lang="en-US" sz="1400" dirty="0"/>
          </a:p>
        </p:txBody>
      </p:sp>
      <p:graphicFrame>
        <p:nvGraphicFramePr>
          <p:cNvPr id="28" name="Chart 2" descr=""/>
          <p:cNvGraphicFramePr/>
          <p:nvPr/>
        </p:nvGraphicFramePr>
        <p:xfrm>
          <a:off x="5276088" y="3474720"/>
          <a:ext cx="2697480" cy="694944"/>
        </p:xfrm>
        <a:graphic>
          <a:graphicData uri="http://schemas.openxmlformats.org/drawingml/2006/chart">
            <c:chart xmlns:c="http://schemas.openxmlformats.org/drawingml/2006/chart" r:id="rId4"/>
          </a:graphicData>
        </a:graphic>
      </p:graphicFrame>
      <p:sp>
        <p:nvSpPr>
          <p:cNvPr id="29" name="Text 24"/>
          <p:cNvSpPr txBox="1"/>
          <p:nvPr/>
        </p:nvSpPr>
        <p:spPr>
          <a:xfrm>
            <a:off x="8183880" y="345643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30" name="Text 25"/>
          <p:cNvSpPr txBox="1"/>
          <p:nvPr/>
        </p:nvSpPr>
        <p:spPr>
          <a:xfrm>
            <a:off x="10195560" y="345643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+7.7 pts</a:t>
            </a:r>
            <a:endParaRPr lang="en-US" sz="1600" dirty="0"/>
          </a:p>
        </p:txBody>
      </p:sp>
      <p:sp>
        <p:nvSpPr>
          <p:cNvPr id="31" name="Text 26"/>
          <p:cNvSpPr txBox="1"/>
          <p:nvPr/>
        </p:nvSpPr>
        <p:spPr>
          <a:xfrm>
            <a:off x="749808" y="418795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418795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33" name="Text 28"/>
          <p:cNvSpPr txBox="1"/>
          <p:nvPr/>
        </p:nvSpPr>
        <p:spPr>
          <a:xfrm>
            <a:off x="3657600" y="418795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18.3%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25.7%</a:t>
            </a:r>
            <a:endParaRPr lang="en-US" sz="1400" dirty="0"/>
          </a:p>
        </p:txBody>
      </p:sp>
      <p:graphicFrame>
        <p:nvGraphicFramePr>
          <p:cNvPr id="34" name="Chart 3" descr=""/>
          <p:cNvGraphicFramePr/>
          <p:nvPr/>
        </p:nvGraphicFramePr>
        <p:xfrm>
          <a:off x="5276088" y="4206240"/>
          <a:ext cx="2697480" cy="694944"/>
        </p:xfrm>
        <a:graphic>
          <a:graphicData uri="http://schemas.openxmlformats.org/drawingml/2006/chart">
            <c:chart xmlns:c="http://schemas.openxmlformats.org/drawingml/2006/chart" r:id="rId5"/>
          </a:graphicData>
        </a:graphic>
      </p:graphicFrame>
      <p:sp>
        <p:nvSpPr>
          <p:cNvPr id="35" name="Text 29"/>
          <p:cNvSpPr txBox="1"/>
          <p:nvPr/>
        </p:nvSpPr>
        <p:spPr>
          <a:xfrm>
            <a:off x="8183880" y="418795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36" name="Text 30"/>
          <p:cNvSpPr txBox="1"/>
          <p:nvPr/>
        </p:nvSpPr>
        <p:spPr>
          <a:xfrm>
            <a:off x="10195560" y="418795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+7.3 pts</a:t>
            </a:r>
            <a:endParaRPr lang="en-US" sz="1600" dirty="0"/>
          </a:p>
        </p:txBody>
      </p:sp>
      <p:sp>
        <p:nvSpPr>
          <p:cNvPr id="37" name="Shape 31"/>
          <p:cNvSpPr/>
          <p:nvPr/>
        </p:nvSpPr>
        <p:spPr>
          <a:xfrm>
            <a:off x="621792" y="4919472"/>
            <a:ext cx="10945368" cy="731520"/>
          </a:xfrm>
          <a:prstGeom prst="rect">
            <a:avLst/>
          </a:prstGeom>
          <a:solidFill>
            <a:srgbClr val="F7F7F7"/>
          </a:solidFill>
          <a:ln/>
        </p:spPr>
      </p:sp>
      <p:sp>
        <p:nvSpPr>
          <p:cNvPr id="38" name="Text 32"/>
          <p:cNvSpPr txBox="1"/>
          <p:nvPr/>
        </p:nvSpPr>
        <p:spPr>
          <a:xfrm>
            <a:off x="749808" y="491947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491947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40" name="Text 34"/>
          <p:cNvSpPr txBox="1"/>
          <p:nvPr/>
        </p:nvSpPr>
        <p:spPr>
          <a:xfrm>
            <a:off x="3657600" y="491947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12.8%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19.4%</a:t>
            </a:r>
            <a:endParaRPr lang="en-US" sz="1400" dirty="0"/>
          </a:p>
        </p:txBody>
      </p:sp>
      <p:graphicFrame>
        <p:nvGraphicFramePr>
          <p:cNvPr id="41" name="Chart 4" descr=""/>
          <p:cNvGraphicFramePr/>
          <p:nvPr/>
        </p:nvGraphicFramePr>
        <p:xfrm>
          <a:off x="5276088" y="4937760"/>
          <a:ext cx="2697480" cy="694944"/>
        </p:xfrm>
        <a:graphic>
          <a:graphicData uri="http://schemas.openxmlformats.org/drawingml/2006/chart">
            <c:chart xmlns:c="http://schemas.openxmlformats.org/drawingml/2006/chart" r:id="rId6"/>
          </a:graphicData>
        </a:graphic>
      </p:graphicFrame>
      <p:sp>
        <p:nvSpPr>
          <p:cNvPr id="42" name="Text 35"/>
          <p:cNvSpPr txBox="1"/>
          <p:nvPr/>
        </p:nvSpPr>
        <p:spPr>
          <a:xfrm>
            <a:off x="8183880" y="491947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43" name="Text 36"/>
          <p:cNvSpPr txBox="1"/>
          <p:nvPr/>
        </p:nvSpPr>
        <p:spPr>
          <a:xfrm>
            <a:off x="10195560" y="491947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+6.5 pts</a:t>
            </a:r>
            <a:endParaRPr lang="en-US" sz="1600" dirty="0"/>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LINE CHART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Balance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8.2% → 8.3%, 0.0 pts: that is the season. 15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731520"/>
          </a:xfrm>
          <a:prstGeom prst="rect">
            <a:avLst/>
          </a:prstGeom>
          <a:solidFill>
            <a:srgbClr val="F7F7F7"/>
          </a:solidFill>
          <a:ln/>
        </p:spPr>
      </p:sp>
      <p:sp>
        <p:nvSpPr>
          <p:cNvPr id="12" name="Text 10"/>
          <p:cNvSpPr txBox="1"/>
          <p:nvPr/>
        </p:nvSpPr>
        <p:spPr>
          <a:xfrm>
            <a:off x="749808" y="199339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4" name="Text 12"/>
          <p:cNvSpPr txBox="1"/>
          <p:nvPr/>
        </p:nvSpPr>
        <p:spPr>
          <a:xfrm>
            <a:off x="3657600" y="199339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10.1%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19.3%</a:t>
            </a:r>
            <a:endParaRPr lang="en-US" sz="1400" dirty="0"/>
          </a:p>
        </p:txBody>
      </p:sp>
      <p:graphicFrame>
        <p:nvGraphicFramePr>
          <p:cNvPr id="15" name="Chart 0" descr=""/>
          <p:cNvGraphicFramePr/>
          <p:nvPr/>
        </p:nvGraphicFramePr>
        <p:xfrm>
          <a:off x="5276088" y="2011680"/>
          <a:ext cx="2697480" cy="694944"/>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7" name="Text 14"/>
          <p:cNvSpPr txBox="1"/>
          <p:nvPr/>
        </p:nvSpPr>
        <p:spPr>
          <a:xfrm>
            <a:off x="10195560" y="199339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+9.1 pts</a:t>
            </a:r>
            <a:endParaRPr lang="en-US" sz="1600" dirty="0"/>
          </a:p>
        </p:txBody>
      </p:sp>
      <p:sp>
        <p:nvSpPr>
          <p:cNvPr id="18" name="Text 15"/>
          <p:cNvSpPr txBox="1"/>
          <p:nvPr/>
        </p:nvSpPr>
        <p:spPr>
          <a:xfrm>
            <a:off x="749808" y="272491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72491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20" name="Text 17"/>
          <p:cNvSpPr txBox="1"/>
          <p:nvPr/>
        </p:nvSpPr>
        <p:spPr>
          <a:xfrm>
            <a:off x="3657600" y="272491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10.8%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16.1%</a:t>
            </a:r>
            <a:endParaRPr lang="en-US" sz="1400" dirty="0"/>
          </a:p>
        </p:txBody>
      </p:sp>
      <p:graphicFrame>
        <p:nvGraphicFramePr>
          <p:cNvPr id="21" name="Chart 1" descr=""/>
          <p:cNvGraphicFramePr/>
          <p:nvPr/>
        </p:nvGraphicFramePr>
        <p:xfrm>
          <a:off x="5276088" y="2743200"/>
          <a:ext cx="2697480" cy="694944"/>
        </p:xfrm>
        <a:graphic>
          <a:graphicData uri="http://schemas.openxmlformats.org/drawingml/2006/chart">
            <c:chart xmlns:c="http://schemas.openxmlformats.org/drawingml/2006/chart" r:id="rId3"/>
          </a:graphicData>
        </a:graphic>
      </p:graphicFrame>
      <p:sp>
        <p:nvSpPr>
          <p:cNvPr id="22" name="Text 18"/>
          <p:cNvSpPr txBox="1"/>
          <p:nvPr/>
        </p:nvSpPr>
        <p:spPr>
          <a:xfrm>
            <a:off x="8183880" y="272491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23" name="Text 19"/>
          <p:cNvSpPr txBox="1"/>
          <p:nvPr/>
        </p:nvSpPr>
        <p:spPr>
          <a:xfrm>
            <a:off x="10195560" y="272491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+5.2 pts</a:t>
            </a:r>
            <a:endParaRPr lang="en-US" sz="1600" dirty="0"/>
          </a:p>
        </p:txBody>
      </p:sp>
      <p:sp>
        <p:nvSpPr>
          <p:cNvPr id="24" name="Shape 20"/>
          <p:cNvSpPr/>
          <p:nvPr/>
        </p:nvSpPr>
        <p:spPr>
          <a:xfrm>
            <a:off x="621792" y="3456432"/>
            <a:ext cx="10945368" cy="731520"/>
          </a:xfrm>
          <a:prstGeom prst="rect">
            <a:avLst/>
          </a:prstGeom>
          <a:solidFill>
            <a:srgbClr val="F7F7F7"/>
          </a:solidFill>
          <a:ln/>
        </p:spPr>
      </p:sp>
      <p:sp>
        <p:nvSpPr>
          <p:cNvPr id="25" name="Text 21"/>
          <p:cNvSpPr txBox="1"/>
          <p:nvPr/>
        </p:nvSpPr>
        <p:spPr>
          <a:xfrm>
            <a:off x="749808" y="345643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345643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27" name="Text 23"/>
          <p:cNvSpPr txBox="1"/>
          <p:nvPr/>
        </p:nvSpPr>
        <p:spPr>
          <a:xfrm>
            <a:off x="3657600" y="345643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0.7%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4.0%</a:t>
            </a:r>
            <a:endParaRPr lang="en-US" sz="1400" dirty="0"/>
          </a:p>
        </p:txBody>
      </p:sp>
      <p:graphicFrame>
        <p:nvGraphicFramePr>
          <p:cNvPr id="28" name="Chart 2" descr=""/>
          <p:cNvGraphicFramePr/>
          <p:nvPr/>
        </p:nvGraphicFramePr>
        <p:xfrm>
          <a:off x="5276088" y="3474720"/>
          <a:ext cx="2697480" cy="694944"/>
        </p:xfrm>
        <a:graphic>
          <a:graphicData uri="http://schemas.openxmlformats.org/drawingml/2006/chart">
            <c:chart xmlns:c="http://schemas.openxmlformats.org/drawingml/2006/chart" r:id="rId4"/>
          </a:graphicData>
        </a:graphic>
      </p:graphicFrame>
      <p:sp>
        <p:nvSpPr>
          <p:cNvPr id="29" name="Text 24"/>
          <p:cNvSpPr txBox="1"/>
          <p:nvPr/>
        </p:nvSpPr>
        <p:spPr>
          <a:xfrm>
            <a:off x="8183880" y="345643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0" name="Text 25"/>
          <p:cNvSpPr txBox="1"/>
          <p:nvPr/>
        </p:nvSpPr>
        <p:spPr>
          <a:xfrm>
            <a:off x="10195560" y="345643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 pts</a:t>
            </a:r>
            <a:endParaRPr lang="en-US" sz="1600" dirty="0"/>
          </a:p>
        </p:txBody>
      </p:sp>
      <p:sp>
        <p:nvSpPr>
          <p:cNvPr id="31" name="Text 26"/>
          <p:cNvSpPr txBox="1"/>
          <p:nvPr/>
        </p:nvSpPr>
        <p:spPr>
          <a:xfrm>
            <a:off x="749808" y="418795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418795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33" name="Text 28"/>
          <p:cNvSpPr txBox="1"/>
          <p:nvPr/>
        </p:nvSpPr>
        <p:spPr>
          <a:xfrm>
            <a:off x="3657600" y="418795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5.3%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8.5%</a:t>
            </a:r>
            <a:endParaRPr lang="en-US" sz="1400" dirty="0"/>
          </a:p>
        </p:txBody>
      </p:sp>
      <p:graphicFrame>
        <p:nvGraphicFramePr>
          <p:cNvPr id="34" name="Chart 3" descr=""/>
          <p:cNvGraphicFramePr/>
          <p:nvPr/>
        </p:nvGraphicFramePr>
        <p:xfrm>
          <a:off x="5276088" y="4206240"/>
          <a:ext cx="2697480" cy="694944"/>
        </p:xfrm>
        <a:graphic>
          <a:graphicData uri="http://schemas.openxmlformats.org/drawingml/2006/chart">
            <c:chart xmlns:c="http://schemas.openxmlformats.org/drawingml/2006/chart" r:id="rId5"/>
          </a:graphicData>
        </a:graphic>
      </p:graphicFrame>
      <p:sp>
        <p:nvSpPr>
          <p:cNvPr id="35" name="Text 29"/>
          <p:cNvSpPr txBox="1"/>
          <p:nvPr/>
        </p:nvSpPr>
        <p:spPr>
          <a:xfrm>
            <a:off x="8183880" y="418795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6" name="Text 30"/>
          <p:cNvSpPr txBox="1"/>
          <p:nvPr/>
        </p:nvSpPr>
        <p:spPr>
          <a:xfrm>
            <a:off x="10195560" y="418795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+3.1 pts</a:t>
            </a:r>
            <a:endParaRPr lang="en-US" sz="1600" dirty="0"/>
          </a:p>
        </p:txBody>
      </p:sp>
      <p:sp>
        <p:nvSpPr>
          <p:cNvPr id="37" name="Shape 31"/>
          <p:cNvSpPr/>
          <p:nvPr/>
        </p:nvSpPr>
        <p:spPr>
          <a:xfrm>
            <a:off x="621792" y="4919472"/>
            <a:ext cx="10945368" cy="731520"/>
          </a:xfrm>
          <a:prstGeom prst="rect">
            <a:avLst/>
          </a:prstGeom>
          <a:solidFill>
            <a:srgbClr val="F7F7F7"/>
          </a:solidFill>
          <a:ln/>
        </p:spPr>
      </p:sp>
      <p:sp>
        <p:nvSpPr>
          <p:cNvPr id="38" name="Text 32"/>
          <p:cNvSpPr txBox="1"/>
          <p:nvPr/>
        </p:nvSpPr>
        <p:spPr>
          <a:xfrm>
            <a:off x="749808" y="491947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491947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p:txBody>
      </p:sp>
      <p:sp>
        <p:nvSpPr>
          <p:cNvPr id="40" name="Text 34"/>
          <p:cNvSpPr txBox="1"/>
          <p:nvPr/>
        </p:nvSpPr>
        <p:spPr>
          <a:xfrm>
            <a:off x="3657600" y="491947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9.7%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12.2%</a:t>
            </a:r>
            <a:endParaRPr lang="en-US" sz="1400" dirty="0"/>
          </a:p>
        </p:txBody>
      </p:sp>
      <p:graphicFrame>
        <p:nvGraphicFramePr>
          <p:cNvPr id="41" name="Chart 4" descr=""/>
          <p:cNvGraphicFramePr/>
          <p:nvPr/>
        </p:nvGraphicFramePr>
        <p:xfrm>
          <a:off x="5276088" y="4937760"/>
          <a:ext cx="2697480" cy="694944"/>
        </p:xfrm>
        <a:graphic>
          <a:graphicData uri="http://schemas.openxmlformats.org/drawingml/2006/chart">
            <c:chart xmlns:c="http://schemas.openxmlformats.org/drawingml/2006/chart" r:id="rId6"/>
          </a:graphicData>
        </a:graphic>
      </p:graphicFrame>
      <p:sp>
        <p:nvSpPr>
          <p:cNvPr id="42" name="Text 35"/>
          <p:cNvSpPr txBox="1"/>
          <p:nvPr/>
        </p:nvSpPr>
        <p:spPr>
          <a:xfrm>
            <a:off x="8183880" y="491947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43" name="Text 36"/>
          <p:cNvSpPr txBox="1"/>
          <p:nvPr/>
        </p:nvSpPr>
        <p:spPr>
          <a:xfrm>
            <a:off x="10195560" y="491947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 pts</a:t>
            </a:r>
            <a:endParaRPr lang="en-US" sz="1600" dirty="0"/>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LINE CHART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Brake Fluid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9.1% → 9.1%, 0.0 pts: that is the season. 15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731520"/>
          </a:xfrm>
          <a:prstGeom prst="rect">
            <a:avLst/>
          </a:prstGeom>
          <a:solidFill>
            <a:srgbClr val="F7F7F7"/>
          </a:solidFill>
          <a:ln/>
        </p:spPr>
      </p:sp>
      <p:sp>
        <p:nvSpPr>
          <p:cNvPr id="12" name="Text 10"/>
          <p:cNvSpPr txBox="1"/>
          <p:nvPr/>
        </p:nvSpPr>
        <p:spPr>
          <a:xfrm>
            <a:off x="749808" y="199339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4" name="Text 12"/>
          <p:cNvSpPr txBox="1"/>
          <p:nvPr/>
        </p:nvSpPr>
        <p:spPr>
          <a:xfrm>
            <a:off x="3657600" y="199339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5.2%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14.1%</a:t>
            </a:r>
            <a:endParaRPr lang="en-US" sz="1400" dirty="0"/>
          </a:p>
        </p:txBody>
      </p:sp>
      <p:graphicFrame>
        <p:nvGraphicFramePr>
          <p:cNvPr id="15" name="Chart 0" descr=""/>
          <p:cNvGraphicFramePr/>
          <p:nvPr/>
        </p:nvGraphicFramePr>
        <p:xfrm>
          <a:off x="5276088" y="2011680"/>
          <a:ext cx="2697480" cy="694944"/>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7" name="Text 14"/>
          <p:cNvSpPr txBox="1"/>
          <p:nvPr/>
        </p:nvSpPr>
        <p:spPr>
          <a:xfrm>
            <a:off x="10195560" y="199339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+8.9 pts</a:t>
            </a:r>
            <a:endParaRPr lang="en-US" sz="1600" dirty="0"/>
          </a:p>
        </p:txBody>
      </p:sp>
      <p:sp>
        <p:nvSpPr>
          <p:cNvPr id="18" name="Text 15"/>
          <p:cNvSpPr txBox="1"/>
          <p:nvPr/>
        </p:nvSpPr>
        <p:spPr>
          <a:xfrm>
            <a:off x="749808" y="272491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72491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20" name="Text 17"/>
          <p:cNvSpPr txBox="1"/>
          <p:nvPr/>
        </p:nvSpPr>
        <p:spPr>
          <a:xfrm>
            <a:off x="3657600" y="272491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0.5%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5.3%</a:t>
            </a:r>
            <a:endParaRPr lang="en-US" sz="1400" dirty="0"/>
          </a:p>
        </p:txBody>
      </p:sp>
      <p:graphicFrame>
        <p:nvGraphicFramePr>
          <p:cNvPr id="21" name="Chart 1" descr=""/>
          <p:cNvGraphicFramePr/>
          <p:nvPr/>
        </p:nvGraphicFramePr>
        <p:xfrm>
          <a:off x="5276088" y="2743200"/>
          <a:ext cx="2697480" cy="694944"/>
        </p:xfrm>
        <a:graphic>
          <a:graphicData uri="http://schemas.openxmlformats.org/drawingml/2006/chart">
            <c:chart xmlns:c="http://schemas.openxmlformats.org/drawingml/2006/chart" r:id="rId3"/>
          </a:graphicData>
        </a:graphic>
      </p:graphicFrame>
      <p:sp>
        <p:nvSpPr>
          <p:cNvPr id="22" name="Text 18"/>
          <p:cNvSpPr txBox="1"/>
          <p:nvPr/>
        </p:nvSpPr>
        <p:spPr>
          <a:xfrm>
            <a:off x="8183880" y="272491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23" name="Text 19"/>
          <p:cNvSpPr txBox="1"/>
          <p:nvPr/>
        </p:nvSpPr>
        <p:spPr>
          <a:xfrm>
            <a:off x="10195560" y="272491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 pts</a:t>
            </a:r>
            <a:endParaRPr lang="en-US" sz="1600" dirty="0"/>
          </a:p>
        </p:txBody>
      </p:sp>
      <p:sp>
        <p:nvSpPr>
          <p:cNvPr id="24" name="Shape 20"/>
          <p:cNvSpPr/>
          <p:nvPr/>
        </p:nvSpPr>
        <p:spPr>
          <a:xfrm>
            <a:off x="621792" y="3456432"/>
            <a:ext cx="10945368" cy="731520"/>
          </a:xfrm>
          <a:prstGeom prst="rect">
            <a:avLst/>
          </a:prstGeom>
          <a:solidFill>
            <a:srgbClr val="F7F7F7"/>
          </a:solidFill>
          <a:ln/>
        </p:spPr>
      </p:sp>
      <p:sp>
        <p:nvSpPr>
          <p:cNvPr id="25" name="Text 21"/>
          <p:cNvSpPr txBox="1"/>
          <p:nvPr/>
        </p:nvSpPr>
        <p:spPr>
          <a:xfrm>
            <a:off x="749808" y="345643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345643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27" name="Text 23"/>
          <p:cNvSpPr txBox="1"/>
          <p:nvPr/>
        </p:nvSpPr>
        <p:spPr>
          <a:xfrm>
            <a:off x="3657600" y="345643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3.9%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7.9%</a:t>
            </a:r>
            <a:endParaRPr lang="en-US" sz="1400" dirty="0"/>
          </a:p>
        </p:txBody>
      </p:sp>
      <p:graphicFrame>
        <p:nvGraphicFramePr>
          <p:cNvPr id="28" name="Chart 2" descr=""/>
          <p:cNvGraphicFramePr/>
          <p:nvPr/>
        </p:nvGraphicFramePr>
        <p:xfrm>
          <a:off x="5276088" y="3474720"/>
          <a:ext cx="2697480" cy="694944"/>
        </p:xfrm>
        <a:graphic>
          <a:graphicData uri="http://schemas.openxmlformats.org/drawingml/2006/chart">
            <c:chart xmlns:c="http://schemas.openxmlformats.org/drawingml/2006/chart" r:id="rId4"/>
          </a:graphicData>
        </a:graphic>
      </p:graphicFrame>
      <p:sp>
        <p:nvSpPr>
          <p:cNvPr id="29" name="Text 24"/>
          <p:cNvSpPr txBox="1"/>
          <p:nvPr/>
        </p:nvSpPr>
        <p:spPr>
          <a:xfrm>
            <a:off x="8183880" y="345643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30" name="Text 25"/>
          <p:cNvSpPr txBox="1"/>
          <p:nvPr/>
        </p:nvSpPr>
        <p:spPr>
          <a:xfrm>
            <a:off x="10195560" y="345643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31" name="Text 26"/>
          <p:cNvSpPr txBox="1"/>
          <p:nvPr/>
        </p:nvSpPr>
        <p:spPr>
          <a:xfrm>
            <a:off x="749808" y="418795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418795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33" name="Text 28"/>
          <p:cNvSpPr txBox="1"/>
          <p:nvPr/>
        </p:nvSpPr>
        <p:spPr>
          <a:xfrm>
            <a:off x="3657600" y="418795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8.3%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11.7%</a:t>
            </a:r>
            <a:endParaRPr lang="en-US" sz="1400" dirty="0"/>
          </a:p>
        </p:txBody>
      </p:sp>
      <p:graphicFrame>
        <p:nvGraphicFramePr>
          <p:cNvPr id="34" name="Chart 3" descr=""/>
          <p:cNvGraphicFramePr/>
          <p:nvPr/>
        </p:nvGraphicFramePr>
        <p:xfrm>
          <a:off x="5276088" y="4206240"/>
          <a:ext cx="2697480" cy="694944"/>
        </p:xfrm>
        <a:graphic>
          <a:graphicData uri="http://schemas.openxmlformats.org/drawingml/2006/chart">
            <c:chart xmlns:c="http://schemas.openxmlformats.org/drawingml/2006/chart" r:id="rId5"/>
          </a:graphicData>
        </a:graphic>
      </p:graphicFrame>
      <p:sp>
        <p:nvSpPr>
          <p:cNvPr id="35" name="Text 29"/>
          <p:cNvSpPr txBox="1"/>
          <p:nvPr/>
        </p:nvSpPr>
        <p:spPr>
          <a:xfrm>
            <a:off x="8183880" y="418795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36" name="Text 30"/>
          <p:cNvSpPr txBox="1"/>
          <p:nvPr/>
        </p:nvSpPr>
        <p:spPr>
          <a:xfrm>
            <a:off x="10195560" y="418795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 pts</a:t>
            </a:r>
            <a:endParaRPr lang="en-US" sz="1600" dirty="0"/>
          </a:p>
        </p:txBody>
      </p:sp>
      <p:sp>
        <p:nvSpPr>
          <p:cNvPr id="37" name="Shape 31"/>
          <p:cNvSpPr/>
          <p:nvPr/>
        </p:nvSpPr>
        <p:spPr>
          <a:xfrm>
            <a:off x="621792" y="4919472"/>
            <a:ext cx="10945368" cy="731520"/>
          </a:xfrm>
          <a:prstGeom prst="rect">
            <a:avLst/>
          </a:prstGeom>
          <a:solidFill>
            <a:srgbClr val="F7F7F7"/>
          </a:solidFill>
          <a:ln/>
        </p:spPr>
      </p:sp>
      <p:sp>
        <p:nvSpPr>
          <p:cNvPr id="38" name="Text 32"/>
          <p:cNvSpPr txBox="1"/>
          <p:nvPr/>
        </p:nvSpPr>
        <p:spPr>
          <a:xfrm>
            <a:off x="749808" y="491947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491947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LV</a:t>
            </a:r>
            <a:endParaRPr lang="en-US" sz="1400" dirty="0"/>
          </a:p>
        </p:txBody>
      </p:sp>
      <p:sp>
        <p:nvSpPr>
          <p:cNvPr id="40" name="Text 34"/>
          <p:cNvSpPr txBox="1"/>
          <p:nvPr/>
        </p:nvSpPr>
        <p:spPr>
          <a:xfrm>
            <a:off x="3657600" y="491947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8.1%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10.3%</a:t>
            </a:r>
            <a:endParaRPr lang="en-US" sz="1400" dirty="0"/>
          </a:p>
        </p:txBody>
      </p:sp>
      <p:graphicFrame>
        <p:nvGraphicFramePr>
          <p:cNvPr id="41" name="Chart 4" descr=""/>
          <p:cNvGraphicFramePr/>
          <p:nvPr/>
        </p:nvGraphicFramePr>
        <p:xfrm>
          <a:off x="5276088" y="4937760"/>
          <a:ext cx="2697480" cy="694944"/>
        </p:xfrm>
        <a:graphic>
          <a:graphicData uri="http://schemas.openxmlformats.org/drawingml/2006/chart">
            <c:chart xmlns:c="http://schemas.openxmlformats.org/drawingml/2006/chart" r:id="rId6"/>
          </a:graphicData>
        </a:graphic>
      </p:graphicFrame>
      <p:sp>
        <p:nvSpPr>
          <p:cNvPr id="42" name="Text 35"/>
          <p:cNvSpPr txBox="1"/>
          <p:nvPr/>
        </p:nvSpPr>
        <p:spPr>
          <a:xfrm>
            <a:off x="8183880" y="491947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July</a:t>
            </a:r>
            <a:endParaRPr lang="en-US" sz="1400" dirty="0"/>
          </a:p>
        </p:txBody>
      </p:sp>
      <p:sp>
        <p:nvSpPr>
          <p:cNvPr id="43" name="Text 36"/>
          <p:cNvSpPr txBox="1"/>
          <p:nvPr/>
        </p:nvSpPr>
        <p:spPr>
          <a:xfrm>
            <a:off x="10195560" y="491947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+2.1 pts</a:t>
            </a:r>
            <a:endParaRPr lang="en-US" sz="1600" dirty="0"/>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WHO'S MOVING NOW · LINE CHART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 Fuel Service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310896"/>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Q1 → Q3 2026. Group 5.8% → 5.6%, −0.2 pts: that is the season. 19 of 33 stores beat it.</a:t>
            </a:r>
            <a:endParaRPr lang="en-US" sz="1400" dirty="0"/>
          </a:p>
        </p:txBody>
      </p:sp>
      <p:sp>
        <p:nvSpPr>
          <p:cNvPr id="7" name="Text 5"/>
          <p:cNvSpPr txBox="1"/>
          <p:nvPr/>
        </p:nvSpPr>
        <p:spPr>
          <a:xfrm>
            <a:off x="3657600" y="1682496"/>
            <a:ext cx="155448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8" name="Text 6"/>
          <p:cNvSpPr txBox="1"/>
          <p:nvPr/>
        </p:nvSpPr>
        <p:spPr>
          <a:xfrm>
            <a:off x="5349240" y="1682496"/>
            <a:ext cx="26517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Jan – Sep 2026, by month</a:t>
            </a:r>
            <a:endParaRPr lang="en-US" sz="1400" dirty="0"/>
          </a:p>
        </p:txBody>
      </p:sp>
      <p:sp>
        <p:nvSpPr>
          <p:cNvPr id="9" name="Text 7"/>
          <p:cNvSpPr txBox="1"/>
          <p:nvPr/>
        </p:nvSpPr>
        <p:spPr>
          <a:xfrm>
            <a:off x="8183880" y="1682496"/>
            <a:ext cx="1737360" cy="274320"/>
          </a:xfrm>
          <a:prstGeom prst="rect">
            <a:avLst/>
          </a:prstGeom>
          <a:noFill/>
          <a:ln/>
        </p:spPr>
        <p:txBody>
          <a:bodyPr wrap="square" lIns="0" tIns="0" rIns="0" bIns="0" rtlCol="0" anchor="ctr"/>
          <a:lstStyle/>
          <a:p>
            <a:pPr algn="l"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10195560" y="1682496"/>
            <a:ext cx="1371600" cy="274320"/>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11" name="Shape 9"/>
          <p:cNvSpPr/>
          <p:nvPr/>
        </p:nvSpPr>
        <p:spPr>
          <a:xfrm>
            <a:off x="621792" y="1993392"/>
            <a:ext cx="10945368" cy="731520"/>
          </a:xfrm>
          <a:prstGeom prst="rect">
            <a:avLst/>
          </a:prstGeom>
          <a:solidFill>
            <a:srgbClr val="F7F7F7"/>
          </a:solidFill>
          <a:ln/>
        </p:spPr>
      </p:sp>
      <p:sp>
        <p:nvSpPr>
          <p:cNvPr id="12" name="Text 10"/>
          <p:cNvSpPr txBox="1"/>
          <p:nvPr/>
        </p:nvSpPr>
        <p:spPr>
          <a:xfrm>
            <a:off x="749808" y="199339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3" name="Text 11"/>
          <p:cNvSpPr txBox="1"/>
          <p:nvPr/>
        </p:nvSpPr>
        <p:spPr>
          <a:xfrm>
            <a:off x="1097280" y="199339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4" name="Text 12"/>
          <p:cNvSpPr txBox="1"/>
          <p:nvPr/>
        </p:nvSpPr>
        <p:spPr>
          <a:xfrm>
            <a:off x="3657600" y="199339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2.5%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10.7%</a:t>
            </a:r>
            <a:endParaRPr lang="en-US" sz="1400" dirty="0"/>
          </a:p>
        </p:txBody>
      </p:sp>
      <p:graphicFrame>
        <p:nvGraphicFramePr>
          <p:cNvPr id="15" name="Chart 0" descr=""/>
          <p:cNvGraphicFramePr/>
          <p:nvPr/>
        </p:nvGraphicFramePr>
        <p:xfrm>
          <a:off x="5276088" y="2011680"/>
          <a:ext cx="2697480" cy="694944"/>
        </p:xfrm>
        <a:graphic>
          <a:graphicData uri="http://schemas.openxmlformats.org/drawingml/2006/chart">
            <c:chart xmlns:c="http://schemas.openxmlformats.org/drawingml/2006/chart" r:id="rId2"/>
          </a:graphicData>
        </a:graphic>
      </p:graphicFrame>
      <p:sp>
        <p:nvSpPr>
          <p:cNvPr id="16" name="Text 13"/>
          <p:cNvSpPr txBox="1"/>
          <p:nvPr/>
        </p:nvSpPr>
        <p:spPr>
          <a:xfrm>
            <a:off x="8183880" y="199339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17" name="Text 14"/>
          <p:cNvSpPr txBox="1"/>
          <p:nvPr/>
        </p:nvSpPr>
        <p:spPr>
          <a:xfrm>
            <a:off x="10195560" y="199339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+8.1 pts</a:t>
            </a:r>
            <a:endParaRPr lang="en-US" sz="1600" dirty="0"/>
          </a:p>
        </p:txBody>
      </p:sp>
      <p:sp>
        <p:nvSpPr>
          <p:cNvPr id="18" name="Text 15"/>
          <p:cNvSpPr txBox="1"/>
          <p:nvPr/>
        </p:nvSpPr>
        <p:spPr>
          <a:xfrm>
            <a:off x="749808" y="272491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72491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20" name="Text 17"/>
          <p:cNvSpPr txBox="1"/>
          <p:nvPr/>
        </p:nvSpPr>
        <p:spPr>
          <a:xfrm>
            <a:off x="3657600" y="272491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4.2%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8.1%</a:t>
            </a:r>
            <a:endParaRPr lang="en-US" sz="1400" dirty="0"/>
          </a:p>
        </p:txBody>
      </p:sp>
      <p:graphicFrame>
        <p:nvGraphicFramePr>
          <p:cNvPr id="21" name="Chart 1" descr=""/>
          <p:cNvGraphicFramePr/>
          <p:nvPr/>
        </p:nvGraphicFramePr>
        <p:xfrm>
          <a:off x="5276088" y="2743200"/>
          <a:ext cx="2697480" cy="694944"/>
        </p:xfrm>
        <a:graphic>
          <a:graphicData uri="http://schemas.openxmlformats.org/drawingml/2006/chart">
            <c:chart xmlns:c="http://schemas.openxmlformats.org/drawingml/2006/chart" r:id="rId3"/>
          </a:graphicData>
        </a:graphic>
      </p:graphicFrame>
      <p:sp>
        <p:nvSpPr>
          <p:cNvPr id="22" name="Text 18"/>
          <p:cNvSpPr txBox="1"/>
          <p:nvPr/>
        </p:nvSpPr>
        <p:spPr>
          <a:xfrm>
            <a:off x="8183880" y="272491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23" name="Text 19"/>
          <p:cNvSpPr txBox="1"/>
          <p:nvPr/>
        </p:nvSpPr>
        <p:spPr>
          <a:xfrm>
            <a:off x="10195560" y="272491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24" name="Shape 20"/>
          <p:cNvSpPr/>
          <p:nvPr/>
        </p:nvSpPr>
        <p:spPr>
          <a:xfrm>
            <a:off x="621792" y="3456432"/>
            <a:ext cx="10945368" cy="731520"/>
          </a:xfrm>
          <a:prstGeom prst="rect">
            <a:avLst/>
          </a:prstGeom>
          <a:solidFill>
            <a:srgbClr val="F7F7F7"/>
          </a:solidFill>
          <a:ln/>
        </p:spPr>
      </p:sp>
      <p:sp>
        <p:nvSpPr>
          <p:cNvPr id="25" name="Text 21"/>
          <p:cNvSpPr txBox="1"/>
          <p:nvPr/>
        </p:nvSpPr>
        <p:spPr>
          <a:xfrm>
            <a:off x="749808" y="345643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345643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27" name="Text 23"/>
          <p:cNvSpPr txBox="1"/>
          <p:nvPr/>
        </p:nvSpPr>
        <p:spPr>
          <a:xfrm>
            <a:off x="3657600" y="345643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1.2%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4.9%</a:t>
            </a:r>
            <a:endParaRPr lang="en-US" sz="1400" dirty="0"/>
          </a:p>
        </p:txBody>
      </p:sp>
      <p:graphicFrame>
        <p:nvGraphicFramePr>
          <p:cNvPr id="28" name="Chart 2" descr=""/>
          <p:cNvGraphicFramePr/>
          <p:nvPr/>
        </p:nvGraphicFramePr>
        <p:xfrm>
          <a:off x="5276088" y="3474720"/>
          <a:ext cx="2697480" cy="694944"/>
        </p:xfrm>
        <a:graphic>
          <a:graphicData uri="http://schemas.openxmlformats.org/drawingml/2006/chart">
            <c:chart xmlns:c="http://schemas.openxmlformats.org/drawingml/2006/chart" r:id="rId4"/>
          </a:graphicData>
        </a:graphic>
      </p:graphicFrame>
      <p:sp>
        <p:nvSpPr>
          <p:cNvPr id="29" name="Text 24"/>
          <p:cNvSpPr txBox="1"/>
          <p:nvPr/>
        </p:nvSpPr>
        <p:spPr>
          <a:xfrm>
            <a:off x="8183880" y="345643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April</a:t>
            </a:r>
            <a:endParaRPr lang="en-US" sz="1400" dirty="0"/>
          </a:p>
        </p:txBody>
      </p:sp>
      <p:sp>
        <p:nvSpPr>
          <p:cNvPr id="30" name="Text 25"/>
          <p:cNvSpPr txBox="1"/>
          <p:nvPr/>
        </p:nvSpPr>
        <p:spPr>
          <a:xfrm>
            <a:off x="10195560" y="345643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+3.6 pts</a:t>
            </a:r>
            <a:endParaRPr lang="en-US" sz="1600" dirty="0"/>
          </a:p>
        </p:txBody>
      </p:sp>
      <p:sp>
        <p:nvSpPr>
          <p:cNvPr id="31" name="Text 26"/>
          <p:cNvSpPr txBox="1"/>
          <p:nvPr/>
        </p:nvSpPr>
        <p:spPr>
          <a:xfrm>
            <a:off x="749808" y="418795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2" name="Text 27"/>
          <p:cNvSpPr txBox="1"/>
          <p:nvPr/>
        </p:nvSpPr>
        <p:spPr>
          <a:xfrm>
            <a:off x="1097280" y="418795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33" name="Text 28"/>
          <p:cNvSpPr txBox="1"/>
          <p:nvPr/>
        </p:nvSpPr>
        <p:spPr>
          <a:xfrm>
            <a:off x="3657600" y="418795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6.7%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10.1%</a:t>
            </a:r>
            <a:endParaRPr lang="en-US" sz="1400" dirty="0"/>
          </a:p>
        </p:txBody>
      </p:sp>
      <p:graphicFrame>
        <p:nvGraphicFramePr>
          <p:cNvPr id="34" name="Chart 3" descr=""/>
          <p:cNvGraphicFramePr/>
          <p:nvPr/>
        </p:nvGraphicFramePr>
        <p:xfrm>
          <a:off x="5276088" y="4206240"/>
          <a:ext cx="2697480" cy="694944"/>
        </p:xfrm>
        <a:graphic>
          <a:graphicData uri="http://schemas.openxmlformats.org/drawingml/2006/chart">
            <c:chart xmlns:c="http://schemas.openxmlformats.org/drawingml/2006/chart" r:id="rId5"/>
          </a:graphicData>
        </a:graphic>
      </p:graphicFrame>
      <p:sp>
        <p:nvSpPr>
          <p:cNvPr id="35" name="Text 29"/>
          <p:cNvSpPr txBox="1"/>
          <p:nvPr/>
        </p:nvSpPr>
        <p:spPr>
          <a:xfrm>
            <a:off x="8183880" y="418795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June</a:t>
            </a:r>
            <a:endParaRPr lang="en-US" sz="1400" dirty="0"/>
          </a:p>
        </p:txBody>
      </p:sp>
      <p:sp>
        <p:nvSpPr>
          <p:cNvPr id="36" name="Text 30"/>
          <p:cNvSpPr txBox="1"/>
          <p:nvPr/>
        </p:nvSpPr>
        <p:spPr>
          <a:xfrm>
            <a:off x="10195560" y="418795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37" name="Shape 31"/>
          <p:cNvSpPr/>
          <p:nvPr/>
        </p:nvSpPr>
        <p:spPr>
          <a:xfrm>
            <a:off x="621792" y="4919472"/>
            <a:ext cx="10945368" cy="731520"/>
          </a:xfrm>
          <a:prstGeom prst="rect">
            <a:avLst/>
          </a:prstGeom>
          <a:solidFill>
            <a:srgbClr val="F7F7F7"/>
          </a:solidFill>
          <a:ln/>
        </p:spPr>
      </p:sp>
      <p:sp>
        <p:nvSpPr>
          <p:cNvPr id="38" name="Text 32"/>
          <p:cNvSpPr txBox="1"/>
          <p:nvPr/>
        </p:nvSpPr>
        <p:spPr>
          <a:xfrm>
            <a:off x="749808" y="4919472"/>
            <a:ext cx="310896" cy="73152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9" name="Text 33"/>
          <p:cNvSpPr txBox="1"/>
          <p:nvPr/>
        </p:nvSpPr>
        <p:spPr>
          <a:xfrm>
            <a:off x="1097280" y="4919472"/>
            <a:ext cx="2468880" cy="7315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40" name="Text 34"/>
          <p:cNvSpPr txBox="1"/>
          <p:nvPr/>
        </p:nvSpPr>
        <p:spPr>
          <a:xfrm>
            <a:off x="3657600" y="4919472"/>
            <a:ext cx="1783080" cy="7315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0.0%  </a:t>
            </a:r>
            <a:pPr indent="0" marL="0">
              <a:buNone/>
            </a:pPr>
            <a:r>
              <a:rPr lang="en-US" sz="1400" b="1" dirty="0">
                <a:solidFill>
                  <a:srgbClr val="0B7A4A"/>
                </a:solidFill>
                <a:latin typeface="Inter" pitchFamily="34" charset="0"/>
                <a:ea typeface="Inter" pitchFamily="34" charset="-122"/>
                <a:cs typeface="Inter" pitchFamily="34" charset="-120"/>
              </a:rPr>
              <a:t>→  </a:t>
            </a:r>
            <a:pPr indent="0" marL="0">
              <a:buNone/>
            </a:pPr>
            <a:r>
              <a:rPr lang="en-US" sz="1400" b="1" dirty="0">
                <a:solidFill>
                  <a:srgbClr val="0B7A4A"/>
                </a:solidFill>
                <a:latin typeface="Inter" pitchFamily="34" charset="0"/>
                <a:ea typeface="Inter" pitchFamily="34" charset="-122"/>
                <a:cs typeface="Inter" pitchFamily="34" charset="-120"/>
              </a:rPr>
              <a:t>2.5%</a:t>
            </a:r>
            <a:endParaRPr lang="en-US" sz="1400" dirty="0"/>
          </a:p>
        </p:txBody>
      </p:sp>
      <p:graphicFrame>
        <p:nvGraphicFramePr>
          <p:cNvPr id="41" name="Chart 4" descr=""/>
          <p:cNvGraphicFramePr/>
          <p:nvPr/>
        </p:nvGraphicFramePr>
        <p:xfrm>
          <a:off x="5276088" y="4937760"/>
          <a:ext cx="2697480" cy="694944"/>
        </p:xfrm>
        <a:graphic>
          <a:graphicData uri="http://schemas.openxmlformats.org/drawingml/2006/chart">
            <c:chart xmlns:c="http://schemas.openxmlformats.org/drawingml/2006/chart" r:id="rId6"/>
          </a:graphicData>
        </a:graphic>
      </p:graphicFrame>
      <p:sp>
        <p:nvSpPr>
          <p:cNvPr id="42" name="Text 35"/>
          <p:cNvSpPr txBox="1"/>
          <p:nvPr/>
        </p:nvSpPr>
        <p:spPr>
          <a:xfrm>
            <a:off x="8183880" y="4919472"/>
            <a:ext cx="1737360" cy="73152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August</a:t>
            </a:r>
            <a:endParaRPr lang="en-US" sz="1400" dirty="0"/>
          </a:p>
        </p:txBody>
      </p:sp>
      <p:sp>
        <p:nvSpPr>
          <p:cNvPr id="43" name="Text 36"/>
          <p:cNvSpPr txBox="1"/>
          <p:nvPr/>
        </p:nvSpPr>
        <p:spPr>
          <a:xfrm>
            <a:off x="10195560" y="4919472"/>
            <a:ext cx="1371600" cy="73152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+2.4 pts</a:t>
            </a:r>
            <a:endParaRPr lang="en-US" sz="1600" dirty="0"/>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MOST IMPROVED · V1, SUPERSEDED BY V2</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Stores · January–September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 three stores on each measure, vs Jan–Sep 2025</a:t>
            </a:r>
            <a:endParaRPr lang="en-US" sz="1400" dirty="0"/>
          </a:p>
        </p:txBody>
      </p:sp>
      <p:sp>
        <p:nvSpPr>
          <p:cNvPr id="7" name="Shape 5"/>
          <p:cNvSpPr/>
          <p:nvPr/>
        </p:nvSpPr>
        <p:spPr>
          <a:xfrm>
            <a:off x="713232" y="1682496"/>
            <a:ext cx="3453384" cy="1938528"/>
          </a:xfrm>
          <a:prstGeom prst="rect">
            <a:avLst/>
          </a:prstGeom>
          <a:solidFill>
            <a:srgbClr val="F7F7F7"/>
          </a:solidFill>
          <a:ln/>
        </p:spPr>
      </p:sp>
      <p:sp>
        <p:nvSpPr>
          <p:cNvPr id="8" name="Shape 6"/>
          <p:cNvSpPr/>
          <p:nvPr/>
        </p:nvSpPr>
        <p:spPr>
          <a:xfrm>
            <a:off x="713232" y="1682496"/>
            <a:ext cx="3453384" cy="54864"/>
          </a:xfrm>
          <a:prstGeom prst="rect">
            <a:avLst/>
          </a:prstGeom>
          <a:solidFill>
            <a:srgbClr val="12A566"/>
          </a:solidFill>
          <a:ln/>
        </p:spPr>
      </p:sp>
      <p:sp>
        <p:nvSpPr>
          <p:cNvPr id="9" name="Text 7"/>
          <p:cNvSpPr txBox="1"/>
          <p:nvPr/>
        </p:nvSpPr>
        <p:spPr>
          <a:xfrm>
            <a:off x="859536" y="1810512"/>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GROSS</a:t>
            </a:r>
            <a:endParaRPr lang="en-US" sz="1400" dirty="0"/>
          </a:p>
        </p:txBody>
      </p:sp>
      <p:sp>
        <p:nvSpPr>
          <p:cNvPr id="10" name="Text 8"/>
          <p:cNvSpPr txBox="1"/>
          <p:nvPr/>
        </p:nvSpPr>
        <p:spPr>
          <a:xfrm>
            <a:off x="2795016" y="1810512"/>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+6.4%</a:t>
            </a:r>
            <a:endParaRPr lang="en-US" sz="1300" dirty="0"/>
          </a:p>
        </p:txBody>
      </p:sp>
      <p:sp>
        <p:nvSpPr>
          <p:cNvPr id="11" name="Text 9"/>
          <p:cNvSpPr txBox="1"/>
          <p:nvPr/>
        </p:nvSpPr>
        <p:spPr>
          <a:xfrm>
            <a:off x="859536" y="2121408"/>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12" name="Text 10"/>
          <p:cNvSpPr txBox="1"/>
          <p:nvPr/>
        </p:nvSpPr>
        <p:spPr>
          <a:xfrm>
            <a:off x="1115568" y="2121408"/>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13" name="Text 11"/>
          <p:cNvSpPr txBox="1"/>
          <p:nvPr/>
        </p:nvSpPr>
        <p:spPr>
          <a:xfrm>
            <a:off x="1115568" y="2368296"/>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$865K → $1.26M</a:t>
            </a:r>
            <a:endParaRPr lang="en-US" sz="1300" dirty="0"/>
          </a:p>
        </p:txBody>
      </p:sp>
      <p:sp>
        <p:nvSpPr>
          <p:cNvPr id="14" name="Text 12"/>
          <p:cNvSpPr txBox="1"/>
          <p:nvPr/>
        </p:nvSpPr>
        <p:spPr>
          <a:xfrm>
            <a:off x="2886456" y="2121408"/>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+46.0%</a:t>
            </a:r>
            <a:endParaRPr lang="en-US" sz="1800" dirty="0"/>
          </a:p>
        </p:txBody>
      </p:sp>
      <p:sp>
        <p:nvSpPr>
          <p:cNvPr id="15" name="Text 13"/>
          <p:cNvSpPr txBox="1"/>
          <p:nvPr/>
        </p:nvSpPr>
        <p:spPr>
          <a:xfrm>
            <a:off x="859536" y="2606040"/>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16" name="Text 14"/>
          <p:cNvSpPr txBox="1"/>
          <p:nvPr/>
        </p:nvSpPr>
        <p:spPr>
          <a:xfrm>
            <a:off x="1115568" y="2606040"/>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17" name="Text 15"/>
          <p:cNvSpPr txBox="1"/>
          <p:nvPr/>
        </p:nvSpPr>
        <p:spPr>
          <a:xfrm>
            <a:off x="1115568" y="2852928"/>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$832K → $1.21M</a:t>
            </a:r>
            <a:endParaRPr lang="en-US" sz="1300" dirty="0"/>
          </a:p>
        </p:txBody>
      </p:sp>
      <p:sp>
        <p:nvSpPr>
          <p:cNvPr id="18" name="Text 16"/>
          <p:cNvSpPr txBox="1"/>
          <p:nvPr/>
        </p:nvSpPr>
        <p:spPr>
          <a:xfrm>
            <a:off x="2886456" y="2606040"/>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+45.3%</a:t>
            </a:r>
            <a:endParaRPr lang="en-US" sz="1800" dirty="0"/>
          </a:p>
        </p:txBody>
      </p:sp>
      <p:sp>
        <p:nvSpPr>
          <p:cNvPr id="19" name="Text 17"/>
          <p:cNvSpPr txBox="1"/>
          <p:nvPr/>
        </p:nvSpPr>
        <p:spPr>
          <a:xfrm>
            <a:off x="859536" y="309067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20" name="Text 18"/>
          <p:cNvSpPr txBox="1"/>
          <p:nvPr/>
        </p:nvSpPr>
        <p:spPr>
          <a:xfrm>
            <a:off x="1115568" y="309067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p:txBody>
      </p:sp>
      <p:sp>
        <p:nvSpPr>
          <p:cNvPr id="21" name="Text 19"/>
          <p:cNvSpPr txBox="1"/>
          <p:nvPr/>
        </p:nvSpPr>
        <p:spPr>
          <a:xfrm>
            <a:off x="1115568" y="333756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$1.48M → $1.98M</a:t>
            </a:r>
            <a:endParaRPr lang="en-US" sz="1300" dirty="0"/>
          </a:p>
        </p:txBody>
      </p:sp>
      <p:sp>
        <p:nvSpPr>
          <p:cNvPr id="22" name="Text 20"/>
          <p:cNvSpPr txBox="1"/>
          <p:nvPr/>
        </p:nvSpPr>
        <p:spPr>
          <a:xfrm>
            <a:off x="2886456" y="309067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+33.8%</a:t>
            </a:r>
            <a:endParaRPr lang="en-US" sz="1800" dirty="0"/>
          </a:p>
        </p:txBody>
      </p:sp>
      <p:sp>
        <p:nvSpPr>
          <p:cNvPr id="23" name="Shape 21"/>
          <p:cNvSpPr/>
          <p:nvPr/>
        </p:nvSpPr>
        <p:spPr>
          <a:xfrm>
            <a:off x="4367784" y="1682496"/>
            <a:ext cx="3453384" cy="1938528"/>
          </a:xfrm>
          <a:prstGeom prst="rect">
            <a:avLst/>
          </a:prstGeom>
          <a:solidFill>
            <a:srgbClr val="F7F7F7"/>
          </a:solidFill>
          <a:ln/>
        </p:spPr>
      </p:sp>
      <p:sp>
        <p:nvSpPr>
          <p:cNvPr id="24" name="Shape 22"/>
          <p:cNvSpPr/>
          <p:nvPr/>
        </p:nvSpPr>
        <p:spPr>
          <a:xfrm>
            <a:off x="4367784" y="1682496"/>
            <a:ext cx="3453384" cy="54864"/>
          </a:xfrm>
          <a:prstGeom prst="rect">
            <a:avLst/>
          </a:prstGeom>
          <a:solidFill>
            <a:srgbClr val="12A566"/>
          </a:solidFill>
          <a:ln/>
        </p:spPr>
      </p:sp>
      <p:sp>
        <p:nvSpPr>
          <p:cNvPr id="25" name="Text 23"/>
          <p:cNvSpPr txBox="1"/>
          <p:nvPr/>
        </p:nvSpPr>
        <p:spPr>
          <a:xfrm>
            <a:off x="4514088" y="1810512"/>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RO COUNT</a:t>
            </a:r>
            <a:endParaRPr lang="en-US" sz="1400" dirty="0"/>
          </a:p>
        </p:txBody>
      </p:sp>
      <p:sp>
        <p:nvSpPr>
          <p:cNvPr id="26" name="Text 24"/>
          <p:cNvSpPr txBox="1"/>
          <p:nvPr/>
        </p:nvSpPr>
        <p:spPr>
          <a:xfrm>
            <a:off x="6449568" y="1810512"/>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+0.1%</a:t>
            </a:r>
            <a:endParaRPr lang="en-US" sz="1300" dirty="0"/>
          </a:p>
        </p:txBody>
      </p:sp>
      <p:sp>
        <p:nvSpPr>
          <p:cNvPr id="27" name="Text 25"/>
          <p:cNvSpPr txBox="1"/>
          <p:nvPr/>
        </p:nvSpPr>
        <p:spPr>
          <a:xfrm>
            <a:off x="4514088" y="2121408"/>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28" name="Text 26"/>
          <p:cNvSpPr txBox="1"/>
          <p:nvPr/>
        </p:nvSpPr>
        <p:spPr>
          <a:xfrm>
            <a:off x="4770120" y="2121408"/>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LV</a:t>
            </a:r>
            <a:endParaRPr lang="en-US" sz="1400" dirty="0"/>
          </a:p>
        </p:txBody>
      </p:sp>
      <p:sp>
        <p:nvSpPr>
          <p:cNvPr id="29" name="Text 27"/>
          <p:cNvSpPr txBox="1"/>
          <p:nvPr/>
        </p:nvSpPr>
        <p:spPr>
          <a:xfrm>
            <a:off x="4770120" y="2368296"/>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7,156 → 8,133</a:t>
            </a:r>
            <a:endParaRPr lang="en-US" sz="1300" dirty="0"/>
          </a:p>
        </p:txBody>
      </p:sp>
      <p:sp>
        <p:nvSpPr>
          <p:cNvPr id="30" name="Text 28"/>
          <p:cNvSpPr txBox="1"/>
          <p:nvPr/>
        </p:nvSpPr>
        <p:spPr>
          <a:xfrm>
            <a:off x="6541008" y="2121408"/>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+13.6%</a:t>
            </a:r>
            <a:endParaRPr lang="en-US" sz="1800" dirty="0"/>
          </a:p>
        </p:txBody>
      </p:sp>
      <p:sp>
        <p:nvSpPr>
          <p:cNvPr id="31" name="Text 29"/>
          <p:cNvSpPr txBox="1"/>
          <p:nvPr/>
        </p:nvSpPr>
        <p:spPr>
          <a:xfrm>
            <a:off x="4514088" y="2606040"/>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32" name="Text 30"/>
          <p:cNvSpPr txBox="1"/>
          <p:nvPr/>
        </p:nvSpPr>
        <p:spPr>
          <a:xfrm>
            <a:off x="4770120" y="2606040"/>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33" name="Text 31"/>
          <p:cNvSpPr txBox="1"/>
          <p:nvPr/>
        </p:nvSpPr>
        <p:spPr>
          <a:xfrm>
            <a:off x="4770120" y="2852928"/>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1,784 → 2,010</a:t>
            </a:r>
            <a:endParaRPr lang="en-US" sz="1300" dirty="0"/>
          </a:p>
        </p:txBody>
      </p:sp>
      <p:sp>
        <p:nvSpPr>
          <p:cNvPr id="34" name="Text 32"/>
          <p:cNvSpPr txBox="1"/>
          <p:nvPr/>
        </p:nvSpPr>
        <p:spPr>
          <a:xfrm>
            <a:off x="6541008" y="2606040"/>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+12.6%</a:t>
            </a:r>
            <a:endParaRPr lang="en-US" sz="1800" dirty="0"/>
          </a:p>
        </p:txBody>
      </p:sp>
      <p:sp>
        <p:nvSpPr>
          <p:cNvPr id="35" name="Text 33"/>
          <p:cNvSpPr txBox="1"/>
          <p:nvPr/>
        </p:nvSpPr>
        <p:spPr>
          <a:xfrm>
            <a:off x="4514088" y="309067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36" name="Text 34"/>
          <p:cNvSpPr txBox="1"/>
          <p:nvPr/>
        </p:nvSpPr>
        <p:spPr>
          <a:xfrm>
            <a:off x="4770120" y="309067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37" name="Text 35"/>
          <p:cNvSpPr txBox="1"/>
          <p:nvPr/>
        </p:nvSpPr>
        <p:spPr>
          <a:xfrm>
            <a:off x="4770120" y="333756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2,810 → 3,107</a:t>
            </a:r>
            <a:endParaRPr lang="en-US" sz="1300" dirty="0"/>
          </a:p>
        </p:txBody>
      </p:sp>
      <p:sp>
        <p:nvSpPr>
          <p:cNvPr id="38" name="Text 36"/>
          <p:cNvSpPr txBox="1"/>
          <p:nvPr/>
        </p:nvSpPr>
        <p:spPr>
          <a:xfrm>
            <a:off x="6541008" y="309067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+10.5%</a:t>
            </a:r>
            <a:endParaRPr lang="en-US" sz="1800" dirty="0"/>
          </a:p>
        </p:txBody>
      </p:sp>
      <p:sp>
        <p:nvSpPr>
          <p:cNvPr id="39" name="Shape 37"/>
          <p:cNvSpPr/>
          <p:nvPr/>
        </p:nvSpPr>
        <p:spPr>
          <a:xfrm>
            <a:off x="8022336" y="1682496"/>
            <a:ext cx="3453384" cy="1938528"/>
          </a:xfrm>
          <a:prstGeom prst="rect">
            <a:avLst/>
          </a:prstGeom>
          <a:solidFill>
            <a:srgbClr val="F7F7F7"/>
          </a:solidFill>
          <a:ln/>
        </p:spPr>
      </p:sp>
      <p:sp>
        <p:nvSpPr>
          <p:cNvPr id="40" name="Shape 38"/>
          <p:cNvSpPr/>
          <p:nvPr/>
        </p:nvSpPr>
        <p:spPr>
          <a:xfrm>
            <a:off x="8022336" y="1682496"/>
            <a:ext cx="3453384" cy="54864"/>
          </a:xfrm>
          <a:prstGeom prst="rect">
            <a:avLst/>
          </a:prstGeom>
          <a:solidFill>
            <a:srgbClr val="12A566"/>
          </a:solidFill>
          <a:ln/>
        </p:spPr>
      </p:sp>
      <p:sp>
        <p:nvSpPr>
          <p:cNvPr id="41" name="Text 39"/>
          <p:cNvSpPr txBox="1"/>
          <p:nvPr/>
        </p:nvSpPr>
        <p:spPr>
          <a:xfrm>
            <a:off x="8168640" y="1810512"/>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HOURS PER RO</a:t>
            </a:r>
            <a:endParaRPr lang="en-US" sz="1400" dirty="0"/>
          </a:p>
        </p:txBody>
      </p:sp>
      <p:sp>
        <p:nvSpPr>
          <p:cNvPr id="42" name="Text 40"/>
          <p:cNvSpPr txBox="1"/>
          <p:nvPr/>
        </p:nvSpPr>
        <p:spPr>
          <a:xfrm>
            <a:off x="10104120" y="1810512"/>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+3.6%</a:t>
            </a:r>
            <a:endParaRPr lang="en-US" sz="1300" dirty="0"/>
          </a:p>
        </p:txBody>
      </p:sp>
      <p:sp>
        <p:nvSpPr>
          <p:cNvPr id="43" name="Text 41"/>
          <p:cNvSpPr txBox="1"/>
          <p:nvPr/>
        </p:nvSpPr>
        <p:spPr>
          <a:xfrm>
            <a:off x="8168640" y="2121408"/>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44" name="Text 42"/>
          <p:cNvSpPr txBox="1"/>
          <p:nvPr/>
        </p:nvSpPr>
        <p:spPr>
          <a:xfrm>
            <a:off x="8424672" y="2121408"/>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45" name="Text 43"/>
          <p:cNvSpPr txBox="1"/>
          <p:nvPr/>
        </p:nvSpPr>
        <p:spPr>
          <a:xfrm>
            <a:off x="8424672" y="2368296"/>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1.03 → 1.43</a:t>
            </a:r>
            <a:endParaRPr lang="en-US" sz="1300" dirty="0"/>
          </a:p>
        </p:txBody>
      </p:sp>
      <p:sp>
        <p:nvSpPr>
          <p:cNvPr id="46" name="Text 44"/>
          <p:cNvSpPr txBox="1"/>
          <p:nvPr/>
        </p:nvSpPr>
        <p:spPr>
          <a:xfrm>
            <a:off x="10195560" y="2121408"/>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+39.1%</a:t>
            </a:r>
            <a:endParaRPr lang="en-US" sz="1800" dirty="0"/>
          </a:p>
        </p:txBody>
      </p:sp>
      <p:sp>
        <p:nvSpPr>
          <p:cNvPr id="47" name="Text 45"/>
          <p:cNvSpPr txBox="1"/>
          <p:nvPr/>
        </p:nvSpPr>
        <p:spPr>
          <a:xfrm>
            <a:off x="8168640" y="2606040"/>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48" name="Text 46"/>
          <p:cNvSpPr txBox="1"/>
          <p:nvPr/>
        </p:nvSpPr>
        <p:spPr>
          <a:xfrm>
            <a:off x="8424672" y="2606040"/>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p:txBody>
      </p:sp>
      <p:sp>
        <p:nvSpPr>
          <p:cNvPr id="49" name="Text 47"/>
          <p:cNvSpPr txBox="1"/>
          <p:nvPr/>
        </p:nvSpPr>
        <p:spPr>
          <a:xfrm>
            <a:off x="8424672" y="2852928"/>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1.75 → 2.30</a:t>
            </a:r>
            <a:endParaRPr lang="en-US" sz="1300" dirty="0"/>
          </a:p>
        </p:txBody>
      </p:sp>
      <p:sp>
        <p:nvSpPr>
          <p:cNvPr id="50" name="Text 48"/>
          <p:cNvSpPr txBox="1"/>
          <p:nvPr/>
        </p:nvSpPr>
        <p:spPr>
          <a:xfrm>
            <a:off x="10195560" y="2606040"/>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+31.3%</a:t>
            </a:r>
            <a:endParaRPr lang="en-US" sz="1800" dirty="0"/>
          </a:p>
        </p:txBody>
      </p:sp>
      <p:sp>
        <p:nvSpPr>
          <p:cNvPr id="51" name="Text 49"/>
          <p:cNvSpPr txBox="1"/>
          <p:nvPr/>
        </p:nvSpPr>
        <p:spPr>
          <a:xfrm>
            <a:off x="8168640" y="309067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52" name="Text 50"/>
          <p:cNvSpPr txBox="1"/>
          <p:nvPr/>
        </p:nvSpPr>
        <p:spPr>
          <a:xfrm>
            <a:off x="8424672" y="309067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53" name="Text 51"/>
          <p:cNvSpPr txBox="1"/>
          <p:nvPr/>
        </p:nvSpPr>
        <p:spPr>
          <a:xfrm>
            <a:off x="8424672" y="333756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0.99 → 1.29</a:t>
            </a:r>
            <a:endParaRPr lang="en-US" sz="1300" dirty="0"/>
          </a:p>
        </p:txBody>
      </p:sp>
      <p:sp>
        <p:nvSpPr>
          <p:cNvPr id="54" name="Text 52"/>
          <p:cNvSpPr txBox="1"/>
          <p:nvPr/>
        </p:nvSpPr>
        <p:spPr>
          <a:xfrm>
            <a:off x="10195560" y="309067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+30.7%</a:t>
            </a:r>
            <a:endParaRPr lang="en-US" sz="1800" dirty="0"/>
          </a:p>
        </p:txBody>
      </p:sp>
      <p:sp>
        <p:nvSpPr>
          <p:cNvPr id="55" name="Shape 53"/>
          <p:cNvSpPr/>
          <p:nvPr/>
        </p:nvSpPr>
        <p:spPr>
          <a:xfrm>
            <a:off x="713232" y="3749040"/>
            <a:ext cx="3453384" cy="1938528"/>
          </a:xfrm>
          <a:prstGeom prst="rect">
            <a:avLst/>
          </a:prstGeom>
          <a:solidFill>
            <a:srgbClr val="F7F7F7"/>
          </a:solidFill>
          <a:ln/>
        </p:spPr>
      </p:sp>
      <p:sp>
        <p:nvSpPr>
          <p:cNvPr id="56" name="Shape 54"/>
          <p:cNvSpPr/>
          <p:nvPr/>
        </p:nvSpPr>
        <p:spPr>
          <a:xfrm>
            <a:off x="713232" y="3749040"/>
            <a:ext cx="3453384" cy="54864"/>
          </a:xfrm>
          <a:prstGeom prst="rect">
            <a:avLst/>
          </a:prstGeom>
          <a:solidFill>
            <a:srgbClr val="12A566"/>
          </a:solidFill>
          <a:ln/>
        </p:spPr>
      </p:sp>
      <p:sp>
        <p:nvSpPr>
          <p:cNvPr id="57" name="Text 55"/>
          <p:cNvSpPr txBox="1"/>
          <p:nvPr/>
        </p:nvSpPr>
        <p:spPr>
          <a:xfrm>
            <a:off x="859536" y="3877056"/>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ELR</a:t>
            </a:r>
            <a:endParaRPr lang="en-US" sz="1400" dirty="0"/>
          </a:p>
        </p:txBody>
      </p:sp>
      <p:sp>
        <p:nvSpPr>
          <p:cNvPr id="58" name="Text 56"/>
          <p:cNvSpPr txBox="1"/>
          <p:nvPr/>
        </p:nvSpPr>
        <p:spPr>
          <a:xfrm>
            <a:off x="2795016" y="3877056"/>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+2.2%</a:t>
            </a:r>
            <a:endParaRPr lang="en-US" sz="1300" dirty="0"/>
          </a:p>
        </p:txBody>
      </p:sp>
      <p:sp>
        <p:nvSpPr>
          <p:cNvPr id="59" name="Text 57"/>
          <p:cNvSpPr txBox="1"/>
          <p:nvPr/>
        </p:nvSpPr>
        <p:spPr>
          <a:xfrm>
            <a:off x="859536" y="418795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60" name="Text 58"/>
          <p:cNvSpPr txBox="1"/>
          <p:nvPr/>
        </p:nvSpPr>
        <p:spPr>
          <a:xfrm>
            <a:off x="1115568" y="418795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61" name="Text 59"/>
          <p:cNvSpPr txBox="1"/>
          <p:nvPr/>
        </p:nvSpPr>
        <p:spPr>
          <a:xfrm>
            <a:off x="1115568" y="443484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$117.05 → $143.89</a:t>
            </a:r>
            <a:endParaRPr lang="en-US" sz="1300" dirty="0"/>
          </a:p>
        </p:txBody>
      </p:sp>
      <p:sp>
        <p:nvSpPr>
          <p:cNvPr id="62" name="Text 60"/>
          <p:cNvSpPr txBox="1"/>
          <p:nvPr/>
        </p:nvSpPr>
        <p:spPr>
          <a:xfrm>
            <a:off x="2886456" y="418795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+22.9%</a:t>
            </a:r>
            <a:endParaRPr lang="en-US" sz="1800" dirty="0"/>
          </a:p>
        </p:txBody>
      </p:sp>
      <p:sp>
        <p:nvSpPr>
          <p:cNvPr id="63" name="Text 61"/>
          <p:cNvSpPr txBox="1"/>
          <p:nvPr/>
        </p:nvSpPr>
        <p:spPr>
          <a:xfrm>
            <a:off x="859536" y="4672584"/>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64" name="Text 62"/>
          <p:cNvSpPr txBox="1"/>
          <p:nvPr/>
        </p:nvSpPr>
        <p:spPr>
          <a:xfrm>
            <a:off x="1115568" y="4672584"/>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VOLVO</a:t>
            </a:r>
            <a:endParaRPr lang="en-US" sz="1400" dirty="0"/>
          </a:p>
        </p:txBody>
      </p:sp>
      <p:sp>
        <p:nvSpPr>
          <p:cNvPr id="65" name="Text 63"/>
          <p:cNvSpPr txBox="1"/>
          <p:nvPr/>
        </p:nvSpPr>
        <p:spPr>
          <a:xfrm>
            <a:off x="1115568" y="4919472"/>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$181.59 → $222.12</a:t>
            </a:r>
            <a:endParaRPr lang="en-US" sz="1300" dirty="0"/>
          </a:p>
        </p:txBody>
      </p:sp>
      <p:sp>
        <p:nvSpPr>
          <p:cNvPr id="66" name="Text 64"/>
          <p:cNvSpPr txBox="1"/>
          <p:nvPr/>
        </p:nvSpPr>
        <p:spPr>
          <a:xfrm>
            <a:off x="2886456" y="4672584"/>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+22.3%</a:t>
            </a:r>
            <a:endParaRPr lang="en-US" sz="1800" dirty="0"/>
          </a:p>
        </p:txBody>
      </p:sp>
      <p:sp>
        <p:nvSpPr>
          <p:cNvPr id="67" name="Text 65"/>
          <p:cNvSpPr txBox="1"/>
          <p:nvPr/>
        </p:nvSpPr>
        <p:spPr>
          <a:xfrm>
            <a:off x="859536" y="5157216"/>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68" name="Text 66"/>
          <p:cNvSpPr txBox="1"/>
          <p:nvPr/>
        </p:nvSpPr>
        <p:spPr>
          <a:xfrm>
            <a:off x="1115568" y="5157216"/>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69" name="Text 67"/>
          <p:cNvSpPr txBox="1"/>
          <p:nvPr/>
        </p:nvSpPr>
        <p:spPr>
          <a:xfrm>
            <a:off x="1115568" y="5404104"/>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$139.55 → $167.64</a:t>
            </a:r>
            <a:endParaRPr lang="en-US" sz="1300" dirty="0"/>
          </a:p>
        </p:txBody>
      </p:sp>
      <p:sp>
        <p:nvSpPr>
          <p:cNvPr id="70" name="Text 68"/>
          <p:cNvSpPr txBox="1"/>
          <p:nvPr/>
        </p:nvSpPr>
        <p:spPr>
          <a:xfrm>
            <a:off x="2886456" y="5157216"/>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+20.1%</a:t>
            </a:r>
            <a:endParaRPr lang="en-US" sz="1800" dirty="0"/>
          </a:p>
        </p:txBody>
      </p:sp>
      <p:sp>
        <p:nvSpPr>
          <p:cNvPr id="71" name="Shape 69"/>
          <p:cNvSpPr/>
          <p:nvPr/>
        </p:nvSpPr>
        <p:spPr>
          <a:xfrm>
            <a:off x="4367784" y="3749040"/>
            <a:ext cx="3453384" cy="1938528"/>
          </a:xfrm>
          <a:prstGeom prst="rect">
            <a:avLst/>
          </a:prstGeom>
          <a:solidFill>
            <a:srgbClr val="F7F7F7"/>
          </a:solidFill>
          <a:ln/>
        </p:spPr>
      </p:sp>
      <p:sp>
        <p:nvSpPr>
          <p:cNvPr id="72" name="Shape 70"/>
          <p:cNvSpPr/>
          <p:nvPr/>
        </p:nvSpPr>
        <p:spPr>
          <a:xfrm>
            <a:off x="4367784" y="3749040"/>
            <a:ext cx="3453384" cy="54864"/>
          </a:xfrm>
          <a:prstGeom prst="rect">
            <a:avLst/>
          </a:prstGeom>
          <a:solidFill>
            <a:srgbClr val="12A566"/>
          </a:solidFill>
          <a:ln/>
        </p:spPr>
      </p:sp>
      <p:sp>
        <p:nvSpPr>
          <p:cNvPr id="73" name="Text 71"/>
          <p:cNvSpPr txBox="1"/>
          <p:nvPr/>
        </p:nvSpPr>
        <p:spPr>
          <a:xfrm>
            <a:off x="4514088" y="3877056"/>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PARTS $ PER RO</a:t>
            </a:r>
            <a:endParaRPr lang="en-US" sz="1400" dirty="0"/>
          </a:p>
        </p:txBody>
      </p:sp>
      <p:sp>
        <p:nvSpPr>
          <p:cNvPr id="74" name="Text 72"/>
          <p:cNvSpPr txBox="1"/>
          <p:nvPr/>
        </p:nvSpPr>
        <p:spPr>
          <a:xfrm>
            <a:off x="6449568" y="3877056"/>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+4.1%</a:t>
            </a:r>
            <a:endParaRPr lang="en-US" sz="1300" dirty="0"/>
          </a:p>
        </p:txBody>
      </p:sp>
      <p:sp>
        <p:nvSpPr>
          <p:cNvPr id="75" name="Text 73"/>
          <p:cNvSpPr txBox="1"/>
          <p:nvPr/>
        </p:nvSpPr>
        <p:spPr>
          <a:xfrm>
            <a:off x="4514088" y="418795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76" name="Text 74"/>
          <p:cNvSpPr txBox="1"/>
          <p:nvPr/>
        </p:nvSpPr>
        <p:spPr>
          <a:xfrm>
            <a:off x="4770120" y="418795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77" name="Text 75"/>
          <p:cNvSpPr txBox="1"/>
          <p:nvPr/>
        </p:nvSpPr>
        <p:spPr>
          <a:xfrm>
            <a:off x="4770120" y="443484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$281 → $363</a:t>
            </a:r>
            <a:endParaRPr lang="en-US" sz="1300" dirty="0"/>
          </a:p>
        </p:txBody>
      </p:sp>
      <p:sp>
        <p:nvSpPr>
          <p:cNvPr id="78" name="Text 76"/>
          <p:cNvSpPr txBox="1"/>
          <p:nvPr/>
        </p:nvSpPr>
        <p:spPr>
          <a:xfrm>
            <a:off x="6541008" y="418795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+28.9%</a:t>
            </a:r>
            <a:endParaRPr lang="en-US" sz="1800" dirty="0"/>
          </a:p>
        </p:txBody>
      </p:sp>
      <p:sp>
        <p:nvSpPr>
          <p:cNvPr id="79" name="Text 77"/>
          <p:cNvSpPr txBox="1"/>
          <p:nvPr/>
        </p:nvSpPr>
        <p:spPr>
          <a:xfrm>
            <a:off x="4514088" y="4672584"/>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80" name="Text 78"/>
          <p:cNvSpPr txBox="1"/>
          <p:nvPr/>
        </p:nvSpPr>
        <p:spPr>
          <a:xfrm>
            <a:off x="4770120" y="4672584"/>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81" name="Text 79"/>
          <p:cNvSpPr txBox="1"/>
          <p:nvPr/>
        </p:nvSpPr>
        <p:spPr>
          <a:xfrm>
            <a:off x="4770120" y="4919472"/>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$193 → $240</a:t>
            </a:r>
            <a:endParaRPr lang="en-US" sz="1300" dirty="0"/>
          </a:p>
        </p:txBody>
      </p:sp>
      <p:sp>
        <p:nvSpPr>
          <p:cNvPr id="82" name="Text 80"/>
          <p:cNvSpPr txBox="1"/>
          <p:nvPr/>
        </p:nvSpPr>
        <p:spPr>
          <a:xfrm>
            <a:off x="6541008" y="4672584"/>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+24.7%</a:t>
            </a:r>
            <a:endParaRPr lang="en-US" sz="1800" dirty="0"/>
          </a:p>
        </p:txBody>
      </p:sp>
      <p:sp>
        <p:nvSpPr>
          <p:cNvPr id="83" name="Text 81"/>
          <p:cNvSpPr txBox="1"/>
          <p:nvPr/>
        </p:nvSpPr>
        <p:spPr>
          <a:xfrm>
            <a:off x="4514088" y="5157216"/>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84" name="Text 82"/>
          <p:cNvSpPr txBox="1"/>
          <p:nvPr/>
        </p:nvSpPr>
        <p:spPr>
          <a:xfrm>
            <a:off x="4770120" y="5157216"/>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85" name="Text 83"/>
          <p:cNvSpPr txBox="1"/>
          <p:nvPr/>
        </p:nvSpPr>
        <p:spPr>
          <a:xfrm>
            <a:off x="4770120" y="5404104"/>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$181 → $219</a:t>
            </a:r>
            <a:endParaRPr lang="en-US" sz="1300" dirty="0"/>
          </a:p>
        </p:txBody>
      </p:sp>
      <p:sp>
        <p:nvSpPr>
          <p:cNvPr id="86" name="Text 84"/>
          <p:cNvSpPr txBox="1"/>
          <p:nvPr/>
        </p:nvSpPr>
        <p:spPr>
          <a:xfrm>
            <a:off x="6541008" y="5157216"/>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+21.0%</a:t>
            </a:r>
            <a:endParaRPr lang="en-US" sz="1800" dirty="0"/>
          </a:p>
        </p:txBody>
      </p:sp>
      <p:sp>
        <p:nvSpPr>
          <p:cNvPr id="87" name="Shape 85"/>
          <p:cNvSpPr/>
          <p:nvPr/>
        </p:nvSpPr>
        <p:spPr>
          <a:xfrm>
            <a:off x="8022336" y="3749040"/>
            <a:ext cx="3453384" cy="1938528"/>
          </a:xfrm>
          <a:prstGeom prst="rect">
            <a:avLst/>
          </a:prstGeom>
          <a:solidFill>
            <a:srgbClr val="F7F7F7"/>
          </a:solidFill>
          <a:ln/>
        </p:spPr>
      </p:sp>
      <p:sp>
        <p:nvSpPr>
          <p:cNvPr id="88" name="Shape 86"/>
          <p:cNvSpPr/>
          <p:nvPr/>
        </p:nvSpPr>
        <p:spPr>
          <a:xfrm>
            <a:off x="8022336" y="3749040"/>
            <a:ext cx="3453384" cy="54864"/>
          </a:xfrm>
          <a:prstGeom prst="rect">
            <a:avLst/>
          </a:prstGeom>
          <a:solidFill>
            <a:srgbClr val="12A566"/>
          </a:solidFill>
          <a:ln/>
        </p:spPr>
      </p:sp>
      <p:sp>
        <p:nvSpPr>
          <p:cNvPr id="89" name="Text 87"/>
          <p:cNvSpPr txBox="1"/>
          <p:nvPr/>
        </p:nvSpPr>
        <p:spPr>
          <a:xfrm>
            <a:off x="8168640" y="3877056"/>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PARTS GP %</a:t>
            </a:r>
            <a:endParaRPr lang="en-US" sz="1400" dirty="0"/>
          </a:p>
        </p:txBody>
      </p:sp>
      <p:sp>
        <p:nvSpPr>
          <p:cNvPr id="90" name="Text 88"/>
          <p:cNvSpPr txBox="1"/>
          <p:nvPr/>
        </p:nvSpPr>
        <p:spPr>
          <a:xfrm>
            <a:off x="10104120" y="3877056"/>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+1.2 pts</a:t>
            </a:r>
            <a:endParaRPr lang="en-US" sz="1300" dirty="0"/>
          </a:p>
        </p:txBody>
      </p:sp>
      <p:sp>
        <p:nvSpPr>
          <p:cNvPr id="91" name="Text 89"/>
          <p:cNvSpPr txBox="1"/>
          <p:nvPr/>
        </p:nvSpPr>
        <p:spPr>
          <a:xfrm>
            <a:off x="8168640" y="418795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92" name="Text 90"/>
          <p:cNvSpPr txBox="1"/>
          <p:nvPr/>
        </p:nvSpPr>
        <p:spPr>
          <a:xfrm>
            <a:off x="8424672" y="418795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93" name="Text 91"/>
          <p:cNvSpPr txBox="1"/>
          <p:nvPr/>
        </p:nvSpPr>
        <p:spPr>
          <a:xfrm>
            <a:off x="8424672" y="443484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38.7% → 44.9%</a:t>
            </a:r>
            <a:endParaRPr lang="en-US" sz="1300" dirty="0"/>
          </a:p>
        </p:txBody>
      </p:sp>
      <p:sp>
        <p:nvSpPr>
          <p:cNvPr id="94" name="Text 92"/>
          <p:cNvSpPr txBox="1"/>
          <p:nvPr/>
        </p:nvSpPr>
        <p:spPr>
          <a:xfrm>
            <a:off x="10195560" y="418795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+6.1 pts</a:t>
            </a:r>
            <a:endParaRPr lang="en-US" sz="1800" dirty="0"/>
          </a:p>
        </p:txBody>
      </p:sp>
      <p:sp>
        <p:nvSpPr>
          <p:cNvPr id="95" name="Text 93"/>
          <p:cNvSpPr txBox="1"/>
          <p:nvPr/>
        </p:nvSpPr>
        <p:spPr>
          <a:xfrm>
            <a:off x="8168640" y="4672584"/>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96" name="Text 94"/>
          <p:cNvSpPr txBox="1"/>
          <p:nvPr/>
        </p:nvSpPr>
        <p:spPr>
          <a:xfrm>
            <a:off x="8424672" y="4672584"/>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NISSAN</a:t>
            </a:r>
            <a:endParaRPr lang="en-US" sz="1400" dirty="0"/>
          </a:p>
        </p:txBody>
      </p:sp>
      <p:sp>
        <p:nvSpPr>
          <p:cNvPr id="97" name="Text 95"/>
          <p:cNvSpPr txBox="1"/>
          <p:nvPr/>
        </p:nvSpPr>
        <p:spPr>
          <a:xfrm>
            <a:off x="8424672" y="4919472"/>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38.2% → 42.7%</a:t>
            </a:r>
            <a:endParaRPr lang="en-US" sz="1300" dirty="0"/>
          </a:p>
        </p:txBody>
      </p:sp>
      <p:sp>
        <p:nvSpPr>
          <p:cNvPr id="98" name="Text 96"/>
          <p:cNvSpPr txBox="1"/>
          <p:nvPr/>
        </p:nvSpPr>
        <p:spPr>
          <a:xfrm>
            <a:off x="10195560" y="4672584"/>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+4.5 pts</a:t>
            </a:r>
            <a:endParaRPr lang="en-US" sz="1800" dirty="0"/>
          </a:p>
        </p:txBody>
      </p:sp>
      <p:sp>
        <p:nvSpPr>
          <p:cNvPr id="99" name="Text 97"/>
          <p:cNvSpPr txBox="1"/>
          <p:nvPr/>
        </p:nvSpPr>
        <p:spPr>
          <a:xfrm>
            <a:off x="8168640" y="5157216"/>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100" name="Text 98"/>
          <p:cNvSpPr txBox="1"/>
          <p:nvPr/>
        </p:nvSpPr>
        <p:spPr>
          <a:xfrm>
            <a:off x="8424672" y="5157216"/>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101" name="Text 99"/>
          <p:cNvSpPr txBox="1"/>
          <p:nvPr/>
        </p:nvSpPr>
        <p:spPr>
          <a:xfrm>
            <a:off x="8424672" y="5404104"/>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31.0% → 34.8%</a:t>
            </a:r>
            <a:endParaRPr lang="en-US" sz="1300" dirty="0"/>
          </a:p>
        </p:txBody>
      </p:sp>
      <p:sp>
        <p:nvSpPr>
          <p:cNvPr id="102" name="Text 100"/>
          <p:cNvSpPr txBox="1"/>
          <p:nvPr/>
        </p:nvSpPr>
        <p:spPr>
          <a:xfrm>
            <a:off x="10195560" y="5157216"/>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+3.8 pts</a:t>
            </a:r>
            <a:endParaRPr lang="en-US" sz="1800" dirty="0"/>
          </a:p>
        </p:txBody>
      </p:sp>
      <p:sp>
        <p:nvSpPr>
          <p:cNvPr id="104" name="Shape 101"/>
          <p:cNvSpPr/>
          <p:nvPr/>
        </p:nvSpPr>
        <p:spPr>
          <a:xfrm>
            <a:off x="457200" y="6126480"/>
            <a:ext cx="11274552" cy="371856"/>
          </a:xfrm>
          <a:prstGeom prst="rect">
            <a:avLst/>
          </a:prstGeom>
          <a:solidFill>
            <a:srgbClr val="E6F6EE"/>
          </a:solidFill>
          <a:ln/>
        </p:spPr>
      </p:sp>
      <p:sp>
        <p:nvSpPr>
          <p:cNvPr id="105" name="Text 10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Three stores make two.</a:t>
            </a:r>
            <a:endParaRPr lang="en-US" sz="1600" dirty="0"/>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MOST IMPROVED · V1, SUPERSEDED BY V2</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Stores · Last 90 Days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98448"/>
            <a:ext cx="10762488"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 three stores on each measure, Jul–Sep vs Jul–Sep 2025</a:t>
            </a:r>
            <a:endParaRPr lang="en-US" sz="1400" dirty="0"/>
          </a:p>
        </p:txBody>
      </p:sp>
      <p:sp>
        <p:nvSpPr>
          <p:cNvPr id="7" name="Shape 5"/>
          <p:cNvSpPr/>
          <p:nvPr/>
        </p:nvSpPr>
        <p:spPr>
          <a:xfrm>
            <a:off x="713232" y="1682496"/>
            <a:ext cx="3453384" cy="1938528"/>
          </a:xfrm>
          <a:prstGeom prst="rect">
            <a:avLst/>
          </a:prstGeom>
          <a:solidFill>
            <a:srgbClr val="F7F7F7"/>
          </a:solidFill>
          <a:ln/>
        </p:spPr>
      </p:sp>
      <p:sp>
        <p:nvSpPr>
          <p:cNvPr id="8" name="Shape 6"/>
          <p:cNvSpPr/>
          <p:nvPr/>
        </p:nvSpPr>
        <p:spPr>
          <a:xfrm>
            <a:off x="713232" y="1682496"/>
            <a:ext cx="3453384" cy="54864"/>
          </a:xfrm>
          <a:prstGeom prst="rect">
            <a:avLst/>
          </a:prstGeom>
          <a:solidFill>
            <a:srgbClr val="12A566"/>
          </a:solidFill>
          <a:ln/>
        </p:spPr>
      </p:sp>
      <p:sp>
        <p:nvSpPr>
          <p:cNvPr id="9" name="Text 7"/>
          <p:cNvSpPr txBox="1"/>
          <p:nvPr/>
        </p:nvSpPr>
        <p:spPr>
          <a:xfrm>
            <a:off x="859536" y="1810512"/>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GROSS</a:t>
            </a:r>
            <a:endParaRPr lang="en-US" sz="1400" dirty="0"/>
          </a:p>
        </p:txBody>
      </p:sp>
      <p:sp>
        <p:nvSpPr>
          <p:cNvPr id="10" name="Text 8"/>
          <p:cNvSpPr txBox="1"/>
          <p:nvPr/>
        </p:nvSpPr>
        <p:spPr>
          <a:xfrm>
            <a:off x="2795016" y="1810512"/>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+8.4%</a:t>
            </a:r>
            <a:endParaRPr lang="en-US" sz="1300" dirty="0"/>
          </a:p>
        </p:txBody>
      </p:sp>
      <p:sp>
        <p:nvSpPr>
          <p:cNvPr id="11" name="Text 9"/>
          <p:cNvSpPr txBox="1"/>
          <p:nvPr/>
        </p:nvSpPr>
        <p:spPr>
          <a:xfrm>
            <a:off x="859536" y="2121408"/>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12" name="Text 10"/>
          <p:cNvSpPr txBox="1"/>
          <p:nvPr/>
        </p:nvSpPr>
        <p:spPr>
          <a:xfrm>
            <a:off x="1115568" y="2121408"/>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13" name="Text 11"/>
          <p:cNvSpPr txBox="1"/>
          <p:nvPr/>
        </p:nvSpPr>
        <p:spPr>
          <a:xfrm>
            <a:off x="1115568" y="2368296"/>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$243K → $418K</a:t>
            </a:r>
            <a:endParaRPr lang="en-US" sz="1300" dirty="0"/>
          </a:p>
        </p:txBody>
      </p:sp>
      <p:sp>
        <p:nvSpPr>
          <p:cNvPr id="14" name="Text 12"/>
          <p:cNvSpPr txBox="1"/>
          <p:nvPr/>
        </p:nvSpPr>
        <p:spPr>
          <a:xfrm>
            <a:off x="2886456" y="2121408"/>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+72.1%</a:t>
            </a:r>
            <a:endParaRPr lang="en-US" sz="1800" dirty="0"/>
          </a:p>
        </p:txBody>
      </p:sp>
      <p:sp>
        <p:nvSpPr>
          <p:cNvPr id="15" name="Text 13"/>
          <p:cNvSpPr txBox="1"/>
          <p:nvPr/>
        </p:nvSpPr>
        <p:spPr>
          <a:xfrm>
            <a:off x="859536" y="2606040"/>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16" name="Text 14"/>
          <p:cNvSpPr txBox="1"/>
          <p:nvPr/>
        </p:nvSpPr>
        <p:spPr>
          <a:xfrm>
            <a:off x="1115568" y="2606040"/>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17" name="Text 15"/>
          <p:cNvSpPr txBox="1"/>
          <p:nvPr/>
        </p:nvSpPr>
        <p:spPr>
          <a:xfrm>
            <a:off x="1115568" y="2852928"/>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$237K → $336K</a:t>
            </a:r>
            <a:endParaRPr lang="en-US" sz="1300" dirty="0"/>
          </a:p>
        </p:txBody>
      </p:sp>
      <p:sp>
        <p:nvSpPr>
          <p:cNvPr id="18" name="Text 16"/>
          <p:cNvSpPr txBox="1"/>
          <p:nvPr/>
        </p:nvSpPr>
        <p:spPr>
          <a:xfrm>
            <a:off x="2886456" y="2606040"/>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+41.5%</a:t>
            </a:r>
            <a:endParaRPr lang="en-US" sz="1800" dirty="0"/>
          </a:p>
        </p:txBody>
      </p:sp>
      <p:sp>
        <p:nvSpPr>
          <p:cNvPr id="19" name="Text 17"/>
          <p:cNvSpPr txBox="1"/>
          <p:nvPr/>
        </p:nvSpPr>
        <p:spPr>
          <a:xfrm>
            <a:off x="859536" y="309067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20" name="Text 18"/>
          <p:cNvSpPr txBox="1"/>
          <p:nvPr/>
        </p:nvSpPr>
        <p:spPr>
          <a:xfrm>
            <a:off x="1115568" y="309067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21" name="Text 19"/>
          <p:cNvSpPr txBox="1"/>
          <p:nvPr/>
        </p:nvSpPr>
        <p:spPr>
          <a:xfrm>
            <a:off x="1115568" y="333756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$291K → $410K</a:t>
            </a:r>
            <a:endParaRPr lang="en-US" sz="1300" dirty="0"/>
          </a:p>
        </p:txBody>
      </p:sp>
      <p:sp>
        <p:nvSpPr>
          <p:cNvPr id="22" name="Text 20"/>
          <p:cNvSpPr txBox="1"/>
          <p:nvPr/>
        </p:nvSpPr>
        <p:spPr>
          <a:xfrm>
            <a:off x="2886456" y="309067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+41.0%</a:t>
            </a:r>
            <a:endParaRPr lang="en-US" sz="1800" dirty="0"/>
          </a:p>
        </p:txBody>
      </p:sp>
      <p:sp>
        <p:nvSpPr>
          <p:cNvPr id="23" name="Shape 21"/>
          <p:cNvSpPr/>
          <p:nvPr/>
        </p:nvSpPr>
        <p:spPr>
          <a:xfrm>
            <a:off x="4367784" y="1682496"/>
            <a:ext cx="3453384" cy="1938528"/>
          </a:xfrm>
          <a:prstGeom prst="rect">
            <a:avLst/>
          </a:prstGeom>
          <a:solidFill>
            <a:srgbClr val="F7F7F7"/>
          </a:solidFill>
          <a:ln/>
        </p:spPr>
      </p:sp>
      <p:sp>
        <p:nvSpPr>
          <p:cNvPr id="24" name="Shape 22"/>
          <p:cNvSpPr/>
          <p:nvPr/>
        </p:nvSpPr>
        <p:spPr>
          <a:xfrm>
            <a:off x="4367784" y="1682496"/>
            <a:ext cx="3453384" cy="54864"/>
          </a:xfrm>
          <a:prstGeom prst="rect">
            <a:avLst/>
          </a:prstGeom>
          <a:solidFill>
            <a:srgbClr val="12A566"/>
          </a:solidFill>
          <a:ln/>
        </p:spPr>
      </p:sp>
      <p:sp>
        <p:nvSpPr>
          <p:cNvPr id="25" name="Text 23"/>
          <p:cNvSpPr txBox="1"/>
          <p:nvPr/>
        </p:nvSpPr>
        <p:spPr>
          <a:xfrm>
            <a:off x="4514088" y="1810512"/>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RO COUNT</a:t>
            </a:r>
            <a:endParaRPr lang="en-US" sz="1400" dirty="0"/>
          </a:p>
        </p:txBody>
      </p:sp>
      <p:sp>
        <p:nvSpPr>
          <p:cNvPr id="26" name="Text 24"/>
          <p:cNvSpPr txBox="1"/>
          <p:nvPr/>
        </p:nvSpPr>
        <p:spPr>
          <a:xfrm>
            <a:off x="6449568" y="1810512"/>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+2.0%</a:t>
            </a:r>
            <a:endParaRPr lang="en-US" sz="1300" dirty="0"/>
          </a:p>
        </p:txBody>
      </p:sp>
      <p:sp>
        <p:nvSpPr>
          <p:cNvPr id="27" name="Text 25"/>
          <p:cNvSpPr txBox="1"/>
          <p:nvPr/>
        </p:nvSpPr>
        <p:spPr>
          <a:xfrm>
            <a:off x="4514088" y="2121408"/>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28" name="Text 26"/>
          <p:cNvSpPr txBox="1"/>
          <p:nvPr/>
        </p:nvSpPr>
        <p:spPr>
          <a:xfrm>
            <a:off x="4770120" y="2121408"/>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RENO</a:t>
            </a:r>
            <a:endParaRPr lang="en-US" sz="1400" dirty="0"/>
          </a:p>
        </p:txBody>
      </p:sp>
      <p:sp>
        <p:nvSpPr>
          <p:cNvPr id="29" name="Text 27"/>
          <p:cNvSpPr txBox="1"/>
          <p:nvPr/>
        </p:nvSpPr>
        <p:spPr>
          <a:xfrm>
            <a:off x="4770120" y="2368296"/>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406 → 489</a:t>
            </a:r>
            <a:endParaRPr lang="en-US" sz="1300" dirty="0"/>
          </a:p>
        </p:txBody>
      </p:sp>
      <p:sp>
        <p:nvSpPr>
          <p:cNvPr id="30" name="Text 28"/>
          <p:cNvSpPr txBox="1"/>
          <p:nvPr/>
        </p:nvSpPr>
        <p:spPr>
          <a:xfrm>
            <a:off x="6541008" y="2121408"/>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+20.4%</a:t>
            </a:r>
            <a:endParaRPr lang="en-US" sz="1800" dirty="0"/>
          </a:p>
        </p:txBody>
      </p:sp>
      <p:sp>
        <p:nvSpPr>
          <p:cNvPr id="31" name="Text 29"/>
          <p:cNvSpPr txBox="1"/>
          <p:nvPr/>
        </p:nvSpPr>
        <p:spPr>
          <a:xfrm>
            <a:off x="4514088" y="2606040"/>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32" name="Text 30"/>
          <p:cNvSpPr txBox="1"/>
          <p:nvPr/>
        </p:nvSpPr>
        <p:spPr>
          <a:xfrm>
            <a:off x="4770120" y="2606040"/>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33" name="Text 31"/>
          <p:cNvSpPr txBox="1"/>
          <p:nvPr/>
        </p:nvSpPr>
        <p:spPr>
          <a:xfrm>
            <a:off x="4770120" y="2852928"/>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930 → 1,109</a:t>
            </a:r>
            <a:endParaRPr lang="en-US" sz="1300" dirty="0"/>
          </a:p>
        </p:txBody>
      </p:sp>
      <p:sp>
        <p:nvSpPr>
          <p:cNvPr id="34" name="Text 32"/>
          <p:cNvSpPr txBox="1"/>
          <p:nvPr/>
        </p:nvSpPr>
        <p:spPr>
          <a:xfrm>
            <a:off x="6541008" y="2606040"/>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+19.2%</a:t>
            </a:r>
            <a:endParaRPr lang="en-US" sz="1800" dirty="0"/>
          </a:p>
        </p:txBody>
      </p:sp>
      <p:sp>
        <p:nvSpPr>
          <p:cNvPr id="35" name="Text 33"/>
          <p:cNvSpPr txBox="1"/>
          <p:nvPr/>
        </p:nvSpPr>
        <p:spPr>
          <a:xfrm>
            <a:off x="4514088" y="309067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36" name="Text 34"/>
          <p:cNvSpPr txBox="1"/>
          <p:nvPr/>
        </p:nvSpPr>
        <p:spPr>
          <a:xfrm>
            <a:off x="4770120" y="309067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LV</a:t>
            </a:r>
            <a:endParaRPr lang="en-US" sz="1400" dirty="0"/>
          </a:p>
        </p:txBody>
      </p:sp>
      <p:sp>
        <p:nvSpPr>
          <p:cNvPr id="37" name="Text 35"/>
          <p:cNvSpPr txBox="1"/>
          <p:nvPr/>
        </p:nvSpPr>
        <p:spPr>
          <a:xfrm>
            <a:off x="4770120" y="333756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1,061 → 1,246</a:t>
            </a:r>
            <a:endParaRPr lang="en-US" sz="1300" dirty="0"/>
          </a:p>
        </p:txBody>
      </p:sp>
      <p:sp>
        <p:nvSpPr>
          <p:cNvPr id="38" name="Text 36"/>
          <p:cNvSpPr txBox="1"/>
          <p:nvPr/>
        </p:nvSpPr>
        <p:spPr>
          <a:xfrm>
            <a:off x="6541008" y="309067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+17.4%</a:t>
            </a:r>
            <a:endParaRPr lang="en-US" sz="1800" dirty="0"/>
          </a:p>
        </p:txBody>
      </p:sp>
      <p:sp>
        <p:nvSpPr>
          <p:cNvPr id="39" name="Shape 37"/>
          <p:cNvSpPr/>
          <p:nvPr/>
        </p:nvSpPr>
        <p:spPr>
          <a:xfrm>
            <a:off x="8022336" y="1682496"/>
            <a:ext cx="3453384" cy="1938528"/>
          </a:xfrm>
          <a:prstGeom prst="rect">
            <a:avLst/>
          </a:prstGeom>
          <a:solidFill>
            <a:srgbClr val="F7F7F7"/>
          </a:solidFill>
          <a:ln/>
        </p:spPr>
      </p:sp>
      <p:sp>
        <p:nvSpPr>
          <p:cNvPr id="40" name="Shape 38"/>
          <p:cNvSpPr/>
          <p:nvPr/>
        </p:nvSpPr>
        <p:spPr>
          <a:xfrm>
            <a:off x="8022336" y="1682496"/>
            <a:ext cx="3453384" cy="54864"/>
          </a:xfrm>
          <a:prstGeom prst="rect">
            <a:avLst/>
          </a:prstGeom>
          <a:solidFill>
            <a:srgbClr val="12A566"/>
          </a:solidFill>
          <a:ln/>
        </p:spPr>
      </p:sp>
      <p:sp>
        <p:nvSpPr>
          <p:cNvPr id="41" name="Text 39"/>
          <p:cNvSpPr txBox="1"/>
          <p:nvPr/>
        </p:nvSpPr>
        <p:spPr>
          <a:xfrm>
            <a:off x="8168640" y="1810512"/>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HOURS PER RO</a:t>
            </a:r>
            <a:endParaRPr lang="en-US" sz="1400" dirty="0"/>
          </a:p>
        </p:txBody>
      </p:sp>
      <p:sp>
        <p:nvSpPr>
          <p:cNvPr id="42" name="Text 40"/>
          <p:cNvSpPr txBox="1"/>
          <p:nvPr/>
        </p:nvSpPr>
        <p:spPr>
          <a:xfrm>
            <a:off x="10104120" y="1810512"/>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+3.1%</a:t>
            </a:r>
            <a:endParaRPr lang="en-US" sz="1300" dirty="0"/>
          </a:p>
        </p:txBody>
      </p:sp>
      <p:sp>
        <p:nvSpPr>
          <p:cNvPr id="43" name="Text 41"/>
          <p:cNvSpPr txBox="1"/>
          <p:nvPr/>
        </p:nvSpPr>
        <p:spPr>
          <a:xfrm>
            <a:off x="8168640" y="2121408"/>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44" name="Text 42"/>
          <p:cNvSpPr txBox="1"/>
          <p:nvPr/>
        </p:nvSpPr>
        <p:spPr>
          <a:xfrm>
            <a:off x="8424672" y="2121408"/>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45" name="Text 43"/>
          <p:cNvSpPr txBox="1"/>
          <p:nvPr/>
        </p:nvSpPr>
        <p:spPr>
          <a:xfrm>
            <a:off x="8424672" y="2368296"/>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1.07 → 1.54</a:t>
            </a:r>
            <a:endParaRPr lang="en-US" sz="1300" dirty="0"/>
          </a:p>
        </p:txBody>
      </p:sp>
      <p:sp>
        <p:nvSpPr>
          <p:cNvPr id="46" name="Text 44"/>
          <p:cNvSpPr txBox="1"/>
          <p:nvPr/>
        </p:nvSpPr>
        <p:spPr>
          <a:xfrm>
            <a:off x="10195560" y="2121408"/>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+44.7%</a:t>
            </a:r>
            <a:endParaRPr lang="en-US" sz="1800" dirty="0"/>
          </a:p>
        </p:txBody>
      </p:sp>
      <p:sp>
        <p:nvSpPr>
          <p:cNvPr id="47" name="Text 45"/>
          <p:cNvSpPr txBox="1"/>
          <p:nvPr/>
        </p:nvSpPr>
        <p:spPr>
          <a:xfrm>
            <a:off x="8168640" y="2606040"/>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48" name="Text 46"/>
          <p:cNvSpPr txBox="1"/>
          <p:nvPr/>
        </p:nvSpPr>
        <p:spPr>
          <a:xfrm>
            <a:off x="8424672" y="2606040"/>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49" name="Text 47"/>
          <p:cNvSpPr txBox="1"/>
          <p:nvPr/>
        </p:nvSpPr>
        <p:spPr>
          <a:xfrm>
            <a:off x="8424672" y="2852928"/>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0.98 → 1.38</a:t>
            </a:r>
            <a:endParaRPr lang="en-US" sz="1300" dirty="0"/>
          </a:p>
        </p:txBody>
      </p:sp>
      <p:sp>
        <p:nvSpPr>
          <p:cNvPr id="50" name="Text 48"/>
          <p:cNvSpPr txBox="1"/>
          <p:nvPr/>
        </p:nvSpPr>
        <p:spPr>
          <a:xfrm>
            <a:off x="10195560" y="2606040"/>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+41.1%</a:t>
            </a:r>
            <a:endParaRPr lang="en-US" sz="1800" dirty="0"/>
          </a:p>
        </p:txBody>
      </p:sp>
      <p:sp>
        <p:nvSpPr>
          <p:cNvPr id="51" name="Text 49"/>
          <p:cNvSpPr txBox="1"/>
          <p:nvPr/>
        </p:nvSpPr>
        <p:spPr>
          <a:xfrm>
            <a:off x="8168640" y="309067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52" name="Text 50"/>
          <p:cNvSpPr txBox="1"/>
          <p:nvPr/>
        </p:nvSpPr>
        <p:spPr>
          <a:xfrm>
            <a:off x="8424672" y="309067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53" name="Text 51"/>
          <p:cNvSpPr txBox="1"/>
          <p:nvPr/>
        </p:nvSpPr>
        <p:spPr>
          <a:xfrm>
            <a:off x="8424672" y="333756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1.29 → 1.65</a:t>
            </a:r>
            <a:endParaRPr lang="en-US" sz="1300" dirty="0"/>
          </a:p>
        </p:txBody>
      </p:sp>
      <p:sp>
        <p:nvSpPr>
          <p:cNvPr id="54" name="Text 52"/>
          <p:cNvSpPr txBox="1"/>
          <p:nvPr/>
        </p:nvSpPr>
        <p:spPr>
          <a:xfrm>
            <a:off x="10195560" y="309067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+27.5%</a:t>
            </a:r>
            <a:endParaRPr lang="en-US" sz="1800" dirty="0"/>
          </a:p>
        </p:txBody>
      </p:sp>
      <p:sp>
        <p:nvSpPr>
          <p:cNvPr id="55" name="Shape 53"/>
          <p:cNvSpPr/>
          <p:nvPr/>
        </p:nvSpPr>
        <p:spPr>
          <a:xfrm>
            <a:off x="713232" y="3749040"/>
            <a:ext cx="3453384" cy="1938528"/>
          </a:xfrm>
          <a:prstGeom prst="rect">
            <a:avLst/>
          </a:prstGeom>
          <a:solidFill>
            <a:srgbClr val="F7F7F7"/>
          </a:solidFill>
          <a:ln/>
        </p:spPr>
      </p:sp>
      <p:sp>
        <p:nvSpPr>
          <p:cNvPr id="56" name="Shape 54"/>
          <p:cNvSpPr/>
          <p:nvPr/>
        </p:nvSpPr>
        <p:spPr>
          <a:xfrm>
            <a:off x="713232" y="3749040"/>
            <a:ext cx="3453384" cy="54864"/>
          </a:xfrm>
          <a:prstGeom prst="rect">
            <a:avLst/>
          </a:prstGeom>
          <a:solidFill>
            <a:srgbClr val="12A566"/>
          </a:solidFill>
          <a:ln/>
        </p:spPr>
      </p:sp>
      <p:sp>
        <p:nvSpPr>
          <p:cNvPr id="57" name="Text 55"/>
          <p:cNvSpPr txBox="1"/>
          <p:nvPr/>
        </p:nvSpPr>
        <p:spPr>
          <a:xfrm>
            <a:off x="859536" y="3877056"/>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ELR</a:t>
            </a:r>
            <a:endParaRPr lang="en-US" sz="1400" dirty="0"/>
          </a:p>
        </p:txBody>
      </p:sp>
      <p:sp>
        <p:nvSpPr>
          <p:cNvPr id="58" name="Text 56"/>
          <p:cNvSpPr txBox="1"/>
          <p:nvPr/>
        </p:nvSpPr>
        <p:spPr>
          <a:xfrm>
            <a:off x="2795016" y="3877056"/>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+2.5%</a:t>
            </a:r>
            <a:endParaRPr lang="en-US" sz="1300" dirty="0"/>
          </a:p>
        </p:txBody>
      </p:sp>
      <p:sp>
        <p:nvSpPr>
          <p:cNvPr id="59" name="Text 57"/>
          <p:cNvSpPr txBox="1"/>
          <p:nvPr/>
        </p:nvSpPr>
        <p:spPr>
          <a:xfrm>
            <a:off x="859536" y="418795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60" name="Text 58"/>
          <p:cNvSpPr txBox="1"/>
          <p:nvPr/>
        </p:nvSpPr>
        <p:spPr>
          <a:xfrm>
            <a:off x="1115568" y="418795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61" name="Text 59"/>
          <p:cNvSpPr txBox="1"/>
          <p:nvPr/>
        </p:nvSpPr>
        <p:spPr>
          <a:xfrm>
            <a:off x="1115568" y="443484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$134.86 → $167.22</a:t>
            </a:r>
            <a:endParaRPr lang="en-US" sz="1300" dirty="0"/>
          </a:p>
        </p:txBody>
      </p:sp>
      <p:sp>
        <p:nvSpPr>
          <p:cNvPr id="62" name="Text 60"/>
          <p:cNvSpPr txBox="1"/>
          <p:nvPr/>
        </p:nvSpPr>
        <p:spPr>
          <a:xfrm>
            <a:off x="2886456" y="418795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+23.9%</a:t>
            </a:r>
            <a:endParaRPr lang="en-US" sz="1800" dirty="0"/>
          </a:p>
        </p:txBody>
      </p:sp>
      <p:sp>
        <p:nvSpPr>
          <p:cNvPr id="63" name="Text 61"/>
          <p:cNvSpPr txBox="1"/>
          <p:nvPr/>
        </p:nvSpPr>
        <p:spPr>
          <a:xfrm>
            <a:off x="859536" y="4672584"/>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64" name="Text 62"/>
          <p:cNvSpPr txBox="1"/>
          <p:nvPr/>
        </p:nvSpPr>
        <p:spPr>
          <a:xfrm>
            <a:off x="1115568" y="4672584"/>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65" name="Text 63"/>
          <p:cNvSpPr txBox="1"/>
          <p:nvPr/>
        </p:nvSpPr>
        <p:spPr>
          <a:xfrm>
            <a:off x="1115568" y="4919472"/>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$119.95 → $147.93</a:t>
            </a:r>
            <a:endParaRPr lang="en-US" sz="1300" dirty="0"/>
          </a:p>
        </p:txBody>
      </p:sp>
      <p:sp>
        <p:nvSpPr>
          <p:cNvPr id="66" name="Text 64"/>
          <p:cNvSpPr txBox="1"/>
          <p:nvPr/>
        </p:nvSpPr>
        <p:spPr>
          <a:xfrm>
            <a:off x="2886456" y="4672584"/>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+23.3%</a:t>
            </a:r>
            <a:endParaRPr lang="en-US" sz="1800" dirty="0"/>
          </a:p>
        </p:txBody>
      </p:sp>
      <p:sp>
        <p:nvSpPr>
          <p:cNvPr id="67" name="Text 65"/>
          <p:cNvSpPr txBox="1"/>
          <p:nvPr/>
        </p:nvSpPr>
        <p:spPr>
          <a:xfrm>
            <a:off x="859536" y="5157216"/>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68" name="Text 66"/>
          <p:cNvSpPr txBox="1"/>
          <p:nvPr/>
        </p:nvSpPr>
        <p:spPr>
          <a:xfrm>
            <a:off x="1115568" y="5157216"/>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VOLVO</a:t>
            </a:r>
            <a:endParaRPr lang="en-US" sz="1400" dirty="0"/>
          </a:p>
        </p:txBody>
      </p:sp>
      <p:sp>
        <p:nvSpPr>
          <p:cNvPr id="69" name="Text 67"/>
          <p:cNvSpPr txBox="1"/>
          <p:nvPr/>
        </p:nvSpPr>
        <p:spPr>
          <a:xfrm>
            <a:off x="1115568" y="5404104"/>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$183.95 → $225.50</a:t>
            </a:r>
            <a:endParaRPr lang="en-US" sz="1300" dirty="0"/>
          </a:p>
        </p:txBody>
      </p:sp>
      <p:sp>
        <p:nvSpPr>
          <p:cNvPr id="70" name="Text 68"/>
          <p:cNvSpPr txBox="1"/>
          <p:nvPr/>
        </p:nvSpPr>
        <p:spPr>
          <a:xfrm>
            <a:off x="2886456" y="5157216"/>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+22.5%</a:t>
            </a:r>
            <a:endParaRPr lang="en-US" sz="1800" dirty="0"/>
          </a:p>
        </p:txBody>
      </p:sp>
      <p:sp>
        <p:nvSpPr>
          <p:cNvPr id="71" name="Shape 69"/>
          <p:cNvSpPr/>
          <p:nvPr/>
        </p:nvSpPr>
        <p:spPr>
          <a:xfrm>
            <a:off x="4367784" y="3749040"/>
            <a:ext cx="3453384" cy="1938528"/>
          </a:xfrm>
          <a:prstGeom prst="rect">
            <a:avLst/>
          </a:prstGeom>
          <a:solidFill>
            <a:srgbClr val="F7F7F7"/>
          </a:solidFill>
          <a:ln/>
        </p:spPr>
      </p:sp>
      <p:sp>
        <p:nvSpPr>
          <p:cNvPr id="72" name="Shape 70"/>
          <p:cNvSpPr/>
          <p:nvPr/>
        </p:nvSpPr>
        <p:spPr>
          <a:xfrm>
            <a:off x="4367784" y="3749040"/>
            <a:ext cx="3453384" cy="54864"/>
          </a:xfrm>
          <a:prstGeom prst="rect">
            <a:avLst/>
          </a:prstGeom>
          <a:solidFill>
            <a:srgbClr val="12A566"/>
          </a:solidFill>
          <a:ln/>
        </p:spPr>
      </p:sp>
      <p:sp>
        <p:nvSpPr>
          <p:cNvPr id="73" name="Text 71"/>
          <p:cNvSpPr txBox="1"/>
          <p:nvPr/>
        </p:nvSpPr>
        <p:spPr>
          <a:xfrm>
            <a:off x="4514088" y="3877056"/>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PARTS $ PER RO</a:t>
            </a:r>
            <a:endParaRPr lang="en-US" sz="1400" dirty="0"/>
          </a:p>
        </p:txBody>
      </p:sp>
      <p:sp>
        <p:nvSpPr>
          <p:cNvPr id="74" name="Text 72"/>
          <p:cNvSpPr txBox="1"/>
          <p:nvPr/>
        </p:nvSpPr>
        <p:spPr>
          <a:xfrm>
            <a:off x="6449568" y="3877056"/>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+3.8%</a:t>
            </a:r>
            <a:endParaRPr lang="en-US" sz="1300" dirty="0"/>
          </a:p>
        </p:txBody>
      </p:sp>
      <p:sp>
        <p:nvSpPr>
          <p:cNvPr id="75" name="Text 73"/>
          <p:cNvSpPr txBox="1"/>
          <p:nvPr/>
        </p:nvSpPr>
        <p:spPr>
          <a:xfrm>
            <a:off x="4514088" y="418795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76" name="Text 74"/>
          <p:cNvSpPr txBox="1"/>
          <p:nvPr/>
        </p:nvSpPr>
        <p:spPr>
          <a:xfrm>
            <a:off x="4770120" y="418795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77" name="Text 75"/>
          <p:cNvSpPr txBox="1"/>
          <p:nvPr/>
        </p:nvSpPr>
        <p:spPr>
          <a:xfrm>
            <a:off x="4770120" y="443484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$266 → $373</a:t>
            </a:r>
            <a:endParaRPr lang="en-US" sz="1300" dirty="0"/>
          </a:p>
        </p:txBody>
      </p:sp>
      <p:sp>
        <p:nvSpPr>
          <p:cNvPr id="78" name="Text 76"/>
          <p:cNvSpPr txBox="1"/>
          <p:nvPr/>
        </p:nvSpPr>
        <p:spPr>
          <a:xfrm>
            <a:off x="6541008" y="418795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+40.0%</a:t>
            </a:r>
            <a:endParaRPr lang="en-US" sz="1800" dirty="0"/>
          </a:p>
        </p:txBody>
      </p:sp>
      <p:sp>
        <p:nvSpPr>
          <p:cNvPr id="79" name="Text 77"/>
          <p:cNvSpPr txBox="1"/>
          <p:nvPr/>
        </p:nvSpPr>
        <p:spPr>
          <a:xfrm>
            <a:off x="4514088" y="4672584"/>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80" name="Text 78"/>
          <p:cNvSpPr txBox="1"/>
          <p:nvPr/>
        </p:nvSpPr>
        <p:spPr>
          <a:xfrm>
            <a:off x="4770120" y="4672584"/>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81" name="Text 79"/>
          <p:cNvSpPr txBox="1"/>
          <p:nvPr/>
        </p:nvSpPr>
        <p:spPr>
          <a:xfrm>
            <a:off x="4770120" y="4919472"/>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$182 → $234</a:t>
            </a:r>
            <a:endParaRPr lang="en-US" sz="1300" dirty="0"/>
          </a:p>
        </p:txBody>
      </p:sp>
      <p:sp>
        <p:nvSpPr>
          <p:cNvPr id="82" name="Text 80"/>
          <p:cNvSpPr txBox="1"/>
          <p:nvPr/>
        </p:nvSpPr>
        <p:spPr>
          <a:xfrm>
            <a:off x="6541008" y="4672584"/>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+28.7%</a:t>
            </a:r>
            <a:endParaRPr lang="en-US" sz="1800" dirty="0"/>
          </a:p>
        </p:txBody>
      </p:sp>
      <p:sp>
        <p:nvSpPr>
          <p:cNvPr id="83" name="Text 81"/>
          <p:cNvSpPr txBox="1"/>
          <p:nvPr/>
        </p:nvSpPr>
        <p:spPr>
          <a:xfrm>
            <a:off x="4514088" y="5157216"/>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84" name="Text 82"/>
          <p:cNvSpPr txBox="1"/>
          <p:nvPr/>
        </p:nvSpPr>
        <p:spPr>
          <a:xfrm>
            <a:off x="4770120" y="5157216"/>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p:txBody>
      </p:sp>
      <p:sp>
        <p:nvSpPr>
          <p:cNvPr id="85" name="Text 83"/>
          <p:cNvSpPr txBox="1"/>
          <p:nvPr/>
        </p:nvSpPr>
        <p:spPr>
          <a:xfrm>
            <a:off x="4770120" y="5404104"/>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$793 → $988</a:t>
            </a:r>
            <a:endParaRPr lang="en-US" sz="1300" dirty="0"/>
          </a:p>
        </p:txBody>
      </p:sp>
      <p:sp>
        <p:nvSpPr>
          <p:cNvPr id="86" name="Text 84"/>
          <p:cNvSpPr txBox="1"/>
          <p:nvPr/>
        </p:nvSpPr>
        <p:spPr>
          <a:xfrm>
            <a:off x="6541008" y="5157216"/>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+24.6%</a:t>
            </a:r>
            <a:endParaRPr lang="en-US" sz="1800" dirty="0"/>
          </a:p>
        </p:txBody>
      </p:sp>
      <p:sp>
        <p:nvSpPr>
          <p:cNvPr id="87" name="Shape 85"/>
          <p:cNvSpPr/>
          <p:nvPr/>
        </p:nvSpPr>
        <p:spPr>
          <a:xfrm>
            <a:off x="8022336" y="3749040"/>
            <a:ext cx="3453384" cy="1938528"/>
          </a:xfrm>
          <a:prstGeom prst="rect">
            <a:avLst/>
          </a:prstGeom>
          <a:solidFill>
            <a:srgbClr val="F7F7F7"/>
          </a:solidFill>
          <a:ln/>
        </p:spPr>
      </p:sp>
      <p:sp>
        <p:nvSpPr>
          <p:cNvPr id="88" name="Shape 86"/>
          <p:cNvSpPr/>
          <p:nvPr/>
        </p:nvSpPr>
        <p:spPr>
          <a:xfrm>
            <a:off x="8022336" y="3749040"/>
            <a:ext cx="3453384" cy="54864"/>
          </a:xfrm>
          <a:prstGeom prst="rect">
            <a:avLst/>
          </a:prstGeom>
          <a:solidFill>
            <a:srgbClr val="12A566"/>
          </a:solidFill>
          <a:ln/>
        </p:spPr>
      </p:sp>
      <p:sp>
        <p:nvSpPr>
          <p:cNvPr id="89" name="Text 87"/>
          <p:cNvSpPr txBox="1"/>
          <p:nvPr/>
        </p:nvSpPr>
        <p:spPr>
          <a:xfrm>
            <a:off x="8168640" y="3877056"/>
            <a:ext cx="1990344" cy="274320"/>
          </a:xfrm>
          <a:prstGeom prst="rect">
            <a:avLst/>
          </a:prstGeom>
          <a:noFill/>
          <a:ln/>
        </p:spPr>
        <p:txBody>
          <a:bodyPr wrap="square" lIns="0" tIns="0" rIns="0" bIns="0" rtlCol="0" anchor="ctr"/>
          <a:lstStyle/>
          <a:p>
            <a:pPr indent="0" marL="0">
              <a:buNone/>
            </a:pPr>
            <a:r>
              <a:rPr lang="en-US" sz="1400" b="1" spc="60" kern="0" dirty="0">
                <a:solidFill>
                  <a:srgbClr val="595959"/>
                </a:solidFill>
                <a:latin typeface="Inter" pitchFamily="34" charset="0"/>
                <a:ea typeface="Inter" pitchFamily="34" charset="-122"/>
                <a:cs typeface="Inter" pitchFamily="34" charset="-120"/>
              </a:rPr>
              <a:t>CP PARTS GP %</a:t>
            </a:r>
            <a:endParaRPr lang="en-US" sz="1400" dirty="0"/>
          </a:p>
        </p:txBody>
      </p:sp>
      <p:sp>
        <p:nvSpPr>
          <p:cNvPr id="90" name="Text 88"/>
          <p:cNvSpPr txBox="1"/>
          <p:nvPr/>
        </p:nvSpPr>
        <p:spPr>
          <a:xfrm>
            <a:off x="10104120" y="3877056"/>
            <a:ext cx="1225296" cy="274320"/>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Group +1.2 pts</a:t>
            </a:r>
            <a:endParaRPr lang="en-US" sz="1300" dirty="0"/>
          </a:p>
        </p:txBody>
      </p:sp>
      <p:sp>
        <p:nvSpPr>
          <p:cNvPr id="91" name="Text 89"/>
          <p:cNvSpPr txBox="1"/>
          <p:nvPr/>
        </p:nvSpPr>
        <p:spPr>
          <a:xfrm>
            <a:off x="8168640" y="4187952"/>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a:t>
            </a:r>
            <a:endParaRPr lang="en-US" sz="1400" dirty="0"/>
          </a:p>
        </p:txBody>
      </p:sp>
      <p:sp>
        <p:nvSpPr>
          <p:cNvPr id="92" name="Text 90"/>
          <p:cNvSpPr txBox="1"/>
          <p:nvPr/>
        </p:nvSpPr>
        <p:spPr>
          <a:xfrm>
            <a:off x="8424672" y="4187952"/>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93" name="Text 91"/>
          <p:cNvSpPr txBox="1"/>
          <p:nvPr/>
        </p:nvSpPr>
        <p:spPr>
          <a:xfrm>
            <a:off x="8424672" y="4434840"/>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38.8% → 46.6%</a:t>
            </a:r>
            <a:endParaRPr lang="en-US" sz="1300" dirty="0"/>
          </a:p>
        </p:txBody>
      </p:sp>
      <p:sp>
        <p:nvSpPr>
          <p:cNvPr id="94" name="Text 92"/>
          <p:cNvSpPr txBox="1"/>
          <p:nvPr/>
        </p:nvSpPr>
        <p:spPr>
          <a:xfrm>
            <a:off x="10195560" y="4187952"/>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+7.7 pts</a:t>
            </a:r>
            <a:endParaRPr lang="en-US" sz="1800" dirty="0"/>
          </a:p>
        </p:txBody>
      </p:sp>
      <p:sp>
        <p:nvSpPr>
          <p:cNvPr id="95" name="Text 93"/>
          <p:cNvSpPr txBox="1"/>
          <p:nvPr/>
        </p:nvSpPr>
        <p:spPr>
          <a:xfrm>
            <a:off x="8168640" y="4672584"/>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2</a:t>
            </a:r>
            <a:endParaRPr lang="en-US" sz="1400" dirty="0"/>
          </a:p>
        </p:txBody>
      </p:sp>
      <p:sp>
        <p:nvSpPr>
          <p:cNvPr id="96" name="Text 94"/>
          <p:cNvSpPr txBox="1"/>
          <p:nvPr/>
        </p:nvSpPr>
        <p:spPr>
          <a:xfrm>
            <a:off x="8424672" y="4672584"/>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97" name="Text 95"/>
          <p:cNvSpPr txBox="1"/>
          <p:nvPr/>
        </p:nvSpPr>
        <p:spPr>
          <a:xfrm>
            <a:off x="8424672" y="4919472"/>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38.2% → 42.4%</a:t>
            </a:r>
            <a:endParaRPr lang="en-US" sz="1300" dirty="0"/>
          </a:p>
        </p:txBody>
      </p:sp>
      <p:sp>
        <p:nvSpPr>
          <p:cNvPr id="98" name="Text 96"/>
          <p:cNvSpPr txBox="1"/>
          <p:nvPr/>
        </p:nvSpPr>
        <p:spPr>
          <a:xfrm>
            <a:off x="10195560" y="4672584"/>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+4.1 pts</a:t>
            </a:r>
            <a:endParaRPr lang="en-US" sz="1800" dirty="0"/>
          </a:p>
        </p:txBody>
      </p:sp>
      <p:sp>
        <p:nvSpPr>
          <p:cNvPr id="99" name="Text 97"/>
          <p:cNvSpPr txBox="1"/>
          <p:nvPr/>
        </p:nvSpPr>
        <p:spPr>
          <a:xfrm>
            <a:off x="8168640" y="5157216"/>
            <a:ext cx="237744" cy="256032"/>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3</a:t>
            </a:r>
            <a:endParaRPr lang="en-US" sz="1400" dirty="0"/>
          </a:p>
        </p:txBody>
      </p:sp>
      <p:sp>
        <p:nvSpPr>
          <p:cNvPr id="100" name="Text 98"/>
          <p:cNvSpPr txBox="1"/>
          <p:nvPr/>
        </p:nvSpPr>
        <p:spPr>
          <a:xfrm>
            <a:off x="8424672" y="5157216"/>
            <a:ext cx="1898904" cy="2560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101" name="Text 99"/>
          <p:cNvSpPr txBox="1"/>
          <p:nvPr/>
        </p:nvSpPr>
        <p:spPr>
          <a:xfrm>
            <a:off x="8424672" y="5404104"/>
            <a:ext cx="1898904" cy="219456"/>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39.7% → 43.8%</a:t>
            </a:r>
            <a:endParaRPr lang="en-US" sz="1300" dirty="0"/>
          </a:p>
        </p:txBody>
      </p:sp>
      <p:sp>
        <p:nvSpPr>
          <p:cNvPr id="102" name="Text 100"/>
          <p:cNvSpPr txBox="1"/>
          <p:nvPr/>
        </p:nvSpPr>
        <p:spPr>
          <a:xfrm>
            <a:off x="10195560" y="5157216"/>
            <a:ext cx="1133856" cy="457200"/>
          </a:xfrm>
          <a:prstGeom prst="rect">
            <a:avLst/>
          </a:prstGeom>
          <a:noFill/>
          <a:ln/>
        </p:spPr>
        <p:txBody>
          <a:bodyPr wrap="square" lIns="0" tIns="0" rIns="0" bIns="0" rtlCol="0" anchor="ctr"/>
          <a:lstStyle/>
          <a:p>
            <a:pPr algn="r" indent="0" marL="0">
              <a:buNone/>
            </a:pPr>
            <a:r>
              <a:rPr lang="en-US" sz="1800" b="1" dirty="0">
                <a:solidFill>
                  <a:srgbClr val="0B7A4A"/>
                </a:solidFill>
                <a:latin typeface="Inter" pitchFamily="34" charset="0"/>
                <a:ea typeface="Inter" pitchFamily="34" charset="-122"/>
                <a:cs typeface="Inter" pitchFamily="34" charset="-120"/>
              </a:rPr>
              <a:t>+4.0 pts</a:t>
            </a:r>
            <a:endParaRPr lang="en-US" sz="1800" dirty="0"/>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MOST IMPROVED · V1, SUPERSEDED BY V2</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Who Shows Up Most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2926080" y="1335024"/>
            <a:ext cx="2560320" cy="310896"/>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Top-3 finishes of 12</a:t>
            </a:r>
            <a:endParaRPr lang="en-US" sz="1400" dirty="0"/>
          </a:p>
        </p:txBody>
      </p:sp>
      <p:sp>
        <p:nvSpPr>
          <p:cNvPr id="7" name="Text 5"/>
          <p:cNvSpPr txBox="1"/>
          <p:nvPr/>
        </p:nvSpPr>
        <p:spPr>
          <a:xfrm>
            <a:off x="6172200" y="1335024"/>
            <a:ext cx="2560320" cy="310896"/>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Jan–Sep</a:t>
            </a:r>
            <a:endParaRPr lang="en-US" sz="1400" dirty="0"/>
          </a:p>
        </p:txBody>
      </p:sp>
      <p:sp>
        <p:nvSpPr>
          <p:cNvPr id="8" name="Text 6"/>
          <p:cNvSpPr txBox="1"/>
          <p:nvPr/>
        </p:nvSpPr>
        <p:spPr>
          <a:xfrm>
            <a:off x="8823960" y="1335024"/>
            <a:ext cx="2560320" cy="310896"/>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Last 90 days</a:t>
            </a:r>
            <a:endParaRPr lang="en-US" sz="1400" dirty="0"/>
          </a:p>
        </p:txBody>
      </p:sp>
      <p:sp>
        <p:nvSpPr>
          <p:cNvPr id="9" name="Shape 7"/>
          <p:cNvSpPr/>
          <p:nvPr/>
        </p:nvSpPr>
        <p:spPr>
          <a:xfrm>
            <a:off x="621792" y="1792224"/>
            <a:ext cx="10945368" cy="484632"/>
          </a:xfrm>
          <a:prstGeom prst="rect">
            <a:avLst/>
          </a:prstGeom>
          <a:solidFill>
            <a:srgbClr val="F7F7F7"/>
          </a:solidFill>
          <a:ln/>
        </p:spPr>
      </p:sp>
      <p:sp>
        <p:nvSpPr>
          <p:cNvPr id="10" name="Text 8"/>
          <p:cNvSpPr txBox="1"/>
          <p:nvPr/>
        </p:nvSpPr>
        <p:spPr>
          <a:xfrm>
            <a:off x="713232" y="1792224"/>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11" name="Shape 9"/>
          <p:cNvSpPr/>
          <p:nvPr/>
        </p:nvSpPr>
        <p:spPr>
          <a:xfrm>
            <a:off x="2926080" y="1913382"/>
            <a:ext cx="2651760" cy="242316"/>
          </a:xfrm>
          <a:prstGeom prst="rect">
            <a:avLst/>
          </a:prstGeom>
          <a:solidFill>
            <a:srgbClr val="12A566"/>
          </a:solidFill>
          <a:ln/>
        </p:spPr>
      </p:sp>
      <p:sp>
        <p:nvSpPr>
          <p:cNvPr id="12" name="Text 10"/>
          <p:cNvSpPr txBox="1"/>
          <p:nvPr/>
        </p:nvSpPr>
        <p:spPr>
          <a:xfrm>
            <a:off x="5486400" y="1792224"/>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a:t>
            </a:r>
            <a:endParaRPr lang="en-US" sz="1600" dirty="0"/>
          </a:p>
        </p:txBody>
      </p:sp>
      <p:sp>
        <p:nvSpPr>
          <p:cNvPr id="13" name="Text 11"/>
          <p:cNvSpPr txBox="1"/>
          <p:nvPr/>
        </p:nvSpPr>
        <p:spPr>
          <a:xfrm>
            <a:off x="6172200" y="1792224"/>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gross, ELR, parts $/RO</a:t>
            </a:r>
            <a:endParaRPr lang="en-US" sz="1300" dirty="0"/>
          </a:p>
        </p:txBody>
      </p:sp>
      <p:sp>
        <p:nvSpPr>
          <p:cNvPr id="14" name="Text 12"/>
          <p:cNvSpPr txBox="1"/>
          <p:nvPr/>
        </p:nvSpPr>
        <p:spPr>
          <a:xfrm>
            <a:off x="8823960" y="1792224"/>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gross, ELR, parts $/RO</a:t>
            </a:r>
            <a:endParaRPr lang="en-US" sz="1300" dirty="0"/>
          </a:p>
        </p:txBody>
      </p:sp>
      <p:sp>
        <p:nvSpPr>
          <p:cNvPr id="15" name="Text 13"/>
          <p:cNvSpPr txBox="1"/>
          <p:nvPr/>
        </p:nvSpPr>
        <p:spPr>
          <a:xfrm>
            <a:off x="713232" y="2276856"/>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16" name="Shape 14"/>
          <p:cNvSpPr/>
          <p:nvPr/>
        </p:nvSpPr>
        <p:spPr>
          <a:xfrm>
            <a:off x="2926080" y="2398014"/>
            <a:ext cx="1767840" cy="242316"/>
          </a:xfrm>
          <a:prstGeom prst="rect">
            <a:avLst/>
          </a:prstGeom>
          <a:solidFill>
            <a:srgbClr val="12A566"/>
          </a:solidFill>
          <a:ln/>
        </p:spPr>
      </p:sp>
      <p:sp>
        <p:nvSpPr>
          <p:cNvPr id="17" name="Text 15"/>
          <p:cNvSpPr txBox="1"/>
          <p:nvPr/>
        </p:nvSpPr>
        <p:spPr>
          <a:xfrm>
            <a:off x="5486400" y="2276856"/>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a:t>
            </a:r>
            <a:endParaRPr lang="en-US" sz="1600" dirty="0"/>
          </a:p>
        </p:txBody>
      </p:sp>
      <p:sp>
        <p:nvSpPr>
          <p:cNvPr id="18" name="Text 16"/>
          <p:cNvSpPr txBox="1"/>
          <p:nvPr/>
        </p:nvSpPr>
        <p:spPr>
          <a:xfrm>
            <a:off x="6172200" y="2276856"/>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hours/RO</a:t>
            </a:r>
            <a:endParaRPr lang="en-US" sz="1300" dirty="0"/>
          </a:p>
        </p:txBody>
      </p:sp>
      <p:sp>
        <p:nvSpPr>
          <p:cNvPr id="19" name="Text 17"/>
          <p:cNvSpPr txBox="1"/>
          <p:nvPr/>
        </p:nvSpPr>
        <p:spPr>
          <a:xfrm>
            <a:off x="8823960" y="2276856"/>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gross, hours/RO, parts GP%</a:t>
            </a:r>
            <a:endParaRPr lang="en-US" sz="1300" dirty="0"/>
          </a:p>
        </p:txBody>
      </p:sp>
      <p:sp>
        <p:nvSpPr>
          <p:cNvPr id="20" name="Shape 18"/>
          <p:cNvSpPr/>
          <p:nvPr/>
        </p:nvSpPr>
        <p:spPr>
          <a:xfrm>
            <a:off x="621792" y="2761488"/>
            <a:ext cx="10945368" cy="484632"/>
          </a:xfrm>
          <a:prstGeom prst="rect">
            <a:avLst/>
          </a:prstGeom>
          <a:solidFill>
            <a:srgbClr val="F7F7F7"/>
          </a:solidFill>
          <a:ln/>
        </p:spPr>
      </p:sp>
      <p:sp>
        <p:nvSpPr>
          <p:cNvPr id="21" name="Text 19"/>
          <p:cNvSpPr txBox="1"/>
          <p:nvPr/>
        </p:nvSpPr>
        <p:spPr>
          <a:xfrm>
            <a:off x="713232" y="2761488"/>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22" name="Shape 20"/>
          <p:cNvSpPr/>
          <p:nvPr/>
        </p:nvSpPr>
        <p:spPr>
          <a:xfrm>
            <a:off x="2926080" y="2882646"/>
            <a:ext cx="1325880" cy="242316"/>
          </a:xfrm>
          <a:prstGeom prst="rect">
            <a:avLst/>
          </a:prstGeom>
          <a:solidFill>
            <a:srgbClr val="12A566"/>
          </a:solidFill>
          <a:ln/>
        </p:spPr>
      </p:sp>
      <p:sp>
        <p:nvSpPr>
          <p:cNvPr id="23" name="Text 21"/>
          <p:cNvSpPr txBox="1"/>
          <p:nvPr/>
        </p:nvSpPr>
        <p:spPr>
          <a:xfrm>
            <a:off x="5486400" y="2761488"/>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a:t>
            </a:r>
            <a:endParaRPr lang="en-US" sz="1600" dirty="0"/>
          </a:p>
        </p:txBody>
      </p:sp>
      <p:sp>
        <p:nvSpPr>
          <p:cNvPr id="24" name="Text 22"/>
          <p:cNvSpPr txBox="1"/>
          <p:nvPr/>
        </p:nvSpPr>
        <p:spPr>
          <a:xfrm>
            <a:off x="6172200" y="2761488"/>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gross, parts GP%</a:t>
            </a:r>
            <a:endParaRPr lang="en-US" sz="1300" dirty="0"/>
          </a:p>
        </p:txBody>
      </p:sp>
      <p:sp>
        <p:nvSpPr>
          <p:cNvPr id="25" name="Text 23"/>
          <p:cNvSpPr txBox="1"/>
          <p:nvPr/>
        </p:nvSpPr>
        <p:spPr>
          <a:xfrm>
            <a:off x="8823960" y="2761488"/>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gross</a:t>
            </a:r>
            <a:endParaRPr lang="en-US" sz="1300" dirty="0"/>
          </a:p>
        </p:txBody>
      </p:sp>
      <p:sp>
        <p:nvSpPr>
          <p:cNvPr id="26" name="Text 24"/>
          <p:cNvSpPr txBox="1"/>
          <p:nvPr/>
        </p:nvSpPr>
        <p:spPr>
          <a:xfrm>
            <a:off x="713232" y="3246120"/>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27" name="Shape 25"/>
          <p:cNvSpPr/>
          <p:nvPr/>
        </p:nvSpPr>
        <p:spPr>
          <a:xfrm>
            <a:off x="2926080" y="3367278"/>
            <a:ext cx="1325880" cy="242316"/>
          </a:xfrm>
          <a:prstGeom prst="rect">
            <a:avLst/>
          </a:prstGeom>
          <a:solidFill>
            <a:srgbClr val="12A566"/>
          </a:solidFill>
          <a:ln/>
        </p:spPr>
      </p:sp>
      <p:sp>
        <p:nvSpPr>
          <p:cNvPr id="28" name="Text 26"/>
          <p:cNvSpPr txBox="1"/>
          <p:nvPr/>
        </p:nvSpPr>
        <p:spPr>
          <a:xfrm>
            <a:off x="5486400" y="3246120"/>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a:t>
            </a:r>
            <a:endParaRPr lang="en-US" sz="1600" dirty="0"/>
          </a:p>
        </p:txBody>
      </p:sp>
      <p:sp>
        <p:nvSpPr>
          <p:cNvPr id="29" name="Text 27"/>
          <p:cNvSpPr txBox="1"/>
          <p:nvPr/>
        </p:nvSpPr>
        <p:spPr>
          <a:xfrm>
            <a:off x="6172200" y="3246120"/>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hours/RO, parts $/RO</a:t>
            </a:r>
            <a:endParaRPr lang="en-US" sz="1300" dirty="0"/>
          </a:p>
        </p:txBody>
      </p:sp>
      <p:sp>
        <p:nvSpPr>
          <p:cNvPr id="30" name="Text 28"/>
          <p:cNvSpPr txBox="1"/>
          <p:nvPr/>
        </p:nvSpPr>
        <p:spPr>
          <a:xfrm>
            <a:off x="8823960" y="3246120"/>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hours/RO</a:t>
            </a:r>
            <a:endParaRPr lang="en-US" sz="1300" dirty="0"/>
          </a:p>
        </p:txBody>
      </p:sp>
      <p:sp>
        <p:nvSpPr>
          <p:cNvPr id="31" name="Shape 29"/>
          <p:cNvSpPr/>
          <p:nvPr/>
        </p:nvSpPr>
        <p:spPr>
          <a:xfrm>
            <a:off x="621792" y="3730752"/>
            <a:ext cx="10945368" cy="484632"/>
          </a:xfrm>
          <a:prstGeom prst="rect">
            <a:avLst/>
          </a:prstGeom>
          <a:solidFill>
            <a:srgbClr val="F7F7F7"/>
          </a:solidFill>
          <a:ln/>
        </p:spPr>
      </p:sp>
      <p:sp>
        <p:nvSpPr>
          <p:cNvPr id="32" name="Text 30"/>
          <p:cNvSpPr txBox="1"/>
          <p:nvPr/>
        </p:nvSpPr>
        <p:spPr>
          <a:xfrm>
            <a:off x="713232" y="3730752"/>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33" name="Shape 31"/>
          <p:cNvSpPr/>
          <p:nvPr/>
        </p:nvSpPr>
        <p:spPr>
          <a:xfrm>
            <a:off x="2926080" y="3851910"/>
            <a:ext cx="883920" cy="242316"/>
          </a:xfrm>
          <a:prstGeom prst="rect">
            <a:avLst/>
          </a:prstGeom>
          <a:solidFill>
            <a:srgbClr val="12A566"/>
          </a:solidFill>
          <a:ln/>
        </p:spPr>
      </p:sp>
      <p:sp>
        <p:nvSpPr>
          <p:cNvPr id="34" name="Text 32"/>
          <p:cNvSpPr txBox="1"/>
          <p:nvPr/>
        </p:nvSpPr>
        <p:spPr>
          <a:xfrm>
            <a:off x="5486400" y="3730752"/>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35" name="Text 33"/>
          <p:cNvSpPr txBox="1"/>
          <p:nvPr/>
        </p:nvSpPr>
        <p:spPr>
          <a:xfrm>
            <a:off x="6172200" y="3730752"/>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RO count</a:t>
            </a:r>
            <a:endParaRPr lang="en-US" sz="1300" dirty="0"/>
          </a:p>
        </p:txBody>
      </p:sp>
      <p:sp>
        <p:nvSpPr>
          <p:cNvPr id="36" name="Text 34"/>
          <p:cNvSpPr txBox="1"/>
          <p:nvPr/>
        </p:nvSpPr>
        <p:spPr>
          <a:xfrm>
            <a:off x="8823960" y="3730752"/>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CP RO count</a:t>
            </a:r>
            <a:endParaRPr lang="en-US" sz="1300" dirty="0"/>
          </a:p>
        </p:txBody>
      </p:sp>
      <p:sp>
        <p:nvSpPr>
          <p:cNvPr id="37" name="Text 35"/>
          <p:cNvSpPr txBox="1"/>
          <p:nvPr/>
        </p:nvSpPr>
        <p:spPr>
          <a:xfrm>
            <a:off x="713232" y="4215384"/>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p:txBody>
      </p:sp>
      <p:sp>
        <p:nvSpPr>
          <p:cNvPr id="38" name="Shape 36"/>
          <p:cNvSpPr/>
          <p:nvPr/>
        </p:nvSpPr>
        <p:spPr>
          <a:xfrm>
            <a:off x="2926080" y="4336542"/>
            <a:ext cx="883920" cy="242316"/>
          </a:xfrm>
          <a:prstGeom prst="rect">
            <a:avLst/>
          </a:prstGeom>
          <a:solidFill>
            <a:srgbClr val="12A566"/>
          </a:solidFill>
          <a:ln/>
        </p:spPr>
      </p:sp>
      <p:sp>
        <p:nvSpPr>
          <p:cNvPr id="39" name="Text 37"/>
          <p:cNvSpPr txBox="1"/>
          <p:nvPr/>
        </p:nvSpPr>
        <p:spPr>
          <a:xfrm>
            <a:off x="5486400" y="4215384"/>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40" name="Text 38"/>
          <p:cNvSpPr txBox="1"/>
          <p:nvPr/>
        </p:nvSpPr>
        <p:spPr>
          <a:xfrm>
            <a:off x="6172200" y="4215384"/>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ELR</a:t>
            </a:r>
            <a:endParaRPr lang="en-US" sz="1300" dirty="0"/>
          </a:p>
        </p:txBody>
      </p:sp>
      <p:sp>
        <p:nvSpPr>
          <p:cNvPr id="41" name="Text 39"/>
          <p:cNvSpPr txBox="1"/>
          <p:nvPr/>
        </p:nvSpPr>
        <p:spPr>
          <a:xfrm>
            <a:off x="8823960" y="4215384"/>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ELR</a:t>
            </a:r>
            <a:endParaRPr lang="en-US" sz="1300" dirty="0"/>
          </a:p>
        </p:txBody>
      </p:sp>
      <p:sp>
        <p:nvSpPr>
          <p:cNvPr id="42" name="Shape 40"/>
          <p:cNvSpPr/>
          <p:nvPr/>
        </p:nvSpPr>
        <p:spPr>
          <a:xfrm>
            <a:off x="621792" y="4700016"/>
            <a:ext cx="10945368" cy="484632"/>
          </a:xfrm>
          <a:prstGeom prst="rect">
            <a:avLst/>
          </a:prstGeom>
          <a:solidFill>
            <a:srgbClr val="F7F7F7"/>
          </a:solidFill>
          <a:ln/>
        </p:spPr>
      </p:sp>
      <p:sp>
        <p:nvSpPr>
          <p:cNvPr id="43" name="Text 41"/>
          <p:cNvSpPr txBox="1"/>
          <p:nvPr/>
        </p:nvSpPr>
        <p:spPr>
          <a:xfrm>
            <a:off x="713232" y="4700016"/>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VOLVO</a:t>
            </a:r>
            <a:endParaRPr lang="en-US" sz="1400" dirty="0"/>
          </a:p>
        </p:txBody>
      </p:sp>
      <p:sp>
        <p:nvSpPr>
          <p:cNvPr id="44" name="Shape 42"/>
          <p:cNvSpPr/>
          <p:nvPr/>
        </p:nvSpPr>
        <p:spPr>
          <a:xfrm>
            <a:off x="2926080" y="4821174"/>
            <a:ext cx="883920" cy="242316"/>
          </a:xfrm>
          <a:prstGeom prst="rect">
            <a:avLst/>
          </a:prstGeom>
          <a:solidFill>
            <a:srgbClr val="12A566"/>
          </a:solidFill>
          <a:ln/>
        </p:spPr>
      </p:sp>
      <p:sp>
        <p:nvSpPr>
          <p:cNvPr id="45" name="Text 43"/>
          <p:cNvSpPr txBox="1"/>
          <p:nvPr/>
        </p:nvSpPr>
        <p:spPr>
          <a:xfrm>
            <a:off x="5486400" y="4700016"/>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46" name="Text 44"/>
          <p:cNvSpPr txBox="1"/>
          <p:nvPr/>
        </p:nvSpPr>
        <p:spPr>
          <a:xfrm>
            <a:off x="6172200" y="4700016"/>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ELR</a:t>
            </a:r>
            <a:endParaRPr lang="en-US" sz="1300" dirty="0"/>
          </a:p>
        </p:txBody>
      </p:sp>
      <p:sp>
        <p:nvSpPr>
          <p:cNvPr id="47" name="Text 45"/>
          <p:cNvSpPr txBox="1"/>
          <p:nvPr/>
        </p:nvSpPr>
        <p:spPr>
          <a:xfrm>
            <a:off x="8823960" y="4700016"/>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ELR</a:t>
            </a:r>
            <a:endParaRPr lang="en-US" sz="1300" dirty="0"/>
          </a:p>
        </p:txBody>
      </p:sp>
      <p:sp>
        <p:nvSpPr>
          <p:cNvPr id="48" name="Text 46"/>
          <p:cNvSpPr txBox="1"/>
          <p:nvPr/>
        </p:nvSpPr>
        <p:spPr>
          <a:xfrm>
            <a:off x="713232" y="5184648"/>
            <a:ext cx="2103120" cy="48463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49" name="Shape 47"/>
          <p:cNvSpPr/>
          <p:nvPr/>
        </p:nvSpPr>
        <p:spPr>
          <a:xfrm>
            <a:off x="2926080" y="5305806"/>
            <a:ext cx="883920" cy="242316"/>
          </a:xfrm>
          <a:prstGeom prst="rect">
            <a:avLst/>
          </a:prstGeom>
          <a:solidFill>
            <a:srgbClr val="12A566"/>
          </a:solidFill>
          <a:ln/>
        </p:spPr>
      </p:sp>
      <p:sp>
        <p:nvSpPr>
          <p:cNvPr id="50" name="Text 48"/>
          <p:cNvSpPr txBox="1"/>
          <p:nvPr/>
        </p:nvSpPr>
        <p:spPr>
          <a:xfrm>
            <a:off x="5486400" y="5184648"/>
            <a:ext cx="457200" cy="484632"/>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51" name="Text 49"/>
          <p:cNvSpPr txBox="1"/>
          <p:nvPr/>
        </p:nvSpPr>
        <p:spPr>
          <a:xfrm>
            <a:off x="6172200" y="5184648"/>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parts GP%</a:t>
            </a:r>
            <a:endParaRPr lang="en-US" sz="1300" dirty="0"/>
          </a:p>
        </p:txBody>
      </p:sp>
      <p:sp>
        <p:nvSpPr>
          <p:cNvPr id="52" name="Text 50"/>
          <p:cNvSpPr txBox="1"/>
          <p:nvPr/>
        </p:nvSpPr>
        <p:spPr>
          <a:xfrm>
            <a:off x="8823960" y="5184648"/>
            <a:ext cx="2743200" cy="48463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parts GP%</a:t>
            </a:r>
            <a:endParaRPr lang="en-US" sz="1300" dirty="0"/>
          </a:p>
        </p:txBody>
      </p:sp>
      <p:sp>
        <p:nvSpPr>
          <p:cNvPr id="54" name="Shape 51"/>
          <p:cNvSpPr/>
          <p:nvPr/>
        </p:nvSpPr>
        <p:spPr>
          <a:xfrm>
            <a:off x="457200" y="6126480"/>
            <a:ext cx="11274552" cy="371856"/>
          </a:xfrm>
          <a:prstGeom prst="rect">
            <a:avLst/>
          </a:prstGeom>
          <a:solidFill>
            <a:srgbClr val="E6F6EE"/>
          </a:solidFill>
          <a:ln/>
        </p:spPr>
      </p:sp>
      <p:sp>
        <p:nvSpPr>
          <p:cNvPr id="55" name="Text 5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8 stores make a top-3 list in both periods.</a:t>
            </a:r>
            <a:endParaRPr lang="en-US" sz="1600" dirty="0"/>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MOST IMPROVED · V1, SUPERSEDED BY V2</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CP Gross</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January–September ·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+6.4% · 27 of 33 stores improved</a:t>
            </a:r>
            <a:endParaRPr lang="en-US" sz="1400" dirty="0"/>
          </a:p>
        </p:txBody>
      </p:sp>
      <p:sp>
        <p:nvSpPr>
          <p:cNvPr id="9" name="Shape 7"/>
          <p:cNvSpPr/>
          <p:nvPr/>
        </p:nvSpPr>
        <p:spPr>
          <a:xfrm>
            <a:off x="621792" y="2249424"/>
            <a:ext cx="5230368" cy="658368"/>
          </a:xfrm>
          <a:prstGeom prst="rect">
            <a:avLst/>
          </a:prstGeom>
          <a:solidFill>
            <a:srgbClr val="F7F7F7"/>
          </a:solidFill>
          <a:ln/>
        </p:spPr>
      </p:sp>
      <p:sp>
        <p:nvSpPr>
          <p:cNvPr id="10" name="Text 8"/>
          <p:cNvSpPr txBox="1"/>
          <p:nvPr/>
        </p:nvSpPr>
        <p:spPr>
          <a:xfrm>
            <a:off x="731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11" name="Text 9"/>
          <p:cNvSpPr txBox="1"/>
          <p:nvPr/>
        </p:nvSpPr>
        <p:spPr>
          <a:xfrm>
            <a:off x="1051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12" name="Text 10"/>
          <p:cNvSpPr txBox="1"/>
          <p:nvPr/>
        </p:nvSpPr>
        <p:spPr>
          <a:xfrm>
            <a:off x="1051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$865K → $1.26M</a:t>
            </a:r>
            <a:endParaRPr lang="en-US" sz="1300" dirty="0"/>
          </a:p>
        </p:txBody>
      </p:sp>
      <p:sp>
        <p:nvSpPr>
          <p:cNvPr id="13" name="Shape 11"/>
          <p:cNvSpPr/>
          <p:nvPr/>
        </p:nvSpPr>
        <p:spPr>
          <a:xfrm>
            <a:off x="3383280" y="2468880"/>
            <a:ext cx="1280160" cy="219456"/>
          </a:xfrm>
          <a:prstGeom prst="rect">
            <a:avLst/>
          </a:prstGeom>
          <a:solidFill>
            <a:srgbClr val="12A566"/>
          </a:solidFill>
          <a:ln/>
        </p:spPr>
      </p:sp>
      <p:sp>
        <p:nvSpPr>
          <p:cNvPr id="14" name="Text 12"/>
          <p:cNvSpPr txBox="1"/>
          <p:nvPr/>
        </p:nvSpPr>
        <p:spPr>
          <a:xfrm>
            <a:off x="4718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+46.0%</a:t>
            </a:r>
            <a:endParaRPr lang="en-US" sz="1700" dirty="0"/>
          </a:p>
        </p:txBody>
      </p:sp>
      <p:sp>
        <p:nvSpPr>
          <p:cNvPr id="15" name="Text 13"/>
          <p:cNvSpPr txBox="1"/>
          <p:nvPr/>
        </p:nvSpPr>
        <p:spPr>
          <a:xfrm>
            <a:off x="731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16" name="Text 14"/>
          <p:cNvSpPr txBox="1"/>
          <p:nvPr/>
        </p:nvSpPr>
        <p:spPr>
          <a:xfrm>
            <a:off x="1051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17" name="Text 15"/>
          <p:cNvSpPr txBox="1"/>
          <p:nvPr/>
        </p:nvSpPr>
        <p:spPr>
          <a:xfrm>
            <a:off x="1051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$832K → $1.21M</a:t>
            </a:r>
            <a:endParaRPr lang="en-US" sz="1300" dirty="0"/>
          </a:p>
        </p:txBody>
      </p:sp>
      <p:sp>
        <p:nvSpPr>
          <p:cNvPr id="18" name="Shape 16"/>
          <p:cNvSpPr/>
          <p:nvPr/>
        </p:nvSpPr>
        <p:spPr>
          <a:xfrm>
            <a:off x="3383280" y="3127248"/>
            <a:ext cx="1260956" cy="219456"/>
          </a:xfrm>
          <a:prstGeom prst="rect">
            <a:avLst/>
          </a:prstGeom>
          <a:solidFill>
            <a:srgbClr val="12A566"/>
          </a:solidFill>
          <a:ln/>
        </p:spPr>
      </p:sp>
      <p:sp>
        <p:nvSpPr>
          <p:cNvPr id="19" name="Text 17"/>
          <p:cNvSpPr txBox="1"/>
          <p:nvPr/>
        </p:nvSpPr>
        <p:spPr>
          <a:xfrm>
            <a:off x="4718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+45.3%</a:t>
            </a:r>
            <a:endParaRPr lang="en-US" sz="1700" dirty="0"/>
          </a:p>
        </p:txBody>
      </p:sp>
      <p:sp>
        <p:nvSpPr>
          <p:cNvPr id="20" name="Shape 18"/>
          <p:cNvSpPr/>
          <p:nvPr/>
        </p:nvSpPr>
        <p:spPr>
          <a:xfrm>
            <a:off x="621792" y="3566160"/>
            <a:ext cx="5230368" cy="658368"/>
          </a:xfrm>
          <a:prstGeom prst="rect">
            <a:avLst/>
          </a:prstGeom>
          <a:solidFill>
            <a:srgbClr val="F7F7F7"/>
          </a:solidFill>
          <a:ln/>
        </p:spPr>
      </p:sp>
      <p:sp>
        <p:nvSpPr>
          <p:cNvPr id="21" name="Text 19"/>
          <p:cNvSpPr txBox="1"/>
          <p:nvPr/>
        </p:nvSpPr>
        <p:spPr>
          <a:xfrm>
            <a:off x="731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22" name="Text 20"/>
          <p:cNvSpPr txBox="1"/>
          <p:nvPr/>
        </p:nvSpPr>
        <p:spPr>
          <a:xfrm>
            <a:off x="1051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ST GEORGE</a:t>
            </a:r>
            <a:endParaRPr lang="en-US" sz="1500" dirty="0"/>
          </a:p>
        </p:txBody>
      </p:sp>
      <p:sp>
        <p:nvSpPr>
          <p:cNvPr id="23" name="Text 21"/>
          <p:cNvSpPr txBox="1"/>
          <p:nvPr/>
        </p:nvSpPr>
        <p:spPr>
          <a:xfrm>
            <a:off x="1051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$1.48M → $1.98M</a:t>
            </a:r>
            <a:endParaRPr lang="en-US" sz="1300" dirty="0"/>
          </a:p>
        </p:txBody>
      </p:sp>
      <p:sp>
        <p:nvSpPr>
          <p:cNvPr id="24" name="Shape 22"/>
          <p:cNvSpPr/>
          <p:nvPr/>
        </p:nvSpPr>
        <p:spPr>
          <a:xfrm>
            <a:off x="3383280" y="3785616"/>
            <a:ext cx="939340" cy="219456"/>
          </a:xfrm>
          <a:prstGeom prst="rect">
            <a:avLst/>
          </a:prstGeom>
          <a:solidFill>
            <a:srgbClr val="12A566"/>
          </a:solidFill>
          <a:ln/>
        </p:spPr>
      </p:sp>
      <p:sp>
        <p:nvSpPr>
          <p:cNvPr id="25" name="Text 23"/>
          <p:cNvSpPr txBox="1"/>
          <p:nvPr/>
        </p:nvSpPr>
        <p:spPr>
          <a:xfrm>
            <a:off x="4718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+33.8%</a:t>
            </a:r>
            <a:endParaRPr lang="en-US" sz="1700" dirty="0"/>
          </a:p>
        </p:txBody>
      </p:sp>
      <p:sp>
        <p:nvSpPr>
          <p:cNvPr id="26" name="Text 24"/>
          <p:cNvSpPr txBox="1"/>
          <p:nvPr/>
        </p:nvSpPr>
        <p:spPr>
          <a:xfrm>
            <a:off x="731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27" name="Text 25"/>
          <p:cNvSpPr txBox="1"/>
          <p:nvPr/>
        </p:nvSpPr>
        <p:spPr>
          <a:xfrm>
            <a:off x="1051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ST GEORGE</a:t>
            </a:r>
            <a:endParaRPr lang="en-US" sz="1500" dirty="0"/>
          </a:p>
        </p:txBody>
      </p:sp>
      <p:sp>
        <p:nvSpPr>
          <p:cNvPr id="28" name="Text 26"/>
          <p:cNvSpPr txBox="1"/>
          <p:nvPr/>
        </p:nvSpPr>
        <p:spPr>
          <a:xfrm>
            <a:off x="1051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$657K → $862K</a:t>
            </a:r>
            <a:endParaRPr lang="en-US" sz="1300" dirty="0"/>
          </a:p>
        </p:txBody>
      </p:sp>
      <p:sp>
        <p:nvSpPr>
          <p:cNvPr id="29" name="Shape 27"/>
          <p:cNvSpPr/>
          <p:nvPr/>
        </p:nvSpPr>
        <p:spPr>
          <a:xfrm>
            <a:off x="3383280" y="4443984"/>
            <a:ext cx="862566" cy="219456"/>
          </a:xfrm>
          <a:prstGeom prst="rect">
            <a:avLst/>
          </a:prstGeom>
          <a:solidFill>
            <a:srgbClr val="12A566"/>
          </a:solidFill>
          <a:ln/>
        </p:spPr>
      </p:sp>
      <p:sp>
        <p:nvSpPr>
          <p:cNvPr id="30" name="Text 28"/>
          <p:cNvSpPr txBox="1"/>
          <p:nvPr/>
        </p:nvSpPr>
        <p:spPr>
          <a:xfrm>
            <a:off x="4718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+31.0%</a:t>
            </a:r>
            <a:endParaRPr lang="en-US" sz="1700" dirty="0"/>
          </a:p>
        </p:txBody>
      </p:sp>
      <p:sp>
        <p:nvSpPr>
          <p:cNvPr id="31" name="Shape 29"/>
          <p:cNvSpPr/>
          <p:nvPr/>
        </p:nvSpPr>
        <p:spPr>
          <a:xfrm>
            <a:off x="621792" y="4882896"/>
            <a:ext cx="5230368" cy="658368"/>
          </a:xfrm>
          <a:prstGeom prst="rect">
            <a:avLst/>
          </a:prstGeom>
          <a:solidFill>
            <a:srgbClr val="F7F7F7"/>
          </a:solidFill>
          <a:ln/>
        </p:spPr>
      </p:sp>
      <p:sp>
        <p:nvSpPr>
          <p:cNvPr id="32" name="Text 30"/>
          <p:cNvSpPr txBox="1"/>
          <p:nvPr/>
        </p:nvSpPr>
        <p:spPr>
          <a:xfrm>
            <a:off x="731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33" name="Text 31"/>
          <p:cNvSpPr txBox="1"/>
          <p:nvPr/>
        </p:nvSpPr>
        <p:spPr>
          <a:xfrm>
            <a:off x="1051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LEXUS</a:t>
            </a:r>
            <a:endParaRPr lang="en-US" sz="1500" dirty="0"/>
          </a:p>
        </p:txBody>
      </p:sp>
      <p:sp>
        <p:nvSpPr>
          <p:cNvPr id="34" name="Text 32"/>
          <p:cNvSpPr txBox="1"/>
          <p:nvPr/>
        </p:nvSpPr>
        <p:spPr>
          <a:xfrm>
            <a:off x="1051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$1.63M → $2.10M</a:t>
            </a:r>
            <a:endParaRPr lang="en-US" sz="1300" dirty="0"/>
          </a:p>
        </p:txBody>
      </p:sp>
      <p:sp>
        <p:nvSpPr>
          <p:cNvPr id="35" name="Shape 33"/>
          <p:cNvSpPr/>
          <p:nvPr/>
        </p:nvSpPr>
        <p:spPr>
          <a:xfrm>
            <a:off x="3383280" y="5102352"/>
            <a:ext cx="800277" cy="219456"/>
          </a:xfrm>
          <a:prstGeom prst="rect">
            <a:avLst/>
          </a:prstGeom>
          <a:solidFill>
            <a:srgbClr val="12A566"/>
          </a:solidFill>
          <a:ln/>
        </p:spPr>
      </p:sp>
      <p:sp>
        <p:nvSpPr>
          <p:cNvPr id="36" name="Text 34"/>
          <p:cNvSpPr txBox="1"/>
          <p:nvPr/>
        </p:nvSpPr>
        <p:spPr>
          <a:xfrm>
            <a:off x="4718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+28.8%</a:t>
            </a:r>
            <a:endParaRPr lang="en-US" sz="17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Last 90 Days · Jul–Sep vs Jul–Sep 2025</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+8.4% · 29 of 33 stores improved</a:t>
            </a:r>
            <a:endParaRPr lang="en-US" sz="1400" dirty="0"/>
          </a:p>
        </p:txBody>
      </p:sp>
      <p:sp>
        <p:nvSpPr>
          <p:cNvPr id="41" name="Shape 39"/>
          <p:cNvSpPr/>
          <p:nvPr/>
        </p:nvSpPr>
        <p:spPr>
          <a:xfrm>
            <a:off x="6336792" y="2249424"/>
            <a:ext cx="5230368" cy="658368"/>
          </a:xfrm>
          <a:prstGeom prst="rect">
            <a:avLst/>
          </a:prstGeom>
          <a:solidFill>
            <a:srgbClr val="F7F7F7"/>
          </a:solidFill>
          <a:ln/>
        </p:spPr>
      </p:sp>
      <p:sp>
        <p:nvSpPr>
          <p:cNvPr id="42" name="Text 40"/>
          <p:cNvSpPr txBox="1"/>
          <p:nvPr/>
        </p:nvSpPr>
        <p:spPr>
          <a:xfrm>
            <a:off x="6446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43" name="Text 41"/>
          <p:cNvSpPr txBox="1"/>
          <p:nvPr/>
        </p:nvSpPr>
        <p:spPr>
          <a:xfrm>
            <a:off x="6766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44" name="Text 42"/>
          <p:cNvSpPr txBox="1"/>
          <p:nvPr/>
        </p:nvSpPr>
        <p:spPr>
          <a:xfrm>
            <a:off x="6766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$243K → $418K</a:t>
            </a:r>
            <a:endParaRPr lang="en-US" sz="1300" dirty="0"/>
          </a:p>
        </p:txBody>
      </p:sp>
      <p:sp>
        <p:nvSpPr>
          <p:cNvPr id="45" name="Shape 43"/>
          <p:cNvSpPr/>
          <p:nvPr/>
        </p:nvSpPr>
        <p:spPr>
          <a:xfrm>
            <a:off x="9098280" y="2468880"/>
            <a:ext cx="1280160" cy="219456"/>
          </a:xfrm>
          <a:prstGeom prst="rect">
            <a:avLst/>
          </a:prstGeom>
          <a:solidFill>
            <a:srgbClr val="12A566"/>
          </a:solidFill>
          <a:ln/>
        </p:spPr>
      </p:sp>
      <p:sp>
        <p:nvSpPr>
          <p:cNvPr id="46" name="Text 44"/>
          <p:cNvSpPr txBox="1"/>
          <p:nvPr/>
        </p:nvSpPr>
        <p:spPr>
          <a:xfrm>
            <a:off x="10433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+72.1%</a:t>
            </a:r>
            <a:endParaRPr lang="en-US" sz="1700" dirty="0"/>
          </a:p>
        </p:txBody>
      </p:sp>
      <p:sp>
        <p:nvSpPr>
          <p:cNvPr id="47" name="Text 45"/>
          <p:cNvSpPr txBox="1"/>
          <p:nvPr/>
        </p:nvSpPr>
        <p:spPr>
          <a:xfrm>
            <a:off x="6446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48" name="Text 46"/>
          <p:cNvSpPr txBox="1"/>
          <p:nvPr/>
        </p:nvSpPr>
        <p:spPr>
          <a:xfrm>
            <a:off x="6766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ST GEORGE</a:t>
            </a:r>
            <a:endParaRPr lang="en-US" sz="1500" dirty="0"/>
          </a:p>
        </p:txBody>
      </p:sp>
      <p:sp>
        <p:nvSpPr>
          <p:cNvPr id="49" name="Text 47"/>
          <p:cNvSpPr txBox="1"/>
          <p:nvPr/>
        </p:nvSpPr>
        <p:spPr>
          <a:xfrm>
            <a:off x="6766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$237K → $336K</a:t>
            </a:r>
            <a:endParaRPr lang="en-US" sz="1300" dirty="0"/>
          </a:p>
        </p:txBody>
      </p:sp>
      <p:sp>
        <p:nvSpPr>
          <p:cNvPr id="50" name="Shape 48"/>
          <p:cNvSpPr/>
          <p:nvPr/>
        </p:nvSpPr>
        <p:spPr>
          <a:xfrm>
            <a:off x="9098280" y="3127248"/>
            <a:ext cx="738338" cy="219456"/>
          </a:xfrm>
          <a:prstGeom prst="rect">
            <a:avLst/>
          </a:prstGeom>
          <a:solidFill>
            <a:srgbClr val="12A566"/>
          </a:solidFill>
          <a:ln/>
        </p:spPr>
      </p:sp>
      <p:sp>
        <p:nvSpPr>
          <p:cNvPr id="51" name="Text 49"/>
          <p:cNvSpPr txBox="1"/>
          <p:nvPr/>
        </p:nvSpPr>
        <p:spPr>
          <a:xfrm>
            <a:off x="10433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+41.5%</a:t>
            </a:r>
            <a:endParaRPr lang="en-US" sz="1700" dirty="0"/>
          </a:p>
        </p:txBody>
      </p:sp>
      <p:sp>
        <p:nvSpPr>
          <p:cNvPr id="52" name="Shape 50"/>
          <p:cNvSpPr/>
          <p:nvPr/>
        </p:nvSpPr>
        <p:spPr>
          <a:xfrm>
            <a:off x="6336792" y="3566160"/>
            <a:ext cx="5230368" cy="658368"/>
          </a:xfrm>
          <a:prstGeom prst="rect">
            <a:avLst/>
          </a:prstGeom>
          <a:solidFill>
            <a:srgbClr val="F7F7F7"/>
          </a:solidFill>
          <a:ln/>
        </p:spPr>
      </p:sp>
      <p:sp>
        <p:nvSpPr>
          <p:cNvPr id="53" name="Text 51"/>
          <p:cNvSpPr txBox="1"/>
          <p:nvPr/>
        </p:nvSpPr>
        <p:spPr>
          <a:xfrm>
            <a:off x="6446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766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55" name="Text 53"/>
          <p:cNvSpPr txBox="1"/>
          <p:nvPr/>
        </p:nvSpPr>
        <p:spPr>
          <a:xfrm>
            <a:off x="6766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$291K → $410K</a:t>
            </a:r>
            <a:endParaRPr lang="en-US" sz="1300" dirty="0"/>
          </a:p>
        </p:txBody>
      </p:sp>
      <p:sp>
        <p:nvSpPr>
          <p:cNvPr id="56" name="Shape 54"/>
          <p:cNvSpPr/>
          <p:nvPr/>
        </p:nvSpPr>
        <p:spPr>
          <a:xfrm>
            <a:off x="9098280" y="3785616"/>
            <a:ext cx="729189" cy="219456"/>
          </a:xfrm>
          <a:prstGeom prst="rect">
            <a:avLst/>
          </a:prstGeom>
          <a:solidFill>
            <a:srgbClr val="12A566"/>
          </a:solidFill>
          <a:ln/>
        </p:spPr>
      </p:sp>
      <p:sp>
        <p:nvSpPr>
          <p:cNvPr id="57" name="Text 55"/>
          <p:cNvSpPr txBox="1"/>
          <p:nvPr/>
        </p:nvSpPr>
        <p:spPr>
          <a:xfrm>
            <a:off x="10433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+41.0%</a:t>
            </a:r>
            <a:endParaRPr lang="en-US" sz="1700" dirty="0"/>
          </a:p>
        </p:txBody>
      </p:sp>
      <p:sp>
        <p:nvSpPr>
          <p:cNvPr id="58" name="Text 56"/>
          <p:cNvSpPr txBox="1"/>
          <p:nvPr/>
        </p:nvSpPr>
        <p:spPr>
          <a:xfrm>
            <a:off x="6446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59" name="Text 57"/>
          <p:cNvSpPr txBox="1"/>
          <p:nvPr/>
        </p:nvSpPr>
        <p:spPr>
          <a:xfrm>
            <a:off x="6766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GMC PRESCOTT</a:t>
            </a:r>
            <a:endParaRPr lang="en-US" sz="1500" dirty="0"/>
          </a:p>
        </p:txBody>
      </p:sp>
      <p:sp>
        <p:nvSpPr>
          <p:cNvPr id="60" name="Text 58"/>
          <p:cNvSpPr txBox="1"/>
          <p:nvPr/>
        </p:nvSpPr>
        <p:spPr>
          <a:xfrm>
            <a:off x="6766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$268K → $358K</a:t>
            </a:r>
            <a:endParaRPr lang="en-US" sz="1300" dirty="0"/>
          </a:p>
        </p:txBody>
      </p:sp>
      <p:sp>
        <p:nvSpPr>
          <p:cNvPr id="61" name="Shape 59"/>
          <p:cNvSpPr/>
          <p:nvPr/>
        </p:nvSpPr>
        <p:spPr>
          <a:xfrm>
            <a:off x="9098280" y="4443984"/>
            <a:ext cx="592350" cy="219456"/>
          </a:xfrm>
          <a:prstGeom prst="rect">
            <a:avLst/>
          </a:prstGeom>
          <a:solidFill>
            <a:srgbClr val="12A566"/>
          </a:solidFill>
          <a:ln/>
        </p:spPr>
      </p:sp>
      <p:sp>
        <p:nvSpPr>
          <p:cNvPr id="62" name="Text 60"/>
          <p:cNvSpPr txBox="1"/>
          <p:nvPr/>
        </p:nvSpPr>
        <p:spPr>
          <a:xfrm>
            <a:off x="10433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+33.3%</a:t>
            </a:r>
            <a:endParaRPr lang="en-US" sz="1700" dirty="0"/>
          </a:p>
        </p:txBody>
      </p:sp>
      <p:sp>
        <p:nvSpPr>
          <p:cNvPr id="63" name="Shape 61"/>
          <p:cNvSpPr/>
          <p:nvPr/>
        </p:nvSpPr>
        <p:spPr>
          <a:xfrm>
            <a:off x="6336792" y="4882896"/>
            <a:ext cx="5230368" cy="658368"/>
          </a:xfrm>
          <a:prstGeom prst="rect">
            <a:avLst/>
          </a:prstGeom>
          <a:solidFill>
            <a:srgbClr val="F7F7F7"/>
          </a:solidFill>
          <a:ln/>
        </p:spPr>
      </p:sp>
      <p:sp>
        <p:nvSpPr>
          <p:cNvPr id="64" name="Text 62"/>
          <p:cNvSpPr txBox="1"/>
          <p:nvPr/>
        </p:nvSpPr>
        <p:spPr>
          <a:xfrm>
            <a:off x="6446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65" name="Text 63"/>
          <p:cNvSpPr txBox="1"/>
          <p:nvPr/>
        </p:nvSpPr>
        <p:spPr>
          <a:xfrm>
            <a:off x="6766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66" name="Text 64"/>
          <p:cNvSpPr txBox="1"/>
          <p:nvPr/>
        </p:nvSpPr>
        <p:spPr>
          <a:xfrm>
            <a:off x="6766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$473K → $626K</a:t>
            </a:r>
            <a:endParaRPr lang="en-US" sz="1300" dirty="0"/>
          </a:p>
        </p:txBody>
      </p:sp>
      <p:sp>
        <p:nvSpPr>
          <p:cNvPr id="67" name="Shape 65"/>
          <p:cNvSpPr/>
          <p:nvPr/>
        </p:nvSpPr>
        <p:spPr>
          <a:xfrm>
            <a:off x="9098280" y="5102352"/>
            <a:ext cx="574697" cy="219456"/>
          </a:xfrm>
          <a:prstGeom prst="rect">
            <a:avLst/>
          </a:prstGeom>
          <a:solidFill>
            <a:srgbClr val="12A566"/>
          </a:solidFill>
          <a:ln/>
        </p:spPr>
      </p:sp>
      <p:sp>
        <p:nvSpPr>
          <p:cNvPr id="68" name="Text 66"/>
          <p:cNvSpPr txBox="1"/>
          <p:nvPr/>
        </p:nvSpPr>
        <p:spPr>
          <a:xfrm>
            <a:off x="10433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+32.3%</a:t>
            </a:r>
            <a:endParaRPr lang="en-US" sz="1700" dirty="0"/>
          </a:p>
        </p:txBody>
      </p:sp>
      <p:sp>
        <p:nvSpPr>
          <p:cNvPr id="70" name="Shape 67"/>
          <p:cNvSpPr/>
          <p:nvPr/>
        </p:nvSpPr>
        <p:spPr>
          <a:xfrm>
            <a:off x="457200" y="6126480"/>
            <a:ext cx="11274552" cy="371856"/>
          </a:xfrm>
          <a:prstGeom prst="rect">
            <a:avLst/>
          </a:prstGeom>
          <a:solidFill>
            <a:srgbClr val="E6F6EE"/>
          </a:solidFill>
          <a:ln/>
        </p:spPr>
      </p:sp>
      <p:sp>
        <p:nvSpPr>
          <p:cNvPr id="71" name="Text 6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Three stores are top five in both.</a:t>
            </a:r>
            <a:endParaRPr lang="en-US" sz="1600" dirty="0"/>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MOST IMPROVED · V1, SUPERSEDED BY V2</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CP RO Count</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January–September ·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+0.1% · 20 of 33 stores improved</a:t>
            </a:r>
            <a:endParaRPr lang="en-US" sz="1400" dirty="0"/>
          </a:p>
        </p:txBody>
      </p:sp>
      <p:sp>
        <p:nvSpPr>
          <p:cNvPr id="9" name="Shape 7"/>
          <p:cNvSpPr/>
          <p:nvPr/>
        </p:nvSpPr>
        <p:spPr>
          <a:xfrm>
            <a:off x="621792" y="2249424"/>
            <a:ext cx="5230368" cy="658368"/>
          </a:xfrm>
          <a:prstGeom prst="rect">
            <a:avLst/>
          </a:prstGeom>
          <a:solidFill>
            <a:srgbClr val="F7F7F7"/>
          </a:solidFill>
          <a:ln/>
        </p:spPr>
      </p:sp>
      <p:sp>
        <p:nvSpPr>
          <p:cNvPr id="10" name="Text 8"/>
          <p:cNvSpPr txBox="1"/>
          <p:nvPr/>
        </p:nvSpPr>
        <p:spPr>
          <a:xfrm>
            <a:off x="731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11" name="Text 9"/>
          <p:cNvSpPr txBox="1"/>
          <p:nvPr/>
        </p:nvSpPr>
        <p:spPr>
          <a:xfrm>
            <a:off x="1051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LV</a:t>
            </a:r>
            <a:endParaRPr lang="en-US" sz="1500" dirty="0"/>
          </a:p>
        </p:txBody>
      </p:sp>
      <p:sp>
        <p:nvSpPr>
          <p:cNvPr id="12" name="Text 10"/>
          <p:cNvSpPr txBox="1"/>
          <p:nvPr/>
        </p:nvSpPr>
        <p:spPr>
          <a:xfrm>
            <a:off x="1051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7,156 → 8,133</a:t>
            </a:r>
            <a:endParaRPr lang="en-US" sz="1300" dirty="0"/>
          </a:p>
        </p:txBody>
      </p:sp>
      <p:sp>
        <p:nvSpPr>
          <p:cNvPr id="13" name="Shape 11"/>
          <p:cNvSpPr/>
          <p:nvPr/>
        </p:nvSpPr>
        <p:spPr>
          <a:xfrm>
            <a:off x="3383280" y="2468880"/>
            <a:ext cx="1280160" cy="219456"/>
          </a:xfrm>
          <a:prstGeom prst="rect">
            <a:avLst/>
          </a:prstGeom>
          <a:solidFill>
            <a:srgbClr val="12A566"/>
          </a:solidFill>
          <a:ln/>
        </p:spPr>
      </p:sp>
      <p:sp>
        <p:nvSpPr>
          <p:cNvPr id="14" name="Text 12"/>
          <p:cNvSpPr txBox="1"/>
          <p:nvPr/>
        </p:nvSpPr>
        <p:spPr>
          <a:xfrm>
            <a:off x="4718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+13.6%</a:t>
            </a:r>
            <a:endParaRPr lang="en-US" sz="1700" dirty="0"/>
          </a:p>
        </p:txBody>
      </p:sp>
      <p:sp>
        <p:nvSpPr>
          <p:cNvPr id="15" name="Text 13"/>
          <p:cNvSpPr txBox="1"/>
          <p:nvPr/>
        </p:nvSpPr>
        <p:spPr>
          <a:xfrm>
            <a:off x="731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16" name="Text 14"/>
          <p:cNvSpPr txBox="1"/>
          <p:nvPr/>
        </p:nvSpPr>
        <p:spPr>
          <a:xfrm>
            <a:off x="1051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HYUNDAI PRESCOTT</a:t>
            </a:r>
            <a:endParaRPr lang="en-US" sz="1500" dirty="0"/>
          </a:p>
        </p:txBody>
      </p:sp>
      <p:sp>
        <p:nvSpPr>
          <p:cNvPr id="17" name="Text 15"/>
          <p:cNvSpPr txBox="1"/>
          <p:nvPr/>
        </p:nvSpPr>
        <p:spPr>
          <a:xfrm>
            <a:off x="1051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1,784 → 2,010</a:t>
            </a:r>
            <a:endParaRPr lang="en-US" sz="1300" dirty="0"/>
          </a:p>
        </p:txBody>
      </p:sp>
      <p:sp>
        <p:nvSpPr>
          <p:cNvPr id="18" name="Shape 16"/>
          <p:cNvSpPr/>
          <p:nvPr/>
        </p:nvSpPr>
        <p:spPr>
          <a:xfrm>
            <a:off x="3383280" y="3127248"/>
            <a:ext cx="1187828" cy="219456"/>
          </a:xfrm>
          <a:prstGeom prst="rect">
            <a:avLst/>
          </a:prstGeom>
          <a:solidFill>
            <a:srgbClr val="12A566"/>
          </a:solidFill>
          <a:ln/>
        </p:spPr>
      </p:sp>
      <p:sp>
        <p:nvSpPr>
          <p:cNvPr id="19" name="Text 17"/>
          <p:cNvSpPr txBox="1"/>
          <p:nvPr/>
        </p:nvSpPr>
        <p:spPr>
          <a:xfrm>
            <a:off x="4718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+12.6%</a:t>
            </a:r>
            <a:endParaRPr lang="en-US" sz="1700" dirty="0"/>
          </a:p>
        </p:txBody>
      </p:sp>
      <p:sp>
        <p:nvSpPr>
          <p:cNvPr id="20" name="Shape 18"/>
          <p:cNvSpPr/>
          <p:nvPr/>
        </p:nvSpPr>
        <p:spPr>
          <a:xfrm>
            <a:off x="621792" y="3566160"/>
            <a:ext cx="5230368" cy="658368"/>
          </a:xfrm>
          <a:prstGeom prst="rect">
            <a:avLst/>
          </a:prstGeom>
          <a:solidFill>
            <a:srgbClr val="F7F7F7"/>
          </a:solidFill>
          <a:ln/>
        </p:spPr>
      </p:sp>
      <p:sp>
        <p:nvSpPr>
          <p:cNvPr id="21" name="Text 19"/>
          <p:cNvSpPr txBox="1"/>
          <p:nvPr/>
        </p:nvSpPr>
        <p:spPr>
          <a:xfrm>
            <a:off x="731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22" name="Text 20"/>
          <p:cNvSpPr txBox="1"/>
          <p:nvPr/>
        </p:nvSpPr>
        <p:spPr>
          <a:xfrm>
            <a:off x="1051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GMC PRESCOTT</a:t>
            </a:r>
            <a:endParaRPr lang="en-US" sz="1500" dirty="0"/>
          </a:p>
        </p:txBody>
      </p:sp>
      <p:sp>
        <p:nvSpPr>
          <p:cNvPr id="23" name="Text 21"/>
          <p:cNvSpPr txBox="1"/>
          <p:nvPr/>
        </p:nvSpPr>
        <p:spPr>
          <a:xfrm>
            <a:off x="1051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2,810 → 3,107</a:t>
            </a:r>
            <a:endParaRPr lang="en-US" sz="1300" dirty="0"/>
          </a:p>
        </p:txBody>
      </p:sp>
      <p:sp>
        <p:nvSpPr>
          <p:cNvPr id="24" name="Shape 22"/>
          <p:cNvSpPr/>
          <p:nvPr/>
        </p:nvSpPr>
        <p:spPr>
          <a:xfrm>
            <a:off x="3383280" y="3785616"/>
            <a:ext cx="991038" cy="219456"/>
          </a:xfrm>
          <a:prstGeom prst="rect">
            <a:avLst/>
          </a:prstGeom>
          <a:solidFill>
            <a:srgbClr val="12A566"/>
          </a:solidFill>
          <a:ln/>
        </p:spPr>
      </p:sp>
      <p:sp>
        <p:nvSpPr>
          <p:cNvPr id="25" name="Text 23"/>
          <p:cNvSpPr txBox="1"/>
          <p:nvPr/>
        </p:nvSpPr>
        <p:spPr>
          <a:xfrm>
            <a:off x="4718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+10.5%</a:t>
            </a:r>
            <a:endParaRPr lang="en-US" sz="1700" dirty="0"/>
          </a:p>
        </p:txBody>
      </p:sp>
      <p:sp>
        <p:nvSpPr>
          <p:cNvPr id="26" name="Text 24"/>
          <p:cNvSpPr txBox="1"/>
          <p:nvPr/>
        </p:nvSpPr>
        <p:spPr>
          <a:xfrm>
            <a:off x="731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27" name="Text 25"/>
          <p:cNvSpPr txBox="1"/>
          <p:nvPr/>
        </p:nvSpPr>
        <p:spPr>
          <a:xfrm>
            <a:off x="1051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ST GEORGE</a:t>
            </a:r>
            <a:endParaRPr lang="en-US" sz="1500" dirty="0"/>
          </a:p>
        </p:txBody>
      </p:sp>
      <p:sp>
        <p:nvSpPr>
          <p:cNvPr id="28" name="Text 26"/>
          <p:cNvSpPr txBox="1"/>
          <p:nvPr/>
        </p:nvSpPr>
        <p:spPr>
          <a:xfrm>
            <a:off x="1051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5,042 → 5,553</a:t>
            </a:r>
            <a:endParaRPr lang="en-US" sz="1300" dirty="0"/>
          </a:p>
        </p:txBody>
      </p:sp>
      <p:sp>
        <p:nvSpPr>
          <p:cNvPr id="29" name="Shape 27"/>
          <p:cNvSpPr/>
          <p:nvPr/>
        </p:nvSpPr>
        <p:spPr>
          <a:xfrm>
            <a:off x="3383280" y="4443984"/>
            <a:ext cx="950294" cy="219456"/>
          </a:xfrm>
          <a:prstGeom prst="rect">
            <a:avLst/>
          </a:prstGeom>
          <a:solidFill>
            <a:srgbClr val="12A566"/>
          </a:solidFill>
          <a:ln/>
        </p:spPr>
      </p:sp>
      <p:sp>
        <p:nvSpPr>
          <p:cNvPr id="30" name="Text 28"/>
          <p:cNvSpPr txBox="1"/>
          <p:nvPr/>
        </p:nvSpPr>
        <p:spPr>
          <a:xfrm>
            <a:off x="4718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+10.1%</a:t>
            </a:r>
            <a:endParaRPr lang="en-US" sz="1700" dirty="0"/>
          </a:p>
        </p:txBody>
      </p:sp>
      <p:sp>
        <p:nvSpPr>
          <p:cNvPr id="31" name="Shape 29"/>
          <p:cNvSpPr/>
          <p:nvPr/>
        </p:nvSpPr>
        <p:spPr>
          <a:xfrm>
            <a:off x="621792" y="4882896"/>
            <a:ext cx="5230368" cy="658368"/>
          </a:xfrm>
          <a:prstGeom prst="rect">
            <a:avLst/>
          </a:prstGeom>
          <a:solidFill>
            <a:srgbClr val="F7F7F7"/>
          </a:solidFill>
          <a:ln/>
        </p:spPr>
      </p:sp>
      <p:sp>
        <p:nvSpPr>
          <p:cNvPr id="32" name="Text 30"/>
          <p:cNvSpPr txBox="1"/>
          <p:nvPr/>
        </p:nvSpPr>
        <p:spPr>
          <a:xfrm>
            <a:off x="731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33" name="Text 31"/>
          <p:cNvSpPr txBox="1"/>
          <p:nvPr/>
        </p:nvSpPr>
        <p:spPr>
          <a:xfrm>
            <a:off x="1051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RENO</a:t>
            </a:r>
            <a:endParaRPr lang="en-US" sz="1500" dirty="0"/>
          </a:p>
        </p:txBody>
      </p:sp>
      <p:sp>
        <p:nvSpPr>
          <p:cNvPr id="34" name="Text 32"/>
          <p:cNvSpPr txBox="1"/>
          <p:nvPr/>
        </p:nvSpPr>
        <p:spPr>
          <a:xfrm>
            <a:off x="1051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1,303 → 1,421</a:t>
            </a:r>
            <a:endParaRPr lang="en-US" sz="1300" dirty="0"/>
          </a:p>
        </p:txBody>
      </p:sp>
      <p:sp>
        <p:nvSpPr>
          <p:cNvPr id="35" name="Shape 33"/>
          <p:cNvSpPr/>
          <p:nvPr/>
        </p:nvSpPr>
        <p:spPr>
          <a:xfrm>
            <a:off x="3383280" y="5102352"/>
            <a:ext cx="849137" cy="219456"/>
          </a:xfrm>
          <a:prstGeom prst="rect">
            <a:avLst/>
          </a:prstGeom>
          <a:solidFill>
            <a:srgbClr val="12A566"/>
          </a:solidFill>
          <a:ln/>
        </p:spPr>
      </p:sp>
      <p:sp>
        <p:nvSpPr>
          <p:cNvPr id="36" name="Text 34"/>
          <p:cNvSpPr txBox="1"/>
          <p:nvPr/>
        </p:nvSpPr>
        <p:spPr>
          <a:xfrm>
            <a:off x="4718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+9.0%</a:t>
            </a:r>
            <a:endParaRPr lang="en-US" sz="17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Last 90 Days · Jul–Sep vs Jul–Sep 2025</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+2.0% · 20 of 33 stores improved</a:t>
            </a:r>
            <a:endParaRPr lang="en-US" sz="1400" dirty="0"/>
          </a:p>
        </p:txBody>
      </p:sp>
      <p:sp>
        <p:nvSpPr>
          <p:cNvPr id="41" name="Shape 39"/>
          <p:cNvSpPr/>
          <p:nvPr/>
        </p:nvSpPr>
        <p:spPr>
          <a:xfrm>
            <a:off x="6336792" y="2249424"/>
            <a:ext cx="5230368" cy="658368"/>
          </a:xfrm>
          <a:prstGeom prst="rect">
            <a:avLst/>
          </a:prstGeom>
          <a:solidFill>
            <a:srgbClr val="F7F7F7"/>
          </a:solidFill>
          <a:ln/>
        </p:spPr>
      </p:sp>
      <p:sp>
        <p:nvSpPr>
          <p:cNvPr id="42" name="Text 40"/>
          <p:cNvSpPr txBox="1"/>
          <p:nvPr/>
        </p:nvSpPr>
        <p:spPr>
          <a:xfrm>
            <a:off x="6446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43" name="Text 41"/>
          <p:cNvSpPr txBox="1"/>
          <p:nvPr/>
        </p:nvSpPr>
        <p:spPr>
          <a:xfrm>
            <a:off x="6766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RENO</a:t>
            </a:r>
            <a:endParaRPr lang="en-US" sz="1500" dirty="0"/>
          </a:p>
        </p:txBody>
      </p:sp>
      <p:sp>
        <p:nvSpPr>
          <p:cNvPr id="44" name="Text 42"/>
          <p:cNvSpPr txBox="1"/>
          <p:nvPr/>
        </p:nvSpPr>
        <p:spPr>
          <a:xfrm>
            <a:off x="6766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406 → 489</a:t>
            </a:r>
            <a:endParaRPr lang="en-US" sz="1300" dirty="0"/>
          </a:p>
        </p:txBody>
      </p:sp>
      <p:sp>
        <p:nvSpPr>
          <p:cNvPr id="45" name="Shape 43"/>
          <p:cNvSpPr/>
          <p:nvPr/>
        </p:nvSpPr>
        <p:spPr>
          <a:xfrm>
            <a:off x="9098280" y="2468880"/>
            <a:ext cx="1280160" cy="219456"/>
          </a:xfrm>
          <a:prstGeom prst="rect">
            <a:avLst/>
          </a:prstGeom>
          <a:solidFill>
            <a:srgbClr val="12A566"/>
          </a:solidFill>
          <a:ln/>
        </p:spPr>
      </p:sp>
      <p:sp>
        <p:nvSpPr>
          <p:cNvPr id="46" name="Text 44"/>
          <p:cNvSpPr txBox="1"/>
          <p:nvPr/>
        </p:nvSpPr>
        <p:spPr>
          <a:xfrm>
            <a:off x="10433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+20.4%</a:t>
            </a:r>
            <a:endParaRPr lang="en-US" sz="1700" dirty="0"/>
          </a:p>
        </p:txBody>
      </p:sp>
      <p:sp>
        <p:nvSpPr>
          <p:cNvPr id="47" name="Text 45"/>
          <p:cNvSpPr txBox="1"/>
          <p:nvPr/>
        </p:nvSpPr>
        <p:spPr>
          <a:xfrm>
            <a:off x="6446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48" name="Text 46"/>
          <p:cNvSpPr txBox="1"/>
          <p:nvPr/>
        </p:nvSpPr>
        <p:spPr>
          <a:xfrm>
            <a:off x="6766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GMC PRESCOTT</a:t>
            </a:r>
            <a:endParaRPr lang="en-US" sz="1500" dirty="0"/>
          </a:p>
        </p:txBody>
      </p:sp>
      <p:sp>
        <p:nvSpPr>
          <p:cNvPr id="49" name="Text 47"/>
          <p:cNvSpPr txBox="1"/>
          <p:nvPr/>
        </p:nvSpPr>
        <p:spPr>
          <a:xfrm>
            <a:off x="6766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930 → 1,109</a:t>
            </a:r>
            <a:endParaRPr lang="en-US" sz="1300" dirty="0"/>
          </a:p>
        </p:txBody>
      </p:sp>
      <p:sp>
        <p:nvSpPr>
          <p:cNvPr id="50" name="Shape 48"/>
          <p:cNvSpPr/>
          <p:nvPr/>
        </p:nvSpPr>
        <p:spPr>
          <a:xfrm>
            <a:off x="9098280" y="3127248"/>
            <a:ext cx="1205264" cy="219456"/>
          </a:xfrm>
          <a:prstGeom prst="rect">
            <a:avLst/>
          </a:prstGeom>
          <a:solidFill>
            <a:srgbClr val="12A566"/>
          </a:solidFill>
          <a:ln/>
        </p:spPr>
      </p:sp>
      <p:sp>
        <p:nvSpPr>
          <p:cNvPr id="51" name="Text 49"/>
          <p:cNvSpPr txBox="1"/>
          <p:nvPr/>
        </p:nvSpPr>
        <p:spPr>
          <a:xfrm>
            <a:off x="10433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+19.2%</a:t>
            </a:r>
            <a:endParaRPr lang="en-US" sz="1700" dirty="0"/>
          </a:p>
        </p:txBody>
      </p:sp>
      <p:sp>
        <p:nvSpPr>
          <p:cNvPr id="52" name="Shape 50"/>
          <p:cNvSpPr/>
          <p:nvPr/>
        </p:nvSpPr>
        <p:spPr>
          <a:xfrm>
            <a:off x="6336792" y="3566160"/>
            <a:ext cx="5230368" cy="658368"/>
          </a:xfrm>
          <a:prstGeom prst="rect">
            <a:avLst/>
          </a:prstGeom>
          <a:solidFill>
            <a:srgbClr val="F7F7F7"/>
          </a:solidFill>
          <a:ln/>
        </p:spPr>
      </p:sp>
      <p:sp>
        <p:nvSpPr>
          <p:cNvPr id="53" name="Text 51"/>
          <p:cNvSpPr txBox="1"/>
          <p:nvPr/>
        </p:nvSpPr>
        <p:spPr>
          <a:xfrm>
            <a:off x="6446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766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LV</a:t>
            </a:r>
            <a:endParaRPr lang="en-US" sz="1500" dirty="0"/>
          </a:p>
        </p:txBody>
      </p:sp>
      <p:sp>
        <p:nvSpPr>
          <p:cNvPr id="55" name="Text 53"/>
          <p:cNvSpPr txBox="1"/>
          <p:nvPr/>
        </p:nvSpPr>
        <p:spPr>
          <a:xfrm>
            <a:off x="6766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1,061 → 1,246</a:t>
            </a:r>
            <a:endParaRPr lang="en-US" sz="1300" dirty="0"/>
          </a:p>
        </p:txBody>
      </p:sp>
      <p:sp>
        <p:nvSpPr>
          <p:cNvPr id="56" name="Shape 54"/>
          <p:cNvSpPr/>
          <p:nvPr/>
        </p:nvSpPr>
        <p:spPr>
          <a:xfrm>
            <a:off x="9098280" y="3785616"/>
            <a:ext cx="1091864" cy="219456"/>
          </a:xfrm>
          <a:prstGeom prst="rect">
            <a:avLst/>
          </a:prstGeom>
          <a:solidFill>
            <a:srgbClr val="12A566"/>
          </a:solidFill>
          <a:ln/>
        </p:spPr>
      </p:sp>
      <p:sp>
        <p:nvSpPr>
          <p:cNvPr id="57" name="Text 55"/>
          <p:cNvSpPr txBox="1"/>
          <p:nvPr/>
        </p:nvSpPr>
        <p:spPr>
          <a:xfrm>
            <a:off x="10433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+17.4%</a:t>
            </a:r>
            <a:endParaRPr lang="en-US" sz="1700" dirty="0"/>
          </a:p>
        </p:txBody>
      </p:sp>
      <p:sp>
        <p:nvSpPr>
          <p:cNvPr id="58" name="Text 56"/>
          <p:cNvSpPr txBox="1"/>
          <p:nvPr/>
        </p:nvSpPr>
        <p:spPr>
          <a:xfrm>
            <a:off x="6446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59" name="Text 57"/>
          <p:cNvSpPr txBox="1"/>
          <p:nvPr/>
        </p:nvSpPr>
        <p:spPr>
          <a:xfrm>
            <a:off x="6766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AUDI HENDERSON</a:t>
            </a:r>
            <a:endParaRPr lang="en-US" sz="1500" dirty="0"/>
          </a:p>
        </p:txBody>
      </p:sp>
      <p:sp>
        <p:nvSpPr>
          <p:cNvPr id="60" name="Text 58"/>
          <p:cNvSpPr txBox="1"/>
          <p:nvPr/>
        </p:nvSpPr>
        <p:spPr>
          <a:xfrm>
            <a:off x="6766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1,144 → 1,304</a:t>
            </a:r>
            <a:endParaRPr lang="en-US" sz="1300" dirty="0"/>
          </a:p>
        </p:txBody>
      </p:sp>
      <p:sp>
        <p:nvSpPr>
          <p:cNvPr id="61" name="Shape 59"/>
          <p:cNvSpPr/>
          <p:nvPr/>
        </p:nvSpPr>
        <p:spPr>
          <a:xfrm>
            <a:off x="9098280" y="4443984"/>
            <a:ext cx="875802" cy="219456"/>
          </a:xfrm>
          <a:prstGeom prst="rect">
            <a:avLst/>
          </a:prstGeom>
          <a:solidFill>
            <a:srgbClr val="12A566"/>
          </a:solidFill>
          <a:ln/>
        </p:spPr>
      </p:sp>
      <p:sp>
        <p:nvSpPr>
          <p:cNvPr id="62" name="Text 60"/>
          <p:cNvSpPr txBox="1"/>
          <p:nvPr/>
        </p:nvSpPr>
        <p:spPr>
          <a:xfrm>
            <a:off x="10433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+13.9%</a:t>
            </a:r>
            <a:endParaRPr lang="en-US" sz="1700" dirty="0"/>
          </a:p>
        </p:txBody>
      </p:sp>
      <p:sp>
        <p:nvSpPr>
          <p:cNvPr id="63" name="Shape 61"/>
          <p:cNvSpPr/>
          <p:nvPr/>
        </p:nvSpPr>
        <p:spPr>
          <a:xfrm>
            <a:off x="6336792" y="4882896"/>
            <a:ext cx="5230368" cy="658368"/>
          </a:xfrm>
          <a:prstGeom prst="rect">
            <a:avLst/>
          </a:prstGeom>
          <a:solidFill>
            <a:srgbClr val="F7F7F7"/>
          </a:solidFill>
          <a:ln/>
        </p:spPr>
      </p:sp>
      <p:sp>
        <p:nvSpPr>
          <p:cNvPr id="64" name="Text 62"/>
          <p:cNvSpPr txBox="1"/>
          <p:nvPr/>
        </p:nvSpPr>
        <p:spPr>
          <a:xfrm>
            <a:off x="6446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65" name="Text 63"/>
          <p:cNvSpPr txBox="1"/>
          <p:nvPr/>
        </p:nvSpPr>
        <p:spPr>
          <a:xfrm>
            <a:off x="6766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LV</a:t>
            </a:r>
            <a:endParaRPr lang="en-US" sz="1500" dirty="0"/>
          </a:p>
        </p:txBody>
      </p:sp>
      <p:sp>
        <p:nvSpPr>
          <p:cNvPr id="66" name="Text 64"/>
          <p:cNvSpPr txBox="1"/>
          <p:nvPr/>
        </p:nvSpPr>
        <p:spPr>
          <a:xfrm>
            <a:off x="6766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2,374 → 2,700</a:t>
            </a:r>
            <a:endParaRPr lang="en-US" sz="1300" dirty="0"/>
          </a:p>
        </p:txBody>
      </p:sp>
      <p:sp>
        <p:nvSpPr>
          <p:cNvPr id="67" name="Shape 65"/>
          <p:cNvSpPr/>
          <p:nvPr/>
        </p:nvSpPr>
        <p:spPr>
          <a:xfrm>
            <a:off x="9098280" y="5102352"/>
            <a:ext cx="859902" cy="219456"/>
          </a:xfrm>
          <a:prstGeom prst="rect">
            <a:avLst/>
          </a:prstGeom>
          <a:solidFill>
            <a:srgbClr val="12A566"/>
          </a:solidFill>
          <a:ln/>
        </p:spPr>
      </p:sp>
      <p:sp>
        <p:nvSpPr>
          <p:cNvPr id="68" name="Text 66"/>
          <p:cNvSpPr txBox="1"/>
          <p:nvPr/>
        </p:nvSpPr>
        <p:spPr>
          <a:xfrm>
            <a:off x="10433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+13.7%</a:t>
            </a:r>
            <a:endParaRPr lang="en-US" sz="1700" dirty="0"/>
          </a:p>
        </p:txBody>
      </p:sp>
      <p:sp>
        <p:nvSpPr>
          <p:cNvPr id="70" name="Shape 67"/>
          <p:cNvSpPr/>
          <p:nvPr/>
        </p:nvSpPr>
        <p:spPr>
          <a:xfrm>
            <a:off x="457200" y="6126480"/>
            <a:ext cx="11274552" cy="371856"/>
          </a:xfrm>
          <a:prstGeom prst="rect">
            <a:avLst/>
          </a:prstGeom>
          <a:solidFill>
            <a:srgbClr val="E6F6EE"/>
          </a:solidFill>
          <a:ln/>
        </p:spPr>
      </p:sp>
      <p:sp>
        <p:nvSpPr>
          <p:cNvPr id="71" name="Text 6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Three stores are top five in both.</a:t>
            </a:r>
            <a:endParaRPr lang="en-US" sz="1600" dirty="0"/>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MOST IMPROVED · V1, SUPERSEDED BY V2</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CP Hours per RO</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January–September ·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+3.6% · 26 of 33 stores improved</a:t>
            </a:r>
            <a:endParaRPr lang="en-US" sz="1400" dirty="0"/>
          </a:p>
        </p:txBody>
      </p:sp>
      <p:sp>
        <p:nvSpPr>
          <p:cNvPr id="9" name="Shape 7"/>
          <p:cNvSpPr/>
          <p:nvPr/>
        </p:nvSpPr>
        <p:spPr>
          <a:xfrm>
            <a:off x="621792" y="2249424"/>
            <a:ext cx="5230368" cy="658368"/>
          </a:xfrm>
          <a:prstGeom prst="rect">
            <a:avLst/>
          </a:prstGeom>
          <a:solidFill>
            <a:srgbClr val="F7F7F7"/>
          </a:solidFill>
          <a:ln/>
        </p:spPr>
      </p:sp>
      <p:sp>
        <p:nvSpPr>
          <p:cNvPr id="10" name="Text 8"/>
          <p:cNvSpPr txBox="1"/>
          <p:nvPr/>
        </p:nvSpPr>
        <p:spPr>
          <a:xfrm>
            <a:off x="731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11" name="Text 9"/>
          <p:cNvSpPr txBox="1"/>
          <p:nvPr/>
        </p:nvSpPr>
        <p:spPr>
          <a:xfrm>
            <a:off x="1051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HYUNDAI ST GEORGE</a:t>
            </a:r>
            <a:endParaRPr lang="en-US" sz="1500" dirty="0"/>
          </a:p>
        </p:txBody>
      </p:sp>
      <p:sp>
        <p:nvSpPr>
          <p:cNvPr id="12" name="Text 10"/>
          <p:cNvSpPr txBox="1"/>
          <p:nvPr/>
        </p:nvSpPr>
        <p:spPr>
          <a:xfrm>
            <a:off x="1051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1.03 → 1.43</a:t>
            </a:r>
            <a:endParaRPr lang="en-US" sz="1300" dirty="0"/>
          </a:p>
        </p:txBody>
      </p:sp>
      <p:sp>
        <p:nvSpPr>
          <p:cNvPr id="13" name="Shape 11"/>
          <p:cNvSpPr/>
          <p:nvPr/>
        </p:nvSpPr>
        <p:spPr>
          <a:xfrm>
            <a:off x="3383280" y="2468880"/>
            <a:ext cx="1280160" cy="219456"/>
          </a:xfrm>
          <a:prstGeom prst="rect">
            <a:avLst/>
          </a:prstGeom>
          <a:solidFill>
            <a:srgbClr val="12A566"/>
          </a:solidFill>
          <a:ln/>
        </p:spPr>
      </p:sp>
      <p:sp>
        <p:nvSpPr>
          <p:cNvPr id="14" name="Text 12"/>
          <p:cNvSpPr txBox="1"/>
          <p:nvPr/>
        </p:nvSpPr>
        <p:spPr>
          <a:xfrm>
            <a:off x="4718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+39.1%</a:t>
            </a:r>
            <a:endParaRPr lang="en-US" sz="1700" dirty="0"/>
          </a:p>
        </p:txBody>
      </p:sp>
      <p:sp>
        <p:nvSpPr>
          <p:cNvPr id="15" name="Text 13"/>
          <p:cNvSpPr txBox="1"/>
          <p:nvPr/>
        </p:nvSpPr>
        <p:spPr>
          <a:xfrm>
            <a:off x="731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16" name="Text 14"/>
          <p:cNvSpPr txBox="1"/>
          <p:nvPr/>
        </p:nvSpPr>
        <p:spPr>
          <a:xfrm>
            <a:off x="1051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ST GEORGE</a:t>
            </a:r>
            <a:endParaRPr lang="en-US" sz="1500" dirty="0"/>
          </a:p>
        </p:txBody>
      </p:sp>
      <p:sp>
        <p:nvSpPr>
          <p:cNvPr id="17" name="Text 15"/>
          <p:cNvSpPr txBox="1"/>
          <p:nvPr/>
        </p:nvSpPr>
        <p:spPr>
          <a:xfrm>
            <a:off x="1051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1.75 → 2.30</a:t>
            </a:r>
            <a:endParaRPr lang="en-US" sz="1300" dirty="0"/>
          </a:p>
        </p:txBody>
      </p:sp>
      <p:sp>
        <p:nvSpPr>
          <p:cNvPr id="18" name="Shape 16"/>
          <p:cNvSpPr/>
          <p:nvPr/>
        </p:nvSpPr>
        <p:spPr>
          <a:xfrm>
            <a:off x="3383280" y="3127248"/>
            <a:ext cx="1023826" cy="219456"/>
          </a:xfrm>
          <a:prstGeom prst="rect">
            <a:avLst/>
          </a:prstGeom>
          <a:solidFill>
            <a:srgbClr val="12A566"/>
          </a:solidFill>
          <a:ln/>
        </p:spPr>
      </p:sp>
      <p:sp>
        <p:nvSpPr>
          <p:cNvPr id="19" name="Text 17"/>
          <p:cNvSpPr txBox="1"/>
          <p:nvPr/>
        </p:nvSpPr>
        <p:spPr>
          <a:xfrm>
            <a:off x="4718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+31.3%</a:t>
            </a:r>
            <a:endParaRPr lang="en-US" sz="1700" dirty="0"/>
          </a:p>
        </p:txBody>
      </p:sp>
      <p:sp>
        <p:nvSpPr>
          <p:cNvPr id="20" name="Shape 18"/>
          <p:cNvSpPr/>
          <p:nvPr/>
        </p:nvSpPr>
        <p:spPr>
          <a:xfrm>
            <a:off x="621792" y="3566160"/>
            <a:ext cx="5230368" cy="658368"/>
          </a:xfrm>
          <a:prstGeom prst="rect">
            <a:avLst/>
          </a:prstGeom>
          <a:solidFill>
            <a:srgbClr val="F7F7F7"/>
          </a:solidFill>
          <a:ln/>
        </p:spPr>
      </p:sp>
      <p:sp>
        <p:nvSpPr>
          <p:cNvPr id="21" name="Text 19"/>
          <p:cNvSpPr txBox="1"/>
          <p:nvPr/>
        </p:nvSpPr>
        <p:spPr>
          <a:xfrm>
            <a:off x="731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22" name="Text 20"/>
          <p:cNvSpPr txBox="1"/>
          <p:nvPr/>
        </p:nvSpPr>
        <p:spPr>
          <a:xfrm>
            <a:off x="1051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ST GEORGE</a:t>
            </a:r>
            <a:endParaRPr lang="en-US" sz="1500" dirty="0"/>
          </a:p>
        </p:txBody>
      </p:sp>
      <p:sp>
        <p:nvSpPr>
          <p:cNvPr id="23" name="Text 21"/>
          <p:cNvSpPr txBox="1"/>
          <p:nvPr/>
        </p:nvSpPr>
        <p:spPr>
          <a:xfrm>
            <a:off x="1051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0.99 → 1.29</a:t>
            </a:r>
            <a:endParaRPr lang="en-US" sz="1300" dirty="0"/>
          </a:p>
        </p:txBody>
      </p:sp>
      <p:sp>
        <p:nvSpPr>
          <p:cNvPr id="24" name="Shape 22"/>
          <p:cNvSpPr/>
          <p:nvPr/>
        </p:nvSpPr>
        <p:spPr>
          <a:xfrm>
            <a:off x="3383280" y="3785616"/>
            <a:ext cx="1005399" cy="219456"/>
          </a:xfrm>
          <a:prstGeom prst="rect">
            <a:avLst/>
          </a:prstGeom>
          <a:solidFill>
            <a:srgbClr val="12A566"/>
          </a:solidFill>
          <a:ln/>
        </p:spPr>
      </p:sp>
      <p:sp>
        <p:nvSpPr>
          <p:cNvPr id="25" name="Text 23"/>
          <p:cNvSpPr txBox="1"/>
          <p:nvPr/>
        </p:nvSpPr>
        <p:spPr>
          <a:xfrm>
            <a:off x="4718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+30.7%</a:t>
            </a:r>
            <a:endParaRPr lang="en-US" sz="1700" dirty="0"/>
          </a:p>
        </p:txBody>
      </p:sp>
      <p:sp>
        <p:nvSpPr>
          <p:cNvPr id="26" name="Text 24"/>
          <p:cNvSpPr txBox="1"/>
          <p:nvPr/>
        </p:nvSpPr>
        <p:spPr>
          <a:xfrm>
            <a:off x="731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27" name="Text 25"/>
          <p:cNvSpPr txBox="1"/>
          <p:nvPr/>
        </p:nvSpPr>
        <p:spPr>
          <a:xfrm>
            <a:off x="1051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28" name="Text 26"/>
          <p:cNvSpPr txBox="1"/>
          <p:nvPr/>
        </p:nvSpPr>
        <p:spPr>
          <a:xfrm>
            <a:off x="1051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1.34 → 1.60</a:t>
            </a:r>
            <a:endParaRPr lang="en-US" sz="1300" dirty="0"/>
          </a:p>
        </p:txBody>
      </p:sp>
      <p:sp>
        <p:nvSpPr>
          <p:cNvPr id="29" name="Shape 27"/>
          <p:cNvSpPr/>
          <p:nvPr/>
        </p:nvSpPr>
        <p:spPr>
          <a:xfrm>
            <a:off x="3383280" y="4443984"/>
            <a:ext cx="640574" cy="219456"/>
          </a:xfrm>
          <a:prstGeom prst="rect">
            <a:avLst/>
          </a:prstGeom>
          <a:solidFill>
            <a:srgbClr val="12A566"/>
          </a:solidFill>
          <a:ln/>
        </p:spPr>
      </p:sp>
      <p:sp>
        <p:nvSpPr>
          <p:cNvPr id="30" name="Text 28"/>
          <p:cNvSpPr txBox="1"/>
          <p:nvPr/>
        </p:nvSpPr>
        <p:spPr>
          <a:xfrm>
            <a:off x="4718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+19.5%</a:t>
            </a:r>
            <a:endParaRPr lang="en-US" sz="1700" dirty="0"/>
          </a:p>
        </p:txBody>
      </p:sp>
      <p:sp>
        <p:nvSpPr>
          <p:cNvPr id="31" name="Shape 29"/>
          <p:cNvSpPr/>
          <p:nvPr/>
        </p:nvSpPr>
        <p:spPr>
          <a:xfrm>
            <a:off x="621792" y="4882896"/>
            <a:ext cx="5230368" cy="658368"/>
          </a:xfrm>
          <a:prstGeom prst="rect">
            <a:avLst/>
          </a:prstGeom>
          <a:solidFill>
            <a:srgbClr val="F7F7F7"/>
          </a:solidFill>
          <a:ln/>
        </p:spPr>
      </p:sp>
      <p:sp>
        <p:nvSpPr>
          <p:cNvPr id="32" name="Text 30"/>
          <p:cNvSpPr txBox="1"/>
          <p:nvPr/>
        </p:nvSpPr>
        <p:spPr>
          <a:xfrm>
            <a:off x="731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33" name="Text 31"/>
          <p:cNvSpPr txBox="1"/>
          <p:nvPr/>
        </p:nvSpPr>
        <p:spPr>
          <a:xfrm>
            <a:off x="1051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LV</a:t>
            </a:r>
            <a:endParaRPr lang="en-US" sz="1500" dirty="0"/>
          </a:p>
        </p:txBody>
      </p:sp>
      <p:sp>
        <p:nvSpPr>
          <p:cNvPr id="34" name="Text 32"/>
          <p:cNvSpPr txBox="1"/>
          <p:nvPr/>
        </p:nvSpPr>
        <p:spPr>
          <a:xfrm>
            <a:off x="1051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1.32 → 1.57</a:t>
            </a:r>
            <a:endParaRPr lang="en-US" sz="1300" dirty="0"/>
          </a:p>
        </p:txBody>
      </p:sp>
      <p:sp>
        <p:nvSpPr>
          <p:cNvPr id="35" name="Shape 33"/>
          <p:cNvSpPr/>
          <p:nvPr/>
        </p:nvSpPr>
        <p:spPr>
          <a:xfrm>
            <a:off x="3383280" y="5102352"/>
            <a:ext cx="612671" cy="219456"/>
          </a:xfrm>
          <a:prstGeom prst="rect">
            <a:avLst/>
          </a:prstGeom>
          <a:solidFill>
            <a:srgbClr val="12A566"/>
          </a:solidFill>
          <a:ln/>
        </p:spPr>
      </p:sp>
      <p:sp>
        <p:nvSpPr>
          <p:cNvPr id="36" name="Text 34"/>
          <p:cNvSpPr txBox="1"/>
          <p:nvPr/>
        </p:nvSpPr>
        <p:spPr>
          <a:xfrm>
            <a:off x="4718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+18.7%</a:t>
            </a:r>
            <a:endParaRPr lang="en-US" sz="17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Last 90 Days · Jul–Sep vs Jul–Sep 2025</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+3.1% · 23 of 33 stores improved</a:t>
            </a:r>
            <a:endParaRPr lang="en-US" sz="1400" dirty="0"/>
          </a:p>
        </p:txBody>
      </p:sp>
      <p:sp>
        <p:nvSpPr>
          <p:cNvPr id="41" name="Shape 39"/>
          <p:cNvSpPr/>
          <p:nvPr/>
        </p:nvSpPr>
        <p:spPr>
          <a:xfrm>
            <a:off x="6336792" y="2249424"/>
            <a:ext cx="5230368" cy="658368"/>
          </a:xfrm>
          <a:prstGeom prst="rect">
            <a:avLst/>
          </a:prstGeom>
          <a:solidFill>
            <a:srgbClr val="F7F7F7"/>
          </a:solidFill>
          <a:ln/>
        </p:spPr>
      </p:sp>
      <p:sp>
        <p:nvSpPr>
          <p:cNvPr id="42" name="Text 40"/>
          <p:cNvSpPr txBox="1"/>
          <p:nvPr/>
        </p:nvSpPr>
        <p:spPr>
          <a:xfrm>
            <a:off x="6446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43" name="Text 41"/>
          <p:cNvSpPr txBox="1"/>
          <p:nvPr/>
        </p:nvSpPr>
        <p:spPr>
          <a:xfrm>
            <a:off x="6766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HYUNDAI ST GEORGE</a:t>
            </a:r>
            <a:endParaRPr lang="en-US" sz="1500" dirty="0"/>
          </a:p>
        </p:txBody>
      </p:sp>
      <p:sp>
        <p:nvSpPr>
          <p:cNvPr id="44" name="Text 42"/>
          <p:cNvSpPr txBox="1"/>
          <p:nvPr/>
        </p:nvSpPr>
        <p:spPr>
          <a:xfrm>
            <a:off x="6766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1.07 → 1.54</a:t>
            </a:r>
            <a:endParaRPr lang="en-US" sz="1300" dirty="0"/>
          </a:p>
        </p:txBody>
      </p:sp>
      <p:sp>
        <p:nvSpPr>
          <p:cNvPr id="45" name="Shape 43"/>
          <p:cNvSpPr/>
          <p:nvPr/>
        </p:nvSpPr>
        <p:spPr>
          <a:xfrm>
            <a:off x="9098280" y="2468880"/>
            <a:ext cx="1280160" cy="219456"/>
          </a:xfrm>
          <a:prstGeom prst="rect">
            <a:avLst/>
          </a:prstGeom>
          <a:solidFill>
            <a:srgbClr val="12A566"/>
          </a:solidFill>
          <a:ln/>
        </p:spPr>
      </p:sp>
      <p:sp>
        <p:nvSpPr>
          <p:cNvPr id="46" name="Text 44"/>
          <p:cNvSpPr txBox="1"/>
          <p:nvPr/>
        </p:nvSpPr>
        <p:spPr>
          <a:xfrm>
            <a:off x="10433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+44.7%</a:t>
            </a:r>
            <a:endParaRPr lang="en-US" sz="1700" dirty="0"/>
          </a:p>
        </p:txBody>
      </p:sp>
      <p:sp>
        <p:nvSpPr>
          <p:cNvPr id="47" name="Text 45"/>
          <p:cNvSpPr txBox="1"/>
          <p:nvPr/>
        </p:nvSpPr>
        <p:spPr>
          <a:xfrm>
            <a:off x="6446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48" name="Text 46"/>
          <p:cNvSpPr txBox="1"/>
          <p:nvPr/>
        </p:nvSpPr>
        <p:spPr>
          <a:xfrm>
            <a:off x="6766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ST GEORGE</a:t>
            </a:r>
            <a:endParaRPr lang="en-US" sz="1500" dirty="0"/>
          </a:p>
        </p:txBody>
      </p:sp>
      <p:sp>
        <p:nvSpPr>
          <p:cNvPr id="49" name="Text 47"/>
          <p:cNvSpPr txBox="1"/>
          <p:nvPr/>
        </p:nvSpPr>
        <p:spPr>
          <a:xfrm>
            <a:off x="6766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0.98 → 1.38</a:t>
            </a:r>
            <a:endParaRPr lang="en-US" sz="1300" dirty="0"/>
          </a:p>
        </p:txBody>
      </p:sp>
      <p:sp>
        <p:nvSpPr>
          <p:cNvPr id="50" name="Shape 48"/>
          <p:cNvSpPr/>
          <p:nvPr/>
        </p:nvSpPr>
        <p:spPr>
          <a:xfrm>
            <a:off x="9098280" y="3127248"/>
            <a:ext cx="1177847" cy="219456"/>
          </a:xfrm>
          <a:prstGeom prst="rect">
            <a:avLst/>
          </a:prstGeom>
          <a:solidFill>
            <a:srgbClr val="12A566"/>
          </a:solidFill>
          <a:ln/>
        </p:spPr>
      </p:sp>
      <p:sp>
        <p:nvSpPr>
          <p:cNvPr id="51" name="Text 49"/>
          <p:cNvSpPr txBox="1"/>
          <p:nvPr/>
        </p:nvSpPr>
        <p:spPr>
          <a:xfrm>
            <a:off x="10433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+41.1%</a:t>
            </a:r>
            <a:endParaRPr lang="en-US" sz="1700" dirty="0"/>
          </a:p>
        </p:txBody>
      </p:sp>
      <p:sp>
        <p:nvSpPr>
          <p:cNvPr id="52" name="Shape 50"/>
          <p:cNvSpPr/>
          <p:nvPr/>
        </p:nvSpPr>
        <p:spPr>
          <a:xfrm>
            <a:off x="6336792" y="3566160"/>
            <a:ext cx="5230368" cy="658368"/>
          </a:xfrm>
          <a:prstGeom prst="rect">
            <a:avLst/>
          </a:prstGeom>
          <a:solidFill>
            <a:srgbClr val="F7F7F7"/>
          </a:solidFill>
          <a:ln/>
        </p:spPr>
      </p:sp>
      <p:sp>
        <p:nvSpPr>
          <p:cNvPr id="53" name="Text 51"/>
          <p:cNvSpPr txBox="1"/>
          <p:nvPr/>
        </p:nvSpPr>
        <p:spPr>
          <a:xfrm>
            <a:off x="6446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766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55" name="Text 53"/>
          <p:cNvSpPr txBox="1"/>
          <p:nvPr/>
        </p:nvSpPr>
        <p:spPr>
          <a:xfrm>
            <a:off x="6766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1.29 → 1.65</a:t>
            </a:r>
            <a:endParaRPr lang="en-US" sz="1300" dirty="0"/>
          </a:p>
        </p:txBody>
      </p:sp>
      <p:sp>
        <p:nvSpPr>
          <p:cNvPr id="56" name="Shape 54"/>
          <p:cNvSpPr/>
          <p:nvPr/>
        </p:nvSpPr>
        <p:spPr>
          <a:xfrm>
            <a:off x="9098280" y="3785616"/>
            <a:ext cx="788509" cy="219456"/>
          </a:xfrm>
          <a:prstGeom prst="rect">
            <a:avLst/>
          </a:prstGeom>
          <a:solidFill>
            <a:srgbClr val="12A566"/>
          </a:solidFill>
          <a:ln/>
        </p:spPr>
      </p:sp>
      <p:sp>
        <p:nvSpPr>
          <p:cNvPr id="57" name="Text 55"/>
          <p:cNvSpPr txBox="1"/>
          <p:nvPr/>
        </p:nvSpPr>
        <p:spPr>
          <a:xfrm>
            <a:off x="10433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+27.5%</a:t>
            </a:r>
            <a:endParaRPr lang="en-US" sz="1700" dirty="0"/>
          </a:p>
        </p:txBody>
      </p:sp>
      <p:sp>
        <p:nvSpPr>
          <p:cNvPr id="58" name="Text 56"/>
          <p:cNvSpPr txBox="1"/>
          <p:nvPr/>
        </p:nvSpPr>
        <p:spPr>
          <a:xfrm>
            <a:off x="6446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59" name="Text 57"/>
          <p:cNvSpPr txBox="1"/>
          <p:nvPr/>
        </p:nvSpPr>
        <p:spPr>
          <a:xfrm>
            <a:off x="6766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LV</a:t>
            </a:r>
            <a:endParaRPr lang="en-US" sz="1500" dirty="0"/>
          </a:p>
        </p:txBody>
      </p:sp>
      <p:sp>
        <p:nvSpPr>
          <p:cNvPr id="60" name="Text 58"/>
          <p:cNvSpPr txBox="1"/>
          <p:nvPr/>
        </p:nvSpPr>
        <p:spPr>
          <a:xfrm>
            <a:off x="6766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3.39 → 4.07</a:t>
            </a:r>
            <a:endParaRPr lang="en-US" sz="1300" dirty="0"/>
          </a:p>
        </p:txBody>
      </p:sp>
      <p:sp>
        <p:nvSpPr>
          <p:cNvPr id="61" name="Shape 59"/>
          <p:cNvSpPr/>
          <p:nvPr/>
        </p:nvSpPr>
        <p:spPr>
          <a:xfrm>
            <a:off x="9098280" y="4443984"/>
            <a:ext cx="576271" cy="219456"/>
          </a:xfrm>
          <a:prstGeom prst="rect">
            <a:avLst/>
          </a:prstGeom>
          <a:solidFill>
            <a:srgbClr val="12A566"/>
          </a:solidFill>
          <a:ln/>
        </p:spPr>
      </p:sp>
      <p:sp>
        <p:nvSpPr>
          <p:cNvPr id="62" name="Text 60"/>
          <p:cNvSpPr txBox="1"/>
          <p:nvPr/>
        </p:nvSpPr>
        <p:spPr>
          <a:xfrm>
            <a:off x="10433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+20.1%</a:t>
            </a:r>
            <a:endParaRPr lang="en-US" sz="1700" dirty="0"/>
          </a:p>
        </p:txBody>
      </p:sp>
      <p:sp>
        <p:nvSpPr>
          <p:cNvPr id="63" name="Shape 61"/>
          <p:cNvSpPr/>
          <p:nvPr/>
        </p:nvSpPr>
        <p:spPr>
          <a:xfrm>
            <a:off x="6336792" y="4882896"/>
            <a:ext cx="5230368" cy="658368"/>
          </a:xfrm>
          <a:prstGeom prst="rect">
            <a:avLst/>
          </a:prstGeom>
          <a:solidFill>
            <a:srgbClr val="F7F7F7"/>
          </a:solidFill>
          <a:ln/>
        </p:spPr>
      </p:sp>
      <p:sp>
        <p:nvSpPr>
          <p:cNvPr id="64" name="Text 62"/>
          <p:cNvSpPr txBox="1"/>
          <p:nvPr/>
        </p:nvSpPr>
        <p:spPr>
          <a:xfrm>
            <a:off x="6446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65" name="Text 63"/>
          <p:cNvSpPr txBox="1"/>
          <p:nvPr/>
        </p:nvSpPr>
        <p:spPr>
          <a:xfrm>
            <a:off x="6766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66" name="Text 64"/>
          <p:cNvSpPr txBox="1"/>
          <p:nvPr/>
        </p:nvSpPr>
        <p:spPr>
          <a:xfrm>
            <a:off x="6766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2.07 → 2.44</a:t>
            </a:r>
            <a:endParaRPr lang="en-US" sz="1300" dirty="0"/>
          </a:p>
        </p:txBody>
      </p:sp>
      <p:sp>
        <p:nvSpPr>
          <p:cNvPr id="67" name="Shape 65"/>
          <p:cNvSpPr/>
          <p:nvPr/>
        </p:nvSpPr>
        <p:spPr>
          <a:xfrm>
            <a:off x="9098280" y="5102352"/>
            <a:ext cx="504347" cy="219456"/>
          </a:xfrm>
          <a:prstGeom prst="rect">
            <a:avLst/>
          </a:prstGeom>
          <a:solidFill>
            <a:srgbClr val="12A566"/>
          </a:solidFill>
          <a:ln/>
        </p:spPr>
      </p:sp>
      <p:sp>
        <p:nvSpPr>
          <p:cNvPr id="68" name="Text 66"/>
          <p:cNvSpPr txBox="1"/>
          <p:nvPr/>
        </p:nvSpPr>
        <p:spPr>
          <a:xfrm>
            <a:off x="10433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+17.6%</a:t>
            </a:r>
            <a:endParaRPr lang="en-US" sz="1700" dirty="0"/>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MOST IMPROVED · V1, SUPERSEDED BY V2</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CP ELR</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January–September ·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+2.2% · 19 of 33 stores improved</a:t>
            </a:r>
            <a:endParaRPr lang="en-US" sz="1400" dirty="0"/>
          </a:p>
        </p:txBody>
      </p:sp>
      <p:sp>
        <p:nvSpPr>
          <p:cNvPr id="9" name="Shape 7"/>
          <p:cNvSpPr/>
          <p:nvPr/>
        </p:nvSpPr>
        <p:spPr>
          <a:xfrm>
            <a:off x="621792" y="2249424"/>
            <a:ext cx="5230368" cy="658368"/>
          </a:xfrm>
          <a:prstGeom prst="rect">
            <a:avLst/>
          </a:prstGeom>
          <a:solidFill>
            <a:srgbClr val="F7F7F7"/>
          </a:solidFill>
          <a:ln/>
        </p:spPr>
      </p:sp>
      <p:sp>
        <p:nvSpPr>
          <p:cNvPr id="10" name="Text 8"/>
          <p:cNvSpPr txBox="1"/>
          <p:nvPr/>
        </p:nvSpPr>
        <p:spPr>
          <a:xfrm>
            <a:off x="731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11" name="Text 9"/>
          <p:cNvSpPr txBox="1"/>
          <p:nvPr/>
        </p:nvSpPr>
        <p:spPr>
          <a:xfrm>
            <a:off x="1051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HONDA SPOKANE</a:t>
            </a:r>
            <a:endParaRPr lang="en-US" sz="1500" dirty="0"/>
          </a:p>
        </p:txBody>
      </p:sp>
      <p:sp>
        <p:nvSpPr>
          <p:cNvPr id="12" name="Text 10"/>
          <p:cNvSpPr txBox="1"/>
          <p:nvPr/>
        </p:nvSpPr>
        <p:spPr>
          <a:xfrm>
            <a:off x="1051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$117.05 → $143.89</a:t>
            </a:r>
            <a:endParaRPr lang="en-US" sz="1300" dirty="0"/>
          </a:p>
        </p:txBody>
      </p:sp>
      <p:sp>
        <p:nvSpPr>
          <p:cNvPr id="13" name="Shape 11"/>
          <p:cNvSpPr/>
          <p:nvPr/>
        </p:nvSpPr>
        <p:spPr>
          <a:xfrm>
            <a:off x="3383280" y="2468880"/>
            <a:ext cx="1280160" cy="219456"/>
          </a:xfrm>
          <a:prstGeom prst="rect">
            <a:avLst/>
          </a:prstGeom>
          <a:solidFill>
            <a:srgbClr val="12A566"/>
          </a:solidFill>
          <a:ln/>
        </p:spPr>
      </p:sp>
      <p:sp>
        <p:nvSpPr>
          <p:cNvPr id="14" name="Text 12"/>
          <p:cNvSpPr txBox="1"/>
          <p:nvPr/>
        </p:nvSpPr>
        <p:spPr>
          <a:xfrm>
            <a:off x="4718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+22.9%</a:t>
            </a:r>
            <a:endParaRPr lang="en-US" sz="1700" dirty="0"/>
          </a:p>
        </p:txBody>
      </p:sp>
      <p:sp>
        <p:nvSpPr>
          <p:cNvPr id="15" name="Text 13"/>
          <p:cNvSpPr txBox="1"/>
          <p:nvPr/>
        </p:nvSpPr>
        <p:spPr>
          <a:xfrm>
            <a:off x="731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16" name="Text 14"/>
          <p:cNvSpPr txBox="1"/>
          <p:nvPr/>
        </p:nvSpPr>
        <p:spPr>
          <a:xfrm>
            <a:off x="1051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VOLVO</a:t>
            </a:r>
            <a:endParaRPr lang="en-US" sz="1500" dirty="0"/>
          </a:p>
        </p:txBody>
      </p:sp>
      <p:sp>
        <p:nvSpPr>
          <p:cNvPr id="17" name="Text 15"/>
          <p:cNvSpPr txBox="1"/>
          <p:nvPr/>
        </p:nvSpPr>
        <p:spPr>
          <a:xfrm>
            <a:off x="1051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$181.59 → $222.12</a:t>
            </a:r>
            <a:endParaRPr lang="en-US" sz="1300" dirty="0"/>
          </a:p>
        </p:txBody>
      </p:sp>
      <p:sp>
        <p:nvSpPr>
          <p:cNvPr id="18" name="Shape 16"/>
          <p:cNvSpPr/>
          <p:nvPr/>
        </p:nvSpPr>
        <p:spPr>
          <a:xfrm>
            <a:off x="3383280" y="3127248"/>
            <a:ext cx="1246113" cy="219456"/>
          </a:xfrm>
          <a:prstGeom prst="rect">
            <a:avLst/>
          </a:prstGeom>
          <a:solidFill>
            <a:srgbClr val="12A566"/>
          </a:solidFill>
          <a:ln/>
        </p:spPr>
      </p:sp>
      <p:sp>
        <p:nvSpPr>
          <p:cNvPr id="19" name="Text 17"/>
          <p:cNvSpPr txBox="1"/>
          <p:nvPr/>
        </p:nvSpPr>
        <p:spPr>
          <a:xfrm>
            <a:off x="4718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+22.3%</a:t>
            </a:r>
            <a:endParaRPr lang="en-US" sz="1700" dirty="0"/>
          </a:p>
        </p:txBody>
      </p:sp>
      <p:sp>
        <p:nvSpPr>
          <p:cNvPr id="20" name="Shape 18"/>
          <p:cNvSpPr/>
          <p:nvPr/>
        </p:nvSpPr>
        <p:spPr>
          <a:xfrm>
            <a:off x="621792" y="3566160"/>
            <a:ext cx="5230368" cy="658368"/>
          </a:xfrm>
          <a:prstGeom prst="rect">
            <a:avLst/>
          </a:prstGeom>
          <a:solidFill>
            <a:srgbClr val="F7F7F7"/>
          </a:solidFill>
          <a:ln/>
        </p:spPr>
      </p:sp>
      <p:sp>
        <p:nvSpPr>
          <p:cNvPr id="21" name="Text 19"/>
          <p:cNvSpPr txBox="1"/>
          <p:nvPr/>
        </p:nvSpPr>
        <p:spPr>
          <a:xfrm>
            <a:off x="731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22" name="Text 20"/>
          <p:cNvSpPr txBox="1"/>
          <p:nvPr/>
        </p:nvSpPr>
        <p:spPr>
          <a:xfrm>
            <a:off x="1051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23" name="Text 21"/>
          <p:cNvSpPr txBox="1"/>
          <p:nvPr/>
        </p:nvSpPr>
        <p:spPr>
          <a:xfrm>
            <a:off x="1051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$139.55 → $167.64</a:t>
            </a:r>
            <a:endParaRPr lang="en-US" sz="1300" dirty="0"/>
          </a:p>
        </p:txBody>
      </p:sp>
      <p:sp>
        <p:nvSpPr>
          <p:cNvPr id="24" name="Shape 22"/>
          <p:cNvSpPr/>
          <p:nvPr/>
        </p:nvSpPr>
        <p:spPr>
          <a:xfrm>
            <a:off x="3383280" y="3785616"/>
            <a:ext cx="1123401" cy="219456"/>
          </a:xfrm>
          <a:prstGeom prst="rect">
            <a:avLst/>
          </a:prstGeom>
          <a:solidFill>
            <a:srgbClr val="12A566"/>
          </a:solidFill>
          <a:ln/>
        </p:spPr>
      </p:sp>
      <p:sp>
        <p:nvSpPr>
          <p:cNvPr id="25" name="Text 23"/>
          <p:cNvSpPr txBox="1"/>
          <p:nvPr/>
        </p:nvSpPr>
        <p:spPr>
          <a:xfrm>
            <a:off x="4718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+20.1%</a:t>
            </a:r>
            <a:endParaRPr lang="en-US" sz="1700" dirty="0"/>
          </a:p>
        </p:txBody>
      </p:sp>
      <p:sp>
        <p:nvSpPr>
          <p:cNvPr id="26" name="Text 24"/>
          <p:cNvSpPr txBox="1"/>
          <p:nvPr/>
        </p:nvSpPr>
        <p:spPr>
          <a:xfrm>
            <a:off x="731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27" name="Text 25"/>
          <p:cNvSpPr txBox="1"/>
          <p:nvPr/>
        </p:nvSpPr>
        <p:spPr>
          <a:xfrm>
            <a:off x="1051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NISSAN</a:t>
            </a:r>
            <a:endParaRPr lang="en-US" sz="1500" dirty="0"/>
          </a:p>
        </p:txBody>
      </p:sp>
      <p:sp>
        <p:nvSpPr>
          <p:cNvPr id="28" name="Text 26"/>
          <p:cNvSpPr txBox="1"/>
          <p:nvPr/>
        </p:nvSpPr>
        <p:spPr>
          <a:xfrm>
            <a:off x="1051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$153.87 → $175.90</a:t>
            </a:r>
            <a:endParaRPr lang="en-US" sz="1300" dirty="0"/>
          </a:p>
        </p:txBody>
      </p:sp>
      <p:sp>
        <p:nvSpPr>
          <p:cNvPr id="29" name="Shape 27"/>
          <p:cNvSpPr/>
          <p:nvPr/>
        </p:nvSpPr>
        <p:spPr>
          <a:xfrm>
            <a:off x="3383280" y="4443984"/>
            <a:ext cx="799074" cy="219456"/>
          </a:xfrm>
          <a:prstGeom prst="rect">
            <a:avLst/>
          </a:prstGeom>
          <a:solidFill>
            <a:srgbClr val="12A566"/>
          </a:solidFill>
          <a:ln/>
        </p:spPr>
      </p:sp>
      <p:sp>
        <p:nvSpPr>
          <p:cNvPr id="30" name="Text 28"/>
          <p:cNvSpPr txBox="1"/>
          <p:nvPr/>
        </p:nvSpPr>
        <p:spPr>
          <a:xfrm>
            <a:off x="4718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+14.3%</a:t>
            </a:r>
            <a:endParaRPr lang="en-US" sz="1700" dirty="0"/>
          </a:p>
        </p:txBody>
      </p:sp>
      <p:sp>
        <p:nvSpPr>
          <p:cNvPr id="31" name="Shape 29"/>
          <p:cNvSpPr/>
          <p:nvPr/>
        </p:nvSpPr>
        <p:spPr>
          <a:xfrm>
            <a:off x="621792" y="4882896"/>
            <a:ext cx="5230368" cy="658368"/>
          </a:xfrm>
          <a:prstGeom prst="rect">
            <a:avLst/>
          </a:prstGeom>
          <a:solidFill>
            <a:srgbClr val="F7F7F7"/>
          </a:solidFill>
          <a:ln/>
        </p:spPr>
      </p:sp>
      <p:sp>
        <p:nvSpPr>
          <p:cNvPr id="32" name="Text 30"/>
          <p:cNvSpPr txBox="1"/>
          <p:nvPr/>
        </p:nvSpPr>
        <p:spPr>
          <a:xfrm>
            <a:off x="731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33" name="Text 31"/>
          <p:cNvSpPr txBox="1"/>
          <p:nvPr/>
        </p:nvSpPr>
        <p:spPr>
          <a:xfrm>
            <a:off x="1051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34" name="Text 32"/>
          <p:cNvSpPr txBox="1"/>
          <p:nvPr/>
        </p:nvSpPr>
        <p:spPr>
          <a:xfrm>
            <a:off x="1051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$122.25 → $139.13</a:t>
            </a:r>
            <a:endParaRPr lang="en-US" sz="1300" dirty="0"/>
          </a:p>
        </p:txBody>
      </p:sp>
      <p:sp>
        <p:nvSpPr>
          <p:cNvPr id="35" name="Shape 33"/>
          <p:cNvSpPr/>
          <p:nvPr/>
        </p:nvSpPr>
        <p:spPr>
          <a:xfrm>
            <a:off x="3383280" y="5102352"/>
            <a:ext cx="770788" cy="219456"/>
          </a:xfrm>
          <a:prstGeom prst="rect">
            <a:avLst/>
          </a:prstGeom>
          <a:solidFill>
            <a:srgbClr val="12A566"/>
          </a:solidFill>
          <a:ln/>
        </p:spPr>
      </p:sp>
      <p:sp>
        <p:nvSpPr>
          <p:cNvPr id="36" name="Text 34"/>
          <p:cNvSpPr txBox="1"/>
          <p:nvPr/>
        </p:nvSpPr>
        <p:spPr>
          <a:xfrm>
            <a:off x="4718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+13.8%</a:t>
            </a:r>
            <a:endParaRPr lang="en-US" sz="17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Last 90 Days · Jul–Sep vs Jul–Sep 2025</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+2.5% · 22 of 33 stores improved</a:t>
            </a:r>
            <a:endParaRPr lang="en-US" sz="1400" dirty="0"/>
          </a:p>
        </p:txBody>
      </p:sp>
      <p:sp>
        <p:nvSpPr>
          <p:cNvPr id="41" name="Shape 39"/>
          <p:cNvSpPr/>
          <p:nvPr/>
        </p:nvSpPr>
        <p:spPr>
          <a:xfrm>
            <a:off x="6336792" y="2249424"/>
            <a:ext cx="5230368" cy="658368"/>
          </a:xfrm>
          <a:prstGeom prst="rect">
            <a:avLst/>
          </a:prstGeom>
          <a:solidFill>
            <a:srgbClr val="F7F7F7"/>
          </a:solidFill>
          <a:ln/>
        </p:spPr>
      </p:sp>
      <p:sp>
        <p:nvSpPr>
          <p:cNvPr id="42" name="Text 40"/>
          <p:cNvSpPr txBox="1"/>
          <p:nvPr/>
        </p:nvSpPr>
        <p:spPr>
          <a:xfrm>
            <a:off x="6446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43" name="Text 41"/>
          <p:cNvSpPr txBox="1"/>
          <p:nvPr/>
        </p:nvSpPr>
        <p:spPr>
          <a:xfrm>
            <a:off x="6766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44" name="Text 42"/>
          <p:cNvSpPr txBox="1"/>
          <p:nvPr/>
        </p:nvSpPr>
        <p:spPr>
          <a:xfrm>
            <a:off x="6766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$134.86 → $167.22</a:t>
            </a:r>
            <a:endParaRPr lang="en-US" sz="1300" dirty="0"/>
          </a:p>
        </p:txBody>
      </p:sp>
      <p:sp>
        <p:nvSpPr>
          <p:cNvPr id="45" name="Shape 43"/>
          <p:cNvSpPr/>
          <p:nvPr/>
        </p:nvSpPr>
        <p:spPr>
          <a:xfrm>
            <a:off x="9098280" y="2468880"/>
            <a:ext cx="1280160" cy="219456"/>
          </a:xfrm>
          <a:prstGeom prst="rect">
            <a:avLst/>
          </a:prstGeom>
          <a:solidFill>
            <a:srgbClr val="12A566"/>
          </a:solidFill>
          <a:ln/>
        </p:spPr>
      </p:sp>
      <p:sp>
        <p:nvSpPr>
          <p:cNvPr id="46" name="Text 44"/>
          <p:cNvSpPr txBox="1"/>
          <p:nvPr/>
        </p:nvSpPr>
        <p:spPr>
          <a:xfrm>
            <a:off x="10433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+23.9%</a:t>
            </a:r>
            <a:endParaRPr lang="en-US" sz="1700" dirty="0"/>
          </a:p>
        </p:txBody>
      </p:sp>
      <p:sp>
        <p:nvSpPr>
          <p:cNvPr id="47" name="Text 45"/>
          <p:cNvSpPr txBox="1"/>
          <p:nvPr/>
        </p:nvSpPr>
        <p:spPr>
          <a:xfrm>
            <a:off x="6446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48" name="Text 46"/>
          <p:cNvSpPr txBox="1"/>
          <p:nvPr/>
        </p:nvSpPr>
        <p:spPr>
          <a:xfrm>
            <a:off x="6766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HONDA SPOKANE</a:t>
            </a:r>
            <a:endParaRPr lang="en-US" sz="1500" dirty="0"/>
          </a:p>
        </p:txBody>
      </p:sp>
      <p:sp>
        <p:nvSpPr>
          <p:cNvPr id="49" name="Text 47"/>
          <p:cNvSpPr txBox="1"/>
          <p:nvPr/>
        </p:nvSpPr>
        <p:spPr>
          <a:xfrm>
            <a:off x="6766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$119.95 → $147.93</a:t>
            </a:r>
            <a:endParaRPr lang="en-US" sz="1300" dirty="0"/>
          </a:p>
        </p:txBody>
      </p:sp>
      <p:sp>
        <p:nvSpPr>
          <p:cNvPr id="50" name="Shape 48"/>
          <p:cNvSpPr/>
          <p:nvPr/>
        </p:nvSpPr>
        <p:spPr>
          <a:xfrm>
            <a:off x="9098280" y="3127248"/>
            <a:ext cx="1244425" cy="219456"/>
          </a:xfrm>
          <a:prstGeom prst="rect">
            <a:avLst/>
          </a:prstGeom>
          <a:solidFill>
            <a:srgbClr val="12A566"/>
          </a:solidFill>
          <a:ln/>
        </p:spPr>
      </p:sp>
      <p:sp>
        <p:nvSpPr>
          <p:cNvPr id="51" name="Text 49"/>
          <p:cNvSpPr txBox="1"/>
          <p:nvPr/>
        </p:nvSpPr>
        <p:spPr>
          <a:xfrm>
            <a:off x="10433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+23.3%</a:t>
            </a:r>
            <a:endParaRPr lang="en-US" sz="1700" dirty="0"/>
          </a:p>
        </p:txBody>
      </p:sp>
      <p:sp>
        <p:nvSpPr>
          <p:cNvPr id="52" name="Shape 50"/>
          <p:cNvSpPr/>
          <p:nvPr/>
        </p:nvSpPr>
        <p:spPr>
          <a:xfrm>
            <a:off x="6336792" y="3566160"/>
            <a:ext cx="5230368" cy="658368"/>
          </a:xfrm>
          <a:prstGeom prst="rect">
            <a:avLst/>
          </a:prstGeom>
          <a:solidFill>
            <a:srgbClr val="F7F7F7"/>
          </a:solidFill>
          <a:ln/>
        </p:spPr>
      </p:sp>
      <p:sp>
        <p:nvSpPr>
          <p:cNvPr id="53" name="Text 51"/>
          <p:cNvSpPr txBox="1"/>
          <p:nvPr/>
        </p:nvSpPr>
        <p:spPr>
          <a:xfrm>
            <a:off x="6446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766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VOLVO</a:t>
            </a:r>
            <a:endParaRPr lang="en-US" sz="1500" dirty="0"/>
          </a:p>
        </p:txBody>
      </p:sp>
      <p:sp>
        <p:nvSpPr>
          <p:cNvPr id="55" name="Text 53"/>
          <p:cNvSpPr txBox="1"/>
          <p:nvPr/>
        </p:nvSpPr>
        <p:spPr>
          <a:xfrm>
            <a:off x="6766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$183.95 → $225.50</a:t>
            </a:r>
            <a:endParaRPr lang="en-US" sz="1300" dirty="0"/>
          </a:p>
        </p:txBody>
      </p:sp>
      <p:sp>
        <p:nvSpPr>
          <p:cNvPr id="56" name="Shape 54"/>
          <p:cNvSpPr/>
          <p:nvPr/>
        </p:nvSpPr>
        <p:spPr>
          <a:xfrm>
            <a:off x="9098280" y="3785616"/>
            <a:ext cx="1205012" cy="219456"/>
          </a:xfrm>
          <a:prstGeom prst="rect">
            <a:avLst/>
          </a:prstGeom>
          <a:solidFill>
            <a:srgbClr val="12A566"/>
          </a:solidFill>
          <a:ln/>
        </p:spPr>
      </p:sp>
      <p:sp>
        <p:nvSpPr>
          <p:cNvPr id="57" name="Text 55"/>
          <p:cNvSpPr txBox="1"/>
          <p:nvPr/>
        </p:nvSpPr>
        <p:spPr>
          <a:xfrm>
            <a:off x="10433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+22.5%</a:t>
            </a:r>
            <a:endParaRPr lang="en-US" sz="1700" dirty="0"/>
          </a:p>
        </p:txBody>
      </p:sp>
      <p:sp>
        <p:nvSpPr>
          <p:cNvPr id="58" name="Text 56"/>
          <p:cNvSpPr txBox="1"/>
          <p:nvPr/>
        </p:nvSpPr>
        <p:spPr>
          <a:xfrm>
            <a:off x="6446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59" name="Text 57"/>
          <p:cNvSpPr txBox="1"/>
          <p:nvPr/>
        </p:nvSpPr>
        <p:spPr>
          <a:xfrm>
            <a:off x="6766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NISSAN</a:t>
            </a:r>
            <a:endParaRPr lang="en-US" sz="1500" dirty="0"/>
          </a:p>
        </p:txBody>
      </p:sp>
      <p:sp>
        <p:nvSpPr>
          <p:cNvPr id="60" name="Text 58"/>
          <p:cNvSpPr txBox="1"/>
          <p:nvPr/>
        </p:nvSpPr>
        <p:spPr>
          <a:xfrm>
            <a:off x="6766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$160.07 → $180.14</a:t>
            </a:r>
            <a:endParaRPr lang="en-US" sz="1300" dirty="0"/>
          </a:p>
        </p:txBody>
      </p:sp>
      <p:sp>
        <p:nvSpPr>
          <p:cNvPr id="61" name="Shape 59"/>
          <p:cNvSpPr/>
          <p:nvPr/>
        </p:nvSpPr>
        <p:spPr>
          <a:xfrm>
            <a:off x="9098280" y="4443984"/>
            <a:ext cx="669135" cy="219456"/>
          </a:xfrm>
          <a:prstGeom prst="rect">
            <a:avLst/>
          </a:prstGeom>
          <a:solidFill>
            <a:srgbClr val="12A566"/>
          </a:solidFill>
          <a:ln/>
        </p:spPr>
      </p:sp>
      <p:sp>
        <p:nvSpPr>
          <p:cNvPr id="62" name="Text 60"/>
          <p:cNvSpPr txBox="1"/>
          <p:nvPr/>
        </p:nvSpPr>
        <p:spPr>
          <a:xfrm>
            <a:off x="10433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+12.5%</a:t>
            </a:r>
            <a:endParaRPr lang="en-US" sz="1700" dirty="0"/>
          </a:p>
        </p:txBody>
      </p:sp>
      <p:sp>
        <p:nvSpPr>
          <p:cNvPr id="63" name="Shape 61"/>
          <p:cNvSpPr/>
          <p:nvPr/>
        </p:nvSpPr>
        <p:spPr>
          <a:xfrm>
            <a:off x="6336792" y="4882896"/>
            <a:ext cx="5230368" cy="658368"/>
          </a:xfrm>
          <a:prstGeom prst="rect">
            <a:avLst/>
          </a:prstGeom>
          <a:solidFill>
            <a:srgbClr val="F7F7F7"/>
          </a:solidFill>
          <a:ln/>
        </p:spPr>
      </p:sp>
      <p:sp>
        <p:nvSpPr>
          <p:cNvPr id="64" name="Text 62"/>
          <p:cNvSpPr txBox="1"/>
          <p:nvPr/>
        </p:nvSpPr>
        <p:spPr>
          <a:xfrm>
            <a:off x="6446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65" name="Text 63"/>
          <p:cNvSpPr txBox="1"/>
          <p:nvPr/>
        </p:nvSpPr>
        <p:spPr>
          <a:xfrm>
            <a:off x="6766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66" name="Text 64"/>
          <p:cNvSpPr txBox="1"/>
          <p:nvPr/>
        </p:nvSpPr>
        <p:spPr>
          <a:xfrm>
            <a:off x="6766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$125.74 → $139.81</a:t>
            </a:r>
            <a:endParaRPr lang="en-US" sz="1300" dirty="0"/>
          </a:p>
        </p:txBody>
      </p:sp>
      <p:sp>
        <p:nvSpPr>
          <p:cNvPr id="67" name="Shape 65"/>
          <p:cNvSpPr/>
          <p:nvPr/>
        </p:nvSpPr>
        <p:spPr>
          <a:xfrm>
            <a:off x="9098280" y="5102352"/>
            <a:ext cx="596701" cy="219456"/>
          </a:xfrm>
          <a:prstGeom prst="rect">
            <a:avLst/>
          </a:prstGeom>
          <a:solidFill>
            <a:srgbClr val="12A566"/>
          </a:solidFill>
          <a:ln/>
        </p:spPr>
      </p:sp>
      <p:sp>
        <p:nvSpPr>
          <p:cNvPr id="68" name="Text 66"/>
          <p:cNvSpPr txBox="1"/>
          <p:nvPr/>
        </p:nvSpPr>
        <p:spPr>
          <a:xfrm>
            <a:off x="10433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+11.1%</a:t>
            </a:r>
            <a:endParaRPr lang="en-US" sz="1700" dirty="0"/>
          </a:p>
        </p:txBody>
      </p:sp>
      <p:sp>
        <p:nvSpPr>
          <p:cNvPr id="70" name="Shape 67"/>
          <p:cNvSpPr/>
          <p:nvPr/>
        </p:nvSpPr>
        <p:spPr>
          <a:xfrm>
            <a:off x="457200" y="6126480"/>
            <a:ext cx="11274552" cy="371856"/>
          </a:xfrm>
          <a:prstGeom prst="rect">
            <a:avLst/>
          </a:prstGeom>
          <a:solidFill>
            <a:srgbClr val="E6F6EE"/>
          </a:solidFill>
          <a:ln/>
        </p:spPr>
      </p:sp>
      <p:sp>
        <p:nvSpPr>
          <p:cNvPr id="71" name="Text 6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Five stores are top five in both.</a:t>
            </a:r>
            <a:endParaRPr lang="en-US" sz="1600" dirty="0"/>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MOST IMPROVED · V1, SUPERSEDED BY V2</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CP Parts $ per RO</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January–September ·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+4.1% · 24 of 33 stores improved</a:t>
            </a:r>
            <a:endParaRPr lang="en-US" sz="1400" dirty="0"/>
          </a:p>
        </p:txBody>
      </p:sp>
      <p:sp>
        <p:nvSpPr>
          <p:cNvPr id="9" name="Shape 7"/>
          <p:cNvSpPr/>
          <p:nvPr/>
        </p:nvSpPr>
        <p:spPr>
          <a:xfrm>
            <a:off x="621792" y="2249424"/>
            <a:ext cx="5230368" cy="658368"/>
          </a:xfrm>
          <a:prstGeom prst="rect">
            <a:avLst/>
          </a:prstGeom>
          <a:solidFill>
            <a:srgbClr val="F7F7F7"/>
          </a:solidFill>
          <a:ln/>
        </p:spPr>
      </p:sp>
      <p:sp>
        <p:nvSpPr>
          <p:cNvPr id="10" name="Text 8"/>
          <p:cNvSpPr txBox="1"/>
          <p:nvPr/>
        </p:nvSpPr>
        <p:spPr>
          <a:xfrm>
            <a:off x="731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11" name="Text 9"/>
          <p:cNvSpPr txBox="1"/>
          <p:nvPr/>
        </p:nvSpPr>
        <p:spPr>
          <a:xfrm>
            <a:off x="1051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12" name="Text 10"/>
          <p:cNvSpPr txBox="1"/>
          <p:nvPr/>
        </p:nvSpPr>
        <p:spPr>
          <a:xfrm>
            <a:off x="1051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$281 → $363</a:t>
            </a:r>
            <a:endParaRPr lang="en-US" sz="1300" dirty="0"/>
          </a:p>
        </p:txBody>
      </p:sp>
      <p:sp>
        <p:nvSpPr>
          <p:cNvPr id="13" name="Shape 11"/>
          <p:cNvSpPr/>
          <p:nvPr/>
        </p:nvSpPr>
        <p:spPr>
          <a:xfrm>
            <a:off x="3383280" y="2468880"/>
            <a:ext cx="1280160" cy="219456"/>
          </a:xfrm>
          <a:prstGeom prst="rect">
            <a:avLst/>
          </a:prstGeom>
          <a:solidFill>
            <a:srgbClr val="12A566"/>
          </a:solidFill>
          <a:ln/>
        </p:spPr>
      </p:sp>
      <p:sp>
        <p:nvSpPr>
          <p:cNvPr id="14" name="Text 12"/>
          <p:cNvSpPr txBox="1"/>
          <p:nvPr/>
        </p:nvSpPr>
        <p:spPr>
          <a:xfrm>
            <a:off x="4718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+28.9%</a:t>
            </a:r>
            <a:endParaRPr lang="en-US" sz="1700" dirty="0"/>
          </a:p>
        </p:txBody>
      </p:sp>
      <p:sp>
        <p:nvSpPr>
          <p:cNvPr id="15" name="Text 13"/>
          <p:cNvSpPr txBox="1"/>
          <p:nvPr/>
        </p:nvSpPr>
        <p:spPr>
          <a:xfrm>
            <a:off x="731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16" name="Text 14"/>
          <p:cNvSpPr txBox="1"/>
          <p:nvPr/>
        </p:nvSpPr>
        <p:spPr>
          <a:xfrm>
            <a:off x="1051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LEXUS</a:t>
            </a:r>
            <a:endParaRPr lang="en-US" sz="1500" dirty="0"/>
          </a:p>
        </p:txBody>
      </p:sp>
      <p:sp>
        <p:nvSpPr>
          <p:cNvPr id="17" name="Text 15"/>
          <p:cNvSpPr txBox="1"/>
          <p:nvPr/>
        </p:nvSpPr>
        <p:spPr>
          <a:xfrm>
            <a:off x="1051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$193 → $240</a:t>
            </a:r>
            <a:endParaRPr lang="en-US" sz="1300" dirty="0"/>
          </a:p>
        </p:txBody>
      </p:sp>
      <p:sp>
        <p:nvSpPr>
          <p:cNvPr id="18" name="Shape 16"/>
          <p:cNvSpPr/>
          <p:nvPr/>
        </p:nvSpPr>
        <p:spPr>
          <a:xfrm>
            <a:off x="3383280" y="3127248"/>
            <a:ext cx="1095538" cy="219456"/>
          </a:xfrm>
          <a:prstGeom prst="rect">
            <a:avLst/>
          </a:prstGeom>
          <a:solidFill>
            <a:srgbClr val="12A566"/>
          </a:solidFill>
          <a:ln/>
        </p:spPr>
      </p:sp>
      <p:sp>
        <p:nvSpPr>
          <p:cNvPr id="19" name="Text 17"/>
          <p:cNvSpPr txBox="1"/>
          <p:nvPr/>
        </p:nvSpPr>
        <p:spPr>
          <a:xfrm>
            <a:off x="4718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+24.7%</a:t>
            </a:r>
            <a:endParaRPr lang="en-US" sz="1700" dirty="0"/>
          </a:p>
        </p:txBody>
      </p:sp>
      <p:sp>
        <p:nvSpPr>
          <p:cNvPr id="20" name="Shape 18"/>
          <p:cNvSpPr/>
          <p:nvPr/>
        </p:nvSpPr>
        <p:spPr>
          <a:xfrm>
            <a:off x="621792" y="3566160"/>
            <a:ext cx="5230368" cy="658368"/>
          </a:xfrm>
          <a:prstGeom prst="rect">
            <a:avLst/>
          </a:prstGeom>
          <a:solidFill>
            <a:srgbClr val="F7F7F7"/>
          </a:solidFill>
          <a:ln/>
        </p:spPr>
      </p:sp>
      <p:sp>
        <p:nvSpPr>
          <p:cNvPr id="21" name="Text 19"/>
          <p:cNvSpPr txBox="1"/>
          <p:nvPr/>
        </p:nvSpPr>
        <p:spPr>
          <a:xfrm>
            <a:off x="731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22" name="Text 20"/>
          <p:cNvSpPr txBox="1"/>
          <p:nvPr/>
        </p:nvSpPr>
        <p:spPr>
          <a:xfrm>
            <a:off x="1051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HYUNDAI ST GEORGE</a:t>
            </a:r>
            <a:endParaRPr lang="en-US" sz="1500" dirty="0"/>
          </a:p>
        </p:txBody>
      </p:sp>
      <p:sp>
        <p:nvSpPr>
          <p:cNvPr id="23" name="Text 21"/>
          <p:cNvSpPr txBox="1"/>
          <p:nvPr/>
        </p:nvSpPr>
        <p:spPr>
          <a:xfrm>
            <a:off x="1051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$181 → $219</a:t>
            </a:r>
            <a:endParaRPr lang="en-US" sz="1300" dirty="0"/>
          </a:p>
        </p:txBody>
      </p:sp>
      <p:sp>
        <p:nvSpPr>
          <p:cNvPr id="24" name="Shape 22"/>
          <p:cNvSpPr/>
          <p:nvPr/>
        </p:nvSpPr>
        <p:spPr>
          <a:xfrm>
            <a:off x="3383280" y="3785616"/>
            <a:ext cx="930538" cy="219456"/>
          </a:xfrm>
          <a:prstGeom prst="rect">
            <a:avLst/>
          </a:prstGeom>
          <a:solidFill>
            <a:srgbClr val="12A566"/>
          </a:solidFill>
          <a:ln/>
        </p:spPr>
      </p:sp>
      <p:sp>
        <p:nvSpPr>
          <p:cNvPr id="25" name="Text 23"/>
          <p:cNvSpPr txBox="1"/>
          <p:nvPr/>
        </p:nvSpPr>
        <p:spPr>
          <a:xfrm>
            <a:off x="4718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+21.0%</a:t>
            </a:r>
            <a:endParaRPr lang="en-US" sz="1700" dirty="0"/>
          </a:p>
        </p:txBody>
      </p:sp>
      <p:sp>
        <p:nvSpPr>
          <p:cNvPr id="26" name="Text 24"/>
          <p:cNvSpPr txBox="1"/>
          <p:nvPr/>
        </p:nvSpPr>
        <p:spPr>
          <a:xfrm>
            <a:off x="731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27" name="Text 25"/>
          <p:cNvSpPr txBox="1"/>
          <p:nvPr/>
        </p:nvSpPr>
        <p:spPr>
          <a:xfrm>
            <a:off x="1051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HONDA FLAGSTAFF</a:t>
            </a:r>
            <a:endParaRPr lang="en-US" sz="1500" dirty="0"/>
          </a:p>
        </p:txBody>
      </p:sp>
      <p:sp>
        <p:nvSpPr>
          <p:cNvPr id="28" name="Text 26"/>
          <p:cNvSpPr txBox="1"/>
          <p:nvPr/>
        </p:nvSpPr>
        <p:spPr>
          <a:xfrm>
            <a:off x="1051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$179 → $212</a:t>
            </a:r>
            <a:endParaRPr lang="en-US" sz="1300" dirty="0"/>
          </a:p>
        </p:txBody>
      </p:sp>
      <p:sp>
        <p:nvSpPr>
          <p:cNvPr id="29" name="Shape 27"/>
          <p:cNvSpPr/>
          <p:nvPr/>
        </p:nvSpPr>
        <p:spPr>
          <a:xfrm>
            <a:off x="3383280" y="4443984"/>
            <a:ext cx="829801" cy="219456"/>
          </a:xfrm>
          <a:prstGeom prst="rect">
            <a:avLst/>
          </a:prstGeom>
          <a:solidFill>
            <a:srgbClr val="12A566"/>
          </a:solidFill>
          <a:ln/>
        </p:spPr>
      </p:sp>
      <p:sp>
        <p:nvSpPr>
          <p:cNvPr id="30" name="Text 28"/>
          <p:cNvSpPr txBox="1"/>
          <p:nvPr/>
        </p:nvSpPr>
        <p:spPr>
          <a:xfrm>
            <a:off x="4718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+18.7%</a:t>
            </a:r>
            <a:endParaRPr lang="en-US" sz="1700" dirty="0"/>
          </a:p>
        </p:txBody>
      </p:sp>
      <p:sp>
        <p:nvSpPr>
          <p:cNvPr id="31" name="Shape 29"/>
          <p:cNvSpPr/>
          <p:nvPr/>
        </p:nvSpPr>
        <p:spPr>
          <a:xfrm>
            <a:off x="621792" y="4882896"/>
            <a:ext cx="5230368" cy="658368"/>
          </a:xfrm>
          <a:prstGeom prst="rect">
            <a:avLst/>
          </a:prstGeom>
          <a:solidFill>
            <a:srgbClr val="F7F7F7"/>
          </a:solidFill>
          <a:ln/>
        </p:spPr>
      </p:sp>
      <p:sp>
        <p:nvSpPr>
          <p:cNvPr id="32" name="Text 30"/>
          <p:cNvSpPr txBox="1"/>
          <p:nvPr/>
        </p:nvSpPr>
        <p:spPr>
          <a:xfrm>
            <a:off x="731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33" name="Text 31"/>
          <p:cNvSpPr txBox="1"/>
          <p:nvPr/>
        </p:nvSpPr>
        <p:spPr>
          <a:xfrm>
            <a:off x="1051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ST GEORGE</a:t>
            </a:r>
            <a:endParaRPr lang="en-US" sz="1500" dirty="0"/>
          </a:p>
        </p:txBody>
      </p:sp>
      <p:sp>
        <p:nvSpPr>
          <p:cNvPr id="34" name="Text 32"/>
          <p:cNvSpPr txBox="1"/>
          <p:nvPr/>
        </p:nvSpPr>
        <p:spPr>
          <a:xfrm>
            <a:off x="1051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$238 → $280</a:t>
            </a:r>
            <a:endParaRPr lang="en-US" sz="1300" dirty="0"/>
          </a:p>
        </p:txBody>
      </p:sp>
      <p:sp>
        <p:nvSpPr>
          <p:cNvPr id="35" name="Shape 33"/>
          <p:cNvSpPr/>
          <p:nvPr/>
        </p:nvSpPr>
        <p:spPr>
          <a:xfrm>
            <a:off x="3383280" y="5102352"/>
            <a:ext cx="781605" cy="219456"/>
          </a:xfrm>
          <a:prstGeom prst="rect">
            <a:avLst/>
          </a:prstGeom>
          <a:solidFill>
            <a:srgbClr val="12A566"/>
          </a:solidFill>
          <a:ln/>
        </p:spPr>
      </p:sp>
      <p:sp>
        <p:nvSpPr>
          <p:cNvPr id="36" name="Text 34"/>
          <p:cNvSpPr txBox="1"/>
          <p:nvPr/>
        </p:nvSpPr>
        <p:spPr>
          <a:xfrm>
            <a:off x="4718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+17.6%</a:t>
            </a:r>
            <a:endParaRPr lang="en-US" sz="17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Last 90 Days · Jul–Sep vs Jul–Sep 2025</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+3.8% · 24 of 33 stores improved</a:t>
            </a:r>
            <a:endParaRPr lang="en-US" sz="1400" dirty="0"/>
          </a:p>
        </p:txBody>
      </p:sp>
      <p:sp>
        <p:nvSpPr>
          <p:cNvPr id="41" name="Shape 39"/>
          <p:cNvSpPr/>
          <p:nvPr/>
        </p:nvSpPr>
        <p:spPr>
          <a:xfrm>
            <a:off x="6336792" y="2249424"/>
            <a:ext cx="5230368" cy="658368"/>
          </a:xfrm>
          <a:prstGeom prst="rect">
            <a:avLst/>
          </a:prstGeom>
          <a:solidFill>
            <a:srgbClr val="F7F7F7"/>
          </a:solidFill>
          <a:ln/>
        </p:spPr>
      </p:sp>
      <p:sp>
        <p:nvSpPr>
          <p:cNvPr id="42" name="Text 40"/>
          <p:cNvSpPr txBox="1"/>
          <p:nvPr/>
        </p:nvSpPr>
        <p:spPr>
          <a:xfrm>
            <a:off x="6446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43" name="Text 41"/>
          <p:cNvSpPr txBox="1"/>
          <p:nvPr/>
        </p:nvSpPr>
        <p:spPr>
          <a:xfrm>
            <a:off x="6766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44" name="Text 42"/>
          <p:cNvSpPr txBox="1"/>
          <p:nvPr/>
        </p:nvSpPr>
        <p:spPr>
          <a:xfrm>
            <a:off x="6766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$266 → $373</a:t>
            </a:r>
            <a:endParaRPr lang="en-US" sz="1300" dirty="0"/>
          </a:p>
        </p:txBody>
      </p:sp>
      <p:sp>
        <p:nvSpPr>
          <p:cNvPr id="45" name="Shape 43"/>
          <p:cNvSpPr/>
          <p:nvPr/>
        </p:nvSpPr>
        <p:spPr>
          <a:xfrm>
            <a:off x="9098280" y="2468880"/>
            <a:ext cx="1280160" cy="219456"/>
          </a:xfrm>
          <a:prstGeom prst="rect">
            <a:avLst/>
          </a:prstGeom>
          <a:solidFill>
            <a:srgbClr val="12A566"/>
          </a:solidFill>
          <a:ln/>
        </p:spPr>
      </p:sp>
      <p:sp>
        <p:nvSpPr>
          <p:cNvPr id="46" name="Text 44"/>
          <p:cNvSpPr txBox="1"/>
          <p:nvPr/>
        </p:nvSpPr>
        <p:spPr>
          <a:xfrm>
            <a:off x="10433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+40.0%</a:t>
            </a:r>
            <a:endParaRPr lang="en-US" sz="1700" dirty="0"/>
          </a:p>
        </p:txBody>
      </p:sp>
      <p:sp>
        <p:nvSpPr>
          <p:cNvPr id="47" name="Text 45"/>
          <p:cNvSpPr txBox="1"/>
          <p:nvPr/>
        </p:nvSpPr>
        <p:spPr>
          <a:xfrm>
            <a:off x="6446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48" name="Text 46"/>
          <p:cNvSpPr txBox="1"/>
          <p:nvPr/>
        </p:nvSpPr>
        <p:spPr>
          <a:xfrm>
            <a:off x="6766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HONDA FLAGSTAFF</a:t>
            </a:r>
            <a:endParaRPr lang="en-US" sz="1500" dirty="0"/>
          </a:p>
        </p:txBody>
      </p:sp>
      <p:sp>
        <p:nvSpPr>
          <p:cNvPr id="49" name="Text 47"/>
          <p:cNvSpPr txBox="1"/>
          <p:nvPr/>
        </p:nvSpPr>
        <p:spPr>
          <a:xfrm>
            <a:off x="6766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$182 → $234</a:t>
            </a:r>
            <a:endParaRPr lang="en-US" sz="1300" dirty="0"/>
          </a:p>
        </p:txBody>
      </p:sp>
      <p:sp>
        <p:nvSpPr>
          <p:cNvPr id="50" name="Shape 48"/>
          <p:cNvSpPr/>
          <p:nvPr/>
        </p:nvSpPr>
        <p:spPr>
          <a:xfrm>
            <a:off x="9098280" y="3127248"/>
            <a:ext cx="919791" cy="219456"/>
          </a:xfrm>
          <a:prstGeom prst="rect">
            <a:avLst/>
          </a:prstGeom>
          <a:solidFill>
            <a:srgbClr val="12A566"/>
          </a:solidFill>
          <a:ln/>
        </p:spPr>
      </p:sp>
      <p:sp>
        <p:nvSpPr>
          <p:cNvPr id="51" name="Text 49"/>
          <p:cNvSpPr txBox="1"/>
          <p:nvPr/>
        </p:nvSpPr>
        <p:spPr>
          <a:xfrm>
            <a:off x="10433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+28.7%</a:t>
            </a:r>
            <a:endParaRPr lang="en-US" sz="1700" dirty="0"/>
          </a:p>
        </p:txBody>
      </p:sp>
      <p:sp>
        <p:nvSpPr>
          <p:cNvPr id="52" name="Shape 50"/>
          <p:cNvSpPr/>
          <p:nvPr/>
        </p:nvSpPr>
        <p:spPr>
          <a:xfrm>
            <a:off x="6336792" y="3566160"/>
            <a:ext cx="5230368" cy="658368"/>
          </a:xfrm>
          <a:prstGeom prst="rect">
            <a:avLst/>
          </a:prstGeom>
          <a:solidFill>
            <a:srgbClr val="F7F7F7"/>
          </a:solidFill>
          <a:ln/>
        </p:spPr>
      </p:sp>
      <p:sp>
        <p:nvSpPr>
          <p:cNvPr id="53" name="Text 51"/>
          <p:cNvSpPr txBox="1"/>
          <p:nvPr/>
        </p:nvSpPr>
        <p:spPr>
          <a:xfrm>
            <a:off x="6446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766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HENDERSON</a:t>
            </a:r>
            <a:endParaRPr lang="en-US" sz="1500" dirty="0"/>
          </a:p>
        </p:txBody>
      </p:sp>
      <p:sp>
        <p:nvSpPr>
          <p:cNvPr id="55" name="Text 53"/>
          <p:cNvSpPr txBox="1"/>
          <p:nvPr/>
        </p:nvSpPr>
        <p:spPr>
          <a:xfrm>
            <a:off x="6766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$793 → $988</a:t>
            </a:r>
            <a:endParaRPr lang="en-US" sz="1300" dirty="0"/>
          </a:p>
        </p:txBody>
      </p:sp>
      <p:sp>
        <p:nvSpPr>
          <p:cNvPr id="56" name="Shape 54"/>
          <p:cNvSpPr/>
          <p:nvPr/>
        </p:nvSpPr>
        <p:spPr>
          <a:xfrm>
            <a:off x="9098280" y="3785616"/>
            <a:ext cx="786898" cy="219456"/>
          </a:xfrm>
          <a:prstGeom prst="rect">
            <a:avLst/>
          </a:prstGeom>
          <a:solidFill>
            <a:srgbClr val="12A566"/>
          </a:solidFill>
          <a:ln/>
        </p:spPr>
      </p:sp>
      <p:sp>
        <p:nvSpPr>
          <p:cNvPr id="57" name="Text 55"/>
          <p:cNvSpPr txBox="1"/>
          <p:nvPr/>
        </p:nvSpPr>
        <p:spPr>
          <a:xfrm>
            <a:off x="10433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+24.6%</a:t>
            </a:r>
            <a:endParaRPr lang="en-US" sz="1700" dirty="0"/>
          </a:p>
        </p:txBody>
      </p:sp>
      <p:sp>
        <p:nvSpPr>
          <p:cNvPr id="58" name="Text 56"/>
          <p:cNvSpPr txBox="1"/>
          <p:nvPr/>
        </p:nvSpPr>
        <p:spPr>
          <a:xfrm>
            <a:off x="6446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59" name="Text 57"/>
          <p:cNvSpPr txBox="1"/>
          <p:nvPr/>
        </p:nvSpPr>
        <p:spPr>
          <a:xfrm>
            <a:off x="6766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NISSAN</a:t>
            </a:r>
            <a:endParaRPr lang="en-US" sz="1500" dirty="0"/>
          </a:p>
        </p:txBody>
      </p:sp>
      <p:sp>
        <p:nvSpPr>
          <p:cNvPr id="60" name="Text 58"/>
          <p:cNvSpPr txBox="1"/>
          <p:nvPr/>
        </p:nvSpPr>
        <p:spPr>
          <a:xfrm>
            <a:off x="6766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$234 → $285</a:t>
            </a:r>
            <a:endParaRPr lang="en-US" sz="1300" dirty="0"/>
          </a:p>
        </p:txBody>
      </p:sp>
      <p:sp>
        <p:nvSpPr>
          <p:cNvPr id="61" name="Shape 59"/>
          <p:cNvSpPr/>
          <p:nvPr/>
        </p:nvSpPr>
        <p:spPr>
          <a:xfrm>
            <a:off x="9098280" y="4443984"/>
            <a:ext cx="697812" cy="219456"/>
          </a:xfrm>
          <a:prstGeom prst="rect">
            <a:avLst/>
          </a:prstGeom>
          <a:solidFill>
            <a:srgbClr val="12A566"/>
          </a:solidFill>
          <a:ln/>
        </p:spPr>
      </p:sp>
      <p:sp>
        <p:nvSpPr>
          <p:cNvPr id="62" name="Text 60"/>
          <p:cNvSpPr txBox="1"/>
          <p:nvPr/>
        </p:nvSpPr>
        <p:spPr>
          <a:xfrm>
            <a:off x="10433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+21.8%</a:t>
            </a:r>
            <a:endParaRPr lang="en-US" sz="1700" dirty="0"/>
          </a:p>
        </p:txBody>
      </p:sp>
      <p:sp>
        <p:nvSpPr>
          <p:cNvPr id="63" name="Shape 61"/>
          <p:cNvSpPr/>
          <p:nvPr/>
        </p:nvSpPr>
        <p:spPr>
          <a:xfrm>
            <a:off x="6336792" y="4882896"/>
            <a:ext cx="5230368" cy="658368"/>
          </a:xfrm>
          <a:prstGeom prst="rect">
            <a:avLst/>
          </a:prstGeom>
          <a:solidFill>
            <a:srgbClr val="F7F7F7"/>
          </a:solidFill>
          <a:ln/>
        </p:spPr>
      </p:sp>
      <p:sp>
        <p:nvSpPr>
          <p:cNvPr id="64" name="Text 62"/>
          <p:cNvSpPr txBox="1"/>
          <p:nvPr/>
        </p:nvSpPr>
        <p:spPr>
          <a:xfrm>
            <a:off x="6446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65" name="Text 63"/>
          <p:cNvSpPr txBox="1"/>
          <p:nvPr/>
        </p:nvSpPr>
        <p:spPr>
          <a:xfrm>
            <a:off x="6766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HYUNDAI ST GEORGE</a:t>
            </a:r>
            <a:endParaRPr lang="en-US" sz="1500" dirty="0"/>
          </a:p>
        </p:txBody>
      </p:sp>
      <p:sp>
        <p:nvSpPr>
          <p:cNvPr id="66" name="Text 64"/>
          <p:cNvSpPr txBox="1"/>
          <p:nvPr/>
        </p:nvSpPr>
        <p:spPr>
          <a:xfrm>
            <a:off x="6766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$197 → $234</a:t>
            </a:r>
            <a:endParaRPr lang="en-US" sz="1300" dirty="0"/>
          </a:p>
        </p:txBody>
      </p:sp>
      <p:sp>
        <p:nvSpPr>
          <p:cNvPr id="67" name="Shape 65"/>
          <p:cNvSpPr/>
          <p:nvPr/>
        </p:nvSpPr>
        <p:spPr>
          <a:xfrm>
            <a:off x="9098280" y="5102352"/>
            <a:ext cx="597749" cy="219456"/>
          </a:xfrm>
          <a:prstGeom prst="rect">
            <a:avLst/>
          </a:prstGeom>
          <a:solidFill>
            <a:srgbClr val="12A566"/>
          </a:solidFill>
          <a:ln/>
        </p:spPr>
      </p:sp>
      <p:sp>
        <p:nvSpPr>
          <p:cNvPr id="68" name="Text 66"/>
          <p:cNvSpPr txBox="1"/>
          <p:nvPr/>
        </p:nvSpPr>
        <p:spPr>
          <a:xfrm>
            <a:off x="10433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+18.7%</a:t>
            </a:r>
            <a:endParaRPr lang="en-US" sz="1700" dirty="0"/>
          </a:p>
        </p:txBody>
      </p:sp>
      <p:sp>
        <p:nvSpPr>
          <p:cNvPr id="70" name="Shape 67"/>
          <p:cNvSpPr/>
          <p:nvPr/>
        </p:nvSpPr>
        <p:spPr>
          <a:xfrm>
            <a:off x="457200" y="6126480"/>
            <a:ext cx="11274552" cy="371856"/>
          </a:xfrm>
          <a:prstGeom prst="rect">
            <a:avLst/>
          </a:prstGeom>
          <a:solidFill>
            <a:srgbClr val="E6F6EE"/>
          </a:solidFill>
          <a:ln/>
        </p:spPr>
      </p:sp>
      <p:sp>
        <p:nvSpPr>
          <p:cNvPr id="71" name="Text 6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Three stores are top five in both.</a:t>
            </a:r>
            <a:endParaRPr lang="en-US" sz="1600" dirty="0"/>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MOST IMPROVED · V1, SUPERSEDED BY V2</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Most Improved: CP Parts GP %</a:t>
            </a:r>
            <a:endParaRPr lang="en-US" sz="2800" dirty="0"/>
          </a:p>
        </p:txBody>
      </p:sp>
      <p:sp>
        <p:nvSpPr>
          <p:cNvPr id="5" name="Shape 3"/>
          <p:cNvSpPr/>
          <p:nvPr/>
        </p:nvSpPr>
        <p:spPr>
          <a:xfrm>
            <a:off x="457200" y="1207008"/>
            <a:ext cx="5559552" cy="4645152"/>
          </a:xfrm>
          <a:prstGeom prst="rect">
            <a:avLst/>
          </a:prstGeom>
          <a:solidFill>
            <a:srgbClr val="FFFFFF"/>
          </a:solidFill>
          <a:ln/>
        </p:spPr>
      </p:sp>
      <p:sp>
        <p:nvSpPr>
          <p:cNvPr id="6" name="Text 4"/>
          <p:cNvSpPr txBox="1"/>
          <p:nvPr/>
        </p:nvSpPr>
        <p:spPr>
          <a:xfrm>
            <a:off x="685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January–September · vs Jan–Sep 2025</a:t>
            </a:r>
            <a:endParaRPr lang="en-US" sz="1500" dirty="0"/>
          </a:p>
        </p:txBody>
      </p:sp>
      <p:sp>
        <p:nvSpPr>
          <p:cNvPr id="7" name="Shape 5"/>
          <p:cNvSpPr/>
          <p:nvPr/>
        </p:nvSpPr>
        <p:spPr>
          <a:xfrm>
            <a:off x="685800" y="1691640"/>
            <a:ext cx="5102352" cy="10973"/>
          </a:xfrm>
          <a:prstGeom prst="rect">
            <a:avLst/>
          </a:prstGeom>
          <a:solidFill>
            <a:srgbClr val="1A1A1A"/>
          </a:solidFill>
          <a:ln/>
        </p:spPr>
      </p:sp>
      <p:sp>
        <p:nvSpPr>
          <p:cNvPr id="8" name="Text 6"/>
          <p:cNvSpPr txBox="1"/>
          <p:nvPr/>
        </p:nvSpPr>
        <p:spPr>
          <a:xfrm>
            <a:off x="685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+1.2 pts · 28 of 33 stores improved</a:t>
            </a:r>
            <a:endParaRPr lang="en-US" sz="1400" dirty="0"/>
          </a:p>
        </p:txBody>
      </p:sp>
      <p:sp>
        <p:nvSpPr>
          <p:cNvPr id="9" name="Shape 7"/>
          <p:cNvSpPr/>
          <p:nvPr/>
        </p:nvSpPr>
        <p:spPr>
          <a:xfrm>
            <a:off x="621792" y="2249424"/>
            <a:ext cx="5230368" cy="658368"/>
          </a:xfrm>
          <a:prstGeom prst="rect">
            <a:avLst/>
          </a:prstGeom>
          <a:solidFill>
            <a:srgbClr val="F7F7F7"/>
          </a:solidFill>
          <a:ln/>
        </p:spPr>
      </p:sp>
      <p:sp>
        <p:nvSpPr>
          <p:cNvPr id="10" name="Text 8"/>
          <p:cNvSpPr txBox="1"/>
          <p:nvPr/>
        </p:nvSpPr>
        <p:spPr>
          <a:xfrm>
            <a:off x="731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11" name="Text 9"/>
          <p:cNvSpPr txBox="1"/>
          <p:nvPr/>
        </p:nvSpPr>
        <p:spPr>
          <a:xfrm>
            <a:off x="1051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ACURA</a:t>
            </a:r>
            <a:endParaRPr lang="en-US" sz="1500" dirty="0"/>
          </a:p>
        </p:txBody>
      </p:sp>
      <p:sp>
        <p:nvSpPr>
          <p:cNvPr id="12" name="Text 10"/>
          <p:cNvSpPr txBox="1"/>
          <p:nvPr/>
        </p:nvSpPr>
        <p:spPr>
          <a:xfrm>
            <a:off x="1051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38.7% → 44.9%</a:t>
            </a:r>
            <a:endParaRPr lang="en-US" sz="1300" dirty="0"/>
          </a:p>
        </p:txBody>
      </p:sp>
      <p:sp>
        <p:nvSpPr>
          <p:cNvPr id="13" name="Shape 11"/>
          <p:cNvSpPr/>
          <p:nvPr/>
        </p:nvSpPr>
        <p:spPr>
          <a:xfrm>
            <a:off x="3383280" y="2468880"/>
            <a:ext cx="1280160" cy="219456"/>
          </a:xfrm>
          <a:prstGeom prst="rect">
            <a:avLst/>
          </a:prstGeom>
          <a:solidFill>
            <a:srgbClr val="12A566"/>
          </a:solidFill>
          <a:ln/>
        </p:spPr>
      </p:sp>
      <p:sp>
        <p:nvSpPr>
          <p:cNvPr id="14" name="Text 12"/>
          <p:cNvSpPr txBox="1"/>
          <p:nvPr/>
        </p:nvSpPr>
        <p:spPr>
          <a:xfrm>
            <a:off x="4718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+6.1 pts</a:t>
            </a:r>
            <a:endParaRPr lang="en-US" sz="1700" dirty="0"/>
          </a:p>
        </p:txBody>
      </p:sp>
      <p:sp>
        <p:nvSpPr>
          <p:cNvPr id="15" name="Text 13"/>
          <p:cNvSpPr txBox="1"/>
          <p:nvPr/>
        </p:nvSpPr>
        <p:spPr>
          <a:xfrm>
            <a:off x="731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16" name="Text 14"/>
          <p:cNvSpPr txBox="1"/>
          <p:nvPr/>
        </p:nvSpPr>
        <p:spPr>
          <a:xfrm>
            <a:off x="1051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NISSAN</a:t>
            </a:r>
            <a:endParaRPr lang="en-US" sz="1500" dirty="0"/>
          </a:p>
        </p:txBody>
      </p:sp>
      <p:sp>
        <p:nvSpPr>
          <p:cNvPr id="17" name="Text 15"/>
          <p:cNvSpPr txBox="1"/>
          <p:nvPr/>
        </p:nvSpPr>
        <p:spPr>
          <a:xfrm>
            <a:off x="1051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38.2% → 42.7%</a:t>
            </a:r>
            <a:endParaRPr lang="en-US" sz="1300" dirty="0"/>
          </a:p>
        </p:txBody>
      </p:sp>
      <p:sp>
        <p:nvSpPr>
          <p:cNvPr id="18" name="Shape 16"/>
          <p:cNvSpPr/>
          <p:nvPr/>
        </p:nvSpPr>
        <p:spPr>
          <a:xfrm>
            <a:off x="3383280" y="3127248"/>
            <a:ext cx="943982" cy="219456"/>
          </a:xfrm>
          <a:prstGeom prst="rect">
            <a:avLst/>
          </a:prstGeom>
          <a:solidFill>
            <a:srgbClr val="12A566"/>
          </a:solidFill>
          <a:ln/>
        </p:spPr>
      </p:sp>
      <p:sp>
        <p:nvSpPr>
          <p:cNvPr id="19" name="Text 17"/>
          <p:cNvSpPr txBox="1"/>
          <p:nvPr/>
        </p:nvSpPr>
        <p:spPr>
          <a:xfrm>
            <a:off x="4718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+4.5 pts</a:t>
            </a:r>
            <a:endParaRPr lang="en-US" sz="1700" dirty="0"/>
          </a:p>
        </p:txBody>
      </p:sp>
      <p:sp>
        <p:nvSpPr>
          <p:cNvPr id="20" name="Shape 18"/>
          <p:cNvSpPr/>
          <p:nvPr/>
        </p:nvSpPr>
        <p:spPr>
          <a:xfrm>
            <a:off x="621792" y="3566160"/>
            <a:ext cx="5230368" cy="658368"/>
          </a:xfrm>
          <a:prstGeom prst="rect">
            <a:avLst/>
          </a:prstGeom>
          <a:solidFill>
            <a:srgbClr val="F7F7F7"/>
          </a:solidFill>
          <a:ln/>
        </p:spPr>
      </p:sp>
      <p:sp>
        <p:nvSpPr>
          <p:cNvPr id="21" name="Text 19"/>
          <p:cNvSpPr txBox="1"/>
          <p:nvPr/>
        </p:nvSpPr>
        <p:spPr>
          <a:xfrm>
            <a:off x="731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22" name="Text 20"/>
          <p:cNvSpPr txBox="1"/>
          <p:nvPr/>
        </p:nvSpPr>
        <p:spPr>
          <a:xfrm>
            <a:off x="1051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23" name="Text 21"/>
          <p:cNvSpPr txBox="1"/>
          <p:nvPr/>
        </p:nvSpPr>
        <p:spPr>
          <a:xfrm>
            <a:off x="1051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31.0% → 34.8%</a:t>
            </a:r>
            <a:endParaRPr lang="en-US" sz="1300" dirty="0"/>
          </a:p>
        </p:txBody>
      </p:sp>
      <p:sp>
        <p:nvSpPr>
          <p:cNvPr id="24" name="Shape 22"/>
          <p:cNvSpPr/>
          <p:nvPr/>
        </p:nvSpPr>
        <p:spPr>
          <a:xfrm>
            <a:off x="3383280" y="3785616"/>
            <a:ext cx="796646" cy="219456"/>
          </a:xfrm>
          <a:prstGeom prst="rect">
            <a:avLst/>
          </a:prstGeom>
          <a:solidFill>
            <a:srgbClr val="12A566"/>
          </a:solidFill>
          <a:ln/>
        </p:spPr>
      </p:sp>
      <p:sp>
        <p:nvSpPr>
          <p:cNvPr id="25" name="Text 23"/>
          <p:cNvSpPr txBox="1"/>
          <p:nvPr/>
        </p:nvSpPr>
        <p:spPr>
          <a:xfrm>
            <a:off x="4718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+3.8 pts</a:t>
            </a:r>
            <a:endParaRPr lang="en-US" sz="1700" dirty="0"/>
          </a:p>
        </p:txBody>
      </p:sp>
      <p:sp>
        <p:nvSpPr>
          <p:cNvPr id="26" name="Text 24"/>
          <p:cNvSpPr txBox="1"/>
          <p:nvPr/>
        </p:nvSpPr>
        <p:spPr>
          <a:xfrm>
            <a:off x="731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27" name="Text 25"/>
          <p:cNvSpPr txBox="1"/>
          <p:nvPr/>
        </p:nvSpPr>
        <p:spPr>
          <a:xfrm>
            <a:off x="1051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LINCOLN</a:t>
            </a:r>
            <a:endParaRPr lang="en-US" sz="1500" dirty="0"/>
          </a:p>
        </p:txBody>
      </p:sp>
      <p:sp>
        <p:nvSpPr>
          <p:cNvPr id="28" name="Text 26"/>
          <p:cNvSpPr txBox="1"/>
          <p:nvPr/>
        </p:nvSpPr>
        <p:spPr>
          <a:xfrm>
            <a:off x="1051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33.7% → 37.0%</a:t>
            </a:r>
            <a:endParaRPr lang="en-US" sz="1300" dirty="0"/>
          </a:p>
        </p:txBody>
      </p:sp>
      <p:sp>
        <p:nvSpPr>
          <p:cNvPr id="29" name="Shape 27"/>
          <p:cNvSpPr/>
          <p:nvPr/>
        </p:nvSpPr>
        <p:spPr>
          <a:xfrm>
            <a:off x="3383280" y="4443984"/>
            <a:ext cx="692935" cy="219456"/>
          </a:xfrm>
          <a:prstGeom prst="rect">
            <a:avLst/>
          </a:prstGeom>
          <a:solidFill>
            <a:srgbClr val="12A566"/>
          </a:solidFill>
          <a:ln/>
        </p:spPr>
      </p:sp>
      <p:sp>
        <p:nvSpPr>
          <p:cNvPr id="30" name="Text 28"/>
          <p:cNvSpPr txBox="1"/>
          <p:nvPr/>
        </p:nvSpPr>
        <p:spPr>
          <a:xfrm>
            <a:off x="4718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+3.3 pts</a:t>
            </a:r>
            <a:endParaRPr lang="en-US" sz="1700" dirty="0"/>
          </a:p>
        </p:txBody>
      </p:sp>
      <p:sp>
        <p:nvSpPr>
          <p:cNvPr id="31" name="Shape 29"/>
          <p:cNvSpPr/>
          <p:nvPr/>
        </p:nvSpPr>
        <p:spPr>
          <a:xfrm>
            <a:off x="621792" y="4882896"/>
            <a:ext cx="5230368" cy="658368"/>
          </a:xfrm>
          <a:prstGeom prst="rect">
            <a:avLst/>
          </a:prstGeom>
          <a:solidFill>
            <a:srgbClr val="F7F7F7"/>
          </a:solidFill>
          <a:ln/>
        </p:spPr>
      </p:sp>
      <p:sp>
        <p:nvSpPr>
          <p:cNvPr id="32" name="Text 30"/>
          <p:cNvSpPr txBox="1"/>
          <p:nvPr/>
        </p:nvSpPr>
        <p:spPr>
          <a:xfrm>
            <a:off x="731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33" name="Text 31"/>
          <p:cNvSpPr txBox="1"/>
          <p:nvPr/>
        </p:nvSpPr>
        <p:spPr>
          <a:xfrm>
            <a:off x="1051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RENO</a:t>
            </a:r>
            <a:endParaRPr lang="en-US" sz="1500" dirty="0"/>
          </a:p>
        </p:txBody>
      </p:sp>
      <p:sp>
        <p:nvSpPr>
          <p:cNvPr id="34" name="Text 32"/>
          <p:cNvSpPr txBox="1"/>
          <p:nvPr/>
        </p:nvSpPr>
        <p:spPr>
          <a:xfrm>
            <a:off x="1051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41.3% → 44.6%</a:t>
            </a:r>
            <a:endParaRPr lang="en-US" sz="1300" dirty="0"/>
          </a:p>
        </p:txBody>
      </p:sp>
      <p:sp>
        <p:nvSpPr>
          <p:cNvPr id="35" name="Shape 33"/>
          <p:cNvSpPr/>
          <p:nvPr/>
        </p:nvSpPr>
        <p:spPr>
          <a:xfrm>
            <a:off x="3383280" y="5102352"/>
            <a:ext cx="687685" cy="219456"/>
          </a:xfrm>
          <a:prstGeom prst="rect">
            <a:avLst/>
          </a:prstGeom>
          <a:solidFill>
            <a:srgbClr val="12A566"/>
          </a:solidFill>
          <a:ln/>
        </p:spPr>
      </p:sp>
      <p:sp>
        <p:nvSpPr>
          <p:cNvPr id="36" name="Text 34"/>
          <p:cNvSpPr txBox="1"/>
          <p:nvPr/>
        </p:nvSpPr>
        <p:spPr>
          <a:xfrm>
            <a:off x="4718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+3.2 pts</a:t>
            </a:r>
            <a:endParaRPr lang="en-US" sz="1700" dirty="0"/>
          </a:p>
        </p:txBody>
      </p:sp>
      <p:sp>
        <p:nvSpPr>
          <p:cNvPr id="37" name="Shape 35"/>
          <p:cNvSpPr/>
          <p:nvPr/>
        </p:nvSpPr>
        <p:spPr>
          <a:xfrm>
            <a:off x="6172200" y="1207008"/>
            <a:ext cx="5559552" cy="4645152"/>
          </a:xfrm>
          <a:prstGeom prst="rect">
            <a:avLst/>
          </a:prstGeom>
          <a:solidFill>
            <a:srgbClr val="FFFFFF"/>
          </a:solidFill>
          <a:ln/>
        </p:spPr>
      </p:sp>
      <p:sp>
        <p:nvSpPr>
          <p:cNvPr id="38" name="Text 36"/>
          <p:cNvSpPr txBox="1"/>
          <p:nvPr/>
        </p:nvSpPr>
        <p:spPr>
          <a:xfrm>
            <a:off x="6400800" y="1344168"/>
            <a:ext cx="5102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Last 90 Days · Jul–Sep vs Jul–Sep 2025</a:t>
            </a:r>
            <a:endParaRPr lang="en-US" sz="1500" dirty="0"/>
          </a:p>
        </p:txBody>
      </p:sp>
      <p:sp>
        <p:nvSpPr>
          <p:cNvPr id="39" name="Shape 37"/>
          <p:cNvSpPr/>
          <p:nvPr/>
        </p:nvSpPr>
        <p:spPr>
          <a:xfrm>
            <a:off x="6400800" y="1691640"/>
            <a:ext cx="5102352" cy="10973"/>
          </a:xfrm>
          <a:prstGeom prst="rect">
            <a:avLst/>
          </a:prstGeom>
          <a:solidFill>
            <a:srgbClr val="1A1A1A"/>
          </a:solidFill>
          <a:ln/>
        </p:spPr>
      </p:sp>
      <p:sp>
        <p:nvSpPr>
          <p:cNvPr id="40" name="Text 38"/>
          <p:cNvSpPr txBox="1"/>
          <p:nvPr/>
        </p:nvSpPr>
        <p:spPr>
          <a:xfrm>
            <a:off x="6400800" y="1810512"/>
            <a:ext cx="5102352" cy="292608"/>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+1.2 pts · 27 of 33 stores improved</a:t>
            </a:r>
            <a:endParaRPr lang="en-US" sz="1400" dirty="0"/>
          </a:p>
        </p:txBody>
      </p:sp>
      <p:sp>
        <p:nvSpPr>
          <p:cNvPr id="41" name="Shape 39"/>
          <p:cNvSpPr/>
          <p:nvPr/>
        </p:nvSpPr>
        <p:spPr>
          <a:xfrm>
            <a:off x="6336792" y="2249424"/>
            <a:ext cx="5230368" cy="658368"/>
          </a:xfrm>
          <a:prstGeom prst="rect">
            <a:avLst/>
          </a:prstGeom>
          <a:solidFill>
            <a:srgbClr val="F7F7F7"/>
          </a:solidFill>
          <a:ln/>
        </p:spPr>
      </p:sp>
      <p:sp>
        <p:nvSpPr>
          <p:cNvPr id="42" name="Text 40"/>
          <p:cNvSpPr txBox="1"/>
          <p:nvPr/>
        </p:nvSpPr>
        <p:spPr>
          <a:xfrm>
            <a:off x="6446520" y="2249424"/>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1</a:t>
            </a:r>
            <a:endParaRPr lang="en-US" sz="1800" dirty="0"/>
          </a:p>
        </p:txBody>
      </p:sp>
      <p:sp>
        <p:nvSpPr>
          <p:cNvPr id="43" name="Text 41"/>
          <p:cNvSpPr txBox="1"/>
          <p:nvPr/>
        </p:nvSpPr>
        <p:spPr>
          <a:xfrm>
            <a:off x="6766560" y="2322576"/>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ACURA</a:t>
            </a:r>
            <a:endParaRPr lang="en-US" sz="1500" dirty="0"/>
          </a:p>
        </p:txBody>
      </p:sp>
      <p:sp>
        <p:nvSpPr>
          <p:cNvPr id="44" name="Text 42"/>
          <p:cNvSpPr txBox="1"/>
          <p:nvPr/>
        </p:nvSpPr>
        <p:spPr>
          <a:xfrm>
            <a:off x="6766560" y="2596896"/>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38.8% → 46.6%</a:t>
            </a:r>
            <a:endParaRPr lang="en-US" sz="1300" dirty="0"/>
          </a:p>
        </p:txBody>
      </p:sp>
      <p:sp>
        <p:nvSpPr>
          <p:cNvPr id="45" name="Shape 43"/>
          <p:cNvSpPr/>
          <p:nvPr/>
        </p:nvSpPr>
        <p:spPr>
          <a:xfrm>
            <a:off x="9098280" y="2468880"/>
            <a:ext cx="1280160" cy="219456"/>
          </a:xfrm>
          <a:prstGeom prst="rect">
            <a:avLst/>
          </a:prstGeom>
          <a:solidFill>
            <a:srgbClr val="12A566"/>
          </a:solidFill>
          <a:ln/>
        </p:spPr>
      </p:sp>
      <p:sp>
        <p:nvSpPr>
          <p:cNvPr id="46" name="Text 44"/>
          <p:cNvSpPr txBox="1"/>
          <p:nvPr/>
        </p:nvSpPr>
        <p:spPr>
          <a:xfrm>
            <a:off x="10433304" y="2249424"/>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+7.7 pts</a:t>
            </a:r>
            <a:endParaRPr lang="en-US" sz="1700" dirty="0"/>
          </a:p>
        </p:txBody>
      </p:sp>
      <p:sp>
        <p:nvSpPr>
          <p:cNvPr id="47" name="Text 45"/>
          <p:cNvSpPr txBox="1"/>
          <p:nvPr/>
        </p:nvSpPr>
        <p:spPr>
          <a:xfrm>
            <a:off x="6446520" y="2907792"/>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2</a:t>
            </a:r>
            <a:endParaRPr lang="en-US" sz="1800" dirty="0"/>
          </a:p>
        </p:txBody>
      </p:sp>
      <p:sp>
        <p:nvSpPr>
          <p:cNvPr id="48" name="Text 46"/>
          <p:cNvSpPr txBox="1"/>
          <p:nvPr/>
        </p:nvSpPr>
        <p:spPr>
          <a:xfrm>
            <a:off x="6766560" y="2980944"/>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KIA ST GEORGE</a:t>
            </a:r>
            <a:endParaRPr lang="en-US" sz="1500" dirty="0"/>
          </a:p>
        </p:txBody>
      </p:sp>
      <p:sp>
        <p:nvSpPr>
          <p:cNvPr id="49" name="Text 47"/>
          <p:cNvSpPr txBox="1"/>
          <p:nvPr/>
        </p:nvSpPr>
        <p:spPr>
          <a:xfrm>
            <a:off x="6766560" y="3255264"/>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38.2% → 42.4%</a:t>
            </a:r>
            <a:endParaRPr lang="en-US" sz="1300" dirty="0"/>
          </a:p>
        </p:txBody>
      </p:sp>
      <p:sp>
        <p:nvSpPr>
          <p:cNvPr id="50" name="Shape 48"/>
          <p:cNvSpPr/>
          <p:nvPr/>
        </p:nvSpPr>
        <p:spPr>
          <a:xfrm>
            <a:off x="9098280" y="3127248"/>
            <a:ext cx="686566" cy="219456"/>
          </a:xfrm>
          <a:prstGeom prst="rect">
            <a:avLst/>
          </a:prstGeom>
          <a:solidFill>
            <a:srgbClr val="12A566"/>
          </a:solidFill>
          <a:ln/>
        </p:spPr>
      </p:sp>
      <p:sp>
        <p:nvSpPr>
          <p:cNvPr id="51" name="Text 49"/>
          <p:cNvSpPr txBox="1"/>
          <p:nvPr/>
        </p:nvSpPr>
        <p:spPr>
          <a:xfrm>
            <a:off x="10433304" y="2907792"/>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+4.1 pts</a:t>
            </a:r>
            <a:endParaRPr lang="en-US" sz="1700" dirty="0"/>
          </a:p>
        </p:txBody>
      </p:sp>
      <p:sp>
        <p:nvSpPr>
          <p:cNvPr id="52" name="Shape 50"/>
          <p:cNvSpPr/>
          <p:nvPr/>
        </p:nvSpPr>
        <p:spPr>
          <a:xfrm>
            <a:off x="6336792" y="3566160"/>
            <a:ext cx="5230368" cy="658368"/>
          </a:xfrm>
          <a:prstGeom prst="rect">
            <a:avLst/>
          </a:prstGeom>
          <a:solidFill>
            <a:srgbClr val="F7F7F7"/>
          </a:solidFill>
          <a:ln/>
        </p:spPr>
      </p:sp>
      <p:sp>
        <p:nvSpPr>
          <p:cNvPr id="53" name="Text 51"/>
          <p:cNvSpPr txBox="1"/>
          <p:nvPr/>
        </p:nvSpPr>
        <p:spPr>
          <a:xfrm>
            <a:off x="6446520" y="3566160"/>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3</a:t>
            </a:r>
            <a:endParaRPr lang="en-US" sz="1800" dirty="0"/>
          </a:p>
        </p:txBody>
      </p:sp>
      <p:sp>
        <p:nvSpPr>
          <p:cNvPr id="54" name="Text 52"/>
          <p:cNvSpPr txBox="1"/>
          <p:nvPr/>
        </p:nvSpPr>
        <p:spPr>
          <a:xfrm>
            <a:off x="6766560" y="3639312"/>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VW ST GEORGE</a:t>
            </a:r>
            <a:endParaRPr lang="en-US" sz="1500" dirty="0"/>
          </a:p>
        </p:txBody>
      </p:sp>
      <p:sp>
        <p:nvSpPr>
          <p:cNvPr id="55" name="Text 53"/>
          <p:cNvSpPr txBox="1"/>
          <p:nvPr/>
        </p:nvSpPr>
        <p:spPr>
          <a:xfrm>
            <a:off x="6766560" y="3913632"/>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39.7% → 43.8%</a:t>
            </a:r>
            <a:endParaRPr lang="en-US" sz="1300" dirty="0"/>
          </a:p>
        </p:txBody>
      </p:sp>
      <p:sp>
        <p:nvSpPr>
          <p:cNvPr id="56" name="Shape 54"/>
          <p:cNvSpPr/>
          <p:nvPr/>
        </p:nvSpPr>
        <p:spPr>
          <a:xfrm>
            <a:off x="9098280" y="3785616"/>
            <a:ext cx="670906" cy="219456"/>
          </a:xfrm>
          <a:prstGeom prst="rect">
            <a:avLst/>
          </a:prstGeom>
          <a:solidFill>
            <a:srgbClr val="12A566"/>
          </a:solidFill>
          <a:ln/>
        </p:spPr>
      </p:sp>
      <p:sp>
        <p:nvSpPr>
          <p:cNvPr id="57" name="Text 55"/>
          <p:cNvSpPr txBox="1"/>
          <p:nvPr/>
        </p:nvSpPr>
        <p:spPr>
          <a:xfrm>
            <a:off x="10433304" y="3566160"/>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+4.0 pts</a:t>
            </a:r>
            <a:endParaRPr lang="en-US" sz="1700" dirty="0"/>
          </a:p>
        </p:txBody>
      </p:sp>
      <p:sp>
        <p:nvSpPr>
          <p:cNvPr id="58" name="Text 56"/>
          <p:cNvSpPr txBox="1"/>
          <p:nvPr/>
        </p:nvSpPr>
        <p:spPr>
          <a:xfrm>
            <a:off x="6446520" y="4224528"/>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4</a:t>
            </a:r>
            <a:endParaRPr lang="en-US" sz="1800" dirty="0"/>
          </a:p>
        </p:txBody>
      </p:sp>
      <p:sp>
        <p:nvSpPr>
          <p:cNvPr id="59" name="Text 57"/>
          <p:cNvSpPr txBox="1"/>
          <p:nvPr/>
        </p:nvSpPr>
        <p:spPr>
          <a:xfrm>
            <a:off x="6766560" y="4297680"/>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SUBARU PRESCOTT</a:t>
            </a:r>
            <a:endParaRPr lang="en-US" sz="1500" dirty="0"/>
          </a:p>
        </p:txBody>
      </p:sp>
      <p:sp>
        <p:nvSpPr>
          <p:cNvPr id="60" name="Text 58"/>
          <p:cNvSpPr txBox="1"/>
          <p:nvPr/>
        </p:nvSpPr>
        <p:spPr>
          <a:xfrm>
            <a:off x="6766560" y="4572000"/>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31.0% → 34.9%</a:t>
            </a:r>
            <a:endParaRPr lang="en-US" sz="1300" dirty="0"/>
          </a:p>
        </p:txBody>
      </p:sp>
      <p:sp>
        <p:nvSpPr>
          <p:cNvPr id="61" name="Shape 59"/>
          <p:cNvSpPr/>
          <p:nvPr/>
        </p:nvSpPr>
        <p:spPr>
          <a:xfrm>
            <a:off x="9098280" y="4443984"/>
            <a:ext cx="632324" cy="219456"/>
          </a:xfrm>
          <a:prstGeom prst="rect">
            <a:avLst/>
          </a:prstGeom>
          <a:solidFill>
            <a:srgbClr val="12A566"/>
          </a:solidFill>
          <a:ln/>
        </p:spPr>
      </p:sp>
      <p:sp>
        <p:nvSpPr>
          <p:cNvPr id="62" name="Text 60"/>
          <p:cNvSpPr txBox="1"/>
          <p:nvPr/>
        </p:nvSpPr>
        <p:spPr>
          <a:xfrm>
            <a:off x="10433304" y="4224528"/>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+3.8 pts</a:t>
            </a:r>
            <a:endParaRPr lang="en-US" sz="1700" dirty="0"/>
          </a:p>
        </p:txBody>
      </p:sp>
      <p:sp>
        <p:nvSpPr>
          <p:cNvPr id="63" name="Shape 61"/>
          <p:cNvSpPr/>
          <p:nvPr/>
        </p:nvSpPr>
        <p:spPr>
          <a:xfrm>
            <a:off x="6336792" y="4882896"/>
            <a:ext cx="5230368" cy="658368"/>
          </a:xfrm>
          <a:prstGeom prst="rect">
            <a:avLst/>
          </a:prstGeom>
          <a:solidFill>
            <a:srgbClr val="F7F7F7"/>
          </a:solidFill>
          <a:ln/>
        </p:spPr>
      </p:sp>
      <p:sp>
        <p:nvSpPr>
          <p:cNvPr id="64" name="Text 62"/>
          <p:cNvSpPr txBox="1"/>
          <p:nvPr/>
        </p:nvSpPr>
        <p:spPr>
          <a:xfrm>
            <a:off x="6446520" y="4882896"/>
            <a:ext cx="274320" cy="658368"/>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5</a:t>
            </a:r>
            <a:endParaRPr lang="en-US" sz="1800" dirty="0"/>
          </a:p>
        </p:txBody>
      </p:sp>
      <p:sp>
        <p:nvSpPr>
          <p:cNvPr id="65" name="Text 63"/>
          <p:cNvSpPr txBox="1"/>
          <p:nvPr/>
        </p:nvSpPr>
        <p:spPr>
          <a:xfrm>
            <a:off x="6766560" y="4956048"/>
            <a:ext cx="2286000" cy="27432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LR LV</a:t>
            </a:r>
            <a:endParaRPr lang="en-US" sz="1500" dirty="0"/>
          </a:p>
        </p:txBody>
      </p:sp>
      <p:sp>
        <p:nvSpPr>
          <p:cNvPr id="66" name="Text 64"/>
          <p:cNvSpPr txBox="1"/>
          <p:nvPr/>
        </p:nvSpPr>
        <p:spPr>
          <a:xfrm>
            <a:off x="6766560" y="5230368"/>
            <a:ext cx="2286000" cy="237744"/>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39.3% → 42.6%</a:t>
            </a:r>
            <a:endParaRPr lang="en-US" sz="1300" dirty="0"/>
          </a:p>
        </p:txBody>
      </p:sp>
      <p:sp>
        <p:nvSpPr>
          <p:cNvPr id="67" name="Shape 65"/>
          <p:cNvSpPr/>
          <p:nvPr/>
        </p:nvSpPr>
        <p:spPr>
          <a:xfrm>
            <a:off x="9098280" y="5102352"/>
            <a:ext cx="546860" cy="219456"/>
          </a:xfrm>
          <a:prstGeom prst="rect">
            <a:avLst/>
          </a:prstGeom>
          <a:solidFill>
            <a:srgbClr val="12A566"/>
          </a:solidFill>
          <a:ln/>
        </p:spPr>
      </p:sp>
      <p:sp>
        <p:nvSpPr>
          <p:cNvPr id="68" name="Text 66"/>
          <p:cNvSpPr txBox="1"/>
          <p:nvPr/>
        </p:nvSpPr>
        <p:spPr>
          <a:xfrm>
            <a:off x="10433304" y="4882896"/>
            <a:ext cx="1024128" cy="658368"/>
          </a:xfrm>
          <a:prstGeom prst="rect">
            <a:avLst/>
          </a:prstGeom>
          <a:noFill/>
          <a:ln/>
        </p:spPr>
        <p:txBody>
          <a:bodyPr wrap="square" lIns="0" tIns="0" rIns="0" bIns="0" rtlCol="0" anchor="ctr"/>
          <a:lstStyle/>
          <a:p>
            <a:pPr algn="r" indent="0" marL="0">
              <a:buNone/>
            </a:pPr>
            <a:r>
              <a:rPr lang="en-US" sz="1700" b="1" dirty="0">
                <a:solidFill>
                  <a:srgbClr val="0B7A4A"/>
                </a:solidFill>
                <a:latin typeface="Inter" pitchFamily="34" charset="0"/>
                <a:ea typeface="Inter" pitchFamily="34" charset="-122"/>
                <a:cs typeface="Inter" pitchFamily="34" charset="-120"/>
              </a:rPr>
              <a:t>+3.3 pts</a:t>
            </a:r>
            <a:endParaRPr lang="en-US" sz="1700" dirty="0"/>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OPEN DECISIONS · CLOSE · BEFORE YOU LEAVE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Before You Leave</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THE MONEY IS</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What did you learn today?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Give us one or two things you are going to act on and implement</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Pick the one number you will check every day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Call a store that leads where you trail: ask what they do differently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Reach this room in FMGSVCMGR</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We will review your commitments at the next meeting</a:t>
            </a:r>
            <a:endParaRPr lang="en-US" sz="1800" dirty="0"/>
          </a:p>
        </p:txBody>
      </p:sp>
      <p:sp>
        <p:nvSpPr>
          <p:cNvPr id="10" name="Shape 8"/>
          <p:cNvSpPr/>
          <p:nvPr/>
        </p:nvSpPr>
        <p:spPr>
          <a:xfrm>
            <a:off x="7269480" y="1920240"/>
            <a:ext cx="54864" cy="111252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0.1 hr per RO</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Worth $6,602,564 a year in labor and parts gross.</a:t>
            </a:r>
            <a:endParaRPr lang="en-US" sz="1400" dirty="0"/>
          </a:p>
        </p:txBody>
      </p:sp>
      <p:sp>
        <p:nvSpPr>
          <p:cNvPr id="13" name="Shape 11"/>
          <p:cNvSpPr/>
          <p:nvPr/>
        </p:nvSpPr>
        <p:spPr>
          <a:xfrm>
            <a:off x="7269480" y="3261360"/>
            <a:ext cx="54864" cy="1112520"/>
          </a:xfrm>
          <a:prstGeom prst="rect">
            <a:avLst/>
          </a:prstGeom>
          <a:solidFill>
            <a:srgbClr val="C2352F"/>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$4.9M a year</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Every store at all four opcode benchmarks: $4,895,199 in labor and parts gross.</a:t>
            </a:r>
            <a:endParaRPr lang="en-US" sz="1400" dirty="0"/>
          </a:p>
        </p:txBody>
      </p:sp>
      <p:sp>
        <p:nvSpPr>
          <p:cNvPr id="16" name="Shape 14"/>
          <p:cNvSpPr/>
          <p:nvPr/>
        </p:nvSpPr>
        <p:spPr>
          <a:xfrm>
            <a:off x="7269480" y="4602480"/>
            <a:ext cx="54864" cy="1112520"/>
          </a:xfrm>
          <a:prstGeom prst="rect">
            <a:avLst/>
          </a:prstGeom>
          <a:solidFill>
            <a:srgbClr val="C2352F"/>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$1.65M a month</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Technician proficiency, lifting each tech under 85% to 85%.</a:t>
            </a:r>
            <a:endParaRPr lang="en-US" sz="1400" dirty="0"/>
          </a:p>
        </p:txBody>
      </p:sp>
      <p:sp>
        <p:nvSpPr>
          <p:cNvPr id="19" name="Shape 17"/>
          <p:cNvSpPr/>
          <p:nvPr/>
        </p:nvSpPr>
        <p:spPr>
          <a:xfrm>
            <a:off x="457200" y="6126480"/>
            <a:ext cx="11274552" cy="364236"/>
          </a:xfrm>
          <a:prstGeom prst="rect">
            <a:avLst/>
          </a:prstGeom>
          <a:solidFill>
            <a:srgbClr val="E6F6EE"/>
          </a:solidFill>
          <a:ln/>
        </p:spPr>
      </p:sp>
      <p:sp>
        <p:nvSpPr>
          <p:cNvPr id="20" name="Text 18"/>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7A4A"/>
                </a:solidFill>
                <a:latin typeface="Inter" pitchFamily="34" charset="0"/>
                <a:ea typeface="Inter" pitchFamily="34" charset="-122"/>
                <a:cs typeface="Inter" pitchFamily="34" charset="-120"/>
              </a:rPr>
              <a:t>The ask: name your one or two commitments out loud, with a number attached, before you leave the room.</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2026-10-29T06:41:44Z</dcterms:created>
  <dcterms:modified xsi:type="dcterms:W3CDTF">2026-10-29T06:41:44Z</dcterms:modified>
</cp:coreProperties>
</file>