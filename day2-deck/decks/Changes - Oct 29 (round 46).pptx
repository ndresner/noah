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7.xml" ContentType="application/vnd.openxmlformats-officedocument.presentationml.notesSlide+xml"/>
  <Override PartName="/ppt/notesSlides/notesSlide1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2" r:id="rId113"/>
    <p:sldId id="380" r:id="rId131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13" Type="http://schemas.openxmlformats.org/officeDocument/2006/relationships/slide" Target="slides/slide102.xml"/><Relationship Id="rId131" Type="http://schemas.openxmlformats.org/officeDocument/2006/relationships/slide" Target="slides/slide1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Definitions match the data slides: Qlik - Closed Repair Orders (all customer-pay ROs, by close month), Profit &amp; Loss and Productivity apps, Jan-Sep 2026 vs 2025, same-store, 33 stores. Worked example: Service Manager Roundtable, Nov 15, 2024, slide 21.PLACE: Opcodes, after the section break, in front of Alignment %.</a:t>
            </a:r>
          </a:p>
          <a:p>
            <a:r>
              <a:t>Denominator: CP ROs on the op code report basis (excluding ROs flagged out of the report).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anyone.Talk track: every one of these cars is already on a customer-pay RO in our drive. The inspection and the menu find the need; the advisor presents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Tracked Opcode Closing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2412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4358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%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 with the service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÷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CP ROs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often a customer-pay visit includes the service.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5915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7487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4802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6374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689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5261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2576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4343400" cy="30815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2907792"/>
            <a:ext cx="6793992" cy="30815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30358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MOVES 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410712"/>
            <a:ext cx="3977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cars are already in our service drives: the rate shows how well we use the opportunities we already have.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 labor dollars per RO, it is a direct reflection of the job we are doing on every car.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point is worth thousands of services across the group.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138928" y="3410712"/>
            <a:ext cx="45720" cy="948641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66944" y="3410712"/>
            <a:ext cx="2962656" cy="94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on every car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need and show the customer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94192" y="3410712"/>
            <a:ext cx="45720" cy="948641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22208" y="3410712"/>
            <a:ext cx="2962656" cy="94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at write-up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and mileage recommendations, every customer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38928" y="4469081"/>
            <a:ext cx="45720" cy="1319071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66944" y="4469081"/>
            <a:ext cx="2962656" cy="131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it every visit, no exceptions. Say it once and skip it the next time, and we lose credibility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94192" y="4469081"/>
            <a:ext cx="45720" cy="1319071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22208" y="4469081"/>
            <a:ext cx="2962656" cy="131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Viz Op Code report; feedback before the 15th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6126480"/>
            <a:ext cx="11274552" cy="3489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" y="6144768"/>
            <a:ext cx="1092708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four rose 1.3-1.4 pts and beat 2025 every month. Balance is furthest off, at 8.3%: 18,493 short of 15%.</a:t>
            </a:r>
            <a:endParaRPr lang="en-US" sz="14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Store at Benchmark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81328"/>
            <a:ext cx="1072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4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EVERY STORE REACHED ALL FOUR BENCHMARKS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74520"/>
            <a:ext cx="10725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$4,895,199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90672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 in labor and parts gross · $407,933 a month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6092" y="3794760"/>
            <a:ext cx="2542032" cy="1691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736092" y="3794760"/>
            <a:ext cx="2542032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" y="39502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· 15%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" y="43159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$1,029,276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" y="48920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9,935 more services a year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61004" y="3794760"/>
            <a:ext cx="2542032" cy="1691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461004" y="3794760"/>
            <a:ext cx="2542032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52444" y="39502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 · 15%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52444" y="43159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$1,664,385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552444" y="48920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26,062 more services a year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85916" y="3794760"/>
            <a:ext cx="2542032" cy="1691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185916" y="3794760"/>
            <a:ext cx="2542032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77356" y="39502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 · 10%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77356" y="43159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$844,657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277356" y="48920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5,919 more services a year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10828" y="3794760"/>
            <a:ext cx="2542032" cy="1691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10828" y="3794760"/>
            <a:ext cx="2542032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02268" y="39502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 · 7.5%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002268" y="43159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$1,356,881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002268" y="48920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8,527 more services a year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50,443 more services a year on cars already in our drives. No new customers needed.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2026-10-29T06:41:44Z</dcterms:created>
  <dcterms:modified xsi:type="dcterms:W3CDTF">2026-10-29T06:41:44Z</dcterms:modified>
</cp:coreProperties>
</file>