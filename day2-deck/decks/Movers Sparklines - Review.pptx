
<file path=[Content_Types].xml><?xml version="1.0" encoding="utf-8"?>
<Types xmlns="http://schemas.openxmlformats.org/package/2006/content-types">
  <Default Extension="rels" ContentType="application/vnd.openxmlformats-package.relationships+xml"/>
  <Default Extension="xlsx" ContentType="application/vnd.openxmlformats-officedocument.spreadsheetml.sheet"/>
  <Default Extension="xml" ContentType="application/xml"/>
  <Override PartName="/docProps/app.xml" ContentType="application/vnd.openxmlformats-officedocument.extended-properties+xml"/>
  <Override PartName="/docProps/core.xml" ContentType="application/vnd.openxmlformats-package.core-properties+xml"/>
  <Override PartName="/ppt/charts/chart10.xml" ContentType="application/vnd.openxmlformats-officedocument.drawingml.chart+xml"/>
  <Override PartName="/ppt/charts/chart11.xml" ContentType="application/vnd.openxmlformats-officedocument.drawingml.chart+xml"/>
  <Override PartName="/ppt/charts/chart12.xml" ContentType="application/vnd.openxmlformats-officedocument.drawingml.chart+xml"/>
  <Override PartName="/ppt/charts/chart13.xml" ContentType="application/vnd.openxmlformats-officedocument.drawingml.chart+xml"/>
  <Override PartName="/ppt/charts/chart14.xml" ContentType="application/vnd.openxmlformats-officedocument.drawingml.chart+xml"/>
  <Override PartName="/ppt/charts/chart15.xml" ContentType="application/vnd.openxmlformats-officedocument.drawingml.chart+xml"/>
  <Override PartName="/ppt/charts/chart16.xml" ContentType="application/vnd.openxmlformats-officedocument.drawingml.chart+xml"/>
  <Override PartName="/ppt/charts/chart17.xml" ContentType="application/vnd.openxmlformats-officedocument.drawingml.chart+xml"/>
  <Override PartName="/ppt/charts/chart18.xml" ContentType="application/vnd.openxmlformats-officedocument.drawingml.chart+xml"/>
  <Override PartName="/ppt/charts/chart19.xml" ContentType="application/vnd.openxmlformats-officedocument.drawingml.chart+xml"/>
  <Override PartName="/ppt/charts/chart20.xml" ContentType="application/vnd.openxmlformats-officedocument.drawingml.chart+xml"/>
  <Override PartName="/ppt/charts/chart21.xml" ContentType="application/vnd.openxmlformats-officedocument.drawingml.chart+xml"/>
  <Override PartName="/ppt/charts/chart27.xml" ContentType="application/vnd.openxmlformats-officedocument.drawingml.chart+xml"/>
  <Override PartName="/ppt/charts/chart28.xml" ContentType="application/vnd.openxmlformats-officedocument.drawingml.chart+xml"/>
  <Override PartName="/ppt/charts/chart29.xml" ContentType="application/vnd.openxmlformats-officedocument.drawingml.chart+xml"/>
  <Override PartName="/ppt/charts/chart30.xml" ContentType="application/vnd.openxmlformats-officedocument.drawingml.chart+xml"/>
  <Override PartName="/ppt/charts/chart31.xml" ContentType="application/vnd.openxmlformats-officedocument.drawingml.chart+xml"/>
  <Override PartName="/ppt/charts/chart32.xml" ContentType="application/vnd.openxmlformats-officedocument.drawingml.chart+xml"/>
  <Override PartName="/ppt/charts/chart33.xml" ContentType="application/vnd.openxmlformats-officedocument.drawingml.chart+xml"/>
  <Override PartName="/ppt/charts/chart34.xml" ContentType="application/vnd.openxmlformats-officedocument.drawingml.chart+xml"/>
  <Override PartName="/ppt/charts/chart35.xml" ContentType="application/vnd.openxmlformats-officedocument.drawingml.chart+xml"/>
  <Override PartName="/ppt/charts/chart36.xml" ContentType="application/vnd.openxmlformats-officedocument.drawingml.chart+xml"/>
  <Override PartName="/ppt/charts/chart37.xml" ContentType="application/vnd.openxmlformats-officedocument.drawingml.chart+xml"/>
  <Override PartName="/ppt/charts/chart38.xml" ContentType="application/vnd.openxmlformats-officedocument.drawingml.chart+xml"/>
  <Override PartName="/ppt/charts/chart39.xml" ContentType="application/vnd.openxmlformats-officedocument.drawingml.chart+xml"/>
  <Override PartName="/ppt/charts/chart40.xml" ContentType="application/vnd.openxmlformats-officedocument.drawingml.chart+xml"/>
  <Override PartName="/ppt/charts/chart41.xml" ContentType="application/vnd.openxmlformats-officedocument.drawingml.chart+xml"/>
  <Override PartName="/ppt/charts/chart48.xml" ContentType="application/vnd.openxmlformats-officedocument.drawingml.chart+xml"/>
  <Override PartName="/ppt/charts/chart49.xml" ContentType="application/vnd.openxmlformats-officedocument.drawingml.chart+xml"/>
  <Override PartName="/ppt/charts/chart50.xml" ContentType="application/vnd.openxmlformats-officedocument.drawingml.chart+xml"/>
  <Override PartName="/ppt/charts/chart51.xml" ContentType="application/vnd.openxmlformats-officedocument.drawingml.chart+xml"/>
  <Override PartName="/ppt/charts/chart52.xml" ContentType="application/vnd.openxmlformats-officedocument.drawingml.chart+xml"/>
  <Override PartName="/ppt/charts/chart53.xml" ContentType="application/vnd.openxmlformats-officedocument.drawingml.chart+xml"/>
  <Override PartName="/ppt/charts/chart54.xml" ContentType="application/vnd.openxmlformats-officedocument.drawingml.chart+xml"/>
  <Override PartName="/ppt/charts/chart55.xml" ContentType="application/vnd.openxmlformats-officedocument.drawingml.chart+xml"/>
  <Override PartName="/ppt/charts/chart56.xml" ContentType="application/vnd.openxmlformats-officedocument.drawingml.chart+xml"/>
  <Override PartName="/ppt/charts/chart57.xml" ContentType="application/vnd.openxmlformats-officedocument.drawingml.chart+xml"/>
  <Override PartName="/ppt/charts/chart58.xml" ContentType="application/vnd.openxmlformats-officedocument.drawingml.chart+xml"/>
  <Override PartName="/ppt/charts/chart59.xml" ContentType="application/vnd.openxmlformats-officedocument.drawingml.chart+xml"/>
  <Override PartName="/ppt/charts/chart60.xml" ContentType="application/vnd.openxmlformats-officedocument.drawingml.chart+xml"/>
  <Override PartName="/ppt/charts/chart61.xml" ContentType="application/vnd.openxmlformats-officedocument.drawingml.chart+xml"/>
  <Override PartName="/ppt/charts/chart62.xml" ContentType="application/vnd.openxmlformats-officedocument.drawingml.chart+xml"/>
  <Override PartName="/ppt/charts/chart7.xml" ContentType="application/vnd.openxmlformats-officedocument.drawingml.chart+xml"/>
  <Override PartName="/ppt/charts/chart8.xml" ContentType="application/vnd.openxmlformats-officedocument.drawingml.chart+xml"/>
  <Override PartName="/ppt/charts/chart9.xml" ContentType="application/vnd.openxmlformats-officedocument.drawingml.chart+xml"/>
  <Override PartName="/ppt/notesMasters/notesMaster1.xml" ContentType="application/vnd.openxmlformats-officedocument.presentationml.notesMaster+xml"/>
  <Override PartName="/ppt/notesSlides/notesSlide13.xml" ContentType="application/vnd.openxmlformats-officedocument.presentationml.notesSlide+xml"/>
  <Override PartName="/ppt/notesSlides/notesSlide5.xml" ContentType="application/vnd.openxmlformats-officedocument.presentationml.notesSlide+xml"/>
  <Override PartName="/ppt/notesSlides/notesSlide9.xml" ContentType="application/vnd.openxmlformats-officedocument.presentationml.notesSlide+xml"/>
  <Override PartName="/ppt/presProps.xml" ContentType="application/vnd.openxmlformats-officedocument.presentationml.presProps+xml"/>
  <Override PartName="/ppt/presentation.xml" ContentType="application/vnd.openxmlformats-officedocument.presentationml.presentation.main+xml"/>
  <Override PartName="/ppt/slideLayouts/slideLayout1.xml" ContentType="application/vnd.openxmlformats-officedocument.presentationml.slideLayout+xml"/>
  <Override PartName="/ppt/slideMasters/slideMaster1.xml" ContentType="application/vnd.openxmlformats-officedocument.presentationml.slideMaster+xml"/>
  <Override PartName="/ppt/slides/slide13.xml" ContentType="application/vnd.openxmlformats-officedocument.presentationml.slide+xml"/>
  <Override PartName="/ppt/slides/slide5.xml" ContentType="application/vnd.openxmlformats-officedocument.presentationml.slide+xml"/>
  <Override PartName="/ppt/slides/slide9.xml" ContentType="application/vnd.openxmlformats-officedocument.presentationml.slide+xml"/>
  <Override PartName="/ppt/tableStyles.xml" ContentType="application/vnd.openxmlformats-officedocument.presentationml.tableStyles+xml"/>
  <Override PartName="/ppt/theme/theme1.xml" ContentType="application/vnd.openxmlformats-officedocument.theme+xml"/>
  <Override PartName="/ppt/viewProps.xml" ContentType="application/vnd.openxmlformats-officedocument.presentationml.viewProps+xml"/>
</Types>
</file>

<file path=_rels/.rels><?xml version='1.0' encoding='UTF-8' standalone='yes'?>
<Relationships xmlns="http://schemas.openxmlformats.org/package/2006/relationships"><Relationship Id="rId1" Type="http://schemas.openxmlformats.org/officeDocument/2006/relationships/extended-properties" Target="docProps/app.xml"/><Relationship Id="rId2" Type="http://schemas.openxmlformats.org/package/2006/relationships/metadata/core-properties" Target="docProps/core.xml"/><Relationship Id="rId3" Type="http://schemas.openxmlformats.org/officeDocument/2006/relationships/officeDocument" Target="ppt/presentation.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60" r:id="rId6"/>
    <p:sldId id="264" r:id="rId10"/>
    <p:sldId id="268" r:id="rId14"/>
  </p:sldIdLst>
  <p:notesMasterIdLst>
    <p:notesMasterId r:id="rId15"/>
  </p:notesMasterIdLst>
  <p:sldSz cx="12192000" cy="6858000"/>
  <p:notesSz cx="6858000" cy="12192000"/>
  <p:defaultTex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5611"/>
    <p:restoredTop sz="94610"/>
  </p:normalViewPr>
  <p:slideViewPr>
    <p:cSldViewPr snapToGrid="0" snapToObjects="1">
      <p:cViewPr varScale="1">
        <p:scale>
          <a:sx n="136" d="100"/>
          <a:sy n="136" d="100"/>
        </p:scale>
        <p:origin x="216" y="312"/>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6" Type="http://schemas.openxmlformats.org/officeDocument/2006/relationships/slide" Target="slides/slide5.xml"/><Relationship Id="rId10" Type="http://schemas.openxmlformats.org/officeDocument/2006/relationships/slide" Target="slides/slide9.xml"/><Relationship Id="rId14" Type="http://schemas.openxmlformats.org/officeDocument/2006/relationships/slide" Target="slides/slide13.xml"/><Relationship Id="rId15" Type="http://schemas.openxmlformats.org/officeDocument/2006/relationships/notesMaster" Target="notesMasters/notesMaster1.xml"/><Relationship Id="rId16" Type="http://schemas.openxmlformats.org/officeDocument/2006/relationships/presProps" Target="presProps.xml"/><Relationship Id="rId17" Type="http://schemas.openxmlformats.org/officeDocument/2006/relationships/viewProps" Target="viewProps.xml"/><Relationship Id="rId18" Type="http://schemas.openxmlformats.org/officeDocument/2006/relationships/theme" Target="theme/theme1.xml"/><Relationship Id="rId19" Type="http://schemas.openxmlformats.org/officeDocument/2006/relationships/tableStyles" Target="tableStyles.xml"/></Relationships>
</file>

<file path=ppt/charts/_rels/chart7.xml.rels><?xml version='1.0' encoding='UTF-8' standalone='yes'?>
<Relationships xmlns="http://schemas.openxmlformats.org/package/2006/relationships"><Relationship Id="rId1" Type="http://schemas.openxmlformats.org/officeDocument/2006/relationships/package" Target="../embeddings/Microsoft_Excel_Worksheet7.xlsx"/></Relationships>
</file>

<file path=ppt/charts/_rels/chart8.xml.rels><?xml version='1.0' encoding='UTF-8' standalone='yes'?>
<Relationships xmlns="http://schemas.openxmlformats.org/package/2006/relationships"><Relationship Id="rId1" Type="http://schemas.openxmlformats.org/officeDocument/2006/relationships/package" Target="../embeddings/Microsoft_Excel_Worksheet8.xlsx"/></Relationships>
</file>

<file path=ppt/charts/_rels/chart9.xml.rels><?xml version='1.0' encoding='UTF-8' standalone='yes'?>
<Relationships xmlns="http://schemas.openxmlformats.org/package/2006/relationships"><Relationship Id="rId1" Type="http://schemas.openxmlformats.org/officeDocument/2006/relationships/package" Target="../embeddings/Microsoft_Excel_Worksheet9.xlsx"/></Relationships>
</file>

<file path=ppt/charts/_rels/chart10.xml.rels><?xml version='1.0' encoding='UTF-8' standalone='yes'?>
<Relationships xmlns="http://schemas.openxmlformats.org/package/2006/relationships"><Relationship Id="rId1" Type="http://schemas.openxmlformats.org/officeDocument/2006/relationships/package" Target="../embeddings/Microsoft_Excel_Worksheet10.xlsx"/></Relationships>
</file>

<file path=ppt/charts/_rels/chart11.xml.rels><?xml version='1.0' encoding='UTF-8' standalone='yes'?>
<Relationships xmlns="http://schemas.openxmlformats.org/package/2006/relationships"><Relationship Id="rId1" Type="http://schemas.openxmlformats.org/officeDocument/2006/relationships/package" Target="../embeddings/Microsoft_Excel_Worksheet11.xlsx"/></Relationships>
</file>

<file path=ppt/charts/_rels/chart12.xml.rels><?xml version='1.0' encoding='UTF-8' standalone='yes'?>
<Relationships xmlns="http://schemas.openxmlformats.org/package/2006/relationships"><Relationship Id="rId1" Type="http://schemas.openxmlformats.org/officeDocument/2006/relationships/package" Target="../embeddings/Microsoft_Excel_Worksheet12.xlsx"/></Relationships>
</file>

<file path=ppt/charts/_rels/chart13.xml.rels><?xml version='1.0' encoding='UTF-8' standalone='yes'?>
<Relationships xmlns="http://schemas.openxmlformats.org/package/2006/relationships"><Relationship Id="rId1" Type="http://schemas.openxmlformats.org/officeDocument/2006/relationships/package" Target="../embeddings/Microsoft_Excel_Worksheet13.xlsx"/></Relationships>
</file>

<file path=ppt/charts/_rels/chart14.xml.rels><?xml version='1.0' encoding='UTF-8' standalone='yes'?>
<Relationships xmlns="http://schemas.openxmlformats.org/package/2006/relationships"><Relationship Id="rId1" Type="http://schemas.openxmlformats.org/officeDocument/2006/relationships/package" Target="../embeddings/Microsoft_Excel_Worksheet14.xlsx"/></Relationships>
</file>

<file path=ppt/charts/_rels/chart15.xml.rels><?xml version='1.0' encoding='UTF-8' standalone='yes'?>
<Relationships xmlns="http://schemas.openxmlformats.org/package/2006/relationships"><Relationship Id="rId1" Type="http://schemas.openxmlformats.org/officeDocument/2006/relationships/package" Target="../embeddings/Microsoft_Excel_Worksheet15.xlsx"/></Relationships>
</file>

<file path=ppt/charts/_rels/chart16.xml.rels><?xml version='1.0' encoding='UTF-8' standalone='yes'?>
<Relationships xmlns="http://schemas.openxmlformats.org/package/2006/relationships"><Relationship Id="rId1" Type="http://schemas.openxmlformats.org/officeDocument/2006/relationships/package" Target="../embeddings/Microsoft_Excel_Worksheet16.xlsx"/></Relationships>
</file>

<file path=ppt/charts/_rels/chart17.xml.rels><?xml version='1.0' encoding='UTF-8' standalone='yes'?>
<Relationships xmlns="http://schemas.openxmlformats.org/package/2006/relationships"><Relationship Id="rId1" Type="http://schemas.openxmlformats.org/officeDocument/2006/relationships/package" Target="../embeddings/Microsoft_Excel_Worksheet17.xlsx"/></Relationships>
</file>

<file path=ppt/charts/_rels/chart18.xml.rels><?xml version='1.0' encoding='UTF-8' standalone='yes'?>
<Relationships xmlns="http://schemas.openxmlformats.org/package/2006/relationships"><Relationship Id="rId1" Type="http://schemas.openxmlformats.org/officeDocument/2006/relationships/package" Target="../embeddings/Microsoft_Excel_Worksheet18.xlsx"/></Relationships>
</file>

<file path=ppt/charts/_rels/chart19.xml.rels><?xml version='1.0' encoding='UTF-8' standalone='yes'?>
<Relationships xmlns="http://schemas.openxmlformats.org/package/2006/relationships"><Relationship Id="rId1" Type="http://schemas.openxmlformats.org/officeDocument/2006/relationships/package" Target="../embeddings/Microsoft_Excel_Worksheet19.xlsx"/></Relationships>
</file>

<file path=ppt/charts/_rels/chart20.xml.rels><?xml version='1.0' encoding='UTF-8' standalone='yes'?>
<Relationships xmlns="http://schemas.openxmlformats.org/package/2006/relationships"><Relationship Id="rId1" Type="http://schemas.openxmlformats.org/officeDocument/2006/relationships/package" Target="../embeddings/Microsoft_Excel_Worksheet20.xlsx"/></Relationships>
</file>

<file path=ppt/charts/_rels/chart21.xml.rels><?xml version='1.0' encoding='UTF-8' standalone='yes'?>
<Relationships xmlns="http://schemas.openxmlformats.org/package/2006/relationships"><Relationship Id="rId1" Type="http://schemas.openxmlformats.org/officeDocument/2006/relationships/package" Target="../embeddings/Microsoft_Excel_Worksheet21.xlsx"/></Relationships>
</file>

<file path=ppt/charts/_rels/chart27.xml.rels><?xml version='1.0' encoding='UTF-8' standalone='yes'?>
<Relationships xmlns="http://schemas.openxmlformats.org/package/2006/relationships"><Relationship Id="rId1" Type="http://schemas.openxmlformats.org/officeDocument/2006/relationships/package" Target="../embeddings/Microsoft_Excel_Worksheet27.xlsx"/></Relationships>
</file>

<file path=ppt/charts/_rels/chart28.xml.rels><?xml version='1.0' encoding='UTF-8' standalone='yes'?>
<Relationships xmlns="http://schemas.openxmlformats.org/package/2006/relationships"><Relationship Id="rId1" Type="http://schemas.openxmlformats.org/officeDocument/2006/relationships/package" Target="../embeddings/Microsoft_Excel_Worksheet28.xlsx"/></Relationships>
</file>

<file path=ppt/charts/_rels/chart29.xml.rels><?xml version='1.0' encoding='UTF-8' standalone='yes'?>
<Relationships xmlns="http://schemas.openxmlformats.org/package/2006/relationships"><Relationship Id="rId1" Type="http://schemas.openxmlformats.org/officeDocument/2006/relationships/package" Target="../embeddings/Microsoft_Excel_Worksheet29.xlsx"/></Relationships>
</file>

<file path=ppt/charts/_rels/chart30.xml.rels><?xml version='1.0' encoding='UTF-8' standalone='yes'?>
<Relationships xmlns="http://schemas.openxmlformats.org/package/2006/relationships"><Relationship Id="rId1" Type="http://schemas.openxmlformats.org/officeDocument/2006/relationships/package" Target="../embeddings/Microsoft_Excel_Worksheet30.xlsx"/></Relationships>
</file>

<file path=ppt/charts/_rels/chart31.xml.rels><?xml version='1.0' encoding='UTF-8' standalone='yes'?>
<Relationships xmlns="http://schemas.openxmlformats.org/package/2006/relationships"><Relationship Id="rId1" Type="http://schemas.openxmlformats.org/officeDocument/2006/relationships/package" Target="../embeddings/Microsoft_Excel_Worksheet31.xlsx"/></Relationships>
</file>

<file path=ppt/charts/_rels/chart32.xml.rels><?xml version='1.0' encoding='UTF-8' standalone='yes'?>
<Relationships xmlns="http://schemas.openxmlformats.org/package/2006/relationships"><Relationship Id="rId1" Type="http://schemas.openxmlformats.org/officeDocument/2006/relationships/package" Target="../embeddings/Microsoft_Excel_Worksheet32.xlsx"/></Relationships>
</file>

<file path=ppt/charts/_rels/chart33.xml.rels><?xml version='1.0' encoding='UTF-8' standalone='yes'?>
<Relationships xmlns="http://schemas.openxmlformats.org/package/2006/relationships"><Relationship Id="rId1" Type="http://schemas.openxmlformats.org/officeDocument/2006/relationships/package" Target="../embeddings/Microsoft_Excel_Worksheet33.xlsx"/></Relationships>
</file>

<file path=ppt/charts/_rels/chart34.xml.rels><?xml version='1.0' encoding='UTF-8' standalone='yes'?>
<Relationships xmlns="http://schemas.openxmlformats.org/package/2006/relationships"><Relationship Id="rId1" Type="http://schemas.openxmlformats.org/officeDocument/2006/relationships/package" Target="../embeddings/Microsoft_Excel_Worksheet34.xlsx"/></Relationships>
</file>

<file path=ppt/charts/_rels/chart35.xml.rels><?xml version='1.0' encoding='UTF-8' standalone='yes'?>
<Relationships xmlns="http://schemas.openxmlformats.org/package/2006/relationships"><Relationship Id="rId1" Type="http://schemas.openxmlformats.org/officeDocument/2006/relationships/package" Target="../embeddings/Microsoft_Excel_Worksheet35.xlsx"/></Relationships>
</file>

<file path=ppt/charts/_rels/chart36.xml.rels><?xml version='1.0' encoding='UTF-8' standalone='yes'?>
<Relationships xmlns="http://schemas.openxmlformats.org/package/2006/relationships"><Relationship Id="rId1" Type="http://schemas.openxmlformats.org/officeDocument/2006/relationships/package" Target="../embeddings/Microsoft_Excel_Worksheet36.xlsx"/></Relationships>
</file>

<file path=ppt/charts/_rels/chart37.xml.rels><?xml version='1.0' encoding='UTF-8' standalone='yes'?>
<Relationships xmlns="http://schemas.openxmlformats.org/package/2006/relationships"><Relationship Id="rId1" Type="http://schemas.openxmlformats.org/officeDocument/2006/relationships/package" Target="../embeddings/Microsoft_Excel_Worksheet37.xlsx"/></Relationships>
</file>

<file path=ppt/charts/_rels/chart38.xml.rels><?xml version='1.0' encoding='UTF-8' standalone='yes'?>
<Relationships xmlns="http://schemas.openxmlformats.org/package/2006/relationships"><Relationship Id="rId1" Type="http://schemas.openxmlformats.org/officeDocument/2006/relationships/package" Target="../embeddings/Microsoft_Excel_Worksheet38.xlsx"/></Relationships>
</file>

<file path=ppt/charts/_rels/chart39.xml.rels><?xml version='1.0' encoding='UTF-8' standalone='yes'?>
<Relationships xmlns="http://schemas.openxmlformats.org/package/2006/relationships"><Relationship Id="rId1" Type="http://schemas.openxmlformats.org/officeDocument/2006/relationships/package" Target="../embeddings/Microsoft_Excel_Worksheet39.xlsx"/></Relationships>
</file>

<file path=ppt/charts/_rels/chart40.xml.rels><?xml version='1.0' encoding='UTF-8' standalone='yes'?>
<Relationships xmlns="http://schemas.openxmlformats.org/package/2006/relationships"><Relationship Id="rId1" Type="http://schemas.openxmlformats.org/officeDocument/2006/relationships/package" Target="../embeddings/Microsoft_Excel_Worksheet40.xlsx"/></Relationships>
</file>

<file path=ppt/charts/_rels/chart41.xml.rels><?xml version='1.0' encoding='UTF-8' standalone='yes'?>
<Relationships xmlns="http://schemas.openxmlformats.org/package/2006/relationships"><Relationship Id="rId1" Type="http://schemas.openxmlformats.org/officeDocument/2006/relationships/package" Target="../embeddings/Microsoft_Excel_Worksheet41.xlsx"/></Relationships>
</file>

<file path=ppt/charts/_rels/chart48.xml.rels><?xml version='1.0' encoding='UTF-8' standalone='yes'?>
<Relationships xmlns="http://schemas.openxmlformats.org/package/2006/relationships"><Relationship Id="rId1" Type="http://schemas.openxmlformats.org/officeDocument/2006/relationships/package" Target="../embeddings/Microsoft_Excel_Worksheet48.xlsx"/></Relationships>
</file>

<file path=ppt/charts/_rels/chart49.xml.rels><?xml version='1.0' encoding='UTF-8' standalone='yes'?>
<Relationships xmlns="http://schemas.openxmlformats.org/package/2006/relationships"><Relationship Id="rId1" Type="http://schemas.openxmlformats.org/officeDocument/2006/relationships/package" Target="../embeddings/Microsoft_Excel_Worksheet49.xlsx"/></Relationships>
</file>

<file path=ppt/charts/_rels/chart50.xml.rels><?xml version='1.0' encoding='UTF-8' standalone='yes'?>
<Relationships xmlns="http://schemas.openxmlformats.org/package/2006/relationships"><Relationship Id="rId1" Type="http://schemas.openxmlformats.org/officeDocument/2006/relationships/package" Target="../embeddings/Microsoft_Excel_Worksheet50.xlsx"/></Relationships>
</file>

<file path=ppt/charts/_rels/chart51.xml.rels><?xml version='1.0' encoding='UTF-8' standalone='yes'?>
<Relationships xmlns="http://schemas.openxmlformats.org/package/2006/relationships"><Relationship Id="rId1" Type="http://schemas.openxmlformats.org/officeDocument/2006/relationships/package" Target="../embeddings/Microsoft_Excel_Worksheet51.xlsx"/></Relationships>
</file>

<file path=ppt/charts/_rels/chart52.xml.rels><?xml version='1.0' encoding='UTF-8' standalone='yes'?>
<Relationships xmlns="http://schemas.openxmlformats.org/package/2006/relationships"><Relationship Id="rId1" Type="http://schemas.openxmlformats.org/officeDocument/2006/relationships/package" Target="../embeddings/Microsoft_Excel_Worksheet52.xlsx"/></Relationships>
</file>

<file path=ppt/charts/_rels/chart53.xml.rels><?xml version='1.0' encoding='UTF-8' standalone='yes'?>
<Relationships xmlns="http://schemas.openxmlformats.org/package/2006/relationships"><Relationship Id="rId1" Type="http://schemas.openxmlformats.org/officeDocument/2006/relationships/package" Target="../embeddings/Microsoft_Excel_Worksheet53.xlsx"/></Relationships>
</file>

<file path=ppt/charts/_rels/chart54.xml.rels><?xml version='1.0' encoding='UTF-8' standalone='yes'?>
<Relationships xmlns="http://schemas.openxmlformats.org/package/2006/relationships"><Relationship Id="rId1" Type="http://schemas.openxmlformats.org/officeDocument/2006/relationships/package" Target="../embeddings/Microsoft_Excel_Worksheet54.xlsx"/></Relationships>
</file>

<file path=ppt/charts/_rels/chart55.xml.rels><?xml version='1.0' encoding='UTF-8' standalone='yes'?>
<Relationships xmlns="http://schemas.openxmlformats.org/package/2006/relationships"><Relationship Id="rId1" Type="http://schemas.openxmlformats.org/officeDocument/2006/relationships/package" Target="../embeddings/Microsoft_Excel_Worksheet55.xlsx"/></Relationships>
</file>

<file path=ppt/charts/_rels/chart56.xml.rels><?xml version='1.0' encoding='UTF-8' standalone='yes'?>
<Relationships xmlns="http://schemas.openxmlformats.org/package/2006/relationships"><Relationship Id="rId1" Type="http://schemas.openxmlformats.org/officeDocument/2006/relationships/package" Target="../embeddings/Microsoft_Excel_Worksheet56.xlsx"/></Relationships>
</file>

<file path=ppt/charts/_rels/chart57.xml.rels><?xml version='1.0' encoding='UTF-8' standalone='yes'?>
<Relationships xmlns="http://schemas.openxmlformats.org/package/2006/relationships"><Relationship Id="rId1" Type="http://schemas.openxmlformats.org/officeDocument/2006/relationships/package" Target="../embeddings/Microsoft_Excel_Worksheet57.xlsx"/></Relationships>
</file>

<file path=ppt/charts/_rels/chart58.xml.rels><?xml version='1.0' encoding='UTF-8' standalone='yes'?>
<Relationships xmlns="http://schemas.openxmlformats.org/package/2006/relationships"><Relationship Id="rId1" Type="http://schemas.openxmlformats.org/officeDocument/2006/relationships/package" Target="../embeddings/Microsoft_Excel_Worksheet58.xlsx"/></Relationships>
</file>

<file path=ppt/charts/_rels/chart59.xml.rels><?xml version='1.0' encoding='UTF-8' standalone='yes'?>
<Relationships xmlns="http://schemas.openxmlformats.org/package/2006/relationships"><Relationship Id="rId1" Type="http://schemas.openxmlformats.org/officeDocument/2006/relationships/package" Target="../embeddings/Microsoft_Excel_Worksheet59.xlsx"/></Relationships>
</file>

<file path=ppt/charts/_rels/chart60.xml.rels><?xml version='1.0' encoding='UTF-8' standalone='yes'?>
<Relationships xmlns="http://schemas.openxmlformats.org/package/2006/relationships"><Relationship Id="rId1" Type="http://schemas.openxmlformats.org/officeDocument/2006/relationships/package" Target="../embeddings/Microsoft_Excel_Worksheet60.xlsx"/></Relationships>
</file>

<file path=ppt/charts/_rels/chart61.xml.rels><?xml version='1.0' encoding='UTF-8' standalone='yes'?>
<Relationships xmlns="http://schemas.openxmlformats.org/package/2006/relationships"><Relationship Id="rId1" Type="http://schemas.openxmlformats.org/officeDocument/2006/relationships/package" Target="../embeddings/Microsoft_Excel_Worksheet61.xlsx"/></Relationships>
</file>

<file path=ppt/charts/_rels/chart62.xml.rels><?xml version='1.0' encoding='UTF-8' standalone='yes'?>
<Relationships xmlns="http://schemas.openxmlformats.org/package/2006/relationships"><Relationship Id="rId1" Type="http://schemas.openxmlformats.org/officeDocument/2006/relationships/package" Target="../embeddings/Microsoft_Excel_Worksheet62.xlsx"/></Relationships>
</file>

<file path=ppt/charts/chart7.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manualLayout>
          <c:layoutTarget val="inner"/>
          <c:xMode val="edge"/>
          <c:yMode val="edge"/>
          <c:x val="0"/>
          <c:y val="0"/>
          <c:w val="1"/>
          <c:h val="1"/>
        </c:manualLayout>
      </c:layout>
      <c:lineChart>
        <c:varyColors val="0"/>
        <c:ser>
          <c:idx val="0"/>
          <c:order val="0"/>
          <c:tx>
            <c:strRef>
              <c:f>Sheet1!$B$1</c:f>
              <c:strCache>
                <c:ptCount val="1"/>
                <c:pt idx="0">
                  <c:v>prior</c:v>
                </c:pt>
              </c:strCache>
            </c:strRef>
          </c:tx>
          <c:spPr>
            <a:solidFill>
              <a:srgbClr val="A6A6A6"/>
            </a:solidFill>
            <a:ln w="22225" cap="flat">
              <a:solidFill>
                <a:srgbClr val="A6A6A6"/>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none"/>
            <c:size val="6"/>
            <c:spPr>
              <a:solidFill>
                <a:srgbClr val="A6A6A6"/>
              </a:solidFill>
              <a:ln w="9525" cap="flat">
                <a:solidFill>
                  <a:srgbClr val="A6A6A6"/>
                </a:solidFill>
                <a:prstDash val="solid"/>
                <a:round/>
              </a:ln>
              <a:effectLst/>
            </c:spPr>
          </c:marker>
          <c:cat>
            <c:multiLvlStrRef>
              <c:f>Sheet1!$A$2:$A$10</c:f>
              <c:multiLvlStrCache>
                <c:ptCount val="9"/>
                <c:lvl>
                  <c:pt idx="0">
                    <c:v>1</c:v>
                  </c:pt>
                  <c:pt idx="1">
                    <c:v>2</c:v>
                  </c:pt>
                  <c:pt idx="2">
                    <c:v>3</c:v>
                  </c:pt>
                  <c:pt idx="3">
                    <c:v>4</c:v>
                  </c:pt>
                  <c:pt idx="4">
                    <c:v>5</c:v>
                  </c:pt>
                  <c:pt idx="5">
                    <c:v>6</c:v>
                  </c:pt>
                  <c:pt idx="6">
                    <c:v>7</c:v>
                  </c:pt>
                  <c:pt idx="7">
                    <c:v>8</c:v>
                  </c:pt>
                  <c:pt idx="8">
                    <c:v>9</c:v>
                  </c:pt>
                </c:lvl>
              </c:multiLvlStrCache>
            </c:multiLvlStrRef>
          </c:cat>
          <c:val>
            <c:numRef>
              <c:f>Sheet1!$B$2:$B$10</c:f>
              <c:numCache>
                <c:formatCode>General</c:formatCode>
                <c:ptCount val="9"/>
                <c:pt idx="0">
                  <c:v>136708.57</c:v>
                </c:pt>
                <c:pt idx="1">
                  <c:v>112824.28</c:v>
                </c:pt>
                <c:pt idx="2">
                  <c:v>111636.20999999999</c:v>
                </c:pt>
                <c:pt idx="3">
                  <c:v>138557</c:v>
                </c:pt>
                <c:pt idx="4">
                  <c:v>102306.09</c:v>
                </c:pt>
                <c:pt idx="5">
                  <c:v>110209.59</c:v>
                </c:pt>
                <c:pt idx="6">
                  <c:v>167539.66999999998</c:v>
                </c:pt>
                <c:pt idx="7">
                  <c:v>130883.47</c:v>
                </c:pt>
                <c:pt idx="8">
                  <c:v>120116.82999999999</c:v>
                </c:pt>
              </c:numCache>
            </c:numRef>
          </c:val>
          <c:smooth val="0"/>
        </c:ser>
        <c:ser>
          <c:idx val="1"/>
          <c:order val="1"/>
          <c:tx>
            <c:strRef>
              <c:f>Sheet1!$C$1</c:f>
              <c:strCache>
                <c:ptCount val="1"/>
                <c:pt idx="0">
                  <c:v>cur</c:v>
                </c:pt>
              </c:strCache>
            </c:strRef>
          </c:tx>
          <c:spPr>
            <a:solidFill>
              <a:srgbClr val="0B7A4A"/>
            </a:solidFill>
            <a:ln w="22225" cap="flat">
              <a:solidFill>
                <a:srgbClr val="0B7A4A"/>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none"/>
            <c:size val="6"/>
            <c:spPr>
              <a:solidFill>
                <a:srgbClr val="0B7A4A"/>
              </a:solidFill>
              <a:ln w="9525" cap="flat">
                <a:solidFill>
                  <a:srgbClr val="0B7A4A"/>
                </a:solidFill>
                <a:prstDash val="solid"/>
                <a:round/>
              </a:ln>
              <a:effectLst/>
            </c:spPr>
          </c:marker>
          <c:cat>
            <c:multiLvlStrRef>
              <c:f>Sheet1!$A$2:$A$10</c:f>
              <c:multiLvlStrCache>
                <c:ptCount val="9"/>
                <c:lvl>
                  <c:pt idx="0">
                    <c:v>1</c:v>
                  </c:pt>
                  <c:pt idx="1">
                    <c:v>2</c:v>
                  </c:pt>
                  <c:pt idx="2">
                    <c:v>3</c:v>
                  </c:pt>
                  <c:pt idx="3">
                    <c:v>4</c:v>
                  </c:pt>
                  <c:pt idx="4">
                    <c:v>5</c:v>
                  </c:pt>
                  <c:pt idx="5">
                    <c:v>6</c:v>
                  </c:pt>
                  <c:pt idx="6">
                    <c:v>7</c:v>
                  </c:pt>
                  <c:pt idx="7">
                    <c:v>8</c:v>
                  </c:pt>
                  <c:pt idx="8">
                    <c:v>9</c:v>
                  </c:pt>
                </c:lvl>
              </c:multiLvlStrCache>
            </c:multiLvlStrRef>
          </c:cat>
          <c:val>
            <c:numRef>
              <c:f>Sheet1!$C$2:$C$10</c:f>
              <c:numCache>
                <c:formatCode>General</c:formatCode>
                <c:ptCount val="9"/>
                <c:pt idx="0">
                  <c:v>122685.44</c:v>
                </c:pt>
                <c:pt idx="1">
                  <c:v>170274.09</c:v>
                </c:pt>
                <c:pt idx="2">
                  <c:v>181574.05</c:v>
                </c:pt>
                <c:pt idx="3">
                  <c:v>159002.65</c:v>
                </c:pt>
                <c:pt idx="4">
                  <c:v>158555.92</c:v>
                </c:pt>
                <c:pt idx="5">
                  <c:v>177958.81</c:v>
                </c:pt>
                <c:pt idx="6">
                  <c:v>206377.29</c:v>
                </c:pt>
                <c:pt idx="7">
                  <c:v>179348.7</c:v>
                </c:pt>
                <c:pt idx="8">
                  <c:v>179494.38</c:v>
                </c:pt>
              </c:numCache>
            </c:numRef>
          </c:val>
          <c:smooth val="0"/>
        </c:ser>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1"/>
        <c:axPos val="b"/>
        <c:numFmt formatCode="General" sourceLinked="1"/>
        <c:majorTickMark val="out"/>
        <c:minorTickMark val="none"/>
        <c:tickLblPos val="low"/>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2"/>
        <c:crosses val="autoZero"/>
        <c:auto val="1"/>
        <c:lblAlgn val="ctr"/>
        <c:noMultiLvlLbl val="1"/>
      </c:catAx>
      <c:valAx>
        <c:axId val="2094734552"/>
        <c:scaling>
          <c:orientation val="minMax"/>
          <c:max val="214702.986"/>
          <c:min val="93980.394"/>
        </c:scaling>
        <c:delete val="1"/>
        <c:axPos val="l"/>
        <c:numFmt formatCode="General" sourceLinked="0"/>
        <c:majorTickMark val="out"/>
        <c:minorTickMark val="none"/>
        <c:tickLblPos val="nextTo"/>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noFill/>
        <a:ln>
          <a:noFill/>
        </a:ln>
        <a:effectLst/>
      </c:spPr>
    </c:plotArea>
    <c:plotVisOnly val="1"/>
    <c:dispBlanksAs val="span"/>
  </c:chart>
  <c:spPr>
    <a:noFill/>
    <a:ln>
      <a:noFill/>
    </a:ln>
    <a:effectLst/>
  </c:spPr>
  <c:externalData r:id="rId1">
    <c:autoUpdate val="0"/>
  </c:externalData>
</c:chartSpace>
</file>

<file path=ppt/charts/chart8.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manualLayout>
          <c:layoutTarget val="inner"/>
          <c:xMode val="edge"/>
          <c:yMode val="edge"/>
          <c:x val="0"/>
          <c:y val="0"/>
          <c:w val="1"/>
          <c:h val="1"/>
        </c:manualLayout>
      </c:layout>
      <c:lineChart>
        <c:varyColors val="0"/>
        <c:ser>
          <c:idx val="0"/>
          <c:order val="0"/>
          <c:tx>
            <c:strRef>
              <c:f>Sheet1!$B$1</c:f>
              <c:strCache>
                <c:ptCount val="1"/>
                <c:pt idx="0">
                  <c:v>prior</c:v>
                </c:pt>
              </c:strCache>
            </c:strRef>
          </c:tx>
          <c:spPr>
            <a:solidFill>
              <a:srgbClr val="A6A6A6"/>
            </a:solidFill>
            <a:ln w="22225" cap="flat">
              <a:solidFill>
                <a:srgbClr val="A6A6A6"/>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none"/>
            <c:size val="6"/>
            <c:spPr>
              <a:solidFill>
                <a:srgbClr val="A6A6A6"/>
              </a:solidFill>
              <a:ln w="9525" cap="flat">
                <a:solidFill>
                  <a:srgbClr val="A6A6A6"/>
                </a:solidFill>
                <a:prstDash val="solid"/>
                <a:round/>
              </a:ln>
              <a:effectLst/>
            </c:spPr>
          </c:marker>
          <c:cat>
            <c:multiLvlStrRef>
              <c:f>Sheet1!$A$2:$A$10</c:f>
              <c:multiLvlStrCache>
                <c:ptCount val="9"/>
                <c:lvl>
                  <c:pt idx="0">
                    <c:v>1</c:v>
                  </c:pt>
                  <c:pt idx="1">
                    <c:v>2</c:v>
                  </c:pt>
                  <c:pt idx="2">
                    <c:v>3</c:v>
                  </c:pt>
                  <c:pt idx="3">
                    <c:v>4</c:v>
                  </c:pt>
                  <c:pt idx="4">
                    <c:v>5</c:v>
                  </c:pt>
                  <c:pt idx="5">
                    <c:v>6</c:v>
                  </c:pt>
                  <c:pt idx="6">
                    <c:v>7</c:v>
                  </c:pt>
                  <c:pt idx="7">
                    <c:v>8</c:v>
                  </c:pt>
                  <c:pt idx="8">
                    <c:v>9</c:v>
                  </c:pt>
                </c:lvl>
              </c:multiLvlStrCache>
            </c:multiLvlStrRef>
          </c:cat>
          <c:val>
            <c:numRef>
              <c:f>Sheet1!$B$2:$B$10</c:f>
              <c:numCache>
                <c:formatCode>General</c:formatCode>
                <c:ptCount val="9"/>
                <c:pt idx="0">
                  <c:v>279158.61</c:v>
                </c:pt>
                <c:pt idx="1">
                  <c:v>246299.61</c:v>
                </c:pt>
                <c:pt idx="2">
                  <c:v>277949.06</c:v>
                </c:pt>
                <c:pt idx="3">
                  <c:v>257326.83000000002</c:v>
                </c:pt>
                <c:pt idx="4">
                  <c:v>261986.21</c:v>
                </c:pt>
                <c:pt idx="5">
                  <c:v>230101.88</c:v>
                </c:pt>
                <c:pt idx="6">
                  <c:v>240805.24</c:v>
                </c:pt>
                <c:pt idx="7">
                  <c:v>274478.65</c:v>
                </c:pt>
                <c:pt idx="8">
                  <c:v>196527.96000000002</c:v>
                </c:pt>
              </c:numCache>
            </c:numRef>
          </c:val>
          <c:smooth val="0"/>
        </c:ser>
        <c:ser>
          <c:idx val="1"/>
          <c:order val="1"/>
          <c:tx>
            <c:strRef>
              <c:f>Sheet1!$C$1</c:f>
              <c:strCache>
                <c:ptCount val="1"/>
                <c:pt idx="0">
                  <c:v>cur</c:v>
                </c:pt>
              </c:strCache>
            </c:strRef>
          </c:tx>
          <c:spPr>
            <a:solidFill>
              <a:srgbClr val="0B7A4A"/>
            </a:solidFill>
            <a:ln w="22225" cap="flat">
              <a:solidFill>
                <a:srgbClr val="0B7A4A"/>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none"/>
            <c:size val="6"/>
            <c:spPr>
              <a:solidFill>
                <a:srgbClr val="0B7A4A"/>
              </a:solidFill>
              <a:ln w="9525" cap="flat">
                <a:solidFill>
                  <a:srgbClr val="0B7A4A"/>
                </a:solidFill>
                <a:prstDash val="solid"/>
                <a:round/>
              </a:ln>
              <a:effectLst/>
            </c:spPr>
          </c:marker>
          <c:cat>
            <c:multiLvlStrRef>
              <c:f>Sheet1!$A$2:$A$10</c:f>
              <c:multiLvlStrCache>
                <c:ptCount val="9"/>
                <c:lvl>
                  <c:pt idx="0">
                    <c:v>1</c:v>
                  </c:pt>
                  <c:pt idx="1">
                    <c:v>2</c:v>
                  </c:pt>
                  <c:pt idx="2">
                    <c:v>3</c:v>
                  </c:pt>
                  <c:pt idx="3">
                    <c:v>4</c:v>
                  </c:pt>
                  <c:pt idx="4">
                    <c:v>5</c:v>
                  </c:pt>
                  <c:pt idx="5">
                    <c:v>6</c:v>
                  </c:pt>
                  <c:pt idx="6">
                    <c:v>7</c:v>
                  </c:pt>
                  <c:pt idx="7">
                    <c:v>8</c:v>
                  </c:pt>
                  <c:pt idx="8">
                    <c:v>9</c:v>
                  </c:pt>
                </c:lvl>
              </c:multiLvlStrCache>
            </c:multiLvlStrRef>
          </c:cat>
          <c:val>
            <c:numRef>
              <c:f>Sheet1!$C$2:$C$10</c:f>
              <c:numCache>
                <c:formatCode>General</c:formatCode>
                <c:ptCount val="9"/>
                <c:pt idx="0">
                  <c:v>318330.82</c:v>
                </c:pt>
                <c:pt idx="1">
                  <c:v>312431.39</c:v>
                </c:pt>
                <c:pt idx="2">
                  <c:v>357803.52999999997</c:v>
                </c:pt>
                <c:pt idx="3">
                  <c:v>316035.44</c:v>
                </c:pt>
                <c:pt idx="4">
                  <c:v>297229.79000000004</c:v>
                </c:pt>
                <c:pt idx="5">
                  <c:v>310532.31</c:v>
                </c:pt>
                <c:pt idx="6">
                  <c:v>341103.91000000003</c:v>
                </c:pt>
                <c:pt idx="7">
                  <c:v>359225.20999999996</c:v>
                </c:pt>
                <c:pt idx="8">
                  <c:v>369333.19</c:v>
                </c:pt>
              </c:numCache>
            </c:numRef>
          </c:val>
          <c:smooth val="0"/>
        </c:ser>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1"/>
        <c:axPos val="b"/>
        <c:numFmt formatCode="General" sourceLinked="1"/>
        <c:majorTickMark val="out"/>
        <c:minorTickMark val="none"/>
        <c:tickLblPos val="low"/>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2"/>
        <c:crosses val="autoZero"/>
        <c:auto val="1"/>
        <c:lblAlgn val="ctr"/>
        <c:noMultiLvlLbl val="1"/>
      </c:catAx>
      <c:valAx>
        <c:axId val="2094734552"/>
        <c:scaling>
          <c:orientation val="minMax"/>
          <c:max val="383157.6084"/>
          <c:min val="182703.54160000003"/>
        </c:scaling>
        <c:delete val="1"/>
        <c:axPos val="l"/>
        <c:numFmt formatCode="General" sourceLinked="0"/>
        <c:majorTickMark val="out"/>
        <c:minorTickMark val="none"/>
        <c:tickLblPos val="nextTo"/>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noFill/>
        <a:ln>
          <a:noFill/>
        </a:ln>
        <a:effectLst/>
      </c:spPr>
    </c:plotArea>
    <c:plotVisOnly val="1"/>
    <c:dispBlanksAs val="span"/>
  </c:chart>
  <c:spPr>
    <a:noFill/>
    <a:ln>
      <a:noFill/>
    </a:ln>
    <a:effectLst/>
  </c:spPr>
  <c:externalData r:id="rId1">
    <c:autoUpdate val="0"/>
  </c:externalData>
</c:chartSpace>
</file>

<file path=ppt/charts/chart9.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manualLayout>
          <c:layoutTarget val="inner"/>
          <c:xMode val="edge"/>
          <c:yMode val="edge"/>
          <c:x val="0"/>
          <c:y val="0"/>
          <c:w val="1"/>
          <c:h val="1"/>
        </c:manualLayout>
      </c:layout>
      <c:lineChart>
        <c:varyColors val="0"/>
        <c:ser>
          <c:idx val="0"/>
          <c:order val="0"/>
          <c:tx>
            <c:strRef>
              <c:f>Sheet1!$B$1</c:f>
              <c:strCache>
                <c:ptCount val="1"/>
                <c:pt idx="0">
                  <c:v>prior</c:v>
                </c:pt>
              </c:strCache>
            </c:strRef>
          </c:tx>
          <c:spPr>
            <a:solidFill>
              <a:srgbClr val="A6A6A6"/>
            </a:solidFill>
            <a:ln w="22225" cap="flat">
              <a:solidFill>
                <a:srgbClr val="A6A6A6"/>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none"/>
            <c:size val="6"/>
            <c:spPr>
              <a:solidFill>
                <a:srgbClr val="A6A6A6"/>
              </a:solidFill>
              <a:ln w="9525" cap="flat">
                <a:solidFill>
                  <a:srgbClr val="A6A6A6"/>
                </a:solidFill>
                <a:prstDash val="solid"/>
                <a:round/>
              </a:ln>
              <a:effectLst/>
            </c:spPr>
          </c:marker>
          <c:cat>
            <c:multiLvlStrRef>
              <c:f>Sheet1!$A$2:$A$10</c:f>
              <c:multiLvlStrCache>
                <c:ptCount val="9"/>
                <c:lvl>
                  <c:pt idx="0">
                    <c:v>1</c:v>
                  </c:pt>
                  <c:pt idx="1">
                    <c:v>2</c:v>
                  </c:pt>
                  <c:pt idx="2">
                    <c:v>3</c:v>
                  </c:pt>
                  <c:pt idx="3">
                    <c:v>4</c:v>
                  </c:pt>
                  <c:pt idx="4">
                    <c:v>5</c:v>
                  </c:pt>
                  <c:pt idx="5">
                    <c:v>6</c:v>
                  </c:pt>
                  <c:pt idx="6">
                    <c:v>7</c:v>
                  </c:pt>
                  <c:pt idx="7">
                    <c:v>8</c:v>
                  </c:pt>
                  <c:pt idx="8">
                    <c:v>9</c:v>
                  </c:pt>
                </c:lvl>
              </c:multiLvlStrCache>
            </c:multiLvlStrRef>
          </c:cat>
          <c:val>
            <c:numRef>
              <c:f>Sheet1!$B$2:$B$10</c:f>
              <c:numCache>
                <c:formatCode>General</c:formatCode>
                <c:ptCount val="9"/>
                <c:pt idx="0">
                  <c:v>340480.1</c:v>
                </c:pt>
                <c:pt idx="1">
                  <c:v>275067.74</c:v>
                </c:pt>
                <c:pt idx="2">
                  <c:v>379293.83</c:v>
                </c:pt>
                <c:pt idx="3">
                  <c:v>394725.16000000003</c:v>
                </c:pt>
                <c:pt idx="4">
                  <c:v>367038.15</c:v>
                </c:pt>
                <c:pt idx="5">
                  <c:v>351035.32</c:v>
                </c:pt>
                <c:pt idx="6">
                  <c:v>419932</c:v>
                </c:pt>
                <c:pt idx="7">
                  <c:v>404285.91000000003</c:v>
                </c:pt>
                <c:pt idx="8">
                  <c:v>449602.85</c:v>
                </c:pt>
              </c:numCache>
            </c:numRef>
          </c:val>
          <c:smooth val="0"/>
        </c:ser>
        <c:ser>
          <c:idx val="1"/>
          <c:order val="1"/>
          <c:tx>
            <c:strRef>
              <c:f>Sheet1!$C$1</c:f>
              <c:strCache>
                <c:ptCount val="1"/>
                <c:pt idx="0">
                  <c:v>cur</c:v>
                </c:pt>
              </c:strCache>
            </c:strRef>
          </c:tx>
          <c:spPr>
            <a:solidFill>
              <a:srgbClr val="0B7A4A"/>
            </a:solidFill>
            <a:ln w="22225" cap="flat">
              <a:solidFill>
                <a:srgbClr val="0B7A4A"/>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none"/>
            <c:size val="6"/>
            <c:spPr>
              <a:solidFill>
                <a:srgbClr val="0B7A4A"/>
              </a:solidFill>
              <a:ln w="9525" cap="flat">
                <a:solidFill>
                  <a:srgbClr val="0B7A4A"/>
                </a:solidFill>
                <a:prstDash val="solid"/>
                <a:round/>
              </a:ln>
              <a:effectLst/>
            </c:spPr>
          </c:marker>
          <c:cat>
            <c:multiLvlStrRef>
              <c:f>Sheet1!$A$2:$A$10</c:f>
              <c:multiLvlStrCache>
                <c:ptCount val="9"/>
                <c:lvl>
                  <c:pt idx="0">
                    <c:v>1</c:v>
                  </c:pt>
                  <c:pt idx="1">
                    <c:v>2</c:v>
                  </c:pt>
                  <c:pt idx="2">
                    <c:v>3</c:v>
                  </c:pt>
                  <c:pt idx="3">
                    <c:v>4</c:v>
                  </c:pt>
                  <c:pt idx="4">
                    <c:v>5</c:v>
                  </c:pt>
                  <c:pt idx="5">
                    <c:v>6</c:v>
                  </c:pt>
                  <c:pt idx="6">
                    <c:v>7</c:v>
                  </c:pt>
                  <c:pt idx="7">
                    <c:v>8</c:v>
                  </c:pt>
                  <c:pt idx="8">
                    <c:v>9</c:v>
                  </c:pt>
                </c:lvl>
              </c:multiLvlStrCache>
            </c:multiLvlStrRef>
          </c:cat>
          <c:val>
            <c:numRef>
              <c:f>Sheet1!$C$2:$C$10</c:f>
              <c:numCache>
                <c:formatCode>General</c:formatCode>
                <c:ptCount val="9"/>
                <c:pt idx="0">
                  <c:v>439181.49</c:v>
                </c:pt>
                <c:pt idx="1">
                  <c:v>416904.62</c:v>
                </c:pt>
                <c:pt idx="2">
                  <c:v>459207.05</c:v>
                </c:pt>
                <c:pt idx="3">
                  <c:v>457504.79</c:v>
                </c:pt>
                <c:pt idx="4">
                  <c:v>496653.73</c:v>
                </c:pt>
                <c:pt idx="5">
                  <c:v>485200.04000000004</c:v>
                </c:pt>
                <c:pt idx="6">
                  <c:v>480320.26</c:v>
                </c:pt>
                <c:pt idx="7">
                  <c:v>447921.62</c:v>
                </c:pt>
                <c:pt idx="8">
                  <c:v>462303.26</c:v>
                </c:pt>
              </c:numCache>
            </c:numRef>
          </c:val>
          <c:smooth val="0"/>
        </c:ser>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1"/>
        <c:axPos val="b"/>
        <c:numFmt formatCode="General" sourceLinked="1"/>
        <c:majorTickMark val="out"/>
        <c:minorTickMark val="none"/>
        <c:tickLblPos val="low"/>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2"/>
        <c:crosses val="autoZero"/>
        <c:auto val="1"/>
        <c:lblAlgn val="ctr"/>
        <c:noMultiLvlLbl val="1"/>
      </c:catAx>
      <c:valAx>
        <c:axId val="2094734552"/>
        <c:scaling>
          <c:orientation val="minMax"/>
          <c:max val="514380.6092"/>
          <c:min val="257340.8608"/>
        </c:scaling>
        <c:delete val="1"/>
        <c:axPos val="l"/>
        <c:numFmt formatCode="General" sourceLinked="0"/>
        <c:majorTickMark val="out"/>
        <c:minorTickMark val="none"/>
        <c:tickLblPos val="nextTo"/>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noFill/>
        <a:ln>
          <a:noFill/>
        </a:ln>
        <a:effectLst/>
      </c:spPr>
    </c:plotArea>
    <c:plotVisOnly val="1"/>
    <c:dispBlanksAs val="span"/>
  </c:chart>
  <c:spPr>
    <a:noFill/>
    <a:ln>
      <a:noFill/>
    </a:ln>
    <a:effectLst/>
  </c:spPr>
  <c:externalData r:id="rId1">
    <c:autoUpdate val="0"/>
  </c:externalData>
</c:chartSpace>
</file>

<file path=ppt/charts/chart10.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manualLayout>
          <c:layoutTarget val="inner"/>
          <c:xMode val="edge"/>
          <c:yMode val="edge"/>
          <c:x val="0"/>
          <c:y val="0"/>
          <c:w val="1"/>
          <c:h val="1"/>
        </c:manualLayout>
      </c:layout>
      <c:lineChart>
        <c:varyColors val="0"/>
        <c:ser>
          <c:idx val="0"/>
          <c:order val="0"/>
          <c:tx>
            <c:strRef>
              <c:f>Sheet1!$B$1</c:f>
              <c:strCache>
                <c:ptCount val="1"/>
                <c:pt idx="0">
                  <c:v>prior</c:v>
                </c:pt>
              </c:strCache>
            </c:strRef>
          </c:tx>
          <c:spPr>
            <a:solidFill>
              <a:srgbClr val="A6A6A6"/>
            </a:solidFill>
            <a:ln w="22225" cap="flat">
              <a:solidFill>
                <a:srgbClr val="A6A6A6"/>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none"/>
            <c:size val="6"/>
            <c:spPr>
              <a:solidFill>
                <a:srgbClr val="A6A6A6"/>
              </a:solidFill>
              <a:ln w="9525" cap="flat">
                <a:solidFill>
                  <a:srgbClr val="A6A6A6"/>
                </a:solidFill>
                <a:prstDash val="solid"/>
                <a:round/>
              </a:ln>
              <a:effectLst/>
            </c:spPr>
          </c:marker>
          <c:cat>
            <c:multiLvlStrRef>
              <c:f>Sheet1!$A$2:$A$10</c:f>
              <c:multiLvlStrCache>
                <c:ptCount val="9"/>
                <c:lvl>
                  <c:pt idx="0">
                    <c:v>1</c:v>
                  </c:pt>
                  <c:pt idx="1">
                    <c:v>2</c:v>
                  </c:pt>
                  <c:pt idx="2">
                    <c:v>3</c:v>
                  </c:pt>
                  <c:pt idx="3">
                    <c:v>4</c:v>
                  </c:pt>
                  <c:pt idx="4">
                    <c:v>5</c:v>
                  </c:pt>
                  <c:pt idx="5">
                    <c:v>6</c:v>
                  </c:pt>
                  <c:pt idx="6">
                    <c:v>7</c:v>
                  </c:pt>
                  <c:pt idx="7">
                    <c:v>8</c:v>
                  </c:pt>
                  <c:pt idx="8">
                    <c:v>9</c:v>
                  </c:pt>
                </c:lvl>
              </c:multiLvlStrCache>
            </c:multiLvlStrRef>
          </c:cat>
          <c:val>
            <c:numRef>
              <c:f>Sheet1!$B$2:$B$10</c:f>
              <c:numCache>
                <c:formatCode>General</c:formatCode>
                <c:ptCount val="9"/>
                <c:pt idx="0">
                  <c:v>1233307.13</c:v>
                </c:pt>
                <c:pt idx="1">
                  <c:v>1076185.69</c:v>
                </c:pt>
                <c:pt idx="2">
                  <c:v>1033434.47</c:v>
                </c:pt>
                <c:pt idx="3">
                  <c:v>1191040.44</c:v>
                </c:pt>
                <c:pt idx="4">
                  <c:v>1162337.33</c:v>
                </c:pt>
                <c:pt idx="5">
                  <c:v>1239673.18</c:v>
                </c:pt>
                <c:pt idx="6">
                  <c:v>1220020.68</c:v>
                </c:pt>
                <c:pt idx="7">
                  <c:v>1281204.26</c:v>
                </c:pt>
                <c:pt idx="8">
                  <c:v>1198190.77</c:v>
                </c:pt>
              </c:numCache>
            </c:numRef>
          </c:val>
          <c:smooth val="0"/>
        </c:ser>
        <c:ser>
          <c:idx val="1"/>
          <c:order val="1"/>
          <c:tx>
            <c:strRef>
              <c:f>Sheet1!$C$1</c:f>
              <c:strCache>
                <c:ptCount val="1"/>
                <c:pt idx="0">
                  <c:v>cur</c:v>
                </c:pt>
              </c:strCache>
            </c:strRef>
          </c:tx>
          <c:spPr>
            <a:solidFill>
              <a:srgbClr val="0B7A4A"/>
            </a:solidFill>
            <a:ln w="22225" cap="flat">
              <a:solidFill>
                <a:srgbClr val="0B7A4A"/>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none"/>
            <c:size val="6"/>
            <c:spPr>
              <a:solidFill>
                <a:srgbClr val="0B7A4A"/>
              </a:solidFill>
              <a:ln w="9525" cap="flat">
                <a:solidFill>
                  <a:srgbClr val="0B7A4A"/>
                </a:solidFill>
                <a:prstDash val="solid"/>
                <a:round/>
              </a:ln>
              <a:effectLst/>
            </c:spPr>
          </c:marker>
          <c:cat>
            <c:multiLvlStrRef>
              <c:f>Sheet1!$A$2:$A$10</c:f>
              <c:multiLvlStrCache>
                <c:ptCount val="9"/>
                <c:lvl>
                  <c:pt idx="0">
                    <c:v>1</c:v>
                  </c:pt>
                  <c:pt idx="1">
                    <c:v>2</c:v>
                  </c:pt>
                  <c:pt idx="2">
                    <c:v>3</c:v>
                  </c:pt>
                  <c:pt idx="3">
                    <c:v>4</c:v>
                  </c:pt>
                  <c:pt idx="4">
                    <c:v>5</c:v>
                  </c:pt>
                  <c:pt idx="5">
                    <c:v>6</c:v>
                  </c:pt>
                  <c:pt idx="6">
                    <c:v>7</c:v>
                  </c:pt>
                  <c:pt idx="7">
                    <c:v>8</c:v>
                  </c:pt>
                  <c:pt idx="8">
                    <c:v>9</c:v>
                  </c:pt>
                </c:lvl>
              </c:multiLvlStrCache>
            </c:multiLvlStrRef>
          </c:cat>
          <c:val>
            <c:numRef>
              <c:f>Sheet1!$C$2:$C$10</c:f>
              <c:numCache>
                <c:formatCode>General</c:formatCode>
                <c:ptCount val="9"/>
                <c:pt idx="0">
                  <c:v>1385055.3800000001</c:v>
                </c:pt>
                <c:pt idx="1">
                  <c:v>1353588.3</c:v>
                </c:pt>
                <c:pt idx="2">
                  <c:v>1379665.18</c:v>
                </c:pt>
                <c:pt idx="3">
                  <c:v>1452085.1400000001</c:v>
                </c:pt>
                <c:pt idx="4">
                  <c:v>1180106.69</c:v>
                </c:pt>
                <c:pt idx="5">
                  <c:v>1305129.98</c:v>
                </c:pt>
                <c:pt idx="6">
                  <c:v>1604751.2200000002</c:v>
                </c:pt>
                <c:pt idx="7">
                  <c:v>1291680.98</c:v>
                </c:pt>
                <c:pt idx="8">
                  <c:v>1388194.07</c:v>
                </c:pt>
              </c:numCache>
            </c:numRef>
          </c:val>
          <c:smooth val="0"/>
        </c:ser>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1"/>
        <c:axPos val="b"/>
        <c:numFmt formatCode="General" sourceLinked="1"/>
        <c:majorTickMark val="out"/>
        <c:minorTickMark val="none"/>
        <c:tickLblPos val="low"/>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2"/>
        <c:crosses val="autoZero"/>
        <c:auto val="1"/>
        <c:lblAlgn val="ctr"/>
        <c:noMultiLvlLbl val="1"/>
      </c:catAx>
      <c:valAx>
        <c:axId val="2094734552"/>
        <c:scaling>
          <c:orientation val="minMax"/>
          <c:max val="1650456.5600000003"/>
          <c:min val="987729.13"/>
        </c:scaling>
        <c:delete val="1"/>
        <c:axPos val="l"/>
        <c:numFmt formatCode="General" sourceLinked="0"/>
        <c:majorTickMark val="out"/>
        <c:minorTickMark val="none"/>
        <c:tickLblPos val="nextTo"/>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noFill/>
        <a:ln>
          <a:noFill/>
        </a:ln>
        <a:effectLst/>
      </c:spPr>
    </c:plotArea>
    <c:plotVisOnly val="1"/>
    <c:dispBlanksAs val="span"/>
  </c:chart>
  <c:spPr>
    <a:noFill/>
    <a:ln>
      <a:noFill/>
    </a:ln>
    <a:effectLst/>
  </c:spPr>
  <c:externalData r:id="rId1">
    <c:autoUpdate val="0"/>
  </c:externalData>
</c:chartSpace>
</file>

<file path=ppt/charts/chart11.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manualLayout>
          <c:layoutTarget val="inner"/>
          <c:xMode val="edge"/>
          <c:yMode val="edge"/>
          <c:x val="0"/>
          <c:y val="0"/>
          <c:w val="1"/>
          <c:h val="1"/>
        </c:manualLayout>
      </c:layout>
      <c:lineChart>
        <c:varyColors val="0"/>
        <c:ser>
          <c:idx val="0"/>
          <c:order val="0"/>
          <c:tx>
            <c:strRef>
              <c:f>Sheet1!$B$1</c:f>
              <c:strCache>
                <c:ptCount val="1"/>
                <c:pt idx="0">
                  <c:v>prior</c:v>
                </c:pt>
              </c:strCache>
            </c:strRef>
          </c:tx>
          <c:spPr>
            <a:solidFill>
              <a:srgbClr val="A6A6A6"/>
            </a:solidFill>
            <a:ln w="22225" cap="flat">
              <a:solidFill>
                <a:srgbClr val="A6A6A6"/>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none"/>
            <c:size val="6"/>
            <c:spPr>
              <a:solidFill>
                <a:srgbClr val="A6A6A6"/>
              </a:solidFill>
              <a:ln w="9525" cap="flat">
                <a:solidFill>
                  <a:srgbClr val="A6A6A6"/>
                </a:solidFill>
                <a:prstDash val="solid"/>
                <a:round/>
              </a:ln>
              <a:effectLst/>
            </c:spPr>
          </c:marker>
          <c:cat>
            <c:multiLvlStrRef>
              <c:f>Sheet1!$A$2:$A$10</c:f>
              <c:multiLvlStrCache>
                <c:ptCount val="9"/>
                <c:lvl>
                  <c:pt idx="0">
                    <c:v>1</c:v>
                  </c:pt>
                  <c:pt idx="1">
                    <c:v>2</c:v>
                  </c:pt>
                  <c:pt idx="2">
                    <c:v>3</c:v>
                  </c:pt>
                  <c:pt idx="3">
                    <c:v>4</c:v>
                  </c:pt>
                  <c:pt idx="4">
                    <c:v>5</c:v>
                  </c:pt>
                  <c:pt idx="5">
                    <c:v>6</c:v>
                  </c:pt>
                  <c:pt idx="6">
                    <c:v>7</c:v>
                  </c:pt>
                  <c:pt idx="7">
                    <c:v>8</c:v>
                  </c:pt>
                  <c:pt idx="8">
                    <c:v>9</c:v>
                  </c:pt>
                </c:lvl>
              </c:multiLvlStrCache>
            </c:multiLvlStrRef>
          </c:cat>
          <c:val>
            <c:numRef>
              <c:f>Sheet1!$B$2:$B$10</c:f>
              <c:numCache>
                <c:formatCode>General</c:formatCode>
                <c:ptCount val="9"/>
                <c:pt idx="0">
                  <c:v>263231.52</c:v>
                </c:pt>
                <c:pt idx="1">
                  <c:v>234356.07</c:v>
                </c:pt>
                <c:pt idx="2">
                  <c:v>241304.58000000002</c:v>
                </c:pt>
                <c:pt idx="3">
                  <c:v>349118.76</c:v>
                </c:pt>
                <c:pt idx="4">
                  <c:v>243181.2</c:v>
                </c:pt>
                <c:pt idx="5">
                  <c:v>248700.12</c:v>
                </c:pt>
                <c:pt idx="6">
                  <c:v>258834.46000000002</c:v>
                </c:pt>
                <c:pt idx="7">
                  <c:v>251010.46000000002</c:v>
                </c:pt>
                <c:pt idx="8">
                  <c:v>242456.11</c:v>
                </c:pt>
              </c:numCache>
            </c:numRef>
          </c:val>
          <c:smooth val="0"/>
        </c:ser>
        <c:ser>
          <c:idx val="1"/>
          <c:order val="1"/>
          <c:tx>
            <c:strRef>
              <c:f>Sheet1!$C$1</c:f>
              <c:strCache>
                <c:ptCount val="1"/>
                <c:pt idx="0">
                  <c:v>cur</c:v>
                </c:pt>
              </c:strCache>
            </c:strRef>
          </c:tx>
          <c:spPr>
            <a:solidFill>
              <a:srgbClr val="0B7A4A"/>
            </a:solidFill>
            <a:ln w="22225" cap="flat">
              <a:solidFill>
                <a:srgbClr val="0B7A4A"/>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none"/>
            <c:size val="6"/>
            <c:spPr>
              <a:solidFill>
                <a:srgbClr val="0B7A4A"/>
              </a:solidFill>
              <a:ln w="9525" cap="flat">
                <a:solidFill>
                  <a:srgbClr val="0B7A4A"/>
                </a:solidFill>
                <a:prstDash val="solid"/>
                <a:round/>
              </a:ln>
              <a:effectLst/>
            </c:spPr>
          </c:marker>
          <c:cat>
            <c:multiLvlStrRef>
              <c:f>Sheet1!$A$2:$A$10</c:f>
              <c:multiLvlStrCache>
                <c:ptCount val="9"/>
                <c:lvl>
                  <c:pt idx="0">
                    <c:v>1</c:v>
                  </c:pt>
                  <c:pt idx="1">
                    <c:v>2</c:v>
                  </c:pt>
                  <c:pt idx="2">
                    <c:v>3</c:v>
                  </c:pt>
                  <c:pt idx="3">
                    <c:v>4</c:v>
                  </c:pt>
                  <c:pt idx="4">
                    <c:v>5</c:v>
                  </c:pt>
                  <c:pt idx="5">
                    <c:v>6</c:v>
                  </c:pt>
                  <c:pt idx="6">
                    <c:v>7</c:v>
                  </c:pt>
                  <c:pt idx="7">
                    <c:v>8</c:v>
                  </c:pt>
                  <c:pt idx="8">
                    <c:v>9</c:v>
                  </c:pt>
                </c:lvl>
              </c:multiLvlStrCache>
            </c:multiLvlStrRef>
          </c:cat>
          <c:val>
            <c:numRef>
              <c:f>Sheet1!$C$2:$C$10</c:f>
              <c:numCache>
                <c:formatCode>General</c:formatCode>
                <c:ptCount val="9"/>
                <c:pt idx="0">
                  <c:v>281179.99</c:v>
                </c:pt>
                <c:pt idx="1">
                  <c:v>278749.47</c:v>
                </c:pt>
                <c:pt idx="2">
                  <c:v>304104.73</c:v>
                </c:pt>
                <c:pt idx="3">
                  <c:v>354141.44</c:v>
                </c:pt>
                <c:pt idx="4">
                  <c:v>274184</c:v>
                </c:pt>
                <c:pt idx="5">
                  <c:v>316107.88</c:v>
                </c:pt>
                <c:pt idx="6">
                  <c:v>317699.21</c:v>
                </c:pt>
                <c:pt idx="7">
                  <c:v>270325.27</c:v>
                </c:pt>
                <c:pt idx="8">
                  <c:v>303744.64</c:v>
                </c:pt>
              </c:numCache>
            </c:numRef>
          </c:val>
          <c:smooth val="0"/>
        </c:ser>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1"/>
        <c:axPos val="b"/>
        <c:numFmt formatCode="General" sourceLinked="1"/>
        <c:majorTickMark val="out"/>
        <c:minorTickMark val="none"/>
        <c:tickLblPos val="low"/>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2"/>
        <c:crosses val="autoZero"/>
        <c:auto val="1"/>
        <c:lblAlgn val="ctr"/>
        <c:noMultiLvlLbl val="1"/>
      </c:catAx>
      <c:valAx>
        <c:axId val="2094734552"/>
        <c:scaling>
          <c:orientation val="minMax"/>
          <c:max val="363724.2696"/>
          <c:min val="224773.2404"/>
        </c:scaling>
        <c:delete val="1"/>
        <c:axPos val="l"/>
        <c:numFmt formatCode="General" sourceLinked="0"/>
        <c:majorTickMark val="out"/>
        <c:minorTickMark val="none"/>
        <c:tickLblPos val="nextTo"/>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noFill/>
        <a:ln>
          <a:noFill/>
        </a:ln>
        <a:effectLst/>
      </c:spPr>
    </c:plotArea>
    <c:plotVisOnly val="1"/>
    <c:dispBlanksAs val="span"/>
  </c:chart>
  <c:spPr>
    <a:noFill/>
    <a:ln>
      <a:noFill/>
    </a:ln>
    <a:effectLst/>
  </c:spPr>
  <c:externalData r:id="rId1">
    <c:autoUpdate val="0"/>
  </c:externalData>
</c:chartSpace>
</file>

<file path=ppt/charts/chart12.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manualLayout>
          <c:layoutTarget val="inner"/>
          <c:xMode val="edge"/>
          <c:yMode val="edge"/>
          <c:x val="0"/>
          <c:y val="0"/>
          <c:w val="1"/>
          <c:h val="1"/>
        </c:manualLayout>
      </c:layout>
      <c:lineChart>
        <c:varyColors val="0"/>
        <c:ser>
          <c:idx val="0"/>
          <c:order val="0"/>
          <c:tx>
            <c:strRef>
              <c:f>Sheet1!$B$1</c:f>
              <c:strCache>
                <c:ptCount val="1"/>
                <c:pt idx="0">
                  <c:v>prior</c:v>
                </c:pt>
              </c:strCache>
            </c:strRef>
          </c:tx>
          <c:spPr>
            <a:solidFill>
              <a:srgbClr val="A6A6A6"/>
            </a:solidFill>
            <a:ln w="22225" cap="flat">
              <a:solidFill>
                <a:srgbClr val="A6A6A6"/>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none"/>
            <c:size val="6"/>
            <c:spPr>
              <a:solidFill>
                <a:srgbClr val="A6A6A6"/>
              </a:solidFill>
              <a:ln w="9525" cap="flat">
                <a:solidFill>
                  <a:srgbClr val="A6A6A6"/>
                </a:solidFill>
                <a:prstDash val="solid"/>
                <a:round/>
              </a:ln>
              <a:effectLst/>
            </c:spPr>
          </c:marker>
          <c:cat>
            <c:multiLvlStrRef>
              <c:f>Sheet1!$A$2:$A$10</c:f>
              <c:multiLvlStrCache>
                <c:ptCount val="9"/>
                <c:lvl>
                  <c:pt idx="0">
                    <c:v>1</c:v>
                  </c:pt>
                  <c:pt idx="1">
                    <c:v>2</c:v>
                  </c:pt>
                  <c:pt idx="2">
                    <c:v>3</c:v>
                  </c:pt>
                  <c:pt idx="3">
                    <c:v>4</c:v>
                  </c:pt>
                  <c:pt idx="4">
                    <c:v>5</c:v>
                  </c:pt>
                  <c:pt idx="5">
                    <c:v>6</c:v>
                  </c:pt>
                  <c:pt idx="6">
                    <c:v>7</c:v>
                  </c:pt>
                  <c:pt idx="7">
                    <c:v>8</c:v>
                  </c:pt>
                  <c:pt idx="8">
                    <c:v>9</c:v>
                  </c:pt>
                </c:lvl>
              </c:multiLvlStrCache>
            </c:multiLvlStrRef>
          </c:cat>
          <c:val>
            <c:numRef>
              <c:f>Sheet1!$B$2:$B$10</c:f>
              <c:numCache>
                <c:formatCode>General</c:formatCode>
                <c:ptCount val="9"/>
                <c:pt idx="0">
                  <c:v>566830.23</c:v>
                </c:pt>
                <c:pt idx="1">
                  <c:v>504828.86</c:v>
                </c:pt>
                <c:pt idx="2">
                  <c:v>482747.35</c:v>
                </c:pt>
                <c:pt idx="3">
                  <c:v>372562.69999999995</c:v>
                </c:pt>
                <c:pt idx="4">
                  <c:v>307076.6</c:v>
                </c:pt>
                <c:pt idx="5">
                  <c:v>275196.9</c:v>
                </c:pt>
                <c:pt idx="6">
                  <c:v>261415.97000000003</c:v>
                </c:pt>
                <c:pt idx="7">
                  <c:v>340682.17</c:v>
                </c:pt>
                <c:pt idx="8">
                  <c:v>298596.23</c:v>
                </c:pt>
              </c:numCache>
            </c:numRef>
          </c:val>
          <c:smooth val="0"/>
        </c:ser>
        <c:ser>
          <c:idx val="1"/>
          <c:order val="1"/>
          <c:tx>
            <c:strRef>
              <c:f>Sheet1!$C$1</c:f>
              <c:strCache>
                <c:ptCount val="1"/>
                <c:pt idx="0">
                  <c:v>cur</c:v>
                </c:pt>
              </c:strCache>
            </c:strRef>
          </c:tx>
          <c:spPr>
            <a:solidFill>
              <a:srgbClr val="A82B26"/>
            </a:solidFill>
            <a:ln w="22225" cap="flat">
              <a:solidFill>
                <a:srgbClr val="A82B26"/>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none"/>
            <c:size val="6"/>
            <c:spPr>
              <a:solidFill>
                <a:srgbClr val="A82B26"/>
              </a:solidFill>
              <a:ln w="9525" cap="flat">
                <a:solidFill>
                  <a:srgbClr val="A82B26"/>
                </a:solidFill>
                <a:prstDash val="solid"/>
                <a:round/>
              </a:ln>
              <a:effectLst/>
            </c:spPr>
          </c:marker>
          <c:cat>
            <c:multiLvlStrRef>
              <c:f>Sheet1!$A$2:$A$10</c:f>
              <c:multiLvlStrCache>
                <c:ptCount val="9"/>
                <c:lvl>
                  <c:pt idx="0">
                    <c:v>1</c:v>
                  </c:pt>
                  <c:pt idx="1">
                    <c:v>2</c:v>
                  </c:pt>
                  <c:pt idx="2">
                    <c:v>3</c:v>
                  </c:pt>
                  <c:pt idx="3">
                    <c:v>4</c:v>
                  </c:pt>
                  <c:pt idx="4">
                    <c:v>5</c:v>
                  </c:pt>
                  <c:pt idx="5">
                    <c:v>6</c:v>
                  </c:pt>
                  <c:pt idx="6">
                    <c:v>7</c:v>
                  </c:pt>
                  <c:pt idx="7">
                    <c:v>8</c:v>
                  </c:pt>
                  <c:pt idx="8">
                    <c:v>9</c:v>
                  </c:pt>
                </c:lvl>
              </c:multiLvlStrCache>
            </c:multiLvlStrRef>
          </c:cat>
          <c:val>
            <c:numRef>
              <c:f>Sheet1!$C$2:$C$10</c:f>
              <c:numCache>
                <c:formatCode>General</c:formatCode>
                <c:ptCount val="9"/>
                <c:pt idx="0">
                  <c:v>292739.36</c:v>
                </c:pt>
                <c:pt idx="1">
                  <c:v>331018.14</c:v>
                </c:pt>
                <c:pt idx="2">
                  <c:v>334322.33</c:v>
                </c:pt>
                <c:pt idx="3">
                  <c:v>331403.36</c:v>
                </c:pt>
                <c:pt idx="4">
                  <c:v>350644.58</c:v>
                </c:pt>
                <c:pt idx="5">
                  <c:v>338879.20999999996</c:v>
                </c:pt>
                <c:pt idx="6">
                  <c:v>288153.72</c:v>
                </c:pt>
                <c:pt idx="7">
                  <c:v>329076.15</c:v>
                </c:pt>
                <c:pt idx="8">
                  <c:v>296912.56</c:v>
                </c:pt>
              </c:numCache>
            </c:numRef>
          </c:val>
          <c:smooth val="0"/>
        </c:ser>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1"/>
        <c:axPos val="b"/>
        <c:numFmt formatCode="General" sourceLinked="1"/>
        <c:majorTickMark val="out"/>
        <c:minorTickMark val="none"/>
        <c:tickLblPos val="low"/>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2"/>
        <c:crosses val="autoZero"/>
        <c:auto val="1"/>
        <c:lblAlgn val="ctr"/>
        <c:noMultiLvlLbl val="1"/>
      </c:catAx>
      <c:valAx>
        <c:axId val="2094734552"/>
        <c:scaling>
          <c:orientation val="minMax"/>
          <c:max val="591263.3708"/>
          <c:min val="236982.82920000004"/>
        </c:scaling>
        <c:delete val="1"/>
        <c:axPos val="l"/>
        <c:numFmt formatCode="General" sourceLinked="0"/>
        <c:majorTickMark val="out"/>
        <c:minorTickMark val="none"/>
        <c:tickLblPos val="nextTo"/>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noFill/>
        <a:ln>
          <a:noFill/>
        </a:ln>
        <a:effectLst/>
      </c:spPr>
    </c:plotArea>
    <c:plotVisOnly val="1"/>
    <c:dispBlanksAs val="span"/>
  </c:chart>
  <c:spPr>
    <a:noFill/>
    <a:ln>
      <a:noFill/>
    </a:ln>
    <a:effectLst/>
  </c:spPr>
  <c:externalData r:id="rId1">
    <c:autoUpdate val="0"/>
  </c:externalData>
</c:chartSpace>
</file>

<file path=ppt/charts/chart13.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manualLayout>
          <c:layoutTarget val="inner"/>
          <c:xMode val="edge"/>
          <c:yMode val="edge"/>
          <c:x val="0"/>
          <c:y val="0"/>
          <c:w val="1"/>
          <c:h val="1"/>
        </c:manualLayout>
      </c:layout>
      <c:lineChart>
        <c:varyColors val="0"/>
        <c:ser>
          <c:idx val="0"/>
          <c:order val="0"/>
          <c:tx>
            <c:strRef>
              <c:f>Sheet1!$B$1</c:f>
              <c:strCache>
                <c:ptCount val="1"/>
                <c:pt idx="0">
                  <c:v>prior</c:v>
                </c:pt>
              </c:strCache>
            </c:strRef>
          </c:tx>
          <c:spPr>
            <a:solidFill>
              <a:srgbClr val="A6A6A6"/>
            </a:solidFill>
            <a:ln w="22225" cap="flat">
              <a:solidFill>
                <a:srgbClr val="A6A6A6"/>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none"/>
            <c:size val="6"/>
            <c:spPr>
              <a:solidFill>
                <a:srgbClr val="A6A6A6"/>
              </a:solidFill>
              <a:ln w="9525" cap="flat">
                <a:solidFill>
                  <a:srgbClr val="A6A6A6"/>
                </a:solidFill>
                <a:prstDash val="solid"/>
                <a:round/>
              </a:ln>
              <a:effectLst/>
            </c:spPr>
          </c:marker>
          <c:cat>
            <c:multiLvlStrRef>
              <c:f>Sheet1!$A$2:$A$10</c:f>
              <c:multiLvlStrCache>
                <c:ptCount val="9"/>
                <c:lvl>
                  <c:pt idx="0">
                    <c:v>1</c:v>
                  </c:pt>
                  <c:pt idx="1">
                    <c:v>2</c:v>
                  </c:pt>
                  <c:pt idx="2">
                    <c:v>3</c:v>
                  </c:pt>
                  <c:pt idx="3">
                    <c:v>4</c:v>
                  </c:pt>
                  <c:pt idx="4">
                    <c:v>5</c:v>
                  </c:pt>
                  <c:pt idx="5">
                    <c:v>6</c:v>
                  </c:pt>
                  <c:pt idx="6">
                    <c:v>7</c:v>
                  </c:pt>
                  <c:pt idx="7">
                    <c:v>8</c:v>
                  </c:pt>
                  <c:pt idx="8">
                    <c:v>9</c:v>
                  </c:pt>
                </c:lvl>
              </c:multiLvlStrCache>
            </c:multiLvlStrRef>
          </c:cat>
          <c:val>
            <c:numRef>
              <c:f>Sheet1!$B$2:$B$10</c:f>
              <c:numCache>
                <c:formatCode>General</c:formatCode>
                <c:ptCount val="9"/>
                <c:pt idx="0">
                  <c:v>159983.26</c:v>
                </c:pt>
                <c:pt idx="1">
                  <c:v>115519.44</c:v>
                </c:pt>
                <c:pt idx="2">
                  <c:v>118670.86</c:v>
                </c:pt>
                <c:pt idx="3">
                  <c:v>148822.94</c:v>
                </c:pt>
                <c:pt idx="4">
                  <c:v>126158.02</c:v>
                </c:pt>
                <c:pt idx="5">
                  <c:v>119292.35</c:v>
                </c:pt>
                <c:pt idx="6">
                  <c:v>122834.16999999998</c:v>
                </c:pt>
                <c:pt idx="7">
                  <c:v>123783.98999999999</c:v>
                </c:pt>
                <c:pt idx="8">
                  <c:v>95798.85</c:v>
                </c:pt>
              </c:numCache>
            </c:numRef>
          </c:val>
          <c:smooth val="0"/>
        </c:ser>
        <c:ser>
          <c:idx val="1"/>
          <c:order val="1"/>
          <c:tx>
            <c:strRef>
              <c:f>Sheet1!$C$1</c:f>
              <c:strCache>
                <c:ptCount val="1"/>
                <c:pt idx="0">
                  <c:v>cur</c:v>
                </c:pt>
              </c:strCache>
            </c:strRef>
          </c:tx>
          <c:spPr>
            <a:solidFill>
              <a:srgbClr val="A82B26"/>
            </a:solidFill>
            <a:ln w="22225" cap="flat">
              <a:solidFill>
                <a:srgbClr val="A82B26"/>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none"/>
            <c:size val="6"/>
            <c:spPr>
              <a:solidFill>
                <a:srgbClr val="A82B26"/>
              </a:solidFill>
              <a:ln w="9525" cap="flat">
                <a:solidFill>
                  <a:srgbClr val="A82B26"/>
                </a:solidFill>
                <a:prstDash val="solid"/>
                <a:round/>
              </a:ln>
              <a:effectLst/>
            </c:spPr>
          </c:marker>
          <c:cat>
            <c:multiLvlStrRef>
              <c:f>Sheet1!$A$2:$A$10</c:f>
              <c:multiLvlStrCache>
                <c:ptCount val="9"/>
                <c:lvl>
                  <c:pt idx="0">
                    <c:v>1</c:v>
                  </c:pt>
                  <c:pt idx="1">
                    <c:v>2</c:v>
                  </c:pt>
                  <c:pt idx="2">
                    <c:v>3</c:v>
                  </c:pt>
                  <c:pt idx="3">
                    <c:v>4</c:v>
                  </c:pt>
                  <c:pt idx="4">
                    <c:v>5</c:v>
                  </c:pt>
                  <c:pt idx="5">
                    <c:v>6</c:v>
                  </c:pt>
                  <c:pt idx="6">
                    <c:v>7</c:v>
                  </c:pt>
                  <c:pt idx="7">
                    <c:v>8</c:v>
                  </c:pt>
                  <c:pt idx="8">
                    <c:v>9</c:v>
                  </c:pt>
                </c:lvl>
              </c:multiLvlStrCache>
            </c:multiLvlStrRef>
          </c:cat>
          <c:val>
            <c:numRef>
              <c:f>Sheet1!$C$2:$C$10</c:f>
              <c:numCache>
                <c:formatCode>General</c:formatCode>
                <c:ptCount val="9"/>
                <c:pt idx="0">
                  <c:v>117493.94</c:v>
                </c:pt>
                <c:pt idx="1">
                  <c:v>82680.94</c:v>
                </c:pt>
                <c:pt idx="2">
                  <c:v>100488.31</c:v>
                </c:pt>
                <c:pt idx="3">
                  <c:v>115559.59</c:v>
                </c:pt>
                <c:pt idx="4">
                  <c:v>93798.13</c:v>
                </c:pt>
                <c:pt idx="5">
                  <c:v>131122.11</c:v>
                </c:pt>
                <c:pt idx="6">
                  <c:v>127210.19</c:v>
                </c:pt>
                <c:pt idx="7">
                  <c:v>99536.29</c:v>
                </c:pt>
                <c:pt idx="8">
                  <c:v>100128.37</c:v>
                </c:pt>
              </c:numCache>
            </c:numRef>
          </c:val>
          <c:smooth val="0"/>
        </c:ser>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1"/>
        <c:axPos val="b"/>
        <c:numFmt formatCode="General" sourceLinked="1"/>
        <c:majorTickMark val="out"/>
        <c:minorTickMark val="none"/>
        <c:tickLblPos val="low"/>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2"/>
        <c:crosses val="autoZero"/>
        <c:auto val="1"/>
        <c:lblAlgn val="ctr"/>
        <c:noMultiLvlLbl val="1"/>
      </c:catAx>
      <c:valAx>
        <c:axId val="2094734552"/>
        <c:scaling>
          <c:orientation val="minMax"/>
          <c:max val="166167.4456"/>
          <c:min val="76496.7544"/>
        </c:scaling>
        <c:delete val="1"/>
        <c:axPos val="l"/>
        <c:numFmt formatCode="General" sourceLinked="0"/>
        <c:majorTickMark val="out"/>
        <c:minorTickMark val="none"/>
        <c:tickLblPos val="nextTo"/>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noFill/>
        <a:ln>
          <a:noFill/>
        </a:ln>
        <a:effectLst/>
      </c:spPr>
    </c:plotArea>
    <c:plotVisOnly val="1"/>
    <c:dispBlanksAs val="span"/>
  </c:chart>
  <c:spPr>
    <a:noFill/>
    <a:ln>
      <a:noFill/>
    </a:ln>
    <a:effectLst/>
  </c:spPr>
  <c:externalData r:id="rId1">
    <c:autoUpdate val="0"/>
  </c:externalData>
</c:chartSpace>
</file>

<file path=ppt/charts/chart14.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manualLayout>
          <c:layoutTarget val="inner"/>
          <c:xMode val="edge"/>
          <c:yMode val="edge"/>
          <c:x val="0"/>
          <c:y val="0"/>
          <c:w val="1"/>
          <c:h val="1"/>
        </c:manualLayout>
      </c:layout>
      <c:lineChart>
        <c:varyColors val="0"/>
        <c:ser>
          <c:idx val="0"/>
          <c:order val="0"/>
          <c:tx>
            <c:strRef>
              <c:f>Sheet1!$B$1</c:f>
              <c:strCache>
                <c:ptCount val="1"/>
                <c:pt idx="0">
                  <c:v>prior</c:v>
                </c:pt>
              </c:strCache>
            </c:strRef>
          </c:tx>
          <c:spPr>
            <a:solidFill>
              <a:srgbClr val="A6A6A6"/>
            </a:solidFill>
            <a:ln w="22225" cap="flat">
              <a:solidFill>
                <a:srgbClr val="A6A6A6"/>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none"/>
            <c:size val="6"/>
            <c:spPr>
              <a:solidFill>
                <a:srgbClr val="A6A6A6"/>
              </a:solidFill>
              <a:ln w="9525" cap="flat">
                <a:solidFill>
                  <a:srgbClr val="A6A6A6"/>
                </a:solidFill>
                <a:prstDash val="solid"/>
                <a:round/>
              </a:ln>
              <a:effectLst/>
            </c:spPr>
          </c:marker>
          <c:cat>
            <c:multiLvlStrRef>
              <c:f>Sheet1!$A$2:$A$10</c:f>
              <c:multiLvlStrCache>
                <c:ptCount val="9"/>
                <c:lvl>
                  <c:pt idx="0">
                    <c:v>1</c:v>
                  </c:pt>
                  <c:pt idx="1">
                    <c:v>2</c:v>
                  </c:pt>
                  <c:pt idx="2">
                    <c:v>3</c:v>
                  </c:pt>
                  <c:pt idx="3">
                    <c:v>4</c:v>
                  </c:pt>
                  <c:pt idx="4">
                    <c:v>5</c:v>
                  </c:pt>
                  <c:pt idx="5">
                    <c:v>6</c:v>
                  </c:pt>
                  <c:pt idx="6">
                    <c:v>7</c:v>
                  </c:pt>
                  <c:pt idx="7">
                    <c:v>8</c:v>
                  </c:pt>
                  <c:pt idx="8">
                    <c:v>9</c:v>
                  </c:pt>
                </c:lvl>
              </c:multiLvlStrCache>
            </c:multiLvlStrRef>
          </c:cat>
          <c:val>
            <c:numRef>
              <c:f>Sheet1!$B$2:$B$10</c:f>
              <c:numCache>
                <c:formatCode>General</c:formatCode>
                <c:ptCount val="9"/>
                <c:pt idx="0">
                  <c:v>548417.28</c:v>
                </c:pt>
                <c:pt idx="1">
                  <c:v>545274.66</c:v>
                </c:pt>
                <c:pt idx="2">
                  <c:v>605611.99</c:v>
                </c:pt>
                <c:pt idx="3">
                  <c:v>542256.23</c:v>
                </c:pt>
                <c:pt idx="4">
                  <c:v>678618.97</c:v>
                </c:pt>
                <c:pt idx="5">
                  <c:v>662986.98</c:v>
                </c:pt>
                <c:pt idx="6">
                  <c:v>675535.23</c:v>
                </c:pt>
                <c:pt idx="7">
                  <c:v>684367.38</c:v>
                </c:pt>
                <c:pt idx="8">
                  <c:v>608424.47</c:v>
                </c:pt>
              </c:numCache>
            </c:numRef>
          </c:val>
          <c:smooth val="0"/>
        </c:ser>
        <c:ser>
          <c:idx val="1"/>
          <c:order val="1"/>
          <c:tx>
            <c:strRef>
              <c:f>Sheet1!$C$1</c:f>
              <c:strCache>
                <c:ptCount val="1"/>
                <c:pt idx="0">
                  <c:v>cur</c:v>
                </c:pt>
              </c:strCache>
            </c:strRef>
          </c:tx>
          <c:spPr>
            <a:solidFill>
              <a:srgbClr val="A82B26"/>
            </a:solidFill>
            <a:ln w="22225" cap="flat">
              <a:solidFill>
                <a:srgbClr val="A82B26"/>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none"/>
            <c:size val="6"/>
            <c:spPr>
              <a:solidFill>
                <a:srgbClr val="A82B26"/>
              </a:solidFill>
              <a:ln w="9525" cap="flat">
                <a:solidFill>
                  <a:srgbClr val="A82B26"/>
                </a:solidFill>
                <a:prstDash val="solid"/>
                <a:round/>
              </a:ln>
              <a:effectLst/>
            </c:spPr>
          </c:marker>
          <c:cat>
            <c:multiLvlStrRef>
              <c:f>Sheet1!$A$2:$A$10</c:f>
              <c:multiLvlStrCache>
                <c:ptCount val="9"/>
                <c:lvl>
                  <c:pt idx="0">
                    <c:v>1</c:v>
                  </c:pt>
                  <c:pt idx="1">
                    <c:v>2</c:v>
                  </c:pt>
                  <c:pt idx="2">
                    <c:v>3</c:v>
                  </c:pt>
                  <c:pt idx="3">
                    <c:v>4</c:v>
                  </c:pt>
                  <c:pt idx="4">
                    <c:v>5</c:v>
                  </c:pt>
                  <c:pt idx="5">
                    <c:v>6</c:v>
                  </c:pt>
                  <c:pt idx="6">
                    <c:v>7</c:v>
                  </c:pt>
                  <c:pt idx="7">
                    <c:v>8</c:v>
                  </c:pt>
                  <c:pt idx="8">
                    <c:v>9</c:v>
                  </c:pt>
                </c:lvl>
              </c:multiLvlStrCache>
            </c:multiLvlStrRef>
          </c:cat>
          <c:val>
            <c:numRef>
              <c:f>Sheet1!$C$2:$C$10</c:f>
              <c:numCache>
                <c:formatCode>General</c:formatCode>
                <c:ptCount val="9"/>
                <c:pt idx="0">
                  <c:v>583117.07</c:v>
                </c:pt>
                <c:pt idx="1">
                  <c:v>477083.23</c:v>
                </c:pt>
                <c:pt idx="2">
                  <c:v>515173.79</c:v>
                </c:pt>
                <c:pt idx="3">
                  <c:v>519619.25</c:v>
                </c:pt>
                <c:pt idx="4">
                  <c:v>526372.95</c:v>
                </c:pt>
                <c:pt idx="5">
                  <c:v>562682.6900000001</c:v>
                </c:pt>
                <c:pt idx="6">
                  <c:v>573702.03</c:v>
                </c:pt>
                <c:pt idx="7">
                  <c:v>538592.21</c:v>
                </c:pt>
                <c:pt idx="8">
                  <c:v>493957.77</c:v>
                </c:pt>
              </c:numCache>
            </c:numRef>
          </c:val>
          <c:smooth val="0"/>
        </c:ser>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1"/>
        <c:axPos val="b"/>
        <c:numFmt formatCode="General" sourceLinked="1"/>
        <c:majorTickMark val="out"/>
        <c:minorTickMark val="none"/>
        <c:tickLblPos val="low"/>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2"/>
        <c:crosses val="autoZero"/>
        <c:auto val="1"/>
        <c:lblAlgn val="ctr"/>
        <c:noMultiLvlLbl val="1"/>
      </c:catAx>
      <c:valAx>
        <c:axId val="2094734552"/>
        <c:scaling>
          <c:orientation val="minMax"/>
          <c:max val="700950.112"/>
          <c:min val="460500.49799999996"/>
        </c:scaling>
        <c:delete val="1"/>
        <c:axPos val="l"/>
        <c:numFmt formatCode="General" sourceLinked="0"/>
        <c:majorTickMark val="out"/>
        <c:minorTickMark val="none"/>
        <c:tickLblPos val="nextTo"/>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noFill/>
        <a:ln>
          <a:noFill/>
        </a:ln>
        <a:effectLst/>
      </c:spPr>
    </c:plotArea>
    <c:plotVisOnly val="1"/>
    <c:dispBlanksAs val="span"/>
  </c:chart>
  <c:spPr>
    <a:noFill/>
    <a:ln>
      <a:noFill/>
    </a:ln>
    <a:effectLst/>
  </c:spPr>
  <c:externalData r:id="rId1">
    <c:autoUpdate val="0"/>
  </c:externalData>
</c:chartSpace>
</file>

<file path=ppt/charts/chart15.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manualLayout>
          <c:layoutTarget val="inner"/>
          <c:xMode val="edge"/>
          <c:yMode val="edge"/>
          <c:x val="0"/>
          <c:y val="0"/>
          <c:w val="1"/>
          <c:h val="1"/>
        </c:manualLayout>
      </c:layout>
      <c:lineChart>
        <c:varyColors val="0"/>
        <c:ser>
          <c:idx val="0"/>
          <c:order val="0"/>
          <c:tx>
            <c:strRef>
              <c:f>Sheet1!$B$1</c:f>
              <c:strCache>
                <c:ptCount val="1"/>
                <c:pt idx="0">
                  <c:v>prior</c:v>
                </c:pt>
              </c:strCache>
            </c:strRef>
          </c:tx>
          <c:spPr>
            <a:solidFill>
              <a:srgbClr val="A6A6A6"/>
            </a:solidFill>
            <a:ln w="22225" cap="flat">
              <a:solidFill>
                <a:srgbClr val="A6A6A6"/>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none"/>
            <c:size val="6"/>
            <c:spPr>
              <a:solidFill>
                <a:srgbClr val="A6A6A6"/>
              </a:solidFill>
              <a:ln w="9525" cap="flat">
                <a:solidFill>
                  <a:srgbClr val="A6A6A6"/>
                </a:solidFill>
                <a:prstDash val="solid"/>
                <a:round/>
              </a:ln>
              <a:effectLst/>
            </c:spPr>
          </c:marker>
          <c:cat>
            <c:multiLvlStrRef>
              <c:f>Sheet1!$A$2:$A$10</c:f>
              <c:multiLvlStrCache>
                <c:ptCount val="9"/>
                <c:lvl>
                  <c:pt idx="0">
                    <c:v>1</c:v>
                  </c:pt>
                  <c:pt idx="1">
                    <c:v>2</c:v>
                  </c:pt>
                  <c:pt idx="2">
                    <c:v>3</c:v>
                  </c:pt>
                  <c:pt idx="3">
                    <c:v>4</c:v>
                  </c:pt>
                  <c:pt idx="4">
                    <c:v>5</c:v>
                  </c:pt>
                  <c:pt idx="5">
                    <c:v>6</c:v>
                  </c:pt>
                  <c:pt idx="6">
                    <c:v>7</c:v>
                  </c:pt>
                  <c:pt idx="7">
                    <c:v>8</c:v>
                  </c:pt>
                  <c:pt idx="8">
                    <c:v>9</c:v>
                  </c:pt>
                </c:lvl>
              </c:multiLvlStrCache>
            </c:multiLvlStrRef>
          </c:cat>
          <c:val>
            <c:numRef>
              <c:f>Sheet1!$B$2:$B$10</c:f>
              <c:numCache>
                <c:formatCode>General</c:formatCode>
                <c:ptCount val="9"/>
                <c:pt idx="0">
                  <c:v>602429.89</c:v>
                </c:pt>
                <c:pt idx="1">
                  <c:v>528244.79</c:v>
                </c:pt>
                <c:pt idx="2">
                  <c:v>543139.92</c:v>
                </c:pt>
                <c:pt idx="3">
                  <c:v>574849.89</c:v>
                </c:pt>
                <c:pt idx="4">
                  <c:v>558181.46</c:v>
                </c:pt>
                <c:pt idx="5">
                  <c:v>599446.3400000001</c:v>
                </c:pt>
                <c:pt idx="6">
                  <c:v>598329.81</c:v>
                </c:pt>
                <c:pt idx="7">
                  <c:v>508799.77</c:v>
                </c:pt>
                <c:pt idx="8">
                  <c:v>466259.57000000007</c:v>
                </c:pt>
              </c:numCache>
            </c:numRef>
          </c:val>
          <c:smooth val="0"/>
        </c:ser>
        <c:ser>
          <c:idx val="1"/>
          <c:order val="1"/>
          <c:tx>
            <c:strRef>
              <c:f>Sheet1!$C$1</c:f>
              <c:strCache>
                <c:ptCount val="1"/>
                <c:pt idx="0">
                  <c:v>cur</c:v>
                </c:pt>
              </c:strCache>
            </c:strRef>
          </c:tx>
          <c:spPr>
            <a:solidFill>
              <a:srgbClr val="A82B26"/>
            </a:solidFill>
            <a:ln w="22225" cap="flat">
              <a:solidFill>
                <a:srgbClr val="A82B26"/>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none"/>
            <c:size val="6"/>
            <c:spPr>
              <a:solidFill>
                <a:srgbClr val="A82B26"/>
              </a:solidFill>
              <a:ln w="9525" cap="flat">
                <a:solidFill>
                  <a:srgbClr val="A82B26"/>
                </a:solidFill>
                <a:prstDash val="solid"/>
                <a:round/>
              </a:ln>
              <a:effectLst/>
            </c:spPr>
          </c:marker>
          <c:cat>
            <c:multiLvlStrRef>
              <c:f>Sheet1!$A$2:$A$10</c:f>
              <c:multiLvlStrCache>
                <c:ptCount val="9"/>
                <c:lvl>
                  <c:pt idx="0">
                    <c:v>1</c:v>
                  </c:pt>
                  <c:pt idx="1">
                    <c:v>2</c:v>
                  </c:pt>
                  <c:pt idx="2">
                    <c:v>3</c:v>
                  </c:pt>
                  <c:pt idx="3">
                    <c:v>4</c:v>
                  </c:pt>
                  <c:pt idx="4">
                    <c:v>5</c:v>
                  </c:pt>
                  <c:pt idx="5">
                    <c:v>6</c:v>
                  </c:pt>
                  <c:pt idx="6">
                    <c:v>7</c:v>
                  </c:pt>
                  <c:pt idx="7">
                    <c:v>8</c:v>
                  </c:pt>
                  <c:pt idx="8">
                    <c:v>9</c:v>
                  </c:pt>
                </c:lvl>
              </c:multiLvlStrCache>
            </c:multiLvlStrRef>
          </c:cat>
          <c:val>
            <c:numRef>
              <c:f>Sheet1!$C$2:$C$10</c:f>
              <c:numCache>
                <c:formatCode>General</c:formatCode>
                <c:ptCount val="9"/>
                <c:pt idx="0">
                  <c:v>505116.31999999995</c:v>
                </c:pt>
                <c:pt idx="1">
                  <c:v>425545.19</c:v>
                </c:pt>
                <c:pt idx="2">
                  <c:v>523117.75</c:v>
                </c:pt>
                <c:pt idx="3">
                  <c:v>472803.14</c:v>
                </c:pt>
                <c:pt idx="4">
                  <c:v>489370.4</c:v>
                </c:pt>
                <c:pt idx="5">
                  <c:v>563912.45</c:v>
                </c:pt>
                <c:pt idx="6">
                  <c:v>490899.11</c:v>
                </c:pt>
                <c:pt idx="7">
                  <c:v>527163.38</c:v>
                </c:pt>
                <c:pt idx="8">
                  <c:v>461908.64</c:v>
                </c:pt>
              </c:numCache>
            </c:numRef>
          </c:val>
          <c:smooth val="0"/>
        </c:ser>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1"/>
        <c:axPos val="b"/>
        <c:numFmt formatCode="General" sourceLinked="1"/>
        <c:majorTickMark val="out"/>
        <c:minorTickMark val="none"/>
        <c:tickLblPos val="low"/>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2"/>
        <c:crosses val="autoZero"/>
        <c:auto val="1"/>
        <c:lblAlgn val="ctr"/>
        <c:noMultiLvlLbl val="1"/>
      </c:catAx>
      <c:valAx>
        <c:axId val="2094734552"/>
        <c:scaling>
          <c:orientation val="minMax"/>
          <c:max val="616580.666"/>
          <c:min val="411394.414"/>
        </c:scaling>
        <c:delete val="1"/>
        <c:axPos val="l"/>
        <c:numFmt formatCode="General" sourceLinked="0"/>
        <c:majorTickMark val="out"/>
        <c:minorTickMark val="none"/>
        <c:tickLblPos val="nextTo"/>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noFill/>
        <a:ln>
          <a:noFill/>
        </a:ln>
        <a:effectLst/>
      </c:spPr>
    </c:plotArea>
    <c:plotVisOnly val="1"/>
    <c:dispBlanksAs val="span"/>
  </c:chart>
  <c:spPr>
    <a:noFill/>
    <a:ln>
      <a:noFill/>
    </a:ln>
    <a:effectLst/>
  </c:spPr>
  <c:externalData r:id="rId1">
    <c:autoUpdate val="0"/>
  </c:externalData>
</c:chartSpace>
</file>

<file path=ppt/charts/chart16.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manualLayout>
          <c:layoutTarget val="inner"/>
          <c:xMode val="edge"/>
          <c:yMode val="edge"/>
          <c:x val="0"/>
          <c:y val="0"/>
          <c:w val="1"/>
          <c:h val="1"/>
        </c:manualLayout>
      </c:layout>
      <c:lineChart>
        <c:varyColors val="0"/>
        <c:ser>
          <c:idx val="0"/>
          <c:order val="0"/>
          <c:tx>
            <c:strRef>
              <c:f>Sheet1!$B$1</c:f>
              <c:strCache>
                <c:ptCount val="1"/>
                <c:pt idx="0">
                  <c:v>prior</c:v>
                </c:pt>
              </c:strCache>
            </c:strRef>
          </c:tx>
          <c:spPr>
            <a:solidFill>
              <a:srgbClr val="A6A6A6"/>
            </a:solidFill>
            <a:ln w="22225" cap="flat">
              <a:solidFill>
                <a:srgbClr val="A6A6A6"/>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none"/>
            <c:size val="6"/>
            <c:spPr>
              <a:solidFill>
                <a:srgbClr val="A6A6A6"/>
              </a:solidFill>
              <a:ln w="9525" cap="flat">
                <a:solidFill>
                  <a:srgbClr val="A6A6A6"/>
                </a:solidFill>
                <a:prstDash val="solid"/>
                <a:round/>
              </a:ln>
              <a:effectLst/>
            </c:spPr>
          </c:marker>
          <c:cat>
            <c:multiLvlStrRef>
              <c:f>Sheet1!$A$2:$A$10</c:f>
              <c:multiLvlStrCache>
                <c:ptCount val="9"/>
                <c:lvl>
                  <c:pt idx="0">
                    <c:v>1</c:v>
                  </c:pt>
                  <c:pt idx="1">
                    <c:v>2</c:v>
                  </c:pt>
                  <c:pt idx="2">
                    <c:v>3</c:v>
                  </c:pt>
                  <c:pt idx="3">
                    <c:v>4</c:v>
                  </c:pt>
                  <c:pt idx="4">
                    <c:v>5</c:v>
                  </c:pt>
                  <c:pt idx="5">
                    <c:v>6</c:v>
                  </c:pt>
                  <c:pt idx="6">
                    <c:v>7</c:v>
                  </c:pt>
                  <c:pt idx="7">
                    <c:v>8</c:v>
                  </c:pt>
                  <c:pt idx="8">
                    <c:v>9</c:v>
                  </c:pt>
                </c:lvl>
              </c:multiLvlStrCache>
            </c:multiLvlStrRef>
          </c:cat>
          <c:val>
            <c:numRef>
              <c:f>Sheet1!$B$2:$B$10</c:f>
              <c:numCache>
                <c:formatCode>General</c:formatCode>
                <c:ptCount val="9"/>
                <c:pt idx="0">
                  <c:v>967920.61</c:v>
                </c:pt>
                <c:pt idx="1">
                  <c:v>1023151.2</c:v>
                </c:pt>
                <c:pt idx="2">
                  <c:v>1114411.58</c:v>
                </c:pt>
                <c:pt idx="3">
                  <c:v>1115767.1</c:v>
                </c:pt>
                <c:pt idx="4">
                  <c:v>1023812.82</c:v>
                </c:pt>
                <c:pt idx="5">
                  <c:v>1082853.6099999999</c:v>
                </c:pt>
                <c:pt idx="6">
                  <c:v>1152022.0899999999</c:v>
                </c:pt>
                <c:pt idx="7">
                  <c:v>1064155.92</c:v>
                </c:pt>
                <c:pt idx="8">
                  <c:v>912177.99</c:v>
                </c:pt>
              </c:numCache>
            </c:numRef>
          </c:val>
          <c:smooth val="0"/>
        </c:ser>
        <c:ser>
          <c:idx val="1"/>
          <c:order val="1"/>
          <c:tx>
            <c:strRef>
              <c:f>Sheet1!$C$1</c:f>
              <c:strCache>
                <c:ptCount val="1"/>
                <c:pt idx="0">
                  <c:v>cur</c:v>
                </c:pt>
              </c:strCache>
            </c:strRef>
          </c:tx>
          <c:spPr>
            <a:solidFill>
              <a:srgbClr val="A82B26"/>
            </a:solidFill>
            <a:ln w="22225" cap="flat">
              <a:solidFill>
                <a:srgbClr val="A82B26"/>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none"/>
            <c:size val="6"/>
            <c:spPr>
              <a:solidFill>
                <a:srgbClr val="A82B26"/>
              </a:solidFill>
              <a:ln w="9525" cap="flat">
                <a:solidFill>
                  <a:srgbClr val="A82B26"/>
                </a:solidFill>
                <a:prstDash val="solid"/>
                <a:round/>
              </a:ln>
              <a:effectLst/>
            </c:spPr>
          </c:marker>
          <c:cat>
            <c:multiLvlStrRef>
              <c:f>Sheet1!$A$2:$A$10</c:f>
              <c:multiLvlStrCache>
                <c:ptCount val="9"/>
                <c:lvl>
                  <c:pt idx="0">
                    <c:v>1</c:v>
                  </c:pt>
                  <c:pt idx="1">
                    <c:v>2</c:v>
                  </c:pt>
                  <c:pt idx="2">
                    <c:v>3</c:v>
                  </c:pt>
                  <c:pt idx="3">
                    <c:v>4</c:v>
                  </c:pt>
                  <c:pt idx="4">
                    <c:v>5</c:v>
                  </c:pt>
                  <c:pt idx="5">
                    <c:v>6</c:v>
                  </c:pt>
                  <c:pt idx="6">
                    <c:v>7</c:v>
                  </c:pt>
                  <c:pt idx="7">
                    <c:v>8</c:v>
                  </c:pt>
                  <c:pt idx="8">
                    <c:v>9</c:v>
                  </c:pt>
                </c:lvl>
              </c:multiLvlStrCache>
            </c:multiLvlStrRef>
          </c:cat>
          <c:val>
            <c:numRef>
              <c:f>Sheet1!$C$2:$C$10</c:f>
              <c:numCache>
                <c:formatCode>General</c:formatCode>
                <c:ptCount val="9"/>
                <c:pt idx="0">
                  <c:v>871632.61</c:v>
                </c:pt>
                <c:pt idx="1">
                  <c:v>837180.61</c:v>
                </c:pt>
                <c:pt idx="2">
                  <c:v>938652.87</c:v>
                </c:pt>
                <c:pt idx="3">
                  <c:v>935728.03</c:v>
                </c:pt>
                <c:pt idx="4">
                  <c:v>926666.1399999999</c:v>
                </c:pt>
                <c:pt idx="5">
                  <c:v>1030137.8499999999</c:v>
                </c:pt>
                <c:pt idx="6">
                  <c:v>979647.22</c:v>
                </c:pt>
                <c:pt idx="7">
                  <c:v>1033811.8300000001</c:v>
                </c:pt>
                <c:pt idx="8">
                  <c:v>1062924.72</c:v>
                </c:pt>
              </c:numCache>
            </c:numRef>
          </c:val>
          <c:smooth val="0"/>
        </c:ser>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1"/>
        <c:axPos val="b"/>
        <c:numFmt formatCode="General" sourceLinked="1"/>
        <c:majorTickMark val="out"/>
        <c:minorTickMark val="none"/>
        <c:tickLblPos val="low"/>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2"/>
        <c:crosses val="autoZero"/>
        <c:auto val="1"/>
        <c:lblAlgn val="ctr"/>
        <c:noMultiLvlLbl val="1"/>
      </c:catAx>
      <c:valAx>
        <c:axId val="2094734552"/>
        <c:scaling>
          <c:orientation val="minMax"/>
          <c:max val="1177209.4083999998"/>
          <c:min val="811993.2916"/>
        </c:scaling>
        <c:delete val="1"/>
        <c:axPos val="l"/>
        <c:numFmt formatCode="General" sourceLinked="0"/>
        <c:majorTickMark val="out"/>
        <c:minorTickMark val="none"/>
        <c:tickLblPos val="nextTo"/>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noFill/>
        <a:ln>
          <a:noFill/>
        </a:ln>
        <a:effectLst/>
      </c:spPr>
    </c:plotArea>
    <c:plotVisOnly val="1"/>
    <c:dispBlanksAs val="span"/>
  </c:chart>
  <c:spPr>
    <a:noFill/>
    <a:ln>
      <a:noFill/>
    </a:ln>
    <a:effectLst/>
  </c:spPr>
  <c:externalData r:id="rId1">
    <c:autoUpdate val="0"/>
  </c:externalData>
</c:chartSpace>
</file>

<file path=ppt/charts/chart17.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manualLayout>
          <c:layoutTarget val="inner"/>
          <c:xMode val="edge"/>
          <c:yMode val="edge"/>
          <c:x val="0"/>
          <c:y val="0"/>
          <c:w val="1"/>
          <c:h val="1"/>
        </c:manualLayout>
      </c:layout>
      <c:lineChart>
        <c:varyColors val="0"/>
        <c:ser>
          <c:idx val="0"/>
          <c:order val="0"/>
          <c:tx>
            <c:strRef>
              <c:f>Sheet1!$B$1</c:f>
              <c:strCache>
                <c:ptCount val="1"/>
                <c:pt idx="0">
                  <c:v>cur</c:v>
                </c:pt>
              </c:strCache>
            </c:strRef>
          </c:tx>
          <c:spPr>
            <a:solidFill>
              <a:srgbClr val="0B7A4A"/>
            </a:solidFill>
            <a:ln w="22225" cap="flat">
              <a:solidFill>
                <a:srgbClr val="0B7A4A"/>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none"/>
            <c:size val="6"/>
            <c:spPr>
              <a:solidFill>
                <a:srgbClr val="0B7A4A"/>
              </a:solidFill>
              <a:ln w="9525" cap="flat">
                <a:solidFill>
                  <a:srgbClr val="0B7A4A"/>
                </a:solidFill>
                <a:prstDash val="solid"/>
                <a:round/>
              </a:ln>
              <a:effectLst/>
            </c:spPr>
          </c:marker>
          <c:cat>
            <c:multiLvlStrRef>
              <c:f>Sheet1!$A$2:$A$10</c:f>
              <c:multiLvlStrCache>
                <c:ptCount val="9"/>
                <c:lvl>
                  <c:pt idx="0">
                    <c:v>1</c:v>
                  </c:pt>
                  <c:pt idx="1">
                    <c:v>2</c:v>
                  </c:pt>
                  <c:pt idx="2">
                    <c:v>3</c:v>
                  </c:pt>
                  <c:pt idx="3">
                    <c:v>4</c:v>
                  </c:pt>
                  <c:pt idx="4">
                    <c:v>5</c:v>
                  </c:pt>
                  <c:pt idx="5">
                    <c:v>6</c:v>
                  </c:pt>
                  <c:pt idx="6">
                    <c:v>7</c:v>
                  </c:pt>
                  <c:pt idx="7">
                    <c:v>8</c:v>
                  </c:pt>
                  <c:pt idx="8">
                    <c:v>9</c:v>
                  </c:pt>
                </c:lvl>
              </c:multiLvlStrCache>
            </c:multiLvlStrRef>
          </c:cat>
          <c:val>
            <c:numRef>
              <c:f>Sheet1!$B$2:$B$10</c:f>
              <c:numCache>
                <c:formatCode>General</c:formatCode>
                <c:ptCount val="9"/>
                <c:pt idx="0">
                  <c:v>312195.81</c:v>
                </c:pt>
                <c:pt idx="1">
                  <c:v>244144.63</c:v>
                </c:pt>
                <c:pt idx="2">
                  <c:v>383242.66000000003</c:v>
                </c:pt>
                <c:pt idx="3">
                  <c:v>370587.38</c:v>
                </c:pt>
                <c:pt idx="4">
                  <c:v>346514.70999999996</c:v>
                </c:pt>
                <c:pt idx="5">
                  <c:v>373696.75</c:v>
                </c:pt>
                <c:pt idx="6">
                  <c:v>354810.52</c:v>
                </c:pt>
                <c:pt idx="7">
                  <c:v>417024.20999999996</c:v>
                </c:pt>
                <c:pt idx="8">
                  <c:v>502806.28</c:v>
                </c:pt>
              </c:numCache>
            </c:numRef>
          </c:val>
          <c:smooth val="0"/>
        </c:ser>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1"/>
        <c:axPos val="b"/>
        <c:numFmt formatCode="General" sourceLinked="1"/>
        <c:majorTickMark val="out"/>
        <c:minorTickMark val="none"/>
        <c:tickLblPos val="low"/>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2"/>
        <c:crosses val="autoZero"/>
        <c:auto val="1"/>
        <c:lblAlgn val="ctr"/>
        <c:noMultiLvlLbl val="1"/>
      </c:catAx>
      <c:valAx>
        <c:axId val="2094734552"/>
        <c:scaling>
          <c:orientation val="minMax"/>
          <c:max val="523499.21200000006"/>
          <c:min val="223451.698"/>
        </c:scaling>
        <c:delete val="1"/>
        <c:axPos val="l"/>
        <c:numFmt formatCode="General" sourceLinked="0"/>
        <c:majorTickMark val="out"/>
        <c:minorTickMark val="none"/>
        <c:tickLblPos val="nextTo"/>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noFill/>
        <a:ln>
          <a:noFill/>
        </a:ln>
        <a:effectLst/>
      </c:spPr>
    </c:plotArea>
    <c:plotVisOnly val="1"/>
    <c:dispBlanksAs val="span"/>
  </c:chart>
  <c:spPr>
    <a:noFill/>
    <a:ln>
      <a:noFill/>
    </a:ln>
    <a:effectLst/>
  </c:spPr>
  <c:externalData r:id="rId1">
    <c:autoUpdate val="0"/>
  </c:externalData>
</c:chartSpace>
</file>

<file path=ppt/charts/chart18.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manualLayout>
          <c:layoutTarget val="inner"/>
          <c:xMode val="edge"/>
          <c:yMode val="edge"/>
          <c:x val="0"/>
          <c:y val="0"/>
          <c:w val="1"/>
          <c:h val="1"/>
        </c:manualLayout>
      </c:layout>
      <c:lineChart>
        <c:varyColors val="0"/>
        <c:ser>
          <c:idx val="0"/>
          <c:order val="0"/>
          <c:tx>
            <c:strRef>
              <c:f>Sheet1!$B$1</c:f>
              <c:strCache>
                <c:ptCount val="1"/>
                <c:pt idx="0">
                  <c:v>cur</c:v>
                </c:pt>
              </c:strCache>
            </c:strRef>
          </c:tx>
          <c:spPr>
            <a:solidFill>
              <a:srgbClr val="0B7A4A"/>
            </a:solidFill>
            <a:ln w="22225" cap="flat">
              <a:solidFill>
                <a:srgbClr val="0B7A4A"/>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none"/>
            <c:size val="6"/>
            <c:spPr>
              <a:solidFill>
                <a:srgbClr val="0B7A4A"/>
              </a:solidFill>
              <a:ln w="9525" cap="flat">
                <a:solidFill>
                  <a:srgbClr val="0B7A4A"/>
                </a:solidFill>
                <a:prstDash val="solid"/>
                <a:round/>
              </a:ln>
              <a:effectLst/>
            </c:spPr>
          </c:marker>
          <c:cat>
            <c:multiLvlStrRef>
              <c:f>Sheet1!$A$2:$A$10</c:f>
              <c:multiLvlStrCache>
                <c:ptCount val="9"/>
                <c:lvl>
                  <c:pt idx="0">
                    <c:v>1</c:v>
                  </c:pt>
                  <c:pt idx="1">
                    <c:v>2</c:v>
                  </c:pt>
                  <c:pt idx="2">
                    <c:v>3</c:v>
                  </c:pt>
                  <c:pt idx="3">
                    <c:v>4</c:v>
                  </c:pt>
                  <c:pt idx="4">
                    <c:v>5</c:v>
                  </c:pt>
                  <c:pt idx="5">
                    <c:v>6</c:v>
                  </c:pt>
                  <c:pt idx="6">
                    <c:v>7</c:v>
                  </c:pt>
                  <c:pt idx="7">
                    <c:v>8</c:v>
                  </c:pt>
                  <c:pt idx="8">
                    <c:v>9</c:v>
                  </c:pt>
                </c:lvl>
              </c:multiLvlStrCache>
            </c:multiLvlStrRef>
          </c:cat>
          <c:val>
            <c:numRef>
              <c:f>Sheet1!$B$2:$B$10</c:f>
              <c:numCache>
                <c:formatCode>General</c:formatCode>
                <c:ptCount val="9"/>
                <c:pt idx="0">
                  <c:v>220126.35</c:v>
                </c:pt>
                <c:pt idx="1">
                  <c:v>225929.27000000002</c:v>
                </c:pt>
                <c:pt idx="2">
                  <c:v>235264.43</c:v>
                </c:pt>
                <c:pt idx="3">
                  <c:v>268052.81</c:v>
                </c:pt>
                <c:pt idx="4">
                  <c:v>236399.33000000002</c:v>
                </c:pt>
                <c:pt idx="5">
                  <c:v>246286.1</c:v>
                </c:pt>
                <c:pt idx="6">
                  <c:v>321089.49</c:v>
                </c:pt>
                <c:pt idx="7">
                  <c:v>286186.58</c:v>
                </c:pt>
                <c:pt idx="8">
                  <c:v>296614.76</c:v>
                </c:pt>
              </c:numCache>
            </c:numRef>
          </c:val>
          <c:smooth val="0"/>
        </c:ser>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1"/>
        <c:axPos val="b"/>
        <c:numFmt formatCode="General" sourceLinked="1"/>
        <c:majorTickMark val="out"/>
        <c:minorTickMark val="none"/>
        <c:tickLblPos val="low"/>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2"/>
        <c:crosses val="autoZero"/>
        <c:auto val="1"/>
        <c:lblAlgn val="ctr"/>
        <c:noMultiLvlLbl val="1"/>
      </c:catAx>
      <c:valAx>
        <c:axId val="2094734552"/>
        <c:scaling>
          <c:orientation val="minMax"/>
          <c:max val="329166.5412"/>
          <c:min val="212049.29880000002"/>
        </c:scaling>
        <c:delete val="1"/>
        <c:axPos val="l"/>
        <c:numFmt formatCode="General" sourceLinked="0"/>
        <c:majorTickMark val="out"/>
        <c:minorTickMark val="none"/>
        <c:tickLblPos val="nextTo"/>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noFill/>
        <a:ln>
          <a:noFill/>
        </a:ln>
        <a:effectLst/>
      </c:spPr>
    </c:plotArea>
    <c:plotVisOnly val="1"/>
    <c:dispBlanksAs val="span"/>
  </c:chart>
  <c:spPr>
    <a:noFill/>
    <a:ln>
      <a:noFill/>
    </a:ln>
    <a:effectLst/>
  </c:spPr>
  <c:externalData r:id="rId1">
    <c:autoUpdate val="0"/>
  </c:externalData>
</c:chartSpace>
</file>

<file path=ppt/charts/chart19.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manualLayout>
          <c:layoutTarget val="inner"/>
          <c:xMode val="edge"/>
          <c:yMode val="edge"/>
          <c:x val="0"/>
          <c:y val="0"/>
          <c:w val="1"/>
          <c:h val="1"/>
        </c:manualLayout>
      </c:layout>
      <c:lineChart>
        <c:varyColors val="0"/>
        <c:ser>
          <c:idx val="0"/>
          <c:order val="0"/>
          <c:tx>
            <c:strRef>
              <c:f>Sheet1!$B$1</c:f>
              <c:strCache>
                <c:ptCount val="1"/>
                <c:pt idx="0">
                  <c:v>cur</c:v>
                </c:pt>
              </c:strCache>
            </c:strRef>
          </c:tx>
          <c:spPr>
            <a:solidFill>
              <a:srgbClr val="0B7A4A"/>
            </a:solidFill>
            <a:ln w="22225" cap="flat">
              <a:solidFill>
                <a:srgbClr val="0B7A4A"/>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none"/>
            <c:size val="6"/>
            <c:spPr>
              <a:solidFill>
                <a:srgbClr val="0B7A4A"/>
              </a:solidFill>
              <a:ln w="9525" cap="flat">
                <a:solidFill>
                  <a:srgbClr val="0B7A4A"/>
                </a:solidFill>
                <a:prstDash val="solid"/>
                <a:round/>
              </a:ln>
              <a:effectLst/>
            </c:spPr>
          </c:marker>
          <c:cat>
            <c:multiLvlStrRef>
              <c:f>Sheet1!$A$2:$A$10</c:f>
              <c:multiLvlStrCache>
                <c:ptCount val="9"/>
                <c:lvl>
                  <c:pt idx="0">
                    <c:v>1</c:v>
                  </c:pt>
                  <c:pt idx="1">
                    <c:v>2</c:v>
                  </c:pt>
                  <c:pt idx="2">
                    <c:v>3</c:v>
                  </c:pt>
                  <c:pt idx="3">
                    <c:v>4</c:v>
                  </c:pt>
                  <c:pt idx="4">
                    <c:v>5</c:v>
                  </c:pt>
                  <c:pt idx="5">
                    <c:v>6</c:v>
                  </c:pt>
                  <c:pt idx="6">
                    <c:v>7</c:v>
                  </c:pt>
                  <c:pt idx="7">
                    <c:v>8</c:v>
                  </c:pt>
                  <c:pt idx="8">
                    <c:v>9</c:v>
                  </c:pt>
                </c:lvl>
              </c:multiLvlStrCache>
            </c:multiLvlStrRef>
          </c:cat>
          <c:val>
            <c:numRef>
              <c:f>Sheet1!$B$2:$B$10</c:f>
              <c:numCache>
                <c:formatCode>General</c:formatCode>
                <c:ptCount val="9"/>
                <c:pt idx="0">
                  <c:v>319902.05</c:v>
                </c:pt>
                <c:pt idx="1">
                  <c:v>332719.38</c:v>
                </c:pt>
                <c:pt idx="2">
                  <c:v>344373.8</c:v>
                </c:pt>
                <c:pt idx="3">
                  <c:v>411838.2</c:v>
                </c:pt>
                <c:pt idx="4">
                  <c:v>359315.94</c:v>
                </c:pt>
                <c:pt idx="5">
                  <c:v>360807.55</c:v>
                </c:pt>
                <c:pt idx="6">
                  <c:v>433946.57999999996</c:v>
                </c:pt>
                <c:pt idx="7">
                  <c:v>424949.79000000004</c:v>
                </c:pt>
                <c:pt idx="8">
                  <c:v>428298.29</c:v>
                </c:pt>
              </c:numCache>
            </c:numRef>
          </c:val>
          <c:smooth val="0"/>
        </c:ser>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1"/>
        <c:axPos val="b"/>
        <c:numFmt formatCode="General" sourceLinked="1"/>
        <c:majorTickMark val="out"/>
        <c:minorTickMark val="none"/>
        <c:tickLblPos val="low"/>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2"/>
        <c:crosses val="autoZero"/>
        <c:auto val="1"/>
        <c:lblAlgn val="ctr"/>
        <c:noMultiLvlLbl val="1"/>
      </c:catAx>
      <c:valAx>
        <c:axId val="2094734552"/>
        <c:scaling>
          <c:orientation val="minMax"/>
          <c:max val="443070.14239999995"/>
          <c:min val="310778.4876"/>
        </c:scaling>
        <c:delete val="1"/>
        <c:axPos val="l"/>
        <c:numFmt formatCode="General" sourceLinked="0"/>
        <c:majorTickMark val="out"/>
        <c:minorTickMark val="none"/>
        <c:tickLblPos val="nextTo"/>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noFill/>
        <a:ln>
          <a:noFill/>
        </a:ln>
        <a:effectLst/>
      </c:spPr>
    </c:plotArea>
    <c:plotVisOnly val="1"/>
    <c:dispBlanksAs val="span"/>
  </c:chart>
  <c:spPr>
    <a:noFill/>
    <a:ln>
      <a:noFill/>
    </a:ln>
    <a:effectLst/>
  </c:spPr>
  <c:externalData r:id="rId1">
    <c:autoUpdate val="0"/>
  </c:externalData>
</c:chartSpace>
</file>

<file path=ppt/charts/chart20.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manualLayout>
          <c:layoutTarget val="inner"/>
          <c:xMode val="edge"/>
          <c:yMode val="edge"/>
          <c:x val="0"/>
          <c:y val="0"/>
          <c:w val="1"/>
          <c:h val="1"/>
        </c:manualLayout>
      </c:layout>
      <c:lineChart>
        <c:varyColors val="0"/>
        <c:ser>
          <c:idx val="0"/>
          <c:order val="0"/>
          <c:tx>
            <c:strRef>
              <c:f>Sheet1!$B$1</c:f>
              <c:strCache>
                <c:ptCount val="1"/>
                <c:pt idx="0">
                  <c:v>cur</c:v>
                </c:pt>
              </c:strCache>
            </c:strRef>
          </c:tx>
          <c:spPr>
            <a:solidFill>
              <a:srgbClr val="0B7A4A"/>
            </a:solidFill>
            <a:ln w="22225" cap="flat">
              <a:solidFill>
                <a:srgbClr val="0B7A4A"/>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none"/>
            <c:size val="6"/>
            <c:spPr>
              <a:solidFill>
                <a:srgbClr val="0B7A4A"/>
              </a:solidFill>
              <a:ln w="9525" cap="flat">
                <a:solidFill>
                  <a:srgbClr val="0B7A4A"/>
                </a:solidFill>
                <a:prstDash val="solid"/>
                <a:round/>
              </a:ln>
              <a:effectLst/>
            </c:spPr>
          </c:marker>
          <c:cat>
            <c:multiLvlStrRef>
              <c:f>Sheet1!$A$2:$A$10</c:f>
              <c:multiLvlStrCache>
                <c:ptCount val="9"/>
                <c:lvl>
                  <c:pt idx="0">
                    <c:v>1</c:v>
                  </c:pt>
                  <c:pt idx="1">
                    <c:v>2</c:v>
                  </c:pt>
                  <c:pt idx="2">
                    <c:v>3</c:v>
                  </c:pt>
                  <c:pt idx="3">
                    <c:v>4</c:v>
                  </c:pt>
                  <c:pt idx="4">
                    <c:v>5</c:v>
                  </c:pt>
                  <c:pt idx="5">
                    <c:v>6</c:v>
                  </c:pt>
                  <c:pt idx="6">
                    <c:v>7</c:v>
                  </c:pt>
                  <c:pt idx="7">
                    <c:v>8</c:v>
                  </c:pt>
                  <c:pt idx="8">
                    <c:v>9</c:v>
                  </c:pt>
                </c:lvl>
              </c:multiLvlStrCache>
            </c:multiLvlStrRef>
          </c:cat>
          <c:val>
            <c:numRef>
              <c:f>Sheet1!$B$2:$B$10</c:f>
              <c:numCache>
                <c:formatCode>General</c:formatCode>
                <c:ptCount val="9"/>
                <c:pt idx="0">
                  <c:v>386437.18000000005</c:v>
                </c:pt>
                <c:pt idx="1">
                  <c:v>337833.08</c:v>
                </c:pt>
                <c:pt idx="2">
                  <c:v>366915.45999999996</c:v>
                </c:pt>
                <c:pt idx="3">
                  <c:v>331751.27</c:v>
                </c:pt>
                <c:pt idx="4">
                  <c:v>365252.67</c:v>
                </c:pt>
                <c:pt idx="5">
                  <c:v>420496.47</c:v>
                </c:pt>
                <c:pt idx="6">
                  <c:v>481008.81</c:v>
                </c:pt>
                <c:pt idx="7">
                  <c:v>465497.61</c:v>
                </c:pt>
                <c:pt idx="8">
                  <c:v>397956.2</c:v>
                </c:pt>
              </c:numCache>
            </c:numRef>
          </c:val>
          <c:smooth val="0"/>
        </c:ser>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1"/>
        <c:axPos val="b"/>
        <c:numFmt formatCode="General" sourceLinked="1"/>
        <c:majorTickMark val="out"/>
        <c:minorTickMark val="none"/>
        <c:tickLblPos val="low"/>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2"/>
        <c:crosses val="autoZero"/>
        <c:auto val="1"/>
        <c:lblAlgn val="ctr"/>
        <c:noMultiLvlLbl val="1"/>
      </c:catAx>
      <c:valAx>
        <c:axId val="2094734552"/>
        <c:scaling>
          <c:orientation val="minMax"/>
          <c:max val="492949.4132"/>
          <c:min val="319810.6668"/>
        </c:scaling>
        <c:delete val="1"/>
        <c:axPos val="l"/>
        <c:numFmt formatCode="General" sourceLinked="0"/>
        <c:majorTickMark val="out"/>
        <c:minorTickMark val="none"/>
        <c:tickLblPos val="nextTo"/>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noFill/>
        <a:ln>
          <a:noFill/>
        </a:ln>
        <a:effectLst/>
      </c:spPr>
    </c:plotArea>
    <c:plotVisOnly val="1"/>
    <c:dispBlanksAs val="span"/>
  </c:chart>
  <c:spPr>
    <a:noFill/>
    <a:ln>
      <a:noFill/>
    </a:ln>
    <a:effectLst/>
  </c:spPr>
  <c:externalData r:id="rId1">
    <c:autoUpdate val="0"/>
  </c:externalData>
</c:chartSpace>
</file>

<file path=ppt/charts/chart21.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manualLayout>
          <c:layoutTarget val="inner"/>
          <c:xMode val="edge"/>
          <c:yMode val="edge"/>
          <c:x val="0"/>
          <c:y val="0"/>
          <c:w val="1"/>
          <c:h val="1"/>
        </c:manualLayout>
      </c:layout>
      <c:lineChart>
        <c:varyColors val="0"/>
        <c:ser>
          <c:idx val="0"/>
          <c:order val="0"/>
          <c:tx>
            <c:strRef>
              <c:f>Sheet1!$B$1</c:f>
              <c:strCache>
                <c:ptCount val="1"/>
                <c:pt idx="0">
                  <c:v>cur</c:v>
                </c:pt>
              </c:strCache>
            </c:strRef>
          </c:tx>
          <c:spPr>
            <a:solidFill>
              <a:srgbClr val="0B7A4A"/>
            </a:solidFill>
            <a:ln w="22225" cap="flat">
              <a:solidFill>
                <a:srgbClr val="0B7A4A"/>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none"/>
            <c:size val="6"/>
            <c:spPr>
              <a:solidFill>
                <a:srgbClr val="0B7A4A"/>
              </a:solidFill>
              <a:ln w="9525" cap="flat">
                <a:solidFill>
                  <a:srgbClr val="0B7A4A"/>
                </a:solidFill>
                <a:prstDash val="solid"/>
                <a:round/>
              </a:ln>
              <a:effectLst/>
            </c:spPr>
          </c:marker>
          <c:cat>
            <c:multiLvlStrRef>
              <c:f>Sheet1!$A$2:$A$10</c:f>
              <c:multiLvlStrCache>
                <c:ptCount val="9"/>
                <c:lvl>
                  <c:pt idx="0">
                    <c:v>1</c:v>
                  </c:pt>
                  <c:pt idx="1">
                    <c:v>2</c:v>
                  </c:pt>
                  <c:pt idx="2">
                    <c:v>3</c:v>
                  </c:pt>
                  <c:pt idx="3">
                    <c:v>4</c:v>
                  </c:pt>
                  <c:pt idx="4">
                    <c:v>5</c:v>
                  </c:pt>
                  <c:pt idx="5">
                    <c:v>6</c:v>
                  </c:pt>
                  <c:pt idx="6">
                    <c:v>7</c:v>
                  </c:pt>
                  <c:pt idx="7">
                    <c:v>8</c:v>
                  </c:pt>
                  <c:pt idx="8">
                    <c:v>9</c:v>
                  </c:pt>
                </c:lvl>
              </c:multiLvlStrCache>
            </c:multiLvlStrRef>
          </c:cat>
          <c:val>
            <c:numRef>
              <c:f>Sheet1!$B$2:$B$10</c:f>
              <c:numCache>
                <c:formatCode>General</c:formatCode>
                <c:ptCount val="9"/>
                <c:pt idx="0">
                  <c:v>122685.44</c:v>
                </c:pt>
                <c:pt idx="1">
                  <c:v>170274.09</c:v>
                </c:pt>
                <c:pt idx="2">
                  <c:v>181574.05</c:v>
                </c:pt>
                <c:pt idx="3">
                  <c:v>159002.65</c:v>
                </c:pt>
                <c:pt idx="4">
                  <c:v>158555.92</c:v>
                </c:pt>
                <c:pt idx="5">
                  <c:v>177958.81</c:v>
                </c:pt>
                <c:pt idx="6">
                  <c:v>206377.29</c:v>
                </c:pt>
                <c:pt idx="7">
                  <c:v>179348.7</c:v>
                </c:pt>
                <c:pt idx="8">
                  <c:v>179494.38</c:v>
                </c:pt>
              </c:numCache>
            </c:numRef>
          </c:val>
          <c:smooth val="0"/>
        </c:ser>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1"/>
        <c:axPos val="b"/>
        <c:numFmt formatCode="General" sourceLinked="1"/>
        <c:majorTickMark val="out"/>
        <c:minorTickMark val="none"/>
        <c:tickLblPos val="low"/>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2"/>
        <c:crosses val="autoZero"/>
        <c:auto val="1"/>
        <c:lblAlgn val="ctr"/>
        <c:noMultiLvlLbl val="1"/>
      </c:catAx>
      <c:valAx>
        <c:axId val="2094734552"/>
        <c:scaling>
          <c:orientation val="minMax"/>
          <c:max val="213072.638"/>
          <c:min val="115990.092"/>
        </c:scaling>
        <c:delete val="1"/>
        <c:axPos val="l"/>
        <c:numFmt formatCode="General" sourceLinked="0"/>
        <c:majorTickMark val="out"/>
        <c:minorTickMark val="none"/>
        <c:tickLblPos val="nextTo"/>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noFill/>
        <a:ln>
          <a:noFill/>
        </a:ln>
        <a:effectLst/>
      </c:spPr>
    </c:plotArea>
    <c:plotVisOnly val="1"/>
    <c:dispBlanksAs val="span"/>
  </c:chart>
  <c:spPr>
    <a:noFill/>
    <a:ln>
      <a:noFill/>
    </a:ln>
    <a:effectLst/>
  </c:spPr>
  <c:externalData r:id="rId1">
    <c:autoUpdate val="0"/>
  </c:externalData>
</c:chartSpace>
</file>

<file path=ppt/charts/chart27.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manualLayout>
          <c:layoutTarget val="inner"/>
          <c:xMode val="edge"/>
          <c:yMode val="edge"/>
          <c:x val="0"/>
          <c:y val="0"/>
          <c:w val="1"/>
          <c:h val="1"/>
        </c:manualLayout>
      </c:layout>
      <c:lineChart>
        <c:varyColors val="0"/>
        <c:ser>
          <c:idx val="0"/>
          <c:order val="0"/>
          <c:tx>
            <c:strRef>
              <c:f>Sheet1!$B$1</c:f>
              <c:strCache>
                <c:ptCount val="1"/>
                <c:pt idx="0">
                  <c:v>prior</c:v>
                </c:pt>
              </c:strCache>
            </c:strRef>
          </c:tx>
          <c:spPr>
            <a:solidFill>
              <a:srgbClr val="A6A6A6"/>
            </a:solidFill>
            <a:ln w="22225" cap="flat">
              <a:solidFill>
                <a:srgbClr val="A6A6A6"/>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none"/>
            <c:size val="6"/>
            <c:spPr>
              <a:solidFill>
                <a:srgbClr val="A6A6A6"/>
              </a:solidFill>
              <a:ln w="9525" cap="flat">
                <a:solidFill>
                  <a:srgbClr val="A6A6A6"/>
                </a:solidFill>
                <a:prstDash val="solid"/>
                <a:round/>
              </a:ln>
              <a:effectLst/>
            </c:spPr>
          </c:marker>
          <c:cat>
            <c:multiLvlStrRef>
              <c:f>Sheet1!$A$2:$A$10</c:f>
              <c:multiLvlStrCache>
                <c:ptCount val="9"/>
                <c:lvl>
                  <c:pt idx="0">
                    <c:v>1</c:v>
                  </c:pt>
                  <c:pt idx="1">
                    <c:v>2</c:v>
                  </c:pt>
                  <c:pt idx="2">
                    <c:v>3</c:v>
                  </c:pt>
                  <c:pt idx="3">
                    <c:v>4</c:v>
                  </c:pt>
                  <c:pt idx="4">
                    <c:v>5</c:v>
                  </c:pt>
                  <c:pt idx="5">
                    <c:v>6</c:v>
                  </c:pt>
                  <c:pt idx="6">
                    <c:v>7</c:v>
                  </c:pt>
                  <c:pt idx="7">
                    <c:v>8</c:v>
                  </c:pt>
                  <c:pt idx="8">
                    <c:v>9</c:v>
                  </c:pt>
                </c:lvl>
              </c:multiLvlStrCache>
            </c:multiLvlStrRef>
          </c:cat>
          <c:val>
            <c:numRef>
              <c:f>Sheet1!$B$2:$B$10</c:f>
              <c:numCache>
                <c:formatCode>General</c:formatCode>
                <c:ptCount val="9"/>
                <c:pt idx="0">
                  <c:v>69798.23</c:v>
                </c:pt>
                <c:pt idx="1">
                  <c:v>71904.48</c:v>
                </c:pt>
                <c:pt idx="2">
                  <c:v>59129.22</c:v>
                </c:pt>
                <c:pt idx="3">
                  <c:v>91421.93</c:v>
                </c:pt>
                <c:pt idx="4">
                  <c:v>64530.06</c:v>
                </c:pt>
                <c:pt idx="5">
                  <c:v>59551.19</c:v>
                </c:pt>
                <c:pt idx="6">
                  <c:v>95630.58</c:v>
                </c:pt>
                <c:pt idx="7">
                  <c:v>70250.86</c:v>
                </c:pt>
                <c:pt idx="8">
                  <c:v>65453.38</c:v>
                </c:pt>
              </c:numCache>
            </c:numRef>
          </c:val>
          <c:smooth val="0"/>
        </c:ser>
        <c:ser>
          <c:idx val="1"/>
          <c:order val="1"/>
          <c:tx>
            <c:strRef>
              <c:f>Sheet1!$C$1</c:f>
              <c:strCache>
                <c:ptCount val="1"/>
                <c:pt idx="0">
                  <c:v>cur</c:v>
                </c:pt>
              </c:strCache>
            </c:strRef>
          </c:tx>
          <c:spPr>
            <a:solidFill>
              <a:srgbClr val="0B7A4A"/>
            </a:solidFill>
            <a:ln w="22225" cap="flat">
              <a:solidFill>
                <a:srgbClr val="0B7A4A"/>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none"/>
            <c:size val="6"/>
            <c:spPr>
              <a:solidFill>
                <a:srgbClr val="0B7A4A"/>
              </a:solidFill>
              <a:ln w="9525" cap="flat">
                <a:solidFill>
                  <a:srgbClr val="0B7A4A"/>
                </a:solidFill>
                <a:prstDash val="solid"/>
                <a:round/>
              </a:ln>
              <a:effectLst/>
            </c:spPr>
          </c:marker>
          <c:cat>
            <c:multiLvlStrRef>
              <c:f>Sheet1!$A$2:$A$10</c:f>
              <c:multiLvlStrCache>
                <c:ptCount val="9"/>
                <c:lvl>
                  <c:pt idx="0">
                    <c:v>1</c:v>
                  </c:pt>
                  <c:pt idx="1">
                    <c:v>2</c:v>
                  </c:pt>
                  <c:pt idx="2">
                    <c:v>3</c:v>
                  </c:pt>
                  <c:pt idx="3">
                    <c:v>4</c:v>
                  </c:pt>
                  <c:pt idx="4">
                    <c:v>5</c:v>
                  </c:pt>
                  <c:pt idx="5">
                    <c:v>6</c:v>
                  </c:pt>
                  <c:pt idx="6">
                    <c:v>7</c:v>
                  </c:pt>
                  <c:pt idx="7">
                    <c:v>8</c:v>
                  </c:pt>
                  <c:pt idx="8">
                    <c:v>9</c:v>
                  </c:pt>
                </c:lvl>
              </c:multiLvlStrCache>
            </c:multiLvlStrRef>
          </c:cat>
          <c:val>
            <c:numRef>
              <c:f>Sheet1!$C$2:$C$10</c:f>
              <c:numCache>
                <c:formatCode>General</c:formatCode>
                <c:ptCount val="9"/>
                <c:pt idx="0">
                  <c:v>69682.41</c:v>
                </c:pt>
                <c:pt idx="1">
                  <c:v>92272.03</c:v>
                </c:pt>
                <c:pt idx="2">
                  <c:v>125178.68</c:v>
                </c:pt>
                <c:pt idx="3">
                  <c:v>95472.62</c:v>
                </c:pt>
                <c:pt idx="4">
                  <c:v>106105.6</c:v>
                </c:pt>
                <c:pt idx="5">
                  <c:v>118651.26</c:v>
                </c:pt>
                <c:pt idx="6">
                  <c:v>142107.98</c:v>
                </c:pt>
                <c:pt idx="7">
                  <c:v>123108.19</c:v>
                </c:pt>
                <c:pt idx="8">
                  <c:v>119981.01</c:v>
                </c:pt>
              </c:numCache>
            </c:numRef>
          </c:val>
          <c:smooth val="0"/>
        </c:ser>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1"/>
        <c:axPos val="b"/>
        <c:numFmt formatCode="General" sourceLinked="1"/>
        <c:majorTickMark val="out"/>
        <c:minorTickMark val="none"/>
        <c:tickLblPos val="low"/>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2"/>
        <c:crosses val="autoZero"/>
        <c:auto val="1"/>
        <c:lblAlgn val="ctr"/>
        <c:noMultiLvlLbl val="1"/>
      </c:catAx>
      <c:valAx>
        <c:axId val="2094734552"/>
        <c:scaling>
          <c:orientation val="minMax"/>
          <c:max val="148746.2808"/>
          <c:min val="52490.919200000004"/>
        </c:scaling>
        <c:delete val="1"/>
        <c:axPos val="l"/>
        <c:numFmt formatCode="General" sourceLinked="0"/>
        <c:majorTickMark val="out"/>
        <c:minorTickMark val="none"/>
        <c:tickLblPos val="nextTo"/>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noFill/>
        <a:ln>
          <a:noFill/>
        </a:ln>
        <a:effectLst/>
      </c:spPr>
    </c:plotArea>
    <c:plotVisOnly val="1"/>
    <c:dispBlanksAs val="span"/>
  </c:chart>
  <c:spPr>
    <a:noFill/>
    <a:ln>
      <a:noFill/>
    </a:ln>
    <a:effectLst/>
  </c:spPr>
  <c:externalData r:id="rId1">
    <c:autoUpdate val="0"/>
  </c:externalData>
</c:chartSpace>
</file>

<file path=ppt/charts/chart28.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manualLayout>
          <c:layoutTarget val="inner"/>
          <c:xMode val="edge"/>
          <c:yMode val="edge"/>
          <c:x val="0"/>
          <c:y val="0"/>
          <c:w val="1"/>
          <c:h val="1"/>
        </c:manualLayout>
      </c:layout>
      <c:lineChart>
        <c:varyColors val="0"/>
        <c:ser>
          <c:idx val="0"/>
          <c:order val="0"/>
          <c:tx>
            <c:strRef>
              <c:f>Sheet1!$B$1</c:f>
              <c:strCache>
                <c:ptCount val="1"/>
                <c:pt idx="0">
                  <c:v>prior</c:v>
                </c:pt>
              </c:strCache>
            </c:strRef>
          </c:tx>
          <c:spPr>
            <a:solidFill>
              <a:srgbClr val="A6A6A6"/>
            </a:solidFill>
            <a:ln w="22225" cap="flat">
              <a:solidFill>
                <a:srgbClr val="A6A6A6"/>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none"/>
            <c:size val="6"/>
            <c:spPr>
              <a:solidFill>
                <a:srgbClr val="A6A6A6"/>
              </a:solidFill>
              <a:ln w="9525" cap="flat">
                <a:solidFill>
                  <a:srgbClr val="A6A6A6"/>
                </a:solidFill>
                <a:prstDash val="solid"/>
                <a:round/>
              </a:ln>
              <a:effectLst/>
            </c:spPr>
          </c:marker>
          <c:cat>
            <c:multiLvlStrRef>
              <c:f>Sheet1!$A$2:$A$10</c:f>
              <c:multiLvlStrCache>
                <c:ptCount val="9"/>
                <c:lvl>
                  <c:pt idx="0">
                    <c:v>1</c:v>
                  </c:pt>
                  <c:pt idx="1">
                    <c:v>2</c:v>
                  </c:pt>
                  <c:pt idx="2">
                    <c:v>3</c:v>
                  </c:pt>
                  <c:pt idx="3">
                    <c:v>4</c:v>
                  </c:pt>
                  <c:pt idx="4">
                    <c:v>5</c:v>
                  </c:pt>
                  <c:pt idx="5">
                    <c:v>6</c:v>
                  </c:pt>
                  <c:pt idx="6">
                    <c:v>7</c:v>
                  </c:pt>
                  <c:pt idx="7">
                    <c:v>8</c:v>
                  </c:pt>
                  <c:pt idx="8">
                    <c:v>9</c:v>
                  </c:pt>
                </c:lvl>
              </c:multiLvlStrCache>
            </c:multiLvlStrRef>
          </c:cat>
          <c:val>
            <c:numRef>
              <c:f>Sheet1!$B$2:$B$10</c:f>
              <c:numCache>
                <c:formatCode>General</c:formatCode>
                <c:ptCount val="9"/>
                <c:pt idx="0">
                  <c:v>202262.9</c:v>
                </c:pt>
                <c:pt idx="1">
                  <c:v>182948.08</c:v>
                </c:pt>
                <c:pt idx="2">
                  <c:v>203100.59</c:v>
                </c:pt>
                <c:pt idx="3">
                  <c:v>183103.26</c:v>
                </c:pt>
                <c:pt idx="4">
                  <c:v>191403.86</c:v>
                </c:pt>
                <c:pt idx="5">
                  <c:v>164166.47</c:v>
                </c:pt>
                <c:pt idx="6">
                  <c:v>165192.98</c:v>
                </c:pt>
                <c:pt idx="7">
                  <c:v>178976.28</c:v>
                </c:pt>
                <c:pt idx="8">
                  <c:v>139572.17</c:v>
                </c:pt>
              </c:numCache>
            </c:numRef>
          </c:val>
          <c:smooth val="0"/>
        </c:ser>
        <c:ser>
          <c:idx val="1"/>
          <c:order val="1"/>
          <c:tx>
            <c:strRef>
              <c:f>Sheet1!$C$1</c:f>
              <c:strCache>
                <c:ptCount val="1"/>
                <c:pt idx="0">
                  <c:v>cur</c:v>
                </c:pt>
              </c:strCache>
            </c:strRef>
          </c:tx>
          <c:spPr>
            <a:solidFill>
              <a:srgbClr val="0B7A4A"/>
            </a:solidFill>
            <a:ln w="22225" cap="flat">
              <a:solidFill>
                <a:srgbClr val="0B7A4A"/>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none"/>
            <c:size val="6"/>
            <c:spPr>
              <a:solidFill>
                <a:srgbClr val="0B7A4A"/>
              </a:solidFill>
              <a:ln w="9525" cap="flat">
                <a:solidFill>
                  <a:srgbClr val="0B7A4A"/>
                </a:solidFill>
                <a:prstDash val="solid"/>
                <a:round/>
              </a:ln>
              <a:effectLst/>
            </c:spPr>
          </c:marker>
          <c:cat>
            <c:multiLvlStrRef>
              <c:f>Sheet1!$A$2:$A$10</c:f>
              <c:multiLvlStrCache>
                <c:ptCount val="9"/>
                <c:lvl>
                  <c:pt idx="0">
                    <c:v>1</c:v>
                  </c:pt>
                  <c:pt idx="1">
                    <c:v>2</c:v>
                  </c:pt>
                  <c:pt idx="2">
                    <c:v>3</c:v>
                  </c:pt>
                  <c:pt idx="3">
                    <c:v>4</c:v>
                  </c:pt>
                  <c:pt idx="4">
                    <c:v>5</c:v>
                  </c:pt>
                  <c:pt idx="5">
                    <c:v>6</c:v>
                  </c:pt>
                  <c:pt idx="6">
                    <c:v>7</c:v>
                  </c:pt>
                  <c:pt idx="7">
                    <c:v>8</c:v>
                  </c:pt>
                  <c:pt idx="8">
                    <c:v>9</c:v>
                  </c:pt>
                </c:lvl>
              </c:multiLvlStrCache>
            </c:multiLvlStrRef>
          </c:cat>
          <c:val>
            <c:numRef>
              <c:f>Sheet1!$C$2:$C$10</c:f>
              <c:numCache>
                <c:formatCode>General</c:formatCode>
                <c:ptCount val="9"/>
                <c:pt idx="0">
                  <c:v>220081.2</c:v>
                </c:pt>
                <c:pt idx="1">
                  <c:v>219688.36</c:v>
                </c:pt>
                <c:pt idx="2">
                  <c:v>242099.99</c:v>
                </c:pt>
                <c:pt idx="3">
                  <c:v>225354.2</c:v>
                </c:pt>
                <c:pt idx="4">
                  <c:v>211300.66</c:v>
                </c:pt>
                <c:pt idx="5">
                  <c:v>220497.88</c:v>
                </c:pt>
                <c:pt idx="6">
                  <c:v>237136.14</c:v>
                </c:pt>
                <c:pt idx="7">
                  <c:v>246949.08</c:v>
                </c:pt>
                <c:pt idx="8">
                  <c:v>262460.99</c:v>
                </c:pt>
              </c:numCache>
            </c:numRef>
          </c:val>
          <c:smooth val="0"/>
        </c:ser>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1"/>
        <c:axPos val="b"/>
        <c:numFmt formatCode="General" sourceLinked="1"/>
        <c:majorTickMark val="out"/>
        <c:minorTickMark val="none"/>
        <c:tickLblPos val="low"/>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2"/>
        <c:crosses val="autoZero"/>
        <c:auto val="1"/>
        <c:lblAlgn val="ctr"/>
        <c:noMultiLvlLbl val="1"/>
      </c:catAx>
      <c:valAx>
        <c:axId val="2094734552"/>
        <c:scaling>
          <c:orientation val="minMax"/>
          <c:max val="272292.0956"/>
          <c:min val="129741.06440000002"/>
        </c:scaling>
        <c:delete val="1"/>
        <c:axPos val="l"/>
        <c:numFmt formatCode="General" sourceLinked="0"/>
        <c:majorTickMark val="out"/>
        <c:minorTickMark val="none"/>
        <c:tickLblPos val="nextTo"/>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noFill/>
        <a:ln>
          <a:noFill/>
        </a:ln>
        <a:effectLst/>
      </c:spPr>
    </c:plotArea>
    <c:plotVisOnly val="1"/>
    <c:dispBlanksAs val="span"/>
  </c:chart>
  <c:spPr>
    <a:noFill/>
    <a:ln>
      <a:noFill/>
    </a:ln>
    <a:effectLst/>
  </c:spPr>
  <c:externalData r:id="rId1">
    <c:autoUpdate val="0"/>
  </c:externalData>
</c:chartSpace>
</file>

<file path=ppt/charts/chart29.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manualLayout>
          <c:layoutTarget val="inner"/>
          <c:xMode val="edge"/>
          <c:yMode val="edge"/>
          <c:x val="0"/>
          <c:y val="0"/>
          <c:w val="1"/>
          <c:h val="1"/>
        </c:manualLayout>
      </c:layout>
      <c:lineChart>
        <c:varyColors val="0"/>
        <c:ser>
          <c:idx val="0"/>
          <c:order val="0"/>
          <c:tx>
            <c:strRef>
              <c:f>Sheet1!$B$1</c:f>
              <c:strCache>
                <c:ptCount val="1"/>
                <c:pt idx="0">
                  <c:v>prior</c:v>
                </c:pt>
              </c:strCache>
            </c:strRef>
          </c:tx>
          <c:spPr>
            <a:solidFill>
              <a:srgbClr val="A6A6A6"/>
            </a:solidFill>
            <a:ln w="22225" cap="flat">
              <a:solidFill>
                <a:srgbClr val="A6A6A6"/>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none"/>
            <c:size val="6"/>
            <c:spPr>
              <a:solidFill>
                <a:srgbClr val="A6A6A6"/>
              </a:solidFill>
              <a:ln w="9525" cap="flat">
                <a:solidFill>
                  <a:srgbClr val="A6A6A6"/>
                </a:solidFill>
                <a:prstDash val="solid"/>
                <a:round/>
              </a:ln>
              <a:effectLst/>
            </c:spPr>
          </c:marker>
          <c:cat>
            <c:multiLvlStrRef>
              <c:f>Sheet1!$A$2:$A$10</c:f>
              <c:multiLvlStrCache>
                <c:ptCount val="9"/>
                <c:lvl>
                  <c:pt idx="0">
                    <c:v>1</c:v>
                  </c:pt>
                  <c:pt idx="1">
                    <c:v>2</c:v>
                  </c:pt>
                  <c:pt idx="2">
                    <c:v>3</c:v>
                  </c:pt>
                  <c:pt idx="3">
                    <c:v>4</c:v>
                  </c:pt>
                  <c:pt idx="4">
                    <c:v>5</c:v>
                  </c:pt>
                  <c:pt idx="5">
                    <c:v>6</c:v>
                  </c:pt>
                  <c:pt idx="6">
                    <c:v>7</c:v>
                  </c:pt>
                  <c:pt idx="7">
                    <c:v>8</c:v>
                  </c:pt>
                  <c:pt idx="8">
                    <c:v>9</c:v>
                  </c:pt>
                </c:lvl>
              </c:multiLvlStrCache>
            </c:multiLvlStrRef>
          </c:cat>
          <c:val>
            <c:numRef>
              <c:f>Sheet1!$B$2:$B$10</c:f>
              <c:numCache>
                <c:formatCode>General</c:formatCode>
                <c:ptCount val="9"/>
                <c:pt idx="0">
                  <c:v>216918.34</c:v>
                </c:pt>
                <c:pt idx="1">
                  <c:v>168250.31</c:v>
                </c:pt>
                <c:pt idx="2">
                  <c:v>264333.21</c:v>
                </c:pt>
                <c:pt idx="3">
                  <c:v>282688.96</c:v>
                </c:pt>
                <c:pt idx="4">
                  <c:v>256619.26</c:v>
                </c:pt>
                <c:pt idx="5">
                  <c:v>238233.6</c:v>
                </c:pt>
                <c:pt idx="6">
                  <c:v>281263.05</c:v>
                </c:pt>
                <c:pt idx="7">
                  <c:v>276144.77</c:v>
                </c:pt>
                <c:pt idx="8">
                  <c:v>326475.32</c:v>
                </c:pt>
              </c:numCache>
            </c:numRef>
          </c:val>
          <c:smooth val="0"/>
        </c:ser>
        <c:ser>
          <c:idx val="1"/>
          <c:order val="1"/>
          <c:tx>
            <c:strRef>
              <c:f>Sheet1!$C$1</c:f>
              <c:strCache>
                <c:ptCount val="1"/>
                <c:pt idx="0">
                  <c:v>cur</c:v>
                </c:pt>
              </c:strCache>
            </c:strRef>
          </c:tx>
          <c:spPr>
            <a:solidFill>
              <a:srgbClr val="0B7A4A"/>
            </a:solidFill>
            <a:ln w="22225" cap="flat">
              <a:solidFill>
                <a:srgbClr val="0B7A4A"/>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none"/>
            <c:size val="6"/>
            <c:spPr>
              <a:solidFill>
                <a:srgbClr val="0B7A4A"/>
              </a:solidFill>
              <a:ln w="9525" cap="flat">
                <a:solidFill>
                  <a:srgbClr val="0B7A4A"/>
                </a:solidFill>
                <a:prstDash val="solid"/>
                <a:round/>
              </a:ln>
              <a:effectLst/>
            </c:spPr>
          </c:marker>
          <c:cat>
            <c:multiLvlStrRef>
              <c:f>Sheet1!$A$2:$A$10</c:f>
              <c:multiLvlStrCache>
                <c:ptCount val="9"/>
                <c:lvl>
                  <c:pt idx="0">
                    <c:v>1</c:v>
                  </c:pt>
                  <c:pt idx="1">
                    <c:v>2</c:v>
                  </c:pt>
                  <c:pt idx="2">
                    <c:v>3</c:v>
                  </c:pt>
                  <c:pt idx="3">
                    <c:v>4</c:v>
                  </c:pt>
                  <c:pt idx="4">
                    <c:v>5</c:v>
                  </c:pt>
                  <c:pt idx="5">
                    <c:v>6</c:v>
                  </c:pt>
                  <c:pt idx="6">
                    <c:v>7</c:v>
                  </c:pt>
                  <c:pt idx="7">
                    <c:v>8</c:v>
                  </c:pt>
                  <c:pt idx="8">
                    <c:v>9</c:v>
                  </c:pt>
                </c:lvl>
              </c:multiLvlStrCache>
            </c:multiLvlStrRef>
          </c:cat>
          <c:val>
            <c:numRef>
              <c:f>Sheet1!$C$2:$C$10</c:f>
              <c:numCache>
                <c:formatCode>General</c:formatCode>
                <c:ptCount val="9"/>
                <c:pt idx="0">
                  <c:v>328408.31</c:v>
                </c:pt>
                <c:pt idx="1">
                  <c:v>305255.29</c:v>
                </c:pt>
                <c:pt idx="2">
                  <c:v>340713.51</c:v>
                </c:pt>
                <c:pt idx="3">
                  <c:v>321010.17</c:v>
                </c:pt>
                <c:pt idx="4">
                  <c:v>342497.71</c:v>
                </c:pt>
                <c:pt idx="5">
                  <c:v>334870.15</c:v>
                </c:pt>
                <c:pt idx="6">
                  <c:v>330217.21</c:v>
                </c:pt>
                <c:pt idx="7">
                  <c:v>314456.25</c:v>
                </c:pt>
                <c:pt idx="8">
                  <c:v>332821.98</c:v>
                </c:pt>
              </c:numCache>
            </c:numRef>
          </c:val>
          <c:smooth val="0"/>
        </c:ser>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1"/>
        <c:axPos val="b"/>
        <c:numFmt formatCode="General" sourceLinked="1"/>
        <c:majorTickMark val="out"/>
        <c:minorTickMark val="none"/>
        <c:tickLblPos val="low"/>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2"/>
        <c:crosses val="autoZero"/>
        <c:auto val="1"/>
        <c:lblAlgn val="ctr"/>
        <c:noMultiLvlLbl val="1"/>
      </c:catAx>
      <c:valAx>
        <c:axId val="2094734552"/>
        <c:scaling>
          <c:orientation val="minMax"/>
          <c:max val="356437.50200000004"/>
          <c:min val="154310.51799999998"/>
        </c:scaling>
        <c:delete val="1"/>
        <c:axPos val="l"/>
        <c:numFmt formatCode="General" sourceLinked="0"/>
        <c:majorTickMark val="out"/>
        <c:minorTickMark val="none"/>
        <c:tickLblPos val="nextTo"/>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noFill/>
        <a:ln>
          <a:noFill/>
        </a:ln>
        <a:effectLst/>
      </c:spPr>
    </c:plotArea>
    <c:plotVisOnly val="1"/>
    <c:dispBlanksAs val="span"/>
  </c:chart>
  <c:spPr>
    <a:noFill/>
    <a:ln>
      <a:noFill/>
    </a:ln>
    <a:effectLst/>
  </c:spPr>
  <c:externalData r:id="rId1">
    <c:autoUpdate val="0"/>
  </c:externalData>
</c:chartSpace>
</file>

<file path=ppt/charts/chart30.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manualLayout>
          <c:layoutTarget val="inner"/>
          <c:xMode val="edge"/>
          <c:yMode val="edge"/>
          <c:x val="0"/>
          <c:y val="0"/>
          <c:w val="1"/>
          <c:h val="1"/>
        </c:manualLayout>
      </c:layout>
      <c:lineChart>
        <c:varyColors val="0"/>
        <c:ser>
          <c:idx val="0"/>
          <c:order val="0"/>
          <c:tx>
            <c:strRef>
              <c:f>Sheet1!$B$1</c:f>
              <c:strCache>
                <c:ptCount val="1"/>
                <c:pt idx="0">
                  <c:v>prior</c:v>
                </c:pt>
              </c:strCache>
            </c:strRef>
          </c:tx>
          <c:spPr>
            <a:solidFill>
              <a:srgbClr val="A6A6A6"/>
            </a:solidFill>
            <a:ln w="22225" cap="flat">
              <a:solidFill>
                <a:srgbClr val="A6A6A6"/>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none"/>
            <c:size val="6"/>
            <c:spPr>
              <a:solidFill>
                <a:srgbClr val="A6A6A6"/>
              </a:solidFill>
              <a:ln w="9525" cap="flat">
                <a:solidFill>
                  <a:srgbClr val="A6A6A6"/>
                </a:solidFill>
                <a:prstDash val="solid"/>
                <a:round/>
              </a:ln>
              <a:effectLst/>
            </c:spPr>
          </c:marker>
          <c:cat>
            <c:multiLvlStrRef>
              <c:f>Sheet1!$A$2:$A$10</c:f>
              <c:multiLvlStrCache>
                <c:ptCount val="9"/>
                <c:lvl>
                  <c:pt idx="0">
                    <c:v>1</c:v>
                  </c:pt>
                  <c:pt idx="1">
                    <c:v>2</c:v>
                  </c:pt>
                  <c:pt idx="2">
                    <c:v>3</c:v>
                  </c:pt>
                  <c:pt idx="3">
                    <c:v>4</c:v>
                  </c:pt>
                  <c:pt idx="4">
                    <c:v>5</c:v>
                  </c:pt>
                  <c:pt idx="5">
                    <c:v>6</c:v>
                  </c:pt>
                  <c:pt idx="6">
                    <c:v>7</c:v>
                  </c:pt>
                  <c:pt idx="7">
                    <c:v>8</c:v>
                  </c:pt>
                  <c:pt idx="8">
                    <c:v>9</c:v>
                  </c:pt>
                </c:lvl>
              </c:multiLvlStrCache>
            </c:multiLvlStrRef>
          </c:cat>
          <c:val>
            <c:numRef>
              <c:f>Sheet1!$B$2:$B$10</c:f>
              <c:numCache>
                <c:formatCode>General</c:formatCode>
                <c:ptCount val="9"/>
                <c:pt idx="0">
                  <c:v>121245.48</c:v>
                </c:pt>
                <c:pt idx="1">
                  <c:v>113928.38</c:v>
                </c:pt>
                <c:pt idx="2">
                  <c:v>119209.34</c:v>
                </c:pt>
                <c:pt idx="3">
                  <c:v>128224.83</c:v>
                </c:pt>
                <c:pt idx="4">
                  <c:v>136494.92</c:v>
                </c:pt>
                <c:pt idx="5">
                  <c:v>151095.11</c:v>
                </c:pt>
                <c:pt idx="6">
                  <c:v>142830.91</c:v>
                </c:pt>
                <c:pt idx="7">
                  <c:v>93867.8</c:v>
                </c:pt>
                <c:pt idx="8">
                  <c:v>136634.43</c:v>
                </c:pt>
              </c:numCache>
            </c:numRef>
          </c:val>
          <c:smooth val="0"/>
        </c:ser>
        <c:ser>
          <c:idx val="1"/>
          <c:order val="1"/>
          <c:tx>
            <c:strRef>
              <c:f>Sheet1!$C$1</c:f>
              <c:strCache>
                <c:ptCount val="1"/>
                <c:pt idx="0">
                  <c:v>cur</c:v>
                </c:pt>
              </c:strCache>
            </c:strRef>
          </c:tx>
          <c:spPr>
            <a:solidFill>
              <a:srgbClr val="0B7A4A"/>
            </a:solidFill>
            <a:ln w="22225" cap="flat">
              <a:solidFill>
                <a:srgbClr val="0B7A4A"/>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none"/>
            <c:size val="6"/>
            <c:spPr>
              <a:solidFill>
                <a:srgbClr val="0B7A4A"/>
              </a:solidFill>
              <a:ln w="9525" cap="flat">
                <a:solidFill>
                  <a:srgbClr val="0B7A4A"/>
                </a:solidFill>
                <a:prstDash val="solid"/>
                <a:round/>
              </a:ln>
              <a:effectLst/>
            </c:spPr>
          </c:marker>
          <c:cat>
            <c:multiLvlStrRef>
              <c:f>Sheet1!$A$2:$A$10</c:f>
              <c:multiLvlStrCache>
                <c:ptCount val="9"/>
                <c:lvl>
                  <c:pt idx="0">
                    <c:v>1</c:v>
                  </c:pt>
                  <c:pt idx="1">
                    <c:v>2</c:v>
                  </c:pt>
                  <c:pt idx="2">
                    <c:v>3</c:v>
                  </c:pt>
                  <c:pt idx="3">
                    <c:v>4</c:v>
                  </c:pt>
                  <c:pt idx="4">
                    <c:v>5</c:v>
                  </c:pt>
                  <c:pt idx="5">
                    <c:v>6</c:v>
                  </c:pt>
                  <c:pt idx="6">
                    <c:v>7</c:v>
                  </c:pt>
                  <c:pt idx="7">
                    <c:v>8</c:v>
                  </c:pt>
                  <c:pt idx="8">
                    <c:v>9</c:v>
                  </c:pt>
                </c:lvl>
              </c:multiLvlStrCache>
            </c:multiLvlStrRef>
          </c:cat>
          <c:val>
            <c:numRef>
              <c:f>Sheet1!$C$2:$C$10</c:f>
              <c:numCache>
                <c:formatCode>General</c:formatCode>
                <c:ptCount val="9"/>
                <c:pt idx="0">
                  <c:v>154644.19</c:v>
                </c:pt>
                <c:pt idx="1">
                  <c:v>143432.3</c:v>
                </c:pt>
                <c:pt idx="2">
                  <c:v>170167.88</c:v>
                </c:pt>
                <c:pt idx="3">
                  <c:v>169885.52</c:v>
                </c:pt>
                <c:pt idx="4">
                  <c:v>143686.51</c:v>
                </c:pt>
                <c:pt idx="5">
                  <c:v>158003.55</c:v>
                </c:pt>
                <c:pt idx="6">
                  <c:v>172735.07</c:v>
                </c:pt>
                <c:pt idx="7">
                  <c:v>166546.76</c:v>
                </c:pt>
                <c:pt idx="8">
                  <c:v>179392.89</c:v>
                </c:pt>
              </c:numCache>
            </c:numRef>
          </c:val>
          <c:smooth val="0"/>
        </c:ser>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1"/>
        <c:axPos val="b"/>
        <c:numFmt formatCode="General" sourceLinked="1"/>
        <c:majorTickMark val="out"/>
        <c:minorTickMark val="none"/>
        <c:tickLblPos val="low"/>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2"/>
        <c:crosses val="autoZero"/>
        <c:auto val="1"/>
        <c:lblAlgn val="ctr"/>
        <c:noMultiLvlLbl val="1"/>
      </c:catAx>
      <c:valAx>
        <c:axId val="2094734552"/>
        <c:scaling>
          <c:orientation val="minMax"/>
          <c:max val="186234.8972"/>
          <c:min val="87025.7928"/>
        </c:scaling>
        <c:delete val="1"/>
        <c:axPos val="l"/>
        <c:numFmt formatCode="General" sourceLinked="0"/>
        <c:majorTickMark val="out"/>
        <c:minorTickMark val="none"/>
        <c:tickLblPos val="nextTo"/>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noFill/>
        <a:ln>
          <a:noFill/>
        </a:ln>
        <a:effectLst/>
      </c:spPr>
    </c:plotArea>
    <c:plotVisOnly val="1"/>
    <c:dispBlanksAs val="span"/>
  </c:chart>
  <c:spPr>
    <a:noFill/>
    <a:ln>
      <a:noFill/>
    </a:ln>
    <a:effectLst/>
  </c:spPr>
  <c:externalData r:id="rId1">
    <c:autoUpdate val="0"/>
  </c:externalData>
</c:chartSpace>
</file>

<file path=ppt/charts/chart31.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manualLayout>
          <c:layoutTarget val="inner"/>
          <c:xMode val="edge"/>
          <c:yMode val="edge"/>
          <c:x val="0"/>
          <c:y val="0"/>
          <c:w val="1"/>
          <c:h val="1"/>
        </c:manualLayout>
      </c:layout>
      <c:lineChart>
        <c:varyColors val="0"/>
        <c:ser>
          <c:idx val="0"/>
          <c:order val="0"/>
          <c:tx>
            <c:strRef>
              <c:f>Sheet1!$B$1</c:f>
              <c:strCache>
                <c:ptCount val="1"/>
                <c:pt idx="0">
                  <c:v>prior</c:v>
                </c:pt>
              </c:strCache>
            </c:strRef>
          </c:tx>
          <c:spPr>
            <a:solidFill>
              <a:srgbClr val="A6A6A6"/>
            </a:solidFill>
            <a:ln w="22225" cap="flat">
              <a:solidFill>
                <a:srgbClr val="A6A6A6"/>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none"/>
            <c:size val="6"/>
            <c:spPr>
              <a:solidFill>
                <a:srgbClr val="A6A6A6"/>
              </a:solidFill>
              <a:ln w="9525" cap="flat">
                <a:solidFill>
                  <a:srgbClr val="A6A6A6"/>
                </a:solidFill>
                <a:prstDash val="solid"/>
                <a:round/>
              </a:ln>
              <a:effectLst/>
            </c:spPr>
          </c:marker>
          <c:cat>
            <c:multiLvlStrRef>
              <c:f>Sheet1!$A$2:$A$10</c:f>
              <c:multiLvlStrCache>
                <c:ptCount val="9"/>
                <c:lvl>
                  <c:pt idx="0">
                    <c:v>1</c:v>
                  </c:pt>
                  <c:pt idx="1">
                    <c:v>2</c:v>
                  </c:pt>
                  <c:pt idx="2">
                    <c:v>3</c:v>
                  </c:pt>
                  <c:pt idx="3">
                    <c:v>4</c:v>
                  </c:pt>
                  <c:pt idx="4">
                    <c:v>5</c:v>
                  </c:pt>
                  <c:pt idx="5">
                    <c:v>6</c:v>
                  </c:pt>
                  <c:pt idx="6">
                    <c:v>7</c:v>
                  </c:pt>
                  <c:pt idx="7">
                    <c:v>8</c:v>
                  </c:pt>
                  <c:pt idx="8">
                    <c:v>9</c:v>
                  </c:pt>
                </c:lvl>
              </c:multiLvlStrCache>
            </c:multiLvlStrRef>
          </c:cat>
          <c:val>
            <c:numRef>
              <c:f>Sheet1!$B$2:$B$10</c:f>
              <c:numCache>
                <c:formatCode>General</c:formatCode>
                <c:ptCount val="9"/>
                <c:pt idx="0">
                  <c:v>327013.44</c:v>
                </c:pt>
                <c:pt idx="1">
                  <c:v>293779.76</c:v>
                </c:pt>
                <c:pt idx="2">
                  <c:v>302078.84</c:v>
                </c:pt>
                <c:pt idx="3">
                  <c:v>349051.56</c:v>
                </c:pt>
                <c:pt idx="4">
                  <c:v>333755.03</c:v>
                </c:pt>
                <c:pt idx="5">
                  <c:v>355036.92</c:v>
                </c:pt>
                <c:pt idx="6">
                  <c:v>346479.07</c:v>
                </c:pt>
                <c:pt idx="7">
                  <c:v>360176.95</c:v>
                </c:pt>
                <c:pt idx="8">
                  <c:v>345809.44</c:v>
                </c:pt>
              </c:numCache>
            </c:numRef>
          </c:val>
          <c:smooth val="0"/>
        </c:ser>
        <c:ser>
          <c:idx val="1"/>
          <c:order val="1"/>
          <c:tx>
            <c:strRef>
              <c:f>Sheet1!$C$1</c:f>
              <c:strCache>
                <c:ptCount val="1"/>
                <c:pt idx="0">
                  <c:v>cur</c:v>
                </c:pt>
              </c:strCache>
            </c:strRef>
          </c:tx>
          <c:spPr>
            <a:solidFill>
              <a:srgbClr val="0B7A4A"/>
            </a:solidFill>
            <a:ln w="22225" cap="flat">
              <a:solidFill>
                <a:srgbClr val="0B7A4A"/>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none"/>
            <c:size val="6"/>
            <c:spPr>
              <a:solidFill>
                <a:srgbClr val="0B7A4A"/>
              </a:solidFill>
              <a:ln w="9525" cap="flat">
                <a:solidFill>
                  <a:srgbClr val="0B7A4A"/>
                </a:solidFill>
                <a:prstDash val="solid"/>
                <a:round/>
              </a:ln>
              <a:effectLst/>
            </c:spPr>
          </c:marker>
          <c:cat>
            <c:multiLvlStrRef>
              <c:f>Sheet1!$A$2:$A$10</c:f>
              <c:multiLvlStrCache>
                <c:ptCount val="9"/>
                <c:lvl>
                  <c:pt idx="0">
                    <c:v>1</c:v>
                  </c:pt>
                  <c:pt idx="1">
                    <c:v>2</c:v>
                  </c:pt>
                  <c:pt idx="2">
                    <c:v>3</c:v>
                  </c:pt>
                  <c:pt idx="3">
                    <c:v>4</c:v>
                  </c:pt>
                  <c:pt idx="4">
                    <c:v>5</c:v>
                  </c:pt>
                  <c:pt idx="5">
                    <c:v>6</c:v>
                  </c:pt>
                  <c:pt idx="6">
                    <c:v>7</c:v>
                  </c:pt>
                  <c:pt idx="7">
                    <c:v>8</c:v>
                  </c:pt>
                  <c:pt idx="8">
                    <c:v>9</c:v>
                  </c:pt>
                </c:lvl>
              </c:multiLvlStrCache>
            </c:multiLvlStrRef>
          </c:cat>
          <c:val>
            <c:numRef>
              <c:f>Sheet1!$C$2:$C$10</c:f>
              <c:numCache>
                <c:formatCode>General</c:formatCode>
                <c:ptCount val="9"/>
                <c:pt idx="0">
                  <c:v>355402.02</c:v>
                </c:pt>
                <c:pt idx="1">
                  <c:v>376148.84</c:v>
                </c:pt>
                <c:pt idx="2">
                  <c:v>397129.01</c:v>
                </c:pt>
                <c:pt idx="3">
                  <c:v>463124.14</c:v>
                </c:pt>
                <c:pt idx="4">
                  <c:v>405826.33</c:v>
                </c:pt>
                <c:pt idx="5">
                  <c:v>413300.11</c:v>
                </c:pt>
                <c:pt idx="6">
                  <c:v>425693.34</c:v>
                </c:pt>
                <c:pt idx="7">
                  <c:v>407256.91</c:v>
                </c:pt>
                <c:pt idx="8">
                  <c:v>388411.02</c:v>
                </c:pt>
              </c:numCache>
            </c:numRef>
          </c:val>
          <c:smooth val="0"/>
        </c:ser>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1"/>
        <c:axPos val="b"/>
        <c:numFmt formatCode="General" sourceLinked="1"/>
        <c:majorTickMark val="out"/>
        <c:minorTickMark val="none"/>
        <c:tickLblPos val="low"/>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2"/>
        <c:crosses val="autoZero"/>
        <c:auto val="1"/>
        <c:lblAlgn val="ctr"/>
        <c:noMultiLvlLbl val="1"/>
      </c:catAx>
      <c:valAx>
        <c:axId val="2094734552"/>
        <c:scaling>
          <c:orientation val="minMax"/>
          <c:max val="476671.6904"/>
          <c:min val="280232.2096"/>
        </c:scaling>
        <c:delete val="1"/>
        <c:axPos val="l"/>
        <c:numFmt formatCode="General" sourceLinked="0"/>
        <c:majorTickMark val="out"/>
        <c:minorTickMark val="none"/>
        <c:tickLblPos val="nextTo"/>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noFill/>
        <a:ln>
          <a:noFill/>
        </a:ln>
        <a:effectLst/>
      </c:spPr>
    </c:plotArea>
    <c:plotVisOnly val="1"/>
    <c:dispBlanksAs val="span"/>
  </c:chart>
  <c:spPr>
    <a:noFill/>
    <a:ln>
      <a:noFill/>
    </a:ln>
    <a:effectLst/>
  </c:spPr>
  <c:externalData r:id="rId1">
    <c:autoUpdate val="0"/>
  </c:externalData>
</c:chartSpace>
</file>

<file path=ppt/charts/chart32.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manualLayout>
          <c:layoutTarget val="inner"/>
          <c:xMode val="edge"/>
          <c:yMode val="edge"/>
          <c:x val="0"/>
          <c:y val="0"/>
          <c:w val="1"/>
          <c:h val="1"/>
        </c:manualLayout>
      </c:layout>
      <c:lineChart>
        <c:varyColors val="0"/>
        <c:ser>
          <c:idx val="0"/>
          <c:order val="0"/>
          <c:tx>
            <c:strRef>
              <c:f>Sheet1!$B$1</c:f>
              <c:strCache>
                <c:ptCount val="1"/>
                <c:pt idx="0">
                  <c:v>prior</c:v>
                </c:pt>
              </c:strCache>
            </c:strRef>
          </c:tx>
          <c:spPr>
            <a:solidFill>
              <a:srgbClr val="A6A6A6"/>
            </a:solidFill>
            <a:ln w="22225" cap="flat">
              <a:solidFill>
                <a:srgbClr val="A6A6A6"/>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none"/>
            <c:size val="6"/>
            <c:spPr>
              <a:solidFill>
                <a:srgbClr val="A6A6A6"/>
              </a:solidFill>
              <a:ln w="9525" cap="flat">
                <a:solidFill>
                  <a:srgbClr val="A6A6A6"/>
                </a:solidFill>
                <a:prstDash val="solid"/>
                <a:round/>
              </a:ln>
              <a:effectLst/>
            </c:spPr>
          </c:marker>
          <c:cat>
            <c:multiLvlStrRef>
              <c:f>Sheet1!$A$2:$A$10</c:f>
              <c:multiLvlStrCache>
                <c:ptCount val="9"/>
                <c:lvl>
                  <c:pt idx="0">
                    <c:v>1</c:v>
                  </c:pt>
                  <c:pt idx="1">
                    <c:v>2</c:v>
                  </c:pt>
                  <c:pt idx="2">
                    <c:v>3</c:v>
                  </c:pt>
                  <c:pt idx="3">
                    <c:v>4</c:v>
                  </c:pt>
                  <c:pt idx="4">
                    <c:v>5</c:v>
                  </c:pt>
                  <c:pt idx="5">
                    <c:v>6</c:v>
                  </c:pt>
                  <c:pt idx="6">
                    <c:v>7</c:v>
                  </c:pt>
                  <c:pt idx="7">
                    <c:v>8</c:v>
                  </c:pt>
                  <c:pt idx="8">
                    <c:v>9</c:v>
                  </c:pt>
                </c:lvl>
              </c:multiLvlStrCache>
            </c:multiLvlStrRef>
          </c:cat>
          <c:val>
            <c:numRef>
              <c:f>Sheet1!$B$2:$B$10</c:f>
              <c:numCache>
                <c:formatCode>General</c:formatCode>
                <c:ptCount val="9"/>
                <c:pt idx="0">
                  <c:v>353275.54</c:v>
                </c:pt>
                <c:pt idx="1">
                  <c:v>314975.53</c:v>
                </c:pt>
                <c:pt idx="2">
                  <c:v>314604.76</c:v>
                </c:pt>
                <c:pt idx="3">
                  <c:v>270945.17</c:v>
                </c:pt>
                <c:pt idx="4">
                  <c:v>236041.07</c:v>
                </c:pt>
                <c:pt idx="5">
                  <c:v>209056.48</c:v>
                </c:pt>
                <c:pt idx="6">
                  <c:v>181741.73</c:v>
                </c:pt>
                <c:pt idx="7">
                  <c:v>237104.9</c:v>
                </c:pt>
                <c:pt idx="8">
                  <c:v>207834.25</c:v>
                </c:pt>
              </c:numCache>
            </c:numRef>
          </c:val>
          <c:smooth val="0"/>
        </c:ser>
        <c:ser>
          <c:idx val="1"/>
          <c:order val="1"/>
          <c:tx>
            <c:strRef>
              <c:f>Sheet1!$C$1</c:f>
              <c:strCache>
                <c:ptCount val="1"/>
                <c:pt idx="0">
                  <c:v>cur</c:v>
                </c:pt>
              </c:strCache>
            </c:strRef>
          </c:tx>
          <c:spPr>
            <a:solidFill>
              <a:srgbClr val="A82B26"/>
            </a:solidFill>
            <a:ln w="22225" cap="flat">
              <a:solidFill>
                <a:srgbClr val="A82B26"/>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none"/>
            <c:size val="6"/>
            <c:spPr>
              <a:solidFill>
                <a:srgbClr val="A82B26"/>
              </a:solidFill>
              <a:ln w="9525" cap="flat">
                <a:solidFill>
                  <a:srgbClr val="A82B26"/>
                </a:solidFill>
                <a:prstDash val="solid"/>
                <a:round/>
              </a:ln>
              <a:effectLst/>
            </c:spPr>
          </c:marker>
          <c:cat>
            <c:multiLvlStrRef>
              <c:f>Sheet1!$A$2:$A$10</c:f>
              <c:multiLvlStrCache>
                <c:ptCount val="9"/>
                <c:lvl>
                  <c:pt idx="0">
                    <c:v>1</c:v>
                  </c:pt>
                  <c:pt idx="1">
                    <c:v>2</c:v>
                  </c:pt>
                  <c:pt idx="2">
                    <c:v>3</c:v>
                  </c:pt>
                  <c:pt idx="3">
                    <c:v>4</c:v>
                  </c:pt>
                  <c:pt idx="4">
                    <c:v>5</c:v>
                  </c:pt>
                  <c:pt idx="5">
                    <c:v>6</c:v>
                  </c:pt>
                  <c:pt idx="6">
                    <c:v>7</c:v>
                  </c:pt>
                  <c:pt idx="7">
                    <c:v>8</c:v>
                  </c:pt>
                  <c:pt idx="8">
                    <c:v>9</c:v>
                  </c:pt>
                </c:lvl>
              </c:multiLvlStrCache>
            </c:multiLvlStrRef>
          </c:cat>
          <c:val>
            <c:numRef>
              <c:f>Sheet1!$C$2:$C$10</c:f>
              <c:numCache>
                <c:formatCode>General</c:formatCode>
                <c:ptCount val="9"/>
                <c:pt idx="0">
                  <c:v>194970.43</c:v>
                </c:pt>
                <c:pt idx="1">
                  <c:v>238617.46</c:v>
                </c:pt>
                <c:pt idx="2">
                  <c:v>233128.95</c:v>
                </c:pt>
                <c:pt idx="3">
                  <c:v>222241.48</c:v>
                </c:pt>
                <c:pt idx="4">
                  <c:v>228299.88</c:v>
                </c:pt>
                <c:pt idx="5">
                  <c:v>217804.65</c:v>
                </c:pt>
                <c:pt idx="6">
                  <c:v>180347.34</c:v>
                </c:pt>
                <c:pt idx="7">
                  <c:v>197623.48</c:v>
                </c:pt>
                <c:pt idx="8">
                  <c:v>174623.32</c:v>
                </c:pt>
              </c:numCache>
            </c:numRef>
          </c:val>
          <c:smooth val="0"/>
        </c:ser>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1"/>
        <c:axPos val="b"/>
        <c:numFmt formatCode="General" sourceLinked="1"/>
        <c:majorTickMark val="out"/>
        <c:minorTickMark val="none"/>
        <c:tickLblPos val="low"/>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2"/>
        <c:crosses val="autoZero"/>
        <c:auto val="1"/>
        <c:lblAlgn val="ctr"/>
        <c:noMultiLvlLbl val="1"/>
      </c:catAx>
      <c:valAx>
        <c:axId val="2094734552"/>
        <c:scaling>
          <c:orientation val="minMax"/>
          <c:max val="367567.7176"/>
          <c:min val="160331.1424"/>
        </c:scaling>
        <c:delete val="1"/>
        <c:axPos val="l"/>
        <c:numFmt formatCode="General" sourceLinked="0"/>
        <c:majorTickMark val="out"/>
        <c:minorTickMark val="none"/>
        <c:tickLblPos val="nextTo"/>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noFill/>
        <a:ln>
          <a:noFill/>
        </a:ln>
        <a:effectLst/>
      </c:spPr>
    </c:plotArea>
    <c:plotVisOnly val="1"/>
    <c:dispBlanksAs val="span"/>
  </c:chart>
  <c:spPr>
    <a:noFill/>
    <a:ln>
      <a:noFill/>
    </a:ln>
    <a:effectLst/>
  </c:spPr>
  <c:externalData r:id="rId1">
    <c:autoUpdate val="0"/>
  </c:externalData>
</c:chartSpace>
</file>

<file path=ppt/charts/chart33.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manualLayout>
          <c:layoutTarget val="inner"/>
          <c:xMode val="edge"/>
          <c:yMode val="edge"/>
          <c:x val="0"/>
          <c:y val="0"/>
          <c:w val="1"/>
          <c:h val="1"/>
        </c:manualLayout>
      </c:layout>
      <c:lineChart>
        <c:varyColors val="0"/>
        <c:ser>
          <c:idx val="0"/>
          <c:order val="0"/>
          <c:tx>
            <c:strRef>
              <c:f>Sheet1!$B$1</c:f>
              <c:strCache>
                <c:ptCount val="1"/>
                <c:pt idx="0">
                  <c:v>prior</c:v>
                </c:pt>
              </c:strCache>
            </c:strRef>
          </c:tx>
          <c:spPr>
            <a:solidFill>
              <a:srgbClr val="A6A6A6"/>
            </a:solidFill>
            <a:ln w="22225" cap="flat">
              <a:solidFill>
                <a:srgbClr val="A6A6A6"/>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none"/>
            <c:size val="6"/>
            <c:spPr>
              <a:solidFill>
                <a:srgbClr val="A6A6A6"/>
              </a:solidFill>
              <a:ln w="9525" cap="flat">
                <a:solidFill>
                  <a:srgbClr val="A6A6A6"/>
                </a:solidFill>
                <a:prstDash val="solid"/>
                <a:round/>
              </a:ln>
              <a:effectLst/>
            </c:spPr>
          </c:marker>
          <c:cat>
            <c:multiLvlStrRef>
              <c:f>Sheet1!$A$2:$A$10</c:f>
              <c:multiLvlStrCache>
                <c:ptCount val="9"/>
                <c:lvl>
                  <c:pt idx="0">
                    <c:v>1</c:v>
                  </c:pt>
                  <c:pt idx="1">
                    <c:v>2</c:v>
                  </c:pt>
                  <c:pt idx="2">
                    <c:v>3</c:v>
                  </c:pt>
                  <c:pt idx="3">
                    <c:v>4</c:v>
                  </c:pt>
                  <c:pt idx="4">
                    <c:v>5</c:v>
                  </c:pt>
                  <c:pt idx="5">
                    <c:v>6</c:v>
                  </c:pt>
                  <c:pt idx="6">
                    <c:v>7</c:v>
                  </c:pt>
                  <c:pt idx="7">
                    <c:v>8</c:v>
                  </c:pt>
                  <c:pt idx="8">
                    <c:v>9</c:v>
                  </c:pt>
                </c:lvl>
              </c:multiLvlStrCache>
            </c:multiLvlStrRef>
          </c:cat>
          <c:val>
            <c:numRef>
              <c:f>Sheet1!$B$2:$B$10</c:f>
              <c:numCache>
                <c:formatCode>General</c:formatCode>
                <c:ptCount val="9"/>
                <c:pt idx="0">
                  <c:v>102033.74</c:v>
                </c:pt>
                <c:pt idx="1">
                  <c:v>76401</c:v>
                </c:pt>
                <c:pt idx="2">
                  <c:v>76469</c:v>
                </c:pt>
                <c:pt idx="3">
                  <c:v>97849.57</c:v>
                </c:pt>
                <c:pt idx="4">
                  <c:v>76957.35</c:v>
                </c:pt>
                <c:pt idx="5">
                  <c:v>80529.47</c:v>
                </c:pt>
                <c:pt idx="6">
                  <c:v>75751.65</c:v>
                </c:pt>
                <c:pt idx="7">
                  <c:v>76285.47</c:v>
                </c:pt>
                <c:pt idx="8">
                  <c:v>61238.72</c:v>
                </c:pt>
              </c:numCache>
            </c:numRef>
          </c:val>
          <c:smooth val="0"/>
        </c:ser>
        <c:ser>
          <c:idx val="1"/>
          <c:order val="1"/>
          <c:tx>
            <c:strRef>
              <c:f>Sheet1!$C$1</c:f>
              <c:strCache>
                <c:ptCount val="1"/>
                <c:pt idx="0">
                  <c:v>cur</c:v>
                </c:pt>
              </c:strCache>
            </c:strRef>
          </c:tx>
          <c:spPr>
            <a:solidFill>
              <a:srgbClr val="A82B26"/>
            </a:solidFill>
            <a:ln w="22225" cap="flat">
              <a:solidFill>
                <a:srgbClr val="A82B26"/>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none"/>
            <c:size val="6"/>
            <c:spPr>
              <a:solidFill>
                <a:srgbClr val="A82B26"/>
              </a:solidFill>
              <a:ln w="9525" cap="flat">
                <a:solidFill>
                  <a:srgbClr val="A82B26"/>
                </a:solidFill>
                <a:prstDash val="solid"/>
                <a:round/>
              </a:ln>
              <a:effectLst/>
            </c:spPr>
          </c:marker>
          <c:cat>
            <c:multiLvlStrRef>
              <c:f>Sheet1!$A$2:$A$10</c:f>
              <c:multiLvlStrCache>
                <c:ptCount val="9"/>
                <c:lvl>
                  <c:pt idx="0">
                    <c:v>1</c:v>
                  </c:pt>
                  <c:pt idx="1">
                    <c:v>2</c:v>
                  </c:pt>
                  <c:pt idx="2">
                    <c:v>3</c:v>
                  </c:pt>
                  <c:pt idx="3">
                    <c:v>4</c:v>
                  </c:pt>
                  <c:pt idx="4">
                    <c:v>5</c:v>
                  </c:pt>
                  <c:pt idx="5">
                    <c:v>6</c:v>
                  </c:pt>
                  <c:pt idx="6">
                    <c:v>7</c:v>
                  </c:pt>
                  <c:pt idx="7">
                    <c:v>8</c:v>
                  </c:pt>
                  <c:pt idx="8">
                    <c:v>9</c:v>
                  </c:pt>
                </c:lvl>
              </c:multiLvlStrCache>
            </c:multiLvlStrRef>
          </c:cat>
          <c:val>
            <c:numRef>
              <c:f>Sheet1!$C$2:$C$10</c:f>
              <c:numCache>
                <c:formatCode>General</c:formatCode>
                <c:ptCount val="9"/>
                <c:pt idx="0">
                  <c:v>77148.21</c:v>
                </c:pt>
                <c:pt idx="1">
                  <c:v>50714.3</c:v>
                </c:pt>
                <c:pt idx="2">
                  <c:v>62970.27</c:v>
                </c:pt>
                <c:pt idx="3">
                  <c:v>69943.09</c:v>
                </c:pt>
                <c:pt idx="4">
                  <c:v>57099.67</c:v>
                </c:pt>
                <c:pt idx="5">
                  <c:v>81302.86</c:v>
                </c:pt>
                <c:pt idx="6">
                  <c:v>71072.87</c:v>
                </c:pt>
                <c:pt idx="7">
                  <c:v>57804.52</c:v>
                </c:pt>
                <c:pt idx="8">
                  <c:v>60424.61</c:v>
                </c:pt>
              </c:numCache>
            </c:numRef>
          </c:val>
          <c:smooth val="0"/>
        </c:ser>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1"/>
        <c:axPos val="b"/>
        <c:numFmt formatCode="General" sourceLinked="1"/>
        <c:majorTickMark val="out"/>
        <c:minorTickMark val="none"/>
        <c:tickLblPos val="low"/>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2"/>
        <c:crosses val="autoZero"/>
        <c:auto val="1"/>
        <c:lblAlgn val="ctr"/>
        <c:noMultiLvlLbl val="1"/>
      </c:catAx>
      <c:valAx>
        <c:axId val="2094734552"/>
        <c:scaling>
          <c:orientation val="minMax"/>
          <c:max val="106139.29520000001"/>
          <c:min val="46608.7448"/>
        </c:scaling>
        <c:delete val="1"/>
        <c:axPos val="l"/>
        <c:numFmt formatCode="General" sourceLinked="0"/>
        <c:majorTickMark val="out"/>
        <c:minorTickMark val="none"/>
        <c:tickLblPos val="nextTo"/>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noFill/>
        <a:ln>
          <a:noFill/>
        </a:ln>
        <a:effectLst/>
      </c:spPr>
    </c:plotArea>
    <c:plotVisOnly val="1"/>
    <c:dispBlanksAs val="span"/>
  </c:chart>
  <c:spPr>
    <a:noFill/>
    <a:ln>
      <a:noFill/>
    </a:ln>
    <a:effectLst/>
  </c:spPr>
  <c:externalData r:id="rId1">
    <c:autoUpdate val="0"/>
  </c:externalData>
</c:chartSpace>
</file>

<file path=ppt/charts/chart34.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manualLayout>
          <c:layoutTarget val="inner"/>
          <c:xMode val="edge"/>
          <c:yMode val="edge"/>
          <c:x val="0"/>
          <c:y val="0"/>
          <c:w val="1"/>
          <c:h val="1"/>
        </c:manualLayout>
      </c:layout>
      <c:lineChart>
        <c:varyColors val="0"/>
        <c:ser>
          <c:idx val="0"/>
          <c:order val="0"/>
          <c:tx>
            <c:strRef>
              <c:f>Sheet1!$B$1</c:f>
              <c:strCache>
                <c:ptCount val="1"/>
                <c:pt idx="0">
                  <c:v>prior</c:v>
                </c:pt>
              </c:strCache>
            </c:strRef>
          </c:tx>
          <c:spPr>
            <a:solidFill>
              <a:srgbClr val="A6A6A6"/>
            </a:solidFill>
            <a:ln w="22225" cap="flat">
              <a:solidFill>
                <a:srgbClr val="A6A6A6"/>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none"/>
            <c:size val="6"/>
            <c:spPr>
              <a:solidFill>
                <a:srgbClr val="A6A6A6"/>
              </a:solidFill>
              <a:ln w="9525" cap="flat">
                <a:solidFill>
                  <a:srgbClr val="A6A6A6"/>
                </a:solidFill>
                <a:prstDash val="solid"/>
                <a:round/>
              </a:ln>
              <a:effectLst/>
            </c:spPr>
          </c:marker>
          <c:cat>
            <c:multiLvlStrRef>
              <c:f>Sheet1!$A$2:$A$10</c:f>
              <c:multiLvlStrCache>
                <c:ptCount val="9"/>
                <c:lvl>
                  <c:pt idx="0">
                    <c:v>1</c:v>
                  </c:pt>
                  <c:pt idx="1">
                    <c:v>2</c:v>
                  </c:pt>
                  <c:pt idx="2">
                    <c:v>3</c:v>
                  </c:pt>
                  <c:pt idx="3">
                    <c:v>4</c:v>
                  </c:pt>
                  <c:pt idx="4">
                    <c:v>5</c:v>
                  </c:pt>
                  <c:pt idx="5">
                    <c:v>6</c:v>
                  </c:pt>
                  <c:pt idx="6">
                    <c:v>7</c:v>
                  </c:pt>
                  <c:pt idx="7">
                    <c:v>8</c:v>
                  </c:pt>
                  <c:pt idx="8">
                    <c:v>9</c:v>
                  </c:pt>
                </c:lvl>
              </c:multiLvlStrCache>
            </c:multiLvlStrRef>
          </c:cat>
          <c:val>
            <c:numRef>
              <c:f>Sheet1!$B$2:$B$10</c:f>
              <c:numCache>
                <c:formatCode>General</c:formatCode>
                <c:ptCount val="9"/>
                <c:pt idx="0">
                  <c:v>391793.32</c:v>
                </c:pt>
                <c:pt idx="1">
                  <c:v>381151.32</c:v>
                </c:pt>
                <c:pt idx="2">
                  <c:v>436075.66</c:v>
                </c:pt>
                <c:pt idx="3">
                  <c:v>404816.51</c:v>
                </c:pt>
                <c:pt idx="4">
                  <c:v>482371.2</c:v>
                </c:pt>
                <c:pt idx="5">
                  <c:v>481502.62</c:v>
                </c:pt>
                <c:pt idx="6">
                  <c:v>517873.69</c:v>
                </c:pt>
                <c:pt idx="7">
                  <c:v>518472.34</c:v>
                </c:pt>
                <c:pt idx="8">
                  <c:v>435666.96</c:v>
                </c:pt>
              </c:numCache>
            </c:numRef>
          </c:val>
          <c:smooth val="0"/>
        </c:ser>
        <c:ser>
          <c:idx val="1"/>
          <c:order val="1"/>
          <c:tx>
            <c:strRef>
              <c:f>Sheet1!$C$1</c:f>
              <c:strCache>
                <c:ptCount val="1"/>
                <c:pt idx="0">
                  <c:v>cur</c:v>
                </c:pt>
              </c:strCache>
            </c:strRef>
          </c:tx>
          <c:spPr>
            <a:solidFill>
              <a:srgbClr val="A82B26"/>
            </a:solidFill>
            <a:ln w="22225" cap="flat">
              <a:solidFill>
                <a:srgbClr val="A82B26"/>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none"/>
            <c:size val="6"/>
            <c:spPr>
              <a:solidFill>
                <a:srgbClr val="A82B26"/>
              </a:solidFill>
              <a:ln w="9525" cap="flat">
                <a:solidFill>
                  <a:srgbClr val="A82B26"/>
                </a:solidFill>
                <a:prstDash val="solid"/>
                <a:round/>
              </a:ln>
              <a:effectLst/>
            </c:spPr>
          </c:marker>
          <c:cat>
            <c:multiLvlStrRef>
              <c:f>Sheet1!$A$2:$A$10</c:f>
              <c:multiLvlStrCache>
                <c:ptCount val="9"/>
                <c:lvl>
                  <c:pt idx="0">
                    <c:v>1</c:v>
                  </c:pt>
                  <c:pt idx="1">
                    <c:v>2</c:v>
                  </c:pt>
                  <c:pt idx="2">
                    <c:v>3</c:v>
                  </c:pt>
                  <c:pt idx="3">
                    <c:v>4</c:v>
                  </c:pt>
                  <c:pt idx="4">
                    <c:v>5</c:v>
                  </c:pt>
                  <c:pt idx="5">
                    <c:v>6</c:v>
                  </c:pt>
                  <c:pt idx="6">
                    <c:v>7</c:v>
                  </c:pt>
                  <c:pt idx="7">
                    <c:v>8</c:v>
                  </c:pt>
                  <c:pt idx="8">
                    <c:v>9</c:v>
                  </c:pt>
                </c:lvl>
              </c:multiLvlStrCache>
            </c:multiLvlStrRef>
          </c:cat>
          <c:val>
            <c:numRef>
              <c:f>Sheet1!$C$2:$C$10</c:f>
              <c:numCache>
                <c:formatCode>General</c:formatCode>
                <c:ptCount val="9"/>
                <c:pt idx="0">
                  <c:v>440569.72</c:v>
                </c:pt>
                <c:pt idx="1">
                  <c:v>353021.73</c:v>
                </c:pt>
                <c:pt idx="2">
                  <c:v>386548.74</c:v>
                </c:pt>
                <c:pt idx="3">
                  <c:v>386837.05</c:v>
                </c:pt>
                <c:pt idx="4">
                  <c:v>393064.84</c:v>
                </c:pt>
                <c:pt idx="5">
                  <c:v>409975.28</c:v>
                </c:pt>
                <c:pt idx="6">
                  <c:v>412383.09</c:v>
                </c:pt>
                <c:pt idx="7">
                  <c:v>379293.05</c:v>
                </c:pt>
                <c:pt idx="8">
                  <c:v>340820.23</c:v>
                </c:pt>
              </c:numCache>
            </c:numRef>
          </c:val>
          <c:smooth val="0"/>
        </c:ser>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1"/>
        <c:axPos val="b"/>
        <c:numFmt formatCode="General" sourceLinked="1"/>
        <c:majorTickMark val="out"/>
        <c:minorTickMark val="none"/>
        <c:tickLblPos val="low"/>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2"/>
        <c:crosses val="autoZero"/>
        <c:auto val="1"/>
        <c:lblAlgn val="ctr"/>
        <c:noMultiLvlLbl val="1"/>
      </c:catAx>
      <c:valAx>
        <c:axId val="2094734552"/>
        <c:scaling>
          <c:orientation val="minMax"/>
          <c:max val="532684.5088000001"/>
          <c:min val="326608.0612"/>
        </c:scaling>
        <c:delete val="1"/>
        <c:axPos val="l"/>
        <c:numFmt formatCode="General" sourceLinked="0"/>
        <c:majorTickMark val="out"/>
        <c:minorTickMark val="none"/>
        <c:tickLblPos val="nextTo"/>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noFill/>
        <a:ln>
          <a:noFill/>
        </a:ln>
        <a:effectLst/>
      </c:spPr>
    </c:plotArea>
    <c:plotVisOnly val="1"/>
    <c:dispBlanksAs val="span"/>
  </c:chart>
  <c:spPr>
    <a:noFill/>
    <a:ln>
      <a:noFill/>
    </a:ln>
    <a:effectLst/>
  </c:spPr>
  <c:externalData r:id="rId1">
    <c:autoUpdate val="0"/>
  </c:externalData>
</c:chartSpace>
</file>

<file path=ppt/charts/chart35.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manualLayout>
          <c:layoutTarget val="inner"/>
          <c:xMode val="edge"/>
          <c:yMode val="edge"/>
          <c:x val="0"/>
          <c:y val="0"/>
          <c:w val="1"/>
          <c:h val="1"/>
        </c:manualLayout>
      </c:layout>
      <c:lineChart>
        <c:varyColors val="0"/>
        <c:ser>
          <c:idx val="0"/>
          <c:order val="0"/>
          <c:tx>
            <c:strRef>
              <c:f>Sheet1!$B$1</c:f>
              <c:strCache>
                <c:ptCount val="1"/>
                <c:pt idx="0">
                  <c:v>prior</c:v>
                </c:pt>
              </c:strCache>
            </c:strRef>
          </c:tx>
          <c:spPr>
            <a:solidFill>
              <a:srgbClr val="A6A6A6"/>
            </a:solidFill>
            <a:ln w="22225" cap="flat">
              <a:solidFill>
                <a:srgbClr val="A6A6A6"/>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none"/>
            <c:size val="6"/>
            <c:spPr>
              <a:solidFill>
                <a:srgbClr val="A6A6A6"/>
              </a:solidFill>
              <a:ln w="9525" cap="flat">
                <a:solidFill>
                  <a:srgbClr val="A6A6A6"/>
                </a:solidFill>
                <a:prstDash val="solid"/>
                <a:round/>
              </a:ln>
              <a:effectLst/>
            </c:spPr>
          </c:marker>
          <c:cat>
            <c:multiLvlStrRef>
              <c:f>Sheet1!$A$2:$A$10</c:f>
              <c:multiLvlStrCache>
                <c:ptCount val="9"/>
                <c:lvl>
                  <c:pt idx="0">
                    <c:v>1</c:v>
                  </c:pt>
                  <c:pt idx="1">
                    <c:v>2</c:v>
                  </c:pt>
                  <c:pt idx="2">
                    <c:v>3</c:v>
                  </c:pt>
                  <c:pt idx="3">
                    <c:v>4</c:v>
                  </c:pt>
                  <c:pt idx="4">
                    <c:v>5</c:v>
                  </c:pt>
                  <c:pt idx="5">
                    <c:v>6</c:v>
                  </c:pt>
                  <c:pt idx="6">
                    <c:v>7</c:v>
                  </c:pt>
                  <c:pt idx="7">
                    <c:v>8</c:v>
                  </c:pt>
                  <c:pt idx="8">
                    <c:v>9</c:v>
                  </c:pt>
                </c:lvl>
              </c:multiLvlStrCache>
            </c:multiLvlStrRef>
          </c:cat>
          <c:val>
            <c:numRef>
              <c:f>Sheet1!$B$2:$B$10</c:f>
              <c:numCache>
                <c:formatCode>General</c:formatCode>
                <c:ptCount val="9"/>
                <c:pt idx="0">
                  <c:v>673827.96</c:v>
                </c:pt>
                <c:pt idx="1">
                  <c:v>749491.65</c:v>
                </c:pt>
                <c:pt idx="2">
                  <c:v>806776.87</c:v>
                </c:pt>
                <c:pt idx="3">
                  <c:v>790655.95</c:v>
                </c:pt>
                <c:pt idx="4">
                  <c:v>716533.45</c:v>
                </c:pt>
                <c:pt idx="5">
                  <c:v>747376.46</c:v>
                </c:pt>
                <c:pt idx="6">
                  <c:v>805503.98</c:v>
                </c:pt>
                <c:pt idx="7">
                  <c:v>712082.62</c:v>
                </c:pt>
                <c:pt idx="8">
                  <c:v>611615.1</c:v>
                </c:pt>
              </c:numCache>
            </c:numRef>
          </c:val>
          <c:smooth val="0"/>
        </c:ser>
        <c:ser>
          <c:idx val="1"/>
          <c:order val="1"/>
          <c:tx>
            <c:strRef>
              <c:f>Sheet1!$C$1</c:f>
              <c:strCache>
                <c:ptCount val="1"/>
                <c:pt idx="0">
                  <c:v>cur</c:v>
                </c:pt>
              </c:strCache>
            </c:strRef>
          </c:tx>
          <c:spPr>
            <a:solidFill>
              <a:srgbClr val="A82B26"/>
            </a:solidFill>
            <a:ln w="22225" cap="flat">
              <a:solidFill>
                <a:srgbClr val="A82B26"/>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none"/>
            <c:size val="6"/>
            <c:spPr>
              <a:solidFill>
                <a:srgbClr val="A82B26"/>
              </a:solidFill>
              <a:ln w="9525" cap="flat">
                <a:solidFill>
                  <a:srgbClr val="A82B26"/>
                </a:solidFill>
                <a:prstDash val="solid"/>
                <a:round/>
              </a:ln>
              <a:effectLst/>
            </c:spPr>
          </c:marker>
          <c:cat>
            <c:multiLvlStrRef>
              <c:f>Sheet1!$A$2:$A$10</c:f>
              <c:multiLvlStrCache>
                <c:ptCount val="9"/>
                <c:lvl>
                  <c:pt idx="0">
                    <c:v>1</c:v>
                  </c:pt>
                  <c:pt idx="1">
                    <c:v>2</c:v>
                  </c:pt>
                  <c:pt idx="2">
                    <c:v>3</c:v>
                  </c:pt>
                  <c:pt idx="3">
                    <c:v>4</c:v>
                  </c:pt>
                  <c:pt idx="4">
                    <c:v>5</c:v>
                  </c:pt>
                  <c:pt idx="5">
                    <c:v>6</c:v>
                  </c:pt>
                  <c:pt idx="6">
                    <c:v>7</c:v>
                  </c:pt>
                  <c:pt idx="7">
                    <c:v>8</c:v>
                  </c:pt>
                  <c:pt idx="8">
                    <c:v>9</c:v>
                  </c:pt>
                </c:lvl>
              </c:multiLvlStrCache>
            </c:multiLvlStrRef>
          </c:cat>
          <c:val>
            <c:numRef>
              <c:f>Sheet1!$C$2:$C$10</c:f>
              <c:numCache>
                <c:formatCode>General</c:formatCode>
                <c:ptCount val="9"/>
                <c:pt idx="0">
                  <c:v>606190.88</c:v>
                </c:pt>
                <c:pt idx="1">
                  <c:v>576206.27</c:v>
                </c:pt>
                <c:pt idx="2">
                  <c:v>654753.34</c:v>
                </c:pt>
                <c:pt idx="3">
                  <c:v>632216.13</c:v>
                </c:pt>
                <c:pt idx="4">
                  <c:v>647585.46</c:v>
                </c:pt>
                <c:pt idx="5">
                  <c:v>705023.44</c:v>
                </c:pt>
                <c:pt idx="6">
                  <c:v>662392.5</c:v>
                </c:pt>
                <c:pt idx="7">
                  <c:v>723575.54</c:v>
                </c:pt>
                <c:pt idx="8">
                  <c:v>711304</c:v>
                </c:pt>
              </c:numCache>
            </c:numRef>
          </c:val>
          <c:smooth val="0"/>
        </c:ser>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1"/>
        <c:axPos val="b"/>
        <c:numFmt formatCode="General" sourceLinked="1"/>
        <c:majorTickMark val="out"/>
        <c:minorTickMark val="none"/>
        <c:tickLblPos val="low"/>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2"/>
        <c:crosses val="autoZero"/>
        <c:auto val="1"/>
        <c:lblAlgn val="ctr"/>
        <c:noMultiLvlLbl val="1"/>
      </c:catAx>
      <c:valAx>
        <c:axId val="2094734552"/>
        <c:scaling>
          <c:orientation val="minMax"/>
          <c:max val="825222.518"/>
          <c:min val="557760.622"/>
        </c:scaling>
        <c:delete val="1"/>
        <c:axPos val="l"/>
        <c:numFmt formatCode="General" sourceLinked="0"/>
        <c:majorTickMark val="out"/>
        <c:minorTickMark val="none"/>
        <c:tickLblPos val="nextTo"/>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noFill/>
        <a:ln>
          <a:noFill/>
        </a:ln>
        <a:effectLst/>
      </c:spPr>
    </c:plotArea>
    <c:plotVisOnly val="1"/>
    <c:dispBlanksAs val="span"/>
  </c:chart>
  <c:spPr>
    <a:noFill/>
    <a:ln>
      <a:noFill/>
    </a:ln>
    <a:effectLst/>
  </c:spPr>
  <c:externalData r:id="rId1">
    <c:autoUpdate val="0"/>
  </c:externalData>
</c:chartSpace>
</file>

<file path=ppt/charts/chart36.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manualLayout>
          <c:layoutTarget val="inner"/>
          <c:xMode val="edge"/>
          <c:yMode val="edge"/>
          <c:x val="0"/>
          <c:y val="0"/>
          <c:w val="1"/>
          <c:h val="1"/>
        </c:manualLayout>
      </c:layout>
      <c:lineChart>
        <c:varyColors val="0"/>
        <c:ser>
          <c:idx val="0"/>
          <c:order val="0"/>
          <c:tx>
            <c:strRef>
              <c:f>Sheet1!$B$1</c:f>
              <c:strCache>
                <c:ptCount val="1"/>
                <c:pt idx="0">
                  <c:v>prior</c:v>
                </c:pt>
              </c:strCache>
            </c:strRef>
          </c:tx>
          <c:spPr>
            <a:solidFill>
              <a:srgbClr val="A6A6A6"/>
            </a:solidFill>
            <a:ln w="22225" cap="flat">
              <a:solidFill>
                <a:srgbClr val="A6A6A6"/>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none"/>
            <c:size val="6"/>
            <c:spPr>
              <a:solidFill>
                <a:srgbClr val="A6A6A6"/>
              </a:solidFill>
              <a:ln w="9525" cap="flat">
                <a:solidFill>
                  <a:srgbClr val="A6A6A6"/>
                </a:solidFill>
                <a:prstDash val="solid"/>
                <a:round/>
              </a:ln>
              <a:effectLst/>
            </c:spPr>
          </c:marker>
          <c:cat>
            <c:multiLvlStrRef>
              <c:f>Sheet1!$A$2:$A$10</c:f>
              <c:multiLvlStrCache>
                <c:ptCount val="9"/>
                <c:lvl>
                  <c:pt idx="0">
                    <c:v>1</c:v>
                  </c:pt>
                  <c:pt idx="1">
                    <c:v>2</c:v>
                  </c:pt>
                  <c:pt idx="2">
                    <c:v>3</c:v>
                  </c:pt>
                  <c:pt idx="3">
                    <c:v>4</c:v>
                  </c:pt>
                  <c:pt idx="4">
                    <c:v>5</c:v>
                  </c:pt>
                  <c:pt idx="5">
                    <c:v>6</c:v>
                  </c:pt>
                  <c:pt idx="6">
                    <c:v>7</c:v>
                  </c:pt>
                  <c:pt idx="7">
                    <c:v>8</c:v>
                  </c:pt>
                  <c:pt idx="8">
                    <c:v>9</c:v>
                  </c:pt>
                </c:lvl>
              </c:multiLvlStrCache>
            </c:multiLvlStrRef>
          </c:cat>
          <c:val>
            <c:numRef>
              <c:f>Sheet1!$B$2:$B$10</c:f>
              <c:numCache>
                <c:formatCode>General</c:formatCode>
                <c:ptCount val="9"/>
                <c:pt idx="0">
                  <c:v>388690.59</c:v>
                </c:pt>
                <c:pt idx="1">
                  <c:v>340253.4</c:v>
                </c:pt>
                <c:pt idx="2">
                  <c:v>363438.9</c:v>
                </c:pt>
                <c:pt idx="3">
                  <c:v>368519.12</c:v>
                </c:pt>
                <c:pt idx="4">
                  <c:v>366273.39</c:v>
                </c:pt>
                <c:pt idx="5">
                  <c:v>387754.64</c:v>
                </c:pt>
                <c:pt idx="6">
                  <c:v>399942.95</c:v>
                </c:pt>
                <c:pt idx="7">
                  <c:v>343979.42</c:v>
                </c:pt>
                <c:pt idx="8">
                  <c:v>273370.84</c:v>
                </c:pt>
              </c:numCache>
            </c:numRef>
          </c:val>
          <c:smooth val="0"/>
        </c:ser>
        <c:ser>
          <c:idx val="1"/>
          <c:order val="1"/>
          <c:tx>
            <c:strRef>
              <c:f>Sheet1!$C$1</c:f>
              <c:strCache>
                <c:ptCount val="1"/>
                <c:pt idx="0">
                  <c:v>cur</c:v>
                </c:pt>
              </c:strCache>
            </c:strRef>
          </c:tx>
          <c:spPr>
            <a:solidFill>
              <a:srgbClr val="A82B26"/>
            </a:solidFill>
            <a:ln w="22225" cap="flat">
              <a:solidFill>
                <a:srgbClr val="A82B26"/>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none"/>
            <c:size val="6"/>
            <c:spPr>
              <a:solidFill>
                <a:srgbClr val="A82B26"/>
              </a:solidFill>
              <a:ln w="9525" cap="flat">
                <a:solidFill>
                  <a:srgbClr val="A82B26"/>
                </a:solidFill>
                <a:prstDash val="solid"/>
                <a:round/>
              </a:ln>
              <a:effectLst/>
            </c:spPr>
          </c:marker>
          <c:cat>
            <c:multiLvlStrRef>
              <c:f>Sheet1!$A$2:$A$10</c:f>
              <c:multiLvlStrCache>
                <c:ptCount val="9"/>
                <c:lvl>
                  <c:pt idx="0">
                    <c:v>1</c:v>
                  </c:pt>
                  <c:pt idx="1">
                    <c:v>2</c:v>
                  </c:pt>
                  <c:pt idx="2">
                    <c:v>3</c:v>
                  </c:pt>
                  <c:pt idx="3">
                    <c:v>4</c:v>
                  </c:pt>
                  <c:pt idx="4">
                    <c:v>5</c:v>
                  </c:pt>
                  <c:pt idx="5">
                    <c:v>6</c:v>
                  </c:pt>
                  <c:pt idx="6">
                    <c:v>7</c:v>
                  </c:pt>
                  <c:pt idx="7">
                    <c:v>8</c:v>
                  </c:pt>
                  <c:pt idx="8">
                    <c:v>9</c:v>
                  </c:pt>
                </c:lvl>
              </c:multiLvlStrCache>
            </c:multiLvlStrRef>
          </c:cat>
          <c:val>
            <c:numRef>
              <c:f>Sheet1!$C$2:$C$10</c:f>
              <c:numCache>
                <c:formatCode>General</c:formatCode>
                <c:ptCount val="9"/>
                <c:pt idx="0">
                  <c:v>352982.92</c:v>
                </c:pt>
                <c:pt idx="1">
                  <c:v>257357.28</c:v>
                </c:pt>
                <c:pt idx="2">
                  <c:v>359403.52</c:v>
                </c:pt>
                <c:pt idx="3">
                  <c:v>338905.35</c:v>
                </c:pt>
                <c:pt idx="4">
                  <c:v>339820.26</c:v>
                </c:pt>
                <c:pt idx="5">
                  <c:v>386529.52</c:v>
                </c:pt>
                <c:pt idx="6">
                  <c:v>334867.23</c:v>
                </c:pt>
                <c:pt idx="7">
                  <c:v>353652.99</c:v>
                </c:pt>
                <c:pt idx="8">
                  <c:v>316777.81</c:v>
                </c:pt>
              </c:numCache>
            </c:numRef>
          </c:val>
          <c:smooth val="0"/>
        </c:ser>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1"/>
        <c:axPos val="b"/>
        <c:numFmt formatCode="General" sourceLinked="1"/>
        <c:majorTickMark val="out"/>
        <c:minorTickMark val="none"/>
        <c:tickLblPos val="low"/>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2"/>
        <c:crosses val="autoZero"/>
        <c:auto val="1"/>
        <c:lblAlgn val="ctr"/>
        <c:noMultiLvlLbl val="1"/>
      </c:catAx>
      <c:valAx>
        <c:axId val="2094734552"/>
        <c:scaling>
          <c:orientation val="minMax"/>
          <c:max val="411349.8036"/>
          <c:min val="245950.4264"/>
        </c:scaling>
        <c:delete val="1"/>
        <c:axPos val="l"/>
        <c:numFmt formatCode="General" sourceLinked="0"/>
        <c:majorTickMark val="out"/>
        <c:minorTickMark val="none"/>
        <c:tickLblPos val="nextTo"/>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noFill/>
        <a:ln>
          <a:noFill/>
        </a:ln>
        <a:effectLst/>
      </c:spPr>
    </c:plotArea>
    <c:plotVisOnly val="1"/>
    <c:dispBlanksAs val="span"/>
  </c:chart>
  <c:spPr>
    <a:noFill/>
    <a:ln>
      <a:noFill/>
    </a:ln>
    <a:effectLst/>
  </c:spPr>
  <c:externalData r:id="rId1">
    <c:autoUpdate val="0"/>
  </c:externalData>
</c:chartSpace>
</file>

<file path=ppt/charts/chart37.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manualLayout>
          <c:layoutTarget val="inner"/>
          <c:xMode val="edge"/>
          <c:yMode val="edge"/>
          <c:x val="0"/>
          <c:y val="0"/>
          <c:w val="1"/>
          <c:h val="1"/>
        </c:manualLayout>
      </c:layout>
      <c:lineChart>
        <c:varyColors val="0"/>
        <c:ser>
          <c:idx val="0"/>
          <c:order val="0"/>
          <c:tx>
            <c:strRef>
              <c:f>Sheet1!$B$1</c:f>
              <c:strCache>
                <c:ptCount val="1"/>
                <c:pt idx="0">
                  <c:v>cur</c:v>
                </c:pt>
              </c:strCache>
            </c:strRef>
          </c:tx>
          <c:spPr>
            <a:solidFill>
              <a:srgbClr val="0B7A4A"/>
            </a:solidFill>
            <a:ln w="22225" cap="flat">
              <a:solidFill>
                <a:srgbClr val="0B7A4A"/>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none"/>
            <c:size val="6"/>
            <c:spPr>
              <a:solidFill>
                <a:srgbClr val="0B7A4A"/>
              </a:solidFill>
              <a:ln w="9525" cap="flat">
                <a:solidFill>
                  <a:srgbClr val="0B7A4A"/>
                </a:solidFill>
                <a:prstDash val="solid"/>
                <a:round/>
              </a:ln>
              <a:effectLst/>
            </c:spPr>
          </c:marker>
          <c:cat>
            <c:multiLvlStrRef>
              <c:f>Sheet1!$A$2:$A$10</c:f>
              <c:multiLvlStrCache>
                <c:ptCount val="9"/>
                <c:lvl>
                  <c:pt idx="0">
                    <c:v>1</c:v>
                  </c:pt>
                  <c:pt idx="1">
                    <c:v>2</c:v>
                  </c:pt>
                  <c:pt idx="2">
                    <c:v>3</c:v>
                  </c:pt>
                  <c:pt idx="3">
                    <c:v>4</c:v>
                  </c:pt>
                  <c:pt idx="4">
                    <c:v>5</c:v>
                  </c:pt>
                  <c:pt idx="5">
                    <c:v>6</c:v>
                  </c:pt>
                  <c:pt idx="6">
                    <c:v>7</c:v>
                  </c:pt>
                  <c:pt idx="7">
                    <c:v>8</c:v>
                  </c:pt>
                  <c:pt idx="8">
                    <c:v>9</c:v>
                  </c:pt>
                </c:lvl>
              </c:multiLvlStrCache>
            </c:multiLvlStrRef>
          </c:cat>
          <c:val>
            <c:numRef>
              <c:f>Sheet1!$B$2:$B$10</c:f>
              <c:numCache>
                <c:formatCode>General</c:formatCode>
                <c:ptCount val="9"/>
                <c:pt idx="0">
                  <c:v>200653.06</c:v>
                </c:pt>
                <c:pt idx="1">
                  <c:v>158543.21</c:v>
                </c:pt>
                <c:pt idx="2">
                  <c:v>239048.59</c:v>
                </c:pt>
                <c:pt idx="3">
                  <c:v>229696.39</c:v>
                </c:pt>
                <c:pt idx="4">
                  <c:v>230043.21</c:v>
                </c:pt>
                <c:pt idx="5">
                  <c:v>228281.59</c:v>
                </c:pt>
                <c:pt idx="6">
                  <c:v>237882.27</c:v>
                </c:pt>
                <c:pt idx="7">
                  <c:v>285444.13</c:v>
                </c:pt>
                <c:pt idx="8">
                  <c:v>302457.71</c:v>
                </c:pt>
              </c:numCache>
            </c:numRef>
          </c:val>
          <c:smooth val="0"/>
        </c:ser>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1"/>
        <c:axPos val="b"/>
        <c:numFmt formatCode="General" sourceLinked="1"/>
        <c:majorTickMark val="out"/>
        <c:minorTickMark val="none"/>
        <c:tickLblPos val="low"/>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2"/>
        <c:crosses val="autoZero"/>
        <c:auto val="1"/>
        <c:lblAlgn val="ctr"/>
        <c:noMultiLvlLbl val="1"/>
      </c:catAx>
      <c:valAx>
        <c:axId val="2094734552"/>
        <c:scaling>
          <c:orientation val="minMax"/>
          <c:max val="313970.87"/>
          <c:min val="147030.05"/>
        </c:scaling>
        <c:delete val="1"/>
        <c:axPos val="l"/>
        <c:numFmt formatCode="General" sourceLinked="0"/>
        <c:majorTickMark val="out"/>
        <c:minorTickMark val="none"/>
        <c:tickLblPos val="nextTo"/>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noFill/>
        <a:ln>
          <a:noFill/>
        </a:ln>
        <a:effectLst/>
      </c:spPr>
    </c:plotArea>
    <c:plotVisOnly val="1"/>
    <c:dispBlanksAs val="span"/>
  </c:chart>
  <c:spPr>
    <a:noFill/>
    <a:ln>
      <a:noFill/>
    </a:ln>
    <a:effectLst/>
  </c:spPr>
  <c:externalData r:id="rId1">
    <c:autoUpdate val="0"/>
  </c:externalData>
</c:chartSpace>
</file>

<file path=ppt/charts/chart38.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manualLayout>
          <c:layoutTarget val="inner"/>
          <c:xMode val="edge"/>
          <c:yMode val="edge"/>
          <c:x val="0"/>
          <c:y val="0"/>
          <c:w val="1"/>
          <c:h val="1"/>
        </c:manualLayout>
      </c:layout>
      <c:lineChart>
        <c:varyColors val="0"/>
        <c:ser>
          <c:idx val="0"/>
          <c:order val="0"/>
          <c:tx>
            <c:strRef>
              <c:f>Sheet1!$B$1</c:f>
              <c:strCache>
                <c:ptCount val="1"/>
                <c:pt idx="0">
                  <c:v>cur</c:v>
                </c:pt>
              </c:strCache>
            </c:strRef>
          </c:tx>
          <c:spPr>
            <a:solidFill>
              <a:srgbClr val="0B7A4A"/>
            </a:solidFill>
            <a:ln w="22225" cap="flat">
              <a:solidFill>
                <a:srgbClr val="0B7A4A"/>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none"/>
            <c:size val="6"/>
            <c:spPr>
              <a:solidFill>
                <a:srgbClr val="0B7A4A"/>
              </a:solidFill>
              <a:ln w="9525" cap="flat">
                <a:solidFill>
                  <a:srgbClr val="0B7A4A"/>
                </a:solidFill>
                <a:prstDash val="solid"/>
                <a:round/>
              </a:ln>
              <a:effectLst/>
            </c:spPr>
          </c:marker>
          <c:cat>
            <c:multiLvlStrRef>
              <c:f>Sheet1!$A$2:$A$10</c:f>
              <c:multiLvlStrCache>
                <c:ptCount val="9"/>
                <c:lvl>
                  <c:pt idx="0">
                    <c:v>1</c:v>
                  </c:pt>
                  <c:pt idx="1">
                    <c:v>2</c:v>
                  </c:pt>
                  <c:pt idx="2">
                    <c:v>3</c:v>
                  </c:pt>
                  <c:pt idx="3">
                    <c:v>4</c:v>
                  </c:pt>
                  <c:pt idx="4">
                    <c:v>5</c:v>
                  </c:pt>
                  <c:pt idx="5">
                    <c:v>6</c:v>
                  </c:pt>
                  <c:pt idx="6">
                    <c:v>7</c:v>
                  </c:pt>
                  <c:pt idx="7">
                    <c:v>8</c:v>
                  </c:pt>
                  <c:pt idx="8">
                    <c:v>9</c:v>
                  </c:pt>
                </c:lvl>
              </c:multiLvlStrCache>
            </c:multiLvlStrRef>
          </c:cat>
          <c:val>
            <c:numRef>
              <c:f>Sheet1!$B$2:$B$10</c:f>
              <c:numCache>
                <c:formatCode>General</c:formatCode>
                <c:ptCount val="9"/>
                <c:pt idx="0">
                  <c:v>125432.41</c:v>
                </c:pt>
                <c:pt idx="1">
                  <c:v>134497.26</c:v>
                </c:pt>
                <c:pt idx="2">
                  <c:v>137502.63</c:v>
                </c:pt>
                <c:pt idx="3">
                  <c:v>157909.72</c:v>
                </c:pt>
                <c:pt idx="4">
                  <c:v>150491.06</c:v>
                </c:pt>
                <c:pt idx="5">
                  <c:v>154136.1</c:v>
                </c:pt>
                <c:pt idx="6">
                  <c:v>187252.61</c:v>
                </c:pt>
                <c:pt idx="7">
                  <c:v>171149.75</c:v>
                </c:pt>
                <c:pt idx="8">
                  <c:v>176195.28</c:v>
                </c:pt>
              </c:numCache>
            </c:numRef>
          </c:val>
          <c:smooth val="0"/>
        </c:ser>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1"/>
        <c:axPos val="b"/>
        <c:numFmt formatCode="General" sourceLinked="1"/>
        <c:majorTickMark val="out"/>
        <c:minorTickMark val="none"/>
        <c:tickLblPos val="low"/>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2"/>
        <c:crosses val="autoZero"/>
        <c:auto val="1"/>
        <c:lblAlgn val="ctr"/>
        <c:noMultiLvlLbl val="1"/>
      </c:catAx>
      <c:valAx>
        <c:axId val="2094734552"/>
        <c:scaling>
          <c:orientation val="minMax"/>
          <c:max val="192198.226"/>
          <c:min val="120486.79400000001"/>
        </c:scaling>
        <c:delete val="1"/>
        <c:axPos val="l"/>
        <c:numFmt formatCode="General" sourceLinked="0"/>
        <c:majorTickMark val="out"/>
        <c:minorTickMark val="none"/>
        <c:tickLblPos val="nextTo"/>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noFill/>
        <a:ln>
          <a:noFill/>
        </a:ln>
        <a:effectLst/>
      </c:spPr>
    </c:plotArea>
    <c:plotVisOnly val="1"/>
    <c:dispBlanksAs val="span"/>
  </c:chart>
  <c:spPr>
    <a:noFill/>
    <a:ln>
      <a:noFill/>
    </a:ln>
    <a:effectLst/>
  </c:spPr>
  <c:externalData r:id="rId1">
    <c:autoUpdate val="0"/>
  </c:externalData>
</c:chartSpace>
</file>

<file path=ppt/charts/chart39.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manualLayout>
          <c:layoutTarget val="inner"/>
          <c:xMode val="edge"/>
          <c:yMode val="edge"/>
          <c:x val="0"/>
          <c:y val="0"/>
          <c:w val="1"/>
          <c:h val="1"/>
        </c:manualLayout>
      </c:layout>
      <c:lineChart>
        <c:varyColors val="0"/>
        <c:ser>
          <c:idx val="0"/>
          <c:order val="0"/>
          <c:tx>
            <c:strRef>
              <c:f>Sheet1!$B$1</c:f>
              <c:strCache>
                <c:ptCount val="1"/>
                <c:pt idx="0">
                  <c:v>cur</c:v>
                </c:pt>
              </c:strCache>
            </c:strRef>
          </c:tx>
          <c:spPr>
            <a:solidFill>
              <a:srgbClr val="0B7A4A"/>
            </a:solidFill>
            <a:ln w="22225" cap="flat">
              <a:solidFill>
                <a:srgbClr val="0B7A4A"/>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none"/>
            <c:size val="6"/>
            <c:spPr>
              <a:solidFill>
                <a:srgbClr val="0B7A4A"/>
              </a:solidFill>
              <a:ln w="9525" cap="flat">
                <a:solidFill>
                  <a:srgbClr val="0B7A4A"/>
                </a:solidFill>
                <a:prstDash val="solid"/>
                <a:round/>
              </a:ln>
              <a:effectLst/>
            </c:spPr>
          </c:marker>
          <c:cat>
            <c:multiLvlStrRef>
              <c:f>Sheet1!$A$2:$A$10</c:f>
              <c:multiLvlStrCache>
                <c:ptCount val="9"/>
                <c:lvl>
                  <c:pt idx="0">
                    <c:v>1</c:v>
                  </c:pt>
                  <c:pt idx="1">
                    <c:v>2</c:v>
                  </c:pt>
                  <c:pt idx="2">
                    <c:v>3</c:v>
                  </c:pt>
                  <c:pt idx="3">
                    <c:v>4</c:v>
                  </c:pt>
                  <c:pt idx="4">
                    <c:v>5</c:v>
                  </c:pt>
                  <c:pt idx="5">
                    <c:v>6</c:v>
                  </c:pt>
                  <c:pt idx="6">
                    <c:v>7</c:v>
                  </c:pt>
                  <c:pt idx="7">
                    <c:v>8</c:v>
                  </c:pt>
                  <c:pt idx="8">
                    <c:v>9</c:v>
                  </c:pt>
                </c:lvl>
              </c:multiLvlStrCache>
            </c:multiLvlStrRef>
          </c:cat>
          <c:val>
            <c:numRef>
              <c:f>Sheet1!$B$2:$B$10</c:f>
              <c:numCache>
                <c:formatCode>General</c:formatCode>
                <c:ptCount val="9"/>
                <c:pt idx="0">
                  <c:v>69682.41</c:v>
                </c:pt>
                <c:pt idx="1">
                  <c:v>92272.03</c:v>
                </c:pt>
                <c:pt idx="2">
                  <c:v>125178.68</c:v>
                </c:pt>
                <c:pt idx="3">
                  <c:v>95472.62</c:v>
                </c:pt>
                <c:pt idx="4">
                  <c:v>106105.6</c:v>
                </c:pt>
                <c:pt idx="5">
                  <c:v>118651.26</c:v>
                </c:pt>
                <c:pt idx="6">
                  <c:v>142107.98</c:v>
                </c:pt>
                <c:pt idx="7">
                  <c:v>123108.19</c:v>
                </c:pt>
                <c:pt idx="8">
                  <c:v>119981.01</c:v>
                </c:pt>
              </c:numCache>
            </c:numRef>
          </c:val>
          <c:smooth val="0"/>
        </c:ser>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1"/>
        <c:axPos val="b"/>
        <c:numFmt formatCode="General" sourceLinked="1"/>
        <c:majorTickMark val="out"/>
        <c:minorTickMark val="none"/>
        <c:tickLblPos val="low"/>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2"/>
        <c:crosses val="autoZero"/>
        <c:auto val="1"/>
        <c:lblAlgn val="ctr"/>
        <c:noMultiLvlLbl val="1"/>
      </c:catAx>
      <c:valAx>
        <c:axId val="2094734552"/>
        <c:scaling>
          <c:orientation val="minMax"/>
          <c:max val="147902.02560000002"/>
          <c:min val="63888.364400000006"/>
        </c:scaling>
        <c:delete val="1"/>
        <c:axPos val="l"/>
        <c:numFmt formatCode="General" sourceLinked="0"/>
        <c:majorTickMark val="out"/>
        <c:minorTickMark val="none"/>
        <c:tickLblPos val="nextTo"/>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noFill/>
        <a:ln>
          <a:noFill/>
        </a:ln>
        <a:effectLst/>
      </c:spPr>
    </c:plotArea>
    <c:plotVisOnly val="1"/>
    <c:dispBlanksAs val="span"/>
  </c:chart>
  <c:spPr>
    <a:noFill/>
    <a:ln>
      <a:noFill/>
    </a:ln>
    <a:effectLst/>
  </c:spPr>
  <c:externalData r:id="rId1">
    <c:autoUpdate val="0"/>
  </c:externalData>
</c:chartSpace>
</file>

<file path=ppt/charts/chart40.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manualLayout>
          <c:layoutTarget val="inner"/>
          <c:xMode val="edge"/>
          <c:yMode val="edge"/>
          <c:x val="0"/>
          <c:y val="0"/>
          <c:w val="1"/>
          <c:h val="1"/>
        </c:manualLayout>
      </c:layout>
      <c:lineChart>
        <c:varyColors val="0"/>
        <c:ser>
          <c:idx val="0"/>
          <c:order val="0"/>
          <c:tx>
            <c:strRef>
              <c:f>Sheet1!$B$1</c:f>
              <c:strCache>
                <c:ptCount val="1"/>
                <c:pt idx="0">
                  <c:v>cur</c:v>
                </c:pt>
              </c:strCache>
            </c:strRef>
          </c:tx>
          <c:spPr>
            <a:solidFill>
              <a:srgbClr val="0B7A4A"/>
            </a:solidFill>
            <a:ln w="22225" cap="flat">
              <a:solidFill>
                <a:srgbClr val="0B7A4A"/>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none"/>
            <c:size val="6"/>
            <c:spPr>
              <a:solidFill>
                <a:srgbClr val="0B7A4A"/>
              </a:solidFill>
              <a:ln w="9525" cap="flat">
                <a:solidFill>
                  <a:srgbClr val="0B7A4A"/>
                </a:solidFill>
                <a:prstDash val="solid"/>
                <a:round/>
              </a:ln>
              <a:effectLst/>
            </c:spPr>
          </c:marker>
          <c:cat>
            <c:multiLvlStrRef>
              <c:f>Sheet1!$A$2:$A$10</c:f>
              <c:multiLvlStrCache>
                <c:ptCount val="9"/>
                <c:lvl>
                  <c:pt idx="0">
                    <c:v>1</c:v>
                  </c:pt>
                  <c:pt idx="1">
                    <c:v>2</c:v>
                  </c:pt>
                  <c:pt idx="2">
                    <c:v>3</c:v>
                  </c:pt>
                  <c:pt idx="3">
                    <c:v>4</c:v>
                  </c:pt>
                  <c:pt idx="4">
                    <c:v>5</c:v>
                  </c:pt>
                  <c:pt idx="5">
                    <c:v>6</c:v>
                  </c:pt>
                  <c:pt idx="6">
                    <c:v>7</c:v>
                  </c:pt>
                  <c:pt idx="7">
                    <c:v>8</c:v>
                  </c:pt>
                  <c:pt idx="8">
                    <c:v>9</c:v>
                  </c:pt>
                </c:lvl>
              </c:multiLvlStrCache>
            </c:multiLvlStrRef>
          </c:cat>
          <c:val>
            <c:numRef>
              <c:f>Sheet1!$B$2:$B$10</c:f>
              <c:numCache>
                <c:formatCode>General</c:formatCode>
                <c:ptCount val="9"/>
                <c:pt idx="0">
                  <c:v>199927.32</c:v>
                </c:pt>
                <c:pt idx="1">
                  <c:v>200794.5</c:v>
                </c:pt>
                <c:pt idx="2">
                  <c:v>217262.32</c:v>
                </c:pt>
                <c:pt idx="3">
                  <c:v>260817.67</c:v>
                </c:pt>
                <c:pt idx="4">
                  <c:v>226404.32</c:v>
                </c:pt>
                <c:pt idx="5">
                  <c:v>217622.84</c:v>
                </c:pt>
                <c:pt idx="6">
                  <c:v>260714.22</c:v>
                </c:pt>
                <c:pt idx="7">
                  <c:v>275924.76</c:v>
                </c:pt>
                <c:pt idx="8">
                  <c:v>281292.55</c:v>
                </c:pt>
              </c:numCache>
            </c:numRef>
          </c:val>
          <c:smooth val="0"/>
        </c:ser>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1"/>
        <c:axPos val="b"/>
        <c:numFmt formatCode="General" sourceLinked="1"/>
        <c:majorTickMark val="out"/>
        <c:minorTickMark val="none"/>
        <c:tickLblPos val="low"/>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2"/>
        <c:crosses val="autoZero"/>
        <c:auto val="1"/>
        <c:lblAlgn val="ctr"/>
        <c:noMultiLvlLbl val="1"/>
      </c:catAx>
      <c:valAx>
        <c:axId val="2094734552"/>
        <c:scaling>
          <c:orientation val="minMax"/>
          <c:max val="287801.7684"/>
          <c:min val="193418.1016"/>
        </c:scaling>
        <c:delete val="1"/>
        <c:axPos val="l"/>
        <c:numFmt formatCode="General" sourceLinked="0"/>
        <c:majorTickMark val="out"/>
        <c:minorTickMark val="none"/>
        <c:tickLblPos val="nextTo"/>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noFill/>
        <a:ln>
          <a:noFill/>
        </a:ln>
        <a:effectLst/>
      </c:spPr>
    </c:plotArea>
    <c:plotVisOnly val="1"/>
    <c:dispBlanksAs val="span"/>
  </c:chart>
  <c:spPr>
    <a:noFill/>
    <a:ln>
      <a:noFill/>
    </a:ln>
    <a:effectLst/>
  </c:spPr>
  <c:externalData r:id="rId1">
    <c:autoUpdate val="0"/>
  </c:externalData>
</c:chartSpace>
</file>

<file path=ppt/charts/chart41.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manualLayout>
          <c:layoutTarget val="inner"/>
          <c:xMode val="edge"/>
          <c:yMode val="edge"/>
          <c:x val="0"/>
          <c:y val="0"/>
          <c:w val="1"/>
          <c:h val="1"/>
        </c:manualLayout>
      </c:layout>
      <c:lineChart>
        <c:varyColors val="0"/>
        <c:ser>
          <c:idx val="0"/>
          <c:order val="0"/>
          <c:tx>
            <c:strRef>
              <c:f>Sheet1!$B$1</c:f>
              <c:strCache>
                <c:ptCount val="1"/>
                <c:pt idx="0">
                  <c:v>cur</c:v>
                </c:pt>
              </c:strCache>
            </c:strRef>
          </c:tx>
          <c:spPr>
            <a:solidFill>
              <a:srgbClr val="0B7A4A"/>
            </a:solidFill>
            <a:ln w="22225" cap="flat">
              <a:solidFill>
                <a:srgbClr val="0B7A4A"/>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none"/>
            <c:size val="6"/>
            <c:spPr>
              <a:solidFill>
                <a:srgbClr val="0B7A4A"/>
              </a:solidFill>
              <a:ln w="9525" cap="flat">
                <a:solidFill>
                  <a:srgbClr val="0B7A4A"/>
                </a:solidFill>
                <a:prstDash val="solid"/>
                <a:round/>
              </a:ln>
              <a:effectLst/>
            </c:spPr>
          </c:marker>
          <c:cat>
            <c:multiLvlStrRef>
              <c:f>Sheet1!$A$2:$A$10</c:f>
              <c:multiLvlStrCache>
                <c:ptCount val="9"/>
                <c:lvl>
                  <c:pt idx="0">
                    <c:v>1</c:v>
                  </c:pt>
                  <c:pt idx="1">
                    <c:v>2</c:v>
                  </c:pt>
                  <c:pt idx="2">
                    <c:v>3</c:v>
                  </c:pt>
                  <c:pt idx="3">
                    <c:v>4</c:v>
                  </c:pt>
                  <c:pt idx="4">
                    <c:v>5</c:v>
                  </c:pt>
                  <c:pt idx="5">
                    <c:v>6</c:v>
                  </c:pt>
                  <c:pt idx="6">
                    <c:v>7</c:v>
                  </c:pt>
                  <c:pt idx="7">
                    <c:v>8</c:v>
                  </c:pt>
                  <c:pt idx="8">
                    <c:v>9</c:v>
                  </c:pt>
                </c:lvl>
              </c:multiLvlStrCache>
            </c:multiLvlStrRef>
          </c:cat>
          <c:val>
            <c:numRef>
              <c:f>Sheet1!$B$2:$B$10</c:f>
              <c:numCache>
                <c:formatCode>General</c:formatCode>
                <c:ptCount val="9"/>
                <c:pt idx="0">
                  <c:v>248354.23</c:v>
                </c:pt>
                <c:pt idx="1">
                  <c:v>217565.48</c:v>
                </c:pt>
                <c:pt idx="2">
                  <c:v>241235.4</c:v>
                </c:pt>
                <c:pt idx="3">
                  <c:v>209999.13</c:v>
                </c:pt>
                <c:pt idx="4">
                  <c:v>235363.8</c:v>
                </c:pt>
                <c:pt idx="5">
                  <c:v>273739.86</c:v>
                </c:pt>
                <c:pt idx="6">
                  <c:v>311914.99</c:v>
                </c:pt>
                <c:pt idx="7">
                  <c:v>296487.01</c:v>
                </c:pt>
                <c:pt idx="8">
                  <c:v>260612.17</c:v>
                </c:pt>
              </c:numCache>
            </c:numRef>
          </c:val>
          <c:smooth val="0"/>
        </c:ser>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1"/>
        <c:axPos val="b"/>
        <c:numFmt formatCode="General" sourceLinked="1"/>
        <c:majorTickMark val="out"/>
        <c:minorTickMark val="none"/>
        <c:tickLblPos val="low"/>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2"/>
        <c:crosses val="autoZero"/>
        <c:auto val="1"/>
        <c:lblAlgn val="ctr"/>
        <c:noMultiLvlLbl val="1"/>
      </c:catAx>
      <c:valAx>
        <c:axId val="2094734552"/>
        <c:scaling>
          <c:orientation val="minMax"/>
          <c:max val="320068.2588"/>
          <c:min val="201845.8612"/>
        </c:scaling>
        <c:delete val="1"/>
        <c:axPos val="l"/>
        <c:numFmt formatCode="General" sourceLinked="0"/>
        <c:majorTickMark val="out"/>
        <c:minorTickMark val="none"/>
        <c:tickLblPos val="nextTo"/>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noFill/>
        <a:ln>
          <a:noFill/>
        </a:ln>
        <a:effectLst/>
      </c:spPr>
    </c:plotArea>
    <c:plotVisOnly val="1"/>
    <c:dispBlanksAs val="span"/>
  </c:chart>
  <c:spPr>
    <a:noFill/>
    <a:ln>
      <a:noFill/>
    </a:ln>
    <a:effectLst/>
  </c:spPr>
  <c:externalData r:id="rId1">
    <c:autoUpdate val="0"/>
  </c:externalData>
</c:chartSpace>
</file>

<file path=ppt/charts/chart48.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manualLayout>
          <c:layoutTarget val="inner"/>
          <c:xMode val="edge"/>
          <c:yMode val="edge"/>
          <c:x val="0"/>
          <c:y val="0"/>
          <c:w val="1"/>
          <c:h val="1"/>
        </c:manualLayout>
      </c:layout>
      <c:lineChart>
        <c:varyColors val="0"/>
        <c:ser>
          <c:idx val="0"/>
          <c:order val="0"/>
          <c:tx>
            <c:strRef>
              <c:f>Sheet1!$B$1</c:f>
              <c:strCache>
                <c:ptCount val="1"/>
                <c:pt idx="0">
                  <c:v>prior</c:v>
                </c:pt>
              </c:strCache>
            </c:strRef>
          </c:tx>
          <c:spPr>
            <a:solidFill>
              <a:srgbClr val="A6A6A6"/>
            </a:solidFill>
            <a:ln w="22225" cap="flat">
              <a:solidFill>
                <a:srgbClr val="A6A6A6"/>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none"/>
            <c:size val="6"/>
            <c:spPr>
              <a:solidFill>
                <a:srgbClr val="A6A6A6"/>
              </a:solidFill>
              <a:ln w="9525" cap="flat">
                <a:solidFill>
                  <a:srgbClr val="A6A6A6"/>
                </a:solidFill>
                <a:prstDash val="solid"/>
                <a:round/>
              </a:ln>
              <a:effectLst/>
            </c:spPr>
          </c:marker>
          <c:cat>
            <c:multiLvlStrRef>
              <c:f>Sheet1!$A$2:$A$10</c:f>
              <c:multiLvlStrCache>
                <c:ptCount val="9"/>
                <c:lvl>
                  <c:pt idx="0">
                    <c:v>1</c:v>
                  </c:pt>
                  <c:pt idx="1">
                    <c:v>2</c:v>
                  </c:pt>
                  <c:pt idx="2">
                    <c:v>3</c:v>
                  </c:pt>
                  <c:pt idx="3">
                    <c:v>4</c:v>
                  </c:pt>
                  <c:pt idx="4">
                    <c:v>5</c:v>
                  </c:pt>
                  <c:pt idx="5">
                    <c:v>6</c:v>
                  </c:pt>
                  <c:pt idx="6">
                    <c:v>7</c:v>
                  </c:pt>
                  <c:pt idx="7">
                    <c:v>8</c:v>
                  </c:pt>
                  <c:pt idx="8">
                    <c:v>9</c:v>
                  </c:pt>
                </c:lvl>
              </c:multiLvlStrCache>
            </c:multiLvlStrRef>
          </c:cat>
          <c:val>
            <c:numRef>
              <c:f>Sheet1!$B$2:$B$10</c:f>
              <c:numCache>
                <c:formatCode>General</c:formatCode>
                <c:ptCount val="9"/>
                <c:pt idx="0">
                  <c:v>76895.71</c:v>
                </c:pt>
                <c:pt idx="1">
                  <c:v>63351.53</c:v>
                </c:pt>
                <c:pt idx="2">
                  <c:v>74848.47</c:v>
                </c:pt>
                <c:pt idx="3">
                  <c:v>74223.57</c:v>
                </c:pt>
                <c:pt idx="4">
                  <c:v>70582.35</c:v>
                </c:pt>
                <c:pt idx="5">
                  <c:v>65935.41</c:v>
                </c:pt>
                <c:pt idx="6">
                  <c:v>75612.26</c:v>
                </c:pt>
                <c:pt idx="7">
                  <c:v>95502.37</c:v>
                </c:pt>
                <c:pt idx="8">
                  <c:v>56955.79</c:v>
                </c:pt>
              </c:numCache>
            </c:numRef>
          </c:val>
          <c:smooth val="0"/>
        </c:ser>
        <c:ser>
          <c:idx val="1"/>
          <c:order val="1"/>
          <c:tx>
            <c:strRef>
              <c:f>Sheet1!$C$1</c:f>
              <c:strCache>
                <c:ptCount val="1"/>
                <c:pt idx="0">
                  <c:v>cur</c:v>
                </c:pt>
              </c:strCache>
            </c:strRef>
          </c:tx>
          <c:spPr>
            <a:solidFill>
              <a:srgbClr val="0B7A4A"/>
            </a:solidFill>
            <a:ln w="22225" cap="flat">
              <a:solidFill>
                <a:srgbClr val="0B7A4A"/>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none"/>
            <c:size val="6"/>
            <c:spPr>
              <a:solidFill>
                <a:srgbClr val="0B7A4A"/>
              </a:solidFill>
              <a:ln w="9525" cap="flat">
                <a:solidFill>
                  <a:srgbClr val="0B7A4A"/>
                </a:solidFill>
                <a:prstDash val="solid"/>
                <a:round/>
              </a:ln>
              <a:effectLst/>
            </c:spPr>
          </c:marker>
          <c:cat>
            <c:multiLvlStrRef>
              <c:f>Sheet1!$A$2:$A$10</c:f>
              <c:multiLvlStrCache>
                <c:ptCount val="9"/>
                <c:lvl>
                  <c:pt idx="0">
                    <c:v>1</c:v>
                  </c:pt>
                  <c:pt idx="1">
                    <c:v>2</c:v>
                  </c:pt>
                  <c:pt idx="2">
                    <c:v>3</c:v>
                  </c:pt>
                  <c:pt idx="3">
                    <c:v>4</c:v>
                  </c:pt>
                  <c:pt idx="4">
                    <c:v>5</c:v>
                  </c:pt>
                  <c:pt idx="5">
                    <c:v>6</c:v>
                  </c:pt>
                  <c:pt idx="6">
                    <c:v>7</c:v>
                  </c:pt>
                  <c:pt idx="7">
                    <c:v>8</c:v>
                  </c:pt>
                  <c:pt idx="8">
                    <c:v>9</c:v>
                  </c:pt>
                </c:lvl>
              </c:multiLvlStrCache>
            </c:multiLvlStrRef>
          </c:cat>
          <c:val>
            <c:numRef>
              <c:f>Sheet1!$C$2:$C$10</c:f>
              <c:numCache>
                <c:formatCode>General</c:formatCode>
                <c:ptCount val="9"/>
                <c:pt idx="0">
                  <c:v>98249.62</c:v>
                </c:pt>
                <c:pt idx="1">
                  <c:v>92743.03</c:v>
                </c:pt>
                <c:pt idx="2">
                  <c:v>115703.54</c:v>
                </c:pt>
                <c:pt idx="3">
                  <c:v>90681.24</c:v>
                </c:pt>
                <c:pt idx="4">
                  <c:v>85929.13</c:v>
                </c:pt>
                <c:pt idx="5">
                  <c:v>90034.43</c:v>
                </c:pt>
                <c:pt idx="6">
                  <c:v>103967.77</c:v>
                </c:pt>
                <c:pt idx="7">
                  <c:v>112276.13</c:v>
                </c:pt>
                <c:pt idx="8">
                  <c:v>106872.2</c:v>
                </c:pt>
              </c:numCache>
            </c:numRef>
          </c:val>
          <c:smooth val="0"/>
        </c:ser>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1"/>
        <c:axPos val="b"/>
        <c:numFmt formatCode="General" sourceLinked="1"/>
        <c:majorTickMark val="out"/>
        <c:minorTickMark val="none"/>
        <c:tickLblPos val="low"/>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2"/>
        <c:crosses val="autoZero"/>
        <c:auto val="1"/>
        <c:lblAlgn val="ctr"/>
        <c:noMultiLvlLbl val="1"/>
      </c:catAx>
      <c:valAx>
        <c:axId val="2094734552"/>
        <c:scaling>
          <c:orientation val="minMax"/>
          <c:max val="120403.35999999999"/>
          <c:min val="52255.97"/>
        </c:scaling>
        <c:delete val="1"/>
        <c:axPos val="l"/>
        <c:numFmt formatCode="General" sourceLinked="0"/>
        <c:majorTickMark val="out"/>
        <c:minorTickMark val="none"/>
        <c:tickLblPos val="nextTo"/>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noFill/>
        <a:ln>
          <a:noFill/>
        </a:ln>
        <a:effectLst/>
      </c:spPr>
    </c:plotArea>
    <c:plotVisOnly val="1"/>
    <c:dispBlanksAs val="span"/>
  </c:chart>
  <c:spPr>
    <a:noFill/>
    <a:ln>
      <a:noFill/>
    </a:ln>
    <a:effectLst/>
  </c:spPr>
  <c:externalData r:id="rId1">
    <c:autoUpdate val="0"/>
  </c:externalData>
</c:chartSpace>
</file>

<file path=ppt/charts/chart49.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manualLayout>
          <c:layoutTarget val="inner"/>
          <c:xMode val="edge"/>
          <c:yMode val="edge"/>
          <c:x val="0"/>
          <c:y val="0"/>
          <c:w val="1"/>
          <c:h val="1"/>
        </c:manualLayout>
      </c:layout>
      <c:lineChart>
        <c:varyColors val="0"/>
        <c:ser>
          <c:idx val="0"/>
          <c:order val="0"/>
          <c:tx>
            <c:strRef>
              <c:f>Sheet1!$B$1</c:f>
              <c:strCache>
                <c:ptCount val="1"/>
                <c:pt idx="0">
                  <c:v>prior</c:v>
                </c:pt>
              </c:strCache>
            </c:strRef>
          </c:tx>
          <c:spPr>
            <a:solidFill>
              <a:srgbClr val="A6A6A6"/>
            </a:solidFill>
            <a:ln w="22225" cap="flat">
              <a:solidFill>
                <a:srgbClr val="A6A6A6"/>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none"/>
            <c:size val="6"/>
            <c:spPr>
              <a:solidFill>
                <a:srgbClr val="A6A6A6"/>
              </a:solidFill>
              <a:ln w="9525" cap="flat">
                <a:solidFill>
                  <a:srgbClr val="A6A6A6"/>
                </a:solidFill>
                <a:prstDash val="solid"/>
                <a:round/>
              </a:ln>
              <a:effectLst/>
            </c:spPr>
          </c:marker>
          <c:cat>
            <c:multiLvlStrRef>
              <c:f>Sheet1!$A$2:$A$10</c:f>
              <c:multiLvlStrCache>
                <c:ptCount val="9"/>
                <c:lvl>
                  <c:pt idx="0">
                    <c:v>1</c:v>
                  </c:pt>
                  <c:pt idx="1">
                    <c:v>2</c:v>
                  </c:pt>
                  <c:pt idx="2">
                    <c:v>3</c:v>
                  </c:pt>
                  <c:pt idx="3">
                    <c:v>4</c:v>
                  </c:pt>
                  <c:pt idx="4">
                    <c:v>5</c:v>
                  </c:pt>
                  <c:pt idx="5">
                    <c:v>6</c:v>
                  </c:pt>
                  <c:pt idx="6">
                    <c:v>7</c:v>
                  </c:pt>
                  <c:pt idx="7">
                    <c:v>8</c:v>
                  </c:pt>
                  <c:pt idx="8">
                    <c:v>9</c:v>
                  </c:pt>
                </c:lvl>
              </c:multiLvlStrCache>
            </c:multiLvlStrRef>
          </c:cat>
          <c:val>
            <c:numRef>
              <c:f>Sheet1!$B$2:$B$10</c:f>
              <c:numCache>
                <c:formatCode>General</c:formatCode>
                <c:ptCount val="9"/>
                <c:pt idx="0">
                  <c:v>288780.22</c:v>
                </c:pt>
                <c:pt idx="1">
                  <c:v>287893.23</c:v>
                </c:pt>
                <c:pt idx="2">
                  <c:v>277157.05</c:v>
                </c:pt>
                <c:pt idx="3">
                  <c:v>249244.4</c:v>
                </c:pt>
                <c:pt idx="4">
                  <c:v>267904.23</c:v>
                </c:pt>
                <c:pt idx="5">
                  <c:v>262698.23</c:v>
                </c:pt>
                <c:pt idx="6">
                  <c:v>247923.28</c:v>
                </c:pt>
                <c:pt idx="7">
                  <c:v>263121.6</c:v>
                </c:pt>
                <c:pt idx="8">
                  <c:v>274470.91</c:v>
                </c:pt>
              </c:numCache>
            </c:numRef>
          </c:val>
          <c:smooth val="0"/>
        </c:ser>
        <c:ser>
          <c:idx val="1"/>
          <c:order val="1"/>
          <c:tx>
            <c:strRef>
              <c:f>Sheet1!$C$1</c:f>
              <c:strCache>
                <c:ptCount val="1"/>
                <c:pt idx="0">
                  <c:v>cur</c:v>
                </c:pt>
              </c:strCache>
            </c:strRef>
          </c:tx>
          <c:spPr>
            <a:solidFill>
              <a:srgbClr val="0B7A4A"/>
            </a:solidFill>
            <a:ln w="22225" cap="flat">
              <a:solidFill>
                <a:srgbClr val="0B7A4A"/>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none"/>
            <c:size val="6"/>
            <c:spPr>
              <a:solidFill>
                <a:srgbClr val="0B7A4A"/>
              </a:solidFill>
              <a:ln w="9525" cap="flat">
                <a:solidFill>
                  <a:srgbClr val="0B7A4A"/>
                </a:solidFill>
                <a:prstDash val="solid"/>
                <a:round/>
              </a:ln>
              <a:effectLst/>
            </c:spPr>
          </c:marker>
          <c:cat>
            <c:multiLvlStrRef>
              <c:f>Sheet1!$A$2:$A$10</c:f>
              <c:multiLvlStrCache>
                <c:ptCount val="9"/>
                <c:lvl>
                  <c:pt idx="0">
                    <c:v>1</c:v>
                  </c:pt>
                  <c:pt idx="1">
                    <c:v>2</c:v>
                  </c:pt>
                  <c:pt idx="2">
                    <c:v>3</c:v>
                  </c:pt>
                  <c:pt idx="3">
                    <c:v>4</c:v>
                  </c:pt>
                  <c:pt idx="4">
                    <c:v>5</c:v>
                  </c:pt>
                  <c:pt idx="5">
                    <c:v>6</c:v>
                  </c:pt>
                  <c:pt idx="6">
                    <c:v>7</c:v>
                  </c:pt>
                  <c:pt idx="7">
                    <c:v>8</c:v>
                  </c:pt>
                  <c:pt idx="8">
                    <c:v>9</c:v>
                  </c:pt>
                </c:lvl>
              </c:multiLvlStrCache>
            </c:multiLvlStrRef>
          </c:cat>
          <c:val>
            <c:numRef>
              <c:f>Sheet1!$C$2:$C$10</c:f>
              <c:numCache>
                <c:formatCode>General</c:formatCode>
                <c:ptCount val="9"/>
                <c:pt idx="0">
                  <c:v>329503.49</c:v>
                </c:pt>
                <c:pt idx="1">
                  <c:v>348356.24</c:v>
                </c:pt>
                <c:pt idx="2">
                  <c:v>317317.02</c:v>
                </c:pt>
                <c:pt idx="3">
                  <c:v>377563.15</c:v>
                </c:pt>
                <c:pt idx="4">
                  <c:v>339869.98</c:v>
                </c:pt>
                <c:pt idx="5">
                  <c:v>330694.3</c:v>
                </c:pt>
                <c:pt idx="6">
                  <c:v>375385.77</c:v>
                </c:pt>
                <c:pt idx="7">
                  <c:v>343496.27</c:v>
                </c:pt>
                <c:pt idx="8">
                  <c:v>345080.68</c:v>
                </c:pt>
              </c:numCache>
            </c:numRef>
          </c:val>
          <c:smooth val="0"/>
        </c:ser>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1"/>
        <c:axPos val="b"/>
        <c:numFmt formatCode="General" sourceLinked="1"/>
        <c:majorTickMark val="out"/>
        <c:minorTickMark val="none"/>
        <c:tickLblPos val="low"/>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2"/>
        <c:crosses val="autoZero"/>
        <c:auto val="1"/>
        <c:lblAlgn val="ctr"/>
        <c:noMultiLvlLbl val="1"/>
      </c:catAx>
      <c:valAx>
        <c:axId val="2094734552"/>
        <c:scaling>
          <c:orientation val="minMax"/>
          <c:max val="387934.3396"/>
          <c:min val="237552.0904"/>
        </c:scaling>
        <c:delete val="1"/>
        <c:axPos val="l"/>
        <c:numFmt formatCode="General" sourceLinked="0"/>
        <c:majorTickMark val="out"/>
        <c:minorTickMark val="none"/>
        <c:tickLblPos val="nextTo"/>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noFill/>
        <a:ln>
          <a:noFill/>
        </a:ln>
        <a:effectLst/>
      </c:spPr>
    </c:plotArea>
    <c:plotVisOnly val="1"/>
    <c:dispBlanksAs val="span"/>
  </c:chart>
  <c:spPr>
    <a:noFill/>
    <a:ln>
      <a:noFill/>
    </a:ln>
    <a:effectLst/>
  </c:spPr>
  <c:externalData r:id="rId1">
    <c:autoUpdate val="0"/>
  </c:externalData>
</c:chartSpace>
</file>

<file path=ppt/charts/chart50.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manualLayout>
          <c:layoutTarget val="inner"/>
          <c:xMode val="edge"/>
          <c:yMode val="edge"/>
          <c:x val="0"/>
          <c:y val="0"/>
          <c:w val="1"/>
          <c:h val="1"/>
        </c:manualLayout>
      </c:layout>
      <c:lineChart>
        <c:varyColors val="0"/>
        <c:ser>
          <c:idx val="0"/>
          <c:order val="0"/>
          <c:tx>
            <c:strRef>
              <c:f>Sheet1!$B$1</c:f>
              <c:strCache>
                <c:ptCount val="1"/>
                <c:pt idx="0">
                  <c:v>prior</c:v>
                </c:pt>
              </c:strCache>
            </c:strRef>
          </c:tx>
          <c:spPr>
            <a:solidFill>
              <a:srgbClr val="A6A6A6"/>
            </a:solidFill>
            <a:ln w="22225" cap="flat">
              <a:solidFill>
                <a:srgbClr val="A6A6A6"/>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none"/>
            <c:size val="6"/>
            <c:spPr>
              <a:solidFill>
                <a:srgbClr val="A6A6A6"/>
              </a:solidFill>
              <a:ln w="9525" cap="flat">
                <a:solidFill>
                  <a:srgbClr val="A6A6A6"/>
                </a:solidFill>
                <a:prstDash val="solid"/>
                <a:round/>
              </a:ln>
              <a:effectLst/>
            </c:spPr>
          </c:marker>
          <c:cat>
            <c:multiLvlStrRef>
              <c:f>Sheet1!$A$2:$A$10</c:f>
              <c:multiLvlStrCache>
                <c:ptCount val="9"/>
                <c:lvl>
                  <c:pt idx="0">
                    <c:v>1</c:v>
                  </c:pt>
                  <c:pt idx="1">
                    <c:v>2</c:v>
                  </c:pt>
                  <c:pt idx="2">
                    <c:v>3</c:v>
                  </c:pt>
                  <c:pt idx="3">
                    <c:v>4</c:v>
                  </c:pt>
                  <c:pt idx="4">
                    <c:v>5</c:v>
                  </c:pt>
                  <c:pt idx="5">
                    <c:v>6</c:v>
                  </c:pt>
                  <c:pt idx="6">
                    <c:v>7</c:v>
                  </c:pt>
                  <c:pt idx="7">
                    <c:v>8</c:v>
                  </c:pt>
                  <c:pt idx="8">
                    <c:v>9</c:v>
                  </c:pt>
                </c:lvl>
              </c:multiLvlStrCache>
            </c:multiLvlStrRef>
          </c:cat>
          <c:val>
            <c:numRef>
              <c:f>Sheet1!$B$2:$B$10</c:f>
              <c:numCache>
                <c:formatCode>General</c:formatCode>
                <c:ptCount val="9"/>
                <c:pt idx="0">
                  <c:v>106094.58</c:v>
                </c:pt>
                <c:pt idx="1">
                  <c:v>104588.12</c:v>
                </c:pt>
                <c:pt idx="2">
                  <c:v>102498.93</c:v>
                </c:pt>
                <c:pt idx="3">
                  <c:v>144262.77</c:v>
                </c:pt>
                <c:pt idx="4">
                  <c:v>109208.44</c:v>
                </c:pt>
                <c:pt idx="5">
                  <c:v>115148.29</c:v>
                </c:pt>
                <c:pt idx="6">
                  <c:v>123631.65</c:v>
                </c:pt>
                <c:pt idx="7">
                  <c:v>123522.18</c:v>
                </c:pt>
                <c:pt idx="8">
                  <c:v>114266.37</c:v>
                </c:pt>
              </c:numCache>
            </c:numRef>
          </c:val>
          <c:smooth val="0"/>
        </c:ser>
        <c:ser>
          <c:idx val="1"/>
          <c:order val="1"/>
          <c:tx>
            <c:strRef>
              <c:f>Sheet1!$C$1</c:f>
              <c:strCache>
                <c:ptCount val="1"/>
                <c:pt idx="0">
                  <c:v>cur</c:v>
                </c:pt>
              </c:strCache>
            </c:strRef>
          </c:tx>
          <c:spPr>
            <a:solidFill>
              <a:srgbClr val="0B7A4A"/>
            </a:solidFill>
            <a:ln w="22225" cap="flat">
              <a:solidFill>
                <a:srgbClr val="0B7A4A"/>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none"/>
            <c:size val="6"/>
            <c:spPr>
              <a:solidFill>
                <a:srgbClr val="0B7A4A"/>
              </a:solidFill>
              <a:ln w="9525" cap="flat">
                <a:solidFill>
                  <a:srgbClr val="0B7A4A"/>
                </a:solidFill>
                <a:prstDash val="solid"/>
                <a:round/>
              </a:ln>
              <a:effectLst/>
            </c:spPr>
          </c:marker>
          <c:cat>
            <c:multiLvlStrRef>
              <c:f>Sheet1!$A$2:$A$10</c:f>
              <c:multiLvlStrCache>
                <c:ptCount val="9"/>
                <c:lvl>
                  <c:pt idx="0">
                    <c:v>1</c:v>
                  </c:pt>
                  <c:pt idx="1">
                    <c:v>2</c:v>
                  </c:pt>
                  <c:pt idx="2">
                    <c:v>3</c:v>
                  </c:pt>
                  <c:pt idx="3">
                    <c:v>4</c:v>
                  </c:pt>
                  <c:pt idx="4">
                    <c:v>5</c:v>
                  </c:pt>
                  <c:pt idx="5">
                    <c:v>6</c:v>
                  </c:pt>
                  <c:pt idx="6">
                    <c:v>7</c:v>
                  </c:pt>
                  <c:pt idx="7">
                    <c:v>8</c:v>
                  </c:pt>
                  <c:pt idx="8">
                    <c:v>9</c:v>
                  </c:pt>
                </c:lvl>
              </c:multiLvlStrCache>
            </c:multiLvlStrRef>
          </c:cat>
          <c:val>
            <c:numRef>
              <c:f>Sheet1!$C$2:$C$10</c:f>
              <c:numCache>
                <c:formatCode>General</c:formatCode>
                <c:ptCount val="9"/>
                <c:pt idx="0">
                  <c:v>133304.69</c:v>
                </c:pt>
                <c:pt idx="1">
                  <c:v>132944.95</c:v>
                </c:pt>
                <c:pt idx="2">
                  <c:v>145709.43</c:v>
                </c:pt>
                <c:pt idx="3">
                  <c:v>156186.31</c:v>
                </c:pt>
                <c:pt idx="4">
                  <c:v>124661.75</c:v>
                </c:pt>
                <c:pt idx="5">
                  <c:v>174470.39</c:v>
                </c:pt>
                <c:pt idx="6">
                  <c:v>166389.2</c:v>
                </c:pt>
                <c:pt idx="7">
                  <c:v>137675.38</c:v>
                </c:pt>
                <c:pt idx="8">
                  <c:v>142608.93</c:v>
                </c:pt>
              </c:numCache>
            </c:numRef>
          </c:val>
          <c:smooth val="0"/>
        </c:ser>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1"/>
        <c:axPos val="b"/>
        <c:numFmt formatCode="General" sourceLinked="1"/>
        <c:majorTickMark val="out"/>
        <c:minorTickMark val="none"/>
        <c:tickLblPos val="low"/>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2"/>
        <c:crosses val="autoZero"/>
        <c:auto val="1"/>
        <c:lblAlgn val="ctr"/>
        <c:noMultiLvlLbl val="1"/>
      </c:catAx>
      <c:valAx>
        <c:axId val="2094734552"/>
        <c:scaling>
          <c:orientation val="minMax"/>
          <c:max val="180228.1068"/>
          <c:min val="96741.2132"/>
        </c:scaling>
        <c:delete val="1"/>
        <c:axPos val="l"/>
        <c:numFmt formatCode="General" sourceLinked="0"/>
        <c:majorTickMark val="out"/>
        <c:minorTickMark val="none"/>
        <c:tickLblPos val="nextTo"/>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noFill/>
        <a:ln>
          <a:noFill/>
        </a:ln>
        <a:effectLst/>
      </c:spPr>
    </c:plotArea>
    <c:plotVisOnly val="1"/>
    <c:dispBlanksAs val="span"/>
  </c:chart>
  <c:spPr>
    <a:noFill/>
    <a:ln>
      <a:noFill/>
    </a:ln>
    <a:effectLst/>
  </c:spPr>
  <c:externalData r:id="rId1">
    <c:autoUpdate val="0"/>
  </c:externalData>
</c:chartSpace>
</file>

<file path=ppt/charts/chart51.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manualLayout>
          <c:layoutTarget val="inner"/>
          <c:xMode val="edge"/>
          <c:yMode val="edge"/>
          <c:x val="0"/>
          <c:y val="0"/>
          <c:w val="1"/>
          <c:h val="1"/>
        </c:manualLayout>
      </c:layout>
      <c:lineChart>
        <c:varyColors val="0"/>
        <c:ser>
          <c:idx val="0"/>
          <c:order val="0"/>
          <c:tx>
            <c:strRef>
              <c:f>Sheet1!$B$1</c:f>
              <c:strCache>
                <c:ptCount val="1"/>
                <c:pt idx="0">
                  <c:v>prior</c:v>
                </c:pt>
              </c:strCache>
            </c:strRef>
          </c:tx>
          <c:spPr>
            <a:solidFill>
              <a:srgbClr val="A6A6A6"/>
            </a:solidFill>
            <a:ln w="22225" cap="flat">
              <a:solidFill>
                <a:srgbClr val="A6A6A6"/>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none"/>
            <c:size val="6"/>
            <c:spPr>
              <a:solidFill>
                <a:srgbClr val="A6A6A6"/>
              </a:solidFill>
              <a:ln w="9525" cap="flat">
                <a:solidFill>
                  <a:srgbClr val="A6A6A6"/>
                </a:solidFill>
                <a:prstDash val="solid"/>
                <a:round/>
              </a:ln>
              <a:effectLst/>
            </c:spPr>
          </c:marker>
          <c:cat>
            <c:multiLvlStrRef>
              <c:f>Sheet1!$A$2:$A$10</c:f>
              <c:multiLvlStrCache>
                <c:ptCount val="9"/>
                <c:lvl>
                  <c:pt idx="0">
                    <c:v>1</c:v>
                  </c:pt>
                  <c:pt idx="1">
                    <c:v>2</c:v>
                  </c:pt>
                  <c:pt idx="2">
                    <c:v>3</c:v>
                  </c:pt>
                  <c:pt idx="3">
                    <c:v>4</c:v>
                  </c:pt>
                  <c:pt idx="4">
                    <c:v>5</c:v>
                  </c:pt>
                  <c:pt idx="5">
                    <c:v>6</c:v>
                  </c:pt>
                  <c:pt idx="6">
                    <c:v>7</c:v>
                  </c:pt>
                  <c:pt idx="7">
                    <c:v>8</c:v>
                  </c:pt>
                  <c:pt idx="8">
                    <c:v>9</c:v>
                  </c:pt>
                </c:lvl>
              </c:multiLvlStrCache>
            </c:multiLvlStrRef>
          </c:cat>
          <c:val>
            <c:numRef>
              <c:f>Sheet1!$B$2:$B$10</c:f>
              <c:numCache>
                <c:formatCode>General</c:formatCode>
                <c:ptCount val="9"/>
                <c:pt idx="0">
                  <c:v>105679.38</c:v>
                </c:pt>
                <c:pt idx="1">
                  <c:v>102851.51</c:v>
                </c:pt>
                <c:pt idx="2">
                  <c:v>104744.98</c:v>
                </c:pt>
                <c:pt idx="3">
                  <c:v>105578.74</c:v>
                </c:pt>
                <c:pt idx="4">
                  <c:v>100630.41</c:v>
                </c:pt>
                <c:pt idx="5">
                  <c:v>100219.16</c:v>
                </c:pt>
                <c:pt idx="6">
                  <c:v>94972.94</c:v>
                </c:pt>
                <c:pt idx="7">
                  <c:v>116597.05</c:v>
                </c:pt>
                <c:pt idx="8">
                  <c:v>101160.83</c:v>
                </c:pt>
              </c:numCache>
            </c:numRef>
          </c:val>
          <c:smooth val="0"/>
        </c:ser>
        <c:ser>
          <c:idx val="1"/>
          <c:order val="1"/>
          <c:tx>
            <c:strRef>
              <c:f>Sheet1!$C$1</c:f>
              <c:strCache>
                <c:ptCount val="1"/>
                <c:pt idx="0">
                  <c:v>cur</c:v>
                </c:pt>
              </c:strCache>
            </c:strRef>
          </c:tx>
          <c:spPr>
            <a:solidFill>
              <a:srgbClr val="0B7A4A"/>
            </a:solidFill>
            <a:ln w="22225" cap="flat">
              <a:solidFill>
                <a:srgbClr val="0B7A4A"/>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none"/>
            <c:size val="6"/>
            <c:spPr>
              <a:solidFill>
                <a:srgbClr val="0B7A4A"/>
              </a:solidFill>
              <a:ln w="9525" cap="flat">
                <a:solidFill>
                  <a:srgbClr val="0B7A4A"/>
                </a:solidFill>
                <a:prstDash val="solid"/>
                <a:round/>
              </a:ln>
              <a:effectLst/>
            </c:spPr>
          </c:marker>
          <c:cat>
            <c:multiLvlStrRef>
              <c:f>Sheet1!$A$2:$A$10</c:f>
              <c:multiLvlStrCache>
                <c:ptCount val="9"/>
                <c:lvl>
                  <c:pt idx="0">
                    <c:v>1</c:v>
                  </c:pt>
                  <c:pt idx="1">
                    <c:v>2</c:v>
                  </c:pt>
                  <c:pt idx="2">
                    <c:v>3</c:v>
                  </c:pt>
                  <c:pt idx="3">
                    <c:v>4</c:v>
                  </c:pt>
                  <c:pt idx="4">
                    <c:v>5</c:v>
                  </c:pt>
                  <c:pt idx="5">
                    <c:v>6</c:v>
                  </c:pt>
                  <c:pt idx="6">
                    <c:v>7</c:v>
                  </c:pt>
                  <c:pt idx="7">
                    <c:v>8</c:v>
                  </c:pt>
                  <c:pt idx="8">
                    <c:v>9</c:v>
                  </c:pt>
                </c:lvl>
              </c:multiLvlStrCache>
            </c:multiLvlStrRef>
          </c:cat>
          <c:val>
            <c:numRef>
              <c:f>Sheet1!$C$2:$C$10</c:f>
              <c:numCache>
                <c:formatCode>General</c:formatCode>
                <c:ptCount val="9"/>
                <c:pt idx="0">
                  <c:v>121412.31</c:v>
                </c:pt>
                <c:pt idx="1">
                  <c:v>108389.47</c:v>
                </c:pt>
                <c:pt idx="2">
                  <c:v>122300.81</c:v>
                </c:pt>
                <c:pt idx="3">
                  <c:v>147987.17</c:v>
                </c:pt>
                <c:pt idx="4">
                  <c:v>116051.34</c:v>
                </c:pt>
                <c:pt idx="5">
                  <c:v>116244.06</c:v>
                </c:pt>
                <c:pt idx="6">
                  <c:v>139933.37</c:v>
                </c:pt>
                <c:pt idx="7">
                  <c:v>108019.33</c:v>
                </c:pt>
                <c:pt idx="8">
                  <c:v>110304.77</c:v>
                </c:pt>
              </c:numCache>
            </c:numRef>
          </c:val>
          <c:smooth val="0"/>
        </c:ser>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1"/>
        <c:axPos val="b"/>
        <c:numFmt formatCode="General" sourceLinked="1"/>
        <c:majorTickMark val="out"/>
        <c:minorTickMark val="none"/>
        <c:tickLblPos val="low"/>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2"/>
        <c:crosses val="autoZero"/>
        <c:auto val="1"/>
        <c:lblAlgn val="ctr"/>
        <c:noMultiLvlLbl val="1"/>
      </c:catAx>
      <c:valAx>
        <c:axId val="2094734552"/>
        <c:scaling>
          <c:orientation val="minMax"/>
          <c:max val="152228.3084"/>
          <c:min val="90731.8016"/>
        </c:scaling>
        <c:delete val="1"/>
        <c:axPos val="l"/>
        <c:numFmt formatCode="General" sourceLinked="0"/>
        <c:majorTickMark val="out"/>
        <c:minorTickMark val="none"/>
        <c:tickLblPos val="nextTo"/>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noFill/>
        <a:ln>
          <a:noFill/>
        </a:ln>
        <a:effectLst/>
      </c:spPr>
    </c:plotArea>
    <c:plotVisOnly val="1"/>
    <c:dispBlanksAs val="span"/>
  </c:chart>
  <c:spPr>
    <a:noFill/>
    <a:ln>
      <a:noFill/>
    </a:ln>
    <a:effectLst/>
  </c:spPr>
  <c:externalData r:id="rId1">
    <c:autoUpdate val="0"/>
  </c:externalData>
</c:chartSpace>
</file>

<file path=ppt/charts/chart52.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manualLayout>
          <c:layoutTarget val="inner"/>
          <c:xMode val="edge"/>
          <c:yMode val="edge"/>
          <c:x val="0"/>
          <c:y val="0"/>
          <c:w val="1"/>
          <c:h val="1"/>
        </c:manualLayout>
      </c:layout>
      <c:lineChart>
        <c:varyColors val="0"/>
        <c:ser>
          <c:idx val="0"/>
          <c:order val="0"/>
          <c:tx>
            <c:strRef>
              <c:f>Sheet1!$B$1</c:f>
              <c:strCache>
                <c:ptCount val="1"/>
                <c:pt idx="0">
                  <c:v>prior</c:v>
                </c:pt>
              </c:strCache>
            </c:strRef>
          </c:tx>
          <c:spPr>
            <a:solidFill>
              <a:srgbClr val="A6A6A6"/>
            </a:solidFill>
            <a:ln w="22225" cap="flat">
              <a:solidFill>
                <a:srgbClr val="A6A6A6"/>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none"/>
            <c:size val="6"/>
            <c:spPr>
              <a:solidFill>
                <a:srgbClr val="A6A6A6"/>
              </a:solidFill>
              <a:ln w="9525" cap="flat">
                <a:solidFill>
                  <a:srgbClr val="A6A6A6"/>
                </a:solidFill>
                <a:prstDash val="solid"/>
                <a:round/>
              </a:ln>
              <a:effectLst/>
            </c:spPr>
          </c:marker>
          <c:cat>
            <c:multiLvlStrRef>
              <c:f>Sheet1!$A$2:$A$10</c:f>
              <c:multiLvlStrCache>
                <c:ptCount val="9"/>
                <c:lvl>
                  <c:pt idx="0">
                    <c:v>1</c:v>
                  </c:pt>
                  <c:pt idx="1">
                    <c:v>2</c:v>
                  </c:pt>
                  <c:pt idx="2">
                    <c:v>3</c:v>
                  </c:pt>
                  <c:pt idx="3">
                    <c:v>4</c:v>
                  </c:pt>
                  <c:pt idx="4">
                    <c:v>5</c:v>
                  </c:pt>
                  <c:pt idx="5">
                    <c:v>6</c:v>
                  </c:pt>
                  <c:pt idx="6">
                    <c:v>7</c:v>
                  </c:pt>
                  <c:pt idx="7">
                    <c:v>8</c:v>
                  </c:pt>
                  <c:pt idx="8">
                    <c:v>9</c:v>
                  </c:pt>
                </c:lvl>
              </c:multiLvlStrCache>
            </c:multiLvlStrRef>
          </c:cat>
          <c:val>
            <c:numRef>
              <c:f>Sheet1!$B$2:$B$10</c:f>
              <c:numCache>
                <c:formatCode>General</c:formatCode>
                <c:ptCount val="9"/>
                <c:pt idx="0">
                  <c:v>113737.77</c:v>
                </c:pt>
                <c:pt idx="1">
                  <c:v>92891.17</c:v>
                </c:pt>
                <c:pt idx="2">
                  <c:v>92995.13</c:v>
                </c:pt>
                <c:pt idx="3">
                  <c:v>167767.17</c:v>
                </c:pt>
                <c:pt idx="4">
                  <c:v>94503.26</c:v>
                </c:pt>
                <c:pt idx="5">
                  <c:v>92028.9</c:v>
                </c:pt>
                <c:pt idx="6">
                  <c:v>102948.71</c:v>
                </c:pt>
                <c:pt idx="7">
                  <c:v>97165.98</c:v>
                </c:pt>
                <c:pt idx="8">
                  <c:v>93491</c:v>
                </c:pt>
              </c:numCache>
            </c:numRef>
          </c:val>
          <c:smooth val="0"/>
        </c:ser>
        <c:ser>
          <c:idx val="1"/>
          <c:order val="1"/>
          <c:tx>
            <c:strRef>
              <c:f>Sheet1!$C$1</c:f>
              <c:strCache>
                <c:ptCount val="1"/>
                <c:pt idx="0">
                  <c:v>cur</c:v>
                </c:pt>
              </c:strCache>
            </c:strRef>
          </c:tx>
          <c:spPr>
            <a:solidFill>
              <a:srgbClr val="0B7A4A"/>
            </a:solidFill>
            <a:ln w="22225" cap="flat">
              <a:solidFill>
                <a:srgbClr val="0B7A4A"/>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none"/>
            <c:size val="6"/>
            <c:spPr>
              <a:solidFill>
                <a:srgbClr val="0B7A4A"/>
              </a:solidFill>
              <a:ln w="9525" cap="flat">
                <a:solidFill>
                  <a:srgbClr val="0B7A4A"/>
                </a:solidFill>
                <a:prstDash val="solid"/>
                <a:round/>
              </a:ln>
              <a:effectLst/>
            </c:spPr>
          </c:marker>
          <c:cat>
            <c:multiLvlStrRef>
              <c:f>Sheet1!$A$2:$A$10</c:f>
              <c:multiLvlStrCache>
                <c:ptCount val="9"/>
                <c:lvl>
                  <c:pt idx="0">
                    <c:v>1</c:v>
                  </c:pt>
                  <c:pt idx="1">
                    <c:v>2</c:v>
                  </c:pt>
                  <c:pt idx="2">
                    <c:v>3</c:v>
                  </c:pt>
                  <c:pt idx="3">
                    <c:v>4</c:v>
                  </c:pt>
                  <c:pt idx="4">
                    <c:v>5</c:v>
                  </c:pt>
                  <c:pt idx="5">
                    <c:v>6</c:v>
                  </c:pt>
                  <c:pt idx="6">
                    <c:v>7</c:v>
                  </c:pt>
                  <c:pt idx="7">
                    <c:v>8</c:v>
                  </c:pt>
                  <c:pt idx="8">
                    <c:v>9</c:v>
                  </c:pt>
                </c:lvl>
              </c:multiLvlStrCache>
            </c:multiLvlStrRef>
          </c:cat>
          <c:val>
            <c:numRef>
              <c:f>Sheet1!$C$2:$C$10</c:f>
              <c:numCache>
                <c:formatCode>General</c:formatCode>
                <c:ptCount val="9"/>
                <c:pt idx="0">
                  <c:v>117746.86</c:v>
                </c:pt>
                <c:pt idx="1">
                  <c:v>97316.61</c:v>
                </c:pt>
                <c:pt idx="2">
                  <c:v>118434.99</c:v>
                </c:pt>
                <c:pt idx="3">
                  <c:v>166645.04</c:v>
                </c:pt>
                <c:pt idx="4">
                  <c:v>101829.87</c:v>
                </c:pt>
                <c:pt idx="5">
                  <c:v>137816.89</c:v>
                </c:pt>
                <c:pt idx="6">
                  <c:v>128869.76</c:v>
                </c:pt>
                <c:pt idx="7">
                  <c:v>110127.71</c:v>
                </c:pt>
                <c:pt idx="8">
                  <c:v>120083.47</c:v>
                </c:pt>
              </c:numCache>
            </c:numRef>
          </c:val>
          <c:smooth val="0"/>
        </c:ser>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1"/>
        <c:axPos val="b"/>
        <c:numFmt formatCode="General" sourceLinked="1"/>
        <c:majorTickMark val="out"/>
        <c:minorTickMark val="none"/>
        <c:tickLblPos val="low"/>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2"/>
        <c:crosses val="autoZero"/>
        <c:auto val="1"/>
        <c:lblAlgn val="ctr"/>
        <c:noMultiLvlLbl val="1"/>
      </c:catAx>
      <c:valAx>
        <c:axId val="2094734552"/>
        <c:scaling>
          <c:orientation val="minMax"/>
          <c:max val="173826.23160000003"/>
          <c:min val="85969.8384"/>
        </c:scaling>
        <c:delete val="1"/>
        <c:axPos val="l"/>
        <c:numFmt formatCode="General" sourceLinked="0"/>
        <c:majorTickMark val="out"/>
        <c:minorTickMark val="none"/>
        <c:tickLblPos val="nextTo"/>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noFill/>
        <a:ln>
          <a:noFill/>
        </a:ln>
        <a:effectLst/>
      </c:spPr>
    </c:plotArea>
    <c:plotVisOnly val="1"/>
    <c:dispBlanksAs val="span"/>
  </c:chart>
  <c:spPr>
    <a:noFill/>
    <a:ln>
      <a:noFill/>
    </a:ln>
    <a:effectLst/>
  </c:spPr>
  <c:externalData r:id="rId1">
    <c:autoUpdate val="0"/>
  </c:externalData>
</c:chartSpace>
</file>

<file path=ppt/charts/chart53.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manualLayout>
          <c:layoutTarget val="inner"/>
          <c:xMode val="edge"/>
          <c:yMode val="edge"/>
          <c:x val="0"/>
          <c:y val="0"/>
          <c:w val="1"/>
          <c:h val="1"/>
        </c:manualLayout>
      </c:layout>
      <c:lineChart>
        <c:varyColors val="0"/>
        <c:ser>
          <c:idx val="0"/>
          <c:order val="0"/>
          <c:tx>
            <c:strRef>
              <c:f>Sheet1!$B$1</c:f>
              <c:strCache>
                <c:ptCount val="1"/>
                <c:pt idx="0">
                  <c:v>prior</c:v>
                </c:pt>
              </c:strCache>
            </c:strRef>
          </c:tx>
          <c:spPr>
            <a:solidFill>
              <a:srgbClr val="A6A6A6"/>
            </a:solidFill>
            <a:ln w="22225" cap="flat">
              <a:solidFill>
                <a:srgbClr val="A6A6A6"/>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none"/>
            <c:size val="6"/>
            <c:spPr>
              <a:solidFill>
                <a:srgbClr val="A6A6A6"/>
              </a:solidFill>
              <a:ln w="9525" cap="flat">
                <a:solidFill>
                  <a:srgbClr val="A6A6A6"/>
                </a:solidFill>
                <a:prstDash val="solid"/>
                <a:round/>
              </a:ln>
              <a:effectLst/>
            </c:spPr>
          </c:marker>
          <c:cat>
            <c:multiLvlStrRef>
              <c:f>Sheet1!$A$2:$A$10</c:f>
              <c:multiLvlStrCache>
                <c:ptCount val="9"/>
                <c:lvl>
                  <c:pt idx="0">
                    <c:v>1</c:v>
                  </c:pt>
                  <c:pt idx="1">
                    <c:v>2</c:v>
                  </c:pt>
                  <c:pt idx="2">
                    <c:v>3</c:v>
                  </c:pt>
                  <c:pt idx="3">
                    <c:v>4</c:v>
                  </c:pt>
                  <c:pt idx="4">
                    <c:v>5</c:v>
                  </c:pt>
                  <c:pt idx="5">
                    <c:v>6</c:v>
                  </c:pt>
                  <c:pt idx="6">
                    <c:v>7</c:v>
                  </c:pt>
                  <c:pt idx="7">
                    <c:v>8</c:v>
                  </c:pt>
                  <c:pt idx="8">
                    <c:v>9</c:v>
                  </c:pt>
                </c:lvl>
              </c:multiLvlStrCache>
            </c:multiLvlStrRef>
          </c:cat>
          <c:val>
            <c:numRef>
              <c:f>Sheet1!$B$2:$B$10</c:f>
              <c:numCache>
                <c:formatCode>General</c:formatCode>
                <c:ptCount val="9"/>
                <c:pt idx="0">
                  <c:v>124816.87</c:v>
                </c:pt>
                <c:pt idx="1">
                  <c:v>93804.02</c:v>
                </c:pt>
                <c:pt idx="2">
                  <c:v>99730.27</c:v>
                </c:pt>
                <c:pt idx="3">
                  <c:v>108477.44</c:v>
                </c:pt>
                <c:pt idx="4">
                  <c:v>142761.56</c:v>
                </c:pt>
                <c:pt idx="5">
                  <c:v>109804.29</c:v>
                </c:pt>
                <c:pt idx="6">
                  <c:v>120024.28</c:v>
                </c:pt>
                <c:pt idx="7">
                  <c:v>128308.9</c:v>
                </c:pt>
                <c:pt idx="8">
                  <c:v>125710.97</c:v>
                </c:pt>
              </c:numCache>
            </c:numRef>
          </c:val>
          <c:smooth val="0"/>
        </c:ser>
        <c:ser>
          <c:idx val="1"/>
          <c:order val="1"/>
          <c:tx>
            <c:strRef>
              <c:f>Sheet1!$C$1</c:f>
              <c:strCache>
                <c:ptCount val="1"/>
                <c:pt idx="0">
                  <c:v>cur</c:v>
                </c:pt>
              </c:strCache>
            </c:strRef>
          </c:tx>
          <c:spPr>
            <a:solidFill>
              <a:srgbClr val="A82B26"/>
            </a:solidFill>
            <a:ln w="22225" cap="flat">
              <a:solidFill>
                <a:srgbClr val="A82B26"/>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none"/>
            <c:size val="6"/>
            <c:spPr>
              <a:solidFill>
                <a:srgbClr val="A82B26"/>
              </a:solidFill>
              <a:ln w="9525" cap="flat">
                <a:solidFill>
                  <a:srgbClr val="A82B26"/>
                </a:solidFill>
                <a:prstDash val="solid"/>
                <a:round/>
              </a:ln>
              <a:effectLst/>
            </c:spPr>
          </c:marker>
          <c:cat>
            <c:multiLvlStrRef>
              <c:f>Sheet1!$A$2:$A$10</c:f>
              <c:multiLvlStrCache>
                <c:ptCount val="9"/>
                <c:lvl>
                  <c:pt idx="0">
                    <c:v>1</c:v>
                  </c:pt>
                  <c:pt idx="1">
                    <c:v>2</c:v>
                  </c:pt>
                  <c:pt idx="2">
                    <c:v>3</c:v>
                  </c:pt>
                  <c:pt idx="3">
                    <c:v>4</c:v>
                  </c:pt>
                  <c:pt idx="4">
                    <c:v>5</c:v>
                  </c:pt>
                  <c:pt idx="5">
                    <c:v>6</c:v>
                  </c:pt>
                  <c:pt idx="6">
                    <c:v>7</c:v>
                  </c:pt>
                  <c:pt idx="7">
                    <c:v>8</c:v>
                  </c:pt>
                  <c:pt idx="8">
                    <c:v>9</c:v>
                  </c:pt>
                </c:lvl>
              </c:multiLvlStrCache>
            </c:multiLvlStrRef>
          </c:cat>
          <c:val>
            <c:numRef>
              <c:f>Sheet1!$C$2:$C$10</c:f>
              <c:numCache>
                <c:formatCode>General</c:formatCode>
                <c:ptCount val="9"/>
                <c:pt idx="0">
                  <c:v>96449.16</c:v>
                </c:pt>
                <c:pt idx="1">
                  <c:v>70961.75</c:v>
                </c:pt>
                <c:pt idx="2">
                  <c:v>91530.65</c:v>
                </c:pt>
                <c:pt idx="3">
                  <c:v>103342.66</c:v>
                </c:pt>
                <c:pt idx="4">
                  <c:v>94616.02</c:v>
                </c:pt>
                <c:pt idx="5">
                  <c:v>86731.08</c:v>
                </c:pt>
                <c:pt idx="6">
                  <c:v>76610.72</c:v>
                </c:pt>
                <c:pt idx="7">
                  <c:v>97999.31</c:v>
                </c:pt>
                <c:pt idx="8">
                  <c:v>108420.24</c:v>
                </c:pt>
              </c:numCache>
            </c:numRef>
          </c:val>
          <c:smooth val="0"/>
        </c:ser>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1"/>
        <c:axPos val="b"/>
        <c:numFmt formatCode="General" sourceLinked="1"/>
        <c:majorTickMark val="out"/>
        <c:minorTickMark val="none"/>
        <c:tickLblPos val="low"/>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2"/>
        <c:crosses val="autoZero"/>
        <c:auto val="1"/>
        <c:lblAlgn val="ctr"/>
        <c:noMultiLvlLbl val="1"/>
      </c:catAx>
      <c:valAx>
        <c:axId val="2094734552"/>
        <c:scaling>
          <c:orientation val="minMax"/>
          <c:max val="148505.5448"/>
          <c:min val="65217.7652"/>
        </c:scaling>
        <c:delete val="1"/>
        <c:axPos val="l"/>
        <c:numFmt formatCode="General" sourceLinked="0"/>
        <c:majorTickMark val="out"/>
        <c:minorTickMark val="none"/>
        <c:tickLblPos val="nextTo"/>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noFill/>
        <a:ln>
          <a:noFill/>
        </a:ln>
        <a:effectLst/>
      </c:spPr>
    </c:plotArea>
    <c:plotVisOnly val="1"/>
    <c:dispBlanksAs val="span"/>
  </c:chart>
  <c:spPr>
    <a:noFill/>
    <a:ln>
      <a:noFill/>
    </a:ln>
    <a:effectLst/>
  </c:spPr>
  <c:externalData r:id="rId1">
    <c:autoUpdate val="0"/>
  </c:externalData>
</c:chartSpace>
</file>

<file path=ppt/charts/chart54.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manualLayout>
          <c:layoutTarget val="inner"/>
          <c:xMode val="edge"/>
          <c:yMode val="edge"/>
          <c:x val="0"/>
          <c:y val="0"/>
          <c:w val="1"/>
          <c:h val="1"/>
        </c:manualLayout>
      </c:layout>
      <c:lineChart>
        <c:varyColors val="0"/>
        <c:ser>
          <c:idx val="0"/>
          <c:order val="0"/>
          <c:tx>
            <c:strRef>
              <c:f>Sheet1!$B$1</c:f>
              <c:strCache>
                <c:ptCount val="1"/>
                <c:pt idx="0">
                  <c:v>prior</c:v>
                </c:pt>
              </c:strCache>
            </c:strRef>
          </c:tx>
          <c:spPr>
            <a:solidFill>
              <a:srgbClr val="A6A6A6"/>
            </a:solidFill>
            <a:ln w="22225" cap="flat">
              <a:solidFill>
                <a:srgbClr val="A6A6A6"/>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none"/>
            <c:size val="6"/>
            <c:spPr>
              <a:solidFill>
                <a:srgbClr val="A6A6A6"/>
              </a:solidFill>
              <a:ln w="9525" cap="flat">
                <a:solidFill>
                  <a:srgbClr val="A6A6A6"/>
                </a:solidFill>
                <a:prstDash val="solid"/>
                <a:round/>
              </a:ln>
              <a:effectLst/>
            </c:spPr>
          </c:marker>
          <c:cat>
            <c:multiLvlStrRef>
              <c:f>Sheet1!$A$2:$A$10</c:f>
              <c:multiLvlStrCache>
                <c:ptCount val="9"/>
                <c:lvl>
                  <c:pt idx="0">
                    <c:v>1</c:v>
                  </c:pt>
                  <c:pt idx="1">
                    <c:v>2</c:v>
                  </c:pt>
                  <c:pt idx="2">
                    <c:v>3</c:v>
                  </c:pt>
                  <c:pt idx="3">
                    <c:v>4</c:v>
                  </c:pt>
                  <c:pt idx="4">
                    <c:v>5</c:v>
                  </c:pt>
                  <c:pt idx="5">
                    <c:v>6</c:v>
                  </c:pt>
                  <c:pt idx="6">
                    <c:v>7</c:v>
                  </c:pt>
                  <c:pt idx="7">
                    <c:v>8</c:v>
                  </c:pt>
                  <c:pt idx="8">
                    <c:v>9</c:v>
                  </c:pt>
                </c:lvl>
              </c:multiLvlStrCache>
            </c:multiLvlStrRef>
          </c:cat>
          <c:val>
            <c:numRef>
              <c:f>Sheet1!$B$2:$B$10</c:f>
              <c:numCache>
                <c:formatCode>General</c:formatCode>
                <c:ptCount val="9"/>
                <c:pt idx="0">
                  <c:v>213739.3</c:v>
                </c:pt>
                <c:pt idx="1">
                  <c:v>187991.39</c:v>
                </c:pt>
                <c:pt idx="2">
                  <c:v>179701.02</c:v>
                </c:pt>
                <c:pt idx="3">
                  <c:v>206330.77</c:v>
                </c:pt>
                <c:pt idx="4">
                  <c:v>191908.07</c:v>
                </c:pt>
                <c:pt idx="5">
                  <c:v>211691.7</c:v>
                </c:pt>
                <c:pt idx="6">
                  <c:v>198386.86</c:v>
                </c:pt>
                <c:pt idx="7">
                  <c:v>164820.35</c:v>
                </c:pt>
                <c:pt idx="8">
                  <c:v>192888.73</c:v>
                </c:pt>
              </c:numCache>
            </c:numRef>
          </c:val>
          <c:smooth val="0"/>
        </c:ser>
        <c:ser>
          <c:idx val="1"/>
          <c:order val="1"/>
          <c:tx>
            <c:strRef>
              <c:f>Sheet1!$C$1</c:f>
              <c:strCache>
                <c:ptCount val="1"/>
                <c:pt idx="0">
                  <c:v>cur</c:v>
                </c:pt>
              </c:strCache>
            </c:strRef>
          </c:tx>
          <c:spPr>
            <a:solidFill>
              <a:srgbClr val="A82B26"/>
            </a:solidFill>
            <a:ln w="22225" cap="flat">
              <a:solidFill>
                <a:srgbClr val="A82B26"/>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none"/>
            <c:size val="6"/>
            <c:spPr>
              <a:solidFill>
                <a:srgbClr val="A82B26"/>
              </a:solidFill>
              <a:ln w="9525" cap="flat">
                <a:solidFill>
                  <a:srgbClr val="A82B26"/>
                </a:solidFill>
                <a:prstDash val="solid"/>
                <a:round/>
              </a:ln>
              <a:effectLst/>
            </c:spPr>
          </c:marker>
          <c:cat>
            <c:multiLvlStrRef>
              <c:f>Sheet1!$A$2:$A$10</c:f>
              <c:multiLvlStrCache>
                <c:ptCount val="9"/>
                <c:lvl>
                  <c:pt idx="0">
                    <c:v>1</c:v>
                  </c:pt>
                  <c:pt idx="1">
                    <c:v>2</c:v>
                  </c:pt>
                  <c:pt idx="2">
                    <c:v>3</c:v>
                  </c:pt>
                  <c:pt idx="3">
                    <c:v>4</c:v>
                  </c:pt>
                  <c:pt idx="4">
                    <c:v>5</c:v>
                  </c:pt>
                  <c:pt idx="5">
                    <c:v>6</c:v>
                  </c:pt>
                  <c:pt idx="6">
                    <c:v>7</c:v>
                  </c:pt>
                  <c:pt idx="7">
                    <c:v>8</c:v>
                  </c:pt>
                  <c:pt idx="8">
                    <c:v>9</c:v>
                  </c:pt>
                </c:lvl>
              </c:multiLvlStrCache>
            </c:multiLvlStrRef>
          </c:cat>
          <c:val>
            <c:numRef>
              <c:f>Sheet1!$C$2:$C$10</c:f>
              <c:numCache>
                <c:formatCode>General</c:formatCode>
                <c:ptCount val="9"/>
                <c:pt idx="0">
                  <c:v>152133.4</c:v>
                </c:pt>
                <c:pt idx="1">
                  <c:v>168187.91</c:v>
                </c:pt>
                <c:pt idx="2">
                  <c:v>163714.23</c:v>
                </c:pt>
                <c:pt idx="3">
                  <c:v>133897.79</c:v>
                </c:pt>
                <c:pt idx="4">
                  <c:v>149550.14</c:v>
                </c:pt>
                <c:pt idx="5">
                  <c:v>177382.93</c:v>
                </c:pt>
                <c:pt idx="6">
                  <c:v>156031.88</c:v>
                </c:pt>
                <c:pt idx="7">
                  <c:v>173510.39</c:v>
                </c:pt>
                <c:pt idx="8">
                  <c:v>145130.83</c:v>
                </c:pt>
              </c:numCache>
            </c:numRef>
          </c:val>
          <c:smooth val="0"/>
        </c:ser>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1"/>
        <c:axPos val="b"/>
        <c:numFmt formatCode="General" sourceLinked="1"/>
        <c:majorTickMark val="out"/>
        <c:minorTickMark val="none"/>
        <c:tickLblPos val="low"/>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2"/>
        <c:crosses val="autoZero"/>
        <c:auto val="1"/>
        <c:lblAlgn val="ctr"/>
        <c:noMultiLvlLbl val="1"/>
      </c:catAx>
      <c:valAx>
        <c:axId val="2094734552"/>
        <c:scaling>
          <c:orientation val="minMax"/>
          <c:max val="220126.62079999998"/>
          <c:min val="127510.4692"/>
        </c:scaling>
        <c:delete val="1"/>
        <c:axPos val="l"/>
        <c:numFmt formatCode="General" sourceLinked="0"/>
        <c:majorTickMark val="out"/>
        <c:minorTickMark val="none"/>
        <c:tickLblPos val="nextTo"/>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noFill/>
        <a:ln>
          <a:noFill/>
        </a:ln>
        <a:effectLst/>
      </c:spPr>
    </c:plotArea>
    <c:plotVisOnly val="1"/>
    <c:dispBlanksAs val="span"/>
  </c:chart>
  <c:spPr>
    <a:noFill/>
    <a:ln>
      <a:noFill/>
    </a:ln>
    <a:effectLst/>
  </c:spPr>
  <c:externalData r:id="rId1">
    <c:autoUpdate val="0"/>
  </c:externalData>
</c:chartSpace>
</file>

<file path=ppt/charts/chart55.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manualLayout>
          <c:layoutTarget val="inner"/>
          <c:xMode val="edge"/>
          <c:yMode val="edge"/>
          <c:x val="0"/>
          <c:y val="0"/>
          <c:w val="1"/>
          <c:h val="1"/>
        </c:manualLayout>
      </c:layout>
      <c:lineChart>
        <c:varyColors val="0"/>
        <c:ser>
          <c:idx val="0"/>
          <c:order val="0"/>
          <c:tx>
            <c:strRef>
              <c:f>Sheet1!$B$1</c:f>
              <c:strCache>
                <c:ptCount val="1"/>
                <c:pt idx="0">
                  <c:v>prior</c:v>
                </c:pt>
              </c:strCache>
            </c:strRef>
          </c:tx>
          <c:spPr>
            <a:solidFill>
              <a:srgbClr val="A6A6A6"/>
            </a:solidFill>
            <a:ln w="22225" cap="flat">
              <a:solidFill>
                <a:srgbClr val="A6A6A6"/>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none"/>
            <c:size val="6"/>
            <c:spPr>
              <a:solidFill>
                <a:srgbClr val="A6A6A6"/>
              </a:solidFill>
              <a:ln w="9525" cap="flat">
                <a:solidFill>
                  <a:srgbClr val="A6A6A6"/>
                </a:solidFill>
                <a:prstDash val="solid"/>
                <a:round/>
              </a:ln>
              <a:effectLst/>
            </c:spPr>
          </c:marker>
          <c:cat>
            <c:multiLvlStrRef>
              <c:f>Sheet1!$A$2:$A$10</c:f>
              <c:multiLvlStrCache>
                <c:ptCount val="9"/>
                <c:lvl>
                  <c:pt idx="0">
                    <c:v>1</c:v>
                  </c:pt>
                  <c:pt idx="1">
                    <c:v>2</c:v>
                  </c:pt>
                  <c:pt idx="2">
                    <c:v>3</c:v>
                  </c:pt>
                  <c:pt idx="3">
                    <c:v>4</c:v>
                  </c:pt>
                  <c:pt idx="4">
                    <c:v>5</c:v>
                  </c:pt>
                  <c:pt idx="5">
                    <c:v>6</c:v>
                  </c:pt>
                  <c:pt idx="6">
                    <c:v>7</c:v>
                  </c:pt>
                  <c:pt idx="7">
                    <c:v>8</c:v>
                  </c:pt>
                  <c:pt idx="8">
                    <c:v>9</c:v>
                  </c:pt>
                </c:lvl>
              </c:multiLvlStrCache>
            </c:multiLvlStrRef>
          </c:cat>
          <c:val>
            <c:numRef>
              <c:f>Sheet1!$B$2:$B$10</c:f>
              <c:numCache>
                <c:formatCode>General</c:formatCode>
                <c:ptCount val="9"/>
                <c:pt idx="0">
                  <c:v>156623.96</c:v>
                </c:pt>
                <c:pt idx="1">
                  <c:v>164123.34</c:v>
                </c:pt>
                <c:pt idx="2">
                  <c:v>169536.33</c:v>
                </c:pt>
                <c:pt idx="3">
                  <c:v>137439.72</c:v>
                </c:pt>
                <c:pt idx="4">
                  <c:v>196247.77</c:v>
                </c:pt>
                <c:pt idx="5">
                  <c:v>181484.36</c:v>
                </c:pt>
                <c:pt idx="6">
                  <c:v>157661.54</c:v>
                </c:pt>
                <c:pt idx="7">
                  <c:v>165895.04</c:v>
                </c:pt>
                <c:pt idx="8">
                  <c:v>172757.51</c:v>
                </c:pt>
              </c:numCache>
            </c:numRef>
          </c:val>
          <c:smooth val="0"/>
        </c:ser>
        <c:ser>
          <c:idx val="1"/>
          <c:order val="1"/>
          <c:tx>
            <c:strRef>
              <c:f>Sheet1!$C$1</c:f>
              <c:strCache>
                <c:ptCount val="1"/>
                <c:pt idx="0">
                  <c:v>cur</c:v>
                </c:pt>
              </c:strCache>
            </c:strRef>
          </c:tx>
          <c:spPr>
            <a:solidFill>
              <a:srgbClr val="A82B26"/>
            </a:solidFill>
            <a:ln w="22225" cap="flat">
              <a:solidFill>
                <a:srgbClr val="A82B26"/>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none"/>
            <c:size val="6"/>
            <c:spPr>
              <a:solidFill>
                <a:srgbClr val="A82B26"/>
              </a:solidFill>
              <a:ln w="9525" cap="flat">
                <a:solidFill>
                  <a:srgbClr val="A82B26"/>
                </a:solidFill>
                <a:prstDash val="solid"/>
                <a:round/>
              </a:ln>
              <a:effectLst/>
            </c:spPr>
          </c:marker>
          <c:cat>
            <c:multiLvlStrRef>
              <c:f>Sheet1!$A$2:$A$10</c:f>
              <c:multiLvlStrCache>
                <c:ptCount val="9"/>
                <c:lvl>
                  <c:pt idx="0">
                    <c:v>1</c:v>
                  </c:pt>
                  <c:pt idx="1">
                    <c:v>2</c:v>
                  </c:pt>
                  <c:pt idx="2">
                    <c:v>3</c:v>
                  </c:pt>
                  <c:pt idx="3">
                    <c:v>4</c:v>
                  </c:pt>
                  <c:pt idx="4">
                    <c:v>5</c:v>
                  </c:pt>
                  <c:pt idx="5">
                    <c:v>6</c:v>
                  </c:pt>
                  <c:pt idx="6">
                    <c:v>7</c:v>
                  </c:pt>
                  <c:pt idx="7">
                    <c:v>8</c:v>
                  </c:pt>
                  <c:pt idx="8">
                    <c:v>9</c:v>
                  </c:pt>
                </c:lvl>
              </c:multiLvlStrCache>
            </c:multiLvlStrRef>
          </c:cat>
          <c:val>
            <c:numRef>
              <c:f>Sheet1!$C$2:$C$10</c:f>
              <c:numCache>
                <c:formatCode>General</c:formatCode>
                <c:ptCount val="9"/>
                <c:pt idx="0">
                  <c:v>142547.35</c:v>
                </c:pt>
                <c:pt idx="1">
                  <c:v>124061.5</c:v>
                </c:pt>
                <c:pt idx="2">
                  <c:v>128625.05</c:v>
                </c:pt>
                <c:pt idx="3">
                  <c:v>132782.2</c:v>
                </c:pt>
                <c:pt idx="4">
                  <c:v>133308.11</c:v>
                </c:pt>
                <c:pt idx="5">
                  <c:v>152707.41</c:v>
                </c:pt>
                <c:pt idx="6">
                  <c:v>161318.94</c:v>
                </c:pt>
                <c:pt idx="7">
                  <c:v>159299.16</c:v>
                </c:pt>
                <c:pt idx="8">
                  <c:v>153137.54</c:v>
                </c:pt>
              </c:numCache>
            </c:numRef>
          </c:val>
          <c:smooth val="0"/>
        </c:ser>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1"/>
        <c:axPos val="b"/>
        <c:numFmt formatCode="General" sourceLinked="1"/>
        <c:majorTickMark val="out"/>
        <c:minorTickMark val="none"/>
        <c:tickLblPos val="low"/>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2"/>
        <c:crosses val="autoZero"/>
        <c:auto val="1"/>
        <c:lblAlgn val="ctr"/>
        <c:noMultiLvlLbl val="1"/>
      </c:catAx>
      <c:valAx>
        <c:axId val="2094734552"/>
        <c:scaling>
          <c:orientation val="minMax"/>
          <c:max val="202022.6716"/>
          <c:min val="118286.5984"/>
        </c:scaling>
        <c:delete val="1"/>
        <c:axPos val="l"/>
        <c:numFmt formatCode="General" sourceLinked="0"/>
        <c:majorTickMark val="out"/>
        <c:minorTickMark val="none"/>
        <c:tickLblPos val="nextTo"/>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noFill/>
        <a:ln>
          <a:noFill/>
        </a:ln>
        <a:effectLst/>
      </c:spPr>
    </c:plotArea>
    <c:plotVisOnly val="1"/>
    <c:dispBlanksAs val="span"/>
  </c:chart>
  <c:spPr>
    <a:noFill/>
    <a:ln>
      <a:noFill/>
    </a:ln>
    <a:effectLst/>
  </c:spPr>
  <c:externalData r:id="rId1">
    <c:autoUpdate val="0"/>
  </c:externalData>
</c:chartSpace>
</file>

<file path=ppt/charts/chart56.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manualLayout>
          <c:layoutTarget val="inner"/>
          <c:xMode val="edge"/>
          <c:yMode val="edge"/>
          <c:x val="0"/>
          <c:y val="0"/>
          <c:w val="1"/>
          <c:h val="1"/>
        </c:manualLayout>
      </c:layout>
      <c:lineChart>
        <c:varyColors val="0"/>
        <c:ser>
          <c:idx val="0"/>
          <c:order val="0"/>
          <c:tx>
            <c:strRef>
              <c:f>Sheet1!$B$1</c:f>
              <c:strCache>
                <c:ptCount val="1"/>
                <c:pt idx="0">
                  <c:v>prior</c:v>
                </c:pt>
              </c:strCache>
            </c:strRef>
          </c:tx>
          <c:spPr>
            <a:solidFill>
              <a:srgbClr val="A6A6A6"/>
            </a:solidFill>
            <a:ln w="22225" cap="flat">
              <a:solidFill>
                <a:srgbClr val="A6A6A6"/>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none"/>
            <c:size val="6"/>
            <c:spPr>
              <a:solidFill>
                <a:srgbClr val="A6A6A6"/>
              </a:solidFill>
              <a:ln w="9525" cap="flat">
                <a:solidFill>
                  <a:srgbClr val="A6A6A6"/>
                </a:solidFill>
                <a:prstDash val="solid"/>
                <a:round/>
              </a:ln>
              <a:effectLst/>
            </c:spPr>
          </c:marker>
          <c:cat>
            <c:multiLvlStrRef>
              <c:f>Sheet1!$A$2:$A$10</c:f>
              <c:multiLvlStrCache>
                <c:ptCount val="9"/>
                <c:lvl>
                  <c:pt idx="0">
                    <c:v>1</c:v>
                  </c:pt>
                  <c:pt idx="1">
                    <c:v>2</c:v>
                  </c:pt>
                  <c:pt idx="2">
                    <c:v>3</c:v>
                  </c:pt>
                  <c:pt idx="3">
                    <c:v>4</c:v>
                  </c:pt>
                  <c:pt idx="4">
                    <c:v>5</c:v>
                  </c:pt>
                  <c:pt idx="5">
                    <c:v>6</c:v>
                  </c:pt>
                  <c:pt idx="6">
                    <c:v>7</c:v>
                  </c:pt>
                  <c:pt idx="7">
                    <c:v>8</c:v>
                  </c:pt>
                  <c:pt idx="8">
                    <c:v>9</c:v>
                  </c:pt>
                </c:lvl>
              </c:multiLvlStrCache>
            </c:multiLvlStrRef>
          </c:cat>
          <c:val>
            <c:numRef>
              <c:f>Sheet1!$B$2:$B$10</c:f>
              <c:numCache>
                <c:formatCode>General</c:formatCode>
                <c:ptCount val="9"/>
                <c:pt idx="0">
                  <c:v>165373.29</c:v>
                </c:pt>
                <c:pt idx="1">
                  <c:v>127959.29</c:v>
                </c:pt>
                <c:pt idx="2">
                  <c:v>168950.19</c:v>
                </c:pt>
                <c:pt idx="3">
                  <c:v>161259.98</c:v>
                </c:pt>
                <c:pt idx="4">
                  <c:v>170584.57</c:v>
                </c:pt>
                <c:pt idx="5">
                  <c:v>143951.24</c:v>
                </c:pt>
                <c:pt idx="6">
                  <c:v>154984.9</c:v>
                </c:pt>
                <c:pt idx="7">
                  <c:v>173262.56</c:v>
                </c:pt>
                <c:pt idx="8">
                  <c:v>137460.66</c:v>
                </c:pt>
              </c:numCache>
            </c:numRef>
          </c:val>
          <c:smooth val="0"/>
        </c:ser>
        <c:ser>
          <c:idx val="1"/>
          <c:order val="1"/>
          <c:tx>
            <c:strRef>
              <c:f>Sheet1!$C$1</c:f>
              <c:strCache>
                <c:ptCount val="1"/>
                <c:pt idx="0">
                  <c:v>cur</c:v>
                </c:pt>
              </c:strCache>
            </c:strRef>
          </c:tx>
          <c:spPr>
            <a:solidFill>
              <a:srgbClr val="A82B26"/>
            </a:solidFill>
            <a:ln w="22225" cap="flat">
              <a:solidFill>
                <a:srgbClr val="A82B26"/>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none"/>
            <c:size val="6"/>
            <c:spPr>
              <a:solidFill>
                <a:srgbClr val="A82B26"/>
              </a:solidFill>
              <a:ln w="9525" cap="flat">
                <a:solidFill>
                  <a:srgbClr val="A82B26"/>
                </a:solidFill>
                <a:prstDash val="solid"/>
                <a:round/>
              </a:ln>
              <a:effectLst/>
            </c:spPr>
          </c:marker>
          <c:cat>
            <c:multiLvlStrRef>
              <c:f>Sheet1!$A$2:$A$10</c:f>
              <c:multiLvlStrCache>
                <c:ptCount val="9"/>
                <c:lvl>
                  <c:pt idx="0">
                    <c:v>1</c:v>
                  </c:pt>
                  <c:pt idx="1">
                    <c:v>2</c:v>
                  </c:pt>
                  <c:pt idx="2">
                    <c:v>3</c:v>
                  </c:pt>
                  <c:pt idx="3">
                    <c:v>4</c:v>
                  </c:pt>
                  <c:pt idx="4">
                    <c:v>5</c:v>
                  </c:pt>
                  <c:pt idx="5">
                    <c:v>6</c:v>
                  </c:pt>
                  <c:pt idx="6">
                    <c:v>7</c:v>
                  </c:pt>
                  <c:pt idx="7">
                    <c:v>8</c:v>
                  </c:pt>
                  <c:pt idx="8">
                    <c:v>9</c:v>
                  </c:pt>
                </c:lvl>
              </c:multiLvlStrCache>
            </c:multiLvlStrRef>
          </c:cat>
          <c:val>
            <c:numRef>
              <c:f>Sheet1!$C$2:$C$10</c:f>
              <c:numCache>
                <c:formatCode>General</c:formatCode>
                <c:ptCount val="9"/>
                <c:pt idx="0">
                  <c:v>138082.95</c:v>
                </c:pt>
                <c:pt idx="1">
                  <c:v>120267.6</c:v>
                </c:pt>
                <c:pt idx="2">
                  <c:v>125680.06</c:v>
                </c:pt>
                <c:pt idx="3">
                  <c:v>121752.14</c:v>
                </c:pt>
                <c:pt idx="4">
                  <c:v>129888.87</c:v>
                </c:pt>
                <c:pt idx="5">
                  <c:v>146756.61</c:v>
                </c:pt>
                <c:pt idx="6">
                  <c:v>169093.82</c:v>
                </c:pt>
                <c:pt idx="7">
                  <c:v>169010.6</c:v>
                </c:pt>
                <c:pt idx="8">
                  <c:v>137344.03</c:v>
                </c:pt>
              </c:numCache>
            </c:numRef>
          </c:val>
          <c:smooth val="0"/>
        </c:ser>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1"/>
        <c:axPos val="b"/>
        <c:numFmt formatCode="General" sourceLinked="1"/>
        <c:majorTickMark val="out"/>
        <c:minorTickMark val="none"/>
        <c:tickLblPos val="low"/>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2"/>
        <c:crosses val="autoZero"/>
        <c:auto val="1"/>
        <c:lblAlgn val="ctr"/>
        <c:noMultiLvlLbl val="1"/>
      </c:catAx>
      <c:valAx>
        <c:axId val="2094734552"/>
        <c:scaling>
          <c:orientation val="minMax"/>
          <c:max val="177502.1568"/>
          <c:min val="116028.0032"/>
        </c:scaling>
        <c:delete val="1"/>
        <c:axPos val="l"/>
        <c:numFmt formatCode="General" sourceLinked="0"/>
        <c:majorTickMark val="out"/>
        <c:minorTickMark val="none"/>
        <c:tickLblPos val="nextTo"/>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noFill/>
        <a:ln>
          <a:noFill/>
        </a:ln>
        <a:effectLst/>
      </c:spPr>
    </c:plotArea>
    <c:plotVisOnly val="1"/>
    <c:dispBlanksAs val="span"/>
  </c:chart>
  <c:spPr>
    <a:noFill/>
    <a:ln>
      <a:noFill/>
    </a:ln>
    <a:effectLst/>
  </c:spPr>
  <c:externalData r:id="rId1">
    <c:autoUpdate val="0"/>
  </c:externalData>
</c:chartSpace>
</file>

<file path=ppt/charts/chart57.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manualLayout>
          <c:layoutTarget val="inner"/>
          <c:xMode val="edge"/>
          <c:yMode val="edge"/>
          <c:x val="0"/>
          <c:y val="0"/>
          <c:w val="1"/>
          <c:h val="1"/>
        </c:manualLayout>
      </c:layout>
      <c:lineChart>
        <c:varyColors val="0"/>
        <c:ser>
          <c:idx val="0"/>
          <c:order val="0"/>
          <c:tx>
            <c:strRef>
              <c:f>Sheet1!$B$1</c:f>
              <c:strCache>
                <c:ptCount val="1"/>
                <c:pt idx="0">
                  <c:v>prior</c:v>
                </c:pt>
              </c:strCache>
            </c:strRef>
          </c:tx>
          <c:spPr>
            <a:solidFill>
              <a:srgbClr val="A6A6A6"/>
            </a:solidFill>
            <a:ln w="22225" cap="flat">
              <a:solidFill>
                <a:srgbClr val="A6A6A6"/>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none"/>
            <c:size val="6"/>
            <c:spPr>
              <a:solidFill>
                <a:srgbClr val="A6A6A6"/>
              </a:solidFill>
              <a:ln w="9525" cap="flat">
                <a:solidFill>
                  <a:srgbClr val="A6A6A6"/>
                </a:solidFill>
                <a:prstDash val="solid"/>
                <a:round/>
              </a:ln>
              <a:effectLst/>
            </c:spPr>
          </c:marker>
          <c:cat>
            <c:multiLvlStrRef>
              <c:f>Sheet1!$A$2:$A$10</c:f>
              <c:multiLvlStrCache>
                <c:ptCount val="9"/>
                <c:lvl>
                  <c:pt idx="0">
                    <c:v>1</c:v>
                  </c:pt>
                  <c:pt idx="1">
                    <c:v>2</c:v>
                  </c:pt>
                  <c:pt idx="2">
                    <c:v>3</c:v>
                  </c:pt>
                  <c:pt idx="3">
                    <c:v>4</c:v>
                  </c:pt>
                  <c:pt idx="4">
                    <c:v>5</c:v>
                  </c:pt>
                  <c:pt idx="5">
                    <c:v>6</c:v>
                  </c:pt>
                  <c:pt idx="6">
                    <c:v>7</c:v>
                  </c:pt>
                  <c:pt idx="7">
                    <c:v>8</c:v>
                  </c:pt>
                  <c:pt idx="8">
                    <c:v>9</c:v>
                  </c:pt>
                </c:lvl>
              </c:multiLvlStrCache>
            </c:multiLvlStrRef>
          </c:cat>
          <c:val>
            <c:numRef>
              <c:f>Sheet1!$B$2:$B$10</c:f>
              <c:numCache>
                <c:formatCode>General</c:formatCode>
                <c:ptCount val="9"/>
                <c:pt idx="0">
                  <c:v>226281.23</c:v>
                </c:pt>
                <c:pt idx="1">
                  <c:v>258519.3</c:v>
                </c:pt>
                <c:pt idx="2">
                  <c:v>248326.62</c:v>
                </c:pt>
                <c:pt idx="3">
                  <c:v>276231.51</c:v>
                </c:pt>
                <c:pt idx="4">
                  <c:v>238657.58</c:v>
                </c:pt>
                <c:pt idx="5">
                  <c:v>230114.84</c:v>
                </c:pt>
                <c:pt idx="6">
                  <c:v>230559.94</c:v>
                </c:pt>
                <c:pt idx="7">
                  <c:v>272192.33</c:v>
                </c:pt>
                <c:pt idx="8">
                  <c:v>287599.6</c:v>
                </c:pt>
              </c:numCache>
            </c:numRef>
          </c:val>
          <c:smooth val="0"/>
        </c:ser>
        <c:ser>
          <c:idx val="1"/>
          <c:order val="1"/>
          <c:tx>
            <c:strRef>
              <c:f>Sheet1!$C$1</c:f>
              <c:strCache>
                <c:ptCount val="1"/>
                <c:pt idx="0">
                  <c:v>cur</c:v>
                </c:pt>
              </c:strCache>
            </c:strRef>
          </c:tx>
          <c:spPr>
            <a:solidFill>
              <a:srgbClr val="A82B26"/>
            </a:solidFill>
            <a:ln w="22225" cap="flat">
              <a:solidFill>
                <a:srgbClr val="A82B26"/>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none"/>
            <c:size val="6"/>
            <c:spPr>
              <a:solidFill>
                <a:srgbClr val="A82B26"/>
              </a:solidFill>
              <a:ln w="9525" cap="flat">
                <a:solidFill>
                  <a:srgbClr val="A82B26"/>
                </a:solidFill>
                <a:prstDash val="solid"/>
                <a:round/>
              </a:ln>
              <a:effectLst/>
            </c:spPr>
          </c:marker>
          <c:cat>
            <c:multiLvlStrRef>
              <c:f>Sheet1!$A$2:$A$10</c:f>
              <c:multiLvlStrCache>
                <c:ptCount val="9"/>
                <c:lvl>
                  <c:pt idx="0">
                    <c:v>1</c:v>
                  </c:pt>
                  <c:pt idx="1">
                    <c:v>2</c:v>
                  </c:pt>
                  <c:pt idx="2">
                    <c:v>3</c:v>
                  </c:pt>
                  <c:pt idx="3">
                    <c:v>4</c:v>
                  </c:pt>
                  <c:pt idx="4">
                    <c:v>5</c:v>
                  </c:pt>
                  <c:pt idx="5">
                    <c:v>6</c:v>
                  </c:pt>
                  <c:pt idx="6">
                    <c:v>7</c:v>
                  </c:pt>
                  <c:pt idx="7">
                    <c:v>8</c:v>
                  </c:pt>
                  <c:pt idx="8">
                    <c:v>9</c:v>
                  </c:pt>
                </c:lvl>
              </c:multiLvlStrCache>
            </c:multiLvlStrRef>
          </c:cat>
          <c:val>
            <c:numRef>
              <c:f>Sheet1!$C$2:$C$10</c:f>
              <c:numCache>
                <c:formatCode>General</c:formatCode>
                <c:ptCount val="9"/>
                <c:pt idx="0">
                  <c:v>250162.74</c:v>
                </c:pt>
                <c:pt idx="1">
                  <c:v>194615.76</c:v>
                </c:pt>
                <c:pt idx="2">
                  <c:v>261520.03</c:v>
                </c:pt>
                <c:pt idx="3">
                  <c:v>246342.75</c:v>
                </c:pt>
                <c:pt idx="4">
                  <c:v>215201.81</c:v>
                </c:pt>
                <c:pt idx="5">
                  <c:v>241079.74</c:v>
                </c:pt>
                <c:pt idx="6">
                  <c:v>249640.6</c:v>
                </c:pt>
                <c:pt idx="7">
                  <c:v>207349.13</c:v>
                </c:pt>
                <c:pt idx="8">
                  <c:v>235394.39</c:v>
                </c:pt>
              </c:numCache>
            </c:numRef>
          </c:val>
          <c:smooth val="0"/>
        </c:ser>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1"/>
        <c:axPos val="b"/>
        <c:numFmt formatCode="General" sourceLinked="1"/>
        <c:majorTickMark val="out"/>
        <c:minorTickMark val="none"/>
        <c:tickLblPos val="low"/>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2"/>
        <c:crosses val="autoZero"/>
        <c:auto val="1"/>
        <c:lblAlgn val="ctr"/>
        <c:noMultiLvlLbl val="1"/>
      </c:catAx>
      <c:valAx>
        <c:axId val="2094734552"/>
        <c:scaling>
          <c:orientation val="minMax"/>
          <c:max val="295038.3072"/>
          <c:min val="187177.0528"/>
        </c:scaling>
        <c:delete val="1"/>
        <c:axPos val="l"/>
        <c:numFmt formatCode="General" sourceLinked="0"/>
        <c:majorTickMark val="out"/>
        <c:minorTickMark val="none"/>
        <c:tickLblPos val="nextTo"/>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noFill/>
        <a:ln>
          <a:noFill/>
        </a:ln>
        <a:effectLst/>
      </c:spPr>
    </c:plotArea>
    <c:plotVisOnly val="1"/>
    <c:dispBlanksAs val="span"/>
  </c:chart>
  <c:spPr>
    <a:noFill/>
    <a:ln>
      <a:noFill/>
    </a:ln>
    <a:effectLst/>
  </c:spPr>
  <c:externalData r:id="rId1">
    <c:autoUpdate val="0"/>
  </c:externalData>
</c:chartSpace>
</file>

<file path=ppt/charts/chart58.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manualLayout>
          <c:layoutTarget val="inner"/>
          <c:xMode val="edge"/>
          <c:yMode val="edge"/>
          <c:x val="0"/>
          <c:y val="0"/>
          <c:w val="1"/>
          <c:h val="1"/>
        </c:manualLayout>
      </c:layout>
      <c:lineChart>
        <c:varyColors val="0"/>
        <c:ser>
          <c:idx val="0"/>
          <c:order val="0"/>
          <c:tx>
            <c:strRef>
              <c:f>Sheet1!$B$1</c:f>
              <c:strCache>
                <c:ptCount val="1"/>
                <c:pt idx="0">
                  <c:v>cur</c:v>
                </c:pt>
              </c:strCache>
            </c:strRef>
          </c:tx>
          <c:spPr>
            <a:solidFill>
              <a:srgbClr val="0B7A4A"/>
            </a:solidFill>
            <a:ln w="22225" cap="flat">
              <a:solidFill>
                <a:srgbClr val="0B7A4A"/>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none"/>
            <c:size val="6"/>
            <c:spPr>
              <a:solidFill>
                <a:srgbClr val="0B7A4A"/>
              </a:solidFill>
              <a:ln w="9525" cap="flat">
                <a:solidFill>
                  <a:srgbClr val="0B7A4A"/>
                </a:solidFill>
                <a:prstDash val="solid"/>
                <a:round/>
              </a:ln>
              <a:effectLst/>
            </c:spPr>
          </c:marker>
          <c:cat>
            <c:multiLvlStrRef>
              <c:f>Sheet1!$A$2:$A$10</c:f>
              <c:multiLvlStrCache>
                <c:ptCount val="9"/>
                <c:lvl>
                  <c:pt idx="0">
                    <c:v>1</c:v>
                  </c:pt>
                  <c:pt idx="1">
                    <c:v>2</c:v>
                  </c:pt>
                  <c:pt idx="2">
                    <c:v>3</c:v>
                  </c:pt>
                  <c:pt idx="3">
                    <c:v>4</c:v>
                  </c:pt>
                  <c:pt idx="4">
                    <c:v>5</c:v>
                  </c:pt>
                  <c:pt idx="5">
                    <c:v>6</c:v>
                  </c:pt>
                  <c:pt idx="6">
                    <c:v>7</c:v>
                  </c:pt>
                  <c:pt idx="7">
                    <c:v>8</c:v>
                  </c:pt>
                  <c:pt idx="8">
                    <c:v>9</c:v>
                  </c:pt>
                </c:lvl>
              </c:multiLvlStrCache>
            </c:multiLvlStrRef>
          </c:cat>
          <c:val>
            <c:numRef>
              <c:f>Sheet1!$B$2:$B$10</c:f>
              <c:numCache>
                <c:formatCode>General</c:formatCode>
                <c:ptCount val="9"/>
                <c:pt idx="0">
                  <c:v>330069.84</c:v>
                </c:pt>
                <c:pt idx="1">
                  <c:v>328865.04</c:v>
                </c:pt>
                <c:pt idx="2">
                  <c:v>358049.05</c:v>
                </c:pt>
                <c:pt idx="3">
                  <c:v>400948.54</c:v>
                </c:pt>
                <c:pt idx="4">
                  <c:v>270315.59</c:v>
                </c:pt>
                <c:pt idx="5">
                  <c:v>392703.12</c:v>
                </c:pt>
                <c:pt idx="6">
                  <c:v>591001.29</c:v>
                </c:pt>
                <c:pt idx="7">
                  <c:v>406582.71</c:v>
                </c:pt>
                <c:pt idx="8">
                  <c:v>460969.91</c:v>
                </c:pt>
              </c:numCache>
            </c:numRef>
          </c:val>
          <c:smooth val="0"/>
        </c:ser>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1"/>
        <c:axPos val="b"/>
        <c:numFmt formatCode="General" sourceLinked="1"/>
        <c:majorTickMark val="out"/>
        <c:minorTickMark val="none"/>
        <c:tickLblPos val="low"/>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2"/>
        <c:crosses val="autoZero"/>
        <c:auto val="1"/>
        <c:lblAlgn val="ctr"/>
        <c:noMultiLvlLbl val="1"/>
      </c:catAx>
      <c:valAx>
        <c:axId val="2094734552"/>
        <c:scaling>
          <c:orientation val="minMax"/>
          <c:max val="616656.1460000001"/>
          <c:min val="244660.73400000003"/>
        </c:scaling>
        <c:delete val="1"/>
        <c:axPos val="l"/>
        <c:numFmt formatCode="General" sourceLinked="0"/>
        <c:majorTickMark val="out"/>
        <c:minorTickMark val="none"/>
        <c:tickLblPos val="nextTo"/>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noFill/>
        <a:ln>
          <a:noFill/>
        </a:ln>
        <a:effectLst/>
      </c:spPr>
    </c:plotArea>
    <c:plotVisOnly val="1"/>
    <c:dispBlanksAs val="span"/>
  </c:chart>
  <c:spPr>
    <a:noFill/>
    <a:ln>
      <a:noFill/>
    </a:ln>
    <a:effectLst/>
  </c:spPr>
  <c:externalData r:id="rId1">
    <c:autoUpdate val="0"/>
  </c:externalData>
</c:chartSpace>
</file>

<file path=ppt/charts/chart59.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manualLayout>
          <c:layoutTarget val="inner"/>
          <c:xMode val="edge"/>
          <c:yMode val="edge"/>
          <c:x val="0"/>
          <c:y val="0"/>
          <c:w val="1"/>
          <c:h val="1"/>
        </c:manualLayout>
      </c:layout>
      <c:lineChart>
        <c:varyColors val="0"/>
        <c:ser>
          <c:idx val="0"/>
          <c:order val="0"/>
          <c:tx>
            <c:strRef>
              <c:f>Sheet1!$B$1</c:f>
              <c:strCache>
                <c:ptCount val="1"/>
                <c:pt idx="0">
                  <c:v>cur</c:v>
                </c:pt>
              </c:strCache>
            </c:strRef>
          </c:tx>
          <c:spPr>
            <a:solidFill>
              <a:srgbClr val="0B7A4A"/>
            </a:solidFill>
            <a:ln w="22225" cap="flat">
              <a:solidFill>
                <a:srgbClr val="0B7A4A"/>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none"/>
            <c:size val="6"/>
            <c:spPr>
              <a:solidFill>
                <a:srgbClr val="0B7A4A"/>
              </a:solidFill>
              <a:ln w="9525" cap="flat">
                <a:solidFill>
                  <a:srgbClr val="0B7A4A"/>
                </a:solidFill>
                <a:prstDash val="solid"/>
                <a:round/>
              </a:ln>
              <a:effectLst/>
            </c:spPr>
          </c:marker>
          <c:cat>
            <c:multiLvlStrRef>
              <c:f>Sheet1!$A$2:$A$10</c:f>
              <c:multiLvlStrCache>
                <c:ptCount val="9"/>
                <c:lvl>
                  <c:pt idx="0">
                    <c:v>1</c:v>
                  </c:pt>
                  <c:pt idx="1">
                    <c:v>2</c:v>
                  </c:pt>
                  <c:pt idx="2">
                    <c:v>3</c:v>
                  </c:pt>
                  <c:pt idx="3">
                    <c:v>4</c:v>
                  </c:pt>
                  <c:pt idx="4">
                    <c:v>5</c:v>
                  </c:pt>
                  <c:pt idx="5">
                    <c:v>6</c:v>
                  </c:pt>
                  <c:pt idx="6">
                    <c:v>7</c:v>
                  </c:pt>
                  <c:pt idx="7">
                    <c:v>8</c:v>
                  </c:pt>
                  <c:pt idx="8">
                    <c:v>9</c:v>
                  </c:pt>
                </c:lvl>
              </c:multiLvlStrCache>
            </c:multiLvlStrRef>
          </c:cat>
          <c:val>
            <c:numRef>
              <c:f>Sheet1!$B$2:$B$10</c:f>
              <c:numCache>
                <c:formatCode>General</c:formatCode>
                <c:ptCount val="9"/>
                <c:pt idx="0">
                  <c:v>111542.75</c:v>
                </c:pt>
                <c:pt idx="1">
                  <c:v>85601.42</c:v>
                </c:pt>
                <c:pt idx="2">
                  <c:v>144194.07</c:v>
                </c:pt>
                <c:pt idx="3">
                  <c:v>140890.99</c:v>
                </c:pt>
                <c:pt idx="4">
                  <c:v>116471.5</c:v>
                </c:pt>
                <c:pt idx="5">
                  <c:v>145415.16</c:v>
                </c:pt>
                <c:pt idx="6">
                  <c:v>116928.25</c:v>
                </c:pt>
                <c:pt idx="7">
                  <c:v>131580.08</c:v>
                </c:pt>
                <c:pt idx="8">
                  <c:v>200348.57</c:v>
                </c:pt>
              </c:numCache>
            </c:numRef>
          </c:val>
          <c:smooth val="0"/>
        </c:ser>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1"/>
        <c:axPos val="b"/>
        <c:numFmt formatCode="General" sourceLinked="1"/>
        <c:majorTickMark val="out"/>
        <c:minorTickMark val="none"/>
        <c:tickLblPos val="low"/>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2"/>
        <c:crosses val="autoZero"/>
        <c:auto val="1"/>
        <c:lblAlgn val="ctr"/>
        <c:noMultiLvlLbl val="1"/>
      </c:catAx>
      <c:valAx>
        <c:axId val="2094734552"/>
        <c:scaling>
          <c:orientation val="minMax"/>
          <c:max val="209528.342"/>
          <c:min val="76421.648"/>
        </c:scaling>
        <c:delete val="1"/>
        <c:axPos val="l"/>
        <c:numFmt formatCode="General" sourceLinked="0"/>
        <c:majorTickMark val="out"/>
        <c:minorTickMark val="none"/>
        <c:tickLblPos val="nextTo"/>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noFill/>
        <a:ln>
          <a:noFill/>
        </a:ln>
        <a:effectLst/>
      </c:spPr>
    </c:plotArea>
    <c:plotVisOnly val="1"/>
    <c:dispBlanksAs val="span"/>
  </c:chart>
  <c:spPr>
    <a:noFill/>
    <a:ln>
      <a:noFill/>
    </a:ln>
    <a:effectLst/>
  </c:spPr>
  <c:externalData r:id="rId1">
    <c:autoUpdate val="0"/>
  </c:externalData>
</c:chartSpace>
</file>

<file path=ppt/charts/chart60.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manualLayout>
          <c:layoutTarget val="inner"/>
          <c:xMode val="edge"/>
          <c:yMode val="edge"/>
          <c:x val="0"/>
          <c:y val="0"/>
          <c:w val="1"/>
          <c:h val="1"/>
        </c:manualLayout>
      </c:layout>
      <c:lineChart>
        <c:varyColors val="0"/>
        <c:ser>
          <c:idx val="0"/>
          <c:order val="0"/>
          <c:tx>
            <c:strRef>
              <c:f>Sheet1!$B$1</c:f>
              <c:strCache>
                <c:ptCount val="1"/>
                <c:pt idx="0">
                  <c:v>cur</c:v>
                </c:pt>
              </c:strCache>
            </c:strRef>
          </c:tx>
          <c:spPr>
            <a:solidFill>
              <a:srgbClr val="0B7A4A"/>
            </a:solidFill>
            <a:ln w="22225" cap="flat">
              <a:solidFill>
                <a:srgbClr val="0B7A4A"/>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none"/>
            <c:size val="6"/>
            <c:spPr>
              <a:solidFill>
                <a:srgbClr val="0B7A4A"/>
              </a:solidFill>
              <a:ln w="9525" cap="flat">
                <a:solidFill>
                  <a:srgbClr val="0B7A4A"/>
                </a:solidFill>
                <a:prstDash val="solid"/>
                <a:round/>
              </a:ln>
              <a:effectLst/>
            </c:spPr>
          </c:marker>
          <c:cat>
            <c:multiLvlStrRef>
              <c:f>Sheet1!$A$2:$A$10</c:f>
              <c:multiLvlStrCache>
                <c:ptCount val="9"/>
                <c:lvl>
                  <c:pt idx="0">
                    <c:v>1</c:v>
                  </c:pt>
                  <c:pt idx="1">
                    <c:v>2</c:v>
                  </c:pt>
                  <c:pt idx="2">
                    <c:v>3</c:v>
                  </c:pt>
                  <c:pt idx="3">
                    <c:v>4</c:v>
                  </c:pt>
                  <c:pt idx="4">
                    <c:v>5</c:v>
                  </c:pt>
                  <c:pt idx="5">
                    <c:v>6</c:v>
                  </c:pt>
                  <c:pt idx="6">
                    <c:v>7</c:v>
                  </c:pt>
                  <c:pt idx="7">
                    <c:v>8</c:v>
                  </c:pt>
                  <c:pt idx="8">
                    <c:v>9</c:v>
                  </c:pt>
                </c:lvl>
              </c:multiLvlStrCache>
            </c:multiLvlStrRef>
          </c:cat>
          <c:val>
            <c:numRef>
              <c:f>Sheet1!$B$2:$B$10</c:f>
              <c:numCache>
                <c:formatCode>General</c:formatCode>
                <c:ptCount val="9"/>
                <c:pt idx="0">
                  <c:v>46596.07</c:v>
                </c:pt>
                <c:pt idx="1">
                  <c:v>46285.16</c:v>
                </c:pt>
                <c:pt idx="2">
                  <c:v>62722.4</c:v>
                </c:pt>
                <c:pt idx="3">
                  <c:v>61451.27</c:v>
                </c:pt>
                <c:pt idx="4">
                  <c:v>59931.85</c:v>
                </c:pt>
                <c:pt idx="5">
                  <c:v>66637.27</c:v>
                </c:pt>
                <c:pt idx="6">
                  <c:v>67929.32</c:v>
                </c:pt>
                <c:pt idx="7">
                  <c:v>65180.57</c:v>
                </c:pt>
                <c:pt idx="8">
                  <c:v>71130.14</c:v>
                </c:pt>
              </c:numCache>
            </c:numRef>
          </c:val>
          <c:smooth val="0"/>
        </c:ser>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1"/>
        <c:axPos val="b"/>
        <c:numFmt formatCode="General" sourceLinked="1"/>
        <c:majorTickMark val="out"/>
        <c:minorTickMark val="none"/>
        <c:tickLblPos val="low"/>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2"/>
        <c:crosses val="autoZero"/>
        <c:auto val="1"/>
        <c:lblAlgn val="ctr"/>
        <c:noMultiLvlLbl val="1"/>
      </c:catAx>
      <c:valAx>
        <c:axId val="2094734552"/>
        <c:scaling>
          <c:orientation val="minMax"/>
          <c:max val="73117.7384"/>
          <c:min val="44297.5616"/>
        </c:scaling>
        <c:delete val="1"/>
        <c:axPos val="l"/>
        <c:numFmt formatCode="General" sourceLinked="0"/>
        <c:majorTickMark val="out"/>
        <c:minorTickMark val="none"/>
        <c:tickLblPos val="nextTo"/>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noFill/>
        <a:ln>
          <a:noFill/>
        </a:ln>
        <a:effectLst/>
      </c:spPr>
    </c:plotArea>
    <c:plotVisOnly val="1"/>
    <c:dispBlanksAs val="span"/>
  </c:chart>
  <c:spPr>
    <a:noFill/>
    <a:ln>
      <a:noFill/>
    </a:ln>
    <a:effectLst/>
  </c:spPr>
  <c:externalData r:id="rId1">
    <c:autoUpdate val="0"/>
  </c:externalData>
</c:chartSpace>
</file>

<file path=ppt/charts/chart61.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manualLayout>
          <c:layoutTarget val="inner"/>
          <c:xMode val="edge"/>
          <c:yMode val="edge"/>
          <c:x val="0"/>
          <c:y val="0"/>
          <c:w val="1"/>
          <c:h val="1"/>
        </c:manualLayout>
      </c:layout>
      <c:lineChart>
        <c:varyColors val="0"/>
        <c:ser>
          <c:idx val="0"/>
          <c:order val="0"/>
          <c:tx>
            <c:strRef>
              <c:f>Sheet1!$B$1</c:f>
              <c:strCache>
                <c:ptCount val="1"/>
                <c:pt idx="0">
                  <c:v>cur</c:v>
                </c:pt>
              </c:strCache>
            </c:strRef>
          </c:tx>
          <c:spPr>
            <a:solidFill>
              <a:srgbClr val="0B7A4A"/>
            </a:solidFill>
            <a:ln w="22225" cap="flat">
              <a:solidFill>
                <a:srgbClr val="0B7A4A"/>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none"/>
            <c:size val="6"/>
            <c:spPr>
              <a:solidFill>
                <a:srgbClr val="0B7A4A"/>
              </a:solidFill>
              <a:ln w="9525" cap="flat">
                <a:solidFill>
                  <a:srgbClr val="0B7A4A"/>
                </a:solidFill>
                <a:prstDash val="solid"/>
                <a:round/>
              </a:ln>
              <a:effectLst/>
            </c:spPr>
          </c:marker>
          <c:cat>
            <c:multiLvlStrRef>
              <c:f>Sheet1!$A$2:$A$10</c:f>
              <c:multiLvlStrCache>
                <c:ptCount val="9"/>
                <c:lvl>
                  <c:pt idx="0">
                    <c:v>1</c:v>
                  </c:pt>
                  <c:pt idx="1">
                    <c:v>2</c:v>
                  </c:pt>
                  <c:pt idx="2">
                    <c:v>3</c:v>
                  </c:pt>
                  <c:pt idx="3">
                    <c:v>4</c:v>
                  </c:pt>
                  <c:pt idx="4">
                    <c:v>5</c:v>
                  </c:pt>
                  <c:pt idx="5">
                    <c:v>6</c:v>
                  </c:pt>
                  <c:pt idx="6">
                    <c:v>7</c:v>
                  </c:pt>
                  <c:pt idx="7">
                    <c:v>8</c:v>
                  </c:pt>
                  <c:pt idx="8">
                    <c:v>9</c:v>
                  </c:pt>
                </c:lvl>
              </c:multiLvlStrCache>
            </c:multiLvlStrRef>
          </c:cat>
          <c:val>
            <c:numRef>
              <c:f>Sheet1!$B$2:$B$10</c:f>
              <c:numCache>
                <c:formatCode>General</c:formatCode>
                <c:ptCount val="9"/>
                <c:pt idx="0">
                  <c:v>94693.94</c:v>
                </c:pt>
                <c:pt idx="1">
                  <c:v>91432.01</c:v>
                </c:pt>
                <c:pt idx="2">
                  <c:v>97761.8</c:v>
                </c:pt>
                <c:pt idx="3">
                  <c:v>110143.09</c:v>
                </c:pt>
                <c:pt idx="4">
                  <c:v>85908.27</c:v>
                </c:pt>
                <c:pt idx="5">
                  <c:v>92150</c:v>
                </c:pt>
                <c:pt idx="6">
                  <c:v>133836.88</c:v>
                </c:pt>
                <c:pt idx="7">
                  <c:v>115036.83</c:v>
                </c:pt>
                <c:pt idx="8">
                  <c:v>120419.48</c:v>
                </c:pt>
              </c:numCache>
            </c:numRef>
          </c:val>
          <c:smooth val="0"/>
        </c:ser>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1"/>
        <c:axPos val="b"/>
        <c:numFmt formatCode="General" sourceLinked="1"/>
        <c:majorTickMark val="out"/>
        <c:minorTickMark val="none"/>
        <c:tickLblPos val="low"/>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2"/>
        <c:crosses val="autoZero"/>
        <c:auto val="1"/>
        <c:lblAlgn val="ctr"/>
        <c:noMultiLvlLbl val="1"/>
      </c:catAx>
      <c:valAx>
        <c:axId val="2094734552"/>
        <c:scaling>
          <c:orientation val="minMax"/>
          <c:max val="137671.1688"/>
          <c:min val="82073.98120000001"/>
        </c:scaling>
        <c:delete val="1"/>
        <c:axPos val="l"/>
        <c:numFmt formatCode="General" sourceLinked="0"/>
        <c:majorTickMark val="out"/>
        <c:minorTickMark val="none"/>
        <c:tickLblPos val="nextTo"/>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noFill/>
        <a:ln>
          <a:noFill/>
        </a:ln>
        <a:effectLst/>
      </c:spPr>
    </c:plotArea>
    <c:plotVisOnly val="1"/>
    <c:dispBlanksAs val="span"/>
  </c:chart>
  <c:spPr>
    <a:noFill/>
    <a:ln>
      <a:noFill/>
    </a:ln>
    <a:effectLst/>
  </c:spPr>
  <c:externalData r:id="rId1">
    <c:autoUpdate val="0"/>
  </c:externalData>
</c:chartSpace>
</file>

<file path=ppt/charts/chart62.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manualLayout>
          <c:layoutTarget val="inner"/>
          <c:xMode val="edge"/>
          <c:yMode val="edge"/>
          <c:x val="0"/>
          <c:y val="0"/>
          <c:w val="1"/>
          <c:h val="1"/>
        </c:manualLayout>
      </c:layout>
      <c:lineChart>
        <c:varyColors val="0"/>
        <c:ser>
          <c:idx val="0"/>
          <c:order val="0"/>
          <c:tx>
            <c:strRef>
              <c:f>Sheet1!$B$1</c:f>
              <c:strCache>
                <c:ptCount val="1"/>
                <c:pt idx="0">
                  <c:v>cur</c:v>
                </c:pt>
              </c:strCache>
            </c:strRef>
          </c:tx>
          <c:spPr>
            <a:solidFill>
              <a:srgbClr val="0B7A4A"/>
            </a:solidFill>
            <a:ln w="22225" cap="flat">
              <a:solidFill>
                <a:srgbClr val="0B7A4A"/>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none"/>
            <c:size val="6"/>
            <c:spPr>
              <a:solidFill>
                <a:srgbClr val="0B7A4A"/>
              </a:solidFill>
              <a:ln w="9525" cap="flat">
                <a:solidFill>
                  <a:srgbClr val="0B7A4A"/>
                </a:solidFill>
                <a:prstDash val="solid"/>
                <a:round/>
              </a:ln>
              <a:effectLst/>
            </c:spPr>
          </c:marker>
          <c:cat>
            <c:multiLvlStrRef>
              <c:f>Sheet1!$A$2:$A$10</c:f>
              <c:multiLvlStrCache>
                <c:ptCount val="9"/>
                <c:lvl>
                  <c:pt idx="0">
                    <c:v>1</c:v>
                  </c:pt>
                  <c:pt idx="1">
                    <c:v>2</c:v>
                  </c:pt>
                  <c:pt idx="2">
                    <c:v>3</c:v>
                  </c:pt>
                  <c:pt idx="3">
                    <c:v>4</c:v>
                  </c:pt>
                  <c:pt idx="4">
                    <c:v>5</c:v>
                  </c:pt>
                  <c:pt idx="5">
                    <c:v>6</c:v>
                  </c:pt>
                  <c:pt idx="6">
                    <c:v>7</c:v>
                  </c:pt>
                  <c:pt idx="7">
                    <c:v>8</c:v>
                  </c:pt>
                  <c:pt idx="8">
                    <c:v>9</c:v>
                  </c:pt>
                </c:lvl>
              </c:multiLvlStrCache>
            </c:multiLvlStrRef>
          </c:cat>
          <c:val>
            <c:numRef>
              <c:f>Sheet1!$B$2:$B$10</c:f>
              <c:numCache>
                <c:formatCode>General</c:formatCode>
                <c:ptCount val="9"/>
                <c:pt idx="0">
                  <c:v>143708.08</c:v>
                </c:pt>
                <c:pt idx="1">
                  <c:v>150156.17</c:v>
                </c:pt>
                <c:pt idx="2">
                  <c:v>171690.79</c:v>
                </c:pt>
                <c:pt idx="3">
                  <c:v>179733.55</c:v>
                </c:pt>
                <c:pt idx="4">
                  <c:v>162543.22</c:v>
                </c:pt>
                <c:pt idx="5">
                  <c:v>190573.96</c:v>
                </c:pt>
                <c:pt idx="6">
                  <c:v>210203.34</c:v>
                </c:pt>
                <c:pt idx="7">
                  <c:v>183677.31</c:v>
                </c:pt>
                <c:pt idx="8">
                  <c:v>200380.49</c:v>
                </c:pt>
              </c:numCache>
            </c:numRef>
          </c:val>
          <c:smooth val="0"/>
        </c:ser>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1"/>
        <c:axPos val="b"/>
        <c:numFmt formatCode="General" sourceLinked="1"/>
        <c:majorTickMark val="out"/>
        <c:minorTickMark val="none"/>
        <c:tickLblPos val="low"/>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2"/>
        <c:crosses val="autoZero"/>
        <c:auto val="1"/>
        <c:lblAlgn val="ctr"/>
        <c:noMultiLvlLbl val="1"/>
      </c:catAx>
      <c:valAx>
        <c:axId val="2094734552"/>
        <c:scaling>
          <c:orientation val="minMax"/>
          <c:max val="215522.9608"/>
          <c:min val="138388.45919999998"/>
        </c:scaling>
        <c:delete val="1"/>
        <c:axPos val="l"/>
        <c:numFmt formatCode="General" sourceLinked="0"/>
        <c:majorTickMark val="out"/>
        <c:minorTickMark val="none"/>
        <c:tickLblPos val="nextTo"/>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noFill/>
        <a:ln>
          <a:noFill/>
        </a:ln>
        <a:effectLst/>
      </c:spPr>
    </c:plotArea>
    <c:plotVisOnly val="1"/>
    <c:dispBlanksAs val="span"/>
  </c:chart>
  <c:spPr>
    <a:noFill/>
    <a:ln>
      <a:noFill/>
    </a:ln>
    <a:effectLst/>
  </c:spPr>
  <c:externalData r:id="rId1">
    <c:autoUpdate val="0"/>
  </c:externalData>
</c:chartSpace>
</file>

<file path=ppt/notesMasters/_rels/notesMaster1.xml.rels><?xml version='1.0' encoding='UTF-8' standalone='yes'?>
<Relationships xmlns="http://schemas.openxmlformats.org/package/2006/relationships"><Relationship Id="rId1" Type="http://schemas.openxmlformats.org/officeDocument/2006/relationships/theme" Target="../theme/theme1.xml"/></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5282F153-3F37-0F45-9E97-73ACFA13230C}" type="datetimeFigureOut">
              <a:rPr lang="en-US"/>
              <a:t>7/23/19</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CE5E9CC1-C706-0F49-92D6-E571CC5EEA8F}" type="slidenum">
              <a:rPr lang="en-US"/>
              <a:t>‹#›</a:t>
            </a:fld>
            <a:endParaRPr lang="en-US"/>
          </a:p>
        </p:txBody>
      </p:sp>
    </p:spTree>
    <p:extLst>
      <p:ext uri="{BB962C8B-B14F-4D97-AF65-F5344CB8AC3E}">
        <p14:creationId xmlns:p14="http://schemas.microsoft.com/office/powerpoint/2010/main" val="1024086991"/>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xml"/></Relationships>
</file>

<file path=ppt/notesSlides/_rels/notesSlide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9.xml"/></Relationships>
</file>

<file path=ppt/notesSlides/_rels/notesSlide1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3.xml"/></Relationship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Takeaway with the store call-outs (off the slide): Ask Hyundai Prescott, Lincoln and Lexus what changed. Ask Acura, VW St George and VW Henderson what got in the way. Ask Mazda, Kia St George and LR Henderson what they started this year.Source: Qlik - Profit &amp; Loss. Same-store, INEOS excluded (opened 2026). Fixed ops = service + parts; GMC Prescott body shop gross excluded. Top and bottom five stores by percent change in fixed ops gross, Jan-Sep 2026 vs 2025. Moving now: Jul-Sep 2026 vs Jan-Mar 2026, each store against itself (monthly averages); the group moved +9.4% on the same basis, so part of every store's change is seasonal. Green bar at the right of a row: the store is on both the top five vs last year and the top five moving now. Blue bar: a turnaround, on the bottom five vs last year and the top five moving now.Conversation starter: each top store says one thing they started doing; each bottom store says what got in the way and what they would try. The room trades ideas. Moving now: ask the top three what they started this year.</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Takeaway with the store call-outs (off the slide): Ask Hyundai Prescott, Lincoln and Lexus what changed. Ask Acura, VW St George and VW Henderson what got in the way. Ask Mazda, Kia St George and Hyundai Prescott what they started this year.Source: Qlik - Profit &amp; Loss. Same-store, INEOS excluded (opened 2026). Fixed ops = service + parts; GMC Prescott body shop gross excluded. Top and bottom five stores by percent change in service gross, Jan-Sep 2026 vs 2025. Moving now: Jul-Sep 2026 vs Jan-Mar 2026, each store against itself (monthly averages); the group moved +7.0% on the same basis, so part of every store's change is seasonal. Green bar at the right of a row: the store is on both the top five vs last year and the top five moving now. Blue bar: a turnaround, on the bottom five vs last year and the top five moving now.Conversation starter: each top store says one thing they started doing; each bottom store says what got in the way and what they would try. The room trades ideas. Moving now: ask the top three what they started this year.</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Takeaway with the store call-outs (off the slide): Ask Lincoln, Cadillac and Subaru St George what changed. Ask Hyundai St George, Audi Reno and VW Henderson what got in the way. Ask Audi Henderson, Mazda and Honda Flagstaff what they started this year.Source: Qlik - Profit &amp; Loss. Same-store, INEOS excluded (opened 2026). Fixed ops = service + parts; GMC Prescott body shop gross excluded. Top and bottom five stores by percent change in parts gross, Jan-Sep 2026 vs 2025. Moving now: Jul-Sep 2026 vs Jan-Mar 2026, each store against itself (monthly averages); the group moved +14.4% on the same basis, so part of every store's change is seasonal. Green bar at the right of a row: the store is on both the top five vs last year and the top five moving now. Blue bar: a turnaround, on the bottom five vs last year and the top five moving now.Conversation starter: each top store says one thing they started doing; each bottom store says what got in the way and what they would try. The room trades ideas. Moving now: ask the top three what they started this year.</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13</a:t>
            </a:fld>
            <a:endParaRPr lang="en-US"/>
          </a:p>
        </p:txBody>
      </p:sp>
    </p:spTree>
    <p:extLst>
      <p:ext uri="{BB962C8B-B14F-4D97-AF65-F5344CB8AC3E}">
        <p14:creationId xmlns:p14="http://schemas.microsoft.com/office/powerpoint/2010/main" val="1024086991"/>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p:cSld name="DEFAULT">
    <p:bg>
      <p:bgRef idx="1001">
        <a:schemeClr val="bg1"/>
      </p:bgRef>
    </p:bg>
    <p:spTree>
      <p:nvGrpSpPr>
        <p:cNvPr id="1" name=""/>
        <p:cNvGrpSpPr/>
        <p:nvPr/>
      </p:nvGrpSpPr>
      <p:grpSpPr>
        <a:xfrm>
          <a:off x="0" y="0"/>
          <a:ext cx="0" cy="0"/>
          <a:chOff x="0" y="0"/>
          <a:chExt cx="0" cy="0"/>
        </a:xfrm>
      </p:grpSpPr>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Tree>
  </p:cSld>
  <p:clrMap bg1="lt1" tx1="dk1" bg2="lt2" tx2="dk2" accent1="accent1" accent2="accent2" accent3="accent3" accent4="accent4" accent5="accent5" accent6="accent6" hlink="hlink" folHlink="folHlink"/>
  <p:sldLayoutIdLst>
    <p:sldLayoutId id="2147483649" r:id="rId1"/>
  </p:sldLayoutIdLst>
  <p:hf sldNum="0" hdr="0" ftr="0" dt="0"/>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5.xml.rels><?xml version='1.0' encoding='UTF-8' standalone='yes'?>
<Relationships xmlns="http://schemas.openxmlformats.org/package/2006/relationships"><Relationship Id="rId1" Type="http://schemas.openxmlformats.org/officeDocument/2006/relationships/chart" Target="../charts/chart7.xml"/><Relationship Id="rId2" Type="http://schemas.openxmlformats.org/officeDocument/2006/relationships/chart" Target="../charts/chart8.xml"/><Relationship Id="rId3" Type="http://schemas.openxmlformats.org/officeDocument/2006/relationships/chart" Target="../charts/chart9.xml"/><Relationship Id="rId4" Type="http://schemas.openxmlformats.org/officeDocument/2006/relationships/chart" Target="../charts/chart10.xml"/><Relationship Id="rId5" Type="http://schemas.openxmlformats.org/officeDocument/2006/relationships/chart" Target="../charts/chart11.xml"/><Relationship Id="rId6" Type="http://schemas.openxmlformats.org/officeDocument/2006/relationships/chart" Target="../charts/chart12.xml"/><Relationship Id="rId7" Type="http://schemas.openxmlformats.org/officeDocument/2006/relationships/chart" Target="../charts/chart13.xml"/><Relationship Id="rId8" Type="http://schemas.openxmlformats.org/officeDocument/2006/relationships/chart" Target="../charts/chart14.xml"/><Relationship Id="rId9" Type="http://schemas.openxmlformats.org/officeDocument/2006/relationships/chart" Target="../charts/chart15.xml"/><Relationship Id="rId10" Type="http://schemas.openxmlformats.org/officeDocument/2006/relationships/chart" Target="../charts/chart16.xml"/><Relationship Id="rId11" Type="http://schemas.openxmlformats.org/officeDocument/2006/relationships/chart" Target="../charts/chart17.xml"/><Relationship Id="rId12" Type="http://schemas.openxmlformats.org/officeDocument/2006/relationships/chart" Target="../charts/chart18.xml"/><Relationship Id="rId13" Type="http://schemas.openxmlformats.org/officeDocument/2006/relationships/chart" Target="../charts/chart19.xml"/><Relationship Id="rId14" Type="http://schemas.openxmlformats.org/officeDocument/2006/relationships/chart" Target="../charts/chart20.xml"/><Relationship Id="rId15" Type="http://schemas.openxmlformats.org/officeDocument/2006/relationships/chart" Target="../charts/chart21.xml"/><Relationship Id="rId16" Type="http://schemas.openxmlformats.org/officeDocument/2006/relationships/slideLayout" Target="../slideLayouts/slideLayout1.xml"/><Relationship Id="rId17" Type="http://schemas.openxmlformats.org/officeDocument/2006/relationships/notesSlide" Target="../notesSlides/notesSlide5.xml"/></Relationships>
</file>

<file path=ppt/slides/_rels/slide9.xml.rels><?xml version='1.0' encoding='UTF-8' standalone='yes'?>
<Relationships xmlns="http://schemas.openxmlformats.org/package/2006/relationships"><Relationship Id="rId1" Type="http://schemas.openxmlformats.org/officeDocument/2006/relationships/chart" Target="../charts/chart27.xml"/><Relationship Id="rId2" Type="http://schemas.openxmlformats.org/officeDocument/2006/relationships/chart" Target="../charts/chart28.xml"/><Relationship Id="rId3" Type="http://schemas.openxmlformats.org/officeDocument/2006/relationships/chart" Target="../charts/chart29.xml"/><Relationship Id="rId4" Type="http://schemas.openxmlformats.org/officeDocument/2006/relationships/chart" Target="../charts/chart30.xml"/><Relationship Id="rId5" Type="http://schemas.openxmlformats.org/officeDocument/2006/relationships/chart" Target="../charts/chart31.xml"/><Relationship Id="rId6" Type="http://schemas.openxmlformats.org/officeDocument/2006/relationships/chart" Target="../charts/chart32.xml"/><Relationship Id="rId7" Type="http://schemas.openxmlformats.org/officeDocument/2006/relationships/chart" Target="../charts/chart33.xml"/><Relationship Id="rId8" Type="http://schemas.openxmlformats.org/officeDocument/2006/relationships/chart" Target="../charts/chart34.xml"/><Relationship Id="rId9" Type="http://schemas.openxmlformats.org/officeDocument/2006/relationships/chart" Target="../charts/chart35.xml"/><Relationship Id="rId10" Type="http://schemas.openxmlformats.org/officeDocument/2006/relationships/chart" Target="../charts/chart36.xml"/><Relationship Id="rId11" Type="http://schemas.openxmlformats.org/officeDocument/2006/relationships/chart" Target="../charts/chart37.xml"/><Relationship Id="rId12" Type="http://schemas.openxmlformats.org/officeDocument/2006/relationships/chart" Target="../charts/chart38.xml"/><Relationship Id="rId13" Type="http://schemas.openxmlformats.org/officeDocument/2006/relationships/chart" Target="../charts/chart39.xml"/><Relationship Id="rId14" Type="http://schemas.openxmlformats.org/officeDocument/2006/relationships/chart" Target="../charts/chart40.xml"/><Relationship Id="rId15" Type="http://schemas.openxmlformats.org/officeDocument/2006/relationships/chart" Target="../charts/chart41.xml"/><Relationship Id="rId16" Type="http://schemas.openxmlformats.org/officeDocument/2006/relationships/slideLayout" Target="../slideLayouts/slideLayout1.xml"/><Relationship Id="rId17" Type="http://schemas.openxmlformats.org/officeDocument/2006/relationships/notesSlide" Target="../notesSlides/notesSlide9.xml"/></Relationships>
</file>

<file path=ppt/slides/_rels/slide13.xml.rels><?xml version='1.0' encoding='UTF-8' standalone='yes'?>
<Relationships xmlns="http://schemas.openxmlformats.org/package/2006/relationships"><Relationship Id="rId1" Type="http://schemas.openxmlformats.org/officeDocument/2006/relationships/chart" Target="../charts/chart48.xml"/><Relationship Id="rId2" Type="http://schemas.openxmlformats.org/officeDocument/2006/relationships/chart" Target="../charts/chart49.xml"/><Relationship Id="rId3" Type="http://schemas.openxmlformats.org/officeDocument/2006/relationships/chart" Target="../charts/chart50.xml"/><Relationship Id="rId4" Type="http://schemas.openxmlformats.org/officeDocument/2006/relationships/chart" Target="../charts/chart51.xml"/><Relationship Id="rId5" Type="http://schemas.openxmlformats.org/officeDocument/2006/relationships/chart" Target="../charts/chart52.xml"/><Relationship Id="rId6" Type="http://schemas.openxmlformats.org/officeDocument/2006/relationships/chart" Target="../charts/chart53.xml"/><Relationship Id="rId7" Type="http://schemas.openxmlformats.org/officeDocument/2006/relationships/chart" Target="../charts/chart54.xml"/><Relationship Id="rId8" Type="http://schemas.openxmlformats.org/officeDocument/2006/relationships/chart" Target="../charts/chart55.xml"/><Relationship Id="rId9" Type="http://schemas.openxmlformats.org/officeDocument/2006/relationships/chart" Target="../charts/chart56.xml"/><Relationship Id="rId10" Type="http://schemas.openxmlformats.org/officeDocument/2006/relationships/chart" Target="../charts/chart57.xml"/><Relationship Id="rId11" Type="http://schemas.openxmlformats.org/officeDocument/2006/relationships/chart" Target="../charts/chart58.xml"/><Relationship Id="rId12" Type="http://schemas.openxmlformats.org/officeDocument/2006/relationships/chart" Target="../charts/chart59.xml"/><Relationship Id="rId13" Type="http://schemas.openxmlformats.org/officeDocument/2006/relationships/chart" Target="../charts/chart60.xml"/><Relationship Id="rId14" Type="http://schemas.openxmlformats.org/officeDocument/2006/relationships/chart" Target="../charts/chart61.xml"/><Relationship Id="rId15" Type="http://schemas.openxmlformats.org/officeDocument/2006/relationships/chart" Target="../charts/chart62.xml"/><Relationship Id="rId16" Type="http://schemas.openxmlformats.org/officeDocument/2006/relationships/slideLayout" Target="../slideLayouts/slideLayout1.xml"/><Relationship Id="rId17" Type="http://schemas.openxmlformats.org/officeDocument/2006/relationships/notesSlide" Target="../notesSlides/notesSlide13.xml"/></Relationships>
</file>

<file path=ppt/slides/slide5.xml><?xml version="1.0" encoding="utf-8"?>
<p:sld xmlns:a="http://schemas.openxmlformats.org/drawingml/2006/main" xmlns:r="http://schemas.openxmlformats.org/officeDocument/2006/relationships" xmlns:p="http://schemas.openxmlformats.org/presentationml/2006/main">
  <p:cSld name="Slide 5">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FIXED OPS GROSS</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Total Gross Profit - Fixed Ops</a:t>
            </a:r>
            <a:endParaRPr lang="en-US" sz="2800" dirty="0"/>
          </a:p>
        </p:txBody>
      </p:sp>
      <p:sp>
        <p:nvSpPr>
          <p:cNvPr id="5" name="Shape 3"/>
          <p:cNvSpPr/>
          <p:nvPr/>
        </p:nvSpPr>
        <p:spPr>
          <a:xfrm>
            <a:off x="457200" y="1207008"/>
            <a:ext cx="11274552" cy="5148072"/>
          </a:xfrm>
          <a:prstGeom prst="rect">
            <a:avLst/>
          </a:prstGeom>
          <a:solidFill>
            <a:srgbClr val="FFFFFF"/>
          </a:solidFill>
          <a:ln/>
        </p:spPr>
      </p:sp>
      <p:sp>
        <p:nvSpPr>
          <p:cNvPr id="6" name="Text 4"/>
          <p:cNvSpPr txBox="1"/>
          <p:nvPr/>
        </p:nvSpPr>
        <p:spPr>
          <a:xfrm>
            <a:off x="6217920" y="804672"/>
            <a:ext cx="5513832" cy="365760"/>
          </a:xfrm>
          <a:prstGeom prst="rect">
            <a:avLst/>
          </a:prstGeom>
          <a:noFill/>
          <a:ln/>
        </p:spPr>
        <p:txBody>
          <a:bodyPr wrap="square" lIns="0" tIns="0" rIns="0" bIns="0" rtlCol="0" anchor="ctr"/>
          <a:lstStyle/>
          <a:p>
            <a:pPr algn="r" indent="0" marL="0">
              <a:buNone/>
            </a:pPr>
            <a:r>
              <a:rPr lang="en-US" sz="1400" dirty="0">
                <a:solidFill>
                  <a:srgbClr val="595959"/>
                </a:solidFill>
                <a:latin typeface="Inter" pitchFamily="34" charset="0"/>
                <a:ea typeface="Inter" pitchFamily="34" charset="-122"/>
                <a:cs typeface="Inter" pitchFamily="34" charset="-120"/>
              </a:rPr>
              <a:t>Vs last year: Jan–Sep   ·   Moving now: Q3 vs Q1</a:t>
            </a:r>
            <a:endParaRPr lang="en-US" sz="1400" dirty="0"/>
          </a:p>
        </p:txBody>
      </p:sp>
      <p:sp>
        <p:nvSpPr>
          <p:cNvPr id="7" name="Shape 5"/>
          <p:cNvSpPr/>
          <p:nvPr/>
        </p:nvSpPr>
        <p:spPr>
          <a:xfrm>
            <a:off x="658368" y="1371600"/>
            <a:ext cx="3489960" cy="45720"/>
          </a:xfrm>
          <a:prstGeom prst="rect">
            <a:avLst/>
          </a:prstGeom>
          <a:solidFill>
            <a:srgbClr val="12A566"/>
          </a:solidFill>
          <a:ln/>
        </p:spPr>
      </p:sp>
      <p:sp>
        <p:nvSpPr>
          <p:cNvPr id="8" name="Text 6"/>
          <p:cNvSpPr txBox="1"/>
          <p:nvPr/>
        </p:nvSpPr>
        <p:spPr>
          <a:xfrm>
            <a:off x="749808" y="1444752"/>
            <a:ext cx="3307080" cy="274320"/>
          </a:xfrm>
          <a:prstGeom prst="rect">
            <a:avLst/>
          </a:prstGeom>
          <a:noFill/>
          <a:ln/>
        </p:spPr>
        <p:txBody>
          <a:bodyPr wrap="square" lIns="0" tIns="0" rIns="0" bIns="0" rtlCol="0" anchor="ctr"/>
          <a:lstStyle/>
          <a:p>
            <a:pPr indent="0" marL="0">
              <a:buNone/>
            </a:pPr>
            <a:r>
              <a:rPr lang="en-US" sz="1500" b="1" spc="100" kern="0" dirty="0">
                <a:solidFill>
                  <a:srgbClr val="0B7A4A"/>
                </a:solidFill>
                <a:latin typeface="Inter" pitchFamily="34" charset="0"/>
                <a:ea typeface="Inter" pitchFamily="34" charset="-122"/>
                <a:cs typeface="Inter" pitchFamily="34" charset="-120"/>
              </a:rPr>
              <a:t>TOP 5 VS LAST YEAR</a:t>
            </a:r>
            <a:endParaRPr lang="en-US" sz="1500" dirty="0"/>
          </a:p>
        </p:txBody>
      </p:sp>
      <p:sp>
        <p:nvSpPr>
          <p:cNvPr id="9" name="Shape 7"/>
          <p:cNvSpPr/>
          <p:nvPr/>
        </p:nvSpPr>
        <p:spPr>
          <a:xfrm>
            <a:off x="658368" y="1810512"/>
            <a:ext cx="3489960" cy="886968"/>
          </a:xfrm>
          <a:prstGeom prst="rect">
            <a:avLst/>
          </a:prstGeom>
          <a:solidFill>
            <a:srgbClr val="F7F7F7"/>
          </a:solidFill>
          <a:ln/>
        </p:spPr>
      </p:sp>
      <p:sp>
        <p:nvSpPr>
          <p:cNvPr id="10" name="Shape 8"/>
          <p:cNvSpPr/>
          <p:nvPr/>
        </p:nvSpPr>
        <p:spPr>
          <a:xfrm>
            <a:off x="4084320" y="1847088"/>
            <a:ext cx="64008" cy="813816"/>
          </a:xfrm>
          <a:prstGeom prst="rect">
            <a:avLst/>
          </a:prstGeom>
          <a:solidFill>
            <a:srgbClr val="12A566"/>
          </a:solidFill>
          <a:ln/>
        </p:spPr>
      </p:sp>
      <p:sp>
        <p:nvSpPr>
          <p:cNvPr id="11" name="Text 9"/>
          <p:cNvSpPr txBox="1"/>
          <p:nvPr/>
        </p:nvSpPr>
        <p:spPr>
          <a:xfrm>
            <a:off x="749808" y="1810512"/>
            <a:ext cx="365760" cy="886968"/>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1</a:t>
            </a:r>
            <a:endParaRPr lang="en-US" sz="1500" dirty="0"/>
          </a:p>
        </p:txBody>
      </p:sp>
      <p:sp>
        <p:nvSpPr>
          <p:cNvPr id="12" name="Text 10"/>
          <p:cNvSpPr txBox="1"/>
          <p:nvPr/>
        </p:nvSpPr>
        <p:spPr>
          <a:xfrm>
            <a:off x="1097280" y="1854860"/>
            <a:ext cx="2959608" cy="461223"/>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HYUNDAI PRESCOTT</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$1.13M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$1.54M</a:t>
            </a:r>
            <a:endParaRPr lang="en-US" sz="1400" dirty="0"/>
          </a:p>
        </p:txBody>
      </p:sp>
      <p:graphicFrame>
        <p:nvGraphicFramePr>
          <p:cNvPr id="13" name="Chart 0" descr=""/>
          <p:cNvGraphicFramePr/>
          <p:nvPr/>
        </p:nvGraphicFramePr>
        <p:xfrm>
          <a:off x="1097280" y="2342693"/>
          <a:ext cx="1972056" cy="301569"/>
        </p:xfrm>
        <a:graphic xmlns:a="http://schemas.openxmlformats.org/drawingml/2006/main">
          <a:graphicData uri="http://schemas.openxmlformats.org/drawingml/2006/chart">
            <c:chart xmlns:c="http://schemas.openxmlformats.org/drawingml/2006/chart" r:id="rId1"/>
          </a:graphicData>
        </a:graphic>
      </p:graphicFrame>
      <p:sp>
        <p:nvSpPr>
          <p:cNvPr id="14" name="Text 11"/>
          <p:cNvSpPr txBox="1"/>
          <p:nvPr/>
        </p:nvSpPr>
        <p:spPr>
          <a:xfrm>
            <a:off x="3160776" y="2076602"/>
            <a:ext cx="896112" cy="319308"/>
          </a:xfrm>
          <a:prstGeom prst="rect">
            <a:avLst/>
          </a:prstGeom>
          <a:noFill/>
          <a:ln/>
        </p:spPr>
        <p:txBody>
          <a:bodyPr wrap="square" lIns="0" tIns="0" rIns="0" bIns="0" rtlCol="0" anchor="b"/>
          <a:lstStyle/>
          <a:p>
            <a:pPr algn="r" indent="0" marL="0">
              <a:buNone/>
            </a:pPr>
            <a:r>
              <a:rPr lang="en-US" sz="1600" b="1" dirty="0">
                <a:solidFill>
                  <a:srgbClr val="0B7A4A"/>
                </a:solidFill>
                <a:latin typeface="Inter" pitchFamily="34" charset="0"/>
                <a:ea typeface="Inter" pitchFamily="34" charset="-122"/>
                <a:cs typeface="Inter" pitchFamily="34" charset="-120"/>
              </a:rPr>
              <a:t>+35.8%</a:t>
            </a:r>
            <a:endParaRPr lang="en-US" sz="1600" dirty="0"/>
          </a:p>
        </p:txBody>
      </p:sp>
      <p:sp>
        <p:nvSpPr>
          <p:cNvPr id="15" name="Text 12"/>
          <p:cNvSpPr txBox="1"/>
          <p:nvPr/>
        </p:nvSpPr>
        <p:spPr>
          <a:xfrm>
            <a:off x="3160776" y="2395911"/>
            <a:ext cx="896112" cy="239481"/>
          </a:xfrm>
          <a:prstGeom prst="rect">
            <a:avLst/>
          </a:prstGeom>
          <a:noFill/>
          <a:ln/>
        </p:spPr>
        <p:txBody>
          <a:bodyPr wrap="square" lIns="0" tIns="0" rIns="0" bIns="0" rtlCol="0" anchor="t"/>
          <a:lstStyle/>
          <a:p>
            <a:pPr algn="r" indent="0" marL="0">
              <a:buNone/>
            </a:pPr>
            <a:r>
              <a:rPr lang="en-US" sz="1300" dirty="0">
                <a:solidFill>
                  <a:srgbClr val="595959"/>
                </a:solidFill>
                <a:latin typeface="Inter" pitchFamily="34" charset="0"/>
                <a:ea typeface="Inter" pitchFamily="34" charset="-122"/>
                <a:cs typeface="Inter" pitchFamily="34" charset="-120"/>
              </a:rPr>
              <a:t>+$404K</a:t>
            </a:r>
            <a:endParaRPr lang="en-US" sz="1300" dirty="0"/>
          </a:p>
        </p:txBody>
      </p:sp>
      <p:sp>
        <p:nvSpPr>
          <p:cNvPr id="16" name="Text 13"/>
          <p:cNvSpPr txBox="1"/>
          <p:nvPr/>
        </p:nvSpPr>
        <p:spPr>
          <a:xfrm>
            <a:off x="749808" y="2697480"/>
            <a:ext cx="365760" cy="886968"/>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2</a:t>
            </a:r>
            <a:endParaRPr lang="en-US" sz="1500" dirty="0"/>
          </a:p>
        </p:txBody>
      </p:sp>
      <p:sp>
        <p:nvSpPr>
          <p:cNvPr id="17" name="Text 14"/>
          <p:cNvSpPr txBox="1"/>
          <p:nvPr/>
        </p:nvSpPr>
        <p:spPr>
          <a:xfrm>
            <a:off x="1097280" y="2741828"/>
            <a:ext cx="2959608" cy="461223"/>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LINCOLN</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$2.26M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$2.98M</a:t>
            </a:r>
            <a:endParaRPr lang="en-US" sz="1400" dirty="0"/>
          </a:p>
        </p:txBody>
      </p:sp>
      <p:graphicFrame>
        <p:nvGraphicFramePr>
          <p:cNvPr id="18" name="Chart 1" descr=""/>
          <p:cNvGraphicFramePr/>
          <p:nvPr/>
        </p:nvGraphicFramePr>
        <p:xfrm>
          <a:off x="1097280" y="3229661"/>
          <a:ext cx="1972056" cy="301569"/>
        </p:xfrm>
        <a:graphic xmlns:a="http://schemas.openxmlformats.org/drawingml/2006/main">
          <a:graphicData uri="http://schemas.openxmlformats.org/drawingml/2006/chart">
            <c:chart xmlns:c="http://schemas.openxmlformats.org/drawingml/2006/chart" r:id="rId2"/>
          </a:graphicData>
        </a:graphic>
      </p:graphicFrame>
      <p:sp>
        <p:nvSpPr>
          <p:cNvPr id="19" name="Text 15"/>
          <p:cNvSpPr txBox="1"/>
          <p:nvPr/>
        </p:nvSpPr>
        <p:spPr>
          <a:xfrm>
            <a:off x="3160776" y="2963570"/>
            <a:ext cx="896112" cy="319308"/>
          </a:xfrm>
          <a:prstGeom prst="rect">
            <a:avLst/>
          </a:prstGeom>
          <a:noFill/>
          <a:ln/>
        </p:spPr>
        <p:txBody>
          <a:bodyPr wrap="square" lIns="0" tIns="0" rIns="0" bIns="0" rtlCol="0" anchor="b"/>
          <a:lstStyle/>
          <a:p>
            <a:pPr algn="r" indent="0" marL="0">
              <a:buNone/>
            </a:pPr>
            <a:r>
              <a:rPr lang="en-US" sz="1600" b="1" dirty="0">
                <a:solidFill>
                  <a:srgbClr val="0B7A4A"/>
                </a:solidFill>
                <a:latin typeface="Inter" pitchFamily="34" charset="0"/>
                <a:ea typeface="Inter" pitchFamily="34" charset="-122"/>
                <a:cs typeface="Inter" pitchFamily="34" charset="-120"/>
              </a:rPr>
              <a:t>+31.7%</a:t>
            </a:r>
            <a:endParaRPr lang="en-US" sz="1600" dirty="0"/>
          </a:p>
        </p:txBody>
      </p:sp>
      <p:sp>
        <p:nvSpPr>
          <p:cNvPr id="20" name="Text 16"/>
          <p:cNvSpPr txBox="1"/>
          <p:nvPr/>
        </p:nvSpPr>
        <p:spPr>
          <a:xfrm>
            <a:off x="3160776" y="3282879"/>
            <a:ext cx="896112" cy="239481"/>
          </a:xfrm>
          <a:prstGeom prst="rect">
            <a:avLst/>
          </a:prstGeom>
          <a:noFill/>
          <a:ln/>
        </p:spPr>
        <p:txBody>
          <a:bodyPr wrap="square" lIns="0" tIns="0" rIns="0" bIns="0" rtlCol="0" anchor="t"/>
          <a:lstStyle/>
          <a:p>
            <a:pPr algn="r" indent="0" marL="0">
              <a:buNone/>
            </a:pPr>
            <a:r>
              <a:rPr lang="en-US" sz="1300" dirty="0">
                <a:solidFill>
                  <a:srgbClr val="595959"/>
                </a:solidFill>
                <a:latin typeface="Inter" pitchFamily="34" charset="0"/>
                <a:ea typeface="Inter" pitchFamily="34" charset="-122"/>
                <a:cs typeface="Inter" pitchFamily="34" charset="-120"/>
              </a:rPr>
              <a:t>+$717K</a:t>
            </a:r>
            <a:endParaRPr lang="en-US" sz="1300" dirty="0"/>
          </a:p>
        </p:txBody>
      </p:sp>
      <p:sp>
        <p:nvSpPr>
          <p:cNvPr id="21" name="Shape 17"/>
          <p:cNvSpPr/>
          <p:nvPr/>
        </p:nvSpPr>
        <p:spPr>
          <a:xfrm>
            <a:off x="658368" y="3584448"/>
            <a:ext cx="3489960" cy="886968"/>
          </a:xfrm>
          <a:prstGeom prst="rect">
            <a:avLst/>
          </a:prstGeom>
          <a:solidFill>
            <a:srgbClr val="F7F7F7"/>
          </a:solidFill>
          <a:ln/>
        </p:spPr>
      </p:sp>
      <p:sp>
        <p:nvSpPr>
          <p:cNvPr id="22" name="Text 18"/>
          <p:cNvSpPr txBox="1"/>
          <p:nvPr/>
        </p:nvSpPr>
        <p:spPr>
          <a:xfrm>
            <a:off x="749808" y="3584448"/>
            <a:ext cx="365760" cy="886968"/>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3</a:t>
            </a:r>
            <a:endParaRPr lang="en-US" sz="1500" dirty="0"/>
          </a:p>
        </p:txBody>
      </p:sp>
      <p:sp>
        <p:nvSpPr>
          <p:cNvPr id="23" name="Text 19"/>
          <p:cNvSpPr txBox="1"/>
          <p:nvPr/>
        </p:nvSpPr>
        <p:spPr>
          <a:xfrm>
            <a:off x="1097280" y="3628796"/>
            <a:ext cx="2959608" cy="461223"/>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LEXUS</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$3.38M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$4.15M</a:t>
            </a:r>
            <a:endParaRPr lang="en-US" sz="1400" dirty="0"/>
          </a:p>
        </p:txBody>
      </p:sp>
      <p:graphicFrame>
        <p:nvGraphicFramePr>
          <p:cNvPr id="24" name="Chart 2" descr=""/>
          <p:cNvGraphicFramePr/>
          <p:nvPr/>
        </p:nvGraphicFramePr>
        <p:xfrm>
          <a:off x="1097280" y="4116629"/>
          <a:ext cx="1972056" cy="301569"/>
        </p:xfrm>
        <a:graphic xmlns:a="http://schemas.openxmlformats.org/drawingml/2006/main">
          <a:graphicData uri="http://schemas.openxmlformats.org/drawingml/2006/chart">
            <c:chart xmlns:c="http://schemas.openxmlformats.org/drawingml/2006/chart" r:id="rId3"/>
          </a:graphicData>
        </a:graphic>
      </p:graphicFrame>
      <p:sp>
        <p:nvSpPr>
          <p:cNvPr id="25" name="Text 20"/>
          <p:cNvSpPr txBox="1"/>
          <p:nvPr/>
        </p:nvSpPr>
        <p:spPr>
          <a:xfrm>
            <a:off x="3160776" y="3850538"/>
            <a:ext cx="896112" cy="319308"/>
          </a:xfrm>
          <a:prstGeom prst="rect">
            <a:avLst/>
          </a:prstGeom>
          <a:noFill/>
          <a:ln/>
        </p:spPr>
        <p:txBody>
          <a:bodyPr wrap="square" lIns="0" tIns="0" rIns="0" bIns="0" rtlCol="0" anchor="b"/>
          <a:lstStyle/>
          <a:p>
            <a:pPr algn="r" indent="0" marL="0">
              <a:buNone/>
            </a:pPr>
            <a:r>
              <a:rPr lang="en-US" sz="1600" b="1" dirty="0">
                <a:solidFill>
                  <a:srgbClr val="0B7A4A"/>
                </a:solidFill>
                <a:latin typeface="Inter" pitchFamily="34" charset="0"/>
                <a:ea typeface="Inter" pitchFamily="34" charset="-122"/>
                <a:cs typeface="Inter" pitchFamily="34" charset="-120"/>
              </a:rPr>
              <a:t>+22.6%</a:t>
            </a:r>
            <a:endParaRPr lang="en-US" sz="1600" dirty="0"/>
          </a:p>
        </p:txBody>
      </p:sp>
      <p:sp>
        <p:nvSpPr>
          <p:cNvPr id="26" name="Text 21"/>
          <p:cNvSpPr txBox="1"/>
          <p:nvPr/>
        </p:nvSpPr>
        <p:spPr>
          <a:xfrm>
            <a:off x="3160776" y="4169847"/>
            <a:ext cx="896112" cy="239481"/>
          </a:xfrm>
          <a:prstGeom prst="rect">
            <a:avLst/>
          </a:prstGeom>
          <a:noFill/>
          <a:ln/>
        </p:spPr>
        <p:txBody>
          <a:bodyPr wrap="square" lIns="0" tIns="0" rIns="0" bIns="0" rtlCol="0" anchor="t"/>
          <a:lstStyle/>
          <a:p>
            <a:pPr algn="r" indent="0" marL="0">
              <a:buNone/>
            </a:pPr>
            <a:r>
              <a:rPr lang="en-US" sz="1300" dirty="0">
                <a:solidFill>
                  <a:srgbClr val="595959"/>
                </a:solidFill>
                <a:latin typeface="Inter" pitchFamily="34" charset="0"/>
                <a:ea typeface="Inter" pitchFamily="34" charset="-122"/>
                <a:cs typeface="Inter" pitchFamily="34" charset="-120"/>
              </a:rPr>
              <a:t>+$764K</a:t>
            </a:r>
            <a:endParaRPr lang="en-US" sz="1300" dirty="0"/>
          </a:p>
        </p:txBody>
      </p:sp>
      <p:sp>
        <p:nvSpPr>
          <p:cNvPr id="27" name="Text 22"/>
          <p:cNvSpPr txBox="1"/>
          <p:nvPr/>
        </p:nvSpPr>
        <p:spPr>
          <a:xfrm>
            <a:off x="749808" y="4471416"/>
            <a:ext cx="365760" cy="886968"/>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4</a:t>
            </a:r>
            <a:endParaRPr lang="en-US" sz="1500" dirty="0"/>
          </a:p>
        </p:txBody>
      </p:sp>
      <p:sp>
        <p:nvSpPr>
          <p:cNvPr id="28" name="Text 23"/>
          <p:cNvSpPr txBox="1"/>
          <p:nvPr/>
        </p:nvSpPr>
        <p:spPr>
          <a:xfrm>
            <a:off x="1097280" y="4515764"/>
            <a:ext cx="2959608" cy="461223"/>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AUDI HENDERSON</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$10.64M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$12.34M</a:t>
            </a:r>
            <a:endParaRPr lang="en-US" sz="1400" dirty="0"/>
          </a:p>
        </p:txBody>
      </p:sp>
      <p:graphicFrame>
        <p:nvGraphicFramePr>
          <p:cNvPr id="29" name="Chart 3" descr=""/>
          <p:cNvGraphicFramePr/>
          <p:nvPr/>
        </p:nvGraphicFramePr>
        <p:xfrm>
          <a:off x="1097280" y="5003597"/>
          <a:ext cx="1972056" cy="301569"/>
        </p:xfrm>
        <a:graphic xmlns:a="http://schemas.openxmlformats.org/drawingml/2006/main">
          <a:graphicData uri="http://schemas.openxmlformats.org/drawingml/2006/chart">
            <c:chart xmlns:c="http://schemas.openxmlformats.org/drawingml/2006/chart" r:id="rId4"/>
          </a:graphicData>
        </a:graphic>
      </p:graphicFrame>
      <p:sp>
        <p:nvSpPr>
          <p:cNvPr id="30" name="Text 24"/>
          <p:cNvSpPr txBox="1"/>
          <p:nvPr/>
        </p:nvSpPr>
        <p:spPr>
          <a:xfrm>
            <a:off x="3160776" y="4737506"/>
            <a:ext cx="896112" cy="319308"/>
          </a:xfrm>
          <a:prstGeom prst="rect">
            <a:avLst/>
          </a:prstGeom>
          <a:noFill/>
          <a:ln/>
        </p:spPr>
        <p:txBody>
          <a:bodyPr wrap="square" lIns="0" tIns="0" rIns="0" bIns="0" rtlCol="0" anchor="b"/>
          <a:lstStyle/>
          <a:p>
            <a:pPr algn="r" indent="0" marL="0">
              <a:buNone/>
            </a:pPr>
            <a:r>
              <a:rPr lang="en-US" sz="1600" b="1" dirty="0">
                <a:solidFill>
                  <a:srgbClr val="0B7A4A"/>
                </a:solidFill>
                <a:latin typeface="Inter" pitchFamily="34" charset="0"/>
                <a:ea typeface="Inter" pitchFamily="34" charset="-122"/>
                <a:cs typeface="Inter" pitchFamily="34" charset="-120"/>
              </a:rPr>
              <a:t>+16.0%</a:t>
            </a:r>
            <a:endParaRPr lang="en-US" sz="1600" dirty="0"/>
          </a:p>
        </p:txBody>
      </p:sp>
      <p:sp>
        <p:nvSpPr>
          <p:cNvPr id="31" name="Text 25"/>
          <p:cNvSpPr txBox="1"/>
          <p:nvPr/>
        </p:nvSpPr>
        <p:spPr>
          <a:xfrm>
            <a:off x="3160776" y="5056815"/>
            <a:ext cx="896112" cy="239481"/>
          </a:xfrm>
          <a:prstGeom prst="rect">
            <a:avLst/>
          </a:prstGeom>
          <a:noFill/>
          <a:ln/>
        </p:spPr>
        <p:txBody>
          <a:bodyPr wrap="square" lIns="0" tIns="0" rIns="0" bIns="0" rtlCol="0" anchor="t"/>
          <a:lstStyle/>
          <a:p>
            <a:pPr algn="r" indent="0" marL="0">
              <a:buNone/>
            </a:pPr>
            <a:r>
              <a:rPr lang="en-US" sz="1300" dirty="0">
                <a:solidFill>
                  <a:srgbClr val="595959"/>
                </a:solidFill>
                <a:latin typeface="Inter" pitchFamily="34" charset="0"/>
                <a:ea typeface="Inter" pitchFamily="34" charset="-122"/>
                <a:cs typeface="Inter" pitchFamily="34" charset="-120"/>
              </a:rPr>
              <a:t>+$1.70M</a:t>
            </a:r>
            <a:endParaRPr lang="en-US" sz="1300" dirty="0"/>
          </a:p>
        </p:txBody>
      </p:sp>
      <p:sp>
        <p:nvSpPr>
          <p:cNvPr id="32" name="Shape 26"/>
          <p:cNvSpPr/>
          <p:nvPr/>
        </p:nvSpPr>
        <p:spPr>
          <a:xfrm>
            <a:off x="658368" y="5358384"/>
            <a:ext cx="3489960" cy="886968"/>
          </a:xfrm>
          <a:prstGeom prst="rect">
            <a:avLst/>
          </a:prstGeom>
          <a:solidFill>
            <a:srgbClr val="F7F7F7"/>
          </a:solidFill>
          <a:ln/>
        </p:spPr>
      </p:sp>
      <p:sp>
        <p:nvSpPr>
          <p:cNvPr id="33" name="Text 27"/>
          <p:cNvSpPr txBox="1"/>
          <p:nvPr/>
        </p:nvSpPr>
        <p:spPr>
          <a:xfrm>
            <a:off x="749808" y="5358384"/>
            <a:ext cx="365760" cy="886968"/>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5</a:t>
            </a:r>
            <a:endParaRPr lang="en-US" sz="1500" dirty="0"/>
          </a:p>
        </p:txBody>
      </p:sp>
      <p:sp>
        <p:nvSpPr>
          <p:cNvPr id="34" name="Text 28"/>
          <p:cNvSpPr txBox="1"/>
          <p:nvPr/>
        </p:nvSpPr>
        <p:spPr>
          <a:xfrm>
            <a:off x="1097280" y="5402732"/>
            <a:ext cx="2959608" cy="461223"/>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SUBARU PRESCOTT</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$2.33M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$2.70M</a:t>
            </a:r>
            <a:endParaRPr lang="en-US" sz="1400" dirty="0"/>
          </a:p>
        </p:txBody>
      </p:sp>
      <p:graphicFrame>
        <p:nvGraphicFramePr>
          <p:cNvPr id="35" name="Chart 4" descr=""/>
          <p:cNvGraphicFramePr/>
          <p:nvPr/>
        </p:nvGraphicFramePr>
        <p:xfrm>
          <a:off x="1097280" y="5890565"/>
          <a:ext cx="1972056" cy="301569"/>
        </p:xfrm>
        <a:graphic xmlns:a="http://schemas.openxmlformats.org/drawingml/2006/main">
          <a:graphicData uri="http://schemas.openxmlformats.org/drawingml/2006/chart">
            <c:chart xmlns:c="http://schemas.openxmlformats.org/drawingml/2006/chart" r:id="rId5"/>
          </a:graphicData>
        </a:graphic>
      </p:graphicFrame>
      <p:sp>
        <p:nvSpPr>
          <p:cNvPr id="36" name="Text 29"/>
          <p:cNvSpPr txBox="1"/>
          <p:nvPr/>
        </p:nvSpPr>
        <p:spPr>
          <a:xfrm>
            <a:off x="3160776" y="5624474"/>
            <a:ext cx="896112" cy="319308"/>
          </a:xfrm>
          <a:prstGeom prst="rect">
            <a:avLst/>
          </a:prstGeom>
          <a:noFill/>
          <a:ln/>
        </p:spPr>
        <p:txBody>
          <a:bodyPr wrap="square" lIns="0" tIns="0" rIns="0" bIns="0" rtlCol="0" anchor="b"/>
          <a:lstStyle/>
          <a:p>
            <a:pPr algn="r" indent="0" marL="0">
              <a:buNone/>
            </a:pPr>
            <a:r>
              <a:rPr lang="en-US" sz="1600" b="1" dirty="0">
                <a:solidFill>
                  <a:srgbClr val="0B7A4A"/>
                </a:solidFill>
                <a:latin typeface="Inter" pitchFamily="34" charset="0"/>
                <a:ea typeface="Inter" pitchFamily="34" charset="-122"/>
                <a:cs typeface="Inter" pitchFamily="34" charset="-120"/>
              </a:rPr>
              <a:t>+15.8%</a:t>
            </a:r>
            <a:endParaRPr lang="en-US" sz="1600" dirty="0"/>
          </a:p>
        </p:txBody>
      </p:sp>
      <p:sp>
        <p:nvSpPr>
          <p:cNvPr id="37" name="Text 30"/>
          <p:cNvSpPr txBox="1"/>
          <p:nvPr/>
        </p:nvSpPr>
        <p:spPr>
          <a:xfrm>
            <a:off x="3160776" y="5943783"/>
            <a:ext cx="896112" cy="239481"/>
          </a:xfrm>
          <a:prstGeom prst="rect">
            <a:avLst/>
          </a:prstGeom>
          <a:noFill/>
          <a:ln/>
        </p:spPr>
        <p:txBody>
          <a:bodyPr wrap="square" lIns="0" tIns="0" rIns="0" bIns="0" rtlCol="0" anchor="t"/>
          <a:lstStyle/>
          <a:p>
            <a:pPr algn="r" indent="0" marL="0">
              <a:buNone/>
            </a:pPr>
            <a:r>
              <a:rPr lang="en-US" sz="1300" dirty="0">
                <a:solidFill>
                  <a:srgbClr val="595959"/>
                </a:solidFill>
                <a:latin typeface="Inter" pitchFamily="34" charset="0"/>
                <a:ea typeface="Inter" pitchFamily="34" charset="-122"/>
                <a:cs typeface="Inter" pitchFamily="34" charset="-120"/>
              </a:rPr>
              <a:t>+$368K</a:t>
            </a:r>
            <a:endParaRPr lang="en-US" sz="1300" dirty="0"/>
          </a:p>
        </p:txBody>
      </p:sp>
      <p:sp>
        <p:nvSpPr>
          <p:cNvPr id="38" name="Shape 31"/>
          <p:cNvSpPr/>
          <p:nvPr/>
        </p:nvSpPr>
        <p:spPr>
          <a:xfrm>
            <a:off x="4349496" y="1371600"/>
            <a:ext cx="3489960" cy="45720"/>
          </a:xfrm>
          <a:prstGeom prst="rect">
            <a:avLst/>
          </a:prstGeom>
          <a:solidFill>
            <a:srgbClr val="C2352F"/>
          </a:solidFill>
          <a:ln/>
        </p:spPr>
      </p:sp>
      <p:sp>
        <p:nvSpPr>
          <p:cNvPr id="39" name="Text 32"/>
          <p:cNvSpPr txBox="1"/>
          <p:nvPr/>
        </p:nvSpPr>
        <p:spPr>
          <a:xfrm>
            <a:off x="4440936" y="1444752"/>
            <a:ext cx="3307080" cy="274320"/>
          </a:xfrm>
          <a:prstGeom prst="rect">
            <a:avLst/>
          </a:prstGeom>
          <a:noFill/>
          <a:ln/>
        </p:spPr>
        <p:txBody>
          <a:bodyPr wrap="square" lIns="0" tIns="0" rIns="0" bIns="0" rtlCol="0" anchor="ctr"/>
          <a:lstStyle/>
          <a:p>
            <a:pPr indent="0" marL="0">
              <a:buNone/>
            </a:pPr>
            <a:r>
              <a:rPr lang="en-US" sz="1500" b="1" spc="100" kern="0" dirty="0">
                <a:solidFill>
                  <a:srgbClr val="A82B26"/>
                </a:solidFill>
                <a:latin typeface="Inter" pitchFamily="34" charset="0"/>
                <a:ea typeface="Inter" pitchFamily="34" charset="-122"/>
                <a:cs typeface="Inter" pitchFamily="34" charset="-120"/>
              </a:rPr>
              <a:t>BOTTOM 5 VS LAST YEAR</a:t>
            </a:r>
            <a:endParaRPr lang="en-US" sz="1500" dirty="0"/>
          </a:p>
        </p:txBody>
      </p:sp>
      <p:sp>
        <p:nvSpPr>
          <p:cNvPr id="40" name="Shape 33"/>
          <p:cNvSpPr/>
          <p:nvPr/>
        </p:nvSpPr>
        <p:spPr>
          <a:xfrm>
            <a:off x="4349496" y="1810512"/>
            <a:ext cx="3489960" cy="886968"/>
          </a:xfrm>
          <a:prstGeom prst="rect">
            <a:avLst/>
          </a:prstGeom>
          <a:solidFill>
            <a:srgbClr val="F7F7F7"/>
          </a:solidFill>
          <a:ln/>
        </p:spPr>
      </p:sp>
      <p:sp>
        <p:nvSpPr>
          <p:cNvPr id="41" name="Text 34"/>
          <p:cNvSpPr txBox="1"/>
          <p:nvPr/>
        </p:nvSpPr>
        <p:spPr>
          <a:xfrm>
            <a:off x="4440936" y="1810512"/>
            <a:ext cx="365760" cy="886968"/>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33</a:t>
            </a:r>
            <a:endParaRPr lang="en-US" sz="1500" dirty="0"/>
          </a:p>
        </p:txBody>
      </p:sp>
      <p:sp>
        <p:nvSpPr>
          <p:cNvPr id="42" name="Text 35"/>
          <p:cNvSpPr txBox="1"/>
          <p:nvPr/>
        </p:nvSpPr>
        <p:spPr>
          <a:xfrm>
            <a:off x="4788408" y="1854860"/>
            <a:ext cx="2959608" cy="461223"/>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ACURA</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$3.41M  →  </a:t>
            </a:r>
            <a:pPr indent="0" marL="0">
              <a:spcAft>
                <a:spcPts val="200"/>
              </a:spcAft>
              <a:buNone/>
            </a:pPr>
            <a:r>
              <a:rPr lang="en-US" sz="1200" b="1" dirty="0">
                <a:solidFill>
                  <a:srgbClr val="A82B26"/>
                </a:solidFill>
                <a:latin typeface="Inter" pitchFamily="34" charset="0"/>
                <a:ea typeface="Inter" pitchFamily="34" charset="-122"/>
                <a:cs typeface="Inter" pitchFamily="34" charset="-120"/>
              </a:rPr>
              <a:t>$2.89M</a:t>
            </a:r>
            <a:endParaRPr lang="en-US" sz="1400" dirty="0"/>
          </a:p>
        </p:txBody>
      </p:sp>
      <p:graphicFrame>
        <p:nvGraphicFramePr>
          <p:cNvPr id="43" name="Chart 5" descr=""/>
          <p:cNvGraphicFramePr/>
          <p:nvPr/>
        </p:nvGraphicFramePr>
        <p:xfrm>
          <a:off x="4788408" y="2342693"/>
          <a:ext cx="1972056" cy="301569"/>
        </p:xfrm>
        <a:graphic xmlns:a="http://schemas.openxmlformats.org/drawingml/2006/main">
          <a:graphicData uri="http://schemas.openxmlformats.org/drawingml/2006/chart">
            <c:chart xmlns:c="http://schemas.openxmlformats.org/drawingml/2006/chart" r:id="rId6"/>
          </a:graphicData>
        </a:graphic>
      </p:graphicFrame>
      <p:sp>
        <p:nvSpPr>
          <p:cNvPr id="44" name="Text 36"/>
          <p:cNvSpPr txBox="1"/>
          <p:nvPr/>
        </p:nvSpPr>
        <p:spPr>
          <a:xfrm>
            <a:off x="6851904" y="2076602"/>
            <a:ext cx="896112" cy="319308"/>
          </a:xfrm>
          <a:prstGeom prst="rect">
            <a:avLst/>
          </a:prstGeom>
          <a:noFill/>
          <a:ln/>
        </p:spPr>
        <p:txBody>
          <a:bodyPr wrap="square" lIns="0" tIns="0" rIns="0" bIns="0" rtlCol="0" anchor="b"/>
          <a:lstStyle/>
          <a:p>
            <a:pPr algn="r" indent="0" marL="0">
              <a:buNone/>
            </a:pPr>
            <a:r>
              <a:rPr lang="en-US" sz="1600" b="1" dirty="0">
                <a:solidFill>
                  <a:srgbClr val="A82B26"/>
                </a:solidFill>
                <a:latin typeface="Inter" pitchFamily="34" charset="0"/>
                <a:ea typeface="Inter" pitchFamily="34" charset="-122"/>
                <a:cs typeface="Inter" pitchFamily="34" charset="-120"/>
              </a:rPr>
              <a:t>−15.2%</a:t>
            </a:r>
            <a:endParaRPr lang="en-US" sz="1600" dirty="0"/>
          </a:p>
        </p:txBody>
      </p:sp>
      <p:sp>
        <p:nvSpPr>
          <p:cNvPr id="45" name="Text 37"/>
          <p:cNvSpPr txBox="1"/>
          <p:nvPr/>
        </p:nvSpPr>
        <p:spPr>
          <a:xfrm>
            <a:off x="6851904" y="2395911"/>
            <a:ext cx="896112" cy="239481"/>
          </a:xfrm>
          <a:prstGeom prst="rect">
            <a:avLst/>
          </a:prstGeom>
          <a:noFill/>
          <a:ln/>
        </p:spPr>
        <p:txBody>
          <a:bodyPr wrap="square" lIns="0" tIns="0" rIns="0" bIns="0" rtlCol="0" anchor="t"/>
          <a:lstStyle/>
          <a:p>
            <a:pPr algn="r" indent="0" marL="0">
              <a:buNone/>
            </a:pPr>
            <a:r>
              <a:rPr lang="en-US" sz="1300" dirty="0">
                <a:solidFill>
                  <a:srgbClr val="595959"/>
                </a:solidFill>
                <a:latin typeface="Inter" pitchFamily="34" charset="0"/>
                <a:ea typeface="Inter" pitchFamily="34" charset="-122"/>
                <a:cs typeface="Inter" pitchFamily="34" charset="-120"/>
              </a:rPr>
              <a:t>−$517K</a:t>
            </a:r>
            <a:endParaRPr lang="en-US" sz="1300" dirty="0"/>
          </a:p>
        </p:txBody>
      </p:sp>
      <p:sp>
        <p:nvSpPr>
          <p:cNvPr id="46" name="Text 38"/>
          <p:cNvSpPr txBox="1"/>
          <p:nvPr/>
        </p:nvSpPr>
        <p:spPr>
          <a:xfrm>
            <a:off x="4440936" y="2697480"/>
            <a:ext cx="365760" cy="886968"/>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32</a:t>
            </a:r>
            <a:endParaRPr lang="en-US" sz="1500" dirty="0"/>
          </a:p>
        </p:txBody>
      </p:sp>
      <p:sp>
        <p:nvSpPr>
          <p:cNvPr id="47" name="Text 39"/>
          <p:cNvSpPr txBox="1"/>
          <p:nvPr/>
        </p:nvSpPr>
        <p:spPr>
          <a:xfrm>
            <a:off x="4788408" y="2741828"/>
            <a:ext cx="2959608" cy="461223"/>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VW ST GEORGE</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$1.13M  →  </a:t>
            </a:r>
            <a:pPr indent="0" marL="0">
              <a:spcAft>
                <a:spcPts val="200"/>
              </a:spcAft>
              <a:buNone/>
            </a:pPr>
            <a:r>
              <a:rPr lang="en-US" sz="1200" b="1" dirty="0">
                <a:solidFill>
                  <a:srgbClr val="A82B26"/>
                </a:solidFill>
                <a:latin typeface="Inter" pitchFamily="34" charset="0"/>
                <a:ea typeface="Inter" pitchFamily="34" charset="-122"/>
                <a:cs typeface="Inter" pitchFamily="34" charset="-120"/>
              </a:rPr>
              <a:t>$968K</a:t>
            </a:r>
            <a:endParaRPr lang="en-US" sz="1400" dirty="0"/>
          </a:p>
        </p:txBody>
      </p:sp>
      <p:graphicFrame>
        <p:nvGraphicFramePr>
          <p:cNvPr id="48" name="Chart 6" descr=""/>
          <p:cNvGraphicFramePr/>
          <p:nvPr/>
        </p:nvGraphicFramePr>
        <p:xfrm>
          <a:off x="4788408" y="3229661"/>
          <a:ext cx="1972056" cy="301569"/>
        </p:xfrm>
        <a:graphic xmlns:a="http://schemas.openxmlformats.org/drawingml/2006/main">
          <a:graphicData uri="http://schemas.openxmlformats.org/drawingml/2006/chart">
            <c:chart xmlns:c="http://schemas.openxmlformats.org/drawingml/2006/chart" r:id="rId7"/>
          </a:graphicData>
        </a:graphic>
      </p:graphicFrame>
      <p:sp>
        <p:nvSpPr>
          <p:cNvPr id="49" name="Text 40"/>
          <p:cNvSpPr txBox="1"/>
          <p:nvPr/>
        </p:nvSpPr>
        <p:spPr>
          <a:xfrm>
            <a:off x="6851904" y="2963570"/>
            <a:ext cx="896112" cy="319308"/>
          </a:xfrm>
          <a:prstGeom prst="rect">
            <a:avLst/>
          </a:prstGeom>
          <a:noFill/>
          <a:ln/>
        </p:spPr>
        <p:txBody>
          <a:bodyPr wrap="square" lIns="0" tIns="0" rIns="0" bIns="0" rtlCol="0" anchor="b"/>
          <a:lstStyle/>
          <a:p>
            <a:pPr algn="r" indent="0" marL="0">
              <a:buNone/>
            </a:pPr>
            <a:r>
              <a:rPr lang="en-US" sz="1600" b="1" dirty="0">
                <a:solidFill>
                  <a:srgbClr val="A82B26"/>
                </a:solidFill>
                <a:latin typeface="Inter" pitchFamily="34" charset="0"/>
                <a:ea typeface="Inter" pitchFamily="34" charset="-122"/>
                <a:cs typeface="Inter" pitchFamily="34" charset="-120"/>
              </a:rPr>
              <a:t>−14.4%</a:t>
            </a:r>
            <a:endParaRPr lang="en-US" sz="1600" dirty="0"/>
          </a:p>
        </p:txBody>
      </p:sp>
      <p:sp>
        <p:nvSpPr>
          <p:cNvPr id="50" name="Text 41"/>
          <p:cNvSpPr txBox="1"/>
          <p:nvPr/>
        </p:nvSpPr>
        <p:spPr>
          <a:xfrm>
            <a:off x="6851904" y="3282879"/>
            <a:ext cx="896112" cy="239481"/>
          </a:xfrm>
          <a:prstGeom prst="rect">
            <a:avLst/>
          </a:prstGeom>
          <a:noFill/>
          <a:ln/>
        </p:spPr>
        <p:txBody>
          <a:bodyPr wrap="square" lIns="0" tIns="0" rIns="0" bIns="0" rtlCol="0" anchor="t"/>
          <a:lstStyle/>
          <a:p>
            <a:pPr algn="r" indent="0" marL="0">
              <a:buNone/>
            </a:pPr>
            <a:r>
              <a:rPr lang="en-US" sz="1300" dirty="0">
                <a:solidFill>
                  <a:srgbClr val="595959"/>
                </a:solidFill>
                <a:latin typeface="Inter" pitchFamily="34" charset="0"/>
                <a:ea typeface="Inter" pitchFamily="34" charset="-122"/>
                <a:cs typeface="Inter" pitchFamily="34" charset="-120"/>
              </a:rPr>
              <a:t>−$163K</a:t>
            </a:r>
            <a:endParaRPr lang="en-US" sz="1300" dirty="0"/>
          </a:p>
        </p:txBody>
      </p:sp>
      <p:sp>
        <p:nvSpPr>
          <p:cNvPr id="51" name="Shape 42"/>
          <p:cNvSpPr/>
          <p:nvPr/>
        </p:nvSpPr>
        <p:spPr>
          <a:xfrm>
            <a:off x="4349496" y="3584448"/>
            <a:ext cx="3489960" cy="886968"/>
          </a:xfrm>
          <a:prstGeom prst="rect">
            <a:avLst/>
          </a:prstGeom>
          <a:solidFill>
            <a:srgbClr val="F7F7F7"/>
          </a:solidFill>
          <a:ln/>
        </p:spPr>
      </p:sp>
      <p:sp>
        <p:nvSpPr>
          <p:cNvPr id="52" name="Text 43"/>
          <p:cNvSpPr txBox="1"/>
          <p:nvPr/>
        </p:nvSpPr>
        <p:spPr>
          <a:xfrm>
            <a:off x="4440936" y="3584448"/>
            <a:ext cx="365760" cy="886968"/>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31</a:t>
            </a:r>
            <a:endParaRPr lang="en-US" sz="1500" dirty="0"/>
          </a:p>
        </p:txBody>
      </p:sp>
      <p:sp>
        <p:nvSpPr>
          <p:cNvPr id="53" name="Text 44"/>
          <p:cNvSpPr txBox="1"/>
          <p:nvPr/>
        </p:nvSpPr>
        <p:spPr>
          <a:xfrm>
            <a:off x="4788408" y="3628796"/>
            <a:ext cx="2959608" cy="461223"/>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VW HENDERSON</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$5.55M  →  </a:t>
            </a:r>
            <a:pPr indent="0" marL="0">
              <a:spcAft>
                <a:spcPts val="200"/>
              </a:spcAft>
              <a:buNone/>
            </a:pPr>
            <a:r>
              <a:rPr lang="en-US" sz="1200" b="1" dirty="0">
                <a:solidFill>
                  <a:srgbClr val="A82B26"/>
                </a:solidFill>
                <a:latin typeface="Inter" pitchFamily="34" charset="0"/>
                <a:ea typeface="Inter" pitchFamily="34" charset="-122"/>
                <a:cs typeface="Inter" pitchFamily="34" charset="-120"/>
              </a:rPr>
              <a:t>$4.79M</a:t>
            </a:r>
            <a:endParaRPr lang="en-US" sz="1400" dirty="0"/>
          </a:p>
        </p:txBody>
      </p:sp>
      <p:graphicFrame>
        <p:nvGraphicFramePr>
          <p:cNvPr id="54" name="Chart 7" descr=""/>
          <p:cNvGraphicFramePr/>
          <p:nvPr/>
        </p:nvGraphicFramePr>
        <p:xfrm>
          <a:off x="4788408" y="4116629"/>
          <a:ext cx="1972056" cy="301569"/>
        </p:xfrm>
        <a:graphic xmlns:a="http://schemas.openxmlformats.org/drawingml/2006/main">
          <a:graphicData uri="http://schemas.openxmlformats.org/drawingml/2006/chart">
            <c:chart xmlns:c="http://schemas.openxmlformats.org/drawingml/2006/chart" r:id="rId8"/>
          </a:graphicData>
        </a:graphic>
      </p:graphicFrame>
      <p:sp>
        <p:nvSpPr>
          <p:cNvPr id="55" name="Text 45"/>
          <p:cNvSpPr txBox="1"/>
          <p:nvPr/>
        </p:nvSpPr>
        <p:spPr>
          <a:xfrm>
            <a:off x="6851904" y="3850538"/>
            <a:ext cx="896112" cy="319308"/>
          </a:xfrm>
          <a:prstGeom prst="rect">
            <a:avLst/>
          </a:prstGeom>
          <a:noFill/>
          <a:ln/>
        </p:spPr>
        <p:txBody>
          <a:bodyPr wrap="square" lIns="0" tIns="0" rIns="0" bIns="0" rtlCol="0" anchor="b"/>
          <a:lstStyle/>
          <a:p>
            <a:pPr algn="r" indent="0" marL="0">
              <a:buNone/>
            </a:pPr>
            <a:r>
              <a:rPr lang="en-US" sz="1600" b="1" dirty="0">
                <a:solidFill>
                  <a:srgbClr val="A82B26"/>
                </a:solidFill>
                <a:latin typeface="Inter" pitchFamily="34" charset="0"/>
                <a:ea typeface="Inter" pitchFamily="34" charset="-122"/>
                <a:cs typeface="Inter" pitchFamily="34" charset="-120"/>
              </a:rPr>
              <a:t>−13.7%</a:t>
            </a:r>
            <a:endParaRPr lang="en-US" sz="1600" dirty="0"/>
          </a:p>
        </p:txBody>
      </p:sp>
      <p:sp>
        <p:nvSpPr>
          <p:cNvPr id="56" name="Text 46"/>
          <p:cNvSpPr txBox="1"/>
          <p:nvPr/>
        </p:nvSpPr>
        <p:spPr>
          <a:xfrm>
            <a:off x="6851904" y="4169847"/>
            <a:ext cx="896112" cy="239481"/>
          </a:xfrm>
          <a:prstGeom prst="rect">
            <a:avLst/>
          </a:prstGeom>
          <a:noFill/>
          <a:ln/>
        </p:spPr>
        <p:txBody>
          <a:bodyPr wrap="square" lIns="0" tIns="0" rIns="0" bIns="0" rtlCol="0" anchor="t"/>
          <a:lstStyle/>
          <a:p>
            <a:pPr algn="r" indent="0" marL="0">
              <a:buNone/>
            </a:pPr>
            <a:r>
              <a:rPr lang="en-US" sz="1300" dirty="0">
                <a:solidFill>
                  <a:srgbClr val="595959"/>
                </a:solidFill>
                <a:latin typeface="Inter" pitchFamily="34" charset="0"/>
                <a:ea typeface="Inter" pitchFamily="34" charset="-122"/>
                <a:cs typeface="Inter" pitchFamily="34" charset="-120"/>
              </a:rPr>
              <a:t>−$761K</a:t>
            </a:r>
            <a:endParaRPr lang="en-US" sz="1300" dirty="0"/>
          </a:p>
        </p:txBody>
      </p:sp>
      <p:sp>
        <p:nvSpPr>
          <p:cNvPr id="57" name="Text 47"/>
          <p:cNvSpPr txBox="1"/>
          <p:nvPr/>
        </p:nvSpPr>
        <p:spPr>
          <a:xfrm>
            <a:off x="4440936" y="4471416"/>
            <a:ext cx="365760" cy="886968"/>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30</a:t>
            </a:r>
            <a:endParaRPr lang="en-US" sz="1500" dirty="0"/>
          </a:p>
        </p:txBody>
      </p:sp>
      <p:sp>
        <p:nvSpPr>
          <p:cNvPr id="58" name="Text 48"/>
          <p:cNvSpPr txBox="1"/>
          <p:nvPr/>
        </p:nvSpPr>
        <p:spPr>
          <a:xfrm>
            <a:off x="4788408" y="4515764"/>
            <a:ext cx="2959608" cy="461223"/>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AUDI RENO</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$4.98M  →  </a:t>
            </a:r>
            <a:pPr indent="0" marL="0">
              <a:spcAft>
                <a:spcPts val="200"/>
              </a:spcAft>
              <a:buNone/>
            </a:pPr>
            <a:r>
              <a:rPr lang="en-US" sz="1200" b="1" dirty="0">
                <a:solidFill>
                  <a:srgbClr val="A82B26"/>
                </a:solidFill>
                <a:latin typeface="Inter" pitchFamily="34" charset="0"/>
                <a:ea typeface="Inter" pitchFamily="34" charset="-122"/>
                <a:cs typeface="Inter" pitchFamily="34" charset="-120"/>
              </a:rPr>
              <a:t>$4.46M</a:t>
            </a:r>
            <a:endParaRPr lang="en-US" sz="1400" dirty="0"/>
          </a:p>
        </p:txBody>
      </p:sp>
      <p:graphicFrame>
        <p:nvGraphicFramePr>
          <p:cNvPr id="59" name="Chart 8" descr=""/>
          <p:cNvGraphicFramePr/>
          <p:nvPr/>
        </p:nvGraphicFramePr>
        <p:xfrm>
          <a:off x="4788408" y="5003597"/>
          <a:ext cx="1972056" cy="301569"/>
        </p:xfrm>
        <a:graphic xmlns:a="http://schemas.openxmlformats.org/drawingml/2006/main">
          <a:graphicData uri="http://schemas.openxmlformats.org/drawingml/2006/chart">
            <c:chart xmlns:c="http://schemas.openxmlformats.org/drawingml/2006/chart" r:id="rId9"/>
          </a:graphicData>
        </a:graphic>
      </p:graphicFrame>
      <p:sp>
        <p:nvSpPr>
          <p:cNvPr id="60" name="Text 49"/>
          <p:cNvSpPr txBox="1"/>
          <p:nvPr/>
        </p:nvSpPr>
        <p:spPr>
          <a:xfrm>
            <a:off x="6851904" y="4737506"/>
            <a:ext cx="896112" cy="319308"/>
          </a:xfrm>
          <a:prstGeom prst="rect">
            <a:avLst/>
          </a:prstGeom>
          <a:noFill/>
          <a:ln/>
        </p:spPr>
        <p:txBody>
          <a:bodyPr wrap="square" lIns="0" tIns="0" rIns="0" bIns="0" rtlCol="0" anchor="b"/>
          <a:lstStyle/>
          <a:p>
            <a:pPr algn="r" indent="0" marL="0">
              <a:buNone/>
            </a:pPr>
            <a:r>
              <a:rPr lang="en-US" sz="1600" b="1" dirty="0">
                <a:solidFill>
                  <a:srgbClr val="A82B26"/>
                </a:solidFill>
                <a:latin typeface="Inter" pitchFamily="34" charset="0"/>
                <a:ea typeface="Inter" pitchFamily="34" charset="-122"/>
                <a:cs typeface="Inter" pitchFamily="34" charset="-120"/>
              </a:rPr>
              <a:t>−10.4%</a:t>
            </a:r>
            <a:endParaRPr lang="en-US" sz="1600" dirty="0"/>
          </a:p>
        </p:txBody>
      </p:sp>
      <p:sp>
        <p:nvSpPr>
          <p:cNvPr id="61" name="Text 50"/>
          <p:cNvSpPr txBox="1"/>
          <p:nvPr/>
        </p:nvSpPr>
        <p:spPr>
          <a:xfrm>
            <a:off x="6851904" y="5056815"/>
            <a:ext cx="896112" cy="239481"/>
          </a:xfrm>
          <a:prstGeom prst="rect">
            <a:avLst/>
          </a:prstGeom>
          <a:noFill/>
          <a:ln/>
        </p:spPr>
        <p:txBody>
          <a:bodyPr wrap="square" lIns="0" tIns="0" rIns="0" bIns="0" rtlCol="0" anchor="t"/>
          <a:lstStyle/>
          <a:p>
            <a:pPr algn="r" indent="0" marL="0">
              <a:buNone/>
            </a:pPr>
            <a:r>
              <a:rPr lang="en-US" sz="1300" dirty="0">
                <a:solidFill>
                  <a:srgbClr val="595959"/>
                </a:solidFill>
                <a:latin typeface="Inter" pitchFamily="34" charset="0"/>
                <a:ea typeface="Inter" pitchFamily="34" charset="-122"/>
                <a:cs typeface="Inter" pitchFamily="34" charset="-120"/>
              </a:rPr>
              <a:t>−$520K</a:t>
            </a:r>
            <a:endParaRPr lang="en-US" sz="1300" dirty="0"/>
          </a:p>
        </p:txBody>
      </p:sp>
      <p:sp>
        <p:nvSpPr>
          <p:cNvPr id="62" name="Shape 51"/>
          <p:cNvSpPr/>
          <p:nvPr/>
        </p:nvSpPr>
        <p:spPr>
          <a:xfrm>
            <a:off x="4349496" y="5358384"/>
            <a:ext cx="3489960" cy="886968"/>
          </a:xfrm>
          <a:prstGeom prst="rect">
            <a:avLst/>
          </a:prstGeom>
          <a:solidFill>
            <a:srgbClr val="F7F7F7"/>
          </a:solidFill>
          <a:ln/>
        </p:spPr>
      </p:sp>
      <p:sp>
        <p:nvSpPr>
          <p:cNvPr id="63" name="Text 52"/>
          <p:cNvSpPr txBox="1"/>
          <p:nvPr/>
        </p:nvSpPr>
        <p:spPr>
          <a:xfrm>
            <a:off x="4440936" y="5358384"/>
            <a:ext cx="365760" cy="886968"/>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29</a:t>
            </a:r>
            <a:endParaRPr lang="en-US" sz="1500" dirty="0"/>
          </a:p>
        </p:txBody>
      </p:sp>
      <p:sp>
        <p:nvSpPr>
          <p:cNvPr id="64" name="Text 53"/>
          <p:cNvSpPr txBox="1"/>
          <p:nvPr/>
        </p:nvSpPr>
        <p:spPr>
          <a:xfrm>
            <a:off x="4788408" y="5402732"/>
            <a:ext cx="2959608" cy="461223"/>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HONDA NORTH</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$9.46M  →  </a:t>
            </a:r>
            <a:pPr indent="0" marL="0">
              <a:spcAft>
                <a:spcPts val="200"/>
              </a:spcAft>
              <a:buNone/>
            </a:pPr>
            <a:r>
              <a:rPr lang="en-US" sz="1200" b="1" dirty="0">
                <a:solidFill>
                  <a:srgbClr val="A82B26"/>
                </a:solidFill>
                <a:latin typeface="Inter" pitchFamily="34" charset="0"/>
                <a:ea typeface="Inter" pitchFamily="34" charset="-122"/>
                <a:cs typeface="Inter" pitchFamily="34" charset="-120"/>
              </a:rPr>
              <a:t>$8.62M</a:t>
            </a:r>
            <a:endParaRPr lang="en-US" sz="1400" dirty="0"/>
          </a:p>
        </p:txBody>
      </p:sp>
      <p:graphicFrame>
        <p:nvGraphicFramePr>
          <p:cNvPr id="65" name="Chart 9" descr=""/>
          <p:cNvGraphicFramePr/>
          <p:nvPr/>
        </p:nvGraphicFramePr>
        <p:xfrm>
          <a:off x="4788408" y="5890565"/>
          <a:ext cx="1972056" cy="301569"/>
        </p:xfrm>
        <a:graphic xmlns:a="http://schemas.openxmlformats.org/drawingml/2006/main">
          <a:graphicData uri="http://schemas.openxmlformats.org/drawingml/2006/chart">
            <c:chart xmlns:c="http://schemas.openxmlformats.org/drawingml/2006/chart" r:id="rId10"/>
          </a:graphicData>
        </a:graphic>
      </p:graphicFrame>
      <p:sp>
        <p:nvSpPr>
          <p:cNvPr id="66" name="Text 54"/>
          <p:cNvSpPr txBox="1"/>
          <p:nvPr/>
        </p:nvSpPr>
        <p:spPr>
          <a:xfrm>
            <a:off x="6851904" y="5624474"/>
            <a:ext cx="896112" cy="319308"/>
          </a:xfrm>
          <a:prstGeom prst="rect">
            <a:avLst/>
          </a:prstGeom>
          <a:noFill/>
          <a:ln/>
        </p:spPr>
        <p:txBody>
          <a:bodyPr wrap="square" lIns="0" tIns="0" rIns="0" bIns="0" rtlCol="0" anchor="b"/>
          <a:lstStyle/>
          <a:p>
            <a:pPr algn="r" indent="0" marL="0">
              <a:buNone/>
            </a:pPr>
            <a:r>
              <a:rPr lang="en-US" sz="1600" b="1" dirty="0">
                <a:solidFill>
                  <a:srgbClr val="A82B26"/>
                </a:solidFill>
                <a:latin typeface="Inter" pitchFamily="34" charset="0"/>
                <a:ea typeface="Inter" pitchFamily="34" charset="-122"/>
                <a:cs typeface="Inter" pitchFamily="34" charset="-120"/>
              </a:rPr>
              <a:t>−8.9%</a:t>
            </a:r>
            <a:endParaRPr lang="en-US" sz="1600" dirty="0"/>
          </a:p>
        </p:txBody>
      </p:sp>
      <p:sp>
        <p:nvSpPr>
          <p:cNvPr id="67" name="Text 55"/>
          <p:cNvSpPr txBox="1"/>
          <p:nvPr/>
        </p:nvSpPr>
        <p:spPr>
          <a:xfrm>
            <a:off x="6851904" y="5943783"/>
            <a:ext cx="896112" cy="239481"/>
          </a:xfrm>
          <a:prstGeom prst="rect">
            <a:avLst/>
          </a:prstGeom>
          <a:noFill/>
          <a:ln/>
        </p:spPr>
        <p:txBody>
          <a:bodyPr wrap="square" lIns="0" tIns="0" rIns="0" bIns="0" rtlCol="0" anchor="t"/>
          <a:lstStyle/>
          <a:p>
            <a:pPr algn="r" indent="0" marL="0">
              <a:buNone/>
            </a:pPr>
            <a:r>
              <a:rPr lang="en-US" sz="1300" dirty="0">
                <a:solidFill>
                  <a:srgbClr val="595959"/>
                </a:solidFill>
                <a:latin typeface="Inter" pitchFamily="34" charset="0"/>
                <a:ea typeface="Inter" pitchFamily="34" charset="-122"/>
                <a:cs typeface="Inter" pitchFamily="34" charset="-120"/>
              </a:rPr>
              <a:t>−$840K</a:t>
            </a:r>
            <a:endParaRPr lang="en-US" sz="1300" dirty="0"/>
          </a:p>
        </p:txBody>
      </p:sp>
      <p:sp>
        <p:nvSpPr>
          <p:cNvPr id="68" name="Shape 56"/>
          <p:cNvSpPr/>
          <p:nvPr/>
        </p:nvSpPr>
        <p:spPr>
          <a:xfrm>
            <a:off x="8040624" y="1371600"/>
            <a:ext cx="3489960" cy="45720"/>
          </a:xfrm>
          <a:prstGeom prst="rect">
            <a:avLst/>
          </a:prstGeom>
          <a:solidFill>
            <a:srgbClr val="2587C5"/>
          </a:solidFill>
          <a:ln/>
        </p:spPr>
      </p:sp>
      <p:sp>
        <p:nvSpPr>
          <p:cNvPr id="69" name="Text 57"/>
          <p:cNvSpPr txBox="1"/>
          <p:nvPr/>
        </p:nvSpPr>
        <p:spPr>
          <a:xfrm>
            <a:off x="8132064" y="1444752"/>
            <a:ext cx="3307080" cy="274320"/>
          </a:xfrm>
          <a:prstGeom prst="rect">
            <a:avLst/>
          </a:prstGeom>
          <a:noFill/>
          <a:ln/>
        </p:spPr>
        <p:txBody>
          <a:bodyPr wrap="square" lIns="0" tIns="0" rIns="0" bIns="0" rtlCol="0" anchor="ctr"/>
          <a:lstStyle/>
          <a:p>
            <a:pPr indent="0" marL="0">
              <a:buNone/>
            </a:pPr>
            <a:r>
              <a:rPr lang="en-US" sz="1500" b="1" spc="100" kern="0" dirty="0">
                <a:solidFill>
                  <a:srgbClr val="0B2C4A"/>
                </a:solidFill>
                <a:latin typeface="Inter" pitchFamily="34" charset="0"/>
                <a:ea typeface="Inter" pitchFamily="34" charset="-122"/>
                <a:cs typeface="Inter" pitchFamily="34" charset="-120"/>
              </a:rPr>
              <a:t>TOP 5 MOVING NOW</a:t>
            </a:r>
            <a:endParaRPr lang="en-US" sz="1500" dirty="0"/>
          </a:p>
        </p:txBody>
      </p:sp>
      <p:sp>
        <p:nvSpPr>
          <p:cNvPr id="70" name="Shape 58"/>
          <p:cNvSpPr/>
          <p:nvPr/>
        </p:nvSpPr>
        <p:spPr>
          <a:xfrm>
            <a:off x="8040624" y="1810512"/>
            <a:ext cx="3489960" cy="886968"/>
          </a:xfrm>
          <a:prstGeom prst="rect">
            <a:avLst/>
          </a:prstGeom>
          <a:solidFill>
            <a:srgbClr val="F7F7F7"/>
          </a:solidFill>
          <a:ln/>
        </p:spPr>
      </p:sp>
      <p:sp>
        <p:nvSpPr>
          <p:cNvPr id="71" name="Text 59"/>
          <p:cNvSpPr txBox="1"/>
          <p:nvPr/>
        </p:nvSpPr>
        <p:spPr>
          <a:xfrm>
            <a:off x="8132064" y="1810512"/>
            <a:ext cx="365760" cy="886968"/>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1</a:t>
            </a:r>
            <a:endParaRPr lang="en-US" sz="1500" dirty="0"/>
          </a:p>
        </p:txBody>
      </p:sp>
      <p:sp>
        <p:nvSpPr>
          <p:cNvPr id="72" name="Text 60"/>
          <p:cNvSpPr txBox="1"/>
          <p:nvPr/>
        </p:nvSpPr>
        <p:spPr>
          <a:xfrm>
            <a:off x="8479536" y="1854860"/>
            <a:ext cx="2959608" cy="461223"/>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MAZDA</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$313K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$425K</a:t>
            </a:r>
            <a:endParaRPr lang="en-US" sz="1400" dirty="0"/>
          </a:p>
        </p:txBody>
      </p:sp>
      <p:graphicFrame>
        <p:nvGraphicFramePr>
          <p:cNvPr id="73" name="Chart 10" descr=""/>
          <p:cNvGraphicFramePr/>
          <p:nvPr/>
        </p:nvGraphicFramePr>
        <p:xfrm>
          <a:off x="8479536" y="2342693"/>
          <a:ext cx="1972056" cy="301569"/>
        </p:xfrm>
        <a:graphic xmlns:a="http://schemas.openxmlformats.org/drawingml/2006/main">
          <a:graphicData uri="http://schemas.openxmlformats.org/drawingml/2006/chart">
            <c:chart xmlns:c="http://schemas.openxmlformats.org/drawingml/2006/chart" r:id="rId11"/>
          </a:graphicData>
        </a:graphic>
      </p:graphicFrame>
      <p:sp>
        <p:nvSpPr>
          <p:cNvPr id="74" name="Text 61"/>
          <p:cNvSpPr txBox="1"/>
          <p:nvPr/>
        </p:nvSpPr>
        <p:spPr>
          <a:xfrm>
            <a:off x="10543032" y="2076602"/>
            <a:ext cx="896112" cy="319308"/>
          </a:xfrm>
          <a:prstGeom prst="rect">
            <a:avLst/>
          </a:prstGeom>
          <a:noFill/>
          <a:ln/>
        </p:spPr>
        <p:txBody>
          <a:bodyPr wrap="square" lIns="0" tIns="0" rIns="0" bIns="0" rtlCol="0" anchor="b"/>
          <a:lstStyle/>
          <a:p>
            <a:pPr algn="r" indent="0" marL="0">
              <a:buNone/>
            </a:pPr>
            <a:r>
              <a:rPr lang="en-US" sz="1600" b="1" dirty="0">
                <a:solidFill>
                  <a:srgbClr val="0B7A4A"/>
                </a:solidFill>
                <a:latin typeface="Inter" pitchFamily="34" charset="0"/>
                <a:ea typeface="Inter" pitchFamily="34" charset="-122"/>
                <a:cs typeface="Inter" pitchFamily="34" charset="-120"/>
              </a:rPr>
              <a:t>+35.7%</a:t>
            </a:r>
            <a:endParaRPr lang="en-US" sz="1600" dirty="0"/>
          </a:p>
        </p:txBody>
      </p:sp>
      <p:sp>
        <p:nvSpPr>
          <p:cNvPr id="75" name="Text 62"/>
          <p:cNvSpPr txBox="1"/>
          <p:nvPr/>
        </p:nvSpPr>
        <p:spPr>
          <a:xfrm>
            <a:off x="10543032" y="2395911"/>
            <a:ext cx="896112" cy="239481"/>
          </a:xfrm>
          <a:prstGeom prst="rect">
            <a:avLst/>
          </a:prstGeom>
          <a:noFill/>
          <a:ln/>
        </p:spPr>
        <p:txBody>
          <a:bodyPr wrap="square" lIns="0" tIns="0" rIns="0" bIns="0" rtlCol="0" anchor="t"/>
          <a:lstStyle/>
          <a:p>
            <a:pPr algn="r" indent="0" marL="0">
              <a:buNone/>
            </a:pPr>
            <a:r>
              <a:rPr lang="en-US" sz="1300" dirty="0">
                <a:solidFill>
                  <a:srgbClr val="595959"/>
                </a:solidFill>
                <a:latin typeface="Inter" pitchFamily="34" charset="0"/>
                <a:ea typeface="Inter" pitchFamily="34" charset="-122"/>
                <a:cs typeface="Inter" pitchFamily="34" charset="-120"/>
              </a:rPr>
              <a:t>+$112K</a:t>
            </a:r>
            <a:endParaRPr lang="en-US" sz="1300" dirty="0"/>
          </a:p>
        </p:txBody>
      </p:sp>
      <p:sp>
        <p:nvSpPr>
          <p:cNvPr id="76" name="Text 63"/>
          <p:cNvSpPr txBox="1"/>
          <p:nvPr/>
        </p:nvSpPr>
        <p:spPr>
          <a:xfrm>
            <a:off x="8132064" y="2697480"/>
            <a:ext cx="365760" cy="886968"/>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2</a:t>
            </a:r>
            <a:endParaRPr lang="en-US" sz="1500" dirty="0"/>
          </a:p>
        </p:txBody>
      </p:sp>
      <p:sp>
        <p:nvSpPr>
          <p:cNvPr id="77" name="Text 64"/>
          <p:cNvSpPr txBox="1"/>
          <p:nvPr/>
        </p:nvSpPr>
        <p:spPr>
          <a:xfrm>
            <a:off x="8479536" y="2741828"/>
            <a:ext cx="2959608" cy="461223"/>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KIA ST GEORGE</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$227K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$301K</a:t>
            </a:r>
            <a:endParaRPr lang="en-US" sz="1400" dirty="0"/>
          </a:p>
        </p:txBody>
      </p:sp>
      <p:graphicFrame>
        <p:nvGraphicFramePr>
          <p:cNvPr id="78" name="Chart 11" descr=""/>
          <p:cNvGraphicFramePr/>
          <p:nvPr/>
        </p:nvGraphicFramePr>
        <p:xfrm>
          <a:off x="8479536" y="3229661"/>
          <a:ext cx="1972056" cy="301569"/>
        </p:xfrm>
        <a:graphic xmlns:a="http://schemas.openxmlformats.org/drawingml/2006/main">
          <a:graphicData uri="http://schemas.openxmlformats.org/drawingml/2006/chart">
            <c:chart xmlns:c="http://schemas.openxmlformats.org/drawingml/2006/chart" r:id="rId12"/>
          </a:graphicData>
        </a:graphic>
      </p:graphicFrame>
      <p:sp>
        <p:nvSpPr>
          <p:cNvPr id="79" name="Text 65"/>
          <p:cNvSpPr txBox="1"/>
          <p:nvPr/>
        </p:nvSpPr>
        <p:spPr>
          <a:xfrm>
            <a:off x="10543032" y="2963570"/>
            <a:ext cx="896112" cy="319308"/>
          </a:xfrm>
          <a:prstGeom prst="rect">
            <a:avLst/>
          </a:prstGeom>
          <a:noFill/>
          <a:ln/>
        </p:spPr>
        <p:txBody>
          <a:bodyPr wrap="square" lIns="0" tIns="0" rIns="0" bIns="0" rtlCol="0" anchor="b"/>
          <a:lstStyle/>
          <a:p>
            <a:pPr algn="r" indent="0" marL="0">
              <a:buNone/>
            </a:pPr>
            <a:r>
              <a:rPr lang="en-US" sz="1600" b="1" dirty="0">
                <a:solidFill>
                  <a:srgbClr val="0B7A4A"/>
                </a:solidFill>
                <a:latin typeface="Inter" pitchFamily="34" charset="0"/>
                <a:ea typeface="Inter" pitchFamily="34" charset="-122"/>
                <a:cs typeface="Inter" pitchFamily="34" charset="-120"/>
              </a:rPr>
              <a:t>+32.7%</a:t>
            </a:r>
            <a:endParaRPr lang="en-US" sz="1600" dirty="0"/>
          </a:p>
        </p:txBody>
      </p:sp>
      <p:sp>
        <p:nvSpPr>
          <p:cNvPr id="80" name="Text 66"/>
          <p:cNvSpPr txBox="1"/>
          <p:nvPr/>
        </p:nvSpPr>
        <p:spPr>
          <a:xfrm>
            <a:off x="10543032" y="3282879"/>
            <a:ext cx="896112" cy="239481"/>
          </a:xfrm>
          <a:prstGeom prst="rect">
            <a:avLst/>
          </a:prstGeom>
          <a:noFill/>
          <a:ln/>
        </p:spPr>
        <p:txBody>
          <a:bodyPr wrap="square" lIns="0" tIns="0" rIns="0" bIns="0" rtlCol="0" anchor="t"/>
          <a:lstStyle/>
          <a:p>
            <a:pPr algn="r" indent="0" marL="0">
              <a:buNone/>
            </a:pPr>
            <a:r>
              <a:rPr lang="en-US" sz="1300" dirty="0">
                <a:solidFill>
                  <a:srgbClr val="595959"/>
                </a:solidFill>
                <a:latin typeface="Inter" pitchFamily="34" charset="0"/>
                <a:ea typeface="Inter" pitchFamily="34" charset="-122"/>
                <a:cs typeface="Inter" pitchFamily="34" charset="-120"/>
              </a:rPr>
              <a:t>+$74K</a:t>
            </a:r>
            <a:endParaRPr lang="en-US" sz="1300" dirty="0"/>
          </a:p>
        </p:txBody>
      </p:sp>
      <p:sp>
        <p:nvSpPr>
          <p:cNvPr id="81" name="Shape 67"/>
          <p:cNvSpPr/>
          <p:nvPr/>
        </p:nvSpPr>
        <p:spPr>
          <a:xfrm>
            <a:off x="8040624" y="3584448"/>
            <a:ext cx="3489960" cy="886968"/>
          </a:xfrm>
          <a:prstGeom prst="rect">
            <a:avLst/>
          </a:prstGeom>
          <a:solidFill>
            <a:srgbClr val="F7F7F7"/>
          </a:solidFill>
          <a:ln/>
        </p:spPr>
      </p:sp>
      <p:sp>
        <p:nvSpPr>
          <p:cNvPr id="82" name="Text 68"/>
          <p:cNvSpPr txBox="1"/>
          <p:nvPr/>
        </p:nvSpPr>
        <p:spPr>
          <a:xfrm>
            <a:off x="8132064" y="3584448"/>
            <a:ext cx="365760" cy="886968"/>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3</a:t>
            </a:r>
            <a:endParaRPr lang="en-US" sz="1500" dirty="0"/>
          </a:p>
        </p:txBody>
      </p:sp>
      <p:sp>
        <p:nvSpPr>
          <p:cNvPr id="83" name="Text 69"/>
          <p:cNvSpPr txBox="1"/>
          <p:nvPr/>
        </p:nvSpPr>
        <p:spPr>
          <a:xfrm>
            <a:off x="8479536" y="3628796"/>
            <a:ext cx="2959608" cy="461223"/>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LR HENDERSON</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$332K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$429K</a:t>
            </a:r>
            <a:endParaRPr lang="en-US" sz="1400" dirty="0"/>
          </a:p>
        </p:txBody>
      </p:sp>
      <p:graphicFrame>
        <p:nvGraphicFramePr>
          <p:cNvPr id="84" name="Chart 12" descr=""/>
          <p:cNvGraphicFramePr/>
          <p:nvPr/>
        </p:nvGraphicFramePr>
        <p:xfrm>
          <a:off x="8479536" y="4116629"/>
          <a:ext cx="1972056" cy="301569"/>
        </p:xfrm>
        <a:graphic xmlns:a="http://schemas.openxmlformats.org/drawingml/2006/main">
          <a:graphicData uri="http://schemas.openxmlformats.org/drawingml/2006/chart">
            <c:chart xmlns:c="http://schemas.openxmlformats.org/drawingml/2006/chart" r:id="rId13"/>
          </a:graphicData>
        </a:graphic>
      </p:graphicFrame>
      <p:sp>
        <p:nvSpPr>
          <p:cNvPr id="85" name="Text 70"/>
          <p:cNvSpPr txBox="1"/>
          <p:nvPr/>
        </p:nvSpPr>
        <p:spPr>
          <a:xfrm>
            <a:off x="10543032" y="3850538"/>
            <a:ext cx="896112" cy="319308"/>
          </a:xfrm>
          <a:prstGeom prst="rect">
            <a:avLst/>
          </a:prstGeom>
          <a:noFill/>
          <a:ln/>
        </p:spPr>
        <p:txBody>
          <a:bodyPr wrap="square" lIns="0" tIns="0" rIns="0" bIns="0" rtlCol="0" anchor="b"/>
          <a:lstStyle/>
          <a:p>
            <a:pPr algn="r" indent="0" marL="0">
              <a:buNone/>
            </a:pPr>
            <a:r>
              <a:rPr lang="en-US" sz="1600" b="1" dirty="0">
                <a:solidFill>
                  <a:srgbClr val="0B7A4A"/>
                </a:solidFill>
                <a:latin typeface="Inter" pitchFamily="34" charset="0"/>
                <a:ea typeface="Inter" pitchFamily="34" charset="-122"/>
                <a:cs typeface="Inter" pitchFamily="34" charset="-120"/>
              </a:rPr>
              <a:t>+29.1%</a:t>
            </a:r>
            <a:endParaRPr lang="en-US" sz="1600" dirty="0"/>
          </a:p>
        </p:txBody>
      </p:sp>
      <p:sp>
        <p:nvSpPr>
          <p:cNvPr id="86" name="Text 71"/>
          <p:cNvSpPr txBox="1"/>
          <p:nvPr/>
        </p:nvSpPr>
        <p:spPr>
          <a:xfrm>
            <a:off x="10543032" y="4169847"/>
            <a:ext cx="896112" cy="239481"/>
          </a:xfrm>
          <a:prstGeom prst="rect">
            <a:avLst/>
          </a:prstGeom>
          <a:noFill/>
          <a:ln/>
        </p:spPr>
        <p:txBody>
          <a:bodyPr wrap="square" lIns="0" tIns="0" rIns="0" bIns="0" rtlCol="0" anchor="t"/>
          <a:lstStyle/>
          <a:p>
            <a:pPr algn="r" indent="0" marL="0">
              <a:buNone/>
            </a:pPr>
            <a:r>
              <a:rPr lang="en-US" sz="1300" dirty="0">
                <a:solidFill>
                  <a:srgbClr val="595959"/>
                </a:solidFill>
                <a:latin typeface="Inter" pitchFamily="34" charset="0"/>
                <a:ea typeface="Inter" pitchFamily="34" charset="-122"/>
                <a:cs typeface="Inter" pitchFamily="34" charset="-120"/>
              </a:rPr>
              <a:t>+$97K</a:t>
            </a:r>
            <a:endParaRPr lang="en-US" sz="1300" dirty="0"/>
          </a:p>
        </p:txBody>
      </p:sp>
      <p:sp>
        <p:nvSpPr>
          <p:cNvPr id="87" name="Text 72"/>
          <p:cNvSpPr txBox="1"/>
          <p:nvPr/>
        </p:nvSpPr>
        <p:spPr>
          <a:xfrm>
            <a:off x="8132064" y="4471416"/>
            <a:ext cx="365760" cy="886968"/>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4</a:t>
            </a:r>
            <a:endParaRPr lang="en-US" sz="1500" dirty="0"/>
          </a:p>
        </p:txBody>
      </p:sp>
      <p:sp>
        <p:nvSpPr>
          <p:cNvPr id="88" name="Text 73"/>
          <p:cNvSpPr txBox="1"/>
          <p:nvPr/>
        </p:nvSpPr>
        <p:spPr>
          <a:xfrm>
            <a:off x="8479536" y="4515764"/>
            <a:ext cx="2959608" cy="461223"/>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CDJR POST FALLS</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$364K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$448K</a:t>
            </a:r>
            <a:endParaRPr lang="en-US" sz="1400" dirty="0"/>
          </a:p>
        </p:txBody>
      </p:sp>
      <p:graphicFrame>
        <p:nvGraphicFramePr>
          <p:cNvPr id="89" name="Chart 13" descr=""/>
          <p:cNvGraphicFramePr/>
          <p:nvPr/>
        </p:nvGraphicFramePr>
        <p:xfrm>
          <a:off x="8479536" y="5003597"/>
          <a:ext cx="1972056" cy="301569"/>
        </p:xfrm>
        <a:graphic xmlns:a="http://schemas.openxmlformats.org/drawingml/2006/main">
          <a:graphicData uri="http://schemas.openxmlformats.org/drawingml/2006/chart">
            <c:chart xmlns:c="http://schemas.openxmlformats.org/drawingml/2006/chart" r:id="rId14"/>
          </a:graphicData>
        </a:graphic>
      </p:graphicFrame>
      <p:sp>
        <p:nvSpPr>
          <p:cNvPr id="90" name="Text 74"/>
          <p:cNvSpPr txBox="1"/>
          <p:nvPr/>
        </p:nvSpPr>
        <p:spPr>
          <a:xfrm>
            <a:off x="10543032" y="4737506"/>
            <a:ext cx="896112" cy="319308"/>
          </a:xfrm>
          <a:prstGeom prst="rect">
            <a:avLst/>
          </a:prstGeom>
          <a:noFill/>
          <a:ln/>
        </p:spPr>
        <p:txBody>
          <a:bodyPr wrap="square" lIns="0" tIns="0" rIns="0" bIns="0" rtlCol="0" anchor="b"/>
          <a:lstStyle/>
          <a:p>
            <a:pPr algn="r" indent="0" marL="0">
              <a:buNone/>
            </a:pPr>
            <a:r>
              <a:rPr lang="en-US" sz="1600" b="1" dirty="0">
                <a:solidFill>
                  <a:srgbClr val="0B7A4A"/>
                </a:solidFill>
                <a:latin typeface="Inter" pitchFamily="34" charset="0"/>
                <a:ea typeface="Inter" pitchFamily="34" charset="-122"/>
                <a:cs typeface="Inter" pitchFamily="34" charset="-120"/>
              </a:rPr>
              <a:t>+23.2%</a:t>
            </a:r>
            <a:endParaRPr lang="en-US" sz="1600" dirty="0"/>
          </a:p>
        </p:txBody>
      </p:sp>
      <p:sp>
        <p:nvSpPr>
          <p:cNvPr id="91" name="Text 75"/>
          <p:cNvSpPr txBox="1"/>
          <p:nvPr/>
        </p:nvSpPr>
        <p:spPr>
          <a:xfrm>
            <a:off x="10543032" y="5056815"/>
            <a:ext cx="896112" cy="239481"/>
          </a:xfrm>
          <a:prstGeom prst="rect">
            <a:avLst/>
          </a:prstGeom>
          <a:noFill/>
          <a:ln/>
        </p:spPr>
        <p:txBody>
          <a:bodyPr wrap="square" lIns="0" tIns="0" rIns="0" bIns="0" rtlCol="0" anchor="t"/>
          <a:lstStyle/>
          <a:p>
            <a:pPr algn="r" indent="0" marL="0">
              <a:buNone/>
            </a:pPr>
            <a:r>
              <a:rPr lang="en-US" sz="1300" dirty="0">
                <a:solidFill>
                  <a:srgbClr val="595959"/>
                </a:solidFill>
                <a:latin typeface="Inter" pitchFamily="34" charset="0"/>
                <a:ea typeface="Inter" pitchFamily="34" charset="-122"/>
                <a:cs typeface="Inter" pitchFamily="34" charset="-120"/>
              </a:rPr>
              <a:t>+$84K</a:t>
            </a:r>
            <a:endParaRPr lang="en-US" sz="1300" dirty="0"/>
          </a:p>
        </p:txBody>
      </p:sp>
      <p:sp>
        <p:nvSpPr>
          <p:cNvPr id="92" name="Shape 76"/>
          <p:cNvSpPr/>
          <p:nvPr/>
        </p:nvSpPr>
        <p:spPr>
          <a:xfrm>
            <a:off x="8040624" y="5358384"/>
            <a:ext cx="3489960" cy="886968"/>
          </a:xfrm>
          <a:prstGeom prst="rect">
            <a:avLst/>
          </a:prstGeom>
          <a:solidFill>
            <a:srgbClr val="F7F7F7"/>
          </a:solidFill>
          <a:ln/>
        </p:spPr>
      </p:sp>
      <p:sp>
        <p:nvSpPr>
          <p:cNvPr id="93" name="Shape 77"/>
          <p:cNvSpPr/>
          <p:nvPr/>
        </p:nvSpPr>
        <p:spPr>
          <a:xfrm>
            <a:off x="11466576" y="5394960"/>
            <a:ext cx="64008" cy="813816"/>
          </a:xfrm>
          <a:prstGeom prst="rect">
            <a:avLst/>
          </a:prstGeom>
          <a:solidFill>
            <a:srgbClr val="12A566"/>
          </a:solidFill>
          <a:ln/>
        </p:spPr>
      </p:sp>
      <p:sp>
        <p:nvSpPr>
          <p:cNvPr id="94" name="Text 78"/>
          <p:cNvSpPr txBox="1"/>
          <p:nvPr/>
        </p:nvSpPr>
        <p:spPr>
          <a:xfrm>
            <a:off x="8132064" y="5358384"/>
            <a:ext cx="365760" cy="886968"/>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5</a:t>
            </a:r>
            <a:endParaRPr lang="en-US" sz="1500" dirty="0"/>
          </a:p>
        </p:txBody>
      </p:sp>
      <p:sp>
        <p:nvSpPr>
          <p:cNvPr id="95" name="Text 79"/>
          <p:cNvSpPr txBox="1"/>
          <p:nvPr/>
        </p:nvSpPr>
        <p:spPr>
          <a:xfrm>
            <a:off x="8479536" y="5402732"/>
            <a:ext cx="2959608" cy="461223"/>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HYUNDAI PRESCOTT</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$158K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$188K</a:t>
            </a:r>
            <a:endParaRPr lang="en-US" sz="1400" dirty="0"/>
          </a:p>
        </p:txBody>
      </p:sp>
      <p:graphicFrame>
        <p:nvGraphicFramePr>
          <p:cNvPr id="96" name="Chart 14" descr=""/>
          <p:cNvGraphicFramePr/>
          <p:nvPr/>
        </p:nvGraphicFramePr>
        <p:xfrm>
          <a:off x="8479536" y="5890565"/>
          <a:ext cx="1972056" cy="301569"/>
        </p:xfrm>
        <a:graphic xmlns:a="http://schemas.openxmlformats.org/drawingml/2006/main">
          <a:graphicData uri="http://schemas.openxmlformats.org/drawingml/2006/chart">
            <c:chart xmlns:c="http://schemas.openxmlformats.org/drawingml/2006/chart" r:id="rId15"/>
          </a:graphicData>
        </a:graphic>
      </p:graphicFrame>
      <p:sp>
        <p:nvSpPr>
          <p:cNvPr id="97" name="Text 80"/>
          <p:cNvSpPr txBox="1"/>
          <p:nvPr/>
        </p:nvSpPr>
        <p:spPr>
          <a:xfrm>
            <a:off x="10543032" y="5624474"/>
            <a:ext cx="896112" cy="319308"/>
          </a:xfrm>
          <a:prstGeom prst="rect">
            <a:avLst/>
          </a:prstGeom>
          <a:noFill/>
          <a:ln/>
        </p:spPr>
        <p:txBody>
          <a:bodyPr wrap="square" lIns="0" tIns="0" rIns="0" bIns="0" rtlCol="0" anchor="b"/>
          <a:lstStyle/>
          <a:p>
            <a:pPr algn="r" indent="0" marL="0">
              <a:buNone/>
            </a:pPr>
            <a:r>
              <a:rPr lang="en-US" sz="1600" b="1" dirty="0">
                <a:solidFill>
                  <a:srgbClr val="0B7A4A"/>
                </a:solidFill>
                <a:latin typeface="Inter" pitchFamily="34" charset="0"/>
                <a:ea typeface="Inter" pitchFamily="34" charset="-122"/>
                <a:cs typeface="Inter" pitchFamily="34" charset="-120"/>
              </a:rPr>
              <a:t>+19.1%</a:t>
            </a:r>
            <a:endParaRPr lang="en-US" sz="1600" dirty="0"/>
          </a:p>
        </p:txBody>
      </p:sp>
      <p:sp>
        <p:nvSpPr>
          <p:cNvPr id="98" name="Text 81"/>
          <p:cNvSpPr txBox="1"/>
          <p:nvPr/>
        </p:nvSpPr>
        <p:spPr>
          <a:xfrm>
            <a:off x="10543032" y="5943783"/>
            <a:ext cx="896112" cy="239481"/>
          </a:xfrm>
          <a:prstGeom prst="rect">
            <a:avLst/>
          </a:prstGeom>
          <a:noFill/>
          <a:ln/>
        </p:spPr>
        <p:txBody>
          <a:bodyPr wrap="square" lIns="0" tIns="0" rIns="0" bIns="0" rtlCol="0" anchor="t"/>
          <a:lstStyle/>
          <a:p>
            <a:pPr algn="r" indent="0" marL="0">
              <a:buNone/>
            </a:pPr>
            <a:r>
              <a:rPr lang="en-US" sz="1300" dirty="0">
                <a:solidFill>
                  <a:srgbClr val="595959"/>
                </a:solidFill>
                <a:latin typeface="Inter" pitchFamily="34" charset="0"/>
                <a:ea typeface="Inter" pitchFamily="34" charset="-122"/>
                <a:cs typeface="Inter" pitchFamily="34" charset="-120"/>
              </a:rPr>
              <a:t>+$30K</a:t>
            </a:r>
            <a:endParaRPr lang="en-US" sz="1300" dirty="0"/>
          </a:p>
        </p:txBody>
      </p:sp>
    </p:spTree>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name="Slide 9">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FIXED OPS GROSS</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Total Gross Profit - Service</a:t>
            </a:r>
            <a:endParaRPr lang="en-US" sz="2800" dirty="0"/>
          </a:p>
        </p:txBody>
      </p:sp>
      <p:sp>
        <p:nvSpPr>
          <p:cNvPr id="5" name="Shape 3"/>
          <p:cNvSpPr/>
          <p:nvPr/>
        </p:nvSpPr>
        <p:spPr>
          <a:xfrm>
            <a:off x="457200" y="1207008"/>
            <a:ext cx="11274552" cy="5148072"/>
          </a:xfrm>
          <a:prstGeom prst="rect">
            <a:avLst/>
          </a:prstGeom>
          <a:solidFill>
            <a:srgbClr val="FFFFFF"/>
          </a:solidFill>
          <a:ln/>
        </p:spPr>
      </p:sp>
      <p:sp>
        <p:nvSpPr>
          <p:cNvPr id="6" name="Text 4"/>
          <p:cNvSpPr txBox="1"/>
          <p:nvPr/>
        </p:nvSpPr>
        <p:spPr>
          <a:xfrm>
            <a:off x="6217920" y="804672"/>
            <a:ext cx="5513832" cy="365760"/>
          </a:xfrm>
          <a:prstGeom prst="rect">
            <a:avLst/>
          </a:prstGeom>
          <a:noFill/>
          <a:ln/>
        </p:spPr>
        <p:txBody>
          <a:bodyPr wrap="square" lIns="0" tIns="0" rIns="0" bIns="0" rtlCol="0" anchor="ctr"/>
          <a:lstStyle/>
          <a:p>
            <a:pPr algn="r" indent="0" marL="0">
              <a:buNone/>
            </a:pPr>
            <a:r>
              <a:rPr lang="en-US" sz="1400" dirty="0">
                <a:solidFill>
                  <a:srgbClr val="595959"/>
                </a:solidFill>
                <a:latin typeface="Inter" pitchFamily="34" charset="0"/>
                <a:ea typeface="Inter" pitchFamily="34" charset="-122"/>
                <a:cs typeface="Inter" pitchFamily="34" charset="-120"/>
              </a:rPr>
              <a:t>Vs last year: Jan–Sep   ·   Moving now: Q3 vs Q1</a:t>
            </a:r>
            <a:endParaRPr lang="en-US" sz="1400" dirty="0"/>
          </a:p>
        </p:txBody>
      </p:sp>
      <p:sp>
        <p:nvSpPr>
          <p:cNvPr id="7" name="Shape 5"/>
          <p:cNvSpPr/>
          <p:nvPr/>
        </p:nvSpPr>
        <p:spPr>
          <a:xfrm>
            <a:off x="658368" y="1371600"/>
            <a:ext cx="3489960" cy="45720"/>
          </a:xfrm>
          <a:prstGeom prst="rect">
            <a:avLst/>
          </a:prstGeom>
          <a:solidFill>
            <a:srgbClr val="12A566"/>
          </a:solidFill>
          <a:ln/>
        </p:spPr>
      </p:sp>
      <p:sp>
        <p:nvSpPr>
          <p:cNvPr id="8" name="Text 6"/>
          <p:cNvSpPr txBox="1"/>
          <p:nvPr/>
        </p:nvSpPr>
        <p:spPr>
          <a:xfrm>
            <a:off x="749808" y="1444752"/>
            <a:ext cx="3307080" cy="274320"/>
          </a:xfrm>
          <a:prstGeom prst="rect">
            <a:avLst/>
          </a:prstGeom>
          <a:noFill/>
          <a:ln/>
        </p:spPr>
        <p:txBody>
          <a:bodyPr wrap="square" lIns="0" tIns="0" rIns="0" bIns="0" rtlCol="0" anchor="ctr"/>
          <a:lstStyle/>
          <a:p>
            <a:pPr indent="0" marL="0">
              <a:buNone/>
            </a:pPr>
            <a:r>
              <a:rPr lang="en-US" sz="1500" b="1" spc="100" kern="0" dirty="0">
                <a:solidFill>
                  <a:srgbClr val="0B7A4A"/>
                </a:solidFill>
                <a:latin typeface="Inter" pitchFamily="34" charset="0"/>
                <a:ea typeface="Inter" pitchFamily="34" charset="-122"/>
                <a:cs typeface="Inter" pitchFamily="34" charset="-120"/>
              </a:rPr>
              <a:t>TOP 5 VS LAST YEAR</a:t>
            </a:r>
            <a:endParaRPr lang="en-US" sz="1500" dirty="0"/>
          </a:p>
        </p:txBody>
      </p:sp>
      <p:sp>
        <p:nvSpPr>
          <p:cNvPr id="9" name="Shape 7"/>
          <p:cNvSpPr/>
          <p:nvPr/>
        </p:nvSpPr>
        <p:spPr>
          <a:xfrm>
            <a:off x="658368" y="1810512"/>
            <a:ext cx="3489960" cy="886968"/>
          </a:xfrm>
          <a:prstGeom prst="rect">
            <a:avLst/>
          </a:prstGeom>
          <a:solidFill>
            <a:srgbClr val="F7F7F7"/>
          </a:solidFill>
          <a:ln/>
        </p:spPr>
      </p:sp>
      <p:sp>
        <p:nvSpPr>
          <p:cNvPr id="10" name="Shape 8"/>
          <p:cNvSpPr/>
          <p:nvPr/>
        </p:nvSpPr>
        <p:spPr>
          <a:xfrm>
            <a:off x="4084320" y="1847088"/>
            <a:ext cx="64008" cy="813816"/>
          </a:xfrm>
          <a:prstGeom prst="rect">
            <a:avLst/>
          </a:prstGeom>
          <a:solidFill>
            <a:srgbClr val="12A566"/>
          </a:solidFill>
          <a:ln/>
        </p:spPr>
      </p:sp>
      <p:sp>
        <p:nvSpPr>
          <p:cNvPr id="11" name="Text 9"/>
          <p:cNvSpPr txBox="1"/>
          <p:nvPr/>
        </p:nvSpPr>
        <p:spPr>
          <a:xfrm>
            <a:off x="749808" y="1810512"/>
            <a:ext cx="365760" cy="886968"/>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1</a:t>
            </a:r>
            <a:endParaRPr lang="en-US" sz="1500" dirty="0"/>
          </a:p>
        </p:txBody>
      </p:sp>
      <p:sp>
        <p:nvSpPr>
          <p:cNvPr id="12" name="Text 10"/>
          <p:cNvSpPr txBox="1"/>
          <p:nvPr/>
        </p:nvSpPr>
        <p:spPr>
          <a:xfrm>
            <a:off x="1097280" y="1854860"/>
            <a:ext cx="2959608" cy="461223"/>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HYUNDAI PRESCOTT</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$648K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$993K</a:t>
            </a:r>
            <a:endParaRPr lang="en-US" sz="1400" dirty="0"/>
          </a:p>
        </p:txBody>
      </p:sp>
      <p:graphicFrame>
        <p:nvGraphicFramePr>
          <p:cNvPr id="13" name="Chart 0" descr=""/>
          <p:cNvGraphicFramePr/>
          <p:nvPr/>
        </p:nvGraphicFramePr>
        <p:xfrm>
          <a:off x="1097280" y="2342693"/>
          <a:ext cx="1972056" cy="301569"/>
        </p:xfrm>
        <a:graphic xmlns:a="http://schemas.openxmlformats.org/drawingml/2006/main">
          <a:graphicData uri="http://schemas.openxmlformats.org/drawingml/2006/chart">
            <c:chart xmlns:c="http://schemas.openxmlformats.org/drawingml/2006/chart" r:id="rId1"/>
          </a:graphicData>
        </a:graphic>
      </p:graphicFrame>
      <p:sp>
        <p:nvSpPr>
          <p:cNvPr id="14" name="Text 11"/>
          <p:cNvSpPr txBox="1"/>
          <p:nvPr/>
        </p:nvSpPr>
        <p:spPr>
          <a:xfrm>
            <a:off x="3160776" y="2076602"/>
            <a:ext cx="896112" cy="319308"/>
          </a:xfrm>
          <a:prstGeom prst="rect">
            <a:avLst/>
          </a:prstGeom>
          <a:noFill/>
          <a:ln/>
        </p:spPr>
        <p:txBody>
          <a:bodyPr wrap="square" lIns="0" tIns="0" rIns="0" bIns="0" rtlCol="0" anchor="b"/>
          <a:lstStyle/>
          <a:p>
            <a:pPr algn="r" indent="0" marL="0">
              <a:buNone/>
            </a:pPr>
            <a:r>
              <a:rPr lang="en-US" sz="1600" b="1" dirty="0">
                <a:solidFill>
                  <a:srgbClr val="0B7A4A"/>
                </a:solidFill>
                <a:latin typeface="Inter" pitchFamily="34" charset="0"/>
                <a:ea typeface="Inter" pitchFamily="34" charset="-122"/>
                <a:cs typeface="Inter" pitchFamily="34" charset="-120"/>
              </a:rPr>
              <a:t>+53.3%</a:t>
            </a:r>
            <a:endParaRPr lang="en-US" sz="1600" dirty="0"/>
          </a:p>
        </p:txBody>
      </p:sp>
      <p:sp>
        <p:nvSpPr>
          <p:cNvPr id="15" name="Text 12"/>
          <p:cNvSpPr txBox="1"/>
          <p:nvPr/>
        </p:nvSpPr>
        <p:spPr>
          <a:xfrm>
            <a:off x="3160776" y="2395911"/>
            <a:ext cx="896112" cy="239481"/>
          </a:xfrm>
          <a:prstGeom prst="rect">
            <a:avLst/>
          </a:prstGeom>
          <a:noFill/>
          <a:ln/>
        </p:spPr>
        <p:txBody>
          <a:bodyPr wrap="square" lIns="0" tIns="0" rIns="0" bIns="0" rtlCol="0" anchor="t"/>
          <a:lstStyle/>
          <a:p>
            <a:pPr algn="r" indent="0" marL="0">
              <a:buNone/>
            </a:pPr>
            <a:r>
              <a:rPr lang="en-US" sz="1300" dirty="0">
                <a:solidFill>
                  <a:srgbClr val="595959"/>
                </a:solidFill>
                <a:latin typeface="Inter" pitchFamily="34" charset="0"/>
                <a:ea typeface="Inter" pitchFamily="34" charset="-122"/>
                <a:cs typeface="Inter" pitchFamily="34" charset="-120"/>
              </a:rPr>
              <a:t>+$345K</a:t>
            </a:r>
            <a:endParaRPr lang="en-US" sz="1300" dirty="0"/>
          </a:p>
        </p:txBody>
      </p:sp>
      <p:sp>
        <p:nvSpPr>
          <p:cNvPr id="16" name="Text 13"/>
          <p:cNvSpPr txBox="1"/>
          <p:nvPr/>
        </p:nvSpPr>
        <p:spPr>
          <a:xfrm>
            <a:off x="749808" y="2697480"/>
            <a:ext cx="365760" cy="886968"/>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2</a:t>
            </a:r>
            <a:endParaRPr lang="en-US" sz="1500" dirty="0"/>
          </a:p>
        </p:txBody>
      </p:sp>
      <p:sp>
        <p:nvSpPr>
          <p:cNvPr id="17" name="Text 14"/>
          <p:cNvSpPr txBox="1"/>
          <p:nvPr/>
        </p:nvSpPr>
        <p:spPr>
          <a:xfrm>
            <a:off x="1097280" y="2741828"/>
            <a:ext cx="2959608" cy="461223"/>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LINCOLN</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$1.61M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$2.09M</a:t>
            </a:r>
            <a:endParaRPr lang="en-US" sz="1400" dirty="0"/>
          </a:p>
        </p:txBody>
      </p:sp>
      <p:graphicFrame>
        <p:nvGraphicFramePr>
          <p:cNvPr id="18" name="Chart 1" descr=""/>
          <p:cNvGraphicFramePr/>
          <p:nvPr/>
        </p:nvGraphicFramePr>
        <p:xfrm>
          <a:off x="1097280" y="3229661"/>
          <a:ext cx="1972056" cy="301569"/>
        </p:xfrm>
        <a:graphic xmlns:a="http://schemas.openxmlformats.org/drawingml/2006/main">
          <a:graphicData uri="http://schemas.openxmlformats.org/drawingml/2006/chart">
            <c:chart xmlns:c="http://schemas.openxmlformats.org/drawingml/2006/chart" r:id="rId2"/>
          </a:graphicData>
        </a:graphic>
      </p:graphicFrame>
      <p:sp>
        <p:nvSpPr>
          <p:cNvPr id="19" name="Text 15"/>
          <p:cNvSpPr txBox="1"/>
          <p:nvPr/>
        </p:nvSpPr>
        <p:spPr>
          <a:xfrm>
            <a:off x="3160776" y="2963570"/>
            <a:ext cx="896112" cy="319308"/>
          </a:xfrm>
          <a:prstGeom prst="rect">
            <a:avLst/>
          </a:prstGeom>
          <a:noFill/>
          <a:ln/>
        </p:spPr>
        <p:txBody>
          <a:bodyPr wrap="square" lIns="0" tIns="0" rIns="0" bIns="0" rtlCol="0" anchor="b"/>
          <a:lstStyle/>
          <a:p>
            <a:pPr algn="r" indent="0" marL="0">
              <a:buNone/>
            </a:pPr>
            <a:r>
              <a:rPr lang="en-US" sz="1600" b="1" dirty="0">
                <a:solidFill>
                  <a:srgbClr val="0B7A4A"/>
                </a:solidFill>
                <a:latin typeface="Inter" pitchFamily="34" charset="0"/>
                <a:ea typeface="Inter" pitchFamily="34" charset="-122"/>
                <a:cs typeface="Inter" pitchFamily="34" charset="-120"/>
              </a:rPr>
              <a:t>+29.5%</a:t>
            </a:r>
            <a:endParaRPr lang="en-US" sz="1600" dirty="0"/>
          </a:p>
        </p:txBody>
      </p:sp>
      <p:sp>
        <p:nvSpPr>
          <p:cNvPr id="20" name="Text 16"/>
          <p:cNvSpPr txBox="1"/>
          <p:nvPr/>
        </p:nvSpPr>
        <p:spPr>
          <a:xfrm>
            <a:off x="3160776" y="3282879"/>
            <a:ext cx="896112" cy="239481"/>
          </a:xfrm>
          <a:prstGeom prst="rect">
            <a:avLst/>
          </a:prstGeom>
          <a:noFill/>
          <a:ln/>
        </p:spPr>
        <p:txBody>
          <a:bodyPr wrap="square" lIns="0" tIns="0" rIns="0" bIns="0" rtlCol="0" anchor="t"/>
          <a:lstStyle/>
          <a:p>
            <a:pPr algn="r" indent="0" marL="0">
              <a:buNone/>
            </a:pPr>
            <a:r>
              <a:rPr lang="en-US" sz="1300" dirty="0">
                <a:solidFill>
                  <a:srgbClr val="595959"/>
                </a:solidFill>
                <a:latin typeface="Inter" pitchFamily="34" charset="0"/>
                <a:ea typeface="Inter" pitchFamily="34" charset="-122"/>
                <a:cs typeface="Inter" pitchFamily="34" charset="-120"/>
              </a:rPr>
              <a:t>+$475K</a:t>
            </a:r>
            <a:endParaRPr lang="en-US" sz="1300" dirty="0"/>
          </a:p>
        </p:txBody>
      </p:sp>
      <p:sp>
        <p:nvSpPr>
          <p:cNvPr id="21" name="Shape 17"/>
          <p:cNvSpPr/>
          <p:nvPr/>
        </p:nvSpPr>
        <p:spPr>
          <a:xfrm>
            <a:off x="658368" y="3584448"/>
            <a:ext cx="3489960" cy="886968"/>
          </a:xfrm>
          <a:prstGeom prst="rect">
            <a:avLst/>
          </a:prstGeom>
          <a:solidFill>
            <a:srgbClr val="F7F7F7"/>
          </a:solidFill>
          <a:ln/>
        </p:spPr>
      </p:sp>
      <p:sp>
        <p:nvSpPr>
          <p:cNvPr id="22" name="Text 18"/>
          <p:cNvSpPr txBox="1"/>
          <p:nvPr/>
        </p:nvSpPr>
        <p:spPr>
          <a:xfrm>
            <a:off x="749808" y="3584448"/>
            <a:ext cx="365760" cy="886968"/>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3</a:t>
            </a:r>
            <a:endParaRPr lang="en-US" sz="1500" dirty="0"/>
          </a:p>
        </p:txBody>
      </p:sp>
      <p:sp>
        <p:nvSpPr>
          <p:cNvPr id="23" name="Text 19"/>
          <p:cNvSpPr txBox="1"/>
          <p:nvPr/>
        </p:nvSpPr>
        <p:spPr>
          <a:xfrm>
            <a:off x="1097280" y="3628796"/>
            <a:ext cx="2959608" cy="461223"/>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LEXUS</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$2.31M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$2.95M</a:t>
            </a:r>
            <a:endParaRPr lang="en-US" sz="1400" dirty="0"/>
          </a:p>
        </p:txBody>
      </p:sp>
      <p:graphicFrame>
        <p:nvGraphicFramePr>
          <p:cNvPr id="24" name="Chart 2" descr=""/>
          <p:cNvGraphicFramePr/>
          <p:nvPr/>
        </p:nvGraphicFramePr>
        <p:xfrm>
          <a:off x="1097280" y="4116629"/>
          <a:ext cx="1972056" cy="301569"/>
        </p:xfrm>
        <a:graphic xmlns:a="http://schemas.openxmlformats.org/drawingml/2006/main">
          <a:graphicData uri="http://schemas.openxmlformats.org/drawingml/2006/chart">
            <c:chart xmlns:c="http://schemas.openxmlformats.org/drawingml/2006/chart" r:id="rId3"/>
          </a:graphicData>
        </a:graphic>
      </p:graphicFrame>
      <p:sp>
        <p:nvSpPr>
          <p:cNvPr id="25" name="Text 20"/>
          <p:cNvSpPr txBox="1"/>
          <p:nvPr/>
        </p:nvSpPr>
        <p:spPr>
          <a:xfrm>
            <a:off x="3160776" y="3850538"/>
            <a:ext cx="896112" cy="319308"/>
          </a:xfrm>
          <a:prstGeom prst="rect">
            <a:avLst/>
          </a:prstGeom>
          <a:noFill/>
          <a:ln/>
        </p:spPr>
        <p:txBody>
          <a:bodyPr wrap="square" lIns="0" tIns="0" rIns="0" bIns="0" rtlCol="0" anchor="b"/>
          <a:lstStyle/>
          <a:p>
            <a:pPr algn="r" indent="0" marL="0">
              <a:buNone/>
            </a:pPr>
            <a:r>
              <a:rPr lang="en-US" sz="1600" b="1" dirty="0">
                <a:solidFill>
                  <a:srgbClr val="0B7A4A"/>
                </a:solidFill>
                <a:latin typeface="Inter" pitchFamily="34" charset="0"/>
                <a:ea typeface="Inter" pitchFamily="34" charset="-122"/>
                <a:cs typeface="Inter" pitchFamily="34" charset="-120"/>
              </a:rPr>
              <a:t>+27.7%</a:t>
            </a:r>
            <a:endParaRPr lang="en-US" sz="1600" dirty="0"/>
          </a:p>
        </p:txBody>
      </p:sp>
      <p:sp>
        <p:nvSpPr>
          <p:cNvPr id="26" name="Text 21"/>
          <p:cNvSpPr txBox="1"/>
          <p:nvPr/>
        </p:nvSpPr>
        <p:spPr>
          <a:xfrm>
            <a:off x="3160776" y="4169847"/>
            <a:ext cx="896112" cy="239481"/>
          </a:xfrm>
          <a:prstGeom prst="rect">
            <a:avLst/>
          </a:prstGeom>
          <a:noFill/>
          <a:ln/>
        </p:spPr>
        <p:txBody>
          <a:bodyPr wrap="square" lIns="0" tIns="0" rIns="0" bIns="0" rtlCol="0" anchor="t"/>
          <a:lstStyle/>
          <a:p>
            <a:pPr algn="r" indent="0" marL="0">
              <a:buNone/>
            </a:pPr>
            <a:r>
              <a:rPr lang="en-US" sz="1300" dirty="0">
                <a:solidFill>
                  <a:srgbClr val="595959"/>
                </a:solidFill>
                <a:latin typeface="Inter" pitchFamily="34" charset="0"/>
                <a:ea typeface="Inter" pitchFamily="34" charset="-122"/>
                <a:cs typeface="Inter" pitchFamily="34" charset="-120"/>
              </a:rPr>
              <a:t>+$639K</a:t>
            </a:r>
            <a:endParaRPr lang="en-US" sz="1300" dirty="0"/>
          </a:p>
        </p:txBody>
      </p:sp>
      <p:sp>
        <p:nvSpPr>
          <p:cNvPr id="27" name="Text 22"/>
          <p:cNvSpPr txBox="1"/>
          <p:nvPr/>
        </p:nvSpPr>
        <p:spPr>
          <a:xfrm>
            <a:off x="749808" y="4471416"/>
            <a:ext cx="365760" cy="886968"/>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4</a:t>
            </a:r>
            <a:endParaRPr lang="en-US" sz="1500" dirty="0"/>
          </a:p>
        </p:txBody>
      </p:sp>
      <p:sp>
        <p:nvSpPr>
          <p:cNvPr id="28" name="Text 23"/>
          <p:cNvSpPr txBox="1"/>
          <p:nvPr/>
        </p:nvSpPr>
        <p:spPr>
          <a:xfrm>
            <a:off x="1097280" y="4515764"/>
            <a:ext cx="2959608" cy="461223"/>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HYUNDAI ST GEORGE</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$1.14M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$1.46M</a:t>
            </a:r>
            <a:endParaRPr lang="en-US" sz="1400" dirty="0"/>
          </a:p>
        </p:txBody>
      </p:sp>
      <p:graphicFrame>
        <p:nvGraphicFramePr>
          <p:cNvPr id="29" name="Chart 3" descr=""/>
          <p:cNvGraphicFramePr/>
          <p:nvPr/>
        </p:nvGraphicFramePr>
        <p:xfrm>
          <a:off x="1097280" y="5003597"/>
          <a:ext cx="1972056" cy="301569"/>
        </p:xfrm>
        <a:graphic xmlns:a="http://schemas.openxmlformats.org/drawingml/2006/main">
          <a:graphicData uri="http://schemas.openxmlformats.org/drawingml/2006/chart">
            <c:chart xmlns:c="http://schemas.openxmlformats.org/drawingml/2006/chart" r:id="rId4"/>
          </a:graphicData>
        </a:graphic>
      </p:graphicFrame>
      <p:sp>
        <p:nvSpPr>
          <p:cNvPr id="30" name="Text 24"/>
          <p:cNvSpPr txBox="1"/>
          <p:nvPr/>
        </p:nvSpPr>
        <p:spPr>
          <a:xfrm>
            <a:off x="3160776" y="4737506"/>
            <a:ext cx="896112" cy="319308"/>
          </a:xfrm>
          <a:prstGeom prst="rect">
            <a:avLst/>
          </a:prstGeom>
          <a:noFill/>
          <a:ln/>
        </p:spPr>
        <p:txBody>
          <a:bodyPr wrap="square" lIns="0" tIns="0" rIns="0" bIns="0" rtlCol="0" anchor="b"/>
          <a:lstStyle/>
          <a:p>
            <a:pPr algn="r" indent="0" marL="0">
              <a:buNone/>
            </a:pPr>
            <a:r>
              <a:rPr lang="en-US" sz="1600" b="1" dirty="0">
                <a:solidFill>
                  <a:srgbClr val="0B7A4A"/>
                </a:solidFill>
                <a:latin typeface="Inter" pitchFamily="34" charset="0"/>
                <a:ea typeface="Inter" pitchFamily="34" charset="-122"/>
                <a:cs typeface="Inter" pitchFamily="34" charset="-120"/>
              </a:rPr>
              <a:t>+27.5%</a:t>
            </a:r>
            <a:endParaRPr lang="en-US" sz="1600" dirty="0"/>
          </a:p>
        </p:txBody>
      </p:sp>
      <p:sp>
        <p:nvSpPr>
          <p:cNvPr id="31" name="Text 25"/>
          <p:cNvSpPr txBox="1"/>
          <p:nvPr/>
        </p:nvSpPr>
        <p:spPr>
          <a:xfrm>
            <a:off x="3160776" y="5056815"/>
            <a:ext cx="896112" cy="239481"/>
          </a:xfrm>
          <a:prstGeom prst="rect">
            <a:avLst/>
          </a:prstGeom>
          <a:noFill/>
          <a:ln/>
        </p:spPr>
        <p:txBody>
          <a:bodyPr wrap="square" lIns="0" tIns="0" rIns="0" bIns="0" rtlCol="0" anchor="t"/>
          <a:lstStyle/>
          <a:p>
            <a:pPr algn="r" indent="0" marL="0">
              <a:buNone/>
            </a:pPr>
            <a:r>
              <a:rPr lang="en-US" sz="1300" dirty="0">
                <a:solidFill>
                  <a:srgbClr val="595959"/>
                </a:solidFill>
                <a:latin typeface="Inter" pitchFamily="34" charset="0"/>
                <a:ea typeface="Inter" pitchFamily="34" charset="-122"/>
                <a:cs typeface="Inter" pitchFamily="34" charset="-120"/>
              </a:rPr>
              <a:t>+$315K</a:t>
            </a:r>
            <a:endParaRPr lang="en-US" sz="1300" dirty="0"/>
          </a:p>
        </p:txBody>
      </p:sp>
      <p:sp>
        <p:nvSpPr>
          <p:cNvPr id="32" name="Shape 26"/>
          <p:cNvSpPr/>
          <p:nvPr/>
        </p:nvSpPr>
        <p:spPr>
          <a:xfrm>
            <a:off x="658368" y="5358384"/>
            <a:ext cx="3489960" cy="886968"/>
          </a:xfrm>
          <a:prstGeom prst="rect">
            <a:avLst/>
          </a:prstGeom>
          <a:solidFill>
            <a:srgbClr val="F7F7F7"/>
          </a:solidFill>
          <a:ln/>
        </p:spPr>
      </p:sp>
      <p:sp>
        <p:nvSpPr>
          <p:cNvPr id="33" name="Text 27"/>
          <p:cNvSpPr txBox="1"/>
          <p:nvPr/>
        </p:nvSpPr>
        <p:spPr>
          <a:xfrm>
            <a:off x="749808" y="5358384"/>
            <a:ext cx="365760" cy="886968"/>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5</a:t>
            </a:r>
            <a:endParaRPr lang="en-US" sz="1500" dirty="0"/>
          </a:p>
        </p:txBody>
      </p:sp>
      <p:sp>
        <p:nvSpPr>
          <p:cNvPr id="34" name="Text 28"/>
          <p:cNvSpPr txBox="1"/>
          <p:nvPr/>
        </p:nvSpPr>
        <p:spPr>
          <a:xfrm>
            <a:off x="1097280" y="5402732"/>
            <a:ext cx="2959608" cy="461223"/>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TOYOTA PRESCOTT</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$3.01M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$3.63M</a:t>
            </a:r>
            <a:endParaRPr lang="en-US" sz="1400" dirty="0"/>
          </a:p>
        </p:txBody>
      </p:sp>
      <p:graphicFrame>
        <p:nvGraphicFramePr>
          <p:cNvPr id="35" name="Chart 4" descr=""/>
          <p:cNvGraphicFramePr/>
          <p:nvPr/>
        </p:nvGraphicFramePr>
        <p:xfrm>
          <a:off x="1097280" y="5890565"/>
          <a:ext cx="1972056" cy="301569"/>
        </p:xfrm>
        <a:graphic xmlns:a="http://schemas.openxmlformats.org/drawingml/2006/main">
          <a:graphicData uri="http://schemas.openxmlformats.org/drawingml/2006/chart">
            <c:chart xmlns:c="http://schemas.openxmlformats.org/drawingml/2006/chart" r:id="rId5"/>
          </a:graphicData>
        </a:graphic>
      </p:graphicFrame>
      <p:sp>
        <p:nvSpPr>
          <p:cNvPr id="36" name="Text 29"/>
          <p:cNvSpPr txBox="1"/>
          <p:nvPr/>
        </p:nvSpPr>
        <p:spPr>
          <a:xfrm>
            <a:off x="3160776" y="5624474"/>
            <a:ext cx="896112" cy="319308"/>
          </a:xfrm>
          <a:prstGeom prst="rect">
            <a:avLst/>
          </a:prstGeom>
          <a:noFill/>
          <a:ln/>
        </p:spPr>
        <p:txBody>
          <a:bodyPr wrap="square" lIns="0" tIns="0" rIns="0" bIns="0" rtlCol="0" anchor="b"/>
          <a:lstStyle/>
          <a:p>
            <a:pPr algn="r" indent="0" marL="0">
              <a:buNone/>
            </a:pPr>
            <a:r>
              <a:rPr lang="en-US" sz="1600" b="1" dirty="0">
                <a:solidFill>
                  <a:srgbClr val="0B7A4A"/>
                </a:solidFill>
                <a:latin typeface="Inter" pitchFamily="34" charset="0"/>
                <a:ea typeface="Inter" pitchFamily="34" charset="-122"/>
                <a:cs typeface="Inter" pitchFamily="34" charset="-120"/>
              </a:rPr>
              <a:t>+20.5%</a:t>
            </a:r>
            <a:endParaRPr lang="en-US" sz="1600" dirty="0"/>
          </a:p>
        </p:txBody>
      </p:sp>
      <p:sp>
        <p:nvSpPr>
          <p:cNvPr id="37" name="Text 30"/>
          <p:cNvSpPr txBox="1"/>
          <p:nvPr/>
        </p:nvSpPr>
        <p:spPr>
          <a:xfrm>
            <a:off x="3160776" y="5943783"/>
            <a:ext cx="896112" cy="239481"/>
          </a:xfrm>
          <a:prstGeom prst="rect">
            <a:avLst/>
          </a:prstGeom>
          <a:noFill/>
          <a:ln/>
        </p:spPr>
        <p:txBody>
          <a:bodyPr wrap="square" lIns="0" tIns="0" rIns="0" bIns="0" rtlCol="0" anchor="t"/>
          <a:lstStyle/>
          <a:p>
            <a:pPr algn="r" indent="0" marL="0">
              <a:buNone/>
            </a:pPr>
            <a:r>
              <a:rPr lang="en-US" sz="1300" dirty="0">
                <a:solidFill>
                  <a:srgbClr val="595959"/>
                </a:solidFill>
                <a:latin typeface="Inter" pitchFamily="34" charset="0"/>
                <a:ea typeface="Inter" pitchFamily="34" charset="-122"/>
                <a:cs typeface="Inter" pitchFamily="34" charset="-120"/>
              </a:rPr>
              <a:t>+$619K</a:t>
            </a:r>
            <a:endParaRPr lang="en-US" sz="1300" dirty="0"/>
          </a:p>
        </p:txBody>
      </p:sp>
      <p:sp>
        <p:nvSpPr>
          <p:cNvPr id="38" name="Shape 31"/>
          <p:cNvSpPr/>
          <p:nvPr/>
        </p:nvSpPr>
        <p:spPr>
          <a:xfrm>
            <a:off x="4349496" y="1371600"/>
            <a:ext cx="3489960" cy="45720"/>
          </a:xfrm>
          <a:prstGeom prst="rect">
            <a:avLst/>
          </a:prstGeom>
          <a:solidFill>
            <a:srgbClr val="C2352F"/>
          </a:solidFill>
          <a:ln/>
        </p:spPr>
      </p:sp>
      <p:sp>
        <p:nvSpPr>
          <p:cNvPr id="39" name="Text 32"/>
          <p:cNvSpPr txBox="1"/>
          <p:nvPr/>
        </p:nvSpPr>
        <p:spPr>
          <a:xfrm>
            <a:off x="4440936" y="1444752"/>
            <a:ext cx="3307080" cy="274320"/>
          </a:xfrm>
          <a:prstGeom prst="rect">
            <a:avLst/>
          </a:prstGeom>
          <a:noFill/>
          <a:ln/>
        </p:spPr>
        <p:txBody>
          <a:bodyPr wrap="square" lIns="0" tIns="0" rIns="0" bIns="0" rtlCol="0" anchor="ctr"/>
          <a:lstStyle/>
          <a:p>
            <a:pPr indent="0" marL="0">
              <a:buNone/>
            </a:pPr>
            <a:r>
              <a:rPr lang="en-US" sz="1500" b="1" spc="100" kern="0" dirty="0">
                <a:solidFill>
                  <a:srgbClr val="A82B26"/>
                </a:solidFill>
                <a:latin typeface="Inter" pitchFamily="34" charset="0"/>
                <a:ea typeface="Inter" pitchFamily="34" charset="-122"/>
                <a:cs typeface="Inter" pitchFamily="34" charset="-120"/>
              </a:rPr>
              <a:t>BOTTOM 5 VS LAST YEAR</a:t>
            </a:r>
            <a:endParaRPr lang="en-US" sz="1500" dirty="0"/>
          </a:p>
        </p:txBody>
      </p:sp>
      <p:sp>
        <p:nvSpPr>
          <p:cNvPr id="40" name="Shape 33"/>
          <p:cNvSpPr/>
          <p:nvPr/>
        </p:nvSpPr>
        <p:spPr>
          <a:xfrm>
            <a:off x="4349496" y="1810512"/>
            <a:ext cx="3489960" cy="886968"/>
          </a:xfrm>
          <a:prstGeom prst="rect">
            <a:avLst/>
          </a:prstGeom>
          <a:solidFill>
            <a:srgbClr val="F7F7F7"/>
          </a:solidFill>
          <a:ln/>
        </p:spPr>
      </p:sp>
      <p:sp>
        <p:nvSpPr>
          <p:cNvPr id="41" name="Text 34"/>
          <p:cNvSpPr txBox="1"/>
          <p:nvPr/>
        </p:nvSpPr>
        <p:spPr>
          <a:xfrm>
            <a:off x="4440936" y="1810512"/>
            <a:ext cx="365760" cy="886968"/>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33</a:t>
            </a:r>
            <a:endParaRPr lang="en-US" sz="1500" dirty="0"/>
          </a:p>
        </p:txBody>
      </p:sp>
      <p:sp>
        <p:nvSpPr>
          <p:cNvPr id="42" name="Text 35"/>
          <p:cNvSpPr txBox="1"/>
          <p:nvPr/>
        </p:nvSpPr>
        <p:spPr>
          <a:xfrm>
            <a:off x="4788408" y="1854860"/>
            <a:ext cx="2959608" cy="461223"/>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ACURA</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$2.33M  →  </a:t>
            </a:r>
            <a:pPr indent="0" marL="0">
              <a:spcAft>
                <a:spcPts val="200"/>
              </a:spcAft>
              <a:buNone/>
            </a:pPr>
            <a:r>
              <a:rPr lang="en-US" sz="1200" b="1" dirty="0">
                <a:solidFill>
                  <a:srgbClr val="A82B26"/>
                </a:solidFill>
                <a:latin typeface="Inter" pitchFamily="34" charset="0"/>
                <a:ea typeface="Inter" pitchFamily="34" charset="-122"/>
                <a:cs typeface="Inter" pitchFamily="34" charset="-120"/>
              </a:rPr>
              <a:t>$1.89M</a:t>
            </a:r>
            <a:endParaRPr lang="en-US" sz="1400" dirty="0"/>
          </a:p>
        </p:txBody>
      </p:sp>
      <p:graphicFrame>
        <p:nvGraphicFramePr>
          <p:cNvPr id="43" name="Chart 5" descr=""/>
          <p:cNvGraphicFramePr/>
          <p:nvPr/>
        </p:nvGraphicFramePr>
        <p:xfrm>
          <a:off x="4788408" y="2342693"/>
          <a:ext cx="1972056" cy="301569"/>
        </p:xfrm>
        <a:graphic xmlns:a="http://schemas.openxmlformats.org/drawingml/2006/main">
          <a:graphicData uri="http://schemas.openxmlformats.org/drawingml/2006/chart">
            <c:chart xmlns:c="http://schemas.openxmlformats.org/drawingml/2006/chart" r:id="rId6"/>
          </a:graphicData>
        </a:graphic>
      </p:graphicFrame>
      <p:sp>
        <p:nvSpPr>
          <p:cNvPr id="44" name="Text 36"/>
          <p:cNvSpPr txBox="1"/>
          <p:nvPr/>
        </p:nvSpPr>
        <p:spPr>
          <a:xfrm>
            <a:off x="6851904" y="2076602"/>
            <a:ext cx="896112" cy="319308"/>
          </a:xfrm>
          <a:prstGeom prst="rect">
            <a:avLst/>
          </a:prstGeom>
          <a:noFill/>
          <a:ln/>
        </p:spPr>
        <p:txBody>
          <a:bodyPr wrap="square" lIns="0" tIns="0" rIns="0" bIns="0" rtlCol="0" anchor="b"/>
          <a:lstStyle/>
          <a:p>
            <a:pPr algn="r" indent="0" marL="0">
              <a:buNone/>
            </a:pPr>
            <a:r>
              <a:rPr lang="en-US" sz="1600" b="1" dirty="0">
                <a:solidFill>
                  <a:srgbClr val="A82B26"/>
                </a:solidFill>
                <a:latin typeface="Inter" pitchFamily="34" charset="0"/>
                <a:ea typeface="Inter" pitchFamily="34" charset="-122"/>
                <a:cs typeface="Inter" pitchFamily="34" charset="-120"/>
              </a:rPr>
              <a:t>−18.8%</a:t>
            </a:r>
            <a:endParaRPr lang="en-US" sz="1600" dirty="0"/>
          </a:p>
        </p:txBody>
      </p:sp>
      <p:sp>
        <p:nvSpPr>
          <p:cNvPr id="45" name="Text 37"/>
          <p:cNvSpPr txBox="1"/>
          <p:nvPr/>
        </p:nvSpPr>
        <p:spPr>
          <a:xfrm>
            <a:off x="6851904" y="2395911"/>
            <a:ext cx="896112" cy="239481"/>
          </a:xfrm>
          <a:prstGeom prst="rect">
            <a:avLst/>
          </a:prstGeom>
          <a:noFill/>
          <a:ln/>
        </p:spPr>
        <p:txBody>
          <a:bodyPr wrap="square" lIns="0" tIns="0" rIns="0" bIns="0" rtlCol="0" anchor="t"/>
          <a:lstStyle/>
          <a:p>
            <a:pPr algn="r" indent="0" marL="0">
              <a:buNone/>
            </a:pPr>
            <a:r>
              <a:rPr lang="en-US" sz="1300" dirty="0">
                <a:solidFill>
                  <a:srgbClr val="595959"/>
                </a:solidFill>
                <a:latin typeface="Inter" pitchFamily="34" charset="0"/>
                <a:ea typeface="Inter" pitchFamily="34" charset="-122"/>
                <a:cs typeface="Inter" pitchFamily="34" charset="-120"/>
              </a:rPr>
              <a:t>−$438K</a:t>
            </a:r>
            <a:endParaRPr lang="en-US" sz="1300" dirty="0"/>
          </a:p>
        </p:txBody>
      </p:sp>
      <p:sp>
        <p:nvSpPr>
          <p:cNvPr id="46" name="Text 38"/>
          <p:cNvSpPr txBox="1"/>
          <p:nvPr/>
        </p:nvSpPr>
        <p:spPr>
          <a:xfrm>
            <a:off x="4440936" y="2697480"/>
            <a:ext cx="365760" cy="886968"/>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32</a:t>
            </a:r>
            <a:endParaRPr lang="en-US" sz="1500" dirty="0"/>
          </a:p>
        </p:txBody>
      </p:sp>
      <p:sp>
        <p:nvSpPr>
          <p:cNvPr id="47" name="Text 39"/>
          <p:cNvSpPr txBox="1"/>
          <p:nvPr/>
        </p:nvSpPr>
        <p:spPr>
          <a:xfrm>
            <a:off x="4788408" y="2741828"/>
            <a:ext cx="2959608" cy="461223"/>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VW ST GEORGE</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$724K  →  </a:t>
            </a:r>
            <a:pPr indent="0" marL="0">
              <a:spcAft>
                <a:spcPts val="200"/>
              </a:spcAft>
              <a:buNone/>
            </a:pPr>
            <a:r>
              <a:rPr lang="en-US" sz="1200" b="1" dirty="0">
                <a:solidFill>
                  <a:srgbClr val="A82B26"/>
                </a:solidFill>
                <a:latin typeface="Inter" pitchFamily="34" charset="0"/>
                <a:ea typeface="Inter" pitchFamily="34" charset="-122"/>
                <a:cs typeface="Inter" pitchFamily="34" charset="-120"/>
              </a:rPr>
              <a:t>$588K</a:t>
            </a:r>
            <a:endParaRPr lang="en-US" sz="1400" dirty="0"/>
          </a:p>
        </p:txBody>
      </p:sp>
      <p:graphicFrame>
        <p:nvGraphicFramePr>
          <p:cNvPr id="48" name="Chart 6" descr=""/>
          <p:cNvGraphicFramePr/>
          <p:nvPr/>
        </p:nvGraphicFramePr>
        <p:xfrm>
          <a:off x="4788408" y="3229661"/>
          <a:ext cx="1972056" cy="301569"/>
        </p:xfrm>
        <a:graphic xmlns:a="http://schemas.openxmlformats.org/drawingml/2006/main">
          <a:graphicData uri="http://schemas.openxmlformats.org/drawingml/2006/chart">
            <c:chart xmlns:c="http://schemas.openxmlformats.org/drawingml/2006/chart" r:id="rId7"/>
          </a:graphicData>
        </a:graphic>
      </p:graphicFrame>
      <p:sp>
        <p:nvSpPr>
          <p:cNvPr id="49" name="Text 40"/>
          <p:cNvSpPr txBox="1"/>
          <p:nvPr/>
        </p:nvSpPr>
        <p:spPr>
          <a:xfrm>
            <a:off x="6851904" y="2963570"/>
            <a:ext cx="896112" cy="319308"/>
          </a:xfrm>
          <a:prstGeom prst="rect">
            <a:avLst/>
          </a:prstGeom>
          <a:noFill/>
          <a:ln/>
        </p:spPr>
        <p:txBody>
          <a:bodyPr wrap="square" lIns="0" tIns="0" rIns="0" bIns="0" rtlCol="0" anchor="b"/>
          <a:lstStyle/>
          <a:p>
            <a:pPr algn="r" indent="0" marL="0">
              <a:buNone/>
            </a:pPr>
            <a:r>
              <a:rPr lang="en-US" sz="1600" b="1" dirty="0">
                <a:solidFill>
                  <a:srgbClr val="A82B26"/>
                </a:solidFill>
                <a:latin typeface="Inter" pitchFamily="34" charset="0"/>
                <a:ea typeface="Inter" pitchFamily="34" charset="-122"/>
                <a:cs typeface="Inter" pitchFamily="34" charset="-120"/>
              </a:rPr>
              <a:t>−18.7%</a:t>
            </a:r>
            <a:endParaRPr lang="en-US" sz="1600" dirty="0"/>
          </a:p>
        </p:txBody>
      </p:sp>
      <p:sp>
        <p:nvSpPr>
          <p:cNvPr id="50" name="Text 41"/>
          <p:cNvSpPr txBox="1"/>
          <p:nvPr/>
        </p:nvSpPr>
        <p:spPr>
          <a:xfrm>
            <a:off x="6851904" y="3282879"/>
            <a:ext cx="896112" cy="239481"/>
          </a:xfrm>
          <a:prstGeom prst="rect">
            <a:avLst/>
          </a:prstGeom>
          <a:noFill/>
          <a:ln/>
        </p:spPr>
        <p:txBody>
          <a:bodyPr wrap="square" lIns="0" tIns="0" rIns="0" bIns="0" rtlCol="0" anchor="t"/>
          <a:lstStyle/>
          <a:p>
            <a:pPr algn="r" indent="0" marL="0">
              <a:buNone/>
            </a:pPr>
            <a:r>
              <a:rPr lang="en-US" sz="1300" dirty="0">
                <a:solidFill>
                  <a:srgbClr val="595959"/>
                </a:solidFill>
                <a:latin typeface="Inter" pitchFamily="34" charset="0"/>
                <a:ea typeface="Inter" pitchFamily="34" charset="-122"/>
                <a:cs typeface="Inter" pitchFamily="34" charset="-120"/>
              </a:rPr>
              <a:t>−$135K</a:t>
            </a:r>
            <a:endParaRPr lang="en-US" sz="1300" dirty="0"/>
          </a:p>
        </p:txBody>
      </p:sp>
      <p:sp>
        <p:nvSpPr>
          <p:cNvPr id="51" name="Shape 42"/>
          <p:cNvSpPr/>
          <p:nvPr/>
        </p:nvSpPr>
        <p:spPr>
          <a:xfrm>
            <a:off x="4349496" y="3584448"/>
            <a:ext cx="3489960" cy="886968"/>
          </a:xfrm>
          <a:prstGeom prst="rect">
            <a:avLst/>
          </a:prstGeom>
          <a:solidFill>
            <a:srgbClr val="F7F7F7"/>
          </a:solidFill>
          <a:ln/>
        </p:spPr>
      </p:sp>
      <p:sp>
        <p:nvSpPr>
          <p:cNvPr id="52" name="Text 43"/>
          <p:cNvSpPr txBox="1"/>
          <p:nvPr/>
        </p:nvSpPr>
        <p:spPr>
          <a:xfrm>
            <a:off x="4440936" y="3584448"/>
            <a:ext cx="365760" cy="886968"/>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31</a:t>
            </a:r>
            <a:endParaRPr lang="en-US" sz="1500" dirty="0"/>
          </a:p>
        </p:txBody>
      </p:sp>
      <p:sp>
        <p:nvSpPr>
          <p:cNvPr id="53" name="Text 44"/>
          <p:cNvSpPr txBox="1"/>
          <p:nvPr/>
        </p:nvSpPr>
        <p:spPr>
          <a:xfrm>
            <a:off x="4788408" y="3628796"/>
            <a:ext cx="2959608" cy="461223"/>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VW HENDERSON</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$4.05M  →  </a:t>
            </a:r>
            <a:pPr indent="0" marL="0">
              <a:spcAft>
                <a:spcPts val="200"/>
              </a:spcAft>
              <a:buNone/>
            </a:pPr>
            <a:r>
              <a:rPr lang="en-US" sz="1200" b="1" dirty="0">
                <a:solidFill>
                  <a:srgbClr val="A82B26"/>
                </a:solidFill>
                <a:latin typeface="Inter" pitchFamily="34" charset="0"/>
                <a:ea typeface="Inter" pitchFamily="34" charset="-122"/>
                <a:cs typeface="Inter" pitchFamily="34" charset="-120"/>
              </a:rPr>
              <a:t>$3.50M</a:t>
            </a:r>
            <a:endParaRPr lang="en-US" sz="1400" dirty="0"/>
          </a:p>
        </p:txBody>
      </p:sp>
      <p:graphicFrame>
        <p:nvGraphicFramePr>
          <p:cNvPr id="54" name="Chart 7" descr=""/>
          <p:cNvGraphicFramePr/>
          <p:nvPr/>
        </p:nvGraphicFramePr>
        <p:xfrm>
          <a:off x="4788408" y="4116629"/>
          <a:ext cx="1972056" cy="301569"/>
        </p:xfrm>
        <a:graphic xmlns:a="http://schemas.openxmlformats.org/drawingml/2006/main">
          <a:graphicData uri="http://schemas.openxmlformats.org/drawingml/2006/chart">
            <c:chart xmlns:c="http://schemas.openxmlformats.org/drawingml/2006/chart" r:id="rId8"/>
          </a:graphicData>
        </a:graphic>
      </p:graphicFrame>
      <p:sp>
        <p:nvSpPr>
          <p:cNvPr id="55" name="Text 45"/>
          <p:cNvSpPr txBox="1"/>
          <p:nvPr/>
        </p:nvSpPr>
        <p:spPr>
          <a:xfrm>
            <a:off x="6851904" y="3850538"/>
            <a:ext cx="896112" cy="319308"/>
          </a:xfrm>
          <a:prstGeom prst="rect">
            <a:avLst/>
          </a:prstGeom>
          <a:noFill/>
          <a:ln/>
        </p:spPr>
        <p:txBody>
          <a:bodyPr wrap="square" lIns="0" tIns="0" rIns="0" bIns="0" rtlCol="0" anchor="b"/>
          <a:lstStyle/>
          <a:p>
            <a:pPr algn="r" indent="0" marL="0">
              <a:buNone/>
            </a:pPr>
            <a:r>
              <a:rPr lang="en-US" sz="1600" b="1" dirty="0">
                <a:solidFill>
                  <a:srgbClr val="A82B26"/>
                </a:solidFill>
                <a:latin typeface="Inter" pitchFamily="34" charset="0"/>
                <a:ea typeface="Inter" pitchFamily="34" charset="-122"/>
                <a:cs typeface="Inter" pitchFamily="34" charset="-120"/>
              </a:rPr>
              <a:t>−13.5%</a:t>
            </a:r>
            <a:endParaRPr lang="en-US" sz="1600" dirty="0"/>
          </a:p>
        </p:txBody>
      </p:sp>
      <p:sp>
        <p:nvSpPr>
          <p:cNvPr id="56" name="Text 46"/>
          <p:cNvSpPr txBox="1"/>
          <p:nvPr/>
        </p:nvSpPr>
        <p:spPr>
          <a:xfrm>
            <a:off x="6851904" y="4169847"/>
            <a:ext cx="896112" cy="239481"/>
          </a:xfrm>
          <a:prstGeom prst="rect">
            <a:avLst/>
          </a:prstGeom>
          <a:noFill/>
          <a:ln/>
        </p:spPr>
        <p:txBody>
          <a:bodyPr wrap="square" lIns="0" tIns="0" rIns="0" bIns="0" rtlCol="0" anchor="t"/>
          <a:lstStyle/>
          <a:p>
            <a:pPr algn="r" indent="0" marL="0">
              <a:buNone/>
            </a:pPr>
            <a:r>
              <a:rPr lang="en-US" sz="1300" dirty="0">
                <a:solidFill>
                  <a:srgbClr val="595959"/>
                </a:solidFill>
                <a:latin typeface="Inter" pitchFamily="34" charset="0"/>
                <a:ea typeface="Inter" pitchFamily="34" charset="-122"/>
                <a:cs typeface="Inter" pitchFamily="34" charset="-120"/>
              </a:rPr>
              <a:t>−$547K</a:t>
            </a:r>
            <a:endParaRPr lang="en-US" sz="1300" dirty="0"/>
          </a:p>
        </p:txBody>
      </p:sp>
      <p:sp>
        <p:nvSpPr>
          <p:cNvPr id="57" name="Text 47"/>
          <p:cNvSpPr txBox="1"/>
          <p:nvPr/>
        </p:nvSpPr>
        <p:spPr>
          <a:xfrm>
            <a:off x="4440936" y="4471416"/>
            <a:ext cx="365760" cy="886968"/>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30</a:t>
            </a:r>
            <a:endParaRPr lang="en-US" sz="1500" dirty="0"/>
          </a:p>
        </p:txBody>
      </p:sp>
      <p:sp>
        <p:nvSpPr>
          <p:cNvPr id="58" name="Text 48"/>
          <p:cNvSpPr txBox="1"/>
          <p:nvPr/>
        </p:nvSpPr>
        <p:spPr>
          <a:xfrm>
            <a:off x="4788408" y="4515764"/>
            <a:ext cx="2959608" cy="461223"/>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HONDA NORTH</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$6.61M  →  </a:t>
            </a:r>
            <a:pPr indent="0" marL="0">
              <a:spcAft>
                <a:spcPts val="200"/>
              </a:spcAft>
              <a:buNone/>
            </a:pPr>
            <a:r>
              <a:rPr lang="en-US" sz="1200" b="1" dirty="0">
                <a:solidFill>
                  <a:srgbClr val="A82B26"/>
                </a:solidFill>
                <a:latin typeface="Inter" pitchFamily="34" charset="0"/>
                <a:ea typeface="Inter" pitchFamily="34" charset="-122"/>
                <a:cs typeface="Inter" pitchFamily="34" charset="-120"/>
              </a:rPr>
              <a:t>$5.92M</a:t>
            </a:r>
            <a:endParaRPr lang="en-US" sz="1400" dirty="0"/>
          </a:p>
        </p:txBody>
      </p:sp>
      <p:graphicFrame>
        <p:nvGraphicFramePr>
          <p:cNvPr id="59" name="Chart 8" descr=""/>
          <p:cNvGraphicFramePr/>
          <p:nvPr/>
        </p:nvGraphicFramePr>
        <p:xfrm>
          <a:off x="4788408" y="5003597"/>
          <a:ext cx="1972056" cy="301569"/>
        </p:xfrm>
        <a:graphic xmlns:a="http://schemas.openxmlformats.org/drawingml/2006/main">
          <a:graphicData uri="http://schemas.openxmlformats.org/drawingml/2006/chart">
            <c:chart xmlns:c="http://schemas.openxmlformats.org/drawingml/2006/chart" r:id="rId9"/>
          </a:graphicData>
        </a:graphic>
      </p:graphicFrame>
      <p:sp>
        <p:nvSpPr>
          <p:cNvPr id="60" name="Text 49"/>
          <p:cNvSpPr txBox="1"/>
          <p:nvPr/>
        </p:nvSpPr>
        <p:spPr>
          <a:xfrm>
            <a:off x="6851904" y="4737506"/>
            <a:ext cx="896112" cy="319308"/>
          </a:xfrm>
          <a:prstGeom prst="rect">
            <a:avLst/>
          </a:prstGeom>
          <a:noFill/>
          <a:ln/>
        </p:spPr>
        <p:txBody>
          <a:bodyPr wrap="square" lIns="0" tIns="0" rIns="0" bIns="0" rtlCol="0" anchor="b"/>
          <a:lstStyle/>
          <a:p>
            <a:pPr algn="r" indent="0" marL="0">
              <a:buNone/>
            </a:pPr>
            <a:r>
              <a:rPr lang="en-US" sz="1600" b="1" dirty="0">
                <a:solidFill>
                  <a:srgbClr val="A82B26"/>
                </a:solidFill>
                <a:latin typeface="Inter" pitchFamily="34" charset="0"/>
                <a:ea typeface="Inter" pitchFamily="34" charset="-122"/>
                <a:cs typeface="Inter" pitchFamily="34" charset="-120"/>
              </a:rPr>
              <a:t>−10.5%</a:t>
            </a:r>
            <a:endParaRPr lang="en-US" sz="1600" dirty="0"/>
          </a:p>
        </p:txBody>
      </p:sp>
      <p:sp>
        <p:nvSpPr>
          <p:cNvPr id="61" name="Text 50"/>
          <p:cNvSpPr txBox="1"/>
          <p:nvPr/>
        </p:nvSpPr>
        <p:spPr>
          <a:xfrm>
            <a:off x="6851904" y="5056815"/>
            <a:ext cx="896112" cy="239481"/>
          </a:xfrm>
          <a:prstGeom prst="rect">
            <a:avLst/>
          </a:prstGeom>
          <a:noFill/>
          <a:ln/>
        </p:spPr>
        <p:txBody>
          <a:bodyPr wrap="square" lIns="0" tIns="0" rIns="0" bIns="0" rtlCol="0" anchor="t"/>
          <a:lstStyle/>
          <a:p>
            <a:pPr algn="r" indent="0" marL="0">
              <a:buNone/>
            </a:pPr>
            <a:r>
              <a:rPr lang="en-US" sz="1300" dirty="0">
                <a:solidFill>
                  <a:srgbClr val="595959"/>
                </a:solidFill>
                <a:latin typeface="Inter" pitchFamily="34" charset="0"/>
                <a:ea typeface="Inter" pitchFamily="34" charset="-122"/>
                <a:cs typeface="Inter" pitchFamily="34" charset="-120"/>
              </a:rPr>
              <a:t>−$695K</a:t>
            </a:r>
            <a:endParaRPr lang="en-US" sz="1300" dirty="0"/>
          </a:p>
        </p:txBody>
      </p:sp>
      <p:sp>
        <p:nvSpPr>
          <p:cNvPr id="62" name="Shape 51"/>
          <p:cNvSpPr/>
          <p:nvPr/>
        </p:nvSpPr>
        <p:spPr>
          <a:xfrm>
            <a:off x="4349496" y="5358384"/>
            <a:ext cx="3489960" cy="886968"/>
          </a:xfrm>
          <a:prstGeom prst="rect">
            <a:avLst/>
          </a:prstGeom>
          <a:solidFill>
            <a:srgbClr val="F7F7F7"/>
          </a:solidFill>
          <a:ln/>
        </p:spPr>
      </p:sp>
      <p:sp>
        <p:nvSpPr>
          <p:cNvPr id="63" name="Text 52"/>
          <p:cNvSpPr txBox="1"/>
          <p:nvPr/>
        </p:nvSpPr>
        <p:spPr>
          <a:xfrm>
            <a:off x="4440936" y="5358384"/>
            <a:ext cx="365760" cy="886968"/>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29</a:t>
            </a:r>
            <a:endParaRPr lang="en-US" sz="1500" dirty="0"/>
          </a:p>
        </p:txBody>
      </p:sp>
      <p:sp>
        <p:nvSpPr>
          <p:cNvPr id="64" name="Text 53"/>
          <p:cNvSpPr txBox="1"/>
          <p:nvPr/>
        </p:nvSpPr>
        <p:spPr>
          <a:xfrm>
            <a:off x="4788408" y="5402732"/>
            <a:ext cx="2959608" cy="461223"/>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AUDI RENO</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$3.23M  →  </a:t>
            </a:r>
            <a:pPr indent="0" marL="0">
              <a:spcAft>
                <a:spcPts val="200"/>
              </a:spcAft>
              <a:buNone/>
            </a:pPr>
            <a:r>
              <a:rPr lang="en-US" sz="1200" b="1" dirty="0">
                <a:solidFill>
                  <a:srgbClr val="A82B26"/>
                </a:solidFill>
                <a:latin typeface="Inter" pitchFamily="34" charset="0"/>
                <a:ea typeface="Inter" pitchFamily="34" charset="-122"/>
                <a:cs typeface="Inter" pitchFamily="34" charset="-120"/>
              </a:rPr>
              <a:t>$3.04M</a:t>
            </a:r>
            <a:endParaRPr lang="en-US" sz="1400" dirty="0"/>
          </a:p>
        </p:txBody>
      </p:sp>
      <p:graphicFrame>
        <p:nvGraphicFramePr>
          <p:cNvPr id="65" name="Chart 9" descr=""/>
          <p:cNvGraphicFramePr/>
          <p:nvPr/>
        </p:nvGraphicFramePr>
        <p:xfrm>
          <a:off x="4788408" y="5890565"/>
          <a:ext cx="1972056" cy="301569"/>
        </p:xfrm>
        <a:graphic xmlns:a="http://schemas.openxmlformats.org/drawingml/2006/main">
          <a:graphicData uri="http://schemas.openxmlformats.org/drawingml/2006/chart">
            <c:chart xmlns:c="http://schemas.openxmlformats.org/drawingml/2006/chart" r:id="rId10"/>
          </a:graphicData>
        </a:graphic>
      </p:graphicFrame>
      <p:sp>
        <p:nvSpPr>
          <p:cNvPr id="66" name="Text 54"/>
          <p:cNvSpPr txBox="1"/>
          <p:nvPr/>
        </p:nvSpPr>
        <p:spPr>
          <a:xfrm>
            <a:off x="6851904" y="5624474"/>
            <a:ext cx="896112" cy="319308"/>
          </a:xfrm>
          <a:prstGeom prst="rect">
            <a:avLst/>
          </a:prstGeom>
          <a:noFill/>
          <a:ln/>
        </p:spPr>
        <p:txBody>
          <a:bodyPr wrap="square" lIns="0" tIns="0" rIns="0" bIns="0" rtlCol="0" anchor="b"/>
          <a:lstStyle/>
          <a:p>
            <a:pPr algn="r" indent="0" marL="0">
              <a:buNone/>
            </a:pPr>
            <a:r>
              <a:rPr lang="en-US" sz="1600" b="1" dirty="0">
                <a:solidFill>
                  <a:srgbClr val="A82B26"/>
                </a:solidFill>
                <a:latin typeface="Inter" pitchFamily="34" charset="0"/>
                <a:ea typeface="Inter" pitchFamily="34" charset="-122"/>
                <a:cs typeface="Inter" pitchFamily="34" charset="-120"/>
              </a:rPr>
              <a:t>−5.9%</a:t>
            </a:r>
            <a:endParaRPr lang="en-US" sz="1600" dirty="0"/>
          </a:p>
        </p:txBody>
      </p:sp>
      <p:sp>
        <p:nvSpPr>
          <p:cNvPr id="67" name="Text 55"/>
          <p:cNvSpPr txBox="1"/>
          <p:nvPr/>
        </p:nvSpPr>
        <p:spPr>
          <a:xfrm>
            <a:off x="6851904" y="5943783"/>
            <a:ext cx="896112" cy="239481"/>
          </a:xfrm>
          <a:prstGeom prst="rect">
            <a:avLst/>
          </a:prstGeom>
          <a:noFill/>
          <a:ln/>
        </p:spPr>
        <p:txBody>
          <a:bodyPr wrap="square" lIns="0" tIns="0" rIns="0" bIns="0" rtlCol="0" anchor="t"/>
          <a:lstStyle/>
          <a:p>
            <a:pPr algn="r" indent="0" marL="0">
              <a:buNone/>
            </a:pPr>
            <a:r>
              <a:rPr lang="en-US" sz="1300" dirty="0">
                <a:solidFill>
                  <a:srgbClr val="595959"/>
                </a:solidFill>
                <a:latin typeface="Inter" pitchFamily="34" charset="0"/>
                <a:ea typeface="Inter" pitchFamily="34" charset="-122"/>
                <a:cs typeface="Inter" pitchFamily="34" charset="-120"/>
              </a:rPr>
              <a:t>−$192K</a:t>
            </a:r>
            <a:endParaRPr lang="en-US" sz="1300" dirty="0"/>
          </a:p>
        </p:txBody>
      </p:sp>
      <p:sp>
        <p:nvSpPr>
          <p:cNvPr id="68" name="Shape 56"/>
          <p:cNvSpPr/>
          <p:nvPr/>
        </p:nvSpPr>
        <p:spPr>
          <a:xfrm>
            <a:off x="8040624" y="1371600"/>
            <a:ext cx="3489960" cy="45720"/>
          </a:xfrm>
          <a:prstGeom prst="rect">
            <a:avLst/>
          </a:prstGeom>
          <a:solidFill>
            <a:srgbClr val="2587C5"/>
          </a:solidFill>
          <a:ln/>
        </p:spPr>
      </p:sp>
      <p:sp>
        <p:nvSpPr>
          <p:cNvPr id="69" name="Text 57"/>
          <p:cNvSpPr txBox="1"/>
          <p:nvPr/>
        </p:nvSpPr>
        <p:spPr>
          <a:xfrm>
            <a:off x="8132064" y="1444752"/>
            <a:ext cx="3307080" cy="274320"/>
          </a:xfrm>
          <a:prstGeom prst="rect">
            <a:avLst/>
          </a:prstGeom>
          <a:noFill/>
          <a:ln/>
        </p:spPr>
        <p:txBody>
          <a:bodyPr wrap="square" lIns="0" tIns="0" rIns="0" bIns="0" rtlCol="0" anchor="ctr"/>
          <a:lstStyle/>
          <a:p>
            <a:pPr indent="0" marL="0">
              <a:buNone/>
            </a:pPr>
            <a:r>
              <a:rPr lang="en-US" sz="1500" b="1" spc="100" kern="0" dirty="0">
                <a:solidFill>
                  <a:srgbClr val="0B2C4A"/>
                </a:solidFill>
                <a:latin typeface="Inter" pitchFamily="34" charset="0"/>
                <a:ea typeface="Inter" pitchFamily="34" charset="-122"/>
                <a:cs typeface="Inter" pitchFamily="34" charset="-120"/>
              </a:rPr>
              <a:t>TOP 5 MOVING NOW</a:t>
            </a:r>
            <a:endParaRPr lang="en-US" sz="1500" dirty="0"/>
          </a:p>
        </p:txBody>
      </p:sp>
      <p:sp>
        <p:nvSpPr>
          <p:cNvPr id="70" name="Shape 58"/>
          <p:cNvSpPr/>
          <p:nvPr/>
        </p:nvSpPr>
        <p:spPr>
          <a:xfrm>
            <a:off x="8040624" y="1810512"/>
            <a:ext cx="3489960" cy="886968"/>
          </a:xfrm>
          <a:prstGeom prst="rect">
            <a:avLst/>
          </a:prstGeom>
          <a:solidFill>
            <a:srgbClr val="F7F7F7"/>
          </a:solidFill>
          <a:ln/>
        </p:spPr>
      </p:sp>
      <p:sp>
        <p:nvSpPr>
          <p:cNvPr id="71" name="Text 59"/>
          <p:cNvSpPr txBox="1"/>
          <p:nvPr/>
        </p:nvSpPr>
        <p:spPr>
          <a:xfrm>
            <a:off x="8132064" y="1810512"/>
            <a:ext cx="365760" cy="886968"/>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1</a:t>
            </a:r>
            <a:endParaRPr lang="en-US" sz="1500" dirty="0"/>
          </a:p>
        </p:txBody>
      </p:sp>
      <p:sp>
        <p:nvSpPr>
          <p:cNvPr id="72" name="Text 60"/>
          <p:cNvSpPr txBox="1"/>
          <p:nvPr/>
        </p:nvSpPr>
        <p:spPr>
          <a:xfrm>
            <a:off x="8479536" y="1854860"/>
            <a:ext cx="2959608" cy="461223"/>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MAZDA</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$199K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$275K</a:t>
            </a:r>
            <a:endParaRPr lang="en-US" sz="1400" dirty="0"/>
          </a:p>
        </p:txBody>
      </p:sp>
      <p:graphicFrame>
        <p:nvGraphicFramePr>
          <p:cNvPr id="73" name="Chart 10" descr=""/>
          <p:cNvGraphicFramePr/>
          <p:nvPr/>
        </p:nvGraphicFramePr>
        <p:xfrm>
          <a:off x="8479536" y="2342693"/>
          <a:ext cx="1972056" cy="301569"/>
        </p:xfrm>
        <a:graphic xmlns:a="http://schemas.openxmlformats.org/drawingml/2006/main">
          <a:graphicData uri="http://schemas.openxmlformats.org/drawingml/2006/chart">
            <c:chart xmlns:c="http://schemas.openxmlformats.org/drawingml/2006/chart" r:id="rId11"/>
          </a:graphicData>
        </a:graphic>
      </p:graphicFrame>
      <p:sp>
        <p:nvSpPr>
          <p:cNvPr id="74" name="Text 61"/>
          <p:cNvSpPr txBox="1"/>
          <p:nvPr/>
        </p:nvSpPr>
        <p:spPr>
          <a:xfrm>
            <a:off x="10543032" y="2076602"/>
            <a:ext cx="896112" cy="319308"/>
          </a:xfrm>
          <a:prstGeom prst="rect">
            <a:avLst/>
          </a:prstGeom>
          <a:noFill/>
          <a:ln/>
        </p:spPr>
        <p:txBody>
          <a:bodyPr wrap="square" lIns="0" tIns="0" rIns="0" bIns="0" rtlCol="0" anchor="b"/>
          <a:lstStyle/>
          <a:p>
            <a:pPr algn="r" indent="0" marL="0">
              <a:buNone/>
            </a:pPr>
            <a:r>
              <a:rPr lang="en-US" sz="1600" b="1" dirty="0">
                <a:solidFill>
                  <a:srgbClr val="0B7A4A"/>
                </a:solidFill>
                <a:latin typeface="Inter" pitchFamily="34" charset="0"/>
                <a:ea typeface="Inter" pitchFamily="34" charset="-122"/>
                <a:cs typeface="Inter" pitchFamily="34" charset="-120"/>
              </a:rPr>
              <a:t>+38.0%</a:t>
            </a:r>
            <a:endParaRPr lang="en-US" sz="1600" dirty="0"/>
          </a:p>
        </p:txBody>
      </p:sp>
      <p:sp>
        <p:nvSpPr>
          <p:cNvPr id="75" name="Text 62"/>
          <p:cNvSpPr txBox="1"/>
          <p:nvPr/>
        </p:nvSpPr>
        <p:spPr>
          <a:xfrm>
            <a:off x="10543032" y="2395911"/>
            <a:ext cx="896112" cy="239481"/>
          </a:xfrm>
          <a:prstGeom prst="rect">
            <a:avLst/>
          </a:prstGeom>
          <a:noFill/>
          <a:ln/>
        </p:spPr>
        <p:txBody>
          <a:bodyPr wrap="square" lIns="0" tIns="0" rIns="0" bIns="0" rtlCol="0" anchor="t"/>
          <a:lstStyle/>
          <a:p>
            <a:pPr algn="r" indent="0" marL="0">
              <a:buNone/>
            </a:pPr>
            <a:r>
              <a:rPr lang="en-US" sz="1300" dirty="0">
                <a:solidFill>
                  <a:srgbClr val="595959"/>
                </a:solidFill>
                <a:latin typeface="Inter" pitchFamily="34" charset="0"/>
                <a:ea typeface="Inter" pitchFamily="34" charset="-122"/>
                <a:cs typeface="Inter" pitchFamily="34" charset="-120"/>
              </a:rPr>
              <a:t>+$76K</a:t>
            </a:r>
            <a:endParaRPr lang="en-US" sz="1300" dirty="0"/>
          </a:p>
        </p:txBody>
      </p:sp>
      <p:sp>
        <p:nvSpPr>
          <p:cNvPr id="76" name="Text 63"/>
          <p:cNvSpPr txBox="1"/>
          <p:nvPr/>
        </p:nvSpPr>
        <p:spPr>
          <a:xfrm>
            <a:off x="8132064" y="2697480"/>
            <a:ext cx="365760" cy="886968"/>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2</a:t>
            </a:r>
            <a:endParaRPr lang="en-US" sz="1500" dirty="0"/>
          </a:p>
        </p:txBody>
      </p:sp>
      <p:sp>
        <p:nvSpPr>
          <p:cNvPr id="77" name="Text 64"/>
          <p:cNvSpPr txBox="1"/>
          <p:nvPr/>
        </p:nvSpPr>
        <p:spPr>
          <a:xfrm>
            <a:off x="8479536" y="2741828"/>
            <a:ext cx="2959608" cy="461223"/>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KIA ST GEORGE</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$132K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$178K</a:t>
            </a:r>
            <a:endParaRPr lang="en-US" sz="1400" dirty="0"/>
          </a:p>
        </p:txBody>
      </p:sp>
      <p:graphicFrame>
        <p:nvGraphicFramePr>
          <p:cNvPr id="78" name="Chart 11" descr=""/>
          <p:cNvGraphicFramePr/>
          <p:nvPr/>
        </p:nvGraphicFramePr>
        <p:xfrm>
          <a:off x="8479536" y="3229661"/>
          <a:ext cx="1972056" cy="301569"/>
        </p:xfrm>
        <a:graphic xmlns:a="http://schemas.openxmlformats.org/drawingml/2006/main">
          <a:graphicData uri="http://schemas.openxmlformats.org/drawingml/2006/chart">
            <c:chart xmlns:c="http://schemas.openxmlformats.org/drawingml/2006/chart" r:id="rId12"/>
          </a:graphicData>
        </a:graphic>
      </p:graphicFrame>
      <p:sp>
        <p:nvSpPr>
          <p:cNvPr id="79" name="Text 65"/>
          <p:cNvSpPr txBox="1"/>
          <p:nvPr/>
        </p:nvSpPr>
        <p:spPr>
          <a:xfrm>
            <a:off x="10543032" y="2963570"/>
            <a:ext cx="896112" cy="319308"/>
          </a:xfrm>
          <a:prstGeom prst="rect">
            <a:avLst/>
          </a:prstGeom>
          <a:noFill/>
          <a:ln/>
        </p:spPr>
        <p:txBody>
          <a:bodyPr wrap="square" lIns="0" tIns="0" rIns="0" bIns="0" rtlCol="0" anchor="b"/>
          <a:lstStyle/>
          <a:p>
            <a:pPr algn="r" indent="0" marL="0">
              <a:buNone/>
            </a:pPr>
            <a:r>
              <a:rPr lang="en-US" sz="1600" b="1" dirty="0">
                <a:solidFill>
                  <a:srgbClr val="0B7A4A"/>
                </a:solidFill>
                <a:latin typeface="Inter" pitchFamily="34" charset="0"/>
                <a:ea typeface="Inter" pitchFamily="34" charset="-122"/>
                <a:cs typeface="Inter" pitchFamily="34" charset="-120"/>
              </a:rPr>
              <a:t>+34.5%</a:t>
            </a:r>
            <a:endParaRPr lang="en-US" sz="1600" dirty="0"/>
          </a:p>
        </p:txBody>
      </p:sp>
      <p:sp>
        <p:nvSpPr>
          <p:cNvPr id="80" name="Text 66"/>
          <p:cNvSpPr txBox="1"/>
          <p:nvPr/>
        </p:nvSpPr>
        <p:spPr>
          <a:xfrm>
            <a:off x="10543032" y="3282879"/>
            <a:ext cx="896112" cy="239481"/>
          </a:xfrm>
          <a:prstGeom prst="rect">
            <a:avLst/>
          </a:prstGeom>
          <a:noFill/>
          <a:ln/>
        </p:spPr>
        <p:txBody>
          <a:bodyPr wrap="square" lIns="0" tIns="0" rIns="0" bIns="0" rtlCol="0" anchor="t"/>
          <a:lstStyle/>
          <a:p>
            <a:pPr algn="r" indent="0" marL="0">
              <a:buNone/>
            </a:pPr>
            <a:r>
              <a:rPr lang="en-US" sz="1300" dirty="0">
                <a:solidFill>
                  <a:srgbClr val="595959"/>
                </a:solidFill>
                <a:latin typeface="Inter" pitchFamily="34" charset="0"/>
                <a:ea typeface="Inter" pitchFamily="34" charset="-122"/>
                <a:cs typeface="Inter" pitchFamily="34" charset="-120"/>
              </a:rPr>
              <a:t>+$46K</a:t>
            </a:r>
            <a:endParaRPr lang="en-US" sz="1300" dirty="0"/>
          </a:p>
        </p:txBody>
      </p:sp>
      <p:sp>
        <p:nvSpPr>
          <p:cNvPr id="81" name="Shape 67"/>
          <p:cNvSpPr/>
          <p:nvPr/>
        </p:nvSpPr>
        <p:spPr>
          <a:xfrm>
            <a:off x="8040624" y="3584448"/>
            <a:ext cx="3489960" cy="886968"/>
          </a:xfrm>
          <a:prstGeom prst="rect">
            <a:avLst/>
          </a:prstGeom>
          <a:solidFill>
            <a:srgbClr val="F7F7F7"/>
          </a:solidFill>
          <a:ln/>
        </p:spPr>
      </p:sp>
      <p:sp>
        <p:nvSpPr>
          <p:cNvPr id="82" name="Shape 68"/>
          <p:cNvSpPr/>
          <p:nvPr/>
        </p:nvSpPr>
        <p:spPr>
          <a:xfrm>
            <a:off x="11466576" y="3621024"/>
            <a:ext cx="64008" cy="813816"/>
          </a:xfrm>
          <a:prstGeom prst="rect">
            <a:avLst/>
          </a:prstGeom>
          <a:solidFill>
            <a:srgbClr val="12A566"/>
          </a:solidFill>
          <a:ln/>
        </p:spPr>
      </p:sp>
      <p:sp>
        <p:nvSpPr>
          <p:cNvPr id="83" name="Text 69"/>
          <p:cNvSpPr txBox="1"/>
          <p:nvPr/>
        </p:nvSpPr>
        <p:spPr>
          <a:xfrm>
            <a:off x="8132064" y="3584448"/>
            <a:ext cx="365760" cy="886968"/>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3</a:t>
            </a:r>
            <a:endParaRPr lang="en-US" sz="1500" dirty="0"/>
          </a:p>
        </p:txBody>
      </p:sp>
      <p:sp>
        <p:nvSpPr>
          <p:cNvPr id="84" name="Text 70"/>
          <p:cNvSpPr txBox="1"/>
          <p:nvPr/>
        </p:nvSpPr>
        <p:spPr>
          <a:xfrm>
            <a:off x="8479536" y="3628796"/>
            <a:ext cx="2959608" cy="461223"/>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HYUNDAI PRESCOTT</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$96K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$128K</a:t>
            </a:r>
            <a:endParaRPr lang="en-US" sz="1400" dirty="0"/>
          </a:p>
        </p:txBody>
      </p:sp>
      <p:graphicFrame>
        <p:nvGraphicFramePr>
          <p:cNvPr id="85" name="Chart 12" descr=""/>
          <p:cNvGraphicFramePr/>
          <p:nvPr/>
        </p:nvGraphicFramePr>
        <p:xfrm>
          <a:off x="8479536" y="4116629"/>
          <a:ext cx="1972056" cy="301569"/>
        </p:xfrm>
        <a:graphic xmlns:a="http://schemas.openxmlformats.org/drawingml/2006/main">
          <a:graphicData uri="http://schemas.openxmlformats.org/drawingml/2006/chart">
            <c:chart xmlns:c="http://schemas.openxmlformats.org/drawingml/2006/chart" r:id="rId13"/>
          </a:graphicData>
        </a:graphic>
      </p:graphicFrame>
      <p:sp>
        <p:nvSpPr>
          <p:cNvPr id="86" name="Text 71"/>
          <p:cNvSpPr txBox="1"/>
          <p:nvPr/>
        </p:nvSpPr>
        <p:spPr>
          <a:xfrm>
            <a:off x="10543032" y="3850538"/>
            <a:ext cx="896112" cy="319308"/>
          </a:xfrm>
          <a:prstGeom prst="rect">
            <a:avLst/>
          </a:prstGeom>
          <a:noFill/>
          <a:ln/>
        </p:spPr>
        <p:txBody>
          <a:bodyPr wrap="square" lIns="0" tIns="0" rIns="0" bIns="0" rtlCol="0" anchor="b"/>
          <a:lstStyle/>
          <a:p>
            <a:pPr algn="r" indent="0" marL="0">
              <a:buNone/>
            </a:pPr>
            <a:r>
              <a:rPr lang="en-US" sz="1600" b="1" dirty="0">
                <a:solidFill>
                  <a:srgbClr val="0B7A4A"/>
                </a:solidFill>
                <a:latin typeface="Inter" pitchFamily="34" charset="0"/>
                <a:ea typeface="Inter" pitchFamily="34" charset="-122"/>
                <a:cs typeface="Inter" pitchFamily="34" charset="-120"/>
              </a:rPr>
              <a:t>+34.2%</a:t>
            </a:r>
            <a:endParaRPr lang="en-US" sz="1600" dirty="0"/>
          </a:p>
        </p:txBody>
      </p:sp>
      <p:sp>
        <p:nvSpPr>
          <p:cNvPr id="87" name="Text 72"/>
          <p:cNvSpPr txBox="1"/>
          <p:nvPr/>
        </p:nvSpPr>
        <p:spPr>
          <a:xfrm>
            <a:off x="10543032" y="4169847"/>
            <a:ext cx="896112" cy="239481"/>
          </a:xfrm>
          <a:prstGeom prst="rect">
            <a:avLst/>
          </a:prstGeom>
          <a:noFill/>
          <a:ln/>
        </p:spPr>
        <p:txBody>
          <a:bodyPr wrap="square" lIns="0" tIns="0" rIns="0" bIns="0" rtlCol="0" anchor="t"/>
          <a:lstStyle/>
          <a:p>
            <a:pPr algn="r" indent="0" marL="0">
              <a:buNone/>
            </a:pPr>
            <a:r>
              <a:rPr lang="en-US" sz="1300" dirty="0">
                <a:solidFill>
                  <a:srgbClr val="595959"/>
                </a:solidFill>
                <a:latin typeface="Inter" pitchFamily="34" charset="0"/>
                <a:ea typeface="Inter" pitchFamily="34" charset="-122"/>
                <a:cs typeface="Inter" pitchFamily="34" charset="-120"/>
              </a:rPr>
              <a:t>+$33K</a:t>
            </a:r>
            <a:endParaRPr lang="en-US" sz="1300" dirty="0"/>
          </a:p>
        </p:txBody>
      </p:sp>
      <p:sp>
        <p:nvSpPr>
          <p:cNvPr id="88" name="Text 73"/>
          <p:cNvSpPr txBox="1"/>
          <p:nvPr/>
        </p:nvSpPr>
        <p:spPr>
          <a:xfrm>
            <a:off x="8132064" y="4471416"/>
            <a:ext cx="365760" cy="886968"/>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4</a:t>
            </a:r>
            <a:endParaRPr lang="en-US" sz="1500" dirty="0"/>
          </a:p>
        </p:txBody>
      </p:sp>
      <p:sp>
        <p:nvSpPr>
          <p:cNvPr id="89" name="Text 74"/>
          <p:cNvSpPr txBox="1"/>
          <p:nvPr/>
        </p:nvSpPr>
        <p:spPr>
          <a:xfrm>
            <a:off x="8479536" y="4515764"/>
            <a:ext cx="2959608" cy="461223"/>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LR HENDERSON</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$206K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$273K</a:t>
            </a:r>
            <a:endParaRPr lang="en-US" sz="1400" dirty="0"/>
          </a:p>
        </p:txBody>
      </p:sp>
      <p:graphicFrame>
        <p:nvGraphicFramePr>
          <p:cNvPr id="90" name="Chart 13" descr=""/>
          <p:cNvGraphicFramePr/>
          <p:nvPr/>
        </p:nvGraphicFramePr>
        <p:xfrm>
          <a:off x="8479536" y="5003597"/>
          <a:ext cx="1972056" cy="301569"/>
        </p:xfrm>
        <a:graphic xmlns:a="http://schemas.openxmlformats.org/drawingml/2006/main">
          <a:graphicData uri="http://schemas.openxmlformats.org/drawingml/2006/chart">
            <c:chart xmlns:c="http://schemas.openxmlformats.org/drawingml/2006/chart" r:id="rId14"/>
          </a:graphicData>
        </a:graphic>
      </p:graphicFrame>
      <p:sp>
        <p:nvSpPr>
          <p:cNvPr id="91" name="Text 75"/>
          <p:cNvSpPr txBox="1"/>
          <p:nvPr/>
        </p:nvSpPr>
        <p:spPr>
          <a:xfrm>
            <a:off x="10543032" y="4737506"/>
            <a:ext cx="896112" cy="319308"/>
          </a:xfrm>
          <a:prstGeom prst="rect">
            <a:avLst/>
          </a:prstGeom>
          <a:noFill/>
          <a:ln/>
        </p:spPr>
        <p:txBody>
          <a:bodyPr wrap="square" lIns="0" tIns="0" rIns="0" bIns="0" rtlCol="0" anchor="b"/>
          <a:lstStyle/>
          <a:p>
            <a:pPr algn="r" indent="0" marL="0">
              <a:buNone/>
            </a:pPr>
            <a:r>
              <a:rPr lang="en-US" sz="1600" b="1" dirty="0">
                <a:solidFill>
                  <a:srgbClr val="0B7A4A"/>
                </a:solidFill>
                <a:latin typeface="Inter" pitchFamily="34" charset="0"/>
                <a:ea typeface="Inter" pitchFamily="34" charset="-122"/>
                <a:cs typeface="Inter" pitchFamily="34" charset="-120"/>
              </a:rPr>
              <a:t>+32.4%</a:t>
            </a:r>
            <a:endParaRPr lang="en-US" sz="1600" dirty="0"/>
          </a:p>
        </p:txBody>
      </p:sp>
      <p:sp>
        <p:nvSpPr>
          <p:cNvPr id="92" name="Text 76"/>
          <p:cNvSpPr txBox="1"/>
          <p:nvPr/>
        </p:nvSpPr>
        <p:spPr>
          <a:xfrm>
            <a:off x="10543032" y="5056815"/>
            <a:ext cx="896112" cy="239481"/>
          </a:xfrm>
          <a:prstGeom prst="rect">
            <a:avLst/>
          </a:prstGeom>
          <a:noFill/>
          <a:ln/>
        </p:spPr>
        <p:txBody>
          <a:bodyPr wrap="square" lIns="0" tIns="0" rIns="0" bIns="0" rtlCol="0" anchor="t"/>
          <a:lstStyle/>
          <a:p>
            <a:pPr algn="r" indent="0" marL="0">
              <a:buNone/>
            </a:pPr>
            <a:r>
              <a:rPr lang="en-US" sz="1300" dirty="0">
                <a:solidFill>
                  <a:srgbClr val="595959"/>
                </a:solidFill>
                <a:latin typeface="Inter" pitchFamily="34" charset="0"/>
                <a:ea typeface="Inter" pitchFamily="34" charset="-122"/>
                <a:cs typeface="Inter" pitchFamily="34" charset="-120"/>
              </a:rPr>
              <a:t>+$67K</a:t>
            </a:r>
            <a:endParaRPr lang="en-US" sz="1300" dirty="0"/>
          </a:p>
        </p:txBody>
      </p:sp>
      <p:sp>
        <p:nvSpPr>
          <p:cNvPr id="93" name="Shape 77"/>
          <p:cNvSpPr/>
          <p:nvPr/>
        </p:nvSpPr>
        <p:spPr>
          <a:xfrm>
            <a:off x="8040624" y="5358384"/>
            <a:ext cx="3489960" cy="886968"/>
          </a:xfrm>
          <a:prstGeom prst="rect">
            <a:avLst/>
          </a:prstGeom>
          <a:solidFill>
            <a:srgbClr val="F7F7F7"/>
          </a:solidFill>
          <a:ln/>
        </p:spPr>
      </p:sp>
      <p:sp>
        <p:nvSpPr>
          <p:cNvPr id="94" name="Text 78"/>
          <p:cNvSpPr txBox="1"/>
          <p:nvPr/>
        </p:nvSpPr>
        <p:spPr>
          <a:xfrm>
            <a:off x="8132064" y="5358384"/>
            <a:ext cx="365760" cy="886968"/>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5</a:t>
            </a:r>
            <a:endParaRPr lang="en-US" sz="1500" dirty="0"/>
          </a:p>
        </p:txBody>
      </p:sp>
      <p:sp>
        <p:nvSpPr>
          <p:cNvPr id="95" name="Text 79"/>
          <p:cNvSpPr txBox="1"/>
          <p:nvPr/>
        </p:nvSpPr>
        <p:spPr>
          <a:xfrm>
            <a:off x="8479536" y="5402732"/>
            <a:ext cx="2959608" cy="461223"/>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CDJR POST FALLS</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$236K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$290K</a:t>
            </a:r>
            <a:endParaRPr lang="en-US" sz="1400" dirty="0"/>
          </a:p>
        </p:txBody>
      </p:sp>
      <p:graphicFrame>
        <p:nvGraphicFramePr>
          <p:cNvPr id="96" name="Chart 14" descr=""/>
          <p:cNvGraphicFramePr/>
          <p:nvPr/>
        </p:nvGraphicFramePr>
        <p:xfrm>
          <a:off x="8479536" y="5890565"/>
          <a:ext cx="1972056" cy="301569"/>
        </p:xfrm>
        <a:graphic xmlns:a="http://schemas.openxmlformats.org/drawingml/2006/main">
          <a:graphicData uri="http://schemas.openxmlformats.org/drawingml/2006/chart">
            <c:chart xmlns:c="http://schemas.openxmlformats.org/drawingml/2006/chart" r:id="rId15"/>
          </a:graphicData>
        </a:graphic>
      </p:graphicFrame>
      <p:sp>
        <p:nvSpPr>
          <p:cNvPr id="97" name="Text 80"/>
          <p:cNvSpPr txBox="1"/>
          <p:nvPr/>
        </p:nvSpPr>
        <p:spPr>
          <a:xfrm>
            <a:off x="10543032" y="5624474"/>
            <a:ext cx="896112" cy="319308"/>
          </a:xfrm>
          <a:prstGeom prst="rect">
            <a:avLst/>
          </a:prstGeom>
          <a:noFill/>
          <a:ln/>
        </p:spPr>
        <p:txBody>
          <a:bodyPr wrap="square" lIns="0" tIns="0" rIns="0" bIns="0" rtlCol="0" anchor="b"/>
          <a:lstStyle/>
          <a:p>
            <a:pPr algn="r" indent="0" marL="0">
              <a:buNone/>
            </a:pPr>
            <a:r>
              <a:rPr lang="en-US" sz="1600" b="1" dirty="0">
                <a:solidFill>
                  <a:srgbClr val="0B7A4A"/>
                </a:solidFill>
                <a:latin typeface="Inter" pitchFamily="34" charset="0"/>
                <a:ea typeface="Inter" pitchFamily="34" charset="-122"/>
                <a:cs typeface="Inter" pitchFamily="34" charset="-120"/>
              </a:rPr>
              <a:t>+22.9%</a:t>
            </a:r>
            <a:endParaRPr lang="en-US" sz="1600" dirty="0"/>
          </a:p>
        </p:txBody>
      </p:sp>
      <p:sp>
        <p:nvSpPr>
          <p:cNvPr id="98" name="Text 81"/>
          <p:cNvSpPr txBox="1"/>
          <p:nvPr/>
        </p:nvSpPr>
        <p:spPr>
          <a:xfrm>
            <a:off x="10543032" y="5943783"/>
            <a:ext cx="896112" cy="239481"/>
          </a:xfrm>
          <a:prstGeom prst="rect">
            <a:avLst/>
          </a:prstGeom>
          <a:noFill/>
          <a:ln/>
        </p:spPr>
        <p:txBody>
          <a:bodyPr wrap="square" lIns="0" tIns="0" rIns="0" bIns="0" rtlCol="0" anchor="t"/>
          <a:lstStyle/>
          <a:p>
            <a:pPr algn="r" indent="0" marL="0">
              <a:buNone/>
            </a:pPr>
            <a:r>
              <a:rPr lang="en-US" sz="1300" dirty="0">
                <a:solidFill>
                  <a:srgbClr val="595959"/>
                </a:solidFill>
                <a:latin typeface="Inter" pitchFamily="34" charset="0"/>
                <a:ea typeface="Inter" pitchFamily="34" charset="-122"/>
                <a:cs typeface="Inter" pitchFamily="34" charset="-120"/>
              </a:rPr>
              <a:t>+$54K</a:t>
            </a:r>
            <a:endParaRPr lang="en-US" sz="1300" dirty="0"/>
          </a:p>
        </p:txBody>
      </p:sp>
    </p:spTree>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name="Slide 13">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FIXED OPS GROSS</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Total Gross Profit - Parts</a:t>
            </a:r>
            <a:endParaRPr lang="en-US" sz="2800" dirty="0"/>
          </a:p>
        </p:txBody>
      </p:sp>
      <p:sp>
        <p:nvSpPr>
          <p:cNvPr id="5" name="Shape 3"/>
          <p:cNvSpPr/>
          <p:nvPr/>
        </p:nvSpPr>
        <p:spPr>
          <a:xfrm>
            <a:off x="457200" y="1207008"/>
            <a:ext cx="11274552" cy="5148072"/>
          </a:xfrm>
          <a:prstGeom prst="rect">
            <a:avLst/>
          </a:prstGeom>
          <a:solidFill>
            <a:srgbClr val="FFFFFF"/>
          </a:solidFill>
          <a:ln/>
        </p:spPr>
      </p:sp>
      <p:sp>
        <p:nvSpPr>
          <p:cNvPr id="6" name="Text 4"/>
          <p:cNvSpPr txBox="1"/>
          <p:nvPr/>
        </p:nvSpPr>
        <p:spPr>
          <a:xfrm>
            <a:off x="6217920" y="804672"/>
            <a:ext cx="5513832" cy="365760"/>
          </a:xfrm>
          <a:prstGeom prst="rect">
            <a:avLst/>
          </a:prstGeom>
          <a:noFill/>
          <a:ln/>
        </p:spPr>
        <p:txBody>
          <a:bodyPr wrap="square" lIns="0" tIns="0" rIns="0" bIns="0" rtlCol="0" anchor="ctr"/>
          <a:lstStyle/>
          <a:p>
            <a:pPr algn="r" indent="0" marL="0">
              <a:buNone/>
            </a:pPr>
            <a:r>
              <a:rPr lang="en-US" sz="1400" dirty="0">
                <a:solidFill>
                  <a:srgbClr val="595959"/>
                </a:solidFill>
                <a:latin typeface="Inter" pitchFamily="34" charset="0"/>
                <a:ea typeface="Inter" pitchFamily="34" charset="-122"/>
                <a:cs typeface="Inter" pitchFamily="34" charset="-120"/>
              </a:rPr>
              <a:t>Vs last year: Jan–Sep   ·   Moving now: Q3 vs Q1</a:t>
            </a:r>
            <a:endParaRPr lang="en-US" sz="1400" dirty="0"/>
          </a:p>
        </p:txBody>
      </p:sp>
      <p:sp>
        <p:nvSpPr>
          <p:cNvPr id="7" name="Shape 5"/>
          <p:cNvSpPr/>
          <p:nvPr/>
        </p:nvSpPr>
        <p:spPr>
          <a:xfrm>
            <a:off x="658368" y="1371600"/>
            <a:ext cx="3489960" cy="45720"/>
          </a:xfrm>
          <a:prstGeom prst="rect">
            <a:avLst/>
          </a:prstGeom>
          <a:solidFill>
            <a:srgbClr val="12A566"/>
          </a:solidFill>
          <a:ln/>
        </p:spPr>
      </p:sp>
      <p:sp>
        <p:nvSpPr>
          <p:cNvPr id="8" name="Text 6"/>
          <p:cNvSpPr txBox="1"/>
          <p:nvPr/>
        </p:nvSpPr>
        <p:spPr>
          <a:xfrm>
            <a:off x="749808" y="1444752"/>
            <a:ext cx="3307080" cy="274320"/>
          </a:xfrm>
          <a:prstGeom prst="rect">
            <a:avLst/>
          </a:prstGeom>
          <a:noFill/>
          <a:ln/>
        </p:spPr>
        <p:txBody>
          <a:bodyPr wrap="square" lIns="0" tIns="0" rIns="0" bIns="0" rtlCol="0" anchor="ctr"/>
          <a:lstStyle/>
          <a:p>
            <a:pPr indent="0" marL="0">
              <a:buNone/>
            </a:pPr>
            <a:r>
              <a:rPr lang="en-US" sz="1500" b="1" spc="100" kern="0" dirty="0">
                <a:solidFill>
                  <a:srgbClr val="0B7A4A"/>
                </a:solidFill>
                <a:latin typeface="Inter" pitchFamily="34" charset="0"/>
                <a:ea typeface="Inter" pitchFamily="34" charset="-122"/>
                <a:cs typeface="Inter" pitchFamily="34" charset="-120"/>
              </a:rPr>
              <a:t>TOP 5 VS LAST YEAR</a:t>
            </a:r>
            <a:endParaRPr lang="en-US" sz="1500" dirty="0"/>
          </a:p>
        </p:txBody>
      </p:sp>
      <p:sp>
        <p:nvSpPr>
          <p:cNvPr id="9" name="Shape 7"/>
          <p:cNvSpPr/>
          <p:nvPr/>
        </p:nvSpPr>
        <p:spPr>
          <a:xfrm>
            <a:off x="658368" y="1810512"/>
            <a:ext cx="3489960" cy="886968"/>
          </a:xfrm>
          <a:prstGeom prst="rect">
            <a:avLst/>
          </a:prstGeom>
          <a:solidFill>
            <a:srgbClr val="F7F7F7"/>
          </a:solidFill>
          <a:ln/>
        </p:spPr>
      </p:sp>
      <p:sp>
        <p:nvSpPr>
          <p:cNvPr id="10" name="Text 8"/>
          <p:cNvSpPr txBox="1"/>
          <p:nvPr/>
        </p:nvSpPr>
        <p:spPr>
          <a:xfrm>
            <a:off x="749808" y="1810512"/>
            <a:ext cx="365760" cy="886968"/>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1</a:t>
            </a:r>
            <a:endParaRPr lang="en-US" sz="1500" dirty="0"/>
          </a:p>
        </p:txBody>
      </p:sp>
      <p:sp>
        <p:nvSpPr>
          <p:cNvPr id="11" name="Text 9"/>
          <p:cNvSpPr txBox="1"/>
          <p:nvPr/>
        </p:nvSpPr>
        <p:spPr>
          <a:xfrm>
            <a:off x="1097280" y="1854860"/>
            <a:ext cx="2959608" cy="461223"/>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LINCOLN</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$654K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$896K</a:t>
            </a:r>
            <a:endParaRPr lang="en-US" sz="1400" dirty="0"/>
          </a:p>
        </p:txBody>
      </p:sp>
      <p:graphicFrame>
        <p:nvGraphicFramePr>
          <p:cNvPr id="12" name="Chart 0" descr=""/>
          <p:cNvGraphicFramePr/>
          <p:nvPr/>
        </p:nvGraphicFramePr>
        <p:xfrm>
          <a:off x="1097280" y="2342693"/>
          <a:ext cx="1972056" cy="301569"/>
        </p:xfrm>
        <a:graphic xmlns:a="http://schemas.openxmlformats.org/drawingml/2006/main">
          <a:graphicData uri="http://schemas.openxmlformats.org/drawingml/2006/chart">
            <c:chart xmlns:c="http://schemas.openxmlformats.org/drawingml/2006/chart" r:id="rId1"/>
          </a:graphicData>
        </a:graphic>
      </p:graphicFrame>
      <p:sp>
        <p:nvSpPr>
          <p:cNvPr id="13" name="Text 10"/>
          <p:cNvSpPr txBox="1"/>
          <p:nvPr/>
        </p:nvSpPr>
        <p:spPr>
          <a:xfrm>
            <a:off x="3160776" y="2076602"/>
            <a:ext cx="896112" cy="319308"/>
          </a:xfrm>
          <a:prstGeom prst="rect">
            <a:avLst/>
          </a:prstGeom>
          <a:noFill/>
          <a:ln/>
        </p:spPr>
        <p:txBody>
          <a:bodyPr wrap="square" lIns="0" tIns="0" rIns="0" bIns="0" rtlCol="0" anchor="b"/>
          <a:lstStyle/>
          <a:p>
            <a:pPr algn="r" indent="0" marL="0">
              <a:buNone/>
            </a:pPr>
            <a:r>
              <a:rPr lang="en-US" sz="1600" b="1" dirty="0">
                <a:solidFill>
                  <a:srgbClr val="0B7A4A"/>
                </a:solidFill>
                <a:latin typeface="Inter" pitchFamily="34" charset="0"/>
                <a:ea typeface="Inter" pitchFamily="34" charset="-122"/>
                <a:cs typeface="Inter" pitchFamily="34" charset="-120"/>
              </a:rPr>
              <a:t>+37.1%</a:t>
            </a:r>
            <a:endParaRPr lang="en-US" sz="1600" dirty="0"/>
          </a:p>
        </p:txBody>
      </p:sp>
      <p:sp>
        <p:nvSpPr>
          <p:cNvPr id="14" name="Text 11"/>
          <p:cNvSpPr txBox="1"/>
          <p:nvPr/>
        </p:nvSpPr>
        <p:spPr>
          <a:xfrm>
            <a:off x="3160776" y="2395911"/>
            <a:ext cx="896112" cy="239481"/>
          </a:xfrm>
          <a:prstGeom prst="rect">
            <a:avLst/>
          </a:prstGeom>
          <a:noFill/>
          <a:ln/>
        </p:spPr>
        <p:txBody>
          <a:bodyPr wrap="square" lIns="0" tIns="0" rIns="0" bIns="0" rtlCol="0" anchor="t"/>
          <a:lstStyle/>
          <a:p>
            <a:pPr algn="r" indent="0" marL="0">
              <a:buNone/>
            </a:pPr>
            <a:r>
              <a:rPr lang="en-US" sz="1300" dirty="0">
                <a:solidFill>
                  <a:srgbClr val="595959"/>
                </a:solidFill>
                <a:latin typeface="Inter" pitchFamily="34" charset="0"/>
                <a:ea typeface="Inter" pitchFamily="34" charset="-122"/>
                <a:cs typeface="Inter" pitchFamily="34" charset="-120"/>
              </a:rPr>
              <a:t>+$243K</a:t>
            </a:r>
            <a:endParaRPr lang="en-US" sz="1300" dirty="0"/>
          </a:p>
        </p:txBody>
      </p:sp>
      <p:sp>
        <p:nvSpPr>
          <p:cNvPr id="15" name="Text 12"/>
          <p:cNvSpPr txBox="1"/>
          <p:nvPr/>
        </p:nvSpPr>
        <p:spPr>
          <a:xfrm>
            <a:off x="749808" y="2697480"/>
            <a:ext cx="365760" cy="886968"/>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2</a:t>
            </a:r>
            <a:endParaRPr lang="en-US" sz="1500" dirty="0"/>
          </a:p>
        </p:txBody>
      </p:sp>
      <p:sp>
        <p:nvSpPr>
          <p:cNvPr id="16" name="Text 13"/>
          <p:cNvSpPr txBox="1"/>
          <p:nvPr/>
        </p:nvSpPr>
        <p:spPr>
          <a:xfrm>
            <a:off x="1097280" y="2741828"/>
            <a:ext cx="2959608" cy="461223"/>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CADILLAC</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$2.42M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$3.11M</a:t>
            </a:r>
            <a:endParaRPr lang="en-US" sz="1400" dirty="0"/>
          </a:p>
        </p:txBody>
      </p:sp>
      <p:graphicFrame>
        <p:nvGraphicFramePr>
          <p:cNvPr id="17" name="Chart 1" descr=""/>
          <p:cNvGraphicFramePr/>
          <p:nvPr/>
        </p:nvGraphicFramePr>
        <p:xfrm>
          <a:off x="1097280" y="3229661"/>
          <a:ext cx="1972056" cy="301569"/>
        </p:xfrm>
        <a:graphic xmlns:a="http://schemas.openxmlformats.org/drawingml/2006/main">
          <a:graphicData uri="http://schemas.openxmlformats.org/drawingml/2006/chart">
            <c:chart xmlns:c="http://schemas.openxmlformats.org/drawingml/2006/chart" r:id="rId2"/>
          </a:graphicData>
        </a:graphic>
      </p:graphicFrame>
      <p:sp>
        <p:nvSpPr>
          <p:cNvPr id="18" name="Text 14"/>
          <p:cNvSpPr txBox="1"/>
          <p:nvPr/>
        </p:nvSpPr>
        <p:spPr>
          <a:xfrm>
            <a:off x="3160776" y="2963570"/>
            <a:ext cx="896112" cy="319308"/>
          </a:xfrm>
          <a:prstGeom prst="rect">
            <a:avLst/>
          </a:prstGeom>
          <a:noFill/>
          <a:ln/>
        </p:spPr>
        <p:txBody>
          <a:bodyPr wrap="square" lIns="0" tIns="0" rIns="0" bIns="0" rtlCol="0" anchor="b"/>
          <a:lstStyle/>
          <a:p>
            <a:pPr algn="r" indent="0" marL="0">
              <a:buNone/>
            </a:pPr>
            <a:r>
              <a:rPr lang="en-US" sz="1600" b="1" dirty="0">
                <a:solidFill>
                  <a:srgbClr val="0B7A4A"/>
                </a:solidFill>
                <a:latin typeface="Inter" pitchFamily="34" charset="0"/>
                <a:ea typeface="Inter" pitchFamily="34" charset="-122"/>
                <a:cs typeface="Inter" pitchFamily="34" charset="-120"/>
              </a:rPr>
              <a:t>+28.4%</a:t>
            </a:r>
            <a:endParaRPr lang="en-US" sz="1600" dirty="0"/>
          </a:p>
        </p:txBody>
      </p:sp>
      <p:sp>
        <p:nvSpPr>
          <p:cNvPr id="19" name="Text 15"/>
          <p:cNvSpPr txBox="1"/>
          <p:nvPr/>
        </p:nvSpPr>
        <p:spPr>
          <a:xfrm>
            <a:off x="3160776" y="3282879"/>
            <a:ext cx="896112" cy="239481"/>
          </a:xfrm>
          <a:prstGeom prst="rect">
            <a:avLst/>
          </a:prstGeom>
          <a:noFill/>
          <a:ln/>
        </p:spPr>
        <p:txBody>
          <a:bodyPr wrap="square" lIns="0" tIns="0" rIns="0" bIns="0" rtlCol="0" anchor="t"/>
          <a:lstStyle/>
          <a:p>
            <a:pPr algn="r" indent="0" marL="0">
              <a:buNone/>
            </a:pPr>
            <a:r>
              <a:rPr lang="en-US" sz="1300" dirty="0">
                <a:solidFill>
                  <a:srgbClr val="595959"/>
                </a:solidFill>
                <a:latin typeface="Inter" pitchFamily="34" charset="0"/>
                <a:ea typeface="Inter" pitchFamily="34" charset="-122"/>
                <a:cs typeface="Inter" pitchFamily="34" charset="-120"/>
              </a:rPr>
              <a:t>+$688K</a:t>
            </a:r>
            <a:endParaRPr lang="en-US" sz="1300" dirty="0"/>
          </a:p>
        </p:txBody>
      </p:sp>
      <p:sp>
        <p:nvSpPr>
          <p:cNvPr id="20" name="Shape 16"/>
          <p:cNvSpPr/>
          <p:nvPr/>
        </p:nvSpPr>
        <p:spPr>
          <a:xfrm>
            <a:off x="658368" y="3584448"/>
            <a:ext cx="3489960" cy="886968"/>
          </a:xfrm>
          <a:prstGeom prst="rect">
            <a:avLst/>
          </a:prstGeom>
          <a:solidFill>
            <a:srgbClr val="F7F7F7"/>
          </a:solidFill>
          <a:ln/>
        </p:spPr>
      </p:sp>
      <p:sp>
        <p:nvSpPr>
          <p:cNvPr id="21" name="Text 17"/>
          <p:cNvSpPr txBox="1"/>
          <p:nvPr/>
        </p:nvSpPr>
        <p:spPr>
          <a:xfrm>
            <a:off x="749808" y="3584448"/>
            <a:ext cx="365760" cy="886968"/>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3</a:t>
            </a:r>
            <a:endParaRPr lang="en-US" sz="1500" dirty="0"/>
          </a:p>
        </p:txBody>
      </p:sp>
      <p:sp>
        <p:nvSpPr>
          <p:cNvPr id="22" name="Text 18"/>
          <p:cNvSpPr txBox="1"/>
          <p:nvPr/>
        </p:nvSpPr>
        <p:spPr>
          <a:xfrm>
            <a:off x="1097280" y="3628796"/>
            <a:ext cx="2959608" cy="461223"/>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SUBARU ST GEORGE</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$1.04M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$1.31M</a:t>
            </a:r>
            <a:endParaRPr lang="en-US" sz="1400" dirty="0"/>
          </a:p>
        </p:txBody>
      </p:sp>
      <p:graphicFrame>
        <p:nvGraphicFramePr>
          <p:cNvPr id="23" name="Chart 2" descr=""/>
          <p:cNvGraphicFramePr/>
          <p:nvPr/>
        </p:nvGraphicFramePr>
        <p:xfrm>
          <a:off x="1097280" y="4116629"/>
          <a:ext cx="1972056" cy="301569"/>
        </p:xfrm>
        <a:graphic xmlns:a="http://schemas.openxmlformats.org/drawingml/2006/main">
          <a:graphicData uri="http://schemas.openxmlformats.org/drawingml/2006/chart">
            <c:chart xmlns:c="http://schemas.openxmlformats.org/drawingml/2006/chart" r:id="rId3"/>
          </a:graphicData>
        </a:graphic>
      </p:graphicFrame>
      <p:sp>
        <p:nvSpPr>
          <p:cNvPr id="24" name="Text 19"/>
          <p:cNvSpPr txBox="1"/>
          <p:nvPr/>
        </p:nvSpPr>
        <p:spPr>
          <a:xfrm>
            <a:off x="3160776" y="3850538"/>
            <a:ext cx="896112" cy="319308"/>
          </a:xfrm>
          <a:prstGeom prst="rect">
            <a:avLst/>
          </a:prstGeom>
          <a:noFill/>
          <a:ln/>
        </p:spPr>
        <p:txBody>
          <a:bodyPr wrap="square" lIns="0" tIns="0" rIns="0" bIns="0" rtlCol="0" anchor="b"/>
          <a:lstStyle/>
          <a:p>
            <a:pPr algn="r" indent="0" marL="0">
              <a:buNone/>
            </a:pPr>
            <a:r>
              <a:rPr lang="en-US" sz="1600" b="1" dirty="0">
                <a:solidFill>
                  <a:srgbClr val="0B7A4A"/>
                </a:solidFill>
                <a:latin typeface="Inter" pitchFamily="34" charset="0"/>
                <a:ea typeface="Inter" pitchFamily="34" charset="-122"/>
                <a:cs typeface="Inter" pitchFamily="34" charset="-120"/>
              </a:rPr>
              <a:t>+26.0%</a:t>
            </a:r>
            <a:endParaRPr lang="en-US" sz="1600" dirty="0"/>
          </a:p>
        </p:txBody>
      </p:sp>
      <p:sp>
        <p:nvSpPr>
          <p:cNvPr id="25" name="Text 20"/>
          <p:cNvSpPr txBox="1"/>
          <p:nvPr/>
        </p:nvSpPr>
        <p:spPr>
          <a:xfrm>
            <a:off x="3160776" y="4169847"/>
            <a:ext cx="896112" cy="239481"/>
          </a:xfrm>
          <a:prstGeom prst="rect">
            <a:avLst/>
          </a:prstGeom>
          <a:noFill/>
          <a:ln/>
        </p:spPr>
        <p:txBody>
          <a:bodyPr wrap="square" lIns="0" tIns="0" rIns="0" bIns="0" rtlCol="0" anchor="t"/>
          <a:lstStyle/>
          <a:p>
            <a:pPr algn="r" indent="0" marL="0">
              <a:buNone/>
            </a:pPr>
            <a:r>
              <a:rPr lang="en-US" sz="1300" dirty="0">
                <a:solidFill>
                  <a:srgbClr val="595959"/>
                </a:solidFill>
                <a:latin typeface="Inter" pitchFamily="34" charset="0"/>
                <a:ea typeface="Inter" pitchFamily="34" charset="-122"/>
                <a:cs typeface="Inter" pitchFamily="34" charset="-120"/>
              </a:rPr>
              <a:t>+$271K</a:t>
            </a:r>
            <a:endParaRPr lang="en-US" sz="1300" dirty="0"/>
          </a:p>
        </p:txBody>
      </p:sp>
      <p:sp>
        <p:nvSpPr>
          <p:cNvPr id="26" name="Text 21"/>
          <p:cNvSpPr txBox="1"/>
          <p:nvPr/>
        </p:nvSpPr>
        <p:spPr>
          <a:xfrm>
            <a:off x="749808" y="4471416"/>
            <a:ext cx="365760" cy="886968"/>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4</a:t>
            </a:r>
            <a:endParaRPr lang="en-US" sz="1500" dirty="0"/>
          </a:p>
        </p:txBody>
      </p:sp>
      <p:sp>
        <p:nvSpPr>
          <p:cNvPr id="27" name="Text 22"/>
          <p:cNvSpPr txBox="1"/>
          <p:nvPr/>
        </p:nvSpPr>
        <p:spPr>
          <a:xfrm>
            <a:off x="1097280" y="4515764"/>
            <a:ext cx="2959608" cy="461223"/>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GMC PRESCOTT</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$932K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$1.09M</a:t>
            </a:r>
            <a:endParaRPr lang="en-US" sz="1400" dirty="0"/>
          </a:p>
        </p:txBody>
      </p:sp>
      <p:graphicFrame>
        <p:nvGraphicFramePr>
          <p:cNvPr id="28" name="Chart 3" descr=""/>
          <p:cNvGraphicFramePr/>
          <p:nvPr/>
        </p:nvGraphicFramePr>
        <p:xfrm>
          <a:off x="1097280" y="5003597"/>
          <a:ext cx="1972056" cy="301569"/>
        </p:xfrm>
        <a:graphic xmlns:a="http://schemas.openxmlformats.org/drawingml/2006/main">
          <a:graphicData uri="http://schemas.openxmlformats.org/drawingml/2006/chart">
            <c:chart xmlns:c="http://schemas.openxmlformats.org/drawingml/2006/chart" r:id="rId4"/>
          </a:graphicData>
        </a:graphic>
      </p:graphicFrame>
      <p:sp>
        <p:nvSpPr>
          <p:cNvPr id="29" name="Text 23"/>
          <p:cNvSpPr txBox="1"/>
          <p:nvPr/>
        </p:nvSpPr>
        <p:spPr>
          <a:xfrm>
            <a:off x="3160776" y="4737506"/>
            <a:ext cx="896112" cy="319308"/>
          </a:xfrm>
          <a:prstGeom prst="rect">
            <a:avLst/>
          </a:prstGeom>
          <a:noFill/>
          <a:ln/>
        </p:spPr>
        <p:txBody>
          <a:bodyPr wrap="square" lIns="0" tIns="0" rIns="0" bIns="0" rtlCol="0" anchor="b"/>
          <a:lstStyle/>
          <a:p>
            <a:pPr algn="r" indent="0" marL="0">
              <a:buNone/>
            </a:pPr>
            <a:r>
              <a:rPr lang="en-US" sz="1600" b="1" dirty="0">
                <a:solidFill>
                  <a:srgbClr val="0B7A4A"/>
                </a:solidFill>
                <a:latin typeface="Inter" pitchFamily="34" charset="0"/>
                <a:ea typeface="Inter" pitchFamily="34" charset="-122"/>
                <a:cs typeface="Inter" pitchFamily="34" charset="-120"/>
              </a:rPr>
              <a:t>+17.0%</a:t>
            </a:r>
            <a:endParaRPr lang="en-US" sz="1600" dirty="0"/>
          </a:p>
        </p:txBody>
      </p:sp>
      <p:sp>
        <p:nvSpPr>
          <p:cNvPr id="30" name="Text 24"/>
          <p:cNvSpPr txBox="1"/>
          <p:nvPr/>
        </p:nvSpPr>
        <p:spPr>
          <a:xfrm>
            <a:off x="3160776" y="5056815"/>
            <a:ext cx="896112" cy="239481"/>
          </a:xfrm>
          <a:prstGeom prst="rect">
            <a:avLst/>
          </a:prstGeom>
          <a:noFill/>
          <a:ln/>
        </p:spPr>
        <p:txBody>
          <a:bodyPr wrap="square" lIns="0" tIns="0" rIns="0" bIns="0" rtlCol="0" anchor="t"/>
          <a:lstStyle/>
          <a:p>
            <a:pPr algn="r" indent="0" marL="0">
              <a:buNone/>
            </a:pPr>
            <a:r>
              <a:rPr lang="en-US" sz="1300" dirty="0">
                <a:solidFill>
                  <a:srgbClr val="595959"/>
                </a:solidFill>
                <a:latin typeface="Inter" pitchFamily="34" charset="0"/>
                <a:ea typeface="Inter" pitchFamily="34" charset="-122"/>
                <a:cs typeface="Inter" pitchFamily="34" charset="-120"/>
              </a:rPr>
              <a:t>+$158K</a:t>
            </a:r>
            <a:endParaRPr lang="en-US" sz="1300" dirty="0"/>
          </a:p>
        </p:txBody>
      </p:sp>
      <p:sp>
        <p:nvSpPr>
          <p:cNvPr id="31" name="Shape 25"/>
          <p:cNvSpPr/>
          <p:nvPr/>
        </p:nvSpPr>
        <p:spPr>
          <a:xfrm>
            <a:off x="658368" y="5358384"/>
            <a:ext cx="3489960" cy="886968"/>
          </a:xfrm>
          <a:prstGeom prst="rect">
            <a:avLst/>
          </a:prstGeom>
          <a:solidFill>
            <a:srgbClr val="F7F7F7"/>
          </a:solidFill>
          <a:ln/>
        </p:spPr>
      </p:sp>
      <p:sp>
        <p:nvSpPr>
          <p:cNvPr id="32" name="Text 26"/>
          <p:cNvSpPr txBox="1"/>
          <p:nvPr/>
        </p:nvSpPr>
        <p:spPr>
          <a:xfrm>
            <a:off x="749808" y="5358384"/>
            <a:ext cx="365760" cy="886968"/>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5</a:t>
            </a:r>
            <a:endParaRPr lang="en-US" sz="1500" dirty="0"/>
          </a:p>
        </p:txBody>
      </p:sp>
      <p:sp>
        <p:nvSpPr>
          <p:cNvPr id="33" name="Text 27"/>
          <p:cNvSpPr txBox="1"/>
          <p:nvPr/>
        </p:nvSpPr>
        <p:spPr>
          <a:xfrm>
            <a:off x="1097280" y="5402732"/>
            <a:ext cx="2959608" cy="461223"/>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SUBARU PRESCOTT</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$948K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$1.10M</a:t>
            </a:r>
            <a:endParaRPr lang="en-US" sz="1400" dirty="0"/>
          </a:p>
        </p:txBody>
      </p:sp>
      <p:graphicFrame>
        <p:nvGraphicFramePr>
          <p:cNvPr id="34" name="Chart 4" descr=""/>
          <p:cNvGraphicFramePr/>
          <p:nvPr/>
        </p:nvGraphicFramePr>
        <p:xfrm>
          <a:off x="1097280" y="5890565"/>
          <a:ext cx="1972056" cy="301569"/>
        </p:xfrm>
        <a:graphic xmlns:a="http://schemas.openxmlformats.org/drawingml/2006/main">
          <a:graphicData uri="http://schemas.openxmlformats.org/drawingml/2006/chart">
            <c:chart xmlns:c="http://schemas.openxmlformats.org/drawingml/2006/chart" r:id="rId5"/>
          </a:graphicData>
        </a:graphic>
      </p:graphicFrame>
      <p:sp>
        <p:nvSpPr>
          <p:cNvPr id="35" name="Text 28"/>
          <p:cNvSpPr txBox="1"/>
          <p:nvPr/>
        </p:nvSpPr>
        <p:spPr>
          <a:xfrm>
            <a:off x="3160776" y="5624474"/>
            <a:ext cx="896112" cy="319308"/>
          </a:xfrm>
          <a:prstGeom prst="rect">
            <a:avLst/>
          </a:prstGeom>
          <a:noFill/>
          <a:ln/>
        </p:spPr>
        <p:txBody>
          <a:bodyPr wrap="square" lIns="0" tIns="0" rIns="0" bIns="0" rtlCol="0" anchor="b"/>
          <a:lstStyle/>
          <a:p>
            <a:pPr algn="r" indent="0" marL="0">
              <a:buNone/>
            </a:pPr>
            <a:r>
              <a:rPr lang="en-US" sz="1600" b="1" dirty="0">
                <a:solidFill>
                  <a:srgbClr val="0B7A4A"/>
                </a:solidFill>
                <a:latin typeface="Inter" pitchFamily="34" charset="0"/>
                <a:ea typeface="Inter" pitchFamily="34" charset="-122"/>
                <a:cs typeface="Inter" pitchFamily="34" charset="-120"/>
              </a:rPr>
              <a:t>+16.0%</a:t>
            </a:r>
            <a:endParaRPr lang="en-US" sz="1600" dirty="0"/>
          </a:p>
        </p:txBody>
      </p:sp>
      <p:sp>
        <p:nvSpPr>
          <p:cNvPr id="36" name="Text 29"/>
          <p:cNvSpPr txBox="1"/>
          <p:nvPr/>
        </p:nvSpPr>
        <p:spPr>
          <a:xfrm>
            <a:off x="3160776" y="5943783"/>
            <a:ext cx="896112" cy="239481"/>
          </a:xfrm>
          <a:prstGeom prst="rect">
            <a:avLst/>
          </a:prstGeom>
          <a:noFill/>
          <a:ln/>
        </p:spPr>
        <p:txBody>
          <a:bodyPr wrap="square" lIns="0" tIns="0" rIns="0" bIns="0" rtlCol="0" anchor="t"/>
          <a:lstStyle/>
          <a:p>
            <a:pPr algn="r" indent="0" marL="0">
              <a:buNone/>
            </a:pPr>
            <a:r>
              <a:rPr lang="en-US" sz="1300" dirty="0">
                <a:solidFill>
                  <a:srgbClr val="595959"/>
                </a:solidFill>
                <a:latin typeface="Inter" pitchFamily="34" charset="0"/>
                <a:ea typeface="Inter" pitchFamily="34" charset="-122"/>
                <a:cs typeface="Inter" pitchFamily="34" charset="-120"/>
              </a:rPr>
              <a:t>+$151K</a:t>
            </a:r>
            <a:endParaRPr lang="en-US" sz="1300" dirty="0"/>
          </a:p>
        </p:txBody>
      </p:sp>
      <p:sp>
        <p:nvSpPr>
          <p:cNvPr id="37" name="Shape 30"/>
          <p:cNvSpPr/>
          <p:nvPr/>
        </p:nvSpPr>
        <p:spPr>
          <a:xfrm>
            <a:off x="4349496" y="1371600"/>
            <a:ext cx="3489960" cy="45720"/>
          </a:xfrm>
          <a:prstGeom prst="rect">
            <a:avLst/>
          </a:prstGeom>
          <a:solidFill>
            <a:srgbClr val="C2352F"/>
          </a:solidFill>
          <a:ln/>
        </p:spPr>
      </p:sp>
      <p:sp>
        <p:nvSpPr>
          <p:cNvPr id="38" name="Text 31"/>
          <p:cNvSpPr txBox="1"/>
          <p:nvPr/>
        </p:nvSpPr>
        <p:spPr>
          <a:xfrm>
            <a:off x="4440936" y="1444752"/>
            <a:ext cx="3307080" cy="274320"/>
          </a:xfrm>
          <a:prstGeom prst="rect">
            <a:avLst/>
          </a:prstGeom>
          <a:noFill/>
          <a:ln/>
        </p:spPr>
        <p:txBody>
          <a:bodyPr wrap="square" lIns="0" tIns="0" rIns="0" bIns="0" rtlCol="0" anchor="ctr"/>
          <a:lstStyle/>
          <a:p>
            <a:pPr indent="0" marL="0">
              <a:buNone/>
            </a:pPr>
            <a:r>
              <a:rPr lang="en-US" sz="1500" b="1" spc="100" kern="0" dirty="0">
                <a:solidFill>
                  <a:srgbClr val="A82B26"/>
                </a:solidFill>
                <a:latin typeface="Inter" pitchFamily="34" charset="0"/>
                <a:ea typeface="Inter" pitchFamily="34" charset="-122"/>
                <a:cs typeface="Inter" pitchFamily="34" charset="-120"/>
              </a:rPr>
              <a:t>BOTTOM 5 VS LAST YEAR</a:t>
            </a:r>
            <a:endParaRPr lang="en-US" sz="1500" dirty="0"/>
          </a:p>
        </p:txBody>
      </p:sp>
      <p:sp>
        <p:nvSpPr>
          <p:cNvPr id="39" name="Shape 32"/>
          <p:cNvSpPr/>
          <p:nvPr/>
        </p:nvSpPr>
        <p:spPr>
          <a:xfrm>
            <a:off x="4349496" y="1810512"/>
            <a:ext cx="3489960" cy="886968"/>
          </a:xfrm>
          <a:prstGeom prst="rect">
            <a:avLst/>
          </a:prstGeom>
          <a:solidFill>
            <a:srgbClr val="F7F7F7"/>
          </a:solidFill>
          <a:ln/>
        </p:spPr>
      </p:sp>
      <p:sp>
        <p:nvSpPr>
          <p:cNvPr id="40" name="Text 33"/>
          <p:cNvSpPr txBox="1"/>
          <p:nvPr/>
        </p:nvSpPr>
        <p:spPr>
          <a:xfrm>
            <a:off x="4440936" y="1810512"/>
            <a:ext cx="365760" cy="886968"/>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33</a:t>
            </a:r>
            <a:endParaRPr lang="en-US" sz="1500" dirty="0"/>
          </a:p>
        </p:txBody>
      </p:sp>
      <p:sp>
        <p:nvSpPr>
          <p:cNvPr id="41" name="Text 34"/>
          <p:cNvSpPr txBox="1"/>
          <p:nvPr/>
        </p:nvSpPr>
        <p:spPr>
          <a:xfrm>
            <a:off x="4788408" y="1854860"/>
            <a:ext cx="2959608" cy="461223"/>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HYUNDAI ST GEORGE</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$1.05M  →  </a:t>
            </a:r>
            <a:pPr indent="0" marL="0">
              <a:spcAft>
                <a:spcPts val="200"/>
              </a:spcAft>
              <a:buNone/>
            </a:pPr>
            <a:r>
              <a:rPr lang="en-US" sz="1200" b="1" dirty="0">
                <a:solidFill>
                  <a:srgbClr val="A82B26"/>
                </a:solidFill>
                <a:latin typeface="Inter" pitchFamily="34" charset="0"/>
                <a:ea typeface="Inter" pitchFamily="34" charset="-122"/>
                <a:cs typeface="Inter" pitchFamily="34" charset="-120"/>
              </a:rPr>
              <a:t>$827K</a:t>
            </a:r>
            <a:endParaRPr lang="en-US" sz="1400" dirty="0"/>
          </a:p>
        </p:txBody>
      </p:sp>
      <p:graphicFrame>
        <p:nvGraphicFramePr>
          <p:cNvPr id="42" name="Chart 5" descr=""/>
          <p:cNvGraphicFramePr/>
          <p:nvPr/>
        </p:nvGraphicFramePr>
        <p:xfrm>
          <a:off x="4788408" y="2342693"/>
          <a:ext cx="1972056" cy="301569"/>
        </p:xfrm>
        <a:graphic xmlns:a="http://schemas.openxmlformats.org/drawingml/2006/main">
          <a:graphicData uri="http://schemas.openxmlformats.org/drawingml/2006/chart">
            <c:chart xmlns:c="http://schemas.openxmlformats.org/drawingml/2006/chart" r:id="rId6"/>
          </a:graphicData>
        </a:graphic>
      </p:graphicFrame>
      <p:sp>
        <p:nvSpPr>
          <p:cNvPr id="43" name="Text 35"/>
          <p:cNvSpPr txBox="1"/>
          <p:nvPr/>
        </p:nvSpPr>
        <p:spPr>
          <a:xfrm>
            <a:off x="6851904" y="2076602"/>
            <a:ext cx="896112" cy="319308"/>
          </a:xfrm>
          <a:prstGeom prst="rect">
            <a:avLst/>
          </a:prstGeom>
          <a:noFill/>
          <a:ln/>
        </p:spPr>
        <p:txBody>
          <a:bodyPr wrap="square" lIns="0" tIns="0" rIns="0" bIns="0" rtlCol="0" anchor="b"/>
          <a:lstStyle/>
          <a:p>
            <a:pPr algn="r" indent="0" marL="0">
              <a:buNone/>
            </a:pPr>
            <a:r>
              <a:rPr lang="en-US" sz="1600" b="1" dirty="0">
                <a:solidFill>
                  <a:srgbClr val="A82B26"/>
                </a:solidFill>
                <a:latin typeface="Inter" pitchFamily="34" charset="0"/>
                <a:ea typeface="Inter" pitchFamily="34" charset="-122"/>
                <a:cs typeface="Inter" pitchFamily="34" charset="-120"/>
              </a:rPr>
              <a:t>−21.5%</a:t>
            </a:r>
            <a:endParaRPr lang="en-US" sz="1600" dirty="0"/>
          </a:p>
        </p:txBody>
      </p:sp>
      <p:sp>
        <p:nvSpPr>
          <p:cNvPr id="44" name="Text 36"/>
          <p:cNvSpPr txBox="1"/>
          <p:nvPr/>
        </p:nvSpPr>
        <p:spPr>
          <a:xfrm>
            <a:off x="6851904" y="2395911"/>
            <a:ext cx="896112" cy="239481"/>
          </a:xfrm>
          <a:prstGeom prst="rect">
            <a:avLst/>
          </a:prstGeom>
          <a:noFill/>
          <a:ln/>
        </p:spPr>
        <p:txBody>
          <a:bodyPr wrap="square" lIns="0" tIns="0" rIns="0" bIns="0" rtlCol="0" anchor="t"/>
          <a:lstStyle/>
          <a:p>
            <a:pPr algn="r" indent="0" marL="0">
              <a:buNone/>
            </a:pPr>
            <a:r>
              <a:rPr lang="en-US" sz="1300" dirty="0">
                <a:solidFill>
                  <a:srgbClr val="595959"/>
                </a:solidFill>
                <a:latin typeface="Inter" pitchFamily="34" charset="0"/>
                <a:ea typeface="Inter" pitchFamily="34" charset="-122"/>
                <a:cs typeface="Inter" pitchFamily="34" charset="-120"/>
              </a:rPr>
              <a:t>−$227K</a:t>
            </a:r>
            <a:endParaRPr lang="en-US" sz="1300" dirty="0"/>
          </a:p>
        </p:txBody>
      </p:sp>
      <p:sp>
        <p:nvSpPr>
          <p:cNvPr id="45" name="Text 37"/>
          <p:cNvSpPr txBox="1"/>
          <p:nvPr/>
        </p:nvSpPr>
        <p:spPr>
          <a:xfrm>
            <a:off x="4440936" y="2697480"/>
            <a:ext cx="365760" cy="886968"/>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32</a:t>
            </a:r>
            <a:endParaRPr lang="en-US" sz="1500" dirty="0"/>
          </a:p>
        </p:txBody>
      </p:sp>
      <p:sp>
        <p:nvSpPr>
          <p:cNvPr id="46" name="Text 38"/>
          <p:cNvSpPr txBox="1"/>
          <p:nvPr/>
        </p:nvSpPr>
        <p:spPr>
          <a:xfrm>
            <a:off x="4788408" y="2741828"/>
            <a:ext cx="2959608" cy="461223"/>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AUDI RENO</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$1.75M  →  </a:t>
            </a:r>
            <a:pPr indent="0" marL="0">
              <a:spcAft>
                <a:spcPts val="200"/>
              </a:spcAft>
              <a:buNone/>
            </a:pPr>
            <a:r>
              <a:rPr lang="en-US" sz="1200" b="1" dirty="0">
                <a:solidFill>
                  <a:srgbClr val="A82B26"/>
                </a:solidFill>
                <a:latin typeface="Inter" pitchFamily="34" charset="0"/>
                <a:ea typeface="Inter" pitchFamily="34" charset="-122"/>
                <a:cs typeface="Inter" pitchFamily="34" charset="-120"/>
              </a:rPr>
              <a:t>$1.42M</a:t>
            </a:r>
            <a:endParaRPr lang="en-US" sz="1400" dirty="0"/>
          </a:p>
        </p:txBody>
      </p:sp>
      <p:graphicFrame>
        <p:nvGraphicFramePr>
          <p:cNvPr id="47" name="Chart 6" descr=""/>
          <p:cNvGraphicFramePr/>
          <p:nvPr/>
        </p:nvGraphicFramePr>
        <p:xfrm>
          <a:off x="4788408" y="3229661"/>
          <a:ext cx="1972056" cy="301569"/>
        </p:xfrm>
        <a:graphic xmlns:a="http://schemas.openxmlformats.org/drawingml/2006/main">
          <a:graphicData uri="http://schemas.openxmlformats.org/drawingml/2006/chart">
            <c:chart xmlns:c="http://schemas.openxmlformats.org/drawingml/2006/chart" r:id="rId7"/>
          </a:graphicData>
        </a:graphic>
      </p:graphicFrame>
      <p:sp>
        <p:nvSpPr>
          <p:cNvPr id="48" name="Text 39"/>
          <p:cNvSpPr txBox="1"/>
          <p:nvPr/>
        </p:nvSpPr>
        <p:spPr>
          <a:xfrm>
            <a:off x="6851904" y="2963570"/>
            <a:ext cx="896112" cy="319308"/>
          </a:xfrm>
          <a:prstGeom prst="rect">
            <a:avLst/>
          </a:prstGeom>
          <a:noFill/>
          <a:ln/>
        </p:spPr>
        <p:txBody>
          <a:bodyPr wrap="square" lIns="0" tIns="0" rIns="0" bIns="0" rtlCol="0" anchor="b"/>
          <a:lstStyle/>
          <a:p>
            <a:pPr algn="r" indent="0" marL="0">
              <a:buNone/>
            </a:pPr>
            <a:r>
              <a:rPr lang="en-US" sz="1600" b="1" dirty="0">
                <a:solidFill>
                  <a:srgbClr val="A82B26"/>
                </a:solidFill>
                <a:latin typeface="Inter" pitchFamily="34" charset="0"/>
                <a:ea typeface="Inter" pitchFamily="34" charset="-122"/>
                <a:cs typeface="Inter" pitchFamily="34" charset="-120"/>
              </a:rPr>
              <a:t>−18.8%</a:t>
            </a:r>
            <a:endParaRPr lang="en-US" sz="1600" dirty="0"/>
          </a:p>
        </p:txBody>
      </p:sp>
      <p:sp>
        <p:nvSpPr>
          <p:cNvPr id="49" name="Text 40"/>
          <p:cNvSpPr txBox="1"/>
          <p:nvPr/>
        </p:nvSpPr>
        <p:spPr>
          <a:xfrm>
            <a:off x="6851904" y="3282879"/>
            <a:ext cx="896112" cy="239481"/>
          </a:xfrm>
          <a:prstGeom prst="rect">
            <a:avLst/>
          </a:prstGeom>
          <a:noFill/>
          <a:ln/>
        </p:spPr>
        <p:txBody>
          <a:bodyPr wrap="square" lIns="0" tIns="0" rIns="0" bIns="0" rtlCol="0" anchor="t"/>
          <a:lstStyle/>
          <a:p>
            <a:pPr algn="r" indent="0" marL="0">
              <a:buNone/>
            </a:pPr>
            <a:r>
              <a:rPr lang="en-US" sz="1300" dirty="0">
                <a:solidFill>
                  <a:srgbClr val="595959"/>
                </a:solidFill>
                <a:latin typeface="Inter" pitchFamily="34" charset="0"/>
                <a:ea typeface="Inter" pitchFamily="34" charset="-122"/>
                <a:cs typeface="Inter" pitchFamily="34" charset="-120"/>
              </a:rPr>
              <a:t>−$328K</a:t>
            </a:r>
            <a:endParaRPr lang="en-US" sz="1300" dirty="0"/>
          </a:p>
        </p:txBody>
      </p:sp>
      <p:sp>
        <p:nvSpPr>
          <p:cNvPr id="50" name="Shape 41"/>
          <p:cNvSpPr/>
          <p:nvPr/>
        </p:nvSpPr>
        <p:spPr>
          <a:xfrm>
            <a:off x="4349496" y="3584448"/>
            <a:ext cx="3489960" cy="886968"/>
          </a:xfrm>
          <a:prstGeom prst="rect">
            <a:avLst/>
          </a:prstGeom>
          <a:solidFill>
            <a:srgbClr val="F7F7F7"/>
          </a:solidFill>
          <a:ln/>
        </p:spPr>
      </p:sp>
      <p:sp>
        <p:nvSpPr>
          <p:cNvPr id="51" name="Text 42"/>
          <p:cNvSpPr txBox="1"/>
          <p:nvPr/>
        </p:nvSpPr>
        <p:spPr>
          <a:xfrm>
            <a:off x="4440936" y="3584448"/>
            <a:ext cx="365760" cy="886968"/>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31</a:t>
            </a:r>
            <a:endParaRPr lang="en-US" sz="1500" dirty="0"/>
          </a:p>
        </p:txBody>
      </p:sp>
      <p:sp>
        <p:nvSpPr>
          <p:cNvPr id="52" name="Text 43"/>
          <p:cNvSpPr txBox="1"/>
          <p:nvPr/>
        </p:nvSpPr>
        <p:spPr>
          <a:xfrm>
            <a:off x="4788408" y="3628796"/>
            <a:ext cx="2959608" cy="461223"/>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VW HENDERSON</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$1.50M  →  </a:t>
            </a:r>
            <a:pPr indent="0" marL="0">
              <a:spcAft>
                <a:spcPts val="200"/>
              </a:spcAft>
              <a:buNone/>
            </a:pPr>
            <a:r>
              <a:rPr lang="en-US" sz="1200" b="1" dirty="0">
                <a:solidFill>
                  <a:srgbClr val="A82B26"/>
                </a:solidFill>
                <a:latin typeface="Inter" pitchFamily="34" charset="0"/>
                <a:ea typeface="Inter" pitchFamily="34" charset="-122"/>
                <a:cs typeface="Inter" pitchFamily="34" charset="-120"/>
              </a:rPr>
              <a:t>$1.29M</a:t>
            </a:r>
            <a:endParaRPr lang="en-US" sz="1400" dirty="0"/>
          </a:p>
        </p:txBody>
      </p:sp>
      <p:graphicFrame>
        <p:nvGraphicFramePr>
          <p:cNvPr id="53" name="Chart 7" descr=""/>
          <p:cNvGraphicFramePr/>
          <p:nvPr/>
        </p:nvGraphicFramePr>
        <p:xfrm>
          <a:off x="4788408" y="4116629"/>
          <a:ext cx="1972056" cy="301569"/>
        </p:xfrm>
        <a:graphic xmlns:a="http://schemas.openxmlformats.org/drawingml/2006/main">
          <a:graphicData uri="http://schemas.openxmlformats.org/drawingml/2006/chart">
            <c:chart xmlns:c="http://schemas.openxmlformats.org/drawingml/2006/chart" r:id="rId8"/>
          </a:graphicData>
        </a:graphic>
      </p:graphicFrame>
      <p:sp>
        <p:nvSpPr>
          <p:cNvPr id="54" name="Text 44"/>
          <p:cNvSpPr txBox="1"/>
          <p:nvPr/>
        </p:nvSpPr>
        <p:spPr>
          <a:xfrm>
            <a:off x="6851904" y="3850538"/>
            <a:ext cx="896112" cy="319308"/>
          </a:xfrm>
          <a:prstGeom prst="rect">
            <a:avLst/>
          </a:prstGeom>
          <a:noFill/>
          <a:ln/>
        </p:spPr>
        <p:txBody>
          <a:bodyPr wrap="square" lIns="0" tIns="0" rIns="0" bIns="0" rtlCol="0" anchor="b"/>
          <a:lstStyle/>
          <a:p>
            <a:pPr algn="r" indent="0" marL="0">
              <a:buNone/>
            </a:pPr>
            <a:r>
              <a:rPr lang="en-US" sz="1600" b="1" dirty="0">
                <a:solidFill>
                  <a:srgbClr val="A82B26"/>
                </a:solidFill>
                <a:latin typeface="Inter" pitchFamily="34" charset="0"/>
                <a:ea typeface="Inter" pitchFamily="34" charset="-122"/>
                <a:cs typeface="Inter" pitchFamily="34" charset="-120"/>
              </a:rPr>
              <a:t>−14.2%</a:t>
            </a:r>
            <a:endParaRPr lang="en-US" sz="1600" dirty="0"/>
          </a:p>
        </p:txBody>
      </p:sp>
      <p:sp>
        <p:nvSpPr>
          <p:cNvPr id="55" name="Text 45"/>
          <p:cNvSpPr txBox="1"/>
          <p:nvPr/>
        </p:nvSpPr>
        <p:spPr>
          <a:xfrm>
            <a:off x="6851904" y="4169847"/>
            <a:ext cx="896112" cy="239481"/>
          </a:xfrm>
          <a:prstGeom prst="rect">
            <a:avLst/>
          </a:prstGeom>
          <a:noFill/>
          <a:ln/>
        </p:spPr>
        <p:txBody>
          <a:bodyPr wrap="square" lIns="0" tIns="0" rIns="0" bIns="0" rtlCol="0" anchor="t"/>
          <a:lstStyle/>
          <a:p>
            <a:pPr algn="r" indent="0" marL="0">
              <a:buNone/>
            </a:pPr>
            <a:r>
              <a:rPr lang="en-US" sz="1300" dirty="0">
                <a:solidFill>
                  <a:srgbClr val="595959"/>
                </a:solidFill>
                <a:latin typeface="Inter" pitchFamily="34" charset="0"/>
                <a:ea typeface="Inter" pitchFamily="34" charset="-122"/>
                <a:cs typeface="Inter" pitchFamily="34" charset="-120"/>
              </a:rPr>
              <a:t>−$214K</a:t>
            </a:r>
            <a:endParaRPr lang="en-US" sz="1300" dirty="0"/>
          </a:p>
        </p:txBody>
      </p:sp>
      <p:sp>
        <p:nvSpPr>
          <p:cNvPr id="56" name="Text 46"/>
          <p:cNvSpPr txBox="1"/>
          <p:nvPr/>
        </p:nvSpPr>
        <p:spPr>
          <a:xfrm>
            <a:off x="4440936" y="4471416"/>
            <a:ext cx="365760" cy="886968"/>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30</a:t>
            </a:r>
            <a:endParaRPr lang="en-US" sz="1500" dirty="0"/>
          </a:p>
        </p:txBody>
      </p:sp>
      <p:sp>
        <p:nvSpPr>
          <p:cNvPr id="57" name="Text 47"/>
          <p:cNvSpPr txBox="1"/>
          <p:nvPr/>
        </p:nvSpPr>
        <p:spPr>
          <a:xfrm>
            <a:off x="4788408" y="4515764"/>
            <a:ext cx="2959608" cy="461223"/>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CDJR POST FALLS</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$1.40M  →  </a:t>
            </a:r>
            <a:pPr indent="0" marL="0">
              <a:spcAft>
                <a:spcPts val="200"/>
              </a:spcAft>
              <a:buNone/>
            </a:pPr>
            <a:r>
              <a:rPr lang="en-US" sz="1200" b="1" dirty="0">
                <a:solidFill>
                  <a:srgbClr val="A82B26"/>
                </a:solidFill>
                <a:latin typeface="Inter" pitchFamily="34" charset="0"/>
                <a:ea typeface="Inter" pitchFamily="34" charset="-122"/>
                <a:cs typeface="Inter" pitchFamily="34" charset="-120"/>
              </a:rPr>
              <a:t>$1.26M</a:t>
            </a:r>
            <a:endParaRPr lang="en-US" sz="1400" dirty="0"/>
          </a:p>
        </p:txBody>
      </p:sp>
      <p:graphicFrame>
        <p:nvGraphicFramePr>
          <p:cNvPr id="58" name="Chart 8" descr=""/>
          <p:cNvGraphicFramePr/>
          <p:nvPr/>
        </p:nvGraphicFramePr>
        <p:xfrm>
          <a:off x="4788408" y="5003597"/>
          <a:ext cx="1972056" cy="301569"/>
        </p:xfrm>
        <a:graphic xmlns:a="http://schemas.openxmlformats.org/drawingml/2006/main">
          <a:graphicData uri="http://schemas.openxmlformats.org/drawingml/2006/chart">
            <c:chart xmlns:c="http://schemas.openxmlformats.org/drawingml/2006/chart" r:id="rId9"/>
          </a:graphicData>
        </a:graphic>
      </p:graphicFrame>
      <p:sp>
        <p:nvSpPr>
          <p:cNvPr id="59" name="Text 48"/>
          <p:cNvSpPr txBox="1"/>
          <p:nvPr/>
        </p:nvSpPr>
        <p:spPr>
          <a:xfrm>
            <a:off x="6851904" y="4737506"/>
            <a:ext cx="896112" cy="319308"/>
          </a:xfrm>
          <a:prstGeom prst="rect">
            <a:avLst/>
          </a:prstGeom>
          <a:noFill/>
          <a:ln/>
        </p:spPr>
        <p:txBody>
          <a:bodyPr wrap="square" lIns="0" tIns="0" rIns="0" bIns="0" rtlCol="0" anchor="b"/>
          <a:lstStyle/>
          <a:p>
            <a:pPr algn="r" indent="0" marL="0">
              <a:buNone/>
            </a:pPr>
            <a:r>
              <a:rPr lang="en-US" sz="1600" b="1" dirty="0">
                <a:solidFill>
                  <a:srgbClr val="A82B26"/>
                </a:solidFill>
                <a:latin typeface="Inter" pitchFamily="34" charset="0"/>
                <a:ea typeface="Inter" pitchFamily="34" charset="-122"/>
                <a:cs typeface="Inter" pitchFamily="34" charset="-120"/>
              </a:rPr>
              <a:t>−10.4%</a:t>
            </a:r>
            <a:endParaRPr lang="en-US" sz="1600" dirty="0"/>
          </a:p>
        </p:txBody>
      </p:sp>
      <p:sp>
        <p:nvSpPr>
          <p:cNvPr id="60" name="Text 49"/>
          <p:cNvSpPr txBox="1"/>
          <p:nvPr/>
        </p:nvSpPr>
        <p:spPr>
          <a:xfrm>
            <a:off x="6851904" y="5056815"/>
            <a:ext cx="896112" cy="239481"/>
          </a:xfrm>
          <a:prstGeom prst="rect">
            <a:avLst/>
          </a:prstGeom>
          <a:noFill/>
          <a:ln/>
        </p:spPr>
        <p:txBody>
          <a:bodyPr wrap="square" lIns="0" tIns="0" rIns="0" bIns="0" rtlCol="0" anchor="t"/>
          <a:lstStyle/>
          <a:p>
            <a:pPr algn="r" indent="0" marL="0">
              <a:buNone/>
            </a:pPr>
            <a:r>
              <a:rPr lang="en-US" sz="1300" dirty="0">
                <a:solidFill>
                  <a:srgbClr val="595959"/>
                </a:solidFill>
                <a:latin typeface="Inter" pitchFamily="34" charset="0"/>
                <a:ea typeface="Inter" pitchFamily="34" charset="-122"/>
                <a:cs typeface="Inter" pitchFamily="34" charset="-120"/>
              </a:rPr>
              <a:t>−$146K</a:t>
            </a:r>
            <a:endParaRPr lang="en-US" sz="1300" dirty="0"/>
          </a:p>
        </p:txBody>
      </p:sp>
      <p:sp>
        <p:nvSpPr>
          <p:cNvPr id="61" name="Shape 50"/>
          <p:cNvSpPr/>
          <p:nvPr/>
        </p:nvSpPr>
        <p:spPr>
          <a:xfrm>
            <a:off x="4349496" y="5358384"/>
            <a:ext cx="3489960" cy="886968"/>
          </a:xfrm>
          <a:prstGeom prst="rect">
            <a:avLst/>
          </a:prstGeom>
          <a:solidFill>
            <a:srgbClr val="F7F7F7"/>
          </a:solidFill>
          <a:ln/>
        </p:spPr>
      </p:sp>
      <p:sp>
        <p:nvSpPr>
          <p:cNvPr id="62" name="Text 51"/>
          <p:cNvSpPr txBox="1"/>
          <p:nvPr/>
        </p:nvSpPr>
        <p:spPr>
          <a:xfrm>
            <a:off x="4440936" y="5358384"/>
            <a:ext cx="365760" cy="886968"/>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29</a:t>
            </a:r>
            <a:endParaRPr lang="en-US" sz="1500" dirty="0"/>
          </a:p>
        </p:txBody>
      </p:sp>
      <p:sp>
        <p:nvSpPr>
          <p:cNvPr id="63" name="Text 52"/>
          <p:cNvSpPr txBox="1"/>
          <p:nvPr/>
        </p:nvSpPr>
        <p:spPr>
          <a:xfrm>
            <a:off x="4788408" y="5402732"/>
            <a:ext cx="2959608" cy="461223"/>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KIA LV</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$2.27M  →  </a:t>
            </a:r>
            <a:pPr indent="0" marL="0">
              <a:spcAft>
                <a:spcPts val="200"/>
              </a:spcAft>
              <a:buNone/>
            </a:pPr>
            <a:r>
              <a:rPr lang="en-US" sz="1200" b="1" dirty="0">
                <a:solidFill>
                  <a:srgbClr val="A82B26"/>
                </a:solidFill>
                <a:latin typeface="Inter" pitchFamily="34" charset="0"/>
                <a:ea typeface="Inter" pitchFamily="34" charset="-122"/>
                <a:cs typeface="Inter" pitchFamily="34" charset="-120"/>
              </a:rPr>
              <a:t>$2.10M</a:t>
            </a:r>
            <a:endParaRPr lang="en-US" sz="1400" dirty="0"/>
          </a:p>
        </p:txBody>
      </p:sp>
      <p:graphicFrame>
        <p:nvGraphicFramePr>
          <p:cNvPr id="64" name="Chart 9" descr=""/>
          <p:cNvGraphicFramePr/>
          <p:nvPr/>
        </p:nvGraphicFramePr>
        <p:xfrm>
          <a:off x="4788408" y="5890565"/>
          <a:ext cx="1972056" cy="301569"/>
        </p:xfrm>
        <a:graphic xmlns:a="http://schemas.openxmlformats.org/drawingml/2006/main">
          <a:graphicData uri="http://schemas.openxmlformats.org/drawingml/2006/chart">
            <c:chart xmlns:c="http://schemas.openxmlformats.org/drawingml/2006/chart" r:id="rId10"/>
          </a:graphicData>
        </a:graphic>
      </p:graphicFrame>
      <p:sp>
        <p:nvSpPr>
          <p:cNvPr id="65" name="Text 53"/>
          <p:cNvSpPr txBox="1"/>
          <p:nvPr/>
        </p:nvSpPr>
        <p:spPr>
          <a:xfrm>
            <a:off x="6851904" y="5624474"/>
            <a:ext cx="896112" cy="319308"/>
          </a:xfrm>
          <a:prstGeom prst="rect">
            <a:avLst/>
          </a:prstGeom>
          <a:noFill/>
          <a:ln/>
        </p:spPr>
        <p:txBody>
          <a:bodyPr wrap="square" lIns="0" tIns="0" rIns="0" bIns="0" rtlCol="0" anchor="b"/>
          <a:lstStyle/>
          <a:p>
            <a:pPr algn="r" indent="0" marL="0">
              <a:buNone/>
            </a:pPr>
            <a:r>
              <a:rPr lang="en-US" sz="1600" b="1" dirty="0">
                <a:solidFill>
                  <a:srgbClr val="A82B26"/>
                </a:solidFill>
                <a:latin typeface="Inter" pitchFamily="34" charset="0"/>
                <a:ea typeface="Inter" pitchFamily="34" charset="-122"/>
                <a:cs typeface="Inter" pitchFamily="34" charset="-120"/>
              </a:rPr>
              <a:t>−7.4%</a:t>
            </a:r>
            <a:endParaRPr lang="en-US" sz="1600" dirty="0"/>
          </a:p>
        </p:txBody>
      </p:sp>
      <p:sp>
        <p:nvSpPr>
          <p:cNvPr id="66" name="Text 54"/>
          <p:cNvSpPr txBox="1"/>
          <p:nvPr/>
        </p:nvSpPr>
        <p:spPr>
          <a:xfrm>
            <a:off x="6851904" y="5943783"/>
            <a:ext cx="896112" cy="239481"/>
          </a:xfrm>
          <a:prstGeom prst="rect">
            <a:avLst/>
          </a:prstGeom>
          <a:noFill/>
          <a:ln/>
        </p:spPr>
        <p:txBody>
          <a:bodyPr wrap="square" lIns="0" tIns="0" rIns="0" bIns="0" rtlCol="0" anchor="t"/>
          <a:lstStyle/>
          <a:p>
            <a:pPr algn="r" indent="0" marL="0">
              <a:buNone/>
            </a:pPr>
            <a:r>
              <a:rPr lang="en-US" sz="1300" dirty="0">
                <a:solidFill>
                  <a:srgbClr val="595959"/>
                </a:solidFill>
                <a:latin typeface="Inter" pitchFamily="34" charset="0"/>
                <a:ea typeface="Inter" pitchFamily="34" charset="-122"/>
                <a:cs typeface="Inter" pitchFamily="34" charset="-120"/>
              </a:rPr>
              <a:t>−$167K</a:t>
            </a:r>
            <a:endParaRPr lang="en-US" sz="1300" dirty="0"/>
          </a:p>
        </p:txBody>
      </p:sp>
      <p:sp>
        <p:nvSpPr>
          <p:cNvPr id="67" name="Shape 55"/>
          <p:cNvSpPr/>
          <p:nvPr/>
        </p:nvSpPr>
        <p:spPr>
          <a:xfrm>
            <a:off x="8040624" y="1371600"/>
            <a:ext cx="3489960" cy="45720"/>
          </a:xfrm>
          <a:prstGeom prst="rect">
            <a:avLst/>
          </a:prstGeom>
          <a:solidFill>
            <a:srgbClr val="2587C5"/>
          </a:solidFill>
          <a:ln/>
        </p:spPr>
      </p:sp>
      <p:sp>
        <p:nvSpPr>
          <p:cNvPr id="68" name="Text 56"/>
          <p:cNvSpPr txBox="1"/>
          <p:nvPr/>
        </p:nvSpPr>
        <p:spPr>
          <a:xfrm>
            <a:off x="8132064" y="1444752"/>
            <a:ext cx="3307080" cy="274320"/>
          </a:xfrm>
          <a:prstGeom prst="rect">
            <a:avLst/>
          </a:prstGeom>
          <a:noFill/>
          <a:ln/>
        </p:spPr>
        <p:txBody>
          <a:bodyPr wrap="square" lIns="0" tIns="0" rIns="0" bIns="0" rtlCol="0" anchor="ctr"/>
          <a:lstStyle/>
          <a:p>
            <a:pPr indent="0" marL="0">
              <a:buNone/>
            </a:pPr>
            <a:r>
              <a:rPr lang="en-US" sz="1500" b="1" spc="100" kern="0" dirty="0">
                <a:solidFill>
                  <a:srgbClr val="0B2C4A"/>
                </a:solidFill>
                <a:latin typeface="Inter" pitchFamily="34" charset="0"/>
                <a:ea typeface="Inter" pitchFamily="34" charset="-122"/>
                <a:cs typeface="Inter" pitchFamily="34" charset="-120"/>
              </a:rPr>
              <a:t>TOP 5 MOVING NOW</a:t>
            </a:r>
            <a:endParaRPr lang="en-US" sz="1500" dirty="0"/>
          </a:p>
        </p:txBody>
      </p:sp>
      <p:sp>
        <p:nvSpPr>
          <p:cNvPr id="69" name="Shape 57"/>
          <p:cNvSpPr/>
          <p:nvPr/>
        </p:nvSpPr>
        <p:spPr>
          <a:xfrm>
            <a:off x="8040624" y="1810512"/>
            <a:ext cx="3489960" cy="886968"/>
          </a:xfrm>
          <a:prstGeom prst="rect">
            <a:avLst/>
          </a:prstGeom>
          <a:solidFill>
            <a:srgbClr val="F7F7F7"/>
          </a:solidFill>
          <a:ln/>
        </p:spPr>
      </p:sp>
      <p:sp>
        <p:nvSpPr>
          <p:cNvPr id="70" name="Text 58"/>
          <p:cNvSpPr txBox="1"/>
          <p:nvPr/>
        </p:nvSpPr>
        <p:spPr>
          <a:xfrm>
            <a:off x="8132064" y="1810512"/>
            <a:ext cx="365760" cy="886968"/>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1</a:t>
            </a:r>
            <a:endParaRPr lang="en-US" sz="1500" dirty="0"/>
          </a:p>
        </p:txBody>
      </p:sp>
      <p:sp>
        <p:nvSpPr>
          <p:cNvPr id="71" name="Text 59"/>
          <p:cNvSpPr txBox="1"/>
          <p:nvPr/>
        </p:nvSpPr>
        <p:spPr>
          <a:xfrm>
            <a:off x="8479536" y="1854860"/>
            <a:ext cx="2959608" cy="461223"/>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AUDI HENDERSON</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$339K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$486K</a:t>
            </a:r>
            <a:endParaRPr lang="en-US" sz="1400" dirty="0"/>
          </a:p>
        </p:txBody>
      </p:sp>
      <p:graphicFrame>
        <p:nvGraphicFramePr>
          <p:cNvPr id="72" name="Chart 10" descr=""/>
          <p:cNvGraphicFramePr/>
          <p:nvPr/>
        </p:nvGraphicFramePr>
        <p:xfrm>
          <a:off x="8479536" y="2342693"/>
          <a:ext cx="1972056" cy="301569"/>
        </p:xfrm>
        <a:graphic xmlns:a="http://schemas.openxmlformats.org/drawingml/2006/main">
          <a:graphicData uri="http://schemas.openxmlformats.org/drawingml/2006/chart">
            <c:chart xmlns:c="http://schemas.openxmlformats.org/drawingml/2006/chart" r:id="rId11"/>
          </a:graphicData>
        </a:graphic>
      </p:graphicFrame>
      <p:sp>
        <p:nvSpPr>
          <p:cNvPr id="73" name="Text 60"/>
          <p:cNvSpPr txBox="1"/>
          <p:nvPr/>
        </p:nvSpPr>
        <p:spPr>
          <a:xfrm>
            <a:off x="10543032" y="2076602"/>
            <a:ext cx="896112" cy="319308"/>
          </a:xfrm>
          <a:prstGeom prst="rect">
            <a:avLst/>
          </a:prstGeom>
          <a:noFill/>
          <a:ln/>
        </p:spPr>
        <p:txBody>
          <a:bodyPr wrap="square" lIns="0" tIns="0" rIns="0" bIns="0" rtlCol="0" anchor="b"/>
          <a:lstStyle/>
          <a:p>
            <a:pPr algn="r" indent="0" marL="0">
              <a:buNone/>
            </a:pPr>
            <a:r>
              <a:rPr lang="en-US" sz="1600" b="1" dirty="0">
                <a:solidFill>
                  <a:srgbClr val="0B7A4A"/>
                </a:solidFill>
                <a:latin typeface="Inter" pitchFamily="34" charset="0"/>
                <a:ea typeface="Inter" pitchFamily="34" charset="-122"/>
                <a:cs typeface="Inter" pitchFamily="34" charset="-120"/>
              </a:rPr>
              <a:t>+43.4%</a:t>
            </a:r>
            <a:endParaRPr lang="en-US" sz="1600" dirty="0"/>
          </a:p>
        </p:txBody>
      </p:sp>
      <p:sp>
        <p:nvSpPr>
          <p:cNvPr id="74" name="Text 61"/>
          <p:cNvSpPr txBox="1"/>
          <p:nvPr/>
        </p:nvSpPr>
        <p:spPr>
          <a:xfrm>
            <a:off x="10543032" y="2395911"/>
            <a:ext cx="896112" cy="239481"/>
          </a:xfrm>
          <a:prstGeom prst="rect">
            <a:avLst/>
          </a:prstGeom>
          <a:noFill/>
          <a:ln/>
        </p:spPr>
        <p:txBody>
          <a:bodyPr wrap="square" lIns="0" tIns="0" rIns="0" bIns="0" rtlCol="0" anchor="t"/>
          <a:lstStyle/>
          <a:p>
            <a:pPr algn="r" indent="0" marL="0">
              <a:buNone/>
            </a:pPr>
            <a:r>
              <a:rPr lang="en-US" sz="1300" dirty="0">
                <a:solidFill>
                  <a:srgbClr val="595959"/>
                </a:solidFill>
                <a:latin typeface="Inter" pitchFamily="34" charset="0"/>
                <a:ea typeface="Inter" pitchFamily="34" charset="-122"/>
                <a:cs typeface="Inter" pitchFamily="34" charset="-120"/>
              </a:rPr>
              <a:t>+$147K</a:t>
            </a:r>
            <a:endParaRPr lang="en-US" sz="1300" dirty="0"/>
          </a:p>
        </p:txBody>
      </p:sp>
      <p:sp>
        <p:nvSpPr>
          <p:cNvPr id="75" name="Text 62"/>
          <p:cNvSpPr txBox="1"/>
          <p:nvPr/>
        </p:nvSpPr>
        <p:spPr>
          <a:xfrm>
            <a:off x="8132064" y="2697480"/>
            <a:ext cx="365760" cy="886968"/>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2</a:t>
            </a:r>
            <a:endParaRPr lang="en-US" sz="1500" dirty="0"/>
          </a:p>
        </p:txBody>
      </p:sp>
      <p:sp>
        <p:nvSpPr>
          <p:cNvPr id="76" name="Text 63"/>
          <p:cNvSpPr txBox="1"/>
          <p:nvPr/>
        </p:nvSpPr>
        <p:spPr>
          <a:xfrm>
            <a:off x="8479536" y="2741828"/>
            <a:ext cx="2959608" cy="461223"/>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MAZDA</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$114K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$150K</a:t>
            </a:r>
            <a:endParaRPr lang="en-US" sz="1400" dirty="0"/>
          </a:p>
        </p:txBody>
      </p:sp>
      <p:graphicFrame>
        <p:nvGraphicFramePr>
          <p:cNvPr id="77" name="Chart 11" descr=""/>
          <p:cNvGraphicFramePr/>
          <p:nvPr/>
        </p:nvGraphicFramePr>
        <p:xfrm>
          <a:off x="8479536" y="3229661"/>
          <a:ext cx="1972056" cy="301569"/>
        </p:xfrm>
        <a:graphic xmlns:a="http://schemas.openxmlformats.org/drawingml/2006/main">
          <a:graphicData uri="http://schemas.openxmlformats.org/drawingml/2006/chart">
            <c:chart xmlns:c="http://schemas.openxmlformats.org/drawingml/2006/chart" r:id="rId12"/>
          </a:graphicData>
        </a:graphic>
      </p:graphicFrame>
      <p:sp>
        <p:nvSpPr>
          <p:cNvPr id="78" name="Text 64"/>
          <p:cNvSpPr txBox="1"/>
          <p:nvPr/>
        </p:nvSpPr>
        <p:spPr>
          <a:xfrm>
            <a:off x="10543032" y="2963570"/>
            <a:ext cx="896112" cy="319308"/>
          </a:xfrm>
          <a:prstGeom prst="rect">
            <a:avLst/>
          </a:prstGeom>
          <a:noFill/>
          <a:ln/>
        </p:spPr>
        <p:txBody>
          <a:bodyPr wrap="square" lIns="0" tIns="0" rIns="0" bIns="0" rtlCol="0" anchor="b"/>
          <a:lstStyle/>
          <a:p>
            <a:pPr algn="r" indent="0" marL="0">
              <a:buNone/>
            </a:pPr>
            <a:r>
              <a:rPr lang="en-US" sz="1600" b="1" dirty="0">
                <a:solidFill>
                  <a:srgbClr val="0B7A4A"/>
                </a:solidFill>
                <a:latin typeface="Inter" pitchFamily="34" charset="0"/>
                <a:ea typeface="Inter" pitchFamily="34" charset="-122"/>
                <a:cs typeface="Inter" pitchFamily="34" charset="-120"/>
              </a:rPr>
              <a:t>+31.5%</a:t>
            </a:r>
            <a:endParaRPr lang="en-US" sz="1600" dirty="0"/>
          </a:p>
        </p:txBody>
      </p:sp>
      <p:sp>
        <p:nvSpPr>
          <p:cNvPr id="79" name="Text 65"/>
          <p:cNvSpPr txBox="1"/>
          <p:nvPr/>
        </p:nvSpPr>
        <p:spPr>
          <a:xfrm>
            <a:off x="10543032" y="3282879"/>
            <a:ext cx="896112" cy="239481"/>
          </a:xfrm>
          <a:prstGeom prst="rect">
            <a:avLst/>
          </a:prstGeom>
          <a:noFill/>
          <a:ln/>
        </p:spPr>
        <p:txBody>
          <a:bodyPr wrap="square" lIns="0" tIns="0" rIns="0" bIns="0" rtlCol="0" anchor="t"/>
          <a:lstStyle/>
          <a:p>
            <a:pPr algn="r" indent="0" marL="0">
              <a:buNone/>
            </a:pPr>
            <a:r>
              <a:rPr lang="en-US" sz="1300" dirty="0">
                <a:solidFill>
                  <a:srgbClr val="595959"/>
                </a:solidFill>
                <a:latin typeface="Inter" pitchFamily="34" charset="0"/>
                <a:ea typeface="Inter" pitchFamily="34" charset="-122"/>
                <a:cs typeface="Inter" pitchFamily="34" charset="-120"/>
              </a:rPr>
              <a:t>+$36K</a:t>
            </a:r>
            <a:endParaRPr lang="en-US" sz="1300" dirty="0"/>
          </a:p>
        </p:txBody>
      </p:sp>
      <p:sp>
        <p:nvSpPr>
          <p:cNvPr id="80" name="Shape 66"/>
          <p:cNvSpPr/>
          <p:nvPr/>
        </p:nvSpPr>
        <p:spPr>
          <a:xfrm>
            <a:off x="8040624" y="3584448"/>
            <a:ext cx="3489960" cy="886968"/>
          </a:xfrm>
          <a:prstGeom prst="rect">
            <a:avLst/>
          </a:prstGeom>
          <a:solidFill>
            <a:srgbClr val="F7F7F7"/>
          </a:solidFill>
          <a:ln/>
        </p:spPr>
      </p:sp>
      <p:sp>
        <p:nvSpPr>
          <p:cNvPr id="81" name="Text 67"/>
          <p:cNvSpPr txBox="1"/>
          <p:nvPr/>
        </p:nvSpPr>
        <p:spPr>
          <a:xfrm>
            <a:off x="8132064" y="3584448"/>
            <a:ext cx="365760" cy="886968"/>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3</a:t>
            </a:r>
            <a:endParaRPr lang="en-US" sz="1500" dirty="0"/>
          </a:p>
        </p:txBody>
      </p:sp>
      <p:sp>
        <p:nvSpPr>
          <p:cNvPr id="82" name="Text 68"/>
          <p:cNvSpPr txBox="1"/>
          <p:nvPr/>
        </p:nvSpPr>
        <p:spPr>
          <a:xfrm>
            <a:off x="8479536" y="3628796"/>
            <a:ext cx="2959608" cy="461223"/>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HONDA FLAGSTAFF</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$52K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$68K</a:t>
            </a:r>
            <a:endParaRPr lang="en-US" sz="1400" dirty="0"/>
          </a:p>
        </p:txBody>
      </p:sp>
      <p:graphicFrame>
        <p:nvGraphicFramePr>
          <p:cNvPr id="83" name="Chart 12" descr=""/>
          <p:cNvGraphicFramePr/>
          <p:nvPr/>
        </p:nvGraphicFramePr>
        <p:xfrm>
          <a:off x="8479536" y="4116629"/>
          <a:ext cx="1972056" cy="301569"/>
        </p:xfrm>
        <a:graphic xmlns:a="http://schemas.openxmlformats.org/drawingml/2006/main">
          <a:graphicData uri="http://schemas.openxmlformats.org/drawingml/2006/chart">
            <c:chart xmlns:c="http://schemas.openxmlformats.org/drawingml/2006/chart" r:id="rId13"/>
          </a:graphicData>
        </a:graphic>
      </p:graphicFrame>
      <p:sp>
        <p:nvSpPr>
          <p:cNvPr id="84" name="Text 69"/>
          <p:cNvSpPr txBox="1"/>
          <p:nvPr/>
        </p:nvSpPr>
        <p:spPr>
          <a:xfrm>
            <a:off x="10543032" y="3850538"/>
            <a:ext cx="896112" cy="319308"/>
          </a:xfrm>
          <a:prstGeom prst="rect">
            <a:avLst/>
          </a:prstGeom>
          <a:noFill/>
          <a:ln/>
        </p:spPr>
        <p:txBody>
          <a:bodyPr wrap="square" lIns="0" tIns="0" rIns="0" bIns="0" rtlCol="0" anchor="b"/>
          <a:lstStyle/>
          <a:p>
            <a:pPr algn="r" indent="0" marL="0">
              <a:buNone/>
            </a:pPr>
            <a:r>
              <a:rPr lang="en-US" sz="1600" b="1" dirty="0">
                <a:solidFill>
                  <a:srgbClr val="0B7A4A"/>
                </a:solidFill>
                <a:latin typeface="Inter" pitchFamily="34" charset="0"/>
                <a:ea typeface="Inter" pitchFamily="34" charset="-122"/>
                <a:cs typeface="Inter" pitchFamily="34" charset="-120"/>
              </a:rPr>
              <a:t>+31.3%</a:t>
            </a:r>
            <a:endParaRPr lang="en-US" sz="1600" dirty="0"/>
          </a:p>
        </p:txBody>
      </p:sp>
      <p:sp>
        <p:nvSpPr>
          <p:cNvPr id="85" name="Text 70"/>
          <p:cNvSpPr txBox="1"/>
          <p:nvPr/>
        </p:nvSpPr>
        <p:spPr>
          <a:xfrm>
            <a:off x="10543032" y="4169847"/>
            <a:ext cx="896112" cy="239481"/>
          </a:xfrm>
          <a:prstGeom prst="rect">
            <a:avLst/>
          </a:prstGeom>
          <a:noFill/>
          <a:ln/>
        </p:spPr>
        <p:txBody>
          <a:bodyPr wrap="square" lIns="0" tIns="0" rIns="0" bIns="0" rtlCol="0" anchor="t"/>
          <a:lstStyle/>
          <a:p>
            <a:pPr algn="r" indent="0" marL="0">
              <a:buNone/>
            </a:pPr>
            <a:r>
              <a:rPr lang="en-US" sz="1300" dirty="0">
                <a:solidFill>
                  <a:srgbClr val="595959"/>
                </a:solidFill>
                <a:latin typeface="Inter" pitchFamily="34" charset="0"/>
                <a:ea typeface="Inter" pitchFamily="34" charset="-122"/>
                <a:cs typeface="Inter" pitchFamily="34" charset="-120"/>
              </a:rPr>
              <a:t>+$16K</a:t>
            </a:r>
            <a:endParaRPr lang="en-US" sz="1300" dirty="0"/>
          </a:p>
        </p:txBody>
      </p:sp>
      <p:sp>
        <p:nvSpPr>
          <p:cNvPr id="86" name="Text 71"/>
          <p:cNvSpPr txBox="1"/>
          <p:nvPr/>
        </p:nvSpPr>
        <p:spPr>
          <a:xfrm>
            <a:off x="8132064" y="4471416"/>
            <a:ext cx="365760" cy="886968"/>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4</a:t>
            </a:r>
            <a:endParaRPr lang="en-US" sz="1500" dirty="0"/>
          </a:p>
        </p:txBody>
      </p:sp>
      <p:sp>
        <p:nvSpPr>
          <p:cNvPr id="87" name="Text 72"/>
          <p:cNvSpPr txBox="1"/>
          <p:nvPr/>
        </p:nvSpPr>
        <p:spPr>
          <a:xfrm>
            <a:off x="8479536" y="4515764"/>
            <a:ext cx="2959608" cy="461223"/>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KIA ST GEORGE</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$95K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$123K</a:t>
            </a:r>
            <a:endParaRPr lang="en-US" sz="1400" dirty="0"/>
          </a:p>
        </p:txBody>
      </p:sp>
      <p:graphicFrame>
        <p:nvGraphicFramePr>
          <p:cNvPr id="88" name="Chart 13" descr=""/>
          <p:cNvGraphicFramePr/>
          <p:nvPr/>
        </p:nvGraphicFramePr>
        <p:xfrm>
          <a:off x="8479536" y="5003597"/>
          <a:ext cx="1972056" cy="301569"/>
        </p:xfrm>
        <a:graphic xmlns:a="http://schemas.openxmlformats.org/drawingml/2006/main">
          <a:graphicData uri="http://schemas.openxmlformats.org/drawingml/2006/chart">
            <c:chart xmlns:c="http://schemas.openxmlformats.org/drawingml/2006/chart" r:id="rId14"/>
          </a:graphicData>
        </a:graphic>
      </p:graphicFrame>
      <p:sp>
        <p:nvSpPr>
          <p:cNvPr id="89" name="Text 73"/>
          <p:cNvSpPr txBox="1"/>
          <p:nvPr/>
        </p:nvSpPr>
        <p:spPr>
          <a:xfrm>
            <a:off x="10543032" y="4737506"/>
            <a:ext cx="896112" cy="319308"/>
          </a:xfrm>
          <a:prstGeom prst="rect">
            <a:avLst/>
          </a:prstGeom>
          <a:noFill/>
          <a:ln/>
        </p:spPr>
        <p:txBody>
          <a:bodyPr wrap="square" lIns="0" tIns="0" rIns="0" bIns="0" rtlCol="0" anchor="b"/>
          <a:lstStyle/>
          <a:p>
            <a:pPr algn="r" indent="0" marL="0">
              <a:buNone/>
            </a:pPr>
            <a:r>
              <a:rPr lang="en-US" sz="1600" b="1" dirty="0">
                <a:solidFill>
                  <a:srgbClr val="0B7A4A"/>
                </a:solidFill>
                <a:latin typeface="Inter" pitchFamily="34" charset="0"/>
                <a:ea typeface="Inter" pitchFamily="34" charset="-122"/>
                <a:cs typeface="Inter" pitchFamily="34" charset="-120"/>
              </a:rPr>
              <a:t>+30.1%</a:t>
            </a:r>
            <a:endParaRPr lang="en-US" sz="1600" dirty="0"/>
          </a:p>
        </p:txBody>
      </p:sp>
      <p:sp>
        <p:nvSpPr>
          <p:cNvPr id="90" name="Text 74"/>
          <p:cNvSpPr txBox="1"/>
          <p:nvPr/>
        </p:nvSpPr>
        <p:spPr>
          <a:xfrm>
            <a:off x="10543032" y="5056815"/>
            <a:ext cx="896112" cy="239481"/>
          </a:xfrm>
          <a:prstGeom prst="rect">
            <a:avLst/>
          </a:prstGeom>
          <a:noFill/>
          <a:ln/>
        </p:spPr>
        <p:txBody>
          <a:bodyPr wrap="square" lIns="0" tIns="0" rIns="0" bIns="0" rtlCol="0" anchor="t"/>
          <a:lstStyle/>
          <a:p>
            <a:pPr algn="r" indent="0" marL="0">
              <a:buNone/>
            </a:pPr>
            <a:r>
              <a:rPr lang="en-US" sz="1300" dirty="0">
                <a:solidFill>
                  <a:srgbClr val="595959"/>
                </a:solidFill>
                <a:latin typeface="Inter" pitchFamily="34" charset="0"/>
                <a:ea typeface="Inter" pitchFamily="34" charset="-122"/>
                <a:cs typeface="Inter" pitchFamily="34" charset="-120"/>
              </a:rPr>
              <a:t>+$28K</a:t>
            </a:r>
            <a:endParaRPr lang="en-US" sz="1300" dirty="0"/>
          </a:p>
        </p:txBody>
      </p:sp>
      <p:sp>
        <p:nvSpPr>
          <p:cNvPr id="91" name="Shape 75"/>
          <p:cNvSpPr/>
          <p:nvPr/>
        </p:nvSpPr>
        <p:spPr>
          <a:xfrm>
            <a:off x="8040624" y="5358384"/>
            <a:ext cx="3489960" cy="886968"/>
          </a:xfrm>
          <a:prstGeom prst="rect">
            <a:avLst/>
          </a:prstGeom>
          <a:solidFill>
            <a:srgbClr val="F7F7F7"/>
          </a:solidFill>
          <a:ln/>
        </p:spPr>
      </p:sp>
      <p:sp>
        <p:nvSpPr>
          <p:cNvPr id="92" name="Text 76"/>
          <p:cNvSpPr txBox="1"/>
          <p:nvPr/>
        </p:nvSpPr>
        <p:spPr>
          <a:xfrm>
            <a:off x="8132064" y="5358384"/>
            <a:ext cx="365760" cy="886968"/>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5</a:t>
            </a:r>
            <a:endParaRPr lang="en-US" sz="1500" dirty="0"/>
          </a:p>
        </p:txBody>
      </p:sp>
      <p:sp>
        <p:nvSpPr>
          <p:cNvPr id="93" name="Text 77"/>
          <p:cNvSpPr txBox="1"/>
          <p:nvPr/>
        </p:nvSpPr>
        <p:spPr>
          <a:xfrm>
            <a:off x="8479536" y="5402732"/>
            <a:ext cx="2959608" cy="461223"/>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NISSAN</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$155K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$198K</a:t>
            </a:r>
            <a:endParaRPr lang="en-US" sz="1400" dirty="0"/>
          </a:p>
        </p:txBody>
      </p:sp>
      <p:graphicFrame>
        <p:nvGraphicFramePr>
          <p:cNvPr id="94" name="Chart 14" descr=""/>
          <p:cNvGraphicFramePr/>
          <p:nvPr/>
        </p:nvGraphicFramePr>
        <p:xfrm>
          <a:off x="8479536" y="5890565"/>
          <a:ext cx="1972056" cy="301569"/>
        </p:xfrm>
        <a:graphic xmlns:a="http://schemas.openxmlformats.org/drawingml/2006/main">
          <a:graphicData uri="http://schemas.openxmlformats.org/drawingml/2006/chart">
            <c:chart xmlns:c="http://schemas.openxmlformats.org/drawingml/2006/chart" r:id="rId15"/>
          </a:graphicData>
        </a:graphic>
      </p:graphicFrame>
      <p:sp>
        <p:nvSpPr>
          <p:cNvPr id="95" name="Text 78"/>
          <p:cNvSpPr txBox="1"/>
          <p:nvPr/>
        </p:nvSpPr>
        <p:spPr>
          <a:xfrm>
            <a:off x="10543032" y="5624474"/>
            <a:ext cx="896112" cy="319308"/>
          </a:xfrm>
          <a:prstGeom prst="rect">
            <a:avLst/>
          </a:prstGeom>
          <a:noFill/>
          <a:ln/>
        </p:spPr>
        <p:txBody>
          <a:bodyPr wrap="square" lIns="0" tIns="0" rIns="0" bIns="0" rtlCol="0" anchor="b"/>
          <a:lstStyle/>
          <a:p>
            <a:pPr algn="r" indent="0" marL="0">
              <a:buNone/>
            </a:pPr>
            <a:r>
              <a:rPr lang="en-US" sz="1600" b="1" dirty="0">
                <a:solidFill>
                  <a:srgbClr val="0B7A4A"/>
                </a:solidFill>
                <a:latin typeface="Inter" pitchFamily="34" charset="0"/>
                <a:ea typeface="Inter" pitchFamily="34" charset="-122"/>
                <a:cs typeface="Inter" pitchFamily="34" charset="-120"/>
              </a:rPr>
              <a:t>+27.6%</a:t>
            </a:r>
            <a:endParaRPr lang="en-US" sz="1600" dirty="0"/>
          </a:p>
        </p:txBody>
      </p:sp>
      <p:sp>
        <p:nvSpPr>
          <p:cNvPr id="96" name="Text 79"/>
          <p:cNvSpPr txBox="1"/>
          <p:nvPr/>
        </p:nvSpPr>
        <p:spPr>
          <a:xfrm>
            <a:off x="10543032" y="5943783"/>
            <a:ext cx="896112" cy="239481"/>
          </a:xfrm>
          <a:prstGeom prst="rect">
            <a:avLst/>
          </a:prstGeom>
          <a:noFill/>
          <a:ln/>
        </p:spPr>
        <p:txBody>
          <a:bodyPr wrap="square" lIns="0" tIns="0" rIns="0" bIns="0" rtlCol="0" anchor="t"/>
          <a:lstStyle/>
          <a:p>
            <a:pPr algn="r" indent="0" marL="0">
              <a:buNone/>
            </a:pPr>
            <a:r>
              <a:rPr lang="en-US" sz="1300" dirty="0">
                <a:solidFill>
                  <a:srgbClr val="595959"/>
                </a:solidFill>
                <a:latin typeface="Inter" pitchFamily="34" charset="0"/>
                <a:ea typeface="Inter" pitchFamily="34" charset="-122"/>
                <a:cs typeface="Inter" pitchFamily="34" charset="-120"/>
              </a:rPr>
              <a:t>+$43K</a:t>
            </a:r>
            <a:endParaRPr lang="en-US" sz="1300" dirty="0"/>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Inter"/>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Inter"/>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0</TotalTime>
  <Words>0</Words>
  <Application>Microsoft Office PowerPoint</Application>
  <PresentationFormat>On-screen Show (16:9)</PresentationFormat>
  <Paragraphs>0</Paragraphs>
  <Slides>13</Slides>
  <Notes>13</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13</vt:i4>
      </vt:variant>
    </vt:vector>
  </HeadingPairs>
  <TitlesOfParts>
    <vt:vector size="16" baseType="lpstr">
      <vt:lpstr>Arial</vt:lpstr>
      <vt:lpstr>Calibri</vt:lpstr>
      <vt:lpstr>Office Theme</vt:lpstr>
      <vt:lpstr>Slide 1</vt:lpstr>
      <vt:lpstr>Slide 2</vt:lpstr>
      <vt:lpstr>Slide 3</vt:lpstr>
      <vt:lpstr>Slide 4</vt:lpstr>
      <vt:lpstr>Slide 5</vt:lpstr>
      <vt:lpstr>Slide 6</vt:lpstr>
      <vt:lpstr>Slide 7</vt:lpstr>
      <vt:lpstr>Slide 8</vt:lpstr>
      <vt:lpstr>Slide 9</vt:lpstr>
      <vt:lpstr>Slide 10</vt:lpstr>
      <vt:lpstr>Slide 11</vt:lpstr>
      <vt:lpstr>Slide 12</vt:lpstr>
      <vt:lpstr>Slide 13</vt:lpstr>
    </vt:vector>
  </TitlesOfParts>
  <Company>PptxGenJS</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PptxGenJS Presentation</dc:title>
  <dc:subject>PptxGenJS Presentation</dc:subject>
  <dc:creator>PptxGenJS</dc:creator>
  <cp:lastModifiedBy>PptxGenJS</cp:lastModifiedBy>
  <cp:revision>1</cp:revision>
  <dcterms:created xsi:type="dcterms:W3CDTF">2026-10-28T22:44:10Z</dcterms:created>
  <dcterms:modified xsi:type="dcterms:W3CDTF">2026-10-28T22:44:10Z</dcterms:modified>
</cp:coreProperties>
</file>