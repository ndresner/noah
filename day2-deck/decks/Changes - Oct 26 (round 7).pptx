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31.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28.xml" ContentType="application/vnd.openxmlformats-officedocument.presentationml.slide+xml"/>
  <Override PartName="/ppt/slides/slide8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48" r:id="rId99"/>
    <p:sldId id="386" r:id="rId137"/>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99" Type="http://schemas.openxmlformats.org/officeDocument/2006/relationships/slide" Target="slides/slide88.xml"/><Relationship Id="rId137" Type="http://schemas.openxmlformats.org/officeDocument/2006/relationships/slide" Target="slides/slide1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Opcode Benchmarks, after Road to the Sale and ahead of MPI Completion % (Noah, Oct 23: maintenance visits and a complete MPI go hand in hand).</a:t>
            </a:r>
          </a:p>
          <a:p>
            <a:r>
              <a:t>Talk track (Noah, Oct 25): go to the dentist for a quick cleaning and they don't tell you something is starting to look like a cavity: that is a disservice. Get cars in quickly, perform a complete, comprehensive MPI, and make the proper recommendations at that time. This is critical, and it can't be left to entry-level employees alone: someone with experience who knows what to look for has to be looking at these cars. Depending on work mix, maintenance can be 25% to 75% of a store's service. Many stores focus on getting more cars in the door, which is great, and we want both, but they miss the opportunities they already have. Processes and policies make sure we capitalize on them: every car, every time.</a:t>
            </a:r>
          </a:p>
          <a:p>
            <a:r>
              <a:t>The 52.5% customer-pay share of labor sale tile was dropped with the rewrite.</a:t>
            </a:r>
          </a:p>
          <a:p>
            <a:r>
              <a:t>Said: Jan GM slide 8 / May GM slide 7 (Express Service), reworded.</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Productivity section, before CP &amp; W ROs per Service Advisor.</a:t>
            </a:r>
          </a:p>
          <a:p>
            <a:r>
              <a:t>Said: Jan GM slide 16 / May GM slide 12 (Pay Plans aka Work Instructions).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Basic Maintenance Service</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On-demand maintenance appointments: get cars in quickly. A car we can't book is work we never see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 complete, comprehensive multi-point inspection on every visit: what it finds is worth far more than the maintenance the car is due for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Experienced eyes on every car: entry-level staff alone won't know what to look for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An oil change that misses worn brakes or a leaking water pump is a disservice to the customer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More cars in the door is great, but first make the most of every car already in the shop</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Processes and policies that make it happen: every car, every time</a:t>
            </a:r>
            <a:endParaRPr lang="en-US" sz="1800" dirty="0"/>
          </a:p>
        </p:txBody>
      </p:sp>
      <p:sp>
        <p:nvSpPr>
          <p:cNvPr id="10" name="Shape 8"/>
          <p:cNvSpPr/>
          <p:nvPr/>
        </p:nvSpPr>
        <p:spPr>
          <a:xfrm>
            <a:off x="7269480" y="1920240"/>
            <a:ext cx="54864" cy="1783080"/>
          </a:xfrm>
          <a:prstGeom prst="rect">
            <a:avLst/>
          </a:prstGeom>
          <a:solidFill>
            <a:srgbClr val="2587C5"/>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54.3%</a:t>
            </a:r>
            <a:endParaRPr lang="en-US" sz="3000" dirty="0"/>
          </a:p>
        </p:txBody>
      </p:sp>
      <p:sp>
        <p:nvSpPr>
          <p:cNvPr id="12" name="Text 10"/>
          <p:cNvSpPr txBox="1"/>
          <p:nvPr/>
        </p:nvSpPr>
        <p:spPr>
          <a:xfrm>
            <a:off x="7452360" y="244144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Maintenance share of customer-pay labor across the group; repair 30.5%. Depending on work mix, maintenance runs 25% to 75% of a store's service.</a:t>
            </a:r>
            <a:endParaRPr lang="en-US" sz="1400" dirty="0"/>
          </a:p>
        </p:txBody>
      </p:sp>
      <p:sp>
        <p:nvSpPr>
          <p:cNvPr id="13" name="Shape 11"/>
          <p:cNvSpPr/>
          <p:nvPr/>
        </p:nvSpPr>
        <p:spPr>
          <a:xfrm>
            <a:off x="7269480" y="3931920"/>
            <a:ext cx="54864" cy="1783080"/>
          </a:xfrm>
          <a:prstGeom prst="rect">
            <a:avLst/>
          </a:prstGeom>
          <a:solidFill>
            <a:srgbClr val="C2352F"/>
          </a:solidFill>
          <a:ln/>
        </p:spPr>
      </p:sp>
      <p:sp>
        <p:nvSpPr>
          <p:cNvPr id="14" name="Text 12"/>
          <p:cNvSpPr txBox="1"/>
          <p:nvPr/>
        </p:nvSpPr>
        <p:spPr>
          <a:xfrm>
            <a:off x="7452360" y="388620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81.3%</a:t>
            </a:r>
            <a:endParaRPr lang="en-US" sz="3000" dirty="0"/>
          </a:p>
        </p:txBody>
      </p:sp>
      <p:sp>
        <p:nvSpPr>
          <p:cNvPr id="15" name="Text 13"/>
          <p:cNvSpPr txBox="1"/>
          <p:nvPr/>
        </p:nvSpPr>
        <p:spPr>
          <a:xfrm>
            <a:off x="7452360" y="445312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MPI completion, July to September (store-reported). 12 of 33 stores at the 90% benchmark: every car skipped is unknown work left in the car.</a:t>
            </a:r>
            <a:endParaRPr lang="en-US" sz="1400" dirty="0"/>
          </a:p>
        </p:txBody>
      </p:sp>
      <p:sp>
        <p:nvSpPr>
          <p:cNvPr id="16" name="Shape 14"/>
          <p:cNvSpPr/>
          <p:nvPr/>
        </p:nvSpPr>
        <p:spPr>
          <a:xfrm>
            <a:off x="457200" y="6126480"/>
            <a:ext cx="11274552" cy="615696"/>
          </a:xfrm>
          <a:prstGeom prst="rect">
            <a:avLst/>
          </a:prstGeom>
          <a:solidFill>
            <a:srgbClr val="EDF4FA"/>
          </a:solidFill>
          <a:ln/>
        </p:spPr>
      </p:sp>
      <p:sp>
        <p:nvSpPr>
          <p:cNvPr id="17" name="Text 1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capitalize on every maintenance visit: in quickly, inspected completely by someone who knows what to look for, and every finding recommended.</a:t>
            </a:r>
            <a:endParaRPr lang="en-US" sz="1600" dirty="0"/>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Pay Plans Are Work Instructions</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Clear and easily understood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Based on customer-pay performance: CP labor or gross per RO, hours per RO, maintenance penetration, total sales or gross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Incentivize improvement in the metrics that make the biggest difference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Move technicians to flat rate and away from hourly: it rewards productivity and makes proficiency easy to track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Service advisors: base versus bonus, a 50/50 ratio</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Every system is perfectly designed to get the results it gets</a:t>
            </a:r>
            <a:endParaRPr lang="en-US" sz="1800" dirty="0"/>
          </a:p>
        </p:txBody>
      </p:sp>
      <p:sp>
        <p:nvSpPr>
          <p:cNvPr id="10" name="Shape 8"/>
          <p:cNvSpPr/>
          <p:nvPr/>
        </p:nvSpPr>
        <p:spPr>
          <a:xfrm>
            <a:off x="7269480" y="1920240"/>
            <a:ext cx="54864" cy="178308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$304</a:t>
            </a:r>
            <a:endParaRPr lang="en-US" sz="3000" dirty="0"/>
          </a:p>
        </p:txBody>
      </p:sp>
      <p:sp>
        <p:nvSpPr>
          <p:cNvPr id="12" name="Text 10"/>
          <p:cNvSpPr txBox="1"/>
          <p:nvPr/>
        </p:nvSpPr>
        <p:spPr>
          <a:xfrm>
            <a:off x="7452360" y="244144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labor per RO, the number the plans should pay on. Up $17.</a:t>
            </a:r>
            <a:endParaRPr lang="en-US" sz="1400" dirty="0"/>
          </a:p>
        </p:txBody>
      </p:sp>
      <p:sp>
        <p:nvSpPr>
          <p:cNvPr id="13" name="Shape 11"/>
          <p:cNvSpPr/>
          <p:nvPr/>
        </p:nvSpPr>
        <p:spPr>
          <a:xfrm>
            <a:off x="7269480" y="3931920"/>
            <a:ext cx="54864" cy="1783080"/>
          </a:xfrm>
          <a:prstGeom prst="rect">
            <a:avLst/>
          </a:prstGeom>
          <a:solidFill>
            <a:srgbClr val="12A566"/>
          </a:solidFill>
          <a:ln/>
        </p:spPr>
      </p:sp>
      <p:sp>
        <p:nvSpPr>
          <p:cNvPr id="14" name="Text 12"/>
          <p:cNvSpPr txBox="1"/>
          <p:nvPr/>
        </p:nvSpPr>
        <p:spPr>
          <a:xfrm>
            <a:off x="7452360" y="388620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94.7%</a:t>
            </a:r>
            <a:endParaRPr lang="en-US" sz="3000" dirty="0"/>
          </a:p>
        </p:txBody>
      </p:sp>
      <p:sp>
        <p:nvSpPr>
          <p:cNvPr id="15" name="Text 13"/>
          <p:cNvSpPr txBox="1"/>
          <p:nvPr/>
        </p:nvSpPr>
        <p:spPr>
          <a:xfrm>
            <a:off x="7452360" y="445312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Technician proficiency, Jan-Sep: 20 of 33 stores at or above 85%. Flat-rate pay rewards what techs produce.</a:t>
            </a:r>
            <a:endParaRPr lang="en-US" sz="1400" dirty="0"/>
          </a:p>
        </p:txBody>
      </p:sp>
      <p:sp>
        <p:nvSpPr>
          <p:cNvPr id="16" name="Shape 14"/>
          <p:cNvSpPr/>
          <p:nvPr/>
        </p:nvSpPr>
        <p:spPr>
          <a:xfrm>
            <a:off x="457200" y="6126480"/>
            <a:ext cx="11274552" cy="371856"/>
          </a:xfrm>
          <a:prstGeom prst="rect">
            <a:avLst/>
          </a:prstGeom>
          <a:solidFill>
            <a:srgbClr val="EDF4FA"/>
          </a:solidFill>
          <a:ln/>
        </p:spPr>
      </p:sp>
      <p:sp>
        <p:nvSpPr>
          <p:cNvPr id="17" name="Text 1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check that every advisor and tech pay plan pays for the numbers on these slides.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2026-10-26T20:24:03Z</dcterms:created>
  <dcterms:modified xsi:type="dcterms:W3CDTF">2026-10-26T20:24:03Z</dcterms:modified>
</cp:coreProperties>
</file>