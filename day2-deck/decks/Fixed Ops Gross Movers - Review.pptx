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Year over year: percent change in fixed ops gross, Jan-Sep 2026 vs Jan-Sep 2025. Moving now: Jul-Sep 2026 vs Jan-Mar 2026, average per month, each store against itself; the group rose +9.4% on the same basis (seasonal), so this list is stores that beat the season.Review option: top/bottom 5 year over year plus top 5 moving now. Group moving-now baseline: $19.96M to $21.83M per month (+9.4%).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Year over year: percent change in fixed ops gross, Jan-Sep 2026 vs Jan-Sep 2025. Moving now: Jul-Sep 2026 vs Jan-Mar 2026, average per month, each store against itself; the group rose +9.4% on the same basis (seasonal), so this list is stores that beat the season.Review option: top/bottom 3 year over year plus top 3 moving now. Group moving-now baseline: $19.96M to $21.83M per month (+9.4%).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 · REVIEW · TOP 5</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 · REVIEW · TOP 3</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1258824"/>
          </a:xfrm>
          <a:prstGeom prst="rect">
            <a:avLst/>
          </a:prstGeom>
          <a:solidFill>
            <a:srgbClr val="F7F7F7"/>
          </a:solidFill>
          <a:ln/>
        </p:spPr>
      </p:sp>
      <p:sp>
        <p:nvSpPr>
          <p:cNvPr id="10" name="Text 8"/>
          <p:cNvSpPr txBox="1"/>
          <p:nvPr/>
        </p:nvSpPr>
        <p:spPr>
          <a:xfrm>
            <a:off x="749808" y="2103120"/>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161288" y="2103120"/>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Hyundai Prescott</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$1.54M</a:t>
            </a:r>
            <a:endParaRPr lang="en-US" sz="1700" dirty="0"/>
          </a:p>
        </p:txBody>
      </p:sp>
      <p:sp>
        <p:nvSpPr>
          <p:cNvPr id="12" name="Text 10"/>
          <p:cNvSpPr txBox="1"/>
          <p:nvPr/>
        </p:nvSpPr>
        <p:spPr>
          <a:xfrm>
            <a:off x="3124200" y="2103120"/>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+35.8%</a:t>
            </a:r>
            <a:endParaRPr lang="en-US" sz="1800" dirty="0"/>
          </a:p>
        </p:txBody>
      </p:sp>
      <p:sp>
        <p:nvSpPr>
          <p:cNvPr id="13" name="Text 11"/>
          <p:cNvSpPr txBox="1"/>
          <p:nvPr/>
        </p:nvSpPr>
        <p:spPr>
          <a:xfrm>
            <a:off x="749808" y="3361944"/>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4" name="Text 12"/>
          <p:cNvSpPr txBox="1"/>
          <p:nvPr/>
        </p:nvSpPr>
        <p:spPr>
          <a:xfrm>
            <a:off x="1161288" y="3361944"/>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Lincoln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$2.98M</a:t>
            </a:r>
            <a:endParaRPr lang="en-US" sz="1700" dirty="0"/>
          </a:p>
        </p:txBody>
      </p:sp>
      <p:sp>
        <p:nvSpPr>
          <p:cNvPr id="15" name="Text 13"/>
          <p:cNvSpPr txBox="1"/>
          <p:nvPr/>
        </p:nvSpPr>
        <p:spPr>
          <a:xfrm>
            <a:off x="3124200" y="3361944"/>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+31.7%</a:t>
            </a:r>
            <a:endParaRPr lang="en-US" sz="1800" dirty="0"/>
          </a:p>
        </p:txBody>
      </p:sp>
      <p:sp>
        <p:nvSpPr>
          <p:cNvPr id="16" name="Shape 14"/>
          <p:cNvSpPr/>
          <p:nvPr/>
        </p:nvSpPr>
        <p:spPr>
          <a:xfrm>
            <a:off x="658368" y="4620768"/>
            <a:ext cx="3489960" cy="1258824"/>
          </a:xfrm>
          <a:prstGeom prst="rect">
            <a:avLst/>
          </a:prstGeom>
          <a:solidFill>
            <a:srgbClr val="F7F7F7"/>
          </a:solidFill>
          <a:ln/>
        </p:spPr>
      </p:sp>
      <p:sp>
        <p:nvSpPr>
          <p:cNvPr id="17" name="Text 15"/>
          <p:cNvSpPr txBox="1"/>
          <p:nvPr/>
        </p:nvSpPr>
        <p:spPr>
          <a:xfrm>
            <a:off x="749808" y="4620768"/>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18" name="Text 16"/>
          <p:cNvSpPr txBox="1"/>
          <p:nvPr/>
        </p:nvSpPr>
        <p:spPr>
          <a:xfrm>
            <a:off x="1161288" y="4620768"/>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Lexus</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$4.15M</a:t>
            </a:r>
            <a:endParaRPr lang="en-US" sz="1700" dirty="0"/>
          </a:p>
        </p:txBody>
      </p:sp>
      <p:sp>
        <p:nvSpPr>
          <p:cNvPr id="19" name="Text 17"/>
          <p:cNvSpPr txBox="1"/>
          <p:nvPr/>
        </p:nvSpPr>
        <p:spPr>
          <a:xfrm>
            <a:off x="3124200" y="4620768"/>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+22.6%</a:t>
            </a:r>
            <a:endParaRPr lang="en-US" sz="1800" dirty="0"/>
          </a:p>
        </p:txBody>
      </p:sp>
      <p:sp>
        <p:nvSpPr>
          <p:cNvPr id="20" name="Shape 18"/>
          <p:cNvSpPr/>
          <p:nvPr/>
        </p:nvSpPr>
        <p:spPr>
          <a:xfrm>
            <a:off x="4349496" y="1371600"/>
            <a:ext cx="3489960" cy="45720"/>
          </a:xfrm>
          <a:prstGeom prst="rect">
            <a:avLst/>
          </a:prstGeom>
          <a:solidFill>
            <a:srgbClr val="C2352F"/>
          </a:solidFill>
          <a:ln/>
        </p:spPr>
      </p:sp>
      <p:sp>
        <p:nvSpPr>
          <p:cNvPr id="21"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2" name="Text 2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23" name="Shape 21"/>
          <p:cNvSpPr/>
          <p:nvPr/>
        </p:nvSpPr>
        <p:spPr>
          <a:xfrm>
            <a:off x="4349496" y="2103120"/>
            <a:ext cx="3489960" cy="1258824"/>
          </a:xfrm>
          <a:prstGeom prst="rect">
            <a:avLst/>
          </a:prstGeom>
          <a:solidFill>
            <a:srgbClr val="F7F7F7"/>
          </a:solidFill>
          <a:ln/>
        </p:spPr>
      </p:sp>
      <p:sp>
        <p:nvSpPr>
          <p:cNvPr id="24" name="Text 22"/>
          <p:cNvSpPr txBox="1"/>
          <p:nvPr/>
        </p:nvSpPr>
        <p:spPr>
          <a:xfrm>
            <a:off x="4440936" y="2103120"/>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5" name="Text 23"/>
          <p:cNvSpPr txBox="1"/>
          <p:nvPr/>
        </p:nvSpPr>
        <p:spPr>
          <a:xfrm>
            <a:off x="4852416" y="2103120"/>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Acura</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$2.89M</a:t>
            </a:r>
            <a:endParaRPr lang="en-US" sz="1700" dirty="0"/>
          </a:p>
        </p:txBody>
      </p:sp>
      <p:sp>
        <p:nvSpPr>
          <p:cNvPr id="26" name="Text 24"/>
          <p:cNvSpPr txBox="1"/>
          <p:nvPr/>
        </p:nvSpPr>
        <p:spPr>
          <a:xfrm>
            <a:off x="6815328" y="2103120"/>
            <a:ext cx="932688" cy="125882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−15.2%</a:t>
            </a:r>
            <a:endParaRPr lang="en-US" sz="1800" dirty="0"/>
          </a:p>
        </p:txBody>
      </p:sp>
      <p:sp>
        <p:nvSpPr>
          <p:cNvPr id="27" name="Text 25"/>
          <p:cNvSpPr txBox="1"/>
          <p:nvPr/>
        </p:nvSpPr>
        <p:spPr>
          <a:xfrm>
            <a:off x="4440936" y="3361944"/>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28" name="Text 26"/>
          <p:cNvSpPr txBox="1"/>
          <p:nvPr/>
        </p:nvSpPr>
        <p:spPr>
          <a:xfrm>
            <a:off x="4852416" y="3361944"/>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VW St George</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$968K</a:t>
            </a:r>
            <a:endParaRPr lang="en-US" sz="1700" dirty="0"/>
          </a:p>
        </p:txBody>
      </p:sp>
      <p:sp>
        <p:nvSpPr>
          <p:cNvPr id="29" name="Text 27"/>
          <p:cNvSpPr txBox="1"/>
          <p:nvPr/>
        </p:nvSpPr>
        <p:spPr>
          <a:xfrm>
            <a:off x="6815328" y="3361944"/>
            <a:ext cx="932688" cy="125882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−14.4%</a:t>
            </a:r>
            <a:endParaRPr lang="en-US" sz="1800" dirty="0"/>
          </a:p>
        </p:txBody>
      </p:sp>
      <p:sp>
        <p:nvSpPr>
          <p:cNvPr id="30" name="Shape 28"/>
          <p:cNvSpPr/>
          <p:nvPr/>
        </p:nvSpPr>
        <p:spPr>
          <a:xfrm>
            <a:off x="4349496" y="4620768"/>
            <a:ext cx="3489960" cy="1258824"/>
          </a:xfrm>
          <a:prstGeom prst="rect">
            <a:avLst/>
          </a:prstGeom>
          <a:solidFill>
            <a:srgbClr val="F7F7F7"/>
          </a:solidFill>
          <a:ln/>
        </p:spPr>
      </p:sp>
      <p:sp>
        <p:nvSpPr>
          <p:cNvPr id="31" name="Text 29"/>
          <p:cNvSpPr txBox="1"/>
          <p:nvPr/>
        </p:nvSpPr>
        <p:spPr>
          <a:xfrm>
            <a:off x="4440936" y="4620768"/>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2" name="Text 30"/>
          <p:cNvSpPr txBox="1"/>
          <p:nvPr/>
        </p:nvSpPr>
        <p:spPr>
          <a:xfrm>
            <a:off x="4852416" y="4620768"/>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VW Henderson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$4.79M</a:t>
            </a:r>
            <a:endParaRPr lang="en-US" sz="1700" dirty="0"/>
          </a:p>
        </p:txBody>
      </p:sp>
      <p:sp>
        <p:nvSpPr>
          <p:cNvPr id="33" name="Text 31"/>
          <p:cNvSpPr txBox="1"/>
          <p:nvPr/>
        </p:nvSpPr>
        <p:spPr>
          <a:xfrm>
            <a:off x="6815328" y="4620768"/>
            <a:ext cx="932688" cy="125882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−13.7%</a:t>
            </a:r>
            <a:endParaRPr lang="en-US" sz="1800" dirty="0"/>
          </a:p>
        </p:txBody>
      </p:sp>
      <p:sp>
        <p:nvSpPr>
          <p:cNvPr id="34" name="Shape 32"/>
          <p:cNvSpPr/>
          <p:nvPr/>
        </p:nvSpPr>
        <p:spPr>
          <a:xfrm>
            <a:off x="8040624" y="1371600"/>
            <a:ext cx="3489960" cy="45720"/>
          </a:xfrm>
          <a:prstGeom prst="rect">
            <a:avLst/>
          </a:prstGeom>
          <a:solidFill>
            <a:srgbClr val="2587C5"/>
          </a:solidFill>
          <a:ln/>
        </p:spPr>
      </p:sp>
      <p:sp>
        <p:nvSpPr>
          <p:cNvPr id="35"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36" name="Text 34"/>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37" name="Shape 35"/>
          <p:cNvSpPr/>
          <p:nvPr/>
        </p:nvSpPr>
        <p:spPr>
          <a:xfrm>
            <a:off x="8040624" y="2103120"/>
            <a:ext cx="3489960" cy="1258824"/>
          </a:xfrm>
          <a:prstGeom prst="rect">
            <a:avLst/>
          </a:prstGeom>
          <a:solidFill>
            <a:srgbClr val="F7F7F7"/>
          </a:solidFill>
          <a:ln/>
        </p:spPr>
      </p:sp>
      <p:sp>
        <p:nvSpPr>
          <p:cNvPr id="38" name="Text 36"/>
          <p:cNvSpPr txBox="1"/>
          <p:nvPr/>
        </p:nvSpPr>
        <p:spPr>
          <a:xfrm>
            <a:off x="8132064" y="2103120"/>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39" name="Text 37"/>
          <p:cNvSpPr txBox="1"/>
          <p:nvPr/>
        </p:nvSpPr>
        <p:spPr>
          <a:xfrm>
            <a:off x="8543544" y="2103120"/>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Mazda</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$425K</a:t>
            </a:r>
            <a:endParaRPr lang="en-US" sz="1700" dirty="0"/>
          </a:p>
        </p:txBody>
      </p:sp>
      <p:sp>
        <p:nvSpPr>
          <p:cNvPr id="40" name="Text 38"/>
          <p:cNvSpPr txBox="1"/>
          <p:nvPr/>
        </p:nvSpPr>
        <p:spPr>
          <a:xfrm>
            <a:off x="10506456" y="2103120"/>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+35.7%</a:t>
            </a:r>
            <a:endParaRPr lang="en-US" sz="1800" dirty="0"/>
          </a:p>
        </p:txBody>
      </p:sp>
      <p:sp>
        <p:nvSpPr>
          <p:cNvPr id="41" name="Text 39"/>
          <p:cNvSpPr txBox="1"/>
          <p:nvPr/>
        </p:nvSpPr>
        <p:spPr>
          <a:xfrm>
            <a:off x="8132064" y="3361944"/>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2" name="Text 40"/>
          <p:cNvSpPr txBox="1"/>
          <p:nvPr/>
        </p:nvSpPr>
        <p:spPr>
          <a:xfrm>
            <a:off x="8543544" y="3361944"/>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Kia St George</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$301K</a:t>
            </a:r>
            <a:endParaRPr lang="en-US" sz="1700" dirty="0"/>
          </a:p>
        </p:txBody>
      </p:sp>
      <p:sp>
        <p:nvSpPr>
          <p:cNvPr id="43" name="Text 41"/>
          <p:cNvSpPr txBox="1"/>
          <p:nvPr/>
        </p:nvSpPr>
        <p:spPr>
          <a:xfrm>
            <a:off x="10506456" y="3361944"/>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+32.7%</a:t>
            </a:r>
            <a:endParaRPr lang="en-US" sz="1800" dirty="0"/>
          </a:p>
        </p:txBody>
      </p:sp>
      <p:sp>
        <p:nvSpPr>
          <p:cNvPr id="44" name="Shape 42"/>
          <p:cNvSpPr/>
          <p:nvPr/>
        </p:nvSpPr>
        <p:spPr>
          <a:xfrm>
            <a:off x="8040624" y="4620768"/>
            <a:ext cx="3489960" cy="1258824"/>
          </a:xfrm>
          <a:prstGeom prst="rect">
            <a:avLst/>
          </a:prstGeom>
          <a:solidFill>
            <a:srgbClr val="F7F7F7"/>
          </a:solidFill>
          <a:ln/>
        </p:spPr>
      </p:sp>
      <p:sp>
        <p:nvSpPr>
          <p:cNvPr id="45" name="Text 43"/>
          <p:cNvSpPr txBox="1"/>
          <p:nvPr/>
        </p:nvSpPr>
        <p:spPr>
          <a:xfrm>
            <a:off x="8132064" y="4620768"/>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46" name="Text 44"/>
          <p:cNvSpPr txBox="1"/>
          <p:nvPr/>
        </p:nvSpPr>
        <p:spPr>
          <a:xfrm>
            <a:off x="8543544" y="4620768"/>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LR Henderson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$429K</a:t>
            </a:r>
            <a:endParaRPr lang="en-US" sz="1700" dirty="0"/>
          </a:p>
        </p:txBody>
      </p:sp>
      <p:sp>
        <p:nvSpPr>
          <p:cNvPr id="47" name="Text 45"/>
          <p:cNvSpPr txBox="1"/>
          <p:nvPr/>
        </p:nvSpPr>
        <p:spPr>
          <a:xfrm>
            <a:off x="10506456" y="4620768"/>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+29.1%</a:t>
            </a:r>
            <a:endParaRPr lang="en-US" sz="1800" dirty="0"/>
          </a:p>
        </p:txBody>
      </p:sp>
      <p:sp>
        <p:nvSpPr>
          <p:cNvPr id="48" name="Shape 46"/>
          <p:cNvSpPr/>
          <p:nvPr/>
        </p:nvSpPr>
        <p:spPr>
          <a:xfrm>
            <a:off x="457200" y="6126480"/>
            <a:ext cx="11274552" cy="615696"/>
          </a:xfrm>
          <a:prstGeom prst="rect">
            <a:avLst/>
          </a:prstGeom>
          <a:solidFill>
            <a:srgbClr val="EDF4FA"/>
          </a:solidFill>
          <a:ln/>
        </p:spPr>
      </p:sp>
      <p:sp>
        <p:nvSpPr>
          <p:cNvPr id="49" name="Text 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2026-10-26T20:24:01Z</dcterms:created>
  <dcterms:modified xsi:type="dcterms:W3CDTF">2026-10-26T20:24:01Z</dcterms:modified>
</cp:coreProperties>
</file>