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Year over year: percent change in fixed ops gross, Jan-Sep 2026 vs Jan-Sep 2025. Moving now: Jul-Sep 2026 vs Jan-Mar 2026, average per month, each store against itself; the group rose +9.4% on the same basis (seasonal), so this list is stores that beat the season.Review option: top/bottom 5 year over year plus top 5 moving now. Group moving-now baseline: $19.96M to $21.83M per month (+9.4%).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Year over year: percent change in fixed ops gross, Jan-Sep 2026 vs Jan-Sep 2025. Moving now: Jul-Sep 2026 vs Jan-Mar 2026, average per month, each store against itself; the group rose +9.4% on the same basis (seasonal), so this list is stores that beat the season.Review option: top/bottom 3 year over year plus top 3 moving now. Group moving-now baseline: $19.96M to $21.83M per month (+9.4%).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 · REVIEW · TOP 5</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9" name="Shape 7"/>
          <p:cNvSpPr/>
          <p:nvPr/>
        </p:nvSpPr>
        <p:spPr>
          <a:xfrm>
            <a:off x="658368" y="2103120"/>
            <a:ext cx="3489960" cy="755294"/>
          </a:xfrm>
          <a:prstGeom prst="rect">
            <a:avLst/>
          </a:prstGeom>
          <a:solidFill>
            <a:srgbClr val="F7F7F7"/>
          </a:solidFill>
          <a:ln/>
        </p:spPr>
      </p:sp>
      <p:sp>
        <p:nvSpPr>
          <p:cNvPr id="10" name="Text 8"/>
          <p:cNvSpPr txBox="1"/>
          <p:nvPr/>
        </p:nvSpPr>
        <p:spPr>
          <a:xfrm>
            <a:off x="749808"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2026920"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$1.54M</a:t>
            </a:r>
            <a:endParaRPr lang="en-US" sz="1400" dirty="0"/>
          </a:p>
        </p:txBody>
      </p:sp>
      <p:sp>
        <p:nvSpPr>
          <p:cNvPr id="12" name="Text 10"/>
          <p:cNvSpPr txBox="1"/>
          <p:nvPr/>
        </p:nvSpPr>
        <p:spPr>
          <a:xfrm>
            <a:off x="3124200" y="2103120"/>
            <a:ext cx="93268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+35.8%</a:t>
            </a:r>
            <a:endParaRPr lang="en-US" sz="1600" dirty="0"/>
          </a:p>
        </p:txBody>
      </p:sp>
      <p:sp>
        <p:nvSpPr>
          <p:cNvPr id="13" name="Text 11"/>
          <p:cNvSpPr txBox="1"/>
          <p:nvPr/>
        </p:nvSpPr>
        <p:spPr>
          <a:xfrm>
            <a:off x="749808"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858414"/>
            <a:ext cx="2026920"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$2.26M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$2.98M</a:t>
            </a:r>
            <a:endParaRPr lang="en-US" sz="1400" dirty="0"/>
          </a:p>
        </p:txBody>
      </p:sp>
      <p:sp>
        <p:nvSpPr>
          <p:cNvPr id="15" name="Text 13"/>
          <p:cNvSpPr txBox="1"/>
          <p:nvPr/>
        </p:nvSpPr>
        <p:spPr>
          <a:xfrm>
            <a:off x="3124200" y="2858414"/>
            <a:ext cx="93268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+31.7%</a:t>
            </a:r>
            <a:endParaRPr lang="en-US" sz="1600" dirty="0"/>
          </a:p>
        </p:txBody>
      </p:sp>
      <p:sp>
        <p:nvSpPr>
          <p:cNvPr id="16" name="Shape 14"/>
          <p:cNvSpPr/>
          <p:nvPr/>
        </p:nvSpPr>
        <p:spPr>
          <a:xfrm>
            <a:off x="658368" y="3613709"/>
            <a:ext cx="3489960" cy="755294"/>
          </a:xfrm>
          <a:prstGeom prst="rect">
            <a:avLst/>
          </a:prstGeom>
          <a:solidFill>
            <a:srgbClr val="F7F7F7"/>
          </a:solidFill>
          <a:ln/>
        </p:spPr>
      </p:sp>
      <p:sp>
        <p:nvSpPr>
          <p:cNvPr id="17" name="Text 15"/>
          <p:cNvSpPr txBox="1"/>
          <p:nvPr/>
        </p:nvSpPr>
        <p:spPr>
          <a:xfrm>
            <a:off x="749808"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8" name="Text 16"/>
          <p:cNvSpPr txBox="1"/>
          <p:nvPr/>
        </p:nvSpPr>
        <p:spPr>
          <a:xfrm>
            <a:off x="1097280" y="3613709"/>
            <a:ext cx="2026920"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$3.38M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$4.15M</a:t>
            </a:r>
            <a:endParaRPr lang="en-US" sz="1400" dirty="0"/>
          </a:p>
        </p:txBody>
      </p:sp>
      <p:sp>
        <p:nvSpPr>
          <p:cNvPr id="19" name="Text 17"/>
          <p:cNvSpPr txBox="1"/>
          <p:nvPr/>
        </p:nvSpPr>
        <p:spPr>
          <a:xfrm>
            <a:off x="3124200" y="3613709"/>
            <a:ext cx="93268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+22.6%</a:t>
            </a:r>
            <a:endParaRPr lang="en-US" sz="1600" dirty="0"/>
          </a:p>
        </p:txBody>
      </p:sp>
      <p:sp>
        <p:nvSpPr>
          <p:cNvPr id="20" name="Text 18"/>
          <p:cNvSpPr txBox="1"/>
          <p:nvPr/>
        </p:nvSpPr>
        <p:spPr>
          <a:xfrm>
            <a:off x="749808"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1" name="Text 19"/>
          <p:cNvSpPr txBox="1"/>
          <p:nvPr/>
        </p:nvSpPr>
        <p:spPr>
          <a:xfrm>
            <a:off x="1097280" y="4369003"/>
            <a:ext cx="2026920"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$10.64M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$12.34M</a:t>
            </a:r>
            <a:endParaRPr lang="en-US" sz="1400" dirty="0"/>
          </a:p>
        </p:txBody>
      </p:sp>
      <p:sp>
        <p:nvSpPr>
          <p:cNvPr id="22" name="Text 20"/>
          <p:cNvSpPr txBox="1"/>
          <p:nvPr/>
        </p:nvSpPr>
        <p:spPr>
          <a:xfrm>
            <a:off x="3124200" y="4369003"/>
            <a:ext cx="93268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+16.0%</a:t>
            </a:r>
            <a:endParaRPr lang="en-US" sz="1600" dirty="0"/>
          </a:p>
        </p:txBody>
      </p:sp>
      <p:sp>
        <p:nvSpPr>
          <p:cNvPr id="23" name="Shape 21"/>
          <p:cNvSpPr/>
          <p:nvPr/>
        </p:nvSpPr>
        <p:spPr>
          <a:xfrm>
            <a:off x="658368" y="5124298"/>
            <a:ext cx="3489960" cy="755294"/>
          </a:xfrm>
          <a:prstGeom prst="rect">
            <a:avLst/>
          </a:prstGeom>
          <a:solidFill>
            <a:srgbClr val="F7F7F7"/>
          </a:solidFill>
          <a:ln/>
        </p:spPr>
      </p:sp>
      <p:sp>
        <p:nvSpPr>
          <p:cNvPr id="24" name="Text 22"/>
          <p:cNvSpPr txBox="1"/>
          <p:nvPr/>
        </p:nvSpPr>
        <p:spPr>
          <a:xfrm>
            <a:off x="749808"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5" name="Text 23"/>
          <p:cNvSpPr txBox="1"/>
          <p:nvPr/>
        </p:nvSpPr>
        <p:spPr>
          <a:xfrm>
            <a:off x="1097280" y="5124298"/>
            <a:ext cx="2026920"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$2.70M</a:t>
            </a:r>
            <a:endParaRPr lang="en-US" sz="1400" dirty="0"/>
          </a:p>
        </p:txBody>
      </p:sp>
      <p:sp>
        <p:nvSpPr>
          <p:cNvPr id="26" name="Text 24"/>
          <p:cNvSpPr txBox="1"/>
          <p:nvPr/>
        </p:nvSpPr>
        <p:spPr>
          <a:xfrm>
            <a:off x="3124200" y="5124298"/>
            <a:ext cx="93268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+15.8%</a:t>
            </a:r>
            <a:endParaRPr lang="en-US" sz="1600" dirty="0"/>
          </a:p>
        </p:txBody>
      </p:sp>
      <p:sp>
        <p:nvSpPr>
          <p:cNvPr id="27" name="Shape 25"/>
          <p:cNvSpPr/>
          <p:nvPr/>
        </p:nvSpPr>
        <p:spPr>
          <a:xfrm>
            <a:off x="4349496" y="1371600"/>
            <a:ext cx="3489960" cy="45720"/>
          </a:xfrm>
          <a:prstGeom prst="rect">
            <a:avLst/>
          </a:prstGeom>
          <a:solidFill>
            <a:srgbClr val="C2352F"/>
          </a:solidFill>
          <a:ln/>
        </p:spPr>
      </p:sp>
      <p:sp>
        <p:nvSpPr>
          <p:cNvPr id="28" name="Text 26"/>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29" name="Text 27"/>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30" name="Shape 28"/>
          <p:cNvSpPr/>
          <p:nvPr/>
        </p:nvSpPr>
        <p:spPr>
          <a:xfrm>
            <a:off x="4349496" y="2103120"/>
            <a:ext cx="3489960" cy="755294"/>
          </a:xfrm>
          <a:prstGeom prst="rect">
            <a:avLst/>
          </a:prstGeom>
          <a:solidFill>
            <a:srgbClr val="F7F7F7"/>
          </a:solidFill>
          <a:ln/>
        </p:spPr>
      </p:sp>
      <p:sp>
        <p:nvSpPr>
          <p:cNvPr id="31" name="Text 29"/>
          <p:cNvSpPr txBox="1"/>
          <p:nvPr/>
        </p:nvSpPr>
        <p:spPr>
          <a:xfrm>
            <a:off x="4440936"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2" name="Text 30"/>
          <p:cNvSpPr txBox="1"/>
          <p:nvPr/>
        </p:nvSpPr>
        <p:spPr>
          <a:xfrm>
            <a:off x="4788408" y="2103120"/>
            <a:ext cx="2026920"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$3.41M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$2.89M</a:t>
            </a:r>
            <a:endParaRPr lang="en-US" sz="1400" dirty="0"/>
          </a:p>
        </p:txBody>
      </p:sp>
      <p:sp>
        <p:nvSpPr>
          <p:cNvPr id="33" name="Text 31"/>
          <p:cNvSpPr txBox="1"/>
          <p:nvPr/>
        </p:nvSpPr>
        <p:spPr>
          <a:xfrm>
            <a:off x="6815328" y="2103120"/>
            <a:ext cx="93268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−15.2%</a:t>
            </a:r>
            <a:endParaRPr lang="en-US" sz="1600" dirty="0"/>
          </a:p>
        </p:txBody>
      </p:sp>
      <p:sp>
        <p:nvSpPr>
          <p:cNvPr id="34" name="Text 32"/>
          <p:cNvSpPr txBox="1"/>
          <p:nvPr/>
        </p:nvSpPr>
        <p:spPr>
          <a:xfrm>
            <a:off x="4440936"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5" name="Text 33"/>
          <p:cNvSpPr txBox="1"/>
          <p:nvPr/>
        </p:nvSpPr>
        <p:spPr>
          <a:xfrm>
            <a:off x="4788408" y="2858414"/>
            <a:ext cx="2026920"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$968K</a:t>
            </a:r>
            <a:endParaRPr lang="en-US" sz="1400" dirty="0"/>
          </a:p>
        </p:txBody>
      </p:sp>
      <p:sp>
        <p:nvSpPr>
          <p:cNvPr id="36" name="Text 34"/>
          <p:cNvSpPr txBox="1"/>
          <p:nvPr/>
        </p:nvSpPr>
        <p:spPr>
          <a:xfrm>
            <a:off x="6815328" y="2858414"/>
            <a:ext cx="93268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−14.4%</a:t>
            </a:r>
            <a:endParaRPr lang="en-US" sz="1600" dirty="0"/>
          </a:p>
        </p:txBody>
      </p:sp>
      <p:sp>
        <p:nvSpPr>
          <p:cNvPr id="37" name="Shape 35"/>
          <p:cNvSpPr/>
          <p:nvPr/>
        </p:nvSpPr>
        <p:spPr>
          <a:xfrm>
            <a:off x="4349496" y="3613709"/>
            <a:ext cx="3489960" cy="755294"/>
          </a:xfrm>
          <a:prstGeom prst="rect">
            <a:avLst/>
          </a:prstGeom>
          <a:solidFill>
            <a:srgbClr val="F7F7F7"/>
          </a:solidFill>
          <a:ln/>
        </p:spPr>
      </p:sp>
      <p:sp>
        <p:nvSpPr>
          <p:cNvPr id="38" name="Text 36"/>
          <p:cNvSpPr txBox="1"/>
          <p:nvPr/>
        </p:nvSpPr>
        <p:spPr>
          <a:xfrm>
            <a:off x="4440936"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39" name="Text 37"/>
          <p:cNvSpPr txBox="1"/>
          <p:nvPr/>
        </p:nvSpPr>
        <p:spPr>
          <a:xfrm>
            <a:off x="4788408" y="3613709"/>
            <a:ext cx="2026920"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$5.55M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$4.79M</a:t>
            </a:r>
            <a:endParaRPr lang="en-US" sz="1400" dirty="0"/>
          </a:p>
        </p:txBody>
      </p:sp>
      <p:sp>
        <p:nvSpPr>
          <p:cNvPr id="40" name="Text 38"/>
          <p:cNvSpPr txBox="1"/>
          <p:nvPr/>
        </p:nvSpPr>
        <p:spPr>
          <a:xfrm>
            <a:off x="6815328" y="3613709"/>
            <a:ext cx="93268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−13.7%</a:t>
            </a:r>
            <a:endParaRPr lang="en-US" sz="1600" dirty="0"/>
          </a:p>
        </p:txBody>
      </p:sp>
      <p:sp>
        <p:nvSpPr>
          <p:cNvPr id="41" name="Text 39"/>
          <p:cNvSpPr txBox="1"/>
          <p:nvPr/>
        </p:nvSpPr>
        <p:spPr>
          <a:xfrm>
            <a:off x="4440936"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2" name="Text 40"/>
          <p:cNvSpPr txBox="1"/>
          <p:nvPr/>
        </p:nvSpPr>
        <p:spPr>
          <a:xfrm>
            <a:off x="4788408" y="4369003"/>
            <a:ext cx="2026920"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$4.98M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$4.46M</a:t>
            </a:r>
            <a:endParaRPr lang="en-US" sz="1400" dirty="0"/>
          </a:p>
        </p:txBody>
      </p:sp>
      <p:sp>
        <p:nvSpPr>
          <p:cNvPr id="43" name="Text 41"/>
          <p:cNvSpPr txBox="1"/>
          <p:nvPr/>
        </p:nvSpPr>
        <p:spPr>
          <a:xfrm>
            <a:off x="6815328" y="4369003"/>
            <a:ext cx="93268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−10.4%</a:t>
            </a:r>
            <a:endParaRPr lang="en-US" sz="1600" dirty="0"/>
          </a:p>
        </p:txBody>
      </p:sp>
      <p:sp>
        <p:nvSpPr>
          <p:cNvPr id="44" name="Shape 42"/>
          <p:cNvSpPr/>
          <p:nvPr/>
        </p:nvSpPr>
        <p:spPr>
          <a:xfrm>
            <a:off x="4349496" y="5124298"/>
            <a:ext cx="3489960" cy="755294"/>
          </a:xfrm>
          <a:prstGeom prst="rect">
            <a:avLst/>
          </a:prstGeom>
          <a:solidFill>
            <a:srgbClr val="F7F7F7"/>
          </a:solidFill>
          <a:ln/>
        </p:spPr>
      </p:sp>
      <p:sp>
        <p:nvSpPr>
          <p:cNvPr id="45" name="Text 43"/>
          <p:cNvSpPr txBox="1"/>
          <p:nvPr/>
        </p:nvSpPr>
        <p:spPr>
          <a:xfrm>
            <a:off x="4440936"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6" name="Text 44"/>
          <p:cNvSpPr txBox="1"/>
          <p:nvPr/>
        </p:nvSpPr>
        <p:spPr>
          <a:xfrm>
            <a:off x="4788408" y="5124298"/>
            <a:ext cx="2026920"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$9.46M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$8.62M</a:t>
            </a:r>
            <a:endParaRPr lang="en-US" sz="1400" dirty="0"/>
          </a:p>
        </p:txBody>
      </p:sp>
      <p:sp>
        <p:nvSpPr>
          <p:cNvPr id="47" name="Text 45"/>
          <p:cNvSpPr txBox="1"/>
          <p:nvPr/>
        </p:nvSpPr>
        <p:spPr>
          <a:xfrm>
            <a:off x="6815328" y="5124298"/>
            <a:ext cx="93268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−8.9%</a:t>
            </a:r>
            <a:endParaRPr lang="en-US" sz="1600" dirty="0"/>
          </a:p>
        </p:txBody>
      </p:sp>
      <p:sp>
        <p:nvSpPr>
          <p:cNvPr id="48" name="Shape 46"/>
          <p:cNvSpPr/>
          <p:nvPr/>
        </p:nvSpPr>
        <p:spPr>
          <a:xfrm>
            <a:off x="8040624" y="1371600"/>
            <a:ext cx="3489960" cy="45720"/>
          </a:xfrm>
          <a:prstGeom prst="rect">
            <a:avLst/>
          </a:prstGeom>
          <a:solidFill>
            <a:srgbClr val="2587C5"/>
          </a:solidFill>
          <a:ln/>
        </p:spPr>
      </p:sp>
      <p:sp>
        <p:nvSpPr>
          <p:cNvPr id="49" name="Text 4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0" name="Text 48"/>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2026, per month</a:t>
            </a:r>
            <a:endParaRPr lang="en-US" sz="1200" dirty="0"/>
          </a:p>
        </p:txBody>
      </p:sp>
      <p:sp>
        <p:nvSpPr>
          <p:cNvPr id="51" name="Shape 49"/>
          <p:cNvSpPr/>
          <p:nvPr/>
        </p:nvSpPr>
        <p:spPr>
          <a:xfrm>
            <a:off x="8040624" y="2103120"/>
            <a:ext cx="3489960" cy="755294"/>
          </a:xfrm>
          <a:prstGeom prst="rect">
            <a:avLst/>
          </a:prstGeom>
          <a:solidFill>
            <a:srgbClr val="F7F7F7"/>
          </a:solidFill>
          <a:ln/>
        </p:spPr>
      </p:sp>
      <p:sp>
        <p:nvSpPr>
          <p:cNvPr id="52" name="Text 50"/>
          <p:cNvSpPr txBox="1"/>
          <p:nvPr/>
        </p:nvSpPr>
        <p:spPr>
          <a:xfrm>
            <a:off x="8132064"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3" name="Text 51"/>
          <p:cNvSpPr txBox="1"/>
          <p:nvPr/>
        </p:nvSpPr>
        <p:spPr>
          <a:xfrm>
            <a:off x="8479536" y="2103120"/>
            <a:ext cx="2026920"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$313K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$425K</a:t>
            </a:r>
            <a:endParaRPr lang="en-US" sz="1400" dirty="0"/>
          </a:p>
        </p:txBody>
      </p:sp>
      <p:sp>
        <p:nvSpPr>
          <p:cNvPr id="54" name="Text 52"/>
          <p:cNvSpPr txBox="1"/>
          <p:nvPr/>
        </p:nvSpPr>
        <p:spPr>
          <a:xfrm>
            <a:off x="10506456" y="2103120"/>
            <a:ext cx="93268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+35.7%</a:t>
            </a:r>
            <a:endParaRPr lang="en-US" sz="1600" dirty="0"/>
          </a:p>
        </p:txBody>
      </p:sp>
      <p:sp>
        <p:nvSpPr>
          <p:cNvPr id="55" name="Text 53"/>
          <p:cNvSpPr txBox="1"/>
          <p:nvPr/>
        </p:nvSpPr>
        <p:spPr>
          <a:xfrm>
            <a:off x="8132064"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6" name="Text 54"/>
          <p:cNvSpPr txBox="1"/>
          <p:nvPr/>
        </p:nvSpPr>
        <p:spPr>
          <a:xfrm>
            <a:off x="8479536" y="2858414"/>
            <a:ext cx="2026920"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$301K</a:t>
            </a:r>
            <a:endParaRPr lang="en-US" sz="1400" dirty="0"/>
          </a:p>
        </p:txBody>
      </p:sp>
      <p:sp>
        <p:nvSpPr>
          <p:cNvPr id="57" name="Text 55"/>
          <p:cNvSpPr txBox="1"/>
          <p:nvPr/>
        </p:nvSpPr>
        <p:spPr>
          <a:xfrm>
            <a:off x="10506456" y="2858414"/>
            <a:ext cx="93268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+32.7%</a:t>
            </a:r>
            <a:endParaRPr lang="en-US" sz="1600" dirty="0"/>
          </a:p>
        </p:txBody>
      </p:sp>
      <p:sp>
        <p:nvSpPr>
          <p:cNvPr id="58" name="Shape 56"/>
          <p:cNvSpPr/>
          <p:nvPr/>
        </p:nvSpPr>
        <p:spPr>
          <a:xfrm>
            <a:off x="8040624" y="3613709"/>
            <a:ext cx="3489960" cy="755294"/>
          </a:xfrm>
          <a:prstGeom prst="rect">
            <a:avLst/>
          </a:prstGeom>
          <a:solidFill>
            <a:srgbClr val="F7F7F7"/>
          </a:solidFill>
          <a:ln/>
        </p:spPr>
      </p:sp>
      <p:sp>
        <p:nvSpPr>
          <p:cNvPr id="59" name="Text 57"/>
          <p:cNvSpPr txBox="1"/>
          <p:nvPr/>
        </p:nvSpPr>
        <p:spPr>
          <a:xfrm>
            <a:off x="8132064"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0" name="Text 58"/>
          <p:cNvSpPr txBox="1"/>
          <p:nvPr/>
        </p:nvSpPr>
        <p:spPr>
          <a:xfrm>
            <a:off x="8479536" y="3613709"/>
            <a:ext cx="2026920"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$429K</a:t>
            </a:r>
            <a:endParaRPr lang="en-US" sz="1400" dirty="0"/>
          </a:p>
        </p:txBody>
      </p:sp>
      <p:sp>
        <p:nvSpPr>
          <p:cNvPr id="61" name="Text 59"/>
          <p:cNvSpPr txBox="1"/>
          <p:nvPr/>
        </p:nvSpPr>
        <p:spPr>
          <a:xfrm>
            <a:off x="10506456" y="3613709"/>
            <a:ext cx="93268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+29.1%</a:t>
            </a:r>
            <a:endParaRPr lang="en-US" sz="1600" dirty="0"/>
          </a:p>
        </p:txBody>
      </p:sp>
      <p:sp>
        <p:nvSpPr>
          <p:cNvPr id="62" name="Text 60"/>
          <p:cNvSpPr txBox="1"/>
          <p:nvPr/>
        </p:nvSpPr>
        <p:spPr>
          <a:xfrm>
            <a:off x="8132064"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3" name="Text 61"/>
          <p:cNvSpPr txBox="1"/>
          <p:nvPr/>
        </p:nvSpPr>
        <p:spPr>
          <a:xfrm>
            <a:off x="8479536" y="4369003"/>
            <a:ext cx="2026920"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$364K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$448K</a:t>
            </a:r>
            <a:endParaRPr lang="en-US" sz="1400" dirty="0"/>
          </a:p>
        </p:txBody>
      </p:sp>
      <p:sp>
        <p:nvSpPr>
          <p:cNvPr id="64" name="Text 62"/>
          <p:cNvSpPr txBox="1"/>
          <p:nvPr/>
        </p:nvSpPr>
        <p:spPr>
          <a:xfrm>
            <a:off x="10506456" y="4369003"/>
            <a:ext cx="93268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+23.2%</a:t>
            </a:r>
            <a:endParaRPr lang="en-US" sz="1600" dirty="0"/>
          </a:p>
        </p:txBody>
      </p:sp>
      <p:sp>
        <p:nvSpPr>
          <p:cNvPr id="65" name="Shape 63"/>
          <p:cNvSpPr/>
          <p:nvPr/>
        </p:nvSpPr>
        <p:spPr>
          <a:xfrm>
            <a:off x="8040624" y="5124298"/>
            <a:ext cx="3489960" cy="755294"/>
          </a:xfrm>
          <a:prstGeom prst="rect">
            <a:avLst/>
          </a:prstGeom>
          <a:solidFill>
            <a:srgbClr val="F7F7F7"/>
          </a:solidFill>
          <a:ln/>
        </p:spPr>
      </p:sp>
      <p:sp>
        <p:nvSpPr>
          <p:cNvPr id="66" name="Text 64"/>
          <p:cNvSpPr txBox="1"/>
          <p:nvPr/>
        </p:nvSpPr>
        <p:spPr>
          <a:xfrm>
            <a:off x="8132064"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7" name="Text 65"/>
          <p:cNvSpPr txBox="1"/>
          <p:nvPr/>
        </p:nvSpPr>
        <p:spPr>
          <a:xfrm>
            <a:off x="8479536" y="5124298"/>
            <a:ext cx="2026920"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$188K</a:t>
            </a:r>
            <a:endParaRPr lang="en-US" sz="1400" dirty="0"/>
          </a:p>
        </p:txBody>
      </p:sp>
      <p:sp>
        <p:nvSpPr>
          <p:cNvPr id="68" name="Text 66"/>
          <p:cNvSpPr txBox="1"/>
          <p:nvPr/>
        </p:nvSpPr>
        <p:spPr>
          <a:xfrm>
            <a:off x="10506456" y="5124298"/>
            <a:ext cx="93268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+19.1%</a:t>
            </a:r>
            <a:endParaRPr lang="en-US" sz="1600" dirty="0"/>
          </a:p>
        </p:txBody>
      </p:sp>
      <p:sp>
        <p:nvSpPr>
          <p:cNvPr id="69" name="Shape 67"/>
          <p:cNvSpPr/>
          <p:nvPr/>
        </p:nvSpPr>
        <p:spPr>
          <a:xfrm>
            <a:off x="457200" y="6126480"/>
            <a:ext cx="11274552" cy="615696"/>
          </a:xfrm>
          <a:prstGeom prst="rect">
            <a:avLst/>
          </a:prstGeom>
          <a:solidFill>
            <a:srgbClr val="EDF4FA"/>
          </a:solidFill>
          <a:ln/>
        </p:spPr>
      </p:sp>
      <p:sp>
        <p:nvSpPr>
          <p:cNvPr id="70" name="Text 6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Ask Hyundai Prescott, Lincoln and Lexus what changed. Ask Acura, VW St George and VW Henderson what got in the way. Ask Mazda, Kia St George and LR Henderson what they started this year.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 · REVIEW · TOP 3</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9" name="Shape 7"/>
          <p:cNvSpPr/>
          <p:nvPr/>
        </p:nvSpPr>
        <p:spPr>
          <a:xfrm>
            <a:off x="658368" y="2103120"/>
            <a:ext cx="3489960" cy="1258824"/>
          </a:xfrm>
          <a:prstGeom prst="rect">
            <a:avLst/>
          </a:prstGeom>
          <a:solidFill>
            <a:srgbClr val="F7F7F7"/>
          </a:solidFill>
          <a:ln/>
        </p:spPr>
      </p:sp>
      <p:sp>
        <p:nvSpPr>
          <p:cNvPr id="10" name="Text 8"/>
          <p:cNvSpPr txBox="1"/>
          <p:nvPr/>
        </p:nvSpPr>
        <p:spPr>
          <a:xfrm>
            <a:off x="749808" y="2103120"/>
            <a:ext cx="365760" cy="1258824"/>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1" name="Text 9"/>
          <p:cNvSpPr txBox="1"/>
          <p:nvPr/>
        </p:nvSpPr>
        <p:spPr>
          <a:xfrm>
            <a:off x="1161288" y="2103120"/>
            <a:ext cx="1917192" cy="1258824"/>
          </a:xfrm>
          <a:prstGeom prst="rect">
            <a:avLst/>
          </a:prstGeom>
          <a:noFill/>
          <a:ln/>
        </p:spPr>
        <p:txBody>
          <a:bodyPr wrap="square" lIns="0" tIns="0" rIns="0" bIns="0" rtlCol="0" anchor="ctr"/>
          <a:lstStyle/>
          <a:p>
            <a:pPr indent="0" marL="0">
              <a:spcAft>
                <a:spcPts val="200"/>
              </a:spcAft>
              <a:buNone/>
            </a:pPr>
            <a:r>
              <a:rPr lang="en-US" sz="1700" b="1" dirty="0">
                <a:solidFill>
                  <a:srgbClr val="1A1A1A"/>
                </a:solidFill>
                <a:latin typeface="Inter" pitchFamily="34" charset="0"/>
                <a:ea typeface="Inter" pitchFamily="34" charset="-122"/>
                <a:cs typeface="Inter" pitchFamily="34" charset="-120"/>
              </a:rPr>
              <a:t>Hyundai Prescott</a:t>
            </a:r>
            <a:endParaRPr lang="en-US" sz="1700" dirty="0"/>
          </a:p>
          <a:p>
            <a:pPr indent="0" marL="0">
              <a:spcAft>
                <a:spcPts val="200"/>
              </a:spcAft>
              <a:buNone/>
            </a:pPr>
            <a:r>
              <a:rPr lang="en-US" sz="1400" dirty="0">
                <a:solidFill>
                  <a:srgbClr val="595959"/>
                </a:solidFill>
                <a:latin typeface="Inter" pitchFamily="34" charset="0"/>
                <a:ea typeface="Inter" pitchFamily="34" charset="-122"/>
                <a:cs typeface="Inter" pitchFamily="34" charset="-120"/>
              </a:rPr>
              <a:t>$1.13M  →  </a:t>
            </a:r>
            <a:pPr indent="0" marL="0">
              <a:spcAft>
                <a:spcPts val="200"/>
              </a:spcAft>
              <a:buNone/>
            </a:pPr>
            <a:r>
              <a:rPr lang="en-US" sz="1400" b="1" dirty="0">
                <a:solidFill>
                  <a:srgbClr val="0B7A4A"/>
                </a:solidFill>
                <a:latin typeface="Inter" pitchFamily="34" charset="0"/>
                <a:ea typeface="Inter" pitchFamily="34" charset="-122"/>
                <a:cs typeface="Inter" pitchFamily="34" charset="-120"/>
              </a:rPr>
              <a:t>$1.54M</a:t>
            </a:r>
            <a:endParaRPr lang="en-US" sz="1700" dirty="0"/>
          </a:p>
        </p:txBody>
      </p:sp>
      <p:sp>
        <p:nvSpPr>
          <p:cNvPr id="12" name="Text 10"/>
          <p:cNvSpPr txBox="1"/>
          <p:nvPr/>
        </p:nvSpPr>
        <p:spPr>
          <a:xfrm>
            <a:off x="3124200" y="2103120"/>
            <a:ext cx="932688" cy="1258824"/>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+35.8%</a:t>
            </a:r>
            <a:endParaRPr lang="en-US" sz="1800" dirty="0"/>
          </a:p>
        </p:txBody>
      </p:sp>
      <p:sp>
        <p:nvSpPr>
          <p:cNvPr id="13" name="Text 11"/>
          <p:cNvSpPr txBox="1"/>
          <p:nvPr/>
        </p:nvSpPr>
        <p:spPr>
          <a:xfrm>
            <a:off x="749808" y="3361944"/>
            <a:ext cx="365760" cy="1258824"/>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4" name="Text 12"/>
          <p:cNvSpPr txBox="1"/>
          <p:nvPr/>
        </p:nvSpPr>
        <p:spPr>
          <a:xfrm>
            <a:off x="1161288" y="3361944"/>
            <a:ext cx="1917192" cy="1258824"/>
          </a:xfrm>
          <a:prstGeom prst="rect">
            <a:avLst/>
          </a:prstGeom>
          <a:noFill/>
          <a:ln/>
        </p:spPr>
        <p:txBody>
          <a:bodyPr wrap="square" lIns="0" tIns="0" rIns="0" bIns="0" rtlCol="0" anchor="ctr"/>
          <a:lstStyle/>
          <a:p>
            <a:pPr indent="0" marL="0">
              <a:spcAft>
                <a:spcPts val="200"/>
              </a:spcAft>
              <a:buNone/>
            </a:pPr>
            <a:r>
              <a:rPr lang="en-US" sz="1700" b="1" dirty="0">
                <a:solidFill>
                  <a:srgbClr val="1A1A1A"/>
                </a:solidFill>
                <a:latin typeface="Inter" pitchFamily="34" charset="0"/>
                <a:ea typeface="Inter" pitchFamily="34" charset="-122"/>
                <a:cs typeface="Inter" pitchFamily="34" charset="-120"/>
              </a:rPr>
              <a:t>Lincoln</a:t>
            </a:r>
            <a:endParaRPr lang="en-US" sz="1700" dirty="0"/>
          </a:p>
          <a:p>
            <a:pPr indent="0" marL="0">
              <a:spcAft>
                <a:spcPts val="200"/>
              </a:spcAft>
              <a:buNone/>
            </a:pPr>
            <a:r>
              <a:rPr lang="en-US" sz="1400" dirty="0">
                <a:solidFill>
                  <a:srgbClr val="595959"/>
                </a:solidFill>
                <a:latin typeface="Inter" pitchFamily="34" charset="0"/>
                <a:ea typeface="Inter" pitchFamily="34" charset="-122"/>
                <a:cs typeface="Inter" pitchFamily="34" charset="-120"/>
              </a:rPr>
              <a:t>$2.26M  →  </a:t>
            </a:r>
            <a:pPr indent="0" marL="0">
              <a:spcAft>
                <a:spcPts val="200"/>
              </a:spcAft>
              <a:buNone/>
            </a:pPr>
            <a:r>
              <a:rPr lang="en-US" sz="1400" b="1" dirty="0">
                <a:solidFill>
                  <a:srgbClr val="0B7A4A"/>
                </a:solidFill>
                <a:latin typeface="Inter" pitchFamily="34" charset="0"/>
                <a:ea typeface="Inter" pitchFamily="34" charset="-122"/>
                <a:cs typeface="Inter" pitchFamily="34" charset="-120"/>
              </a:rPr>
              <a:t>$2.98M</a:t>
            </a:r>
            <a:endParaRPr lang="en-US" sz="1700" dirty="0"/>
          </a:p>
        </p:txBody>
      </p:sp>
      <p:sp>
        <p:nvSpPr>
          <p:cNvPr id="15" name="Text 13"/>
          <p:cNvSpPr txBox="1"/>
          <p:nvPr/>
        </p:nvSpPr>
        <p:spPr>
          <a:xfrm>
            <a:off x="3124200" y="3361944"/>
            <a:ext cx="932688" cy="1258824"/>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+31.7%</a:t>
            </a:r>
            <a:endParaRPr lang="en-US" sz="1800" dirty="0"/>
          </a:p>
        </p:txBody>
      </p:sp>
      <p:sp>
        <p:nvSpPr>
          <p:cNvPr id="16" name="Shape 14"/>
          <p:cNvSpPr/>
          <p:nvPr/>
        </p:nvSpPr>
        <p:spPr>
          <a:xfrm>
            <a:off x="658368" y="4620768"/>
            <a:ext cx="3489960" cy="1258824"/>
          </a:xfrm>
          <a:prstGeom prst="rect">
            <a:avLst/>
          </a:prstGeom>
          <a:solidFill>
            <a:srgbClr val="F7F7F7"/>
          </a:solidFill>
          <a:ln/>
        </p:spPr>
      </p:sp>
      <p:sp>
        <p:nvSpPr>
          <p:cNvPr id="17" name="Text 15"/>
          <p:cNvSpPr txBox="1"/>
          <p:nvPr/>
        </p:nvSpPr>
        <p:spPr>
          <a:xfrm>
            <a:off x="749808" y="4620768"/>
            <a:ext cx="365760" cy="1258824"/>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18" name="Text 16"/>
          <p:cNvSpPr txBox="1"/>
          <p:nvPr/>
        </p:nvSpPr>
        <p:spPr>
          <a:xfrm>
            <a:off x="1161288" y="4620768"/>
            <a:ext cx="1917192" cy="1258824"/>
          </a:xfrm>
          <a:prstGeom prst="rect">
            <a:avLst/>
          </a:prstGeom>
          <a:noFill/>
          <a:ln/>
        </p:spPr>
        <p:txBody>
          <a:bodyPr wrap="square" lIns="0" tIns="0" rIns="0" bIns="0" rtlCol="0" anchor="ctr"/>
          <a:lstStyle/>
          <a:p>
            <a:pPr indent="0" marL="0">
              <a:spcAft>
                <a:spcPts val="200"/>
              </a:spcAft>
              <a:buNone/>
            </a:pPr>
            <a:r>
              <a:rPr lang="en-US" sz="1700" b="1" dirty="0">
                <a:solidFill>
                  <a:srgbClr val="1A1A1A"/>
                </a:solidFill>
                <a:latin typeface="Inter" pitchFamily="34" charset="0"/>
                <a:ea typeface="Inter" pitchFamily="34" charset="-122"/>
                <a:cs typeface="Inter" pitchFamily="34" charset="-120"/>
              </a:rPr>
              <a:t>Lexus</a:t>
            </a:r>
            <a:endParaRPr lang="en-US" sz="1700" dirty="0"/>
          </a:p>
          <a:p>
            <a:pPr indent="0" marL="0">
              <a:spcAft>
                <a:spcPts val="200"/>
              </a:spcAft>
              <a:buNone/>
            </a:pPr>
            <a:r>
              <a:rPr lang="en-US" sz="1400" dirty="0">
                <a:solidFill>
                  <a:srgbClr val="595959"/>
                </a:solidFill>
                <a:latin typeface="Inter" pitchFamily="34" charset="0"/>
                <a:ea typeface="Inter" pitchFamily="34" charset="-122"/>
                <a:cs typeface="Inter" pitchFamily="34" charset="-120"/>
              </a:rPr>
              <a:t>$3.38M  →  </a:t>
            </a:r>
            <a:pPr indent="0" marL="0">
              <a:spcAft>
                <a:spcPts val="200"/>
              </a:spcAft>
              <a:buNone/>
            </a:pPr>
            <a:r>
              <a:rPr lang="en-US" sz="1400" b="1" dirty="0">
                <a:solidFill>
                  <a:srgbClr val="0B7A4A"/>
                </a:solidFill>
                <a:latin typeface="Inter" pitchFamily="34" charset="0"/>
                <a:ea typeface="Inter" pitchFamily="34" charset="-122"/>
                <a:cs typeface="Inter" pitchFamily="34" charset="-120"/>
              </a:rPr>
              <a:t>$4.15M</a:t>
            </a:r>
            <a:endParaRPr lang="en-US" sz="1700" dirty="0"/>
          </a:p>
        </p:txBody>
      </p:sp>
      <p:sp>
        <p:nvSpPr>
          <p:cNvPr id="19" name="Text 17"/>
          <p:cNvSpPr txBox="1"/>
          <p:nvPr/>
        </p:nvSpPr>
        <p:spPr>
          <a:xfrm>
            <a:off x="3124200" y="4620768"/>
            <a:ext cx="932688" cy="1258824"/>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+22.6%</a:t>
            </a:r>
            <a:endParaRPr lang="en-US" sz="1800" dirty="0"/>
          </a:p>
        </p:txBody>
      </p:sp>
      <p:sp>
        <p:nvSpPr>
          <p:cNvPr id="20" name="Shape 18"/>
          <p:cNvSpPr/>
          <p:nvPr/>
        </p:nvSpPr>
        <p:spPr>
          <a:xfrm>
            <a:off x="4349496" y="1371600"/>
            <a:ext cx="3489960" cy="45720"/>
          </a:xfrm>
          <a:prstGeom prst="rect">
            <a:avLst/>
          </a:prstGeom>
          <a:solidFill>
            <a:srgbClr val="C2352F"/>
          </a:solidFill>
          <a:ln/>
        </p:spPr>
      </p:sp>
      <p:sp>
        <p:nvSpPr>
          <p:cNvPr id="21" name="Text 19"/>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2" name="Text 20"/>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23" name="Shape 21"/>
          <p:cNvSpPr/>
          <p:nvPr/>
        </p:nvSpPr>
        <p:spPr>
          <a:xfrm>
            <a:off x="4349496" y="2103120"/>
            <a:ext cx="3489960" cy="1258824"/>
          </a:xfrm>
          <a:prstGeom prst="rect">
            <a:avLst/>
          </a:prstGeom>
          <a:solidFill>
            <a:srgbClr val="F7F7F7"/>
          </a:solidFill>
          <a:ln/>
        </p:spPr>
      </p:sp>
      <p:sp>
        <p:nvSpPr>
          <p:cNvPr id="24" name="Text 22"/>
          <p:cNvSpPr txBox="1"/>
          <p:nvPr/>
        </p:nvSpPr>
        <p:spPr>
          <a:xfrm>
            <a:off x="4440936" y="2103120"/>
            <a:ext cx="365760" cy="1258824"/>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25" name="Text 23"/>
          <p:cNvSpPr txBox="1"/>
          <p:nvPr/>
        </p:nvSpPr>
        <p:spPr>
          <a:xfrm>
            <a:off x="4852416" y="2103120"/>
            <a:ext cx="1917192" cy="1258824"/>
          </a:xfrm>
          <a:prstGeom prst="rect">
            <a:avLst/>
          </a:prstGeom>
          <a:noFill/>
          <a:ln/>
        </p:spPr>
        <p:txBody>
          <a:bodyPr wrap="square" lIns="0" tIns="0" rIns="0" bIns="0" rtlCol="0" anchor="ctr"/>
          <a:lstStyle/>
          <a:p>
            <a:pPr indent="0" marL="0">
              <a:spcAft>
                <a:spcPts val="200"/>
              </a:spcAft>
              <a:buNone/>
            </a:pPr>
            <a:r>
              <a:rPr lang="en-US" sz="1700" b="1" dirty="0">
                <a:solidFill>
                  <a:srgbClr val="1A1A1A"/>
                </a:solidFill>
                <a:latin typeface="Inter" pitchFamily="34" charset="0"/>
                <a:ea typeface="Inter" pitchFamily="34" charset="-122"/>
                <a:cs typeface="Inter" pitchFamily="34" charset="-120"/>
              </a:rPr>
              <a:t>Acura</a:t>
            </a:r>
            <a:endParaRPr lang="en-US" sz="1700" dirty="0"/>
          </a:p>
          <a:p>
            <a:pPr indent="0" marL="0">
              <a:spcAft>
                <a:spcPts val="200"/>
              </a:spcAft>
              <a:buNone/>
            </a:pPr>
            <a:r>
              <a:rPr lang="en-US" sz="1400" dirty="0">
                <a:solidFill>
                  <a:srgbClr val="595959"/>
                </a:solidFill>
                <a:latin typeface="Inter" pitchFamily="34" charset="0"/>
                <a:ea typeface="Inter" pitchFamily="34" charset="-122"/>
                <a:cs typeface="Inter" pitchFamily="34" charset="-120"/>
              </a:rPr>
              <a:t>$3.41M  →  </a:t>
            </a:r>
            <a:pPr indent="0" marL="0">
              <a:spcAft>
                <a:spcPts val="200"/>
              </a:spcAft>
              <a:buNone/>
            </a:pPr>
            <a:r>
              <a:rPr lang="en-US" sz="1400" b="1" dirty="0">
                <a:solidFill>
                  <a:srgbClr val="A82B26"/>
                </a:solidFill>
                <a:latin typeface="Inter" pitchFamily="34" charset="0"/>
                <a:ea typeface="Inter" pitchFamily="34" charset="-122"/>
                <a:cs typeface="Inter" pitchFamily="34" charset="-120"/>
              </a:rPr>
              <a:t>$2.89M</a:t>
            </a:r>
            <a:endParaRPr lang="en-US" sz="1700" dirty="0"/>
          </a:p>
        </p:txBody>
      </p:sp>
      <p:sp>
        <p:nvSpPr>
          <p:cNvPr id="26" name="Text 24"/>
          <p:cNvSpPr txBox="1"/>
          <p:nvPr/>
        </p:nvSpPr>
        <p:spPr>
          <a:xfrm>
            <a:off x="6815328" y="2103120"/>
            <a:ext cx="932688" cy="1258824"/>
          </a:xfrm>
          <a:prstGeom prst="rect">
            <a:avLst/>
          </a:prstGeom>
          <a:noFill/>
          <a:ln/>
        </p:spPr>
        <p:txBody>
          <a:bodyPr wrap="square" lIns="0" tIns="0" rIns="0" bIns="0" rtlCol="0" anchor="ctr"/>
          <a:lstStyle/>
          <a:p>
            <a:pPr algn="r" indent="0" marL="0">
              <a:buNone/>
            </a:pPr>
            <a:r>
              <a:rPr lang="en-US" sz="1800" b="1" dirty="0">
                <a:solidFill>
                  <a:srgbClr val="A82B26"/>
                </a:solidFill>
                <a:latin typeface="Inter" pitchFamily="34" charset="0"/>
                <a:ea typeface="Inter" pitchFamily="34" charset="-122"/>
                <a:cs typeface="Inter" pitchFamily="34" charset="-120"/>
              </a:rPr>
              <a:t>−15.2%</a:t>
            </a:r>
            <a:endParaRPr lang="en-US" sz="1800" dirty="0"/>
          </a:p>
        </p:txBody>
      </p:sp>
      <p:sp>
        <p:nvSpPr>
          <p:cNvPr id="27" name="Text 25"/>
          <p:cNvSpPr txBox="1"/>
          <p:nvPr/>
        </p:nvSpPr>
        <p:spPr>
          <a:xfrm>
            <a:off x="4440936" y="3361944"/>
            <a:ext cx="365760" cy="1258824"/>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28" name="Text 26"/>
          <p:cNvSpPr txBox="1"/>
          <p:nvPr/>
        </p:nvSpPr>
        <p:spPr>
          <a:xfrm>
            <a:off x="4852416" y="3361944"/>
            <a:ext cx="1917192" cy="1258824"/>
          </a:xfrm>
          <a:prstGeom prst="rect">
            <a:avLst/>
          </a:prstGeom>
          <a:noFill/>
          <a:ln/>
        </p:spPr>
        <p:txBody>
          <a:bodyPr wrap="square" lIns="0" tIns="0" rIns="0" bIns="0" rtlCol="0" anchor="ctr"/>
          <a:lstStyle/>
          <a:p>
            <a:pPr indent="0" marL="0">
              <a:spcAft>
                <a:spcPts val="200"/>
              </a:spcAft>
              <a:buNone/>
            </a:pPr>
            <a:r>
              <a:rPr lang="en-US" sz="1700" b="1" dirty="0">
                <a:solidFill>
                  <a:srgbClr val="1A1A1A"/>
                </a:solidFill>
                <a:latin typeface="Inter" pitchFamily="34" charset="0"/>
                <a:ea typeface="Inter" pitchFamily="34" charset="-122"/>
                <a:cs typeface="Inter" pitchFamily="34" charset="-120"/>
              </a:rPr>
              <a:t>VW St George</a:t>
            </a:r>
            <a:endParaRPr lang="en-US" sz="1700" dirty="0"/>
          </a:p>
          <a:p>
            <a:pPr indent="0" marL="0">
              <a:spcAft>
                <a:spcPts val="200"/>
              </a:spcAft>
              <a:buNone/>
            </a:pPr>
            <a:r>
              <a:rPr lang="en-US" sz="1400" dirty="0">
                <a:solidFill>
                  <a:srgbClr val="595959"/>
                </a:solidFill>
                <a:latin typeface="Inter" pitchFamily="34" charset="0"/>
                <a:ea typeface="Inter" pitchFamily="34" charset="-122"/>
                <a:cs typeface="Inter" pitchFamily="34" charset="-120"/>
              </a:rPr>
              <a:t>$1.13M  →  </a:t>
            </a:r>
            <a:pPr indent="0" marL="0">
              <a:spcAft>
                <a:spcPts val="200"/>
              </a:spcAft>
              <a:buNone/>
            </a:pPr>
            <a:r>
              <a:rPr lang="en-US" sz="1400" b="1" dirty="0">
                <a:solidFill>
                  <a:srgbClr val="A82B26"/>
                </a:solidFill>
                <a:latin typeface="Inter" pitchFamily="34" charset="0"/>
                <a:ea typeface="Inter" pitchFamily="34" charset="-122"/>
                <a:cs typeface="Inter" pitchFamily="34" charset="-120"/>
              </a:rPr>
              <a:t>$968K</a:t>
            </a:r>
            <a:endParaRPr lang="en-US" sz="1700" dirty="0"/>
          </a:p>
        </p:txBody>
      </p:sp>
      <p:sp>
        <p:nvSpPr>
          <p:cNvPr id="29" name="Text 27"/>
          <p:cNvSpPr txBox="1"/>
          <p:nvPr/>
        </p:nvSpPr>
        <p:spPr>
          <a:xfrm>
            <a:off x="6815328" y="3361944"/>
            <a:ext cx="932688" cy="1258824"/>
          </a:xfrm>
          <a:prstGeom prst="rect">
            <a:avLst/>
          </a:prstGeom>
          <a:noFill/>
          <a:ln/>
        </p:spPr>
        <p:txBody>
          <a:bodyPr wrap="square" lIns="0" tIns="0" rIns="0" bIns="0" rtlCol="0" anchor="ctr"/>
          <a:lstStyle/>
          <a:p>
            <a:pPr algn="r" indent="0" marL="0">
              <a:buNone/>
            </a:pPr>
            <a:r>
              <a:rPr lang="en-US" sz="1800" b="1" dirty="0">
                <a:solidFill>
                  <a:srgbClr val="A82B26"/>
                </a:solidFill>
                <a:latin typeface="Inter" pitchFamily="34" charset="0"/>
                <a:ea typeface="Inter" pitchFamily="34" charset="-122"/>
                <a:cs typeface="Inter" pitchFamily="34" charset="-120"/>
              </a:rPr>
              <a:t>−14.4%</a:t>
            </a:r>
            <a:endParaRPr lang="en-US" sz="1800" dirty="0"/>
          </a:p>
        </p:txBody>
      </p:sp>
      <p:sp>
        <p:nvSpPr>
          <p:cNvPr id="30" name="Shape 28"/>
          <p:cNvSpPr/>
          <p:nvPr/>
        </p:nvSpPr>
        <p:spPr>
          <a:xfrm>
            <a:off x="4349496" y="4620768"/>
            <a:ext cx="3489960" cy="1258824"/>
          </a:xfrm>
          <a:prstGeom prst="rect">
            <a:avLst/>
          </a:prstGeom>
          <a:solidFill>
            <a:srgbClr val="F7F7F7"/>
          </a:solidFill>
          <a:ln/>
        </p:spPr>
      </p:sp>
      <p:sp>
        <p:nvSpPr>
          <p:cNvPr id="31" name="Text 29"/>
          <p:cNvSpPr txBox="1"/>
          <p:nvPr/>
        </p:nvSpPr>
        <p:spPr>
          <a:xfrm>
            <a:off x="4440936" y="4620768"/>
            <a:ext cx="365760" cy="1258824"/>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32" name="Text 30"/>
          <p:cNvSpPr txBox="1"/>
          <p:nvPr/>
        </p:nvSpPr>
        <p:spPr>
          <a:xfrm>
            <a:off x="4852416" y="4620768"/>
            <a:ext cx="1917192" cy="1258824"/>
          </a:xfrm>
          <a:prstGeom prst="rect">
            <a:avLst/>
          </a:prstGeom>
          <a:noFill/>
          <a:ln/>
        </p:spPr>
        <p:txBody>
          <a:bodyPr wrap="square" lIns="0" tIns="0" rIns="0" bIns="0" rtlCol="0" anchor="ctr"/>
          <a:lstStyle/>
          <a:p>
            <a:pPr indent="0" marL="0">
              <a:spcAft>
                <a:spcPts val="200"/>
              </a:spcAft>
              <a:buNone/>
            </a:pPr>
            <a:r>
              <a:rPr lang="en-US" sz="1700" b="1" dirty="0">
                <a:solidFill>
                  <a:srgbClr val="1A1A1A"/>
                </a:solidFill>
                <a:latin typeface="Inter" pitchFamily="34" charset="0"/>
                <a:ea typeface="Inter" pitchFamily="34" charset="-122"/>
                <a:cs typeface="Inter" pitchFamily="34" charset="-120"/>
              </a:rPr>
              <a:t>VW Henderson</a:t>
            </a:r>
            <a:endParaRPr lang="en-US" sz="1700" dirty="0"/>
          </a:p>
          <a:p>
            <a:pPr indent="0" marL="0">
              <a:spcAft>
                <a:spcPts val="200"/>
              </a:spcAft>
              <a:buNone/>
            </a:pPr>
            <a:r>
              <a:rPr lang="en-US" sz="1400" dirty="0">
                <a:solidFill>
                  <a:srgbClr val="595959"/>
                </a:solidFill>
                <a:latin typeface="Inter" pitchFamily="34" charset="0"/>
                <a:ea typeface="Inter" pitchFamily="34" charset="-122"/>
                <a:cs typeface="Inter" pitchFamily="34" charset="-120"/>
              </a:rPr>
              <a:t>$5.55M  →  </a:t>
            </a:r>
            <a:pPr indent="0" marL="0">
              <a:spcAft>
                <a:spcPts val="200"/>
              </a:spcAft>
              <a:buNone/>
            </a:pPr>
            <a:r>
              <a:rPr lang="en-US" sz="1400" b="1" dirty="0">
                <a:solidFill>
                  <a:srgbClr val="A82B26"/>
                </a:solidFill>
                <a:latin typeface="Inter" pitchFamily="34" charset="0"/>
                <a:ea typeface="Inter" pitchFamily="34" charset="-122"/>
                <a:cs typeface="Inter" pitchFamily="34" charset="-120"/>
              </a:rPr>
              <a:t>$4.79M</a:t>
            </a:r>
            <a:endParaRPr lang="en-US" sz="1700" dirty="0"/>
          </a:p>
        </p:txBody>
      </p:sp>
      <p:sp>
        <p:nvSpPr>
          <p:cNvPr id="33" name="Text 31"/>
          <p:cNvSpPr txBox="1"/>
          <p:nvPr/>
        </p:nvSpPr>
        <p:spPr>
          <a:xfrm>
            <a:off x="6815328" y="4620768"/>
            <a:ext cx="932688" cy="1258824"/>
          </a:xfrm>
          <a:prstGeom prst="rect">
            <a:avLst/>
          </a:prstGeom>
          <a:noFill/>
          <a:ln/>
        </p:spPr>
        <p:txBody>
          <a:bodyPr wrap="square" lIns="0" tIns="0" rIns="0" bIns="0" rtlCol="0" anchor="ctr"/>
          <a:lstStyle/>
          <a:p>
            <a:pPr algn="r" indent="0" marL="0">
              <a:buNone/>
            </a:pPr>
            <a:r>
              <a:rPr lang="en-US" sz="1800" b="1" dirty="0">
                <a:solidFill>
                  <a:srgbClr val="A82B26"/>
                </a:solidFill>
                <a:latin typeface="Inter" pitchFamily="34" charset="0"/>
                <a:ea typeface="Inter" pitchFamily="34" charset="-122"/>
                <a:cs typeface="Inter" pitchFamily="34" charset="-120"/>
              </a:rPr>
              <a:t>−13.7%</a:t>
            </a:r>
            <a:endParaRPr lang="en-US" sz="1800" dirty="0"/>
          </a:p>
        </p:txBody>
      </p:sp>
      <p:sp>
        <p:nvSpPr>
          <p:cNvPr id="34" name="Shape 32"/>
          <p:cNvSpPr/>
          <p:nvPr/>
        </p:nvSpPr>
        <p:spPr>
          <a:xfrm>
            <a:off x="8040624" y="1371600"/>
            <a:ext cx="3489960" cy="45720"/>
          </a:xfrm>
          <a:prstGeom prst="rect">
            <a:avLst/>
          </a:prstGeom>
          <a:solidFill>
            <a:srgbClr val="2587C5"/>
          </a:solidFill>
          <a:ln/>
        </p:spPr>
      </p:sp>
      <p:sp>
        <p:nvSpPr>
          <p:cNvPr id="35" name="Text 33"/>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36" name="Text 34"/>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2026, per month</a:t>
            </a:r>
            <a:endParaRPr lang="en-US" sz="1200" dirty="0"/>
          </a:p>
        </p:txBody>
      </p:sp>
      <p:sp>
        <p:nvSpPr>
          <p:cNvPr id="37" name="Shape 35"/>
          <p:cNvSpPr/>
          <p:nvPr/>
        </p:nvSpPr>
        <p:spPr>
          <a:xfrm>
            <a:off x="8040624" y="2103120"/>
            <a:ext cx="3489960" cy="1258824"/>
          </a:xfrm>
          <a:prstGeom prst="rect">
            <a:avLst/>
          </a:prstGeom>
          <a:solidFill>
            <a:srgbClr val="F7F7F7"/>
          </a:solidFill>
          <a:ln/>
        </p:spPr>
      </p:sp>
      <p:sp>
        <p:nvSpPr>
          <p:cNvPr id="38" name="Text 36"/>
          <p:cNvSpPr txBox="1"/>
          <p:nvPr/>
        </p:nvSpPr>
        <p:spPr>
          <a:xfrm>
            <a:off x="8132064" y="2103120"/>
            <a:ext cx="365760" cy="1258824"/>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39" name="Text 37"/>
          <p:cNvSpPr txBox="1"/>
          <p:nvPr/>
        </p:nvSpPr>
        <p:spPr>
          <a:xfrm>
            <a:off x="8543544" y="2103120"/>
            <a:ext cx="1917192" cy="1258824"/>
          </a:xfrm>
          <a:prstGeom prst="rect">
            <a:avLst/>
          </a:prstGeom>
          <a:noFill/>
          <a:ln/>
        </p:spPr>
        <p:txBody>
          <a:bodyPr wrap="square" lIns="0" tIns="0" rIns="0" bIns="0" rtlCol="0" anchor="ctr"/>
          <a:lstStyle/>
          <a:p>
            <a:pPr indent="0" marL="0">
              <a:spcAft>
                <a:spcPts val="200"/>
              </a:spcAft>
              <a:buNone/>
            </a:pPr>
            <a:r>
              <a:rPr lang="en-US" sz="1700" b="1" dirty="0">
                <a:solidFill>
                  <a:srgbClr val="1A1A1A"/>
                </a:solidFill>
                <a:latin typeface="Inter" pitchFamily="34" charset="0"/>
                <a:ea typeface="Inter" pitchFamily="34" charset="-122"/>
                <a:cs typeface="Inter" pitchFamily="34" charset="-120"/>
              </a:rPr>
              <a:t>Mazda</a:t>
            </a:r>
            <a:endParaRPr lang="en-US" sz="1700" dirty="0"/>
          </a:p>
          <a:p>
            <a:pPr indent="0" marL="0">
              <a:spcAft>
                <a:spcPts val="200"/>
              </a:spcAft>
              <a:buNone/>
            </a:pPr>
            <a:r>
              <a:rPr lang="en-US" sz="1400" dirty="0">
                <a:solidFill>
                  <a:srgbClr val="595959"/>
                </a:solidFill>
                <a:latin typeface="Inter" pitchFamily="34" charset="0"/>
                <a:ea typeface="Inter" pitchFamily="34" charset="-122"/>
                <a:cs typeface="Inter" pitchFamily="34" charset="-120"/>
              </a:rPr>
              <a:t>$313K  →  </a:t>
            </a:r>
            <a:pPr indent="0" marL="0">
              <a:spcAft>
                <a:spcPts val="200"/>
              </a:spcAft>
              <a:buNone/>
            </a:pPr>
            <a:r>
              <a:rPr lang="en-US" sz="1400" b="1" dirty="0">
                <a:solidFill>
                  <a:srgbClr val="0B7A4A"/>
                </a:solidFill>
                <a:latin typeface="Inter" pitchFamily="34" charset="0"/>
                <a:ea typeface="Inter" pitchFamily="34" charset="-122"/>
                <a:cs typeface="Inter" pitchFamily="34" charset="-120"/>
              </a:rPr>
              <a:t>$425K</a:t>
            </a:r>
            <a:endParaRPr lang="en-US" sz="1700" dirty="0"/>
          </a:p>
        </p:txBody>
      </p:sp>
      <p:sp>
        <p:nvSpPr>
          <p:cNvPr id="40" name="Text 38"/>
          <p:cNvSpPr txBox="1"/>
          <p:nvPr/>
        </p:nvSpPr>
        <p:spPr>
          <a:xfrm>
            <a:off x="10506456" y="2103120"/>
            <a:ext cx="932688" cy="1258824"/>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+35.7%</a:t>
            </a:r>
            <a:endParaRPr lang="en-US" sz="1800" dirty="0"/>
          </a:p>
        </p:txBody>
      </p:sp>
      <p:sp>
        <p:nvSpPr>
          <p:cNvPr id="41" name="Text 39"/>
          <p:cNvSpPr txBox="1"/>
          <p:nvPr/>
        </p:nvSpPr>
        <p:spPr>
          <a:xfrm>
            <a:off x="8132064" y="3361944"/>
            <a:ext cx="365760" cy="1258824"/>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42" name="Text 40"/>
          <p:cNvSpPr txBox="1"/>
          <p:nvPr/>
        </p:nvSpPr>
        <p:spPr>
          <a:xfrm>
            <a:off x="8543544" y="3361944"/>
            <a:ext cx="1917192" cy="1258824"/>
          </a:xfrm>
          <a:prstGeom prst="rect">
            <a:avLst/>
          </a:prstGeom>
          <a:noFill/>
          <a:ln/>
        </p:spPr>
        <p:txBody>
          <a:bodyPr wrap="square" lIns="0" tIns="0" rIns="0" bIns="0" rtlCol="0" anchor="ctr"/>
          <a:lstStyle/>
          <a:p>
            <a:pPr indent="0" marL="0">
              <a:spcAft>
                <a:spcPts val="200"/>
              </a:spcAft>
              <a:buNone/>
            </a:pPr>
            <a:r>
              <a:rPr lang="en-US" sz="1700" b="1" dirty="0">
                <a:solidFill>
                  <a:srgbClr val="1A1A1A"/>
                </a:solidFill>
                <a:latin typeface="Inter" pitchFamily="34" charset="0"/>
                <a:ea typeface="Inter" pitchFamily="34" charset="-122"/>
                <a:cs typeface="Inter" pitchFamily="34" charset="-120"/>
              </a:rPr>
              <a:t>Kia St George</a:t>
            </a:r>
            <a:endParaRPr lang="en-US" sz="1700" dirty="0"/>
          </a:p>
          <a:p>
            <a:pPr indent="0" marL="0">
              <a:spcAft>
                <a:spcPts val="200"/>
              </a:spcAft>
              <a:buNone/>
            </a:pPr>
            <a:r>
              <a:rPr lang="en-US" sz="1400" dirty="0">
                <a:solidFill>
                  <a:srgbClr val="595959"/>
                </a:solidFill>
                <a:latin typeface="Inter" pitchFamily="34" charset="0"/>
                <a:ea typeface="Inter" pitchFamily="34" charset="-122"/>
                <a:cs typeface="Inter" pitchFamily="34" charset="-120"/>
              </a:rPr>
              <a:t>$227K  →  </a:t>
            </a:r>
            <a:pPr indent="0" marL="0">
              <a:spcAft>
                <a:spcPts val="200"/>
              </a:spcAft>
              <a:buNone/>
            </a:pPr>
            <a:r>
              <a:rPr lang="en-US" sz="1400" b="1" dirty="0">
                <a:solidFill>
                  <a:srgbClr val="0B7A4A"/>
                </a:solidFill>
                <a:latin typeface="Inter" pitchFamily="34" charset="0"/>
                <a:ea typeface="Inter" pitchFamily="34" charset="-122"/>
                <a:cs typeface="Inter" pitchFamily="34" charset="-120"/>
              </a:rPr>
              <a:t>$301K</a:t>
            </a:r>
            <a:endParaRPr lang="en-US" sz="1700" dirty="0"/>
          </a:p>
        </p:txBody>
      </p:sp>
      <p:sp>
        <p:nvSpPr>
          <p:cNvPr id="43" name="Text 41"/>
          <p:cNvSpPr txBox="1"/>
          <p:nvPr/>
        </p:nvSpPr>
        <p:spPr>
          <a:xfrm>
            <a:off x="10506456" y="3361944"/>
            <a:ext cx="932688" cy="1258824"/>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+32.7%</a:t>
            </a:r>
            <a:endParaRPr lang="en-US" sz="1800" dirty="0"/>
          </a:p>
        </p:txBody>
      </p:sp>
      <p:sp>
        <p:nvSpPr>
          <p:cNvPr id="44" name="Shape 42"/>
          <p:cNvSpPr/>
          <p:nvPr/>
        </p:nvSpPr>
        <p:spPr>
          <a:xfrm>
            <a:off x="8040624" y="4620768"/>
            <a:ext cx="3489960" cy="1258824"/>
          </a:xfrm>
          <a:prstGeom prst="rect">
            <a:avLst/>
          </a:prstGeom>
          <a:solidFill>
            <a:srgbClr val="F7F7F7"/>
          </a:solidFill>
          <a:ln/>
        </p:spPr>
      </p:sp>
      <p:sp>
        <p:nvSpPr>
          <p:cNvPr id="45" name="Text 43"/>
          <p:cNvSpPr txBox="1"/>
          <p:nvPr/>
        </p:nvSpPr>
        <p:spPr>
          <a:xfrm>
            <a:off x="8132064" y="4620768"/>
            <a:ext cx="365760" cy="1258824"/>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46" name="Text 44"/>
          <p:cNvSpPr txBox="1"/>
          <p:nvPr/>
        </p:nvSpPr>
        <p:spPr>
          <a:xfrm>
            <a:off x="8543544" y="4620768"/>
            <a:ext cx="1917192" cy="1258824"/>
          </a:xfrm>
          <a:prstGeom prst="rect">
            <a:avLst/>
          </a:prstGeom>
          <a:noFill/>
          <a:ln/>
        </p:spPr>
        <p:txBody>
          <a:bodyPr wrap="square" lIns="0" tIns="0" rIns="0" bIns="0" rtlCol="0" anchor="ctr"/>
          <a:lstStyle/>
          <a:p>
            <a:pPr indent="0" marL="0">
              <a:spcAft>
                <a:spcPts val="200"/>
              </a:spcAft>
              <a:buNone/>
            </a:pPr>
            <a:r>
              <a:rPr lang="en-US" sz="1700" b="1" dirty="0">
                <a:solidFill>
                  <a:srgbClr val="1A1A1A"/>
                </a:solidFill>
                <a:latin typeface="Inter" pitchFamily="34" charset="0"/>
                <a:ea typeface="Inter" pitchFamily="34" charset="-122"/>
                <a:cs typeface="Inter" pitchFamily="34" charset="-120"/>
              </a:rPr>
              <a:t>LR Henderson</a:t>
            </a:r>
            <a:endParaRPr lang="en-US" sz="1700" dirty="0"/>
          </a:p>
          <a:p>
            <a:pPr indent="0" marL="0">
              <a:spcAft>
                <a:spcPts val="200"/>
              </a:spcAft>
              <a:buNone/>
            </a:pPr>
            <a:r>
              <a:rPr lang="en-US" sz="1400" dirty="0">
                <a:solidFill>
                  <a:srgbClr val="595959"/>
                </a:solidFill>
                <a:latin typeface="Inter" pitchFamily="34" charset="0"/>
                <a:ea typeface="Inter" pitchFamily="34" charset="-122"/>
                <a:cs typeface="Inter" pitchFamily="34" charset="-120"/>
              </a:rPr>
              <a:t>$332K  →  </a:t>
            </a:r>
            <a:pPr indent="0" marL="0">
              <a:spcAft>
                <a:spcPts val="200"/>
              </a:spcAft>
              <a:buNone/>
            </a:pPr>
            <a:r>
              <a:rPr lang="en-US" sz="1400" b="1" dirty="0">
                <a:solidFill>
                  <a:srgbClr val="0B7A4A"/>
                </a:solidFill>
                <a:latin typeface="Inter" pitchFamily="34" charset="0"/>
                <a:ea typeface="Inter" pitchFamily="34" charset="-122"/>
                <a:cs typeface="Inter" pitchFamily="34" charset="-120"/>
              </a:rPr>
              <a:t>$429K</a:t>
            </a:r>
            <a:endParaRPr lang="en-US" sz="1700" dirty="0"/>
          </a:p>
        </p:txBody>
      </p:sp>
      <p:sp>
        <p:nvSpPr>
          <p:cNvPr id="47" name="Text 45"/>
          <p:cNvSpPr txBox="1"/>
          <p:nvPr/>
        </p:nvSpPr>
        <p:spPr>
          <a:xfrm>
            <a:off x="10506456" y="4620768"/>
            <a:ext cx="932688" cy="1258824"/>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+29.1%</a:t>
            </a:r>
            <a:endParaRPr lang="en-US" sz="1800" dirty="0"/>
          </a:p>
        </p:txBody>
      </p:sp>
      <p:sp>
        <p:nvSpPr>
          <p:cNvPr id="48" name="Shape 46"/>
          <p:cNvSpPr/>
          <p:nvPr/>
        </p:nvSpPr>
        <p:spPr>
          <a:xfrm>
            <a:off x="457200" y="6126480"/>
            <a:ext cx="11274552" cy="615696"/>
          </a:xfrm>
          <a:prstGeom prst="rect">
            <a:avLst/>
          </a:prstGeom>
          <a:solidFill>
            <a:srgbClr val="EDF4FA"/>
          </a:solidFill>
          <a:ln/>
        </p:spPr>
      </p:sp>
      <p:sp>
        <p:nvSpPr>
          <p:cNvPr id="49" name="Text 47"/>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Ask Hyundai Prescott, Lincoln and Lexus what changed. Ask Acura, VW St George and VW Henderson what got in the way. Ask Mazda, Kia St George and LR Henderson what they started this year.</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2026-10-23T16:03:48Z</dcterms:created>
  <dcterms:modified xsi:type="dcterms:W3CDTF">2026-10-23T16:03:48Z</dcterms:modified>
</cp:coreProperties>
</file>