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262" r:id="rId8"/>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263" r:id="rId9"/>
    <p:sldId id="366" r:id="rId117"/>
    <p:sldId id="367" r:id="rId118"/>
    <p:sldId id="368" r:id="rId119"/>
    <p:sldId id="369" r:id="rId120"/>
    <p:sldId id="370" r:id="rId121"/>
    <p:sldId id="371" r:id="rId122"/>
    <p:sldId id="372" r:id="rId123"/>
    <p:sldId id="373" r:id="rId124"/>
    <p:sldId id="374" r:id="rId125"/>
    <p:sldId id="375" r:id="rId126"/>
    <p:sldId id="264" r:id="rId10"/>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265" r:id="rId11"/>
    <p:sldId id="406" r:id="rId157"/>
    <p:sldId id="407" r:id="rId158"/>
    <p:sldId id="408" r:id="rId159"/>
    <p:sldId id="409" r:id="rId160"/>
    <p:sldId id="410" r:id="rId161"/>
    <p:sldId id="411" r:id="rId162"/>
    <p:sldId id="266" r:id="rId1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834489989177489"/>
          <c:min val="0.04702989718614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0.038461538461538464</c:v>
                </c:pt>
                <c:pt idx="1">
                  <c:v>0.09066666666666667</c:v>
                </c:pt>
                <c:pt idx="2">
                  <c:v>0.09955752212389381</c:v>
                </c:pt>
                <c:pt idx="3">
                  <c:v>0.11637080867850098</c:v>
                </c:pt>
                <c:pt idx="4">
                  <c:v>0.11231101511879049</c:v>
                </c:pt>
                <c:pt idx="5">
                  <c:v>0.1724137931034483</c:v>
                </c:pt>
                <c:pt idx="6">
                  <c:v>0.1257606490872211</c:v>
                </c:pt>
                <c:pt idx="7">
                  <c:v>0.10043668122270742</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250663129973475"/>
          <c:min val="0.0183687002652519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0.20245398773006135</c:v>
                </c:pt>
                <c:pt idx="1">
                  <c:v>0.1901840490797546</c:v>
                </c:pt>
                <c:pt idx="2">
                  <c:v>0.2981366459627329</c:v>
                </c:pt>
                <c:pt idx="3">
                  <c:v>0.2</c:v>
                </c:pt>
                <c:pt idx="4">
                  <c:v>0.31666666666666665</c:v>
                </c:pt>
                <c:pt idx="5">
                  <c:v>0.23391812865497075</c:v>
                </c:pt>
                <c:pt idx="6">
                  <c:v>0.22424242424242424</c:v>
                </c:pt>
                <c:pt idx="7">
                  <c:v>0.24444444444444444</c:v>
                </c:pt>
                <c:pt idx="8">
                  <c:v>0.29518072289156627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563905930470345"/>
          <c:min val="0.17121165644171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0.1434010152284264</c:v>
                </c:pt>
                <c:pt idx="1">
                  <c:v>0.13473256601218686</c:v>
                </c:pt>
                <c:pt idx="2">
                  <c:v>0.14347026364193746</c:v>
                </c:pt>
                <c:pt idx="3">
                  <c:v>0.17080745341614906</c:v>
                </c:pt>
                <c:pt idx="4">
                  <c:v>0.19838987924094306</c:v>
                </c:pt>
                <c:pt idx="5">
                  <c:v>0.17491369390103567</c:v>
                </c:pt>
                <c:pt idx="6">
                  <c:v>0.14625652930934416</c:v>
                </c:pt>
                <c:pt idx="7">
                  <c:v>0.17226666666666668</c:v>
                </c:pt>
                <c:pt idx="8">
                  <c:v>0.16557474687313878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79384762252565"/>
          <c:min val="0.125183969027873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012908124527"/>
          <c:min val="0.1014409010377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246531702079564"/>
          <c:min val="-0.032754930492766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0.055128784455490284</c:v>
                </c:pt>
                <c:pt idx="1">
                  <c:v>0.05513784461152882</c:v>
                </c:pt>
                <c:pt idx="2">
                  <c:v>0.06488888888888888</c:v>
                </c:pt>
                <c:pt idx="3">
                  <c:v>0.07881548974943052</c:v>
                </c:pt>
                <c:pt idx="4">
                  <c:v>0.08050847457627118</c:v>
                </c:pt>
                <c:pt idx="5">
                  <c:v>0.09049773755656108</c:v>
                </c:pt>
                <c:pt idx="6">
                  <c:v>0.07923860115095174</c:v>
                </c:pt>
                <c:pt idx="7">
                  <c:v>0.08010801080108011</c:v>
                </c:pt>
                <c:pt idx="8">
                  <c:v>0.07212475633528265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58030805217217"/>
          <c:min val="0.049823441490329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316115519631847"/>
          <c:min val="0.0070488804979497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548155298155298"/>
          <c:min val="0.082130655500220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0.04233870967741935</c:v>
                </c:pt>
                <c:pt idx="1">
                  <c:v>0.057926829268292686</c:v>
                </c:pt>
                <c:pt idx="2">
                  <c:v>0.06262359920896507</c:v>
                </c:pt>
                <c:pt idx="3">
                  <c:v>0.06316489361702128</c:v>
                </c:pt>
                <c:pt idx="4">
                  <c:v>0.08424110384894698</c:v>
                </c:pt>
                <c:pt idx="5">
                  <c:v>0.07068741893644617</c:v>
                </c:pt>
                <c:pt idx="6">
                  <c:v>0.06300185299567634</c:v>
                </c:pt>
                <c:pt idx="7">
                  <c:v>0.05081555834378921</c:v>
                </c:pt>
                <c:pt idx="8">
                  <c:v>0.06115810019518542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052646297467612"/>
          <c:min val="0.0360533505516902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610940695296522"/>
          <c:min val="0.0853834355828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0.04180064308681672</c:v>
                </c:pt>
                <c:pt idx="1">
                  <c:v>0.04892966360856269</c:v>
                </c:pt>
                <c:pt idx="2">
                  <c:v>0.04815864022662889</c:v>
                </c:pt>
                <c:pt idx="3">
                  <c:v>0.0872093023255814</c:v>
                </c:pt>
                <c:pt idx="4">
                  <c:v>0.06168831168831169</c:v>
                </c:pt>
                <c:pt idx="5">
                  <c:v>0.07323943661971831</c:v>
                </c:pt>
                <c:pt idx="6">
                  <c:v>0.07297297297297298</c:v>
                </c:pt>
                <c:pt idx="7">
                  <c:v>0.05759162303664921</c:v>
                </c:pt>
                <c:pt idx="8">
                  <c:v>0.05322128851540616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0206012113961"/>
          <c:min val="0.034989344201002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0.03021978021978022</c:v>
                </c:pt>
                <c:pt idx="1">
                  <c:v>0.021333333333333333</c:v>
                </c:pt>
                <c:pt idx="2">
                  <c:v>0.022123893805309734</c:v>
                </c:pt>
                <c:pt idx="3">
                  <c:v>0.01775147928994083</c:v>
                </c:pt>
                <c:pt idx="4">
                  <c:v>0.032397408207343416</c:v>
                </c:pt>
                <c:pt idx="5">
                  <c:v>0.04259634888438134</c:v>
                </c:pt>
                <c:pt idx="6">
                  <c:v>0.05070993914807302</c:v>
                </c:pt>
                <c:pt idx="7">
                  <c:v>0.028384279475982533</c:v>
                </c:pt>
                <c:pt idx="8">
                  <c:v>0.03764705882352941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65370812679285"/>
          <c:min val="0.0128077103112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0.06329113924050633</c:v>
                </c:pt>
                <c:pt idx="1">
                  <c:v>0.07948717948717948</c:v>
                </c:pt>
                <c:pt idx="2">
                  <c:v>0.0855397148676171</c:v>
                </c:pt>
                <c:pt idx="3">
                  <c:v>0.08103130755064457</c:v>
                </c:pt>
                <c:pt idx="4">
                  <c:v>0.07216494845360824</c:v>
                </c:pt>
                <c:pt idx="5">
                  <c:v>0.09584086799276673</c:v>
                </c:pt>
                <c:pt idx="6">
                  <c:v>0.10815602836879433</c:v>
                </c:pt>
                <c:pt idx="7">
                  <c:v>0.08665511265164645</c:v>
                </c:pt>
                <c:pt idx="8">
                  <c:v>0.07381370826010544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8576173803752"/>
          <c:min val="0.05656140587126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0.04338002711251695</c:v>
                </c:pt>
                <c:pt idx="1">
                  <c:v>0.04661654135338346</c:v>
                </c:pt>
                <c:pt idx="2">
                  <c:v>0.05511111111111111</c:v>
                </c:pt>
                <c:pt idx="3">
                  <c:v>0.06651480637813212</c:v>
                </c:pt>
                <c:pt idx="4">
                  <c:v>0.06167608286252354</c:v>
                </c:pt>
                <c:pt idx="5">
                  <c:v>0.0665158371040724</c:v>
                </c:pt>
                <c:pt idx="6">
                  <c:v>0.05312084993359894</c:v>
                </c:pt>
                <c:pt idx="7">
                  <c:v>0.05535553555355536</c:v>
                </c:pt>
                <c:pt idx="8">
                  <c:v>0.07407407407407407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867818111830764"/>
          <c:min val="0.038775920068283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88458600223305"/>
          <c:min val="0.037759299524005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07854363119293"/>
          <c:min val="0.04709717856608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0.0026666666666666666</c:v>
                </c:pt>
                <c:pt idx="2">
                  <c:v>0.00663716814159292</c:v>
                </c:pt>
                <c:pt idx="3">
                  <c:v>0</c:v>
                </c:pt>
                <c:pt idx="4">
                  <c:v>0</c:v>
                </c:pt>
                <c:pt idx="5">
                  <c:v>0.010141987829614604</c:v>
                </c:pt>
                <c:pt idx="6">
                  <c:v>0.014198782961460446</c:v>
                </c:pt>
                <c:pt idx="7">
                  <c:v>0.008733624454148471</c:v>
                </c:pt>
                <c:pt idx="8">
                  <c:v>0.021176470588235293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4352941176470588"/>
          <c:min val="-0.003176470588235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0.07142857142857142</c:v>
                </c:pt>
                <c:pt idx="1">
                  <c:v>0.09828009828009827</c:v>
                </c:pt>
                <c:pt idx="2">
                  <c:v>0.07009345794392523</c:v>
                </c:pt>
                <c:pt idx="3">
                  <c:v>0.11187214611872145</c:v>
                </c:pt>
                <c:pt idx="4">
                  <c:v>0.09692671394799054</c:v>
                </c:pt>
                <c:pt idx="5">
                  <c:v>0.08695652173913043</c:v>
                </c:pt>
                <c:pt idx="6">
                  <c:v>0.07128309572301425</c:v>
                </c:pt>
                <c:pt idx="7">
                  <c:v>0.10633484162895927</c:v>
                </c:pt>
                <c:pt idx="8">
                  <c:v>0.0935412026726058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813894934494089"/>
          <c:min val="0.06382665471770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0.022508038585209004</c:v>
                </c:pt>
                <c:pt idx="1">
                  <c:v>0.039755351681957186</c:v>
                </c:pt>
                <c:pt idx="2">
                  <c:v>0.028328611898016998</c:v>
                </c:pt>
                <c:pt idx="3">
                  <c:v>0.05232558139534884</c:v>
                </c:pt>
                <c:pt idx="4">
                  <c:v>0.03571428571428571</c:v>
                </c:pt>
                <c:pt idx="5">
                  <c:v>0.030985915492957747</c:v>
                </c:pt>
                <c:pt idx="6">
                  <c:v>0.05675675675675676</c:v>
                </c:pt>
                <c:pt idx="7">
                  <c:v>0.020942408376963352</c:v>
                </c:pt>
                <c:pt idx="8">
                  <c:v>0.0392156862745098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128909013725774"/>
          <c:min val="0.015570256119994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78.4</c:v>
                </c:pt>
                <c:pt idx="3">
                  <c:v>78.3</c:v>
                </c:pt>
                <c:pt idx="4">
                  <c:v>78.8</c:v>
                </c:pt>
                <c:pt idx="5">
                  <c:v>77.8</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78.4</c:v>
                </c:pt>
                <c:pt idx="3">
                  <c:v>78.3</c:v>
                </c:pt>
                <c:pt idx="4">
                  <c:v>78.8</c:v>
                </c:pt>
                <c:pt idx="5">
                  <c:v/>
                </c:pt>
                <c:pt idx="6">
                  <c:v>78.7</c:v>
                </c:pt>
                <c:pt idx="7">
                  <c:v>77.9</c:v>
                </c:pt>
                <c:pt idx="8">
                  <c:v>78.2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77.5</c:v>
                </c:pt>
                <c:pt idx="1">
                  <c:v>77.4</c:v>
                </c:pt>
                <c:pt idx="2">
                  <c:v/>
                </c:pt>
                <c:pt idx="3">
                  <c:v/>
                </c:pt>
                <c:pt idx="4">
                  <c:v/>
                </c:pt>
                <c:pt idx="5">
                  <c:v>77.8</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
                </c:pt>
                <c:pt idx="3">
                  <c:v/>
                </c:pt>
                <c:pt idx="4">
                  <c:v/>
                </c:pt>
                <c:pt idx="5">
                  <c:v>78.3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77.9</c:v>
                </c:pt>
                <c:pt idx="3">
                  <c:v>78</c:v>
                </c:pt>
                <c:pt idx="4">
                  <c:v>78.5</c:v>
                </c:pt>
                <c:pt idx="5">
                  <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77.6</c:v>
                </c:pt>
                <c:pt idx="1">
                  <c:v>78</c:v>
                </c:pt>
                <c:pt idx="2">
                  <c:v>77.9</c:v>
                </c:pt>
                <c:pt idx="3">
                  <c:v>78</c:v>
                </c:pt>
                <c:pt idx="4">
                  <c:v>78.5</c:v>
                </c:pt>
                <c:pt idx="5">
                  <c:v>78.3</c:v>
                </c:pt>
                <c:pt idx="6">
                  <c:v>77.7</c:v>
                </c:pt>
                <c:pt idx="7">
                  <c:v>77.4</c:v>
                </c:pt>
                <c:pt idx="8">
                  <c:v>77.3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36.4</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35.9</c:v>
                </c:pt>
                <c:pt idx="1">
                  <c:v>35.9</c:v>
                </c:pt>
                <c:pt idx="2">
                  <c:v>36.3</c:v>
                </c:pt>
                <c:pt idx="3">
                  <c:v/>
                </c:pt>
                <c:pt idx="4">
                  <c:v>37.2</c:v>
                </c:pt>
                <c:pt idx="5">
                  <c:v>37</c:v>
                </c:pt>
                <c:pt idx="6">
                  <c:v>36.6</c:v>
                </c:pt>
                <c:pt idx="7">
                  <c:v>36.1</c:v>
                </c:pt>
                <c:pt idx="8">
                  <c:v>36.7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36.4</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36.7</c:v>
                </c:pt>
                <c:pt idx="4">
                  <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35.1</c:v>
                </c:pt>
                <c:pt idx="1">
                  <c:v>35.5</c:v>
                </c:pt>
                <c:pt idx="2">
                  <c:v>36.2</c:v>
                </c:pt>
                <c:pt idx="3">
                  <c:v>36.7</c:v>
                </c:pt>
                <c:pt idx="4">
                  <c:v>35.5</c:v>
                </c:pt>
                <c:pt idx="5">
                  <c:v>36.7</c:v>
                </c:pt>
                <c:pt idx="6">
                  <c:v>36.4</c:v>
                </c:pt>
                <c:pt idx="7">
                  <c:v>35.3</c:v>
                </c:pt>
                <c:pt idx="8">
                  <c:v>36.1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A-E, Internal GP %, CP vs Internal GP % options A-B, Headcount trend, Best Techs options A-C,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Example: Roundtable slide 21 table: same $25 tech rate, very different ELR by job; the seven jobs total 8.1 hours and $1,056 = $130/hr.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paid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paid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KIA ST GEORGE $657K → $862K; LEXUS $1.63M → $2.10M. Bottom SUBARU LV $5.12M → $5.04M; TOYOTA HENDERSON $13.04M → $12.85M; CHEVY LV $7.40M → $7.08M; AUDI RENO $3.38M → $2.90M; VW ST GEORGE $702K → $560K.</a:t>
            </a:r>
          </a:p>
          <a:p>
            <a:r>
              <a:t>CP RO Count: top KIA LV 7,156 → 8,133; HYUNDAI PRESCOTT 1,784 → 2,010; GMC PRESCOTT 2,810 → 3,107; SUBARU ST GEORGE 5,042 → 5,553; LR RENO 1,303 → 1,421. Bottom ACURA 3,910 → 3,671; HONDA SPOKANE 9,929 → 8,930; AUDI RENO 4,379 → 3,917; HYUNDAI ST GEORGE 3,784 → 3,349; VW ST GEORGE 2,251 → 1,919.</a:t>
            </a:r>
          </a:p>
          <a:p>
            <a:r>
              <a:t>CP Hours per RO: top HYUNDAI ST GEORGE 1.03 → 1.43; SUBARU ST GEORGE 1.75 → 2.30; KIA ST GEORGE 0.99 → 1.29; SUBARU PRESCOTT 1.34 → 1.60; KIA LV 1.32 → 1.57. Bottom CHEVY LV 2.37 → 2.30; AUDI RENO 2.88 → 2.73; VOLVO 2.58 → 2.28; VW ST GEORGE 1.95 → 1.71; LR RENO 4.04 → 3.48.</a:t>
            </a:r>
          </a:p>
          <a:p>
            <a:r>
              <a:t>CP ELR: top HONDA SPOKANE $117.05 → $143.89; VOLVO $181.59 → $222.12; LINCOLN $139.55 → $167.64; NISSAN $153.87 → $175.90; SUBARU PRESCOTT $122.25 → $139.13. Bottom AUDI HENDERSON $278.97 → $266.32; HYUNDAI PRESCOTT $136.71 → $130.46; ACURA $221.78 → $210.50; SUBARU ST GEORGE $148.84 → $138.48; KIA LV $184.36 → $149.23.</a:t>
            </a:r>
          </a:p>
          <a:p>
            <a:r>
              <a:t>CP Parts $ per RO: top LINCOLN $281 → $363; LEXUS $193 → $240; HYUNDAI ST GEORGE $181 → $219; HONDA FLAGSTAFF $179 → $212; SUBARU ST GEORGE $238 → $280. Bottom CADILLAC $358 → $350; VW ST GEORGE $266 → $259; LR RENO $876 → $814; AUDI RENO $596 → $542; KIA LV $227 → $193.</a:t>
            </a:r>
          </a:p>
          <a:p>
            <a:r>
              <a:t>CP Parts GP %: top ACURA 38.7% → 44.9%; NISSAN 38.2% → 42.7%; SUBARU PRESCOTT 31.0% → 34.8%; LINCOLN 33.7% → 37.0%; LR RENO 41.3% → 44.6%. Bottom HONDA HENDERSON 42.2% → 42.1%; TOYOTA FLAGSTAFF 37.4% → 36.9%;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VW ST GEORGE $54K → $66K; HYUNDAI PRESCOTT $49K → $60K. Bottom TOYOTA HENDERSON $1.38M → $1.42M; LINCOLN $140K → $139K; SUBARU ST GEORGE $220K → $218K; HONDA HENDERSON $841K → $823K; CADILLAC $317K → $283K.</a:t>
            </a:r>
          </a:p>
          <a:p>
            <a:r>
              <a:t>CP ROs per Month: top LEXUS 425 → 570; CDJR POST FALLS 543 → 667; LR LV 350 → 415; MAZDA 578 → 669; HONDA FLAGSTAFF 397 → 459. Bottom SUBARU PRESCOTT 559 → 565; AUDI RENO 428 → 429; VW ST GEORGE 207 → 203; HYUNDAI ST GEORGE 377 → 365; CADILLAC 609 → 582.</a:t>
            </a:r>
          </a:p>
          <a:p>
            <a:r>
              <a:t>CP Hours per RO: top MAZDA 1.35 → 1.65; HYUNDAI PRESCOTT 1.56 → 1.76; HYUNDAI ST GEORGE 1.37 → 1.54; KIA ST GEORGE 1.23 → 1.38; CHEVY GMC BULLHEAD 1.65 → 1.79. Bottom LEXUS 2.17 → 2.01; SUBARU ST GEORGE 2.43 → 2.20; HONDA HENDERSON 2.06 → 1.86; VW HENDERSON 2.66 → 2.37; CADILLAC 2.85 → 2.45.</a:t>
            </a:r>
          </a:p>
          <a:p>
            <a:r>
              <a:t>CP ELR: top VW ST GEORGE $128.27 → $141.89; AUDI RENO $227.34 → $244.12; HONDA SPOKANE $139.40 → $147.93; KIA LV $142.56 → $150.72; KIA ST GEORGE $139.09 → $146.04. Bottom LR LV $238.78 → $233.88; HONDA FLAGSTAFF $164.77 → $159.69; SUBARU ST GEORGE $141.07 → $136.71; LEXUS $196.84 → $187.42; ACURA $232.02 → $199.04.</a:t>
            </a:r>
          </a:p>
          <a:p>
            <a:r>
              <a:t>CP Parts $ per RO: top VW ST GEORGE $224 → $298; LR RENO $692 → $877; ACURA $229 → $282; HONDA FLAGSTAFF $200 → $234; HYUNDAI ST GEORGE $204 → $234. Bottom SUBARU ST GEORGE $286 → $277; TOYOTA FLAGSTAFF $147 → $142; LR LV $873 → $834; GMC PRESCOTT $299 → $282; HONDA HENDERSON $190 → $178.</a:t>
            </a:r>
          </a:p>
          <a:p>
            <a:r>
              <a:t>CP Parts GP %: top ACURA 39.4% → 46.6%; VW ST GEORGE 39.1% → 43.8%; GMC PRESCOTT 35.3% → 39.2%; AUDI RENO 41.1% → 44.0%; TOYOTA HENDERSON 39.4% → 41.7%. Bottom LR HENDERSON 44.2% → 42.1%; NISSAN 44.5% → 41.3%;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chart" Target="../charts/chart26.xml"/><Relationship Id="rId8" Type="http://schemas.openxmlformats.org/officeDocument/2006/relationships/chart" Target="../charts/chart27.xml"/><Relationship Id="rId9" Type="http://schemas.openxmlformats.org/officeDocument/2006/relationships/chart" Target="../charts/chart28.xml"/><Relationship Id="rId10" Type="http://schemas.openxmlformats.org/officeDocument/2006/relationships/chart" Target="../charts/chart29.xml"/><Relationship Id="rId11" Type="http://schemas.openxmlformats.org/officeDocument/2006/relationships/chart" Target="../charts/chart30.xml"/><Relationship Id="rId1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chart" Target="../charts/chart40.xml"/><Relationship Id="rId7" Type="http://schemas.openxmlformats.org/officeDocument/2006/relationships/chart" Target="../charts/chart41.xml"/><Relationship Id="rId8" Type="http://schemas.openxmlformats.org/officeDocument/2006/relationships/chart" Target="../charts/chart42.xml"/><Relationship Id="rId9" Type="http://schemas.openxmlformats.org/officeDocument/2006/relationships/chart" Target="../charts/chart43.xml"/><Relationship Id="rId10" Type="http://schemas.openxmlformats.org/officeDocument/2006/relationships/chart" Target="../charts/chart44.xml"/><Relationship Id="rId11" Type="http://schemas.openxmlformats.org/officeDocument/2006/relationships/chart" Target="../charts/chart45.xml"/><Relationship Id="rId1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xml"/><Relationship Id="rId3" Type="http://schemas.openxmlformats.org/officeDocument/2006/relationships/chart" Target="../charts/chart47.xml"/><Relationship Id="rId4" Type="http://schemas.openxmlformats.org/officeDocument/2006/relationships/chart" Target="../charts/chart48.xml"/><Relationship Id="rId5" Type="http://schemas.openxmlformats.org/officeDocument/2006/relationships/chart" Target="../charts/chart4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chart" Target="../charts/chart54.xml"/><Relationship Id="rId7" Type="http://schemas.openxmlformats.org/officeDocument/2006/relationships/chart" Target="../charts/chart55.xml"/><Relationship Id="rId8" Type="http://schemas.openxmlformats.org/officeDocument/2006/relationships/chart" Target="../charts/chart56.xml"/><Relationship Id="rId9" Type="http://schemas.openxmlformats.org/officeDocument/2006/relationships/chart" Target="../charts/chart57.xml"/><Relationship Id="rId10" Type="http://schemas.openxmlformats.org/officeDocument/2006/relationships/chart" Target="../charts/chart58.xml"/><Relationship Id="rId11" Type="http://schemas.openxmlformats.org/officeDocument/2006/relationships/chart" Target="../charts/chart59.xml"/><Relationship Id="rId1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xml"/><Relationship Id="rId3" Type="http://schemas.openxmlformats.org/officeDocument/2006/relationships/chart" Target="../charts/chart61.xml"/><Relationship Id="rId4" Type="http://schemas.openxmlformats.org/officeDocument/2006/relationships/chart" Target="../charts/chart62.xml"/><Relationship Id="rId5" Type="http://schemas.openxmlformats.org/officeDocument/2006/relationships/chart" Target="../charts/chart63.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chart" Target="../charts/chart76.xml"/><Relationship Id="rId11" Type="http://schemas.openxmlformats.org/officeDocument/2006/relationships/chart" Target="../charts/chart77.xml"/><Relationship Id="rId1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chart" Target="../charts/chart93.xml"/><Relationship Id="rId8" Type="http://schemas.openxmlformats.org/officeDocument/2006/relationships/chart" Target="../charts/chart94.xml"/><Relationship Id="rId9" Type="http://schemas.openxmlformats.org/officeDocument/2006/relationships/chart" Target="../charts/chart95.xml"/><Relationship Id="rId10" Type="http://schemas.openxmlformats.org/officeDocument/2006/relationships/chart" Target="../charts/chart96.xml"/><Relationship Id="rId11" Type="http://schemas.openxmlformats.org/officeDocument/2006/relationships/chart" Target="../charts/chart97.xml"/><Relationship Id="rId1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8.xml"/><Relationship Id="rId3" Type="http://schemas.openxmlformats.org/officeDocument/2006/relationships/chart" Target="../charts/chart99.xml"/><Relationship Id="rId4" Type="http://schemas.openxmlformats.org/officeDocument/2006/relationships/chart" Target="../charts/chart100.xml"/><Relationship Id="rId5" Type="http://schemas.openxmlformats.org/officeDocument/2006/relationships/chart" Target="../charts/chart101.xml"/><Relationship Id="rId6" Type="http://schemas.openxmlformats.org/officeDocument/2006/relationships/chart" Target="../charts/chart102.xml"/><Relationship Id="rId7" Type="http://schemas.openxmlformats.org/officeDocument/2006/relationships/chart" Target="../charts/chart103.xml"/><Relationship Id="rId8" Type="http://schemas.openxmlformats.org/officeDocument/2006/relationships/chart" Target="../charts/chart104.xml"/><Relationship Id="rId9" Type="http://schemas.openxmlformats.org/officeDocument/2006/relationships/chart" Target="../charts/chart105.xml"/><Relationship Id="rId10" Type="http://schemas.openxmlformats.org/officeDocument/2006/relationships/chart" Target="../charts/chart106.xml"/><Relationship Id="rId11" Type="http://schemas.openxmlformats.org/officeDocument/2006/relationships/chart" Target="../charts/chart107.xml"/><Relationship Id="rId1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8.xml"/><Relationship Id="rId3" Type="http://schemas.openxmlformats.org/officeDocument/2006/relationships/chart" Target="../charts/chart109.xml"/><Relationship Id="rId4" Type="http://schemas.openxmlformats.org/officeDocument/2006/relationships/chart" Target="../charts/chart110.xml"/><Relationship Id="rId5" Type="http://schemas.openxmlformats.org/officeDocument/2006/relationships/chart" Target="../charts/chart111.xml"/><Relationship Id="rId6" Type="http://schemas.openxmlformats.org/officeDocument/2006/relationships/chart" Target="../charts/chart112.xml"/><Relationship Id="rId7" Type="http://schemas.openxmlformats.org/officeDocument/2006/relationships/chart" Target="../charts/chart113.xml"/><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4.xml"/><Relationship Id="rId3" Type="http://schemas.openxmlformats.org/officeDocument/2006/relationships/chart" Target="../charts/chart115.xml"/><Relationship Id="rId4" Type="http://schemas.openxmlformats.org/officeDocument/2006/relationships/chart" Target="../charts/chart116.xml"/><Relationship Id="rId5" Type="http://schemas.openxmlformats.org/officeDocument/2006/relationships/chart" Target="../charts/chart117.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8.xml"/><Relationship Id="rId3" Type="http://schemas.openxmlformats.org/officeDocument/2006/relationships/chart" Target="../charts/chart119.xml"/><Relationship Id="rId4" Type="http://schemas.openxmlformats.org/officeDocument/2006/relationships/chart" Target="../charts/chart120.xml"/><Relationship Id="rId5" Type="http://schemas.openxmlformats.org/officeDocument/2006/relationships/chart" Target="../charts/chart121.xml"/><Relationship Id="rId6" Type="http://schemas.openxmlformats.org/officeDocument/2006/relationships/chart" Target="../charts/chart122.xml"/><Relationship Id="rId7" Type="http://schemas.openxmlformats.org/officeDocument/2006/relationships/chart" Target="../charts/chart123.xml"/><Relationship Id="rId8" Type="http://schemas.openxmlformats.org/officeDocument/2006/relationships/chart" Target="../charts/chart124.xml"/><Relationship Id="rId9" Type="http://schemas.openxmlformats.org/officeDocument/2006/relationships/chart" Target="../charts/chart125.xml"/><Relationship Id="rId10" Type="http://schemas.openxmlformats.org/officeDocument/2006/relationships/chart" Target="../charts/chart126.xml"/><Relationship Id="rId11" Type="http://schemas.openxmlformats.org/officeDocument/2006/relationships/chart" Target="../charts/chart127.xml"/><Relationship Id="rId1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2.xml"/><Relationship Id="rId3" Type="http://schemas.openxmlformats.org/officeDocument/2006/relationships/chart" Target="../charts/chart133.xml"/><Relationship Id="rId4" Type="http://schemas.openxmlformats.org/officeDocument/2006/relationships/chart" Target="../charts/chart134.xml"/><Relationship Id="rId5" Type="http://schemas.openxmlformats.org/officeDocument/2006/relationships/chart" Target="../charts/chart135.xml"/><Relationship Id="rId6" Type="http://schemas.openxmlformats.org/officeDocument/2006/relationships/chart" Target="../charts/chart136.xml"/><Relationship Id="rId7" Type="http://schemas.openxmlformats.org/officeDocument/2006/relationships/chart" Target="../charts/chart137.xml"/><Relationship Id="rId8" Type="http://schemas.openxmlformats.org/officeDocument/2006/relationships/chart" Target="../charts/chart138.xml"/><Relationship Id="rId9" Type="http://schemas.openxmlformats.org/officeDocument/2006/relationships/chart" Target="../charts/chart139.xml"/><Relationship Id="rId10" Type="http://schemas.openxmlformats.org/officeDocument/2006/relationships/chart" Target="../charts/chart140.xml"/><Relationship Id="rId11" Type="http://schemas.openxmlformats.org/officeDocument/2006/relationships/chart" Target="../charts/chart141.xml"/><Relationship Id="rId1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2.xml"/><Relationship Id="rId3" Type="http://schemas.openxmlformats.org/officeDocument/2006/relationships/chart" Target="../charts/chart143.xml"/><Relationship Id="rId4" Type="http://schemas.openxmlformats.org/officeDocument/2006/relationships/chart" Target="../charts/chart144.xml"/><Relationship Id="rId5" Type="http://schemas.openxmlformats.org/officeDocument/2006/relationships/chart" Target="../charts/chart145.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6.xml"/><Relationship Id="rId3" Type="http://schemas.openxmlformats.org/officeDocument/2006/relationships/chart" Target="../charts/chart147.xml"/><Relationship Id="rId4" Type="http://schemas.openxmlformats.org/officeDocument/2006/relationships/chart" Target="../charts/chart148.xml"/><Relationship Id="rId5" Type="http://schemas.openxmlformats.org/officeDocument/2006/relationships/chart" Target="../charts/chart149.xml"/><Relationship Id="rId6" Type="http://schemas.openxmlformats.org/officeDocument/2006/relationships/chart" Target="../charts/chart150.xml"/><Relationship Id="rId7" Type="http://schemas.openxmlformats.org/officeDocument/2006/relationships/chart" Target="../charts/chart151.xml"/><Relationship Id="rId8" Type="http://schemas.openxmlformats.org/officeDocument/2006/relationships/chart" Target="../charts/chart152.xml"/><Relationship Id="rId9" Type="http://schemas.openxmlformats.org/officeDocument/2006/relationships/chart" Target="../charts/chart153.xml"/><Relationship Id="rId10" Type="http://schemas.openxmlformats.org/officeDocument/2006/relationships/chart" Target="../charts/chart154.xml"/><Relationship Id="rId11" Type="http://schemas.openxmlformats.org/officeDocument/2006/relationships/chart" Target="../charts/chart155.xml"/><Relationship Id="rId1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chart" Target="../charts/chart161.xml"/><Relationship Id="rId4" Type="http://schemas.openxmlformats.org/officeDocument/2006/relationships/chart" Target="../charts/chart162.xml"/><Relationship Id="rId5" Type="http://schemas.openxmlformats.org/officeDocument/2006/relationships/chart" Target="../charts/chart163.xml"/><Relationship Id="rId6" Type="http://schemas.openxmlformats.org/officeDocument/2006/relationships/chart" Target="../charts/chart164.xml"/><Relationship Id="rId7" Type="http://schemas.openxmlformats.org/officeDocument/2006/relationships/chart" Target="../charts/chart165.xml"/><Relationship Id="rId8" Type="http://schemas.openxmlformats.org/officeDocument/2006/relationships/chart" Target="../charts/chart166.xml"/><Relationship Id="rId9" Type="http://schemas.openxmlformats.org/officeDocument/2006/relationships/chart" Target="../charts/chart167.xml"/><Relationship Id="rId10" Type="http://schemas.openxmlformats.org/officeDocument/2006/relationships/chart" Target="../charts/chart168.xml"/><Relationship Id="rId11" Type="http://schemas.openxmlformats.org/officeDocument/2006/relationships/chart" Target="../charts/chart169.xml"/><Relationship Id="rId1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0.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8.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0.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8.xml"/><Relationship Id="rId3" Type="http://schemas.openxmlformats.org/officeDocument/2006/relationships/chart" Target="../charts/chart219.xml"/><Relationship Id="rId4" Type="http://schemas.openxmlformats.org/officeDocument/2006/relationships/chart" Target="../charts/chart220.xml"/><Relationship Id="rId5" Type="http://schemas.openxmlformats.org/officeDocument/2006/relationships/chart" Target="../charts/chart221.xml"/><Relationship Id="rId6" Type="http://schemas.openxmlformats.org/officeDocument/2006/relationships/chart" Target="../charts/chart222.xml"/><Relationship Id="rId7" Type="http://schemas.openxmlformats.org/officeDocument/2006/relationships/chart" Target="../charts/chart223.xml"/><Relationship Id="rId8"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5.xml"/><Relationship Id="rId3" Type="http://schemas.openxmlformats.org/officeDocument/2006/relationships/chart" Target="../charts/chart226.xml"/><Relationship Id="rId4" Type="http://schemas.openxmlformats.org/officeDocument/2006/relationships/chart" Target="../charts/chart227.xml"/><Relationship Id="rId5" Type="http://schemas.openxmlformats.org/officeDocument/2006/relationships/chart" Target="../charts/chart228.xml"/><Relationship Id="rId6" Type="http://schemas.openxmlformats.org/officeDocument/2006/relationships/chart" Target="../charts/chart229.xml"/><Relationship Id="rId7" Type="http://schemas.openxmlformats.org/officeDocument/2006/relationships/chart" Target="../charts/chart230.xml"/><Relationship Id="rId8" Type="http://schemas.openxmlformats.org/officeDocument/2006/relationships/chart" Target="../charts/chart231.xml"/><Relationship Id="rId9" Type="http://schemas.openxmlformats.org/officeDocument/2006/relationships/chart" Target="../charts/chart232.xml"/><Relationship Id="rId10" Type="http://schemas.openxmlformats.org/officeDocument/2006/relationships/chart" Target="../charts/chart233.xml"/><Relationship Id="rId11" Type="http://schemas.openxmlformats.org/officeDocument/2006/relationships/chart" Target="../charts/chart234.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5.xml"/><Relationship Id="rId3" Type="http://schemas.openxmlformats.org/officeDocument/2006/relationships/chart" Target="../charts/chart236.xml"/><Relationship Id="rId4" Type="http://schemas.openxmlformats.org/officeDocument/2006/relationships/chart" Target="../charts/chart237.xml"/><Relationship Id="rId5" Type="http://schemas.openxmlformats.org/officeDocument/2006/relationships/chart" Target="../charts/chart238.xml"/><Relationship Id="rId6" Type="http://schemas.openxmlformats.org/officeDocument/2006/relationships/chart" Target="../charts/chart239.xml"/><Relationship Id="rId7" Type="http://schemas.openxmlformats.org/officeDocument/2006/relationships/chart" Target="../charts/chart240.xml"/><Relationship Id="rId8" Type="http://schemas.openxmlformats.org/officeDocument/2006/relationships/chart" Target="../charts/chart241.xml"/><Relationship Id="rId9" Type="http://schemas.openxmlformats.org/officeDocument/2006/relationships/chart" Target="../charts/chart242.xml"/><Relationship Id="rId10" Type="http://schemas.openxmlformats.org/officeDocument/2006/relationships/chart" Target="../charts/chart243.xml"/><Relationship Id="rId11" Type="http://schemas.openxmlformats.org/officeDocument/2006/relationships/chart" Target="../charts/chart244.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5.xml"/><Relationship Id="rId3" Type="http://schemas.openxmlformats.org/officeDocument/2006/relationships/chart" Target="../charts/chart246.xml"/><Relationship Id="rId4" Type="http://schemas.openxmlformats.org/officeDocument/2006/relationships/chart" Target="../charts/chart247.xml"/><Relationship Id="rId5" Type="http://schemas.openxmlformats.org/officeDocument/2006/relationships/chart" Target="../charts/chart248.xml"/><Relationship Id="rId6" Type="http://schemas.openxmlformats.org/officeDocument/2006/relationships/chart" Target="../charts/chart249.xml"/><Relationship Id="rId7" Type="http://schemas.openxmlformats.org/officeDocument/2006/relationships/chart" Target="../charts/chart250.xml"/><Relationship Id="rId8" Type="http://schemas.openxmlformats.org/officeDocument/2006/relationships/chart" Target="../charts/chart251.xml"/><Relationship Id="rId9" Type="http://schemas.openxmlformats.org/officeDocument/2006/relationships/chart" Target="../charts/chart252.xml"/><Relationship Id="rId10" Type="http://schemas.openxmlformats.org/officeDocument/2006/relationships/chart" Target="../charts/chart253.xml"/><Relationship Id="rId11" Type="http://schemas.openxmlformats.org/officeDocument/2006/relationships/chart" Target="../charts/chart254.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5.xml"/><Relationship Id="rId3" Type="http://schemas.openxmlformats.org/officeDocument/2006/relationships/chart" Target="../charts/chart256.xml"/><Relationship Id="rId4" Type="http://schemas.openxmlformats.org/officeDocument/2006/relationships/chart" Target="../charts/chart257.xml"/><Relationship Id="rId5" Type="http://schemas.openxmlformats.org/officeDocument/2006/relationships/chart" Target="../charts/chart258.xml"/><Relationship Id="rId6" Type="http://schemas.openxmlformats.org/officeDocument/2006/relationships/chart" Target="../charts/chart259.xml"/><Relationship Id="rId7" Type="http://schemas.openxmlformats.org/officeDocument/2006/relationships/chart" Target="../charts/chart260.xml"/><Relationship Id="rId8" Type="http://schemas.openxmlformats.org/officeDocument/2006/relationships/chart" Target="../charts/chart261.xml"/><Relationship Id="rId9" Type="http://schemas.openxmlformats.org/officeDocument/2006/relationships/chart" Target="../charts/chart262.xml"/><Relationship Id="rId10" Type="http://schemas.openxmlformats.org/officeDocument/2006/relationships/chart" Target="../charts/chart263.xml"/><Relationship Id="rId11" Type="http://schemas.openxmlformats.org/officeDocument/2006/relationships/chart" Target="../charts/chart264.xml"/><Relationship Id="rId1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5.xml"/><Relationship Id="rId3" Type="http://schemas.openxmlformats.org/officeDocument/2006/relationships/chart" Target="../charts/chart266.xml"/><Relationship Id="rId4" Type="http://schemas.openxmlformats.org/officeDocument/2006/relationships/chart" Target="../charts/chart267.xml"/><Relationship Id="rId5" Type="http://schemas.openxmlformats.org/officeDocument/2006/relationships/chart" Target="../charts/chart268.xml"/><Relationship Id="rId6" Type="http://schemas.openxmlformats.org/officeDocument/2006/relationships/chart" Target="../charts/chart269.xml"/><Relationship Id="rId7" Type="http://schemas.openxmlformats.org/officeDocument/2006/relationships/chart" Target="../charts/chart270.xml"/><Relationship Id="rId8" Type="http://schemas.openxmlformats.org/officeDocument/2006/relationships/chart" Target="../charts/chart271.xml"/><Relationship Id="rId9" Type="http://schemas.openxmlformats.org/officeDocument/2006/relationships/chart" Target="../charts/chart272.xml"/><Relationship Id="rId10" Type="http://schemas.openxmlformats.org/officeDocument/2006/relationships/chart" Target="../charts/chart273.xml"/><Relationship Id="rId11" Type="http://schemas.openxmlformats.org/officeDocument/2006/relationships/chart" Target="../charts/chart274.xml"/><Relationship Id="rId1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5.xml"/><Relationship Id="rId3" Type="http://schemas.openxmlformats.org/officeDocument/2006/relationships/chart" Target="../charts/chart276.xml"/><Relationship Id="rId4" Type="http://schemas.openxmlformats.org/officeDocument/2006/relationships/chart" Target="../charts/chart277.xml"/><Relationship Id="rId5" Type="http://schemas.openxmlformats.org/officeDocument/2006/relationships/chart" Target="../charts/chart278.xml"/><Relationship Id="rId6" Type="http://schemas.openxmlformats.org/officeDocument/2006/relationships/chart" Target="../charts/chart279.xml"/><Relationship Id="rId7" Type="http://schemas.openxmlformats.org/officeDocument/2006/relationships/chart" Target="../charts/chart280.xml"/><Relationship Id="rId8" Type="http://schemas.openxmlformats.org/officeDocument/2006/relationships/chart" Target="../charts/chart281.xml"/><Relationship Id="rId9" Type="http://schemas.openxmlformats.org/officeDocument/2006/relationships/chart" Target="../charts/chart282.xml"/><Relationship Id="rId10" Type="http://schemas.openxmlformats.org/officeDocument/2006/relationships/chart" Target="../charts/chart283.xml"/><Relationship Id="rId11" Type="http://schemas.openxmlformats.org/officeDocument/2006/relationships/chart" Target="../charts/chart284.xml"/><Relationship Id="rId1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&amp; records   ·   Door rate   ·   Internal GP %   ·   Best techs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risk of judgement: your success is our success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Customer first, company second, team third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You get what you tolerate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Leverage the power in this room: collaboration</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21" name="Shape 19"/>
          <p:cNvSpPr/>
          <p:nvPr/>
        </p:nvSpPr>
        <p:spPr>
          <a:xfrm>
            <a:off x="457200" y="6126480"/>
            <a:ext cx="11274552" cy="615696"/>
          </a:xfrm>
          <a:prstGeom prst="rect">
            <a:avLst/>
          </a:prstGeom>
          <a:solidFill>
            <a:srgbClr val="E6F6EE"/>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5" name="Shape 13"/>
          <p:cNvSpPr/>
          <p:nvPr/>
        </p:nvSpPr>
        <p:spPr>
          <a:xfrm>
            <a:off x="7269480" y="3261360"/>
            <a:ext cx="54864" cy="1112520"/>
          </a:xfrm>
          <a:prstGeom prst="rect">
            <a:avLst/>
          </a:prstGeom>
          <a:solidFill>
            <a:srgbClr val="2587C5"/>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21" name="Shape 19"/>
          <p:cNvSpPr/>
          <p:nvPr/>
        </p:nvSpPr>
        <p:spPr>
          <a:xfrm>
            <a:off x="457200" y="6126480"/>
            <a:ext cx="11274552" cy="348996"/>
          </a:xfrm>
          <a:prstGeom prst="rect">
            <a:avLst/>
          </a:prstGeom>
          <a:solidFill>
            <a:srgbClr val="EDF4FA"/>
          </a:solidFill>
          <a:ln/>
        </p:spPr>
      </p:sp>
      <p:sp>
        <p:nvSpPr>
          <p:cNvPr id="22" name="Text 2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 P&amp;L line 254 divided by line 258.</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money in beats ELR, gross %, hours, anything else. It's what we sell.</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21" name="Shape 19"/>
          <p:cNvSpPr/>
          <p:nvPr/>
        </p:nvSpPr>
        <p:spPr>
          <a:xfrm>
            <a:off x="457200" y="6126480"/>
            <a:ext cx="11274552" cy="356616"/>
          </a:xfrm>
          <a:prstGeom prst="rect">
            <a:avLst/>
          </a:prstGeom>
          <a:solidFill>
            <a:srgbClr val="E6F6EE"/>
          </a:solidFill>
          <a:ln/>
        </p:spPr>
      </p:sp>
      <p:sp>
        <p:nvSpPr>
          <p:cNvPr id="22" name="Text 2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8" name="Shape 16"/>
          <p:cNvSpPr/>
          <p:nvPr/>
        </p:nvSpPr>
        <p:spPr>
          <a:xfrm>
            <a:off x="457200" y="6126480"/>
            <a:ext cx="11274552" cy="341376"/>
          </a:xfrm>
          <a:prstGeom prst="rect">
            <a:avLst/>
          </a:prstGeom>
          <a:solidFill>
            <a:srgbClr val="EDF4FA"/>
          </a:solidFill>
          <a:ln/>
        </p:spPr>
      </p:sp>
      <p:sp>
        <p:nvSpPr>
          <p:cNvPr id="19"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3004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900016"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899733"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49289"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2.90</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 name="Shape 22"/>
          <p:cNvSpPr/>
          <p:nvPr/>
        </p:nvSpPr>
        <p:spPr>
          <a:xfrm>
            <a:off x="2267712" y="3439551"/>
            <a:ext cx="705361"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704590"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641802"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3" name="Shape 31"/>
          <p:cNvSpPr/>
          <p:nvPr/>
        </p:nvSpPr>
        <p:spPr>
          <a:xfrm>
            <a:off x="2267712" y="4401781"/>
            <a:ext cx="5884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2.28</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53815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2.08</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2.90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5" name="Shape 43"/>
          <p:cNvSpPr/>
          <p:nvPr/>
        </p:nvSpPr>
        <p:spPr>
          <a:xfrm>
            <a:off x="6291072" y="2156577"/>
            <a:ext cx="579287"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919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1" name="Shape 49"/>
          <p:cNvSpPr/>
          <p:nvPr/>
        </p:nvSpPr>
        <p:spPr>
          <a:xfrm>
            <a:off x="6291072" y="2798064"/>
            <a:ext cx="554590"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4" name="Shape 52"/>
          <p:cNvSpPr/>
          <p:nvPr/>
        </p:nvSpPr>
        <p:spPr>
          <a:xfrm>
            <a:off x="6291072" y="3118807"/>
            <a:ext cx="5316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08980"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2.02</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0" name="Shape 58"/>
          <p:cNvSpPr/>
          <p:nvPr/>
        </p:nvSpPr>
        <p:spPr>
          <a:xfrm>
            <a:off x="6291072" y="3760294"/>
            <a:ext cx="5057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2.01</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6291072" y="4081038"/>
            <a:ext cx="495913"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1.97</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Shape 64"/>
          <p:cNvSpPr/>
          <p:nvPr/>
        </p:nvSpPr>
        <p:spPr>
          <a:xfrm>
            <a:off x="6291072" y="4401781"/>
            <a:ext cx="4930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6291072" y="4722524"/>
            <a:ext cx="490542"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1.95</a:t>
            </a:r>
            <a:endParaRPr lang="en-US" sz="1300" dirty="0"/>
          </a:p>
        </p:txBody>
      </p:sp>
      <p:sp>
        <p:nvSpPr>
          <p:cNvPr id="71" name="Shape 69"/>
          <p:cNvSpPr/>
          <p:nvPr/>
        </p:nvSpPr>
        <p:spPr>
          <a:xfrm>
            <a:off x="4261104" y="4963082"/>
            <a:ext cx="3529584" cy="311599"/>
          </a:xfrm>
          <a:prstGeom prst="rect">
            <a:avLst/>
          </a:prstGeom>
          <a:solidFill>
            <a:srgbClr val="EDF4FA"/>
          </a:solidFill>
          <a:ln/>
        </p:spPr>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3" name="Shape 71"/>
          <p:cNvSpPr/>
          <p:nvPr/>
        </p:nvSpPr>
        <p:spPr>
          <a:xfrm>
            <a:off x="6291072" y="5043268"/>
            <a:ext cx="439804" cy="160372"/>
          </a:xfrm>
          <a:prstGeom prst="rect">
            <a:avLst/>
          </a:prstGeom>
          <a:solidFill>
            <a:srgbClr val="0B2C4A"/>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1.75</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6" name="Shape 74"/>
          <p:cNvSpPr/>
          <p:nvPr/>
        </p:nvSpPr>
        <p:spPr>
          <a:xfrm>
            <a:off x="6291072" y="5364011"/>
            <a:ext cx="438976"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1.74</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9" name="Shape 77"/>
          <p:cNvSpPr/>
          <p:nvPr/>
        </p:nvSpPr>
        <p:spPr>
          <a:xfrm>
            <a:off x="6291072" y="5684754"/>
            <a:ext cx="43014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1.71</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19539"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5" name="Shape 83"/>
          <p:cNvSpPr/>
          <p:nvPr/>
        </p:nvSpPr>
        <p:spPr>
          <a:xfrm>
            <a:off x="9893808" y="2156577"/>
            <a:ext cx="41203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1.64</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8" name="Shape 86"/>
          <p:cNvSpPr/>
          <p:nvPr/>
        </p:nvSpPr>
        <p:spPr>
          <a:xfrm>
            <a:off x="9893808" y="2477321"/>
            <a:ext cx="402432"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5193"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1.57</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94" name="Shape 92"/>
          <p:cNvSpPr/>
          <p:nvPr/>
        </p:nvSpPr>
        <p:spPr>
          <a:xfrm>
            <a:off x="9893808" y="3118807"/>
            <a:ext cx="3733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70773"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00" name="Shape 98"/>
          <p:cNvSpPr/>
          <p:nvPr/>
        </p:nvSpPr>
        <p:spPr>
          <a:xfrm>
            <a:off x="9893808" y="3760294"/>
            <a:ext cx="366723"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3" name="Shape 101"/>
          <p:cNvSpPr/>
          <p:nvPr/>
        </p:nvSpPr>
        <p:spPr>
          <a:xfrm>
            <a:off x="9893808" y="4081038"/>
            <a:ext cx="35989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57762"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5402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2" name="Shape 110"/>
          <p:cNvSpPr/>
          <p:nvPr/>
        </p:nvSpPr>
        <p:spPr>
          <a:xfrm>
            <a:off x="9893808" y="5043268"/>
            <a:ext cx="348438"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324886"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21" name="Shape 19"/>
          <p:cNvSpPr/>
          <p:nvPr/>
        </p:nvSpPr>
        <p:spPr>
          <a:xfrm>
            <a:off x="457200" y="6126480"/>
            <a:ext cx="11274552" cy="364236"/>
          </a:xfrm>
          <a:prstGeom prst="rect">
            <a:avLst/>
          </a:prstGeom>
          <a:solidFill>
            <a:srgbClr val="EDF4FA"/>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$67/hr</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$80/hr</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$117/hr</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$160/hr</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$130/hr</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34" name="Shape 32"/>
          <p:cNvSpPr/>
          <p:nvPr/>
        </p:nvSpPr>
        <p:spPr>
          <a:xfrm>
            <a:off x="9479280" y="4654296"/>
            <a:ext cx="45720" cy="1133856"/>
          </a:xfrm>
          <a:prstGeom prst="rect">
            <a:avLst/>
          </a:prstGeom>
          <a:solidFill>
            <a:srgbClr val="2587C5"/>
          </a:solidFill>
          <a:ln/>
        </p:spPr>
      </p:sp>
      <p:sp>
        <p:nvSpPr>
          <p:cNvPr id="35" name="Text 33"/>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36" name="Shape 34"/>
          <p:cNvSpPr/>
          <p:nvPr/>
        </p:nvSpPr>
        <p:spPr>
          <a:xfrm>
            <a:off x="457200" y="6126480"/>
            <a:ext cx="11274552" cy="364236"/>
          </a:xfrm>
          <a:prstGeom prst="rect">
            <a:avLst/>
          </a:prstGeom>
          <a:solidFill>
            <a:srgbClr val="E6F6EE"/>
          </a:solidFill>
          <a:ln/>
        </p:spPr>
      </p:sp>
      <p:sp>
        <p:nvSpPr>
          <p:cNvPr id="37" name="Text 3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$266.32</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267712" y="2156577"/>
            <a:ext cx="909937"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$235.07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7949"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$234.55</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 name="Shape 15"/>
          <p:cNvSpPr/>
          <p:nvPr/>
        </p:nvSpPr>
        <p:spPr>
          <a:xfrm>
            <a:off x="2267712" y="2798064"/>
            <a:ext cx="9050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$233.79</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267712" y="3118807"/>
            <a:ext cx="903719"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$233.46</a:t>
            </a:r>
            <a:endParaRPr lang="en-US" sz="1300" dirty="0"/>
          </a:p>
        </p:txBody>
      </p:sp>
      <p:sp>
        <p:nvSpPr>
          <p:cNvPr id="22" name="Text 20"/>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 name="Shape 21"/>
          <p:cNvSpPr/>
          <p:nvPr/>
        </p:nvSpPr>
        <p:spPr>
          <a:xfrm>
            <a:off x="2267712" y="3439551"/>
            <a:ext cx="859813" cy="160372"/>
          </a:xfrm>
          <a:prstGeom prst="rect">
            <a:avLst/>
          </a:prstGeom>
          <a:solidFill>
            <a:srgbClr val="12A566"/>
          </a:solidFill>
          <a:ln/>
        </p:spPr>
      </p:sp>
      <p:sp>
        <p:nvSpPr>
          <p:cNvPr id="24" name="Text 22"/>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$222.12</a:t>
            </a:r>
            <a:endParaRPr lang="en-US" sz="1300" dirty="0"/>
          </a:p>
        </p:txBody>
      </p:sp>
      <p:sp>
        <p:nvSpPr>
          <p:cNvPr id="25" name="Shape 23"/>
          <p:cNvSpPr/>
          <p:nvPr/>
        </p:nvSpPr>
        <p:spPr>
          <a:xfrm>
            <a:off x="603504" y="3680108"/>
            <a:ext cx="3566160" cy="311599"/>
          </a:xfrm>
          <a:prstGeom prst="rect">
            <a:avLst/>
          </a:prstGeom>
          <a:solidFill>
            <a:srgbClr val="EDF4FA"/>
          </a:solidFill>
          <a:ln/>
        </p:spPr>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7" name="Shape 25"/>
          <p:cNvSpPr/>
          <p:nvPr/>
        </p:nvSpPr>
        <p:spPr>
          <a:xfrm>
            <a:off x="2267712" y="3760294"/>
            <a:ext cx="843067" cy="160372"/>
          </a:xfrm>
          <a:prstGeom prst="rect">
            <a:avLst/>
          </a:prstGeom>
          <a:solidFill>
            <a:srgbClr val="0B2C4A"/>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$217.79</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267712" y="4081038"/>
            <a:ext cx="74821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$193.29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5811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$170.01</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6" name="Shape 34"/>
          <p:cNvSpPr/>
          <p:nvPr/>
        </p:nvSpPr>
        <p:spPr>
          <a:xfrm>
            <a:off x="2267712" y="4722524"/>
            <a:ext cx="648916"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$167.64</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$217.79  </a:t>
            </a:r>
            <a:pPr indent="0" marL="0">
              <a:buNone/>
            </a:pPr>
            <a:r>
              <a:rPr lang="en-US" sz="1400" b="1" dirty="0">
                <a:solidFill>
                  <a:srgbClr val="0B7A4A"/>
                </a:solidFill>
                <a:latin typeface="Inter" pitchFamily="34" charset="0"/>
                <a:ea typeface="Inter" pitchFamily="34" charset="-122"/>
                <a:cs typeface="Inter" pitchFamily="34" charset="-120"/>
              </a:rPr>
              <a:t>(+$6.75)</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$151.32  </a:t>
            </a:r>
            <a:pPr indent="0" marL="0">
              <a:buNone/>
            </a:pPr>
            <a:r>
              <a:rPr lang="en-US" sz="1400" b="1" dirty="0">
                <a:solidFill>
                  <a:srgbClr val="0B7A4A"/>
                </a:solidFill>
                <a:latin typeface="Inter" pitchFamily="34" charset="0"/>
                <a:ea typeface="Inter" pitchFamily="34" charset="-122"/>
                <a:cs typeface="Inter" pitchFamily="34" charset="-120"/>
              </a:rPr>
              <a:t>(+$3.00)</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$210.50</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2437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$175.90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8" name="Shape 46"/>
          <p:cNvSpPr/>
          <p:nvPr/>
        </p:nvSpPr>
        <p:spPr>
          <a:xfrm>
            <a:off x="6291072" y="2477321"/>
            <a:ext cx="49619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$166.44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1" name="Shape 49"/>
          <p:cNvSpPr/>
          <p:nvPr/>
        </p:nvSpPr>
        <p:spPr>
          <a:xfrm>
            <a:off x="6291072" y="2798064"/>
            <a:ext cx="487825"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$163.64</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4" name="Shape 52"/>
          <p:cNvSpPr/>
          <p:nvPr/>
        </p:nvSpPr>
        <p:spPr>
          <a:xfrm>
            <a:off x="6291072" y="3118807"/>
            <a:ext cx="4854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$162.85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6291072" y="3439551"/>
            <a:ext cx="47895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$160.66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0" name="Shape 58"/>
          <p:cNvSpPr/>
          <p:nvPr/>
        </p:nvSpPr>
        <p:spPr>
          <a:xfrm>
            <a:off x="6291072" y="3760294"/>
            <a:ext cx="475697"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$159.57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6291072" y="4081038"/>
            <a:ext cx="475119"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$159.38</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6" name="Shape 64"/>
          <p:cNvSpPr/>
          <p:nvPr/>
        </p:nvSpPr>
        <p:spPr>
          <a:xfrm>
            <a:off x="6291072" y="4401781"/>
            <a:ext cx="469045"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$157.34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9" name="Shape 67"/>
          <p:cNvSpPr/>
          <p:nvPr/>
        </p:nvSpPr>
        <p:spPr>
          <a:xfrm>
            <a:off x="6291072" y="4722524"/>
            <a:ext cx="46560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$156.18</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6291072" y="5043268"/>
            <a:ext cx="460611"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$154.51</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5" name="Shape 73"/>
          <p:cNvSpPr/>
          <p:nvPr/>
        </p:nvSpPr>
        <p:spPr>
          <a:xfrm>
            <a:off x="6291072" y="5364011"/>
            <a:ext cx="45696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$153.29</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5109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$151.32</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444873"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$149.23</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5" name="Shape 83"/>
          <p:cNvSpPr/>
          <p:nvPr/>
        </p:nvSpPr>
        <p:spPr>
          <a:xfrm>
            <a:off x="9893808" y="2156577"/>
            <a:ext cx="441895"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$148.23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307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$144.50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1" name="Shape 89"/>
          <p:cNvSpPr/>
          <p:nvPr/>
        </p:nvSpPr>
        <p:spPr>
          <a:xfrm>
            <a:off x="9893808" y="2798064"/>
            <a:ext cx="428958"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$143.89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4" name="Shape 92"/>
          <p:cNvSpPr/>
          <p:nvPr/>
        </p:nvSpPr>
        <p:spPr>
          <a:xfrm>
            <a:off x="9893808" y="3118807"/>
            <a:ext cx="426467"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$143.06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7" name="Shape 95"/>
          <p:cNvSpPr/>
          <p:nvPr/>
        </p:nvSpPr>
        <p:spPr>
          <a:xfrm>
            <a:off x="9893808" y="3439551"/>
            <a:ext cx="425697"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$142.80</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0" name="Shape 98"/>
          <p:cNvSpPr/>
          <p:nvPr/>
        </p:nvSpPr>
        <p:spPr>
          <a:xfrm>
            <a:off x="9893808" y="3760294"/>
            <a:ext cx="42064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$141.10</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9893808" y="4081038"/>
            <a:ext cx="414760"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$139.13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9893808" y="4401781"/>
            <a:ext cx="4128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$138.48</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40291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$135.15</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2" name="Shape 110"/>
          <p:cNvSpPr/>
          <p:nvPr/>
        </p:nvSpPr>
        <p:spPr>
          <a:xfrm>
            <a:off x="9893808" y="5043268"/>
            <a:ext cx="388906"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$130.46</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5" name="Shape 113"/>
          <p:cNvSpPr/>
          <p:nvPr/>
        </p:nvSpPr>
        <p:spPr>
          <a:xfrm>
            <a:off x="9893808" y="5364011"/>
            <a:ext cx="37588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$126.09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$933</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2857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$931</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1025253"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90265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708427"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$641</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9800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$632</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59059"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$506</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0" name="Shape 28"/>
          <p:cNvSpPr/>
          <p:nvPr/>
        </p:nvSpPr>
        <p:spPr>
          <a:xfrm>
            <a:off x="2267712" y="4081038"/>
            <a:ext cx="5129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$464</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267712" y="4401781"/>
            <a:ext cx="460190"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$416</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444920"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$403</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$632  </a:t>
            </a:r>
            <a:pPr indent="0" marL="0">
              <a:buNone/>
            </a:pPr>
            <a:r>
              <a:rPr lang="en-US" sz="1400" b="1" dirty="0">
                <a:solidFill>
                  <a:srgbClr val="0B7A4A"/>
                </a:solidFill>
                <a:latin typeface="Inter" pitchFamily="34" charset="0"/>
                <a:ea typeface="Inter" pitchFamily="34" charset="-122"/>
                <a:cs typeface="Inter" pitchFamily="34" charset="-120"/>
              </a:rPr>
              <a:t>(+$33)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$264  </a:t>
            </a:r>
            <a:pPr indent="0" marL="0">
              <a:buNone/>
            </a:pPr>
            <a:r>
              <a:rPr lang="en-US" sz="1400" b="1" dirty="0">
                <a:solidFill>
                  <a:srgbClr val="0B7A4A"/>
                </a:solidFill>
                <a:latin typeface="Inter" pitchFamily="34" charset="0"/>
                <a:ea typeface="Inter" pitchFamily="34" charset="-122"/>
                <a:cs typeface="Inter" pitchFamily="34" charset="-120"/>
              </a:rPr>
              <a:t>(+$15)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98789"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$371</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8" name="Shape 46"/>
          <p:cNvSpPr/>
          <p:nvPr/>
        </p:nvSpPr>
        <p:spPr>
          <a:xfrm>
            <a:off x="6291072" y="2477321"/>
            <a:ext cx="57048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1" name="Shape 49"/>
          <p:cNvSpPr/>
          <p:nvPr/>
        </p:nvSpPr>
        <p:spPr>
          <a:xfrm>
            <a:off x="6291072" y="2798064"/>
            <a:ext cx="53593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4" name="Shape 52"/>
          <p:cNvSpPr/>
          <p:nvPr/>
        </p:nvSpPr>
        <p:spPr>
          <a:xfrm>
            <a:off x="6291072" y="3118807"/>
            <a:ext cx="513550"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$318</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7" name="Shape 55"/>
          <p:cNvSpPr/>
          <p:nvPr/>
        </p:nvSpPr>
        <p:spPr>
          <a:xfrm>
            <a:off x="6291072" y="3439551"/>
            <a:ext cx="501174"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714"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$302</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3" name="Shape 61"/>
          <p:cNvSpPr/>
          <p:nvPr/>
        </p:nvSpPr>
        <p:spPr>
          <a:xfrm>
            <a:off x="6291072" y="4081038"/>
            <a:ext cx="483060"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6" name="Shape 64"/>
          <p:cNvSpPr/>
          <p:nvPr/>
        </p:nvSpPr>
        <p:spPr>
          <a:xfrm>
            <a:off x="6291072" y="4401781"/>
            <a:ext cx="4821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6291072" y="4722524"/>
            <a:ext cx="46592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$289</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6291072" y="5043268"/>
            <a:ext cx="451632"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5" name="Shape 73"/>
          <p:cNvSpPr/>
          <p:nvPr/>
        </p:nvSpPr>
        <p:spPr>
          <a:xfrm>
            <a:off x="6291072" y="5364011"/>
            <a:ext cx="442219"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$274</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8" name="Shape 76"/>
          <p:cNvSpPr/>
          <p:nvPr/>
        </p:nvSpPr>
        <p:spPr>
          <a:xfrm>
            <a:off x="6291072" y="5684754"/>
            <a:ext cx="437452"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$271</a:t>
            </a:r>
            <a:endParaRPr lang="en-US" sz="1300" dirty="0"/>
          </a:p>
        </p:txBody>
      </p:sp>
      <p:sp>
        <p:nvSpPr>
          <p:cNvPr id="80" name="Shape 78"/>
          <p:cNvSpPr/>
          <p:nvPr/>
        </p:nvSpPr>
        <p:spPr>
          <a:xfrm>
            <a:off x="7863840" y="1755648"/>
            <a:ext cx="3529584" cy="311599"/>
          </a:xfrm>
          <a:prstGeom prst="rect">
            <a:avLst/>
          </a:prstGeom>
          <a:solidFill>
            <a:srgbClr val="EDF4FA"/>
          </a:solidFill>
          <a:ln/>
        </p:spPr>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2" name="Shape 80"/>
          <p:cNvSpPr/>
          <p:nvPr/>
        </p:nvSpPr>
        <p:spPr>
          <a:xfrm>
            <a:off x="9893808" y="1835834"/>
            <a:ext cx="426097" cy="160372"/>
          </a:xfrm>
          <a:prstGeom prst="rect">
            <a:avLst/>
          </a:prstGeom>
          <a:solidFill>
            <a:srgbClr val="0B2C4A"/>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$264</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5" name="Shape 83"/>
          <p:cNvSpPr/>
          <p:nvPr/>
        </p:nvSpPr>
        <p:spPr>
          <a:xfrm>
            <a:off x="9893808" y="2156577"/>
            <a:ext cx="38422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9893808" y="2477321"/>
            <a:ext cx="383536"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7759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$234</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9893808" y="3118807"/>
            <a:ext cx="372225"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$231</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66796"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0" name="Shape 98"/>
          <p:cNvSpPr/>
          <p:nvPr/>
        </p:nvSpPr>
        <p:spPr>
          <a:xfrm>
            <a:off x="9893808" y="3760294"/>
            <a:ext cx="35848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3" name="Shape 101"/>
          <p:cNvSpPr/>
          <p:nvPr/>
        </p:nvSpPr>
        <p:spPr>
          <a:xfrm>
            <a:off x="9893808" y="4081038"/>
            <a:ext cx="355557"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6" name="Shape 104"/>
          <p:cNvSpPr/>
          <p:nvPr/>
        </p:nvSpPr>
        <p:spPr>
          <a:xfrm>
            <a:off x="9893808" y="4401781"/>
            <a:ext cx="344158"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$213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23678"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2" name="Shape 110"/>
          <p:cNvSpPr/>
          <p:nvPr/>
        </p:nvSpPr>
        <p:spPr>
          <a:xfrm>
            <a:off x="9893808" y="5043268"/>
            <a:ext cx="30139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$187</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29351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$182</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$926</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939609"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$844</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5544"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 name="Shape 15"/>
          <p:cNvSpPr/>
          <p:nvPr/>
        </p:nvSpPr>
        <p:spPr>
          <a:xfrm>
            <a:off x="2267712" y="2798064"/>
            <a:ext cx="820245"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603026"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$542</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94783"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$534</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6078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$504</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4038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$363</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389252"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$350</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26739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$240</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$534  </a:t>
            </a:r>
            <a:pP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$202  </a:t>
            </a:r>
            <a:pPr indent="0" marL="0">
              <a:buNone/>
            </a:pPr>
            <a:r>
              <a:rPr lang="en-US" sz="1400" b="1" dirty="0">
                <a:solidFill>
                  <a:srgbClr val="0B7A4A"/>
                </a:solidFill>
                <a:latin typeface="Inter" pitchFamily="34" charset="0"/>
                <a:ea typeface="Inter" pitchFamily="34" charset="-122"/>
                <a:cs typeface="Inter" pitchFamily="34" charset="-120"/>
              </a:rPr>
              <a:t>(+$9)</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5" name="Shape 43"/>
          <p:cNvSpPr/>
          <p:nvPr/>
        </p:nvSpPr>
        <p:spPr>
          <a:xfrm>
            <a:off x="6291072" y="2156577"/>
            <a:ext cx="54929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8" name="Shape 46"/>
          <p:cNvSpPr/>
          <p:nvPr/>
        </p:nvSpPr>
        <p:spPr>
          <a:xfrm>
            <a:off x="6291072" y="2477321"/>
            <a:ext cx="532049"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30476"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4" name="Shape 52"/>
          <p:cNvSpPr/>
          <p:nvPr/>
        </p:nvSpPr>
        <p:spPr>
          <a:xfrm>
            <a:off x="6291072" y="3118807"/>
            <a:ext cx="53031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7" name="Shape 55"/>
          <p:cNvSpPr/>
          <p:nvPr/>
        </p:nvSpPr>
        <p:spPr>
          <a:xfrm>
            <a:off x="6291072" y="3439551"/>
            <a:ext cx="522725"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Shape 58"/>
          <p:cNvSpPr/>
          <p:nvPr/>
        </p:nvSpPr>
        <p:spPr>
          <a:xfrm>
            <a:off x="6291072" y="3760294"/>
            <a:ext cx="508315"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$269</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3" name="Shape 61"/>
          <p:cNvSpPr/>
          <p:nvPr/>
        </p:nvSpPr>
        <p:spPr>
          <a:xfrm>
            <a:off x="6291072" y="4081038"/>
            <a:ext cx="49962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Shape 64"/>
          <p:cNvSpPr/>
          <p:nvPr/>
        </p:nvSpPr>
        <p:spPr>
          <a:xfrm>
            <a:off x="6291072" y="4401781"/>
            <a:ext cx="490656"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9" name="Shape 67"/>
          <p:cNvSpPr/>
          <p:nvPr/>
        </p:nvSpPr>
        <p:spPr>
          <a:xfrm>
            <a:off x="6291072" y="4722524"/>
            <a:ext cx="44505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2" name="Shape 70"/>
          <p:cNvSpPr/>
          <p:nvPr/>
        </p:nvSpPr>
        <p:spPr>
          <a:xfrm>
            <a:off x="6291072" y="5043268"/>
            <a:ext cx="413647"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5" name="Shape 73"/>
          <p:cNvSpPr/>
          <p:nvPr/>
        </p:nvSpPr>
        <p:spPr>
          <a:xfrm>
            <a:off x="6291072" y="5364011"/>
            <a:ext cx="40964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$217</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6291072" y="5684754"/>
            <a:ext cx="403417"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1" name="Shape 79"/>
          <p:cNvSpPr/>
          <p:nvPr/>
        </p:nvSpPr>
        <p:spPr>
          <a:xfrm>
            <a:off x="9893808" y="1835834"/>
            <a:ext cx="402285"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3" name="Text 81"/>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4" name="Shape 82"/>
          <p:cNvSpPr/>
          <p:nvPr/>
        </p:nvSpPr>
        <p:spPr>
          <a:xfrm>
            <a:off x="9893808" y="2156577"/>
            <a:ext cx="401345" cy="160372"/>
          </a:xfrm>
          <a:prstGeom prst="rect">
            <a:avLst/>
          </a:prstGeom>
          <a:solidFill>
            <a:srgbClr val="12A566"/>
          </a:solidFill>
          <a:ln/>
        </p:spPr>
      </p:sp>
      <p:sp>
        <p:nvSpPr>
          <p:cNvPr id="85" name="Text 83"/>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Shape 85"/>
          <p:cNvSpPr/>
          <p:nvPr/>
        </p:nvSpPr>
        <p:spPr>
          <a:xfrm>
            <a:off x="9893808" y="2477321"/>
            <a:ext cx="393477" cy="160372"/>
          </a:xfrm>
          <a:prstGeom prst="rect">
            <a:avLst/>
          </a:prstGeom>
          <a:solidFill>
            <a:srgbClr val="12A566"/>
          </a:solidFill>
          <a:ln/>
        </p:spPr>
      </p:sp>
      <p:sp>
        <p:nvSpPr>
          <p:cNvPr id="88" name="Text 86"/>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$208</a:t>
            </a:r>
            <a:endParaRPr lang="en-US" sz="1300" dirty="0"/>
          </a:p>
        </p:txBody>
      </p:sp>
      <p:sp>
        <p:nvSpPr>
          <p:cNvPr id="89" name="Shape 87"/>
          <p:cNvSpPr/>
          <p:nvPr/>
        </p:nvSpPr>
        <p:spPr>
          <a:xfrm>
            <a:off x="7863840" y="2717878"/>
            <a:ext cx="3529584" cy="311599"/>
          </a:xfrm>
          <a:prstGeom prst="rect">
            <a:avLst/>
          </a:prstGeom>
          <a:solidFill>
            <a:srgbClr val="EDF4FA"/>
          </a:solidFill>
          <a:ln/>
        </p:spPr>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91" name="Shape 89"/>
          <p:cNvSpPr/>
          <p:nvPr/>
        </p:nvSpPr>
        <p:spPr>
          <a:xfrm>
            <a:off x="9893808" y="2798064"/>
            <a:ext cx="382510" cy="160372"/>
          </a:xfrm>
          <a:prstGeom prst="rect">
            <a:avLst/>
          </a:prstGeom>
          <a:solidFill>
            <a:srgbClr val="0B2C4A"/>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4" name="Shape 92"/>
          <p:cNvSpPr/>
          <p:nvPr/>
        </p:nvSpPr>
        <p:spPr>
          <a:xfrm>
            <a:off x="9893808" y="3118807"/>
            <a:ext cx="370852"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7" name="Shape 95"/>
          <p:cNvSpPr/>
          <p:nvPr/>
        </p:nvSpPr>
        <p:spPr>
          <a:xfrm>
            <a:off x="9893808" y="3439551"/>
            <a:ext cx="36534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0" name="Shape 98"/>
          <p:cNvSpPr/>
          <p:nvPr/>
        </p:nvSpPr>
        <p:spPr>
          <a:xfrm>
            <a:off x="9893808" y="3760294"/>
            <a:ext cx="346140"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$183</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9893808" y="4081038"/>
            <a:ext cx="342275"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Shape 104"/>
          <p:cNvSpPr/>
          <p:nvPr/>
        </p:nvSpPr>
        <p:spPr>
          <a:xfrm>
            <a:off x="9893808" y="4401781"/>
            <a:ext cx="321936"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9" name="Shape 107"/>
          <p:cNvSpPr/>
          <p:nvPr/>
        </p:nvSpPr>
        <p:spPr>
          <a:xfrm>
            <a:off x="9893808" y="4722524"/>
            <a:ext cx="290572"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2" name="Shape 110"/>
          <p:cNvSpPr/>
          <p:nvPr/>
        </p:nvSpPr>
        <p:spPr>
          <a:xfrm>
            <a:off x="9893808" y="5043268"/>
            <a:ext cx="289524"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$153</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9893808" y="5364011"/>
            <a:ext cx="281601"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5" name="Shape 13"/>
          <p:cNvSpPr/>
          <p:nvPr/>
        </p:nvSpPr>
        <p:spPr>
          <a:xfrm>
            <a:off x="7269480" y="3931920"/>
            <a:ext cx="54864" cy="1783080"/>
          </a:xfrm>
          <a:prstGeom prst="rect">
            <a:avLst/>
          </a:prstGeom>
          <a:solidFill>
            <a:srgbClr val="12A566"/>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8" name="Shape 16"/>
          <p:cNvSpPr/>
          <p:nvPr/>
        </p:nvSpPr>
        <p:spPr>
          <a:xfrm>
            <a:off x="457200" y="6126480"/>
            <a:ext cx="11274552" cy="356616"/>
          </a:xfrm>
          <a:prstGeom prst="rect">
            <a:avLst/>
          </a:prstGeom>
          <a:solidFill>
            <a:srgbClr val="EDF4FA"/>
          </a:solidFill>
          <a:ln/>
        </p:spPr>
      </p:sp>
      <p:sp>
        <p:nvSpPr>
          <p:cNvPr id="19" name="Text 1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8" name="Shape 16"/>
          <p:cNvSpPr/>
          <p:nvPr/>
        </p:nvSpPr>
        <p:spPr>
          <a:xfrm>
            <a:off x="457200" y="6126480"/>
            <a:ext cx="11274552" cy="615696"/>
          </a:xfrm>
          <a:prstGeom prst="rect">
            <a:avLst/>
          </a:prstGeom>
          <a:solidFill>
            <a:srgbClr val="EDF4FA"/>
          </a:solidFill>
          <a:ln/>
        </p:spPr>
      </p:sp>
      <p:sp>
        <p:nvSpPr>
          <p:cNvPr id="19" name="Text 1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6.8% → 13.3%</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7.8% → 11.5%</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23.0% → 25.4%</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14.1% → 16.2%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11.4% → 12.9%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5.9% → 7.7%</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 → 8.9%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10.3% → 11.0%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+0.6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 → 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15.5%</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4.6% → 6.1%</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2.4% → 3.9%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7.7% → 8.9%</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4.8% → 6.0%</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6.4% → 8.9%</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8.8% → 10.2%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0.3% → 1.5%</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8.0% → 9.0%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3.0% → 3.9%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+0.8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 JAN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 name="Shape 9"/>
          <p:cNvSpPr/>
          <p:nvPr/>
        </p:nvSpPr>
        <p:spPr>
          <a:xfrm>
            <a:off x="2267712" y="2156577"/>
            <a:ext cx="1017185"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192</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5368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161</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7" name="Shape 15"/>
          <p:cNvSpPr/>
          <p:nvPr/>
        </p:nvSpPr>
        <p:spPr>
          <a:xfrm>
            <a:off x="2267712" y="2798064"/>
            <a:ext cx="7064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133</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 name="Shape 18"/>
          <p:cNvSpPr/>
          <p:nvPr/>
        </p:nvSpPr>
        <p:spPr>
          <a:xfrm>
            <a:off x="2267712" y="3118807"/>
            <a:ext cx="660413"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124</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50307"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7" name="Shape 25"/>
          <p:cNvSpPr/>
          <p:nvPr/>
        </p:nvSpPr>
        <p:spPr>
          <a:xfrm>
            <a:off x="2267712" y="3760294"/>
            <a:ext cx="590102"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7382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3" name="Shape 31"/>
          <p:cNvSpPr/>
          <p:nvPr/>
        </p:nvSpPr>
        <p:spPr>
          <a:xfrm>
            <a:off x="2267712" y="4401781"/>
            <a:ext cx="453135"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85</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37613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123  </a:t>
            </a:r>
            <a:pPr indent="0" marL="0">
              <a:buNone/>
            </a:pPr>
            <a:r>
              <a:rPr lang="en-US" sz="1400" b="1" dirty="0">
                <a:solidFill>
                  <a:srgbClr val="A82B26"/>
                </a:solidFill>
                <a:latin typeface="Inter" pitchFamily="34" charset="0"/>
                <a:ea typeface="Inter" pitchFamily="34" charset="-122"/>
                <a:cs typeface="Inter" pitchFamily="34" charset="-120"/>
              </a:rPr>
              <a:t>(−9)</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176  </a:t>
            </a:r>
            <a:pP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253</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5" name="Shape 43"/>
          <p:cNvSpPr/>
          <p:nvPr/>
        </p:nvSpPr>
        <p:spPr>
          <a:xfrm>
            <a:off x="6291072" y="2156577"/>
            <a:ext cx="604201"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244</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3402"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6291072" y="2798064"/>
            <a:ext cx="560822"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4" name="Shape 52"/>
          <p:cNvSpPr/>
          <p:nvPr/>
        </p:nvSpPr>
        <p:spPr>
          <a:xfrm>
            <a:off x="6291072" y="3118807"/>
            <a:ext cx="560053"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7" name="Shape 55"/>
          <p:cNvSpPr/>
          <p:nvPr/>
        </p:nvSpPr>
        <p:spPr>
          <a:xfrm>
            <a:off x="6291072" y="3439551"/>
            <a:ext cx="55680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225</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0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6291072" y="4081038"/>
            <a:ext cx="47350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191</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6291072" y="4401781"/>
            <a:ext cx="457393"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47997"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2" name="Shape 70"/>
          <p:cNvSpPr/>
          <p:nvPr/>
        </p:nvSpPr>
        <p:spPr>
          <a:xfrm>
            <a:off x="6291072" y="5043268"/>
            <a:ext cx="446678"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Shape 73"/>
          <p:cNvSpPr/>
          <p:nvPr/>
        </p:nvSpPr>
        <p:spPr>
          <a:xfrm>
            <a:off x="6291072" y="5364011"/>
            <a:ext cx="441364"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178</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3671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34988"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175</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5" name="Shape 83"/>
          <p:cNvSpPr/>
          <p:nvPr/>
        </p:nvSpPr>
        <p:spPr>
          <a:xfrm>
            <a:off x="9893808" y="2156577"/>
            <a:ext cx="42648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172</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09834"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165</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404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4" name="Shape 92"/>
          <p:cNvSpPr/>
          <p:nvPr/>
        </p:nvSpPr>
        <p:spPr>
          <a:xfrm>
            <a:off x="9893808" y="3118807"/>
            <a:ext cx="380753"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7" name="Shape 95"/>
          <p:cNvSpPr/>
          <p:nvPr/>
        </p:nvSpPr>
        <p:spPr>
          <a:xfrm>
            <a:off x="9893808" y="3439551"/>
            <a:ext cx="354368"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Shape 98"/>
          <p:cNvSpPr/>
          <p:nvPr/>
        </p:nvSpPr>
        <p:spPr>
          <a:xfrm>
            <a:off x="9893808" y="3760294"/>
            <a:ext cx="343647"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3" name="Shape 101"/>
          <p:cNvSpPr/>
          <p:nvPr/>
        </p:nvSpPr>
        <p:spPr>
          <a:xfrm>
            <a:off x="9893808" y="4081038"/>
            <a:ext cx="317068"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3046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893808" y="4722524"/>
            <a:ext cx="296380"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2" name="Shape 110"/>
          <p:cNvSpPr/>
          <p:nvPr/>
        </p:nvSpPr>
        <p:spPr>
          <a:xfrm>
            <a:off x="9893808" y="5043268"/>
            <a:ext cx="293723"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5" name="Shape 113"/>
          <p:cNvSpPr/>
          <p:nvPr/>
        </p:nvSpPr>
        <p:spPr>
          <a:xfrm>
            <a:off x="9893808" y="5364011"/>
            <a:ext cx="289048"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117</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 name="Shape 9"/>
          <p:cNvSpPr/>
          <p:nvPr/>
        </p:nvSpPr>
        <p:spPr>
          <a:xfrm>
            <a:off x="2267712" y="2156577"/>
            <a:ext cx="101396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24.5</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03240"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 name="Shape 15"/>
          <p:cNvSpPr/>
          <p:nvPr/>
        </p:nvSpPr>
        <p:spPr>
          <a:xfrm>
            <a:off x="2267712" y="2798064"/>
            <a:ext cx="78906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19.0</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23520"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17.4</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2267712" y="3439551"/>
            <a:ext cx="696638"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16.8</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7" name="Shape 25"/>
          <p:cNvSpPr/>
          <p:nvPr/>
        </p:nvSpPr>
        <p:spPr>
          <a:xfrm>
            <a:off x="2267712" y="3760294"/>
            <a:ext cx="61054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610365"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098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56588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13.6</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29.3  </a:t>
            </a:r>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39.8</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6291072" y="2156577"/>
            <a:ext cx="606544"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8" name="Shape 46"/>
          <p:cNvSpPr/>
          <p:nvPr/>
        </p:nvSpPr>
        <p:spPr>
          <a:xfrm>
            <a:off x="6291072" y="2477321"/>
            <a:ext cx="589437"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8015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36.8</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4" name="Shape 52"/>
          <p:cNvSpPr/>
          <p:nvPr/>
        </p:nvSpPr>
        <p:spPr>
          <a:xfrm>
            <a:off x="6291072" y="3118807"/>
            <a:ext cx="57546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51497"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0" name="Shape 58"/>
          <p:cNvSpPr/>
          <p:nvPr/>
        </p:nvSpPr>
        <p:spPr>
          <a:xfrm>
            <a:off x="6291072" y="3760294"/>
            <a:ext cx="547212"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3" name="Shape 61"/>
          <p:cNvSpPr/>
          <p:nvPr/>
        </p:nvSpPr>
        <p:spPr>
          <a:xfrm>
            <a:off x="6291072" y="4081038"/>
            <a:ext cx="511058"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32.4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Shape 64"/>
          <p:cNvSpPr/>
          <p:nvPr/>
        </p:nvSpPr>
        <p:spPr>
          <a:xfrm>
            <a:off x="6291072" y="4401781"/>
            <a:ext cx="495037"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9487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2" name="Shape 70"/>
          <p:cNvSpPr/>
          <p:nvPr/>
        </p:nvSpPr>
        <p:spPr>
          <a:xfrm>
            <a:off x="6291072" y="5043268"/>
            <a:ext cx="494676"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6291072" y="5364011"/>
            <a:ext cx="492545"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31.3</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6291072" y="5684754"/>
            <a:ext cx="490000"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1" name="Shape 79"/>
          <p:cNvSpPr/>
          <p:nvPr/>
        </p:nvSpPr>
        <p:spPr>
          <a:xfrm>
            <a:off x="9893808" y="1835834"/>
            <a:ext cx="481392"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30.6</a:t>
            </a:r>
            <a:endParaRPr lang="en-US" sz="1300" dirty="0"/>
          </a:p>
        </p:txBody>
      </p:sp>
      <p:sp>
        <p:nvSpPr>
          <p:cNvPr id="83" name="Shape 81"/>
          <p:cNvSpPr/>
          <p:nvPr/>
        </p:nvSpPr>
        <p:spPr>
          <a:xfrm>
            <a:off x="7863840" y="2076391"/>
            <a:ext cx="3529584" cy="311599"/>
          </a:xfrm>
          <a:prstGeom prst="rect">
            <a:avLst/>
          </a:prstGeom>
          <a:solidFill>
            <a:srgbClr val="EDF4FA"/>
          </a:solidFill>
          <a:ln/>
        </p:spPr>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5" name="Shape 83"/>
          <p:cNvSpPr/>
          <p:nvPr/>
        </p:nvSpPr>
        <p:spPr>
          <a:xfrm>
            <a:off x="9893808" y="2156577"/>
            <a:ext cx="460833" cy="160372"/>
          </a:xfrm>
          <a:prstGeom prst="rect">
            <a:avLst/>
          </a:prstGeom>
          <a:solidFill>
            <a:srgbClr val="0B2C4A"/>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8" name="Shape 86"/>
          <p:cNvSpPr/>
          <p:nvPr/>
        </p:nvSpPr>
        <p:spPr>
          <a:xfrm>
            <a:off x="9893808" y="2477321"/>
            <a:ext cx="454080"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1" name="Shape 89"/>
          <p:cNvSpPr/>
          <p:nvPr/>
        </p:nvSpPr>
        <p:spPr>
          <a:xfrm>
            <a:off x="9893808" y="2798064"/>
            <a:ext cx="444605"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4" name="Shape 92"/>
          <p:cNvSpPr/>
          <p:nvPr/>
        </p:nvSpPr>
        <p:spPr>
          <a:xfrm>
            <a:off x="9893808" y="3118807"/>
            <a:ext cx="4012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25.5</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7" name="Shape 95"/>
          <p:cNvSpPr/>
          <p:nvPr/>
        </p:nvSpPr>
        <p:spPr>
          <a:xfrm>
            <a:off x="9893808" y="3439551"/>
            <a:ext cx="37247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23.6</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0" name="Shape 98"/>
          <p:cNvSpPr/>
          <p:nvPr/>
        </p:nvSpPr>
        <p:spPr>
          <a:xfrm>
            <a:off x="9893808" y="3760294"/>
            <a:ext cx="356634"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3" name="Shape 101"/>
          <p:cNvSpPr/>
          <p:nvPr/>
        </p:nvSpPr>
        <p:spPr>
          <a:xfrm>
            <a:off x="9893808" y="4081038"/>
            <a:ext cx="348422"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29527"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20.9</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9" name="Shape 107"/>
          <p:cNvSpPr/>
          <p:nvPr/>
        </p:nvSpPr>
        <p:spPr>
          <a:xfrm>
            <a:off x="9893808" y="4722524"/>
            <a:ext cx="320181"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9893808" y="5043268"/>
            <a:ext cx="30223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273210"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17.3</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491</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1" name="Shape 9"/>
          <p:cNvSpPr/>
          <p:nvPr/>
        </p:nvSpPr>
        <p:spPr>
          <a:xfrm>
            <a:off x="2267712" y="2156577"/>
            <a:ext cx="76981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4" name="Shape 12"/>
          <p:cNvSpPr/>
          <p:nvPr/>
        </p:nvSpPr>
        <p:spPr>
          <a:xfrm>
            <a:off x="2267712" y="2477321"/>
            <a:ext cx="69892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333</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 name="Shape 15"/>
          <p:cNvSpPr/>
          <p:nvPr/>
        </p:nvSpPr>
        <p:spPr>
          <a:xfrm>
            <a:off x="2267712" y="2798064"/>
            <a:ext cx="612008"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291</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267712" y="3118807"/>
            <a:ext cx="603842"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288</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7872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528813"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252</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16716"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3" name="Shape 31"/>
          <p:cNvSpPr/>
          <p:nvPr/>
        </p:nvSpPr>
        <p:spPr>
          <a:xfrm>
            <a:off x="2267712" y="4401781"/>
            <a:ext cx="297721"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2267712" y="4722524"/>
            <a:ext cx="249073"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276  </a:t>
            </a:r>
            <a:pP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(+17)</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1,022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6291072" y="2156577"/>
            <a:ext cx="469928"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8" name="Shape 46"/>
          <p:cNvSpPr/>
          <p:nvPr/>
        </p:nvSpPr>
        <p:spPr>
          <a:xfrm>
            <a:off x="6291072" y="2477321"/>
            <a:ext cx="42123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686</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1" name="Shape 49"/>
          <p:cNvSpPr/>
          <p:nvPr/>
        </p:nvSpPr>
        <p:spPr>
          <a:xfrm>
            <a:off x="6291072" y="2798064"/>
            <a:ext cx="403488"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657</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4" name="Shape 52"/>
          <p:cNvSpPr/>
          <p:nvPr/>
        </p:nvSpPr>
        <p:spPr>
          <a:xfrm>
            <a:off x="6291072" y="3118807"/>
            <a:ext cx="362659"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591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6291072" y="3439551"/>
            <a:ext cx="343763"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560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0" name="Shape 58"/>
          <p:cNvSpPr/>
          <p:nvPr/>
        </p:nvSpPr>
        <p:spPr>
          <a:xfrm>
            <a:off x="6291072" y="3760294"/>
            <a:ext cx="262373"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427</a:t>
            </a:r>
            <a:endParaRPr lang="en-US" sz="1300" dirty="0"/>
          </a:p>
        </p:txBody>
      </p:sp>
      <p:sp>
        <p:nvSpPr>
          <p:cNvPr id="62" name="Shape 60"/>
          <p:cNvSpPr/>
          <p:nvPr/>
        </p:nvSpPr>
        <p:spPr>
          <a:xfrm>
            <a:off x="4261104" y="4000852"/>
            <a:ext cx="3529584" cy="311599"/>
          </a:xfrm>
          <a:prstGeom prst="rect">
            <a:avLst/>
          </a:prstGeom>
          <a:solidFill>
            <a:srgbClr val="EDF4FA"/>
          </a:solidFill>
          <a:ln/>
        </p:spPr>
      </p:sp>
      <p:sp>
        <p:nvSpPr>
          <p:cNvPr id="63" name="Text 61"/>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64" name="Shape 62"/>
          <p:cNvSpPr/>
          <p:nvPr/>
        </p:nvSpPr>
        <p:spPr>
          <a:xfrm>
            <a:off x="6291072" y="4081038"/>
            <a:ext cx="256715" cy="160372"/>
          </a:xfrm>
          <a:prstGeom prst="rect">
            <a:avLst/>
          </a:prstGeom>
          <a:solidFill>
            <a:srgbClr val="0B2C4A"/>
          </a:solidFill>
          <a:ln/>
        </p:spPr>
      </p:sp>
      <p:sp>
        <p:nvSpPr>
          <p:cNvPr id="65" name="Text 63"/>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418</a:t>
            </a:r>
            <a:endParaRPr lang="en-US" sz="1300" dirty="0"/>
          </a:p>
        </p:txBody>
      </p:sp>
      <p:sp>
        <p:nvSpPr>
          <p:cNvPr id="66" name="Text 64"/>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7" name="Shape 65"/>
          <p:cNvSpPr/>
          <p:nvPr/>
        </p:nvSpPr>
        <p:spPr>
          <a:xfrm>
            <a:off x="6291072" y="4401781"/>
            <a:ext cx="245067" cy="160372"/>
          </a:xfrm>
          <a:prstGeom prst="rect">
            <a:avLst/>
          </a:prstGeom>
          <a:solidFill>
            <a:srgbClr val="C2352F"/>
          </a:solidFill>
          <a:ln/>
        </p:spPr>
      </p:sp>
      <p:sp>
        <p:nvSpPr>
          <p:cNvPr id="68" name="Text 66"/>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399</a:t>
            </a:r>
            <a:endParaRPr lang="en-US" sz="1300" dirty="0"/>
          </a:p>
        </p:txBody>
      </p:sp>
      <p:sp>
        <p:nvSpPr>
          <p:cNvPr id="69" name="Text 67"/>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0" name="Shape 68"/>
          <p:cNvSpPr/>
          <p:nvPr/>
        </p:nvSpPr>
        <p:spPr>
          <a:xfrm>
            <a:off x="6291072" y="4722524"/>
            <a:ext cx="240759" cy="160372"/>
          </a:xfrm>
          <a:prstGeom prst="rect">
            <a:avLst/>
          </a:prstGeom>
          <a:solidFill>
            <a:srgbClr val="C2352F"/>
          </a:solidFill>
          <a:ln/>
        </p:spPr>
      </p:sp>
      <p:sp>
        <p:nvSpPr>
          <p:cNvPr id="71" name="Text 69"/>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392</a:t>
            </a:r>
            <a:endParaRPr lang="en-US" sz="1300" dirty="0"/>
          </a:p>
        </p:txBody>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3" name="Shape 71"/>
          <p:cNvSpPr/>
          <p:nvPr/>
        </p:nvSpPr>
        <p:spPr>
          <a:xfrm>
            <a:off x="6291072" y="5043268"/>
            <a:ext cx="231188" cy="160372"/>
          </a:xfrm>
          <a:prstGeom prst="rect">
            <a:avLst/>
          </a:prstGeom>
          <a:solidFill>
            <a:srgbClr val="C2352F"/>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376</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6" name="Shape 74"/>
          <p:cNvSpPr/>
          <p:nvPr/>
        </p:nvSpPr>
        <p:spPr>
          <a:xfrm>
            <a:off x="6291072" y="5364011"/>
            <a:ext cx="226867"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369</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Shape 77"/>
          <p:cNvSpPr/>
          <p:nvPr/>
        </p:nvSpPr>
        <p:spPr>
          <a:xfrm>
            <a:off x="6291072" y="5684754"/>
            <a:ext cx="21863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215740"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351</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5" name="Shape 83"/>
          <p:cNvSpPr/>
          <p:nvPr/>
        </p:nvSpPr>
        <p:spPr>
          <a:xfrm>
            <a:off x="9893808" y="2156577"/>
            <a:ext cx="20077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327</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9893808" y="2477321"/>
            <a:ext cx="1893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Shape 89"/>
          <p:cNvSpPr/>
          <p:nvPr/>
        </p:nvSpPr>
        <p:spPr>
          <a:xfrm>
            <a:off x="9893808" y="2798064"/>
            <a:ext cx="183877"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9893808" y="3118807"/>
            <a:ext cx="167591"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7" name="Shape 95"/>
          <p:cNvSpPr/>
          <p:nvPr/>
        </p:nvSpPr>
        <p:spPr>
          <a:xfrm>
            <a:off x="9893808" y="3439551"/>
            <a:ext cx="167045"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272</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0" name="Shape 98"/>
          <p:cNvSpPr/>
          <p:nvPr/>
        </p:nvSpPr>
        <p:spPr>
          <a:xfrm>
            <a:off x="9893808" y="3760294"/>
            <a:ext cx="14273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9893808" y="4081038"/>
            <a:ext cx="14145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135110"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124834"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2" name="Shape 110"/>
          <p:cNvSpPr/>
          <p:nvPr/>
        </p:nvSpPr>
        <p:spPr>
          <a:xfrm>
            <a:off x="9893808" y="5043268"/>
            <a:ext cx="11820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94304"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paid hours). 20 of 33 stores at or above 85%.</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Jan–Sep 2026 vs Jan–Sep 2025</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+46.0%</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+31.0%</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−14.1%</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−20.1%</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+13.6%</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+12.6%</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+10.5%</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−10.5%</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−11.4%</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−14.7%</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+30.7%</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+19.5%</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−11.7%</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−12.5%</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−13.7%</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+20.1%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−19.0%</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+24.7%</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+21.0%</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−2.2%</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−9.0%</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−15.0%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+3.8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0.0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−0.4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−0.5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Lincoln, Subaru Prescott, Subaru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Audi Reno, VW St George (4 of 6).</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Q3 2026 vs Q1 2026 (gross and ROs per month). Group change = the season.</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+27.8%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+23.2%</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+22.0%</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−0.2%</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−0.9%</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+18.6%</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+15.8%</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+15.5%</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−4.3%</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+8.6%</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−9.5%</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−9.9%</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−10.6%</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−14.0%</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+5.7%</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+5.0%</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−4.7%</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−14.2%</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+15.0%</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−3.4%</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−5.6%</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+2.9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−4.2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VW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Subaru St George, Honda Henderson (4 of 6).</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21" name="Shape 19"/>
          <p:cNvSpPr/>
          <p:nvPr/>
        </p:nvSpPr>
        <p:spPr>
          <a:xfrm>
            <a:off x="457200" y="6126480"/>
            <a:ext cx="11274552" cy="364236"/>
          </a:xfrm>
          <a:prstGeom prst="rect">
            <a:avLst/>
          </a:prstGeom>
          <a:solidFill>
            <a:srgbClr val="E6F6EE"/>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INTERNAL GP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85800" y="1371600"/>
            <a:ext cx="237744" cy="201168"/>
          </a:xfrm>
          <a:prstGeom prst="rect">
            <a:avLst/>
          </a:prstGeom>
          <a:solidFill>
            <a:srgbClr val="C2352F"/>
          </a:solidFill>
          <a:ln/>
        </p:spPr>
      </p:sp>
      <p:sp>
        <p:nvSpPr>
          <p:cNvPr id="7" name="Text 5"/>
          <p:cNvSpPr txBox="1"/>
          <p:nvPr/>
        </p:nvSpPr>
        <p:spPr>
          <a:xfrm>
            <a:off x="101498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Store today</a:t>
            </a:r>
            <a:endParaRPr lang="en-US" sz="1500" dirty="0"/>
          </a:p>
        </p:txBody>
      </p:sp>
      <p:sp>
        <p:nvSpPr>
          <p:cNvPr id="8" name="Shape 6"/>
          <p:cNvSpPr/>
          <p:nvPr/>
        </p:nvSpPr>
        <p:spPr>
          <a:xfrm>
            <a:off x="3063240" y="1371600"/>
            <a:ext cx="237744" cy="201168"/>
          </a:xfrm>
          <a:prstGeom prst="rect">
            <a:avLst/>
          </a:prstGeom>
          <a:solidFill>
            <a:srgbClr val="12A566"/>
          </a:solidFill>
          <a:ln/>
        </p:spPr>
      </p:sp>
      <p:sp>
        <p:nvSpPr>
          <p:cNvPr id="9" name="Text 7"/>
          <p:cNvSpPr txBox="1"/>
          <p:nvPr/>
        </p:nvSpPr>
        <p:spPr>
          <a:xfrm>
            <a:off x="339242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Its best techs</a:t>
            </a:r>
            <a:endParaRPr lang="en-US" sz="1500" dirty="0"/>
          </a:p>
        </p:txBody>
      </p:sp>
      <p:sp>
        <p:nvSpPr>
          <p:cNvPr id="10" name="Text 8"/>
          <p:cNvSpPr txBox="1"/>
          <p:nvPr/>
        </p:nvSpPr>
        <p:spPr>
          <a:xfrm>
            <a:off x="6260592" y="1298448"/>
            <a:ext cx="1828800" cy="347472"/>
          </a:xfrm>
          <a:prstGeom prst="rect">
            <a:avLst/>
          </a:prstGeom>
          <a:noFill/>
          <a:ln/>
        </p:spPr>
        <p:txBody>
          <a:bodyPr wrap="square" lIns="0" tIns="0" rIns="0" bIns="0" rtlCol="0" anchor="ctr"/>
          <a:lstStyle/>
          <a:p>
            <a:pPr algn="ctr" indent="0" marL="0">
              <a:buNone/>
            </a:pPr>
            <a:r>
              <a:rPr lang="en-US" sz="1400" b="1" spc="80" kern="0" dirty="0">
                <a:solidFill>
                  <a:srgbClr val="0B2C4A"/>
                </a:solidFill>
                <a:latin typeface="Inter" pitchFamily="34" charset="0"/>
                <a:ea typeface="Inter" pitchFamily="34" charset="-122"/>
                <a:cs typeface="Inter" pitchFamily="34" charset="-120"/>
              </a:rPr>
              <a:t>TARGET 85%</a:t>
            </a:r>
            <a:endParaRPr lang="en-US" sz="1400" dirty="0"/>
          </a:p>
        </p:txBody>
      </p:sp>
      <p:sp>
        <p:nvSpPr>
          <p:cNvPr id="11" name="Text 9"/>
          <p:cNvSpPr txBox="1"/>
          <p:nvPr/>
        </p:nvSpPr>
        <p:spPr>
          <a:xfrm>
            <a:off x="685800" y="1783080"/>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 name="Shape 10"/>
          <p:cNvSpPr/>
          <p:nvPr/>
        </p:nvSpPr>
        <p:spPr>
          <a:xfrm>
            <a:off x="2926080" y="1813326"/>
            <a:ext cx="3370700" cy="108884"/>
          </a:xfrm>
          <a:prstGeom prst="rect">
            <a:avLst/>
          </a:prstGeom>
          <a:solidFill>
            <a:srgbClr val="C2352F"/>
          </a:solidFill>
          <a:ln/>
        </p:spPr>
      </p:sp>
      <p:sp>
        <p:nvSpPr>
          <p:cNvPr id="13" name="Text 11"/>
          <p:cNvSpPr txBox="1"/>
          <p:nvPr/>
        </p:nvSpPr>
        <p:spPr>
          <a:xfrm>
            <a:off x="6351644" y="176760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4" name="Shape 12"/>
          <p:cNvSpPr/>
          <p:nvPr/>
        </p:nvSpPr>
        <p:spPr>
          <a:xfrm>
            <a:off x="2926080" y="1940497"/>
            <a:ext cx="3685208" cy="108884"/>
          </a:xfrm>
          <a:prstGeom prst="rect">
            <a:avLst/>
          </a:prstGeom>
          <a:solidFill>
            <a:srgbClr val="C2352F"/>
          </a:solidFill>
          <a:ln/>
        </p:spPr>
      </p:sp>
      <p:sp>
        <p:nvSpPr>
          <p:cNvPr id="15" name="Text 13"/>
          <p:cNvSpPr txBox="1"/>
          <p:nvPr/>
        </p:nvSpPr>
        <p:spPr>
          <a:xfrm>
            <a:off x="6666152" y="189477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16" name="Text 14"/>
          <p:cNvSpPr txBox="1"/>
          <p:nvPr/>
        </p:nvSpPr>
        <p:spPr>
          <a:xfrm>
            <a:off x="685800" y="208553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 name="Shape 15"/>
          <p:cNvSpPr/>
          <p:nvPr/>
        </p:nvSpPr>
        <p:spPr>
          <a:xfrm>
            <a:off x="2926080" y="2115781"/>
            <a:ext cx="3374819" cy="108884"/>
          </a:xfrm>
          <a:prstGeom prst="rect">
            <a:avLst/>
          </a:prstGeom>
          <a:solidFill>
            <a:srgbClr val="C2352F"/>
          </a:solidFill>
          <a:ln/>
        </p:spPr>
      </p:sp>
      <p:sp>
        <p:nvSpPr>
          <p:cNvPr id="18" name="Text 16"/>
          <p:cNvSpPr txBox="1"/>
          <p:nvPr/>
        </p:nvSpPr>
        <p:spPr>
          <a:xfrm>
            <a:off x="6355763" y="2070061"/>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9" name="Shape 17"/>
          <p:cNvSpPr/>
          <p:nvPr/>
        </p:nvSpPr>
        <p:spPr>
          <a:xfrm>
            <a:off x="2926080" y="2242953"/>
            <a:ext cx="4893845" cy="108884"/>
          </a:xfrm>
          <a:prstGeom prst="rect">
            <a:avLst/>
          </a:prstGeom>
          <a:solidFill>
            <a:srgbClr val="12A566"/>
          </a:solidFill>
          <a:ln/>
        </p:spPr>
      </p:sp>
      <p:sp>
        <p:nvSpPr>
          <p:cNvPr id="20" name="Text 18"/>
          <p:cNvSpPr txBox="1"/>
          <p:nvPr/>
        </p:nvSpPr>
        <p:spPr>
          <a:xfrm>
            <a:off x="7874789" y="2197233"/>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685800" y="2387991"/>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2926080" y="2418236"/>
            <a:ext cx="3419949" cy="108884"/>
          </a:xfrm>
          <a:prstGeom prst="rect">
            <a:avLst/>
          </a:prstGeom>
          <a:solidFill>
            <a:srgbClr val="C2352F"/>
          </a:solidFill>
          <a:ln/>
        </p:spPr>
      </p:sp>
      <p:sp>
        <p:nvSpPr>
          <p:cNvPr id="23" name="Text 21"/>
          <p:cNvSpPr txBox="1"/>
          <p:nvPr/>
        </p:nvSpPr>
        <p:spPr>
          <a:xfrm>
            <a:off x="6400893" y="237251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68%</a:t>
            </a:r>
            <a:endParaRPr lang="en-US" sz="1300" dirty="0"/>
          </a:p>
        </p:txBody>
      </p:sp>
      <p:sp>
        <p:nvSpPr>
          <p:cNvPr id="24" name="Shape 22"/>
          <p:cNvSpPr/>
          <p:nvPr/>
        </p:nvSpPr>
        <p:spPr>
          <a:xfrm>
            <a:off x="2926080" y="2545408"/>
            <a:ext cx="4823383" cy="108884"/>
          </a:xfrm>
          <a:prstGeom prst="rect">
            <a:avLst/>
          </a:prstGeom>
          <a:solidFill>
            <a:srgbClr val="12A566"/>
          </a:solidFill>
          <a:ln/>
        </p:spPr>
      </p:sp>
      <p:sp>
        <p:nvSpPr>
          <p:cNvPr id="25" name="Text 23"/>
          <p:cNvSpPr txBox="1"/>
          <p:nvPr/>
        </p:nvSpPr>
        <p:spPr>
          <a:xfrm>
            <a:off x="7804327" y="2499688"/>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26" name="Text 24"/>
          <p:cNvSpPr txBox="1"/>
          <p:nvPr/>
        </p:nvSpPr>
        <p:spPr>
          <a:xfrm>
            <a:off x="685800" y="2690446"/>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7" name="Shape 25"/>
          <p:cNvSpPr/>
          <p:nvPr/>
        </p:nvSpPr>
        <p:spPr>
          <a:xfrm>
            <a:off x="2926080" y="2720692"/>
            <a:ext cx="3450317" cy="108884"/>
          </a:xfrm>
          <a:prstGeom prst="rect">
            <a:avLst/>
          </a:prstGeom>
          <a:solidFill>
            <a:srgbClr val="C2352F"/>
          </a:solidFill>
          <a:ln/>
        </p:spPr>
      </p:sp>
      <p:sp>
        <p:nvSpPr>
          <p:cNvPr id="28" name="Text 26"/>
          <p:cNvSpPr txBox="1"/>
          <p:nvPr/>
        </p:nvSpPr>
        <p:spPr>
          <a:xfrm>
            <a:off x="6431261" y="267497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2926080" y="2847864"/>
            <a:ext cx="6109385" cy="108884"/>
          </a:xfrm>
          <a:prstGeom prst="rect">
            <a:avLst/>
          </a:prstGeom>
          <a:solidFill>
            <a:srgbClr val="12A566"/>
          </a:solidFill>
          <a:ln/>
        </p:spPr>
      </p:sp>
      <p:sp>
        <p:nvSpPr>
          <p:cNvPr id="30" name="Text 28"/>
          <p:cNvSpPr txBox="1"/>
          <p:nvPr/>
        </p:nvSpPr>
        <p:spPr>
          <a:xfrm>
            <a:off x="9090329" y="280214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122%</a:t>
            </a:r>
            <a:endParaRPr lang="en-US" sz="1300" dirty="0"/>
          </a:p>
        </p:txBody>
      </p:sp>
      <p:sp>
        <p:nvSpPr>
          <p:cNvPr id="31" name="Text 29"/>
          <p:cNvSpPr txBox="1"/>
          <p:nvPr/>
        </p:nvSpPr>
        <p:spPr>
          <a:xfrm>
            <a:off x="685800" y="299290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2" name="Shape 30"/>
          <p:cNvSpPr/>
          <p:nvPr/>
        </p:nvSpPr>
        <p:spPr>
          <a:xfrm>
            <a:off x="2926080" y="3023147"/>
            <a:ext cx="3500688" cy="108884"/>
          </a:xfrm>
          <a:prstGeom prst="rect">
            <a:avLst/>
          </a:prstGeom>
          <a:solidFill>
            <a:srgbClr val="C2352F"/>
          </a:solidFill>
          <a:ln/>
        </p:spPr>
      </p:sp>
      <p:sp>
        <p:nvSpPr>
          <p:cNvPr id="33" name="Text 31"/>
          <p:cNvSpPr txBox="1"/>
          <p:nvPr/>
        </p:nvSpPr>
        <p:spPr>
          <a:xfrm>
            <a:off x="6481632" y="297742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70%</a:t>
            </a:r>
            <a:endParaRPr lang="en-US" sz="1300" dirty="0"/>
          </a:p>
        </p:txBody>
      </p:sp>
      <p:sp>
        <p:nvSpPr>
          <p:cNvPr id="34" name="Shape 32"/>
          <p:cNvSpPr/>
          <p:nvPr/>
        </p:nvSpPr>
        <p:spPr>
          <a:xfrm>
            <a:off x="2926080" y="3150319"/>
            <a:ext cx="3805987" cy="108884"/>
          </a:xfrm>
          <a:prstGeom prst="rect">
            <a:avLst/>
          </a:prstGeom>
          <a:solidFill>
            <a:srgbClr val="C2352F"/>
          </a:solidFill>
          <a:ln/>
        </p:spPr>
      </p:sp>
      <p:sp>
        <p:nvSpPr>
          <p:cNvPr id="35" name="Text 33"/>
          <p:cNvSpPr txBox="1"/>
          <p:nvPr/>
        </p:nvSpPr>
        <p:spPr>
          <a:xfrm>
            <a:off x="6786931" y="310459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36" name="Text 34"/>
          <p:cNvSpPr txBox="1"/>
          <p:nvPr/>
        </p:nvSpPr>
        <p:spPr>
          <a:xfrm>
            <a:off x="685800" y="3295357"/>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7" name="Shape 35"/>
          <p:cNvSpPr/>
          <p:nvPr/>
        </p:nvSpPr>
        <p:spPr>
          <a:xfrm>
            <a:off x="2926080" y="3325602"/>
            <a:ext cx="3559153" cy="108884"/>
          </a:xfrm>
          <a:prstGeom prst="rect">
            <a:avLst/>
          </a:prstGeom>
          <a:solidFill>
            <a:srgbClr val="C2352F"/>
          </a:solidFill>
          <a:ln/>
        </p:spPr>
      </p:sp>
      <p:sp>
        <p:nvSpPr>
          <p:cNvPr id="38" name="Text 36"/>
          <p:cNvSpPr txBox="1"/>
          <p:nvPr/>
        </p:nvSpPr>
        <p:spPr>
          <a:xfrm>
            <a:off x="6540097" y="327988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71%</a:t>
            </a:r>
            <a:endParaRPr lang="en-US" sz="1300" dirty="0"/>
          </a:p>
        </p:txBody>
      </p:sp>
      <p:sp>
        <p:nvSpPr>
          <p:cNvPr id="39" name="Shape 37"/>
          <p:cNvSpPr/>
          <p:nvPr/>
        </p:nvSpPr>
        <p:spPr>
          <a:xfrm>
            <a:off x="2926080" y="3452774"/>
            <a:ext cx="6444184" cy="108884"/>
          </a:xfrm>
          <a:prstGeom prst="rect">
            <a:avLst/>
          </a:prstGeom>
          <a:solidFill>
            <a:srgbClr val="12A566"/>
          </a:solidFill>
          <a:ln/>
        </p:spPr>
      </p:sp>
      <p:sp>
        <p:nvSpPr>
          <p:cNvPr id="40" name="Text 38"/>
          <p:cNvSpPr txBox="1"/>
          <p:nvPr/>
        </p:nvSpPr>
        <p:spPr>
          <a:xfrm>
            <a:off x="9425128" y="340705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128%</a:t>
            </a:r>
            <a:endParaRPr lang="en-US" sz="1300" dirty="0"/>
          </a:p>
        </p:txBody>
      </p:sp>
      <p:sp>
        <p:nvSpPr>
          <p:cNvPr id="41" name="Text 39"/>
          <p:cNvSpPr txBox="1"/>
          <p:nvPr/>
        </p:nvSpPr>
        <p:spPr>
          <a:xfrm>
            <a:off x="685800" y="359781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2" name="Shape 40"/>
          <p:cNvSpPr/>
          <p:nvPr/>
        </p:nvSpPr>
        <p:spPr>
          <a:xfrm>
            <a:off x="2926080" y="3628058"/>
            <a:ext cx="3618668" cy="108884"/>
          </a:xfrm>
          <a:prstGeom prst="rect">
            <a:avLst/>
          </a:prstGeom>
          <a:solidFill>
            <a:srgbClr val="C2352F"/>
          </a:solidFill>
          <a:ln/>
        </p:spPr>
      </p:sp>
      <p:sp>
        <p:nvSpPr>
          <p:cNvPr id="43" name="Text 41"/>
          <p:cNvSpPr txBox="1"/>
          <p:nvPr/>
        </p:nvSpPr>
        <p:spPr>
          <a:xfrm>
            <a:off x="6599612" y="3582338"/>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72%</a:t>
            </a:r>
            <a:endParaRPr lang="en-US" sz="1300" dirty="0"/>
          </a:p>
        </p:txBody>
      </p:sp>
      <p:sp>
        <p:nvSpPr>
          <p:cNvPr id="44" name="Shape 42"/>
          <p:cNvSpPr/>
          <p:nvPr/>
        </p:nvSpPr>
        <p:spPr>
          <a:xfrm>
            <a:off x="2926080" y="3755230"/>
            <a:ext cx="4448406" cy="108884"/>
          </a:xfrm>
          <a:prstGeom prst="rect">
            <a:avLst/>
          </a:prstGeom>
          <a:solidFill>
            <a:srgbClr val="12A566"/>
          </a:solidFill>
          <a:ln/>
        </p:spPr>
      </p:sp>
      <p:sp>
        <p:nvSpPr>
          <p:cNvPr id="45" name="Text 43"/>
          <p:cNvSpPr txBox="1"/>
          <p:nvPr/>
        </p:nvSpPr>
        <p:spPr>
          <a:xfrm>
            <a:off x="7429350" y="3709510"/>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88%</a:t>
            </a:r>
            <a:endParaRPr lang="en-US" sz="1300" dirty="0"/>
          </a:p>
        </p:txBody>
      </p:sp>
      <p:sp>
        <p:nvSpPr>
          <p:cNvPr id="46" name="Text 44"/>
          <p:cNvSpPr txBox="1"/>
          <p:nvPr/>
        </p:nvSpPr>
        <p:spPr>
          <a:xfrm>
            <a:off x="685800" y="390026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7" name="Shape 45"/>
          <p:cNvSpPr/>
          <p:nvPr/>
        </p:nvSpPr>
        <p:spPr>
          <a:xfrm>
            <a:off x="2926080" y="3930513"/>
            <a:ext cx="3679421" cy="108884"/>
          </a:xfrm>
          <a:prstGeom prst="rect">
            <a:avLst/>
          </a:prstGeom>
          <a:solidFill>
            <a:srgbClr val="C2352F"/>
          </a:solidFill>
          <a:ln/>
        </p:spPr>
      </p:sp>
      <p:sp>
        <p:nvSpPr>
          <p:cNvPr id="48" name="Text 46"/>
          <p:cNvSpPr txBox="1"/>
          <p:nvPr/>
        </p:nvSpPr>
        <p:spPr>
          <a:xfrm>
            <a:off x="6660365" y="3884793"/>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49" name="Shape 47"/>
          <p:cNvSpPr/>
          <p:nvPr/>
        </p:nvSpPr>
        <p:spPr>
          <a:xfrm>
            <a:off x="2926080" y="4057685"/>
            <a:ext cx="5186331" cy="108884"/>
          </a:xfrm>
          <a:prstGeom prst="rect">
            <a:avLst/>
          </a:prstGeom>
          <a:solidFill>
            <a:srgbClr val="12A566"/>
          </a:solidFill>
          <a:ln/>
        </p:spPr>
      </p:sp>
      <p:sp>
        <p:nvSpPr>
          <p:cNvPr id="50" name="Text 48"/>
          <p:cNvSpPr txBox="1"/>
          <p:nvPr/>
        </p:nvSpPr>
        <p:spPr>
          <a:xfrm>
            <a:off x="8167275" y="4011965"/>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103%</a:t>
            </a:r>
            <a:endParaRPr lang="en-US" sz="1300" dirty="0"/>
          </a:p>
        </p:txBody>
      </p:sp>
      <p:sp>
        <p:nvSpPr>
          <p:cNvPr id="51" name="Text 49"/>
          <p:cNvSpPr txBox="1"/>
          <p:nvPr/>
        </p:nvSpPr>
        <p:spPr>
          <a:xfrm>
            <a:off x="685800" y="4202723"/>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2" name="Shape 50"/>
          <p:cNvSpPr/>
          <p:nvPr/>
        </p:nvSpPr>
        <p:spPr>
          <a:xfrm>
            <a:off x="2926080" y="4232969"/>
            <a:ext cx="3842025" cy="108884"/>
          </a:xfrm>
          <a:prstGeom prst="rect">
            <a:avLst/>
          </a:prstGeom>
          <a:solidFill>
            <a:srgbClr val="C2352F"/>
          </a:solidFill>
          <a:ln/>
        </p:spPr>
      </p:sp>
      <p:sp>
        <p:nvSpPr>
          <p:cNvPr id="53" name="Text 51"/>
          <p:cNvSpPr txBox="1"/>
          <p:nvPr/>
        </p:nvSpPr>
        <p:spPr>
          <a:xfrm>
            <a:off x="6822969" y="418724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54" name="Shape 52"/>
          <p:cNvSpPr/>
          <p:nvPr/>
        </p:nvSpPr>
        <p:spPr>
          <a:xfrm>
            <a:off x="2926080" y="4360141"/>
            <a:ext cx="5036246" cy="108884"/>
          </a:xfrm>
          <a:prstGeom prst="rect">
            <a:avLst/>
          </a:prstGeom>
          <a:solidFill>
            <a:srgbClr val="12A566"/>
          </a:solidFill>
          <a:ln/>
        </p:spPr>
      </p:sp>
      <p:sp>
        <p:nvSpPr>
          <p:cNvPr id="55" name="Text 53"/>
          <p:cNvSpPr txBox="1"/>
          <p:nvPr/>
        </p:nvSpPr>
        <p:spPr>
          <a:xfrm>
            <a:off x="8017190" y="431442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100%</a:t>
            </a:r>
            <a:endParaRPr lang="en-US" sz="1300" dirty="0"/>
          </a:p>
        </p:txBody>
      </p:sp>
      <p:sp>
        <p:nvSpPr>
          <p:cNvPr id="56" name="Text 54"/>
          <p:cNvSpPr txBox="1"/>
          <p:nvPr/>
        </p:nvSpPr>
        <p:spPr>
          <a:xfrm>
            <a:off x="685800" y="450517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7" name="Shape 55"/>
          <p:cNvSpPr/>
          <p:nvPr/>
        </p:nvSpPr>
        <p:spPr>
          <a:xfrm>
            <a:off x="2926080" y="4535424"/>
            <a:ext cx="3926516" cy="108884"/>
          </a:xfrm>
          <a:prstGeom prst="rect">
            <a:avLst/>
          </a:prstGeom>
          <a:solidFill>
            <a:srgbClr val="C2352F"/>
          </a:solidFill>
          <a:ln/>
        </p:spPr>
      </p:sp>
      <p:sp>
        <p:nvSpPr>
          <p:cNvPr id="58" name="Text 56"/>
          <p:cNvSpPr txBox="1"/>
          <p:nvPr/>
        </p:nvSpPr>
        <p:spPr>
          <a:xfrm>
            <a:off x="6907460" y="4489704"/>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59" name="Shape 57"/>
          <p:cNvSpPr/>
          <p:nvPr/>
        </p:nvSpPr>
        <p:spPr>
          <a:xfrm>
            <a:off x="2926080" y="4662596"/>
            <a:ext cx="6544829" cy="108884"/>
          </a:xfrm>
          <a:prstGeom prst="rect">
            <a:avLst/>
          </a:prstGeom>
          <a:solidFill>
            <a:srgbClr val="12A566"/>
          </a:solidFill>
          <a:ln/>
        </p:spPr>
      </p:sp>
      <p:sp>
        <p:nvSpPr>
          <p:cNvPr id="60" name="Text 58"/>
          <p:cNvSpPr txBox="1"/>
          <p:nvPr/>
        </p:nvSpPr>
        <p:spPr>
          <a:xfrm>
            <a:off x="9525773" y="4616876"/>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61" name="Text 59"/>
          <p:cNvSpPr txBox="1"/>
          <p:nvPr/>
        </p:nvSpPr>
        <p:spPr>
          <a:xfrm>
            <a:off x="685800" y="4807634"/>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926080" y="4837879"/>
            <a:ext cx="3940323" cy="108884"/>
          </a:xfrm>
          <a:prstGeom prst="rect">
            <a:avLst/>
          </a:prstGeom>
          <a:solidFill>
            <a:srgbClr val="C2352F"/>
          </a:solidFill>
          <a:ln/>
        </p:spPr>
      </p:sp>
      <p:sp>
        <p:nvSpPr>
          <p:cNvPr id="63" name="Text 61"/>
          <p:cNvSpPr txBox="1"/>
          <p:nvPr/>
        </p:nvSpPr>
        <p:spPr>
          <a:xfrm>
            <a:off x="6921267" y="479215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64" name="Shape 62"/>
          <p:cNvSpPr/>
          <p:nvPr/>
        </p:nvSpPr>
        <p:spPr>
          <a:xfrm>
            <a:off x="2926080" y="4965051"/>
            <a:ext cx="5626092" cy="108884"/>
          </a:xfrm>
          <a:prstGeom prst="rect">
            <a:avLst/>
          </a:prstGeom>
          <a:solidFill>
            <a:srgbClr val="12A566"/>
          </a:solidFill>
          <a:ln/>
        </p:spPr>
      </p:sp>
      <p:sp>
        <p:nvSpPr>
          <p:cNvPr id="65" name="Text 63"/>
          <p:cNvSpPr txBox="1"/>
          <p:nvPr/>
        </p:nvSpPr>
        <p:spPr>
          <a:xfrm>
            <a:off x="8607036" y="491933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112%</a:t>
            </a:r>
            <a:endParaRPr lang="en-US" sz="1300" dirty="0"/>
          </a:p>
        </p:txBody>
      </p:sp>
      <p:sp>
        <p:nvSpPr>
          <p:cNvPr id="66" name="Text 64"/>
          <p:cNvSpPr txBox="1"/>
          <p:nvPr/>
        </p:nvSpPr>
        <p:spPr>
          <a:xfrm>
            <a:off x="685800" y="5110089"/>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2926080" y="5140335"/>
            <a:ext cx="4070292" cy="108884"/>
          </a:xfrm>
          <a:prstGeom prst="rect">
            <a:avLst/>
          </a:prstGeom>
          <a:solidFill>
            <a:srgbClr val="C2352F"/>
          </a:solidFill>
          <a:ln/>
        </p:spPr>
      </p:sp>
      <p:sp>
        <p:nvSpPr>
          <p:cNvPr id="68" name="Text 66"/>
          <p:cNvSpPr txBox="1"/>
          <p:nvPr/>
        </p:nvSpPr>
        <p:spPr>
          <a:xfrm>
            <a:off x="7051236" y="5094615"/>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81%</a:t>
            </a:r>
            <a:endParaRPr lang="en-US" sz="1300" dirty="0"/>
          </a:p>
        </p:txBody>
      </p:sp>
      <p:sp>
        <p:nvSpPr>
          <p:cNvPr id="69" name="Shape 67"/>
          <p:cNvSpPr/>
          <p:nvPr/>
        </p:nvSpPr>
        <p:spPr>
          <a:xfrm>
            <a:off x="2926080" y="5267507"/>
            <a:ext cx="4801707" cy="108884"/>
          </a:xfrm>
          <a:prstGeom prst="rect">
            <a:avLst/>
          </a:prstGeom>
          <a:solidFill>
            <a:srgbClr val="12A566"/>
          </a:solidFill>
          <a:ln/>
        </p:spPr>
      </p:sp>
      <p:sp>
        <p:nvSpPr>
          <p:cNvPr id="70" name="Text 68"/>
          <p:cNvSpPr txBox="1"/>
          <p:nvPr/>
        </p:nvSpPr>
        <p:spPr>
          <a:xfrm>
            <a:off x="7782651" y="5221787"/>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71" name="Text 69"/>
          <p:cNvSpPr txBox="1"/>
          <p:nvPr/>
        </p:nvSpPr>
        <p:spPr>
          <a:xfrm>
            <a:off x="685800" y="541254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2" name="Shape 70"/>
          <p:cNvSpPr/>
          <p:nvPr/>
        </p:nvSpPr>
        <p:spPr>
          <a:xfrm>
            <a:off x="2926080" y="5442790"/>
            <a:ext cx="4180762" cy="108884"/>
          </a:xfrm>
          <a:prstGeom prst="rect">
            <a:avLst/>
          </a:prstGeom>
          <a:solidFill>
            <a:srgbClr val="C2352F"/>
          </a:solidFill>
          <a:ln/>
        </p:spPr>
      </p:sp>
      <p:sp>
        <p:nvSpPr>
          <p:cNvPr id="73" name="Text 71"/>
          <p:cNvSpPr txBox="1"/>
          <p:nvPr/>
        </p:nvSpPr>
        <p:spPr>
          <a:xfrm>
            <a:off x="7161706" y="5397070"/>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74" name="Shape 72"/>
          <p:cNvSpPr/>
          <p:nvPr/>
        </p:nvSpPr>
        <p:spPr>
          <a:xfrm>
            <a:off x="2926080" y="5569962"/>
            <a:ext cx="5879396" cy="108884"/>
          </a:xfrm>
          <a:prstGeom prst="rect">
            <a:avLst/>
          </a:prstGeom>
          <a:solidFill>
            <a:srgbClr val="12A566"/>
          </a:solidFill>
          <a:ln/>
        </p:spPr>
      </p:sp>
      <p:sp>
        <p:nvSpPr>
          <p:cNvPr id="75" name="Text 73"/>
          <p:cNvSpPr txBox="1"/>
          <p:nvPr/>
        </p:nvSpPr>
        <p:spPr>
          <a:xfrm>
            <a:off x="8860340" y="5524242"/>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117%</a:t>
            </a:r>
            <a:endParaRPr lang="en-US" sz="1300" dirty="0"/>
          </a:p>
        </p:txBody>
      </p:sp>
      <p:sp>
        <p:nvSpPr>
          <p:cNvPr id="76" name="Shape 74"/>
          <p:cNvSpPr/>
          <p:nvPr/>
        </p:nvSpPr>
        <p:spPr>
          <a:xfrm>
            <a:off x="7165848" y="1737360"/>
            <a:ext cx="18288" cy="3977640"/>
          </a:xfrm>
          <a:prstGeom prst="rect">
            <a:avLst/>
          </a:prstGeom>
          <a:solidFill>
            <a:srgbClr val="0B2C4A"/>
          </a:solidFill>
          <a:ln/>
        </p:spPr>
      </p:sp>
      <p:sp>
        <p:nvSpPr>
          <p:cNvPr id="77" name="Shape 75"/>
          <p:cNvSpPr/>
          <p:nvPr/>
        </p:nvSpPr>
        <p:spPr>
          <a:xfrm>
            <a:off x="457200" y="6126480"/>
            <a:ext cx="11274552" cy="615696"/>
          </a:xfrm>
          <a:prstGeom prst="rect">
            <a:avLst/>
          </a:prstGeom>
          <a:solidFill>
            <a:srgbClr val="EDF4FA"/>
          </a:solidFill>
          <a:ln/>
        </p:spPr>
      </p:sp>
      <p:sp>
        <p:nvSpPr>
          <p:cNvPr id="78" name="Text 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85800" y="1298448"/>
            <a:ext cx="10789920" cy="365760"/>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Each store under 85%: where the store is today, and where its best quarter of techs already runs.</a:t>
            </a:r>
            <a:endParaRPr lang="en-US" sz="1500" dirty="0"/>
          </a:p>
        </p:txBody>
      </p:sp>
      <p:sp>
        <p:nvSpPr>
          <p:cNvPr id="7" name="Shape 5"/>
          <p:cNvSpPr/>
          <p:nvPr/>
        </p:nvSpPr>
        <p:spPr>
          <a:xfrm>
            <a:off x="685800" y="1755648"/>
            <a:ext cx="2046427" cy="1261872"/>
          </a:xfrm>
          <a:prstGeom prst="rect">
            <a:avLst/>
          </a:prstGeom>
          <a:solidFill>
            <a:srgbClr val="F7F7F7"/>
          </a:solidFill>
          <a:ln/>
        </p:spPr>
      </p:sp>
      <p:sp>
        <p:nvSpPr>
          <p:cNvPr id="8" name="Shape 6"/>
          <p:cNvSpPr/>
          <p:nvPr/>
        </p:nvSpPr>
        <p:spPr>
          <a:xfrm>
            <a:off x="685800" y="1755648"/>
            <a:ext cx="64008" cy="1261872"/>
          </a:xfrm>
          <a:prstGeom prst="rect">
            <a:avLst/>
          </a:prstGeom>
          <a:solidFill>
            <a:srgbClr val="C2352F"/>
          </a:solidFill>
          <a:ln/>
        </p:spPr>
      </p:sp>
      <p:sp>
        <p:nvSpPr>
          <p:cNvPr id="9" name="Text 7"/>
          <p:cNvSpPr txBox="1"/>
          <p:nvPr/>
        </p:nvSpPr>
        <p:spPr>
          <a:xfrm>
            <a:off x="868680"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0" name="Text 8"/>
          <p:cNvSpPr txBox="1"/>
          <p:nvPr/>
        </p:nvSpPr>
        <p:spPr>
          <a:xfrm>
            <a:off x="868680"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1" name="Text 9"/>
          <p:cNvSpPr txBox="1"/>
          <p:nvPr/>
        </p:nvSpPr>
        <p:spPr>
          <a:xfrm>
            <a:off x="868680"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2" name="Text 10"/>
          <p:cNvSpPr txBox="1"/>
          <p:nvPr/>
        </p:nvSpPr>
        <p:spPr>
          <a:xfrm>
            <a:off x="175473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13" name="Text 11"/>
          <p:cNvSpPr txBox="1"/>
          <p:nvPr/>
        </p:nvSpPr>
        <p:spPr>
          <a:xfrm>
            <a:off x="175473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4" name="Text 12"/>
          <p:cNvSpPr txBox="1"/>
          <p:nvPr/>
        </p:nvSpPr>
        <p:spPr>
          <a:xfrm>
            <a:off x="1462126"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5" name="Shape 13"/>
          <p:cNvSpPr/>
          <p:nvPr/>
        </p:nvSpPr>
        <p:spPr>
          <a:xfrm>
            <a:off x="2878531" y="1755648"/>
            <a:ext cx="2046427" cy="1261872"/>
          </a:xfrm>
          <a:prstGeom prst="rect">
            <a:avLst/>
          </a:prstGeom>
          <a:solidFill>
            <a:srgbClr val="F7F7F7"/>
          </a:solidFill>
          <a:ln/>
        </p:spPr>
      </p:sp>
      <p:sp>
        <p:nvSpPr>
          <p:cNvPr id="16" name="Shape 14"/>
          <p:cNvSpPr/>
          <p:nvPr/>
        </p:nvSpPr>
        <p:spPr>
          <a:xfrm>
            <a:off x="2878531" y="1755648"/>
            <a:ext cx="64008" cy="1261872"/>
          </a:xfrm>
          <a:prstGeom prst="rect">
            <a:avLst/>
          </a:prstGeom>
          <a:solidFill>
            <a:srgbClr val="12A566"/>
          </a:solidFill>
          <a:ln/>
        </p:spPr>
      </p:sp>
      <p:sp>
        <p:nvSpPr>
          <p:cNvPr id="17" name="Text 15"/>
          <p:cNvSpPr txBox="1"/>
          <p:nvPr/>
        </p:nvSpPr>
        <p:spPr>
          <a:xfrm>
            <a:off x="3061411"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Text 16"/>
          <p:cNvSpPr txBox="1"/>
          <p:nvPr/>
        </p:nvSpPr>
        <p:spPr>
          <a:xfrm>
            <a:off x="3061411"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9" name="Text 17"/>
          <p:cNvSpPr txBox="1"/>
          <p:nvPr/>
        </p:nvSpPr>
        <p:spPr>
          <a:xfrm>
            <a:off x="3061411"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0" name="Text 18"/>
          <p:cNvSpPr txBox="1"/>
          <p:nvPr/>
        </p:nvSpPr>
        <p:spPr>
          <a:xfrm>
            <a:off x="3947465"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97%</a:t>
            </a:r>
            <a:endParaRPr lang="en-US" sz="2200" dirty="0"/>
          </a:p>
        </p:txBody>
      </p:sp>
      <p:sp>
        <p:nvSpPr>
          <p:cNvPr id="21" name="Text 19"/>
          <p:cNvSpPr txBox="1"/>
          <p:nvPr/>
        </p:nvSpPr>
        <p:spPr>
          <a:xfrm>
            <a:off x="394746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22" name="Text 20"/>
          <p:cNvSpPr txBox="1"/>
          <p:nvPr/>
        </p:nvSpPr>
        <p:spPr>
          <a:xfrm>
            <a:off x="3654857"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23" name="Shape 21"/>
          <p:cNvSpPr/>
          <p:nvPr/>
        </p:nvSpPr>
        <p:spPr>
          <a:xfrm>
            <a:off x="5071262" y="1755648"/>
            <a:ext cx="2046427" cy="1261872"/>
          </a:xfrm>
          <a:prstGeom prst="rect">
            <a:avLst/>
          </a:prstGeom>
          <a:solidFill>
            <a:srgbClr val="F7F7F7"/>
          </a:solidFill>
          <a:ln/>
        </p:spPr>
      </p:sp>
      <p:sp>
        <p:nvSpPr>
          <p:cNvPr id="24" name="Shape 22"/>
          <p:cNvSpPr/>
          <p:nvPr/>
        </p:nvSpPr>
        <p:spPr>
          <a:xfrm>
            <a:off x="5071262" y="1755648"/>
            <a:ext cx="64008" cy="1261872"/>
          </a:xfrm>
          <a:prstGeom prst="rect">
            <a:avLst/>
          </a:prstGeom>
          <a:solidFill>
            <a:srgbClr val="12A566"/>
          </a:solidFill>
          <a:ln/>
        </p:spPr>
      </p:sp>
      <p:sp>
        <p:nvSpPr>
          <p:cNvPr id="25" name="Text 23"/>
          <p:cNvSpPr txBox="1"/>
          <p:nvPr/>
        </p:nvSpPr>
        <p:spPr>
          <a:xfrm>
            <a:off x="5254142"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Text 24"/>
          <p:cNvSpPr txBox="1"/>
          <p:nvPr/>
        </p:nvSpPr>
        <p:spPr>
          <a:xfrm>
            <a:off x="5254142"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68%</a:t>
            </a:r>
            <a:endParaRPr lang="en-US" sz="2200" dirty="0"/>
          </a:p>
        </p:txBody>
      </p:sp>
      <p:sp>
        <p:nvSpPr>
          <p:cNvPr id="27" name="Text 25"/>
          <p:cNvSpPr txBox="1"/>
          <p:nvPr/>
        </p:nvSpPr>
        <p:spPr>
          <a:xfrm>
            <a:off x="5254142"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8" name="Text 26"/>
          <p:cNvSpPr txBox="1"/>
          <p:nvPr/>
        </p:nvSpPr>
        <p:spPr>
          <a:xfrm>
            <a:off x="6140196"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29" name="Text 27"/>
          <p:cNvSpPr txBox="1"/>
          <p:nvPr/>
        </p:nvSpPr>
        <p:spPr>
          <a:xfrm>
            <a:off x="6140196"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0" name="Text 28"/>
          <p:cNvSpPr txBox="1"/>
          <p:nvPr/>
        </p:nvSpPr>
        <p:spPr>
          <a:xfrm>
            <a:off x="5847588"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1" name="Shape 29"/>
          <p:cNvSpPr/>
          <p:nvPr/>
        </p:nvSpPr>
        <p:spPr>
          <a:xfrm>
            <a:off x="7263994" y="1755648"/>
            <a:ext cx="2046427" cy="1261872"/>
          </a:xfrm>
          <a:prstGeom prst="rect">
            <a:avLst/>
          </a:prstGeom>
          <a:solidFill>
            <a:srgbClr val="F7F7F7"/>
          </a:solidFill>
          <a:ln/>
        </p:spPr>
      </p:sp>
      <p:sp>
        <p:nvSpPr>
          <p:cNvPr id="32" name="Shape 30"/>
          <p:cNvSpPr/>
          <p:nvPr/>
        </p:nvSpPr>
        <p:spPr>
          <a:xfrm>
            <a:off x="7263994" y="1755648"/>
            <a:ext cx="64008" cy="1261872"/>
          </a:xfrm>
          <a:prstGeom prst="rect">
            <a:avLst/>
          </a:prstGeom>
          <a:solidFill>
            <a:srgbClr val="12A566"/>
          </a:solidFill>
          <a:ln/>
        </p:spPr>
      </p:sp>
      <p:sp>
        <p:nvSpPr>
          <p:cNvPr id="33" name="Text 31"/>
          <p:cNvSpPr txBox="1"/>
          <p:nvPr/>
        </p:nvSpPr>
        <p:spPr>
          <a:xfrm>
            <a:off x="7446874"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4" name="Text 32"/>
          <p:cNvSpPr txBox="1"/>
          <p:nvPr/>
        </p:nvSpPr>
        <p:spPr>
          <a:xfrm>
            <a:off x="744687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69%</a:t>
            </a:r>
            <a:endParaRPr lang="en-US" sz="2200" dirty="0"/>
          </a:p>
        </p:txBody>
      </p:sp>
      <p:sp>
        <p:nvSpPr>
          <p:cNvPr id="35" name="Text 33"/>
          <p:cNvSpPr txBox="1"/>
          <p:nvPr/>
        </p:nvSpPr>
        <p:spPr>
          <a:xfrm>
            <a:off x="744687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36" name="Text 34"/>
          <p:cNvSpPr txBox="1"/>
          <p:nvPr/>
        </p:nvSpPr>
        <p:spPr>
          <a:xfrm>
            <a:off x="8332927"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122%</a:t>
            </a:r>
            <a:endParaRPr lang="en-US" sz="2200" dirty="0"/>
          </a:p>
        </p:txBody>
      </p:sp>
      <p:sp>
        <p:nvSpPr>
          <p:cNvPr id="37" name="Text 35"/>
          <p:cNvSpPr txBox="1"/>
          <p:nvPr/>
        </p:nvSpPr>
        <p:spPr>
          <a:xfrm>
            <a:off x="8332927"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8" name="Text 36"/>
          <p:cNvSpPr txBox="1"/>
          <p:nvPr/>
        </p:nvSpPr>
        <p:spPr>
          <a:xfrm>
            <a:off x="8040319"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9" name="Shape 37"/>
          <p:cNvSpPr/>
          <p:nvPr/>
        </p:nvSpPr>
        <p:spPr>
          <a:xfrm>
            <a:off x="9456725" y="1755648"/>
            <a:ext cx="2046427" cy="1261872"/>
          </a:xfrm>
          <a:prstGeom prst="rect">
            <a:avLst/>
          </a:prstGeom>
          <a:solidFill>
            <a:srgbClr val="F7F7F7"/>
          </a:solidFill>
          <a:ln/>
        </p:spPr>
      </p:sp>
      <p:sp>
        <p:nvSpPr>
          <p:cNvPr id="40" name="Shape 38"/>
          <p:cNvSpPr/>
          <p:nvPr/>
        </p:nvSpPr>
        <p:spPr>
          <a:xfrm>
            <a:off x="9456725" y="1755648"/>
            <a:ext cx="64008" cy="1261872"/>
          </a:xfrm>
          <a:prstGeom prst="rect">
            <a:avLst/>
          </a:prstGeom>
          <a:solidFill>
            <a:srgbClr val="C2352F"/>
          </a:solidFill>
          <a:ln/>
        </p:spPr>
      </p:sp>
      <p:sp>
        <p:nvSpPr>
          <p:cNvPr id="41" name="Text 39"/>
          <p:cNvSpPr txBox="1"/>
          <p:nvPr/>
        </p:nvSpPr>
        <p:spPr>
          <a:xfrm>
            <a:off x="9639605"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2" name="Text 40"/>
          <p:cNvSpPr txBox="1"/>
          <p:nvPr/>
        </p:nvSpPr>
        <p:spPr>
          <a:xfrm>
            <a:off x="9639605"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70%</a:t>
            </a:r>
            <a:endParaRPr lang="en-US" sz="2200" dirty="0"/>
          </a:p>
        </p:txBody>
      </p:sp>
      <p:sp>
        <p:nvSpPr>
          <p:cNvPr id="43" name="Text 41"/>
          <p:cNvSpPr txBox="1"/>
          <p:nvPr/>
        </p:nvSpPr>
        <p:spPr>
          <a:xfrm>
            <a:off x="963960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44" name="Text 42"/>
          <p:cNvSpPr txBox="1"/>
          <p:nvPr/>
        </p:nvSpPr>
        <p:spPr>
          <a:xfrm>
            <a:off x="10525658"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45" name="Text 43"/>
          <p:cNvSpPr txBox="1"/>
          <p:nvPr/>
        </p:nvSpPr>
        <p:spPr>
          <a:xfrm>
            <a:off x="10525658"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46" name="Text 44"/>
          <p:cNvSpPr txBox="1"/>
          <p:nvPr/>
        </p:nvSpPr>
        <p:spPr>
          <a:xfrm>
            <a:off x="10233050"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47" name="Shape 45"/>
          <p:cNvSpPr/>
          <p:nvPr/>
        </p:nvSpPr>
        <p:spPr>
          <a:xfrm>
            <a:off x="685800" y="3108960"/>
            <a:ext cx="2046427" cy="1261872"/>
          </a:xfrm>
          <a:prstGeom prst="rect">
            <a:avLst/>
          </a:prstGeom>
          <a:solidFill>
            <a:srgbClr val="F7F7F7"/>
          </a:solidFill>
          <a:ln/>
        </p:spPr>
      </p:sp>
      <p:sp>
        <p:nvSpPr>
          <p:cNvPr id="48" name="Shape 46"/>
          <p:cNvSpPr/>
          <p:nvPr/>
        </p:nvSpPr>
        <p:spPr>
          <a:xfrm>
            <a:off x="685800" y="3108960"/>
            <a:ext cx="64008" cy="1261872"/>
          </a:xfrm>
          <a:prstGeom prst="rect">
            <a:avLst/>
          </a:prstGeom>
          <a:solidFill>
            <a:srgbClr val="12A566"/>
          </a:solidFill>
          <a:ln/>
        </p:spPr>
      </p:sp>
      <p:sp>
        <p:nvSpPr>
          <p:cNvPr id="49" name="Text 47"/>
          <p:cNvSpPr txBox="1"/>
          <p:nvPr/>
        </p:nvSpPr>
        <p:spPr>
          <a:xfrm>
            <a:off x="868680"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0" name="Text 48"/>
          <p:cNvSpPr txBox="1"/>
          <p:nvPr/>
        </p:nvSpPr>
        <p:spPr>
          <a:xfrm>
            <a:off x="868680"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71%</a:t>
            </a:r>
            <a:endParaRPr lang="en-US" sz="2200" dirty="0"/>
          </a:p>
        </p:txBody>
      </p:sp>
      <p:sp>
        <p:nvSpPr>
          <p:cNvPr id="51" name="Text 49"/>
          <p:cNvSpPr txBox="1"/>
          <p:nvPr/>
        </p:nvSpPr>
        <p:spPr>
          <a:xfrm>
            <a:off x="868680"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52" name="Text 50"/>
          <p:cNvSpPr txBox="1"/>
          <p:nvPr/>
        </p:nvSpPr>
        <p:spPr>
          <a:xfrm>
            <a:off x="1754734"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128%</a:t>
            </a:r>
            <a:endParaRPr lang="en-US" sz="2200" dirty="0"/>
          </a:p>
        </p:txBody>
      </p:sp>
      <p:sp>
        <p:nvSpPr>
          <p:cNvPr id="53" name="Text 51"/>
          <p:cNvSpPr txBox="1"/>
          <p:nvPr/>
        </p:nvSpPr>
        <p:spPr>
          <a:xfrm>
            <a:off x="175473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54" name="Text 52"/>
          <p:cNvSpPr txBox="1"/>
          <p:nvPr/>
        </p:nvSpPr>
        <p:spPr>
          <a:xfrm>
            <a:off x="1462126"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55" name="Shape 53"/>
          <p:cNvSpPr/>
          <p:nvPr/>
        </p:nvSpPr>
        <p:spPr>
          <a:xfrm>
            <a:off x="2878531" y="3108960"/>
            <a:ext cx="2046427" cy="1261872"/>
          </a:xfrm>
          <a:prstGeom prst="rect">
            <a:avLst/>
          </a:prstGeom>
          <a:solidFill>
            <a:srgbClr val="F7F7F7"/>
          </a:solidFill>
          <a:ln/>
        </p:spPr>
      </p:sp>
      <p:sp>
        <p:nvSpPr>
          <p:cNvPr id="56" name="Shape 54"/>
          <p:cNvSpPr/>
          <p:nvPr/>
        </p:nvSpPr>
        <p:spPr>
          <a:xfrm>
            <a:off x="2878531" y="3108960"/>
            <a:ext cx="64008" cy="1261872"/>
          </a:xfrm>
          <a:prstGeom prst="rect">
            <a:avLst/>
          </a:prstGeom>
          <a:solidFill>
            <a:srgbClr val="12A566"/>
          </a:solidFill>
          <a:ln/>
        </p:spPr>
      </p:sp>
      <p:sp>
        <p:nvSpPr>
          <p:cNvPr id="57" name="Text 55"/>
          <p:cNvSpPr txBox="1"/>
          <p:nvPr/>
        </p:nvSpPr>
        <p:spPr>
          <a:xfrm>
            <a:off x="3061411"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8" name="Text 56"/>
          <p:cNvSpPr txBox="1"/>
          <p:nvPr/>
        </p:nvSpPr>
        <p:spPr>
          <a:xfrm>
            <a:off x="3061411"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72%</a:t>
            </a:r>
            <a:endParaRPr lang="en-US" sz="2200" dirty="0"/>
          </a:p>
        </p:txBody>
      </p:sp>
      <p:sp>
        <p:nvSpPr>
          <p:cNvPr id="59" name="Text 57"/>
          <p:cNvSpPr txBox="1"/>
          <p:nvPr/>
        </p:nvSpPr>
        <p:spPr>
          <a:xfrm>
            <a:off x="3061411"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0" name="Text 58"/>
          <p:cNvSpPr txBox="1"/>
          <p:nvPr/>
        </p:nvSpPr>
        <p:spPr>
          <a:xfrm>
            <a:off x="3947465"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88%</a:t>
            </a:r>
            <a:endParaRPr lang="en-US" sz="2200" dirty="0"/>
          </a:p>
        </p:txBody>
      </p:sp>
      <p:sp>
        <p:nvSpPr>
          <p:cNvPr id="61" name="Text 59"/>
          <p:cNvSpPr txBox="1"/>
          <p:nvPr/>
        </p:nvSpPr>
        <p:spPr>
          <a:xfrm>
            <a:off x="394746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62" name="Text 60"/>
          <p:cNvSpPr txBox="1"/>
          <p:nvPr/>
        </p:nvSpPr>
        <p:spPr>
          <a:xfrm>
            <a:off x="3654857"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63" name="Shape 61"/>
          <p:cNvSpPr/>
          <p:nvPr/>
        </p:nvSpPr>
        <p:spPr>
          <a:xfrm>
            <a:off x="5071262" y="3108960"/>
            <a:ext cx="2046427" cy="1261872"/>
          </a:xfrm>
          <a:prstGeom prst="rect">
            <a:avLst/>
          </a:prstGeom>
          <a:solidFill>
            <a:srgbClr val="F7F7F7"/>
          </a:solidFill>
          <a:ln/>
        </p:spPr>
      </p:sp>
      <p:sp>
        <p:nvSpPr>
          <p:cNvPr id="64" name="Shape 62"/>
          <p:cNvSpPr/>
          <p:nvPr/>
        </p:nvSpPr>
        <p:spPr>
          <a:xfrm>
            <a:off x="5071262" y="3108960"/>
            <a:ext cx="64008" cy="1261872"/>
          </a:xfrm>
          <a:prstGeom prst="rect">
            <a:avLst/>
          </a:prstGeom>
          <a:solidFill>
            <a:srgbClr val="12A566"/>
          </a:solidFill>
          <a:ln/>
        </p:spPr>
      </p:sp>
      <p:sp>
        <p:nvSpPr>
          <p:cNvPr id="65" name="Text 63"/>
          <p:cNvSpPr txBox="1"/>
          <p:nvPr/>
        </p:nvSpPr>
        <p:spPr>
          <a:xfrm>
            <a:off x="5254142"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Text 64"/>
          <p:cNvSpPr txBox="1"/>
          <p:nvPr/>
        </p:nvSpPr>
        <p:spPr>
          <a:xfrm>
            <a:off x="5254142"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67" name="Text 65"/>
          <p:cNvSpPr txBox="1"/>
          <p:nvPr/>
        </p:nvSpPr>
        <p:spPr>
          <a:xfrm>
            <a:off x="5254142"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8" name="Text 66"/>
          <p:cNvSpPr txBox="1"/>
          <p:nvPr/>
        </p:nvSpPr>
        <p:spPr>
          <a:xfrm>
            <a:off x="6140196"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103%</a:t>
            </a:r>
            <a:endParaRPr lang="en-US" sz="2200" dirty="0"/>
          </a:p>
        </p:txBody>
      </p:sp>
      <p:sp>
        <p:nvSpPr>
          <p:cNvPr id="69" name="Text 67"/>
          <p:cNvSpPr txBox="1"/>
          <p:nvPr/>
        </p:nvSpPr>
        <p:spPr>
          <a:xfrm>
            <a:off x="6140196"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0" name="Text 68"/>
          <p:cNvSpPr txBox="1"/>
          <p:nvPr/>
        </p:nvSpPr>
        <p:spPr>
          <a:xfrm>
            <a:off x="5847588"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1" name="Shape 69"/>
          <p:cNvSpPr/>
          <p:nvPr/>
        </p:nvSpPr>
        <p:spPr>
          <a:xfrm>
            <a:off x="7263994" y="3108960"/>
            <a:ext cx="2046427" cy="1261872"/>
          </a:xfrm>
          <a:prstGeom prst="rect">
            <a:avLst/>
          </a:prstGeom>
          <a:solidFill>
            <a:srgbClr val="F7F7F7"/>
          </a:solidFill>
          <a:ln/>
        </p:spPr>
      </p:sp>
      <p:sp>
        <p:nvSpPr>
          <p:cNvPr id="72" name="Shape 70"/>
          <p:cNvSpPr/>
          <p:nvPr/>
        </p:nvSpPr>
        <p:spPr>
          <a:xfrm>
            <a:off x="7263994" y="3108960"/>
            <a:ext cx="64008" cy="1261872"/>
          </a:xfrm>
          <a:prstGeom prst="rect">
            <a:avLst/>
          </a:prstGeom>
          <a:solidFill>
            <a:srgbClr val="12A566"/>
          </a:solidFill>
          <a:ln/>
        </p:spPr>
      </p:sp>
      <p:sp>
        <p:nvSpPr>
          <p:cNvPr id="73" name="Text 71"/>
          <p:cNvSpPr txBox="1"/>
          <p:nvPr/>
        </p:nvSpPr>
        <p:spPr>
          <a:xfrm>
            <a:off x="7446874"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4" name="Text 72"/>
          <p:cNvSpPr txBox="1"/>
          <p:nvPr/>
        </p:nvSpPr>
        <p:spPr>
          <a:xfrm>
            <a:off x="7446874"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75" name="Text 73"/>
          <p:cNvSpPr txBox="1"/>
          <p:nvPr/>
        </p:nvSpPr>
        <p:spPr>
          <a:xfrm>
            <a:off x="744687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76" name="Text 74"/>
          <p:cNvSpPr txBox="1"/>
          <p:nvPr/>
        </p:nvSpPr>
        <p:spPr>
          <a:xfrm>
            <a:off x="8332927"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100%</a:t>
            </a:r>
            <a:endParaRPr lang="en-US" sz="2200" dirty="0"/>
          </a:p>
        </p:txBody>
      </p:sp>
      <p:sp>
        <p:nvSpPr>
          <p:cNvPr id="77" name="Text 75"/>
          <p:cNvSpPr txBox="1"/>
          <p:nvPr/>
        </p:nvSpPr>
        <p:spPr>
          <a:xfrm>
            <a:off x="8332927"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8" name="Text 76"/>
          <p:cNvSpPr txBox="1"/>
          <p:nvPr/>
        </p:nvSpPr>
        <p:spPr>
          <a:xfrm>
            <a:off x="8040319"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9" name="Shape 77"/>
          <p:cNvSpPr/>
          <p:nvPr/>
        </p:nvSpPr>
        <p:spPr>
          <a:xfrm>
            <a:off x="9456725" y="3108960"/>
            <a:ext cx="2046427" cy="1261872"/>
          </a:xfrm>
          <a:prstGeom prst="rect">
            <a:avLst/>
          </a:prstGeom>
          <a:solidFill>
            <a:srgbClr val="F7F7F7"/>
          </a:solidFill>
          <a:ln/>
        </p:spPr>
      </p:sp>
      <p:sp>
        <p:nvSpPr>
          <p:cNvPr id="80" name="Shape 78"/>
          <p:cNvSpPr/>
          <p:nvPr/>
        </p:nvSpPr>
        <p:spPr>
          <a:xfrm>
            <a:off x="9456725" y="3108960"/>
            <a:ext cx="64008" cy="1261872"/>
          </a:xfrm>
          <a:prstGeom prst="rect">
            <a:avLst/>
          </a:prstGeom>
          <a:solidFill>
            <a:srgbClr val="12A566"/>
          </a:solidFill>
          <a:ln/>
        </p:spPr>
      </p:sp>
      <p:sp>
        <p:nvSpPr>
          <p:cNvPr id="81" name="Text 79"/>
          <p:cNvSpPr txBox="1"/>
          <p:nvPr/>
        </p:nvSpPr>
        <p:spPr>
          <a:xfrm>
            <a:off x="9639605"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Text 80"/>
          <p:cNvSpPr txBox="1"/>
          <p:nvPr/>
        </p:nvSpPr>
        <p:spPr>
          <a:xfrm>
            <a:off x="9639605"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83" name="Text 81"/>
          <p:cNvSpPr txBox="1"/>
          <p:nvPr/>
        </p:nvSpPr>
        <p:spPr>
          <a:xfrm>
            <a:off x="963960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84" name="Text 82"/>
          <p:cNvSpPr txBox="1"/>
          <p:nvPr/>
        </p:nvSpPr>
        <p:spPr>
          <a:xfrm>
            <a:off x="10525658"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130%</a:t>
            </a:r>
            <a:endParaRPr lang="en-US" sz="2200" dirty="0"/>
          </a:p>
        </p:txBody>
      </p:sp>
      <p:sp>
        <p:nvSpPr>
          <p:cNvPr id="85" name="Text 83"/>
          <p:cNvSpPr txBox="1"/>
          <p:nvPr/>
        </p:nvSpPr>
        <p:spPr>
          <a:xfrm>
            <a:off x="10525658"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86" name="Text 84"/>
          <p:cNvSpPr txBox="1"/>
          <p:nvPr/>
        </p:nvSpPr>
        <p:spPr>
          <a:xfrm>
            <a:off x="10233050"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87" name="Shape 85"/>
          <p:cNvSpPr/>
          <p:nvPr/>
        </p:nvSpPr>
        <p:spPr>
          <a:xfrm>
            <a:off x="685800" y="4462272"/>
            <a:ext cx="2046427" cy="1261872"/>
          </a:xfrm>
          <a:prstGeom prst="rect">
            <a:avLst/>
          </a:prstGeom>
          <a:solidFill>
            <a:srgbClr val="F7F7F7"/>
          </a:solidFill>
          <a:ln/>
        </p:spPr>
      </p:sp>
      <p:sp>
        <p:nvSpPr>
          <p:cNvPr id="88" name="Shape 86"/>
          <p:cNvSpPr/>
          <p:nvPr/>
        </p:nvSpPr>
        <p:spPr>
          <a:xfrm>
            <a:off x="685800" y="4462272"/>
            <a:ext cx="64008" cy="1261872"/>
          </a:xfrm>
          <a:prstGeom prst="rect">
            <a:avLst/>
          </a:prstGeom>
          <a:solidFill>
            <a:srgbClr val="12A566"/>
          </a:solidFill>
          <a:ln/>
        </p:spPr>
      </p:sp>
      <p:sp>
        <p:nvSpPr>
          <p:cNvPr id="89" name="Text 87"/>
          <p:cNvSpPr txBox="1"/>
          <p:nvPr/>
        </p:nvSpPr>
        <p:spPr>
          <a:xfrm>
            <a:off x="868680"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0" name="Text 88"/>
          <p:cNvSpPr txBox="1"/>
          <p:nvPr/>
        </p:nvSpPr>
        <p:spPr>
          <a:xfrm>
            <a:off x="868680"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91" name="Text 89"/>
          <p:cNvSpPr txBox="1"/>
          <p:nvPr/>
        </p:nvSpPr>
        <p:spPr>
          <a:xfrm>
            <a:off x="868680"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92" name="Text 90"/>
          <p:cNvSpPr txBox="1"/>
          <p:nvPr/>
        </p:nvSpPr>
        <p:spPr>
          <a:xfrm>
            <a:off x="1754734"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112%</a:t>
            </a:r>
            <a:endParaRPr lang="en-US" sz="2200" dirty="0"/>
          </a:p>
        </p:txBody>
      </p:sp>
      <p:sp>
        <p:nvSpPr>
          <p:cNvPr id="93" name="Text 91"/>
          <p:cNvSpPr txBox="1"/>
          <p:nvPr/>
        </p:nvSpPr>
        <p:spPr>
          <a:xfrm>
            <a:off x="1754734"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94" name="Text 92"/>
          <p:cNvSpPr txBox="1"/>
          <p:nvPr/>
        </p:nvSpPr>
        <p:spPr>
          <a:xfrm>
            <a:off x="1462126"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95" name="Shape 93"/>
          <p:cNvSpPr/>
          <p:nvPr/>
        </p:nvSpPr>
        <p:spPr>
          <a:xfrm>
            <a:off x="2878531" y="4462272"/>
            <a:ext cx="2046427" cy="1261872"/>
          </a:xfrm>
          <a:prstGeom prst="rect">
            <a:avLst/>
          </a:prstGeom>
          <a:solidFill>
            <a:srgbClr val="F7F7F7"/>
          </a:solidFill>
          <a:ln/>
        </p:spPr>
      </p:sp>
      <p:sp>
        <p:nvSpPr>
          <p:cNvPr id="96" name="Shape 94"/>
          <p:cNvSpPr/>
          <p:nvPr/>
        </p:nvSpPr>
        <p:spPr>
          <a:xfrm>
            <a:off x="2878531" y="4462272"/>
            <a:ext cx="64008" cy="1261872"/>
          </a:xfrm>
          <a:prstGeom prst="rect">
            <a:avLst/>
          </a:prstGeom>
          <a:solidFill>
            <a:srgbClr val="12A566"/>
          </a:solidFill>
          <a:ln/>
        </p:spPr>
      </p:sp>
      <p:sp>
        <p:nvSpPr>
          <p:cNvPr id="97" name="Text 95"/>
          <p:cNvSpPr txBox="1"/>
          <p:nvPr/>
        </p:nvSpPr>
        <p:spPr>
          <a:xfrm>
            <a:off x="3061411"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8" name="Text 96"/>
          <p:cNvSpPr txBox="1"/>
          <p:nvPr/>
        </p:nvSpPr>
        <p:spPr>
          <a:xfrm>
            <a:off x="3061411"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81%</a:t>
            </a:r>
            <a:endParaRPr lang="en-US" sz="2200" dirty="0"/>
          </a:p>
        </p:txBody>
      </p:sp>
      <p:sp>
        <p:nvSpPr>
          <p:cNvPr id="99" name="Text 97"/>
          <p:cNvSpPr txBox="1"/>
          <p:nvPr/>
        </p:nvSpPr>
        <p:spPr>
          <a:xfrm>
            <a:off x="3061411"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0" name="Text 98"/>
          <p:cNvSpPr txBox="1"/>
          <p:nvPr/>
        </p:nvSpPr>
        <p:spPr>
          <a:xfrm>
            <a:off x="3947465"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101" name="Text 99"/>
          <p:cNvSpPr txBox="1"/>
          <p:nvPr/>
        </p:nvSpPr>
        <p:spPr>
          <a:xfrm>
            <a:off x="3947465"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02" name="Text 100"/>
          <p:cNvSpPr txBox="1"/>
          <p:nvPr/>
        </p:nvSpPr>
        <p:spPr>
          <a:xfrm>
            <a:off x="3654857"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03" name="Shape 101"/>
          <p:cNvSpPr/>
          <p:nvPr/>
        </p:nvSpPr>
        <p:spPr>
          <a:xfrm>
            <a:off x="5071262" y="4462272"/>
            <a:ext cx="2046427" cy="1261872"/>
          </a:xfrm>
          <a:prstGeom prst="rect">
            <a:avLst/>
          </a:prstGeom>
          <a:solidFill>
            <a:srgbClr val="F7F7F7"/>
          </a:solidFill>
          <a:ln/>
        </p:spPr>
      </p:sp>
      <p:sp>
        <p:nvSpPr>
          <p:cNvPr id="104" name="Shape 102"/>
          <p:cNvSpPr/>
          <p:nvPr/>
        </p:nvSpPr>
        <p:spPr>
          <a:xfrm>
            <a:off x="5071262" y="4462272"/>
            <a:ext cx="64008" cy="1261872"/>
          </a:xfrm>
          <a:prstGeom prst="rect">
            <a:avLst/>
          </a:prstGeom>
          <a:solidFill>
            <a:srgbClr val="12A566"/>
          </a:solidFill>
          <a:ln/>
        </p:spPr>
      </p:sp>
      <p:sp>
        <p:nvSpPr>
          <p:cNvPr id="105" name="Text 103"/>
          <p:cNvSpPr txBox="1"/>
          <p:nvPr/>
        </p:nvSpPr>
        <p:spPr>
          <a:xfrm>
            <a:off x="5254142"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6" name="Text 104"/>
          <p:cNvSpPr txBox="1"/>
          <p:nvPr/>
        </p:nvSpPr>
        <p:spPr>
          <a:xfrm>
            <a:off x="5254142"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83%</a:t>
            </a:r>
            <a:endParaRPr lang="en-US" sz="2200" dirty="0"/>
          </a:p>
        </p:txBody>
      </p:sp>
      <p:sp>
        <p:nvSpPr>
          <p:cNvPr id="107" name="Text 105"/>
          <p:cNvSpPr txBox="1"/>
          <p:nvPr/>
        </p:nvSpPr>
        <p:spPr>
          <a:xfrm>
            <a:off x="5254142"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8" name="Text 106"/>
          <p:cNvSpPr txBox="1"/>
          <p:nvPr/>
        </p:nvSpPr>
        <p:spPr>
          <a:xfrm>
            <a:off x="6140196"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117%</a:t>
            </a:r>
            <a:endParaRPr lang="en-US" sz="2200" dirty="0"/>
          </a:p>
        </p:txBody>
      </p:sp>
      <p:sp>
        <p:nvSpPr>
          <p:cNvPr id="109" name="Text 107"/>
          <p:cNvSpPr txBox="1"/>
          <p:nvPr/>
        </p:nvSpPr>
        <p:spPr>
          <a:xfrm>
            <a:off x="6140196"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10" name="Text 108"/>
          <p:cNvSpPr txBox="1"/>
          <p:nvPr/>
        </p:nvSpPr>
        <p:spPr>
          <a:xfrm>
            <a:off x="5847588"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11" name="Shape 109"/>
          <p:cNvSpPr/>
          <p:nvPr/>
        </p:nvSpPr>
        <p:spPr>
          <a:xfrm>
            <a:off x="457200" y="6126480"/>
            <a:ext cx="11274552" cy="615696"/>
          </a:xfrm>
          <a:prstGeom prst="rect">
            <a:avLst/>
          </a:prstGeom>
          <a:solidFill>
            <a:srgbClr val="EDF4FA"/>
          </a:solidFill>
          <a:ln/>
        </p:spPr>
      </p:sp>
      <p:sp>
        <p:nvSpPr>
          <p:cNvPr id="112" name="Text 1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2026-10-21T23:13:56Z</dcterms:created>
  <dcterms:modified xsi:type="dcterms:W3CDTF">2026-10-21T23:13:56Z</dcterms:modified>
</cp:coreProperties>
</file>