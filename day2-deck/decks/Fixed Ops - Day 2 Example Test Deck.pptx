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00.xml" ContentType="application/vnd.openxmlformats-officedocument.drawingml.chart+xml"/>
  <Override PartName="/ppt/charts/chart101.xml" ContentType="application/vnd.openxmlformats-officedocument.drawingml.chart+xml"/>
  <Override PartName="/ppt/charts/chart102.xml" ContentType="application/vnd.openxmlformats-officedocument.drawingml.chart+xml"/>
  <Override PartName="/ppt/charts/chart103.xml" ContentType="application/vnd.openxmlformats-officedocument.drawingml.chart+xml"/>
  <Override PartName="/ppt/charts/chart104.xml" ContentType="application/vnd.openxmlformats-officedocument.drawingml.chart+xml"/>
  <Override PartName="/ppt/charts/chart105.xml" ContentType="application/vnd.openxmlformats-officedocument.drawingml.chart+xml"/>
  <Override PartName="/ppt/charts/chart106.xml" ContentType="application/vnd.openxmlformats-officedocument.drawingml.chart+xml"/>
  <Override PartName="/ppt/charts/chart107.xml" ContentType="application/vnd.openxmlformats-officedocument.drawingml.chart+xml"/>
  <Override PartName="/ppt/charts/chart108.xml" ContentType="application/vnd.openxmlformats-officedocument.drawingml.chart+xml"/>
  <Override PartName="/ppt/charts/chart109.xml" ContentType="application/vnd.openxmlformats-officedocument.drawingml.chart+xml"/>
  <Override PartName="/ppt/charts/chart11.xml" ContentType="application/vnd.openxmlformats-officedocument.drawingml.chart+xml"/>
  <Override PartName="/ppt/charts/chart110.xml" ContentType="application/vnd.openxmlformats-officedocument.drawingml.chart+xml"/>
  <Override PartName="/ppt/charts/chart111.xml" ContentType="application/vnd.openxmlformats-officedocument.drawingml.chart+xml"/>
  <Override PartName="/ppt/charts/chart112.xml" ContentType="application/vnd.openxmlformats-officedocument.drawingml.chart+xml"/>
  <Override PartName="/ppt/charts/chart113.xml" ContentType="application/vnd.openxmlformats-officedocument.drawingml.chart+xml"/>
  <Override PartName="/ppt/charts/chart114.xml" ContentType="application/vnd.openxmlformats-officedocument.drawingml.chart+xml"/>
  <Override PartName="/ppt/charts/chart115.xml" ContentType="application/vnd.openxmlformats-officedocument.drawingml.chart+xml"/>
  <Override PartName="/ppt/charts/chart116.xml" ContentType="application/vnd.openxmlformats-officedocument.drawingml.chart+xml"/>
  <Override PartName="/ppt/charts/chart117.xml" ContentType="application/vnd.openxmlformats-officedocument.drawingml.chart+xml"/>
  <Override PartName="/ppt/charts/chart118.xml" ContentType="application/vnd.openxmlformats-officedocument.drawingml.chart+xml"/>
  <Override PartName="/ppt/charts/chart119.xml" ContentType="application/vnd.openxmlformats-officedocument.drawingml.chart+xml"/>
  <Override PartName="/ppt/charts/chart12.xml" ContentType="application/vnd.openxmlformats-officedocument.drawingml.chart+xml"/>
  <Override PartName="/ppt/charts/chart120.xml" ContentType="application/vnd.openxmlformats-officedocument.drawingml.chart+xml"/>
  <Override PartName="/ppt/charts/chart121.xml" ContentType="application/vnd.openxmlformats-officedocument.drawingml.chart+xml"/>
  <Override PartName="/ppt/charts/chart122.xml" ContentType="application/vnd.openxmlformats-officedocument.drawingml.chart+xml"/>
  <Override PartName="/ppt/charts/chart123.xml" ContentType="application/vnd.openxmlformats-officedocument.drawingml.chart+xml"/>
  <Override PartName="/ppt/charts/chart124.xml" ContentType="application/vnd.openxmlformats-officedocument.drawingml.chart+xml"/>
  <Override PartName="/ppt/charts/chart125.xml" ContentType="application/vnd.openxmlformats-officedocument.drawingml.chart+xml"/>
  <Override PartName="/ppt/charts/chart126.xml" ContentType="application/vnd.openxmlformats-officedocument.drawingml.chart+xml"/>
  <Override PartName="/ppt/charts/chart127.xml" ContentType="application/vnd.openxmlformats-officedocument.drawingml.chart+xml"/>
  <Override PartName="/ppt/charts/chart128.xml" ContentType="application/vnd.openxmlformats-officedocument.drawingml.chart+xml"/>
  <Override PartName="/ppt/charts/chart129.xml" ContentType="application/vnd.openxmlformats-officedocument.drawingml.chart+xml"/>
  <Override PartName="/ppt/charts/chart13.xml" ContentType="application/vnd.openxmlformats-officedocument.drawingml.chart+xml"/>
  <Override PartName="/ppt/charts/chart130.xml" ContentType="application/vnd.openxmlformats-officedocument.drawingml.chart+xml"/>
  <Override PartName="/ppt/charts/chart131.xml" ContentType="application/vnd.openxmlformats-officedocument.drawingml.chart+xml"/>
  <Override PartName="/ppt/charts/chart132.xml" ContentType="application/vnd.openxmlformats-officedocument.drawingml.chart+xml"/>
  <Override PartName="/ppt/charts/chart133.xml" ContentType="application/vnd.openxmlformats-officedocument.drawingml.chart+xml"/>
  <Override PartName="/ppt/charts/chart134.xml" ContentType="application/vnd.openxmlformats-officedocument.drawingml.chart+xml"/>
  <Override PartName="/ppt/charts/chart135.xml" ContentType="application/vnd.openxmlformats-officedocument.drawingml.chart+xml"/>
  <Override PartName="/ppt/charts/chart136.xml" ContentType="application/vnd.openxmlformats-officedocument.drawingml.chart+xml"/>
  <Override PartName="/ppt/charts/chart137.xml" ContentType="application/vnd.openxmlformats-officedocument.drawingml.chart+xml"/>
  <Override PartName="/ppt/charts/chart138.xml" ContentType="application/vnd.openxmlformats-officedocument.drawingml.chart+xml"/>
  <Override PartName="/ppt/charts/chart139.xml" ContentType="application/vnd.openxmlformats-officedocument.drawingml.chart+xml"/>
  <Override PartName="/ppt/charts/chart14.xml" ContentType="application/vnd.openxmlformats-officedocument.drawingml.chart+xml"/>
  <Override PartName="/ppt/charts/chart140.xml" ContentType="application/vnd.openxmlformats-officedocument.drawingml.chart+xml"/>
  <Override PartName="/ppt/charts/chart141.xml" ContentType="application/vnd.openxmlformats-officedocument.drawingml.chart+xml"/>
  <Override PartName="/ppt/charts/chart142.xml" ContentType="application/vnd.openxmlformats-officedocument.drawingml.chart+xml"/>
  <Override PartName="/ppt/charts/chart143.xml" ContentType="application/vnd.openxmlformats-officedocument.drawingml.chart+xml"/>
  <Override PartName="/ppt/charts/chart144.xml" ContentType="application/vnd.openxmlformats-officedocument.drawingml.chart+xml"/>
  <Override PartName="/ppt/charts/chart145.xml" ContentType="application/vnd.openxmlformats-officedocument.drawingml.chart+xml"/>
  <Override PartName="/ppt/charts/chart146.xml" ContentType="application/vnd.openxmlformats-officedocument.drawingml.chart+xml"/>
  <Override PartName="/ppt/charts/chart147.xml" ContentType="application/vnd.openxmlformats-officedocument.drawingml.chart+xml"/>
  <Override PartName="/ppt/charts/chart148.xml" ContentType="application/vnd.openxmlformats-officedocument.drawingml.chart+xml"/>
  <Override PartName="/ppt/charts/chart149.xml" ContentType="application/vnd.openxmlformats-officedocument.drawingml.chart+xml"/>
  <Override PartName="/ppt/charts/chart15.xml" ContentType="application/vnd.openxmlformats-officedocument.drawingml.chart+xml"/>
  <Override PartName="/ppt/charts/chart150.xml" ContentType="application/vnd.openxmlformats-officedocument.drawingml.chart+xml"/>
  <Override PartName="/ppt/charts/chart151.xml" ContentType="application/vnd.openxmlformats-officedocument.drawingml.chart+xml"/>
  <Override PartName="/ppt/charts/chart152.xml" ContentType="application/vnd.openxmlformats-officedocument.drawingml.chart+xml"/>
  <Override PartName="/ppt/charts/chart153.xml" ContentType="application/vnd.openxmlformats-officedocument.drawingml.chart+xml"/>
  <Override PartName="/ppt/charts/chart154.xml" ContentType="application/vnd.openxmlformats-officedocument.drawingml.chart+xml"/>
  <Override PartName="/ppt/charts/chart155.xml" ContentType="application/vnd.openxmlformats-officedocument.drawingml.chart+xml"/>
  <Override PartName="/ppt/charts/chart156.xml" ContentType="application/vnd.openxmlformats-officedocument.drawingml.chart+xml"/>
  <Override PartName="/ppt/charts/chart157.xml" ContentType="application/vnd.openxmlformats-officedocument.drawingml.chart+xml"/>
  <Override PartName="/ppt/charts/chart158.xml" ContentType="application/vnd.openxmlformats-officedocument.drawingml.chart+xml"/>
  <Override PartName="/ppt/charts/chart159.xml" ContentType="application/vnd.openxmlformats-officedocument.drawingml.chart+xml"/>
  <Override PartName="/ppt/charts/chart16.xml" ContentType="application/vnd.openxmlformats-officedocument.drawingml.chart+xml"/>
  <Override PartName="/ppt/charts/chart160.xml" ContentType="application/vnd.openxmlformats-officedocument.drawingml.chart+xml"/>
  <Override PartName="/ppt/charts/chart161.xml" ContentType="application/vnd.openxmlformats-officedocument.drawingml.chart+xml"/>
  <Override PartName="/ppt/charts/chart162.xml" ContentType="application/vnd.openxmlformats-officedocument.drawingml.chart+xml"/>
  <Override PartName="/ppt/charts/chart163.xml" ContentType="application/vnd.openxmlformats-officedocument.drawingml.chart+xml"/>
  <Override PartName="/ppt/charts/chart164.xml" ContentType="application/vnd.openxmlformats-officedocument.drawingml.chart+xml"/>
  <Override PartName="/ppt/charts/chart165.xml" ContentType="application/vnd.openxmlformats-officedocument.drawingml.chart+xml"/>
  <Override PartName="/ppt/charts/chart166.xml" ContentType="application/vnd.openxmlformats-officedocument.drawingml.chart+xml"/>
  <Override PartName="/ppt/charts/chart167.xml" ContentType="application/vnd.openxmlformats-officedocument.drawingml.chart+xml"/>
  <Override PartName="/ppt/charts/chart168.xml" ContentType="application/vnd.openxmlformats-officedocument.drawingml.chart+xml"/>
  <Override PartName="/ppt/charts/chart169.xml" ContentType="application/vnd.openxmlformats-officedocument.drawingml.chart+xml"/>
  <Override PartName="/ppt/charts/chart17.xml" ContentType="application/vnd.openxmlformats-officedocument.drawingml.chart+xml"/>
  <Override PartName="/ppt/charts/chart170.xml" ContentType="application/vnd.openxmlformats-officedocument.drawingml.chart+xml"/>
  <Override PartName="/ppt/charts/chart171.xml" ContentType="application/vnd.openxmlformats-officedocument.drawingml.chart+xml"/>
  <Override PartName="/ppt/charts/chart172.xml" ContentType="application/vnd.openxmlformats-officedocument.drawingml.chart+xml"/>
  <Override PartName="/ppt/charts/chart173.xml" ContentType="application/vnd.openxmlformats-officedocument.drawingml.chart+xml"/>
  <Override PartName="/ppt/charts/chart174.xml" ContentType="application/vnd.openxmlformats-officedocument.drawingml.chart+xml"/>
  <Override PartName="/ppt/charts/chart175.xml" ContentType="application/vnd.openxmlformats-officedocument.drawingml.chart+xml"/>
  <Override PartName="/ppt/charts/chart176.xml" ContentType="application/vnd.openxmlformats-officedocument.drawingml.chart+xml"/>
  <Override PartName="/ppt/charts/chart177.xml" ContentType="application/vnd.openxmlformats-officedocument.drawingml.chart+xml"/>
  <Override PartName="/ppt/charts/chart178.xml" ContentType="application/vnd.openxmlformats-officedocument.drawingml.chart+xml"/>
  <Override PartName="/ppt/charts/chart179.xml" ContentType="application/vnd.openxmlformats-officedocument.drawingml.chart+xml"/>
  <Override PartName="/ppt/charts/chart18.xml" ContentType="application/vnd.openxmlformats-officedocument.drawingml.chart+xml"/>
  <Override PartName="/ppt/charts/chart180.xml" ContentType="application/vnd.openxmlformats-officedocument.drawingml.chart+xml"/>
  <Override PartName="/ppt/charts/chart181.xml" ContentType="application/vnd.openxmlformats-officedocument.drawingml.chart+xml"/>
  <Override PartName="/ppt/charts/chart182.xml" ContentType="application/vnd.openxmlformats-officedocument.drawingml.chart+xml"/>
  <Override PartName="/ppt/charts/chart183.xml" ContentType="application/vnd.openxmlformats-officedocument.drawingml.chart+xml"/>
  <Override PartName="/ppt/charts/chart184.xml" ContentType="application/vnd.openxmlformats-officedocument.drawingml.chart+xml"/>
  <Override PartName="/ppt/charts/chart185.xml" ContentType="application/vnd.openxmlformats-officedocument.drawingml.chart+xml"/>
  <Override PartName="/ppt/charts/chart186.xml" ContentType="application/vnd.openxmlformats-officedocument.drawingml.chart+xml"/>
  <Override PartName="/ppt/charts/chart187.xml" ContentType="application/vnd.openxmlformats-officedocument.drawingml.chart+xml"/>
  <Override PartName="/ppt/charts/chart188.xml" ContentType="application/vnd.openxmlformats-officedocument.drawingml.chart+xml"/>
  <Override PartName="/ppt/charts/chart189.xml" ContentType="application/vnd.openxmlformats-officedocument.drawingml.chart+xml"/>
  <Override PartName="/ppt/charts/chart19.xml" ContentType="application/vnd.openxmlformats-officedocument.drawingml.chart+xml"/>
  <Override PartName="/ppt/charts/chart190.xml" ContentType="application/vnd.openxmlformats-officedocument.drawingml.chart+xml"/>
  <Override PartName="/ppt/charts/chart191.xml" ContentType="application/vnd.openxmlformats-officedocument.drawingml.chart+xml"/>
  <Override PartName="/ppt/charts/chart192.xml" ContentType="application/vnd.openxmlformats-officedocument.drawingml.chart+xml"/>
  <Override PartName="/ppt/charts/chart193.xml" ContentType="application/vnd.openxmlformats-officedocument.drawingml.chart+xml"/>
  <Override PartName="/ppt/charts/chart194.xml" ContentType="application/vnd.openxmlformats-officedocument.drawingml.chart+xml"/>
  <Override PartName="/ppt/charts/chart195.xml" ContentType="application/vnd.openxmlformats-officedocument.drawingml.chart+xml"/>
  <Override PartName="/ppt/charts/chart196.xml" ContentType="application/vnd.openxmlformats-officedocument.drawingml.chart+xml"/>
  <Override PartName="/ppt/charts/chart197.xml" ContentType="application/vnd.openxmlformats-officedocument.drawingml.chart+xml"/>
  <Override PartName="/ppt/charts/chart198.xml" ContentType="application/vnd.openxmlformats-officedocument.drawingml.chart+xml"/>
  <Override PartName="/ppt/charts/chart19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00.xml" ContentType="application/vnd.openxmlformats-officedocument.drawingml.chart+xml"/>
  <Override PartName="/ppt/charts/chart201.xml" ContentType="application/vnd.openxmlformats-officedocument.drawingml.chart+xml"/>
  <Override PartName="/ppt/charts/chart202.xml" ContentType="application/vnd.openxmlformats-officedocument.drawingml.chart+xml"/>
  <Override PartName="/ppt/charts/chart203.xml" ContentType="application/vnd.openxmlformats-officedocument.drawingml.chart+xml"/>
  <Override PartName="/ppt/charts/chart204.xml" ContentType="application/vnd.openxmlformats-officedocument.drawingml.chart+xml"/>
  <Override PartName="/ppt/charts/chart205.xml" ContentType="application/vnd.openxmlformats-officedocument.drawingml.chart+xml"/>
  <Override PartName="/ppt/charts/chart206.xml" ContentType="application/vnd.openxmlformats-officedocument.drawingml.chart+xml"/>
  <Override PartName="/ppt/charts/chart207.xml" ContentType="application/vnd.openxmlformats-officedocument.drawingml.chart+xml"/>
  <Override PartName="/ppt/charts/chart208.xml" ContentType="application/vnd.openxmlformats-officedocument.drawingml.chart+xml"/>
  <Override PartName="/ppt/charts/chart209.xml" ContentType="application/vnd.openxmlformats-officedocument.drawingml.chart+xml"/>
  <Override PartName="/ppt/charts/chart21.xml" ContentType="application/vnd.openxmlformats-officedocument.drawingml.chart+xml"/>
  <Override PartName="/ppt/charts/chart210.xml" ContentType="application/vnd.openxmlformats-officedocument.drawingml.chart+xml"/>
  <Override PartName="/ppt/charts/chart211.xml" ContentType="application/vnd.openxmlformats-officedocument.drawingml.chart+xml"/>
  <Override PartName="/ppt/charts/chart212.xml" ContentType="application/vnd.openxmlformats-officedocument.drawingml.chart+xml"/>
  <Override PartName="/ppt/charts/chart213.xml" ContentType="application/vnd.openxmlformats-officedocument.drawingml.chart+xml"/>
  <Override PartName="/ppt/charts/chart214.xml" ContentType="application/vnd.openxmlformats-officedocument.drawingml.chart+xml"/>
  <Override PartName="/ppt/charts/chart215.xml" ContentType="application/vnd.openxmlformats-officedocument.drawingml.chart+xml"/>
  <Override PartName="/ppt/charts/chart216.xml" ContentType="application/vnd.openxmlformats-officedocument.drawingml.chart+xml"/>
  <Override PartName="/ppt/charts/chart217.xml" ContentType="application/vnd.openxmlformats-officedocument.drawingml.chart+xml"/>
  <Override PartName="/ppt/charts/chart218.xml" ContentType="application/vnd.openxmlformats-officedocument.drawingml.chart+xml"/>
  <Override PartName="/ppt/charts/chart219.xml" ContentType="application/vnd.openxmlformats-officedocument.drawingml.chart+xml"/>
  <Override PartName="/ppt/charts/chart22.xml" ContentType="application/vnd.openxmlformats-officedocument.drawingml.chart+xml"/>
  <Override PartName="/ppt/charts/chart220.xml" ContentType="application/vnd.openxmlformats-officedocument.drawingml.chart+xml"/>
  <Override PartName="/ppt/charts/chart221.xml" ContentType="application/vnd.openxmlformats-officedocument.drawingml.chart+xml"/>
  <Override PartName="/ppt/charts/chart222.xml" ContentType="application/vnd.openxmlformats-officedocument.drawingml.chart+xml"/>
  <Override PartName="/ppt/charts/chart223.xml" ContentType="application/vnd.openxmlformats-officedocument.drawingml.chart+xml"/>
  <Override PartName="/ppt/charts/chart224.xml" ContentType="application/vnd.openxmlformats-officedocument.drawingml.chart+xml"/>
  <Override PartName="/ppt/charts/chart225.xml" ContentType="application/vnd.openxmlformats-officedocument.drawingml.chart+xml"/>
  <Override PartName="/ppt/charts/chart226.xml" ContentType="application/vnd.openxmlformats-officedocument.drawingml.chart+xml"/>
  <Override PartName="/ppt/charts/chart227.xml" ContentType="application/vnd.openxmlformats-officedocument.drawingml.chart+xml"/>
  <Override PartName="/ppt/charts/chart228.xml" ContentType="application/vnd.openxmlformats-officedocument.drawingml.chart+xml"/>
  <Override PartName="/ppt/charts/chart229.xml" ContentType="application/vnd.openxmlformats-officedocument.drawingml.chart+xml"/>
  <Override PartName="/ppt/charts/chart23.xml" ContentType="application/vnd.openxmlformats-officedocument.drawingml.chart+xml"/>
  <Override PartName="/ppt/charts/chart230.xml" ContentType="application/vnd.openxmlformats-officedocument.drawingml.chart+xml"/>
  <Override PartName="/ppt/charts/chart231.xml" ContentType="application/vnd.openxmlformats-officedocument.drawingml.chart+xml"/>
  <Override PartName="/ppt/charts/chart232.xml" ContentType="application/vnd.openxmlformats-officedocument.drawingml.chart+xml"/>
  <Override PartName="/ppt/charts/chart233.xml" ContentType="application/vnd.openxmlformats-officedocument.drawingml.chart+xml"/>
  <Override PartName="/ppt/charts/chart234.xml" ContentType="application/vnd.openxmlformats-officedocument.drawingml.chart+xml"/>
  <Override PartName="/ppt/charts/chart235.xml" ContentType="application/vnd.openxmlformats-officedocument.drawingml.chart+xml"/>
  <Override PartName="/ppt/charts/chart236.xml" ContentType="application/vnd.openxmlformats-officedocument.drawingml.chart+xml"/>
  <Override PartName="/ppt/charts/chart237.xml" ContentType="application/vnd.openxmlformats-officedocument.drawingml.chart+xml"/>
  <Override PartName="/ppt/charts/chart238.xml" ContentType="application/vnd.openxmlformats-officedocument.drawingml.chart+xml"/>
  <Override PartName="/ppt/charts/chart239.xml" ContentType="application/vnd.openxmlformats-officedocument.drawingml.chart+xml"/>
  <Override PartName="/ppt/charts/chart24.xml" ContentType="application/vnd.openxmlformats-officedocument.drawingml.chart+xml"/>
  <Override PartName="/ppt/charts/chart240.xml" ContentType="application/vnd.openxmlformats-officedocument.drawingml.chart+xml"/>
  <Override PartName="/ppt/charts/chart241.xml" ContentType="application/vnd.openxmlformats-officedocument.drawingml.chart+xml"/>
  <Override PartName="/ppt/charts/chart242.xml" ContentType="application/vnd.openxmlformats-officedocument.drawingml.chart+xml"/>
  <Override PartName="/ppt/charts/chart243.xml" ContentType="application/vnd.openxmlformats-officedocument.drawingml.chart+xml"/>
  <Override PartName="/ppt/charts/chart244.xml" ContentType="application/vnd.openxmlformats-officedocument.drawingml.chart+xml"/>
  <Override PartName="/ppt/charts/chart245.xml" ContentType="application/vnd.openxmlformats-officedocument.drawingml.chart+xml"/>
  <Override PartName="/ppt/charts/chart246.xml" ContentType="application/vnd.openxmlformats-officedocument.drawingml.chart+xml"/>
  <Override PartName="/ppt/charts/chart247.xml" ContentType="application/vnd.openxmlformats-officedocument.drawingml.chart+xml"/>
  <Override PartName="/ppt/charts/chart248.xml" ContentType="application/vnd.openxmlformats-officedocument.drawingml.chart+xml"/>
  <Override PartName="/ppt/charts/chart249.xml" ContentType="application/vnd.openxmlformats-officedocument.drawingml.chart+xml"/>
  <Override PartName="/ppt/charts/chart25.xml" ContentType="application/vnd.openxmlformats-officedocument.drawingml.chart+xml"/>
  <Override PartName="/ppt/charts/chart250.xml" ContentType="application/vnd.openxmlformats-officedocument.drawingml.chart+xml"/>
  <Override PartName="/ppt/charts/chart251.xml" ContentType="application/vnd.openxmlformats-officedocument.drawingml.chart+xml"/>
  <Override PartName="/ppt/charts/chart252.xml" ContentType="application/vnd.openxmlformats-officedocument.drawingml.chart+xml"/>
  <Override PartName="/ppt/charts/chart253.xml" ContentType="application/vnd.openxmlformats-officedocument.drawingml.chart+xml"/>
  <Override PartName="/ppt/charts/chart254.xml" ContentType="application/vnd.openxmlformats-officedocument.drawingml.chart+xml"/>
  <Override PartName="/ppt/charts/chart255.xml" ContentType="application/vnd.openxmlformats-officedocument.drawingml.chart+xml"/>
  <Override PartName="/ppt/charts/chart256.xml" ContentType="application/vnd.openxmlformats-officedocument.drawingml.chart+xml"/>
  <Override PartName="/ppt/charts/chart257.xml" ContentType="application/vnd.openxmlformats-officedocument.drawingml.chart+xml"/>
  <Override PartName="/ppt/charts/chart258.xml" ContentType="application/vnd.openxmlformats-officedocument.drawingml.chart+xml"/>
  <Override PartName="/ppt/charts/chart259.xml" ContentType="application/vnd.openxmlformats-officedocument.drawingml.chart+xml"/>
  <Override PartName="/ppt/charts/chart26.xml" ContentType="application/vnd.openxmlformats-officedocument.drawingml.chart+xml"/>
  <Override PartName="/ppt/charts/chart260.xml" ContentType="application/vnd.openxmlformats-officedocument.drawingml.chart+xml"/>
  <Override PartName="/ppt/charts/chart261.xml" ContentType="application/vnd.openxmlformats-officedocument.drawingml.chart+xml"/>
  <Override PartName="/ppt/charts/chart262.xml" ContentType="application/vnd.openxmlformats-officedocument.drawingml.chart+xml"/>
  <Override PartName="/ppt/charts/chart263.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charts/chart55.xml" ContentType="application/vnd.openxmlformats-officedocument.drawingml.chart+xml"/>
  <Override PartName="/ppt/charts/chart56.xml" ContentType="application/vnd.openxmlformats-officedocument.drawingml.chart+xml"/>
  <Override PartName="/ppt/charts/chart57.xml" ContentType="application/vnd.openxmlformats-officedocument.drawingml.chart+xml"/>
  <Override PartName="/ppt/charts/chart58.xml" ContentType="application/vnd.openxmlformats-officedocument.drawingml.chart+xml"/>
  <Override PartName="/ppt/charts/chart59.xml" ContentType="application/vnd.openxmlformats-officedocument.drawingml.chart+xml"/>
  <Override PartName="/ppt/charts/chart6.xml" ContentType="application/vnd.openxmlformats-officedocument.drawingml.chart+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63.xml" ContentType="application/vnd.openxmlformats-officedocument.drawingml.chart+xml"/>
  <Override PartName="/ppt/charts/chart64.xml" ContentType="application/vnd.openxmlformats-officedocument.drawingml.chart+xml"/>
  <Override PartName="/ppt/charts/chart65.xml" ContentType="application/vnd.openxmlformats-officedocument.drawingml.chart+xml"/>
  <Override PartName="/ppt/charts/chart66.xml" ContentType="application/vnd.openxmlformats-officedocument.drawingml.chart+xml"/>
  <Override PartName="/ppt/charts/chart67.xml" ContentType="application/vnd.openxmlformats-officedocument.drawingml.chart+xml"/>
  <Override PartName="/ppt/charts/chart68.xml" ContentType="application/vnd.openxmlformats-officedocument.drawingml.chart+xml"/>
  <Override PartName="/ppt/charts/chart69.xml" ContentType="application/vnd.openxmlformats-officedocument.drawingml.chart+xml"/>
  <Override PartName="/ppt/charts/chart7.xml" ContentType="application/vnd.openxmlformats-officedocument.drawingml.chart+xml"/>
  <Override PartName="/ppt/charts/chart70.xml" ContentType="application/vnd.openxmlformats-officedocument.drawingml.chart+xml"/>
  <Override PartName="/ppt/charts/chart71.xml" ContentType="application/vnd.openxmlformats-officedocument.drawingml.chart+xml"/>
  <Override PartName="/ppt/charts/chart72.xml" ContentType="application/vnd.openxmlformats-officedocument.drawingml.chart+xml"/>
  <Override PartName="/ppt/charts/chart73.xml" ContentType="application/vnd.openxmlformats-officedocument.drawingml.chart+xml"/>
  <Override PartName="/ppt/charts/chart74.xml" ContentType="application/vnd.openxmlformats-officedocument.drawingml.chart+xml"/>
  <Override PartName="/ppt/charts/chart75.xml" ContentType="application/vnd.openxmlformats-officedocument.drawingml.chart+xml"/>
  <Override PartName="/ppt/charts/chart76.xml" ContentType="application/vnd.openxmlformats-officedocument.drawingml.chart+xml"/>
  <Override PartName="/ppt/charts/chart77.xml" ContentType="application/vnd.openxmlformats-officedocument.drawingml.chart+xml"/>
  <Override PartName="/ppt/charts/chart78.xml" ContentType="application/vnd.openxmlformats-officedocument.drawingml.chart+xml"/>
  <Override PartName="/ppt/charts/chart79.xml" ContentType="application/vnd.openxmlformats-officedocument.drawingml.chart+xml"/>
  <Override PartName="/ppt/charts/chart8.xml" ContentType="application/vnd.openxmlformats-officedocument.drawingml.chart+xml"/>
  <Override PartName="/ppt/charts/chart80.xml" ContentType="application/vnd.openxmlformats-officedocument.drawingml.chart+xml"/>
  <Override PartName="/ppt/charts/chart81.xml" ContentType="application/vnd.openxmlformats-officedocument.drawingml.chart+xml"/>
  <Override PartName="/ppt/charts/chart82.xml" ContentType="application/vnd.openxmlformats-officedocument.drawingml.chart+xml"/>
  <Override PartName="/ppt/charts/chart83.xml" ContentType="application/vnd.openxmlformats-officedocument.drawingml.chart+xml"/>
  <Override PartName="/ppt/charts/chart84.xml" ContentType="application/vnd.openxmlformats-officedocument.drawingml.chart+xml"/>
  <Override PartName="/ppt/charts/chart85.xml" ContentType="application/vnd.openxmlformats-officedocument.drawingml.chart+xml"/>
  <Override PartName="/ppt/charts/chart86.xml" ContentType="application/vnd.openxmlformats-officedocument.drawingml.chart+xml"/>
  <Override PartName="/ppt/charts/chart87.xml" ContentType="application/vnd.openxmlformats-officedocument.drawingml.chart+xml"/>
  <Override PartName="/ppt/charts/chart88.xml" ContentType="application/vnd.openxmlformats-officedocument.drawingml.chart+xml"/>
  <Override PartName="/ppt/charts/chart89.xml" ContentType="application/vnd.openxmlformats-officedocument.drawingml.chart+xml"/>
  <Override PartName="/ppt/charts/chart9.xml" ContentType="application/vnd.openxmlformats-officedocument.drawingml.chart+xml"/>
  <Override PartName="/ppt/charts/chart90.xml" ContentType="application/vnd.openxmlformats-officedocument.drawingml.chart+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charts/chart94.xml" ContentType="application/vnd.openxmlformats-officedocument.drawingml.chart+xml"/>
  <Override PartName="/ppt/charts/chart95.xml" ContentType="application/vnd.openxmlformats-officedocument.drawingml.chart+xml"/>
  <Override PartName="/ppt/charts/chart96.xml" ContentType="application/vnd.openxmlformats-officedocument.drawingml.chart+xml"/>
  <Override PartName="/ppt/charts/chart97.xml" ContentType="application/vnd.openxmlformats-officedocument.drawingml.chart+xml"/>
  <Override PartName="/ppt/charts/chart98.xml" ContentType="application/vnd.openxmlformats-officedocument.drawingml.chart+xml"/>
  <Override PartName="/ppt/charts/chart9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7" r:id="rId18"/>
    <p:sldId id="268" r:id="rId19"/>
    <p:sldId id="269" r:id="rId20"/>
    <p:sldId id="270" r:id="rId21"/>
    <p:sldId id="271" r:id="rId22"/>
    <p:sldId id="272" r:id="rId23"/>
    <p:sldId id="273" r:id="rId24"/>
    <p:sldId id="274" r:id="rId25"/>
    <p:sldId id="258" r:id="rId4"/>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59" r:id="rId5"/>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260" r:id="rId6"/>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261" r:id="rId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262" r:id="rId8"/>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263" r:id="rId9"/>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264" r:id="rId10"/>
    <p:sldId id="403" r:id="rId154"/>
    <p:sldId id="404" r:id="rId155"/>
    <p:sldId id="405" r:id="rId156"/>
    <p:sldId id="406" r:id="rId157"/>
    <p:sldId id="407" r:id="rId158"/>
    <p:sldId id="408" r:id="rId159"/>
    <p:sldId id="409" r:id="rId160"/>
    <p:sldId id="410" r:id="rId161"/>
    <p:sldId id="265" r:id="rId11"/>
    <p:sldId id="411" r:id="rId162"/>
    <p:sldId id="412" r:id="rId163"/>
    <p:sldId id="413" r:id="rId164"/>
    <p:sldId id="414" r:id="rId165"/>
    <p:sldId id="415" r:id="rId166"/>
    <p:sldId id="416" r:id="rId167"/>
    <p:sldId id="266" r:id="rId12"/>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
<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
<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
<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
<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
<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
<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
<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
<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
<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
<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
<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
<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
<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
<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
<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
<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
<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
<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
<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
<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
<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
<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
<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
<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
<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
<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
<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
<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
<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
<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
<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
<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
<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
<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
<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
<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
<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
<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
<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
<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
<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
<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
<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
<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
<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
<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
<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
<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
<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
<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
<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
<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
<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
<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
<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
<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
<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
<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
<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
<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
<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
<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
<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
<Relationships xmlns="http://schemas.openxmlformats.org/package/2006/relationships"><Relationship Id="rId1" Type="http://schemas.openxmlformats.org/officeDocument/2006/relationships/package" Target="../embeddings/Microsoft_Excel_Worksheet104.xlsx"/></Relationships>
</file>

<file path=ppt/charts/_rels/chart105.xml.rels><?xml version='1.0' encoding='UTF-8' standalone='yes'?>
<Relationships xmlns="http://schemas.openxmlformats.org/package/2006/relationships"><Relationship Id="rId1" Type="http://schemas.openxmlformats.org/officeDocument/2006/relationships/package" Target="../embeddings/Microsoft_Excel_Worksheet105.xlsx"/></Relationships>
</file>

<file path=ppt/charts/_rels/chart106.xml.rels><?xml version='1.0' encoding='UTF-8' standalone='yes'?>
<Relationships xmlns="http://schemas.openxmlformats.org/package/2006/relationships"><Relationship Id="rId1" Type="http://schemas.openxmlformats.org/officeDocument/2006/relationships/package" Target="../embeddings/Microsoft_Excel_Worksheet106.xlsx"/></Relationships>
</file>

<file path=ppt/charts/_rels/chart107.xml.rels><?xml version='1.0' encoding='UTF-8' standalone='yes'?>
<Relationships xmlns="http://schemas.openxmlformats.org/package/2006/relationships"><Relationship Id="rId1" Type="http://schemas.openxmlformats.org/officeDocument/2006/relationships/package" Target="../embeddings/Microsoft_Excel_Worksheet107.xlsx"/></Relationships>
</file>

<file path=ppt/charts/_rels/chart108.xml.rels><?xml version='1.0' encoding='UTF-8' standalone='yes'?>
<Relationships xmlns="http://schemas.openxmlformats.org/package/2006/relationships"><Relationship Id="rId1" Type="http://schemas.openxmlformats.org/officeDocument/2006/relationships/package" Target="../embeddings/Microsoft_Excel_Worksheet108.xlsx"/></Relationships>
</file>

<file path=ppt/charts/_rels/chart109.xml.rels><?xml version='1.0' encoding='UTF-8' standalone='yes'?>
<Relationships xmlns="http://schemas.openxmlformats.org/package/2006/relationships"><Relationship Id="rId1" Type="http://schemas.openxmlformats.org/officeDocument/2006/relationships/package" Target="../embeddings/Microsoft_Excel_Worksheet109.xlsx"/></Relationships>
</file>

<file path=ppt/charts/_rels/chart110.xml.rels><?xml version='1.0' encoding='UTF-8' standalone='yes'?>
<Relationships xmlns="http://schemas.openxmlformats.org/package/2006/relationships"><Relationship Id="rId1" Type="http://schemas.openxmlformats.org/officeDocument/2006/relationships/package" Target="../embeddings/Microsoft_Excel_Worksheet110.xlsx"/></Relationships>
</file>

<file path=ppt/charts/_rels/chart111.xml.rels><?xml version='1.0' encoding='UTF-8' standalone='yes'?>
<Relationships xmlns="http://schemas.openxmlformats.org/package/2006/relationships"><Relationship Id="rId1" Type="http://schemas.openxmlformats.org/officeDocument/2006/relationships/package" Target="../embeddings/Microsoft_Excel_Worksheet111.xlsx"/></Relationships>
</file>

<file path=ppt/charts/_rels/chart112.xml.rels><?xml version='1.0' encoding='UTF-8' standalone='yes'?>
<Relationships xmlns="http://schemas.openxmlformats.org/package/2006/relationships"><Relationship Id="rId1" Type="http://schemas.openxmlformats.org/officeDocument/2006/relationships/package" Target="../embeddings/Microsoft_Excel_Worksheet112.xlsx"/></Relationships>
</file>

<file path=ppt/charts/_rels/chart113.xml.rels><?xml version='1.0' encoding='UTF-8' standalone='yes'?>
<Relationships xmlns="http://schemas.openxmlformats.org/package/2006/relationships"><Relationship Id="rId1" Type="http://schemas.openxmlformats.org/officeDocument/2006/relationships/package" Target="../embeddings/Microsoft_Excel_Worksheet113.xlsx"/></Relationships>
</file>

<file path=ppt/charts/_rels/chart114.xml.rels><?xml version='1.0' encoding='UTF-8' standalone='yes'?>
<Relationships xmlns="http://schemas.openxmlformats.org/package/2006/relationships"><Relationship Id="rId1" Type="http://schemas.openxmlformats.org/officeDocument/2006/relationships/package" Target="../embeddings/Microsoft_Excel_Worksheet114.xlsx"/></Relationships>
</file>

<file path=ppt/charts/_rels/chart115.xml.rels><?xml version='1.0' encoding='UTF-8' standalone='yes'?>
<Relationships xmlns="http://schemas.openxmlformats.org/package/2006/relationships"><Relationship Id="rId1" Type="http://schemas.openxmlformats.org/officeDocument/2006/relationships/package" Target="../embeddings/Microsoft_Excel_Worksheet115.xlsx"/></Relationships>
</file>

<file path=ppt/charts/_rels/chart116.xml.rels><?xml version='1.0' encoding='UTF-8' standalone='yes'?>
<Relationships xmlns="http://schemas.openxmlformats.org/package/2006/relationships"><Relationship Id="rId1" Type="http://schemas.openxmlformats.org/officeDocument/2006/relationships/package" Target="../embeddings/Microsoft_Excel_Worksheet116.xlsx"/></Relationships>
</file>

<file path=ppt/charts/_rels/chart117.xml.rels><?xml version='1.0' encoding='UTF-8' standalone='yes'?>
<Relationships xmlns="http://schemas.openxmlformats.org/package/2006/relationships"><Relationship Id="rId1" Type="http://schemas.openxmlformats.org/officeDocument/2006/relationships/package" Target="../embeddings/Microsoft_Excel_Worksheet117.xlsx"/></Relationships>
</file>

<file path=ppt/charts/_rels/chart118.xml.rels><?xml version='1.0' encoding='UTF-8' standalone='yes'?>
<Relationships xmlns="http://schemas.openxmlformats.org/package/2006/relationships"><Relationship Id="rId1" Type="http://schemas.openxmlformats.org/officeDocument/2006/relationships/package" Target="../embeddings/Microsoft_Excel_Worksheet118.xlsx"/></Relationships>
</file>

<file path=ppt/charts/_rels/chart119.xml.rels><?xml version='1.0' encoding='UTF-8' standalone='yes'?>
<Relationships xmlns="http://schemas.openxmlformats.org/package/2006/relationships"><Relationship Id="rId1" Type="http://schemas.openxmlformats.org/officeDocument/2006/relationships/package" Target="../embeddings/Microsoft_Excel_Worksheet119.xlsx"/></Relationships>
</file>

<file path=ppt/charts/_rels/chart120.xml.rels><?xml version='1.0' encoding='UTF-8' standalone='yes'?>
<Relationships xmlns="http://schemas.openxmlformats.org/package/2006/relationships"><Relationship Id="rId1" Type="http://schemas.openxmlformats.org/officeDocument/2006/relationships/package" Target="../embeddings/Microsoft_Excel_Worksheet120.xlsx"/></Relationships>
</file>

<file path=ppt/charts/_rels/chart121.xml.rels><?xml version='1.0' encoding='UTF-8' standalone='yes'?>
<Relationships xmlns="http://schemas.openxmlformats.org/package/2006/relationships"><Relationship Id="rId1" Type="http://schemas.openxmlformats.org/officeDocument/2006/relationships/package" Target="../embeddings/Microsoft_Excel_Worksheet121.xlsx"/></Relationships>
</file>

<file path=ppt/charts/_rels/chart122.xml.rels><?xml version='1.0' encoding='UTF-8' standalone='yes'?>
<Relationships xmlns="http://schemas.openxmlformats.org/package/2006/relationships"><Relationship Id="rId1" Type="http://schemas.openxmlformats.org/officeDocument/2006/relationships/package" Target="../embeddings/Microsoft_Excel_Worksheet122.xlsx"/></Relationships>
</file>

<file path=ppt/charts/_rels/chart123.xml.rels><?xml version='1.0' encoding='UTF-8' standalone='yes'?>
<Relationships xmlns="http://schemas.openxmlformats.org/package/2006/relationships"><Relationship Id="rId1" Type="http://schemas.openxmlformats.org/officeDocument/2006/relationships/package" Target="../embeddings/Microsoft_Excel_Worksheet123.xlsx"/></Relationships>
</file>

<file path=ppt/charts/_rels/chart124.xml.rels><?xml version='1.0' encoding='UTF-8' standalone='yes'?>
<Relationships xmlns="http://schemas.openxmlformats.org/package/2006/relationships"><Relationship Id="rId1" Type="http://schemas.openxmlformats.org/officeDocument/2006/relationships/package" Target="../embeddings/Microsoft_Excel_Worksheet124.xlsx"/></Relationships>
</file>

<file path=ppt/charts/_rels/chart125.xml.rels><?xml version='1.0' encoding='UTF-8' standalone='yes'?>
<Relationships xmlns="http://schemas.openxmlformats.org/package/2006/relationships"><Relationship Id="rId1" Type="http://schemas.openxmlformats.org/officeDocument/2006/relationships/package" Target="../embeddings/Microsoft_Excel_Worksheet125.xlsx"/></Relationships>
</file>

<file path=ppt/charts/_rels/chart126.xml.rels><?xml version='1.0' encoding='UTF-8' standalone='yes'?>
<Relationships xmlns="http://schemas.openxmlformats.org/package/2006/relationships"><Relationship Id="rId1" Type="http://schemas.openxmlformats.org/officeDocument/2006/relationships/package" Target="../embeddings/Microsoft_Excel_Worksheet126.xlsx"/></Relationships>
</file>

<file path=ppt/charts/_rels/chart127.xml.rels><?xml version='1.0' encoding='UTF-8' standalone='yes'?>
<Relationships xmlns="http://schemas.openxmlformats.org/package/2006/relationships"><Relationship Id="rId1" Type="http://schemas.openxmlformats.org/officeDocument/2006/relationships/package" Target="../embeddings/Microsoft_Excel_Worksheet127.xlsx"/></Relationships>
</file>

<file path=ppt/charts/_rels/chart128.xml.rels><?xml version='1.0' encoding='UTF-8' standalone='yes'?>
<Relationships xmlns="http://schemas.openxmlformats.org/package/2006/relationships"><Relationship Id="rId1" Type="http://schemas.openxmlformats.org/officeDocument/2006/relationships/package" Target="../embeddings/Microsoft_Excel_Worksheet128.xlsx"/></Relationships>
</file>

<file path=ppt/charts/_rels/chart129.xml.rels><?xml version='1.0' encoding='UTF-8' standalone='yes'?>
<Relationships xmlns="http://schemas.openxmlformats.org/package/2006/relationships"><Relationship Id="rId1" Type="http://schemas.openxmlformats.org/officeDocument/2006/relationships/package" Target="../embeddings/Microsoft_Excel_Worksheet129.xlsx"/></Relationships>
</file>

<file path=ppt/charts/_rels/chart130.xml.rels><?xml version='1.0' encoding='UTF-8' standalone='yes'?>
<Relationships xmlns="http://schemas.openxmlformats.org/package/2006/relationships"><Relationship Id="rId1" Type="http://schemas.openxmlformats.org/officeDocument/2006/relationships/package" Target="../embeddings/Microsoft_Excel_Worksheet130.xlsx"/></Relationships>
</file>

<file path=ppt/charts/_rels/chart131.xml.rels><?xml version='1.0' encoding='UTF-8' standalone='yes'?>
<Relationships xmlns="http://schemas.openxmlformats.org/package/2006/relationships"><Relationship Id="rId1" Type="http://schemas.openxmlformats.org/officeDocument/2006/relationships/package" Target="../embeddings/Microsoft_Excel_Worksheet131.xlsx"/></Relationships>
</file>

<file path=ppt/charts/_rels/chart132.xml.rels><?xml version='1.0' encoding='UTF-8' standalone='yes'?>
<Relationships xmlns="http://schemas.openxmlformats.org/package/2006/relationships"><Relationship Id="rId1" Type="http://schemas.openxmlformats.org/officeDocument/2006/relationships/package" Target="../embeddings/Microsoft_Excel_Worksheet132.xlsx"/></Relationships>
</file>

<file path=ppt/charts/_rels/chart133.xml.rels><?xml version='1.0' encoding='UTF-8' standalone='yes'?>
<Relationships xmlns="http://schemas.openxmlformats.org/package/2006/relationships"><Relationship Id="rId1" Type="http://schemas.openxmlformats.org/officeDocument/2006/relationships/package" Target="../embeddings/Microsoft_Excel_Worksheet133.xlsx"/></Relationships>
</file>

<file path=ppt/charts/_rels/chart134.xml.rels><?xml version='1.0' encoding='UTF-8' standalone='yes'?>
<Relationships xmlns="http://schemas.openxmlformats.org/package/2006/relationships"><Relationship Id="rId1" Type="http://schemas.openxmlformats.org/officeDocument/2006/relationships/package" Target="../embeddings/Microsoft_Excel_Worksheet134.xlsx"/></Relationships>
</file>

<file path=ppt/charts/_rels/chart135.xml.rels><?xml version='1.0' encoding='UTF-8' standalone='yes'?>
<Relationships xmlns="http://schemas.openxmlformats.org/package/2006/relationships"><Relationship Id="rId1" Type="http://schemas.openxmlformats.org/officeDocument/2006/relationships/package" Target="../embeddings/Microsoft_Excel_Worksheet135.xlsx"/></Relationships>
</file>

<file path=ppt/charts/_rels/chart136.xml.rels><?xml version='1.0' encoding='UTF-8' standalone='yes'?>
<Relationships xmlns="http://schemas.openxmlformats.org/package/2006/relationships"><Relationship Id="rId1" Type="http://schemas.openxmlformats.org/officeDocument/2006/relationships/package" Target="../embeddings/Microsoft_Excel_Worksheet136.xlsx"/></Relationships>
</file>

<file path=ppt/charts/_rels/chart137.xml.rels><?xml version='1.0' encoding='UTF-8' standalone='yes'?>
<Relationships xmlns="http://schemas.openxmlformats.org/package/2006/relationships"><Relationship Id="rId1" Type="http://schemas.openxmlformats.org/officeDocument/2006/relationships/package" Target="../embeddings/Microsoft_Excel_Worksheet137.xlsx"/></Relationships>
</file>

<file path=ppt/charts/_rels/chart138.xml.rels><?xml version='1.0' encoding='UTF-8' standalone='yes'?>
<Relationships xmlns="http://schemas.openxmlformats.org/package/2006/relationships"><Relationship Id="rId1" Type="http://schemas.openxmlformats.org/officeDocument/2006/relationships/package" Target="../embeddings/Microsoft_Excel_Worksheet138.xlsx"/></Relationships>
</file>

<file path=ppt/charts/_rels/chart139.xml.rels><?xml version='1.0' encoding='UTF-8' standalone='yes'?>
<Relationships xmlns="http://schemas.openxmlformats.org/package/2006/relationships"><Relationship Id="rId1" Type="http://schemas.openxmlformats.org/officeDocument/2006/relationships/package" Target="../embeddings/Microsoft_Excel_Worksheet139.xlsx"/></Relationships>
</file>

<file path=ppt/charts/_rels/chart140.xml.rels><?xml version='1.0' encoding='UTF-8' standalone='yes'?>
<Relationships xmlns="http://schemas.openxmlformats.org/package/2006/relationships"><Relationship Id="rId1" Type="http://schemas.openxmlformats.org/officeDocument/2006/relationships/package" Target="../embeddings/Microsoft_Excel_Worksheet140.xlsx"/></Relationships>
</file>

<file path=ppt/charts/_rels/chart141.xml.rels><?xml version='1.0' encoding='UTF-8' standalone='yes'?>
<Relationships xmlns="http://schemas.openxmlformats.org/package/2006/relationships"><Relationship Id="rId1" Type="http://schemas.openxmlformats.org/officeDocument/2006/relationships/package" Target="../embeddings/Microsoft_Excel_Worksheet141.xlsx"/></Relationships>
</file>

<file path=ppt/charts/_rels/chart142.xml.rels><?xml version='1.0' encoding='UTF-8' standalone='yes'?>
<Relationships xmlns="http://schemas.openxmlformats.org/package/2006/relationships"><Relationship Id="rId1" Type="http://schemas.openxmlformats.org/officeDocument/2006/relationships/package" Target="../embeddings/Microsoft_Excel_Worksheet142.xlsx"/></Relationships>
</file>

<file path=ppt/charts/_rels/chart143.xml.rels><?xml version='1.0' encoding='UTF-8' standalone='yes'?>
<Relationships xmlns="http://schemas.openxmlformats.org/package/2006/relationships"><Relationship Id="rId1" Type="http://schemas.openxmlformats.org/officeDocument/2006/relationships/package" Target="../embeddings/Microsoft_Excel_Worksheet143.xlsx"/></Relationships>
</file>

<file path=ppt/charts/_rels/chart144.xml.rels><?xml version='1.0' encoding='UTF-8' standalone='yes'?>
<Relationships xmlns="http://schemas.openxmlformats.org/package/2006/relationships"><Relationship Id="rId1" Type="http://schemas.openxmlformats.org/officeDocument/2006/relationships/package" Target="../embeddings/Microsoft_Excel_Worksheet144.xlsx"/></Relationships>
</file>

<file path=ppt/charts/_rels/chart145.xml.rels><?xml version='1.0' encoding='UTF-8' standalone='yes'?>
<Relationships xmlns="http://schemas.openxmlformats.org/package/2006/relationships"><Relationship Id="rId1" Type="http://schemas.openxmlformats.org/officeDocument/2006/relationships/package" Target="../embeddings/Microsoft_Excel_Worksheet145.xlsx"/></Relationships>
</file>

<file path=ppt/charts/_rels/chart146.xml.rels><?xml version='1.0' encoding='UTF-8' standalone='yes'?>
<Relationships xmlns="http://schemas.openxmlformats.org/package/2006/relationships"><Relationship Id="rId1" Type="http://schemas.openxmlformats.org/officeDocument/2006/relationships/package" Target="../embeddings/Microsoft_Excel_Worksheet146.xlsx"/></Relationships>
</file>

<file path=ppt/charts/_rels/chart147.xml.rels><?xml version='1.0' encoding='UTF-8' standalone='yes'?>
<Relationships xmlns="http://schemas.openxmlformats.org/package/2006/relationships"><Relationship Id="rId1" Type="http://schemas.openxmlformats.org/officeDocument/2006/relationships/package" Target="../embeddings/Microsoft_Excel_Worksheet147.xlsx"/></Relationships>
</file>

<file path=ppt/charts/_rels/chart148.xml.rels><?xml version='1.0' encoding='UTF-8' standalone='yes'?>
<Relationships xmlns="http://schemas.openxmlformats.org/package/2006/relationships"><Relationship Id="rId1" Type="http://schemas.openxmlformats.org/officeDocument/2006/relationships/package" Target="../embeddings/Microsoft_Excel_Worksheet148.xlsx"/></Relationships>
</file>

<file path=ppt/charts/_rels/chart149.xml.rels><?xml version='1.0' encoding='UTF-8' standalone='yes'?>
<Relationships xmlns="http://schemas.openxmlformats.org/package/2006/relationships"><Relationship Id="rId1" Type="http://schemas.openxmlformats.org/officeDocument/2006/relationships/package" Target="../embeddings/Microsoft_Excel_Worksheet149.xlsx"/></Relationships>
</file>

<file path=ppt/charts/_rels/chart150.xml.rels><?xml version='1.0' encoding='UTF-8' standalone='yes'?>
<Relationships xmlns="http://schemas.openxmlformats.org/package/2006/relationships"><Relationship Id="rId1" Type="http://schemas.openxmlformats.org/officeDocument/2006/relationships/package" Target="../embeddings/Microsoft_Excel_Worksheet150.xlsx"/></Relationships>
</file>

<file path=ppt/charts/_rels/chart151.xml.rels><?xml version='1.0' encoding='UTF-8' standalone='yes'?>
<Relationships xmlns="http://schemas.openxmlformats.org/package/2006/relationships"><Relationship Id="rId1" Type="http://schemas.openxmlformats.org/officeDocument/2006/relationships/package" Target="../embeddings/Microsoft_Excel_Worksheet151.xlsx"/></Relationships>
</file>

<file path=ppt/charts/_rels/chart152.xml.rels><?xml version='1.0' encoding='UTF-8' standalone='yes'?>
<Relationships xmlns="http://schemas.openxmlformats.org/package/2006/relationships"><Relationship Id="rId1" Type="http://schemas.openxmlformats.org/officeDocument/2006/relationships/package" Target="../embeddings/Microsoft_Excel_Worksheet152.xlsx"/></Relationships>
</file>

<file path=ppt/charts/_rels/chart153.xml.rels><?xml version='1.0' encoding='UTF-8' standalone='yes'?>
<Relationships xmlns="http://schemas.openxmlformats.org/package/2006/relationships"><Relationship Id="rId1" Type="http://schemas.openxmlformats.org/officeDocument/2006/relationships/package" Target="../embeddings/Microsoft_Excel_Worksheet153.xlsx"/></Relationships>
</file>

<file path=ppt/charts/_rels/chart154.xml.rels><?xml version='1.0' encoding='UTF-8' standalone='yes'?>
<Relationships xmlns="http://schemas.openxmlformats.org/package/2006/relationships"><Relationship Id="rId1" Type="http://schemas.openxmlformats.org/officeDocument/2006/relationships/package" Target="../embeddings/Microsoft_Excel_Worksheet154.xlsx"/></Relationships>
</file>

<file path=ppt/charts/_rels/chart155.xml.rels><?xml version='1.0' encoding='UTF-8' standalone='yes'?>
<Relationships xmlns="http://schemas.openxmlformats.org/package/2006/relationships"><Relationship Id="rId1" Type="http://schemas.openxmlformats.org/officeDocument/2006/relationships/package" Target="../embeddings/Microsoft_Excel_Worksheet155.xlsx"/></Relationships>
</file>

<file path=ppt/charts/_rels/chart156.xml.rels><?xml version='1.0' encoding='UTF-8' standalone='yes'?>
<Relationships xmlns="http://schemas.openxmlformats.org/package/2006/relationships"><Relationship Id="rId1" Type="http://schemas.openxmlformats.org/officeDocument/2006/relationships/package" Target="../embeddings/Microsoft_Excel_Worksheet156.xlsx"/></Relationships>
</file>

<file path=ppt/charts/_rels/chart157.xml.rels><?xml version='1.0' encoding='UTF-8' standalone='yes'?>
<Relationships xmlns="http://schemas.openxmlformats.org/package/2006/relationships"><Relationship Id="rId1" Type="http://schemas.openxmlformats.org/officeDocument/2006/relationships/package" Target="../embeddings/Microsoft_Excel_Worksheet157.xlsx"/></Relationships>
</file>

<file path=ppt/charts/_rels/chart158.xml.rels><?xml version='1.0' encoding='UTF-8' standalone='yes'?>
<Relationships xmlns="http://schemas.openxmlformats.org/package/2006/relationships"><Relationship Id="rId1" Type="http://schemas.openxmlformats.org/officeDocument/2006/relationships/package" Target="../embeddings/Microsoft_Excel_Worksheet158.xlsx"/></Relationships>
</file>

<file path=ppt/charts/_rels/chart159.xml.rels><?xml version='1.0' encoding='UTF-8' standalone='yes'?>
<Relationships xmlns="http://schemas.openxmlformats.org/package/2006/relationships"><Relationship Id="rId1" Type="http://schemas.openxmlformats.org/officeDocument/2006/relationships/package" Target="../embeddings/Microsoft_Excel_Worksheet159.xlsx"/></Relationships>
</file>

<file path=ppt/charts/_rels/chart160.xml.rels><?xml version='1.0' encoding='UTF-8' standalone='yes'?>
<Relationships xmlns="http://schemas.openxmlformats.org/package/2006/relationships"><Relationship Id="rId1" Type="http://schemas.openxmlformats.org/officeDocument/2006/relationships/package" Target="../embeddings/Microsoft_Excel_Worksheet160.xlsx"/></Relationships>
</file>

<file path=ppt/charts/_rels/chart161.xml.rels><?xml version='1.0' encoding='UTF-8' standalone='yes'?>
<Relationships xmlns="http://schemas.openxmlformats.org/package/2006/relationships"><Relationship Id="rId1" Type="http://schemas.openxmlformats.org/officeDocument/2006/relationships/package" Target="../embeddings/Microsoft_Excel_Worksheet161.xlsx"/></Relationships>
</file>

<file path=ppt/charts/_rels/chart162.xml.rels><?xml version='1.0' encoding='UTF-8' standalone='yes'?>
<Relationships xmlns="http://schemas.openxmlformats.org/package/2006/relationships"><Relationship Id="rId1" Type="http://schemas.openxmlformats.org/officeDocument/2006/relationships/package" Target="../embeddings/Microsoft_Excel_Worksheet162.xlsx"/></Relationships>
</file>

<file path=ppt/charts/_rels/chart163.xml.rels><?xml version='1.0' encoding='UTF-8' standalone='yes'?>
<Relationships xmlns="http://schemas.openxmlformats.org/package/2006/relationships"><Relationship Id="rId1" Type="http://schemas.openxmlformats.org/officeDocument/2006/relationships/package" Target="../embeddings/Microsoft_Excel_Worksheet163.xlsx"/></Relationships>
</file>

<file path=ppt/charts/_rels/chart164.xml.rels><?xml version='1.0' encoding='UTF-8' standalone='yes'?>
<Relationships xmlns="http://schemas.openxmlformats.org/package/2006/relationships"><Relationship Id="rId1" Type="http://schemas.openxmlformats.org/officeDocument/2006/relationships/package" Target="../embeddings/Microsoft_Excel_Worksheet164.xlsx"/></Relationships>
</file>

<file path=ppt/charts/_rels/chart165.xml.rels><?xml version='1.0' encoding='UTF-8' standalone='yes'?>
<Relationships xmlns="http://schemas.openxmlformats.org/package/2006/relationships"><Relationship Id="rId1" Type="http://schemas.openxmlformats.org/officeDocument/2006/relationships/package" Target="../embeddings/Microsoft_Excel_Worksheet165.xlsx"/></Relationships>
</file>

<file path=ppt/charts/_rels/chart166.xml.rels><?xml version='1.0' encoding='UTF-8' standalone='yes'?>
<Relationships xmlns="http://schemas.openxmlformats.org/package/2006/relationships"><Relationship Id="rId1" Type="http://schemas.openxmlformats.org/officeDocument/2006/relationships/package" Target="../embeddings/Microsoft_Excel_Worksheet166.xlsx"/></Relationships>
</file>

<file path=ppt/charts/_rels/chart167.xml.rels><?xml version='1.0' encoding='UTF-8' standalone='yes'?>
<Relationships xmlns="http://schemas.openxmlformats.org/package/2006/relationships"><Relationship Id="rId1" Type="http://schemas.openxmlformats.org/officeDocument/2006/relationships/package" Target="../embeddings/Microsoft_Excel_Worksheet167.xlsx"/></Relationships>
</file>

<file path=ppt/charts/_rels/chart168.xml.rels><?xml version='1.0' encoding='UTF-8' standalone='yes'?>
<Relationships xmlns="http://schemas.openxmlformats.org/package/2006/relationships"><Relationship Id="rId1" Type="http://schemas.openxmlformats.org/officeDocument/2006/relationships/package" Target="../embeddings/Microsoft_Excel_Worksheet168.xlsx"/></Relationships>
</file>

<file path=ppt/charts/_rels/chart169.xml.rels><?xml version='1.0' encoding='UTF-8' standalone='yes'?>
<Relationships xmlns="http://schemas.openxmlformats.org/package/2006/relationships"><Relationship Id="rId1" Type="http://schemas.openxmlformats.org/officeDocument/2006/relationships/package" Target="../embeddings/Microsoft_Excel_Worksheet169.xlsx"/></Relationships>
</file>

<file path=ppt/charts/_rels/chart170.xml.rels><?xml version='1.0' encoding='UTF-8' standalone='yes'?>
<Relationships xmlns="http://schemas.openxmlformats.org/package/2006/relationships"><Relationship Id="rId1" Type="http://schemas.openxmlformats.org/officeDocument/2006/relationships/package" Target="../embeddings/Microsoft_Excel_Worksheet170.xlsx"/></Relationships>
</file>

<file path=ppt/charts/_rels/chart171.xml.rels><?xml version='1.0' encoding='UTF-8' standalone='yes'?>
<Relationships xmlns="http://schemas.openxmlformats.org/package/2006/relationships"><Relationship Id="rId1" Type="http://schemas.openxmlformats.org/officeDocument/2006/relationships/package" Target="../embeddings/Microsoft_Excel_Worksheet171.xlsx"/></Relationships>
</file>

<file path=ppt/charts/_rels/chart172.xml.rels><?xml version='1.0' encoding='UTF-8' standalone='yes'?>
<Relationships xmlns="http://schemas.openxmlformats.org/package/2006/relationships"><Relationship Id="rId1" Type="http://schemas.openxmlformats.org/officeDocument/2006/relationships/package" Target="../embeddings/Microsoft_Excel_Worksheet172.xlsx"/></Relationships>
</file>

<file path=ppt/charts/_rels/chart173.xml.rels><?xml version='1.0' encoding='UTF-8' standalone='yes'?>
<Relationships xmlns="http://schemas.openxmlformats.org/package/2006/relationships"><Relationship Id="rId1" Type="http://schemas.openxmlformats.org/officeDocument/2006/relationships/package" Target="../embeddings/Microsoft_Excel_Worksheet173.xlsx"/></Relationships>
</file>

<file path=ppt/charts/_rels/chart174.xml.rels><?xml version='1.0' encoding='UTF-8' standalone='yes'?>
<Relationships xmlns="http://schemas.openxmlformats.org/package/2006/relationships"><Relationship Id="rId1" Type="http://schemas.openxmlformats.org/officeDocument/2006/relationships/package" Target="../embeddings/Microsoft_Excel_Worksheet174.xlsx"/></Relationships>
</file>

<file path=ppt/charts/_rels/chart175.xml.rels><?xml version='1.0' encoding='UTF-8' standalone='yes'?>
<Relationships xmlns="http://schemas.openxmlformats.org/package/2006/relationships"><Relationship Id="rId1" Type="http://schemas.openxmlformats.org/officeDocument/2006/relationships/package" Target="../embeddings/Microsoft_Excel_Worksheet175.xlsx"/></Relationships>
</file>

<file path=ppt/charts/_rels/chart176.xml.rels><?xml version='1.0' encoding='UTF-8' standalone='yes'?>
<Relationships xmlns="http://schemas.openxmlformats.org/package/2006/relationships"><Relationship Id="rId1" Type="http://schemas.openxmlformats.org/officeDocument/2006/relationships/package" Target="../embeddings/Microsoft_Excel_Worksheet176.xlsx"/></Relationships>
</file>

<file path=ppt/charts/_rels/chart177.xml.rels><?xml version='1.0' encoding='UTF-8' standalone='yes'?>
<Relationships xmlns="http://schemas.openxmlformats.org/package/2006/relationships"><Relationship Id="rId1" Type="http://schemas.openxmlformats.org/officeDocument/2006/relationships/package" Target="../embeddings/Microsoft_Excel_Worksheet177.xlsx"/></Relationships>
</file>

<file path=ppt/charts/_rels/chart178.xml.rels><?xml version='1.0' encoding='UTF-8' standalone='yes'?>
<Relationships xmlns="http://schemas.openxmlformats.org/package/2006/relationships"><Relationship Id="rId1" Type="http://schemas.openxmlformats.org/officeDocument/2006/relationships/package" Target="../embeddings/Microsoft_Excel_Worksheet178.xlsx"/></Relationships>
</file>

<file path=ppt/charts/_rels/chart179.xml.rels><?xml version='1.0' encoding='UTF-8' standalone='yes'?>
<Relationships xmlns="http://schemas.openxmlformats.org/package/2006/relationships"><Relationship Id="rId1" Type="http://schemas.openxmlformats.org/officeDocument/2006/relationships/package" Target="../embeddings/Microsoft_Excel_Worksheet179.xlsx"/></Relationships>
</file>

<file path=ppt/charts/_rels/chart180.xml.rels><?xml version='1.0' encoding='UTF-8' standalone='yes'?>
<Relationships xmlns="http://schemas.openxmlformats.org/package/2006/relationships"><Relationship Id="rId1" Type="http://schemas.openxmlformats.org/officeDocument/2006/relationships/package" Target="../embeddings/Microsoft_Excel_Worksheet180.xlsx"/></Relationships>
</file>

<file path=ppt/charts/_rels/chart181.xml.rels><?xml version='1.0' encoding='UTF-8' standalone='yes'?>
<Relationships xmlns="http://schemas.openxmlformats.org/package/2006/relationships"><Relationship Id="rId1" Type="http://schemas.openxmlformats.org/officeDocument/2006/relationships/package" Target="../embeddings/Microsoft_Excel_Worksheet181.xlsx"/></Relationships>
</file>

<file path=ppt/charts/_rels/chart182.xml.rels><?xml version='1.0' encoding='UTF-8' standalone='yes'?>
<Relationships xmlns="http://schemas.openxmlformats.org/package/2006/relationships"><Relationship Id="rId1" Type="http://schemas.openxmlformats.org/officeDocument/2006/relationships/package" Target="../embeddings/Microsoft_Excel_Worksheet182.xlsx"/></Relationships>
</file>

<file path=ppt/charts/_rels/chart183.xml.rels><?xml version='1.0' encoding='UTF-8' standalone='yes'?>
<Relationships xmlns="http://schemas.openxmlformats.org/package/2006/relationships"><Relationship Id="rId1" Type="http://schemas.openxmlformats.org/officeDocument/2006/relationships/package" Target="../embeddings/Microsoft_Excel_Worksheet183.xlsx"/></Relationships>
</file>

<file path=ppt/charts/_rels/chart184.xml.rels><?xml version='1.0' encoding='UTF-8' standalone='yes'?>
<Relationships xmlns="http://schemas.openxmlformats.org/package/2006/relationships"><Relationship Id="rId1" Type="http://schemas.openxmlformats.org/officeDocument/2006/relationships/package" Target="../embeddings/Microsoft_Excel_Worksheet184.xlsx"/></Relationships>
</file>

<file path=ppt/charts/_rels/chart185.xml.rels><?xml version='1.0' encoding='UTF-8' standalone='yes'?>
<Relationships xmlns="http://schemas.openxmlformats.org/package/2006/relationships"><Relationship Id="rId1" Type="http://schemas.openxmlformats.org/officeDocument/2006/relationships/package" Target="../embeddings/Microsoft_Excel_Worksheet185.xlsx"/></Relationships>
</file>

<file path=ppt/charts/_rels/chart186.xml.rels><?xml version='1.0' encoding='UTF-8' standalone='yes'?>
<Relationships xmlns="http://schemas.openxmlformats.org/package/2006/relationships"><Relationship Id="rId1" Type="http://schemas.openxmlformats.org/officeDocument/2006/relationships/package" Target="../embeddings/Microsoft_Excel_Worksheet186.xlsx"/></Relationships>
</file>

<file path=ppt/charts/_rels/chart187.xml.rels><?xml version='1.0' encoding='UTF-8' standalone='yes'?>
<Relationships xmlns="http://schemas.openxmlformats.org/package/2006/relationships"><Relationship Id="rId1" Type="http://schemas.openxmlformats.org/officeDocument/2006/relationships/package" Target="../embeddings/Microsoft_Excel_Worksheet187.xlsx"/></Relationships>
</file>

<file path=ppt/charts/_rels/chart188.xml.rels><?xml version='1.0' encoding='UTF-8' standalone='yes'?>
<Relationships xmlns="http://schemas.openxmlformats.org/package/2006/relationships"><Relationship Id="rId1" Type="http://schemas.openxmlformats.org/officeDocument/2006/relationships/package" Target="../embeddings/Microsoft_Excel_Worksheet188.xlsx"/></Relationships>
</file>

<file path=ppt/charts/_rels/chart189.xml.rels><?xml version='1.0' encoding='UTF-8' standalone='yes'?>
<Relationships xmlns="http://schemas.openxmlformats.org/package/2006/relationships"><Relationship Id="rId1" Type="http://schemas.openxmlformats.org/officeDocument/2006/relationships/package" Target="../embeddings/Microsoft_Excel_Worksheet189.xlsx"/></Relationships>
</file>

<file path=ppt/charts/_rels/chart190.xml.rels><?xml version='1.0' encoding='UTF-8' standalone='yes'?>
<Relationships xmlns="http://schemas.openxmlformats.org/package/2006/relationships"><Relationship Id="rId1" Type="http://schemas.openxmlformats.org/officeDocument/2006/relationships/package" Target="../embeddings/Microsoft_Excel_Worksheet190.xlsx"/></Relationships>
</file>

<file path=ppt/charts/_rels/chart191.xml.rels><?xml version='1.0' encoding='UTF-8' standalone='yes'?>
<Relationships xmlns="http://schemas.openxmlformats.org/package/2006/relationships"><Relationship Id="rId1" Type="http://schemas.openxmlformats.org/officeDocument/2006/relationships/package" Target="../embeddings/Microsoft_Excel_Worksheet191.xlsx"/></Relationships>
</file>

<file path=ppt/charts/_rels/chart192.xml.rels><?xml version='1.0' encoding='UTF-8' standalone='yes'?>
<Relationships xmlns="http://schemas.openxmlformats.org/package/2006/relationships"><Relationship Id="rId1" Type="http://schemas.openxmlformats.org/officeDocument/2006/relationships/package" Target="../embeddings/Microsoft_Excel_Worksheet192.xlsx"/></Relationships>
</file>

<file path=ppt/charts/_rels/chart193.xml.rels><?xml version='1.0' encoding='UTF-8' standalone='yes'?>
<Relationships xmlns="http://schemas.openxmlformats.org/package/2006/relationships"><Relationship Id="rId1" Type="http://schemas.openxmlformats.org/officeDocument/2006/relationships/package" Target="../embeddings/Microsoft_Excel_Worksheet193.xlsx"/></Relationships>
</file>

<file path=ppt/charts/_rels/chart194.xml.rels><?xml version='1.0' encoding='UTF-8' standalone='yes'?>
<Relationships xmlns="http://schemas.openxmlformats.org/package/2006/relationships"><Relationship Id="rId1" Type="http://schemas.openxmlformats.org/officeDocument/2006/relationships/package" Target="../embeddings/Microsoft_Excel_Worksheet194.xlsx"/></Relationships>
</file>

<file path=ppt/charts/_rels/chart195.xml.rels><?xml version='1.0' encoding='UTF-8' standalone='yes'?>
<Relationships xmlns="http://schemas.openxmlformats.org/package/2006/relationships"><Relationship Id="rId1" Type="http://schemas.openxmlformats.org/officeDocument/2006/relationships/package" Target="../embeddings/Microsoft_Excel_Worksheet195.xlsx"/></Relationships>
</file>

<file path=ppt/charts/_rels/chart196.xml.rels><?xml version='1.0' encoding='UTF-8' standalone='yes'?>
<Relationships xmlns="http://schemas.openxmlformats.org/package/2006/relationships"><Relationship Id="rId1" Type="http://schemas.openxmlformats.org/officeDocument/2006/relationships/package" Target="../embeddings/Microsoft_Excel_Worksheet196.xlsx"/></Relationships>
</file>

<file path=ppt/charts/_rels/chart197.xml.rels><?xml version='1.0' encoding='UTF-8' standalone='yes'?>
<Relationships xmlns="http://schemas.openxmlformats.org/package/2006/relationships"><Relationship Id="rId1" Type="http://schemas.openxmlformats.org/officeDocument/2006/relationships/package" Target="../embeddings/Microsoft_Excel_Worksheet197.xlsx"/></Relationships>
</file>

<file path=ppt/charts/_rels/chart198.xml.rels><?xml version='1.0' encoding='UTF-8' standalone='yes'?>
<Relationships xmlns="http://schemas.openxmlformats.org/package/2006/relationships"><Relationship Id="rId1" Type="http://schemas.openxmlformats.org/officeDocument/2006/relationships/package" Target="../embeddings/Microsoft_Excel_Worksheet198.xlsx"/></Relationships>
</file>

<file path=ppt/charts/_rels/chart199.xml.rels><?xml version='1.0' encoding='UTF-8' standalone='yes'?>
<Relationships xmlns="http://schemas.openxmlformats.org/package/2006/relationships"><Relationship Id="rId1" Type="http://schemas.openxmlformats.org/officeDocument/2006/relationships/package" Target="../embeddings/Microsoft_Excel_Worksheet199.xlsx"/></Relationships>
</file>

<file path=ppt/charts/_rels/chart200.xml.rels><?xml version='1.0' encoding='UTF-8' standalone='yes'?>
<Relationships xmlns="http://schemas.openxmlformats.org/package/2006/relationships"><Relationship Id="rId1" Type="http://schemas.openxmlformats.org/officeDocument/2006/relationships/package" Target="../embeddings/Microsoft_Excel_Worksheet200.xlsx"/></Relationships>
</file>

<file path=ppt/charts/_rels/chart201.xml.rels><?xml version='1.0' encoding='UTF-8' standalone='yes'?>
<Relationships xmlns="http://schemas.openxmlformats.org/package/2006/relationships"><Relationship Id="rId1" Type="http://schemas.openxmlformats.org/officeDocument/2006/relationships/package" Target="../embeddings/Microsoft_Excel_Worksheet201.xlsx"/></Relationships>
</file>

<file path=ppt/charts/_rels/chart202.xml.rels><?xml version='1.0' encoding='UTF-8' standalone='yes'?>
<Relationships xmlns="http://schemas.openxmlformats.org/package/2006/relationships"><Relationship Id="rId1" Type="http://schemas.openxmlformats.org/officeDocument/2006/relationships/package" Target="../embeddings/Microsoft_Excel_Worksheet202.xlsx"/></Relationships>
</file>

<file path=ppt/charts/_rels/chart203.xml.rels><?xml version='1.0' encoding='UTF-8' standalone='yes'?>
<Relationships xmlns="http://schemas.openxmlformats.org/package/2006/relationships"><Relationship Id="rId1" Type="http://schemas.openxmlformats.org/officeDocument/2006/relationships/package" Target="../embeddings/Microsoft_Excel_Worksheet203.xlsx"/></Relationships>
</file>

<file path=ppt/charts/_rels/chart204.xml.rels><?xml version='1.0' encoding='UTF-8' standalone='yes'?>
<Relationships xmlns="http://schemas.openxmlformats.org/package/2006/relationships"><Relationship Id="rId1" Type="http://schemas.openxmlformats.org/officeDocument/2006/relationships/package" Target="../embeddings/Microsoft_Excel_Worksheet204.xlsx"/></Relationships>
</file>

<file path=ppt/charts/_rels/chart205.xml.rels><?xml version='1.0' encoding='UTF-8' standalone='yes'?>
<Relationships xmlns="http://schemas.openxmlformats.org/package/2006/relationships"><Relationship Id="rId1" Type="http://schemas.openxmlformats.org/officeDocument/2006/relationships/package" Target="../embeddings/Microsoft_Excel_Worksheet205.xlsx"/></Relationships>
</file>

<file path=ppt/charts/_rels/chart206.xml.rels><?xml version='1.0' encoding='UTF-8' standalone='yes'?>
<Relationships xmlns="http://schemas.openxmlformats.org/package/2006/relationships"><Relationship Id="rId1" Type="http://schemas.openxmlformats.org/officeDocument/2006/relationships/package" Target="../embeddings/Microsoft_Excel_Worksheet206.xlsx"/></Relationships>
</file>

<file path=ppt/charts/_rels/chart207.xml.rels><?xml version='1.0' encoding='UTF-8' standalone='yes'?>
<Relationships xmlns="http://schemas.openxmlformats.org/package/2006/relationships"><Relationship Id="rId1" Type="http://schemas.openxmlformats.org/officeDocument/2006/relationships/package" Target="../embeddings/Microsoft_Excel_Worksheet207.xlsx"/></Relationships>
</file>

<file path=ppt/charts/_rels/chart208.xml.rels><?xml version='1.0' encoding='UTF-8' standalone='yes'?>
<Relationships xmlns="http://schemas.openxmlformats.org/package/2006/relationships"><Relationship Id="rId1" Type="http://schemas.openxmlformats.org/officeDocument/2006/relationships/package" Target="../embeddings/Microsoft_Excel_Worksheet208.xlsx"/></Relationships>
</file>

<file path=ppt/charts/_rels/chart209.xml.rels><?xml version='1.0' encoding='UTF-8' standalone='yes'?>
<Relationships xmlns="http://schemas.openxmlformats.org/package/2006/relationships"><Relationship Id="rId1" Type="http://schemas.openxmlformats.org/officeDocument/2006/relationships/package" Target="../embeddings/Microsoft_Excel_Worksheet209.xlsx"/></Relationships>
</file>

<file path=ppt/charts/_rels/chart210.xml.rels><?xml version='1.0' encoding='UTF-8' standalone='yes'?>
<Relationships xmlns="http://schemas.openxmlformats.org/package/2006/relationships"><Relationship Id="rId1" Type="http://schemas.openxmlformats.org/officeDocument/2006/relationships/package" Target="../embeddings/Microsoft_Excel_Worksheet210.xlsx"/></Relationships>
</file>

<file path=ppt/charts/_rels/chart211.xml.rels><?xml version='1.0' encoding='UTF-8' standalone='yes'?>
<Relationships xmlns="http://schemas.openxmlformats.org/package/2006/relationships"><Relationship Id="rId1" Type="http://schemas.openxmlformats.org/officeDocument/2006/relationships/package" Target="../embeddings/Microsoft_Excel_Worksheet211.xlsx"/></Relationships>
</file>

<file path=ppt/charts/_rels/chart212.xml.rels><?xml version='1.0' encoding='UTF-8' standalone='yes'?>
<Relationships xmlns="http://schemas.openxmlformats.org/package/2006/relationships"><Relationship Id="rId1" Type="http://schemas.openxmlformats.org/officeDocument/2006/relationships/package" Target="../embeddings/Microsoft_Excel_Worksheet212.xlsx"/></Relationships>
</file>

<file path=ppt/charts/_rels/chart213.xml.rels><?xml version='1.0' encoding='UTF-8' standalone='yes'?>
<Relationships xmlns="http://schemas.openxmlformats.org/package/2006/relationships"><Relationship Id="rId1" Type="http://schemas.openxmlformats.org/officeDocument/2006/relationships/package" Target="../embeddings/Microsoft_Excel_Worksheet213.xlsx"/></Relationships>
</file>

<file path=ppt/charts/_rels/chart214.xml.rels><?xml version='1.0' encoding='UTF-8' standalone='yes'?>
<Relationships xmlns="http://schemas.openxmlformats.org/package/2006/relationships"><Relationship Id="rId1" Type="http://schemas.openxmlformats.org/officeDocument/2006/relationships/package" Target="../embeddings/Microsoft_Excel_Worksheet214.xlsx"/></Relationships>
</file>

<file path=ppt/charts/_rels/chart215.xml.rels><?xml version='1.0' encoding='UTF-8' standalone='yes'?>
<Relationships xmlns="http://schemas.openxmlformats.org/package/2006/relationships"><Relationship Id="rId1" Type="http://schemas.openxmlformats.org/officeDocument/2006/relationships/package" Target="../embeddings/Microsoft_Excel_Worksheet215.xlsx"/></Relationships>
</file>

<file path=ppt/charts/_rels/chart216.xml.rels><?xml version='1.0' encoding='UTF-8' standalone='yes'?>
<Relationships xmlns="http://schemas.openxmlformats.org/package/2006/relationships"><Relationship Id="rId1" Type="http://schemas.openxmlformats.org/officeDocument/2006/relationships/package" Target="../embeddings/Microsoft_Excel_Worksheet216.xlsx"/></Relationships>
</file>

<file path=ppt/charts/_rels/chart217.xml.rels><?xml version='1.0' encoding='UTF-8' standalone='yes'?>
<Relationships xmlns="http://schemas.openxmlformats.org/package/2006/relationships"><Relationship Id="rId1" Type="http://schemas.openxmlformats.org/officeDocument/2006/relationships/package" Target="../embeddings/Microsoft_Excel_Worksheet217.xlsx"/></Relationships>
</file>

<file path=ppt/charts/_rels/chart218.xml.rels><?xml version='1.0' encoding='UTF-8' standalone='yes'?>
<Relationships xmlns="http://schemas.openxmlformats.org/package/2006/relationships"><Relationship Id="rId1" Type="http://schemas.openxmlformats.org/officeDocument/2006/relationships/package" Target="../embeddings/Microsoft_Excel_Worksheet218.xlsx"/></Relationships>
</file>

<file path=ppt/charts/_rels/chart219.xml.rels><?xml version='1.0' encoding='UTF-8' standalone='yes'?>
<Relationships xmlns="http://schemas.openxmlformats.org/package/2006/relationships"><Relationship Id="rId1" Type="http://schemas.openxmlformats.org/officeDocument/2006/relationships/package" Target="../embeddings/Microsoft_Excel_Worksheet219.xlsx"/></Relationships>
</file>

<file path=ppt/charts/_rels/chart220.xml.rels><?xml version='1.0' encoding='UTF-8' standalone='yes'?>
<Relationships xmlns="http://schemas.openxmlformats.org/package/2006/relationships"><Relationship Id="rId1" Type="http://schemas.openxmlformats.org/officeDocument/2006/relationships/package" Target="../embeddings/Microsoft_Excel_Worksheet220.xlsx"/></Relationships>
</file>

<file path=ppt/charts/_rels/chart221.xml.rels><?xml version='1.0' encoding='UTF-8' standalone='yes'?>
<Relationships xmlns="http://schemas.openxmlformats.org/package/2006/relationships"><Relationship Id="rId1" Type="http://schemas.openxmlformats.org/officeDocument/2006/relationships/package" Target="../embeddings/Microsoft_Excel_Worksheet221.xlsx"/></Relationships>
</file>

<file path=ppt/charts/_rels/chart222.xml.rels><?xml version='1.0' encoding='UTF-8' standalone='yes'?>
<Relationships xmlns="http://schemas.openxmlformats.org/package/2006/relationships"><Relationship Id="rId1" Type="http://schemas.openxmlformats.org/officeDocument/2006/relationships/package" Target="../embeddings/Microsoft_Excel_Worksheet222.xlsx"/></Relationships>
</file>

<file path=ppt/charts/_rels/chart223.xml.rels><?xml version='1.0' encoding='UTF-8' standalone='yes'?>
<Relationships xmlns="http://schemas.openxmlformats.org/package/2006/relationships"><Relationship Id="rId1" Type="http://schemas.openxmlformats.org/officeDocument/2006/relationships/package" Target="../embeddings/Microsoft_Excel_Worksheet223.xlsx"/></Relationships>
</file>

<file path=ppt/charts/_rels/chart224.xml.rels><?xml version='1.0' encoding='UTF-8' standalone='yes'?>
<Relationships xmlns="http://schemas.openxmlformats.org/package/2006/relationships"><Relationship Id="rId1" Type="http://schemas.openxmlformats.org/officeDocument/2006/relationships/package" Target="../embeddings/Microsoft_Excel_Worksheet224.xlsx"/></Relationships>
</file>

<file path=ppt/charts/_rels/chart225.xml.rels><?xml version='1.0' encoding='UTF-8' standalone='yes'?>
<Relationships xmlns="http://schemas.openxmlformats.org/package/2006/relationships"><Relationship Id="rId1" Type="http://schemas.openxmlformats.org/officeDocument/2006/relationships/package" Target="../embeddings/Microsoft_Excel_Worksheet225.xlsx"/></Relationships>
</file>

<file path=ppt/charts/_rels/chart226.xml.rels><?xml version='1.0' encoding='UTF-8' standalone='yes'?>
<Relationships xmlns="http://schemas.openxmlformats.org/package/2006/relationships"><Relationship Id="rId1" Type="http://schemas.openxmlformats.org/officeDocument/2006/relationships/package" Target="../embeddings/Microsoft_Excel_Worksheet226.xlsx"/></Relationships>
</file>

<file path=ppt/charts/_rels/chart227.xml.rels><?xml version='1.0' encoding='UTF-8' standalone='yes'?>
<Relationships xmlns="http://schemas.openxmlformats.org/package/2006/relationships"><Relationship Id="rId1" Type="http://schemas.openxmlformats.org/officeDocument/2006/relationships/package" Target="../embeddings/Microsoft_Excel_Worksheet227.xlsx"/></Relationships>
</file>

<file path=ppt/charts/_rels/chart228.xml.rels><?xml version='1.0' encoding='UTF-8' standalone='yes'?>
<Relationships xmlns="http://schemas.openxmlformats.org/package/2006/relationships"><Relationship Id="rId1" Type="http://schemas.openxmlformats.org/officeDocument/2006/relationships/package" Target="../embeddings/Microsoft_Excel_Worksheet228.xlsx"/></Relationships>
</file>

<file path=ppt/charts/_rels/chart229.xml.rels><?xml version='1.0' encoding='UTF-8' standalone='yes'?>
<Relationships xmlns="http://schemas.openxmlformats.org/package/2006/relationships"><Relationship Id="rId1" Type="http://schemas.openxmlformats.org/officeDocument/2006/relationships/package" Target="../embeddings/Microsoft_Excel_Worksheet229.xlsx"/></Relationships>
</file>

<file path=ppt/charts/_rels/chart230.xml.rels><?xml version='1.0' encoding='UTF-8' standalone='yes'?>
<Relationships xmlns="http://schemas.openxmlformats.org/package/2006/relationships"><Relationship Id="rId1" Type="http://schemas.openxmlformats.org/officeDocument/2006/relationships/package" Target="../embeddings/Microsoft_Excel_Worksheet230.xlsx"/></Relationships>
</file>

<file path=ppt/charts/_rels/chart231.xml.rels><?xml version='1.0' encoding='UTF-8' standalone='yes'?>
<Relationships xmlns="http://schemas.openxmlformats.org/package/2006/relationships"><Relationship Id="rId1" Type="http://schemas.openxmlformats.org/officeDocument/2006/relationships/package" Target="../embeddings/Microsoft_Excel_Worksheet231.xlsx"/></Relationships>
</file>

<file path=ppt/charts/_rels/chart232.xml.rels><?xml version='1.0' encoding='UTF-8' standalone='yes'?>
<Relationships xmlns="http://schemas.openxmlformats.org/package/2006/relationships"><Relationship Id="rId1" Type="http://schemas.openxmlformats.org/officeDocument/2006/relationships/package" Target="../embeddings/Microsoft_Excel_Worksheet232.xlsx"/></Relationships>
</file>

<file path=ppt/charts/_rels/chart233.xml.rels><?xml version='1.0' encoding='UTF-8' standalone='yes'?>
<Relationships xmlns="http://schemas.openxmlformats.org/package/2006/relationships"><Relationship Id="rId1" Type="http://schemas.openxmlformats.org/officeDocument/2006/relationships/package" Target="../embeddings/Microsoft_Excel_Worksheet233.xlsx"/></Relationships>
</file>

<file path=ppt/charts/_rels/chart234.xml.rels><?xml version='1.0' encoding='UTF-8' standalone='yes'?>
<Relationships xmlns="http://schemas.openxmlformats.org/package/2006/relationships"><Relationship Id="rId1" Type="http://schemas.openxmlformats.org/officeDocument/2006/relationships/package" Target="../embeddings/Microsoft_Excel_Worksheet234.xlsx"/></Relationships>
</file>

<file path=ppt/charts/_rels/chart235.xml.rels><?xml version='1.0' encoding='UTF-8' standalone='yes'?>
<Relationships xmlns="http://schemas.openxmlformats.org/package/2006/relationships"><Relationship Id="rId1" Type="http://schemas.openxmlformats.org/officeDocument/2006/relationships/package" Target="../embeddings/Microsoft_Excel_Worksheet235.xlsx"/></Relationships>
</file>

<file path=ppt/charts/_rels/chart236.xml.rels><?xml version='1.0' encoding='UTF-8' standalone='yes'?>
<Relationships xmlns="http://schemas.openxmlformats.org/package/2006/relationships"><Relationship Id="rId1" Type="http://schemas.openxmlformats.org/officeDocument/2006/relationships/package" Target="../embeddings/Microsoft_Excel_Worksheet236.xlsx"/></Relationships>
</file>

<file path=ppt/charts/_rels/chart237.xml.rels><?xml version='1.0' encoding='UTF-8' standalone='yes'?>
<Relationships xmlns="http://schemas.openxmlformats.org/package/2006/relationships"><Relationship Id="rId1" Type="http://schemas.openxmlformats.org/officeDocument/2006/relationships/package" Target="../embeddings/Microsoft_Excel_Worksheet237.xlsx"/></Relationships>
</file>

<file path=ppt/charts/_rels/chart238.xml.rels><?xml version='1.0' encoding='UTF-8' standalone='yes'?>
<Relationships xmlns="http://schemas.openxmlformats.org/package/2006/relationships"><Relationship Id="rId1" Type="http://schemas.openxmlformats.org/officeDocument/2006/relationships/package" Target="../embeddings/Microsoft_Excel_Worksheet238.xlsx"/></Relationships>
</file>

<file path=ppt/charts/_rels/chart239.xml.rels><?xml version='1.0' encoding='UTF-8' standalone='yes'?>
<Relationships xmlns="http://schemas.openxmlformats.org/package/2006/relationships"><Relationship Id="rId1" Type="http://schemas.openxmlformats.org/officeDocument/2006/relationships/package" Target="../embeddings/Microsoft_Excel_Worksheet239.xlsx"/></Relationships>
</file>

<file path=ppt/charts/_rels/chart240.xml.rels><?xml version='1.0' encoding='UTF-8' standalone='yes'?>
<Relationships xmlns="http://schemas.openxmlformats.org/package/2006/relationships"><Relationship Id="rId1" Type="http://schemas.openxmlformats.org/officeDocument/2006/relationships/package" Target="../embeddings/Microsoft_Excel_Worksheet240.xlsx"/></Relationships>
</file>

<file path=ppt/charts/_rels/chart241.xml.rels><?xml version='1.0' encoding='UTF-8' standalone='yes'?>
<Relationships xmlns="http://schemas.openxmlformats.org/package/2006/relationships"><Relationship Id="rId1" Type="http://schemas.openxmlformats.org/officeDocument/2006/relationships/package" Target="../embeddings/Microsoft_Excel_Worksheet241.xlsx"/></Relationships>
</file>

<file path=ppt/charts/_rels/chart242.xml.rels><?xml version='1.0' encoding='UTF-8' standalone='yes'?>
<Relationships xmlns="http://schemas.openxmlformats.org/package/2006/relationships"><Relationship Id="rId1" Type="http://schemas.openxmlformats.org/officeDocument/2006/relationships/package" Target="../embeddings/Microsoft_Excel_Worksheet242.xlsx"/></Relationships>
</file>

<file path=ppt/charts/_rels/chart243.xml.rels><?xml version='1.0' encoding='UTF-8' standalone='yes'?>
<Relationships xmlns="http://schemas.openxmlformats.org/package/2006/relationships"><Relationship Id="rId1" Type="http://schemas.openxmlformats.org/officeDocument/2006/relationships/package" Target="../embeddings/Microsoft_Excel_Worksheet243.xlsx"/></Relationships>
</file>

<file path=ppt/charts/_rels/chart244.xml.rels><?xml version='1.0' encoding='UTF-8' standalone='yes'?>
<Relationships xmlns="http://schemas.openxmlformats.org/package/2006/relationships"><Relationship Id="rId1" Type="http://schemas.openxmlformats.org/officeDocument/2006/relationships/package" Target="../embeddings/Microsoft_Excel_Worksheet244.xlsx"/></Relationships>
</file>

<file path=ppt/charts/_rels/chart245.xml.rels><?xml version='1.0' encoding='UTF-8' standalone='yes'?>
<Relationships xmlns="http://schemas.openxmlformats.org/package/2006/relationships"><Relationship Id="rId1" Type="http://schemas.openxmlformats.org/officeDocument/2006/relationships/package" Target="../embeddings/Microsoft_Excel_Worksheet245.xlsx"/></Relationships>
</file>

<file path=ppt/charts/_rels/chart246.xml.rels><?xml version='1.0' encoding='UTF-8' standalone='yes'?>
<Relationships xmlns="http://schemas.openxmlformats.org/package/2006/relationships"><Relationship Id="rId1" Type="http://schemas.openxmlformats.org/officeDocument/2006/relationships/package" Target="../embeddings/Microsoft_Excel_Worksheet246.xlsx"/></Relationships>
</file>

<file path=ppt/charts/_rels/chart247.xml.rels><?xml version='1.0' encoding='UTF-8' standalone='yes'?>
<Relationships xmlns="http://schemas.openxmlformats.org/package/2006/relationships"><Relationship Id="rId1" Type="http://schemas.openxmlformats.org/officeDocument/2006/relationships/package" Target="../embeddings/Microsoft_Excel_Worksheet247.xlsx"/></Relationships>
</file>

<file path=ppt/charts/_rels/chart248.xml.rels><?xml version='1.0' encoding='UTF-8' standalone='yes'?>
<Relationships xmlns="http://schemas.openxmlformats.org/package/2006/relationships"><Relationship Id="rId1" Type="http://schemas.openxmlformats.org/officeDocument/2006/relationships/package" Target="../embeddings/Microsoft_Excel_Worksheet248.xlsx"/></Relationships>
</file>

<file path=ppt/charts/_rels/chart249.xml.rels><?xml version='1.0' encoding='UTF-8' standalone='yes'?>
<Relationships xmlns="http://schemas.openxmlformats.org/package/2006/relationships"><Relationship Id="rId1" Type="http://schemas.openxmlformats.org/officeDocument/2006/relationships/package" Target="../embeddings/Microsoft_Excel_Worksheet249.xlsx"/></Relationships>
</file>

<file path=ppt/charts/_rels/chart250.xml.rels><?xml version='1.0' encoding='UTF-8' standalone='yes'?>
<Relationships xmlns="http://schemas.openxmlformats.org/package/2006/relationships"><Relationship Id="rId1" Type="http://schemas.openxmlformats.org/officeDocument/2006/relationships/package" Target="../embeddings/Microsoft_Excel_Worksheet250.xlsx"/></Relationships>
</file>

<file path=ppt/charts/_rels/chart251.xml.rels><?xml version='1.0' encoding='UTF-8' standalone='yes'?>
<Relationships xmlns="http://schemas.openxmlformats.org/package/2006/relationships"><Relationship Id="rId1" Type="http://schemas.openxmlformats.org/officeDocument/2006/relationships/package" Target="../embeddings/Microsoft_Excel_Worksheet251.xlsx"/></Relationships>
</file>

<file path=ppt/charts/_rels/chart252.xml.rels><?xml version='1.0' encoding='UTF-8' standalone='yes'?>
<Relationships xmlns="http://schemas.openxmlformats.org/package/2006/relationships"><Relationship Id="rId1" Type="http://schemas.openxmlformats.org/officeDocument/2006/relationships/package" Target="../embeddings/Microsoft_Excel_Worksheet252.xlsx"/></Relationships>
</file>

<file path=ppt/charts/_rels/chart253.xml.rels><?xml version='1.0' encoding='UTF-8' standalone='yes'?>
<Relationships xmlns="http://schemas.openxmlformats.org/package/2006/relationships"><Relationship Id="rId1" Type="http://schemas.openxmlformats.org/officeDocument/2006/relationships/package" Target="../embeddings/Microsoft_Excel_Worksheet253.xlsx"/></Relationships>
</file>

<file path=ppt/charts/_rels/chart254.xml.rels><?xml version='1.0' encoding='UTF-8' standalone='yes'?>
<Relationships xmlns="http://schemas.openxmlformats.org/package/2006/relationships"><Relationship Id="rId1" Type="http://schemas.openxmlformats.org/officeDocument/2006/relationships/package" Target="../embeddings/Microsoft_Excel_Worksheet254.xlsx"/></Relationships>
</file>

<file path=ppt/charts/_rels/chart255.xml.rels><?xml version='1.0' encoding='UTF-8' standalone='yes'?>
<Relationships xmlns="http://schemas.openxmlformats.org/package/2006/relationships"><Relationship Id="rId1" Type="http://schemas.openxmlformats.org/officeDocument/2006/relationships/package" Target="../embeddings/Microsoft_Excel_Worksheet255.xlsx"/></Relationships>
</file>

<file path=ppt/charts/_rels/chart256.xml.rels><?xml version='1.0' encoding='UTF-8' standalone='yes'?>
<Relationships xmlns="http://schemas.openxmlformats.org/package/2006/relationships"><Relationship Id="rId1" Type="http://schemas.openxmlformats.org/officeDocument/2006/relationships/package" Target="../embeddings/Microsoft_Excel_Worksheet256.xlsx"/></Relationships>
</file>

<file path=ppt/charts/_rels/chart257.xml.rels><?xml version='1.0' encoding='UTF-8' standalone='yes'?>
<Relationships xmlns="http://schemas.openxmlformats.org/package/2006/relationships"><Relationship Id="rId1" Type="http://schemas.openxmlformats.org/officeDocument/2006/relationships/package" Target="../embeddings/Microsoft_Excel_Worksheet257.xlsx"/></Relationships>
</file>

<file path=ppt/charts/_rels/chart258.xml.rels><?xml version='1.0' encoding='UTF-8' standalone='yes'?>
<Relationships xmlns="http://schemas.openxmlformats.org/package/2006/relationships"><Relationship Id="rId1" Type="http://schemas.openxmlformats.org/officeDocument/2006/relationships/package" Target="../embeddings/Microsoft_Excel_Worksheet258.xlsx"/></Relationships>
</file>

<file path=ppt/charts/_rels/chart259.xml.rels><?xml version='1.0' encoding='UTF-8' standalone='yes'?>
<Relationships xmlns="http://schemas.openxmlformats.org/package/2006/relationships"><Relationship Id="rId1" Type="http://schemas.openxmlformats.org/officeDocument/2006/relationships/package" Target="../embeddings/Microsoft_Excel_Worksheet259.xlsx"/></Relationships>
</file>

<file path=ppt/charts/_rels/chart260.xml.rels><?xml version='1.0' encoding='UTF-8' standalone='yes'?>
<Relationships xmlns="http://schemas.openxmlformats.org/package/2006/relationships"><Relationship Id="rId1" Type="http://schemas.openxmlformats.org/officeDocument/2006/relationships/package" Target="../embeddings/Microsoft_Excel_Worksheet260.xlsx"/></Relationships>
</file>

<file path=ppt/charts/_rels/chart261.xml.rels><?xml version='1.0' encoding='UTF-8' standalone='yes'?>
<Relationships xmlns="http://schemas.openxmlformats.org/package/2006/relationships"><Relationship Id="rId1" Type="http://schemas.openxmlformats.org/officeDocument/2006/relationships/package" Target="../embeddings/Microsoft_Excel_Worksheet261.xlsx"/></Relationships>
</file>

<file path=ppt/charts/_rels/chart262.xml.rels><?xml version='1.0' encoding='UTF-8' standalone='yes'?>
<Relationships xmlns="http://schemas.openxmlformats.org/package/2006/relationships"><Relationship Id="rId1" Type="http://schemas.openxmlformats.org/officeDocument/2006/relationships/package" Target="../embeddings/Microsoft_Excel_Worksheet262.xlsx"/></Relationships>
</file>

<file path=ppt/charts/_rels/chart263.xml.rels><?xml version='1.0' encoding='UTF-8' standalone='yes'?>
<Relationships xmlns="http://schemas.openxmlformats.org/package/2006/relationships"><Relationship Id="rId1" Type="http://schemas.openxmlformats.org/officeDocument/2006/relationships/package" Target="../embeddings/Microsoft_Excel_Worksheet26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4.54</c:v>
                </c:pt>
                <c:pt idx="2">
                  <c:v>5.97</c:v>
                </c:pt>
                <c:pt idx="3">
                  <c:v>6.14</c:v>
                </c:pt>
                <c:pt idx="4">
                  <c:v>5.16</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4.54</c:v>
                </c:pt>
                <c:pt idx="2">
                  <c:v>5.97</c:v>
                </c:pt>
                <c:pt idx="3">
                  <c:v>6.14</c:v>
                </c:pt>
                <c:pt idx="4">
                  <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
                </c:pt>
                <c:pt idx="2">
                  <c:v/>
                </c:pt>
                <c:pt idx="3">
                  <c:v/>
                </c:pt>
                <c:pt idx="4">
                  <c:v>5.16</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
                </c:pt>
                <c:pt idx="2">
                  <c:v/>
                </c:pt>
                <c:pt idx="3">
                  <c:v/>
                </c:pt>
                <c:pt idx="4">
                  <c:v>5.37</c:v>
                </c:pt>
                <c:pt idx="5">
                  <c:v/>
                </c:pt>
                <c:pt idx="6">
                  <c:v/>
                </c:pt>
                <c:pt idx="7">
                  <c:v/>
                </c:pt>
                <c:pt idx="8">
                  <c:v/>
                </c:pt>
                <c:pt idx="9">
                  <c:v>6.1</c:v>
                </c:pt>
                <c:pt idx="10">
                  <c:v/>
                </c:pt>
                <c:pt idx="11">
                  <c:v>4.32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4.4</c:v>
                </c:pt>
                <c:pt idx="2">
                  <c:v>5.19</c:v>
                </c:pt>
                <c:pt idx="3">
                  <c:v>5.55</c:v>
                </c:pt>
                <c:pt idx="4">
                  <c:v/>
                </c:pt>
                <c:pt idx="5">
                  <c:v>5.22</c:v>
                </c:pt>
                <c:pt idx="6">
                  <c:v>5.56</c:v>
                </c:pt>
                <c:pt idx="7">
                  <c:v>5.08</c:v>
                </c:pt>
                <c:pt idx="8">
                  <c:v>3.91</c:v>
                </c:pt>
                <c:pt idx="9">
                  <c:v/>
                </c:pt>
                <c:pt idx="10">
                  <c:v>3.67</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4.4</c:v>
                </c:pt>
                <c:pt idx="2">
                  <c:v>5.19</c:v>
                </c:pt>
                <c:pt idx="3">
                  <c:v>5.55</c:v>
                </c:pt>
                <c:pt idx="4">
                  <c:v>5.37</c:v>
                </c:pt>
                <c:pt idx="5">
                  <c:v>5.22</c:v>
                </c:pt>
                <c:pt idx="6">
                  <c:v>5.56</c:v>
                </c:pt>
                <c:pt idx="7">
                  <c:v>5.08</c:v>
                </c:pt>
                <c:pt idx="8">
                  <c:v>3.91</c:v>
                </c:pt>
                <c:pt idx="9">
                  <c:v>6.1</c:v>
                </c:pt>
                <c:pt idx="10">
                  <c:v>3.67</c:v>
                </c:pt>
                <c:pt idx="11">
                  <c:v>4.32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21.12</c:v>
                </c:pt>
                <c:pt idx="3">
                  <c:v>21.8</c:v>
                </c:pt>
                <c:pt idx="4">
                  <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
                </c:pt>
                <c:pt idx="3">
                  <c:v/>
                </c:pt>
                <c:pt idx="4">
                  <c:v>20.12</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
                </c:pt>
                <c:pt idx="3">
                  <c:v/>
                </c:pt>
                <c:pt idx="4">
                  <c:v>20.28</c:v>
                </c:pt>
                <c:pt idx="5">
                  <c:v/>
                </c:pt>
                <c:pt idx="6">
                  <c:v/>
                </c:pt>
                <c:pt idx="7">
                  <c:v/>
                </c:pt>
                <c:pt idx="8">
                  <c:v/>
                </c:pt>
                <c:pt idx="9">
                  <c:v>21.27</c:v>
                </c:pt>
                <c:pt idx="10">
                  <c:v/>
                </c:pt>
                <c:pt idx="11">
                  <c:v>19.32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20.19</c:v>
                </c:pt>
                <c:pt idx="3">
                  <c:v>20.85</c:v>
                </c:pt>
                <c:pt idx="4">
                  <c:v/>
                </c:pt>
                <c:pt idx="5">
                  <c:v>20.34</c:v>
                </c:pt>
                <c:pt idx="6">
                  <c:v>20.75</c:v>
                </c:pt>
                <c:pt idx="7">
                  <c:v>20.32</c:v>
                </c:pt>
                <c:pt idx="8">
                  <c:v>19.03</c:v>
                </c:pt>
                <c:pt idx="9">
                  <c:v/>
                </c:pt>
                <c:pt idx="10">
                  <c:v>17.74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13.74</c:v>
                </c:pt>
                <c:pt idx="10">
                  <c:v/>
                </c:pt>
                <c:pt idx="11">
                  <c:v>12.92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
                </c:pt>
                <c:pt idx="10">
                  <c:v>11.84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6.77</c:v>
                </c:pt>
                <c:pt idx="3">
                  <c:v>7.14</c:v>
                </c:pt>
                <c:pt idx="4">
                  <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
                </c:pt>
                <c:pt idx="3">
                  <c:v/>
                </c:pt>
                <c:pt idx="4">
                  <c:v>6.41</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
                </c:pt>
                <c:pt idx="3">
                  <c:v/>
                </c:pt>
                <c:pt idx="4">
                  <c:v>6.67</c:v>
                </c:pt>
                <c:pt idx="5">
                  <c:v/>
                </c:pt>
                <c:pt idx="6">
                  <c:v/>
                </c:pt>
                <c:pt idx="7">
                  <c:v/>
                </c:pt>
                <c:pt idx="8">
                  <c:v/>
                </c:pt>
                <c:pt idx="9">
                  <c:v>7.53</c:v>
                </c:pt>
                <c:pt idx="10">
                  <c:v/>
                </c:pt>
                <c:pt idx="11">
                  <c:v>6.4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6.6</c:v>
                </c:pt>
                <c:pt idx="3">
                  <c:v>6.84</c:v>
                </c:pt>
                <c:pt idx="4">
                  <c:v/>
                </c:pt>
                <c:pt idx="5">
                  <c:v>6.81</c:v>
                </c:pt>
                <c:pt idx="6">
                  <c:v>6.97</c:v>
                </c:pt>
                <c:pt idx="7">
                  <c:v>6.81</c:v>
                </c:pt>
                <c:pt idx="8">
                  <c:v>6.54</c:v>
                </c:pt>
                <c:pt idx="9">
                  <c:v/>
                </c:pt>
                <c:pt idx="10">
                  <c:v>5.91</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78.5</c:v>
                </c:pt>
                <c:pt idx="3">
                  <c:v>79.6</c:v>
                </c:pt>
                <c:pt idx="4">
                  <c:v>75.4</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78.5</c:v>
                </c:pt>
                <c:pt idx="3">
                  <c:v>79.6</c:v>
                </c:pt>
                <c:pt idx="4">
                  <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
                </c:pt>
                <c:pt idx="3">
                  <c:v/>
                </c:pt>
                <c:pt idx="4">
                  <c:v>75.4</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
                </c:pt>
                <c:pt idx="3">
                  <c:v/>
                </c:pt>
                <c:pt idx="4">
                  <c:v>76.9</c:v>
                </c:pt>
                <c:pt idx="5">
                  <c:v/>
                </c:pt>
                <c:pt idx="6">
                  <c:v/>
                </c:pt>
                <c:pt idx="7">
                  <c:v/>
                </c:pt>
                <c:pt idx="8">
                  <c:v/>
                </c:pt>
                <c:pt idx="9">
                  <c:v>82</c:v>
                </c:pt>
                <c:pt idx="10">
                  <c:v/>
                </c:pt>
                <c:pt idx="11">
                  <c:v>74.6</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74.1</c:v>
                </c:pt>
                <c:pt idx="3">
                  <c:v>76.3</c:v>
                </c:pt>
                <c:pt idx="4">
                  <c:v/>
                </c:pt>
                <c:pt idx="5">
                  <c:v>77.8</c:v>
                </c:pt>
                <c:pt idx="6">
                  <c:v>78.4</c:v>
                </c:pt>
                <c:pt idx="7">
                  <c:v>75.9</c:v>
                </c:pt>
                <c:pt idx="8">
                  <c:v>72.7</c:v>
                </c:pt>
                <c:pt idx="9">
                  <c:v/>
                </c:pt>
                <c:pt idx="10">
                  <c:v>73.4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74.1</c:v>
                </c:pt>
                <c:pt idx="3">
                  <c:v>76.3</c:v>
                </c:pt>
                <c:pt idx="4">
                  <c:v>76.9</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21.1</c:v>
                </c:pt>
                <c:pt idx="10">
                  <c:v/>
                </c:pt>
                <c:pt idx="11">
                  <c:v>16.7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
                </c:pt>
                <c:pt idx="10">
                  <c:v>14.4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36.3</c:v>
                </c:pt>
                <c:pt idx="3">
                  <c:v>38</c:v>
                </c:pt>
                <c:pt idx="4">
                  <c:v>33.6</c:v>
                </c:pt>
                <c:pt idx="5">
                  <c:v>37.7</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36.3</c:v>
                </c:pt>
                <c:pt idx="3">
                  <c:v>38</c:v>
                </c:pt>
                <c:pt idx="4">
                  <c:v/>
                </c:pt>
                <c:pt idx="5">
                  <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
                </c:pt>
                <c:pt idx="3">
                  <c:v/>
                </c:pt>
                <c:pt idx="4">
                  <c:v>33.6</c:v>
                </c:pt>
                <c:pt idx="5">
                  <c:v>37.7</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
                </c:pt>
                <c:pt idx="3">
                  <c:v/>
                </c:pt>
                <c:pt idx="4">
                  <c:v>36.7</c:v>
                </c:pt>
                <c:pt idx="5">
                  <c:v>38.1</c:v>
                </c:pt>
                <c:pt idx="6">
                  <c:v/>
                </c:pt>
                <c:pt idx="7">
                  <c:v/>
                </c:pt>
                <c:pt idx="8">
                  <c:v/>
                </c:pt>
                <c:pt idx="9">
                  <c:v>42.6</c:v>
                </c:pt>
                <c:pt idx="10">
                  <c:v/>
                </c:pt>
                <c:pt idx="11">
                  <c:v>33.8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35</c:v>
                </c:pt>
                <c:pt idx="3">
                  <c:v>37.7</c:v>
                </c:pt>
                <c:pt idx="4">
                  <c:v/>
                </c:pt>
                <c:pt idx="5">
                  <c:v/>
                </c:pt>
                <c:pt idx="6">
                  <c:v>39.7</c:v>
                </c:pt>
                <c:pt idx="7">
                  <c:v>35.7</c:v>
                </c:pt>
                <c:pt idx="8">
                  <c:v>34.8</c:v>
                </c:pt>
                <c:pt idx="9">
                  <c:v/>
                </c:pt>
                <c:pt idx="10">
                  <c:v>33.3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35</c:v>
                </c:pt>
                <c:pt idx="3">
                  <c:v>37.7</c:v>
                </c:pt>
                <c:pt idx="4">
                  <c:v>36.7</c:v>
                </c:pt>
                <c:pt idx="5">
                  <c:v>38.1</c:v>
                </c:pt>
                <c:pt idx="6">
                  <c:v>39.7</c:v>
                </c:pt>
                <c:pt idx="7">
                  <c:v>35.7</c:v>
                </c:pt>
                <c:pt idx="8">
                  <c:v>34.8</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31531</c:v>
                </c:pt>
                <c:pt idx="3">
                  <c:v>30786</c:v>
                </c:pt>
                <c:pt idx="4">
                  <c:v>30636</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31531</c:v>
                </c:pt>
                <c:pt idx="3">
                  <c:v/>
                </c:pt>
                <c:pt idx="4">
                  <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
                </c:pt>
                <c:pt idx="3">
                  <c:v>30786</c:v>
                </c:pt>
                <c:pt idx="4">
                  <c:v>30636</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
                </c:pt>
                <c:pt idx="3">
                  <c:v>31754</c:v>
                </c:pt>
                <c:pt idx="4">
                  <c:v>31740</c:v>
                </c:pt>
                <c:pt idx="5">
                  <c:v/>
                </c:pt>
                <c:pt idx="6">
                  <c:v/>
                </c:pt>
                <c:pt idx="7">
                  <c:v/>
                </c:pt>
                <c:pt idx="8">
                  <c:v/>
                </c:pt>
                <c:pt idx="9">
                  <c:v>32494</c:v>
                </c:pt>
                <c:pt idx="10">
                  <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31247</c:v>
                </c:pt>
                <c:pt idx="3">
                  <c:v/>
                </c:pt>
                <c:pt idx="4">
                  <c:v/>
                </c:pt>
                <c:pt idx="5">
                  <c:v>31179</c:v>
                </c:pt>
                <c:pt idx="6">
                  <c:v>32360</c:v>
                </c:pt>
                <c:pt idx="7">
                  <c:v>31996</c:v>
                </c:pt>
                <c:pt idx="8">
                  <c:v>29989</c:v>
                </c:pt>
                <c:pt idx="9">
                  <c:v/>
                </c:pt>
                <c:pt idx="10">
                  <c:v>28359</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31247</c:v>
                </c:pt>
                <c:pt idx="3">
                  <c:v>31754</c:v>
                </c:pt>
                <c:pt idx="4">
                  <c:v>31740</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57788.84</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noFill/>
        <a:ln>
          <a:noFill/>
        </a:ln>
        <a:effectLst/>
      </c:spPr>
    </c:plotArea>
    <c:plotVisOnly val="1"/>
    <c:dispBlanksAs val="span"/>
  </c:chart>
  <c:spPr>
    <a:no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57788.84</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57794.35</c:v>
                </c:pt>
                <c:pt idx="5">
                  <c:v/>
                </c:pt>
                <c:pt idx="6">
                  <c:v/>
                </c:pt>
                <c:pt idx="7">
                  <c:v/>
                </c:pt>
                <c:pt idx="8">
                  <c:v/>
                </c:pt>
                <c:pt idx="9">
                  <c:v>58023.59000000028</c:v>
                </c:pt>
                <c:pt idx="10">
                  <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
                </c:pt>
                <c:pt idx="5">
                  <c:v>56468.18</c:v>
                </c:pt>
                <c:pt idx="6">
                  <c:v>57717.31</c:v>
                </c:pt>
                <c:pt idx="7">
                  <c:v>57021.2</c:v>
                </c:pt>
                <c:pt idx="8">
                  <c:v>53309.32</c:v>
                </c:pt>
                <c:pt idx="9">
                  <c:v/>
                </c:pt>
                <c:pt idx="10">
                  <c:v>51202.50000000025</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57794.35</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1.8055114778377321</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290</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
                </c:pt>
                <c:pt idx="11">
                  <c:v>288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80.7</c:v>
                </c:pt>
                <c:pt idx="2">
                  <c:v>80.8</c:v>
                </c:pt>
                <c:pt idx="3">
                  <c:v>80.7</c:v>
                </c:pt>
                <c:pt idx="4">
                  <c:v>80.7</c:v>
                </c:pt>
                <c:pt idx="5">
                  <c:v>80.8</c:v>
                </c:pt>
                <c:pt idx="6">
                  <c:v>80.8</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
                </c:pt>
                <c:pt idx="2">
                  <c:v/>
                </c:pt>
                <c:pt idx="3">
                  <c:v/>
                </c:pt>
                <c:pt idx="4">
                  <c:v/>
                </c:pt>
                <c:pt idx="5">
                  <c:v/>
                </c:pt>
                <c:pt idx="6">
                  <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80.7</c:v>
                </c:pt>
                <c:pt idx="2">
                  <c:v>80.8</c:v>
                </c:pt>
                <c:pt idx="3">
                  <c:v>80.7</c:v>
                </c:pt>
                <c:pt idx="4">
                  <c:v>80.7</c:v>
                </c:pt>
                <c:pt idx="5">
                  <c:v>80.8</c:v>
                </c:pt>
                <c:pt idx="6">
                  <c:v>80.8</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80.9</c:v>
                </c:pt>
                <c:pt idx="2">
                  <c:v>80.9</c:v>
                </c:pt>
                <c:pt idx="3">
                  <c:v>80.8</c:v>
                </c:pt>
                <c:pt idx="4">
                  <c:v>80.8</c:v>
                </c:pt>
                <c:pt idx="5">
                  <c:v>81.1</c:v>
                </c:pt>
                <c:pt idx="6">
                  <c:v>81</c:v>
                </c:pt>
                <c:pt idx="7">
                  <c:v/>
                </c:pt>
                <c:pt idx="8">
                  <c:v/>
                </c:pt>
                <c:pt idx="9">
                  <c:v/>
                </c:pt>
                <c:pt idx="10">
                  <c:v>81.1</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
                </c:pt>
                <c:pt idx="2">
                  <c:v/>
                </c:pt>
                <c:pt idx="3">
                  <c:v/>
                </c:pt>
                <c:pt idx="4">
                  <c:v/>
                </c:pt>
                <c:pt idx="5">
                  <c:v/>
                </c:pt>
                <c:pt idx="6">
                  <c:v/>
                </c:pt>
                <c:pt idx="7">
                  <c:v>80.8</c:v>
                </c:pt>
                <c:pt idx="8">
                  <c:v>80.7</c:v>
                </c:pt>
                <c:pt idx="9">
                  <c:v>80.8</c:v>
                </c:pt>
                <c:pt idx="10">
                  <c:v/>
                </c:pt>
                <c:pt idx="11">
                  <c:v>80.8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78</c:v>
                </c:pt>
                <c:pt idx="1">
                  <c:v>78</c:v>
                </c:pt>
                <c:pt idx="2">
                  <c:v>78</c:v>
                </c:pt>
                <c:pt idx="3">
                  <c:v>78</c:v>
                </c:pt>
                <c:pt idx="4">
                  <c:v>78</c:v>
                </c:pt>
                <c:pt idx="5">
                  <c:v>78</c:v>
                </c:pt>
                <c:pt idx="6">
                  <c:v>78</c:v>
                </c:pt>
                <c:pt idx="7">
                  <c:v>78</c:v>
                </c:pt>
                <c:pt idx="8">
                  <c:v>78</c:v>
                </c:pt>
                <c:pt idx="9">
                  <c:v>78</c:v>
                </c:pt>
                <c:pt idx="10">
                  <c:v>78</c:v>
                </c:pt>
                <c:pt idx="11">
                  <c:v>78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bench1</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c:v>
                </c:pt>
                <c:pt idx="1">
                  <c:v>80</c:v>
                </c:pt>
                <c:pt idx="2">
                  <c:v>80</c:v>
                </c:pt>
                <c:pt idx="3">
                  <c:v>80</c:v>
                </c:pt>
                <c:pt idx="4">
                  <c:v>80</c:v>
                </c:pt>
                <c:pt idx="5">
                  <c:v>80</c:v>
                </c:pt>
                <c:pt idx="6">
                  <c:v>80</c:v>
                </c:pt>
                <c:pt idx="7">
                  <c:v>80</c:v>
                </c:pt>
                <c:pt idx="8">
                  <c:v>80</c:v>
                </c:pt>
                <c:pt idx="9">
                  <c:v>80</c:v>
                </c:pt>
                <c:pt idx="10">
                  <c:v>80</c:v>
                </c:pt>
                <c:pt idx="11">
                  <c:v>80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80.9</c:v>
                </c:pt>
                <c:pt idx="2">
                  <c:v>80.9</c:v>
                </c:pt>
                <c:pt idx="3">
                  <c:v>80.8</c:v>
                </c:pt>
                <c:pt idx="4">
                  <c:v>80.8</c:v>
                </c:pt>
                <c:pt idx="5">
                  <c:v>81.1</c:v>
                </c:pt>
                <c:pt idx="6">
                  <c:v>81</c:v>
                </c:pt>
                <c:pt idx="7">
                  <c:v>80.8</c:v>
                </c:pt>
                <c:pt idx="8">
                  <c:v>80.7</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12.1</c:v>
                </c:pt>
                <c:pt idx="10">
                  <c:v>12.3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
                </c:pt>
                <c:pt idx="10">
                  <c:v/>
                </c:pt>
                <c:pt idx="11">
                  <c:v>11.8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10</c:v>
                </c:pt>
                <c:pt idx="1">
                  <c:v>10</c:v>
                </c:pt>
                <c:pt idx="2">
                  <c:v>10</c:v>
                </c:pt>
                <c:pt idx="3">
                  <c:v>10</c:v>
                </c:pt>
                <c:pt idx="4">
                  <c:v>10</c:v>
                </c:pt>
                <c:pt idx="5">
                  <c:v>10</c:v>
                </c:pt>
                <c:pt idx="6">
                  <c:v>10</c:v>
                </c:pt>
                <c:pt idx="7">
                  <c:v>10</c:v>
                </c:pt>
                <c:pt idx="8">
                  <c:v>10</c:v>
                </c:pt>
                <c:pt idx="9">
                  <c:v>10</c:v>
                </c:pt>
                <c:pt idx="10">
                  <c:v>10</c:v>
                </c:pt>
                <c:pt idx="11">
                  <c:v>10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7.5</c:v>
                </c:pt>
                <c:pt idx="1">
                  <c:v>7.5</c:v>
                </c:pt>
                <c:pt idx="2">
                  <c:v>7.5</c:v>
                </c:pt>
                <c:pt idx="3">
                  <c:v>7.5</c:v>
                </c:pt>
                <c:pt idx="4">
                  <c:v>7.5</c:v>
                </c:pt>
                <c:pt idx="5">
                  <c:v>7.5</c:v>
                </c:pt>
                <c:pt idx="6">
                  <c:v>7.5</c:v>
                </c:pt>
                <c:pt idx="7">
                  <c:v>7.5</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124.08</c:v>
                </c:pt>
                <c:pt idx="2">
                  <c:v>130.61</c:v>
                </c:pt>
                <c:pt idx="3">
                  <c:v>130.85</c:v>
                </c:pt>
                <c:pt idx="4">
                  <c:v>131.64</c:v>
                </c:pt>
                <c:pt idx="5">
                  <c:v>128.34</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
                </c:pt>
                <c:pt idx="2">
                  <c:v>130.61</c:v>
                </c:pt>
                <c:pt idx="3">
                  <c:v>130.85</c:v>
                </c:pt>
                <c:pt idx="4">
                  <c:v>131.64</c:v>
                </c:pt>
                <c:pt idx="5">
                  <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124.08</c:v>
                </c:pt>
                <c:pt idx="2">
                  <c:v/>
                </c:pt>
                <c:pt idx="3">
                  <c:v/>
                </c:pt>
                <c:pt idx="4">
                  <c:v/>
                </c:pt>
                <c:pt idx="5">
                  <c:v>128.34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125.41</c:v>
                </c:pt>
                <c:pt idx="2">
                  <c:v/>
                </c:pt>
                <c:pt idx="3">
                  <c:v/>
                </c:pt>
                <c:pt idx="4">
                  <c:v/>
                </c:pt>
                <c:pt idx="5">
                  <c:v>128.94</c:v>
                </c:pt>
                <c:pt idx="6">
                  <c:v/>
                </c:pt>
                <c:pt idx="7">
                  <c:v/>
                </c:pt>
                <c:pt idx="8">
                  <c:v/>
                </c:pt>
                <c:pt idx="9">
                  <c:v>125.52</c:v>
                </c:pt>
                <c:pt idx="10">
                  <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
                </c:pt>
                <c:pt idx="2">
                  <c:v>124.77</c:v>
                </c:pt>
                <c:pt idx="3">
                  <c:v>125.94</c:v>
                </c:pt>
                <c:pt idx="4">
                  <c:v>130.19</c:v>
                </c:pt>
                <c:pt idx="5">
                  <c:v/>
                </c:pt>
                <c:pt idx="6">
                  <c:v>125.78</c:v>
                </c:pt>
                <c:pt idx="7">
                  <c:v>125.81</c:v>
                </c:pt>
                <c:pt idx="8">
                  <c:v>124.46</c:v>
                </c:pt>
                <c:pt idx="9">
                  <c:v/>
                </c:pt>
                <c:pt idx="10">
                  <c:v>125.56</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125.41</c:v>
                </c:pt>
                <c:pt idx="2">
                  <c:v>124.77</c:v>
                </c:pt>
                <c:pt idx="3">
                  <c:v>125.94</c:v>
                </c:pt>
                <c:pt idx="4">
                  <c:v>130.19</c:v>
                </c:pt>
                <c:pt idx="5">
                  <c:v>128.94</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78.4</c:v>
                </c:pt>
                <c:pt idx="3">
                  <c:v>78.3</c:v>
                </c:pt>
                <c:pt idx="4">
                  <c:v>78.8</c:v>
                </c:pt>
                <c:pt idx="5">
                  <c:v>77.8</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78.4</c:v>
                </c:pt>
                <c:pt idx="3">
                  <c:v>78.3</c:v>
                </c:pt>
                <c:pt idx="4">
                  <c:v>78.8</c:v>
                </c:pt>
                <c:pt idx="5">
                  <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
                </c:pt>
                <c:pt idx="3">
                  <c:v/>
                </c:pt>
                <c:pt idx="4">
                  <c:v/>
                </c:pt>
                <c:pt idx="5">
                  <c:v>77.8</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
                </c:pt>
                <c:pt idx="3">
                  <c:v/>
                </c:pt>
                <c:pt idx="4">
                  <c:v/>
                </c:pt>
                <c:pt idx="5">
                  <c:v>78.3</c:v>
                </c:pt>
                <c:pt idx="6">
                  <c:v/>
                </c:pt>
                <c:pt idx="7">
                  <c:v/>
                </c:pt>
                <c:pt idx="8">
                  <c:v/>
                </c:pt>
                <c:pt idx="9">
                  <c:v>77.9</c:v>
                </c:pt>
                <c:pt idx="10">
                  <c:v/>
                </c:pt>
                <c:pt idx="11">
                  <c:v>78.4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77.9</c:v>
                </c:pt>
                <c:pt idx="3">
                  <c:v>78</c:v>
                </c:pt>
                <c:pt idx="4">
                  <c:v>78.5</c:v>
                </c:pt>
                <c:pt idx="5">
                  <c:v/>
                </c:pt>
                <c:pt idx="6">
                  <c:v>77.7</c:v>
                </c:pt>
                <c:pt idx="7">
                  <c:v>77.4</c:v>
                </c:pt>
                <c:pt idx="8">
                  <c:v>77.3</c:v>
                </c:pt>
                <c:pt idx="9">
                  <c:v/>
                </c:pt>
                <c:pt idx="10">
                  <c:v>77.4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77.9</c:v>
                </c:pt>
                <c:pt idx="3">
                  <c:v>78</c:v>
                </c:pt>
                <c:pt idx="4">
                  <c:v>78.5</c:v>
                </c:pt>
                <c:pt idx="5">
                  <c:v>78.3</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36.4</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36.4</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36.7</c:v>
                </c:pt>
                <c:pt idx="4">
                  <c:v/>
                </c:pt>
                <c:pt idx="5">
                  <c:v/>
                </c:pt>
                <c:pt idx="6">
                  <c:v/>
                </c:pt>
                <c:pt idx="7">
                  <c:v/>
                </c:pt>
                <c:pt idx="8">
                  <c:v/>
                </c:pt>
                <c:pt idx="9">
                  <c:v/>
                </c:pt>
                <c:pt idx="10">
                  <c:v/>
                </c:pt>
                <c:pt idx="11">
                  <c:v>35.4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
                </c:pt>
                <c:pt idx="4">
                  <c:v>35.5</c:v>
                </c:pt>
                <c:pt idx="5">
                  <c:v>36.7</c:v>
                </c:pt>
                <c:pt idx="6">
                  <c:v>36.4</c:v>
                </c:pt>
                <c:pt idx="7">
                  <c:v>35.3</c:v>
                </c:pt>
                <c:pt idx="8">
                  <c:v>36.1</c:v>
                </c:pt>
                <c:pt idx="9">
                  <c:v>35.4</c:v>
                </c:pt>
                <c:pt idx="10">
                  <c:v>35.2</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36.7</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13262</c:v>
                </c:pt>
                <c:pt idx="10">
                  <c:v/>
                </c:pt>
                <c:pt idx="11">
                  <c:v>12359</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
                </c:pt>
                <c:pt idx="10">
                  <c:v>11216</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175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175.2439841962175</c:v>
                </c:pt>
                <c:pt idx="1">
                  <c:v>174.70169012351778</c:v>
                </c:pt>
                <c:pt idx="2">
                  <c:v>172.9285775129414</c:v>
                </c:pt>
                <c:pt idx="3">
                  <c:v>175.61127356278703</c:v>
                </c:pt>
                <c:pt idx="4">
                  <c:v>181.75874394919398</c:v>
                </c:pt>
                <c:pt idx="5">
                  <c:v>185.28735446655506</c:v>
                </c:pt>
                <c:pt idx="6">
                  <c:v>186.84360060500507</c:v>
                </c:pt>
                <c:pt idx="7">
                  <c:v>186.03852485364902</c:v>
                </c:pt>
                <c:pt idx="8">
                  <c:v>186.63443624697075</c:v>
                </c:pt>
                <c:pt idx="9">
                  <c:v>187.82340399621128</c:v>
                </c:pt>
                <c:pt idx="10">
                  <c:v>188.54570456770247</c:v>
                </c:pt>
                <c:pt idx="11">
                  <c:v>193.026339762648</c:v>
                </c:pt>
              </c:numCache>
            </c:numRef>
          </c:val>
          <c:smooth val="0"/>
        </c:ser>
        <c:ser>
          <c:idx val="1"/>
          <c:order val="1"/>
          <c:tx>
            <c:strRef>
              <c:f>Sheet1!$C$1</c:f>
              <c:strCache>
                <c:ptCount val="1"/>
                <c:pt idx="0">
                  <c:v>2026</c:v>
                </c:pt>
              </c:strCache>
            </c:strRef>
          </c:tx>
          <c:spPr>
            <a:solidFill>
              <a:srgbClr val="2587C5"/>
            </a:solidFill>
            <a:ln w="3175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196.3431055626689</c:v>
                </c:pt>
                <c:pt idx="1">
                  <c:v>197.59988088885487</c:v>
                </c:pt>
                <c:pt idx="2">
                  <c:v>196.73190202486097</c:v>
                </c:pt>
                <c:pt idx="3">
                  <c:v>199.07347573222432</c:v>
                </c:pt>
                <c:pt idx="4">
                  <c:v>194.27814921582817</c:v>
                </c:pt>
                <c:pt idx="5">
                  <c:v>194.34736290224444</c:v>
                </c:pt>
                <c:pt idx="6">
                  <c:v>198.70298965359143</c:v>
                </c:pt>
                <c:pt idx="7">
                  <c:v>198.475216144318</c:v>
                </c:pt>
                <c:pt idx="8">
                  <c:v>198.64898260681719</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175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42.278253053610044</c:v>
                </c:pt>
                <c:pt idx="1">
                  <c:v>42.41544739806332</c:v>
                </c:pt>
                <c:pt idx="2">
                  <c:v>42.65611347315035</c:v>
                </c:pt>
                <c:pt idx="3">
                  <c:v>42.70081646746627</c:v>
                </c:pt>
                <c:pt idx="4">
                  <c:v>41.81256614635749</c:v>
                </c:pt>
                <c:pt idx="5">
                  <c:v>41.719042884608356</c:v>
                </c:pt>
                <c:pt idx="6">
                  <c:v>43.27386273923569</c:v>
                </c:pt>
                <c:pt idx="7">
                  <c:v>43.053208466855786</c:v>
                </c:pt>
                <c:pt idx="8">
                  <c:v>43.188043770686036</c:v>
                </c:pt>
                <c:pt idx="9">
                  <c:v>42.49206866316298</c:v>
                </c:pt>
                <c:pt idx="10">
                  <c:v>42.854394657766704</c:v>
                </c:pt>
                <c:pt idx="11">
                  <c:v>43.14464569316162</c:v>
                </c:pt>
              </c:numCache>
            </c:numRef>
          </c:val>
          <c:smooth val="0"/>
        </c:ser>
        <c:ser>
          <c:idx val="1"/>
          <c:order val="1"/>
          <c:tx>
            <c:strRef>
              <c:f>Sheet1!$C$1</c:f>
              <c:strCache>
                <c:ptCount val="1"/>
                <c:pt idx="0">
                  <c:v>2026</c:v>
                </c:pt>
              </c:strCache>
            </c:strRef>
          </c:tx>
          <c:spPr>
            <a:solidFill>
              <a:srgbClr val="2587C5"/>
            </a:solidFill>
            <a:ln w="3175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43.488578069326266</c:v>
                </c:pt>
                <c:pt idx="1">
                  <c:v>44.23461338126831</c:v>
                </c:pt>
                <c:pt idx="2">
                  <c:v>43.95920209770964</c:v>
                </c:pt>
                <c:pt idx="3">
                  <c:v>44.2887708163885</c:v>
                </c:pt>
                <c:pt idx="4">
                  <c:v>44.54479532799166</c:v>
                </c:pt>
                <c:pt idx="5">
                  <c:v>44.549732104003056</c:v>
                </c:pt>
                <c:pt idx="6">
                  <c:v>45.97617480951779</c:v>
                </c:pt>
                <c:pt idx="7">
                  <c:v>45.06618203861053</c:v>
                </c:pt>
                <c:pt idx="8">
                  <c:v>45.636711065820116</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48"/>
          <c:min val="3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4"/>
      </c:valAx>
      <c:spPr>
        <a:noFill/>
        <a:ln>
          <a:noFill/>
        </a:ln>
        <a:effectLst/>
      </c:spPr>
    </c:plotArea>
    <c:plotVisOnly val="1"/>
    <c:dispBlanksAs val="span"/>
  </c:chart>
  <c:spPr>
    <a:noFill/>
    <a:ln>
      <a:noFill/>
    </a:ln>
    <a:effectLst/>
  </c:spPr>
  <c:externalData r:id="rId1">
    <c:autoUpdate val="0"/>
  </c:externalData>
</c:chartSpace>
</file>

<file path=ppt/charts/chart1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5.2</c:v>
                </c:pt>
                <c:pt idx="3">
                  <c:v>5.4</c:v>
                </c:pt>
                <c:pt idx="4">
                  <c:v>4.7</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5.2</c:v>
                </c:pt>
                <c:pt idx="3">
                  <c:v>5.4</c:v>
                </c:pt>
                <c:pt idx="4">
                  <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
                </c:pt>
                <c:pt idx="3">
                  <c:v/>
                </c:pt>
                <c:pt idx="4">
                  <c:v>4.7</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
                </c:pt>
                <c:pt idx="3">
                  <c:v/>
                </c:pt>
                <c:pt idx="4">
                  <c:v>4.75</c:v>
                </c:pt>
                <c:pt idx="5">
                  <c:v/>
                </c:pt>
                <c:pt idx="6">
                  <c:v/>
                </c:pt>
                <c:pt idx="7">
                  <c:v/>
                </c:pt>
                <c:pt idx="8">
                  <c:v/>
                </c:pt>
                <c:pt idx="9">
                  <c:v>5.39</c:v>
                </c:pt>
                <c:pt idx="10">
                  <c:v/>
                </c:pt>
                <c:pt idx="11">
                  <c:v>5.04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5.01</c:v>
                </c:pt>
                <c:pt idx="3">
                  <c:v>4.81</c:v>
                </c:pt>
                <c:pt idx="4">
                  <c:v/>
                </c:pt>
                <c:pt idx="5">
                  <c:v>4.97</c:v>
                </c:pt>
                <c:pt idx="6">
                  <c:v>5.13</c:v>
                </c:pt>
                <c:pt idx="7">
                  <c:v>4.94</c:v>
                </c:pt>
                <c:pt idx="8">
                  <c:v>4.48</c:v>
                </c:pt>
                <c:pt idx="9">
                  <c:v/>
                </c:pt>
                <c:pt idx="10">
                  <c:v>4.42</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5.01</c:v>
                </c:pt>
                <c:pt idx="3">
                  <c:v>4.81</c:v>
                </c:pt>
                <c:pt idx="4">
                  <c:v>4.75</c:v>
                </c:pt>
                <c:pt idx="5">
                  <c:v>4.97</c:v>
                </c:pt>
                <c:pt idx="6">
                  <c:v>5.13</c:v>
                </c:pt>
                <c:pt idx="7">
                  <c:v>4.94</c:v>
                </c:pt>
                <c:pt idx="8">
                  <c:v>4.48</c:v>
                </c:pt>
                <c:pt idx="9">
                  <c:v>5.39</c:v>
                </c:pt>
                <c:pt idx="10">
                  <c:v>4.42</c:v>
                </c:pt>
                <c:pt idx="11">
                  <c:v>5.04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171.412</c:v>
                </c:pt>
                <c:pt idx="6">
                  <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
                </c:pt>
                <c:pt idx="6">
                  <c:v>174.588</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
                </c:pt>
                <c:pt idx="6">
                  <c:v>177.77732793522267</c:v>
                </c:pt>
                <c:pt idx="7">
                  <c:v/>
                </c:pt>
                <c:pt idx="8">
                  <c:v/>
                </c:pt>
                <c:pt idx="9">
                  <c:v>173.3413654618474</c:v>
                </c:pt>
                <c:pt idx="10">
                  <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171.10526315789474</c:v>
                </c:pt>
                <c:pt idx="6">
                  <c:v/>
                </c:pt>
                <c:pt idx="7">
                  <c:v>171.31075697211156</c:v>
                </c:pt>
                <c:pt idx="8">
                  <c:v>160.78225806451613</c:v>
                </c:pt>
                <c:pt idx="9">
                  <c:v/>
                </c:pt>
                <c:pt idx="10">
                  <c:v>152.834008097166</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337.037037037037</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342.2155172413793</c:v>
                </c:pt>
                <c:pt idx="2">
                  <c:v/>
                </c:pt>
                <c:pt idx="3">
                  <c:v/>
                </c:pt>
                <c:pt idx="4">
                  <c:v/>
                </c:pt>
                <c:pt idx="5">
                  <c:v/>
                </c:pt>
                <c:pt idx="6">
                  <c:v/>
                </c:pt>
                <c:pt idx="7">
                  <c:v/>
                </c:pt>
                <c:pt idx="8">
                  <c:v/>
                </c:pt>
                <c:pt idx="9">
                  <c:v>395.9816513761468</c:v>
                </c:pt>
                <c:pt idx="10">
                  <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pt idx="9">
                  <c:v/>
                </c:pt>
                <c:pt idx="10">
                  <c:v>352.803738317757</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23.790849673202615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24.324142156862745</c:v>
                </c:pt>
                <c:pt idx="2">
                  <c:v/>
                </c:pt>
                <c:pt idx="3">
                  <c:v/>
                </c:pt>
                <c:pt idx="4">
                  <c:v/>
                </c:pt>
                <c:pt idx="5">
                  <c:v/>
                </c:pt>
                <c:pt idx="6">
                  <c:v/>
                </c:pt>
                <c:pt idx="7">
                  <c:v/>
                </c:pt>
                <c:pt idx="8">
                  <c:v/>
                </c:pt>
                <c:pt idx="9">
                  <c:v>26.908977556109726</c:v>
                </c:pt>
                <c:pt idx="10">
                  <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pt idx="9">
                  <c:v/>
                </c:pt>
                <c:pt idx="10">
                  <c:v>23.8621997471555</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176585.11</c:v>
                </c:pt>
                <c:pt idx="1">
                  <c:v>184273.9</c:v>
                </c:pt>
                <c:pt idx="2">
                  <c:v>243873.84</c:v>
                </c:pt>
                <c:pt idx="3">
                  <c:v>231682.97</c:v>
                </c:pt>
                <c:pt idx="4">
                  <c:v>262721.61</c:v>
                </c:pt>
                <c:pt idx="5">
                  <c:v>263340.99</c:v>
                </c:pt>
                <c:pt idx="6">
                  <c:v>244041.77</c:v>
                </c:pt>
                <c:pt idx="7">
                  <c:v>244446.27</c:v>
                </c:pt>
                <c:pt idx="8">
                  <c:v>249281.88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6354.372"/>
          <c:min val="163571.727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294309.57999999996</c:v>
                </c:pt>
                <c:pt idx="1">
                  <c:v>278868.58</c:v>
                </c:pt>
                <c:pt idx="2">
                  <c:v>359908.79</c:v>
                </c:pt>
                <c:pt idx="3">
                  <c:v>393728.92000000004</c:v>
                </c:pt>
                <c:pt idx="4">
                  <c:v>359273.68</c:v>
                </c:pt>
                <c:pt idx="5">
                  <c:v>386316.45</c:v>
                </c:pt>
                <c:pt idx="6">
                  <c:v>384135.08</c:v>
                </c:pt>
                <c:pt idx="7">
                  <c:v>397933.38999999996</c:v>
                </c:pt>
                <c:pt idx="8">
                  <c:v>341938.74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5793.11149999994"/>
          <c:min val="261008.8585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177080.6</c:v>
                </c:pt>
                <c:pt idx="1">
                  <c:v>116317.49</c:v>
                </c:pt>
                <c:pt idx="2">
                  <c:v>151683.66999999998</c:v>
                </c:pt>
                <c:pt idx="3">
                  <c:v>189304.13</c:v>
                </c:pt>
                <c:pt idx="4">
                  <c:v>164925.71000000002</c:v>
                </c:pt>
                <c:pt idx="5">
                  <c:v>166070.51</c:v>
                </c:pt>
                <c:pt idx="6">
                  <c:v>172210.90000000002</c:v>
                </c:pt>
                <c:pt idx="7">
                  <c:v>228828.82</c:v>
                </c:pt>
                <c:pt idx="8">
                  <c:v>129178.53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705.5195"/>
          <c:min val="99440.7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86931.73000000001</c:v>
                </c:pt>
                <c:pt idx="1">
                  <c:v>109867.53</c:v>
                </c:pt>
                <c:pt idx="2">
                  <c:v>104137.82</c:v>
                </c:pt>
                <c:pt idx="3">
                  <c:v>100928.84</c:v>
                </c:pt>
                <c:pt idx="4">
                  <c:v>93945.76000000001</c:v>
                </c:pt>
                <c:pt idx="5">
                  <c:v>108346.47</c:v>
                </c:pt>
                <c:pt idx="6">
                  <c:v>126637.39</c:v>
                </c:pt>
                <c:pt idx="7">
                  <c:v>106298.13999999998</c:v>
                </c:pt>
                <c:pt idx="8">
                  <c:v>124862.66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593.239"/>
          <c:min val="80975.881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293762.4</c:v>
                </c:pt>
                <c:pt idx="1">
                  <c:v>268037.54000000004</c:v>
                </c:pt>
                <c:pt idx="2">
                  <c:v>319668.25</c:v>
                </c:pt>
                <c:pt idx="3">
                  <c:v>349268.96</c:v>
                </c:pt>
                <c:pt idx="4">
                  <c:v>347415.9</c:v>
                </c:pt>
                <c:pt idx="5">
                  <c:v>340633.41000000003</c:v>
                </c:pt>
                <c:pt idx="6">
                  <c:v>373611</c:v>
                </c:pt>
                <c:pt idx="7">
                  <c:v>323504.43</c:v>
                </c:pt>
                <c:pt idx="8">
                  <c:v>336990.87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447.019"/>
          <c:min val="252201.521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549</c:v>
                </c:pt>
                <c:pt idx="1">
                  <c:v>531</c:v>
                </c:pt>
                <c:pt idx="2">
                  <c:v>556</c:v>
                </c:pt>
                <c:pt idx="3">
                  <c:v>544</c:v>
                </c:pt>
                <c:pt idx="4">
                  <c:v>516</c:v>
                </c:pt>
                <c:pt idx="5">
                  <c:v>599</c:v>
                </c:pt>
                <c:pt idx="6">
                  <c:v>622</c:v>
                </c:pt>
                <c:pt idx="7">
                  <c:v>587</c:v>
                </c:pt>
                <c:pt idx="8">
                  <c:v>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9.75"/>
          <c:min val="497.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1576</c:v>
                </c:pt>
                <c:pt idx="1">
                  <c:v>1477</c:v>
                </c:pt>
                <c:pt idx="2">
                  <c:v>1631</c:v>
                </c:pt>
                <c:pt idx="3">
                  <c:v>1610</c:v>
                </c:pt>
                <c:pt idx="4">
                  <c:v>1739</c:v>
                </c:pt>
                <c:pt idx="5">
                  <c:v>1738</c:v>
                </c:pt>
                <c:pt idx="6">
                  <c:v>1723</c:v>
                </c:pt>
                <c:pt idx="7">
                  <c:v>1875</c:v>
                </c:pt>
                <c:pt idx="8">
                  <c:v>1679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4.7"/>
          <c:min val="141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3.1"/>
          <c:min val="29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1764</c:v>
                </c:pt>
                <c:pt idx="1">
                  <c:v>1687</c:v>
                </c:pt>
                <c:pt idx="2">
                  <c:v>1914</c:v>
                </c:pt>
                <c:pt idx="3">
                  <c:v>2057</c:v>
                </c:pt>
                <c:pt idx="4">
                  <c:v>1923</c:v>
                </c:pt>
                <c:pt idx="5">
                  <c:v>2056</c:v>
                </c:pt>
                <c:pt idx="6">
                  <c:v>2095</c:v>
                </c:pt>
                <c:pt idx="7">
                  <c:v>1882</c:v>
                </c:pt>
                <c:pt idx="8">
                  <c:v>1998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6.2"/>
          <c:min val="162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SUBARU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25"/>
          <c:min val="503.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1.188239247311828</c:v>
                </c:pt>
                <c:pt idx="1">
                  <c:v>1.275762195121951</c:v>
                </c:pt>
                <c:pt idx="2">
                  <c:v>1.4099208965062624</c:v>
                </c:pt>
                <c:pt idx="3">
                  <c:v>1.4275265957446808</c:v>
                </c:pt>
                <c:pt idx="4">
                  <c:v>1.4609295570079883</c:v>
                </c:pt>
                <c:pt idx="5">
                  <c:v>1.4721141374837874</c:v>
                </c:pt>
                <c:pt idx="6">
                  <c:v>1.4142063001852996</c:v>
                </c:pt>
                <c:pt idx="7">
                  <c:v>1.4298619824341279</c:v>
                </c:pt>
                <c:pt idx="8">
                  <c:v>1.3524723487312946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46953710095814"/>
          <c:min val="1.1456580137860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1.385793450881612</c:v>
                </c:pt>
                <c:pt idx="1">
                  <c:v>1.3389645776566756</c:v>
                </c:pt>
                <c:pt idx="2">
                  <c:v>1.2803874092009684</c:v>
                </c:pt>
                <c:pt idx="3">
                  <c:v>1.333613231552163</c:v>
                </c:pt>
                <c:pt idx="4">
                  <c:v>1.67296568627451</c:v>
                </c:pt>
                <c:pt idx="5">
                  <c:v>1.5423764705882352</c:v>
                </c:pt>
                <c:pt idx="6">
                  <c:v>1.4005580357142857</c:v>
                </c:pt>
                <c:pt idx="7">
                  <c:v>1.3604513064133017</c:v>
                </c:pt>
                <c:pt idx="8">
                  <c:v>1.4541353383458648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18524278355412"/>
          <c:min val="1.22150066763993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2.221710758377425</c:v>
                </c:pt>
                <c:pt idx="1">
                  <c:v>2.0838986354775826</c:v>
                </c:pt>
                <c:pt idx="2">
                  <c:v>2.2707272727272727</c:v>
                </c:pt>
                <c:pt idx="3">
                  <c:v>2.2252504638218924</c:v>
                </c:pt>
                <c:pt idx="4">
                  <c:v>2.1553717472118956</c:v>
                </c:pt>
                <c:pt idx="5">
                  <c:v>1.9233127889060093</c:v>
                </c:pt>
                <c:pt idx="6">
                  <c:v>2.230418994413408</c:v>
                </c:pt>
                <c:pt idx="7">
                  <c:v>2.2426998491704375</c:v>
                </c:pt>
                <c:pt idx="8">
                  <c:v>2.44900481540931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7858619384805"/>
          <c:min val="1.84445898493051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024299999999998"/>
          <c:min val="2.17542797101449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023743697479"/>
          <c:min val="2.65398697478991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NISSAN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5.36682334904611"/>
          <c:min val="167.274360582920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147.17883416109635</c:v>
                </c:pt>
                <c:pt idx="1">
                  <c:v>135.63777641695583</c:v>
                </c:pt>
                <c:pt idx="2">
                  <c:v>141.64139075345048</c:v>
                </c:pt>
                <c:pt idx="3">
                  <c:v>139.12898539404827</c:v>
                </c:pt>
                <c:pt idx="4">
                  <c:v>140.79767083404693</c:v>
                </c:pt>
                <c:pt idx="5">
                  <c:v>142.24952097083244</c:v>
                </c:pt>
                <c:pt idx="6">
                  <c:v>142.61742003865575</c:v>
                </c:pt>
                <c:pt idx="7">
                  <c:v>143.95335221631723</c:v>
                </c:pt>
                <c:pt idx="8">
                  <c:v>154.41898907103825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361709691506"/>
          <c:min val="132.820594518843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VOLVO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64618185515627"/>
          <c:min val="205.98882789995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153.1491574232082</c:v>
                </c:pt>
                <c:pt idx="1">
                  <c:v>157.95352962362688</c:v>
                </c:pt>
                <c:pt idx="2">
                  <c:v>156.04347791229054</c:v>
                </c:pt>
                <c:pt idx="3">
                  <c:v>157.37133021424003</c:v>
                </c:pt>
                <c:pt idx="4">
                  <c:v>149.20385916225828</c:v>
                </c:pt>
                <c:pt idx="5">
                  <c:v>155.4821624007061</c:v>
                </c:pt>
                <c:pt idx="6">
                  <c:v>158.9620323488045</c:v>
                </c:pt>
                <c:pt idx="7">
                  <c:v>164.2580469341408</c:v>
                </c:pt>
                <c:pt idx="8">
                  <c:v>162.51214652956298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51617509992317"/>
          <c:min val="146.94573099647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CADILLAC</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169.23952076348527</c:v>
                </c:pt>
                <c:pt idx="1">
                  <c:v>171.362331838565</c:v>
                </c:pt>
                <c:pt idx="2">
                  <c:v>168.18649634020764</c:v>
                </c:pt>
                <c:pt idx="3">
                  <c:v>180.00863368961805</c:v>
                </c:pt>
                <c:pt idx="4">
                  <c:v>151.5942152678995</c:v>
                </c:pt>
                <c:pt idx="5">
                  <c:v>163.62502533205532</c:v>
                </c:pt>
                <c:pt idx="6">
                  <c:v>179.30890045543268</c:v>
                </c:pt>
                <c:pt idx="7">
                  <c:v>175.9947113813166</c:v>
                </c:pt>
                <c:pt idx="8">
                  <c:v>169.93955489368741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27079645287583"/>
          <c:min val="147.332052504641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128.18389112903225</c:v>
                </c:pt>
                <c:pt idx="1">
                  <c:v>143.6304268292683</c:v>
                </c:pt>
                <c:pt idx="2">
                  <c:v>136.9080487804878</c:v>
                </c:pt>
                <c:pt idx="3">
                  <c:v>198.15143617021278</c:v>
                </c:pt>
                <c:pt idx="4">
                  <c:v>159.63840958605664</c:v>
                </c:pt>
                <c:pt idx="5">
                  <c:v>147.4817120622568</c:v>
                </c:pt>
                <c:pt idx="6">
                  <c:v>150.852402717727</c:v>
                </c:pt>
                <c:pt idx="7">
                  <c:v>176.80212672521958</c:v>
                </c:pt>
                <c:pt idx="8">
                  <c:v>139.20603773584907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8.64656792638985"/>
          <c:min val="117.688759372855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233.84593837535013</c:v>
                </c:pt>
                <c:pt idx="1">
                  <c:v>272.64770642201836</c:v>
                </c:pt>
                <c:pt idx="2">
                  <c:v>264.5160053619303</c:v>
                </c:pt>
                <c:pt idx="3">
                  <c:v>300.4536959553696</c:v>
                </c:pt>
                <c:pt idx="4">
                  <c:v>288.36308157099694</c:v>
                </c:pt>
                <c:pt idx="5">
                  <c:v>250.08998518518518</c:v>
                </c:pt>
                <c:pt idx="6">
                  <c:v>321.2700792602378</c:v>
                </c:pt>
                <c:pt idx="7">
                  <c:v>293.4214486638537</c:v>
                </c:pt>
                <c:pt idx="8">
                  <c:v>258.24791976225856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383700392971"/>
          <c:min val="220.732317242616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640.6571929824562</c:v>
                </c:pt>
                <c:pt idx="1">
                  <c:v>906.8386104218363</c:v>
                </c:pt>
                <c:pt idx="2">
                  <c:v>634.7025063291139</c:v>
                </c:pt>
                <c:pt idx="3">
                  <c:v>665.1664390243902</c:v>
                </c:pt>
                <c:pt idx="4">
                  <c:v>689.3056844547564</c:v>
                </c:pt>
                <c:pt idx="5">
                  <c:v>652.1006864988558</c:v>
                </c:pt>
                <c:pt idx="6">
                  <c:v>693.769124726477</c:v>
                </c:pt>
                <c:pt idx="7">
                  <c:v>709.0950352941177</c:v>
                </c:pt>
                <c:pt idx="8">
                  <c:v>1041.912085308057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2.9935221548983"/>
          <c:min val="573.62106948227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879.8076687116564</c:v>
                </c:pt>
                <c:pt idx="1">
                  <c:v>925.1433742331288</c:v>
                </c:pt>
                <c:pt idx="2">
                  <c:v>886.3305590062112</c:v>
                </c:pt>
                <c:pt idx="3">
                  <c:v>953.3849523809523</c:v>
                </c:pt>
                <c:pt idx="4">
                  <c:v>911.7989444444445</c:v>
                </c:pt>
                <c:pt idx="5">
                  <c:v>804.3490058479532</c:v>
                </c:pt>
                <c:pt idx="6">
                  <c:v>1035.5124242424242</c:v>
                </c:pt>
                <c:pt idx="7">
                  <c:v>994.8709444444444</c:v>
                </c:pt>
                <c:pt idx="8">
                  <c:v>934.7331325301205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70.186937001595"/>
          <c:min val="769.6744930887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268.8725</c:v>
                </c:pt>
                <c:pt idx="1">
                  <c:v>180.48355670103092</c:v>
                </c:pt>
                <c:pt idx="2">
                  <c:v>249.92049773755656</c:v>
                </c:pt>
                <c:pt idx="3">
                  <c:v>255.83444915254236</c:v>
                </c:pt>
                <c:pt idx="4">
                  <c:v>224.2878260869565</c:v>
                </c:pt>
                <c:pt idx="5">
                  <c:v>167.36384920634922</c:v>
                </c:pt>
                <c:pt idx="6">
                  <c:v>269.1880172413793</c:v>
                </c:pt>
                <c:pt idx="7">
                  <c:v>279.6357425742574</c:v>
                </c:pt>
                <c:pt idx="8">
                  <c:v>227.57493506493506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6.4765265794436"/>
          <c:min val="150.52306520116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0.39385465162077204</c:v>
                </c:pt>
                <c:pt idx="1">
                  <c:v>0.4104798110566934</c:v>
                </c:pt>
                <c:pt idx="2">
                  <c:v>0.39984615107565896</c:v>
                </c:pt>
                <c:pt idx="3">
                  <c:v>0.4242643654011316</c:v>
                </c:pt>
                <c:pt idx="4">
                  <c:v>0.43535929201653073</c:v>
                </c:pt>
                <c:pt idx="5">
                  <c:v>0.4359650422122587</c:v>
                </c:pt>
                <c:pt idx="6">
                  <c:v>0.4310274406950725</c:v>
                </c:pt>
                <c:pt idx="7">
                  <c:v>0.4257261405886852</c:v>
                </c:pt>
                <c:pt idx="8">
                  <c:v>0.4125780793358778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228160080098167"/>
          <c:min val="0.387538093032049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0.34615649425879996</c:v>
                </c:pt>
                <c:pt idx="1">
                  <c:v>0.3553626019087758</c:v>
                </c:pt>
                <c:pt idx="2">
                  <c:v>0.33286088298414096</c:v>
                </c:pt>
                <c:pt idx="3">
                  <c:v>0.33135079455831645</c:v>
                </c:pt>
                <c:pt idx="4">
                  <c:v>0.36466133494564634</c:v>
                </c:pt>
                <c:pt idx="5">
                  <c:v>0.38118653720091344</c:v>
                </c:pt>
                <c:pt idx="6">
                  <c:v>0.3809185720341265</c:v>
                </c:pt>
                <c:pt idx="7">
                  <c:v>0.37479736400081787</c:v>
                </c:pt>
                <c:pt idx="8">
                  <c:v>0.3350495696231172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661898597303"/>
          <c:min val="0.32387543316192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0.414351536191364</c:v>
                </c:pt>
                <c:pt idx="1">
                  <c:v>0.39318087070517616</c:v>
                </c:pt>
                <c:pt idx="2">
                  <c:v>0.4185113634289955</c:v>
                </c:pt>
                <c:pt idx="3">
                  <c:v>0.3984325401778728</c:v>
                </c:pt>
                <c:pt idx="4">
                  <c:v>0.4275287802058474</c:v>
                </c:pt>
                <c:pt idx="5">
                  <c:v>0.4314231842150624</c:v>
                </c:pt>
                <c:pt idx="6">
                  <c:v>0.40647931761383654</c:v>
                </c:pt>
                <c:pt idx="7">
                  <c:v>0.42811568086149515</c:v>
                </c:pt>
                <c:pt idx="8">
                  <c:v>0.4328714643805786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8825053431889"/>
          <c:min val="0.3872272816538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99456441487204"/>
          <c:min val="0.39318373518301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0.3680342105578381</c:v>
                </c:pt>
                <c:pt idx="1">
                  <c:v>0.3691001034144722</c:v>
                </c:pt>
                <c:pt idx="2">
                  <c:v>0.3670958755466887</c:v>
                </c:pt>
                <c:pt idx="3">
                  <c:v>0.37086270739787763</c:v>
                </c:pt>
                <c:pt idx="4">
                  <c:v>0.3526965626793513</c:v>
                </c:pt>
                <c:pt idx="5">
                  <c:v>0.37527049523033906</c:v>
                </c:pt>
                <c:pt idx="6">
                  <c:v>0.3587371292399778</c:v>
                </c:pt>
                <c:pt idx="7">
                  <c:v>0.3863209963060099</c:v>
                </c:pt>
                <c:pt idx="8">
                  <c:v>0.40033452080355186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748021452218197"/>
          <c:min val="0.3455508689607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88714381475427"/>
          <c:min val="0.15535056977879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69078015304967"/>
          <c:min val="0.0453709848161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580734966592428"/>
          <c:min val="0.0011265775798069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4188423260588"/>
          <c:min val="0.13627660998795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994911160945318"/>
          <c:min val="0.08201224771433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47548624606974"/>
          <c:min val="0.0280513817130397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978845054316754"/>
          <c:min val="0.07667238421955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51492928234678"/>
          <c:min val="-0.0062704124627052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524624918460532"/>
          <c:min val="-0.0054876060013046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656949592817297"/>
          <c:min val="0.078535532175745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30967541461923"/>
          <c:min val="0.021201671643677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27011494252873"/>
          <c:min val="-0.0159482758620689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488864142538975"/>
          <c:min val="0.025304380103934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40614287673111"/>
          <c:min val="0.0553270259152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5322429817363"/>
          <c:min val="0.0461123303879845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521232178515073"/>
          <c:min val="-0.01424322399564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19703026841806"/>
          <c:min val="0.021430611079383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070657507360155"/>
          <c:min val="-0.008096172718351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LINCOLN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48646853727378"/>
          <c:min val="0.038510155514970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c:v>
                </c:pt>
                <c:pt idx="2">
                  <c:v>0</c:v>
                </c:pt>
                <c:pt idx="3">
                  <c:v>0</c:v>
                </c:pt>
                <c:pt idx="4">
                  <c:v>0</c:v>
                </c:pt>
                <c:pt idx="5">
                  <c:v>0</c:v>
                </c:pt>
                <c:pt idx="6">
                  <c:v>0</c:v>
                </c:pt>
                <c:pt idx="7">
                  <c:v>0.023809523809523808</c:v>
                </c:pt>
                <c:pt idx="8">
                  <c:v>0.05459770114942529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78735632183909"/>
          <c:min val="-0.008189655172413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review with Tommy, not for the room. Every slide built but not placed in the deck: alternate versions of slides already in it, and slides not yet decided on. In deck order: Store Records (five designs), Door Rate option A, CP vs Internal GP % option A, Photo completion % (optional measure), Productivity slides taken out of the flow (gross per employee gap, 5% more per employee, ROs per advisor, ROs per manager; Oct 23), Who's Moving Now alternate versions and the line-chart versions taken out of the flow (Oct 23), Most Improved v1. Pick what moves into the deck, then delete this section before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2026 vs 2025, all stores (INEOS included, to match the group P&amp;L). Fixed ops = service (Mechanical) + parts (P&amp;A) department profit: department gross less the department's own expenses. Group net = Net Profit Or Loss on the GM statement.PLACE: right after the agenda, before the Gross section. In the deck Oct 24 (Noah): group net profit view replaces the gross / absorption / net-to-gross tiles. Group-level view of fixed ops' weight in the dealership's profit, Jan-Sep. Fixed ops department profit $50,194,950 (2025 $45,336,135); group net profit $82,240,434 (2025 $95,664,709). On the P&amp;L, F&amp;I income, other income and store-level costs are not split by department, so 'the rest of the store' is the group net less fixed ops department profit. Group net = Net Profit Or Loss on the GM statement (P&amp;L summary), all stores; INEOS (opened 2026) is in both lines. Body shop (GMC Prescott) department profit is left out of fixed ops, as everywhere in the deck.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included.PLACE: opening, right after Why We Are Here (Noah, Oct 24): the high-level view of service and parts before the sections. Department profit as the P&amp;L Detail statement reports it (DEPARTMENT PROFIT OR LOSS, Mechanical and P&amp;A). Jan-Sep 2026 gross $188,799,724, department expenses $138,349,830, profit $50,449,894; 2025 $181,331,157 / $135,995,022 / $45,336,135. Store-level costs the P&amp;L does not split by department (management fees, other income) sit outside it. Same basis as the service and parts net to gross slides. Revenue per $1 of net: service + parts net sales $347,806,562 (P&amp;L Detail NET SALES, Mechanical $182,131,162 + P&amp;A $165,675,400) / net profit $50,449,894 = $6.89; net profit is 14.5 cents of every sales dollar. Parts sales include parts sold to the service department.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 vs Jan-Sep 2025; 2025 shown January-December. Store rows reconcile to the group,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Ranked by dollar change, Jan-Sep 2026 vs Jan-Sep 2025; percent change alongside, top three and bottom three by percent marked. Percent change = dollar change / 2025 profit; where 2025 was a loss, divided by the size of the loss, so an improvement reads as positive.Green band: lost money in fixed ops in 2025, made money in 2026 (Lincoln −$389K to $94K, Subaru Prescott −$55K to $129K and GMC Prescott −$125K to $20K). Red band: made money in 2025, lost money in 2026 (VW St George $153K to −$59K).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Top and bottom five stores by dollar change in fixed ops net profit, Jan-Sep 2026 vs 2025 (dollars, not percent: several stores lost money in 2025). Moving now: Jul-Sep 2026 vs Jan-Mar 2026, each store against itself (monthly averages); the group moved +$1.05M a month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fixed gross (service and parts), monthly by store, January 2021 - September 2026. A record = the store's highest month on file; months before a store opened are ignored. GMC Prescott service on the TB includes body shop gross.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fixed gross (service and parts), monthly by store, January 2021 - September 2026. A record = the store's highest month on file; months before a store opened are ignored. GMC Prescott service on the TB includes body shop gross. Records = each month a store beat its best-ever service, parts or combined month; one month can count up to three.Records by store (month: service / parts / combined, with the record it beat):</a:t>
            </a:r>
          </a:p>
          <a:p>
            <a:r>
              <a:t>Toyota Henderson: service Apr 2026 $1.86M (beat $1.78M, Apr 2025); service Jul 2026 $1.98M (beat $1.86M, Apr 2026); parts Jun 2026 $747K (beat $734K, Dec 2024); parts Aug 2026 $748K (beat $747K, Jun 2026); parts Sep 2026 $803K (beat $748K, Aug 2026); combined Apr 2026 $2.52M (beat $2.45M, Apr 2025); combined Jun 2026 $2.55M (beat $2.52M, Apr 2026); combined Jul 2026 $2.72M (beat $2.55M, Jun 2026)</a:t>
            </a:r>
          </a:p>
          <a:p>
            <a:r>
              <a:t>Honda Spokane: service Mar 2026 $309K (beat $290K, May 2025); service Apr 2026 $316K (beat $309K, Mar 2026); service Jun 2026 $343K (beat $316K, Apr 2026); service Jul 2026 $360K (beat $343K, Jun 2026); parts Jul 2026 $182K (beat $168K, Aug 2025); combined Mar 2026 $457K (beat $448K, May 2025); combined Apr 2026 $473K (beat $457K, Mar 2026); combined Jun 2026 $503K (beat $473K, Apr 2026); combined Jul 2026 $542K (beat $503K, Jun 2026)</a:t>
            </a:r>
          </a:p>
          <a:p>
            <a:r>
              <a:t>Nissan: service Mar 2026 $374K (beat $374K, May 2025); service Jun 2026 $379K (beat $374K, Mar 2026); service Sep 2026 $393K (beat $379K, Jun 2026); parts Jun 2026 $191K (beat $187K, Aug 2024); parts Jul 2026 $210K (beat $191K, Jun 2026); combined Mar 2026 $546K (beat $535K, May 2025); combined Jun 2026 $570K (beat $546K, Mar 2026); combined Jul 2026 $580K (beat $570K, Jun 2026); combined Sep 2026 $593K (beat $580K, Jul 2026)</a:t>
            </a:r>
          </a:p>
          <a:p>
            <a:r>
              <a:t>Subaru St George: service Jan 2026 $256K (beat $246K, Apr 2025); service Mar 2026 $270K (beat $256K, Jan 2026); parts Mar 2026 $146K (beat $144K, Apr 2025); parts Apr 2026 $156K (beat $146K, Mar 2026); parts Jun 2026 $174K (beat $156K, Apr 2026); combined Mar 2026 $416K (beat $391K, Apr 2025); combined Jun 2026 $438K (beat $416K, Mar 2026)</a:t>
            </a:r>
          </a:p>
          <a:p>
            <a:r>
              <a:t>Hyundai St George: service Jan 2026 $155K (beat $152K, Dec 2025); service Mar 2026 $170K (beat $155K, Jan 2026); service Jul 2026 $173K (beat $170K, Mar 2026); service Sep 2026 $179K (beat $173K, Jul 2026)</a:t>
            </a:r>
          </a:p>
          <a:p>
            <a:r>
              <a:t>Honda Henderson: service Mar 2026 $1.26M (beat $1.23M, Mar 2025); service Jun 2026 $1.29M (beat $1.26M, Mar 2026); service Jul 2026 $1.30M (beat $1.29M, Jun 2026); parts Jul 2026 $495K (beat $475K, Apr 2024); combined Mar 2026 $1.72M (beat $1.67M, Apr 2024); combined Jun 2026 $1.75M (beat $1.72M, Mar 2026); combined Jul 2026 $1.79M (beat $1.75M, Jun 2026)</a:t>
            </a:r>
          </a:p>
          <a:p>
            <a:r>
              <a:t>Hyundai Prescott: service Mar 2026 $125K (beat $96K, Jul 2025); service Jul 2026 $142K (beat $125K, Mar 2026); parts Feb 2026 $78K (beat $72K, Jul 2025); combined Feb 2026 $170K (beat $168K, Jul 2025); combined Mar 2026 $182K (beat $170K, Feb 2026); combined Jul 2026 $206K (beat $182K, Mar 2026)</a:t>
            </a:r>
          </a:p>
          <a:p>
            <a:r>
              <a:t>Lincoln: service Aug 2026 $247K (beat $243K, Dec 2025); service Sep 2026 $262K (beat $247K, Aug 2026); parts Mar 2026 $116K (beat $105K, Dec 2025); combined Mar 2026 $358K (beat $349K, Dec 2025); combined Aug 2026 $359K (beat $358K, Mar 2026); combined Sep 2026 $369K (beat $359K, Aug 2026)</a:t>
            </a:r>
          </a:p>
          <a:p>
            <a:r>
              <a:t>LR Henderson: service Aug 2026 $276K (beat $270K, Dec 2024); service Sep 2026 $281K (beat $276K, Aug 2026); parts Jul 2026 $173K (beat $168K, Feb 2025); combined Jul 2026 $434K (beat $420K, Feb 2025)</a:t>
            </a:r>
          </a:p>
          <a:p>
            <a:r>
              <a:t>Toyota Flagstaff: service Mar 2026 $374K (beat $358K, Oct 2024); service Apr 2026 $377K (beat $374K, Mar 2026); service May 2026 $382K (beat $377K, Apr 2026); combined Mar 2026 $532K (beat $497K, Jan 2025)</a:t>
            </a:r>
          </a:p>
          <a:p>
            <a:r>
              <a:t>Audi Henderson: parts Jul 2026 $591K (beat $524K, Dec 2024); combined Apr 2026 $1.45M (beat $1.39M, Dec 2025); combined Jul 2026 $1.60M (beat $1.45M, Apr 2026)</a:t>
            </a:r>
          </a:p>
          <a:p>
            <a:r>
              <a:t>Mazda: service Aug 2026 $285K (beat $256K, Mar 2025); service Sep 2026 $302K (beat $285K, Aug 2026); parts Sep 2026 $200K (beat $172K, Jun 2025); combined Aug 2026 $417K (beat $412K, Jun 2025); combined Sep 2026 $503K (beat $417K, Aug 2026)</a:t>
            </a:r>
          </a:p>
          <a:p>
            <a:r>
              <a:t>Kia St George: service Apr 2026 $158K (beat $153K, Sep 2025); service Jul 2026 $187K (beat $158K, Apr 2026); parts Jul 2026 $134K (beat $120K, Oct 2025); combined Jul 2026 $321K (beat $270K, Sep 2025)</a:t>
            </a:r>
          </a:p>
          <a:p>
            <a:r>
              <a:t>Lexus: service Mar 2026 $341K (beat $341K, Oct 2025); service May 2026 $342K (beat $341K, Mar 2026); parts May 2026 $154K (beat $149K, Oct 2025); combined May 2026 $497K (beat $490K, Oct 2025)</a:t>
            </a:r>
          </a:p>
          <a:p>
            <a:r>
              <a:t>Toyota Prescott: service Mar 2026 $397K (beat $377K, Dec 2025); service Apr 2026 $463K (beat $397K, Mar 2026); parts Apr 2026 $204K (beat $203K, Apr 2025); combined Apr 2026 $667K (beat $563K, Aug 2023)</a:t>
            </a:r>
          </a:p>
          <a:p>
            <a:r>
              <a:t>Volvo: service Apr 2026 $294K (beat $288K, Aug 2024); service Jun 2026 $305K (beat $294K, Apr 2026)</a:t>
            </a:r>
          </a:p>
          <a:p>
            <a:r>
              <a:t>CDJR Post Falls: service Jul 2026 $312K (beat $305K, Apr 2025); combined Jul 2026 $481K (beat $468K, Aug 2024)</a:t>
            </a:r>
          </a:p>
          <a:p>
            <a:r>
              <a:t>GMC Prescott: parts Apr 2026 $148K (beat $123K, Oct 2024); combined Apr 2026 $314K (beat $304K, Oct 2024)</a:t>
            </a:r>
          </a:p>
          <a:p>
            <a:r>
              <a:t>LR LV: service Jul 2026 $544K (beat $509K, May 2024); combined Jul 2026 $845K (beat $817K, May 2024)</a:t>
            </a:r>
          </a:p>
          <a:p>
            <a:r>
              <a:t>LR Reno: service Aug 2026 $204K (beat $190K, Jan 2025); combined Aug 2026 $312K (beat $294K, Aug 2024)</a:t>
            </a:r>
          </a:p>
          <a:p>
            <a:r>
              <a:t>Subaru Prescott: combined Apr 2026 $354K (beat $349K, Apr 2025)</a:t>
            </a:r>
          </a:p>
          <a:p>
            <a:r>
              <a:t>Toyota Spokane: service Jul 2026 $470K (beat $450K, Oct 2025); combined Jul 2026 $777K (beat $760K, Oct 2025)</a:t>
            </a:r>
          </a:p>
          <a:p>
            <a:r>
              <a:t>Kia LV: service Sep 2026 $492K (beat $472K, Oct 2024)</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a:t>
            </a:r>
          </a:p>
          <a:p>
            <a:r>
              <a:t>Said: Roundtable slide 9 ('Service Department?'); Jan GM slide 58 (Sales and Service Relationship).</a:t>
            </a:r>
          </a:p>
          <a:p>
            <a:r>
              <a:t>For the GMs who come from sales (Noah, Oct 25): service and parts keep far more of every gross dollar than vehicle sales does. Jan-Sep 2026, after each department's own expenses, fixed ops kept 27 cents of every gross dollar; new, used and F&amp;I together kept 7 cents (before doc fees, packs and factory money, which the P&amp;L books outside the departments). People cost 45 cents of every fixed ops gross dollar and 62 cents of every vehicle sales gross dollar. That is why paying yourself first, on internal work, matters: see Pay Yourself First at the start of the Internal section.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Gross section, after Service Is Sales 2.0 and in front of Total Gross Profit - Fixed Ops.</a:t>
            </a:r>
          </a:p>
          <a:p>
            <a:r>
              <a:t>Source: Qlik Profit &amp; Loss, Total Gross Profit - Service and Total Gross Profit - Parts, same-store, INEOS excluded, GMC Prescott body shop gross excluded (as on the gross slides). Hourly technician pay, guarantees and bonuses paid off the RO post as unapplied labor: not charged on any repair order, a cost-of-sale adjustment that reduces service gross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fixed ops gross, Jan-Sep 2026 vs 2025. Moving now: Jul-Sep 2026 vs Jan-Mar 2026, each store against itself (monthly averages); the group moved +9.4%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service gross, Jan-Sep 2026 vs 2025. Moving now: Jul-Sep 2026 vs Jan-Mar 2026, each store against itself (monthly averages); the group moved +7.0%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parts gross, Jan-Sep 2026 vs 2025. Moving now: Jul-Sep 2026 vs Jan-Mar 2026, each store against itself (monthly averages); the group moved +14.4%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GM statement. Jan-Sep 2026, same-store, INEOS excluded (opened 2026).PLACE: Profitability, in front of Fixed Ops Absorption %; the next slide breaks down the fixed expenses. The denominator is the P&amp;L's Fixed Expenses line on the GM statement: the whole store's expenses (new, used, service, parts, body shop) less the costs that move with each car sold: sales and F&amp;I commissions, delivery, policy, floorplan interest, and new and used vehicle advertising. That matches the standard dealer definition: fixed ops gross divided by total store overhead, excluding the variable costs of selling cars. Jan-Sep 2026 same-store: $242,850,782 of fixed expenses out of $305,051,366 total expense.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Jan-Sep 2026 YTD. Green at or above the group, red below. Bars start at 30.0%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Fixed Ops Absorption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Top and bottom five stores by change in Fixed Ops Absorption %, Jan-Sep 2026 vs 2025. Moving now: Jul-Sep 2026 vs Jan-Mar 2026, each store against itself; the group moved +4.2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Service Net to Gross %.</a:t>
            </a:r>
          </a:p>
          <a:p>
            <a:r>
              <a:t>P&amp;L Detail statement: DEPARTMENT PROFIT OR LOSS / GROSS PROFIT / INCOME, Mechanical Dept (service) and P&amp;A Dept (parts).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Service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Top and bottom five stores by change in Service Net to Gross %, Jan-Sep 2026 vs 2025. Moving now: Jul-Sep 2026 vs Jan-Mar 2026, each store against itself; the group moved +1.0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Parts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Top and bottom five stores by change in Parts Net to Gross %, Jan-Sep 2026 vs 2025. Moving now: Jul-Sep 2026 vs Jan-Mar 2026, each store against itself; the group moved +5.3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a:t>
            </a:r>
          </a:p>
          <a:p>
            <a:r>
              <a:t>Said: Roundtable slides 18-19 (KPIs; CP Labor $ per RO).</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a:t>
            </a:r>
          </a:p>
          <a:p>
            <a:r>
              <a:t>Said: Jan/May GM slides on Appointment Scheduling, Appointment Discipline, Phone Call Handling and Retention Management (Jan 2, 7, 9, 11; May 2, 4, 8, 9).</a:t>
            </a:r>
          </a:p>
          <a:p>
            <a:r>
              <a:t>Optional: the Flai voice AI service view (Jul 16-Aug 15 pull: 4,368 of 8,351 transfers rang out) fits here, but it is a different source and period; refresh it before use and keep it off any slide with a P&amp;L number.</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Flai voice AI dashboard, Service view, standings export, Jul 26 - Oct 26, 2026 (93 days). Flai's location names (26 with calls). Pickup rate and resolution as Flai reports them. Flai's estimated savings, revenue and profit are not used. Handled by the AI alone = calls - transfers (the export has no separate column for it). Not picked up = transfers x (1 - pickup rate), from Flai's group figures. Value: half of the missed transfers x $384.67 average gross per customer-pay or warranty RO (CP labor + parts gross $95.7M, Qlik Closed ROs, plus warranty gross $47.1M, P&amp;L, over 371,180 CP &amp; W ROs, Jan-Sep 2026, same-store) = $2,636,879.</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Flai voice AI dashboard, Service view, standings export, Jul 26 - Oct 26, 2026 (93 days). Flai's location names (26 with calls). Pickup rate and resolution as Flai reports them. Flai's estimated savings, revenue and profit are not used. Green bar: the store is in more than one top list; red bar: in more than one bottom 5. Ranked among the 23 locations with 300+ calls (Subaru St George, Land Rover Henderson, Jaguar Land Rover Las Vegas have fewer). Honda Spokane shows no calls in the period.Talk track: the voice AI answers every call, books what it can and hands the rest to the store. What happens next is ours: someone has to pick up the transfer, and every callback has to be closed. A store that doesn't pick up is sending a customer it already has to voicemail.</a:t>
            </a:r>
          </a:p>
          <a:p/>
          <a:p>
            <a:r>
              <a:t>Definitions to confirm against Flai: pickup rate is read as the share of transferred calls a person picked up; resolution as the share of callback requests closed. Resolve time in the export runs to weeks at some locations and is not shown.</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a:t>
            </a:r>
          </a:p>
          <a:p>
            <a:r>
              <a:t>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a:t>
            </a:r>
          </a:p>
          <a:p>
            <a:r>
              <a:t>LR HENDERSON: $1,168 gross per RO x 307 days open a year = $358,484; 6.8 CP ROs a day today</a:t>
            </a:r>
          </a:p>
          <a:p>
            <a:r>
              <a:t>LR LV: $1,142 gross per RO x 307 days open a year = $350,585; 15.2 CP ROs a day today</a:t>
            </a:r>
          </a:p>
          <a:p>
            <a:r>
              <a:t>LR RENO: $1,052 gross per RO x 307 days open a year = $323,117; 6.2 CP ROs a day today</a:t>
            </a:r>
          </a:p>
          <a:p>
            <a:r>
              <a:t>AUDI HENDERSON: $1,030 gross per RO x 307 days open a year = $316,136; 16.4 CP ROs a day today</a:t>
            </a:r>
          </a:p>
          <a:p>
            <a:r>
              <a:t>AUDI RENO: $740 gross per RO x 307 days open a year = $227,297; 17.0 CP ROs a day today</a:t>
            </a:r>
          </a:p>
          <a:p>
            <a:r>
              <a:t>VOLVO: $662 gross per RO x 307 days open a year = $203,362; 14.8 CP ROs a day today</a:t>
            </a:r>
          </a:p>
          <a:p>
            <a:r>
              <a:t>CADILLAC: $509 gross per RO x 307 days open a year = $156,140; 23.2 CP ROs a day today</a:t>
            </a:r>
          </a:p>
          <a:p>
            <a:r>
              <a:t>LINCOLN: $480 gross per RO x 307 days open a year = $147,507; 11.4 CP ROs a day today</a:t>
            </a:r>
          </a:p>
          <a:p>
            <a:r>
              <a:t>LEXUS: $460 gross per RO x 307 days open a year = $141,182; 19.8 CP ROs a day today</a:t>
            </a:r>
          </a:p>
          <a:p>
            <a:r>
              <a:t>VW HENDERSON: $429 gross per RO x 307 days open a year = $131,560; 22.3 CP ROs a day today</a:t>
            </a:r>
          </a:p>
          <a:p>
            <a:r>
              <a:t>NISSAN: $406 gross per RO x 307 days open a year = $124,728; 30.3 CP ROs a day today</a:t>
            </a:r>
          </a:p>
          <a:p>
            <a:r>
              <a:t>CDJR POST FALLS: $399 gross per RO x 307 days open a year = $122,626; 23.3 CP ROs a day today</a:t>
            </a:r>
          </a:p>
          <a:p>
            <a:r>
              <a:t>CHEVY LV: $362 gross per RO x 307 days open a year = $111,273; 84.8 CP ROs a day today</a:t>
            </a:r>
          </a:p>
          <a:p>
            <a:r>
              <a:t>SUBARU ST GEORGE: $357 gross per RO x 307 days open a year = $109,693; 24.1 CP ROs a day today</a:t>
            </a:r>
          </a:p>
          <a:p>
            <a:r>
              <a:t>ACURA: $356 gross per RO x 307 days open a year = $109,151; 15.9 CP ROs a day today</a:t>
            </a:r>
          </a:p>
          <a:p>
            <a:r>
              <a:t>SUBARU LV: $354 gross per RO x 307 days open a year = $108,687; 61.9 CP ROs a day today</a:t>
            </a:r>
          </a:p>
          <a:p>
            <a:r>
              <a:t>HONDA NORTH: $338 gross per RO x 307 days open a year = $103,675; 65.4 CP ROs a day today</a:t>
            </a:r>
          </a:p>
          <a:p>
            <a:r>
              <a:t>HONDA HENDERSON: $337 gross per RO x 307 days open a year = $103,382; 97.8 CP ROs a day today</a:t>
            </a:r>
          </a:p>
          <a:p>
            <a:r>
              <a:t>HONDA SPOKANE: $331 gross per RO x 307 days open a year = $101,516; 38.8 CP ROs a day today</a:t>
            </a:r>
          </a:p>
          <a:p>
            <a:r>
              <a:t>CHEVY GMC BULLHEAD: $314 gross per RO x 307 days open a year = $96,545; 27.4 CP ROs a day today</a:t>
            </a:r>
          </a:p>
          <a:p>
            <a:r>
              <a:t>GMC PRESCOTT: $310 gross per RO x 307 days open a year = $95,050; 13.5 CP ROs a day today</a:t>
            </a:r>
          </a:p>
          <a:p>
            <a:r>
              <a:t>HONDA FLAGSTAFF: $307 gross per RO x 307 days open a year = $94,176; 17.5 CP ROs a day today</a:t>
            </a:r>
          </a:p>
          <a:p>
            <a:r>
              <a:t>VW ST GEORGE: $292 gross per RO x 307 days open a year = $89,636; 8.3 CP ROs a day today</a:t>
            </a:r>
          </a:p>
          <a:p>
            <a:r>
              <a:t>HYUNDAI ST GEORGE: $283 gross per RO x 307 days open a year = $86,985; 14.5 CP ROs a day today</a:t>
            </a:r>
          </a:p>
          <a:p>
            <a:r>
              <a:t>MAZDA: $280 gross per RO x 307 days open a year = $86,010; 24.8 CP ROs a day today</a:t>
            </a:r>
          </a:p>
          <a:p>
            <a:r>
              <a:t>KIA LV: $268 gross per RO x 307 days open a year = $82,314; 35.3 CP ROs a day today</a:t>
            </a:r>
          </a:p>
          <a:p>
            <a:r>
              <a:t>TOYOTA HENDERSON: $242 gross per RO x 307 days open a year = $74,324; 230.5 CP ROs a day today</a:t>
            </a:r>
          </a:p>
          <a:p>
            <a:r>
              <a:t>HYUNDAI PRESCOTT: $237 gross per RO x 307 days open a year = $72,795; 8.7 CP ROs a day today</a:t>
            </a:r>
          </a:p>
          <a:p>
            <a:r>
              <a:t>SUBARU PRESCOTT: $237 gross per RO x 307 days open a year = $72,776; 22.2 CP ROs a day today</a:t>
            </a:r>
          </a:p>
          <a:p>
            <a:r>
              <a:t>TOYOTA PRESCOTT: $237 gross per RO x 307 days open a year = $72,743; 58.6 CP ROs a day today</a:t>
            </a:r>
          </a:p>
          <a:p>
            <a:r>
              <a:t>KIA ST GEORGE: $220 gross per RO x 307 days open a year = $67,614; 17.0 CP ROs a day today</a:t>
            </a:r>
          </a:p>
          <a:p>
            <a:r>
              <a:t>TOYOTA SPOKANE: $217 gross per RO x 307 days open a year = $66,622; 75.5 CP ROs a day today</a:t>
            </a:r>
          </a:p>
          <a:p>
            <a:r>
              <a:t>TOYOTA FLAGSTAFF: $214 gross per RO x 307 days open a year = $65,596; 65.8 CP ROs a day today</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Top and bottom five stores by change in CP RO count (percent, so store size does not drive the ranking), Jan-Sep 2026 vs 2025. Moving now: Jul-Sep 2026 vs Jan-Mar 2026, each store against itself (monthly averages); the group moved +7.5%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Change in customer-pay hours sold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Top and bottom five stores by change in customer-pay hours sold (percent, so store size does not drive the ranking), Jan-Sep 2026 vs 2025. Moving now: Jul-Sep 2026 vs Jan-Mar 2026, each store against itself (monthly averages); the group moved +5.5%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a:t>
            </a:r>
          </a:p>
          <a:p>
            <a:r>
              <a:t>$4,543,691 = 0.1 x 279,756 CP ROs (27,976 hours) x $162.42 CP ELR (on the Hours per RO data slide). Slide rounds to $162 and $4.5M so the room can follow it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2.90 and 10 of 24 others beat 1.75. VW Henderson leads non-luxury at 2.49.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Hours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all CP ROs, Jan-Sep 2026 by close date. Same-store, INEOS excluded (opened 2026). GMC Prescott body shop labor types excluded. Each store: 0.1 x its CP RO count x its own customer-pay labor gross and parts gross per sold hour; a year = Jan-Sep x 12 / 9. Gross, not sale, so it will not match the $4,543,691 labor sale on the Hours per RO slide. Gross/yr = labor gross + parts gross a year. Parts assumes the extra hours carry the store's average customer-pay parts gross per sold hour.Talk track: 0.1 hour is six minutes of sold time on a visit - one more inspection item sold, one tire rotation, one cabin filter. Parts gross assumes the extra hours carry the store's usual parts.</a:t>
            </a:r>
          </a:p>
          <a:p>
            <a:r>
              <a:t>TOYOTA HENDERSON: 53,084 CP ROs, 1.47 hrs/RO; +0.1 = $97,028 gross a month, $1,164,334 a year (labor $868,256, parts $296,078)</a:t>
            </a:r>
          </a:p>
          <a:p>
            <a:r>
              <a:t>HONDA HENDERSON: 22,527 CP ROs, 1.97 hrs/RO; +0.1 = $42,821 gross a month, $513,852 a year (labor $396,326, parts $117,527)</a:t>
            </a:r>
          </a:p>
          <a:p>
            <a:r>
              <a:t>CHEVY LV: 19,520 CP ROs, 2.30 hrs/RO; +0.1 = $34,189 gross a month, $410,273 a year (labor $295,521, parts $114,751)</a:t>
            </a:r>
          </a:p>
          <a:p>
            <a:r>
              <a:t>TOYOTA SPOKANE: 17,376 CP ROs, 1.48 hrs/RO; +0.1 = $28,273 gross a month, $339,280 a year (labor $220,993, parts $118,287)</a:t>
            </a:r>
          </a:p>
          <a:p>
            <a:r>
              <a:t>TOYOTA FLAGSTAFF: 15,141 CP ROs, 1.41 hrs/RO; +0.1 = $25,581 gross a month, $306,971 a year (labor $228,073, parts $78,899)</a:t>
            </a:r>
          </a:p>
          <a:p>
            <a:r>
              <a:t>HONDA NORTH: 15,048 CP ROs, 2.02 hrs/RO; +0.1 = $27,949 gross a month, $335,387 a year (labor $243,757, parts $91,630)</a:t>
            </a:r>
          </a:p>
          <a:p>
            <a:r>
              <a:t>SUBARU LV: 14,250 CP ROs, 1.95 hrs/RO; +0.1 = $28,789 gross a month, $345,471 a year (labor $260,598, parts $84,873)</a:t>
            </a:r>
          </a:p>
          <a:p>
            <a:r>
              <a:t>TOYOTA PRESCOTT: 13,490 CP ROs, 1.38 hrs/RO; +0.1 = $25,680 gross a month, $308,157 a year (labor $224,917, parts $83,240)</a:t>
            </a:r>
          </a:p>
          <a:p>
            <a:r>
              <a:t>HONDA SPOKANE: 8,930 CP ROs, 2.01 hrs/RO; +0.1 = $16,345 gross a month, $196,138 a year (labor $136,735, parts $59,403)</a:t>
            </a:r>
          </a:p>
          <a:p>
            <a:r>
              <a:t>KIA LV: 8,133 CP ROs, 1.57 hrs/RO; +0.1 = $15,446 gross a month, $185,357 a year (labor $128,599, parts $56,758)</a:t>
            </a:r>
          </a:p>
          <a:p>
            <a:r>
              <a:t>NISSAN: 6,973 CP ROs, 2.11 hrs/RO; +0.1 = $14,916 gross a month, $178,988 a year (labor $128,448, parts $50,540)</a:t>
            </a:r>
          </a:p>
          <a:p>
            <a:r>
              <a:t>CHEVY GMC BULLHEAD: 6,309 CP ROs, 1.74 hrs/RO; +0.1 = $12,652 gross a month, $151,825 a year (labor $102,262, parts $49,564)</a:t>
            </a:r>
          </a:p>
          <a:p>
            <a:r>
              <a:t>MAZDA: 5,701 CP ROs, 1.46 hrs/RO; +0.1 = $12,192 gross a month, $146,304 a year (labor $105,012, parts $41,292)</a:t>
            </a:r>
          </a:p>
          <a:p>
            <a:r>
              <a:t>SUBARU ST GEORGE: 5,553 CP ROs, 2.30 hrs/RO; +0.1 = $9,589 gross a month, $115,073 a year (labor $75,721, parts $39,353)</a:t>
            </a:r>
          </a:p>
          <a:p>
            <a:r>
              <a:t>CDJR POST FALLS: 5,358 CP ROs, 2.20 hrs/RO; +0.1 = $10,803 gross a month, $129,631 a year (labor $91,262, parts $38,370)</a:t>
            </a:r>
          </a:p>
          <a:p>
            <a:r>
              <a:t>CADILLAC: 5,344 CP ROs, 2.73 hrs/RO; +0.1 = $11,060 gross a month, $132,722 a year (labor $95,285, parts $37,436)</a:t>
            </a:r>
          </a:p>
          <a:p>
            <a:r>
              <a:t>VW HENDERSON: 5,145 CP ROs, 2.49 hrs/RO; +0.1 = $9,835 gross a month, $118,025 a year (labor $89,434, parts $28,590)</a:t>
            </a:r>
          </a:p>
          <a:p>
            <a:r>
              <a:t>SUBARU PRESCOTT: 5,105 CP ROs, 1.60 hrs/RO; +0.1 = $8,418 gross a month, $101,015 a year (labor $70,208, parts $30,807)</a:t>
            </a:r>
          </a:p>
          <a:p>
            <a:r>
              <a:t>LEXUS: 4,567 CP ROs, 2.08 hrs/RO; +0.1 = $11,202 gross a month, $134,424 a year (labor $99,999, parts $34,425)</a:t>
            </a:r>
          </a:p>
          <a:p>
            <a:r>
              <a:t>HONDA FLAGSTAFF: 4,030 CP ROs, 1.67 hrs/RO; +0.1 = $8,249 gross a month, $98,985 a year (labor $68,101, parts $30,883)</a:t>
            </a:r>
          </a:p>
          <a:p>
            <a:r>
              <a:t>AUDI RENO: 3,917 CP ROs, 2.73 hrs/RO; +0.1 = $11,814 gross a month, $141,770 a year (labor $96,704, parts $45,066)</a:t>
            </a:r>
          </a:p>
          <a:p>
            <a:r>
              <a:t>KIA ST GEORGE: 3,912 CP ROs, 1.29 hrs/RO; +0.1 = $7,424 gross a month, $89,084 a year (labor $58,429, parts $30,655)</a:t>
            </a:r>
          </a:p>
          <a:p>
            <a:r>
              <a:t>AUDI HENDERSON: 3,779 CP ROs, 3.48 hrs/RO; +0.1 = $12,411 gross a month, $148,928 a year (labor $113,075, parts $35,853)</a:t>
            </a:r>
          </a:p>
          <a:p>
            <a:r>
              <a:t>ACURA: 3,671 CP ROs, 1.42 hrs/RO; +0.1 = $10,212 gross a month, $122,550 a year (labor $81,713, parts $40,837)</a:t>
            </a:r>
          </a:p>
          <a:p>
            <a:r>
              <a:t>LR LV: 3,496 CP ROs, 3.99 hrs/RO; +0.1 = $11,125 gross a month, $133,501 a year (labor $91,287, parts $42,215)</a:t>
            </a:r>
          </a:p>
          <a:p>
            <a:r>
              <a:t>VOLVO: 3,402 CP ROs, 2.28 hrs/RO; +0.1 = $10,992 gross a month, $131,908 a year (labor $89,257, parts $42,652)</a:t>
            </a:r>
          </a:p>
          <a:p>
            <a:r>
              <a:t>HYUNDAI ST GEORGE: 3,349 CP ROs, 1.43 hrs/RO; +0.1 = $7,381 gross a month, $88,568 a year (labor $61,607, parts $26,961)</a:t>
            </a:r>
          </a:p>
          <a:p>
            <a:r>
              <a:t>GMC PRESCOTT: 3,107 CP ROs, 1.96 hrs/RO; +0.1 = $5,461 gross a month, $65,535 a year (labor $42,792, parts $22,743)</a:t>
            </a:r>
          </a:p>
          <a:p>
            <a:r>
              <a:t>LINCOLN: 2,630 CP ROs, 2.48 hrs/RO; +0.1 = $5,651 gross a month, $67,817 a year (labor $48,880, parts $18,937)</a:t>
            </a:r>
          </a:p>
          <a:p>
            <a:r>
              <a:t>HYUNDAI PRESCOTT: 2,010 CP ROs, 1.64 hrs/RO; +0.1 = $3,238 gross a month, $38,856 a year (labor $23,679, parts $15,178)</a:t>
            </a:r>
          </a:p>
          <a:p>
            <a:r>
              <a:t>VW ST GEORGE: 1,919 CP ROs, 1.71 hrs/RO; +0.1 = $3,646 gross a month, $43,756 a year (labor $27,475, parts $16,281)</a:t>
            </a:r>
          </a:p>
          <a:p>
            <a:r>
              <a:t>LR HENDERSON: 1,559 CP ROs, 3.99 hrs/RO; +0.1 = $5,068 gross a month, $60,821 a year (labor $40,050, parts $20,772)</a:t>
            </a:r>
          </a:p>
          <a:p>
            <a:r>
              <a:t>LR RENO: 1,421 CP ROs, 3.48 hrs/RO; +0.1 = $4,771 gross a month, $57,255 a year (labor $37,516, parts $19,739)</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Top and bottom five stores by change in CP Hours per RO, Jan-Sep 2026 vs 2025. Moving now: Jul-Sep 2026 vs Jan-Mar 2026, each store against itself; the group moved −1.9%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Customer Pay, after CP Hours per RO and ahead of Labor Sale by Pay Type and the CP ELR slides.</a:t>
            </a:r>
          </a:p>
          <a:p>
            <a:r>
              <a:t>Roundtable worked example removed from the slide (Noah, Oct 21).</a:t>
            </a:r>
          </a:p>
          <a:p>
            <a:r>
              <a:t>Talk track (Noah, Oct 23): to understand your ELR you have to understand your work mix. A shop that does more repair than maintenance will run a higher ELR, because the repair rate is higher; a shop that is mostly maintenance will run lower. There is nothing wrong with that, but you need to know your mix to know why your ELR is what it is. Raising the repair rate may do less than raising the maintenance rate if most of your work is maintenance. Know your ELR for every labor operation.</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a:t>
            </a:r>
          </a:p>
          <a:p>
            <a:r>
              <a:t>Said: Roundtable slide 15 (Pricing Strategy); Jan/May GM Road to the Sale slide (pricing lines); Jan GM slide 54 (Discounting Discipline); 70% benchmark from the Jan/May door rate slides.</a:t>
            </a:r>
          </a:p>
          <a:p>
            <a:r>
              <a:t>Oct 23 (Noah): grid vs non-grid tile replaced. $126,831 a month = Jul-Sep, for each of the 8 stores under 70% (Chevy LV, Toyota Spokane, Cadillac, Kia LV, Subaru Prescott, Lincoln, GMC Prescott, Hyundai Prescott): (70% x door rate - CP ELR) x CP hours sold, summed ($380,494) / 3. Door rates from the store door rate sheet (door.json), ELR and hours from elr_q3.json.</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Jan-Sep 2026 shares of labor sale; sorted by customer-pay share. Bar labels are percent of labor sale; every value is also listed here.</a:t>
            </a:r>
          </a:p>
          <a:p>
            <a:r>
              <a:t>HONDA SPOKANE: CP 70.3%, W 8.0%, I 21.6%</a:t>
            </a:r>
          </a:p>
          <a:p>
            <a:r>
              <a:t>TOYOTA SPOKANE: CP 65.3%, W 15.5%, I 19.2%</a:t>
            </a:r>
          </a:p>
          <a:p>
            <a:r>
              <a:t>TOYOTA FLAGSTAFF: CP 65.1%, W 11.2%, I 23.7%</a:t>
            </a:r>
          </a:p>
          <a:p>
            <a:r>
              <a:t>HONDA FLAGSTAFF: CP 65.1%, W 11.9%, I 23.0%</a:t>
            </a:r>
          </a:p>
          <a:p>
            <a:r>
              <a:t>LR LV: CP 64.9%, W 25.2%, I 10.0%</a:t>
            </a:r>
          </a:p>
          <a:p>
            <a:r>
              <a:t>VOLVO: CP 62.9%, W 23.1%, I 14.0%</a:t>
            </a:r>
          </a:p>
          <a:p>
            <a:r>
              <a:t>LR RENO: CP 61.5%, W 17.2%, I 21.3%</a:t>
            </a:r>
          </a:p>
          <a:p>
            <a:r>
              <a:t>TOYOTA PRESCOTT: CP 60.5%, W 13.8%, I 25.8%</a:t>
            </a:r>
          </a:p>
          <a:p>
            <a:r>
              <a:t>AUDI RENO: CP 59.7%, W 29.1%, I 11.2%</a:t>
            </a:r>
          </a:p>
          <a:p>
            <a:r>
              <a:t>CDJR POST FALLS: CP 59.5%, W 23.6%, I 16.9%</a:t>
            </a:r>
          </a:p>
          <a:p>
            <a:r>
              <a:t>NISSAN: CP 59.4%, W 17.7%, I 22.9%</a:t>
            </a:r>
          </a:p>
          <a:p>
            <a:r>
              <a:t>SUBARU ST GEORGE: CP 59.0%, W 23.5%, I 17.5%</a:t>
            </a:r>
          </a:p>
          <a:p>
            <a:r>
              <a:t>SUBARU LV: CP 58.0%, W 24.2%, I 17.7%</a:t>
            </a:r>
          </a:p>
          <a:p>
            <a:r>
              <a:t>HONDA NORTH: CP 57.9%, W 13.5%, I 28.6%</a:t>
            </a:r>
          </a:p>
          <a:p>
            <a:r>
              <a:t>TOYOTA HENDERSON: CP 57.3%, W 14.8%, I 27.9%</a:t>
            </a:r>
          </a:p>
          <a:p>
            <a:r>
              <a:t>MAZDA: CP 56.6%, W 12.4%, I 31.0%</a:t>
            </a:r>
          </a:p>
          <a:p>
            <a:r>
              <a:t>HONDA HENDERSON: CP 56.6%, W 10.2%, I 33.3%</a:t>
            </a:r>
          </a:p>
          <a:p>
            <a:r>
              <a:t>VW ST GEORGE: CP 55.8%, W 31.0%, I 13.2%</a:t>
            </a:r>
          </a:p>
          <a:p>
            <a:r>
              <a:t>LR HENDERSON: CP 55.3%, W 20.2%, I 24.5%</a:t>
            </a:r>
          </a:p>
          <a:p>
            <a:r>
              <a:t>LEXUS: CP 54.5%, W 13.1%, I 32.4%</a:t>
            </a:r>
          </a:p>
          <a:p>
            <a:r>
              <a:t>SUBARU PRESCOTT: CP 50.8%, W 19.2%, I 30.0%</a:t>
            </a:r>
          </a:p>
          <a:p>
            <a:r>
              <a:t>ACURA: CP 48.7%, W 15.5%, I 35.8%</a:t>
            </a:r>
          </a:p>
          <a:p>
            <a:r>
              <a:t>GMC PRESCOTT: CP 48.0%, W 23.1%, I 29.0%</a:t>
            </a:r>
          </a:p>
          <a:p>
            <a:r>
              <a:t>VW HENDERSON: CP 47.2%, W 40.1%, I 12.8%</a:t>
            </a:r>
          </a:p>
          <a:p>
            <a:r>
              <a:t>CHEVY LV: CP 47.0%, W 28.1%, I 24.9%</a:t>
            </a:r>
          </a:p>
          <a:p>
            <a:r>
              <a:t>CHEVY GMC BULLHEAD: CP 45.3%, W 14.3%, I 40.4%</a:t>
            </a:r>
          </a:p>
          <a:p>
            <a:r>
              <a:t>LINCOLN: CP 44.6%, W 37.5%, I 17.8%</a:t>
            </a:r>
          </a:p>
          <a:p>
            <a:r>
              <a:t>HYUNDAI ST GEORGE: CP 40.3%, W 34.9%, I 24.8%</a:t>
            </a:r>
          </a:p>
          <a:p>
            <a:r>
              <a:t>KIA ST GEORGE: CP 40.0%, W 38.4%, I 21.7%</a:t>
            </a:r>
          </a:p>
          <a:p>
            <a:r>
              <a:t>KIA LV: CP 39.2%, W 31.5%, I 29.2%</a:t>
            </a:r>
          </a:p>
          <a:p>
            <a:r>
              <a:t>AUDI HENDERSON: CP 34.1%, W 52.2%, I 13.7%</a:t>
            </a:r>
          </a:p>
          <a:p>
            <a:r>
              <a:t>HYUNDAI PRESCOTT: CP 28.5%, W 35.7%, I 35.8%</a:t>
            </a:r>
          </a:p>
          <a:p>
            <a:r>
              <a:t>CADILLAC: CP 27.9%, W 51.3%, I 20.7%</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a:p>
            <a:r>
              <a:t>HONDA HENDERSON: M 71.2%, R 24.6%, U 4.2%</a:t>
            </a:r>
          </a:p>
          <a:p>
            <a:r>
              <a:t>TOYOTA PRESCOTT: M 69.4%, R 25.1%, U 5.5%</a:t>
            </a:r>
          </a:p>
          <a:p>
            <a:r>
              <a:t>TOYOTA HENDERSON: M 68.0%, R 24.7%, U 7.3%</a:t>
            </a:r>
          </a:p>
          <a:p>
            <a:r>
              <a:t>LEXUS: M 67.1%, R 22.0%, U 10.9%</a:t>
            </a:r>
          </a:p>
          <a:p>
            <a:r>
              <a:t>HONDA FLAGSTAFF: M 66.4%, R 25.5%, U 8.1%</a:t>
            </a:r>
          </a:p>
          <a:p>
            <a:r>
              <a:t>HONDA NORTH: M 65.9%, R 29.5%, U 4.6%</a:t>
            </a:r>
          </a:p>
          <a:p>
            <a:r>
              <a:t>MAZDA: M 63.9%, R 21.3%, U 14.8%</a:t>
            </a:r>
          </a:p>
          <a:p>
            <a:r>
              <a:t>ACURA: M 62.0%, R 25.6%, U 12.4%</a:t>
            </a:r>
          </a:p>
          <a:p>
            <a:r>
              <a:t>TOYOTA FLAGSTAFF: M 61.6%, R 13.1%, U 25.3%</a:t>
            </a:r>
          </a:p>
          <a:p>
            <a:r>
              <a:t>TOYOTA SPOKANE: M 60.0%, R 26.4%, U 13.6%</a:t>
            </a:r>
          </a:p>
          <a:p>
            <a:r>
              <a:t>KIA LV: M 59.7%, R 31.1%, U 9.2%</a:t>
            </a:r>
          </a:p>
          <a:p>
            <a:r>
              <a:t>SUBARU PRESCOTT: M 59.2%, R 1.5%, U 39.3%</a:t>
            </a:r>
          </a:p>
          <a:p>
            <a:r>
              <a:t>SUBARU ST GEORGE: M 59.0%, R 26.6%, U 14.4%</a:t>
            </a:r>
          </a:p>
          <a:p>
            <a:r>
              <a:t>LR HENDERSON: M 58.8%, R 32.2%, U 9.0%</a:t>
            </a:r>
          </a:p>
          <a:p>
            <a:r>
              <a:t>HYUNDAI ST GEORGE: M 58.3%, R 18.2%, U 23.5%</a:t>
            </a:r>
          </a:p>
          <a:p>
            <a:r>
              <a:t>HYUNDAI PRESCOTT: M 56.8%, R 23.9%, U 19.3%</a:t>
            </a:r>
          </a:p>
          <a:p>
            <a:r>
              <a:t>LR RENO: M 56.8%, R 23.9%, U 19.3%</a:t>
            </a:r>
          </a:p>
          <a:p>
            <a:r>
              <a:t>SUBARU LV: M 55.1%, R 35.4%, U 9.5%</a:t>
            </a:r>
          </a:p>
          <a:p>
            <a:r>
              <a:t>KIA ST GEORGE: M 55.1%, R 29.6%, U 15.3%</a:t>
            </a:r>
          </a:p>
          <a:p>
            <a:r>
              <a:t>HONDA SPOKANE: M 48.6%, R 41.4%, U 10.0%</a:t>
            </a:r>
          </a:p>
          <a:p>
            <a:r>
              <a:t>VOLVO: M 43.9%, R 41.7%, U 14.4%</a:t>
            </a:r>
          </a:p>
          <a:p>
            <a:r>
              <a:t>LR LV: M 43.0%, R 30.0%, U 27.0%</a:t>
            </a:r>
          </a:p>
          <a:p>
            <a:r>
              <a:t>LINCOLN: M 42.8%, R 28.9%, U 28.3%</a:t>
            </a:r>
          </a:p>
          <a:p>
            <a:r>
              <a:t>VW HENDERSON: M 41.0%, R 51.3%, U 7.7%</a:t>
            </a:r>
          </a:p>
          <a:p>
            <a:r>
              <a:t>CHEVY LV: M 40.6%, R 48.3%, U 11.1%</a:t>
            </a:r>
          </a:p>
          <a:p>
            <a:r>
              <a:t>NISSAN: M 40.2%, R 41.9%, U 17.9%</a:t>
            </a:r>
          </a:p>
          <a:p>
            <a:r>
              <a:t>CHEVY GMC BULLHEAD: M 38.4%, R 32.6%, U 29.0%</a:t>
            </a:r>
          </a:p>
          <a:p>
            <a:r>
              <a:t>AUDI HENDERSON: M 35.1%, R 37.8%, U 27.1%</a:t>
            </a:r>
          </a:p>
          <a:p>
            <a:r>
              <a:t>GMC PRESCOTT: M 33.9%, R 2.6%, U 63.5%</a:t>
            </a:r>
          </a:p>
          <a:p>
            <a:r>
              <a:t>CADILLAC: M 32.8%, R 54.6%, U 12.6%</a:t>
            </a:r>
          </a:p>
          <a:p>
            <a:r>
              <a:t>AUDI RENO: M 32.2%, R 29.7%, U 38.1%</a:t>
            </a:r>
          </a:p>
          <a:p>
            <a:r>
              <a:t>VW ST GEORGE: M 27.5%, R 27.4%, U 45.1%</a:t>
            </a:r>
          </a:p>
          <a:p>
            <a:r>
              <a:t>CDJR POST FALLS: M 26.5%, R 21.7%, U 51.8%</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6 of 9 luxury stores beat $218 and 12 of 24 others beat $151. Acura leads non-luxury at $211.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Top and bottom five stores by change in CP ELR, Jan-Sep 2026 vs 2025. Moving now: Jul-Sep 2026 vs Jan-Mar 2026, each store against itself; the group moved +1.1%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a:t>
            </a:r>
          </a:p>
          <a:p>
            <a:r>
              <a:t>1.87 x $162.42 = $303.73, which rounds to the $304 on the data slide. Parts line (Noah, Oct 23: the parts $ per RO section is out of the deck, so the link lives here): CP parts per RO $228.50 -&gt; $237.96 Jan-Sep 2025 -&gt; 2026 while CP labor per RO rose $286.67 -&gt; $303.72 (Qlik Closed RO, m5.json).</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$632 and 13 of 24 others beat $264. VW Henderson leads non-luxury at $389.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Top and bottom five stores by change in CP Labor $ per RO, Jan-Sep 2026 vs 2025. Moving now: Jul-Sep 2026 vs Jan-Mar 2026, each store against itself; the group moved −0.8%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a:t>
            </a:r>
          </a:p>
          <a:p>
            <a:r>
              <a:t>Example (Noah, Oct 23: replaces the Roundtable table): one CP hour at the group's Jan-Sep 2026 averages, $162.42 ELR, $31.21 tech cost per hour sold, $131.21 kept = 80.8%; rounded on the slide.</a:t>
            </a:r>
          </a:p>
          <a:p>
            <a:r>
              <a:t>Oct 23 (Noah): The Goldilocks Margin talking point is folded into this slide (it repeated it): no Goldilocks or Roundtable wording; its ask (match the tech to the job, not squeeze tech pay) is the first Why It Matters point.</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78-80%.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78-80%. Jan-Sep 2026 YTD. Green at or above the group, red below. Bars start at 60.0%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78-80%. Top and bottom five stores by change in CP Labor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p>
          <a:p>
            <a:r>
              <a:t>Why understand your parts pricing matrix (Noah, Oct 26): (1) Maximize gross profit: price parts to maximize profitability; find gross without more volume. (2) Consistent pricing: every customer charged the same for the same part; no incorrect prices from bad setups or manual overrides. (3) Stay competitive: avoid markups that make repairs too expensive; balance profit with price on higher-cost parts. (4) Check the matrix is applied: parts actually sell at matrix prices; find parts, labor types or transactions that bypass it. (5) Warranty reimbursement: customer-pay parts pricing drives the warranty parts reimbursement rate, so good pricing supports a higher rate and more warranty gross. (6) Control the strategy: know how your matrix is configured and review it against your gross profit goals. Takeaway: the matrix is one of the most effective tools for improving profit without more volume.</a:t>
            </a:r>
          </a:p>
          <a:p>
            <a:r>
              <a:t>5 reasons parts gross profit % matters (Noah, Oct 26): (1) Maximizes profitability: higher GP % earns more from the same volume; small improvements add up over a year. (2) Measures pricing effectiveness: are parts sold at the right prices; where to improve matrices, discounts and markups. (3) Controls discounts and cost increases: shows when discounting cuts profit, and when rising parts costs are not reflected in selling prices. (4) Supports dealership profit: parts gross covers department expenses, adds to net profit and helps fixed ops absorb store overhead. (5) Identifies opportunities: compare against targets, history and other stores; find weak categories (customer pay, wholesale, warranty, internal). Takeaway: parts GP % measures how well we turn parts sales into profit; raising it is one of the most direct ways to grow profit without more volume.</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Top and bottom five stores by change in CP Parts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a:t>
            </a:r>
          </a:p>
          <a:p>
            <a:r>
              <a:t>Said: Roundtable slides 11, 12, 14 (Road to the Sale, Maintenance Menus, MPI Mandate); Jan GM slide 15 / May GM slide 11 (Road to the Sale). Fuel service is 5.8% vs 7.5% (4,731 short).</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Road to the Sale and ahead of MPI Completion % (Noah, Oct 23: maintenance visits and a complete MPI go hand in hand).</a:t>
            </a:r>
          </a:p>
          <a:p>
            <a:r>
              <a:t>Talk track (Noah, Oct 25): go to the dentist for a quick cleaning and they don't tell you something is starting to look like a cavity: that is a disservice. Get cars in quickly, perform a complete, comprehensive MPI, and make the proper recommendations at that time. This is critical, and it can't be left to entry-level employees alone: someone with experience who knows what to look for has to be looking at these cars. Depending on work mix, maintenance can be 25% to 75% of a store's service. Many stores focus on getting more cars in the door, which is great, and we want both, but they miss the opportunities they already have. Processes and policies make sure we capitalize on them: every car, every time.</a:t>
            </a:r>
          </a:p>
          <a:p>
            <a:r>
              <a:t>The 52.5% customer-pay share of labor sale tile was dropped with the rewrite.</a:t>
            </a:r>
          </a:p>
          <a:p>
            <a:r>
              <a:t>Said: Jan GM slide 8 / May GM slide 7 (Express Service), reworded.</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MPI % = CP+W ROs with a completed technician multi-point inspection / CP+W ROs closed. Benchmark 90% (Roundtable: 90%+ MPI completion). Green at or above the benchmark, red below.Every car, every time: the MPI is where the hours on the opcode slides come from. Cadillac switched to Auto.live during the quarter, so its number may understate the process.</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Video % = CP+W ROs with a technician video attached to the MPI / CP+W ROs closed. No benchmark set; scored against the group. Green at or above the group, red below.Video is what turns an inspection into a sale the customer can see. MPI at 80% or more but video under 45%, so the inspection is done and not shown: CDJR Post Falls (81.7% MPI, 16.0% video); Chevy GMC Bullhead (87.6% MPI, 21.8% video); Chevy LV (84.5% MPI, 40.2% video); GMC Prescott (93.2% MPI, 35.1% video); Nissan (97.0% MPI, 41.9% video).</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Photo % (optional on the form) = CP+W ROs with at least one technician photo on the MPI / CP+W ROs closed. Scored against the group. Green at or above the group, red below. 5 stores do not report it (N/A or blank).Optional measure: five stores do not report it, so it is a review slide, not a meeting slide.</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MPI and Video Completion %, ahead of the op code closing % slides (moved out of Internal, Oct 23).</a:t>
            </a:r>
          </a:p>
          <a:p>
            <a:r>
              <a:t>Said: Jan GM slide 19 / May GM slide 15 (Tracking &amp; Accountability); Roundtable slide 16 (Performance Tracking).</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a:t>
            </a:r>
          </a:p>
          <a:p>
            <a:r>
              <a:t>Denominator: CP ROs on the op code report basis (excluding ROs flagged out of the report).</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ALIGNMENT % = alignment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a:t>
            </a:r>
          </a:p>
          <a:p>
            <a:r>
              <a:t>AUDI HENDERSON: 27.5% (2025 21.8%)</a:t>
            </a:r>
          </a:p>
          <a:p>
            <a:r>
              <a:t>LR HENDERSON: 24.4% (2025 19.4%)</a:t>
            </a:r>
          </a:p>
          <a:p>
            <a:r>
              <a:t>HYUNDAI PRESCOTT: 21.8% (2025 15.0%)</a:t>
            </a:r>
          </a:p>
          <a:p>
            <a:r>
              <a:t>HONDA HENDERSON: 21.3% (2025 20.7%)</a:t>
            </a:r>
          </a:p>
          <a:p>
            <a:r>
              <a:t>ACURA: 17.5% (2025 14.2%)</a:t>
            </a:r>
          </a:p>
          <a:p>
            <a:r>
              <a:t>LR LV: 17.4% (2025 11.4%)</a:t>
            </a:r>
          </a:p>
          <a:p>
            <a:r>
              <a:t>MAZDA: 16.7% (2025 10.0%)</a:t>
            </a:r>
          </a:p>
          <a:p>
            <a:r>
              <a:t>HONDA NORTH: 16.2% (2025 15.0%)</a:t>
            </a:r>
          </a:p>
          <a:p>
            <a:r>
              <a:t>HYUNDAI ST GEORGE: 14.8% (2025 5.2%)</a:t>
            </a:r>
          </a:p>
          <a:p>
            <a:r>
              <a:t>SUBARU LV: 14.6% (2025 16.1%)</a:t>
            </a:r>
          </a:p>
          <a:p>
            <a:r>
              <a:t>TOYOTA HENDERSON: 14.5% (2025 15.1%)</a:t>
            </a:r>
          </a:p>
          <a:p>
            <a:r>
              <a:t>CADILLAC: 13.9% (2025 9.7%)</a:t>
            </a:r>
          </a:p>
          <a:p>
            <a:r>
              <a:t>VOLVO: 13.9% (2025 13.5%)</a:t>
            </a:r>
          </a:p>
          <a:p>
            <a:r>
              <a:t>VW HENDERSON: 13.6% (2025 13.5%)</a:t>
            </a:r>
          </a:p>
          <a:p>
            <a:r>
              <a:t>LR RENO: 12.9% (2025 17.7%)</a:t>
            </a:r>
          </a:p>
          <a:p>
            <a:r>
              <a:t>CHEVY LV: 12.9% (2025 13.4%)</a:t>
            </a:r>
          </a:p>
          <a:p>
            <a:r>
              <a:t>SUBARU PRESCOTT: 12.6% (2025 7.1%)</a:t>
            </a:r>
          </a:p>
          <a:p>
            <a:r>
              <a:t>HONDA SPOKANE: 12.5% (2025 10.8%)</a:t>
            </a:r>
          </a:p>
          <a:p>
            <a:r>
              <a:t>TOYOTA PRESCOTT: 12.3% (2025 9.5%)</a:t>
            </a:r>
          </a:p>
          <a:p>
            <a:r>
              <a:t>AUDI RENO: 11.8% (2025 11.7%)</a:t>
            </a:r>
          </a:p>
          <a:p>
            <a:r>
              <a:t>GMC PRESCOTT: 11.7% (2025 5.0%)</a:t>
            </a:r>
          </a:p>
          <a:p>
            <a:r>
              <a:t>LEXUS: 11.4% (2025 8.3%)</a:t>
            </a:r>
          </a:p>
          <a:p>
            <a:r>
              <a:t>CHEVY GMC BULLHEAD: 11.1% (2025 11.2%)</a:t>
            </a:r>
          </a:p>
          <a:p>
            <a:r>
              <a:t>HONDA FLAGSTAFF: 11.1% (2025 5.6%)</a:t>
            </a:r>
          </a:p>
          <a:p>
            <a:r>
              <a:t>SUBARU ST GEORGE: 11.1% (2025 11.9%)</a:t>
            </a:r>
          </a:p>
          <a:p>
            <a:r>
              <a:t>KIA LV: 9.8% (2025 13.3%)</a:t>
            </a:r>
          </a:p>
          <a:p>
            <a:r>
              <a:t>TOYOTA FLAGSTAFF: 9.7% (2025 6.3%)</a:t>
            </a:r>
          </a:p>
          <a:p>
            <a:r>
              <a:t>LINCOLN: 8.4% (2025 2.7%)</a:t>
            </a:r>
          </a:p>
          <a:p>
            <a:r>
              <a:t>KIA ST GEORGE: 8.0% (2025 2.5%)</a:t>
            </a:r>
          </a:p>
          <a:p>
            <a:r>
              <a:t>NISSAN: 7.5% (2025 5.3%)</a:t>
            </a:r>
          </a:p>
          <a:p>
            <a:r>
              <a:t>VW ST GEORGE: 5.6% (2025 3.9%)</a:t>
            </a:r>
          </a:p>
          <a:p>
            <a:r>
              <a:t>TOYOTA SPOKANE: 4.3% (2025 2.6%)</a:t>
            </a:r>
          </a:p>
          <a:p>
            <a:r>
              <a:t>CDJR POST FALLS: 4.2% (2025 1.8%)</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every store, gross a year above (+) or below (-) the benchmark at the store's own gross per service; group gross per service $129. Rate = Jan-Sep closing %.Near-zero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4.2%, −$225K a year at $90/service</a:t>
            </a:r>
          </a:p>
          <a:p>
            <a:r>
              <a:t>TOYOTA FLAGSTAFF: 9.7%, −$90K a year at $84/service</a:t>
            </a:r>
          </a:p>
          <a:p>
            <a:r>
              <a:t>NISSAN: 7.4%, −$83K a year at $119/service</a:t>
            </a:r>
          </a:p>
          <a:p>
            <a:r>
              <a:t>KIA LV: 9.7%, −$77K a year at $135/service</a:t>
            </a:r>
          </a:p>
          <a:p>
            <a:r>
              <a:t>CHEVY LV: 12.8%, −$75K a year at $136/service</a:t>
            </a:r>
          </a:p>
          <a:p>
            <a:r>
              <a:t>CDJR POST FALLS: 4.2%, −$57K a year at $74/service</a:t>
            </a:r>
          </a:p>
          <a:p>
            <a:r>
              <a:t>TOYOTA PRESCOTT: 12.3%, −$49K a year at $103/service</a:t>
            </a:r>
          </a:p>
          <a:p>
            <a:r>
              <a:t>KIA ST GEORGE: 8.0%, −$38K a year at $105/service</a:t>
            </a:r>
          </a:p>
          <a:p>
            <a:r>
              <a:t>HONDA SPOKANE: 12.5%, −$36K a year at $124/service</a:t>
            </a:r>
          </a:p>
          <a:p>
            <a:r>
              <a:t>AUDI RENO: 11.8%, −$34K a year at $230/service</a:t>
            </a:r>
          </a:p>
          <a:p>
            <a:r>
              <a:t>TOYOTA HENDERSON: 14.5%, −$33K a year at $102/service</a:t>
            </a:r>
          </a:p>
          <a:p>
            <a:r>
              <a:t>LEXUS: 11.3%, −$33K a year at $147/service</a:t>
            </a:r>
          </a:p>
          <a:p>
            <a:r>
              <a:t>LINCOLN: 8.4%, −$26K a year at $114/service</a:t>
            </a:r>
          </a:p>
          <a:p>
            <a:r>
              <a:t>CHEVY GMC BULLHEAD: 11.1%, −$25K a year at $78/service</a:t>
            </a:r>
          </a:p>
          <a:p>
            <a:r>
              <a:t>VW HENDERSON: 13.6%, −$23K a year at $245/service</a:t>
            </a:r>
          </a:p>
          <a:p>
            <a:r>
              <a:t>SUBARU ST GEORGE: 11.0%, −$23K a year at $78/service</a:t>
            </a:r>
          </a:p>
          <a:p>
            <a:r>
              <a:t>HONDA FLAGSTAFF: 11.0%, −$21K a year at $100/service</a:t>
            </a:r>
          </a:p>
          <a:p>
            <a:r>
              <a:t>VW ST GEORGE: 5.6%, −$18K a year at $74/service</a:t>
            </a:r>
          </a:p>
          <a:p>
            <a:r>
              <a:t>SUBARU PRESCOTT: 12.5%, −$12K a year at $73/service</a:t>
            </a:r>
          </a:p>
          <a:p>
            <a:r>
              <a:t>GMC PRESCOTT: 11.7%, −$11K a year at $85/service</a:t>
            </a:r>
          </a:p>
          <a:p>
            <a:r>
              <a:t>LR RENO: 12.8%, −$10K a year at $259/service (capped; raw $715/service)</a:t>
            </a:r>
          </a:p>
          <a:p>
            <a:r>
              <a:t>SUBARU LV: 14.5%, −$10K a year at $117/service</a:t>
            </a:r>
          </a:p>
          <a:p>
            <a:r>
              <a:t>CADILLAC: 13.8%, −$9K a year at $115/service</a:t>
            </a:r>
          </a:p>
          <a:p>
            <a:r>
              <a:t>VOLVO: 13.8%, −$7K a year at $142/service</a:t>
            </a:r>
          </a:p>
          <a:p>
            <a:r>
              <a:t>HYUNDAI ST GEORGE: 14.8%, −$865 a year at $121/service</a:t>
            </a:r>
          </a:p>
          <a:p>
            <a:r>
              <a:t>ACURA: 17.5%, +$14K a year at $117/service</a:t>
            </a:r>
          </a:p>
          <a:p>
            <a:r>
              <a:t>MAZDA: 16.6%, +$17K a year at $132/service</a:t>
            </a:r>
          </a:p>
          <a:p>
            <a:r>
              <a:t>LR LV: 17.3%, +$23K a year at $210/service</a:t>
            </a:r>
          </a:p>
          <a:p>
            <a:r>
              <a:t>HONDA NORTH: 16.1%, +$27K a year at $112/service</a:t>
            </a:r>
          </a:p>
          <a:p>
            <a:r>
              <a:t>LR HENDERSON: 24.4%, +$41K a year at $209/service</a:t>
            </a:r>
          </a:p>
          <a:p>
            <a:r>
              <a:t>HYUNDAI PRESCOTT: 21.7%, +$42K a year at $228/service</a:t>
            </a:r>
          </a:p>
          <a:p>
            <a:r>
              <a:t>AUDI HENDERSON: 27.5%, +$163K a year at $259/service (capped; raw $390/service)</a:t>
            </a:r>
          </a:p>
          <a:p>
            <a:r>
              <a:t>HONDA HENDERSON: 21.3%, +$229K a year at $121/service</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Alignment %, Jan-Sep 2026 vs 2025, in points. Moving now: Jul-Sep 2026 vs Jan-Mar 2026, each store against itself; the group moved +0.2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BALANCE % = balance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 CHECK OP-CODE MAPPING - under 0.5%: TOYOTA SPOKANE, LEXUS, AUDI RENO, AUDI HENDERSON, VW ST GEORGE. Near zero in 2025, so year-over-year gain may be mapping: HONDA SPOKANE, SUBARU PRESCOTT.</a:t>
            </a:r>
          </a:p>
          <a:p>
            <a:r>
              <a:t>LR HENDERSON: 27.0% (2025 22.9%)</a:t>
            </a:r>
          </a:p>
          <a:p>
            <a:r>
              <a:t>HONDA HENDERSON: 18.4% (2025 17.7%)</a:t>
            </a:r>
          </a:p>
          <a:p>
            <a:r>
              <a:t>LR LV: 17.0% (2025 3.4%)</a:t>
            </a:r>
          </a:p>
          <a:p>
            <a:r>
              <a:t>LR RENO: 17.0% (2025 16.3%)</a:t>
            </a:r>
          </a:p>
          <a:p>
            <a:r>
              <a:t>SUBARU PRESCOTT: 15.0% (2025 0.1%)</a:t>
            </a:r>
          </a:p>
          <a:p>
            <a:r>
              <a:t>ACURA: 14.1% (2025 10.3%)</a:t>
            </a:r>
          </a:p>
          <a:p>
            <a:r>
              <a:t>HYUNDAI PRESCOTT: 13.5% (2025 8.9%)</a:t>
            </a:r>
          </a:p>
          <a:p>
            <a:r>
              <a:t>MAZDA: 13.2% (2025 6.5%)</a:t>
            </a:r>
          </a:p>
          <a:p>
            <a:r>
              <a:t>HONDA NORTH: 12.0% (2025 11.3%)</a:t>
            </a:r>
          </a:p>
          <a:p>
            <a:r>
              <a:t>VOLVO: 11.7% (2025 10.9%)</a:t>
            </a:r>
          </a:p>
          <a:p>
            <a:r>
              <a:t>TOYOTA HENDERSON: 11.2% (2025 11.7%)</a:t>
            </a:r>
          </a:p>
          <a:p>
            <a:r>
              <a:t>SUBARU LV: 10.2% (2025 11.3%)</a:t>
            </a:r>
          </a:p>
          <a:p>
            <a:r>
              <a:t>CHEVY GMC BULLHEAD: 9.1% (2025 6.5%)</a:t>
            </a:r>
          </a:p>
          <a:p>
            <a:r>
              <a:t>VW HENDERSON: 8.3% (2025 7.0%)</a:t>
            </a:r>
          </a:p>
          <a:p>
            <a:r>
              <a:t>GMC PRESCOTT: 7.8% (2025 2.0%)</a:t>
            </a:r>
          </a:p>
          <a:p>
            <a:r>
              <a:t>KIA ST GEORGE: 7.7% (2025 1.1%)</a:t>
            </a:r>
          </a:p>
          <a:p>
            <a:r>
              <a:t>CHEVY LV: 7.3% (2025 4.2%)</a:t>
            </a:r>
          </a:p>
          <a:p>
            <a:r>
              <a:t>TOYOTA PRESCOTT: 6.2% (2025 3.3%)</a:t>
            </a:r>
          </a:p>
          <a:p>
            <a:r>
              <a:t>CADILLAC: 6.0% (2025 2.6%)</a:t>
            </a:r>
          </a:p>
          <a:p>
            <a:r>
              <a:t>KIA LV: 5.2% (2025 6.6%)</a:t>
            </a:r>
          </a:p>
          <a:p>
            <a:r>
              <a:t>TOYOTA FLAGSTAFF: 4.9% (2025 3.7%)</a:t>
            </a:r>
          </a:p>
          <a:p>
            <a:r>
              <a:t>SUBARU ST GEORGE: 3.7% (2025 5.3%)</a:t>
            </a:r>
          </a:p>
          <a:p>
            <a:r>
              <a:t>HONDA SPOKANE: 2.2% (2025 0.1%)</a:t>
            </a:r>
          </a:p>
          <a:p>
            <a:r>
              <a:t>LINCOLN: 1.7% (2025 0.0%)</a:t>
            </a:r>
          </a:p>
          <a:p>
            <a:r>
              <a:t>HONDA FLAGSTAFF: 1.3% (2025 0.2%)</a:t>
            </a:r>
          </a:p>
          <a:p>
            <a:r>
              <a:t>CDJR POST FALLS: 1.3% (2025 0.2%)</a:t>
            </a:r>
          </a:p>
          <a:p>
            <a:r>
              <a:t>HYUNDAI ST GEORGE: 1.2% (2025 0.4%)</a:t>
            </a:r>
          </a:p>
          <a:p>
            <a:r>
              <a:t>NISSAN: 1.1% (2025 2.6%)</a:t>
            </a:r>
          </a:p>
          <a:p>
            <a:r>
              <a:t>TOYOTA SPOKANE: 0.5% (2025 0.3%)</a:t>
            </a:r>
          </a:p>
          <a:p>
            <a:r>
              <a:t>VW ST GEORGE: 0.4% (2025 0.7%)</a:t>
            </a:r>
          </a:p>
          <a:p>
            <a:r>
              <a:t>AUDI RENO: 0.1% (2025 0.2%)</a:t>
            </a:r>
          </a:p>
          <a:p>
            <a:r>
              <a:t>LEXUS: 0.1% (2025 0.1%)</a:t>
            </a:r>
          </a:p>
          <a:p>
            <a:r>
              <a:t>AUDI HENDERSON: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Tire Balance: every store, gross a year above (+) or below (-) the benchmark at the store's own gross per service; group gross per service $75. Rate = Jan-Sep closing %.Near-zero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0.4%, −$180K a year at $53/service</a:t>
            </a:r>
          </a:p>
          <a:p>
            <a:r>
              <a:t>TOYOTA HENDERSON: 11.2%, −$147K a year at $55/service</a:t>
            </a:r>
          </a:p>
          <a:p>
            <a:r>
              <a:t>TOYOTA PRESCOTT: 6.1%, −$132K a year at $83/service</a:t>
            </a:r>
          </a:p>
          <a:p>
            <a:r>
              <a:t>SUBARU ST GEORGE: 3.6%, −$125K a year at $149/service (capped; raw $247/service)</a:t>
            </a:r>
          </a:p>
          <a:p>
            <a:r>
              <a:t>TOYOTA FLAGSTAFF: 4.9%, −$109K a year at $54/service</a:t>
            </a:r>
          </a:p>
          <a:p>
            <a:r>
              <a:t>CHEVY LV: 7.3%, −$106K a year at $53/service</a:t>
            </a:r>
          </a:p>
          <a:p>
            <a:r>
              <a:t>HONDA SPOKANE: 2.1%, −$80K a year at $52/service</a:t>
            </a:r>
          </a:p>
          <a:p>
            <a:r>
              <a:t>NISSAN: 1.0%, −$77K a year at $59/service</a:t>
            </a:r>
          </a:p>
          <a:p>
            <a:r>
              <a:t>CDJR POST FALLS: 1.2%, −$73K a year at $75/service</a:t>
            </a:r>
          </a:p>
          <a:p>
            <a:r>
              <a:t>KIA LV: 5.2%, −$72K a year at $68/service</a:t>
            </a:r>
          </a:p>
          <a:p>
            <a:r>
              <a:t>LEXUS: 0.0%, −$68K a year at $75/service (group avg)</a:t>
            </a:r>
          </a:p>
          <a:p>
            <a:r>
              <a:t>SUBARU LV: 10.2%, −$68K a year at $75/service</a:t>
            </a:r>
          </a:p>
          <a:p>
            <a:r>
              <a:t>AUDI HENDERSON: 0.0%, −$56K a year at $75/service (group avg)</a:t>
            </a:r>
          </a:p>
          <a:p>
            <a:r>
              <a:t>AUDI RENO: 0.1%, −$52K a year at $75/service (group avg)</a:t>
            </a:r>
          </a:p>
          <a:p>
            <a:r>
              <a:t>HONDA FLAGSTAFF: 1.3%, −$52K a year at $70/service</a:t>
            </a:r>
          </a:p>
          <a:p>
            <a:r>
              <a:t>HONDA NORTH: 12.0%, −$38K a year at $64/service</a:t>
            </a:r>
          </a:p>
          <a:p>
            <a:r>
              <a:t>HYUNDAI ST GEORGE: 1.2%, −$36K a year at $58/service</a:t>
            </a:r>
          </a:p>
          <a:p>
            <a:r>
              <a:t>LINCOLN: 1.6%, −$31K a year at $66/service</a:t>
            </a:r>
          </a:p>
          <a:p>
            <a:r>
              <a:t>VW ST GEORGE: 0.4%, −$28K a year at $75/service (group avg)</a:t>
            </a:r>
          </a:p>
          <a:p>
            <a:r>
              <a:t>VW HENDERSON: 8.2%, −$27K a year at $60/service</a:t>
            </a:r>
          </a:p>
          <a:p>
            <a:r>
              <a:t>GMC PRESCOTT: 7.7%, −$27K a year at $90/service</a:t>
            </a:r>
          </a:p>
          <a:p>
            <a:r>
              <a:t>CHEVY GMC BULLHEAD: 9.0%, −$21K a year at $42/service</a:t>
            </a:r>
          </a:p>
          <a:p>
            <a:r>
              <a:t>KIA ST GEORGE: 7.7%, −$18K a year at $48/service</a:t>
            </a:r>
          </a:p>
          <a:p>
            <a:r>
              <a:t>CADILLAC: 5.9%, −$14K a year at $22/service</a:t>
            </a:r>
          </a:p>
          <a:p>
            <a:r>
              <a:t>MAZDA: 13.1%, −$11K a year at $79/service</a:t>
            </a:r>
          </a:p>
          <a:p>
            <a:r>
              <a:t>VOLVO: 11.7%, −$8K a year at $51/service</a:t>
            </a:r>
          </a:p>
          <a:p>
            <a:r>
              <a:t>HYUNDAI PRESCOTT: 13.5%, −$6K a year at $149/service (capped; raw $311/service)</a:t>
            </a:r>
          </a:p>
          <a:p>
            <a:r>
              <a:t>ACURA: 14.1%, −$3K a year at $64/service</a:t>
            </a:r>
          </a:p>
          <a:p>
            <a:r>
              <a:t>SUBARU PRESCOTT: 14.9%, −$34 a year at $34/service</a:t>
            </a:r>
          </a:p>
          <a:p>
            <a:r>
              <a:t>LR RENO: 16.9%, +$6K a year at $149/service (capped; raw $647/service)</a:t>
            </a:r>
          </a:p>
          <a:p>
            <a:r>
              <a:t>LR LV: 16.9%, +$14K a year at $149/service</a:t>
            </a:r>
          </a:p>
          <a:p>
            <a:r>
              <a:t>LR HENDERSON: 27.0%, +$31K a year at $122/service</a:t>
            </a:r>
          </a:p>
          <a:p>
            <a:r>
              <a:t>HONDA HENDERSON: 18.4%, +$70K a year at $68/service</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Balance %, Jan-Sep 2026 vs 2025, in points. Moving now: Jul-Sep 2026 vs Jan-Mar 2026, each store against itself; the group moved +0.1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BRAKE FLUID % = brake fluid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10% benchmark, red below.</a:t>
            </a:r>
          </a:p>
          <a:p>
            <a:r>
              <a:t>LR LV: 20.7% (2025 15.2%)</a:t>
            </a:r>
          </a:p>
          <a:p>
            <a:r>
              <a:t>HONDA HENDERSON: 15.6% (2025 12.9%)</a:t>
            </a:r>
          </a:p>
          <a:p>
            <a:r>
              <a:t>LR HENDERSON: 14.3% (2025 9.0%)</a:t>
            </a:r>
          </a:p>
          <a:p>
            <a:r>
              <a:t>ACURA: 12.7% (2025 8.6%)</a:t>
            </a:r>
          </a:p>
          <a:p>
            <a:r>
              <a:t>HONDA NORTH: 12.1% (2025 13.1%)</a:t>
            </a:r>
          </a:p>
          <a:p>
            <a:r>
              <a:t>VOLVO: 11.9% (2025 12.1%)</a:t>
            </a:r>
          </a:p>
          <a:p>
            <a:r>
              <a:t>NISSAN: 11.6% (2025 3.8%)</a:t>
            </a:r>
          </a:p>
          <a:p>
            <a:r>
              <a:t>SUBARU ST GEORGE: 10.8% (2025 11.0%)</a:t>
            </a:r>
          </a:p>
          <a:p>
            <a:r>
              <a:t>SUBARU PRESCOTT: 10.6% (2025 6.4%)</a:t>
            </a:r>
          </a:p>
          <a:p>
            <a:r>
              <a:t>HONDA SPOKANE: 10.3% (2025 9.8%)</a:t>
            </a:r>
          </a:p>
          <a:p>
            <a:r>
              <a:t>SUBARU LV: 10.1% (2025 9.3%)</a:t>
            </a:r>
          </a:p>
          <a:p>
            <a:r>
              <a:t>TOYOTA HENDERSON: 10.1% (2025 9.7%)</a:t>
            </a:r>
          </a:p>
          <a:p>
            <a:r>
              <a:t>HYUNDAI PRESCOTT: 9.7% (2025 8.1%)</a:t>
            </a:r>
          </a:p>
          <a:p>
            <a:r>
              <a:t>VW HENDERSON: 9.5% (2025 7.8%)</a:t>
            </a:r>
          </a:p>
          <a:p>
            <a:r>
              <a:t>MAZDA: 8.5% (2025 4.6%)</a:t>
            </a:r>
          </a:p>
          <a:p>
            <a:r>
              <a:t>TOYOTA PRESCOTT: 8.4% (2025 6.1%)</a:t>
            </a:r>
          </a:p>
          <a:p>
            <a:r>
              <a:t>LEXUS: 8.4% (2025 4.9%)</a:t>
            </a:r>
          </a:p>
          <a:p>
            <a:r>
              <a:t>KIA LV: 8.3% (2025 7.2%)</a:t>
            </a:r>
          </a:p>
          <a:p>
            <a:r>
              <a:t>TOYOTA FLAGSTAFF: 8.1% (2025 7.3%)</a:t>
            </a:r>
          </a:p>
          <a:p>
            <a:r>
              <a:t>LINCOLN: 7.5% (2025 2.4%)</a:t>
            </a:r>
          </a:p>
          <a:p>
            <a:r>
              <a:t>LR RENO: 7.2% (2025 2.5%)</a:t>
            </a:r>
          </a:p>
          <a:p>
            <a:r>
              <a:t>CHEVY GMC BULLHEAD: 7.1% (2025 3.8%)</a:t>
            </a:r>
          </a:p>
          <a:p>
            <a:r>
              <a:t>TOYOTA SPOKANE: 7.0% (2025 6.8%)</a:t>
            </a:r>
          </a:p>
          <a:p>
            <a:r>
              <a:t>GMC PRESCOTT: 6.1% (2025 4.6%)</a:t>
            </a:r>
          </a:p>
          <a:p>
            <a:r>
              <a:t>KIA ST GEORGE: 6.0% (2025 3.8%)</a:t>
            </a:r>
          </a:p>
          <a:p>
            <a:r>
              <a:t>CHEVY LV: 5.8% (2025 5.3%)</a:t>
            </a:r>
          </a:p>
          <a:p>
            <a:r>
              <a:t>VW ST GEORGE: 5.4% (2025 4.0%)</a:t>
            </a:r>
          </a:p>
          <a:p>
            <a:r>
              <a:t>HYUNDAI ST GEORGE: 4.7% (2025 1.6%)</a:t>
            </a:r>
          </a:p>
          <a:p>
            <a:r>
              <a:t>CADILLAC: 4.7% (2025 4.1%)</a:t>
            </a:r>
          </a:p>
          <a:p>
            <a:r>
              <a:t>CDJR POST FALLS: 4.2% (2025 6.0%)</a:t>
            </a:r>
          </a:p>
          <a:p>
            <a:r>
              <a:t>HONDA FLAGSTAFF: 3.2% (2025 2.4%)</a:t>
            </a:r>
          </a:p>
          <a:p>
            <a:r>
              <a:t>AUDI HENDERSON: 2.5% (2025 1.8%)</a:t>
            </a:r>
          </a:p>
          <a:p>
            <a:r>
              <a:t>AUDI RENO: 1.9% (2025 0.5%)</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Brake Fluid: every store, gross a year above (+) or below (-) the benchmark at the store's own gross per service; group gross per service $189. Rate = Jan-Sep closing %.Near-zero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5.7%, −$151K a year at $138/service</a:t>
            </a:r>
          </a:p>
          <a:p>
            <a:r>
              <a:t>TOYOTA SPOKANE: 7.0%, −$80K a year at $117/service</a:t>
            </a:r>
          </a:p>
          <a:p>
            <a:r>
              <a:t>AUDI RENO: 1.9%, −$78K a year at $206/service</a:t>
            </a:r>
          </a:p>
          <a:p>
            <a:r>
              <a:t>AUDI HENDERSON: 2.4%, −$74K a year at $196/service</a:t>
            </a:r>
          </a:p>
          <a:p>
            <a:r>
              <a:t>HONDA FLAGSTAFF: 3.1%, −$67K a year at $184/service</a:t>
            </a:r>
          </a:p>
          <a:p>
            <a:r>
              <a:t>CADILLAC: 4.6%, −$57K a year at $150/service</a:t>
            </a:r>
          </a:p>
          <a:p>
            <a:r>
              <a:t>CDJR POST FALLS: 4.2%, −$53K a year at $128/service</a:t>
            </a:r>
          </a:p>
          <a:p>
            <a:r>
              <a:t>TOYOTA FLAGSTAFF: 8.0%, −$48K a year at $123/service</a:t>
            </a:r>
          </a:p>
          <a:p>
            <a:r>
              <a:t>TOYOTA PRESCOTT: 8.4%, −$32K a year at $112/service</a:t>
            </a:r>
          </a:p>
          <a:p>
            <a:r>
              <a:t>HYUNDAI ST GEORGE: 4.7%, −$32K a year at $134/service</a:t>
            </a:r>
          </a:p>
          <a:p>
            <a:r>
              <a:t>KIA ST GEORGE: 5.9%, −$25K a year at $119/service</a:t>
            </a:r>
          </a:p>
          <a:p>
            <a:r>
              <a:t>KIA LV: 8.2%, −$22K a year at $120/service</a:t>
            </a:r>
          </a:p>
          <a:p>
            <a:r>
              <a:t>CHEVY GMC BULLHEAD: 7.0%, −$21K a year at $87/service</a:t>
            </a:r>
          </a:p>
          <a:p>
            <a:r>
              <a:t>GMC PRESCOTT: 6.0%, −$21K a year at $127/service</a:t>
            </a:r>
          </a:p>
          <a:p>
            <a:r>
              <a:t>LR RENO: 7.2%, −$20K a year at $377/service (capped; raw $1,380/service)</a:t>
            </a:r>
          </a:p>
          <a:p>
            <a:r>
              <a:t>MAZDA: 8.4%, −$18K a year at $154/service</a:t>
            </a:r>
          </a:p>
          <a:p>
            <a:r>
              <a:t>LEXUS: 8.3%, −$15K a year at $154/service</a:t>
            </a:r>
          </a:p>
          <a:p>
            <a:r>
              <a:t>VW ST GEORGE: 5.4%, −$13K a year at $111/service</a:t>
            </a:r>
          </a:p>
          <a:p>
            <a:r>
              <a:t>LINCOLN: 7.5%, −$11K a year at $126/service</a:t>
            </a:r>
          </a:p>
          <a:p>
            <a:r>
              <a:t>VW HENDERSON: 9.5%, −$4K a year at $134/service</a:t>
            </a:r>
          </a:p>
          <a:p>
            <a:r>
              <a:t>HYUNDAI PRESCOTT: 9.6%, −$3K a year at $354/service</a:t>
            </a:r>
          </a:p>
          <a:p>
            <a:r>
              <a:t>HONDA SPOKANE: 10.3%, +$5K a year at $126/service</a:t>
            </a:r>
          </a:p>
          <a:p>
            <a:r>
              <a:t>TOYOTA HENDERSON: 10.0%, +$7K a year at $141/service</a:t>
            </a:r>
          </a:p>
          <a:p>
            <a:r>
              <a:t>SUBARU LV: 10.1%, +$9K a year at $333/service</a:t>
            </a:r>
          </a:p>
          <a:p>
            <a:r>
              <a:t>SUBARU PRESCOTT: 10.6%, +$16K a year at $377/service (capped; raw $380/service)</a:t>
            </a:r>
          </a:p>
          <a:p>
            <a:r>
              <a:t>ACURA: 12.7%, +$20K a year at $147/service</a:t>
            </a:r>
          </a:p>
          <a:p>
            <a:r>
              <a:t>SUBARU ST GEORGE: 10.7%, +$21K a year at $377/service (capped; raw $489/service)</a:t>
            </a:r>
          </a:p>
          <a:p>
            <a:r>
              <a:t>NISSAN: 11.6%, +$24K a year at $155/service</a:t>
            </a:r>
          </a:p>
          <a:p>
            <a:r>
              <a:t>VOLVO: 11.9%, +$33K a year at $377/service (capped; raw $538/service)</a:t>
            </a:r>
          </a:p>
          <a:p>
            <a:r>
              <a:t>LR HENDERSON: 14.3%, +$34K a year at $377/service (capped; raw $709/service)</a:t>
            </a:r>
          </a:p>
          <a:p>
            <a:r>
              <a:t>HONDA NORTH: 12.1%, +$67K a year at $160/service</a:t>
            </a:r>
          </a:p>
          <a:p>
            <a:r>
              <a:t>LR LV: 20.6%, +$187K a year at $377/service (capped; raw $424/service)</a:t>
            </a:r>
          </a:p>
          <a:p>
            <a:r>
              <a:t>HONDA HENDERSON: 15.5%, +$260K a year at $155/service</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Brake Fluid %, Jan-Sep 2026 vs 2025, in points.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FUEL SERVICE % = fuel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7.5% benchmark, red below. CHECK OP-CODE MAPPING - under 0.5%: VW HENDERSON, AUDI HENDERSON, VOLVO. Near zero in 2025, so year-over-year gain may be mapping: HONDA SPOKANE, SUBARU ST GEORGE, LR LV, LR RENO.</a:t>
            </a:r>
          </a:p>
          <a:p>
            <a:r>
              <a:t>SUBARU ST GEORGE: 13.8% (2025 0.0%)</a:t>
            </a:r>
          </a:p>
          <a:p>
            <a:r>
              <a:t>HONDA HENDERSON: 12.0% (2025 10.4%)</a:t>
            </a:r>
          </a:p>
          <a:p>
            <a:r>
              <a:t>SUBARU PRESCOTT: 9.8% (2025 5.9%)</a:t>
            </a:r>
          </a:p>
          <a:p>
            <a:r>
              <a:t>ACURA: 9.4% (2025 5.4%)</a:t>
            </a:r>
          </a:p>
          <a:p>
            <a:r>
              <a:t>KIA ST GEORGE: 8.9% (2025 5.6%)</a:t>
            </a:r>
          </a:p>
          <a:p>
            <a:r>
              <a:t>LINCOLN: 8.2% (2025 2.1%)</a:t>
            </a:r>
          </a:p>
          <a:p>
            <a:r>
              <a:t>HONDA NORTH: 7.7% (2025 5.3%)</a:t>
            </a:r>
          </a:p>
          <a:p>
            <a:r>
              <a:t>HYUNDAI PRESCOTT: 7.4% (2025 6.7%)</a:t>
            </a:r>
          </a:p>
          <a:p>
            <a:r>
              <a:t>SUBARU LV: 7.1% (2025 8.2%)</a:t>
            </a:r>
          </a:p>
          <a:p>
            <a:r>
              <a:t>TOYOTA PRESCOTT: 6.5% (2025 5.0%)</a:t>
            </a:r>
          </a:p>
          <a:p>
            <a:r>
              <a:t>TOYOTA HENDERSON: 6.0% (2025 6.1%)</a:t>
            </a:r>
          </a:p>
          <a:p>
            <a:r>
              <a:t>HYUNDAI ST GEORGE: 5.9% (2025 2.4%)</a:t>
            </a:r>
          </a:p>
          <a:p>
            <a:r>
              <a:t>TOYOTA SPOKANE: 5.8% (2025 6.1%)</a:t>
            </a:r>
          </a:p>
          <a:p>
            <a:r>
              <a:t>LR LV: 5.5% (2025 0.2%)</a:t>
            </a:r>
          </a:p>
          <a:p>
            <a:r>
              <a:t>CHEVY LV: 5.3% (2025 4.8%)</a:t>
            </a:r>
          </a:p>
          <a:p>
            <a:r>
              <a:t>MAZDA: 5.2% (2025 1.4%)</a:t>
            </a:r>
          </a:p>
          <a:p>
            <a:r>
              <a:t>CADILLAC: 5.1% (2025 4.4%)</a:t>
            </a:r>
          </a:p>
          <a:p>
            <a:r>
              <a:t>LR RENO: 4.6% (2025 0.0%)</a:t>
            </a:r>
          </a:p>
          <a:p>
            <a:r>
              <a:t>LEXUS: 4.3% (2025 1.9%)</a:t>
            </a:r>
          </a:p>
          <a:p>
            <a:r>
              <a:t>NISSAN: 4.2% (2025 0.8%)</a:t>
            </a:r>
          </a:p>
          <a:p>
            <a:r>
              <a:t>GMC PRESCOTT: 3.6% (2025 3.0%)</a:t>
            </a:r>
          </a:p>
          <a:p>
            <a:r>
              <a:t>HONDA SPOKANE: 3.2% (2025 0.0%)</a:t>
            </a:r>
          </a:p>
          <a:p>
            <a:r>
              <a:t>KIA LV: 3.2% (2025 2.9%)</a:t>
            </a:r>
          </a:p>
          <a:p>
            <a:r>
              <a:t>CDJR POST FALLS: 3.0% (2025 4.0%)</a:t>
            </a:r>
          </a:p>
          <a:p>
            <a:r>
              <a:t>CHEVY GMC BULLHEAD: 2.7% (2025 1.8%)</a:t>
            </a:r>
          </a:p>
          <a:p>
            <a:r>
              <a:t>VW ST GEORGE: 2.7% (2025 2.4%)</a:t>
            </a:r>
          </a:p>
          <a:p>
            <a:r>
              <a:t>LR HENDERSON: 2.6% (2025 2.4%)</a:t>
            </a:r>
          </a:p>
          <a:p>
            <a:r>
              <a:t>TOYOTA FLAGSTAFF: 1.7% (2025 1.7%)</a:t>
            </a:r>
          </a:p>
          <a:p>
            <a:r>
              <a:t>AUDI RENO: 0.8% (2025 0.0%)</a:t>
            </a:r>
          </a:p>
          <a:p>
            <a:r>
              <a:t>HONDA FLAGSTAFF: 0.7% (2025 0.7%)</a:t>
            </a:r>
          </a:p>
          <a:p>
            <a:r>
              <a:t>VW HENDERSON: 0.0% (2025 0.0%)</a:t>
            </a:r>
          </a:p>
          <a:p>
            <a:r>
              <a:t>AUDI HENDERSON: 0.0% (2025 0.0%)</a:t>
            </a:r>
          </a:p>
          <a:p>
            <a:r>
              <a:t>VOLVO: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Fuel System Service: every store, gross a year above (+) or below (-) the benchmark at the store's own gross per service; group gross per service $165. Rate = Jan-Sep closing %.Near-zero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5.2%, −$142K a year at $243/service</a:t>
            </a:r>
          </a:p>
          <a:p>
            <a:r>
              <a:t>TOYOTA HENDERSON: 6.0%, −$129K a year at $122/service</a:t>
            </a:r>
          </a:p>
          <a:p>
            <a:r>
              <a:t>TOYOTA FLAGSTAFF: 1.6%, −$109K a year at $93/service</a:t>
            </a:r>
          </a:p>
          <a:p>
            <a:r>
              <a:t>VW HENDERSON: 0.0%, −$85K a year at $165/service (group avg)</a:t>
            </a:r>
          </a:p>
          <a:p>
            <a:r>
              <a:t>KIA LV: 3.2%, −$76K a year at $163/service</a:t>
            </a:r>
          </a:p>
          <a:p>
            <a:r>
              <a:t>HONDA SPOKANE: 3.2%, −$75K a year at $147/service</a:t>
            </a:r>
          </a:p>
          <a:p>
            <a:r>
              <a:t>CHEVY GMC BULLHEAD: 2.7%, −$65K a year at $163/service</a:t>
            </a:r>
          </a:p>
          <a:p>
            <a:r>
              <a:t>NISSAN: 4.1%, −$64K a year at $206/service</a:t>
            </a:r>
          </a:p>
          <a:p>
            <a:r>
              <a:t>AUDI HENDERSON: 0.0%, −$62K a year at $165/service (group avg)</a:t>
            </a:r>
          </a:p>
          <a:p>
            <a:r>
              <a:t>CDJR POST FALLS: 3.0%, −$62K a year at $192/service</a:t>
            </a:r>
          </a:p>
          <a:p>
            <a:r>
              <a:t>HONDA FLAGSTAFF: 0.7%, −$60K a year at $165/service (group avg)</a:t>
            </a:r>
          </a:p>
          <a:p>
            <a:r>
              <a:t>TOYOTA SPOKANE: 5.8%, −$56K a year at $145/service</a:t>
            </a:r>
          </a:p>
          <a:p>
            <a:r>
              <a:t>VOLVO: 0.0%, −$56K a year at $165/service (group avg)</a:t>
            </a:r>
          </a:p>
          <a:p>
            <a:r>
              <a:t>AUDI RENO: 0.8%, −$51K a year at $165/service (group avg)</a:t>
            </a:r>
          </a:p>
          <a:p>
            <a:r>
              <a:t>CADILLAC: 5.1%, −$46K a year at $269/service</a:t>
            </a:r>
          </a:p>
          <a:p>
            <a:r>
              <a:t>LR HENDERSON: 2.5%, −$34K a year at $329/service (capped; raw $774/service)</a:t>
            </a:r>
          </a:p>
          <a:p>
            <a:r>
              <a:t>VW ST GEORGE: 2.7%, −$29K a year at $236/service</a:t>
            </a:r>
          </a:p>
          <a:p>
            <a:r>
              <a:t>MAZDA: 5.2%, −$26K a year at $150/service</a:t>
            </a:r>
          </a:p>
          <a:p>
            <a:r>
              <a:t>LEXUS: 4.2%, −$25K a year at $128/service</a:t>
            </a:r>
          </a:p>
          <a:p>
            <a:r>
              <a:t>LR LV: 5.5%, −$24K a year at $258/service</a:t>
            </a:r>
          </a:p>
          <a:p>
            <a:r>
              <a:t>GMC PRESCOTT: 3.6%, −$21K a year at $133/service</a:t>
            </a:r>
          </a:p>
          <a:p>
            <a:r>
              <a:t>TOYOTA PRESCOTT: 6.4%, −$19K a year at $101/service</a:t>
            </a:r>
          </a:p>
          <a:p>
            <a:r>
              <a:t>LR RENO: 4.5%, −$18K a year at $329/service (capped; raw $1,631/service)</a:t>
            </a:r>
          </a:p>
          <a:p>
            <a:r>
              <a:t>HYUNDAI ST GEORGE: 5.8%, −$13K a year at $176/service</a:t>
            </a:r>
          </a:p>
          <a:p>
            <a:r>
              <a:t>SUBARU LV: 7.0%, −$10K a year at $130/service</a:t>
            </a:r>
          </a:p>
          <a:p>
            <a:r>
              <a:t>HYUNDAI PRESCOTT: 7.3%, −$1K a year at $329/service (capped; raw $459/service)</a:t>
            </a:r>
          </a:p>
          <a:p>
            <a:r>
              <a:t>HONDA NORTH: 7.6%, +$4K a year at $118/service</a:t>
            </a:r>
          </a:p>
          <a:p>
            <a:r>
              <a:t>LINCOLN: 8.2%, +$4K a year at $175/service</a:t>
            </a:r>
          </a:p>
          <a:p>
            <a:r>
              <a:t>KIA ST GEORGE: 8.9%, +$12K a year at $154/service</a:t>
            </a:r>
          </a:p>
          <a:p>
            <a:r>
              <a:t>ACURA: 9.3%, +$13K a year at $145/service</a:t>
            </a:r>
          </a:p>
          <a:p>
            <a:r>
              <a:t>SUBARU PRESCOTT: 9.7%, +$51K a year at $329/service (capped; raw $406/service)</a:t>
            </a:r>
          </a:p>
          <a:p>
            <a:r>
              <a:t>SUBARU ST GEORGE: 13.8%, +$72K a year at $153/service</a:t>
            </a:r>
          </a:p>
          <a:p>
            <a:r>
              <a:t>HONDA HENDERSON: 12.0%, +$185K a year at $135/service</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Fuel Service %, Jan-Sep 2026 vs 2025, in points. Moving now: Jul-Sep 2026 vs Jan-Mar 2026, each store against itself; the group moved −0.3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tire balance, brake fluid and fuel system service added together, every store: gross a year above (+) or below (-) the four benchmarks, at the store's own gross per service. Below-benchmark services count against above-benchmark ones here.TOYOTA SPOKANE: −$541K a year against the four benchmarks; under 4 of 4</a:t>
            </a:r>
          </a:p>
          <a:p>
            <a:r>
              <a:t>CHEVY LV: −$475K a year against the four benchmarks; under 4 of 4</a:t>
            </a:r>
          </a:p>
          <a:p>
            <a:r>
              <a:t>TOYOTA FLAGSTAFF: −$356K a year against the four benchmarks; under 4 of 4</a:t>
            </a:r>
          </a:p>
          <a:p>
            <a:r>
              <a:t>TOYOTA HENDERSON: −$302K a year against the four benchmarks; under 3 of 4</a:t>
            </a:r>
          </a:p>
          <a:p>
            <a:r>
              <a:t>KIA LV: −$247K a year against the four benchmarks; under 4 of 4</a:t>
            </a:r>
          </a:p>
          <a:p>
            <a:r>
              <a:t>CDJR POST FALLS: −$245K a year against the four benchmarks; under 4 of 4</a:t>
            </a:r>
          </a:p>
          <a:p>
            <a:r>
              <a:t>TOYOTA PRESCOTT: −$233K a year against the four benchmarks; under 4 of 4</a:t>
            </a:r>
          </a:p>
          <a:p>
            <a:r>
              <a:t>AUDI RENO: −$216K a year against the four benchmarks; under 4 of 4</a:t>
            </a:r>
          </a:p>
          <a:p>
            <a:r>
              <a:t>HONDA FLAGSTAFF: −$200K a year against the four benchmarks; under 4 of 4</a:t>
            </a:r>
          </a:p>
          <a:p>
            <a:r>
              <a:t>NISSAN: −$200K a year against the four benchmarks; under 3 of 4</a:t>
            </a:r>
          </a:p>
          <a:p>
            <a:r>
              <a:t>HONDA SPOKANE: −$186K a year against the four benchmarks; under 3 of 4</a:t>
            </a:r>
          </a:p>
          <a:p>
            <a:r>
              <a:t>LEXUS: −$141K a year against the four benchmarks; under 4 of 4</a:t>
            </a:r>
          </a:p>
          <a:p>
            <a:r>
              <a:t>VW HENDERSON: −$140K a year against the four benchmarks; under 4 of 4</a:t>
            </a:r>
          </a:p>
          <a:p>
            <a:r>
              <a:t>CHEVY GMC BULLHEAD: −$133K a year against the four benchmarks; under 4 of 4</a:t>
            </a:r>
          </a:p>
          <a:p>
            <a:r>
              <a:t>CADILLAC: −$126K a year against the four benchmarks; under 4 of 4</a:t>
            </a:r>
          </a:p>
          <a:p>
            <a:r>
              <a:t>VW ST GEORGE: −$88K a year against the four benchmarks; under 4 of 4</a:t>
            </a:r>
          </a:p>
          <a:p>
            <a:r>
              <a:t>HYUNDAI ST GEORGE: −$81K a year against the four benchmarks; under 4 of 4</a:t>
            </a:r>
          </a:p>
          <a:p>
            <a:r>
              <a:t>GMC PRESCOTT: −$80K a year against the four benchmarks; under 4 of 4</a:t>
            </a:r>
          </a:p>
          <a:p>
            <a:r>
              <a:t>SUBARU LV: −$79K a year against the four benchmarks; under 3 of 4</a:t>
            </a:r>
          </a:p>
          <a:p>
            <a:r>
              <a:t>KIA ST GEORGE: −$70K a year against the four benchmarks; under 3 of 4</a:t>
            </a:r>
          </a:p>
          <a:p>
            <a:r>
              <a:t>LINCOLN: −$64K a year against the four benchmarks; under 3 of 4</a:t>
            </a:r>
          </a:p>
          <a:p>
            <a:r>
              <a:t>SUBARU ST GEORGE: −$55K a year against the four benchmarks; under 2 of 4</a:t>
            </a:r>
          </a:p>
          <a:p>
            <a:r>
              <a:t>LR RENO: −$43K a year against the four benchmarks; under 3 of 4</a:t>
            </a:r>
          </a:p>
          <a:p>
            <a:r>
              <a:t>VOLVO: −$38K a year against the four benchmarks; under 3 of 4</a:t>
            </a:r>
          </a:p>
          <a:p>
            <a:r>
              <a:t>MAZDA: −$38K a year against the four benchmarks; under 3 of 4</a:t>
            </a:r>
          </a:p>
          <a:p>
            <a:r>
              <a:t>AUDI HENDERSON: −$30K a year against the four benchmarks; under 3 of 4</a:t>
            </a:r>
          </a:p>
          <a:p>
            <a:r>
              <a:t>HYUNDAI PRESCOTT: +$31K a year against the four benchmarks; under 3 of 4</a:t>
            </a:r>
          </a:p>
          <a:p>
            <a:r>
              <a:t>ACURA: +$45K a year against the four benchmarks; under 1 of 4</a:t>
            </a:r>
          </a:p>
          <a:p>
            <a:r>
              <a:t>SUBARU PRESCOTT: +$55K a year against the four benchmarks; under 2 of 4</a:t>
            </a:r>
          </a:p>
          <a:p>
            <a:r>
              <a:t>HONDA NORTH: +$60K a year against the four benchmarks; under 1 of 4</a:t>
            </a:r>
          </a:p>
          <a:p>
            <a:r>
              <a:t>LR HENDERSON: +$72K a year against the four benchmarks; under 1 of 4</a:t>
            </a:r>
          </a:p>
          <a:p>
            <a:r>
              <a:t>LR LV: +$201K a year against the four benchmarks; under 1 of 4</a:t>
            </a:r>
          </a:p>
          <a:p>
            <a:r>
              <a:t>HONDA HENDERSON: +$743K a year against the four benchmarks; under 0 of 4</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Jan-Sep 2026, same-store. Kept = department gross less the department's own expenses. Vehicle sales = new + used departments plus F&amp;I income and F&amp;I compensation. Other income not assigned to a department (doc fees, packs, factory money, holdback: $87.2M net) and management fees are left out of both.PLACE: Internal section, after the section break and before Internal ELR (Noah, Oct 25).</a:t>
            </a:r>
          </a:p>
          <a:p>
            <a:r>
              <a:t>Talk track: a lot of stores see internal as service making money off sales. It isn't: sales prices a car off its cost, within reason, so a fair internal charge is part of the deal, and the gross lands in the department that keeps the most of it. Example: if sales makes $500 of gross on a car, the commissions, pay and expense that come out of it leave far less than the same $500 of internal gross keeps in service and parts.</a:t>
            </a:r>
          </a:p>
          <a:p>
            <a:r>
              <a:t>Numbers (P&amp;L Detail, Jan-Sep 2026, same-store): fixed ops gross $188.8M, department profit $50.4M (27¢); people $85.7M (45¢). Vehicle sales gross (new $58.7M, used $43.8M, F&amp;I $76.6M) $179.1M; new and used department results $-23.0M and $-25.4M, less F&amp;I compensation $15.3M: $12.9M kept (7¢); people and commissions $110.4M (62¢). Caveat: $87.2M of net other income (doc fees, packs, factory money, holdback, interest) is booked outside the departments and most of it comes with vehicle sales; with it, vehicle sales keeps much more. The comparison is department against department, as the P&amp;L reports them.</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Internal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Top and bottom five stores by change in Internal ELR, Jan-Sep 2026 vs 2025. Moving now: Jul-Sep 2026 vs Jan-Mar 2026, each store against itself; the group moved +4.1%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internal at or above the store's own customer-pay rate; red: below. Dashed line: the group gap (−2.7 pts). At or above customer pay: Cadillac, Chevy GMC Bullhead, GMC Prescott, Hyundai Prescott, Hyundai St George, Kia LV, Kia St George and VW St George. A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Top and bottom five stores by change in Internal Labor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internal at or above the store's own customer-pay rate; red: below. Dashed line: the group gap (−4.2 pts). At or above customer pay: Chevy LV, Honda Henderson, Subaru Prescott, Toyota Henderson and Volvo. A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Top and bottom five stores by change in Internal Parts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a:t>
            </a:r>
          </a:p>
          <a:p>
            <a:r>
              <a:t>Said: Roundtable slide 6 (People); Jan GM slide 57 (Technician Pipeline).</a:t>
            </a:r>
          </a:p>
          <a:p>
            <a:r>
              <a:t>Numbers rebuilt 2026-10-20 on ADP headcount (Employee Master extract 10/19/2026); the Qlik headcount history undercounted 2025.</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a:t>
            </a:r>
          </a:p>
          <a:p>
            <a:r>
              <a:t>Said: Jan GM slide 16 / May GM slide 12 (Pay Plans aka Work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YTD = average month-end fixed headcount, Jan-Sep. Fixed employees include managers; technicians = service, express, foreman and team-leader titles. 2025 shown January-December.</a:t>
            </a:r>
          </a:p>
          <a:p>
            <a:r>
              <a:t>Jan 25: 1625 fixed, 703 techs, 238 advisors, 117 managers</a:t>
            </a:r>
          </a:p>
          <a:p>
            <a:r>
              <a:t>Feb 25: 1632 fixed, 705 techs, 237 advisors, 116 managers</a:t>
            </a:r>
          </a:p>
          <a:p>
            <a:r>
              <a:t>Mar 25: 1629 fixed, 702 techs, 240 advisors, 116 managers</a:t>
            </a:r>
          </a:p>
          <a:p>
            <a:r>
              <a:t>Apr 25: 1615 fixed, 695 techs, 242 advisors, 111 managers</a:t>
            </a:r>
          </a:p>
          <a:p>
            <a:r>
              <a:t>May 25: 1623 fixed, 699 techs, 250 advisors, 111 managers</a:t>
            </a:r>
          </a:p>
          <a:p>
            <a:r>
              <a:t>Jun 25: 1616 fixed, 695 techs, 247 advisors, 109 managers</a:t>
            </a:r>
          </a:p>
          <a:p>
            <a:r>
              <a:t>Jul 25: 1629 fixed, 705 techs, 247 advisors, 110 managers</a:t>
            </a:r>
          </a:p>
          <a:p>
            <a:r>
              <a:t>Aug 25: 1627 fixed, 701 techs, 251 advisors, 110 managers</a:t>
            </a:r>
          </a:p>
          <a:p>
            <a:r>
              <a:t>Sep 25: 1616 fixed, 701 techs, 248 advisors, 107 managers</a:t>
            </a:r>
          </a:p>
          <a:p>
            <a:r>
              <a:t>Oct 25: 1604 fixed, 688 techs, 249 advisors, 109 managers</a:t>
            </a:r>
          </a:p>
          <a:p>
            <a:r>
              <a:t>Nov 25: 1582 fixed, 685 techs, 247 advisors, 107 managers</a:t>
            </a:r>
          </a:p>
          <a:p>
            <a:r>
              <a:t>Dec 25: 1563 fixed, 674 techs, 249 advisors, 107 managers</a:t>
            </a:r>
          </a:p>
          <a:p>
            <a:r>
              <a:t>Jan 26: 1530 fixed, 657 techs, 248 advisors, 106 managers</a:t>
            </a:r>
          </a:p>
          <a:p>
            <a:r>
              <a:t>Feb 26: 1530 fixed, 670 techs, 245 advisors, 108 managers</a:t>
            </a:r>
          </a:p>
          <a:p>
            <a:r>
              <a:t>Mar 26: 1540 fixed, 669 techs, 252 advisors, 107 managers</a:t>
            </a:r>
          </a:p>
          <a:p>
            <a:r>
              <a:t>Apr 26: 1545 fixed, 687 techs, 250 advisors, 106 managers</a:t>
            </a:r>
          </a:p>
          <a:p>
            <a:r>
              <a:t>May 26: 1537 fixed, 680 techs, 254 advisors, 105 managers</a:t>
            </a:r>
          </a:p>
          <a:p>
            <a:r>
              <a:t>Jun 26: 1546 fixed, 684 techs, 250 advisors, 105 managers</a:t>
            </a:r>
          </a:p>
          <a:p>
            <a:r>
              <a:t>Jul 26: 1548 fixed, 682 techs, 250 advisors, 106 managers</a:t>
            </a:r>
          </a:p>
          <a:p>
            <a:r>
              <a:t>Aug 26: 1549 fixed, 684 techs, 244 advisors, 104 managers</a:t>
            </a:r>
          </a:p>
          <a:p>
            <a:r>
              <a:t>Sep 26: 1540 fixed, 684 techs, 241 advisors, 104 managers</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Top and bottom five stores by change in Fixed Gross per Fixed Employee, Jan-Sep 2026 vs 2025. Moving now: Jul-Sep 2026 vs Jan-Mar 2026, each store against itself; the group moved +$1,107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a:t>
            </a:r>
          </a:p>
          <a:p>
            <a:r>
              <a:t>Said: Roundtable slide 22 (Technicians &amp; Stalls); Jan GM slide 52 / May GM slide 16 (MPI Completion and Tech Efficiency).</a:t>
            </a:r>
          </a:p>
          <a:p>
            <a:r>
              <a:t>Now: proficiency slides (ADP worked hours + Qlik sold hours, Dec 25-Oct 9, with the foreman 30%, tech 10%, role-change and keying-error rules).</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a:t>
            </a:r>
          </a:p>
          <a:p>
            <a:r>
              <a:t>Proficiency uses ADP worked hours (regular + overtime), so it includes time not on an RO. Efficiency would use DMS time punched on jobs, which this data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right after 'What Is Technician Proficiency?'.</a:t>
            </a:r>
          </a:p>
          <a:p>
            <a:r>
              <a:t>Rules as applied on the proficiency slides (Oct 16 2026). Express techs at stores that pool express hours are mostly excluded by the 10% rule.</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Proficiency = sold hours / worked hours, from store totals. Green at or above 85%, red below. Bars start at 40%.ACURA: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12.Talk track: staged parts delivered to the bay (Roundtable: 'Stage parts, deliver and retrieve'), dispatch with the next job ready, fast MPI approvals, tools and keys where they belong. Ten minutes a day is less than two parts-counter trips.</a:t>
            </a:r>
          </a:p>
          <a:p>
            <a:r>
              <a:t>Assumption to say out loud: a minute saved only counts if it turns into flagged time, so the store needs the work waiting.</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 A year = one minute a day for every counted tech at the store, for a year. Per min = gross per tech minute.</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Warranty section, after the section break, ahead of Warranty Rate Increases (Oct 22: $3,788,200 added gross profit from the YTD RWR Financials vendor report replaced the warranty RO count here).</a:t>
            </a:r>
          </a:p>
          <a:p>
            <a:r>
              <a:t>Said: Jan GM slides 13-14 (audit chargebacks; Warranty Compliance). The Jan slide named six stores' chargebacks; kept to the $400,000 total here, in line with no store call-outs from the podium.</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Rate increases: YTD RWR Financials 2026 (warranty rate submission vendor), "YTD revenue secured" = added gross profit from approved increases (labor $1,661,368, parts $2,126,832); 14 stores have no approval yet. Rates: Qlik - Closed Repair Orders, warranty pay type by close month; ELR = warranty labor sale / hours sold; parts margin = warranty parts gross / parts sale. 2025 January-December, 2026 January-September. Same-store.Talk track (Noah, Oct 24-25): rate increases are new money on every warranty claim, and they show up as a higher warranty ELR and parts margin. The factory notices higher rates too: more money in means more scrutiny, so documentation and process on every claim is how we keep what we are owed.</a:t>
            </a:r>
          </a:p>
          <a:p/>
          <a:p>
            <a:r>
              <a:t>Vendor store names: Findlay Acura = ACURA; Findlay Audi Reno Tahoe = AUDI RENO; Findlay BGMC Prescott = GMC PRESCOTT; Findlay Chevrolet = CHEVY LV; Findlay Chrysler Post Falls = CDJR POST FALLS; Findlay Honda Flagstaff = HONDA FLAGSTAFF; Findlay Honda Henderson = HONDA HENDERSON; Findlay Honda North = HONDA NORTH; Findlay Honda Spokane = HONDA SPOKANE; Findlay Hyundai Prescott = HYUNDAI PRESCOTT; Findlay Kia St George = KIA ST GEORGE; Findlay Lexus Spokane = LEXUS; Findlay Lincoln = LINCOLN; Findlay Mazda = MAZDA; Findlay Nissan Henderson = NISSAN; Findlay Subaru Prescott = SUBARU PRESCOTT; Land Rover Henderson = LR HENDERSON; Land Rover Las Vegas = LR LV; Land Rover Reno = LR RENO.</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Causes from Jan 2026 GM meeting slide 13; the two signature causes combined and Supporting evidence added (Noah, Oct 22: some manufacturers require photos of the failed component or proof a procedure was followed). That slide named six stores and their debits; stores are left off here, as on Warranty Compliance. The store amounts on the Jan slide add to $414,000 (headline said $400,000), so the slide says 'over $400,000'.</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Steps from Jan 2026 GM meeting slide 14 (Warranty Compliance); the GM responsibility line from slide 13.</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Gross Profit - Fixed Ops Warranty (service + parts warranty gross). Same-store, INEOS excluded (opened 2026); no body shop. Jan-Sep 2026 vs Jan-Sep 2025; 2025 shown January-December. Store rows reconcile to the group to the cent,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Gross Profit - Fixed Ops Warranty (service + parts warranty gross). Same-store, INEOS excluded (opened 2026); no body shop.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Gross Profit - Fixed Ops Warranty (service + parts warranty gross). Same-store, INEOS excluded (opened 2026); no body shop. Ranked by dollar change, Jan-Sep 2026 vs Jan-Sep 2025; percent change alongside, the top three and bottom three by percent marked. Warranty volume follows campaigns and recalls as well as store effort.</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Gross Profit - Fixed Ops Warranty (service + parts warranty gross). Same-store, INEOS excluded (opened 2026); no body shop. Top and bottom five stores by percent change in warranty gross, Jan-Sep 2026 vs 2025. Moving now: Jul-Sep 2026 vs Jan-Mar 2026, each store against itself (monthly averages); the group moved +9.3%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top LINCOLN $865K → $1.26M; SUBARU PRESCOTT $832K → $1.21M; SUBARU ST GEORGE $1.48M → $1.98M. Bottom CHEVY LV $7.40M → $7.08M; AUDI RENO $3.38M → $2.90M; VW ST GEORGE $702K → $560K.</a:t>
            </a:r>
          </a:p>
          <a:p>
            <a:r>
              <a:t>CP RO Count: top KIA LV 7,156 → 8,133; HYUNDAI PRESCOTT 1,784 → 2,010; GMC PRESCOTT 2,810 → 3,107. Bottom AUDI RENO 4,379 → 3,917; HYUNDAI ST GEORGE 3,784 → 3,349; VW ST GEORGE 2,251 → 1,919.</a:t>
            </a:r>
          </a:p>
          <a:p>
            <a:r>
              <a:t>CP Hours per RO: top HYUNDAI ST GEORGE 1.03 → 1.43; SUBARU ST GEORGE 1.75 → 2.30; KIA ST GEORGE 0.99 → 1.29. Bottom VOLVO 2.58 → 2.28; VW ST GEORGE 1.95 → 1.71; LR RENO 4.04 → 3.48.</a:t>
            </a:r>
          </a:p>
          <a:p>
            <a:r>
              <a:t>CP ELR: top HONDA SPOKANE $117.05 → $143.89; VOLVO $181.59 → $222.12; LINCOLN $139.55 → $167.64. Bottom ACURA $221.78 → $210.50; SUBARU ST GEORGE $148.84 → $138.48; KIA LV $184.36 → $149.23.</a:t>
            </a:r>
          </a:p>
          <a:p>
            <a:r>
              <a:t>CP Parts GP %: top ACURA 38.7% → 44.9%; NISSAN 38.2% → 42.7%; SUBARU PRESCOTT 31.0% → 34.8%. Bottom HYUNDAI PRESCOTT 39.9% → 39.4%; TOYOTA SPOKANE 45.3% → 44.5%; AUDI HENDERSON 35.8% → 33.6%.Source: Qlik - Closed Repair Orders. Customer pay, by close date. Same-store, 33 stores (INEOS excluded, opened 2026). GMC Prescott body shop labor types excluded. CP gross = CP labor gross + CP parts gross. Change is Jan-Sep 2026 vs Jan-Sep 2025. Ranked by percent change (points for parts GP %), so store size does not drive the ranking.</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per Month: top MAZDA $155K → $209K; KIA ST GEORGE $85K → $112K; CDJR POST FALLS $218K → $279K. Bottom SUBARU ST GEORGE $220K → $218K; HONDA HENDERSON $841K → $823K; CADILLAC $317K → $283K.</a:t>
            </a:r>
          </a:p>
          <a:p>
            <a:r>
              <a:t>CP ROs per Month: top LEXUS 425 → 570; CDJR POST FALLS 543 → 667; LR LV 350 → 415. Bottom VW ST GEORGE 207 → 203; HYUNDAI ST GEORGE 377 → 365; CADILLAC 609 → 582.</a:t>
            </a:r>
          </a:p>
          <a:p>
            <a:r>
              <a:t>CP Hours per RO: top MAZDA 1.35 → 1.65; HYUNDAI PRESCOTT 1.56 → 1.76; HYUNDAI ST GEORGE 1.37 → 1.54. Bottom HONDA HENDERSON 2.06 → 1.86; VW HENDERSON 2.66 → 2.37; CADILLAC 2.85 → 2.45.</a:t>
            </a:r>
          </a:p>
          <a:p>
            <a:r>
              <a:t>CP ELR: top VW ST GEORGE $128.27 → $141.89; AUDI RENO $227.34 → $244.12; HONDA SPOKANE $139.40 → $147.93. Bottom SUBARU ST GEORGE $141.07 → $136.71; LEXUS $196.84 → $187.42; ACURA $232.02 → $199.04.</a:t>
            </a:r>
          </a:p>
          <a:p>
            <a:r>
              <a:t>CP Parts GP %: top ACURA 39.4% → 46.6%; VW ST GEORGE 39.1% → 43.8%; GMC PRESCOTT 35.3% → 39.2%. Bottom CHEVY LV 38.2% → 35.0%; LINCOLN 39.9% → 36.0%; HONDA HENDERSON 44.3% → 40.0%.Source: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Left: Jan-Sep 2026 vs Jan-Sep 2025. Right: Q3 2026 vs Q1 2026. Top-5 finishes counted across five measures (parts $ per RO dropped, Oct 23); top six stores shown in each view.</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Each row is the top Q1-to-Q3 mover on that measure. Opcode row: MAZDA tops 3 of the four opcode lists; its biggest move is shown. Opcode closing % = ROs with the service ÷ customer-pay ROs on the op-code report basis.</a:t>
            </a:r>
          </a:p>
          <a:p/>
          <a:p>
            <a:r>
              <a:t>MAZDA's August opcode increase was confirmed with the store as a real change (Noah, Oct 19 2026).</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Labor + parts gross a year, each from its own slide: Technician Proficiency (each tech under 85% raised to 85%, monthly x 12), Hours per RO (0.1 hr x CP ROs at each store's gross per hour), Op Codes (stores under each benchmark brought to it), One More CP RO a Day (307 open days), Tech Minute (one minute per tech per day). Jan-Sep 2026, same-store, 33 stores. The levers overlap - op code services are part of hours per RO, and selling more hours needs tech time - so they are not added together.Talk track: the GM owns the conditions - staffing, pay plans, marketing budget, the parts department. The service manager owns the daily process - dispatch, the inspection, the menu, the drive. Each line has its own slide earlier in the day.</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the close, after the last Productivity / Proficiency slide.</a:t>
            </a:r>
          </a:p>
          <a:p>
            <a:r>
              <a:t>Said: Roundtable slide 24 (Misc &amp; Closing). Commitments tracking was dropped for this meeting, so this asks for commitments without a scorecard.</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D - door rate by store, split by labor grid, standard rate only. Store door rate sheet (Oct 15 2026); averages weighted by Jul-Sep CP sold hours. Bars start at $100. INEOS on the sheet but excluded (same-store).</a:t>
            </a:r>
          </a:p>
          <a:p>
            <a:r>
              <a:t>CHEVY LV: premium $265 (Diesel/Corvette)</a:t>
            </a:r>
          </a:p>
          <a:p>
            <a:r>
              <a:t>AUDI HENDERSON: premium $399 (Lambo Non-Grid)</a:t>
            </a:r>
          </a:p>
          <a:p>
            <a:r>
              <a:t>VW HENDERSON: premium $210 (EV)</a:t>
            </a:r>
          </a:p>
          <a:p>
            <a:r>
              <a:t>CHEVY GMC BULLHEAD: premium $200 (Non-Standard Grid)</a:t>
            </a:r>
          </a:p>
          <a:p>
            <a:r>
              <a:t>SUBARU ST GEORGE: premium $210 (EV)</a:t>
            </a:r>
          </a:p>
          <a:p>
            <a:r>
              <a:t>HONDA FLAGSTAFF: premium $215 (EV)</a:t>
            </a:r>
          </a:p>
          <a:p>
            <a:r>
              <a:t>GMC PRESCOTT: premium $230 (EV)</a:t>
            </a:r>
          </a:p>
          <a:p>
            <a:r>
              <a:t>KIA ST GEORGE: premium $195 (EV)</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a:t>
            </a:r>
          </a:p>
          <a:p>
            <a:r>
              <a:t>AUDI RENO: ELR $244 / door $236 = 103.4%</a:t>
            </a:r>
          </a:p>
          <a:p>
            <a:r>
              <a:t>VOLVO: ELR $225 / door $250 = 90.2%</a:t>
            </a:r>
          </a:p>
          <a:p>
            <a:r>
              <a:t>CHEVY GMC BULLHEAD: ELR $162 / door $180 = 89.9%</a:t>
            </a:r>
          </a:p>
          <a:p>
            <a:r>
              <a:t>HYUNDAI ST GEORGE: ELR $166 / door $185 = 89.7%</a:t>
            </a:r>
          </a:p>
          <a:p>
            <a:r>
              <a:t>ACURA: ELR $199 / door $225 = 88.5%</a:t>
            </a:r>
          </a:p>
          <a:p>
            <a:r>
              <a:t>LR RENO: ELR $239 / door $275 = 86.7%</a:t>
            </a:r>
          </a:p>
          <a:p>
            <a:r>
              <a:t>HONDA FLAGSTAFF: ELR $160 / door $185 = 86.3%</a:t>
            </a:r>
          </a:p>
          <a:p>
            <a:r>
              <a:t>HONDA SPOKANE: ELR $148 / door $179 = 82.6%</a:t>
            </a:r>
          </a:p>
          <a:p>
            <a:r>
              <a:t>LEXUS: ELR $187 / door $230 = 81.5%</a:t>
            </a:r>
          </a:p>
          <a:p>
            <a:r>
              <a:t>CDJR POST FALLS: ELR $162 / door $200 = 80.9%</a:t>
            </a:r>
          </a:p>
          <a:p>
            <a:r>
              <a:t>TOYOTA PRESCOTT: ELR $156 / door $195 = 79.8%</a:t>
            </a:r>
          </a:p>
          <a:p>
            <a:r>
              <a:t>LR HENDERSON: ELR $234 / door $295 = 79.5%</a:t>
            </a:r>
          </a:p>
          <a:p>
            <a:r>
              <a:t>KIA ST GEORGE: ELR $146 / door $185 = 78.9%</a:t>
            </a:r>
          </a:p>
          <a:p>
            <a:r>
              <a:t>MAZDA: ELR $166 / door $210 = 78.9%</a:t>
            </a:r>
          </a:p>
          <a:p>
            <a:r>
              <a:t>VW HENDERSON: ELR $161 / door $205 = 78.5%</a:t>
            </a:r>
          </a:p>
          <a:p>
            <a:r>
              <a:t>VW ST GEORGE: ELR $142 / door $185 = 76.7%</a:t>
            </a:r>
          </a:p>
          <a:p>
            <a:r>
              <a:t>AUDI HENDERSON: ELR $267 / door $349 = 76.4%</a:t>
            </a:r>
          </a:p>
          <a:p>
            <a:r>
              <a:t>LR LV: ELR $234 / door $310 = 75.4%</a:t>
            </a:r>
          </a:p>
          <a:p>
            <a:r>
              <a:t>SUBARU LV: ELR $162 / door $215 = 75.2%</a:t>
            </a:r>
          </a:p>
          <a:p>
            <a:r>
              <a:t>NISSAN: ELR $180 / door $240 = 75.1%</a:t>
            </a:r>
          </a:p>
          <a:p>
            <a:r>
              <a:t>TOYOTA FLAGSTAFF: ELR $143 / door $190 = 75.0%</a:t>
            </a:r>
          </a:p>
          <a:p>
            <a:r>
              <a:t>SUBARU ST GEORGE: ELR $137 / door $185 = 73.8%</a:t>
            </a:r>
          </a:p>
          <a:p>
            <a:r>
              <a:t>TOYOTA HENDERSON: ELR $155 / door $211 = 73.1%</a:t>
            </a:r>
          </a:p>
          <a:p>
            <a:r>
              <a:t>HONDA HENDERSON: ELR $153 / door $212 = 72.4%</a:t>
            </a:r>
          </a:p>
          <a:p>
            <a:r>
              <a:t>HONDA NORTH: ELR $150 / door $212 = 70.6%</a:t>
            </a:r>
          </a:p>
          <a:p>
            <a:r>
              <a:t>KIA LV: ELR $151 / door $220 = 68.5%</a:t>
            </a:r>
          </a:p>
          <a:p>
            <a:r>
              <a:t>LINCOLN: ELR $167 / door $245 = 68.2%</a:t>
            </a:r>
          </a:p>
          <a:p>
            <a:r>
              <a:t>TOYOTA SPOKANE: ELR $125 / door $185 = 67.5%</a:t>
            </a:r>
          </a:p>
          <a:p>
            <a:r>
              <a:t>GMC PRESCOTT: ELR $147 / door $220 = 66.7%</a:t>
            </a:r>
          </a:p>
          <a:p>
            <a:r>
              <a:t>SUBARU PRESCOTT: ELR $140 / door $210 = 66.5%</a:t>
            </a:r>
          </a:p>
          <a:p>
            <a:r>
              <a:t>CHEVY LV: ELR $146 / door $225 = 65.0%</a:t>
            </a:r>
          </a:p>
          <a:p>
            <a:r>
              <a:t>HYUNDAI PRESCOTT: ELR $136 / door $210 = 64.8%</a:t>
            </a:r>
          </a:p>
          <a:p>
            <a:r>
              <a:t>CADILLAC: ELR $175 / door $285 = 61.5%</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compared with its own segment average a month: luxury $16,998, non-luxury $12,714 (luxury = Lexus, Lincoln, Cadillac, Volvo, Audi Reno, Audi Henderson, LR Reno, LR LV, LR Henderson). Gross/yr = (segment average - store) x the store's average fixed employees x 12. Stores at or above their segment average are not shown. Per emp = the store's fixed gross per fixed employee a month. Seg avg = its segment's average.Framing: gross the team already in the building could produce, not a headcount target. Luxury stores are measured against luxury, non-luxury against non-luxury. Audi Henderson ($23,686) lifts the luxury average; Lincoln ($11,127) sits below even the non-luxury average.</a:t>
            </a:r>
          </a:p>
          <a:p>
            <a:r>
              <a:t>CADILLAC (luxury): $14,260 per employee a month vs $16,998; 74.8 fixed employees; $2,456,862 a year</a:t>
            </a:r>
          </a:p>
          <a:p>
            <a:r>
              <a:t>LINCOLN (luxury): $10,963 per employee a month vs $16,998; 30.2 fixed employees; $2,188,561 a year</a:t>
            </a:r>
          </a:p>
          <a:p>
            <a:r>
              <a:t>CHEVY GMC BULLHEAD (non-luxury): $10,391 per employee a month vs $12,714; 48.4 fixed employees; $1,350,504 a year</a:t>
            </a:r>
          </a:p>
          <a:p>
            <a:r>
              <a:t>CDJR POST FALLS (non-luxury): $9,953 per employee a month vs $12,714; 39.7 fixed employees; $1,314,435 a year</a:t>
            </a:r>
          </a:p>
          <a:p>
            <a:r>
              <a:t>CHEVY LV (non-luxury): $12,042 per employee a month vs $12,714; 152.7 fixed employees; $1,232,343 a year</a:t>
            </a:r>
          </a:p>
          <a:p>
            <a:r>
              <a:t>TOYOTA SPOKANE (non-luxury): $11,128 per employee a month vs $12,714; 59.2 fixed employees; $1,127,104 a year</a:t>
            </a:r>
          </a:p>
          <a:p>
            <a:r>
              <a:t>TOYOTA FLAGSTAFF (non-luxury): $10,794 per employee a month vs $12,714; 46.0 fixed employees; $1,060,118 a year</a:t>
            </a:r>
          </a:p>
          <a:p>
            <a:r>
              <a:t>GMC PRESCOTT (non-luxury): $9,498 per employee a month vs $12,714; 26.6 fixed employees; $1,024,925 a year</a:t>
            </a:r>
          </a:p>
          <a:p>
            <a:r>
              <a:t>TOYOTA PRESCOTT (non-luxury): $11,044 per employee a month vs $12,714; 51.1 fixed employees; $1,024,357 a year</a:t>
            </a:r>
          </a:p>
          <a:p>
            <a:r>
              <a:t>AUDI RENO (luxury): $14,916 per employee a month vs $16,998; 33.2 fixed employees; $830,073 a year</a:t>
            </a:r>
          </a:p>
          <a:p>
            <a:r>
              <a:t>HONDA FLAGSTAFF (non-luxury): $9,149 per employee a month vs $12,714; 19.3 fixed employees; $827,082 a year</a:t>
            </a:r>
          </a:p>
          <a:p>
            <a:r>
              <a:t>NISSAN (non-luxury): $11,957 per employee a month vs $12,714; 44.4 fixed employees; $403,638 a year</a:t>
            </a:r>
          </a:p>
          <a:p>
            <a:r>
              <a:t>VW HENDERSON (non-luxury): $12,006 per employee a month vs $12,714; 44.3 fixed employees; $376,895 a year</a:t>
            </a:r>
          </a:p>
          <a:p>
            <a:r>
              <a:t>VW ST GEORGE (non-luxury): $9,878 per employee a month vs $12,714; 10.9 fixed employees; $370,634 a year</a:t>
            </a:r>
          </a:p>
          <a:p>
            <a:r>
              <a:t>LR RENO (luxury): $15,226 per employee a month vs $16,998; 16.1 fixed employees; $342,526 a year</a:t>
            </a:r>
          </a:p>
          <a:p>
            <a:r>
              <a:t>HYUNDAI ST GEORGE (non-luxury): $11,541 per employee a month vs $12,714; 22.0 fixed employees; $309,678 a year</a:t>
            </a:r>
          </a:p>
          <a:p>
            <a:r>
              <a:t>HYUNDAI PRESCOTT (non-luxury): $11,631 per employee a month vs $12,714; 14.7 fixed employees; $190,674 a year</a:t>
            </a:r>
          </a:p>
          <a:p>
            <a:r>
              <a:t>KIA ST GEORGE (non-luxury): $12,103 per employee a month vs $12,714; 21.4 fixed employees; $157,193 a year</a:t>
            </a:r>
          </a:p>
          <a:p>
            <a:r>
              <a:t>ACURA (non-luxury): $12,364 per employee a month vs $12,714; 26.0 fixed employees; $109,303 a year</a:t>
            </a:r>
          </a:p>
          <a:p>
            <a:r>
              <a:t>SUBARU PRESCOTT (non-luxury): $12,501 per employee a month vs $12,714; 24.0 fixed employees; $61,379 a year</a:t>
            </a:r>
          </a:p>
          <a:p>
            <a:r>
              <a:t>LEXUS (luxury): $16,919 per employee a month vs $16,998; 27.2 fixed employees; $25,739 a year</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is measured against its own number: Target = today + 5%. Gross/yr = 5% x the store's gross per employee x its average fixed employees x 12 (the same staff producing 5% more). Per working day uses 307 days open a year (6 days a week less the 6 service holidays). Today and Target = fixed gross per fixed employee a month.Framing: every store is measured against itself, so an Audi store does not set a Lincoln store's target. 5% is roughly one more customer-pay RO a day for a small store, or a few tenths of an hour per RO.</a:t>
            </a:r>
          </a:p>
          <a:p>
            <a:r>
              <a:t>TOYOTA HENDERSON: $14,174 today -&gt; $14,883 target per employee a month; 177.1 fixed employees; $1,506,225 a year</a:t>
            </a:r>
          </a:p>
          <a:p>
            <a:r>
              <a:t>CHEVY LV: $12,042 today -&gt; $12,644 target per employee a month; 152.7 fixed employees; $1,103,005 a year</a:t>
            </a:r>
          </a:p>
          <a:p>
            <a:r>
              <a:t>HONDA HENDERSON: $16,061 today -&gt; $16,864 target per employee a month; 99.8 fixed employees; $961,535 a year</a:t>
            </a:r>
          </a:p>
          <a:p>
            <a:r>
              <a:t>AUDI HENDERSON: $23,461 today -&gt; $24,634 target per employee a month; 58.4 fixed employees; $822,684 a year</a:t>
            </a:r>
          </a:p>
          <a:p>
            <a:r>
              <a:t>SUBARU LV: $12,874 today -&gt; $13,518 target per employee a month; 87.0 fixed employees; $672,026 a year</a:t>
            </a:r>
          </a:p>
          <a:p>
            <a:r>
              <a:t>CADILLAC: $14,260 today -&gt; $14,973 target per employee a month; 74.8 fixed employees; $639,799 a year</a:t>
            </a:r>
          </a:p>
          <a:p>
            <a:r>
              <a:t>HONDA NORTH: $14,604 today -&gt; $15,334 target per employee a month; 65.6 fixed employees; $574,425 a year</a:t>
            </a:r>
          </a:p>
          <a:p>
            <a:r>
              <a:t>LR LV: $18,148 today -&gt; $19,056 target per employee a month; 40.4 fixed employees; $440,403 a year</a:t>
            </a:r>
          </a:p>
          <a:p>
            <a:r>
              <a:t>KIA LV: $13,289 today -&gt; $13,954 target per employee a month; 51.4 fixed employees; $410,199 a year</a:t>
            </a:r>
          </a:p>
          <a:p>
            <a:r>
              <a:t>TOYOTA SPOKANE: $11,128 today -&gt; $11,685 target per employee a month; 59.2 fixed employees; $395,423 a year</a:t>
            </a:r>
          </a:p>
          <a:p>
            <a:r>
              <a:t>TOYOTA PRESCOTT: $11,044 today -&gt; $11,596 target per employee a month; 51.1 fixed employees; $338,685 a year</a:t>
            </a:r>
          </a:p>
          <a:p>
            <a:r>
              <a:t>VW HENDERSON: $12,006 today -&gt; $12,606 target per employee a month; 44.3 fixed employees; $319,353 a year</a:t>
            </a:r>
          </a:p>
          <a:p>
            <a:r>
              <a:t>NISSAN: $11,957 today -&gt; $12,555 target per employee a month; 44.4 fixed employees; $318,864 a year</a:t>
            </a:r>
          </a:p>
          <a:p>
            <a:r>
              <a:t>CHEVY GMC BULLHEAD: $10,391 today -&gt; $10,911 target per employee a month; 48.4 fixed employees; $302,035 a year</a:t>
            </a:r>
          </a:p>
          <a:p>
            <a:r>
              <a:t>TOYOTA FLAGSTAFF: $10,794 today -&gt; $11,333 target per employee a month; 46.0 fixed employees; $297,906 a year</a:t>
            </a:r>
          </a:p>
          <a:p>
            <a:r>
              <a:t>AUDI RENO: $14,916 today -&gt; $15,662 target per employee a month; 33.2 fixed employees; $297,322 a year</a:t>
            </a:r>
          </a:p>
          <a:p>
            <a:r>
              <a:t>HONDA SPOKANE: $12,871 today -&gt; $13,514 target per employee a month; 36.1 fixed employees; $278,863 a year</a:t>
            </a:r>
          </a:p>
          <a:p>
            <a:r>
              <a:t>LEXUS: $16,919 today -&gt; $17,765 target per employee a month; 27.2 fixed employees; $276,346 a year</a:t>
            </a:r>
          </a:p>
          <a:p>
            <a:r>
              <a:t>VOLVO: $18,549 today -&gt; $19,476 target per employee a month; 23.4 fixed employees; $260,917 a year</a:t>
            </a:r>
          </a:p>
          <a:p>
            <a:r>
              <a:t>CDJR POST FALLS: $9,953 today -&gt; $10,450 target per employee a month; 39.7 fixed employees; $236,877 a year</a:t>
            </a:r>
          </a:p>
          <a:p>
            <a:r>
              <a:t>SUBARU ST GEORGE: $15,556 today -&gt; $16,333 target per employee a month; 25.1 fixed employees; $234,372 a year</a:t>
            </a:r>
          </a:p>
          <a:p>
            <a:r>
              <a:t>LR HENDERSON: $18,268 today -&gt; $19,182 target per employee a month; 20.8 fixed employees; $227,743 a year</a:t>
            </a:r>
          </a:p>
          <a:p>
            <a:r>
              <a:t>MAZDA: $15,966 today -&gt; $16,765 target per employee a month; 23.0 fixed employees; $220,335 a year</a:t>
            </a:r>
          </a:p>
          <a:p>
            <a:r>
              <a:t>LINCOLN: $10,963 today -&gt; $11,511 target per employee a month; 30.2 fixed employees; $198,802 a year</a:t>
            </a:r>
          </a:p>
          <a:p>
            <a:r>
              <a:t>ACURA: $12,364 today -&gt; $12,982 target per employee a month; 26.0 fixed employees; $192,877 a year</a:t>
            </a:r>
          </a:p>
          <a:p>
            <a:r>
              <a:t>SUBARU PRESCOTT: $12,501 today -&gt; $13,126 target per employee a month; 24.0 fixed employees; $180,016 a year</a:t>
            </a:r>
          </a:p>
          <a:p>
            <a:r>
              <a:t>KIA ST GEORGE: $12,103 today -&gt; $12,709 target per employee a month; 21.4 fixed employees; $155,730 a year</a:t>
            </a:r>
          </a:p>
          <a:p>
            <a:r>
              <a:t>HYUNDAI ST GEORGE: $11,541 today -&gt; $12,118 target per employee a month; 22.0 fixed employees; $152,344 a year</a:t>
            </a:r>
          </a:p>
          <a:p>
            <a:r>
              <a:t>GMC PRESCOTT: $9,498 today -&gt; $9,973 target per employee a month; 26.6 fixed employees; $151,334 a year</a:t>
            </a:r>
          </a:p>
          <a:p>
            <a:r>
              <a:t>LR RENO: $15,226 today -&gt; $15,988 target per employee a month; 16.1 fixed employees; $147,187 a year</a:t>
            </a:r>
          </a:p>
          <a:p>
            <a:r>
              <a:t>HONDA FLAGSTAFF: $9,149 today -&gt; $9,607 target per employee a month; 19.3 fixed employees; $106,131 a year</a:t>
            </a:r>
          </a:p>
          <a:p>
            <a:r>
              <a:t>HYUNDAI PRESCOTT: $11,631 today -&gt; $12,212 target per employee a month; 14.7 fixed employees; $102,351 a year</a:t>
            </a:r>
          </a:p>
          <a:p>
            <a:r>
              <a:t>VW ST GEORGE: $9,878 today -&gt; $10,372 target per employee a month; 10.9 fixed employees; $64,535 a year</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123 and 12 of 24 others beat 176. Toyota Flagstaff leads non-luxury at 253.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Top and bottom five stores by change in CP &amp; W ROs per Service Advisor, Jan-Sep 2026 vs 2025. Moving now: Jul-Sep 2026 vs Jan-Mar 2026, each store against itself; the group moved +15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276 and 7 of 24 others beat 418. Toyota Henderson leads non-luxury at 1,022.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Top and bottom five stores by change in CP &amp; W ROs per Fixed Manager, Jan-Sep 2026 vs 2025. Moving now: Jul-Sep 2026 vs Jan-Mar 2026, each store against itself; the group moved +38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17.4 and 14 of 24 others beat 29.3. Kia St George leads non-luxury at 39.8.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Top and bottom five stores by change in CP &amp; W ROs per Fixed Employee, Jan-Sep 2026 vs 2025. Moving now: Jul-Sep 2026 vs Jan-Mar 2026, each store against itself; the group moved +1.8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worked hours combined. Bars capped at 190%.ACURA: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alignment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balance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brake fluid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fuel service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Jan–Sep 2026 vs Jan–Sep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Jul–Sep 2026 vs Jul–Sep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Top-3 finishes counted across six measures in each of two periods (Jan-Sep and Jul-Sep), 12 lists in all. Top 8 stores shown.</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chart" Target="../charts/chart9.xml"/><Relationship Id="rId5" Type="http://schemas.openxmlformats.org/officeDocument/2006/relationships/chart" Target="../charts/chart10.xml"/><Relationship Id="rId6" Type="http://schemas.openxmlformats.org/officeDocument/2006/relationships/chart" Target="../charts/chart11.xml"/><Relationship Id="rId7" Type="http://schemas.openxmlformats.org/officeDocument/2006/relationships/chart" Target="../charts/chart12.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xml"/><Relationship Id="rId3" Type="http://schemas.openxmlformats.org/officeDocument/2006/relationships/chart" Target="../charts/chart14.xml"/><Relationship Id="rId4" Type="http://schemas.openxmlformats.org/officeDocument/2006/relationships/chart" Target="../charts/chart15.xml"/><Relationship Id="rId5" Type="http://schemas.openxmlformats.org/officeDocument/2006/relationships/chart" Target="../charts/chart16.xml"/><Relationship Id="rId6" Type="http://schemas.openxmlformats.org/officeDocument/2006/relationships/chart" Target="../charts/chart17.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xml"/><Relationship Id="rId3" Type="http://schemas.openxmlformats.org/officeDocument/2006/relationships/chart" Target="../charts/chart19.xml"/><Relationship Id="rId4" Type="http://schemas.openxmlformats.org/officeDocument/2006/relationships/chart" Target="../charts/chart20.xml"/><Relationship Id="rId5" Type="http://schemas.openxmlformats.org/officeDocument/2006/relationships/chart" Target="../charts/chart21.xml"/><Relationship Id="rId6" Type="http://schemas.openxmlformats.org/officeDocument/2006/relationships/chart" Target="../charts/chart22.xml"/><Relationship Id="rId7" Type="http://schemas.openxmlformats.org/officeDocument/2006/relationships/chart" Target="../charts/chart23.xml"/><Relationship Id="rId8"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xml"/><Relationship Id="rId3" Type="http://schemas.openxmlformats.org/officeDocument/2006/relationships/chart" Target="../charts/chart25.xml"/><Relationship Id="rId4" Type="http://schemas.openxmlformats.org/officeDocument/2006/relationships/chart" Target="../charts/chart26.xml"/><Relationship Id="rId5" Type="http://schemas.openxmlformats.org/officeDocument/2006/relationships/chart" Target="../charts/chart27.xml"/><Relationship Id="rId6" Type="http://schemas.openxmlformats.org/officeDocument/2006/relationships/chart" Target="../charts/chart28.xml"/><Relationship Id="rId7" Type="http://schemas.openxmlformats.org/officeDocument/2006/relationships/chart" Target="../charts/chart29.xml"/><Relationship Id="rId8"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0.xml"/><Relationship Id="rId3" Type="http://schemas.openxmlformats.org/officeDocument/2006/relationships/chart" Target="../charts/chart31.xml"/><Relationship Id="rId4" Type="http://schemas.openxmlformats.org/officeDocument/2006/relationships/chart" Target="../charts/chart32.xml"/><Relationship Id="rId5" Type="http://schemas.openxmlformats.org/officeDocument/2006/relationships/chart" Target="../charts/chart33.xml"/><Relationship Id="rId6" Type="http://schemas.openxmlformats.org/officeDocument/2006/relationships/chart" Target="../charts/chart34.xml"/><Relationship Id="rId7"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5.xml"/><Relationship Id="rId3" Type="http://schemas.openxmlformats.org/officeDocument/2006/relationships/chart" Target="../charts/chart36.xml"/><Relationship Id="rId4" Type="http://schemas.openxmlformats.org/officeDocument/2006/relationships/chart" Target="../charts/chart37.xml"/><Relationship Id="rId5" Type="http://schemas.openxmlformats.org/officeDocument/2006/relationships/chart" Target="../charts/chart38.xml"/><Relationship Id="rId6" Type="http://schemas.openxmlformats.org/officeDocument/2006/relationships/chart" Target="../charts/chart39.xml"/><Relationship Id="rId7" Type="http://schemas.openxmlformats.org/officeDocument/2006/relationships/chart" Target="../charts/chart40.xml"/><Relationship Id="rId8"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1.xml"/><Relationship Id="rId3" Type="http://schemas.openxmlformats.org/officeDocument/2006/relationships/chart" Target="../charts/chart42.xml"/><Relationship Id="rId4" Type="http://schemas.openxmlformats.org/officeDocument/2006/relationships/chart" Target="../charts/chart43.xml"/><Relationship Id="rId5" Type="http://schemas.openxmlformats.org/officeDocument/2006/relationships/chart" Target="../charts/chart44.xml"/><Relationship Id="rId6" Type="http://schemas.openxmlformats.org/officeDocument/2006/relationships/chart" Target="../charts/chart45.xml"/><Relationship Id="rId7" Type="http://schemas.openxmlformats.org/officeDocument/2006/relationships/chart" Target="../charts/chart46.xml"/><Relationship Id="rId8"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7.xml"/><Relationship Id="rId3" Type="http://schemas.openxmlformats.org/officeDocument/2006/relationships/chart" Target="../charts/chart48.xml"/><Relationship Id="rId4" Type="http://schemas.openxmlformats.org/officeDocument/2006/relationships/chart" Target="../charts/chart49.xml"/><Relationship Id="rId5" Type="http://schemas.openxmlformats.org/officeDocument/2006/relationships/chart" Target="../charts/chart50.xml"/><Relationship Id="rId6" Type="http://schemas.openxmlformats.org/officeDocument/2006/relationships/chart" Target="../charts/chart51.xml"/><Relationship Id="rId7" Type="http://schemas.openxmlformats.org/officeDocument/2006/relationships/chart" Target="../charts/chart52.xml"/><Relationship Id="rId8"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3.xml"/><Relationship Id="rId3" Type="http://schemas.openxmlformats.org/officeDocument/2006/relationships/chart" Target="../charts/chart54.xml"/><Relationship Id="rId4" Type="http://schemas.openxmlformats.org/officeDocument/2006/relationships/chart" Target="../charts/chart55.xml"/><Relationship Id="rId5" Type="http://schemas.openxmlformats.org/officeDocument/2006/relationships/chart" Target="../charts/chart56.xml"/><Relationship Id="rId6" Type="http://schemas.openxmlformats.org/officeDocument/2006/relationships/chart" Target="../charts/chart57.xml"/><Relationship Id="rId7"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8.xml"/><Relationship Id="rId3" Type="http://schemas.openxmlformats.org/officeDocument/2006/relationships/chart" Target="../charts/chart59.xml"/><Relationship Id="rId4" Type="http://schemas.openxmlformats.org/officeDocument/2006/relationships/chart" Target="../charts/chart60.xml"/><Relationship Id="rId5" Type="http://schemas.openxmlformats.org/officeDocument/2006/relationships/chart" Target="../charts/chart61.xml"/><Relationship Id="rId6" Type="http://schemas.openxmlformats.org/officeDocument/2006/relationships/chart" Target="../charts/chart62.xml"/><Relationship Id="rId7"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3.xml"/><Relationship Id="rId3" Type="http://schemas.openxmlformats.org/officeDocument/2006/relationships/chart" Target="../charts/chart64.xml"/><Relationship Id="rId4" Type="http://schemas.openxmlformats.org/officeDocument/2006/relationships/chart" Target="../charts/chart65.xml"/><Relationship Id="rId5" Type="http://schemas.openxmlformats.org/officeDocument/2006/relationships/chart" Target="../charts/chart66.xml"/><Relationship Id="rId6" Type="http://schemas.openxmlformats.org/officeDocument/2006/relationships/chart" Target="../charts/chart67.xml"/><Relationship Id="rId7"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8.xml"/><Relationship Id="rId3" Type="http://schemas.openxmlformats.org/officeDocument/2006/relationships/chart" Target="../charts/chart69.xml"/><Relationship Id="rId4" Type="http://schemas.openxmlformats.org/officeDocument/2006/relationships/chart" Target="../charts/chart70.xml"/><Relationship Id="rId5" Type="http://schemas.openxmlformats.org/officeDocument/2006/relationships/chart" Target="../charts/chart71.xml"/><Relationship Id="rId6" Type="http://schemas.openxmlformats.org/officeDocument/2006/relationships/chart" Target="../charts/chart72.xml"/><Relationship Id="rId7" Type="http://schemas.openxmlformats.org/officeDocument/2006/relationships/chart" Target="../charts/chart73.xml"/><Relationship Id="rId8" Type="http://schemas.openxmlformats.org/officeDocument/2006/relationships/chart" Target="../charts/chart74.xml"/><Relationship Id="rId9" Type="http://schemas.openxmlformats.org/officeDocument/2006/relationships/chart" Target="../charts/chart75.xml"/><Relationship Id="rId10"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6.xml"/><Relationship Id="rId3" Type="http://schemas.openxmlformats.org/officeDocument/2006/relationships/chart" Target="../charts/chart77.xml"/><Relationship Id="rId4" Type="http://schemas.openxmlformats.org/officeDocument/2006/relationships/chart" Target="../charts/chart78.xml"/><Relationship Id="rId5" Type="http://schemas.openxmlformats.org/officeDocument/2006/relationships/chart" Target="../charts/chart79.xml"/><Relationship Id="rId6" Type="http://schemas.openxmlformats.org/officeDocument/2006/relationships/chart" Target="../charts/chart80.xml"/><Relationship Id="rId7"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1.xml"/><Relationship Id="rId3" Type="http://schemas.openxmlformats.org/officeDocument/2006/relationships/chart" Target="../charts/chart82.xml"/><Relationship Id="rId4" Type="http://schemas.openxmlformats.org/officeDocument/2006/relationships/chart" Target="../charts/chart83.xml"/><Relationship Id="rId5" Type="http://schemas.openxmlformats.org/officeDocument/2006/relationships/chart" Target="../charts/chart84.xml"/><Relationship Id="rId6" Type="http://schemas.openxmlformats.org/officeDocument/2006/relationships/chart" Target="../charts/chart85.xml"/><Relationship Id="rId7" Type="http://schemas.openxmlformats.org/officeDocument/2006/relationships/chart" Target="../charts/chart86.xml"/><Relationship Id="rId8"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7.xml"/><Relationship Id="rId3" Type="http://schemas.openxmlformats.org/officeDocument/2006/relationships/chart" Target="../charts/chart88.xml"/><Relationship Id="rId4" Type="http://schemas.openxmlformats.org/officeDocument/2006/relationships/chart" Target="../charts/chart89.xml"/><Relationship Id="rId5" Type="http://schemas.openxmlformats.org/officeDocument/2006/relationships/chart" Target="../charts/chart90.xml"/><Relationship Id="rId6" Type="http://schemas.openxmlformats.org/officeDocument/2006/relationships/chart" Target="../charts/chart91.xml"/><Relationship Id="rId7" Type="http://schemas.openxmlformats.org/officeDocument/2006/relationships/chart" Target="../charts/chart92.xml"/><Relationship Id="rId8"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3.xml"/><Relationship Id="rId3" Type="http://schemas.openxmlformats.org/officeDocument/2006/relationships/chart" Target="../charts/chart94.xml"/><Relationship Id="rId4" Type="http://schemas.openxmlformats.org/officeDocument/2006/relationships/chart" Target="../charts/chart95.xml"/><Relationship Id="rId5" Type="http://schemas.openxmlformats.org/officeDocument/2006/relationships/chart" Target="../charts/chart96.xml"/><Relationship Id="rId6" Type="http://schemas.openxmlformats.org/officeDocument/2006/relationships/chart" Target="../charts/chart97.xml"/><Relationship Id="rId7" Type="http://schemas.openxmlformats.org/officeDocument/2006/relationships/chart" Target="../charts/chart98.xml"/><Relationship Id="rId8"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9.xml"/><Relationship Id="rId3" Type="http://schemas.openxmlformats.org/officeDocument/2006/relationships/chart" Target="../charts/chart100.xml"/><Relationship Id="rId4" Type="http://schemas.openxmlformats.org/officeDocument/2006/relationships/chart" Target="../charts/chart101.xml"/><Relationship Id="rId5" Type="http://schemas.openxmlformats.org/officeDocument/2006/relationships/chart" Target="../charts/chart102.xml"/><Relationship Id="rId6" Type="http://schemas.openxmlformats.org/officeDocument/2006/relationships/chart" Target="../charts/chart103.xml"/><Relationship Id="rId7" Type="http://schemas.openxmlformats.org/officeDocument/2006/relationships/chart" Target="../charts/chart104.xml"/><Relationship Id="rId8"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5.xml"/><Relationship Id="rId3" Type="http://schemas.openxmlformats.org/officeDocument/2006/relationships/chart" Target="../charts/chart106.xml"/><Relationship Id="rId4" Type="http://schemas.openxmlformats.org/officeDocument/2006/relationships/chart" Target="../charts/chart107.xml"/><Relationship Id="rId5" Type="http://schemas.openxmlformats.org/officeDocument/2006/relationships/chart" Target="../charts/chart108.xml"/><Relationship Id="rId6" Type="http://schemas.openxmlformats.org/officeDocument/2006/relationships/chart" Target="../charts/chart109.xml"/><Relationship Id="rId7" Type="http://schemas.openxmlformats.org/officeDocument/2006/relationships/chart" Target="../charts/chart110.xml"/><Relationship Id="rId8"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1.xml"/><Relationship Id="rId3" Type="http://schemas.openxmlformats.org/officeDocument/2006/relationships/chart" Target="../charts/chart112.xml"/><Relationship Id="rId4" Type="http://schemas.openxmlformats.org/officeDocument/2006/relationships/chart" Target="../charts/chart113.xml"/><Relationship Id="rId5" Type="http://schemas.openxmlformats.org/officeDocument/2006/relationships/chart" Target="../charts/chart114.xml"/><Relationship Id="rId6" Type="http://schemas.openxmlformats.org/officeDocument/2006/relationships/chart" Target="../charts/chart115.xml"/><Relationship Id="rId7" Type="http://schemas.openxmlformats.org/officeDocument/2006/relationships/chart" Target="../charts/chart116.xml"/><Relationship Id="rId8"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7.xml"/><Relationship Id="rId3" Type="http://schemas.openxmlformats.org/officeDocument/2006/relationships/chart" Target="../charts/chart118.xml"/><Relationship Id="rId4" Type="http://schemas.openxmlformats.org/officeDocument/2006/relationships/chart" Target="../charts/chart119.xml"/><Relationship Id="rId5" Type="http://schemas.openxmlformats.org/officeDocument/2006/relationships/chart" Target="../charts/chart120.xml"/><Relationship Id="rId6" Type="http://schemas.openxmlformats.org/officeDocument/2006/relationships/chart" Target="../charts/chart121.xml"/><Relationship Id="rId7" Type="http://schemas.openxmlformats.org/officeDocument/2006/relationships/chart" Target="../charts/chart122.xml"/><Relationship Id="rId8"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3.xml"/><Relationship Id="rId3" Type="http://schemas.openxmlformats.org/officeDocument/2006/relationships/chart" Target="../charts/chart124.xml"/><Relationship Id="rId4" Type="http://schemas.openxmlformats.org/officeDocument/2006/relationships/chart" Target="../charts/chart125.xml"/><Relationship Id="rId5" Type="http://schemas.openxmlformats.org/officeDocument/2006/relationships/chart" Target="../charts/chart126.xml"/><Relationship Id="rId6" Type="http://schemas.openxmlformats.org/officeDocument/2006/relationships/chart" Target="../charts/chart127.xml"/><Relationship Id="rId7"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8.xml"/><Relationship Id="rId3" Type="http://schemas.openxmlformats.org/officeDocument/2006/relationships/chart" Target="../charts/chart129.xml"/><Relationship Id="rId4" Type="http://schemas.openxmlformats.org/officeDocument/2006/relationships/chart" Target="../charts/chart130.xml"/><Relationship Id="rId5" Type="http://schemas.openxmlformats.org/officeDocument/2006/relationships/chart" Target="../charts/chart131.xml"/><Relationship Id="rId6" Type="http://schemas.openxmlformats.org/officeDocument/2006/relationships/chart" Target="../charts/chart132.xml"/><Relationship Id="rId7"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3.xml"/><Relationship Id="rId3" Type="http://schemas.openxmlformats.org/officeDocument/2006/relationships/chart" Target="../charts/chart134.xml"/><Relationship Id="rId4"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5.xml"/><Relationship Id="rId3" Type="http://schemas.openxmlformats.org/officeDocument/2006/relationships/chart" Target="../charts/chart136.xml"/><Relationship Id="rId4" Type="http://schemas.openxmlformats.org/officeDocument/2006/relationships/chart" Target="../charts/chart137.xml"/><Relationship Id="rId5" Type="http://schemas.openxmlformats.org/officeDocument/2006/relationships/chart" Target="../charts/chart138.xml"/><Relationship Id="rId6" Type="http://schemas.openxmlformats.org/officeDocument/2006/relationships/chart" Target="../charts/chart139.xml"/><Relationship Id="rId7" Type="http://schemas.openxmlformats.org/officeDocument/2006/relationships/chart" Target="../charts/chart140.xml"/><Relationship Id="rId8"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1.xml"/><Relationship Id="rId3" Type="http://schemas.openxmlformats.org/officeDocument/2006/relationships/chart" Target="../charts/chart142.xml"/><Relationship Id="rId4" Type="http://schemas.openxmlformats.org/officeDocument/2006/relationships/chart" Target="../charts/chart143.xml"/><Relationship Id="rId5" Type="http://schemas.openxmlformats.org/officeDocument/2006/relationships/chart" Target="../charts/chart144.xml"/><Relationship Id="rId6" Type="http://schemas.openxmlformats.org/officeDocument/2006/relationships/chart" Target="../charts/chart145.xml"/><Relationship Id="rId7" Type="http://schemas.openxmlformats.org/officeDocument/2006/relationships/chart" Target="../charts/chart146.xml"/><Relationship Id="rId8"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7.xml"/><Relationship Id="rId3" Type="http://schemas.openxmlformats.org/officeDocument/2006/relationships/chart" Target="../charts/chart148.xml"/><Relationship Id="rId4" Type="http://schemas.openxmlformats.org/officeDocument/2006/relationships/chart" Target="../charts/chart149.xml"/><Relationship Id="rId5" Type="http://schemas.openxmlformats.org/officeDocument/2006/relationships/chart" Target="../charts/chart150.xml"/><Relationship Id="rId6" Type="http://schemas.openxmlformats.org/officeDocument/2006/relationships/chart" Target="../charts/chart151.xml"/><Relationship Id="rId7" Type="http://schemas.openxmlformats.org/officeDocument/2006/relationships/chart" Target="../charts/chart152.xml"/><Relationship Id="rId8"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3.xml"/><Relationship Id="rId3" Type="http://schemas.openxmlformats.org/officeDocument/2006/relationships/chart" Target="../charts/chart154.xml"/><Relationship Id="rId4" Type="http://schemas.openxmlformats.org/officeDocument/2006/relationships/chart" Target="../charts/chart155.xml"/><Relationship Id="rId5" Type="http://schemas.openxmlformats.org/officeDocument/2006/relationships/chart" Target="../charts/chart156.xml"/><Relationship Id="rId6" Type="http://schemas.openxmlformats.org/officeDocument/2006/relationships/chart" Target="../charts/chart157.xml"/><Relationship Id="rId7" Type="http://schemas.openxmlformats.org/officeDocument/2006/relationships/chart" Target="../charts/chart158.xml"/><Relationship Id="rId8"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9.xml"/><Relationship Id="rId3" Type="http://schemas.openxmlformats.org/officeDocument/2006/relationships/chart" Target="../charts/chart160.xml"/><Relationship Id="rId4" Type="http://schemas.openxmlformats.org/officeDocument/2006/relationships/chart" Target="../charts/chart161.xml"/><Relationship Id="rId5" Type="http://schemas.openxmlformats.org/officeDocument/2006/relationships/chart" Target="../charts/chart162.xml"/><Relationship Id="rId6" Type="http://schemas.openxmlformats.org/officeDocument/2006/relationships/chart" Target="../charts/chart163.xml"/><Relationship Id="rId7" Type="http://schemas.openxmlformats.org/officeDocument/2006/relationships/chart" Target="../charts/chart164.xml"/><Relationship Id="rId8" Type="http://schemas.openxmlformats.org/officeDocument/2006/relationships/chart" Target="../charts/chart165.xml"/><Relationship Id="rId9" Type="http://schemas.openxmlformats.org/officeDocument/2006/relationships/chart" Target="../charts/chart166.xml"/><Relationship Id="rId10" Type="http://schemas.openxmlformats.org/officeDocument/2006/relationships/chart" Target="../charts/chart167.xml"/><Relationship Id="rId11" Type="http://schemas.openxmlformats.org/officeDocument/2006/relationships/chart" Target="../charts/chart168.xml"/><Relationship Id="rId1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9.xml"/><Relationship Id="rId3" Type="http://schemas.openxmlformats.org/officeDocument/2006/relationships/chart" Target="../charts/chart170.xml"/><Relationship Id="rId4" Type="http://schemas.openxmlformats.org/officeDocument/2006/relationships/chart" Target="../charts/chart171.xml"/><Relationship Id="rId5" Type="http://schemas.openxmlformats.org/officeDocument/2006/relationships/chart" Target="../charts/chart172.xml"/><Relationship Id="rId6" Type="http://schemas.openxmlformats.org/officeDocument/2006/relationships/chart" Target="../charts/chart173.xml"/><Relationship Id="rId7" Type="http://schemas.openxmlformats.org/officeDocument/2006/relationships/chart" Target="../charts/chart174.xml"/><Relationship Id="rId8" Type="http://schemas.openxmlformats.org/officeDocument/2006/relationships/chart" Target="../charts/chart175.xml"/><Relationship Id="rId9" Type="http://schemas.openxmlformats.org/officeDocument/2006/relationships/chart" Target="../charts/chart176.xml"/><Relationship Id="rId10" Type="http://schemas.openxmlformats.org/officeDocument/2006/relationships/chart" Target="../charts/chart177.xml"/><Relationship Id="rId11" Type="http://schemas.openxmlformats.org/officeDocument/2006/relationships/chart" Target="../charts/chart178.xml"/><Relationship Id="rId1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9.xml"/><Relationship Id="rId3" Type="http://schemas.openxmlformats.org/officeDocument/2006/relationships/chart" Target="../charts/chart180.xml"/><Relationship Id="rId4" Type="http://schemas.openxmlformats.org/officeDocument/2006/relationships/chart" Target="../charts/chart181.xml"/><Relationship Id="rId5" Type="http://schemas.openxmlformats.org/officeDocument/2006/relationships/chart" Target="../charts/chart182.xml"/><Relationship Id="rId6" Type="http://schemas.openxmlformats.org/officeDocument/2006/relationships/chart" Target="../charts/chart183.xml"/><Relationship Id="rId7" Type="http://schemas.openxmlformats.org/officeDocument/2006/relationships/chart" Target="../charts/chart184.xml"/><Relationship Id="rId8" Type="http://schemas.openxmlformats.org/officeDocument/2006/relationships/chart" Target="../charts/chart185.xml"/><Relationship Id="rId9" Type="http://schemas.openxmlformats.org/officeDocument/2006/relationships/chart" Target="../charts/chart186.xml"/><Relationship Id="rId10" Type="http://schemas.openxmlformats.org/officeDocument/2006/relationships/chart" Target="../charts/chart187.xml"/><Relationship Id="rId11" Type="http://schemas.openxmlformats.org/officeDocument/2006/relationships/chart" Target="../charts/chart188.xml"/><Relationship Id="rId1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9.xml"/><Relationship Id="rId3" Type="http://schemas.openxmlformats.org/officeDocument/2006/relationships/chart" Target="../charts/chart190.xml"/><Relationship Id="rId4" Type="http://schemas.openxmlformats.org/officeDocument/2006/relationships/chart" Target="../charts/chart191.xml"/><Relationship Id="rId5" Type="http://schemas.openxmlformats.org/officeDocument/2006/relationships/chart" Target="../charts/chart192.xml"/><Relationship Id="rId6" Type="http://schemas.openxmlformats.org/officeDocument/2006/relationships/chart" Target="../charts/chart193.xml"/><Relationship Id="rId7" Type="http://schemas.openxmlformats.org/officeDocument/2006/relationships/chart" Target="../charts/chart194.xml"/><Relationship Id="rId8" Type="http://schemas.openxmlformats.org/officeDocument/2006/relationships/chart" Target="../charts/chart195.xml"/><Relationship Id="rId9" Type="http://schemas.openxmlformats.org/officeDocument/2006/relationships/chart" Target="../charts/chart196.xml"/><Relationship Id="rId10" Type="http://schemas.openxmlformats.org/officeDocument/2006/relationships/chart" Target="../charts/chart197.xml"/><Relationship Id="rId11" Type="http://schemas.openxmlformats.org/officeDocument/2006/relationships/chart" Target="../charts/chart198.xml"/><Relationship Id="rId1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9.xml"/><Relationship Id="rId3" Type="http://schemas.openxmlformats.org/officeDocument/2006/relationships/chart" Target="../charts/chart200.xml"/><Relationship Id="rId4" Type="http://schemas.openxmlformats.org/officeDocument/2006/relationships/chart" Target="../charts/chart201.xml"/><Relationship Id="rId5" Type="http://schemas.openxmlformats.org/officeDocument/2006/relationships/chart" Target="../charts/chart202.xml"/><Relationship Id="rId6" Type="http://schemas.openxmlformats.org/officeDocument/2006/relationships/chart" Target="../charts/chart203.xml"/><Relationship Id="rId7" Type="http://schemas.openxmlformats.org/officeDocument/2006/relationships/chart" Target="../charts/chart204.xml"/><Relationship Id="rId8" Type="http://schemas.openxmlformats.org/officeDocument/2006/relationships/chart" Target="../charts/chart205.xml"/><Relationship Id="rId9" Type="http://schemas.openxmlformats.org/officeDocument/2006/relationships/chart" Target="../charts/chart206.xml"/><Relationship Id="rId10" Type="http://schemas.openxmlformats.org/officeDocument/2006/relationships/chart" Target="../charts/chart207.xml"/><Relationship Id="rId11" Type="http://schemas.openxmlformats.org/officeDocument/2006/relationships/chart" Target="../charts/chart208.xml"/><Relationship Id="rId1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9.xml"/><Relationship Id="rId3" Type="http://schemas.openxmlformats.org/officeDocument/2006/relationships/chart" Target="../charts/chart210.xml"/><Relationship Id="rId4" Type="http://schemas.openxmlformats.org/officeDocument/2006/relationships/chart" Target="../charts/chart211.xml"/><Relationship Id="rId5" Type="http://schemas.openxmlformats.org/officeDocument/2006/relationships/chart" Target="../charts/chart212.xml"/><Relationship Id="rId6" Type="http://schemas.openxmlformats.org/officeDocument/2006/relationships/chart" Target="../charts/chart213.xml"/><Relationship Id="rId7" Type="http://schemas.openxmlformats.org/officeDocument/2006/relationships/chart" Target="../charts/chart214.xml"/><Relationship Id="rId8" Type="http://schemas.openxmlformats.org/officeDocument/2006/relationships/chart" Target="../charts/chart215.xml"/><Relationship Id="rId9" Type="http://schemas.openxmlformats.org/officeDocument/2006/relationships/chart" Target="../charts/chart216.xml"/><Relationship Id="rId10" Type="http://schemas.openxmlformats.org/officeDocument/2006/relationships/chart" Target="../charts/chart217.xml"/><Relationship Id="rId11" Type="http://schemas.openxmlformats.org/officeDocument/2006/relationships/chart" Target="../charts/chart218.xml"/><Relationship Id="rId1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9.xml"/><Relationship Id="rId3" Type="http://schemas.openxmlformats.org/officeDocument/2006/relationships/chart" Target="../charts/chart220.xml"/><Relationship Id="rId4" Type="http://schemas.openxmlformats.org/officeDocument/2006/relationships/chart" Target="../charts/chart221.xml"/><Relationship Id="rId5" Type="http://schemas.openxmlformats.org/officeDocument/2006/relationships/chart" Target="../charts/chart222.xml"/><Relationship Id="rId6" Type="http://schemas.openxmlformats.org/officeDocument/2006/relationships/chart" Target="../charts/chart223.xml"/><Relationship Id="rId7"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4.xml"/><Relationship Id="rId3" Type="http://schemas.openxmlformats.org/officeDocument/2006/relationships/chart" Target="../charts/chart225.xml"/><Relationship Id="rId4" Type="http://schemas.openxmlformats.org/officeDocument/2006/relationships/chart" Target="../charts/chart226.xml"/><Relationship Id="rId5" Type="http://schemas.openxmlformats.org/officeDocument/2006/relationships/chart" Target="../charts/chart227.xml"/><Relationship Id="rId6" Type="http://schemas.openxmlformats.org/officeDocument/2006/relationships/chart" Target="../charts/chart228.xml"/><Relationship Id="rId7"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9.xml"/><Relationship Id="rId3" Type="http://schemas.openxmlformats.org/officeDocument/2006/relationships/chart" Target="../charts/chart230.xml"/><Relationship Id="rId4" Type="http://schemas.openxmlformats.org/officeDocument/2006/relationships/chart" Target="../charts/chart231.xml"/><Relationship Id="rId5" Type="http://schemas.openxmlformats.org/officeDocument/2006/relationships/chart" Target="../charts/chart232.xml"/><Relationship Id="rId6" Type="http://schemas.openxmlformats.org/officeDocument/2006/relationships/chart" Target="../charts/chart233.xml"/><Relationship Id="rId7"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4.xml"/><Relationship Id="rId3" Type="http://schemas.openxmlformats.org/officeDocument/2006/relationships/chart" Target="../charts/chart235.xml"/><Relationship Id="rId4" Type="http://schemas.openxmlformats.org/officeDocument/2006/relationships/chart" Target="../charts/chart236.xml"/><Relationship Id="rId5" Type="http://schemas.openxmlformats.org/officeDocument/2006/relationships/chart" Target="../charts/chart237.xml"/><Relationship Id="rId6" Type="http://schemas.openxmlformats.org/officeDocument/2006/relationships/chart" Target="../charts/chart238.xml"/><Relationship Id="rId7"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9.xml"/><Relationship Id="rId3" Type="http://schemas.openxmlformats.org/officeDocument/2006/relationships/chart" Target="../charts/chart240.xml"/><Relationship Id="rId4" Type="http://schemas.openxmlformats.org/officeDocument/2006/relationships/chart" Target="../charts/chart241.xml"/><Relationship Id="rId5" Type="http://schemas.openxmlformats.org/officeDocument/2006/relationships/chart" Target="../charts/chart242.xml"/><Relationship Id="rId6" Type="http://schemas.openxmlformats.org/officeDocument/2006/relationships/chart" Target="../charts/chart243.xml"/><Relationship Id="rId7"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4.xml"/><Relationship Id="rId3" Type="http://schemas.openxmlformats.org/officeDocument/2006/relationships/chart" Target="../charts/chart245.xml"/><Relationship Id="rId4" Type="http://schemas.openxmlformats.org/officeDocument/2006/relationships/chart" Target="../charts/chart246.xml"/><Relationship Id="rId5" Type="http://schemas.openxmlformats.org/officeDocument/2006/relationships/chart" Target="../charts/chart247.xml"/><Relationship Id="rId6" Type="http://schemas.openxmlformats.org/officeDocument/2006/relationships/chart" Target="../charts/chart248.xml"/><Relationship Id="rId7"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9.xml"/><Relationship Id="rId3" Type="http://schemas.openxmlformats.org/officeDocument/2006/relationships/chart" Target="../charts/chart250.xml"/><Relationship Id="rId4" Type="http://schemas.openxmlformats.org/officeDocument/2006/relationships/chart" Target="../charts/chart251.xml"/><Relationship Id="rId5" Type="http://schemas.openxmlformats.org/officeDocument/2006/relationships/chart" Target="../charts/chart252.xml"/><Relationship Id="rId6" Type="http://schemas.openxmlformats.org/officeDocument/2006/relationships/chart" Target="../charts/chart253.xml"/><Relationship Id="rId7"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4.xml"/><Relationship Id="rId3" Type="http://schemas.openxmlformats.org/officeDocument/2006/relationships/chart" Target="../charts/chart255.xml"/><Relationship Id="rId4" Type="http://schemas.openxmlformats.org/officeDocument/2006/relationships/chart" Target="../charts/chart256.xml"/><Relationship Id="rId5" Type="http://schemas.openxmlformats.org/officeDocument/2006/relationships/chart" Target="../charts/chart257.xml"/><Relationship Id="rId6" Type="http://schemas.openxmlformats.org/officeDocument/2006/relationships/chart" Target="../charts/chart258.xml"/><Relationship Id="rId7"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9.xml"/><Relationship Id="rId3" Type="http://schemas.openxmlformats.org/officeDocument/2006/relationships/chart" Target="../charts/chart260.xml"/><Relationship Id="rId4" Type="http://schemas.openxmlformats.org/officeDocument/2006/relationships/chart" Target="../charts/chart261.xml"/><Relationship Id="rId5" Type="http://schemas.openxmlformats.org/officeDocument/2006/relationships/chart" Target="../charts/chart262.xml"/><Relationship Id="rId6" Type="http://schemas.openxmlformats.org/officeDocument/2006/relationships/chart" Target="../charts/chart263.xml"/><Relationship Id="rId7"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2194560" cy="667512"/>
          </a:xfrm>
          <a:prstGeom prst="rect">
            <a:avLst/>
          </a:prstGeom>
        </p:spPr>
      </p:pic>
      <p:sp>
        <p:nvSpPr>
          <p:cNvPr id="3" name="Text 0"/>
          <p:cNvSpPr txBox="1"/>
          <p:nvPr/>
        </p:nvSpPr>
        <p:spPr>
          <a:xfrm>
            <a:off x="667512" y="2377440"/>
            <a:ext cx="10789920" cy="1737360"/>
          </a:xfrm>
          <a:prstGeom prst="rect">
            <a:avLst/>
          </a:prstGeom>
          <a:noFill/>
          <a:ln/>
        </p:spPr>
        <p:txBody>
          <a:bodyPr wrap="squar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Fixed Operations</a:t>
            </a:r>
            <a:endParaRPr lang="en-US" sz="6200" dirty="0"/>
          </a:p>
        </p:txBody>
      </p:sp>
      <p:sp>
        <p:nvSpPr>
          <p:cNvPr id="4" name="Shape 1"/>
          <p:cNvSpPr/>
          <p:nvPr/>
        </p:nvSpPr>
        <p:spPr>
          <a:xfrm>
            <a:off x="713232" y="4224528"/>
            <a:ext cx="1371600" cy="50292"/>
          </a:xfrm>
          <a:prstGeom prst="rect">
            <a:avLst/>
          </a:prstGeom>
          <a:solidFill>
            <a:srgbClr val="2587C5"/>
          </a:solidFill>
          <a:ln/>
        </p:spPr>
      </p:sp>
      <p:sp>
        <p:nvSpPr>
          <p:cNvPr id="5" name="Text 2"/>
          <p:cNvSpPr txBox="1"/>
          <p:nvPr/>
        </p:nvSpPr>
        <p:spPr>
          <a:xfrm>
            <a:off x="694944" y="4462272"/>
            <a:ext cx="10789920" cy="457200"/>
          </a:xfrm>
          <a:prstGeom prst="rect">
            <a:avLst/>
          </a:prstGeom>
          <a:noFill/>
          <a:ln/>
        </p:spPr>
        <p:txBody>
          <a:bodyPr wrap="square" lIns="0" tIns="0" rIns="0" bIns="0" rtlCol="0" anchor="ctr"/>
          <a:lstStyle/>
          <a:p>
            <a:pPr indent="0" marL="0">
              <a:buNone/>
            </a:pPr>
            <a:r>
              <a:rPr lang="en-US" sz="2600" dirty="0">
                <a:solidFill>
                  <a:srgbClr val="2587C5"/>
                </a:solidFill>
                <a:latin typeface="Inter" pitchFamily="34" charset="0"/>
                <a:ea typeface="Inter" pitchFamily="34" charset="-122"/>
                <a:cs typeface="Inter" pitchFamily="34" charset="-120"/>
              </a:rPr>
              <a:t>Day 2  ·  General Managers &amp; Service Managers  ·  October 29, 2026</a:t>
            </a:r>
            <a:endParaRPr lang="en-US" sz="2600" dirty="0"/>
          </a:p>
        </p:txBody>
      </p:sp>
      <p:sp>
        <p:nvSpPr>
          <p:cNvPr id="6" name="Text 3"/>
          <p:cNvSpPr txBox="1"/>
          <p:nvPr/>
        </p:nvSpPr>
        <p:spPr>
          <a:xfrm>
            <a:off x="694944" y="4956048"/>
            <a:ext cx="10789920" cy="411480"/>
          </a:xfrm>
          <a:prstGeom prst="rect">
            <a:avLst/>
          </a:prstGeom>
          <a:noFill/>
          <a:ln/>
        </p:spPr>
        <p:txBody>
          <a:bodyPr wrap="square" lIns="0" tIns="0" rIns="0" bIns="0" rtlCol="0" anchor="ctr"/>
          <a:lstStyle/>
          <a:p>
            <a:pPr indent="0" marL="0">
              <a:buNone/>
            </a:pPr>
            <a:r>
              <a:rPr lang="en-US" sz="2000" dirty="0">
                <a:solidFill>
                  <a:srgbClr val="595959"/>
                </a:solidFill>
                <a:latin typeface="Inter" pitchFamily="34" charset="0"/>
                <a:ea typeface="Inter" pitchFamily="34" charset="-122"/>
                <a:cs typeface="Inter" pitchFamily="34" charset="-120"/>
              </a:rPr>
              <a:t>South Point, Las Vegas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DAY 2 · GENERAL MANAGERS &amp; SERVICE MANAGERS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Agenda</a:t>
            </a:r>
            <a:endParaRPr lang="en-US" sz="2800" dirty="0"/>
          </a:p>
        </p:txBody>
      </p:sp>
      <p:sp>
        <p:nvSpPr>
          <p:cNvPr id="5" name="Shape 3"/>
          <p:cNvSpPr/>
          <p:nvPr/>
        </p:nvSpPr>
        <p:spPr>
          <a:xfrm>
            <a:off x="457200" y="1207008"/>
            <a:ext cx="5586984" cy="1195578"/>
          </a:xfrm>
          <a:prstGeom prst="rect">
            <a:avLst/>
          </a:prstGeom>
          <a:solidFill>
            <a:srgbClr val="FFFFFF"/>
          </a:solidFill>
          <a:ln/>
        </p:spPr>
      </p:sp>
      <p:sp>
        <p:nvSpPr>
          <p:cNvPr id="6" name="Shape 4"/>
          <p:cNvSpPr/>
          <p:nvPr/>
        </p:nvSpPr>
        <p:spPr>
          <a:xfrm>
            <a:off x="457200" y="1207008"/>
            <a:ext cx="50292" cy="1195578"/>
          </a:xfrm>
          <a:prstGeom prst="rect">
            <a:avLst/>
          </a:prstGeom>
          <a:solidFill>
            <a:srgbClr val="2587C5"/>
          </a:solidFill>
          <a:ln/>
        </p:spPr>
      </p:sp>
      <p:sp>
        <p:nvSpPr>
          <p:cNvPr id="7" name="Text 5"/>
          <p:cNvSpPr txBox="1"/>
          <p:nvPr/>
        </p:nvSpPr>
        <p:spPr>
          <a:xfrm>
            <a:off x="694944"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01</a:t>
            </a:r>
            <a:endParaRPr lang="en-US" sz="2000" dirty="0"/>
          </a:p>
        </p:txBody>
      </p:sp>
      <p:sp>
        <p:nvSpPr>
          <p:cNvPr id="8" name="Text 6"/>
          <p:cNvSpPr txBox="1"/>
          <p:nvPr/>
        </p:nvSpPr>
        <p:spPr>
          <a:xfrm>
            <a:off x="1371600"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9" name="Text 7"/>
          <p:cNvSpPr txBox="1"/>
          <p:nvPr/>
        </p:nvSpPr>
        <p:spPr>
          <a:xfrm>
            <a:off x="3703320"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Fixed ops, service and parts gross performance.</a:t>
            </a:r>
            <a:endParaRPr lang="en-US" sz="1400" dirty="0"/>
          </a:p>
        </p:txBody>
      </p:sp>
      <p:sp>
        <p:nvSpPr>
          <p:cNvPr id="10" name="Shape 8"/>
          <p:cNvSpPr/>
          <p:nvPr/>
        </p:nvSpPr>
        <p:spPr>
          <a:xfrm>
            <a:off x="457200" y="2494026"/>
            <a:ext cx="5586984" cy="1195578"/>
          </a:xfrm>
          <a:prstGeom prst="rect">
            <a:avLst/>
          </a:prstGeom>
          <a:solidFill>
            <a:srgbClr val="FFFFFF"/>
          </a:solidFill>
          <a:ln/>
        </p:spPr>
      </p:sp>
      <p:sp>
        <p:nvSpPr>
          <p:cNvPr id="11" name="Shape 9"/>
          <p:cNvSpPr/>
          <p:nvPr/>
        </p:nvSpPr>
        <p:spPr>
          <a:xfrm>
            <a:off x="457200" y="2494026"/>
            <a:ext cx="50292" cy="1195578"/>
          </a:xfrm>
          <a:prstGeom prst="rect">
            <a:avLst/>
          </a:prstGeom>
          <a:solidFill>
            <a:srgbClr val="2587C5"/>
          </a:solidFill>
          <a:ln/>
        </p:spPr>
      </p:sp>
      <p:sp>
        <p:nvSpPr>
          <p:cNvPr id="12" name="Text 10"/>
          <p:cNvSpPr txBox="1"/>
          <p:nvPr/>
        </p:nvSpPr>
        <p:spPr>
          <a:xfrm>
            <a:off x="694944"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02</a:t>
            </a:r>
            <a:endParaRPr lang="en-US" sz="2000" dirty="0"/>
          </a:p>
        </p:txBody>
      </p:sp>
      <p:sp>
        <p:nvSpPr>
          <p:cNvPr id="13" name="Text 11"/>
          <p:cNvSpPr txBox="1"/>
          <p:nvPr/>
        </p:nvSpPr>
        <p:spPr>
          <a:xfrm>
            <a:off x="1371600"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4" name="Text 12"/>
          <p:cNvSpPr txBox="1"/>
          <p:nvPr/>
        </p:nvSpPr>
        <p:spPr>
          <a:xfrm>
            <a:off x="3703320"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we keep, and how much of the store we cover.</a:t>
            </a:r>
            <a:endParaRPr lang="en-US" sz="1400" dirty="0"/>
          </a:p>
        </p:txBody>
      </p:sp>
      <p:sp>
        <p:nvSpPr>
          <p:cNvPr id="15" name="Shape 13"/>
          <p:cNvSpPr/>
          <p:nvPr/>
        </p:nvSpPr>
        <p:spPr>
          <a:xfrm>
            <a:off x="457200" y="3781044"/>
            <a:ext cx="5586984" cy="1195578"/>
          </a:xfrm>
          <a:prstGeom prst="rect">
            <a:avLst/>
          </a:prstGeom>
          <a:solidFill>
            <a:srgbClr val="FFFFFF"/>
          </a:solidFill>
          <a:ln/>
        </p:spPr>
      </p:sp>
      <p:sp>
        <p:nvSpPr>
          <p:cNvPr id="16" name="Shape 14"/>
          <p:cNvSpPr/>
          <p:nvPr/>
        </p:nvSpPr>
        <p:spPr>
          <a:xfrm>
            <a:off x="457200" y="3781044"/>
            <a:ext cx="50292" cy="1195578"/>
          </a:xfrm>
          <a:prstGeom prst="rect">
            <a:avLst/>
          </a:prstGeom>
          <a:solidFill>
            <a:srgbClr val="2587C5"/>
          </a:solidFill>
          <a:ln/>
        </p:spPr>
      </p:sp>
      <p:sp>
        <p:nvSpPr>
          <p:cNvPr id="17" name="Text 15"/>
          <p:cNvSpPr txBox="1"/>
          <p:nvPr/>
        </p:nvSpPr>
        <p:spPr>
          <a:xfrm>
            <a:off x="694944"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03</a:t>
            </a:r>
            <a:endParaRPr lang="en-US" sz="2000" dirty="0"/>
          </a:p>
        </p:txBody>
      </p:sp>
      <p:sp>
        <p:nvSpPr>
          <p:cNvPr id="18" name="Text 16"/>
          <p:cNvSpPr txBox="1"/>
          <p:nvPr/>
        </p:nvSpPr>
        <p:spPr>
          <a:xfrm>
            <a:off x="1371600"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9" name="Text 17"/>
          <p:cNvSpPr txBox="1"/>
          <p:nvPr/>
        </p:nvSpPr>
        <p:spPr>
          <a:xfrm>
            <a:off x="3703320"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Car count, sales per visit, pricing and margin.</a:t>
            </a:r>
            <a:endParaRPr lang="en-US" sz="1400" dirty="0"/>
          </a:p>
        </p:txBody>
      </p:sp>
      <p:sp>
        <p:nvSpPr>
          <p:cNvPr id="20" name="Shape 18"/>
          <p:cNvSpPr/>
          <p:nvPr/>
        </p:nvSpPr>
        <p:spPr>
          <a:xfrm>
            <a:off x="457200" y="5068062"/>
            <a:ext cx="5586984" cy="1195578"/>
          </a:xfrm>
          <a:prstGeom prst="rect">
            <a:avLst/>
          </a:prstGeom>
          <a:solidFill>
            <a:srgbClr val="FFFFFF"/>
          </a:solidFill>
          <a:ln/>
        </p:spPr>
      </p:sp>
      <p:sp>
        <p:nvSpPr>
          <p:cNvPr id="21" name="Shape 19"/>
          <p:cNvSpPr/>
          <p:nvPr/>
        </p:nvSpPr>
        <p:spPr>
          <a:xfrm>
            <a:off x="457200" y="5068062"/>
            <a:ext cx="50292" cy="1195578"/>
          </a:xfrm>
          <a:prstGeom prst="rect">
            <a:avLst/>
          </a:prstGeom>
          <a:solidFill>
            <a:srgbClr val="2587C5"/>
          </a:solidFill>
          <a:ln/>
        </p:spPr>
      </p:sp>
      <p:sp>
        <p:nvSpPr>
          <p:cNvPr id="22" name="Text 20"/>
          <p:cNvSpPr txBox="1"/>
          <p:nvPr/>
        </p:nvSpPr>
        <p:spPr>
          <a:xfrm>
            <a:off x="694944"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04</a:t>
            </a:r>
            <a:endParaRPr lang="en-US" sz="2000" dirty="0"/>
          </a:p>
        </p:txBody>
      </p:sp>
      <p:sp>
        <p:nvSpPr>
          <p:cNvPr id="23" name="Text 21"/>
          <p:cNvSpPr txBox="1"/>
          <p:nvPr/>
        </p:nvSpPr>
        <p:spPr>
          <a:xfrm>
            <a:off x="1371600"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 Benchmarks</a:t>
            </a:r>
            <a:endParaRPr lang="en-US" sz="1700" dirty="0"/>
          </a:p>
        </p:txBody>
      </p:sp>
      <p:sp>
        <p:nvSpPr>
          <p:cNvPr id="24" name="Text 22"/>
          <p:cNvSpPr txBox="1"/>
          <p:nvPr/>
        </p:nvSpPr>
        <p:spPr>
          <a:xfrm>
            <a:off x="3703320"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Inspections and key services against benchmark.</a:t>
            </a:r>
            <a:endParaRPr lang="en-US" sz="1400" dirty="0"/>
          </a:p>
        </p:txBody>
      </p:sp>
      <p:sp>
        <p:nvSpPr>
          <p:cNvPr id="25" name="Shape 23"/>
          <p:cNvSpPr/>
          <p:nvPr/>
        </p:nvSpPr>
        <p:spPr>
          <a:xfrm>
            <a:off x="6144768" y="1207008"/>
            <a:ext cx="5586984" cy="1195578"/>
          </a:xfrm>
          <a:prstGeom prst="rect">
            <a:avLst/>
          </a:prstGeom>
          <a:solidFill>
            <a:srgbClr val="FFFFFF"/>
          </a:solidFill>
          <a:ln/>
        </p:spPr>
      </p:sp>
      <p:sp>
        <p:nvSpPr>
          <p:cNvPr id="26" name="Shape 24"/>
          <p:cNvSpPr/>
          <p:nvPr/>
        </p:nvSpPr>
        <p:spPr>
          <a:xfrm>
            <a:off x="6144768" y="1207008"/>
            <a:ext cx="50292" cy="1195578"/>
          </a:xfrm>
          <a:prstGeom prst="rect">
            <a:avLst/>
          </a:prstGeom>
          <a:solidFill>
            <a:srgbClr val="2587C5"/>
          </a:solidFill>
          <a:ln/>
        </p:spPr>
      </p:sp>
      <p:sp>
        <p:nvSpPr>
          <p:cNvPr id="27" name="Text 25"/>
          <p:cNvSpPr txBox="1"/>
          <p:nvPr/>
        </p:nvSpPr>
        <p:spPr>
          <a:xfrm>
            <a:off x="6382512"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05</a:t>
            </a:r>
            <a:endParaRPr lang="en-US" sz="2000" dirty="0"/>
          </a:p>
        </p:txBody>
      </p:sp>
      <p:sp>
        <p:nvSpPr>
          <p:cNvPr id="28" name="Text 26"/>
          <p:cNvSpPr txBox="1"/>
          <p:nvPr/>
        </p:nvSpPr>
        <p:spPr>
          <a:xfrm>
            <a:off x="7059168"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29" name="Text 27"/>
          <p:cNvSpPr txBox="1"/>
          <p:nvPr/>
        </p:nvSpPr>
        <p:spPr>
          <a:xfrm>
            <a:off x="9390888"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Internal labor rate and margins.</a:t>
            </a:r>
            <a:endParaRPr lang="en-US" sz="1400" dirty="0"/>
          </a:p>
        </p:txBody>
      </p:sp>
      <p:sp>
        <p:nvSpPr>
          <p:cNvPr id="30" name="Shape 28"/>
          <p:cNvSpPr/>
          <p:nvPr/>
        </p:nvSpPr>
        <p:spPr>
          <a:xfrm>
            <a:off x="6144768" y="2494026"/>
            <a:ext cx="5586984" cy="1195578"/>
          </a:xfrm>
          <a:prstGeom prst="rect">
            <a:avLst/>
          </a:prstGeom>
          <a:solidFill>
            <a:srgbClr val="FFFFFF"/>
          </a:solidFill>
          <a:ln/>
        </p:spPr>
      </p:sp>
      <p:sp>
        <p:nvSpPr>
          <p:cNvPr id="31" name="Shape 29"/>
          <p:cNvSpPr/>
          <p:nvPr/>
        </p:nvSpPr>
        <p:spPr>
          <a:xfrm>
            <a:off x="6144768" y="2494026"/>
            <a:ext cx="50292" cy="1195578"/>
          </a:xfrm>
          <a:prstGeom prst="rect">
            <a:avLst/>
          </a:prstGeom>
          <a:solidFill>
            <a:srgbClr val="2587C5"/>
          </a:solidFill>
          <a:ln/>
        </p:spPr>
      </p:sp>
      <p:sp>
        <p:nvSpPr>
          <p:cNvPr id="32" name="Text 30"/>
          <p:cNvSpPr txBox="1"/>
          <p:nvPr/>
        </p:nvSpPr>
        <p:spPr>
          <a:xfrm>
            <a:off x="6382512"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06</a:t>
            </a:r>
            <a:endParaRPr lang="en-US" sz="2000" dirty="0"/>
          </a:p>
        </p:txBody>
      </p:sp>
      <p:sp>
        <p:nvSpPr>
          <p:cNvPr id="33" name="Text 31"/>
          <p:cNvSpPr txBox="1"/>
          <p:nvPr/>
        </p:nvSpPr>
        <p:spPr>
          <a:xfrm>
            <a:off x="7059168"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34" name="Text 32"/>
          <p:cNvSpPr txBox="1"/>
          <p:nvPr/>
        </p:nvSpPr>
        <p:spPr>
          <a:xfrm>
            <a:off x="9390888"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Staffing, output and technician proficiency.</a:t>
            </a:r>
            <a:endParaRPr lang="en-US" sz="1400" dirty="0"/>
          </a:p>
        </p:txBody>
      </p:sp>
      <p:sp>
        <p:nvSpPr>
          <p:cNvPr id="35" name="Shape 33"/>
          <p:cNvSpPr/>
          <p:nvPr/>
        </p:nvSpPr>
        <p:spPr>
          <a:xfrm>
            <a:off x="6144768" y="3781044"/>
            <a:ext cx="5586984" cy="1195578"/>
          </a:xfrm>
          <a:prstGeom prst="rect">
            <a:avLst/>
          </a:prstGeom>
          <a:solidFill>
            <a:srgbClr val="FFFFFF"/>
          </a:solidFill>
          <a:ln/>
        </p:spPr>
      </p:sp>
      <p:sp>
        <p:nvSpPr>
          <p:cNvPr id="36" name="Shape 34"/>
          <p:cNvSpPr/>
          <p:nvPr/>
        </p:nvSpPr>
        <p:spPr>
          <a:xfrm>
            <a:off x="6144768" y="3781044"/>
            <a:ext cx="50292" cy="1195578"/>
          </a:xfrm>
          <a:prstGeom prst="rect">
            <a:avLst/>
          </a:prstGeom>
          <a:solidFill>
            <a:srgbClr val="2587C5"/>
          </a:solidFill>
          <a:ln/>
        </p:spPr>
      </p:sp>
      <p:sp>
        <p:nvSpPr>
          <p:cNvPr id="37" name="Text 35"/>
          <p:cNvSpPr txBox="1"/>
          <p:nvPr/>
        </p:nvSpPr>
        <p:spPr>
          <a:xfrm>
            <a:off x="6382512"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07</a:t>
            </a:r>
            <a:endParaRPr lang="en-US" sz="2000" dirty="0"/>
          </a:p>
        </p:txBody>
      </p:sp>
      <p:sp>
        <p:nvSpPr>
          <p:cNvPr id="38" name="Text 36"/>
          <p:cNvSpPr txBox="1"/>
          <p:nvPr/>
        </p:nvSpPr>
        <p:spPr>
          <a:xfrm>
            <a:off x="7059168"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39" name="Text 37"/>
          <p:cNvSpPr txBox="1"/>
          <p:nvPr/>
        </p:nvSpPr>
        <p:spPr>
          <a:xfrm>
            <a:off x="9390888"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Warranty rates, margins and compliance.</a:t>
            </a:r>
            <a:endParaRPr lang="en-US" sz="1400" dirty="0"/>
          </a:p>
        </p:txBody>
      </p:sp>
      <p:sp>
        <p:nvSpPr>
          <p:cNvPr id="40" name="Shape 38"/>
          <p:cNvSpPr/>
          <p:nvPr/>
        </p:nvSpPr>
        <p:spPr>
          <a:xfrm>
            <a:off x="6144768" y="5068062"/>
            <a:ext cx="5586984" cy="1195578"/>
          </a:xfrm>
          <a:prstGeom prst="rect">
            <a:avLst/>
          </a:prstGeom>
          <a:solidFill>
            <a:srgbClr val="FFFFFF"/>
          </a:solidFill>
          <a:ln/>
        </p:spPr>
      </p:sp>
      <p:sp>
        <p:nvSpPr>
          <p:cNvPr id="41" name="Shape 39"/>
          <p:cNvSpPr/>
          <p:nvPr/>
        </p:nvSpPr>
        <p:spPr>
          <a:xfrm>
            <a:off x="6144768" y="5068062"/>
            <a:ext cx="50292" cy="1195578"/>
          </a:xfrm>
          <a:prstGeom prst="rect">
            <a:avLst/>
          </a:prstGeom>
          <a:solidFill>
            <a:srgbClr val="2587C5"/>
          </a:solidFill>
          <a:ln/>
        </p:spPr>
      </p:sp>
      <p:sp>
        <p:nvSpPr>
          <p:cNvPr id="42" name="Text 40"/>
          <p:cNvSpPr txBox="1"/>
          <p:nvPr/>
        </p:nvSpPr>
        <p:spPr>
          <a:xfrm>
            <a:off x="6382512"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08</a:t>
            </a:r>
            <a:endParaRPr lang="en-US" sz="2000" dirty="0"/>
          </a:p>
        </p:txBody>
      </p:sp>
      <p:sp>
        <p:nvSpPr>
          <p:cNvPr id="43" name="Text 41"/>
          <p:cNvSpPr txBox="1"/>
          <p:nvPr/>
        </p:nvSpPr>
        <p:spPr>
          <a:xfrm>
            <a:off x="7059168"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
        <p:nvSpPr>
          <p:cNvPr id="44" name="Text 42"/>
          <p:cNvSpPr txBox="1"/>
          <p:nvPr/>
        </p:nvSpPr>
        <p:spPr>
          <a:xfrm>
            <a:off x="9390888"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changed, where the money is, and what we commit to.</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01</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
        <p:nvSpPr>
          <p:cNvPr id="6" name="Shape 3"/>
          <p:cNvSpPr/>
          <p:nvPr/>
        </p:nvSpPr>
        <p:spPr>
          <a:xfrm>
            <a:off x="685800" y="4983480"/>
            <a:ext cx="1956816" cy="91440"/>
          </a:xfrm>
          <a:prstGeom prst="rect">
            <a:avLst/>
          </a:prstGeom>
          <a:solidFill>
            <a:srgbClr val="2587C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D9D9D9"/>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02</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91440"/>
          </a:xfrm>
          <a:prstGeom prst="rect">
            <a:avLst/>
          </a:prstGeom>
          <a:solidFill>
            <a:srgbClr val="2587C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03</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Customer Pay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Pricing &amp; mix   ·   ELR   ·   $ per RO   ·   Margin</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91440"/>
          </a:xfrm>
          <a:prstGeom prst="rect">
            <a:avLst/>
          </a:prstGeom>
          <a:solidFill>
            <a:srgbClr val="2587C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04</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MPI 90%   ·   Alignment 15%   ·   Balance 15%   ·   Brake fluid 10%   ·   Fuel 7.5%</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91440"/>
          </a:xfrm>
          <a:prstGeom prst="rect">
            <a:avLst/>
          </a:prstGeom>
          <a:solidFill>
            <a:srgbClr val="2587C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05</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Internal</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Internal ELR   ·   Internal labor GP %   ·   Internal parts GP %</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91440"/>
          </a:xfrm>
          <a:prstGeom prst="rect">
            <a:avLst/>
          </a:prstGeom>
          <a:solidFill>
            <a:srgbClr val="2587C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06</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Headcount   ·   Gross per employee   ·   Technician proficiency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91440"/>
          </a:xfrm>
          <a:prstGeom prst="rect">
            <a:avLst/>
          </a:prstGeom>
          <a:solidFill>
            <a:srgbClr val="2587C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07</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Warranty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Rate increases   ·   Warranty ELR   ·   Parts margin   ·   Warranty audits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91440"/>
          </a:xfrm>
          <a:prstGeom prst="rect">
            <a:avLst/>
          </a:prstGeom>
          <a:solidFill>
            <a:srgbClr val="2587C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08</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Close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Most improved   ·   Where the money is   ·   Before you leave</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5B9BD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91440"/>
          </a:xfrm>
          <a:prstGeom prst="rect">
            <a:avLst/>
          </a:prstGeom>
          <a:solidFill>
            <a:srgbClr val="2587C5"/>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NOT PRESENTED · FOR REVIEW</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Open Decisions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Store records   ·   Door rate   ·   CP vs internal   ·   Photo %   ·   Productivity   ·   Who's moving now   ·   Most improved</a:t>
            </a:r>
            <a:endParaRPr lang="en-US" sz="2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day-to-day long enough to fix the process behind the problems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61%</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the group's net profit came from service and parts: $50.19M of $82.24M (47% in 2025).</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 vs 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what service and parts keep after their own expenses vs new, used and F&amp;I.</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+$4,858,815</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More fixed ops profit than 2025, while group net profit fell $13.42M.</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Ops Net Profit?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Fixed ops net profit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gross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expenses</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What service and parts keep after paying their own people, building, systems and supplies.</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Gross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Expenses  </a:t>
            </a:r>
            <a:pPr algn="ctr" indent="0" marL="0">
              <a:buNone/>
            </a:pPr>
            <a:r>
              <a:rPr lang="en-US" sz="1400" b="1" dirty="0">
                <a:solidFill>
                  <a:srgbClr val="0B2C4A"/>
                </a:solidFill>
                <a:latin typeface="Inter" pitchFamily="34" charset="0"/>
                <a:ea typeface="Inter" pitchFamily="34" charset="-122"/>
                <a:cs typeface="Inter" pitchFamily="34" charset="-120"/>
              </a:rPr>
              <a:t>$138.35M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Net profit  </a:t>
            </a:r>
            <a:pPr algn="ctr" indent="0" marL="0">
              <a:buNone/>
            </a:pPr>
            <a:r>
              <a:rPr lang="en-US" sz="1400" b="1" dirty="0">
                <a:solidFill>
                  <a:srgbClr val="0B2C4A"/>
                </a:solidFill>
                <a:latin typeface="Inter" pitchFamily="34" charset="0"/>
                <a:ea typeface="Inter" pitchFamily="34" charset="-122"/>
                <a:cs typeface="Inter" pitchFamily="34" charset="-120"/>
              </a:rPr>
              <a:t>$50.45M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what fixed ops actually contributes to the store.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profit shrinks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 dollar of expense saved drops straight to the bottom line. Earning that $1 takes $7 in service and parts sales.</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Car count, hours per RO, effective labor rate, parts and labor margin</a:t>
            </a:r>
            <a:endParaRPr lang="en-US" sz="1400" dirty="0"/>
          </a:p>
        </p:txBody>
      </p:sp>
      <p:sp>
        <p:nvSpPr>
          <p:cNvPr id="22" name="Shape 20"/>
          <p:cNvSpPr/>
          <p:nvPr/>
        </p:nvSpPr>
        <p:spPr>
          <a:xfrm>
            <a:off x="8394192" y="3410712"/>
            <a:ext cx="45720" cy="1133856"/>
          </a:xfrm>
          <a:prstGeom prst="rect">
            <a:avLst/>
          </a:prstGeom>
          <a:solidFill>
            <a:srgbClr val="2587C5"/>
          </a:solidFill>
          <a:ln/>
        </p:spPr>
      </p:sp>
      <p:sp>
        <p:nvSpPr>
          <p:cNvPr id="23" name="Text 21"/>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largest expense: staffing to the workload, pay plans tied to performance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Productivity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gross from the same team and the same stalls</a:t>
            </a:r>
            <a:endParaRPr lang="en-US" sz="1400" dirty="0"/>
          </a:p>
        </p:txBody>
      </p:sp>
      <p:sp>
        <p:nvSpPr>
          <p:cNvPr id="26" name="Shape 24"/>
          <p:cNvSpPr/>
          <p:nvPr/>
        </p:nvSpPr>
        <p:spPr>
          <a:xfrm>
            <a:off x="8394192" y="4654296"/>
            <a:ext cx="45720" cy="1133856"/>
          </a:xfrm>
          <a:prstGeom prst="rect">
            <a:avLst/>
          </a:prstGeom>
          <a:solidFill>
            <a:srgbClr val="2587C5"/>
          </a:solidFill>
          <a:ln/>
        </p:spPr>
      </p:sp>
      <p:sp>
        <p:nvSpPr>
          <p:cNvPr id="27" name="Text 25"/>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Spending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outside services, service policy, advertising, company vehicles</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$50.45M fixed ops net profit, +11.3%. Gross grew +4.1%; department expenses +1.7%.</a:t>
            </a:r>
            <a:endParaRPr lang="en-US" sz="160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$45.34M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$50.45M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+$5.11M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net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+$5.11M (+11.3%) year to date; 7 of nine months ahead of 2025, best September at +$1.61M.</a:t>
            </a:r>
            <a:endParaRPr lang="en-US" sz="16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$50.45M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$7.83M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1419699"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391651"/>
            <a:ext cx="1154907"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631546"/>
            <a:ext cx="775885"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$3.32M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686722"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$2.94M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606903"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$2.60M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7" name="Shape 35"/>
          <p:cNvSpPr/>
          <p:nvPr/>
        </p:nvSpPr>
        <p:spPr>
          <a:xfrm>
            <a:off x="2980944" y="3351233"/>
            <a:ext cx="529462"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477227"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5" name="Shape 43"/>
          <p:cNvSpPr/>
          <p:nvPr/>
        </p:nvSpPr>
        <p:spPr>
          <a:xfrm>
            <a:off x="2980944" y="3831024"/>
            <a:ext cx="424033"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$1.82M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421495"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2980944" y="4310815"/>
            <a:ext cx="310696"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$1.33M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2980944" y="4550711"/>
            <a:ext cx="308094"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$1.32M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2980944" y="4790606"/>
            <a:ext cx="27993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$1.20M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273031"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2980944" y="5270397"/>
            <a:ext cx="272418"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3" name="Shape 71"/>
          <p:cNvSpPr/>
          <p:nvPr/>
        </p:nvSpPr>
        <p:spPr>
          <a:xfrm>
            <a:off x="2980944" y="5510293"/>
            <a:ext cx="261785"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254692"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31352" y="1911860"/>
            <a:ext cx="230085"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$985,141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31352" y="2151755"/>
            <a:ext cx="210561"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$901,549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186954"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$800,469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8531352" y="2631546"/>
            <a:ext cx="164685"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$705,121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8531352" y="2871442"/>
            <a:ext cx="163331"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$699,325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31352" y="3111337"/>
            <a:ext cx="158180"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$677,269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8531352" y="3351233"/>
            <a:ext cx="117270"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$502,109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111208"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$476,154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31352" y="3831024"/>
            <a:ext cx="99951"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$427,953</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7" name="Shape 115"/>
          <p:cNvSpPr/>
          <p:nvPr/>
        </p:nvSpPr>
        <p:spPr>
          <a:xfrm>
            <a:off x="8531352" y="4070920"/>
            <a:ext cx="30021"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$128,541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310815"/>
            <a:ext cx="25197"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$107,886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22055"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$94,430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31352" y="4790606"/>
            <a:ext cx="1856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$79,496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31352" y="5030502"/>
            <a:ext cx="18288"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$19,561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270397"/>
            <a:ext cx="18288" cy="110352"/>
          </a:xfrm>
          <a:prstGeom prst="rect">
            <a:avLst/>
          </a:prstGeom>
          <a:solidFill>
            <a:srgbClr val="C2352F"/>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−$58,644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31352" y="5510293"/>
            <a:ext cx="31883" cy="110352"/>
          </a:xfrm>
          <a:prstGeom prst="rect">
            <a:avLst/>
          </a:prstGeom>
          <a:solidFill>
            <a:srgbClr val="C2352F"/>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−$136,511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615696"/>
          </a:xfrm>
          <a:prstGeom prst="rect">
            <a:avLst/>
          </a:prstGeom>
          <a:solidFill>
            <a:srgbClr val="EDF4FA"/>
          </a:solidFill>
          <a:ln/>
        </p:spPr>
      </p:sp>
      <p:sp>
        <p:nvSpPr>
          <p:cNvPr id="145" name="Text 14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$7.83M of the group's $50.45M. 2 stores are losing money in fixed ops, Hyundai Prescott the most at −$136,511.</a:t>
            </a:r>
            <a:endParaRPr lang="en-US" sz="160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+$5.11M  ·  +11.3%</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338388"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+$838K</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7" name="Shape 25"/>
          <p:cNvSpPr/>
          <p:nvPr/>
        </p:nvSpPr>
        <p:spPr>
          <a:xfrm>
            <a:off x="3579876" y="2629341"/>
            <a:ext cx="309104"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+$766K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2" name="Shape 30"/>
          <p:cNvSpPr/>
          <p:nvPr/>
        </p:nvSpPr>
        <p:spPr>
          <a:xfrm>
            <a:off x="3579876" y="2853100"/>
            <a:ext cx="279424"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+$692K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+12.9%</a:t>
            </a:r>
            <a:endParaRPr lang="en-US" sz="1200" dirty="0"/>
          </a:p>
        </p:txBody>
      </p:sp>
      <p:sp>
        <p:nvSpPr>
          <p:cNvPr id="35" name="Shape 33"/>
          <p:cNvSpPr/>
          <p:nvPr/>
        </p:nvSpPr>
        <p:spPr>
          <a:xfrm>
            <a:off x="612648" y="3025588"/>
            <a:ext cx="5138928" cy="205471"/>
          </a:xfrm>
          <a:prstGeom prst="rect">
            <a:avLst/>
          </a:prstGeom>
          <a:solidFill>
            <a:srgbClr val="E6F6EE"/>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19525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+$484K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3" name="Shape 41"/>
          <p:cNvSpPr/>
          <p:nvPr/>
        </p:nvSpPr>
        <p:spPr>
          <a:xfrm>
            <a:off x="3579876" y="3300618"/>
            <a:ext cx="170398"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8" name="Shape 46"/>
          <p:cNvSpPr/>
          <p:nvPr/>
        </p:nvSpPr>
        <p:spPr>
          <a:xfrm>
            <a:off x="3579876" y="3524377"/>
            <a:ext cx="136037"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+$337K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1" name="Text 49"/>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2" name="Text 50"/>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53" name="Shape 51"/>
          <p:cNvSpPr/>
          <p:nvPr/>
        </p:nvSpPr>
        <p:spPr>
          <a:xfrm>
            <a:off x="3579876" y="3748136"/>
            <a:ext cx="117971" cy="102929"/>
          </a:xfrm>
          <a:prstGeom prst="rect">
            <a:avLst/>
          </a:prstGeom>
          <a:solidFill>
            <a:srgbClr val="12A566"/>
          </a:solidFill>
          <a:ln/>
        </p:spPr>
      </p:sp>
      <p:sp>
        <p:nvSpPr>
          <p:cNvPr id="54" name="Text 52"/>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55" name="Text 53"/>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+215.4%</a:t>
            </a:r>
            <a:endParaRPr lang="en-US" sz="1200" dirty="0"/>
          </a:p>
        </p:txBody>
      </p:sp>
      <p:sp>
        <p:nvSpPr>
          <p:cNvPr id="56" name="Shape 54"/>
          <p:cNvSpPr/>
          <p:nvPr/>
        </p:nvSpPr>
        <p:spPr>
          <a:xfrm>
            <a:off x="5907024" y="3733441"/>
            <a:ext cx="54864" cy="132319"/>
          </a:xfrm>
          <a:prstGeom prst="rect">
            <a:avLst/>
          </a:prstGeom>
          <a:solidFill>
            <a:srgbClr val="12A566"/>
          </a:solidFill>
          <a:ln/>
        </p:spPr>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9" name="Shape 57"/>
          <p:cNvSpPr/>
          <p:nvPr/>
        </p:nvSpPr>
        <p:spPr>
          <a:xfrm>
            <a:off x="3579876" y="3971895"/>
            <a:ext cx="115044"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+$285K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+32.3%</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4" name="Shape 62"/>
          <p:cNvSpPr/>
          <p:nvPr/>
        </p:nvSpPr>
        <p:spPr>
          <a:xfrm>
            <a:off x="3579876" y="4195654"/>
            <a:ext cx="87555"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+83.7%</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9" name="Shape 67"/>
          <p:cNvSpPr/>
          <p:nvPr/>
        </p:nvSpPr>
        <p:spPr>
          <a:xfrm>
            <a:off x="3579876" y="4419414"/>
            <a:ext cx="83153"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+$206K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72" name="Shape 70"/>
          <p:cNvSpPr/>
          <p:nvPr/>
        </p:nvSpPr>
        <p:spPr>
          <a:xfrm>
            <a:off x="612648" y="4591902"/>
            <a:ext cx="5138928" cy="205471"/>
          </a:xfrm>
          <a:prstGeom prst="rect">
            <a:avLst/>
          </a:prstGeom>
          <a:solidFill>
            <a:srgbClr val="E6F6EE"/>
          </a:solidFill>
          <a:ln/>
        </p:spPr>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5" name="Shape 73"/>
          <p:cNvSpPr/>
          <p:nvPr/>
        </p:nvSpPr>
        <p:spPr>
          <a:xfrm>
            <a:off x="3579876" y="4643173"/>
            <a:ext cx="73936"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+335.3%</a:t>
            </a:r>
            <a:endParaRPr lang="en-US" sz="1200" dirty="0"/>
          </a:p>
        </p:txBody>
      </p:sp>
      <p:sp>
        <p:nvSpPr>
          <p:cNvPr id="78" name="Shape 76"/>
          <p:cNvSpPr/>
          <p:nvPr/>
        </p:nvSpPr>
        <p:spPr>
          <a:xfrm>
            <a:off x="5907024" y="4628478"/>
            <a:ext cx="54864" cy="132319"/>
          </a:xfrm>
          <a:prstGeom prst="rect">
            <a:avLst/>
          </a:prstGeom>
          <a:solidFill>
            <a:srgbClr val="12A566"/>
          </a:solidFill>
          <a:ln/>
        </p:spPr>
      </p:sp>
      <p:sp>
        <p:nvSpPr>
          <p:cNvPr id="79" name="Text 77"/>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0" name="Text 78"/>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3579876" y="4866932"/>
            <a:ext cx="62602" cy="102929"/>
          </a:xfrm>
          <a:prstGeom prst="rect">
            <a:avLst/>
          </a:prstGeom>
          <a:solidFill>
            <a:srgbClr val="12A566"/>
          </a:solidFill>
          <a:ln/>
        </p:spPr>
      </p:sp>
      <p:sp>
        <p:nvSpPr>
          <p:cNvPr id="82" name="Text 80"/>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+$155K</a:t>
            </a:r>
            <a:endParaRPr lang="en-US" sz="1200" dirty="0"/>
          </a:p>
        </p:txBody>
      </p:sp>
      <p:sp>
        <p:nvSpPr>
          <p:cNvPr id="83" name="Text 81"/>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+13.2%</a:t>
            </a:r>
            <a:endParaRPr lang="en-US" sz="1200" dirty="0"/>
          </a:p>
        </p:txBody>
      </p:sp>
      <p:sp>
        <p:nvSpPr>
          <p:cNvPr id="84" name="Text 82"/>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5" name="Text 83"/>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6" name="Shape 84"/>
          <p:cNvSpPr/>
          <p:nvPr/>
        </p:nvSpPr>
        <p:spPr>
          <a:xfrm>
            <a:off x="3579876" y="5090691"/>
            <a:ext cx="61490" cy="102929"/>
          </a:xfrm>
          <a:prstGeom prst="rect">
            <a:avLst/>
          </a:prstGeom>
          <a:solidFill>
            <a:srgbClr val="12A566"/>
          </a:solidFill>
          <a:ln/>
        </p:spPr>
      </p:sp>
      <p:sp>
        <p:nvSpPr>
          <p:cNvPr id="87" name="Text 85"/>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+$152K</a:t>
            </a:r>
            <a:endParaRPr lang="en-US" sz="1200" dirty="0"/>
          </a:p>
        </p:txBody>
      </p:sp>
      <p:sp>
        <p:nvSpPr>
          <p:cNvPr id="88" name="Text 86"/>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89" name="Shape 87"/>
          <p:cNvSpPr/>
          <p:nvPr/>
        </p:nvSpPr>
        <p:spPr>
          <a:xfrm>
            <a:off x="612648" y="5263179"/>
            <a:ext cx="5138928" cy="205471"/>
          </a:xfrm>
          <a:prstGeom prst="rect">
            <a:avLst/>
          </a:prstGeom>
          <a:solidFill>
            <a:srgbClr val="E6F6EE"/>
          </a:solidFill>
          <a:ln/>
        </p:spPr>
      </p:sp>
      <p:sp>
        <p:nvSpPr>
          <p:cNvPr id="90" name="Text 88"/>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1" name="Text 89"/>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2" name="Shape 90"/>
          <p:cNvSpPr/>
          <p:nvPr/>
        </p:nvSpPr>
        <p:spPr>
          <a:xfrm>
            <a:off x="3579876" y="5314450"/>
            <a:ext cx="58162" cy="102929"/>
          </a:xfrm>
          <a:prstGeom prst="rect">
            <a:avLst/>
          </a:prstGeom>
          <a:solidFill>
            <a:srgbClr val="12A566"/>
          </a:solidFill>
          <a:ln/>
        </p:spPr>
      </p:sp>
      <p:sp>
        <p:nvSpPr>
          <p:cNvPr id="93" name="Text 91"/>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+$144K</a:t>
            </a:r>
            <a:endParaRPr lang="en-US" sz="1200" dirty="0"/>
          </a:p>
        </p:txBody>
      </p:sp>
      <p:sp>
        <p:nvSpPr>
          <p:cNvPr id="94" name="Text 92"/>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+115.7%</a:t>
            </a:r>
            <a:endParaRPr lang="en-US" sz="1200" dirty="0"/>
          </a:p>
        </p:txBody>
      </p:sp>
      <p:sp>
        <p:nvSpPr>
          <p:cNvPr id="95" name="Text 93"/>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6" name="Text 94"/>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3579876" y="5538209"/>
            <a:ext cx="54233" cy="102929"/>
          </a:xfrm>
          <a:prstGeom prst="rect">
            <a:avLst/>
          </a:prstGeom>
          <a:solidFill>
            <a:srgbClr val="12A566"/>
          </a:solidFill>
          <a:ln/>
        </p:spPr>
      </p:sp>
      <p:sp>
        <p:nvSpPr>
          <p:cNvPr id="98" name="Text 96"/>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+$134K</a:t>
            </a:r>
            <a:endParaRPr lang="en-US" sz="1200" dirty="0"/>
          </a:p>
        </p:txBody>
      </p:sp>
      <p:sp>
        <p:nvSpPr>
          <p:cNvPr id="99" name="Text 97"/>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00" name="Text 98"/>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1" name="Text 99"/>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2" name="Shape 100"/>
          <p:cNvSpPr/>
          <p:nvPr/>
        </p:nvSpPr>
        <p:spPr>
          <a:xfrm>
            <a:off x="3579876" y="5761968"/>
            <a:ext cx="52684" cy="102929"/>
          </a:xfrm>
          <a:prstGeom prst="rect">
            <a:avLst/>
          </a:prstGeom>
          <a:solidFill>
            <a:srgbClr val="12A566"/>
          </a:solidFill>
          <a:ln/>
        </p:spPr>
      </p:sp>
      <p:sp>
        <p:nvSpPr>
          <p:cNvPr id="103" name="Text 101"/>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+$131K</a:t>
            </a:r>
            <a:endParaRPr lang="en-US" sz="1200" dirty="0"/>
          </a:p>
        </p:txBody>
      </p:sp>
      <p:sp>
        <p:nvSpPr>
          <p:cNvPr id="104" name="Text 102"/>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105" name="Text 103"/>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6" name="Text 104"/>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181823"/>
            <a:ext cx="45718" cy="102929"/>
          </a:xfrm>
          <a:prstGeom prst="rect">
            <a:avLst/>
          </a:prstGeom>
          <a:solidFill>
            <a:srgbClr val="12A566"/>
          </a:solidFill>
          <a:ln/>
        </p:spPr>
      </p:sp>
      <p:sp>
        <p:nvSpPr>
          <p:cNvPr id="108" name="Text 106"/>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09" name="Text 107"/>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110" name="Text 108"/>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1" name="Text 109"/>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405582"/>
            <a:ext cx="39446" cy="102929"/>
          </a:xfrm>
          <a:prstGeom prst="rect">
            <a:avLst/>
          </a:prstGeom>
          <a:solidFill>
            <a:srgbClr val="12A566"/>
          </a:solidFill>
          <a:ln/>
        </p:spPr>
      </p:sp>
      <p:sp>
        <p:nvSpPr>
          <p:cNvPr id="113" name="Text 111"/>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+$98K</a:t>
            </a:r>
            <a:endParaRPr lang="en-US" sz="1200" dirty="0"/>
          </a:p>
        </p:txBody>
      </p:sp>
      <p:sp>
        <p:nvSpPr>
          <p:cNvPr id="114" name="Text 112"/>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115" name="Text 11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6" name="Text 11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9130284" y="2629341"/>
            <a:ext cx="38729" cy="102929"/>
          </a:xfrm>
          <a:prstGeom prst="rect">
            <a:avLst/>
          </a:prstGeom>
          <a:solidFill>
            <a:srgbClr val="12A566"/>
          </a:solidFill>
          <a:ln/>
        </p:spPr>
      </p:sp>
      <p:sp>
        <p:nvSpPr>
          <p:cNvPr id="118" name="Text 116"/>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+$96K</a:t>
            </a:r>
            <a:endParaRPr lang="en-US" sz="1200" dirty="0"/>
          </a:p>
        </p:txBody>
      </p:sp>
      <p:sp>
        <p:nvSpPr>
          <p:cNvPr id="119" name="Text 117"/>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+41.3%</a:t>
            </a:r>
            <a:endParaRPr lang="en-US" sz="1200" dirty="0"/>
          </a:p>
        </p:txBody>
      </p:sp>
      <p:sp>
        <p:nvSpPr>
          <p:cNvPr id="120" name="Text 118"/>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1" name="Text 119"/>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2" name="Shape 120"/>
          <p:cNvSpPr/>
          <p:nvPr/>
        </p:nvSpPr>
        <p:spPr>
          <a:xfrm>
            <a:off x="9130284" y="2853100"/>
            <a:ext cx="21715" cy="102929"/>
          </a:xfrm>
          <a:prstGeom prst="rect">
            <a:avLst/>
          </a:prstGeom>
          <a:solidFill>
            <a:srgbClr val="12A566"/>
          </a:solidFill>
          <a:ln/>
        </p:spPr>
      </p:sp>
      <p:sp>
        <p:nvSpPr>
          <p:cNvPr id="123" name="Text 121"/>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+$54K</a:t>
            </a:r>
            <a:endParaRPr lang="en-US" sz="1200" dirty="0"/>
          </a:p>
        </p:txBody>
      </p:sp>
      <p:sp>
        <p:nvSpPr>
          <p:cNvPr id="124" name="Text 122"/>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a:t>
            </a:r>
            <a:endParaRPr lang="en-US" sz="1200" dirty="0"/>
          </a:p>
        </p:txBody>
      </p:sp>
      <p:sp>
        <p:nvSpPr>
          <p:cNvPr id="125" name="Text 123"/>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6" name="Text 124"/>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7" name="Shape 125"/>
          <p:cNvSpPr/>
          <p:nvPr/>
        </p:nvSpPr>
        <p:spPr>
          <a:xfrm>
            <a:off x="9130284" y="3076859"/>
            <a:ext cx="21414" cy="102929"/>
          </a:xfrm>
          <a:prstGeom prst="rect">
            <a:avLst/>
          </a:prstGeom>
          <a:solidFill>
            <a:srgbClr val="12A566"/>
          </a:solidFill>
          <a:ln/>
        </p:spPr>
      </p:sp>
      <p:sp>
        <p:nvSpPr>
          <p:cNvPr id="128" name="Text 126"/>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+$53K</a:t>
            </a:r>
            <a:endParaRPr lang="en-US" sz="1200" dirty="0"/>
          </a:p>
        </p:txBody>
      </p:sp>
      <p:sp>
        <p:nvSpPr>
          <p:cNvPr id="129" name="Text 127"/>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+200.6%</a:t>
            </a:r>
            <a:endParaRPr lang="en-US" sz="1200" dirty="0"/>
          </a:p>
        </p:txBody>
      </p:sp>
      <p:sp>
        <p:nvSpPr>
          <p:cNvPr id="130" name="Shape 128"/>
          <p:cNvSpPr/>
          <p:nvPr/>
        </p:nvSpPr>
        <p:spPr>
          <a:xfrm>
            <a:off x="11457432" y="3062164"/>
            <a:ext cx="54864" cy="132319"/>
          </a:xfrm>
          <a:prstGeom prst="rect">
            <a:avLst/>
          </a:prstGeom>
          <a:solidFill>
            <a:srgbClr val="12A566"/>
          </a:solidFill>
          <a:ln/>
        </p:spPr>
      </p:sp>
      <p:sp>
        <p:nvSpPr>
          <p:cNvPr id="131" name="Text 12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3" name="Shape 131"/>
          <p:cNvSpPr/>
          <p:nvPr/>
        </p:nvSpPr>
        <p:spPr>
          <a:xfrm>
            <a:off x="9130284" y="3300618"/>
            <a:ext cx="12802" cy="102929"/>
          </a:xfrm>
          <a:prstGeom prst="rect">
            <a:avLst/>
          </a:prstGeom>
          <a:solidFill>
            <a:srgbClr val="12A566"/>
          </a:solidFill>
          <a:ln/>
        </p:spPr>
      </p:sp>
      <p:sp>
        <p:nvSpPr>
          <p:cNvPr id="134" name="Text 132"/>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+$6K</a:t>
            </a:r>
            <a:endParaRPr lang="en-US" sz="1200" dirty="0"/>
          </a:p>
        </p:txBody>
      </p:sp>
      <p:sp>
        <p:nvSpPr>
          <p:cNvPr id="135" name="Text 133"/>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36" name="Text 13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8" name="Shape 136"/>
          <p:cNvSpPr/>
          <p:nvPr/>
        </p:nvSpPr>
        <p:spPr>
          <a:xfrm>
            <a:off x="9130284" y="3524377"/>
            <a:ext cx="12802" cy="102929"/>
          </a:xfrm>
          <a:prstGeom prst="rect">
            <a:avLst/>
          </a:prstGeom>
          <a:solidFill>
            <a:srgbClr val="12A566"/>
          </a:solidFill>
          <a:ln/>
        </p:spPr>
      </p:sp>
      <p:sp>
        <p:nvSpPr>
          <p:cNvPr id="139" name="Text 137"/>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+$3K</a:t>
            </a:r>
            <a:endParaRPr lang="en-US" sz="1200" dirty="0"/>
          </a:p>
        </p:txBody>
      </p:sp>
      <p:sp>
        <p:nvSpPr>
          <p:cNvPr id="140" name="Text 138"/>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41" name="Text 13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3" name="Shape 141"/>
          <p:cNvSpPr/>
          <p:nvPr/>
        </p:nvSpPr>
        <p:spPr>
          <a:xfrm>
            <a:off x="9099640" y="3748136"/>
            <a:ext cx="30644" cy="102929"/>
          </a:xfrm>
          <a:prstGeom prst="rect">
            <a:avLst/>
          </a:prstGeom>
          <a:solidFill>
            <a:srgbClr val="C2352F"/>
          </a:solidFill>
          <a:ln/>
        </p:spPr>
      </p:sp>
      <p:sp>
        <p:nvSpPr>
          <p:cNvPr id="144" name="Text 142"/>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−$76K</a:t>
            </a:r>
            <a:endParaRPr lang="en-US" sz="1200" dirty="0"/>
          </a:p>
        </p:txBody>
      </p:sp>
      <p:sp>
        <p:nvSpPr>
          <p:cNvPr id="145" name="Text 143"/>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46" name="Text 14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8" name="Shape 146"/>
          <p:cNvSpPr/>
          <p:nvPr/>
        </p:nvSpPr>
        <p:spPr>
          <a:xfrm>
            <a:off x="9095358" y="3971895"/>
            <a:ext cx="34926" cy="102929"/>
          </a:xfrm>
          <a:prstGeom prst="rect">
            <a:avLst/>
          </a:prstGeom>
          <a:solidFill>
            <a:srgbClr val="C2352F"/>
          </a:solidFill>
          <a:ln/>
        </p:spPr>
      </p:sp>
      <p:sp>
        <p:nvSpPr>
          <p:cNvPr id="149" name="Text 147"/>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−$87K</a:t>
            </a:r>
            <a:endParaRPr lang="en-US" sz="1200" dirty="0"/>
          </a:p>
        </p:txBody>
      </p:sp>
      <p:sp>
        <p:nvSpPr>
          <p:cNvPr id="150" name="Text 148"/>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a:t>
            </a:r>
            <a:endParaRPr lang="en-US" sz="1200" dirty="0"/>
          </a:p>
        </p:txBody>
      </p:sp>
      <p:sp>
        <p:nvSpPr>
          <p:cNvPr id="151" name="Text 14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9091461" y="4195654"/>
            <a:ext cx="38823" cy="102929"/>
          </a:xfrm>
          <a:prstGeom prst="rect">
            <a:avLst/>
          </a:prstGeom>
          <a:solidFill>
            <a:srgbClr val="C2352F"/>
          </a:solidFill>
          <a:ln/>
        </p:spPr>
      </p:sp>
      <p:sp>
        <p:nvSpPr>
          <p:cNvPr id="154" name="Text 152"/>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−$96K</a:t>
            </a:r>
            <a:endParaRPr lang="en-US" sz="1200" dirty="0"/>
          </a:p>
        </p:txBody>
      </p:sp>
      <p:sp>
        <p:nvSpPr>
          <p:cNvPr id="155" name="Text 153"/>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−47.1%</a:t>
            </a:r>
            <a:endParaRPr lang="en-US" sz="1200" dirty="0"/>
          </a:p>
        </p:txBody>
      </p:sp>
      <p:sp>
        <p:nvSpPr>
          <p:cNvPr id="156" name="Shape 154"/>
          <p:cNvSpPr/>
          <p:nvPr/>
        </p:nvSpPr>
        <p:spPr>
          <a:xfrm>
            <a:off x="11457432" y="4180960"/>
            <a:ext cx="54864" cy="132319"/>
          </a:xfrm>
          <a:prstGeom prst="rect">
            <a:avLst/>
          </a:prstGeom>
          <a:solidFill>
            <a:srgbClr val="C2352F"/>
          </a:solidFill>
          <a:ln/>
        </p:spPr>
      </p:sp>
      <p:sp>
        <p:nvSpPr>
          <p:cNvPr id="157" name="Text 155"/>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8" name="Text 156"/>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9" name="Shape 157"/>
          <p:cNvSpPr/>
          <p:nvPr/>
        </p:nvSpPr>
        <p:spPr>
          <a:xfrm>
            <a:off x="9071103" y="4419414"/>
            <a:ext cx="59181" cy="102929"/>
          </a:xfrm>
          <a:prstGeom prst="rect">
            <a:avLst/>
          </a:prstGeom>
          <a:solidFill>
            <a:srgbClr val="C2352F"/>
          </a:solidFill>
          <a:ln/>
        </p:spPr>
      </p:sp>
      <p:sp>
        <p:nvSpPr>
          <p:cNvPr id="160" name="Text 158"/>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−$147K</a:t>
            </a:r>
            <a:endParaRPr lang="en-US" sz="1200" dirty="0"/>
          </a:p>
        </p:txBody>
      </p:sp>
      <p:sp>
        <p:nvSpPr>
          <p:cNvPr id="161" name="Text 159"/>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62" name="Text 160"/>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3" name="Text 161"/>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9058567" y="4643173"/>
            <a:ext cx="71717" cy="102929"/>
          </a:xfrm>
          <a:prstGeom prst="rect">
            <a:avLst/>
          </a:prstGeom>
          <a:solidFill>
            <a:srgbClr val="C2352F"/>
          </a:solidFill>
          <a:ln/>
        </p:spPr>
      </p:sp>
      <p:sp>
        <p:nvSpPr>
          <p:cNvPr id="165" name="Text 163"/>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−$178K</a:t>
            </a:r>
            <a:endParaRPr lang="en-US" sz="1200" dirty="0"/>
          </a:p>
        </p:txBody>
      </p:sp>
      <p:sp>
        <p:nvSpPr>
          <p:cNvPr id="166" name="Text 164"/>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67" name="Shape 165"/>
          <p:cNvSpPr/>
          <p:nvPr/>
        </p:nvSpPr>
        <p:spPr>
          <a:xfrm>
            <a:off x="6163056" y="4815661"/>
            <a:ext cx="5138928" cy="205471"/>
          </a:xfrm>
          <a:prstGeom prst="rect">
            <a:avLst/>
          </a:prstGeom>
          <a:solidFill>
            <a:srgbClr val="FBEBEA"/>
          </a:solidFill>
          <a:ln/>
        </p:spPr>
      </p:sp>
      <p:sp>
        <p:nvSpPr>
          <p:cNvPr id="168" name="Text 166"/>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9" name="Text 167"/>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0" name="Shape 168"/>
          <p:cNvSpPr/>
          <p:nvPr/>
        </p:nvSpPr>
        <p:spPr>
          <a:xfrm>
            <a:off x="9044670" y="4866932"/>
            <a:ext cx="85614" cy="102929"/>
          </a:xfrm>
          <a:prstGeom prst="rect">
            <a:avLst/>
          </a:prstGeom>
          <a:solidFill>
            <a:srgbClr val="C2352F"/>
          </a:solidFill>
          <a:ln/>
        </p:spPr>
      </p:sp>
      <p:sp>
        <p:nvSpPr>
          <p:cNvPr id="171" name="Text 169"/>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−$212K</a:t>
            </a:r>
            <a:endParaRPr lang="en-US" sz="1200" dirty="0"/>
          </a:p>
        </p:txBody>
      </p:sp>
      <p:sp>
        <p:nvSpPr>
          <p:cNvPr id="172" name="Text 170"/>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−138.2%</a:t>
            </a:r>
            <a:endParaRPr lang="en-US" sz="1200" dirty="0"/>
          </a:p>
        </p:txBody>
      </p:sp>
      <p:sp>
        <p:nvSpPr>
          <p:cNvPr id="173" name="Shape 171"/>
          <p:cNvSpPr/>
          <p:nvPr/>
        </p:nvSpPr>
        <p:spPr>
          <a:xfrm>
            <a:off x="11457432" y="4852237"/>
            <a:ext cx="54864" cy="132319"/>
          </a:xfrm>
          <a:prstGeom prst="rect">
            <a:avLst/>
          </a:prstGeom>
          <a:solidFill>
            <a:srgbClr val="C2352F"/>
          </a:solidFill>
          <a:ln/>
        </p:spPr>
      </p:sp>
      <p:sp>
        <p:nvSpPr>
          <p:cNvPr id="174" name="Text 172"/>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5" name="Text 173"/>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6" name="Shape 174"/>
          <p:cNvSpPr/>
          <p:nvPr/>
        </p:nvSpPr>
        <p:spPr>
          <a:xfrm>
            <a:off x="9022168" y="5090691"/>
            <a:ext cx="108116" cy="102929"/>
          </a:xfrm>
          <a:prstGeom prst="rect">
            <a:avLst/>
          </a:prstGeom>
          <a:solidFill>
            <a:srgbClr val="C2352F"/>
          </a:solidFill>
          <a:ln/>
        </p:spPr>
      </p:sp>
      <p:sp>
        <p:nvSpPr>
          <p:cNvPr id="177" name="Text 175"/>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−$268K</a:t>
            </a:r>
            <a:endParaRPr lang="en-US" sz="1200" dirty="0"/>
          </a:p>
        </p:txBody>
      </p:sp>
      <p:sp>
        <p:nvSpPr>
          <p:cNvPr id="178" name="Text 176"/>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−27.7%</a:t>
            </a:r>
            <a:endParaRPr lang="en-US" sz="1200" dirty="0"/>
          </a:p>
        </p:txBody>
      </p:sp>
      <p:sp>
        <p:nvSpPr>
          <p:cNvPr id="179" name="Text 177"/>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80" name="Text 178"/>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1" name="Shape 179"/>
          <p:cNvSpPr/>
          <p:nvPr/>
        </p:nvSpPr>
        <p:spPr>
          <a:xfrm>
            <a:off x="8945616" y="5314450"/>
            <a:ext cx="184668" cy="102929"/>
          </a:xfrm>
          <a:prstGeom prst="rect">
            <a:avLst/>
          </a:prstGeom>
          <a:solidFill>
            <a:srgbClr val="C2352F"/>
          </a:solidFill>
          <a:ln/>
        </p:spPr>
      </p:sp>
      <p:sp>
        <p:nvSpPr>
          <p:cNvPr id="182" name="Text 180"/>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−$457K</a:t>
            </a:r>
            <a:endParaRPr lang="en-US" sz="1200" dirty="0"/>
          </a:p>
        </p:txBody>
      </p:sp>
      <p:sp>
        <p:nvSpPr>
          <p:cNvPr id="183" name="Text 181"/>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−29.6%</a:t>
            </a:r>
            <a:endParaRPr lang="en-US" sz="1200" dirty="0"/>
          </a:p>
        </p:txBody>
      </p:sp>
      <p:sp>
        <p:nvSpPr>
          <p:cNvPr id="184" name="Shape 182"/>
          <p:cNvSpPr/>
          <p:nvPr/>
        </p:nvSpPr>
        <p:spPr>
          <a:xfrm>
            <a:off x="11457432" y="5299755"/>
            <a:ext cx="54864" cy="132319"/>
          </a:xfrm>
          <a:prstGeom prst="rect">
            <a:avLst/>
          </a:prstGeom>
          <a:solidFill>
            <a:srgbClr val="C2352F"/>
          </a:solidFill>
          <a:ln/>
        </p:spPr>
      </p:sp>
      <p:sp>
        <p:nvSpPr>
          <p:cNvPr id="185" name="Text 18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6" name="Text 18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7" name="Shape 185"/>
          <p:cNvSpPr/>
          <p:nvPr/>
        </p:nvSpPr>
        <p:spPr>
          <a:xfrm>
            <a:off x="8870602" y="5538209"/>
            <a:ext cx="259682" cy="102929"/>
          </a:xfrm>
          <a:prstGeom prst="rect">
            <a:avLst/>
          </a:prstGeom>
          <a:solidFill>
            <a:srgbClr val="C2352F"/>
          </a:solidFill>
          <a:ln/>
        </p:spPr>
      </p:sp>
      <p:sp>
        <p:nvSpPr>
          <p:cNvPr id="188" name="Text 18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−$643K</a:t>
            </a:r>
            <a:endParaRPr lang="en-US" sz="1200" dirty="0"/>
          </a:p>
        </p:txBody>
      </p:sp>
      <p:sp>
        <p:nvSpPr>
          <p:cNvPr id="189" name="Text 18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90" name="Shape 188"/>
          <p:cNvSpPr/>
          <p:nvPr/>
        </p:nvSpPr>
        <p:spPr>
          <a:xfrm>
            <a:off x="3574390" y="2121408"/>
            <a:ext cx="10973" cy="3803904"/>
          </a:xfrm>
          <a:prstGeom prst="rect">
            <a:avLst/>
          </a:prstGeom>
          <a:solidFill>
            <a:srgbClr val="9AA3AD"/>
          </a:solidFill>
          <a:ln/>
        </p:spPr>
      </p:sp>
      <p:sp>
        <p:nvSpPr>
          <p:cNvPr id="191" name="Shape 189"/>
          <p:cNvSpPr/>
          <p:nvPr/>
        </p:nvSpPr>
        <p:spPr>
          <a:xfrm>
            <a:off x="9124798" y="2121408"/>
            <a:ext cx="10973" cy="3803904"/>
          </a:xfrm>
          <a:prstGeom prst="rect">
            <a:avLst/>
          </a:prstGeom>
          <a:solidFill>
            <a:srgbClr val="9AA3AD"/>
          </a:solidFill>
          <a:ln/>
        </p:spPr>
      </p:sp>
      <p:sp>
        <p:nvSpPr>
          <p:cNvPr id="192" name="Shape 190"/>
          <p:cNvSpPr/>
          <p:nvPr/>
        </p:nvSpPr>
        <p:spPr>
          <a:xfrm>
            <a:off x="6085332" y="2121408"/>
            <a:ext cx="10973" cy="3803904"/>
          </a:xfrm>
          <a:prstGeom prst="rect">
            <a:avLst/>
          </a:prstGeom>
          <a:solidFill>
            <a:srgbClr val="D9D9D9"/>
          </a:solidFill>
          <a:ln/>
        </p:spPr>
      </p:sp>
      <p:sp>
        <p:nvSpPr>
          <p:cNvPr id="193" name="Shape 191"/>
          <p:cNvSpPr/>
          <p:nvPr/>
        </p:nvSpPr>
        <p:spPr>
          <a:xfrm>
            <a:off x="457200" y="6126480"/>
            <a:ext cx="11274552" cy="615696"/>
          </a:xfrm>
          <a:prstGeom prst="rect">
            <a:avLst/>
          </a:prstGeom>
          <a:solidFill>
            <a:srgbClr val="EDF4FA"/>
          </a:solidFill>
          <a:ln/>
        </p:spPr>
      </p:sp>
      <p:sp>
        <p:nvSpPr>
          <p:cNvPr id="194" name="Text 19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Lincoln, Subaru Prescott and GMC Prescott turned a 2025 loss into a profit (green rows); VW St George went from a profit to a loss (red row). 24 of 33 stores grew.</a:t>
            </a:r>
            <a:endParaRPr lang="en-US" sz="16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$7.83M</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+$1.42M</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$4.94M</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+$838K</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$2.60M</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+$766K</a:t>
            </a:r>
            <a:endParaRPr lang="en-US" sz="1600" dirty="0"/>
          </a:p>
        </p:txBody>
      </p:sp>
      <p:sp>
        <p:nvSpPr>
          <p:cNvPr id="21" name="Shape 19"/>
          <p:cNvSpPr/>
          <p:nvPr/>
        </p:nvSpPr>
        <p:spPr>
          <a:xfrm>
            <a:off x="4084320" y="4405579"/>
            <a:ext cx="64008" cy="682142"/>
          </a:xfrm>
          <a:prstGeom prst="rect">
            <a:avLst/>
          </a:prstGeom>
          <a:solidFill>
            <a:srgbClr val="12A566"/>
          </a:solidFill>
          <a:ln/>
        </p:spPr>
      </p:sp>
      <p:sp>
        <p:nvSpPr>
          <p:cNvPr id="22" name="Text 20"/>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$5.39M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$6.08M</a:t>
            </a:r>
            <a:endParaRPr lang="en-US" sz="1400" dirty="0"/>
          </a:p>
        </p:txBody>
      </p:sp>
      <p:sp>
        <p:nvSpPr>
          <p:cNvPr id="24" name="Text 22"/>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+$692K</a:t>
            </a:r>
            <a:endParaRPr lang="en-US" sz="1600" dirty="0"/>
          </a:p>
        </p:txBody>
      </p:sp>
      <p:sp>
        <p:nvSpPr>
          <p:cNvPr id="25" name="Shape 23"/>
          <p:cNvSpPr/>
          <p:nvPr/>
        </p:nvSpPr>
        <p:spPr>
          <a:xfrm>
            <a:off x="658368" y="5124298"/>
            <a:ext cx="3489960" cy="755294"/>
          </a:xfrm>
          <a:prstGeom prst="rect">
            <a:avLst/>
          </a:prstGeom>
          <a:solidFill>
            <a:srgbClr val="F7F7F7"/>
          </a:solidFill>
          <a:ln/>
        </p:spPr>
      </p:sp>
      <p:sp>
        <p:nvSpPr>
          <p:cNvPr id="26" name="Text 24"/>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$94K</a:t>
            </a:r>
            <a:endParaRPr lang="en-US" sz="1400" dirty="0"/>
          </a:p>
        </p:txBody>
      </p:sp>
      <p:sp>
        <p:nvSpPr>
          <p:cNvPr id="28" name="Text 26"/>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+$484K</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755294"/>
          </a:xfrm>
          <a:prstGeom prst="rect">
            <a:avLst/>
          </a:prstGeom>
          <a:solidFill>
            <a:srgbClr val="F7F7F7"/>
          </a:solidFill>
          <a:ln/>
        </p:spPr>
      </p:sp>
      <p:sp>
        <p:nvSpPr>
          <p:cNvPr id="33" name="Text 31"/>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$2.27M</a:t>
            </a:r>
            <a:endParaRPr lang="en-US" sz="1400" dirty="0"/>
          </a:p>
        </p:txBody>
      </p:sp>
      <p:sp>
        <p:nvSpPr>
          <p:cNvPr id="35" name="Text 33"/>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−$643K</a:t>
            </a:r>
            <a:endParaRPr lang="en-US" sz="1600" dirty="0"/>
          </a:p>
        </p:txBody>
      </p:sp>
      <p:sp>
        <p:nvSpPr>
          <p:cNvPr id="36" name="Text 34"/>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$1.09M</a:t>
            </a:r>
            <a:endParaRPr lang="en-US" sz="1400" dirty="0"/>
          </a:p>
        </p:txBody>
      </p:sp>
      <p:sp>
        <p:nvSpPr>
          <p:cNvPr id="38" name="Text 36"/>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−$457K</a:t>
            </a:r>
            <a:endParaRPr lang="en-US" sz="1600" dirty="0"/>
          </a:p>
        </p:txBody>
      </p:sp>
      <p:sp>
        <p:nvSpPr>
          <p:cNvPr id="39" name="Shape 37"/>
          <p:cNvSpPr/>
          <p:nvPr/>
        </p:nvSpPr>
        <p:spPr>
          <a:xfrm>
            <a:off x="4349496" y="3613709"/>
            <a:ext cx="3489960" cy="755294"/>
          </a:xfrm>
          <a:prstGeom prst="rect">
            <a:avLst/>
          </a:prstGeom>
          <a:solidFill>
            <a:srgbClr val="F7F7F7"/>
          </a:solidFill>
          <a:ln/>
        </p:spPr>
      </p:sp>
      <p:sp>
        <p:nvSpPr>
          <p:cNvPr id="40" name="Text 38"/>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$699K</a:t>
            </a:r>
            <a:endParaRPr lang="en-US" sz="1400" dirty="0"/>
          </a:p>
        </p:txBody>
      </p:sp>
      <p:sp>
        <p:nvSpPr>
          <p:cNvPr id="42" name="Text 40"/>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−$268K</a:t>
            </a:r>
            <a:endParaRPr lang="en-US" sz="1600" dirty="0"/>
          </a:p>
        </p:txBody>
      </p:sp>
      <p:sp>
        <p:nvSpPr>
          <p:cNvPr id="43" name="Text 41"/>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−$59K</a:t>
            </a:r>
            <a:endParaRPr lang="en-US" sz="1400" dirty="0"/>
          </a:p>
        </p:txBody>
      </p:sp>
      <p:sp>
        <p:nvSpPr>
          <p:cNvPr id="45" name="Text 43"/>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−$212K</a:t>
            </a:r>
            <a:endParaRPr lang="en-US" sz="1600" dirty="0"/>
          </a:p>
        </p:txBody>
      </p:sp>
      <p:sp>
        <p:nvSpPr>
          <p:cNvPr id="46" name="Shape 44"/>
          <p:cNvSpPr/>
          <p:nvPr/>
        </p:nvSpPr>
        <p:spPr>
          <a:xfrm>
            <a:off x="4349496" y="5124298"/>
            <a:ext cx="3489960" cy="755294"/>
          </a:xfrm>
          <a:prstGeom prst="rect">
            <a:avLst/>
          </a:prstGeom>
          <a:solidFill>
            <a:srgbClr val="F7F7F7"/>
          </a:solidFill>
          <a:ln/>
        </p:spPr>
      </p:sp>
      <p:sp>
        <p:nvSpPr>
          <p:cNvPr id="47" name="Text 45"/>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$1.82M</a:t>
            </a:r>
            <a:endParaRPr lang="en-US" sz="1400" dirty="0"/>
          </a:p>
        </p:txBody>
      </p:sp>
      <p:sp>
        <p:nvSpPr>
          <p:cNvPr id="49" name="Text 47"/>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−$178K</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755294"/>
          </a:xfrm>
          <a:prstGeom prst="rect">
            <a:avLst/>
          </a:prstGeom>
          <a:solidFill>
            <a:srgbClr val="F7F7F7"/>
          </a:solidFill>
          <a:ln/>
        </p:spPr>
      </p:sp>
      <p:sp>
        <p:nvSpPr>
          <p:cNvPr id="54" name="Shape 52"/>
          <p:cNvSpPr/>
          <p:nvPr/>
        </p:nvSpPr>
        <p:spPr>
          <a:xfrm>
            <a:off x="11466576" y="2139696"/>
            <a:ext cx="64008" cy="682142"/>
          </a:xfrm>
          <a:prstGeom prst="rect">
            <a:avLst/>
          </a:prstGeom>
          <a:solidFill>
            <a:srgbClr val="12A566"/>
          </a:solidFill>
          <a:ln/>
        </p:spPr>
      </p:sp>
      <p:sp>
        <p:nvSpPr>
          <p:cNvPr id="55" name="Text 53"/>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$586K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$725K</a:t>
            </a:r>
            <a:endParaRPr lang="en-US" sz="1400" dirty="0"/>
          </a:p>
        </p:txBody>
      </p:sp>
      <p:sp>
        <p:nvSpPr>
          <p:cNvPr id="57" name="Text 55"/>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+$139K</a:t>
            </a:r>
            <a:endParaRPr lang="en-US" sz="1600" dirty="0"/>
          </a:p>
        </p:txBody>
      </p:sp>
      <p:sp>
        <p:nvSpPr>
          <p:cNvPr id="58" name="Shape 56"/>
          <p:cNvSpPr/>
          <p:nvPr/>
        </p:nvSpPr>
        <p:spPr>
          <a:xfrm>
            <a:off x="11466576" y="2894990"/>
            <a:ext cx="64008" cy="682142"/>
          </a:xfrm>
          <a:prstGeom prst="rect">
            <a:avLst/>
          </a:prstGeom>
          <a:solidFill>
            <a:srgbClr val="12A566"/>
          </a:solidFill>
          <a:ln/>
        </p:spPr>
      </p:sp>
      <p:sp>
        <p:nvSpPr>
          <p:cNvPr id="59" name="Text 57"/>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$934K</a:t>
            </a:r>
            <a:endParaRPr lang="en-US" sz="1400" dirty="0"/>
          </a:p>
        </p:txBody>
      </p:sp>
      <p:sp>
        <p:nvSpPr>
          <p:cNvPr id="61" name="Text 59"/>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+$138K</a:t>
            </a:r>
            <a:endParaRPr lang="en-US" sz="1600" dirty="0"/>
          </a:p>
        </p:txBody>
      </p:sp>
      <p:sp>
        <p:nvSpPr>
          <p:cNvPr id="62" name="Shape 60"/>
          <p:cNvSpPr/>
          <p:nvPr/>
        </p:nvSpPr>
        <p:spPr>
          <a:xfrm>
            <a:off x="8040624" y="3613709"/>
            <a:ext cx="3489960" cy="755294"/>
          </a:xfrm>
          <a:prstGeom prst="rect">
            <a:avLst/>
          </a:prstGeom>
          <a:solidFill>
            <a:srgbClr val="F7F7F7"/>
          </a:solidFill>
          <a:ln/>
        </p:spPr>
      </p:sp>
      <p:sp>
        <p:nvSpPr>
          <p:cNvPr id="63" name="Text 6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$294K</a:t>
            </a:r>
            <a:endParaRPr lang="en-US" sz="1400" dirty="0"/>
          </a:p>
        </p:txBody>
      </p:sp>
      <p:sp>
        <p:nvSpPr>
          <p:cNvPr id="65" name="Text 63"/>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+$113K</a:t>
            </a:r>
            <a:endParaRPr lang="en-US" sz="1600" dirty="0"/>
          </a:p>
        </p:txBody>
      </p:sp>
      <p:sp>
        <p:nvSpPr>
          <p:cNvPr id="66" name="Text 64"/>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$408K</a:t>
            </a:r>
            <a:endParaRPr lang="en-US" sz="1400" dirty="0"/>
          </a:p>
        </p:txBody>
      </p:sp>
      <p:sp>
        <p:nvSpPr>
          <p:cNvPr id="68" name="Text 66"/>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+$92K</a:t>
            </a:r>
            <a:endParaRPr lang="en-US" sz="1600" dirty="0"/>
          </a:p>
        </p:txBody>
      </p:sp>
      <p:sp>
        <p:nvSpPr>
          <p:cNvPr id="69" name="Shape 67"/>
          <p:cNvSpPr/>
          <p:nvPr/>
        </p:nvSpPr>
        <p:spPr>
          <a:xfrm>
            <a:off x="8040624" y="5124298"/>
            <a:ext cx="3489960" cy="755294"/>
          </a:xfrm>
          <a:prstGeom prst="rect">
            <a:avLst/>
          </a:prstGeom>
          <a:solidFill>
            <a:srgbClr val="F7F7F7"/>
          </a:solidFill>
          <a:ln/>
        </p:spPr>
      </p:sp>
      <p:sp>
        <p:nvSpPr>
          <p:cNvPr id="70" name="Text 6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$155K</a:t>
            </a:r>
            <a:endParaRPr lang="en-US" sz="1400" dirty="0"/>
          </a:p>
        </p:txBody>
      </p:sp>
      <p:sp>
        <p:nvSpPr>
          <p:cNvPr id="72" name="Text 70"/>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+$84K</a:t>
            </a:r>
            <a:endParaRPr lang="en-US" sz="1600" dirty="0"/>
          </a:p>
        </p:txBody>
      </p:sp>
      <p:sp>
        <p:nvSpPr>
          <p:cNvPr id="73" name="Shape 71"/>
          <p:cNvSpPr/>
          <p:nvPr/>
        </p:nvSpPr>
        <p:spPr>
          <a:xfrm>
            <a:off x="457200" y="6126480"/>
            <a:ext cx="11274552" cy="585216"/>
          </a:xfrm>
          <a:prstGeom prst="rect">
            <a:avLst/>
          </a:prstGeom>
          <a:solidFill>
            <a:srgbClr val="EDF4FA"/>
          </a:solidFill>
          <a:ln/>
        </p:spPr>
      </p:sp>
      <p:sp>
        <p:nvSpPr>
          <p:cNvPr id="74" name="Text 72"/>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Toyota Henderson, Audi Henderson and Cadillac what changed. Ask Chevy LV, VW Henderson and Toyota Spokane what got in the way. Ask Honda Henderson, Toyota Henderson and Chevy LV what they started this year.</a:t>
            </a:r>
            <a:endParaRPr lang="en-US" sz="15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 Record Year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STORES WITH AN ALL-TIME RECORD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23</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33 set their best month ever in service, parts or combined during 2026.</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RECORDS SET</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98</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all-time monthly records across those stores: service, parts and combined counted separately.</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BEST JANUARY–SEPTEMBER EVER</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25</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had their best January–September ever in combined fixed gross.</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SET A RECORD, THEN RESET IT</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16</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set a record and then topped it again later in the year.</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Most records set this year: Honda Spokane 9, Nissan 9, Toyota Henderson 8, Honda Henderson 7 and Subaru St George 7.</a:t>
            </a:r>
            <a:endParaRPr lang="en-US" sz="1700" dirty="0"/>
          </a:p>
        </p:txBody>
      </p:sp>
      <p:sp>
        <p:nvSpPr>
          <p:cNvPr id="27" name="Shape 25"/>
          <p:cNvSpPr/>
          <p:nvPr/>
        </p:nvSpPr>
        <p:spPr>
          <a:xfrm>
            <a:off x="457200" y="6126480"/>
            <a:ext cx="11274552" cy="348996"/>
          </a:xfrm>
          <a:prstGeom prst="rect">
            <a:avLst/>
          </a:prstGeom>
          <a:solidFill>
            <a:srgbClr val="E6F6EE"/>
          </a:solidFill>
          <a:ln/>
        </p:spPr>
      </p:sp>
      <p:sp>
        <p:nvSpPr>
          <p:cNvPr id="28" name="Text 2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Jul alone brought 11 combined store records. Every one of these stores can tell the room what they changed.</a:t>
            </a:r>
            <a:endParaRPr lang="en-US" sz="145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0266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Total</a:t>
            </a:r>
            <a:endParaRPr lang="en-US" sz="1400" dirty="0"/>
          </a:p>
        </p:txBody>
      </p:sp>
      <p:sp>
        <p:nvSpPr>
          <p:cNvPr id="7" name="Text 5"/>
          <p:cNvSpPr txBox="1"/>
          <p:nvPr/>
        </p:nvSpPr>
        <p:spPr>
          <a:xfrm>
            <a:off x="3813048"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8" name="Text 6"/>
          <p:cNvSpPr txBox="1"/>
          <p:nvPr/>
        </p:nvSpPr>
        <p:spPr>
          <a:xfrm>
            <a:off x="4471416" y="1316736"/>
            <a:ext cx="71323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Comb.</a:t>
            </a:r>
            <a:endParaRPr lang="en-US" sz="1400" dirty="0"/>
          </a:p>
        </p:txBody>
      </p:sp>
      <p:sp>
        <p:nvSpPr>
          <p:cNvPr id="10" name="Text 8"/>
          <p:cNvSpPr txBox="1"/>
          <p:nvPr/>
        </p:nvSpPr>
        <p:spPr>
          <a:xfrm>
            <a:off x="85770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Total</a:t>
            </a:r>
            <a:endParaRPr lang="en-US" sz="1400" dirty="0"/>
          </a:p>
        </p:txBody>
      </p:sp>
      <p:sp>
        <p:nvSpPr>
          <p:cNvPr id="11" name="Text 9"/>
          <p:cNvSpPr txBox="1"/>
          <p:nvPr/>
        </p:nvSpPr>
        <p:spPr>
          <a:xfrm>
            <a:off x="9363456"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2" name="Text 10"/>
          <p:cNvSpPr txBox="1"/>
          <p:nvPr/>
        </p:nvSpPr>
        <p:spPr>
          <a:xfrm>
            <a:off x="10021824" y="1316736"/>
            <a:ext cx="71323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3" name="Text 11"/>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Comb.</a:t>
            </a:r>
            <a:endParaRPr lang="en-US" sz="1400" dirty="0"/>
          </a:p>
        </p:txBody>
      </p:sp>
      <p:sp>
        <p:nvSpPr>
          <p:cNvPr id="14" name="Text 12"/>
          <p:cNvSpPr txBox="1"/>
          <p:nvPr/>
        </p:nvSpPr>
        <p:spPr>
          <a:xfrm>
            <a:off x="658368" y="170078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 name="Shape 14"/>
          <p:cNvSpPr/>
          <p:nvPr/>
        </p:nvSpPr>
        <p:spPr>
          <a:xfrm>
            <a:off x="2871216" y="1779994"/>
            <a:ext cx="100584" cy="193624"/>
          </a:xfrm>
          <a:prstGeom prst="rect">
            <a:avLst/>
          </a:prstGeom>
          <a:solidFill>
            <a:srgbClr val="12A566"/>
          </a:solidFill>
          <a:ln/>
        </p:spPr>
      </p:sp>
      <p:sp>
        <p:nvSpPr>
          <p:cNvPr id="17" name="Text 15"/>
          <p:cNvSpPr txBox="1"/>
          <p:nvPr/>
        </p:nvSpPr>
        <p:spPr>
          <a:xfrm>
            <a:off x="3026664" y="170078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a:t>
            </a:r>
            <a:endParaRPr lang="en-US" sz="1300" dirty="0"/>
          </a:p>
        </p:txBody>
      </p:sp>
      <p:sp>
        <p:nvSpPr>
          <p:cNvPr id="18" name="Text 16"/>
          <p:cNvSpPr txBox="1"/>
          <p:nvPr/>
        </p:nvSpPr>
        <p:spPr>
          <a:xfrm>
            <a:off x="3813048" y="170078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9" name="Text 17"/>
          <p:cNvSpPr txBox="1"/>
          <p:nvPr/>
        </p:nvSpPr>
        <p:spPr>
          <a:xfrm>
            <a:off x="4471416" y="170078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20" name="Text 18"/>
          <p:cNvSpPr txBox="1"/>
          <p:nvPr/>
        </p:nvSpPr>
        <p:spPr>
          <a:xfrm>
            <a:off x="5184648" y="170078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21" name="Text 19"/>
          <p:cNvSpPr txBox="1"/>
          <p:nvPr/>
        </p:nvSpPr>
        <p:spPr>
          <a:xfrm>
            <a:off x="658368" y="205282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05282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3" name="Shape 21"/>
          <p:cNvSpPr/>
          <p:nvPr/>
        </p:nvSpPr>
        <p:spPr>
          <a:xfrm>
            <a:off x="2871216" y="2132038"/>
            <a:ext cx="100584" cy="193624"/>
          </a:xfrm>
          <a:prstGeom prst="rect">
            <a:avLst/>
          </a:prstGeom>
          <a:solidFill>
            <a:srgbClr val="12A566"/>
          </a:solidFill>
          <a:ln/>
        </p:spPr>
      </p:sp>
      <p:sp>
        <p:nvSpPr>
          <p:cNvPr id="24" name="Text 22"/>
          <p:cNvSpPr txBox="1"/>
          <p:nvPr/>
        </p:nvSpPr>
        <p:spPr>
          <a:xfrm>
            <a:off x="3026664" y="205282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a:t>
            </a:r>
            <a:endParaRPr lang="en-US" sz="1300" dirty="0"/>
          </a:p>
        </p:txBody>
      </p:sp>
      <p:sp>
        <p:nvSpPr>
          <p:cNvPr id="25" name="Text 23"/>
          <p:cNvSpPr txBox="1"/>
          <p:nvPr/>
        </p:nvSpPr>
        <p:spPr>
          <a:xfrm>
            <a:off x="3813048" y="205282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26" name="Text 24"/>
          <p:cNvSpPr txBox="1"/>
          <p:nvPr/>
        </p:nvSpPr>
        <p:spPr>
          <a:xfrm>
            <a:off x="4471416" y="205282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27" name="Text 25"/>
          <p:cNvSpPr txBox="1"/>
          <p:nvPr/>
        </p:nvSpPr>
        <p:spPr>
          <a:xfrm>
            <a:off x="5184648" y="205282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28" name="Text 26"/>
          <p:cNvSpPr txBox="1"/>
          <p:nvPr/>
        </p:nvSpPr>
        <p:spPr>
          <a:xfrm>
            <a:off x="658368" y="240487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40487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0" name="Shape 28"/>
          <p:cNvSpPr/>
          <p:nvPr/>
        </p:nvSpPr>
        <p:spPr>
          <a:xfrm>
            <a:off x="2871216" y="2484082"/>
            <a:ext cx="89408" cy="193624"/>
          </a:xfrm>
          <a:prstGeom prst="rect">
            <a:avLst/>
          </a:prstGeom>
          <a:solidFill>
            <a:srgbClr val="12A566"/>
          </a:solidFill>
          <a:ln/>
        </p:spPr>
      </p:sp>
      <p:sp>
        <p:nvSpPr>
          <p:cNvPr id="31" name="Text 29"/>
          <p:cNvSpPr txBox="1"/>
          <p:nvPr/>
        </p:nvSpPr>
        <p:spPr>
          <a:xfrm>
            <a:off x="3026664" y="240487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a:t>
            </a:r>
            <a:endParaRPr lang="en-US" sz="1300" dirty="0"/>
          </a:p>
        </p:txBody>
      </p:sp>
      <p:sp>
        <p:nvSpPr>
          <p:cNvPr id="32" name="Text 30"/>
          <p:cNvSpPr txBox="1"/>
          <p:nvPr/>
        </p:nvSpPr>
        <p:spPr>
          <a:xfrm>
            <a:off x="3813048" y="240487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33" name="Text 31"/>
          <p:cNvSpPr txBox="1"/>
          <p:nvPr/>
        </p:nvSpPr>
        <p:spPr>
          <a:xfrm>
            <a:off x="4471416" y="240487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34" name="Text 32"/>
          <p:cNvSpPr txBox="1"/>
          <p:nvPr/>
        </p:nvSpPr>
        <p:spPr>
          <a:xfrm>
            <a:off x="5184648" y="240487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35" name="Text 33"/>
          <p:cNvSpPr txBox="1"/>
          <p:nvPr/>
        </p:nvSpPr>
        <p:spPr>
          <a:xfrm>
            <a:off x="658368" y="275691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75691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7" name="Shape 35"/>
          <p:cNvSpPr/>
          <p:nvPr/>
        </p:nvSpPr>
        <p:spPr>
          <a:xfrm>
            <a:off x="2871216" y="2836126"/>
            <a:ext cx="78232" cy="193624"/>
          </a:xfrm>
          <a:prstGeom prst="rect">
            <a:avLst/>
          </a:prstGeom>
          <a:solidFill>
            <a:srgbClr val="12A566"/>
          </a:solidFill>
          <a:ln/>
        </p:spPr>
      </p:sp>
      <p:sp>
        <p:nvSpPr>
          <p:cNvPr id="38" name="Text 36"/>
          <p:cNvSpPr txBox="1"/>
          <p:nvPr/>
        </p:nvSpPr>
        <p:spPr>
          <a:xfrm>
            <a:off x="3026664" y="275691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a:t>
            </a:r>
            <a:endParaRPr lang="en-US" sz="1300" dirty="0"/>
          </a:p>
        </p:txBody>
      </p:sp>
      <p:sp>
        <p:nvSpPr>
          <p:cNvPr id="39" name="Text 37"/>
          <p:cNvSpPr txBox="1"/>
          <p:nvPr/>
        </p:nvSpPr>
        <p:spPr>
          <a:xfrm>
            <a:off x="3813048" y="275691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0" name="Text 38"/>
          <p:cNvSpPr txBox="1"/>
          <p:nvPr/>
        </p:nvSpPr>
        <p:spPr>
          <a:xfrm>
            <a:off x="4471416" y="275691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41" name="Text 39"/>
          <p:cNvSpPr txBox="1"/>
          <p:nvPr/>
        </p:nvSpPr>
        <p:spPr>
          <a:xfrm>
            <a:off x="5184648" y="275691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2" name="Text 40"/>
          <p:cNvSpPr txBox="1"/>
          <p:nvPr/>
        </p:nvSpPr>
        <p:spPr>
          <a:xfrm>
            <a:off x="658368" y="310896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3" name="Text 41"/>
          <p:cNvSpPr txBox="1"/>
          <p:nvPr/>
        </p:nvSpPr>
        <p:spPr>
          <a:xfrm>
            <a:off x="1014984" y="310896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4" name="Shape 42"/>
          <p:cNvSpPr/>
          <p:nvPr/>
        </p:nvSpPr>
        <p:spPr>
          <a:xfrm>
            <a:off x="2871216" y="3188170"/>
            <a:ext cx="78232" cy="193624"/>
          </a:xfrm>
          <a:prstGeom prst="rect">
            <a:avLst/>
          </a:prstGeom>
          <a:solidFill>
            <a:srgbClr val="12A566"/>
          </a:solidFill>
          <a:ln/>
        </p:spPr>
      </p:sp>
      <p:sp>
        <p:nvSpPr>
          <p:cNvPr id="45" name="Text 43"/>
          <p:cNvSpPr txBox="1"/>
          <p:nvPr/>
        </p:nvSpPr>
        <p:spPr>
          <a:xfrm>
            <a:off x="3026664" y="310896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a:t>
            </a:r>
            <a:endParaRPr lang="en-US" sz="1300" dirty="0"/>
          </a:p>
        </p:txBody>
      </p:sp>
      <p:sp>
        <p:nvSpPr>
          <p:cNvPr id="46" name="Text 44"/>
          <p:cNvSpPr txBox="1"/>
          <p:nvPr/>
        </p:nvSpPr>
        <p:spPr>
          <a:xfrm>
            <a:off x="3813048" y="310896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47" name="Text 45"/>
          <p:cNvSpPr txBox="1"/>
          <p:nvPr/>
        </p:nvSpPr>
        <p:spPr>
          <a:xfrm>
            <a:off x="4471416" y="310896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8" name="Text 46"/>
          <p:cNvSpPr txBox="1"/>
          <p:nvPr/>
        </p:nvSpPr>
        <p:spPr>
          <a:xfrm>
            <a:off x="5184648" y="310896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49" name="Text 47"/>
          <p:cNvSpPr txBox="1"/>
          <p:nvPr/>
        </p:nvSpPr>
        <p:spPr>
          <a:xfrm>
            <a:off x="658368" y="346100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50" name="Text 48"/>
          <p:cNvSpPr txBox="1"/>
          <p:nvPr/>
        </p:nvSpPr>
        <p:spPr>
          <a:xfrm>
            <a:off x="1014984" y="346100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1" name="Shape 49"/>
          <p:cNvSpPr/>
          <p:nvPr/>
        </p:nvSpPr>
        <p:spPr>
          <a:xfrm>
            <a:off x="2871216" y="3540214"/>
            <a:ext cx="67056" cy="193624"/>
          </a:xfrm>
          <a:prstGeom prst="rect">
            <a:avLst/>
          </a:prstGeom>
          <a:solidFill>
            <a:srgbClr val="12A566"/>
          </a:solidFill>
          <a:ln/>
        </p:spPr>
      </p:sp>
      <p:sp>
        <p:nvSpPr>
          <p:cNvPr id="52" name="Text 50"/>
          <p:cNvSpPr txBox="1"/>
          <p:nvPr/>
        </p:nvSpPr>
        <p:spPr>
          <a:xfrm>
            <a:off x="3026664" y="346100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a:t>
            </a:r>
            <a:endParaRPr lang="en-US" sz="1300" dirty="0"/>
          </a:p>
        </p:txBody>
      </p:sp>
      <p:sp>
        <p:nvSpPr>
          <p:cNvPr id="53" name="Text 51"/>
          <p:cNvSpPr txBox="1"/>
          <p:nvPr/>
        </p:nvSpPr>
        <p:spPr>
          <a:xfrm>
            <a:off x="3813048" y="346100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54" name="Text 52"/>
          <p:cNvSpPr txBox="1"/>
          <p:nvPr/>
        </p:nvSpPr>
        <p:spPr>
          <a:xfrm>
            <a:off x="4471416" y="346100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55" name="Text 53"/>
          <p:cNvSpPr txBox="1"/>
          <p:nvPr/>
        </p:nvSpPr>
        <p:spPr>
          <a:xfrm>
            <a:off x="5184648" y="346100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56" name="Text 54"/>
          <p:cNvSpPr txBox="1"/>
          <p:nvPr/>
        </p:nvSpPr>
        <p:spPr>
          <a:xfrm>
            <a:off x="658368" y="381304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7" name="Text 55"/>
          <p:cNvSpPr txBox="1"/>
          <p:nvPr/>
        </p:nvSpPr>
        <p:spPr>
          <a:xfrm>
            <a:off x="1014984" y="381304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8" name="Shape 56"/>
          <p:cNvSpPr/>
          <p:nvPr/>
        </p:nvSpPr>
        <p:spPr>
          <a:xfrm>
            <a:off x="2871216" y="3892258"/>
            <a:ext cx="67056" cy="193624"/>
          </a:xfrm>
          <a:prstGeom prst="rect">
            <a:avLst/>
          </a:prstGeom>
          <a:solidFill>
            <a:srgbClr val="12A566"/>
          </a:solidFill>
          <a:ln/>
        </p:spPr>
      </p:sp>
      <p:sp>
        <p:nvSpPr>
          <p:cNvPr id="59" name="Text 57"/>
          <p:cNvSpPr txBox="1"/>
          <p:nvPr/>
        </p:nvSpPr>
        <p:spPr>
          <a:xfrm>
            <a:off x="3026664" y="381304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a:t>
            </a:r>
            <a:endParaRPr lang="en-US" sz="1300" dirty="0"/>
          </a:p>
        </p:txBody>
      </p:sp>
      <p:sp>
        <p:nvSpPr>
          <p:cNvPr id="60" name="Text 58"/>
          <p:cNvSpPr txBox="1"/>
          <p:nvPr/>
        </p:nvSpPr>
        <p:spPr>
          <a:xfrm>
            <a:off x="3813048" y="381304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61" name="Text 59"/>
          <p:cNvSpPr txBox="1"/>
          <p:nvPr/>
        </p:nvSpPr>
        <p:spPr>
          <a:xfrm>
            <a:off x="4471416" y="381304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62" name="Text 60"/>
          <p:cNvSpPr txBox="1"/>
          <p:nvPr/>
        </p:nvSpPr>
        <p:spPr>
          <a:xfrm>
            <a:off x="5184648" y="381304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63" name="Text 61"/>
          <p:cNvSpPr txBox="1"/>
          <p:nvPr/>
        </p:nvSpPr>
        <p:spPr>
          <a:xfrm>
            <a:off x="658368" y="416509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4" name="Text 62"/>
          <p:cNvSpPr txBox="1"/>
          <p:nvPr/>
        </p:nvSpPr>
        <p:spPr>
          <a:xfrm>
            <a:off x="1014984" y="416509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2871216" y="4244302"/>
            <a:ext cx="55880" cy="193624"/>
          </a:xfrm>
          <a:prstGeom prst="rect">
            <a:avLst/>
          </a:prstGeom>
          <a:solidFill>
            <a:srgbClr val="12A566"/>
          </a:solidFill>
          <a:ln/>
        </p:spPr>
      </p:sp>
      <p:sp>
        <p:nvSpPr>
          <p:cNvPr id="66" name="Text 64"/>
          <p:cNvSpPr txBox="1"/>
          <p:nvPr/>
        </p:nvSpPr>
        <p:spPr>
          <a:xfrm>
            <a:off x="3026664" y="416509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a:t>
            </a:r>
            <a:endParaRPr lang="en-US" sz="1300" dirty="0"/>
          </a:p>
        </p:txBody>
      </p:sp>
      <p:sp>
        <p:nvSpPr>
          <p:cNvPr id="67" name="Text 65"/>
          <p:cNvSpPr txBox="1"/>
          <p:nvPr/>
        </p:nvSpPr>
        <p:spPr>
          <a:xfrm>
            <a:off x="3813048" y="416509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68" name="Text 66"/>
          <p:cNvSpPr txBox="1"/>
          <p:nvPr/>
        </p:nvSpPr>
        <p:spPr>
          <a:xfrm>
            <a:off x="4471416" y="416509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69" name="Text 67"/>
          <p:cNvSpPr txBox="1"/>
          <p:nvPr/>
        </p:nvSpPr>
        <p:spPr>
          <a:xfrm>
            <a:off x="5184648" y="416509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70" name="Text 68"/>
          <p:cNvSpPr txBox="1"/>
          <p:nvPr/>
        </p:nvSpPr>
        <p:spPr>
          <a:xfrm>
            <a:off x="658368" y="451713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71" name="Text 69"/>
          <p:cNvSpPr txBox="1"/>
          <p:nvPr/>
        </p:nvSpPr>
        <p:spPr>
          <a:xfrm>
            <a:off x="1014984" y="451713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2" name="Shape 70"/>
          <p:cNvSpPr/>
          <p:nvPr/>
        </p:nvSpPr>
        <p:spPr>
          <a:xfrm>
            <a:off x="2871216" y="4596346"/>
            <a:ext cx="44704" cy="193624"/>
          </a:xfrm>
          <a:prstGeom prst="rect">
            <a:avLst/>
          </a:prstGeom>
          <a:solidFill>
            <a:srgbClr val="12A566"/>
          </a:solidFill>
          <a:ln/>
        </p:spPr>
      </p:sp>
      <p:sp>
        <p:nvSpPr>
          <p:cNvPr id="73" name="Text 71"/>
          <p:cNvSpPr txBox="1"/>
          <p:nvPr/>
        </p:nvSpPr>
        <p:spPr>
          <a:xfrm>
            <a:off x="3026664" y="451713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74" name="Text 72"/>
          <p:cNvSpPr txBox="1"/>
          <p:nvPr/>
        </p:nvSpPr>
        <p:spPr>
          <a:xfrm>
            <a:off x="3813048" y="451713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75" name="Text 73"/>
          <p:cNvSpPr txBox="1"/>
          <p:nvPr/>
        </p:nvSpPr>
        <p:spPr>
          <a:xfrm>
            <a:off x="4471416" y="451713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76" name="Text 74"/>
          <p:cNvSpPr txBox="1"/>
          <p:nvPr/>
        </p:nvSpPr>
        <p:spPr>
          <a:xfrm>
            <a:off x="5184648" y="451713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77" name="Text 75"/>
          <p:cNvSpPr txBox="1"/>
          <p:nvPr/>
        </p:nvSpPr>
        <p:spPr>
          <a:xfrm>
            <a:off x="658368" y="486918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8" name="Text 76"/>
          <p:cNvSpPr txBox="1"/>
          <p:nvPr/>
        </p:nvSpPr>
        <p:spPr>
          <a:xfrm>
            <a:off x="1014984" y="486918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9" name="Shape 77"/>
          <p:cNvSpPr/>
          <p:nvPr/>
        </p:nvSpPr>
        <p:spPr>
          <a:xfrm>
            <a:off x="2871216" y="4948390"/>
            <a:ext cx="44704" cy="193624"/>
          </a:xfrm>
          <a:prstGeom prst="rect">
            <a:avLst/>
          </a:prstGeom>
          <a:solidFill>
            <a:srgbClr val="12A566"/>
          </a:solidFill>
          <a:ln/>
        </p:spPr>
      </p:sp>
      <p:sp>
        <p:nvSpPr>
          <p:cNvPr id="80" name="Text 78"/>
          <p:cNvSpPr txBox="1"/>
          <p:nvPr/>
        </p:nvSpPr>
        <p:spPr>
          <a:xfrm>
            <a:off x="3026664" y="486918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81" name="Text 79"/>
          <p:cNvSpPr txBox="1"/>
          <p:nvPr/>
        </p:nvSpPr>
        <p:spPr>
          <a:xfrm>
            <a:off x="3813048" y="486918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82" name="Text 80"/>
          <p:cNvSpPr txBox="1"/>
          <p:nvPr/>
        </p:nvSpPr>
        <p:spPr>
          <a:xfrm>
            <a:off x="4471416" y="486918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83" name="Text 81"/>
          <p:cNvSpPr txBox="1"/>
          <p:nvPr/>
        </p:nvSpPr>
        <p:spPr>
          <a:xfrm>
            <a:off x="5184648" y="486918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84" name="Text 82"/>
          <p:cNvSpPr txBox="1"/>
          <p:nvPr/>
        </p:nvSpPr>
        <p:spPr>
          <a:xfrm>
            <a:off x="658368" y="522122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85" name="Text 83"/>
          <p:cNvSpPr txBox="1"/>
          <p:nvPr/>
        </p:nvSpPr>
        <p:spPr>
          <a:xfrm>
            <a:off x="1014984" y="522122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6" name="Shape 84"/>
          <p:cNvSpPr/>
          <p:nvPr/>
        </p:nvSpPr>
        <p:spPr>
          <a:xfrm>
            <a:off x="2871216" y="5300434"/>
            <a:ext cx="44704" cy="193624"/>
          </a:xfrm>
          <a:prstGeom prst="rect">
            <a:avLst/>
          </a:prstGeom>
          <a:solidFill>
            <a:srgbClr val="12A566"/>
          </a:solidFill>
          <a:ln/>
        </p:spPr>
      </p:sp>
      <p:sp>
        <p:nvSpPr>
          <p:cNvPr id="87" name="Text 85"/>
          <p:cNvSpPr txBox="1"/>
          <p:nvPr/>
        </p:nvSpPr>
        <p:spPr>
          <a:xfrm>
            <a:off x="3026664" y="522122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88" name="Text 86"/>
          <p:cNvSpPr txBox="1"/>
          <p:nvPr/>
        </p:nvSpPr>
        <p:spPr>
          <a:xfrm>
            <a:off x="3813048" y="522122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89" name="Text 87"/>
          <p:cNvSpPr txBox="1"/>
          <p:nvPr/>
        </p:nvSpPr>
        <p:spPr>
          <a:xfrm>
            <a:off x="4471416" y="522122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0" name="Text 88"/>
          <p:cNvSpPr txBox="1"/>
          <p:nvPr/>
        </p:nvSpPr>
        <p:spPr>
          <a:xfrm>
            <a:off x="5184648" y="522122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1" name="Text 89"/>
          <p:cNvSpPr txBox="1"/>
          <p:nvPr/>
        </p:nvSpPr>
        <p:spPr>
          <a:xfrm>
            <a:off x="658368" y="557326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2" name="Text 90"/>
          <p:cNvSpPr txBox="1"/>
          <p:nvPr/>
        </p:nvSpPr>
        <p:spPr>
          <a:xfrm>
            <a:off x="1014984" y="557326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2871216" y="5652478"/>
            <a:ext cx="44704" cy="193624"/>
          </a:xfrm>
          <a:prstGeom prst="rect">
            <a:avLst/>
          </a:prstGeom>
          <a:solidFill>
            <a:srgbClr val="12A566"/>
          </a:solidFill>
          <a:ln/>
        </p:spPr>
      </p:sp>
      <p:sp>
        <p:nvSpPr>
          <p:cNvPr id="94" name="Text 92"/>
          <p:cNvSpPr txBox="1"/>
          <p:nvPr/>
        </p:nvSpPr>
        <p:spPr>
          <a:xfrm>
            <a:off x="3026664" y="557326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95" name="Text 93"/>
          <p:cNvSpPr txBox="1"/>
          <p:nvPr/>
        </p:nvSpPr>
        <p:spPr>
          <a:xfrm>
            <a:off x="3813048" y="557326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96" name="Text 94"/>
          <p:cNvSpPr txBox="1"/>
          <p:nvPr/>
        </p:nvSpPr>
        <p:spPr>
          <a:xfrm>
            <a:off x="4471416" y="557326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7" name="Text 95"/>
          <p:cNvSpPr txBox="1"/>
          <p:nvPr/>
        </p:nvSpPr>
        <p:spPr>
          <a:xfrm>
            <a:off x="5184648" y="557326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8" name="Text 96"/>
          <p:cNvSpPr txBox="1"/>
          <p:nvPr/>
        </p:nvSpPr>
        <p:spPr>
          <a:xfrm>
            <a:off x="6208776" y="170078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9" name="Text 97"/>
          <p:cNvSpPr txBox="1"/>
          <p:nvPr/>
        </p:nvSpPr>
        <p:spPr>
          <a:xfrm>
            <a:off x="6565392" y="170078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0" name="Shape 98"/>
          <p:cNvSpPr/>
          <p:nvPr/>
        </p:nvSpPr>
        <p:spPr>
          <a:xfrm>
            <a:off x="8421624" y="1779994"/>
            <a:ext cx="44704" cy="193624"/>
          </a:xfrm>
          <a:prstGeom prst="rect">
            <a:avLst/>
          </a:prstGeom>
          <a:solidFill>
            <a:srgbClr val="12A566"/>
          </a:solidFill>
          <a:ln/>
        </p:spPr>
      </p:sp>
      <p:sp>
        <p:nvSpPr>
          <p:cNvPr id="101" name="Text 99"/>
          <p:cNvSpPr txBox="1"/>
          <p:nvPr/>
        </p:nvSpPr>
        <p:spPr>
          <a:xfrm>
            <a:off x="8577072" y="170078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102" name="Text 100"/>
          <p:cNvSpPr txBox="1"/>
          <p:nvPr/>
        </p:nvSpPr>
        <p:spPr>
          <a:xfrm>
            <a:off x="9363456" y="170078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03" name="Text 101"/>
          <p:cNvSpPr txBox="1"/>
          <p:nvPr/>
        </p:nvSpPr>
        <p:spPr>
          <a:xfrm>
            <a:off x="10021824" y="170078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04" name="Text 102"/>
          <p:cNvSpPr txBox="1"/>
          <p:nvPr/>
        </p:nvSpPr>
        <p:spPr>
          <a:xfrm>
            <a:off x="10735056" y="170078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05" name="Text 103"/>
          <p:cNvSpPr txBox="1"/>
          <p:nvPr/>
        </p:nvSpPr>
        <p:spPr>
          <a:xfrm>
            <a:off x="6208776" y="205282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6" name="Text 104"/>
          <p:cNvSpPr txBox="1"/>
          <p:nvPr/>
        </p:nvSpPr>
        <p:spPr>
          <a:xfrm>
            <a:off x="6565392" y="205282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7" name="Shape 105"/>
          <p:cNvSpPr/>
          <p:nvPr/>
        </p:nvSpPr>
        <p:spPr>
          <a:xfrm>
            <a:off x="8421624" y="2132038"/>
            <a:ext cx="44704" cy="193624"/>
          </a:xfrm>
          <a:prstGeom prst="rect">
            <a:avLst/>
          </a:prstGeom>
          <a:solidFill>
            <a:srgbClr val="12A566"/>
          </a:solidFill>
          <a:ln/>
        </p:spPr>
      </p:sp>
      <p:sp>
        <p:nvSpPr>
          <p:cNvPr id="108" name="Text 106"/>
          <p:cNvSpPr txBox="1"/>
          <p:nvPr/>
        </p:nvSpPr>
        <p:spPr>
          <a:xfrm>
            <a:off x="8577072" y="205282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109" name="Text 107"/>
          <p:cNvSpPr txBox="1"/>
          <p:nvPr/>
        </p:nvSpPr>
        <p:spPr>
          <a:xfrm>
            <a:off x="9363456" y="205282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10" name="Text 108"/>
          <p:cNvSpPr txBox="1"/>
          <p:nvPr/>
        </p:nvSpPr>
        <p:spPr>
          <a:xfrm>
            <a:off x="10021824" y="205282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1" name="Text 109"/>
          <p:cNvSpPr txBox="1"/>
          <p:nvPr/>
        </p:nvSpPr>
        <p:spPr>
          <a:xfrm>
            <a:off x="10735056" y="205282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2" name="Text 110"/>
          <p:cNvSpPr txBox="1"/>
          <p:nvPr/>
        </p:nvSpPr>
        <p:spPr>
          <a:xfrm>
            <a:off x="6208776" y="240487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3" name="Text 111"/>
          <p:cNvSpPr txBox="1"/>
          <p:nvPr/>
        </p:nvSpPr>
        <p:spPr>
          <a:xfrm>
            <a:off x="6565392" y="240487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14" name="Shape 112"/>
          <p:cNvSpPr/>
          <p:nvPr/>
        </p:nvSpPr>
        <p:spPr>
          <a:xfrm>
            <a:off x="8421624" y="2484082"/>
            <a:ext cx="33528" cy="193624"/>
          </a:xfrm>
          <a:prstGeom prst="rect">
            <a:avLst/>
          </a:prstGeom>
          <a:solidFill>
            <a:srgbClr val="12A566"/>
          </a:solidFill>
          <a:ln/>
        </p:spPr>
      </p:sp>
      <p:sp>
        <p:nvSpPr>
          <p:cNvPr id="115" name="Text 113"/>
          <p:cNvSpPr txBox="1"/>
          <p:nvPr/>
        </p:nvSpPr>
        <p:spPr>
          <a:xfrm>
            <a:off x="8577072" y="240487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a:t>
            </a:r>
            <a:endParaRPr lang="en-US" sz="1300" dirty="0"/>
          </a:p>
        </p:txBody>
      </p:sp>
      <p:sp>
        <p:nvSpPr>
          <p:cNvPr id="116" name="Text 114"/>
          <p:cNvSpPr txBox="1"/>
          <p:nvPr/>
        </p:nvSpPr>
        <p:spPr>
          <a:xfrm>
            <a:off x="9363456" y="240487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7" name="Text 115"/>
          <p:cNvSpPr txBox="1"/>
          <p:nvPr/>
        </p:nvSpPr>
        <p:spPr>
          <a:xfrm>
            <a:off x="10021824" y="240487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18" name="Text 116"/>
          <p:cNvSpPr txBox="1"/>
          <p:nvPr/>
        </p:nvSpPr>
        <p:spPr>
          <a:xfrm>
            <a:off x="10735056" y="240487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19" name="Text 117"/>
          <p:cNvSpPr txBox="1"/>
          <p:nvPr/>
        </p:nvSpPr>
        <p:spPr>
          <a:xfrm>
            <a:off x="6208776" y="275691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20" name="Text 118"/>
          <p:cNvSpPr txBox="1"/>
          <p:nvPr/>
        </p:nvSpPr>
        <p:spPr>
          <a:xfrm>
            <a:off x="6565392" y="275691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421624" y="2836126"/>
            <a:ext cx="22352" cy="193624"/>
          </a:xfrm>
          <a:prstGeom prst="rect">
            <a:avLst/>
          </a:prstGeom>
          <a:solidFill>
            <a:srgbClr val="12A566"/>
          </a:solidFill>
          <a:ln/>
        </p:spPr>
      </p:sp>
      <p:sp>
        <p:nvSpPr>
          <p:cNvPr id="122" name="Text 120"/>
          <p:cNvSpPr txBox="1"/>
          <p:nvPr/>
        </p:nvSpPr>
        <p:spPr>
          <a:xfrm>
            <a:off x="8577072" y="275691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23" name="Text 121"/>
          <p:cNvSpPr txBox="1"/>
          <p:nvPr/>
        </p:nvSpPr>
        <p:spPr>
          <a:xfrm>
            <a:off x="9363456" y="275691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24" name="Text 122"/>
          <p:cNvSpPr txBox="1"/>
          <p:nvPr/>
        </p:nvSpPr>
        <p:spPr>
          <a:xfrm>
            <a:off x="10021824" y="275691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25" name="Text 123"/>
          <p:cNvSpPr txBox="1"/>
          <p:nvPr/>
        </p:nvSpPr>
        <p:spPr>
          <a:xfrm>
            <a:off x="10735056" y="275691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26" name="Text 124"/>
          <p:cNvSpPr txBox="1"/>
          <p:nvPr/>
        </p:nvSpPr>
        <p:spPr>
          <a:xfrm>
            <a:off x="6208776" y="310896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27" name="Text 125"/>
          <p:cNvSpPr txBox="1"/>
          <p:nvPr/>
        </p:nvSpPr>
        <p:spPr>
          <a:xfrm>
            <a:off x="6565392" y="310896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8" name="Shape 126"/>
          <p:cNvSpPr/>
          <p:nvPr/>
        </p:nvSpPr>
        <p:spPr>
          <a:xfrm>
            <a:off x="8421624" y="3188170"/>
            <a:ext cx="22352" cy="193624"/>
          </a:xfrm>
          <a:prstGeom prst="rect">
            <a:avLst/>
          </a:prstGeom>
          <a:solidFill>
            <a:srgbClr val="12A566"/>
          </a:solidFill>
          <a:ln/>
        </p:spPr>
      </p:sp>
      <p:sp>
        <p:nvSpPr>
          <p:cNvPr id="129" name="Text 127"/>
          <p:cNvSpPr txBox="1"/>
          <p:nvPr/>
        </p:nvSpPr>
        <p:spPr>
          <a:xfrm>
            <a:off x="8577072" y="310896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30" name="Text 128"/>
          <p:cNvSpPr txBox="1"/>
          <p:nvPr/>
        </p:nvSpPr>
        <p:spPr>
          <a:xfrm>
            <a:off x="9363456" y="310896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31" name="Text 129"/>
          <p:cNvSpPr txBox="1"/>
          <p:nvPr/>
        </p:nvSpPr>
        <p:spPr>
          <a:xfrm>
            <a:off x="10021824" y="310896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2" name="Text 130"/>
          <p:cNvSpPr txBox="1"/>
          <p:nvPr/>
        </p:nvSpPr>
        <p:spPr>
          <a:xfrm>
            <a:off x="10735056" y="310896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3" name="Text 131"/>
          <p:cNvSpPr txBox="1"/>
          <p:nvPr/>
        </p:nvSpPr>
        <p:spPr>
          <a:xfrm>
            <a:off x="6208776" y="346100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34" name="Text 132"/>
          <p:cNvSpPr txBox="1"/>
          <p:nvPr/>
        </p:nvSpPr>
        <p:spPr>
          <a:xfrm>
            <a:off x="6565392" y="346100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5" name="Shape 133"/>
          <p:cNvSpPr/>
          <p:nvPr/>
        </p:nvSpPr>
        <p:spPr>
          <a:xfrm>
            <a:off x="8421624" y="3540214"/>
            <a:ext cx="22352" cy="193624"/>
          </a:xfrm>
          <a:prstGeom prst="rect">
            <a:avLst/>
          </a:prstGeom>
          <a:solidFill>
            <a:srgbClr val="12A566"/>
          </a:solidFill>
          <a:ln/>
        </p:spPr>
      </p:sp>
      <p:sp>
        <p:nvSpPr>
          <p:cNvPr id="136" name="Text 134"/>
          <p:cNvSpPr txBox="1"/>
          <p:nvPr/>
        </p:nvSpPr>
        <p:spPr>
          <a:xfrm>
            <a:off x="8577072" y="346100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37" name="Text 135"/>
          <p:cNvSpPr txBox="1"/>
          <p:nvPr/>
        </p:nvSpPr>
        <p:spPr>
          <a:xfrm>
            <a:off x="9363456" y="346100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8" name="Text 136"/>
          <p:cNvSpPr txBox="1"/>
          <p:nvPr/>
        </p:nvSpPr>
        <p:spPr>
          <a:xfrm>
            <a:off x="10021824" y="346100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39" name="Text 137"/>
          <p:cNvSpPr txBox="1"/>
          <p:nvPr/>
        </p:nvSpPr>
        <p:spPr>
          <a:xfrm>
            <a:off x="10735056" y="346100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0" name="Text 138"/>
          <p:cNvSpPr txBox="1"/>
          <p:nvPr/>
        </p:nvSpPr>
        <p:spPr>
          <a:xfrm>
            <a:off x="6208776" y="381304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41" name="Text 139"/>
          <p:cNvSpPr txBox="1"/>
          <p:nvPr/>
        </p:nvSpPr>
        <p:spPr>
          <a:xfrm>
            <a:off x="6565392" y="381304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2" name="Shape 140"/>
          <p:cNvSpPr/>
          <p:nvPr/>
        </p:nvSpPr>
        <p:spPr>
          <a:xfrm>
            <a:off x="8421624" y="3892258"/>
            <a:ext cx="22352" cy="193624"/>
          </a:xfrm>
          <a:prstGeom prst="rect">
            <a:avLst/>
          </a:prstGeom>
          <a:solidFill>
            <a:srgbClr val="12A566"/>
          </a:solidFill>
          <a:ln/>
        </p:spPr>
      </p:sp>
      <p:sp>
        <p:nvSpPr>
          <p:cNvPr id="143" name="Text 141"/>
          <p:cNvSpPr txBox="1"/>
          <p:nvPr/>
        </p:nvSpPr>
        <p:spPr>
          <a:xfrm>
            <a:off x="8577072" y="381304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44" name="Text 142"/>
          <p:cNvSpPr txBox="1"/>
          <p:nvPr/>
        </p:nvSpPr>
        <p:spPr>
          <a:xfrm>
            <a:off x="9363456" y="381304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5" name="Text 143"/>
          <p:cNvSpPr txBox="1"/>
          <p:nvPr/>
        </p:nvSpPr>
        <p:spPr>
          <a:xfrm>
            <a:off x="10021824" y="381304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46" name="Text 144"/>
          <p:cNvSpPr txBox="1"/>
          <p:nvPr/>
        </p:nvSpPr>
        <p:spPr>
          <a:xfrm>
            <a:off x="10735056" y="381304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7" name="Text 145"/>
          <p:cNvSpPr txBox="1"/>
          <p:nvPr/>
        </p:nvSpPr>
        <p:spPr>
          <a:xfrm>
            <a:off x="6208776" y="416509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48" name="Text 146"/>
          <p:cNvSpPr txBox="1"/>
          <p:nvPr/>
        </p:nvSpPr>
        <p:spPr>
          <a:xfrm>
            <a:off x="6565392" y="416509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9" name="Shape 147"/>
          <p:cNvSpPr/>
          <p:nvPr/>
        </p:nvSpPr>
        <p:spPr>
          <a:xfrm>
            <a:off x="8421624" y="4244302"/>
            <a:ext cx="22352" cy="193624"/>
          </a:xfrm>
          <a:prstGeom prst="rect">
            <a:avLst/>
          </a:prstGeom>
          <a:solidFill>
            <a:srgbClr val="12A566"/>
          </a:solidFill>
          <a:ln/>
        </p:spPr>
      </p:sp>
      <p:sp>
        <p:nvSpPr>
          <p:cNvPr id="150" name="Text 148"/>
          <p:cNvSpPr txBox="1"/>
          <p:nvPr/>
        </p:nvSpPr>
        <p:spPr>
          <a:xfrm>
            <a:off x="8577072" y="416509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51" name="Text 149"/>
          <p:cNvSpPr txBox="1"/>
          <p:nvPr/>
        </p:nvSpPr>
        <p:spPr>
          <a:xfrm>
            <a:off x="9363456" y="416509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2" name="Text 150"/>
          <p:cNvSpPr txBox="1"/>
          <p:nvPr/>
        </p:nvSpPr>
        <p:spPr>
          <a:xfrm>
            <a:off x="10021824" y="416509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53" name="Text 151"/>
          <p:cNvSpPr txBox="1"/>
          <p:nvPr/>
        </p:nvSpPr>
        <p:spPr>
          <a:xfrm>
            <a:off x="10735056" y="416509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4" name="Text 152"/>
          <p:cNvSpPr txBox="1"/>
          <p:nvPr/>
        </p:nvSpPr>
        <p:spPr>
          <a:xfrm>
            <a:off x="6208776" y="451713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55" name="Text 153"/>
          <p:cNvSpPr txBox="1"/>
          <p:nvPr/>
        </p:nvSpPr>
        <p:spPr>
          <a:xfrm>
            <a:off x="6565392" y="451713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6" name="Shape 154"/>
          <p:cNvSpPr/>
          <p:nvPr/>
        </p:nvSpPr>
        <p:spPr>
          <a:xfrm>
            <a:off x="8421624" y="4596346"/>
            <a:ext cx="22352" cy="193624"/>
          </a:xfrm>
          <a:prstGeom prst="rect">
            <a:avLst/>
          </a:prstGeom>
          <a:solidFill>
            <a:srgbClr val="12A566"/>
          </a:solidFill>
          <a:ln/>
        </p:spPr>
      </p:sp>
      <p:sp>
        <p:nvSpPr>
          <p:cNvPr id="157" name="Text 155"/>
          <p:cNvSpPr txBox="1"/>
          <p:nvPr/>
        </p:nvSpPr>
        <p:spPr>
          <a:xfrm>
            <a:off x="8577072" y="451713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58" name="Text 156"/>
          <p:cNvSpPr txBox="1"/>
          <p:nvPr/>
        </p:nvSpPr>
        <p:spPr>
          <a:xfrm>
            <a:off x="9363456" y="451713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59" name="Text 157"/>
          <p:cNvSpPr txBox="1"/>
          <p:nvPr/>
        </p:nvSpPr>
        <p:spPr>
          <a:xfrm>
            <a:off x="10021824" y="451713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0" name="Text 158"/>
          <p:cNvSpPr txBox="1"/>
          <p:nvPr/>
        </p:nvSpPr>
        <p:spPr>
          <a:xfrm>
            <a:off x="10735056" y="451713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1" name="Text 159"/>
          <p:cNvSpPr txBox="1"/>
          <p:nvPr/>
        </p:nvSpPr>
        <p:spPr>
          <a:xfrm>
            <a:off x="6208776" y="486918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62" name="Text 160"/>
          <p:cNvSpPr txBox="1"/>
          <p:nvPr/>
        </p:nvSpPr>
        <p:spPr>
          <a:xfrm>
            <a:off x="6565392" y="486918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3" name="Shape 161"/>
          <p:cNvSpPr/>
          <p:nvPr/>
        </p:nvSpPr>
        <p:spPr>
          <a:xfrm>
            <a:off x="8421624" y="4948390"/>
            <a:ext cx="18288" cy="193624"/>
          </a:xfrm>
          <a:prstGeom prst="rect">
            <a:avLst/>
          </a:prstGeom>
          <a:solidFill>
            <a:srgbClr val="12A566"/>
          </a:solidFill>
          <a:ln/>
        </p:spPr>
      </p:sp>
      <p:sp>
        <p:nvSpPr>
          <p:cNvPr id="164" name="Text 162"/>
          <p:cNvSpPr txBox="1"/>
          <p:nvPr/>
        </p:nvSpPr>
        <p:spPr>
          <a:xfrm>
            <a:off x="8577072" y="486918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a:t>
            </a:r>
            <a:endParaRPr lang="en-US" sz="1300" dirty="0"/>
          </a:p>
        </p:txBody>
      </p:sp>
      <p:sp>
        <p:nvSpPr>
          <p:cNvPr id="165" name="Text 163"/>
          <p:cNvSpPr txBox="1"/>
          <p:nvPr/>
        </p:nvSpPr>
        <p:spPr>
          <a:xfrm>
            <a:off x="9363456" y="486918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6" name="Text 164"/>
          <p:cNvSpPr txBox="1"/>
          <p:nvPr/>
        </p:nvSpPr>
        <p:spPr>
          <a:xfrm>
            <a:off x="10021824" y="486918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7" name="Text 165"/>
          <p:cNvSpPr txBox="1"/>
          <p:nvPr/>
        </p:nvSpPr>
        <p:spPr>
          <a:xfrm>
            <a:off x="10735056" y="486918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68" name="Text 166"/>
          <p:cNvSpPr txBox="1"/>
          <p:nvPr/>
        </p:nvSpPr>
        <p:spPr>
          <a:xfrm>
            <a:off x="6208776" y="522122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69" name="Text 167"/>
          <p:cNvSpPr txBox="1"/>
          <p:nvPr/>
        </p:nvSpPr>
        <p:spPr>
          <a:xfrm>
            <a:off x="6565392" y="522122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0" name="Shape 168"/>
          <p:cNvSpPr/>
          <p:nvPr/>
        </p:nvSpPr>
        <p:spPr>
          <a:xfrm>
            <a:off x="8421624" y="5300434"/>
            <a:ext cx="18288" cy="193624"/>
          </a:xfrm>
          <a:prstGeom prst="rect">
            <a:avLst/>
          </a:prstGeom>
          <a:solidFill>
            <a:srgbClr val="12A566"/>
          </a:solidFill>
          <a:ln/>
        </p:spPr>
      </p:sp>
      <p:sp>
        <p:nvSpPr>
          <p:cNvPr id="171" name="Text 169"/>
          <p:cNvSpPr txBox="1"/>
          <p:nvPr/>
        </p:nvSpPr>
        <p:spPr>
          <a:xfrm>
            <a:off x="8577072" y="522122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a:t>
            </a:r>
            <a:endParaRPr lang="en-US" sz="1300" dirty="0"/>
          </a:p>
        </p:txBody>
      </p:sp>
      <p:sp>
        <p:nvSpPr>
          <p:cNvPr id="172" name="Text 170"/>
          <p:cNvSpPr txBox="1"/>
          <p:nvPr/>
        </p:nvSpPr>
        <p:spPr>
          <a:xfrm>
            <a:off x="9363456" y="522122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73" name="Text 171"/>
          <p:cNvSpPr txBox="1"/>
          <p:nvPr/>
        </p:nvSpPr>
        <p:spPr>
          <a:xfrm>
            <a:off x="10021824" y="522122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74" name="Text 172"/>
          <p:cNvSpPr txBox="1"/>
          <p:nvPr/>
        </p:nvSpPr>
        <p:spPr>
          <a:xfrm>
            <a:off x="10735056" y="522122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75" name="Shape 173"/>
          <p:cNvSpPr/>
          <p:nvPr/>
        </p:nvSpPr>
        <p:spPr>
          <a:xfrm>
            <a:off x="6085332" y="1700784"/>
            <a:ext cx="10973" cy="4224528"/>
          </a:xfrm>
          <a:prstGeom prst="rect">
            <a:avLst/>
          </a:prstGeom>
          <a:solidFill>
            <a:srgbClr val="D9D9D9"/>
          </a:solidFill>
          <a:ln/>
        </p:spPr>
      </p:sp>
      <p:sp>
        <p:nvSpPr>
          <p:cNvPr id="176" name="Shape 174"/>
          <p:cNvSpPr/>
          <p:nvPr/>
        </p:nvSpPr>
        <p:spPr>
          <a:xfrm>
            <a:off x="457200" y="6126480"/>
            <a:ext cx="11274552" cy="371856"/>
          </a:xfrm>
          <a:prstGeom prst="rect">
            <a:avLst/>
          </a:prstGeom>
          <a:solidFill>
            <a:srgbClr val="E6F6EE"/>
          </a:solidFill>
          <a:ln/>
        </p:spPr>
      </p:sp>
      <p:sp>
        <p:nvSpPr>
          <p:cNvPr id="177" name="Text 17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stores set 98 all-time monthly records in 2026. Honda Spokane and Nissan lead with 9 each.</a:t>
            </a:r>
            <a:endParaRPr lang="en-US" sz="16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Sell hours, build value, sell peace of mind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visits: don't say no to dollars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Generate throughput: max out hours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retention and sell cars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Sales sells the first car. Service sells the next six.</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car, every time: follow the processes you have in place, consistently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Processes only work when they are actively managed</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ahead of 2025 in six of nine months.</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$20.59M</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a month over the last twelve months.</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262503"/>
          </a:xfrm>
          <a:prstGeom prst="rect">
            <a:avLst/>
          </a:prstGeom>
          <a:solidFill>
            <a:srgbClr val="2587C5"/>
          </a:solidFill>
          <a:ln/>
        </p:spPr>
      </p:sp>
      <p:sp>
        <p:nvSpPr>
          <p:cNvPr id="21" name="Text 19"/>
          <p:cNvSpPr txBox="1"/>
          <p:nvPr/>
        </p:nvSpPr>
        <p:spPr>
          <a:xfrm>
            <a:off x="5266944"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written process, followed on every car, every time, tracked and managed daily</a:t>
            </a:r>
            <a:endParaRPr lang="en-US" sz="1400" dirty="0"/>
          </a:p>
        </p:txBody>
      </p:sp>
      <p:sp>
        <p:nvSpPr>
          <p:cNvPr id="22" name="Shape 20"/>
          <p:cNvSpPr/>
          <p:nvPr/>
        </p:nvSpPr>
        <p:spPr>
          <a:xfrm>
            <a:off x="8394192" y="3410712"/>
            <a:ext cx="45720" cy="1262503"/>
          </a:xfrm>
          <a:prstGeom prst="rect">
            <a:avLst/>
          </a:prstGeom>
          <a:solidFill>
            <a:srgbClr val="2587C5"/>
          </a:solidFill>
          <a:ln/>
        </p:spPr>
      </p:sp>
      <p:sp>
        <p:nvSpPr>
          <p:cNvPr id="23" name="Text 21"/>
          <p:cNvSpPr txBox="1"/>
          <p:nvPr/>
        </p:nvSpPr>
        <p:spPr>
          <a:xfrm>
            <a:off x="8522208"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Right work, right tech. Hourly pay, guarantees and bonuses paid off the RO are unapplied labor and lower gross</a:t>
            </a:r>
            <a:endParaRPr lang="en-US" sz="1400" dirty="0"/>
          </a:p>
        </p:txBody>
      </p:sp>
      <p:sp>
        <p:nvSpPr>
          <p:cNvPr id="24" name="Shape 22"/>
          <p:cNvSpPr/>
          <p:nvPr/>
        </p:nvSpPr>
        <p:spPr>
          <a:xfrm>
            <a:off x="5138928" y="4782943"/>
            <a:ext cx="45720" cy="1005209"/>
          </a:xfrm>
          <a:prstGeom prst="rect">
            <a:avLst/>
          </a:prstGeom>
          <a:solidFill>
            <a:srgbClr val="2587C5"/>
          </a:solidFill>
          <a:ln/>
        </p:spPr>
      </p:sp>
      <p:sp>
        <p:nvSpPr>
          <p:cNvPr id="25" name="Text 23"/>
          <p:cNvSpPr txBox="1"/>
          <p:nvPr/>
        </p:nvSpPr>
        <p:spPr>
          <a:xfrm>
            <a:off x="5266944"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dollar of labor sold brings more parts gross with it</a:t>
            </a:r>
            <a:endParaRPr lang="en-US" sz="1400" dirty="0"/>
          </a:p>
        </p:txBody>
      </p:sp>
      <p:sp>
        <p:nvSpPr>
          <p:cNvPr id="26" name="Shape 24"/>
          <p:cNvSpPr/>
          <p:nvPr/>
        </p:nvSpPr>
        <p:spPr>
          <a:xfrm>
            <a:off x="8394192" y="4782943"/>
            <a:ext cx="45720" cy="1005209"/>
          </a:xfrm>
          <a:prstGeom prst="rect">
            <a:avLst/>
          </a:prstGeom>
          <a:solidFill>
            <a:srgbClr val="2587C5"/>
          </a:solidFill>
          <a:ln/>
        </p:spPr>
      </p:sp>
      <p:sp>
        <p:nvSpPr>
          <p:cNvPr id="27" name="Text 25"/>
          <p:cNvSpPr txBox="1"/>
          <p:nvPr/>
        </p:nvSpPr>
        <p:spPr>
          <a:xfrm>
            <a:off x="8522208"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Retail, wholesale, tires and oil. Wholesale has to make sense: its gross must cover what it costs to run</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+$7,468,567 (4.1%) year to date; 6 of nine months ahead of 2025, best September at +$2,098,497.</a:t>
            </a:r>
            <a:endParaRPr lang="en-US" sz="16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339226"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67458"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98871"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815948"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776819"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97445"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534720"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98047"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80108"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11218"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87746"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87152"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030502"/>
            <a:ext cx="366719"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270397"/>
            <a:ext cx="361706"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60997"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5750188"/>
            <a:ext cx="338585"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1860"/>
            <a:ext cx="335529"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31679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87606"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84566"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76517"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67522"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41377"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34183"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218568"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189081"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310815"/>
            <a:ext cx="184970"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550711"/>
            <a:ext cx="18374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7870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2886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24271"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8355"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$22.59M of the group's $188.80M; VW St George is smallest at $968,018.</a:t>
            </a:r>
            <a:endParaRPr lang="en-US" sz="16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+$7.47M  ·  +4.1%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963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7" name="Shape 25"/>
          <p:cNvSpPr/>
          <p:nvPr/>
        </p:nvSpPr>
        <p:spPr>
          <a:xfrm>
            <a:off x="3579876" y="2629341"/>
            <a:ext cx="30041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+$932K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2" name="Shape 30"/>
          <p:cNvSpPr/>
          <p:nvPr/>
        </p:nvSpPr>
        <p:spPr>
          <a:xfrm>
            <a:off x="3579876" y="2853100"/>
            <a:ext cx="24622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+$764K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5" name="Shape 33"/>
          <p:cNvSpPr/>
          <p:nvPr/>
        </p:nvSpPr>
        <p:spPr>
          <a:xfrm>
            <a:off x="5907024" y="2838405"/>
            <a:ext cx="54864" cy="132319"/>
          </a:xfrm>
          <a:prstGeom prst="rect">
            <a:avLst/>
          </a:prstGeom>
          <a:solidFill>
            <a:srgbClr val="12A566"/>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231280"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+$717K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+31.7%</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3579876" y="3300618"/>
            <a:ext cx="214115"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+$664K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579876" y="3524377"/>
            <a:ext cx="188889" cy="102929"/>
          </a:xfrm>
          <a:prstGeom prst="rect">
            <a:avLst/>
          </a:prstGeom>
          <a:solidFill>
            <a:srgbClr val="12A566"/>
          </a:solidFill>
          <a:ln/>
        </p:spPr>
      </p:sp>
      <p:sp>
        <p:nvSpPr>
          <p:cNvPr id="50" name="Text 48"/>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+$586K</a:t>
            </a:r>
            <a:endParaRPr lang="en-US" sz="1200" dirty="0"/>
          </a:p>
        </p:txBody>
      </p:sp>
      <p:sp>
        <p:nvSpPr>
          <p:cNvPr id="51" name="Text 49"/>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+13.0%</a:t>
            </a:r>
            <a:endParaRPr lang="en-US" sz="1200" dirty="0"/>
          </a:p>
        </p:txBody>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4" name="Shape 52"/>
          <p:cNvSpPr/>
          <p:nvPr/>
        </p:nvSpPr>
        <p:spPr>
          <a:xfrm>
            <a:off x="3579876" y="3748136"/>
            <a:ext cx="175547"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+$545K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9" name="Shape 57"/>
          <p:cNvSpPr/>
          <p:nvPr/>
        </p:nvSpPr>
        <p:spPr>
          <a:xfrm>
            <a:off x="3579876" y="3971895"/>
            <a:ext cx="152295"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+$472K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4" name="Shape 62"/>
          <p:cNvSpPr/>
          <p:nvPr/>
        </p:nvSpPr>
        <p:spPr>
          <a:xfrm>
            <a:off x="3579876" y="4195654"/>
            <a:ext cx="143334"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3579876" y="4419414"/>
            <a:ext cx="136162"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a:t>
            </a:r>
            <a:endParaRPr lang="en-US" sz="1200" dirty="0"/>
          </a:p>
        </p:txBody>
      </p:sp>
      <p:sp>
        <p:nvSpPr>
          <p:cNvPr id="72" name="Text 70"/>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3" name="Text 71"/>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4" name="Shape 72"/>
          <p:cNvSpPr/>
          <p:nvPr/>
        </p:nvSpPr>
        <p:spPr>
          <a:xfrm>
            <a:off x="3579876" y="4643173"/>
            <a:ext cx="130403" cy="102929"/>
          </a:xfrm>
          <a:prstGeom prst="rect">
            <a:avLst/>
          </a:prstGeom>
          <a:solidFill>
            <a:srgbClr val="12A566"/>
          </a:solidFill>
          <a:ln/>
        </p:spPr>
      </p:sp>
      <p:sp>
        <p:nvSpPr>
          <p:cNvPr id="75" name="Text 73"/>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+$404K</a:t>
            </a:r>
            <a:endParaRPr lang="en-US" sz="1200" dirty="0"/>
          </a:p>
        </p:txBody>
      </p:sp>
      <p:sp>
        <p:nvSpPr>
          <p:cNvPr id="76" name="Text 74"/>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77" name="Shape 75"/>
          <p:cNvSpPr/>
          <p:nvPr/>
        </p:nvSpPr>
        <p:spPr>
          <a:xfrm>
            <a:off x="5907024" y="4628478"/>
            <a:ext cx="54864" cy="132319"/>
          </a:xfrm>
          <a:prstGeom prst="rect">
            <a:avLst/>
          </a:prstGeom>
          <a:solidFill>
            <a:srgbClr val="12A566"/>
          </a:solidFill>
          <a:ln/>
        </p:spPr>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0" name="Shape 78"/>
          <p:cNvSpPr/>
          <p:nvPr/>
        </p:nvSpPr>
        <p:spPr>
          <a:xfrm>
            <a:off x="3579876" y="4866932"/>
            <a:ext cx="12022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118653"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+$368K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0" name="Shape 88"/>
          <p:cNvSpPr/>
          <p:nvPr/>
        </p:nvSpPr>
        <p:spPr>
          <a:xfrm>
            <a:off x="3579876" y="5314450"/>
            <a:ext cx="69607"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+$216K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5" name="Shape 93"/>
          <p:cNvSpPr/>
          <p:nvPr/>
        </p:nvSpPr>
        <p:spPr>
          <a:xfrm>
            <a:off x="3579876" y="5538209"/>
            <a:ext cx="57491"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+$178K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0" name="Shape 98"/>
          <p:cNvSpPr/>
          <p:nvPr/>
        </p:nvSpPr>
        <p:spPr>
          <a:xfrm>
            <a:off x="3579876" y="5761968"/>
            <a:ext cx="5051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5" name="Shape 103"/>
          <p:cNvSpPr/>
          <p:nvPr/>
        </p:nvSpPr>
        <p:spPr>
          <a:xfrm>
            <a:off x="9130284" y="2181823"/>
            <a:ext cx="43577"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0" name="Shape 108"/>
          <p:cNvSpPr/>
          <p:nvPr/>
        </p:nvSpPr>
        <p:spPr>
          <a:xfrm>
            <a:off x="9130284" y="2405582"/>
            <a:ext cx="40298"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+$125K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5" name="Shape 113"/>
          <p:cNvSpPr/>
          <p:nvPr/>
        </p:nvSpPr>
        <p:spPr>
          <a:xfrm>
            <a:off x="9130284" y="2629341"/>
            <a:ext cx="38573"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0" name="Shape 118"/>
          <p:cNvSpPr/>
          <p:nvPr/>
        </p:nvSpPr>
        <p:spPr>
          <a:xfrm>
            <a:off x="9130284" y="2853100"/>
            <a:ext cx="30667"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30284" y="3076859"/>
            <a:ext cx="28430"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130284" y="3300618"/>
            <a:ext cx="20244"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5" name="Shape 133"/>
          <p:cNvSpPr/>
          <p:nvPr/>
        </p:nvSpPr>
        <p:spPr>
          <a:xfrm>
            <a:off x="9130284" y="3524377"/>
            <a:ext cx="12802" cy="102929"/>
          </a:xfrm>
          <a:prstGeom prst="rect">
            <a:avLst/>
          </a:prstGeom>
          <a:solidFill>
            <a:srgbClr val="12A566"/>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30284" y="3748136"/>
            <a:ext cx="12802" cy="102929"/>
          </a:xfrm>
          <a:prstGeom prst="rect">
            <a:avLst/>
          </a:prstGeom>
          <a:solidFill>
            <a:srgbClr val="12A566"/>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5" name="Shape 143"/>
          <p:cNvSpPr/>
          <p:nvPr/>
        </p:nvSpPr>
        <p:spPr>
          <a:xfrm>
            <a:off x="9077784" y="3971895"/>
            <a:ext cx="52500"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1" name="Shape 149"/>
          <p:cNvSpPr/>
          <p:nvPr/>
        </p:nvSpPr>
        <p:spPr>
          <a:xfrm>
            <a:off x="9064631" y="4195654"/>
            <a:ext cx="65653"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−$204K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6" name="Shape 154"/>
          <p:cNvSpPr/>
          <p:nvPr/>
        </p:nvSpPr>
        <p:spPr>
          <a:xfrm>
            <a:off x="8989404" y="4419414"/>
            <a:ext cx="140880"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−$437K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8969548" y="4643173"/>
            <a:ext cx="160736"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8963677" y="4866932"/>
            <a:ext cx="166607"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−$517K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−15.2%</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2" name="Shape 170"/>
          <p:cNvSpPr/>
          <p:nvPr/>
        </p:nvSpPr>
        <p:spPr>
          <a:xfrm>
            <a:off x="8962691" y="5090691"/>
            <a:ext cx="167593"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−$520K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884884" y="5314450"/>
            <a:ext cx="245400"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−$761K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−13.7%</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59512" y="5538209"/>
            <a:ext cx="27077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−$840K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89" name="Shape 187"/>
          <p:cNvSpPr/>
          <p:nvPr/>
        </p:nvSpPr>
        <p:spPr>
          <a:xfrm>
            <a:off x="457200" y="6126480"/>
            <a:ext cx="11274552" cy="615696"/>
          </a:xfrm>
          <a:prstGeom prst="rect">
            <a:avLst/>
          </a:prstGeom>
          <a:solidFill>
            <a:srgbClr val="E6F6EE"/>
          </a:solidFill>
          <a:ln/>
        </p:spPr>
      </p:sp>
      <p:sp>
        <p:nvSpPr>
          <p:cNvPr id="190" name="Text 18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grew. Toyota Henderson added the most at +$1.77M (+8.5%); Honda North fell most at −$840K (−8.9%).</a:t>
            </a:r>
            <a:endParaRPr lang="en-US" sz="16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$1.54M</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$2.26M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$2.98M</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+31.7%</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$4.15M</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+22.6%</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$10.64M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$12.34M</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$2.70M</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$2.89M</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−15.2%</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$968K</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−14.4%</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$4.79M</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$4.46M</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$9.46M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$8.62M</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$425K</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+35.7%</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$301K</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$429K</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63" name="Text 61"/>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4" name="Text 62"/>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$448K</a:t>
            </a:r>
            <a:endParaRPr lang="en-US" sz="1400" dirty="0"/>
          </a:p>
        </p:txBody>
      </p:sp>
      <p:sp>
        <p:nvSpPr>
          <p:cNvPr id="65" name="Text 63"/>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66" name="Shape 64"/>
          <p:cNvSpPr/>
          <p:nvPr/>
        </p:nvSpPr>
        <p:spPr>
          <a:xfrm>
            <a:off x="8040624" y="5124298"/>
            <a:ext cx="3489960" cy="755294"/>
          </a:xfrm>
          <a:prstGeom prst="rect">
            <a:avLst/>
          </a:prstGeom>
          <a:solidFill>
            <a:srgbClr val="F7F7F7"/>
          </a:solidFill>
          <a:ln/>
        </p:spPr>
      </p:sp>
      <p:sp>
        <p:nvSpPr>
          <p:cNvPr id="67" name="Shape 65"/>
          <p:cNvSpPr/>
          <p:nvPr/>
        </p:nvSpPr>
        <p:spPr>
          <a:xfrm>
            <a:off x="11466576" y="5160874"/>
            <a:ext cx="64008" cy="682142"/>
          </a:xfrm>
          <a:prstGeom prst="rect">
            <a:avLst/>
          </a:prstGeom>
          <a:solidFill>
            <a:srgbClr val="12A566"/>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$188K</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Lexus what changed. Ask Acura, VW St George and VW Henderson what got in the way. Ask Mazda, Kia St George and LR Henderson what they started this year.</a:t>
            </a:r>
            <a:endParaRPr lang="en-US" sz="160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+$6,297,386 (5.2%) year to date; 9 of nine months ahead of 2025, best September at +$1,457,847.</a:t>
            </a:r>
            <a:endParaRPr lang="en-US" sz="16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1178132"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1171781"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82405"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871442"/>
            <a:ext cx="724430"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111337"/>
            <a:ext cx="698259"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60750"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455591"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52277"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10917"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05463"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90976"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5612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030502"/>
            <a:ext cx="352683"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270397"/>
            <a:ext cx="340845"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39380"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5750188"/>
            <a:ext cx="329329"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1860"/>
            <a:ext cx="311294"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27027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56215"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45763"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38967"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35763"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32807"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10714"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178756"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62808"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310815"/>
            <a:ext cx="160552"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55672"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13164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1655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1079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65691"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$16.38M of the group's $126.87M; VW St George is smallest at $588,480.</a:t>
            </a:r>
            <a:endParaRPr lang="en-US" sz="16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+$6.30M  ·  +5.2%</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+$1.50M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0193"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243705"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+$639K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+27.7%</a:t>
            </a:r>
            <a:endParaRPr lang="en-US" sz="1200" dirty="0"/>
          </a:p>
        </p:txBody>
      </p:sp>
      <p:sp>
        <p:nvSpPr>
          <p:cNvPr id="30" name="Shape 28"/>
          <p:cNvSpPr/>
          <p:nvPr/>
        </p:nvSpPr>
        <p:spPr>
          <a:xfrm>
            <a:off x="5907024" y="2614646"/>
            <a:ext cx="54864" cy="132319"/>
          </a:xfrm>
          <a:prstGeom prst="rect">
            <a:avLst/>
          </a:prstGeom>
          <a:solidFill>
            <a:srgbClr val="12A566"/>
          </a:solidFill>
          <a:ln/>
        </p:spPr>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579876" y="2853100"/>
            <a:ext cx="236000"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+$619K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3579876" y="3076859"/>
            <a:ext cx="23287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3" name="Shape 41"/>
          <p:cNvSpPr/>
          <p:nvPr/>
        </p:nvSpPr>
        <p:spPr>
          <a:xfrm>
            <a:off x="3579876" y="3300618"/>
            <a:ext cx="229387"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8" name="Shape 46"/>
          <p:cNvSpPr/>
          <p:nvPr/>
        </p:nvSpPr>
        <p:spPr>
          <a:xfrm>
            <a:off x="3579876" y="3524377"/>
            <a:ext cx="181006"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+$475K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51" name="Shape 49"/>
          <p:cNvSpPr/>
          <p:nvPr/>
        </p:nvSpPr>
        <p:spPr>
          <a:xfrm>
            <a:off x="5907024" y="3509682"/>
            <a:ext cx="54864" cy="132319"/>
          </a:xfrm>
          <a:prstGeom prst="rect">
            <a:avLst/>
          </a:prstGeom>
          <a:solidFill>
            <a:srgbClr val="12A566"/>
          </a:solidFill>
          <a:ln/>
        </p:spPr>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579876" y="3748136"/>
            <a:ext cx="148529"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+$390K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9" name="Shape 57"/>
          <p:cNvSpPr/>
          <p:nvPr/>
        </p:nvSpPr>
        <p:spPr>
          <a:xfrm>
            <a:off x="3579876" y="3971895"/>
            <a:ext cx="146541"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4" name="Shape 62"/>
          <p:cNvSpPr/>
          <p:nvPr/>
        </p:nvSpPr>
        <p:spPr>
          <a:xfrm>
            <a:off x="3579876" y="4195654"/>
            <a:ext cx="131469"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+53.3%</a:t>
            </a:r>
            <a:endParaRPr lang="en-US" sz="1200" dirty="0"/>
          </a:p>
        </p:txBody>
      </p:sp>
      <p:sp>
        <p:nvSpPr>
          <p:cNvPr id="67" name="Shape 65"/>
          <p:cNvSpPr/>
          <p:nvPr/>
        </p:nvSpPr>
        <p:spPr>
          <a:xfrm>
            <a:off x="5907024" y="4180960"/>
            <a:ext cx="54864" cy="132319"/>
          </a:xfrm>
          <a:prstGeom prst="rect">
            <a:avLst/>
          </a:prstGeom>
          <a:solidFill>
            <a:srgbClr val="12A566"/>
          </a:solidFill>
          <a:ln/>
        </p:spPr>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0" name="Shape 68"/>
          <p:cNvSpPr/>
          <p:nvPr/>
        </p:nvSpPr>
        <p:spPr>
          <a:xfrm>
            <a:off x="3579876" y="4419414"/>
            <a:ext cx="120062"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5" name="Shape 73"/>
          <p:cNvSpPr/>
          <p:nvPr/>
        </p:nvSpPr>
        <p:spPr>
          <a:xfrm>
            <a:off x="3579876" y="4643173"/>
            <a:ext cx="111374"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3579876" y="4866932"/>
            <a:ext cx="8916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+$234K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82605"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0" name="Shape 88"/>
          <p:cNvSpPr/>
          <p:nvPr/>
        </p:nvSpPr>
        <p:spPr>
          <a:xfrm>
            <a:off x="3579876" y="5314450"/>
            <a:ext cx="76873"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+$202K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5" name="Shape 93"/>
          <p:cNvSpPr/>
          <p:nvPr/>
        </p:nvSpPr>
        <p:spPr>
          <a:xfrm>
            <a:off x="3579876" y="5538209"/>
            <a:ext cx="74606"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0" name="Shape 98"/>
          <p:cNvSpPr/>
          <p:nvPr/>
        </p:nvSpPr>
        <p:spPr>
          <a:xfrm>
            <a:off x="3579876" y="5761968"/>
            <a:ext cx="6446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30284" y="2181823"/>
            <a:ext cx="61599"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30284" y="2405582"/>
            <a:ext cx="43013"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5" name="Shape 113"/>
          <p:cNvSpPr/>
          <p:nvPr/>
        </p:nvSpPr>
        <p:spPr>
          <a:xfrm>
            <a:off x="9130284" y="2629341"/>
            <a:ext cx="25977"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0" name="Shape 118"/>
          <p:cNvSpPr/>
          <p:nvPr/>
        </p:nvSpPr>
        <p:spPr>
          <a:xfrm>
            <a:off x="9130284" y="2853100"/>
            <a:ext cx="12802"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130284" y="3076859"/>
            <a:ext cx="12802"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0" name="Shape 128"/>
          <p:cNvSpPr/>
          <p:nvPr/>
        </p:nvSpPr>
        <p:spPr>
          <a:xfrm>
            <a:off x="9130284" y="3300618"/>
            <a:ext cx="12802"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5" name="Shape 133"/>
          <p:cNvSpPr/>
          <p:nvPr/>
        </p:nvSpPr>
        <p:spPr>
          <a:xfrm>
            <a:off x="9121165"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−$24K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19721" y="3748136"/>
            <a:ext cx="12802"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5" name="Shape 143"/>
          <p:cNvSpPr/>
          <p:nvPr/>
        </p:nvSpPr>
        <p:spPr>
          <a:xfrm>
            <a:off x="9108276" y="3971895"/>
            <a:ext cx="22008"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0" name="Shape 148"/>
          <p:cNvSpPr/>
          <p:nvPr/>
        </p:nvSpPr>
        <p:spPr>
          <a:xfrm>
            <a:off x="9078809" y="4195654"/>
            <a:ext cx="51475"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53" name="Shape 151"/>
          <p:cNvSpPr/>
          <p:nvPr/>
        </p:nvSpPr>
        <p:spPr>
          <a:xfrm>
            <a:off x="11457432" y="4180960"/>
            <a:ext cx="54864" cy="132319"/>
          </a:xfrm>
          <a:prstGeom prst="rect">
            <a:avLst/>
          </a:prstGeom>
          <a:solidFill>
            <a:srgbClr val="C2352F"/>
          </a:solidFill>
          <a:ln/>
        </p:spPr>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6" name="Shape 154"/>
          <p:cNvSpPr/>
          <p:nvPr/>
        </p:nvSpPr>
        <p:spPr>
          <a:xfrm>
            <a:off x="9057123" y="4419414"/>
            <a:ext cx="73161"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−$192K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9049734" y="4643173"/>
            <a:ext cx="80550"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−$211K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66" name="Shape 164"/>
          <p:cNvSpPr/>
          <p:nvPr/>
        </p:nvSpPr>
        <p:spPr>
          <a:xfrm>
            <a:off x="8979773" y="4866932"/>
            <a:ext cx="150511"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−$395K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1" name="Shape 169"/>
          <p:cNvSpPr/>
          <p:nvPr/>
        </p:nvSpPr>
        <p:spPr>
          <a:xfrm>
            <a:off x="8963351" y="5090691"/>
            <a:ext cx="166933"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−$438K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921692" y="5314450"/>
            <a:ext cx="208592"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65502" y="5538209"/>
            <a:ext cx="26478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−$695K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89" name="Shape 187"/>
          <p:cNvSpPr/>
          <p:nvPr/>
        </p:nvSpPr>
        <p:spPr>
          <a:xfrm>
            <a:off x="457200" y="6126480"/>
            <a:ext cx="11274552" cy="615696"/>
          </a:xfrm>
          <a:prstGeom prst="rect">
            <a:avLst/>
          </a:prstGeom>
          <a:solidFill>
            <a:srgbClr val="E6F6EE"/>
          </a:solidFill>
          <a:ln/>
        </p:spPr>
      </p:sp>
      <p:sp>
        <p:nvSpPr>
          <p:cNvPr id="190" name="Text 18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grew. Toyota Henderson added the most at +$1.50M (+10.1%); Honda North fell most at −$695K (−10.5%).</a:t>
            </a:r>
            <a:endParaRPr lang="en-US" sz="160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$993K</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+53.3%</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$2.09M</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$2.95M</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+27.7%</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$1.46M</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+27.5%</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$3.63M</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$1.89M</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$724K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$588K</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−18.7%</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$3.50M</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−13.5%</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$5.92M</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$3.04M</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$275K</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$178K</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+34.5%</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Shape 58"/>
          <p:cNvSpPr/>
          <p:nvPr/>
        </p:nvSpPr>
        <p:spPr>
          <a:xfrm>
            <a:off x="11466576" y="3650285"/>
            <a:ext cx="64008" cy="682142"/>
          </a:xfrm>
          <a:prstGeom prst="rect">
            <a:avLst/>
          </a:prstGeom>
          <a:solidFill>
            <a:srgbClr val="12A566"/>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$128K</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+34.2%</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$273K</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$290K</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Lexus what changed. Ask Acura, VW St George and VW Henderson what got in the way. Ask Mazda, Kia St George and Hyundai Prescott what they started this year.</a:t>
            </a:r>
            <a:endParaRPr lang="en-US" sz="16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80953"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39299"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631546"/>
            <a:ext cx="1126417"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871442"/>
            <a:ext cx="1042309"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915024"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794248"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743466"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3831024"/>
            <a:ext cx="662635"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618790"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469006"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550711"/>
            <a:ext cx="439517"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4790606"/>
            <a:ext cx="43497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030502"/>
            <a:ext cx="426399"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270397"/>
            <a:ext cx="418024"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510293"/>
            <a:ext cx="410579"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5750188"/>
            <a:ext cx="386930"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1860"/>
            <a:ext cx="385510"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51755"/>
            <a:ext cx="379226"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391651"/>
            <a:ext cx="375575"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631546"/>
            <a:ext cx="370418"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871442"/>
            <a:ext cx="351886"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351305"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351233"/>
            <a:ext cx="323594"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591128"/>
            <a:ext cx="321171"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3831024"/>
            <a:ext cx="296096"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277217"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310815"/>
            <a:ext cx="263987"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550711"/>
            <a:ext cx="243434"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226608"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61334"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5981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111766"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$6.21M of the group's $61.93M; VW St George is smallest at $379,537.</a:t>
            </a:r>
            <a:endParaRPr lang="en-US" sz="1600" dirty="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+$1.17M  ·  +1.9%</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+$688K</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+28.4%</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3" name="Shape 21"/>
          <p:cNvSpPr/>
          <p:nvPr/>
        </p:nvSpPr>
        <p:spPr>
          <a:xfrm>
            <a:off x="3579876" y="2405582"/>
            <a:ext cx="266553"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+$321K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26" name="Text 24"/>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579876" y="2629341"/>
            <a:ext cx="238998" cy="102929"/>
          </a:xfrm>
          <a:prstGeom prst="rect">
            <a:avLst/>
          </a:prstGeom>
          <a:solidFill>
            <a:srgbClr val="12A566"/>
          </a:solidFill>
          <a:ln/>
        </p:spPr>
      </p:sp>
      <p:sp>
        <p:nvSpPr>
          <p:cNvPr id="29" name="Text 27"/>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+$288K</a:t>
            </a:r>
            <a:endParaRPr lang="en-US" sz="1200" dirty="0"/>
          </a:p>
        </p:txBody>
      </p:sp>
      <p:sp>
        <p:nvSpPr>
          <p:cNvPr id="30" name="Text 28"/>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a:t>
            </a:r>
            <a:endParaRPr lang="en-US" sz="1200" dirty="0"/>
          </a:p>
        </p:txBody>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3" name="Shape 31"/>
          <p:cNvSpPr/>
          <p:nvPr/>
        </p:nvSpPr>
        <p:spPr>
          <a:xfrm>
            <a:off x="3579876" y="2853100"/>
            <a:ext cx="227128"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8" name="Shape 36"/>
          <p:cNvSpPr/>
          <p:nvPr/>
        </p:nvSpPr>
        <p:spPr>
          <a:xfrm>
            <a:off x="3579876" y="3076859"/>
            <a:ext cx="224863"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+26.0%</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4" name="Shape 42"/>
          <p:cNvSpPr/>
          <p:nvPr/>
        </p:nvSpPr>
        <p:spPr>
          <a:xfrm>
            <a:off x="3579876" y="3300618"/>
            <a:ext cx="20145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0" name="Shape 48"/>
          <p:cNvSpPr/>
          <p:nvPr/>
        </p:nvSpPr>
        <p:spPr>
          <a:xfrm>
            <a:off x="3579876" y="3524377"/>
            <a:ext cx="17500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+$211K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5" name="Shape 53"/>
          <p:cNvSpPr/>
          <p:nvPr/>
        </p:nvSpPr>
        <p:spPr>
          <a:xfrm>
            <a:off x="3579876" y="3748136"/>
            <a:ext cx="131404"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+$158K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0" name="Shape 58"/>
          <p:cNvSpPr/>
          <p:nvPr/>
        </p:nvSpPr>
        <p:spPr>
          <a:xfrm>
            <a:off x="3579876" y="3971895"/>
            <a:ext cx="125702"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+$151K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579876" y="4195654"/>
            <a:ext cx="103334"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+$124K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0" name="Shape 68"/>
          <p:cNvSpPr/>
          <p:nvPr/>
        </p:nvSpPr>
        <p:spPr>
          <a:xfrm>
            <a:off x="3579876" y="4419414"/>
            <a:ext cx="73474"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5" name="Shape 73"/>
          <p:cNvSpPr/>
          <p:nvPr/>
        </p:nvSpPr>
        <p:spPr>
          <a:xfrm>
            <a:off x="3579876" y="4643173"/>
            <a:ext cx="49502"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0" name="Shape 78"/>
          <p:cNvSpPr/>
          <p:nvPr/>
        </p:nvSpPr>
        <p:spPr>
          <a:xfrm>
            <a:off x="3579876" y="4866932"/>
            <a:ext cx="4183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579876" y="5090691"/>
            <a:ext cx="38877"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0" name="Shape 88"/>
          <p:cNvSpPr/>
          <p:nvPr/>
        </p:nvSpPr>
        <p:spPr>
          <a:xfrm>
            <a:off x="3579876" y="5314450"/>
            <a:ext cx="27168"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5" name="Shape 93"/>
          <p:cNvSpPr/>
          <p:nvPr/>
        </p:nvSpPr>
        <p:spPr>
          <a:xfrm>
            <a:off x="3579876" y="5538209"/>
            <a:ext cx="22407"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3579876" y="5761968"/>
            <a:ext cx="1555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26201" y="2181823"/>
            <a:ext cx="12802" cy="102929"/>
          </a:xfrm>
          <a:prstGeom prst="rect">
            <a:avLst/>
          </a:prstGeom>
          <a:solidFill>
            <a:srgbClr val="C2352F"/>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912071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9107185" y="2629341"/>
            <a:ext cx="23099"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20" name="Shape 118"/>
          <p:cNvSpPr/>
          <p:nvPr/>
        </p:nvSpPr>
        <p:spPr>
          <a:xfrm>
            <a:off x="9102703" y="2853100"/>
            <a:ext cx="27581"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095278" y="3076859"/>
            <a:ext cx="35006"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088719" y="3300618"/>
            <a:ext cx="41565"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5" name="Shape 133"/>
          <p:cNvSpPr/>
          <p:nvPr/>
        </p:nvSpPr>
        <p:spPr>
          <a:xfrm>
            <a:off x="9082739" y="3524377"/>
            <a:ext cx="47545"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−$57K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0" name="Shape 138"/>
          <p:cNvSpPr/>
          <p:nvPr/>
        </p:nvSpPr>
        <p:spPr>
          <a:xfrm>
            <a:off x="9079991" y="3748136"/>
            <a:ext cx="50293"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5" name="Shape 143"/>
          <p:cNvSpPr/>
          <p:nvPr/>
        </p:nvSpPr>
        <p:spPr>
          <a:xfrm>
            <a:off x="9064780" y="3971895"/>
            <a:ext cx="65504"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−$79K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0" name="Shape 148"/>
          <p:cNvSpPr/>
          <p:nvPr/>
        </p:nvSpPr>
        <p:spPr>
          <a:xfrm>
            <a:off x="9009622" y="4195654"/>
            <a:ext cx="120662"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153" name="Text 15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4" name="Text 15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5" name="Shape 153"/>
          <p:cNvSpPr/>
          <p:nvPr/>
        </p:nvSpPr>
        <p:spPr>
          <a:xfrm>
            <a:off x="9009094" y="4419414"/>
            <a:ext cx="121190" cy="102929"/>
          </a:xfrm>
          <a:prstGeom prst="rect">
            <a:avLst/>
          </a:prstGeom>
          <a:solidFill>
            <a:srgbClr val="C2352F"/>
          </a:solidFill>
          <a:ln/>
        </p:spPr>
      </p:sp>
      <p:sp>
        <p:nvSpPr>
          <p:cNvPr id="156" name="Text 154"/>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−$146K</a:t>
            </a:r>
            <a:endParaRPr lang="en-US" sz="1200" dirty="0"/>
          </a:p>
        </p:txBody>
      </p:sp>
      <p:sp>
        <p:nvSpPr>
          <p:cNvPr id="157" name="Text 155"/>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58" name="Text 156"/>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0" name="Shape 158"/>
          <p:cNvSpPr/>
          <p:nvPr/>
        </p:nvSpPr>
        <p:spPr>
          <a:xfrm>
            <a:off x="8991431" y="4643173"/>
            <a:ext cx="138853" cy="102929"/>
          </a:xfrm>
          <a:prstGeom prst="rect">
            <a:avLst/>
          </a:prstGeom>
          <a:solidFill>
            <a:srgbClr val="C2352F"/>
          </a:solidFill>
          <a:ln/>
        </p:spPr>
      </p:sp>
      <p:sp>
        <p:nvSpPr>
          <p:cNvPr id="161" name="Text 159"/>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−$167K</a:t>
            </a:r>
            <a:endParaRPr lang="en-US" sz="1200" dirty="0"/>
          </a:p>
        </p:txBody>
      </p:sp>
      <p:sp>
        <p:nvSpPr>
          <p:cNvPr id="162" name="Text 160"/>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63" name="Text 161"/>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5" name="Shape 163"/>
          <p:cNvSpPr/>
          <p:nvPr/>
        </p:nvSpPr>
        <p:spPr>
          <a:xfrm>
            <a:off x="8952555" y="4866932"/>
            <a:ext cx="177729" cy="102929"/>
          </a:xfrm>
          <a:prstGeom prst="rect">
            <a:avLst/>
          </a:prstGeom>
          <a:solidFill>
            <a:srgbClr val="C2352F"/>
          </a:solidFill>
          <a:ln/>
        </p:spPr>
      </p:sp>
      <p:sp>
        <p:nvSpPr>
          <p:cNvPr id="166" name="Text 164"/>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−$214K</a:t>
            </a:r>
            <a:endParaRPr lang="en-US" sz="1200" dirty="0"/>
          </a:p>
        </p:txBody>
      </p:sp>
      <p:sp>
        <p:nvSpPr>
          <p:cNvPr id="167" name="Text 165"/>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68" name="Shape 166"/>
          <p:cNvSpPr/>
          <p:nvPr/>
        </p:nvSpPr>
        <p:spPr>
          <a:xfrm>
            <a:off x="11457432" y="4852237"/>
            <a:ext cx="54864" cy="132319"/>
          </a:xfrm>
          <a:prstGeom prst="rect">
            <a:avLst/>
          </a:prstGeom>
          <a:solidFill>
            <a:srgbClr val="C2352F"/>
          </a:solidFill>
          <a:ln/>
        </p:spPr>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1" name="Shape 169"/>
          <p:cNvSpPr/>
          <p:nvPr/>
        </p:nvSpPr>
        <p:spPr>
          <a:xfrm>
            <a:off x="8941928" y="5090691"/>
            <a:ext cx="188356"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−$227K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77" name="Shape 175"/>
          <p:cNvSpPr/>
          <p:nvPr/>
        </p:nvSpPr>
        <p:spPr>
          <a:xfrm>
            <a:off x="8891687" y="5314450"/>
            <a:ext cx="238597"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82" name="Shape 180"/>
          <p:cNvSpPr/>
          <p:nvPr/>
        </p:nvSpPr>
        <p:spPr>
          <a:xfrm>
            <a:off x="8857921" y="5538209"/>
            <a:ext cx="272363"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−$328K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89" name="Shape 187"/>
          <p:cNvSpPr/>
          <p:nvPr/>
        </p:nvSpPr>
        <p:spPr>
          <a:xfrm>
            <a:off x="457200" y="6126480"/>
            <a:ext cx="11274552" cy="356616"/>
          </a:xfrm>
          <a:prstGeom prst="rect">
            <a:avLst/>
          </a:prstGeom>
          <a:solidFill>
            <a:srgbClr val="E6F6EE"/>
          </a:solidFill>
          <a:ln/>
        </p:spPr>
      </p:sp>
      <p:sp>
        <p:nvSpPr>
          <p:cNvPr id="190" name="Text 18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17 of 33 stores grew. Cadillac added the most at +$688K (+28.4%); Audi Reno fell most at −$328K (−18.8%).</a:t>
            </a:r>
            <a:endParaRPr lang="en-US" sz="150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$896K</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+37.1%</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$3.11M</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+28.4%</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$1.31M</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+26.0%</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$1.09M</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$1.10M</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$827K</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−21.5%</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$1.42M</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$1.29M</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$1.26M</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$2.10M</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$486K</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+43.4%</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$150K</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+31.5%</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$68K</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$123K</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+30.1%</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$198K</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+27.6%</a:t>
            </a:r>
            <a:endParaRPr lang="en-US" sz="1600" dirty="0"/>
          </a:p>
        </p:txBody>
      </p:sp>
      <p:sp>
        <p:nvSpPr>
          <p:cNvPr id="69" name="Shape 67"/>
          <p:cNvSpPr/>
          <p:nvPr/>
        </p:nvSpPr>
        <p:spPr>
          <a:xfrm>
            <a:off x="457200" y="6126480"/>
            <a:ext cx="11274552" cy="600456"/>
          </a:xfrm>
          <a:prstGeom prst="rect">
            <a:avLst/>
          </a:prstGeom>
          <a:solidFill>
            <a:srgbClr val="EDF4FA"/>
          </a:solidFill>
          <a:ln/>
        </p:spPr>
      </p:sp>
      <p:sp>
        <p:nvSpPr>
          <p:cNvPr id="70" name="Text 68"/>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Lincoln, Cadillac and Subaru St George what changed. Ask Hyundai St George, Audi Reno and VW Henderson what got in the way. Ask Audi Henderson, Mazda and Honda Flagstaff what they started this year.</a:t>
            </a:r>
            <a:endParaRPr lang="en-US" sz="155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How much of the whole store's fixed expenses, not just service and parts expenses, the service and parts gross pays for.</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WHAT'S IN TOTAL STORE FIXED EXPENSES</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020803"/>
          </a:xfrm>
          <a:prstGeom prst="rect">
            <a:avLst/>
          </a:prstGeom>
          <a:solidFill>
            <a:srgbClr val="2587C5"/>
          </a:solidFill>
          <a:ln/>
        </p:spPr>
      </p:sp>
      <p:sp>
        <p:nvSpPr>
          <p:cNvPr id="19" name="Text 17"/>
          <p:cNvSpPr txBox="1"/>
          <p:nvPr/>
        </p:nvSpPr>
        <p:spPr>
          <a:xfrm>
            <a:off x="5266944"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Salaries and wages, payroll taxes, benefits, PTO: every department</a:t>
            </a:r>
            <a:endParaRPr lang="en-US" sz="1400" dirty="0"/>
          </a:p>
        </p:txBody>
      </p:sp>
      <p:sp>
        <p:nvSpPr>
          <p:cNvPr id="20" name="Shape 18"/>
          <p:cNvSpPr/>
          <p:nvPr/>
        </p:nvSpPr>
        <p:spPr>
          <a:xfrm>
            <a:off x="8394192" y="3410712"/>
            <a:ext cx="45720" cy="1020803"/>
          </a:xfrm>
          <a:prstGeom prst="rect">
            <a:avLst/>
          </a:prstGeom>
          <a:solidFill>
            <a:srgbClr val="2587C5"/>
          </a:solidFill>
          <a:ln/>
        </p:spPr>
      </p:sp>
      <p:sp>
        <p:nvSpPr>
          <p:cNvPr id="21" name="Text 19"/>
          <p:cNvSpPr txBox="1"/>
          <p:nvPr/>
        </p:nvSpPr>
        <p:spPr>
          <a:xfrm>
            <a:off x="8522208"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building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Rent, depreciation, property taxes, utilities, insurance, repairs</a:t>
            </a:r>
            <a:endParaRPr lang="en-US" sz="1400" dirty="0"/>
          </a:p>
        </p:txBody>
      </p:sp>
      <p:sp>
        <p:nvSpPr>
          <p:cNvPr id="22" name="Shape 20"/>
          <p:cNvSpPr/>
          <p:nvPr/>
        </p:nvSpPr>
        <p:spPr>
          <a:xfrm>
            <a:off x="5138928" y="4541243"/>
            <a:ext cx="45720" cy="1246909"/>
          </a:xfrm>
          <a:prstGeom prst="rect">
            <a:avLst/>
          </a:prstGeom>
          <a:solidFill>
            <a:srgbClr val="2587C5"/>
          </a:solidFill>
          <a:ln/>
        </p:spPr>
      </p:sp>
      <p:sp>
        <p:nvSpPr>
          <p:cNvPr id="23" name="Text 21"/>
          <p:cNvSpPr txBox="1"/>
          <p:nvPr/>
        </p:nvSpPr>
        <p:spPr>
          <a:xfrm>
            <a:off x="5266944"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systems and other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DMS and IT, outside services, phones, training, supplies</a:t>
            </a:r>
            <a:endParaRPr lang="en-US" sz="1400" dirty="0"/>
          </a:p>
        </p:txBody>
      </p:sp>
      <p:sp>
        <p:nvSpPr>
          <p:cNvPr id="24" name="Shape 22"/>
          <p:cNvSpPr/>
          <p:nvPr/>
        </p:nvSpPr>
        <p:spPr>
          <a:xfrm>
            <a:off x="8394192" y="4541243"/>
            <a:ext cx="45720" cy="1246909"/>
          </a:xfrm>
          <a:prstGeom prst="rect">
            <a:avLst/>
          </a:prstGeom>
          <a:solidFill>
            <a:srgbClr val="2587C5"/>
          </a:solidFill>
          <a:ln/>
        </p:spPr>
      </p:sp>
      <p:sp>
        <p:nvSpPr>
          <p:cNvPr id="25" name="Text 23"/>
          <p:cNvSpPr txBox="1"/>
          <p:nvPr/>
        </p:nvSpPr>
        <p:spPr>
          <a:xfrm>
            <a:off x="8522208"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Not included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Sales and F&amp;I commissions, delivery, floorplan interest, new and used vehicle advertising</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5745390"/>
            <a:ext cx="1007984"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07062"/>
            <a:ext cx="1007915"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46957"/>
            <a:ext cx="97975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9564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26748"/>
            <a:ext cx="897553"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866644"/>
            <a:ext cx="89031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106540"/>
            <a:ext cx="88351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860120"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79139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3826226"/>
            <a:ext cx="77437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74372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3022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078224"/>
          </a:xfrm>
          <a:prstGeom prst="rect">
            <a:avLst/>
          </a:prstGeom>
          <a:solidFill>
            <a:srgbClr val="0B2C4A"/>
          </a:solidFill>
          <a:ln/>
        </p:spPr>
      </p:sp>
      <p:sp>
        <p:nvSpPr>
          <p:cNvPr id="144" name="Shape 142"/>
          <p:cNvSpPr/>
          <p:nvPr/>
        </p:nvSpPr>
        <p:spPr>
          <a:xfrm>
            <a:off x="961404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78.1% group, led by Audi Henderson at 106.6%. Hyundai Prescott is lowest at 46.2%.</a:t>
            </a:r>
            <a:endParaRPr lang="en-US" sz="160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626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57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392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4978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190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785616" y="3111337"/>
            <a:ext cx="23443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785616" y="3351233"/>
            <a:ext cx="23412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051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41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255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2080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23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08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7197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1707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57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402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94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639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2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786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33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9330933"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9" name="Shape 107"/>
          <p:cNvSpPr/>
          <p:nvPr/>
        </p:nvSpPr>
        <p:spPr>
          <a:xfrm>
            <a:off x="9329910"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5626"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8072" y="4070920"/>
            <a:ext cx="47952"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667" y="4310815"/>
            <a:ext cx="4935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2720" y="4550711"/>
            <a:ext cx="10330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013" y="4790606"/>
            <a:ext cx="27301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3742" y="5030502"/>
            <a:ext cx="43228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924" y="5270397"/>
            <a:ext cx="45110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led by Lincoln at +16.1 pts to 59.9%. 10 declined; VW St George fell most at −17.4 pts.</a:t>
            </a:r>
            <a:endParaRPr lang="en-US" sz="160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86.1%</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Shape 15"/>
          <p:cNvSpPr/>
          <p:nvPr/>
        </p:nvSpPr>
        <p:spPr>
          <a:xfrm>
            <a:off x="4084320" y="3650285"/>
            <a:ext cx="64008" cy="682142"/>
          </a:xfrm>
          <a:prstGeom prst="rect">
            <a:avLst/>
          </a:prstGeom>
          <a:solidFill>
            <a:srgbClr val="12A566"/>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77.3%</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78.4%</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75.6%</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+5.4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54.1%</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65.8%</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83.8%</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103.6%</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63.1%</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−2.3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82.9%</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+16.3 pts</a:t>
            </a:r>
            <a:endParaRPr lang="en-US" sz="1600" dirty="0"/>
          </a:p>
        </p:txBody>
      </p:sp>
      <p:sp>
        <p:nvSpPr>
          <p:cNvPr id="56" name="Shape 54"/>
          <p:cNvSpPr/>
          <p:nvPr/>
        </p:nvSpPr>
        <p:spPr>
          <a:xfrm>
            <a:off x="11466576" y="2894990"/>
            <a:ext cx="64008" cy="682142"/>
          </a:xfrm>
          <a:prstGeom prst="rect">
            <a:avLst/>
          </a:prstGeom>
          <a:solidFill>
            <a:srgbClr val="12A566"/>
          </a:solidFill>
          <a:ln/>
        </p:spPr>
      </p:sp>
      <p:sp>
        <p:nvSpPr>
          <p:cNvPr id="57" name="Text 55"/>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84.8%</a:t>
            </a:r>
            <a:endParaRPr lang="en-US" sz="1400" dirty="0"/>
          </a:p>
        </p:txBody>
      </p:sp>
      <p:sp>
        <p:nvSpPr>
          <p:cNvPr id="59" name="Text 57"/>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+15.3 pts</a:t>
            </a:r>
            <a:endParaRPr lang="en-US" sz="1600" dirty="0"/>
          </a:p>
        </p:txBody>
      </p:sp>
      <p:sp>
        <p:nvSpPr>
          <p:cNvPr id="60" name="Shape 58"/>
          <p:cNvSpPr/>
          <p:nvPr/>
        </p:nvSpPr>
        <p:spPr>
          <a:xfrm>
            <a:off x="8040624" y="3613709"/>
            <a:ext cx="3489960" cy="755294"/>
          </a:xfrm>
          <a:prstGeom prst="rect">
            <a:avLst/>
          </a:prstGeom>
          <a:solidFill>
            <a:srgbClr val="F7F7F7"/>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73.1%</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 pts</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94.4%</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84.2%</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+10.0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Cadillac and LR Reno what changed. Ask VW St George, Kia St George and VW Henderson what got in the way. Ask LR Henderson, LR Reno and Kia St George what they started this year.</a:t>
            </a:r>
            <a:endParaRPr lang="en-US" sz="160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true measure of how the department performs.</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is what we make; net is what we keep.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can grow while net falls if expenses grow faster.</a:t>
            </a:r>
            <a:endParaRPr lang="en-US" sz="1600" dirty="0"/>
          </a:p>
        </p:txBody>
      </p:sp>
      <p:sp>
        <p:nvSpPr>
          <p:cNvPr id="13" name="Shape 11"/>
          <p:cNvSpPr/>
          <p:nvPr/>
        </p:nvSpPr>
        <p:spPr>
          <a:xfrm>
            <a:off x="5138928" y="2843784"/>
            <a:ext cx="45720" cy="1189887"/>
          </a:xfrm>
          <a:prstGeom prst="rect">
            <a:avLst/>
          </a:prstGeom>
          <a:solidFill>
            <a:srgbClr val="2587C5"/>
          </a:solidFill>
          <a:ln/>
        </p:spPr>
      </p:sp>
      <p:sp>
        <p:nvSpPr>
          <p:cNvPr id="14" name="Text 12"/>
          <p:cNvSpPr txBox="1"/>
          <p:nvPr/>
        </p:nvSpPr>
        <p:spPr>
          <a:xfrm>
            <a:off x="5266944"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189887"/>
          </a:xfrm>
          <a:prstGeom prst="rect">
            <a:avLst/>
          </a:prstGeom>
          <a:solidFill>
            <a:srgbClr val="2587C5"/>
          </a:solidFill>
          <a:ln/>
        </p:spPr>
      </p:sp>
      <p:sp>
        <p:nvSpPr>
          <p:cNvPr id="16" name="Text 14"/>
          <p:cNvSpPr txBox="1"/>
          <p:nvPr/>
        </p:nvSpPr>
        <p:spPr>
          <a:xfrm>
            <a:off x="8522208"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shop tools and equipment, training, advertising, outside services, data processing</a:t>
            </a:r>
            <a:endParaRPr lang="en-US" sz="1400" dirty="0"/>
          </a:p>
        </p:txBody>
      </p:sp>
      <p:sp>
        <p:nvSpPr>
          <p:cNvPr id="17" name="Shape 15"/>
          <p:cNvSpPr/>
          <p:nvPr/>
        </p:nvSpPr>
        <p:spPr>
          <a:xfrm>
            <a:off x="5138928" y="4143399"/>
            <a:ext cx="45720" cy="1644753"/>
          </a:xfrm>
          <a:prstGeom prst="rect">
            <a:avLst/>
          </a:prstGeom>
          <a:solidFill>
            <a:srgbClr val="2587C5"/>
          </a:solidFill>
          <a:ln/>
        </p:spPr>
      </p:sp>
      <p:sp>
        <p:nvSpPr>
          <p:cNvPr id="18" name="Text 16"/>
          <p:cNvSpPr txBox="1"/>
          <p:nvPr/>
        </p:nvSpPr>
        <p:spPr>
          <a:xfrm>
            <a:off x="5266944"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Service policy (work done at no charge to the customer) and warranty claims the manufacturer won't pay</a:t>
            </a:r>
            <a:endParaRPr lang="en-US" sz="1400" dirty="0"/>
          </a:p>
        </p:txBody>
      </p:sp>
      <p:sp>
        <p:nvSpPr>
          <p:cNvPr id="19" name="Shape 17"/>
          <p:cNvSpPr/>
          <p:nvPr/>
        </p:nvSpPr>
        <p:spPr>
          <a:xfrm>
            <a:off x="8394192" y="4143399"/>
            <a:ext cx="45720" cy="1644753"/>
          </a:xfrm>
          <a:prstGeom prst="rect">
            <a:avLst/>
          </a:prstGeom>
          <a:solidFill>
            <a:srgbClr val="2587C5"/>
          </a:solidFill>
          <a:ln/>
        </p:spPr>
      </p:sp>
      <p:sp>
        <p:nvSpPr>
          <p:cNvPr id="20" name="Text 18"/>
          <p:cNvSpPr txBox="1"/>
          <p:nvPr/>
        </p:nvSpPr>
        <p:spPr>
          <a:xfrm>
            <a:off x="8522208"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Outrun your expenses: when net is low, it is either an expense problem or a gross problem</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8" name="Shape 146"/>
          <p:cNvSpPr/>
          <p:nvPr/>
        </p:nvSpPr>
        <p:spPr>
          <a:xfrm>
            <a:off x="457200" y="6126480"/>
            <a:ext cx="11274552" cy="341376"/>
          </a:xfrm>
          <a:prstGeom prst="rect">
            <a:avLst/>
          </a:prstGeom>
          <a:solidFill>
            <a:srgbClr val="EDF4FA"/>
          </a:solidFill>
          <a:ln/>
        </p:spPr>
      </p:sp>
      <p:sp>
        <p:nvSpPr>
          <p:cNvPr id="149" name="Text 14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10 of 33 stores at or above the 21.8% group, led by Honda Henderson at 43.0%. GMC Prescott is lowest at -38.1%.</a:t>
            </a:r>
            <a:endParaRPr lang="en-US" sz="1400"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30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0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835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713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0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45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07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4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71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91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31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72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845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88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785616" y="5510293"/>
            <a:ext cx="9571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785616" y="5750188"/>
            <a:ext cx="9517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237"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707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497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2170"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4496"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258"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116" y="3831024"/>
            <a:ext cx="3490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3123" y="4070920"/>
            <a:ext cx="5290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3086" y="4310815"/>
            <a:ext cx="7293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4126" y="4550711"/>
            <a:ext cx="9189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6373" y="4790606"/>
            <a:ext cx="1196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39860" y="5030502"/>
            <a:ext cx="19616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1728" y="5270397"/>
            <a:ext cx="254296"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3274" y="5510293"/>
            <a:ext cx="62275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led by Hyundai Prescott at +33.5 pts to -19.2%. 9 declined; VW St George fell most at −26.8 pts.</a:t>
            </a:r>
            <a:endParaRPr lang="en-US" sz="1600" dirty="0"/>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+33.5 pts</a:t>
            </a:r>
            <a:endParaRPr lang="en-US" sz="1600" dirty="0"/>
          </a:p>
        </p:txBody>
      </p:sp>
      <p:sp>
        <p:nvSpPr>
          <p:cNvPr id="14" name="Shape 12"/>
          <p:cNvSpPr/>
          <p:nvPr/>
        </p:nvSpPr>
        <p:spPr>
          <a:xfrm>
            <a:off x="4084320" y="2894990"/>
            <a:ext cx="64008" cy="682142"/>
          </a:xfrm>
          <a:prstGeom prst="rect">
            <a:avLst/>
          </a:prstGeom>
          <a:solidFill>
            <a:srgbClr val="12A566"/>
          </a:solidFill>
          <a:ln/>
        </p:spPr>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a:t>
            </a:r>
            <a:endParaRPr lang="en-US" sz="1400" dirty="0"/>
          </a:p>
        </p:txBody>
      </p:sp>
      <p:sp>
        <p:nvSpPr>
          <p:cNvPr id="17" name="Text 15"/>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 pts</a:t>
            </a:r>
            <a:endParaRPr lang="en-US" sz="1600" dirty="0"/>
          </a:p>
        </p:txBody>
      </p:sp>
      <p:sp>
        <p:nvSpPr>
          <p:cNvPr id="18" name="Shape 16"/>
          <p:cNvSpPr/>
          <p:nvPr/>
        </p:nvSpPr>
        <p:spPr>
          <a:xfrm>
            <a:off x="658368" y="3613709"/>
            <a:ext cx="3489960" cy="755294"/>
          </a:xfrm>
          <a:prstGeom prst="rect">
            <a:avLst/>
          </a:prstGeom>
          <a:solidFill>
            <a:srgbClr val="F7F7F7"/>
          </a:solidFill>
          <a:ln/>
        </p:spPr>
      </p:sp>
      <p:sp>
        <p:nvSpPr>
          <p:cNvPr id="19" name="Shape 17"/>
          <p:cNvSpPr/>
          <p:nvPr/>
        </p:nvSpPr>
        <p:spPr>
          <a:xfrm>
            <a:off x="4084320" y="3650285"/>
            <a:ext cx="64008" cy="682142"/>
          </a:xfrm>
          <a:prstGeom prst="rect">
            <a:avLst/>
          </a:prstGeom>
          <a:solidFill>
            <a:srgbClr val="12A566"/>
          </a:solidFill>
          <a:ln/>
        </p:spPr>
      </p:sp>
      <p:sp>
        <p:nvSpPr>
          <p:cNvPr id="20" name="Text 18"/>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22" name="Text 20"/>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23" name="Text 21"/>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25" name="Text 23"/>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 pts</a:t>
            </a:r>
            <a:endParaRPr lang="en-US" sz="1600" dirty="0"/>
          </a:p>
        </p:txBody>
      </p:sp>
      <p:sp>
        <p:nvSpPr>
          <p:cNvPr id="26" name="Shape 24"/>
          <p:cNvSpPr/>
          <p:nvPr/>
        </p:nvSpPr>
        <p:spPr>
          <a:xfrm>
            <a:off x="658368" y="5124298"/>
            <a:ext cx="3489960" cy="755294"/>
          </a:xfrm>
          <a:prstGeom prst="rect">
            <a:avLst/>
          </a:prstGeom>
          <a:solidFill>
            <a:srgbClr val="F7F7F7"/>
          </a:solidFill>
          <a:ln/>
        </p:spPr>
      </p:sp>
      <p:sp>
        <p:nvSpPr>
          <p:cNvPr id="27" name="Text 25"/>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29" name="Text 27"/>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755294"/>
          </a:xfrm>
          <a:prstGeom prst="rect">
            <a:avLst/>
          </a:prstGeom>
          <a:solidFill>
            <a:srgbClr val="F7F7F7"/>
          </a:solidFill>
          <a:ln/>
        </p:spPr>
      </p:sp>
      <p:sp>
        <p:nvSpPr>
          <p:cNvPr id="34" name="Text 32"/>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36" name="Text 34"/>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 pts</a:t>
            </a:r>
            <a:endParaRPr lang="en-US" sz="1600" dirty="0"/>
          </a:p>
        </p:txBody>
      </p:sp>
      <p:sp>
        <p:nvSpPr>
          <p:cNvPr id="37" name="Text 35"/>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39" name="Text 37"/>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−10.9 pts</a:t>
            </a:r>
            <a:endParaRPr lang="en-US" sz="1600" dirty="0"/>
          </a:p>
        </p:txBody>
      </p:sp>
      <p:sp>
        <p:nvSpPr>
          <p:cNvPr id="40" name="Shape 38"/>
          <p:cNvSpPr/>
          <p:nvPr/>
        </p:nvSpPr>
        <p:spPr>
          <a:xfrm>
            <a:off x="4349496" y="3613709"/>
            <a:ext cx="3489960" cy="755294"/>
          </a:xfrm>
          <a:prstGeom prst="rect">
            <a:avLst/>
          </a:prstGeom>
          <a:solidFill>
            <a:srgbClr val="F7F7F7"/>
          </a:solidFill>
          <a:ln/>
        </p:spPr>
      </p:sp>
      <p:sp>
        <p:nvSpPr>
          <p:cNvPr id="41" name="Text 39"/>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27.2%</a:t>
            </a:r>
            <a:endParaRPr lang="en-US" sz="1400" dirty="0"/>
          </a:p>
        </p:txBody>
      </p:sp>
      <p:sp>
        <p:nvSpPr>
          <p:cNvPr id="43" name="Text 41"/>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−8.4 pts</a:t>
            </a:r>
            <a:endParaRPr lang="en-US" sz="1600" dirty="0"/>
          </a:p>
        </p:txBody>
      </p:sp>
      <p:sp>
        <p:nvSpPr>
          <p:cNvPr id="44" name="Text 42"/>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18.1%</a:t>
            </a:r>
            <a:endParaRPr lang="en-US" sz="1400" dirty="0"/>
          </a:p>
        </p:txBody>
      </p:sp>
      <p:sp>
        <p:nvSpPr>
          <p:cNvPr id="46" name="Text 44"/>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47" name="Shape 45"/>
          <p:cNvSpPr/>
          <p:nvPr/>
        </p:nvSpPr>
        <p:spPr>
          <a:xfrm>
            <a:off x="4349496" y="5124298"/>
            <a:ext cx="3489960" cy="755294"/>
          </a:xfrm>
          <a:prstGeom prst="rect">
            <a:avLst/>
          </a:prstGeom>
          <a:solidFill>
            <a:srgbClr val="F7F7F7"/>
          </a:solidFill>
          <a:ln/>
        </p:spPr>
      </p:sp>
      <p:sp>
        <p:nvSpPr>
          <p:cNvPr id="48" name="Text 46"/>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50" name="Text 48"/>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 pts</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4" name="Shape 52"/>
          <p:cNvSpPr/>
          <p:nvPr/>
        </p:nvSpPr>
        <p:spPr>
          <a:xfrm>
            <a:off x="8040624" y="2103120"/>
            <a:ext cx="3489960" cy="755294"/>
          </a:xfrm>
          <a:prstGeom prst="rect">
            <a:avLst/>
          </a:prstGeom>
          <a:solidFill>
            <a:srgbClr val="F7F7F7"/>
          </a:solidFill>
          <a:ln/>
        </p:spPr>
      </p:sp>
      <p:sp>
        <p:nvSpPr>
          <p:cNvPr id="55" name="Shape 53"/>
          <p:cNvSpPr/>
          <p:nvPr/>
        </p:nvSpPr>
        <p:spPr>
          <a:xfrm>
            <a:off x="11466576" y="2139696"/>
            <a:ext cx="64008" cy="682142"/>
          </a:xfrm>
          <a:prstGeom prst="rect">
            <a:avLst/>
          </a:prstGeom>
          <a:solidFill>
            <a:srgbClr val="12A566"/>
          </a:solidFill>
          <a:ln/>
        </p:spPr>
      </p:sp>
      <p:sp>
        <p:nvSpPr>
          <p:cNvPr id="56" name="Text 54"/>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7" name="Text 55"/>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a:t>
            </a:r>
            <a:endParaRPr lang="en-US" sz="1400" dirty="0"/>
          </a:p>
        </p:txBody>
      </p:sp>
      <p:sp>
        <p:nvSpPr>
          <p:cNvPr id="58" name="Text 56"/>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+23.6 pts</a:t>
            </a:r>
            <a:endParaRPr lang="en-US" sz="1600" dirty="0"/>
          </a:p>
        </p:txBody>
      </p:sp>
      <p:sp>
        <p:nvSpPr>
          <p:cNvPr id="59" name="Text 57"/>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61" name="Text 59"/>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 pts</a:t>
            </a:r>
            <a:endParaRPr lang="en-US" sz="1600" dirty="0"/>
          </a:p>
        </p:txBody>
      </p:sp>
      <p:sp>
        <p:nvSpPr>
          <p:cNvPr id="62" name="Shape 60"/>
          <p:cNvSpPr/>
          <p:nvPr/>
        </p:nvSpPr>
        <p:spPr>
          <a:xfrm>
            <a:off x="8040624" y="3613709"/>
            <a:ext cx="3489960" cy="755294"/>
          </a:xfrm>
          <a:prstGeom prst="rect">
            <a:avLst/>
          </a:prstGeom>
          <a:solidFill>
            <a:srgbClr val="F7F7F7"/>
          </a:solidFill>
          <a:ln/>
        </p:spPr>
      </p:sp>
      <p:sp>
        <p:nvSpPr>
          <p:cNvPr id="63" name="Shape 61"/>
          <p:cNvSpPr/>
          <p:nvPr/>
        </p:nvSpPr>
        <p:spPr>
          <a:xfrm>
            <a:off x="11466576" y="3650285"/>
            <a:ext cx="64008" cy="682142"/>
          </a:xfrm>
          <a:prstGeom prst="rect">
            <a:avLst/>
          </a:prstGeom>
          <a:solidFill>
            <a:srgbClr val="12A566"/>
          </a:solidFill>
          <a:ln/>
        </p:spPr>
      </p:sp>
      <p:sp>
        <p:nvSpPr>
          <p:cNvPr id="64" name="Text 62"/>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5" name="Text 63"/>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21.6%</a:t>
            </a:r>
            <a:endParaRPr lang="en-US" sz="1400" dirty="0"/>
          </a:p>
        </p:txBody>
      </p:sp>
      <p:sp>
        <p:nvSpPr>
          <p:cNvPr id="66" name="Text 64"/>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67" name="Text 6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69" name="Text 67"/>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 pts</a:t>
            </a:r>
            <a:endParaRPr lang="en-US" sz="1600" dirty="0"/>
          </a:p>
        </p:txBody>
      </p:sp>
      <p:sp>
        <p:nvSpPr>
          <p:cNvPr id="70" name="Shape 68"/>
          <p:cNvSpPr/>
          <p:nvPr/>
        </p:nvSpPr>
        <p:spPr>
          <a:xfrm>
            <a:off x="8040624" y="5124298"/>
            <a:ext cx="3489960" cy="755294"/>
          </a:xfrm>
          <a:prstGeom prst="rect">
            <a:avLst/>
          </a:prstGeom>
          <a:solidFill>
            <a:srgbClr val="F7F7F7"/>
          </a:solidFill>
          <a:ln/>
        </p:spPr>
      </p:sp>
      <p:sp>
        <p:nvSpPr>
          <p:cNvPr id="71" name="Shape 69"/>
          <p:cNvSpPr/>
          <p:nvPr/>
        </p:nvSpPr>
        <p:spPr>
          <a:xfrm>
            <a:off x="11466576" y="5160874"/>
            <a:ext cx="64008" cy="682142"/>
          </a:xfrm>
          <a:prstGeom prst="rect">
            <a:avLst/>
          </a:prstGeom>
          <a:solidFill>
            <a:srgbClr val="12A566"/>
          </a:solidFill>
          <a:ln/>
        </p:spPr>
      </p:sp>
      <p:sp>
        <p:nvSpPr>
          <p:cNvPr id="72" name="Text 7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74" name="Text 72"/>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 pts</a:t>
            </a:r>
            <a:endParaRPr lang="en-US" sz="1600" dirty="0"/>
          </a:p>
        </p:txBody>
      </p:sp>
      <p:sp>
        <p:nvSpPr>
          <p:cNvPr id="75" name="Shape 73"/>
          <p:cNvSpPr/>
          <p:nvPr/>
        </p:nvSpPr>
        <p:spPr>
          <a:xfrm>
            <a:off x="457200" y="6126480"/>
            <a:ext cx="11274552" cy="615696"/>
          </a:xfrm>
          <a:prstGeom prst="rect">
            <a:avLst/>
          </a:prstGeom>
          <a:solidFill>
            <a:srgbClr val="EDF4FA"/>
          </a:solidFill>
          <a:ln/>
        </p:spPr>
      </p:sp>
      <p:sp>
        <p:nvSpPr>
          <p:cNvPr id="76" name="Text 74"/>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LR Reno what changed. Ask VW St George, Kia St George and Mazda what got in the way. Ask Hyundai Prescott, LR Henderson and LR Reno what they started this year.</a:t>
            </a:r>
            <a:endParaRPr lang="en-US" sz="1600"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 led by Subaru St George at 58.7%. Hyundai Prescott is lowest at 10.0%.</a:t>
            </a:r>
            <a:endParaRPr lang="en-US" sz="1600" dirty="0"/>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25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7930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252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433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+7.0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51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25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6556"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82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670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7279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83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6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102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69580"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3" name="Shape 71"/>
          <p:cNvSpPr/>
          <p:nvPr/>
        </p:nvSpPr>
        <p:spPr>
          <a:xfrm>
            <a:off x="3783808" y="5510293"/>
            <a:ext cx="12802" cy="110352"/>
          </a:xfrm>
          <a:prstGeom prst="rect">
            <a:avLst/>
          </a:prstGeom>
          <a:solidFill>
            <a:srgbClr val="C2352F"/>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782938"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9706" y="1911860"/>
            <a:ext cx="56318"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1209" y="2151755"/>
            <a:ext cx="74815"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825" y="2391651"/>
            <a:ext cx="15319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50574" y="2631546"/>
            <a:ext cx="18545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9107949" y="2871442"/>
            <a:ext cx="22807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106168" y="3111337"/>
            <a:ext cx="22985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6473" y="3351233"/>
            <a:ext cx="25955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37703" y="3591128"/>
            <a:ext cx="29832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5179" y="3831024"/>
            <a:ext cx="300845"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89" y="4070920"/>
            <a:ext cx="317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304" y="4310815"/>
            <a:ext cx="3727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2230" y="4550711"/>
            <a:ext cx="45379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5705" y="4790606"/>
            <a:ext cx="54031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5604" y="5030502"/>
            <a:ext cx="61042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1636" y="5270397"/>
            <a:ext cx="64438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2415" y="5510293"/>
            <a:ext cx="68360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led by Lincoln at +14.2 pts to 17.9%. 18 declined; Hyundai Prescott fell most at −12.5 pts.</a:t>
            </a:r>
            <a:endParaRPr lang="en-US" sz="160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 pts</a:t>
            </a:r>
            <a:endParaRPr lang="en-US" sz="1600" dirty="0"/>
          </a:p>
        </p:txBody>
      </p:sp>
      <p:sp>
        <p:nvSpPr>
          <p:cNvPr id="13" name="Shape 11"/>
          <p:cNvSpPr/>
          <p:nvPr/>
        </p:nvSpPr>
        <p:spPr>
          <a:xfrm>
            <a:off x="4084320" y="2894990"/>
            <a:ext cx="64008" cy="682142"/>
          </a:xfrm>
          <a:prstGeom prst="rect">
            <a:avLst/>
          </a:prstGeom>
          <a:solidFill>
            <a:srgbClr val="12A566"/>
          </a:solidFill>
          <a:ln/>
        </p:spPr>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25.2%</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 pts</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32.9%</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26.6%</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44.4%</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+7.0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10.0%</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−12.5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37.5%</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−11.8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23.6%</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−9.9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15.8%</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−8.3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35.8%</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40.6%</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+16.5 pts</a:t>
            </a:r>
            <a:endParaRPr lang="en-US" sz="1600" dirty="0"/>
          </a:p>
        </p:txBody>
      </p:sp>
      <p:sp>
        <p:nvSpPr>
          <p:cNvPr id="63" name="Shape 61"/>
          <p:cNvSpPr/>
          <p:nvPr/>
        </p:nvSpPr>
        <p:spPr>
          <a:xfrm>
            <a:off x="11466576" y="4405579"/>
            <a:ext cx="64008" cy="682142"/>
          </a:xfrm>
          <a:prstGeom prst="rect">
            <a:avLst/>
          </a:prstGeom>
          <a:solidFill>
            <a:srgbClr val="12A566"/>
          </a:solidFill>
          <a:ln/>
        </p:spPr>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+15.4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24.1%</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Acura and Nissan what changed. Ask Hyundai Prescott, Hyundai St George and VW St George what got in the way. Ask LR Reno, VW St George and Mazda what they started this year.</a:t>
            </a:r>
            <a:endParaRPr lang="en-US" sz="1600" dirty="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Take care of the customers we already have: how we treat them decides whether they come back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Repair order count: how many customers we serve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Dollars per repair order: how much we sell each one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rates we charge, and how we decide what to charge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is the best way to judge performance,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 the metrics that matter most every day, talk about them, and train on them</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$4,543,691 of labor.</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Handle basic maintenance quickly and efficiently.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a mishandled call costs us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$4,473,284</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 year in labor and parts gross from one more customer-pay RO a day at every store.</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Voice AI: Every Call Is a Customer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2587C5"/>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CALLS HANDLED</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48,964</a:t>
            </a:r>
            <a:endParaRPr lang="en-US" sz="36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526 a day across 26 locations.</a:t>
            </a:r>
            <a:endParaRPr lang="en-US" sz="14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HANDLED BY THE AI ALONE</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22,749</a:t>
            </a:r>
            <a:endParaRPr lang="en-US" sz="36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46.5% of calls, start to finish. The other 26,215 (53.5%) were transferred to the store.</a:t>
            </a:r>
            <a:endParaRPr lang="en-US" sz="14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APPOINTMENTS BOOKED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10,841</a:t>
            </a:r>
            <a:endParaRPr lang="en-US" sz="36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72% of the 15,051 calls that could book an appointment.</a:t>
            </a:r>
            <a:endParaRPr lang="en-US" sz="14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C2352F"/>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TRANSFERS PICKED UP</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A82B26"/>
                </a:solidFill>
                <a:latin typeface="Inter" pitchFamily="34" charset="0"/>
                <a:ea typeface="Inter" pitchFamily="34" charset="-122"/>
                <a:cs typeface="Inter" pitchFamily="34" charset="-120"/>
              </a:rPr>
              <a:t>47.7%</a:t>
            </a:r>
            <a:endParaRPr lang="en-US" sz="36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13,710 transfers missed. If half wanted an appointment, that is $2.6M of gross profit.</a:t>
            </a:r>
            <a:endParaRPr lang="en-US" sz="14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The AI books and routes the call; the store still has to answer the transfer and close every callback in the Flai dashboard. Source: Flai service calls, last 90 days.</a:t>
            </a:r>
            <a:endParaRPr lang="en-US" sz="1700" dirty="0"/>
          </a:p>
        </p:txBody>
      </p:sp>
      <p:sp>
        <p:nvSpPr>
          <p:cNvPr id="27" name="Shape 25"/>
          <p:cNvSpPr/>
          <p:nvPr/>
        </p:nvSpPr>
        <p:spPr>
          <a:xfrm>
            <a:off x="457200" y="6126480"/>
            <a:ext cx="11274552" cy="615696"/>
          </a:xfrm>
          <a:prstGeom prst="rect">
            <a:avLst/>
          </a:prstGeom>
          <a:solidFill>
            <a:srgbClr val="FBEBEA"/>
          </a:solidFill>
          <a:ln/>
        </p:spPr>
      </p:sp>
      <p:sp>
        <p:nvSpPr>
          <p:cNvPr id="28"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The AI finishes 46.5% of calls on its own. The rest come back to the store, and fewer than half of those reach a person. Every unanswered transfer is a customer we already had.</a:t>
            </a:r>
            <a:endParaRPr lang="en-US" sz="1600" dirty="0"/>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Store Voice AI Metrics</a:t>
            </a:r>
            <a:endParaRPr lang="en-US" sz="2800" dirty="0"/>
          </a:p>
        </p:txBody>
      </p:sp>
      <p:sp>
        <p:nvSpPr>
          <p:cNvPr id="5" name="Shape 3"/>
          <p:cNvSpPr/>
          <p:nvPr/>
        </p:nvSpPr>
        <p:spPr>
          <a:xfrm>
            <a:off x="457200" y="1207008"/>
            <a:ext cx="3685032" cy="4782312"/>
          </a:xfrm>
          <a:prstGeom prst="rect">
            <a:avLst/>
          </a:prstGeom>
          <a:solidFill>
            <a:srgbClr val="FFFFFF"/>
          </a:solidFill>
          <a:ln/>
        </p:spPr>
      </p:sp>
      <p:sp>
        <p:nvSpPr>
          <p:cNvPr id="6" name="Text 4"/>
          <p:cNvSpPr txBox="1"/>
          <p:nvPr/>
        </p:nvSpPr>
        <p:spPr>
          <a:xfrm>
            <a:off x="62179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BOOKING RATE</a:t>
            </a:r>
            <a:endParaRPr lang="en-US" sz="1400" dirty="0"/>
          </a:p>
        </p:txBody>
      </p:sp>
      <p:sp>
        <p:nvSpPr>
          <p:cNvPr id="7" name="Text 5"/>
          <p:cNvSpPr txBox="1"/>
          <p:nvPr/>
        </p:nvSpPr>
        <p:spPr>
          <a:xfrm>
            <a:off x="62179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72%</a:t>
            </a:r>
            <a:endParaRPr lang="en-US" sz="1400" dirty="0"/>
          </a:p>
        </p:txBody>
      </p:sp>
      <p:sp>
        <p:nvSpPr>
          <p:cNvPr id="8" name="Shape 6"/>
          <p:cNvSpPr/>
          <p:nvPr/>
        </p:nvSpPr>
        <p:spPr>
          <a:xfrm>
            <a:off x="621792" y="1911096"/>
            <a:ext cx="3355848" cy="22860"/>
          </a:xfrm>
          <a:prstGeom prst="rect">
            <a:avLst/>
          </a:prstGeom>
          <a:solidFill>
            <a:srgbClr val="12A566"/>
          </a:solidFill>
          <a:ln/>
        </p:spPr>
      </p:sp>
      <p:sp>
        <p:nvSpPr>
          <p:cNvPr id="9" name="Text 7"/>
          <p:cNvSpPr txBox="1"/>
          <p:nvPr/>
        </p:nvSpPr>
        <p:spPr>
          <a:xfrm>
            <a:off x="62179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 name="Text 8"/>
          <p:cNvSpPr txBox="1"/>
          <p:nvPr/>
        </p:nvSpPr>
        <p:spPr>
          <a:xfrm>
            <a:off x="231343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306324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2" name="Text 10"/>
          <p:cNvSpPr txBox="1"/>
          <p:nvPr/>
        </p:nvSpPr>
        <p:spPr>
          <a:xfrm>
            <a:off x="621792" y="2167128"/>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 name="Text 11"/>
          <p:cNvSpPr txBox="1"/>
          <p:nvPr/>
        </p:nvSpPr>
        <p:spPr>
          <a:xfrm>
            <a:off x="2313432" y="2167128"/>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83.0%</a:t>
            </a:r>
            <a:endParaRPr lang="en-US" sz="1300" dirty="0"/>
          </a:p>
        </p:txBody>
      </p:sp>
      <p:sp>
        <p:nvSpPr>
          <p:cNvPr id="14" name="Text 12"/>
          <p:cNvSpPr txBox="1"/>
          <p:nvPr/>
        </p:nvSpPr>
        <p:spPr>
          <a:xfrm>
            <a:off x="3063240" y="2167128"/>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15" name="Shape 13"/>
          <p:cNvSpPr/>
          <p:nvPr/>
        </p:nvSpPr>
        <p:spPr>
          <a:xfrm>
            <a:off x="4023360" y="2203704"/>
            <a:ext cx="54864" cy="272491"/>
          </a:xfrm>
          <a:prstGeom prst="rect">
            <a:avLst/>
          </a:prstGeom>
          <a:solidFill>
            <a:srgbClr val="12A566"/>
          </a:solidFill>
          <a:ln/>
        </p:spPr>
      </p:sp>
      <p:sp>
        <p:nvSpPr>
          <p:cNvPr id="16" name="Text 14"/>
          <p:cNvSpPr txBox="1"/>
          <p:nvPr/>
        </p:nvSpPr>
        <p:spPr>
          <a:xfrm>
            <a:off x="621792" y="2512771"/>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7" name="Text 15"/>
          <p:cNvSpPr txBox="1"/>
          <p:nvPr/>
        </p:nvSpPr>
        <p:spPr>
          <a:xfrm>
            <a:off x="2313432" y="2512771"/>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82.3%</a:t>
            </a:r>
            <a:endParaRPr lang="en-US" sz="1300" dirty="0"/>
          </a:p>
        </p:txBody>
      </p:sp>
      <p:sp>
        <p:nvSpPr>
          <p:cNvPr id="18" name="Text 16"/>
          <p:cNvSpPr txBox="1"/>
          <p:nvPr/>
        </p:nvSpPr>
        <p:spPr>
          <a:xfrm>
            <a:off x="3063240" y="2512771"/>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4,349</a:t>
            </a:r>
            <a:endParaRPr lang="en-US" sz="1200" dirty="0"/>
          </a:p>
        </p:txBody>
      </p:sp>
      <p:sp>
        <p:nvSpPr>
          <p:cNvPr id="19" name="Text 17"/>
          <p:cNvSpPr txBox="1"/>
          <p:nvPr/>
        </p:nvSpPr>
        <p:spPr>
          <a:xfrm>
            <a:off x="621792" y="285841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0" name="Text 18"/>
          <p:cNvSpPr txBox="1"/>
          <p:nvPr/>
        </p:nvSpPr>
        <p:spPr>
          <a:xfrm>
            <a:off x="2313432" y="2858414"/>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79.0%</a:t>
            </a:r>
            <a:endParaRPr lang="en-US" sz="1300" dirty="0"/>
          </a:p>
        </p:txBody>
      </p:sp>
      <p:sp>
        <p:nvSpPr>
          <p:cNvPr id="21" name="Text 19"/>
          <p:cNvSpPr txBox="1"/>
          <p:nvPr/>
        </p:nvSpPr>
        <p:spPr>
          <a:xfrm>
            <a:off x="3063240" y="285841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22" name="Shape 20"/>
          <p:cNvSpPr/>
          <p:nvPr/>
        </p:nvSpPr>
        <p:spPr>
          <a:xfrm>
            <a:off x="4023360" y="2894990"/>
            <a:ext cx="54864" cy="272491"/>
          </a:xfrm>
          <a:prstGeom prst="rect">
            <a:avLst/>
          </a:prstGeom>
          <a:solidFill>
            <a:srgbClr val="12A566"/>
          </a:solidFill>
          <a:ln/>
        </p:spPr>
      </p:sp>
      <p:sp>
        <p:nvSpPr>
          <p:cNvPr id="23" name="Text 21"/>
          <p:cNvSpPr txBox="1"/>
          <p:nvPr/>
        </p:nvSpPr>
        <p:spPr>
          <a:xfrm>
            <a:off x="621792" y="3204058"/>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4" name="Text 22"/>
          <p:cNvSpPr txBox="1"/>
          <p:nvPr/>
        </p:nvSpPr>
        <p:spPr>
          <a:xfrm>
            <a:off x="2313432" y="3204058"/>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78.4%</a:t>
            </a:r>
            <a:endParaRPr lang="en-US" sz="1300" dirty="0"/>
          </a:p>
        </p:txBody>
      </p:sp>
      <p:sp>
        <p:nvSpPr>
          <p:cNvPr id="25" name="Text 23"/>
          <p:cNvSpPr txBox="1"/>
          <p:nvPr/>
        </p:nvSpPr>
        <p:spPr>
          <a:xfrm>
            <a:off x="3063240" y="3204058"/>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26" name="Shape 24"/>
          <p:cNvSpPr/>
          <p:nvPr/>
        </p:nvSpPr>
        <p:spPr>
          <a:xfrm>
            <a:off x="4023360" y="3240634"/>
            <a:ext cx="54864" cy="272491"/>
          </a:xfrm>
          <a:prstGeom prst="rect">
            <a:avLst/>
          </a:prstGeom>
          <a:solidFill>
            <a:srgbClr val="12A566"/>
          </a:solidFill>
          <a:ln/>
        </p:spPr>
      </p:sp>
      <p:sp>
        <p:nvSpPr>
          <p:cNvPr id="27" name="Text 25"/>
          <p:cNvSpPr txBox="1"/>
          <p:nvPr/>
        </p:nvSpPr>
        <p:spPr>
          <a:xfrm>
            <a:off x="621792" y="3549701"/>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8" name="Text 26"/>
          <p:cNvSpPr txBox="1"/>
          <p:nvPr/>
        </p:nvSpPr>
        <p:spPr>
          <a:xfrm>
            <a:off x="2313432" y="3549701"/>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77.7%</a:t>
            </a:r>
            <a:endParaRPr lang="en-US" sz="1300" dirty="0"/>
          </a:p>
        </p:txBody>
      </p:sp>
      <p:sp>
        <p:nvSpPr>
          <p:cNvPr id="29" name="Text 27"/>
          <p:cNvSpPr txBox="1"/>
          <p:nvPr/>
        </p:nvSpPr>
        <p:spPr>
          <a:xfrm>
            <a:off x="3063240" y="3549701"/>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30" name="Shape 28"/>
          <p:cNvSpPr/>
          <p:nvPr/>
        </p:nvSpPr>
        <p:spPr>
          <a:xfrm>
            <a:off x="4023360" y="3586277"/>
            <a:ext cx="54864" cy="272491"/>
          </a:xfrm>
          <a:prstGeom prst="rect">
            <a:avLst/>
          </a:prstGeom>
          <a:solidFill>
            <a:srgbClr val="12A566"/>
          </a:solidFill>
          <a:ln/>
        </p:spPr>
      </p:sp>
      <p:sp>
        <p:nvSpPr>
          <p:cNvPr id="31" name="Shape 29"/>
          <p:cNvSpPr/>
          <p:nvPr/>
        </p:nvSpPr>
        <p:spPr>
          <a:xfrm>
            <a:off x="621792" y="3913632"/>
            <a:ext cx="3355848" cy="22860"/>
          </a:xfrm>
          <a:prstGeom prst="rect">
            <a:avLst/>
          </a:prstGeom>
          <a:solidFill>
            <a:srgbClr val="C2352F"/>
          </a:solidFill>
          <a:ln/>
        </p:spPr>
      </p:sp>
      <p:sp>
        <p:nvSpPr>
          <p:cNvPr id="32" name="Text 30"/>
          <p:cNvSpPr txBox="1"/>
          <p:nvPr/>
        </p:nvSpPr>
        <p:spPr>
          <a:xfrm>
            <a:off x="621792" y="394106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33" name="Text 31"/>
          <p:cNvSpPr txBox="1"/>
          <p:nvPr/>
        </p:nvSpPr>
        <p:spPr>
          <a:xfrm>
            <a:off x="2313432" y="394106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34" name="Text 32"/>
          <p:cNvSpPr txBox="1"/>
          <p:nvPr/>
        </p:nvSpPr>
        <p:spPr>
          <a:xfrm>
            <a:off x="3063240" y="394106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35" name="Text 33"/>
          <p:cNvSpPr txBox="1"/>
          <p:nvPr/>
        </p:nvSpPr>
        <p:spPr>
          <a:xfrm>
            <a:off x="621792" y="416966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36" name="Text 34"/>
          <p:cNvSpPr txBox="1"/>
          <p:nvPr/>
        </p:nvSpPr>
        <p:spPr>
          <a:xfrm>
            <a:off x="2313432" y="416966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47.7%</a:t>
            </a:r>
            <a:endParaRPr lang="en-US" sz="1300" dirty="0"/>
          </a:p>
        </p:txBody>
      </p:sp>
      <p:sp>
        <p:nvSpPr>
          <p:cNvPr id="37" name="Text 35"/>
          <p:cNvSpPr txBox="1"/>
          <p:nvPr/>
        </p:nvSpPr>
        <p:spPr>
          <a:xfrm>
            <a:off x="3063240" y="416966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38" name="Shape 36"/>
          <p:cNvSpPr/>
          <p:nvPr/>
        </p:nvSpPr>
        <p:spPr>
          <a:xfrm>
            <a:off x="4023360" y="4206240"/>
            <a:ext cx="54864" cy="272491"/>
          </a:xfrm>
          <a:prstGeom prst="rect">
            <a:avLst/>
          </a:prstGeom>
          <a:solidFill>
            <a:srgbClr val="C2352F"/>
          </a:solidFill>
          <a:ln/>
        </p:spPr>
      </p:sp>
      <p:sp>
        <p:nvSpPr>
          <p:cNvPr id="39" name="Text 37"/>
          <p:cNvSpPr txBox="1"/>
          <p:nvPr/>
        </p:nvSpPr>
        <p:spPr>
          <a:xfrm>
            <a:off x="621792" y="451530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40" name="Text 38"/>
          <p:cNvSpPr txBox="1"/>
          <p:nvPr/>
        </p:nvSpPr>
        <p:spPr>
          <a:xfrm>
            <a:off x="2313432" y="451530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51.2%</a:t>
            </a:r>
            <a:endParaRPr lang="en-US" sz="1300" dirty="0"/>
          </a:p>
        </p:txBody>
      </p:sp>
      <p:sp>
        <p:nvSpPr>
          <p:cNvPr id="41" name="Text 39"/>
          <p:cNvSpPr txBox="1"/>
          <p:nvPr/>
        </p:nvSpPr>
        <p:spPr>
          <a:xfrm>
            <a:off x="3063240" y="451530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42" name="Shape 40"/>
          <p:cNvSpPr/>
          <p:nvPr/>
        </p:nvSpPr>
        <p:spPr>
          <a:xfrm>
            <a:off x="4023360" y="4551883"/>
            <a:ext cx="54864" cy="272491"/>
          </a:xfrm>
          <a:prstGeom prst="rect">
            <a:avLst/>
          </a:prstGeom>
          <a:solidFill>
            <a:srgbClr val="C2352F"/>
          </a:solidFill>
          <a:ln/>
        </p:spPr>
      </p:sp>
      <p:sp>
        <p:nvSpPr>
          <p:cNvPr id="43" name="Text 41"/>
          <p:cNvSpPr txBox="1"/>
          <p:nvPr/>
        </p:nvSpPr>
        <p:spPr>
          <a:xfrm>
            <a:off x="621792" y="4860950"/>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44" name="Text 42"/>
          <p:cNvSpPr txBox="1"/>
          <p:nvPr/>
        </p:nvSpPr>
        <p:spPr>
          <a:xfrm>
            <a:off x="2313432" y="4860950"/>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54.6%</a:t>
            </a:r>
            <a:endParaRPr lang="en-US" sz="1300" dirty="0"/>
          </a:p>
        </p:txBody>
      </p:sp>
      <p:sp>
        <p:nvSpPr>
          <p:cNvPr id="45" name="Text 43"/>
          <p:cNvSpPr txBox="1"/>
          <p:nvPr/>
        </p:nvSpPr>
        <p:spPr>
          <a:xfrm>
            <a:off x="3063240" y="4860950"/>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46" name="Text 44"/>
          <p:cNvSpPr txBox="1"/>
          <p:nvPr/>
        </p:nvSpPr>
        <p:spPr>
          <a:xfrm>
            <a:off x="621792" y="520659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7" name="Text 45"/>
          <p:cNvSpPr txBox="1"/>
          <p:nvPr/>
        </p:nvSpPr>
        <p:spPr>
          <a:xfrm>
            <a:off x="2313432" y="520659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58.7%</a:t>
            </a:r>
            <a:endParaRPr lang="en-US" sz="1300" dirty="0"/>
          </a:p>
        </p:txBody>
      </p:sp>
      <p:sp>
        <p:nvSpPr>
          <p:cNvPr id="48" name="Text 46"/>
          <p:cNvSpPr txBox="1"/>
          <p:nvPr/>
        </p:nvSpPr>
        <p:spPr>
          <a:xfrm>
            <a:off x="3063240" y="520659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49" name="Shape 47"/>
          <p:cNvSpPr/>
          <p:nvPr/>
        </p:nvSpPr>
        <p:spPr>
          <a:xfrm>
            <a:off x="4023360" y="5243170"/>
            <a:ext cx="54864" cy="272491"/>
          </a:xfrm>
          <a:prstGeom prst="rect">
            <a:avLst/>
          </a:prstGeom>
          <a:solidFill>
            <a:srgbClr val="C2352F"/>
          </a:solidFill>
          <a:ln/>
        </p:spPr>
      </p:sp>
      <p:sp>
        <p:nvSpPr>
          <p:cNvPr id="50" name="Text 48"/>
          <p:cNvSpPr txBox="1"/>
          <p:nvPr/>
        </p:nvSpPr>
        <p:spPr>
          <a:xfrm>
            <a:off x="621792" y="555223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51" name="Text 49"/>
          <p:cNvSpPr txBox="1"/>
          <p:nvPr/>
        </p:nvSpPr>
        <p:spPr>
          <a:xfrm>
            <a:off x="2313432" y="555223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59.3%</a:t>
            </a:r>
            <a:endParaRPr lang="en-US" sz="1300" dirty="0"/>
          </a:p>
        </p:txBody>
      </p:sp>
      <p:sp>
        <p:nvSpPr>
          <p:cNvPr id="52" name="Text 50"/>
          <p:cNvSpPr txBox="1"/>
          <p:nvPr/>
        </p:nvSpPr>
        <p:spPr>
          <a:xfrm>
            <a:off x="3063240" y="555223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53" name="Shape 51"/>
          <p:cNvSpPr/>
          <p:nvPr/>
        </p:nvSpPr>
        <p:spPr>
          <a:xfrm>
            <a:off x="4023360" y="5588813"/>
            <a:ext cx="54864" cy="272491"/>
          </a:xfrm>
          <a:prstGeom prst="rect">
            <a:avLst/>
          </a:prstGeom>
          <a:solidFill>
            <a:srgbClr val="C2352F"/>
          </a:solidFill>
          <a:ln/>
        </p:spPr>
      </p:sp>
      <p:sp>
        <p:nvSpPr>
          <p:cNvPr id="54" name="Shape 52"/>
          <p:cNvSpPr/>
          <p:nvPr/>
        </p:nvSpPr>
        <p:spPr>
          <a:xfrm>
            <a:off x="4251960" y="1207008"/>
            <a:ext cx="3685032" cy="4782312"/>
          </a:xfrm>
          <a:prstGeom prst="rect">
            <a:avLst/>
          </a:prstGeom>
          <a:solidFill>
            <a:srgbClr val="FFFFFF"/>
          </a:solidFill>
          <a:ln/>
        </p:spPr>
      </p:sp>
      <p:sp>
        <p:nvSpPr>
          <p:cNvPr id="55" name="Text 53"/>
          <p:cNvSpPr txBox="1"/>
          <p:nvPr/>
        </p:nvSpPr>
        <p:spPr>
          <a:xfrm>
            <a:off x="441655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TRANSFER PICKUP RATE</a:t>
            </a:r>
            <a:endParaRPr lang="en-US" sz="1400" dirty="0"/>
          </a:p>
        </p:txBody>
      </p:sp>
      <p:sp>
        <p:nvSpPr>
          <p:cNvPr id="56" name="Text 54"/>
          <p:cNvSpPr txBox="1"/>
          <p:nvPr/>
        </p:nvSpPr>
        <p:spPr>
          <a:xfrm>
            <a:off x="441655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47.7%</a:t>
            </a:r>
            <a:endParaRPr lang="en-US" sz="1400" dirty="0"/>
          </a:p>
        </p:txBody>
      </p:sp>
      <p:sp>
        <p:nvSpPr>
          <p:cNvPr id="57" name="Shape 55"/>
          <p:cNvSpPr/>
          <p:nvPr/>
        </p:nvSpPr>
        <p:spPr>
          <a:xfrm>
            <a:off x="4416552" y="1911096"/>
            <a:ext cx="3355848" cy="22860"/>
          </a:xfrm>
          <a:prstGeom prst="rect">
            <a:avLst/>
          </a:prstGeom>
          <a:solidFill>
            <a:srgbClr val="12A566"/>
          </a:solidFill>
          <a:ln/>
        </p:spPr>
      </p:sp>
      <p:sp>
        <p:nvSpPr>
          <p:cNvPr id="58" name="Text 56"/>
          <p:cNvSpPr txBox="1"/>
          <p:nvPr/>
        </p:nvSpPr>
        <p:spPr>
          <a:xfrm>
            <a:off x="441655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59" name="Text 57"/>
          <p:cNvSpPr txBox="1"/>
          <p:nvPr/>
        </p:nvSpPr>
        <p:spPr>
          <a:xfrm>
            <a:off x="610819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60" name="Text 58"/>
          <p:cNvSpPr txBox="1"/>
          <p:nvPr/>
        </p:nvSpPr>
        <p:spPr>
          <a:xfrm>
            <a:off x="685800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61" name="Text 59"/>
          <p:cNvSpPr txBox="1"/>
          <p:nvPr/>
        </p:nvSpPr>
        <p:spPr>
          <a:xfrm>
            <a:off x="4416552" y="2167128"/>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2" name="Text 60"/>
          <p:cNvSpPr txBox="1"/>
          <p:nvPr/>
        </p:nvSpPr>
        <p:spPr>
          <a:xfrm>
            <a:off x="6108192" y="2167128"/>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77.1%</a:t>
            </a:r>
            <a:endParaRPr lang="en-US" sz="1300" dirty="0"/>
          </a:p>
        </p:txBody>
      </p:sp>
      <p:sp>
        <p:nvSpPr>
          <p:cNvPr id="63" name="Text 61"/>
          <p:cNvSpPr txBox="1"/>
          <p:nvPr/>
        </p:nvSpPr>
        <p:spPr>
          <a:xfrm>
            <a:off x="6858000" y="2167128"/>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64" name="Shape 62"/>
          <p:cNvSpPr/>
          <p:nvPr/>
        </p:nvSpPr>
        <p:spPr>
          <a:xfrm>
            <a:off x="7818120" y="2203704"/>
            <a:ext cx="54864" cy="272491"/>
          </a:xfrm>
          <a:prstGeom prst="rect">
            <a:avLst/>
          </a:prstGeom>
          <a:solidFill>
            <a:srgbClr val="12A566"/>
          </a:solidFill>
          <a:ln/>
        </p:spPr>
      </p:sp>
      <p:sp>
        <p:nvSpPr>
          <p:cNvPr id="65" name="Text 63"/>
          <p:cNvSpPr txBox="1"/>
          <p:nvPr/>
        </p:nvSpPr>
        <p:spPr>
          <a:xfrm>
            <a:off x="4416552" y="2512771"/>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6" name="Text 64"/>
          <p:cNvSpPr txBox="1"/>
          <p:nvPr/>
        </p:nvSpPr>
        <p:spPr>
          <a:xfrm>
            <a:off x="6108192" y="2512771"/>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74.8%</a:t>
            </a:r>
            <a:endParaRPr lang="en-US" sz="1300" dirty="0"/>
          </a:p>
        </p:txBody>
      </p:sp>
      <p:sp>
        <p:nvSpPr>
          <p:cNvPr id="67" name="Text 65"/>
          <p:cNvSpPr txBox="1"/>
          <p:nvPr/>
        </p:nvSpPr>
        <p:spPr>
          <a:xfrm>
            <a:off x="6858000" y="2512771"/>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68" name="Shape 66"/>
          <p:cNvSpPr/>
          <p:nvPr/>
        </p:nvSpPr>
        <p:spPr>
          <a:xfrm>
            <a:off x="7818120" y="2549347"/>
            <a:ext cx="54864" cy="272491"/>
          </a:xfrm>
          <a:prstGeom prst="rect">
            <a:avLst/>
          </a:prstGeom>
          <a:solidFill>
            <a:srgbClr val="12A566"/>
          </a:solidFill>
          <a:ln/>
        </p:spPr>
      </p:sp>
      <p:sp>
        <p:nvSpPr>
          <p:cNvPr id="69" name="Text 67"/>
          <p:cNvSpPr txBox="1"/>
          <p:nvPr/>
        </p:nvSpPr>
        <p:spPr>
          <a:xfrm>
            <a:off x="4416552" y="285841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0" name="Text 68"/>
          <p:cNvSpPr txBox="1"/>
          <p:nvPr/>
        </p:nvSpPr>
        <p:spPr>
          <a:xfrm>
            <a:off x="6108192" y="2858414"/>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63.5%</a:t>
            </a:r>
            <a:endParaRPr lang="en-US" sz="1300" dirty="0"/>
          </a:p>
        </p:txBody>
      </p:sp>
      <p:sp>
        <p:nvSpPr>
          <p:cNvPr id="71" name="Text 69"/>
          <p:cNvSpPr txBox="1"/>
          <p:nvPr/>
        </p:nvSpPr>
        <p:spPr>
          <a:xfrm>
            <a:off x="6858000" y="285841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72" name="Shape 70"/>
          <p:cNvSpPr/>
          <p:nvPr/>
        </p:nvSpPr>
        <p:spPr>
          <a:xfrm>
            <a:off x="7818120" y="2894990"/>
            <a:ext cx="54864" cy="272491"/>
          </a:xfrm>
          <a:prstGeom prst="rect">
            <a:avLst/>
          </a:prstGeom>
          <a:solidFill>
            <a:srgbClr val="12A566"/>
          </a:solidFill>
          <a:ln/>
        </p:spPr>
      </p:sp>
      <p:sp>
        <p:nvSpPr>
          <p:cNvPr id="73" name="Text 71"/>
          <p:cNvSpPr txBox="1"/>
          <p:nvPr/>
        </p:nvSpPr>
        <p:spPr>
          <a:xfrm>
            <a:off x="4416552" y="3204058"/>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4" name="Text 72"/>
          <p:cNvSpPr txBox="1"/>
          <p:nvPr/>
        </p:nvSpPr>
        <p:spPr>
          <a:xfrm>
            <a:off x="6108192" y="3204058"/>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57.3%</a:t>
            </a:r>
            <a:endParaRPr lang="en-US" sz="1300" dirty="0"/>
          </a:p>
        </p:txBody>
      </p:sp>
      <p:sp>
        <p:nvSpPr>
          <p:cNvPr id="75" name="Text 73"/>
          <p:cNvSpPr txBox="1"/>
          <p:nvPr/>
        </p:nvSpPr>
        <p:spPr>
          <a:xfrm>
            <a:off x="6858000" y="3204058"/>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76" name="Shape 74"/>
          <p:cNvSpPr/>
          <p:nvPr/>
        </p:nvSpPr>
        <p:spPr>
          <a:xfrm>
            <a:off x="7818120" y="3240634"/>
            <a:ext cx="54864" cy="272491"/>
          </a:xfrm>
          <a:prstGeom prst="rect">
            <a:avLst/>
          </a:prstGeom>
          <a:solidFill>
            <a:srgbClr val="12A566"/>
          </a:solidFill>
          <a:ln/>
        </p:spPr>
      </p:sp>
      <p:sp>
        <p:nvSpPr>
          <p:cNvPr id="77" name="Text 75"/>
          <p:cNvSpPr txBox="1"/>
          <p:nvPr/>
        </p:nvSpPr>
        <p:spPr>
          <a:xfrm>
            <a:off x="4416552" y="3549701"/>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78" name="Text 76"/>
          <p:cNvSpPr txBox="1"/>
          <p:nvPr/>
        </p:nvSpPr>
        <p:spPr>
          <a:xfrm>
            <a:off x="6108192" y="3549701"/>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54.2%</a:t>
            </a:r>
            <a:endParaRPr lang="en-US" sz="1300" dirty="0"/>
          </a:p>
        </p:txBody>
      </p:sp>
      <p:sp>
        <p:nvSpPr>
          <p:cNvPr id="79" name="Text 77"/>
          <p:cNvSpPr txBox="1"/>
          <p:nvPr/>
        </p:nvSpPr>
        <p:spPr>
          <a:xfrm>
            <a:off x="6858000" y="3549701"/>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80" name="Shape 78"/>
          <p:cNvSpPr/>
          <p:nvPr/>
        </p:nvSpPr>
        <p:spPr>
          <a:xfrm>
            <a:off x="4416552" y="3913632"/>
            <a:ext cx="3355848" cy="22860"/>
          </a:xfrm>
          <a:prstGeom prst="rect">
            <a:avLst/>
          </a:prstGeom>
          <a:solidFill>
            <a:srgbClr val="C2352F"/>
          </a:solidFill>
          <a:ln/>
        </p:spPr>
      </p:sp>
      <p:sp>
        <p:nvSpPr>
          <p:cNvPr id="81" name="Text 79"/>
          <p:cNvSpPr txBox="1"/>
          <p:nvPr/>
        </p:nvSpPr>
        <p:spPr>
          <a:xfrm>
            <a:off x="4416552" y="394106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82" name="Text 80"/>
          <p:cNvSpPr txBox="1"/>
          <p:nvPr/>
        </p:nvSpPr>
        <p:spPr>
          <a:xfrm>
            <a:off x="6108192" y="394106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3" name="Text 81"/>
          <p:cNvSpPr txBox="1"/>
          <p:nvPr/>
        </p:nvSpPr>
        <p:spPr>
          <a:xfrm>
            <a:off x="6858000" y="394106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84" name="Text 82"/>
          <p:cNvSpPr txBox="1"/>
          <p:nvPr/>
        </p:nvSpPr>
        <p:spPr>
          <a:xfrm>
            <a:off x="4416552" y="416966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5" name="Text 83"/>
          <p:cNvSpPr txBox="1"/>
          <p:nvPr/>
        </p:nvSpPr>
        <p:spPr>
          <a:xfrm>
            <a:off x="6108192" y="416966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21.9%</a:t>
            </a:r>
            <a:endParaRPr lang="en-US" sz="1300" dirty="0"/>
          </a:p>
        </p:txBody>
      </p:sp>
      <p:sp>
        <p:nvSpPr>
          <p:cNvPr id="86" name="Text 84"/>
          <p:cNvSpPr txBox="1"/>
          <p:nvPr/>
        </p:nvSpPr>
        <p:spPr>
          <a:xfrm>
            <a:off x="6858000" y="416966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87" name="Shape 85"/>
          <p:cNvSpPr/>
          <p:nvPr/>
        </p:nvSpPr>
        <p:spPr>
          <a:xfrm>
            <a:off x="7818120" y="4206240"/>
            <a:ext cx="54864" cy="272491"/>
          </a:xfrm>
          <a:prstGeom prst="rect">
            <a:avLst/>
          </a:prstGeom>
          <a:solidFill>
            <a:srgbClr val="C2352F"/>
          </a:solidFill>
          <a:ln/>
        </p:spPr>
      </p:sp>
      <p:sp>
        <p:nvSpPr>
          <p:cNvPr id="88" name="Text 86"/>
          <p:cNvSpPr txBox="1"/>
          <p:nvPr/>
        </p:nvSpPr>
        <p:spPr>
          <a:xfrm>
            <a:off x="4416552" y="451530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9" name="Text 87"/>
          <p:cNvSpPr txBox="1"/>
          <p:nvPr/>
        </p:nvSpPr>
        <p:spPr>
          <a:xfrm>
            <a:off x="6108192" y="451530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26.3%</a:t>
            </a:r>
            <a:endParaRPr lang="en-US" sz="1300" dirty="0"/>
          </a:p>
        </p:txBody>
      </p:sp>
      <p:sp>
        <p:nvSpPr>
          <p:cNvPr id="90" name="Text 88"/>
          <p:cNvSpPr txBox="1"/>
          <p:nvPr/>
        </p:nvSpPr>
        <p:spPr>
          <a:xfrm>
            <a:off x="6858000" y="451530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1,809</a:t>
            </a:r>
            <a:endParaRPr lang="en-US" sz="1200" dirty="0"/>
          </a:p>
        </p:txBody>
      </p:sp>
      <p:sp>
        <p:nvSpPr>
          <p:cNvPr id="91" name="Text 89"/>
          <p:cNvSpPr txBox="1"/>
          <p:nvPr/>
        </p:nvSpPr>
        <p:spPr>
          <a:xfrm>
            <a:off x="4416552" y="4860950"/>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Las Vegas</a:t>
            </a:r>
            <a:endParaRPr lang="en-US" sz="1300" dirty="0"/>
          </a:p>
        </p:txBody>
      </p:sp>
      <p:sp>
        <p:nvSpPr>
          <p:cNvPr id="92" name="Text 90"/>
          <p:cNvSpPr txBox="1"/>
          <p:nvPr/>
        </p:nvSpPr>
        <p:spPr>
          <a:xfrm>
            <a:off x="6108192" y="4860950"/>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27.2%</a:t>
            </a:r>
            <a:endParaRPr lang="en-US" sz="1300" dirty="0"/>
          </a:p>
        </p:txBody>
      </p:sp>
      <p:sp>
        <p:nvSpPr>
          <p:cNvPr id="93" name="Text 91"/>
          <p:cNvSpPr txBox="1"/>
          <p:nvPr/>
        </p:nvSpPr>
        <p:spPr>
          <a:xfrm>
            <a:off x="6858000" y="4860950"/>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5,450</a:t>
            </a:r>
            <a:endParaRPr lang="en-US" sz="1200" dirty="0"/>
          </a:p>
        </p:txBody>
      </p:sp>
      <p:sp>
        <p:nvSpPr>
          <p:cNvPr id="94" name="Text 92"/>
          <p:cNvSpPr txBox="1"/>
          <p:nvPr/>
        </p:nvSpPr>
        <p:spPr>
          <a:xfrm>
            <a:off x="4416552" y="520659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95" name="Text 93"/>
          <p:cNvSpPr txBox="1"/>
          <p:nvPr/>
        </p:nvSpPr>
        <p:spPr>
          <a:xfrm>
            <a:off x="6108192" y="520659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27.4%</a:t>
            </a:r>
            <a:endParaRPr lang="en-US" sz="1300" dirty="0"/>
          </a:p>
        </p:txBody>
      </p:sp>
      <p:sp>
        <p:nvSpPr>
          <p:cNvPr id="96" name="Text 94"/>
          <p:cNvSpPr txBox="1"/>
          <p:nvPr/>
        </p:nvSpPr>
        <p:spPr>
          <a:xfrm>
            <a:off x="6858000" y="520659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97" name="Shape 95"/>
          <p:cNvSpPr/>
          <p:nvPr/>
        </p:nvSpPr>
        <p:spPr>
          <a:xfrm>
            <a:off x="7818120" y="5243170"/>
            <a:ext cx="54864" cy="272491"/>
          </a:xfrm>
          <a:prstGeom prst="rect">
            <a:avLst/>
          </a:prstGeom>
          <a:solidFill>
            <a:srgbClr val="C2352F"/>
          </a:solidFill>
          <a:ln/>
        </p:spPr>
      </p:sp>
      <p:sp>
        <p:nvSpPr>
          <p:cNvPr id="98" name="Text 96"/>
          <p:cNvSpPr txBox="1"/>
          <p:nvPr/>
        </p:nvSpPr>
        <p:spPr>
          <a:xfrm>
            <a:off x="4416552" y="555223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99" name="Text 97"/>
          <p:cNvSpPr txBox="1"/>
          <p:nvPr/>
        </p:nvSpPr>
        <p:spPr>
          <a:xfrm>
            <a:off x="6108192" y="555223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32.9%</a:t>
            </a:r>
            <a:endParaRPr lang="en-US" sz="1300" dirty="0"/>
          </a:p>
        </p:txBody>
      </p:sp>
      <p:sp>
        <p:nvSpPr>
          <p:cNvPr id="100" name="Text 98"/>
          <p:cNvSpPr txBox="1"/>
          <p:nvPr/>
        </p:nvSpPr>
        <p:spPr>
          <a:xfrm>
            <a:off x="6858000" y="555223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101" name="Shape 99"/>
          <p:cNvSpPr/>
          <p:nvPr/>
        </p:nvSpPr>
        <p:spPr>
          <a:xfrm>
            <a:off x="7818120" y="5588813"/>
            <a:ext cx="54864" cy="272491"/>
          </a:xfrm>
          <a:prstGeom prst="rect">
            <a:avLst/>
          </a:prstGeom>
          <a:solidFill>
            <a:srgbClr val="C2352F"/>
          </a:solidFill>
          <a:ln/>
        </p:spPr>
      </p:sp>
      <p:sp>
        <p:nvSpPr>
          <p:cNvPr id="102" name="Shape 100"/>
          <p:cNvSpPr/>
          <p:nvPr/>
        </p:nvSpPr>
        <p:spPr>
          <a:xfrm>
            <a:off x="8046720" y="1207008"/>
            <a:ext cx="3685032" cy="4782312"/>
          </a:xfrm>
          <a:prstGeom prst="rect">
            <a:avLst/>
          </a:prstGeom>
          <a:solidFill>
            <a:srgbClr val="FFFFFF"/>
          </a:solidFill>
          <a:ln/>
        </p:spPr>
      </p:sp>
      <p:sp>
        <p:nvSpPr>
          <p:cNvPr id="103" name="Text 101"/>
          <p:cNvSpPr txBox="1"/>
          <p:nvPr/>
        </p:nvSpPr>
        <p:spPr>
          <a:xfrm>
            <a:off x="821131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CALLBACK RESOLUTION</a:t>
            </a:r>
            <a:endParaRPr lang="en-US" sz="1400" dirty="0"/>
          </a:p>
        </p:txBody>
      </p:sp>
      <p:sp>
        <p:nvSpPr>
          <p:cNvPr id="104" name="Text 102"/>
          <p:cNvSpPr txBox="1"/>
          <p:nvPr/>
        </p:nvSpPr>
        <p:spPr>
          <a:xfrm>
            <a:off x="821131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98.2% · 6 stores at 100%</a:t>
            </a:r>
            <a:endParaRPr lang="en-US" sz="1400" dirty="0"/>
          </a:p>
        </p:txBody>
      </p:sp>
      <p:sp>
        <p:nvSpPr>
          <p:cNvPr id="105" name="Shape 103"/>
          <p:cNvSpPr/>
          <p:nvPr/>
        </p:nvSpPr>
        <p:spPr>
          <a:xfrm>
            <a:off x="8211312" y="1911096"/>
            <a:ext cx="3355848" cy="22860"/>
          </a:xfrm>
          <a:prstGeom prst="rect">
            <a:avLst/>
          </a:prstGeom>
          <a:solidFill>
            <a:srgbClr val="12A566"/>
          </a:solidFill>
          <a:ln/>
        </p:spPr>
      </p:sp>
      <p:sp>
        <p:nvSpPr>
          <p:cNvPr id="106" name="Text 104"/>
          <p:cNvSpPr txBox="1"/>
          <p:nvPr/>
        </p:nvSpPr>
        <p:spPr>
          <a:xfrm>
            <a:off x="821131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7" name="Text 105"/>
          <p:cNvSpPr txBox="1"/>
          <p:nvPr/>
        </p:nvSpPr>
        <p:spPr>
          <a:xfrm>
            <a:off x="990295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08" name="Text 106"/>
          <p:cNvSpPr txBox="1"/>
          <p:nvPr/>
        </p:nvSpPr>
        <p:spPr>
          <a:xfrm>
            <a:off x="1065276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09" name="Text 107"/>
          <p:cNvSpPr txBox="1"/>
          <p:nvPr/>
        </p:nvSpPr>
        <p:spPr>
          <a:xfrm>
            <a:off x="8211312" y="2167128"/>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Las Vegas</a:t>
            </a:r>
            <a:endParaRPr lang="en-US" sz="1300" dirty="0"/>
          </a:p>
        </p:txBody>
      </p:sp>
      <p:sp>
        <p:nvSpPr>
          <p:cNvPr id="110" name="Text 108"/>
          <p:cNvSpPr txBox="1"/>
          <p:nvPr/>
        </p:nvSpPr>
        <p:spPr>
          <a:xfrm>
            <a:off x="9902952" y="2167128"/>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1" name="Text 109"/>
          <p:cNvSpPr txBox="1"/>
          <p:nvPr/>
        </p:nvSpPr>
        <p:spPr>
          <a:xfrm>
            <a:off x="10652760" y="2167128"/>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1,570</a:t>
            </a:r>
            <a:endParaRPr lang="en-US" sz="1200" dirty="0"/>
          </a:p>
        </p:txBody>
      </p:sp>
      <p:sp>
        <p:nvSpPr>
          <p:cNvPr id="112" name="Text 110"/>
          <p:cNvSpPr txBox="1"/>
          <p:nvPr/>
        </p:nvSpPr>
        <p:spPr>
          <a:xfrm>
            <a:off x="8211312" y="2512771"/>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3" name="Text 111"/>
          <p:cNvSpPr txBox="1"/>
          <p:nvPr/>
        </p:nvSpPr>
        <p:spPr>
          <a:xfrm>
            <a:off x="9902952" y="2512771"/>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4" name="Text 112"/>
          <p:cNvSpPr txBox="1"/>
          <p:nvPr/>
        </p:nvSpPr>
        <p:spPr>
          <a:xfrm>
            <a:off x="10652760" y="2512771"/>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1,565</a:t>
            </a:r>
            <a:endParaRPr lang="en-US" sz="1200" dirty="0"/>
          </a:p>
        </p:txBody>
      </p:sp>
      <p:sp>
        <p:nvSpPr>
          <p:cNvPr id="115" name="Text 113"/>
          <p:cNvSpPr txBox="1"/>
          <p:nvPr/>
        </p:nvSpPr>
        <p:spPr>
          <a:xfrm>
            <a:off x="8211312" y="285841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6" name="Text 114"/>
          <p:cNvSpPr txBox="1"/>
          <p:nvPr/>
        </p:nvSpPr>
        <p:spPr>
          <a:xfrm>
            <a:off x="9902952" y="2858414"/>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7" name="Text 115"/>
          <p:cNvSpPr txBox="1"/>
          <p:nvPr/>
        </p:nvSpPr>
        <p:spPr>
          <a:xfrm>
            <a:off x="10652760" y="285841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1,458</a:t>
            </a:r>
            <a:endParaRPr lang="en-US" sz="1200" dirty="0"/>
          </a:p>
        </p:txBody>
      </p:sp>
      <p:sp>
        <p:nvSpPr>
          <p:cNvPr id="118" name="Text 116"/>
          <p:cNvSpPr txBox="1"/>
          <p:nvPr/>
        </p:nvSpPr>
        <p:spPr>
          <a:xfrm>
            <a:off x="8211312" y="3204058"/>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119" name="Text 117"/>
          <p:cNvSpPr txBox="1"/>
          <p:nvPr/>
        </p:nvSpPr>
        <p:spPr>
          <a:xfrm>
            <a:off x="9902952" y="3204058"/>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0" name="Text 118"/>
          <p:cNvSpPr txBox="1"/>
          <p:nvPr/>
        </p:nvSpPr>
        <p:spPr>
          <a:xfrm>
            <a:off x="10652760" y="3204058"/>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121" name="Text 119"/>
          <p:cNvSpPr txBox="1"/>
          <p:nvPr/>
        </p:nvSpPr>
        <p:spPr>
          <a:xfrm>
            <a:off x="8211312" y="3549701"/>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Land Rover Reno</a:t>
            </a:r>
            <a:endParaRPr lang="en-US" sz="1300" dirty="0"/>
          </a:p>
        </p:txBody>
      </p:sp>
      <p:sp>
        <p:nvSpPr>
          <p:cNvPr id="122" name="Text 120"/>
          <p:cNvSpPr txBox="1"/>
          <p:nvPr/>
        </p:nvSpPr>
        <p:spPr>
          <a:xfrm>
            <a:off x="9902952" y="3549701"/>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3" name="Text 121"/>
          <p:cNvSpPr txBox="1"/>
          <p:nvPr/>
        </p:nvSpPr>
        <p:spPr>
          <a:xfrm>
            <a:off x="10652760" y="3549701"/>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911</a:t>
            </a:r>
            <a:endParaRPr lang="en-US" sz="1200" dirty="0"/>
          </a:p>
        </p:txBody>
      </p:sp>
      <p:sp>
        <p:nvSpPr>
          <p:cNvPr id="124" name="Shape 122"/>
          <p:cNvSpPr/>
          <p:nvPr/>
        </p:nvSpPr>
        <p:spPr>
          <a:xfrm>
            <a:off x="8211312" y="3913632"/>
            <a:ext cx="3355848" cy="22860"/>
          </a:xfrm>
          <a:prstGeom prst="rect">
            <a:avLst/>
          </a:prstGeom>
          <a:solidFill>
            <a:srgbClr val="C2352F"/>
          </a:solidFill>
          <a:ln/>
        </p:spPr>
      </p:sp>
      <p:sp>
        <p:nvSpPr>
          <p:cNvPr id="125" name="Text 123"/>
          <p:cNvSpPr txBox="1"/>
          <p:nvPr/>
        </p:nvSpPr>
        <p:spPr>
          <a:xfrm>
            <a:off x="8211312" y="394106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126" name="Text 124"/>
          <p:cNvSpPr txBox="1"/>
          <p:nvPr/>
        </p:nvSpPr>
        <p:spPr>
          <a:xfrm>
            <a:off x="9902952" y="394106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27" name="Text 125"/>
          <p:cNvSpPr txBox="1"/>
          <p:nvPr/>
        </p:nvSpPr>
        <p:spPr>
          <a:xfrm>
            <a:off x="10652760" y="394106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Open</a:t>
            </a:r>
            <a:endParaRPr lang="en-US" sz="1400" dirty="0"/>
          </a:p>
        </p:txBody>
      </p:sp>
      <p:sp>
        <p:nvSpPr>
          <p:cNvPr id="128" name="Text 126"/>
          <p:cNvSpPr txBox="1"/>
          <p:nvPr/>
        </p:nvSpPr>
        <p:spPr>
          <a:xfrm>
            <a:off x="8211312" y="416966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29" name="Text 127"/>
          <p:cNvSpPr txBox="1"/>
          <p:nvPr/>
        </p:nvSpPr>
        <p:spPr>
          <a:xfrm>
            <a:off x="9902952" y="416966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44.0%</a:t>
            </a:r>
            <a:endParaRPr lang="en-US" sz="1300" dirty="0"/>
          </a:p>
        </p:txBody>
      </p:sp>
      <p:sp>
        <p:nvSpPr>
          <p:cNvPr id="130" name="Text 128"/>
          <p:cNvSpPr txBox="1"/>
          <p:nvPr/>
        </p:nvSpPr>
        <p:spPr>
          <a:xfrm>
            <a:off x="10652760" y="416966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158</a:t>
            </a:r>
            <a:endParaRPr lang="en-US" sz="1200" dirty="0"/>
          </a:p>
        </p:txBody>
      </p:sp>
      <p:sp>
        <p:nvSpPr>
          <p:cNvPr id="131" name="Text 129"/>
          <p:cNvSpPr txBox="1"/>
          <p:nvPr/>
        </p:nvSpPr>
        <p:spPr>
          <a:xfrm>
            <a:off x="8211312" y="451530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Prescott Hyundai</a:t>
            </a:r>
            <a:endParaRPr lang="en-US" sz="1300" dirty="0"/>
          </a:p>
        </p:txBody>
      </p:sp>
      <p:sp>
        <p:nvSpPr>
          <p:cNvPr id="132" name="Text 130"/>
          <p:cNvSpPr txBox="1"/>
          <p:nvPr/>
        </p:nvSpPr>
        <p:spPr>
          <a:xfrm>
            <a:off x="9902952" y="451530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78.2%</a:t>
            </a:r>
            <a:endParaRPr lang="en-US" sz="1300" dirty="0"/>
          </a:p>
        </p:txBody>
      </p:sp>
      <p:sp>
        <p:nvSpPr>
          <p:cNvPr id="133" name="Text 131"/>
          <p:cNvSpPr txBox="1"/>
          <p:nvPr/>
        </p:nvSpPr>
        <p:spPr>
          <a:xfrm>
            <a:off x="10652760" y="451530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114</a:t>
            </a:r>
            <a:endParaRPr lang="en-US" sz="1200" dirty="0"/>
          </a:p>
        </p:txBody>
      </p:sp>
      <p:sp>
        <p:nvSpPr>
          <p:cNvPr id="134" name="Text 132"/>
          <p:cNvSpPr txBox="1"/>
          <p:nvPr/>
        </p:nvSpPr>
        <p:spPr>
          <a:xfrm>
            <a:off x="8211312" y="4860950"/>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135" name="Text 133"/>
          <p:cNvSpPr txBox="1"/>
          <p:nvPr/>
        </p:nvSpPr>
        <p:spPr>
          <a:xfrm>
            <a:off x="9902952" y="4860950"/>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94.0%</a:t>
            </a:r>
            <a:endParaRPr lang="en-US" sz="1300" dirty="0"/>
          </a:p>
        </p:txBody>
      </p:sp>
      <p:sp>
        <p:nvSpPr>
          <p:cNvPr id="136" name="Text 134"/>
          <p:cNvSpPr txBox="1"/>
          <p:nvPr/>
        </p:nvSpPr>
        <p:spPr>
          <a:xfrm>
            <a:off x="10652760" y="4860950"/>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57</a:t>
            </a:r>
            <a:endParaRPr lang="en-US" sz="1200" dirty="0"/>
          </a:p>
        </p:txBody>
      </p:sp>
      <p:sp>
        <p:nvSpPr>
          <p:cNvPr id="137" name="Shape 135"/>
          <p:cNvSpPr/>
          <p:nvPr/>
        </p:nvSpPr>
        <p:spPr>
          <a:xfrm>
            <a:off x="11612880" y="4897526"/>
            <a:ext cx="54864" cy="272491"/>
          </a:xfrm>
          <a:prstGeom prst="rect">
            <a:avLst/>
          </a:prstGeom>
          <a:solidFill>
            <a:srgbClr val="C2352F"/>
          </a:solidFill>
          <a:ln/>
        </p:spPr>
      </p:sp>
      <p:sp>
        <p:nvSpPr>
          <p:cNvPr id="138" name="Text 136"/>
          <p:cNvSpPr txBox="1"/>
          <p:nvPr/>
        </p:nvSpPr>
        <p:spPr>
          <a:xfrm>
            <a:off x="8211312" y="520659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139" name="Text 137"/>
          <p:cNvSpPr txBox="1"/>
          <p:nvPr/>
        </p:nvSpPr>
        <p:spPr>
          <a:xfrm>
            <a:off x="9902952" y="520659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96.5%</a:t>
            </a:r>
            <a:endParaRPr lang="en-US" sz="1300" dirty="0"/>
          </a:p>
        </p:txBody>
      </p:sp>
      <p:sp>
        <p:nvSpPr>
          <p:cNvPr id="140" name="Text 138"/>
          <p:cNvSpPr txBox="1"/>
          <p:nvPr/>
        </p:nvSpPr>
        <p:spPr>
          <a:xfrm>
            <a:off x="10652760" y="520659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30</a:t>
            </a:r>
            <a:endParaRPr lang="en-US" sz="1200" dirty="0"/>
          </a:p>
        </p:txBody>
      </p:sp>
      <p:sp>
        <p:nvSpPr>
          <p:cNvPr id="141" name="Shape 139"/>
          <p:cNvSpPr/>
          <p:nvPr/>
        </p:nvSpPr>
        <p:spPr>
          <a:xfrm>
            <a:off x="11612880" y="5243170"/>
            <a:ext cx="54864" cy="272491"/>
          </a:xfrm>
          <a:prstGeom prst="rect">
            <a:avLst/>
          </a:prstGeom>
          <a:solidFill>
            <a:srgbClr val="C2352F"/>
          </a:solidFill>
          <a:ln/>
        </p:spPr>
      </p:sp>
      <p:sp>
        <p:nvSpPr>
          <p:cNvPr id="142" name="Text 140"/>
          <p:cNvSpPr txBox="1"/>
          <p:nvPr/>
        </p:nvSpPr>
        <p:spPr>
          <a:xfrm>
            <a:off x="8211312" y="555223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43" name="Text 141"/>
          <p:cNvSpPr txBox="1"/>
          <p:nvPr/>
        </p:nvSpPr>
        <p:spPr>
          <a:xfrm>
            <a:off x="9902952" y="555223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98.2%</a:t>
            </a:r>
            <a:endParaRPr lang="en-US" sz="1300" dirty="0"/>
          </a:p>
        </p:txBody>
      </p:sp>
      <p:sp>
        <p:nvSpPr>
          <p:cNvPr id="144" name="Text 142"/>
          <p:cNvSpPr txBox="1"/>
          <p:nvPr/>
        </p:nvSpPr>
        <p:spPr>
          <a:xfrm>
            <a:off x="10652760" y="555223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a:t>
            </a:r>
            <a:endParaRPr lang="en-US" sz="1200" dirty="0"/>
          </a:p>
        </p:txBody>
      </p:sp>
      <p:sp>
        <p:nvSpPr>
          <p:cNvPr id="145" name="Shape 143"/>
          <p:cNvSpPr/>
          <p:nvPr/>
        </p:nvSpPr>
        <p:spPr>
          <a:xfrm>
            <a:off x="457200" y="6126480"/>
            <a:ext cx="11274552" cy="615696"/>
          </a:xfrm>
          <a:prstGeom prst="rect">
            <a:avLst/>
          </a:prstGeom>
          <a:solidFill>
            <a:srgbClr val="EDF4FA"/>
          </a:solidFill>
          <a:ln/>
        </p:spPr>
      </p:sp>
      <p:sp>
        <p:nvSpPr>
          <p:cNvPr id="146" name="Text 144"/>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Chevy GMC Bullhead picks up 77.1% of transfers; Kia St George picks up 21.9%. Nissan and Prescott Hyundai hold 272 of the group's 484 open callbacks.</a:t>
            </a:r>
            <a:endParaRPr lang="en-US" sz="16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Every RO with a customer-pay line. One RO counts once, however many lines it has.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Everything else starts here: hours, ELR and $ per RO all multiply off the RO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the business is expanding or contracting: are customers coming back?</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801942"/>
          </a:xfrm>
          <a:prstGeom prst="rect">
            <a:avLst/>
          </a:prstGeom>
          <a:solidFill>
            <a:srgbClr val="2587C5"/>
          </a:solidFill>
          <a:ln/>
        </p:spPr>
      </p:sp>
      <p:sp>
        <p:nvSpPr>
          <p:cNvPr id="14" name="Text 12"/>
          <p:cNvSpPr txBox="1"/>
          <p:nvPr/>
        </p:nvSpPr>
        <p:spPr>
          <a:xfrm>
            <a:off x="5266944"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801942"/>
          </a:xfrm>
          <a:prstGeom prst="rect">
            <a:avLst/>
          </a:prstGeom>
          <a:solidFill>
            <a:srgbClr val="2587C5"/>
          </a:solidFill>
          <a:ln/>
        </p:spPr>
      </p:sp>
      <p:sp>
        <p:nvSpPr>
          <p:cNvPr id="16" name="Text 14"/>
          <p:cNvSpPr txBox="1"/>
          <p:nvPr/>
        </p:nvSpPr>
        <p:spPr>
          <a:xfrm>
            <a:off x="8522208"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755454"/>
            <a:ext cx="45720" cy="1121027"/>
          </a:xfrm>
          <a:prstGeom prst="rect">
            <a:avLst/>
          </a:prstGeom>
          <a:solidFill>
            <a:srgbClr val="2587C5"/>
          </a:solidFill>
          <a:ln/>
        </p:spPr>
      </p:sp>
      <p:sp>
        <p:nvSpPr>
          <p:cNvPr id="18" name="Text 16"/>
          <p:cNvSpPr txBox="1"/>
          <p:nvPr/>
        </p:nvSpPr>
        <p:spPr>
          <a:xfrm>
            <a:off x="5266944"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Proactive outreach and ongoing engagement: lapsed, inactive and sold-not-serviced customers (VizAuto retention app)</a:t>
            </a:r>
            <a:endParaRPr lang="en-US" sz="1400" dirty="0"/>
          </a:p>
        </p:txBody>
      </p:sp>
      <p:sp>
        <p:nvSpPr>
          <p:cNvPr id="19" name="Shape 17"/>
          <p:cNvSpPr/>
          <p:nvPr/>
        </p:nvSpPr>
        <p:spPr>
          <a:xfrm>
            <a:off x="8394192" y="3755454"/>
            <a:ext cx="45720" cy="1121027"/>
          </a:xfrm>
          <a:prstGeom prst="rect">
            <a:avLst/>
          </a:prstGeom>
          <a:solidFill>
            <a:srgbClr val="2587C5"/>
          </a:solidFill>
          <a:ln/>
        </p:spPr>
      </p:sp>
      <p:sp>
        <p:nvSpPr>
          <p:cNvPr id="20" name="Text 18"/>
          <p:cNvSpPr txBox="1"/>
          <p:nvPr/>
        </p:nvSpPr>
        <p:spPr>
          <a:xfrm>
            <a:off x="8522208"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Quick maintenance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available on demand, done quickly and efficiently, keeps customers coming back</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
        <p:nvSpPr>
          <p:cNvPr id="25" name="Shape 23"/>
          <p:cNvSpPr/>
          <p:nvPr/>
        </p:nvSpPr>
        <p:spPr>
          <a:xfrm>
            <a:off x="457200" y="6126480"/>
            <a:ext cx="11274552" cy="371856"/>
          </a:xfrm>
          <a:prstGeom prst="rect">
            <a:avLst/>
          </a:prstGeom>
          <a:solidFill>
            <a:srgbClr val="EDF4FA"/>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279,756 CP ROs, up 456 from 2025. Volume is flat.</a:t>
            </a:r>
            <a:endParaRPr lang="en-US" sz="1600" dirty="0"/>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776079"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672485"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631546"/>
            <a:ext cx="598622"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871442"/>
            <a:ext cx="521623"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111337"/>
            <a:ext cx="518420"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351233"/>
            <a:ext cx="490928"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64745"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307648"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280190"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240227"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550711"/>
            <a:ext cx="217352"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4790606"/>
            <a:ext cx="196405"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191307"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270397"/>
            <a:ext cx="184589"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510293"/>
            <a:ext cx="184106"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177251"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1860"/>
            <a:ext cx="175873"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51755"/>
            <a:ext cx="157338"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391651"/>
            <a:ext cx="138838"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631546"/>
            <a:ext cx="134945"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871442"/>
            <a:ext cx="134773"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111337"/>
            <a:ext cx="130191"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351233"/>
            <a:ext cx="126470"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591128"/>
            <a:ext cx="120441"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3831024"/>
            <a:ext cx="117203"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15377"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310815"/>
            <a:ext cx="107039"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90606"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4790606"/>
            <a:ext cx="6924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030502"/>
            <a:ext cx="66112"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270397"/>
            <a:ext cx="53709"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48955"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53,084; LR Reno is smallest at 1,421.</a:t>
            </a:r>
            <a:endParaRPr lang="en-US" sz="1600" dirty="0"/>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led by Kia LV at +13.7% to 8,133. 13 declined; VW St George fell most at −14.7%.</a:t>
            </a:r>
            <a:endParaRPr lang="en-US" sz="1600" dirty="0"/>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7530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982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125712"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486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 name="Shape 12"/>
          <p:cNvSpPr/>
          <p:nvPr/>
        </p:nvSpPr>
        <p:spPr>
          <a:xfrm>
            <a:off x="2871216" y="1756697"/>
            <a:ext cx="649224" cy="136676"/>
          </a:xfrm>
          <a:prstGeom prst="rect">
            <a:avLst/>
          </a:prstGeom>
          <a:solidFill>
            <a:srgbClr val="2587C5"/>
          </a:solidFill>
          <a:ln/>
        </p:spPr>
      </p:sp>
      <p:sp>
        <p:nvSpPr>
          <p:cNvPr id="15" name="Text 13"/>
          <p:cNvSpPr txBox="1"/>
          <p:nvPr/>
        </p:nvSpPr>
        <p:spPr>
          <a:xfrm>
            <a:off x="3575304"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$358K</a:t>
            </a:r>
            <a:endParaRPr lang="en-US" sz="1300" dirty="0"/>
          </a:p>
        </p:txBody>
      </p:sp>
      <p:sp>
        <p:nvSpPr>
          <p:cNvPr id="16" name="Text 14"/>
          <p:cNvSpPr txBox="1"/>
          <p:nvPr/>
        </p:nvSpPr>
        <p:spPr>
          <a:xfrm>
            <a:off x="439826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 name="Text 15"/>
          <p:cNvSpPr txBox="1"/>
          <p:nvPr/>
        </p:nvSpPr>
        <p:spPr>
          <a:xfrm>
            <a:off x="518464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0" name="Shape 18"/>
          <p:cNvSpPr/>
          <p:nvPr/>
        </p:nvSpPr>
        <p:spPr>
          <a:xfrm>
            <a:off x="2871216" y="2005199"/>
            <a:ext cx="634920" cy="136676"/>
          </a:xfrm>
          <a:prstGeom prst="rect">
            <a:avLst/>
          </a:prstGeom>
          <a:solidFill>
            <a:srgbClr val="2587C5"/>
          </a:solidFill>
          <a:ln/>
        </p:spPr>
      </p:sp>
      <p:sp>
        <p:nvSpPr>
          <p:cNvPr id="21" name="Text 19"/>
          <p:cNvSpPr txBox="1"/>
          <p:nvPr/>
        </p:nvSpPr>
        <p:spPr>
          <a:xfrm>
            <a:off x="3575304"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$351K</a:t>
            </a:r>
            <a:endParaRPr lang="en-US" sz="1300" dirty="0"/>
          </a:p>
        </p:txBody>
      </p:sp>
      <p:sp>
        <p:nvSpPr>
          <p:cNvPr id="22" name="Text 20"/>
          <p:cNvSpPr txBox="1"/>
          <p:nvPr/>
        </p:nvSpPr>
        <p:spPr>
          <a:xfrm>
            <a:off x="439826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3" name="Text 21"/>
          <p:cNvSpPr txBox="1"/>
          <p:nvPr/>
        </p:nvSpPr>
        <p:spPr>
          <a:xfrm>
            <a:off x="518464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6" name="Shape 24"/>
          <p:cNvSpPr/>
          <p:nvPr/>
        </p:nvSpPr>
        <p:spPr>
          <a:xfrm>
            <a:off x="2871216" y="2253700"/>
            <a:ext cx="585174" cy="136676"/>
          </a:xfrm>
          <a:prstGeom prst="rect">
            <a:avLst/>
          </a:prstGeom>
          <a:solidFill>
            <a:srgbClr val="2587C5"/>
          </a:solidFill>
          <a:ln/>
        </p:spPr>
      </p:sp>
      <p:sp>
        <p:nvSpPr>
          <p:cNvPr id="27" name="Text 25"/>
          <p:cNvSpPr txBox="1"/>
          <p:nvPr/>
        </p:nvSpPr>
        <p:spPr>
          <a:xfrm>
            <a:off x="3575304"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$323K</a:t>
            </a:r>
            <a:endParaRPr lang="en-US" sz="1300" dirty="0"/>
          </a:p>
        </p:txBody>
      </p:sp>
      <p:sp>
        <p:nvSpPr>
          <p:cNvPr id="28" name="Text 26"/>
          <p:cNvSpPr txBox="1"/>
          <p:nvPr/>
        </p:nvSpPr>
        <p:spPr>
          <a:xfrm>
            <a:off x="439826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9" name="Text 27"/>
          <p:cNvSpPr txBox="1"/>
          <p:nvPr/>
        </p:nvSpPr>
        <p:spPr>
          <a:xfrm>
            <a:off x="518464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572532" cy="136676"/>
          </a:xfrm>
          <a:prstGeom prst="rect">
            <a:avLst/>
          </a:prstGeom>
          <a:solidFill>
            <a:srgbClr val="2587C5"/>
          </a:solidFill>
          <a:ln/>
        </p:spPr>
      </p:sp>
      <p:sp>
        <p:nvSpPr>
          <p:cNvPr id="33" name="Text 31"/>
          <p:cNvSpPr txBox="1"/>
          <p:nvPr/>
        </p:nvSpPr>
        <p:spPr>
          <a:xfrm>
            <a:off x="3575304"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$316K</a:t>
            </a:r>
            <a:endParaRPr lang="en-US" sz="1300" dirty="0"/>
          </a:p>
        </p:txBody>
      </p:sp>
      <p:sp>
        <p:nvSpPr>
          <p:cNvPr id="34" name="Text 32"/>
          <p:cNvSpPr txBox="1"/>
          <p:nvPr/>
        </p:nvSpPr>
        <p:spPr>
          <a:xfrm>
            <a:off x="439826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5" name="Text 33"/>
          <p:cNvSpPr txBox="1"/>
          <p:nvPr/>
        </p:nvSpPr>
        <p:spPr>
          <a:xfrm>
            <a:off x="518464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8" name="Shape 36"/>
          <p:cNvSpPr/>
          <p:nvPr/>
        </p:nvSpPr>
        <p:spPr>
          <a:xfrm>
            <a:off x="2871216" y="2750703"/>
            <a:ext cx="411641" cy="136676"/>
          </a:xfrm>
          <a:prstGeom prst="rect">
            <a:avLst/>
          </a:prstGeom>
          <a:solidFill>
            <a:srgbClr val="2587C5"/>
          </a:solidFill>
          <a:ln/>
        </p:spPr>
      </p:sp>
      <p:sp>
        <p:nvSpPr>
          <p:cNvPr id="39" name="Text 37"/>
          <p:cNvSpPr txBox="1"/>
          <p:nvPr/>
        </p:nvSpPr>
        <p:spPr>
          <a:xfrm>
            <a:off x="3575304"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$227K</a:t>
            </a:r>
            <a:endParaRPr lang="en-US" sz="1300" dirty="0"/>
          </a:p>
        </p:txBody>
      </p:sp>
      <p:sp>
        <p:nvSpPr>
          <p:cNvPr id="40" name="Text 38"/>
          <p:cNvSpPr txBox="1"/>
          <p:nvPr/>
        </p:nvSpPr>
        <p:spPr>
          <a:xfrm>
            <a:off x="439826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41" name="Text 39"/>
          <p:cNvSpPr txBox="1"/>
          <p:nvPr/>
        </p:nvSpPr>
        <p:spPr>
          <a:xfrm>
            <a:off x="518464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4" name="Shape 42"/>
          <p:cNvSpPr/>
          <p:nvPr/>
        </p:nvSpPr>
        <p:spPr>
          <a:xfrm>
            <a:off x="2871216" y="2999205"/>
            <a:ext cx="368295" cy="136676"/>
          </a:xfrm>
          <a:prstGeom prst="rect">
            <a:avLst/>
          </a:prstGeom>
          <a:solidFill>
            <a:srgbClr val="2587C5"/>
          </a:solidFill>
          <a:ln/>
        </p:spPr>
      </p:sp>
      <p:sp>
        <p:nvSpPr>
          <p:cNvPr id="45" name="Text 43"/>
          <p:cNvSpPr txBox="1"/>
          <p:nvPr/>
        </p:nvSpPr>
        <p:spPr>
          <a:xfrm>
            <a:off x="3575304"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$203K</a:t>
            </a:r>
            <a:endParaRPr lang="en-US" sz="1300" dirty="0"/>
          </a:p>
        </p:txBody>
      </p:sp>
      <p:sp>
        <p:nvSpPr>
          <p:cNvPr id="46" name="Text 44"/>
          <p:cNvSpPr txBox="1"/>
          <p:nvPr/>
        </p:nvSpPr>
        <p:spPr>
          <a:xfrm>
            <a:off x="439826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7" name="Text 45"/>
          <p:cNvSpPr txBox="1"/>
          <p:nvPr/>
        </p:nvSpPr>
        <p:spPr>
          <a:xfrm>
            <a:off x="518464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0" name="Shape 48"/>
          <p:cNvSpPr/>
          <p:nvPr/>
        </p:nvSpPr>
        <p:spPr>
          <a:xfrm>
            <a:off x="2871216" y="3247707"/>
            <a:ext cx="282773" cy="136676"/>
          </a:xfrm>
          <a:prstGeom prst="rect">
            <a:avLst/>
          </a:prstGeom>
          <a:solidFill>
            <a:srgbClr val="2587C5"/>
          </a:solidFill>
          <a:ln/>
        </p:spPr>
      </p:sp>
      <p:sp>
        <p:nvSpPr>
          <p:cNvPr id="51" name="Text 49"/>
          <p:cNvSpPr txBox="1"/>
          <p:nvPr/>
        </p:nvSpPr>
        <p:spPr>
          <a:xfrm>
            <a:off x="3575304"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52" name="Text 50"/>
          <p:cNvSpPr txBox="1"/>
          <p:nvPr/>
        </p:nvSpPr>
        <p:spPr>
          <a:xfrm>
            <a:off x="439826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53" name="Text 51"/>
          <p:cNvSpPr txBox="1"/>
          <p:nvPr/>
        </p:nvSpPr>
        <p:spPr>
          <a:xfrm>
            <a:off x="518464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2871216" y="3496208"/>
            <a:ext cx="267139" cy="136676"/>
          </a:xfrm>
          <a:prstGeom prst="rect">
            <a:avLst/>
          </a:prstGeom>
          <a:solidFill>
            <a:srgbClr val="2587C5"/>
          </a:solidFill>
          <a:ln/>
        </p:spPr>
      </p:sp>
      <p:sp>
        <p:nvSpPr>
          <p:cNvPr id="57" name="Text 55"/>
          <p:cNvSpPr txBox="1"/>
          <p:nvPr/>
        </p:nvSpPr>
        <p:spPr>
          <a:xfrm>
            <a:off x="3575304"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$148K</a:t>
            </a:r>
            <a:endParaRPr lang="en-US" sz="1300" dirty="0"/>
          </a:p>
        </p:txBody>
      </p:sp>
      <p:sp>
        <p:nvSpPr>
          <p:cNvPr id="58" name="Text 56"/>
          <p:cNvSpPr txBox="1"/>
          <p:nvPr/>
        </p:nvSpPr>
        <p:spPr>
          <a:xfrm>
            <a:off x="439826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9" name="Text 57"/>
          <p:cNvSpPr txBox="1"/>
          <p:nvPr/>
        </p:nvSpPr>
        <p:spPr>
          <a:xfrm>
            <a:off x="518464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2" name="Shape 60"/>
          <p:cNvSpPr/>
          <p:nvPr/>
        </p:nvSpPr>
        <p:spPr>
          <a:xfrm>
            <a:off x="2871216" y="3744710"/>
            <a:ext cx="255684" cy="136676"/>
          </a:xfrm>
          <a:prstGeom prst="rect">
            <a:avLst/>
          </a:prstGeom>
          <a:solidFill>
            <a:srgbClr val="2587C5"/>
          </a:solidFill>
          <a:ln/>
        </p:spPr>
      </p:sp>
      <p:sp>
        <p:nvSpPr>
          <p:cNvPr id="63" name="Text 61"/>
          <p:cNvSpPr txBox="1"/>
          <p:nvPr/>
        </p:nvSpPr>
        <p:spPr>
          <a:xfrm>
            <a:off x="3575304"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$141K</a:t>
            </a:r>
            <a:endParaRPr lang="en-US" sz="1300" dirty="0"/>
          </a:p>
        </p:txBody>
      </p:sp>
      <p:sp>
        <p:nvSpPr>
          <p:cNvPr id="64" name="Text 62"/>
          <p:cNvSpPr txBox="1"/>
          <p:nvPr/>
        </p:nvSpPr>
        <p:spPr>
          <a:xfrm>
            <a:off x="439826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5" name="Text 63"/>
          <p:cNvSpPr txBox="1"/>
          <p:nvPr/>
        </p:nvSpPr>
        <p:spPr>
          <a:xfrm>
            <a:off x="518464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8" name="Shape 66"/>
          <p:cNvSpPr/>
          <p:nvPr/>
        </p:nvSpPr>
        <p:spPr>
          <a:xfrm>
            <a:off x="2871216" y="3993212"/>
            <a:ext cx="238260" cy="136676"/>
          </a:xfrm>
          <a:prstGeom prst="rect">
            <a:avLst/>
          </a:prstGeom>
          <a:solidFill>
            <a:srgbClr val="2587C5"/>
          </a:solidFill>
          <a:ln/>
        </p:spPr>
      </p:sp>
      <p:sp>
        <p:nvSpPr>
          <p:cNvPr id="69" name="Text 67"/>
          <p:cNvSpPr txBox="1"/>
          <p:nvPr/>
        </p:nvSpPr>
        <p:spPr>
          <a:xfrm>
            <a:off x="3575304"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70" name="Text 68"/>
          <p:cNvSpPr txBox="1"/>
          <p:nvPr/>
        </p:nvSpPr>
        <p:spPr>
          <a:xfrm>
            <a:off x="439826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71" name="Text 69"/>
          <p:cNvSpPr txBox="1"/>
          <p:nvPr/>
        </p:nvSpPr>
        <p:spPr>
          <a:xfrm>
            <a:off x="518464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4" name="Shape 72"/>
          <p:cNvSpPr/>
          <p:nvPr/>
        </p:nvSpPr>
        <p:spPr>
          <a:xfrm>
            <a:off x="2871216" y="4241713"/>
            <a:ext cx="225886" cy="136676"/>
          </a:xfrm>
          <a:prstGeom prst="rect">
            <a:avLst/>
          </a:prstGeom>
          <a:solidFill>
            <a:srgbClr val="2587C5"/>
          </a:solidFill>
          <a:ln/>
        </p:spPr>
      </p:sp>
      <p:sp>
        <p:nvSpPr>
          <p:cNvPr id="75" name="Text 73"/>
          <p:cNvSpPr txBox="1"/>
          <p:nvPr/>
        </p:nvSpPr>
        <p:spPr>
          <a:xfrm>
            <a:off x="3575304"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$125K</a:t>
            </a:r>
            <a:endParaRPr lang="en-US" sz="1300" dirty="0"/>
          </a:p>
        </p:txBody>
      </p:sp>
      <p:sp>
        <p:nvSpPr>
          <p:cNvPr id="76" name="Text 74"/>
          <p:cNvSpPr txBox="1"/>
          <p:nvPr/>
        </p:nvSpPr>
        <p:spPr>
          <a:xfrm>
            <a:off x="439826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7" name="Text 75"/>
          <p:cNvSpPr txBox="1"/>
          <p:nvPr/>
        </p:nvSpPr>
        <p:spPr>
          <a:xfrm>
            <a:off x="518464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0" name="Shape 78"/>
          <p:cNvSpPr/>
          <p:nvPr/>
        </p:nvSpPr>
        <p:spPr>
          <a:xfrm>
            <a:off x="2871216" y="4490215"/>
            <a:ext cx="222080" cy="136676"/>
          </a:xfrm>
          <a:prstGeom prst="rect">
            <a:avLst/>
          </a:prstGeom>
          <a:solidFill>
            <a:srgbClr val="2587C5"/>
          </a:solidFill>
          <a:ln/>
        </p:spPr>
      </p:sp>
      <p:sp>
        <p:nvSpPr>
          <p:cNvPr id="81" name="Text 79"/>
          <p:cNvSpPr txBox="1"/>
          <p:nvPr/>
        </p:nvSpPr>
        <p:spPr>
          <a:xfrm>
            <a:off x="3575304"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82" name="Text 80"/>
          <p:cNvSpPr txBox="1"/>
          <p:nvPr/>
        </p:nvSpPr>
        <p:spPr>
          <a:xfrm>
            <a:off x="439826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3" name="Text 81"/>
          <p:cNvSpPr txBox="1"/>
          <p:nvPr/>
        </p:nvSpPr>
        <p:spPr>
          <a:xfrm>
            <a:off x="518464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6" name="Shape 84"/>
          <p:cNvSpPr/>
          <p:nvPr/>
        </p:nvSpPr>
        <p:spPr>
          <a:xfrm>
            <a:off x="2871216" y="4738717"/>
            <a:ext cx="201519" cy="136676"/>
          </a:xfrm>
          <a:prstGeom prst="rect">
            <a:avLst/>
          </a:prstGeom>
          <a:solidFill>
            <a:srgbClr val="2587C5"/>
          </a:solidFill>
          <a:ln/>
        </p:spPr>
      </p:sp>
      <p:sp>
        <p:nvSpPr>
          <p:cNvPr id="87" name="Text 85"/>
          <p:cNvSpPr txBox="1"/>
          <p:nvPr/>
        </p:nvSpPr>
        <p:spPr>
          <a:xfrm>
            <a:off x="3575304"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$111K</a:t>
            </a:r>
            <a:endParaRPr lang="en-US" sz="1300" dirty="0"/>
          </a:p>
        </p:txBody>
      </p:sp>
      <p:sp>
        <p:nvSpPr>
          <p:cNvPr id="88" name="Text 86"/>
          <p:cNvSpPr txBox="1"/>
          <p:nvPr/>
        </p:nvSpPr>
        <p:spPr>
          <a:xfrm>
            <a:off x="439826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89" name="Text 87"/>
          <p:cNvSpPr txBox="1"/>
          <p:nvPr/>
        </p:nvSpPr>
        <p:spPr>
          <a:xfrm>
            <a:off x="518464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2" name="Shape 90"/>
          <p:cNvSpPr/>
          <p:nvPr/>
        </p:nvSpPr>
        <p:spPr>
          <a:xfrm>
            <a:off x="2871216" y="4987218"/>
            <a:ext cx="198656" cy="136676"/>
          </a:xfrm>
          <a:prstGeom prst="rect">
            <a:avLst/>
          </a:prstGeom>
          <a:solidFill>
            <a:srgbClr val="2587C5"/>
          </a:solidFill>
          <a:ln/>
        </p:spPr>
      </p:sp>
      <p:sp>
        <p:nvSpPr>
          <p:cNvPr id="93" name="Text 91"/>
          <p:cNvSpPr txBox="1"/>
          <p:nvPr/>
        </p:nvSpPr>
        <p:spPr>
          <a:xfrm>
            <a:off x="3575304"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$110K</a:t>
            </a:r>
            <a:endParaRPr lang="en-US" sz="1300" dirty="0"/>
          </a:p>
        </p:txBody>
      </p:sp>
      <p:sp>
        <p:nvSpPr>
          <p:cNvPr id="94" name="Text 92"/>
          <p:cNvSpPr txBox="1"/>
          <p:nvPr/>
        </p:nvSpPr>
        <p:spPr>
          <a:xfrm>
            <a:off x="439826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95" name="Text 93"/>
          <p:cNvSpPr txBox="1"/>
          <p:nvPr/>
        </p:nvSpPr>
        <p:spPr>
          <a:xfrm>
            <a:off x="518464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8" name="Shape 96"/>
          <p:cNvSpPr/>
          <p:nvPr/>
        </p:nvSpPr>
        <p:spPr>
          <a:xfrm>
            <a:off x="2871216" y="5235720"/>
            <a:ext cx="197675" cy="136676"/>
          </a:xfrm>
          <a:prstGeom prst="rect">
            <a:avLst/>
          </a:prstGeom>
          <a:solidFill>
            <a:srgbClr val="2587C5"/>
          </a:solidFill>
          <a:ln/>
        </p:spPr>
      </p:sp>
      <p:sp>
        <p:nvSpPr>
          <p:cNvPr id="99" name="Text 97"/>
          <p:cNvSpPr txBox="1"/>
          <p:nvPr/>
        </p:nvSpPr>
        <p:spPr>
          <a:xfrm>
            <a:off x="3575304"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0" name="Text 98"/>
          <p:cNvSpPr txBox="1"/>
          <p:nvPr/>
        </p:nvSpPr>
        <p:spPr>
          <a:xfrm>
            <a:off x="439826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518464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96835" cy="136676"/>
          </a:xfrm>
          <a:prstGeom prst="rect">
            <a:avLst/>
          </a:prstGeom>
          <a:solidFill>
            <a:srgbClr val="2587C5"/>
          </a:solidFill>
          <a:ln/>
        </p:spPr>
      </p:sp>
      <p:sp>
        <p:nvSpPr>
          <p:cNvPr id="105" name="Text 103"/>
          <p:cNvSpPr txBox="1"/>
          <p:nvPr/>
        </p:nvSpPr>
        <p:spPr>
          <a:xfrm>
            <a:off x="3575304"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6" name="Text 104"/>
          <p:cNvSpPr txBox="1"/>
          <p:nvPr/>
        </p:nvSpPr>
        <p:spPr>
          <a:xfrm>
            <a:off x="439826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107" name="Text 105"/>
          <p:cNvSpPr txBox="1"/>
          <p:nvPr/>
        </p:nvSpPr>
        <p:spPr>
          <a:xfrm>
            <a:off x="518464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0" name="Shape 108"/>
          <p:cNvSpPr/>
          <p:nvPr/>
        </p:nvSpPr>
        <p:spPr>
          <a:xfrm>
            <a:off x="2871216" y="5732723"/>
            <a:ext cx="187758" cy="136676"/>
          </a:xfrm>
          <a:prstGeom prst="rect">
            <a:avLst/>
          </a:prstGeom>
          <a:solidFill>
            <a:srgbClr val="2587C5"/>
          </a:solidFill>
          <a:ln/>
        </p:spPr>
      </p:sp>
      <p:sp>
        <p:nvSpPr>
          <p:cNvPr id="111" name="Text 109"/>
          <p:cNvSpPr txBox="1"/>
          <p:nvPr/>
        </p:nvSpPr>
        <p:spPr>
          <a:xfrm>
            <a:off x="3575304" y="567681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$104K</a:t>
            </a:r>
            <a:endParaRPr lang="en-US" sz="1300" dirty="0"/>
          </a:p>
        </p:txBody>
      </p:sp>
      <p:sp>
        <p:nvSpPr>
          <p:cNvPr id="112" name="Text 110"/>
          <p:cNvSpPr txBox="1"/>
          <p:nvPr/>
        </p:nvSpPr>
        <p:spPr>
          <a:xfrm>
            <a:off x="439826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13" name="Text 111"/>
          <p:cNvSpPr txBox="1"/>
          <p:nvPr/>
        </p:nvSpPr>
        <p:spPr>
          <a:xfrm>
            <a:off x="518464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6" name="Shape 114"/>
          <p:cNvSpPr/>
          <p:nvPr/>
        </p:nvSpPr>
        <p:spPr>
          <a:xfrm>
            <a:off x="8421624" y="1756697"/>
            <a:ext cx="187228" cy="136676"/>
          </a:xfrm>
          <a:prstGeom prst="rect">
            <a:avLst/>
          </a:prstGeom>
          <a:solidFill>
            <a:srgbClr val="2587C5"/>
          </a:solidFill>
          <a:ln/>
        </p:spPr>
      </p:sp>
      <p:sp>
        <p:nvSpPr>
          <p:cNvPr id="117" name="Text 115"/>
          <p:cNvSpPr txBox="1"/>
          <p:nvPr/>
        </p:nvSpPr>
        <p:spPr>
          <a:xfrm>
            <a:off x="9125712"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$103K</a:t>
            </a:r>
            <a:endParaRPr lang="en-US" sz="1300" dirty="0"/>
          </a:p>
        </p:txBody>
      </p:sp>
      <p:sp>
        <p:nvSpPr>
          <p:cNvPr id="118" name="Text 116"/>
          <p:cNvSpPr txBox="1"/>
          <p:nvPr/>
        </p:nvSpPr>
        <p:spPr>
          <a:xfrm>
            <a:off x="994867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19" name="Text 117"/>
          <p:cNvSpPr txBox="1"/>
          <p:nvPr/>
        </p:nvSpPr>
        <p:spPr>
          <a:xfrm>
            <a:off x="1073505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2" name="Shape 120"/>
          <p:cNvSpPr/>
          <p:nvPr/>
        </p:nvSpPr>
        <p:spPr>
          <a:xfrm>
            <a:off x="8421624" y="2005199"/>
            <a:ext cx="183848" cy="136676"/>
          </a:xfrm>
          <a:prstGeom prst="rect">
            <a:avLst/>
          </a:prstGeom>
          <a:solidFill>
            <a:srgbClr val="2587C5"/>
          </a:solidFill>
          <a:ln/>
        </p:spPr>
      </p:sp>
      <p:sp>
        <p:nvSpPr>
          <p:cNvPr id="123" name="Text 121"/>
          <p:cNvSpPr txBox="1"/>
          <p:nvPr/>
        </p:nvSpPr>
        <p:spPr>
          <a:xfrm>
            <a:off x="9125712"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24" name="Text 122"/>
          <p:cNvSpPr txBox="1"/>
          <p:nvPr/>
        </p:nvSpPr>
        <p:spPr>
          <a:xfrm>
            <a:off x="994867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25" name="Text 123"/>
          <p:cNvSpPr txBox="1"/>
          <p:nvPr/>
        </p:nvSpPr>
        <p:spPr>
          <a:xfrm>
            <a:off x="1073505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421624" y="2253700"/>
            <a:ext cx="174845" cy="136676"/>
          </a:xfrm>
          <a:prstGeom prst="rect">
            <a:avLst/>
          </a:prstGeom>
          <a:solidFill>
            <a:srgbClr val="2587C5"/>
          </a:solidFill>
          <a:ln/>
        </p:spPr>
      </p:sp>
      <p:sp>
        <p:nvSpPr>
          <p:cNvPr id="129" name="Text 127"/>
          <p:cNvSpPr txBox="1"/>
          <p:nvPr/>
        </p:nvSpPr>
        <p:spPr>
          <a:xfrm>
            <a:off x="9125712"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$97K</a:t>
            </a:r>
            <a:endParaRPr lang="en-US" sz="1300" dirty="0"/>
          </a:p>
        </p:txBody>
      </p:sp>
      <p:sp>
        <p:nvSpPr>
          <p:cNvPr id="130" name="Text 128"/>
          <p:cNvSpPr txBox="1"/>
          <p:nvPr/>
        </p:nvSpPr>
        <p:spPr>
          <a:xfrm>
            <a:off x="994867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31" name="Text 129"/>
          <p:cNvSpPr txBox="1"/>
          <p:nvPr/>
        </p:nvSpPr>
        <p:spPr>
          <a:xfrm>
            <a:off x="1073505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4" name="Shape 132"/>
          <p:cNvSpPr/>
          <p:nvPr/>
        </p:nvSpPr>
        <p:spPr>
          <a:xfrm>
            <a:off x="8421624" y="2502202"/>
            <a:ext cx="172138" cy="136676"/>
          </a:xfrm>
          <a:prstGeom prst="rect">
            <a:avLst/>
          </a:prstGeom>
          <a:solidFill>
            <a:srgbClr val="2587C5"/>
          </a:solidFill>
          <a:ln/>
        </p:spPr>
      </p:sp>
      <p:sp>
        <p:nvSpPr>
          <p:cNvPr id="135" name="Text 133"/>
          <p:cNvSpPr txBox="1"/>
          <p:nvPr/>
        </p:nvSpPr>
        <p:spPr>
          <a:xfrm>
            <a:off x="9125712"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136" name="Text 134"/>
          <p:cNvSpPr txBox="1"/>
          <p:nvPr/>
        </p:nvSpPr>
        <p:spPr>
          <a:xfrm>
            <a:off x="994867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7" name="Text 135"/>
          <p:cNvSpPr txBox="1"/>
          <p:nvPr/>
        </p:nvSpPr>
        <p:spPr>
          <a:xfrm>
            <a:off x="1073505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8421624" y="2750703"/>
            <a:ext cx="170555" cy="136676"/>
          </a:xfrm>
          <a:prstGeom prst="rect">
            <a:avLst/>
          </a:prstGeom>
          <a:solidFill>
            <a:srgbClr val="2587C5"/>
          </a:solidFill>
          <a:ln/>
        </p:spPr>
      </p:sp>
      <p:sp>
        <p:nvSpPr>
          <p:cNvPr id="141" name="Text 139"/>
          <p:cNvSpPr txBox="1"/>
          <p:nvPr/>
        </p:nvSpPr>
        <p:spPr>
          <a:xfrm>
            <a:off x="9125712"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$94K</a:t>
            </a:r>
            <a:endParaRPr lang="en-US" sz="1300" dirty="0"/>
          </a:p>
        </p:txBody>
      </p:sp>
      <p:sp>
        <p:nvSpPr>
          <p:cNvPr id="142" name="Text 140"/>
          <p:cNvSpPr txBox="1"/>
          <p:nvPr/>
        </p:nvSpPr>
        <p:spPr>
          <a:xfrm>
            <a:off x="994867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43" name="Text 141"/>
          <p:cNvSpPr txBox="1"/>
          <p:nvPr/>
        </p:nvSpPr>
        <p:spPr>
          <a:xfrm>
            <a:off x="1073505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6" name="Shape 144"/>
          <p:cNvSpPr/>
          <p:nvPr/>
        </p:nvSpPr>
        <p:spPr>
          <a:xfrm>
            <a:off x="8421624" y="2999205"/>
            <a:ext cx="162333" cy="136676"/>
          </a:xfrm>
          <a:prstGeom prst="rect">
            <a:avLst/>
          </a:prstGeom>
          <a:solidFill>
            <a:srgbClr val="2587C5"/>
          </a:solidFill>
          <a:ln/>
        </p:spPr>
      </p:sp>
      <p:sp>
        <p:nvSpPr>
          <p:cNvPr id="147" name="Text 145"/>
          <p:cNvSpPr txBox="1"/>
          <p:nvPr/>
        </p:nvSpPr>
        <p:spPr>
          <a:xfrm>
            <a:off x="9125712"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$90K</a:t>
            </a:r>
            <a:endParaRPr lang="en-US" sz="1300" dirty="0"/>
          </a:p>
        </p:txBody>
      </p:sp>
      <p:sp>
        <p:nvSpPr>
          <p:cNvPr id="148" name="Text 146"/>
          <p:cNvSpPr txBox="1"/>
          <p:nvPr/>
        </p:nvSpPr>
        <p:spPr>
          <a:xfrm>
            <a:off x="994867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49" name="Text 147"/>
          <p:cNvSpPr txBox="1"/>
          <p:nvPr/>
        </p:nvSpPr>
        <p:spPr>
          <a:xfrm>
            <a:off x="1073505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247707"/>
            <a:ext cx="157532" cy="136676"/>
          </a:xfrm>
          <a:prstGeom prst="rect">
            <a:avLst/>
          </a:prstGeom>
          <a:solidFill>
            <a:srgbClr val="2587C5"/>
          </a:solidFill>
          <a:ln/>
        </p:spPr>
      </p:sp>
      <p:sp>
        <p:nvSpPr>
          <p:cNvPr id="153" name="Text 151"/>
          <p:cNvSpPr txBox="1"/>
          <p:nvPr/>
        </p:nvSpPr>
        <p:spPr>
          <a:xfrm>
            <a:off x="9125712"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$87K</a:t>
            </a:r>
            <a:endParaRPr lang="en-US" sz="1300" dirty="0"/>
          </a:p>
        </p:txBody>
      </p:sp>
      <p:sp>
        <p:nvSpPr>
          <p:cNvPr id="154" name="Text 152"/>
          <p:cNvSpPr txBox="1"/>
          <p:nvPr/>
        </p:nvSpPr>
        <p:spPr>
          <a:xfrm>
            <a:off x="994867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55" name="Text 153"/>
          <p:cNvSpPr txBox="1"/>
          <p:nvPr/>
        </p:nvSpPr>
        <p:spPr>
          <a:xfrm>
            <a:off x="1073505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496208"/>
            <a:ext cx="155767" cy="136676"/>
          </a:xfrm>
          <a:prstGeom prst="rect">
            <a:avLst/>
          </a:prstGeom>
          <a:solidFill>
            <a:srgbClr val="2587C5"/>
          </a:solidFill>
          <a:ln/>
        </p:spPr>
      </p:sp>
      <p:sp>
        <p:nvSpPr>
          <p:cNvPr id="159" name="Text 157"/>
          <p:cNvSpPr txBox="1"/>
          <p:nvPr/>
        </p:nvSpPr>
        <p:spPr>
          <a:xfrm>
            <a:off x="9125712"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$86K</a:t>
            </a:r>
            <a:endParaRPr lang="en-US" sz="1300" dirty="0"/>
          </a:p>
        </p:txBody>
      </p:sp>
      <p:sp>
        <p:nvSpPr>
          <p:cNvPr id="160" name="Text 158"/>
          <p:cNvSpPr txBox="1"/>
          <p:nvPr/>
        </p:nvSpPr>
        <p:spPr>
          <a:xfrm>
            <a:off x="994867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61" name="Text 159"/>
          <p:cNvSpPr txBox="1"/>
          <p:nvPr/>
        </p:nvSpPr>
        <p:spPr>
          <a:xfrm>
            <a:off x="1073505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4" name="Shape 162"/>
          <p:cNvSpPr/>
          <p:nvPr/>
        </p:nvSpPr>
        <p:spPr>
          <a:xfrm>
            <a:off x="8421624" y="3744710"/>
            <a:ext cx="149072" cy="136676"/>
          </a:xfrm>
          <a:prstGeom prst="rect">
            <a:avLst/>
          </a:prstGeom>
          <a:solidFill>
            <a:srgbClr val="2587C5"/>
          </a:solidFill>
          <a:ln/>
        </p:spPr>
      </p:sp>
      <p:sp>
        <p:nvSpPr>
          <p:cNvPr id="165" name="Text 163"/>
          <p:cNvSpPr txBox="1"/>
          <p:nvPr/>
        </p:nvSpPr>
        <p:spPr>
          <a:xfrm>
            <a:off x="9125712"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$82K</a:t>
            </a:r>
            <a:endParaRPr lang="en-US" sz="1300" dirty="0"/>
          </a:p>
        </p:txBody>
      </p:sp>
      <p:sp>
        <p:nvSpPr>
          <p:cNvPr id="166" name="Text 164"/>
          <p:cNvSpPr txBox="1"/>
          <p:nvPr/>
        </p:nvSpPr>
        <p:spPr>
          <a:xfrm>
            <a:off x="994867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67" name="Text 165"/>
          <p:cNvSpPr txBox="1"/>
          <p:nvPr/>
        </p:nvSpPr>
        <p:spPr>
          <a:xfrm>
            <a:off x="1073505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134602" cy="136676"/>
          </a:xfrm>
          <a:prstGeom prst="rect">
            <a:avLst/>
          </a:prstGeom>
          <a:solidFill>
            <a:srgbClr val="2587C5"/>
          </a:solidFill>
          <a:ln/>
        </p:spPr>
      </p:sp>
      <p:sp>
        <p:nvSpPr>
          <p:cNvPr id="171" name="Text 169"/>
          <p:cNvSpPr txBox="1"/>
          <p:nvPr/>
        </p:nvSpPr>
        <p:spPr>
          <a:xfrm>
            <a:off x="9125712"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$74K</a:t>
            </a:r>
            <a:endParaRPr lang="en-US" sz="1300" dirty="0"/>
          </a:p>
        </p:txBody>
      </p:sp>
      <p:sp>
        <p:nvSpPr>
          <p:cNvPr id="172" name="Text 170"/>
          <p:cNvSpPr txBox="1"/>
          <p:nvPr/>
        </p:nvSpPr>
        <p:spPr>
          <a:xfrm>
            <a:off x="994867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3" name="Text 171"/>
          <p:cNvSpPr txBox="1"/>
          <p:nvPr/>
        </p:nvSpPr>
        <p:spPr>
          <a:xfrm>
            <a:off x="1073505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6" name="Shape 174"/>
          <p:cNvSpPr/>
          <p:nvPr/>
        </p:nvSpPr>
        <p:spPr>
          <a:xfrm>
            <a:off x="8421624" y="4241713"/>
            <a:ext cx="131833" cy="136676"/>
          </a:xfrm>
          <a:prstGeom prst="rect">
            <a:avLst/>
          </a:prstGeom>
          <a:solidFill>
            <a:srgbClr val="2587C5"/>
          </a:solidFill>
          <a:ln/>
        </p:spPr>
      </p:sp>
      <p:sp>
        <p:nvSpPr>
          <p:cNvPr id="177" name="Text 175"/>
          <p:cNvSpPr txBox="1"/>
          <p:nvPr/>
        </p:nvSpPr>
        <p:spPr>
          <a:xfrm>
            <a:off x="9125712"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78" name="Text 176"/>
          <p:cNvSpPr txBox="1"/>
          <p:nvPr/>
        </p:nvSpPr>
        <p:spPr>
          <a:xfrm>
            <a:off x="994867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79" name="Text 177"/>
          <p:cNvSpPr txBox="1"/>
          <p:nvPr/>
        </p:nvSpPr>
        <p:spPr>
          <a:xfrm>
            <a:off x="1073505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2" name="Shape 180"/>
          <p:cNvSpPr/>
          <p:nvPr/>
        </p:nvSpPr>
        <p:spPr>
          <a:xfrm>
            <a:off x="8421624" y="4490215"/>
            <a:ext cx="131799" cy="136676"/>
          </a:xfrm>
          <a:prstGeom prst="rect">
            <a:avLst/>
          </a:prstGeom>
          <a:solidFill>
            <a:srgbClr val="2587C5"/>
          </a:solidFill>
          <a:ln/>
        </p:spPr>
      </p:sp>
      <p:sp>
        <p:nvSpPr>
          <p:cNvPr id="183" name="Text 181"/>
          <p:cNvSpPr txBox="1"/>
          <p:nvPr/>
        </p:nvSpPr>
        <p:spPr>
          <a:xfrm>
            <a:off x="9125712"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84" name="Text 182"/>
          <p:cNvSpPr txBox="1"/>
          <p:nvPr/>
        </p:nvSpPr>
        <p:spPr>
          <a:xfrm>
            <a:off x="994867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85" name="Text 183"/>
          <p:cNvSpPr txBox="1"/>
          <p:nvPr/>
        </p:nvSpPr>
        <p:spPr>
          <a:xfrm>
            <a:off x="1073505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88" name="Shape 186"/>
          <p:cNvSpPr/>
          <p:nvPr/>
        </p:nvSpPr>
        <p:spPr>
          <a:xfrm>
            <a:off x="8421624" y="4738717"/>
            <a:ext cx="131739" cy="136676"/>
          </a:xfrm>
          <a:prstGeom prst="rect">
            <a:avLst/>
          </a:prstGeom>
          <a:solidFill>
            <a:srgbClr val="2587C5"/>
          </a:solidFill>
          <a:ln/>
        </p:spPr>
      </p:sp>
      <p:sp>
        <p:nvSpPr>
          <p:cNvPr id="189" name="Text 187"/>
          <p:cNvSpPr txBox="1"/>
          <p:nvPr/>
        </p:nvSpPr>
        <p:spPr>
          <a:xfrm>
            <a:off x="9125712"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90" name="Text 188"/>
          <p:cNvSpPr txBox="1"/>
          <p:nvPr/>
        </p:nvSpPr>
        <p:spPr>
          <a:xfrm>
            <a:off x="994867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91" name="Text 189"/>
          <p:cNvSpPr txBox="1"/>
          <p:nvPr/>
        </p:nvSpPr>
        <p:spPr>
          <a:xfrm>
            <a:off x="1073505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94" name="Shape 192"/>
          <p:cNvSpPr/>
          <p:nvPr/>
        </p:nvSpPr>
        <p:spPr>
          <a:xfrm>
            <a:off x="8421624" y="4987218"/>
            <a:ext cx="122451" cy="136676"/>
          </a:xfrm>
          <a:prstGeom prst="rect">
            <a:avLst/>
          </a:prstGeom>
          <a:solidFill>
            <a:srgbClr val="2587C5"/>
          </a:solidFill>
          <a:ln/>
        </p:spPr>
      </p:sp>
      <p:sp>
        <p:nvSpPr>
          <p:cNvPr id="195" name="Text 193"/>
          <p:cNvSpPr txBox="1"/>
          <p:nvPr/>
        </p:nvSpPr>
        <p:spPr>
          <a:xfrm>
            <a:off x="9125712"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96" name="Text 194"/>
          <p:cNvSpPr txBox="1"/>
          <p:nvPr/>
        </p:nvSpPr>
        <p:spPr>
          <a:xfrm>
            <a:off x="994867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97" name="Text 195"/>
          <p:cNvSpPr txBox="1"/>
          <p:nvPr/>
        </p:nvSpPr>
        <p:spPr>
          <a:xfrm>
            <a:off x="1073505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0" name="Shape 198"/>
          <p:cNvSpPr/>
          <p:nvPr/>
        </p:nvSpPr>
        <p:spPr>
          <a:xfrm>
            <a:off x="8421624" y="5235720"/>
            <a:ext cx="120654" cy="136676"/>
          </a:xfrm>
          <a:prstGeom prst="rect">
            <a:avLst/>
          </a:prstGeom>
          <a:solidFill>
            <a:srgbClr val="2587C5"/>
          </a:solidFill>
          <a:ln/>
        </p:spPr>
      </p:sp>
      <p:sp>
        <p:nvSpPr>
          <p:cNvPr id="201" name="Text 199"/>
          <p:cNvSpPr txBox="1"/>
          <p:nvPr/>
        </p:nvSpPr>
        <p:spPr>
          <a:xfrm>
            <a:off x="9125712"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$67K</a:t>
            </a:r>
            <a:endParaRPr lang="en-US" sz="1300" dirty="0"/>
          </a:p>
        </p:txBody>
      </p:sp>
      <p:sp>
        <p:nvSpPr>
          <p:cNvPr id="202" name="Text 200"/>
          <p:cNvSpPr txBox="1"/>
          <p:nvPr/>
        </p:nvSpPr>
        <p:spPr>
          <a:xfrm>
            <a:off x="994867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203" name="Text 201"/>
          <p:cNvSpPr txBox="1"/>
          <p:nvPr/>
        </p:nvSpPr>
        <p:spPr>
          <a:xfrm>
            <a:off x="1073505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6" name="Shape 204"/>
          <p:cNvSpPr/>
          <p:nvPr/>
        </p:nvSpPr>
        <p:spPr>
          <a:xfrm>
            <a:off x="8421624" y="5484222"/>
            <a:ext cx="118797" cy="136676"/>
          </a:xfrm>
          <a:prstGeom prst="rect">
            <a:avLst/>
          </a:prstGeom>
          <a:solidFill>
            <a:srgbClr val="2587C5"/>
          </a:solidFill>
          <a:ln/>
        </p:spPr>
      </p:sp>
      <p:sp>
        <p:nvSpPr>
          <p:cNvPr id="207" name="Text 205"/>
          <p:cNvSpPr txBox="1"/>
          <p:nvPr/>
        </p:nvSpPr>
        <p:spPr>
          <a:xfrm>
            <a:off x="9125712"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208" name="Text 206"/>
          <p:cNvSpPr txBox="1"/>
          <p:nvPr/>
        </p:nvSpPr>
        <p:spPr>
          <a:xfrm>
            <a:off x="994867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209" name="Text 207"/>
          <p:cNvSpPr txBox="1"/>
          <p:nvPr/>
        </p:nvSpPr>
        <p:spPr>
          <a:xfrm>
            <a:off x="1073505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8,133</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1,784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2,010</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5,042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5,553</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1,919</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3,349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3,917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8,930</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3,671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570</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667</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669</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459</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Kia LV, Hyundai Prescott and GMC Prescott what changed. Ask VW St George, Hyundai St George and Audi Reno what got in the way. Ask Lexus, CDJR Post Falls and LR LV what they started this year.</a:t>
            </a:r>
            <a:endParaRPr lang="en-US" sz="1600" dirty="0"/>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050673"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038014"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631546"/>
            <a:ext cx="711662"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649509"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111337"/>
            <a:ext cx="602764"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351233"/>
            <a:ext cx="498059"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36748"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419629"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070920"/>
            <a:ext cx="344483"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310815"/>
            <a:ext cx="341580"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550711"/>
            <a:ext cx="326318"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4790606"/>
            <a:ext cx="308206"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030502"/>
            <a:ext cx="299995"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298846"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510293"/>
            <a:ext cx="298644"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5750188"/>
            <a:ext cx="276102"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1860"/>
            <a:ext cx="257333"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51755"/>
            <a:ext cx="25009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391651"/>
            <a:ext cx="222717"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631546"/>
            <a:ext cx="194260"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871442"/>
            <a:ext cx="190890"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111337"/>
            <a:ext cx="181408"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351233"/>
            <a:ext cx="157098"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591128"/>
            <a:ext cx="152958"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3831024"/>
            <a:ext cx="145645"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070920"/>
            <a:ext cx="142349"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310815"/>
            <a:ext cx="122032"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1809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1585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030502"/>
            <a:ext cx="111992"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76952"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6698"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78,123; VW St George is smallest at 3,276.</a:t>
            </a:r>
            <a:endParaRPr lang="en-US" sz="1600" dirty="0"/>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led by Subaru St George at +44.6% to 12,766. 10 declined; VW St George fell most at −25.4%.</a:t>
            </a:r>
            <a:endParaRPr lang="en-US" sz="1600" dirty="0"/>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8,827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12,766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+44.6%</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12,757</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+35.0%</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Shape 15"/>
          <p:cNvSpPr/>
          <p:nvPr/>
        </p:nvSpPr>
        <p:spPr>
          <a:xfrm>
            <a:off x="4084320" y="3650285"/>
            <a:ext cx="64008" cy="682142"/>
          </a:xfrm>
          <a:prstGeom prst="rect">
            <a:avLst/>
          </a:prstGeom>
          <a:solidFill>
            <a:srgbClr val="12A566"/>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5,045</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8,154</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3,287</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+28.1%</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4,394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3,276</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−25.4%</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12,611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10,684</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−15.3%</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7,749</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17,926</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−8.2%</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48,486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44,883</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1,102</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1,537</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+28.8%</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1,146</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+24.3%</a:t>
            </a:r>
            <a:endParaRPr lang="en-US" sz="1600" dirty="0"/>
          </a:p>
        </p:txBody>
      </p:sp>
      <p:sp>
        <p:nvSpPr>
          <p:cNvPr id="63" name="Text 61"/>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4" name="Text 62"/>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1,692</a:t>
            </a:r>
            <a:endParaRPr lang="en-US" sz="1400" dirty="0"/>
          </a:p>
        </p:txBody>
      </p:sp>
      <p:sp>
        <p:nvSpPr>
          <p:cNvPr id="65" name="Text 63"/>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+23.8%</a:t>
            </a:r>
            <a:endParaRPr lang="en-US" sz="1600" dirty="0"/>
          </a:p>
        </p:txBody>
      </p:sp>
      <p:sp>
        <p:nvSpPr>
          <p:cNvPr id="66" name="Shape 64"/>
          <p:cNvSpPr/>
          <p:nvPr/>
        </p:nvSpPr>
        <p:spPr>
          <a:xfrm>
            <a:off x="8040624" y="5124298"/>
            <a:ext cx="3489960" cy="755294"/>
          </a:xfrm>
          <a:prstGeom prst="rect">
            <a:avLst/>
          </a:prstGeom>
          <a:solidFill>
            <a:srgbClr val="F7F7F7"/>
          </a:solidFill>
          <a:ln/>
        </p:spPr>
      </p:sp>
      <p:sp>
        <p:nvSpPr>
          <p:cNvPr id="67" name="Shape 65"/>
          <p:cNvSpPr/>
          <p:nvPr/>
        </p:nvSpPr>
        <p:spPr>
          <a:xfrm>
            <a:off x="11466576" y="5160874"/>
            <a:ext cx="64008" cy="682142"/>
          </a:xfrm>
          <a:prstGeom prst="rect">
            <a:avLst/>
          </a:prstGeom>
          <a:solidFill>
            <a:srgbClr val="12A566"/>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634</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+23.1%</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St George, Kia LV and Kia St George what changed. Ask VW St George, Audi Reno and Volvo what got in the way. Ask Mazda, CDJR Post Falls and Lexus what they started this year.</a:t>
            </a:r>
            <a:endParaRPr lang="en-US" sz="1600" dirty="0"/>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labor hours we sell, on average, every time a customer-pay car comes through the drive.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on every RO  </a:t>
            </a:r>
            <a:pPr algn="ctr" indent="0" marL="0">
              <a:buNone/>
            </a:pPr>
            <a:r>
              <a:rPr lang="en-US" sz="1400" b="1" dirty="0">
                <a:solidFill>
                  <a:srgbClr val="0B2C4A"/>
                </a:solidFill>
                <a:latin typeface="Inter" pitchFamily="34" charset="0"/>
                <a:ea typeface="Inter" pitchFamily="34" charset="-122"/>
                <a:cs typeface="Inter" pitchFamily="34" charset="-120"/>
              </a:rPr>
              <a:t>= 27,976 more hours</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$162 an hour (our ELR)  </a:t>
            </a:r>
            <a:pPr algn="ctr" indent="0" marL="0">
              <a:buNone/>
            </a:pPr>
            <a:r>
              <a:rPr lang="en-US" sz="1400" b="1" dirty="0">
                <a:solidFill>
                  <a:srgbClr val="0B2C4A"/>
                </a:solidFill>
                <a:latin typeface="Inter" pitchFamily="34" charset="0"/>
                <a:ea typeface="Inter" pitchFamily="34" charset="-122"/>
                <a:cs typeface="Inter" pitchFamily="34" charset="-120"/>
              </a:rPr>
              <a:t>= $4.5M more labor</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cannot be manipulated: it is the work we sell.</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where the lift came from: if labor sales per RO go up but hours per RO stay flat, we are charging more, not selling more.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Selling more hours also sells parts.</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7309104" y="3410712"/>
            <a:ext cx="45720" cy="1133856"/>
          </a:xfrm>
          <a:prstGeom prst="rect">
            <a:avLst/>
          </a:prstGeom>
          <a:solidFill>
            <a:srgbClr val="2587C5"/>
          </a:solidFill>
          <a:ln/>
        </p:spPr>
      </p:sp>
      <p:sp>
        <p:nvSpPr>
          <p:cNvPr id="21" name="Text 19"/>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9479280" y="3410712"/>
            <a:ext cx="45720" cy="1133856"/>
          </a:xfrm>
          <a:prstGeom prst="rect">
            <a:avLst/>
          </a:prstGeom>
          <a:solidFill>
            <a:srgbClr val="2587C5"/>
          </a:solidFill>
          <a:ln/>
        </p:spPr>
      </p:sp>
      <p:sp>
        <p:nvSpPr>
          <p:cNvPr id="23" name="Text 21"/>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7309104" y="4654296"/>
            <a:ext cx="45720" cy="1133856"/>
          </a:xfrm>
          <a:prstGeom prst="rect">
            <a:avLst/>
          </a:prstGeom>
          <a:solidFill>
            <a:srgbClr val="2587C5"/>
          </a:solidFill>
          <a:ln/>
        </p:spPr>
      </p:sp>
      <p:sp>
        <p:nvSpPr>
          <p:cNvPr id="27" name="Text 25"/>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9479280" y="4654296"/>
            <a:ext cx="45720" cy="1133856"/>
          </a:xfrm>
          <a:prstGeom prst="rect">
            <a:avLst/>
          </a:prstGeom>
          <a:solidFill>
            <a:srgbClr val="2587C5"/>
          </a:solidFill>
          <a:ln/>
        </p:spPr>
      </p:sp>
      <p:sp>
        <p:nvSpPr>
          <p:cNvPr id="29" name="Text 27"/>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
        <p:nvSpPr>
          <p:cNvPr id="30" name="Shape 28"/>
          <p:cNvSpPr/>
          <p:nvPr/>
        </p:nvSpPr>
        <p:spPr>
          <a:xfrm>
            <a:off x="457200" y="6126480"/>
            <a:ext cx="11274552" cy="371856"/>
          </a:xfrm>
          <a:prstGeom prst="rect">
            <a:avLst/>
          </a:prstGeom>
          <a:solidFill>
            <a:srgbClr val="E6F6EE"/>
          </a:solidFill>
          <a:ln/>
        </p:spPr>
      </p:sp>
      <p:sp>
        <p:nvSpPr>
          <p:cNvPr id="31" name="Text 29"/>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1.87 CP hours per RO, up 0.07 and ahead of 2025 in all nine months.</a:t>
            </a:r>
            <a:endParaRPr lang="en-US" sz="1600" dirty="0"/>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0.07 to 1.87, ahead of 2025 in all nine months. Each 0.1 hour per RO is worth $4,543,691 of labor at the 2026 ELR.</a:t>
            </a:r>
            <a:endParaRPr lang="en-US" sz="1600" dirty="0"/>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2.90</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599253"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597857"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396154"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395716"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1" name="Shape 29"/>
          <p:cNvSpPr/>
          <p:nvPr/>
        </p:nvSpPr>
        <p:spPr>
          <a:xfrm>
            <a:off x="3008376" y="3143250"/>
            <a:ext cx="1094195"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1092999"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9" name="Shape 37"/>
          <p:cNvSpPr/>
          <p:nvPr/>
        </p:nvSpPr>
        <p:spPr>
          <a:xfrm>
            <a:off x="3008376" y="3637026"/>
            <a:ext cx="995599"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08376" y="3883914"/>
            <a:ext cx="9128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834814"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8" name="Shape 56"/>
          <p:cNvSpPr/>
          <p:nvPr/>
        </p:nvSpPr>
        <p:spPr>
          <a:xfrm>
            <a:off x="3008376" y="4871466"/>
            <a:ext cx="1530972"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530733"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6" name="Shape 64"/>
          <p:cNvSpPr/>
          <p:nvPr/>
        </p:nvSpPr>
        <p:spPr>
          <a:xfrm>
            <a:off x="3008376" y="5365242"/>
            <a:ext cx="1465702"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0" name="Shape 68"/>
          <p:cNvSpPr/>
          <p:nvPr/>
        </p:nvSpPr>
        <p:spPr>
          <a:xfrm>
            <a:off x="3008376" y="5612130"/>
            <a:ext cx="140516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4516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8" name="Shape 76"/>
          <p:cNvSpPr/>
          <p:nvPr/>
        </p:nvSpPr>
        <p:spPr>
          <a:xfrm>
            <a:off x="3008376" y="6105906"/>
            <a:ext cx="1336576"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4" name="Shape 82"/>
          <p:cNvSpPr/>
          <p:nvPr/>
        </p:nvSpPr>
        <p:spPr>
          <a:xfrm>
            <a:off x="8558784" y="2155698"/>
            <a:ext cx="131062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8" name="Shape 86"/>
          <p:cNvSpPr/>
          <p:nvPr/>
        </p:nvSpPr>
        <p:spPr>
          <a:xfrm>
            <a:off x="8558784" y="2402586"/>
            <a:ext cx="1303142"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2" name="Shape 90"/>
          <p:cNvSpPr/>
          <p:nvPr/>
        </p:nvSpPr>
        <p:spPr>
          <a:xfrm>
            <a:off x="8558784" y="2649474"/>
            <a:ext cx="129643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6" name="Shape 94"/>
          <p:cNvSpPr/>
          <p:nvPr/>
        </p:nvSpPr>
        <p:spPr>
          <a:xfrm>
            <a:off x="8558784" y="2896362"/>
            <a:ext cx="1160151"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0" name="Shape 98"/>
          <p:cNvSpPr/>
          <p:nvPr/>
        </p:nvSpPr>
        <p:spPr>
          <a:xfrm>
            <a:off x="8558784" y="3143250"/>
            <a:ext cx="1136807"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08783"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8" name="Shape 106"/>
          <p:cNvSpPr/>
          <p:nvPr/>
        </p:nvSpPr>
        <p:spPr>
          <a:xfrm>
            <a:off x="8558784" y="3637026"/>
            <a:ext cx="108894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2" name="Shape 110"/>
          <p:cNvSpPr/>
          <p:nvPr/>
        </p:nvSpPr>
        <p:spPr>
          <a:xfrm>
            <a:off x="8558784" y="3883914"/>
            <a:ext cx="1063571"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1044439"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0" name="Shape 118"/>
          <p:cNvSpPr/>
          <p:nvPr/>
        </p:nvSpPr>
        <p:spPr>
          <a:xfrm>
            <a:off x="8558784" y="4377690"/>
            <a:ext cx="98668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79901"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8" name="Shape 126"/>
          <p:cNvSpPr/>
          <p:nvPr/>
        </p:nvSpPr>
        <p:spPr>
          <a:xfrm>
            <a:off x="8558784" y="4871466"/>
            <a:ext cx="96919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2" name="Shape 130"/>
          <p:cNvSpPr/>
          <p:nvPr/>
        </p:nvSpPr>
        <p:spPr>
          <a:xfrm>
            <a:off x="8558784" y="5118354"/>
            <a:ext cx="95115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94551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935633"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4" name="Shape 142"/>
          <p:cNvSpPr/>
          <p:nvPr/>
        </p:nvSpPr>
        <p:spPr>
          <a:xfrm>
            <a:off x="8558784" y="5859018"/>
            <a:ext cx="92087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85862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50" name="Shape 148"/>
          <p:cNvSpPr/>
          <p:nvPr/>
        </p:nvSpPr>
        <p:spPr>
          <a:xfrm>
            <a:off x="4163400" y="2093976"/>
            <a:ext cx="14630" cy="2221992"/>
          </a:xfrm>
          <a:prstGeom prst="rect">
            <a:avLst/>
          </a:prstGeom>
          <a:solidFill>
            <a:srgbClr val="0B2C4A"/>
          </a:solidFill>
          <a:ln/>
        </p:spPr>
      </p:sp>
      <p:sp>
        <p:nvSpPr>
          <p:cNvPr id="151" name="Shape 149"/>
          <p:cNvSpPr/>
          <p:nvPr/>
        </p:nvSpPr>
        <p:spPr>
          <a:xfrm>
            <a:off x="4163400" y="4562856"/>
            <a:ext cx="14630" cy="1728216"/>
          </a:xfrm>
          <a:prstGeom prst="rect">
            <a:avLst/>
          </a:prstGeom>
          <a:solidFill>
            <a:srgbClr val="0B2C4A"/>
          </a:solidFill>
          <a:ln/>
        </p:spPr>
      </p:sp>
      <p:sp>
        <p:nvSpPr>
          <p:cNvPr id="152" name="Shape 150"/>
          <p:cNvSpPr/>
          <p:nvPr/>
        </p:nvSpPr>
        <p:spPr>
          <a:xfrm>
            <a:off x="971380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+3.6%  ·  +0.07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+39.2%</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2" name="Shape 20"/>
          <p:cNvSpPr/>
          <p:nvPr/>
        </p:nvSpPr>
        <p:spPr>
          <a:xfrm>
            <a:off x="3579876" y="2405582"/>
            <a:ext cx="457065"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7" name="Shape 25"/>
          <p:cNvSpPr/>
          <p:nvPr/>
        </p:nvSpPr>
        <p:spPr>
          <a:xfrm>
            <a:off x="3579876" y="2629341"/>
            <a:ext cx="44883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+30.8%</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2" name="Shape 30"/>
          <p:cNvSpPr/>
          <p:nvPr/>
        </p:nvSpPr>
        <p:spPr>
          <a:xfrm>
            <a:off x="3579876" y="2853100"/>
            <a:ext cx="285971"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579876" y="3076859"/>
            <a:ext cx="27351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+18.7%</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2" name="Shape 40"/>
          <p:cNvSpPr/>
          <p:nvPr/>
        </p:nvSpPr>
        <p:spPr>
          <a:xfrm>
            <a:off x="3579876" y="3300618"/>
            <a:ext cx="243019"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+16.7%</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7" name="Shape 45"/>
          <p:cNvSpPr/>
          <p:nvPr/>
        </p:nvSpPr>
        <p:spPr>
          <a:xfrm>
            <a:off x="3579876" y="3524377"/>
            <a:ext cx="221150"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2" name="Shape 50"/>
          <p:cNvSpPr/>
          <p:nvPr/>
        </p:nvSpPr>
        <p:spPr>
          <a:xfrm>
            <a:off x="3579876" y="3748136"/>
            <a:ext cx="213615"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3579876" y="3971895"/>
            <a:ext cx="199984"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2" name="Shape 60"/>
          <p:cNvSpPr/>
          <p:nvPr/>
        </p:nvSpPr>
        <p:spPr>
          <a:xfrm>
            <a:off x="3579876" y="4195654"/>
            <a:ext cx="19475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+13.3%</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7" name="Shape 65"/>
          <p:cNvSpPr/>
          <p:nvPr/>
        </p:nvSpPr>
        <p:spPr>
          <a:xfrm>
            <a:off x="3579876" y="4419414"/>
            <a:ext cx="178946"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2" name="Shape 70"/>
          <p:cNvSpPr/>
          <p:nvPr/>
        </p:nvSpPr>
        <p:spPr>
          <a:xfrm>
            <a:off x="3579876" y="4643173"/>
            <a:ext cx="116148"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579876" y="4866932"/>
            <a:ext cx="107010"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2" name="Shape 80"/>
          <p:cNvSpPr/>
          <p:nvPr/>
        </p:nvSpPr>
        <p:spPr>
          <a:xfrm>
            <a:off x="3579876" y="5090691"/>
            <a:ext cx="10052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7" name="Shape 85"/>
          <p:cNvSpPr/>
          <p:nvPr/>
        </p:nvSpPr>
        <p:spPr>
          <a:xfrm>
            <a:off x="3579876" y="5314450"/>
            <a:ext cx="98764"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3579876" y="5538209"/>
            <a:ext cx="90351"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3579876" y="5761968"/>
            <a:ext cx="87569"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2" name="Shape 100"/>
          <p:cNvSpPr/>
          <p:nvPr/>
        </p:nvSpPr>
        <p:spPr>
          <a:xfrm>
            <a:off x="9130284" y="2181823"/>
            <a:ext cx="87555"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7" name="Shape 105"/>
          <p:cNvSpPr/>
          <p:nvPr/>
        </p:nvSpPr>
        <p:spPr>
          <a:xfrm>
            <a:off x="9130284" y="2405582"/>
            <a:ext cx="85038"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12" name="Shape 110"/>
          <p:cNvSpPr/>
          <p:nvPr/>
        </p:nvSpPr>
        <p:spPr>
          <a:xfrm>
            <a:off x="9130284" y="2629341"/>
            <a:ext cx="57905"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9130284" y="2853100"/>
            <a:ext cx="48836"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2" name="Shape 120"/>
          <p:cNvSpPr/>
          <p:nvPr/>
        </p:nvSpPr>
        <p:spPr>
          <a:xfrm>
            <a:off x="9130284" y="3076859"/>
            <a:ext cx="37477"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7" name="Shape 125"/>
          <p:cNvSpPr/>
          <p:nvPr/>
        </p:nvSpPr>
        <p:spPr>
          <a:xfrm>
            <a:off x="9130284" y="3300618"/>
            <a:ext cx="30771"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2" name="Shape 130"/>
          <p:cNvSpPr/>
          <p:nvPr/>
        </p:nvSpPr>
        <p:spPr>
          <a:xfrm>
            <a:off x="9130284" y="3524377"/>
            <a:ext cx="30771"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7" name="Shape 135"/>
          <p:cNvSpPr/>
          <p:nvPr/>
        </p:nvSpPr>
        <p:spPr>
          <a:xfrm>
            <a:off x="9130284" y="3748136"/>
            <a:ext cx="12802"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2" name="Shape 140"/>
          <p:cNvSpPr/>
          <p:nvPr/>
        </p:nvSpPr>
        <p:spPr>
          <a:xfrm>
            <a:off x="9130284" y="3971895"/>
            <a:ext cx="12802"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7" name="Shape 145"/>
          <p:cNvSpPr/>
          <p:nvPr/>
        </p:nvSpPr>
        <p:spPr>
          <a:xfrm>
            <a:off x="9103567" y="4195654"/>
            <a:ext cx="2671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2" name="Shape 150"/>
          <p:cNvSpPr/>
          <p:nvPr/>
        </p:nvSpPr>
        <p:spPr>
          <a:xfrm>
            <a:off x="9103478" y="4419414"/>
            <a:ext cx="26806"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7" name="Shape 155"/>
          <p:cNvSpPr/>
          <p:nvPr/>
        </p:nvSpPr>
        <p:spPr>
          <a:xfrm>
            <a:off x="9087715" y="4643173"/>
            <a:ext cx="42569"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2" name="Shape 160"/>
          <p:cNvSpPr/>
          <p:nvPr/>
        </p:nvSpPr>
        <p:spPr>
          <a:xfrm>
            <a:off x="9053067" y="4866932"/>
            <a:ext cx="77217"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−5.3%</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67" name="Shape 165"/>
          <p:cNvSpPr/>
          <p:nvPr/>
        </p:nvSpPr>
        <p:spPr>
          <a:xfrm>
            <a:off x="8959285" y="5090691"/>
            <a:ext cx="170999"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−11.7%</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47214" y="5314450"/>
            <a:ext cx="18307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7" name="Shape 175"/>
          <p:cNvSpPr/>
          <p:nvPr/>
        </p:nvSpPr>
        <p:spPr>
          <a:xfrm>
            <a:off x="8930216" y="5538209"/>
            <a:ext cx="200068"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−13.7%</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6F6EE"/>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led by Hyundai St George at +39.2% (+0.40) to 1.43. 7 declined; LR Reno fell most at −13.7%.</a:t>
            </a:r>
            <a:endParaRPr lang="en-US" sz="1600" dirty="0"/>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0.1 Hour per RO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5001768"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10552176"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8" name="Text 6"/>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9" name="Text 7"/>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0" name="Shape 8"/>
          <p:cNvSpPr/>
          <p:nvPr/>
        </p:nvSpPr>
        <p:spPr>
          <a:xfrm>
            <a:off x="3099816" y="1756697"/>
            <a:ext cx="1847088" cy="136676"/>
          </a:xfrm>
          <a:prstGeom prst="rect">
            <a:avLst/>
          </a:prstGeom>
          <a:solidFill>
            <a:srgbClr val="2587C5"/>
          </a:solidFill>
          <a:ln/>
        </p:spPr>
      </p:sp>
      <p:sp>
        <p:nvSpPr>
          <p:cNvPr id="11" name="Text 9"/>
          <p:cNvSpPr txBox="1"/>
          <p:nvPr/>
        </p:nvSpPr>
        <p:spPr>
          <a:xfrm>
            <a:off x="5001768"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$1.16M</a:t>
            </a:r>
            <a:endParaRPr lang="en-US" sz="1300" dirty="0"/>
          </a:p>
        </p:txBody>
      </p:sp>
      <p:sp>
        <p:nvSpPr>
          <p:cNvPr id="12" name="Text 10"/>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3" name="Text 11"/>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099816" y="2005199"/>
            <a:ext cx="815170" cy="136676"/>
          </a:xfrm>
          <a:prstGeom prst="rect">
            <a:avLst/>
          </a:prstGeom>
          <a:solidFill>
            <a:srgbClr val="2587C5"/>
          </a:solidFill>
          <a:ln/>
        </p:spPr>
      </p:sp>
      <p:sp>
        <p:nvSpPr>
          <p:cNvPr id="15" name="Text 13"/>
          <p:cNvSpPr txBox="1"/>
          <p:nvPr/>
        </p:nvSpPr>
        <p:spPr>
          <a:xfrm>
            <a:off x="5001768"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$514K</a:t>
            </a:r>
            <a:endParaRPr lang="en-US" sz="1300" dirty="0"/>
          </a:p>
        </p:txBody>
      </p:sp>
      <p:sp>
        <p:nvSpPr>
          <p:cNvPr id="16" name="Text 14"/>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17" name="Text 15"/>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3099816" y="2253700"/>
            <a:ext cx="650852" cy="136676"/>
          </a:xfrm>
          <a:prstGeom prst="rect">
            <a:avLst/>
          </a:prstGeom>
          <a:solidFill>
            <a:srgbClr val="2587C5"/>
          </a:solidFill>
          <a:ln/>
        </p:spPr>
      </p:sp>
      <p:sp>
        <p:nvSpPr>
          <p:cNvPr id="19" name="Text 17"/>
          <p:cNvSpPr txBox="1"/>
          <p:nvPr/>
        </p:nvSpPr>
        <p:spPr>
          <a:xfrm>
            <a:off x="5001768"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20" name="Text 1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1" name="Text 19"/>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2" name="Shape 20"/>
          <p:cNvSpPr/>
          <p:nvPr/>
        </p:nvSpPr>
        <p:spPr>
          <a:xfrm>
            <a:off x="3099816" y="2502202"/>
            <a:ext cx="548052" cy="136676"/>
          </a:xfrm>
          <a:prstGeom prst="rect">
            <a:avLst/>
          </a:prstGeom>
          <a:solidFill>
            <a:srgbClr val="2587C5"/>
          </a:solidFill>
          <a:ln/>
        </p:spPr>
      </p:sp>
      <p:sp>
        <p:nvSpPr>
          <p:cNvPr id="23" name="Text 21"/>
          <p:cNvSpPr txBox="1"/>
          <p:nvPr/>
        </p:nvSpPr>
        <p:spPr>
          <a:xfrm>
            <a:off x="5001768"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$345K</a:t>
            </a:r>
            <a:endParaRPr lang="en-US" sz="1300" dirty="0"/>
          </a:p>
        </p:txBody>
      </p:sp>
      <p:sp>
        <p:nvSpPr>
          <p:cNvPr id="24" name="Text 22"/>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5" name="Text 23"/>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6" name="Shape 24"/>
          <p:cNvSpPr/>
          <p:nvPr/>
        </p:nvSpPr>
        <p:spPr>
          <a:xfrm>
            <a:off x="3099816" y="2750703"/>
            <a:ext cx="538230" cy="136676"/>
          </a:xfrm>
          <a:prstGeom prst="rect">
            <a:avLst/>
          </a:prstGeom>
          <a:solidFill>
            <a:srgbClr val="2587C5"/>
          </a:solidFill>
          <a:ln/>
        </p:spPr>
      </p:sp>
      <p:sp>
        <p:nvSpPr>
          <p:cNvPr id="27" name="Text 25"/>
          <p:cNvSpPr txBox="1"/>
          <p:nvPr/>
        </p:nvSpPr>
        <p:spPr>
          <a:xfrm>
            <a:off x="5001768"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28" name="Text 26"/>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29" name="Text 27"/>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0" name="Shape 28"/>
          <p:cNvSpPr/>
          <p:nvPr/>
        </p:nvSpPr>
        <p:spPr>
          <a:xfrm>
            <a:off x="3099816" y="2999205"/>
            <a:ext cx="532055" cy="136676"/>
          </a:xfrm>
          <a:prstGeom prst="rect">
            <a:avLst/>
          </a:prstGeom>
          <a:solidFill>
            <a:srgbClr val="2587C5"/>
          </a:solidFill>
          <a:ln/>
        </p:spPr>
      </p:sp>
      <p:sp>
        <p:nvSpPr>
          <p:cNvPr id="31" name="Text 29"/>
          <p:cNvSpPr txBox="1"/>
          <p:nvPr/>
        </p:nvSpPr>
        <p:spPr>
          <a:xfrm>
            <a:off x="5001768"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$335K</a:t>
            </a:r>
            <a:endParaRPr lang="en-US" sz="1300" dirty="0"/>
          </a:p>
        </p:txBody>
      </p:sp>
      <p:sp>
        <p:nvSpPr>
          <p:cNvPr id="32" name="Text 3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3" name="Text 3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34" name="Shape 32"/>
          <p:cNvSpPr/>
          <p:nvPr/>
        </p:nvSpPr>
        <p:spPr>
          <a:xfrm>
            <a:off x="3099816" y="3247707"/>
            <a:ext cx="488857" cy="136676"/>
          </a:xfrm>
          <a:prstGeom prst="rect">
            <a:avLst/>
          </a:prstGeom>
          <a:solidFill>
            <a:srgbClr val="2587C5"/>
          </a:solidFill>
          <a:ln/>
        </p:spPr>
      </p:sp>
      <p:sp>
        <p:nvSpPr>
          <p:cNvPr id="35" name="Text 33"/>
          <p:cNvSpPr txBox="1"/>
          <p:nvPr/>
        </p:nvSpPr>
        <p:spPr>
          <a:xfrm>
            <a:off x="5001768"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$308K</a:t>
            </a:r>
            <a:endParaRPr lang="en-US" sz="1300" dirty="0"/>
          </a:p>
        </p:txBody>
      </p:sp>
      <p:sp>
        <p:nvSpPr>
          <p:cNvPr id="36" name="Text 34"/>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37" name="Text 35"/>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8" name="Shape 36"/>
          <p:cNvSpPr/>
          <p:nvPr/>
        </p:nvSpPr>
        <p:spPr>
          <a:xfrm>
            <a:off x="3099816" y="3496208"/>
            <a:ext cx="486976" cy="136676"/>
          </a:xfrm>
          <a:prstGeom prst="rect">
            <a:avLst/>
          </a:prstGeom>
          <a:solidFill>
            <a:srgbClr val="2587C5"/>
          </a:solidFill>
          <a:ln/>
        </p:spPr>
      </p:sp>
      <p:sp>
        <p:nvSpPr>
          <p:cNvPr id="39" name="Text 37"/>
          <p:cNvSpPr txBox="1"/>
          <p:nvPr/>
        </p:nvSpPr>
        <p:spPr>
          <a:xfrm>
            <a:off x="5001768"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$307K</a:t>
            </a:r>
            <a:endParaRPr lang="en-US" sz="1300" dirty="0"/>
          </a:p>
        </p:txBody>
      </p:sp>
      <p:sp>
        <p:nvSpPr>
          <p:cNvPr id="40" name="Text 3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1" name="Text 39"/>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42" name="Shape 40"/>
          <p:cNvSpPr/>
          <p:nvPr/>
        </p:nvSpPr>
        <p:spPr>
          <a:xfrm>
            <a:off x="3099816" y="3744710"/>
            <a:ext cx="311151" cy="136676"/>
          </a:xfrm>
          <a:prstGeom prst="rect">
            <a:avLst/>
          </a:prstGeom>
          <a:solidFill>
            <a:srgbClr val="2587C5"/>
          </a:solidFill>
          <a:ln/>
        </p:spPr>
      </p:sp>
      <p:sp>
        <p:nvSpPr>
          <p:cNvPr id="43" name="Text 41"/>
          <p:cNvSpPr txBox="1"/>
          <p:nvPr/>
        </p:nvSpPr>
        <p:spPr>
          <a:xfrm>
            <a:off x="5001768"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$196K</a:t>
            </a:r>
            <a:endParaRPr lang="en-US" sz="1300" dirty="0"/>
          </a:p>
        </p:txBody>
      </p:sp>
      <p:sp>
        <p:nvSpPr>
          <p:cNvPr id="44" name="Text 42"/>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5" name="Text 43"/>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46" name="Shape 44"/>
          <p:cNvSpPr/>
          <p:nvPr/>
        </p:nvSpPr>
        <p:spPr>
          <a:xfrm>
            <a:off x="3099816" y="3993212"/>
            <a:ext cx="294048" cy="136676"/>
          </a:xfrm>
          <a:prstGeom prst="rect">
            <a:avLst/>
          </a:prstGeom>
          <a:solidFill>
            <a:srgbClr val="2587C5"/>
          </a:solidFill>
          <a:ln/>
        </p:spPr>
      </p:sp>
      <p:sp>
        <p:nvSpPr>
          <p:cNvPr id="47" name="Text 45"/>
          <p:cNvSpPr txBox="1"/>
          <p:nvPr/>
        </p:nvSpPr>
        <p:spPr>
          <a:xfrm>
            <a:off x="5001768"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$185K</a:t>
            </a:r>
            <a:endParaRPr lang="en-US" sz="1300" dirty="0"/>
          </a:p>
        </p:txBody>
      </p:sp>
      <p:sp>
        <p:nvSpPr>
          <p:cNvPr id="48" name="Text 46"/>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49" name="Text 47"/>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50" name="Shape 48"/>
          <p:cNvSpPr/>
          <p:nvPr/>
        </p:nvSpPr>
        <p:spPr>
          <a:xfrm>
            <a:off x="3099816" y="4241713"/>
            <a:ext cx="283945" cy="136676"/>
          </a:xfrm>
          <a:prstGeom prst="rect">
            <a:avLst/>
          </a:prstGeom>
          <a:solidFill>
            <a:srgbClr val="2587C5"/>
          </a:solidFill>
          <a:ln/>
        </p:spPr>
      </p:sp>
      <p:sp>
        <p:nvSpPr>
          <p:cNvPr id="51" name="Text 49"/>
          <p:cNvSpPr txBox="1"/>
          <p:nvPr/>
        </p:nvSpPr>
        <p:spPr>
          <a:xfrm>
            <a:off x="5001768"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$179K</a:t>
            </a:r>
            <a:endParaRPr lang="en-US" sz="1300" dirty="0"/>
          </a:p>
        </p:txBody>
      </p:sp>
      <p:sp>
        <p:nvSpPr>
          <p:cNvPr id="52" name="Text 50"/>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3" name="Text 51"/>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4" name="Shape 52"/>
          <p:cNvSpPr/>
          <p:nvPr/>
        </p:nvSpPr>
        <p:spPr>
          <a:xfrm>
            <a:off x="3099816" y="4490215"/>
            <a:ext cx="240854" cy="136676"/>
          </a:xfrm>
          <a:prstGeom prst="rect">
            <a:avLst/>
          </a:prstGeom>
          <a:solidFill>
            <a:srgbClr val="2587C5"/>
          </a:solidFill>
          <a:ln/>
        </p:spPr>
      </p:sp>
      <p:sp>
        <p:nvSpPr>
          <p:cNvPr id="55" name="Text 53"/>
          <p:cNvSpPr txBox="1"/>
          <p:nvPr/>
        </p:nvSpPr>
        <p:spPr>
          <a:xfrm>
            <a:off x="5001768"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56" name="Text 54"/>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57" name="Text 55"/>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8" name="Shape 56"/>
          <p:cNvSpPr/>
          <p:nvPr/>
        </p:nvSpPr>
        <p:spPr>
          <a:xfrm>
            <a:off x="3099816" y="4738717"/>
            <a:ext cx="236258" cy="136676"/>
          </a:xfrm>
          <a:prstGeom prst="rect">
            <a:avLst/>
          </a:prstGeom>
          <a:solidFill>
            <a:srgbClr val="2587C5"/>
          </a:solidFill>
          <a:ln/>
        </p:spPr>
      </p:sp>
      <p:sp>
        <p:nvSpPr>
          <p:cNvPr id="59" name="Text 57"/>
          <p:cNvSpPr txBox="1"/>
          <p:nvPr/>
        </p:nvSpPr>
        <p:spPr>
          <a:xfrm>
            <a:off x="5001768"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$149K</a:t>
            </a:r>
            <a:endParaRPr lang="en-US" sz="1300" dirty="0"/>
          </a:p>
        </p:txBody>
      </p:sp>
      <p:sp>
        <p:nvSpPr>
          <p:cNvPr id="60" name="Text 5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1" name="Text 59"/>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2" name="Shape 60"/>
          <p:cNvSpPr/>
          <p:nvPr/>
        </p:nvSpPr>
        <p:spPr>
          <a:xfrm>
            <a:off x="3099816" y="4987218"/>
            <a:ext cx="232096" cy="136676"/>
          </a:xfrm>
          <a:prstGeom prst="rect">
            <a:avLst/>
          </a:prstGeom>
          <a:solidFill>
            <a:srgbClr val="2587C5"/>
          </a:solidFill>
          <a:ln/>
        </p:spPr>
      </p:sp>
      <p:sp>
        <p:nvSpPr>
          <p:cNvPr id="63" name="Text 61"/>
          <p:cNvSpPr txBox="1"/>
          <p:nvPr/>
        </p:nvSpPr>
        <p:spPr>
          <a:xfrm>
            <a:off x="5001768"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64" name="Text 62"/>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5" name="Text 63"/>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66" name="Shape 64"/>
          <p:cNvSpPr/>
          <p:nvPr/>
        </p:nvSpPr>
        <p:spPr>
          <a:xfrm>
            <a:off x="3099816" y="5235720"/>
            <a:ext cx="224903" cy="136676"/>
          </a:xfrm>
          <a:prstGeom prst="rect">
            <a:avLst/>
          </a:prstGeom>
          <a:solidFill>
            <a:srgbClr val="2587C5"/>
          </a:solidFill>
          <a:ln/>
        </p:spPr>
      </p:sp>
      <p:sp>
        <p:nvSpPr>
          <p:cNvPr id="67" name="Text 65"/>
          <p:cNvSpPr txBox="1"/>
          <p:nvPr/>
        </p:nvSpPr>
        <p:spPr>
          <a:xfrm>
            <a:off x="5001768"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$142K</a:t>
            </a:r>
            <a:endParaRPr lang="en-US" sz="1300" dirty="0"/>
          </a:p>
        </p:txBody>
      </p:sp>
      <p:sp>
        <p:nvSpPr>
          <p:cNvPr id="68" name="Text 66"/>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69" name="Text 67"/>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0" name="Shape 68"/>
          <p:cNvSpPr/>
          <p:nvPr/>
        </p:nvSpPr>
        <p:spPr>
          <a:xfrm>
            <a:off x="3099816" y="5484222"/>
            <a:ext cx="213249" cy="136676"/>
          </a:xfrm>
          <a:prstGeom prst="rect">
            <a:avLst/>
          </a:prstGeom>
          <a:solidFill>
            <a:srgbClr val="2587C5"/>
          </a:solidFill>
          <a:ln/>
        </p:spPr>
      </p:sp>
      <p:sp>
        <p:nvSpPr>
          <p:cNvPr id="71" name="Text 69"/>
          <p:cNvSpPr txBox="1"/>
          <p:nvPr/>
        </p:nvSpPr>
        <p:spPr>
          <a:xfrm>
            <a:off x="5001768"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2" name="Text 7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3" name="Text 7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74" name="Shape 72"/>
          <p:cNvSpPr/>
          <p:nvPr/>
        </p:nvSpPr>
        <p:spPr>
          <a:xfrm>
            <a:off x="3099816" y="5732723"/>
            <a:ext cx="211785" cy="136676"/>
          </a:xfrm>
          <a:prstGeom prst="rect">
            <a:avLst/>
          </a:prstGeom>
          <a:solidFill>
            <a:srgbClr val="2587C5"/>
          </a:solidFill>
          <a:ln/>
        </p:spPr>
      </p:sp>
      <p:sp>
        <p:nvSpPr>
          <p:cNvPr id="75" name="Text 73"/>
          <p:cNvSpPr txBox="1"/>
          <p:nvPr/>
        </p:nvSpPr>
        <p:spPr>
          <a:xfrm>
            <a:off x="5001768"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6" name="Text 74"/>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77" name="Text 75"/>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78" name="Shape 76"/>
          <p:cNvSpPr/>
          <p:nvPr/>
        </p:nvSpPr>
        <p:spPr>
          <a:xfrm>
            <a:off x="8650224" y="1756697"/>
            <a:ext cx="210549" cy="136676"/>
          </a:xfrm>
          <a:prstGeom prst="rect">
            <a:avLst/>
          </a:prstGeom>
          <a:solidFill>
            <a:srgbClr val="2587C5"/>
          </a:solidFill>
          <a:ln/>
        </p:spPr>
      </p:sp>
      <p:sp>
        <p:nvSpPr>
          <p:cNvPr id="79" name="Text 77"/>
          <p:cNvSpPr txBox="1"/>
          <p:nvPr/>
        </p:nvSpPr>
        <p:spPr>
          <a:xfrm>
            <a:off x="10552176"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$133K</a:t>
            </a:r>
            <a:endParaRPr lang="en-US" sz="1300" dirty="0"/>
          </a:p>
        </p:txBody>
      </p:sp>
      <p:sp>
        <p:nvSpPr>
          <p:cNvPr id="80" name="Text 7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1" name="Text 79"/>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2" name="Shape 80"/>
          <p:cNvSpPr/>
          <p:nvPr/>
        </p:nvSpPr>
        <p:spPr>
          <a:xfrm>
            <a:off x="8650224" y="2005199"/>
            <a:ext cx="209258" cy="136676"/>
          </a:xfrm>
          <a:prstGeom prst="rect">
            <a:avLst/>
          </a:prstGeom>
          <a:solidFill>
            <a:srgbClr val="2587C5"/>
          </a:solidFill>
          <a:ln/>
        </p:spPr>
      </p:sp>
      <p:sp>
        <p:nvSpPr>
          <p:cNvPr id="83" name="Text 81"/>
          <p:cNvSpPr txBox="1"/>
          <p:nvPr/>
        </p:nvSpPr>
        <p:spPr>
          <a:xfrm>
            <a:off x="10552176"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84" name="Text 82"/>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5" name="Text 83"/>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6" name="Shape 84"/>
          <p:cNvSpPr/>
          <p:nvPr/>
        </p:nvSpPr>
        <p:spPr>
          <a:xfrm>
            <a:off x="8650224" y="2253700"/>
            <a:ext cx="205646" cy="136676"/>
          </a:xfrm>
          <a:prstGeom prst="rect">
            <a:avLst/>
          </a:prstGeom>
          <a:solidFill>
            <a:srgbClr val="2587C5"/>
          </a:solidFill>
          <a:ln/>
        </p:spPr>
      </p:sp>
      <p:sp>
        <p:nvSpPr>
          <p:cNvPr id="87" name="Text 85"/>
          <p:cNvSpPr txBox="1"/>
          <p:nvPr/>
        </p:nvSpPr>
        <p:spPr>
          <a:xfrm>
            <a:off x="10552176"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$130K</a:t>
            </a:r>
            <a:endParaRPr lang="en-US" sz="1300" dirty="0"/>
          </a:p>
        </p:txBody>
      </p:sp>
      <p:sp>
        <p:nvSpPr>
          <p:cNvPr id="88" name="Text 86"/>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89" name="Text 87"/>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0" name="Shape 88"/>
          <p:cNvSpPr/>
          <p:nvPr/>
        </p:nvSpPr>
        <p:spPr>
          <a:xfrm>
            <a:off x="8650224" y="2502202"/>
            <a:ext cx="194412" cy="136676"/>
          </a:xfrm>
          <a:prstGeom prst="rect">
            <a:avLst/>
          </a:prstGeom>
          <a:solidFill>
            <a:srgbClr val="2587C5"/>
          </a:solidFill>
          <a:ln/>
        </p:spPr>
      </p:sp>
      <p:sp>
        <p:nvSpPr>
          <p:cNvPr id="91" name="Text 89"/>
          <p:cNvSpPr txBox="1"/>
          <p:nvPr/>
        </p:nvSpPr>
        <p:spPr>
          <a:xfrm>
            <a:off x="10552176"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92" name="Text 90"/>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3" name="Text 91"/>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94" name="Shape 92"/>
          <p:cNvSpPr/>
          <p:nvPr/>
        </p:nvSpPr>
        <p:spPr>
          <a:xfrm>
            <a:off x="8650224" y="2750703"/>
            <a:ext cx="187233" cy="136676"/>
          </a:xfrm>
          <a:prstGeom prst="rect">
            <a:avLst/>
          </a:prstGeom>
          <a:solidFill>
            <a:srgbClr val="2587C5"/>
          </a:solidFill>
          <a:ln/>
        </p:spPr>
      </p:sp>
      <p:sp>
        <p:nvSpPr>
          <p:cNvPr id="95" name="Text 93"/>
          <p:cNvSpPr txBox="1"/>
          <p:nvPr/>
        </p:nvSpPr>
        <p:spPr>
          <a:xfrm>
            <a:off x="10552176"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$118K</a:t>
            </a:r>
            <a:endParaRPr lang="en-US" sz="1300" dirty="0"/>
          </a:p>
        </p:txBody>
      </p:sp>
      <p:sp>
        <p:nvSpPr>
          <p:cNvPr id="96" name="Text 94"/>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97" name="Text 95"/>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8650224" y="2999205"/>
            <a:ext cx="182551" cy="136676"/>
          </a:xfrm>
          <a:prstGeom prst="rect">
            <a:avLst/>
          </a:prstGeom>
          <a:solidFill>
            <a:srgbClr val="2587C5"/>
          </a:solidFill>
          <a:ln/>
        </p:spPr>
      </p:sp>
      <p:sp>
        <p:nvSpPr>
          <p:cNvPr id="99" name="Text 97"/>
          <p:cNvSpPr txBox="1"/>
          <p:nvPr/>
        </p:nvSpPr>
        <p:spPr>
          <a:xfrm>
            <a:off x="10552176"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$115K</a:t>
            </a:r>
            <a:endParaRPr lang="en-US" sz="1300" dirty="0"/>
          </a:p>
        </p:txBody>
      </p:sp>
      <p:sp>
        <p:nvSpPr>
          <p:cNvPr id="100" name="Text 9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1" name="Text 99"/>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2" name="Shape 100"/>
          <p:cNvSpPr/>
          <p:nvPr/>
        </p:nvSpPr>
        <p:spPr>
          <a:xfrm>
            <a:off x="8650224" y="3247707"/>
            <a:ext cx="160249" cy="136676"/>
          </a:xfrm>
          <a:prstGeom prst="rect">
            <a:avLst/>
          </a:prstGeom>
          <a:solidFill>
            <a:srgbClr val="2587C5"/>
          </a:solidFill>
          <a:ln/>
        </p:spPr>
      </p:sp>
      <p:sp>
        <p:nvSpPr>
          <p:cNvPr id="103" name="Text 101"/>
          <p:cNvSpPr txBox="1"/>
          <p:nvPr/>
        </p:nvSpPr>
        <p:spPr>
          <a:xfrm>
            <a:off x="10552176"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$101K</a:t>
            </a:r>
            <a:endParaRPr lang="en-US" sz="1300" dirty="0"/>
          </a:p>
        </p:txBody>
      </p:sp>
      <p:sp>
        <p:nvSpPr>
          <p:cNvPr id="104" name="Text 102"/>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5" name="Text 103"/>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6" name="Shape 104"/>
          <p:cNvSpPr/>
          <p:nvPr/>
        </p:nvSpPr>
        <p:spPr>
          <a:xfrm>
            <a:off x="8650224" y="3496208"/>
            <a:ext cx="157028" cy="136676"/>
          </a:xfrm>
          <a:prstGeom prst="rect">
            <a:avLst/>
          </a:prstGeom>
          <a:solidFill>
            <a:srgbClr val="2587C5"/>
          </a:solidFill>
          <a:ln/>
        </p:spPr>
      </p:sp>
      <p:sp>
        <p:nvSpPr>
          <p:cNvPr id="107" name="Text 105"/>
          <p:cNvSpPr txBox="1"/>
          <p:nvPr/>
        </p:nvSpPr>
        <p:spPr>
          <a:xfrm>
            <a:off x="10552176"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$99K</a:t>
            </a:r>
            <a:endParaRPr lang="en-US" sz="1300" dirty="0"/>
          </a:p>
        </p:txBody>
      </p:sp>
      <p:sp>
        <p:nvSpPr>
          <p:cNvPr id="108" name="Text 106"/>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09" name="Text 107"/>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0" name="Shape 108"/>
          <p:cNvSpPr/>
          <p:nvPr/>
        </p:nvSpPr>
        <p:spPr>
          <a:xfrm>
            <a:off x="8650224" y="3744710"/>
            <a:ext cx="141322" cy="136676"/>
          </a:xfrm>
          <a:prstGeom prst="rect">
            <a:avLst/>
          </a:prstGeom>
          <a:solidFill>
            <a:srgbClr val="2587C5"/>
          </a:solidFill>
          <a:ln/>
        </p:spPr>
      </p:sp>
      <p:sp>
        <p:nvSpPr>
          <p:cNvPr id="111" name="Text 109"/>
          <p:cNvSpPr txBox="1"/>
          <p:nvPr/>
        </p:nvSpPr>
        <p:spPr>
          <a:xfrm>
            <a:off x="10552176"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2" name="Text 11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3" name="Text 11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4" name="Shape 112"/>
          <p:cNvSpPr/>
          <p:nvPr/>
        </p:nvSpPr>
        <p:spPr>
          <a:xfrm>
            <a:off x="8650224" y="3993212"/>
            <a:ext cx="140504" cy="136676"/>
          </a:xfrm>
          <a:prstGeom prst="rect">
            <a:avLst/>
          </a:prstGeom>
          <a:solidFill>
            <a:srgbClr val="2587C5"/>
          </a:solidFill>
          <a:ln/>
        </p:spPr>
      </p:sp>
      <p:sp>
        <p:nvSpPr>
          <p:cNvPr id="115" name="Text 113"/>
          <p:cNvSpPr txBox="1"/>
          <p:nvPr/>
        </p:nvSpPr>
        <p:spPr>
          <a:xfrm>
            <a:off x="10552176"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6" name="Text 114"/>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17" name="Text 115"/>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8" name="Shape 116"/>
          <p:cNvSpPr/>
          <p:nvPr/>
        </p:nvSpPr>
        <p:spPr>
          <a:xfrm>
            <a:off x="8650224" y="4241713"/>
            <a:ext cx="107585" cy="136676"/>
          </a:xfrm>
          <a:prstGeom prst="rect">
            <a:avLst/>
          </a:prstGeom>
          <a:solidFill>
            <a:srgbClr val="2587C5"/>
          </a:solidFill>
          <a:ln/>
        </p:spPr>
      </p:sp>
      <p:sp>
        <p:nvSpPr>
          <p:cNvPr id="119" name="Text 117"/>
          <p:cNvSpPr txBox="1"/>
          <p:nvPr/>
        </p:nvSpPr>
        <p:spPr>
          <a:xfrm>
            <a:off x="10552176"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20" name="Text 11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1" name="Text 119"/>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22" name="Shape 120"/>
          <p:cNvSpPr/>
          <p:nvPr/>
        </p:nvSpPr>
        <p:spPr>
          <a:xfrm>
            <a:off x="8650224" y="4490215"/>
            <a:ext cx="103964" cy="136676"/>
          </a:xfrm>
          <a:prstGeom prst="rect">
            <a:avLst/>
          </a:prstGeom>
          <a:solidFill>
            <a:srgbClr val="2587C5"/>
          </a:solidFill>
          <a:ln/>
        </p:spPr>
      </p:sp>
      <p:sp>
        <p:nvSpPr>
          <p:cNvPr id="123" name="Text 121"/>
          <p:cNvSpPr txBox="1"/>
          <p:nvPr/>
        </p:nvSpPr>
        <p:spPr>
          <a:xfrm>
            <a:off x="10552176"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24" name="Text 122"/>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5" name="Text 123"/>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26" name="Shape 124"/>
          <p:cNvSpPr/>
          <p:nvPr/>
        </p:nvSpPr>
        <p:spPr>
          <a:xfrm>
            <a:off x="8650224" y="4738717"/>
            <a:ext cx="96486" cy="136676"/>
          </a:xfrm>
          <a:prstGeom prst="rect">
            <a:avLst/>
          </a:prstGeom>
          <a:solidFill>
            <a:srgbClr val="2587C5"/>
          </a:solidFill>
          <a:ln/>
        </p:spPr>
      </p:sp>
      <p:sp>
        <p:nvSpPr>
          <p:cNvPr id="127" name="Text 125"/>
          <p:cNvSpPr txBox="1"/>
          <p:nvPr/>
        </p:nvSpPr>
        <p:spPr>
          <a:xfrm>
            <a:off x="10552176"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$61K</a:t>
            </a:r>
            <a:endParaRPr lang="en-US" sz="1300" dirty="0"/>
          </a:p>
        </p:txBody>
      </p:sp>
      <p:sp>
        <p:nvSpPr>
          <p:cNvPr id="128" name="Text 126"/>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29" name="Text 127"/>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8650224" y="4987218"/>
            <a:ext cx="90829" cy="136676"/>
          </a:xfrm>
          <a:prstGeom prst="rect">
            <a:avLst/>
          </a:prstGeom>
          <a:solidFill>
            <a:srgbClr val="2587C5"/>
          </a:solidFill>
          <a:ln/>
        </p:spPr>
      </p:sp>
      <p:sp>
        <p:nvSpPr>
          <p:cNvPr id="131" name="Text 129"/>
          <p:cNvSpPr txBox="1"/>
          <p:nvPr/>
        </p:nvSpPr>
        <p:spPr>
          <a:xfrm>
            <a:off x="10552176"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$57K</a:t>
            </a:r>
            <a:endParaRPr lang="en-US" sz="1300" dirty="0"/>
          </a:p>
        </p:txBody>
      </p:sp>
      <p:sp>
        <p:nvSpPr>
          <p:cNvPr id="132" name="Text 130"/>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34" name="Shape 132"/>
          <p:cNvSpPr/>
          <p:nvPr/>
        </p:nvSpPr>
        <p:spPr>
          <a:xfrm>
            <a:off x="8650224" y="5235720"/>
            <a:ext cx="69414" cy="136676"/>
          </a:xfrm>
          <a:prstGeom prst="rect">
            <a:avLst/>
          </a:prstGeom>
          <a:solidFill>
            <a:srgbClr val="2587C5"/>
          </a:solidFill>
          <a:ln/>
        </p:spPr>
      </p:sp>
      <p:sp>
        <p:nvSpPr>
          <p:cNvPr id="135" name="Text 133"/>
          <p:cNvSpPr txBox="1"/>
          <p:nvPr/>
        </p:nvSpPr>
        <p:spPr>
          <a:xfrm>
            <a:off x="10552176"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$44K</a:t>
            </a:r>
            <a:endParaRPr lang="en-US" sz="1300" dirty="0"/>
          </a:p>
        </p:txBody>
      </p:sp>
      <p:sp>
        <p:nvSpPr>
          <p:cNvPr id="136" name="Text 134"/>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37" name="Text 135"/>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38" name="Shape 136"/>
          <p:cNvSpPr/>
          <p:nvPr/>
        </p:nvSpPr>
        <p:spPr>
          <a:xfrm>
            <a:off x="8650224" y="5484222"/>
            <a:ext cx="61641" cy="136676"/>
          </a:xfrm>
          <a:prstGeom prst="rect">
            <a:avLst/>
          </a:prstGeom>
          <a:solidFill>
            <a:srgbClr val="2587C5"/>
          </a:solidFill>
          <a:ln/>
        </p:spPr>
      </p:sp>
      <p:sp>
        <p:nvSpPr>
          <p:cNvPr id="139" name="Text 137"/>
          <p:cNvSpPr txBox="1"/>
          <p:nvPr/>
        </p:nvSpPr>
        <p:spPr>
          <a:xfrm>
            <a:off x="10552176"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$39K</a:t>
            </a:r>
            <a:endParaRPr lang="en-US" sz="1300" dirty="0"/>
          </a:p>
        </p:txBody>
      </p:sp>
      <p:sp>
        <p:nvSpPr>
          <p:cNvPr id="140" name="Shape 138"/>
          <p:cNvSpPr/>
          <p:nvPr/>
        </p:nvSpPr>
        <p:spPr>
          <a:xfrm>
            <a:off x="6085332" y="1700784"/>
            <a:ext cx="10973" cy="4224528"/>
          </a:xfrm>
          <a:prstGeom prst="rect">
            <a:avLst/>
          </a:prstGeom>
          <a:solidFill>
            <a:srgbClr val="D9D9D9"/>
          </a:solidFill>
          <a:ln/>
        </p:spPr>
      </p:sp>
      <p:sp>
        <p:nvSpPr>
          <p:cNvPr id="141" name="Shape 139"/>
          <p:cNvSpPr/>
          <p:nvPr/>
        </p:nvSpPr>
        <p:spPr>
          <a:xfrm>
            <a:off x="457200" y="6126480"/>
            <a:ext cx="11274552" cy="348996"/>
          </a:xfrm>
          <a:prstGeom prst="rect">
            <a:avLst/>
          </a:prstGeom>
          <a:solidFill>
            <a:srgbClr val="E6F6EE"/>
          </a:solidFill>
          <a:ln/>
        </p:spPr>
      </p:sp>
      <p:sp>
        <p:nvSpPr>
          <p:cNvPr id="142" name="Text 140"/>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0.1 hour more on every CP RO is worth $6,602,564 a year in added gross. Toyota Henderson leads at $1,164,334.</a:t>
            </a:r>
            <a:endParaRPr lang="en-US" sz="1450" dirty="0"/>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3" name="Text 11"/>
          <p:cNvSpPr txBox="1"/>
          <p:nvPr/>
        </p:nvSpPr>
        <p:spPr>
          <a:xfrm>
            <a:off x="2941320"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+39.2%</a:t>
            </a:r>
            <a:endParaRPr lang="en-US" sz="1600" dirty="0"/>
          </a:p>
        </p:txBody>
      </p:sp>
      <p:sp>
        <p:nvSpPr>
          <p:cNvPr id="14" name="Text 12"/>
          <p:cNvSpPr txBox="1"/>
          <p:nvPr/>
        </p:nvSpPr>
        <p:spPr>
          <a:xfrm>
            <a:off x="2941320"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+0.40 hrs</a:t>
            </a:r>
            <a:endParaRPr lang="en-US" sz="1300" dirty="0"/>
          </a:p>
        </p:txBody>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2.30</a:t>
            </a:r>
            <a:endParaRPr lang="en-US" sz="1400" dirty="0"/>
          </a:p>
        </p:txBody>
      </p:sp>
      <p:sp>
        <p:nvSpPr>
          <p:cNvPr id="17" name="Text 15"/>
          <p:cNvSpPr txBox="1"/>
          <p:nvPr/>
        </p:nvSpPr>
        <p:spPr>
          <a:xfrm>
            <a:off x="2941320"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18" name="Text 16"/>
          <p:cNvSpPr txBox="1"/>
          <p:nvPr/>
        </p:nvSpPr>
        <p:spPr>
          <a:xfrm>
            <a:off x="2941320"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19" name="Shape 17"/>
          <p:cNvSpPr/>
          <p:nvPr/>
        </p:nvSpPr>
        <p:spPr>
          <a:xfrm>
            <a:off x="658368" y="3613709"/>
            <a:ext cx="3489960" cy="755294"/>
          </a:xfrm>
          <a:prstGeom prst="rect">
            <a:avLst/>
          </a:prstGeom>
          <a:solidFill>
            <a:srgbClr val="F7F7F7"/>
          </a:solidFill>
          <a:ln/>
        </p:spPr>
      </p:sp>
      <p:sp>
        <p:nvSpPr>
          <p:cNvPr id="20" name="Shape 18"/>
          <p:cNvSpPr/>
          <p:nvPr/>
        </p:nvSpPr>
        <p:spPr>
          <a:xfrm>
            <a:off x="4084320" y="3650285"/>
            <a:ext cx="64008" cy="682142"/>
          </a:xfrm>
          <a:prstGeom prst="rect">
            <a:avLst/>
          </a:prstGeom>
          <a:solidFill>
            <a:srgbClr val="12A566"/>
          </a:solidFill>
          <a:ln/>
        </p:spPr>
      </p:sp>
      <p:sp>
        <p:nvSpPr>
          <p:cNvPr id="21" name="Text 19"/>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23" name="Text 21"/>
          <p:cNvSpPr txBox="1"/>
          <p:nvPr/>
        </p:nvSpPr>
        <p:spPr>
          <a:xfrm>
            <a:off x="2941320"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+30.8%</a:t>
            </a:r>
            <a:endParaRPr lang="en-US" sz="1600" dirty="0"/>
          </a:p>
        </p:txBody>
      </p:sp>
      <p:sp>
        <p:nvSpPr>
          <p:cNvPr id="24" name="Text 22"/>
          <p:cNvSpPr txBox="1"/>
          <p:nvPr/>
        </p:nvSpPr>
        <p:spPr>
          <a:xfrm>
            <a:off x="2941320"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25" name="Text 23"/>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27" name="Text 25"/>
          <p:cNvSpPr txBox="1"/>
          <p:nvPr/>
        </p:nvSpPr>
        <p:spPr>
          <a:xfrm>
            <a:off x="2941320"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8" name="Text 26"/>
          <p:cNvSpPr txBox="1"/>
          <p:nvPr/>
        </p:nvSpPr>
        <p:spPr>
          <a:xfrm>
            <a:off x="2941320"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+0.26 hrs</a:t>
            </a:r>
            <a:endParaRPr lang="en-US" sz="1300" dirty="0"/>
          </a:p>
        </p:txBody>
      </p:sp>
      <p:sp>
        <p:nvSpPr>
          <p:cNvPr id="29" name="Shape 27"/>
          <p:cNvSpPr/>
          <p:nvPr/>
        </p:nvSpPr>
        <p:spPr>
          <a:xfrm>
            <a:off x="658368" y="5124298"/>
            <a:ext cx="3489960" cy="755294"/>
          </a:xfrm>
          <a:prstGeom prst="rect">
            <a:avLst/>
          </a:prstGeom>
          <a:solidFill>
            <a:srgbClr val="F7F7F7"/>
          </a:solidFill>
          <a:ln/>
        </p:spPr>
      </p:sp>
      <p:sp>
        <p:nvSpPr>
          <p:cNvPr id="30" name="Text 28"/>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1.57</a:t>
            </a:r>
            <a:endParaRPr lang="en-US" sz="1400" dirty="0"/>
          </a:p>
        </p:txBody>
      </p:sp>
      <p:sp>
        <p:nvSpPr>
          <p:cNvPr id="32" name="Text 30"/>
          <p:cNvSpPr txBox="1"/>
          <p:nvPr/>
        </p:nvSpPr>
        <p:spPr>
          <a:xfrm>
            <a:off x="2941320"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33" name="Text 31"/>
          <p:cNvSpPr txBox="1"/>
          <p:nvPr/>
        </p:nvSpPr>
        <p:spPr>
          <a:xfrm>
            <a:off x="2941320"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+0.25 hrs</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7" name="Shape 35"/>
          <p:cNvSpPr/>
          <p:nvPr/>
        </p:nvSpPr>
        <p:spPr>
          <a:xfrm>
            <a:off x="4349496" y="2103120"/>
            <a:ext cx="3489960" cy="755294"/>
          </a:xfrm>
          <a:prstGeom prst="rect">
            <a:avLst/>
          </a:prstGeom>
          <a:solidFill>
            <a:srgbClr val="F7F7F7"/>
          </a:solidFill>
          <a:ln/>
        </p:spPr>
      </p:sp>
      <p:sp>
        <p:nvSpPr>
          <p:cNvPr id="38" name="Text 36"/>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3.48</a:t>
            </a:r>
            <a:endParaRPr lang="en-US" sz="1400" dirty="0"/>
          </a:p>
        </p:txBody>
      </p:sp>
      <p:sp>
        <p:nvSpPr>
          <p:cNvPr id="40" name="Text 38"/>
          <p:cNvSpPr txBox="1"/>
          <p:nvPr/>
        </p:nvSpPr>
        <p:spPr>
          <a:xfrm>
            <a:off x="6632448" y="2193755"/>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1" name="Text 39"/>
          <p:cNvSpPr txBox="1"/>
          <p:nvPr/>
        </p:nvSpPr>
        <p:spPr>
          <a:xfrm>
            <a:off x="6632448"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42" name="Text 40"/>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1.71</a:t>
            </a:r>
            <a:endParaRPr lang="en-US" sz="1400" dirty="0"/>
          </a:p>
        </p:txBody>
      </p:sp>
      <p:sp>
        <p:nvSpPr>
          <p:cNvPr id="44" name="Text 42"/>
          <p:cNvSpPr txBox="1"/>
          <p:nvPr/>
        </p:nvSpPr>
        <p:spPr>
          <a:xfrm>
            <a:off x="6632448" y="2949050"/>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45" name="Text 43"/>
          <p:cNvSpPr txBox="1"/>
          <p:nvPr/>
        </p:nvSpPr>
        <p:spPr>
          <a:xfrm>
            <a:off x="6632448"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−0.24 hrs</a:t>
            </a:r>
            <a:endParaRPr lang="en-US" sz="1300" dirty="0"/>
          </a:p>
        </p:txBody>
      </p:sp>
      <p:sp>
        <p:nvSpPr>
          <p:cNvPr id="46" name="Shape 44"/>
          <p:cNvSpPr/>
          <p:nvPr/>
        </p:nvSpPr>
        <p:spPr>
          <a:xfrm>
            <a:off x="4349496" y="3613709"/>
            <a:ext cx="3489960" cy="755294"/>
          </a:xfrm>
          <a:prstGeom prst="rect">
            <a:avLst/>
          </a:prstGeom>
          <a:solidFill>
            <a:srgbClr val="F7F7F7"/>
          </a:solidFill>
          <a:ln/>
        </p:spPr>
      </p:sp>
      <p:sp>
        <p:nvSpPr>
          <p:cNvPr id="47" name="Text 45"/>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a:t>
            </a:r>
            <a:endParaRPr lang="en-US" sz="1400" dirty="0"/>
          </a:p>
        </p:txBody>
      </p:sp>
      <p:sp>
        <p:nvSpPr>
          <p:cNvPr id="49" name="Text 47"/>
          <p:cNvSpPr txBox="1"/>
          <p:nvPr/>
        </p:nvSpPr>
        <p:spPr>
          <a:xfrm>
            <a:off x="6632448" y="3704344"/>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50" name="Text 48"/>
          <p:cNvSpPr txBox="1"/>
          <p:nvPr/>
        </p:nvSpPr>
        <p:spPr>
          <a:xfrm>
            <a:off x="6632448"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51" name="Text 4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5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2.73</a:t>
            </a:r>
            <a:endParaRPr lang="en-US" sz="1400" dirty="0"/>
          </a:p>
        </p:txBody>
      </p:sp>
      <p:sp>
        <p:nvSpPr>
          <p:cNvPr id="53" name="Text 51"/>
          <p:cNvSpPr txBox="1"/>
          <p:nvPr/>
        </p:nvSpPr>
        <p:spPr>
          <a:xfrm>
            <a:off x="6632448" y="4459639"/>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−5.3%</a:t>
            </a:r>
            <a:endParaRPr lang="en-US" sz="1600" dirty="0"/>
          </a:p>
        </p:txBody>
      </p:sp>
      <p:sp>
        <p:nvSpPr>
          <p:cNvPr id="54" name="Text 52"/>
          <p:cNvSpPr txBox="1"/>
          <p:nvPr/>
        </p:nvSpPr>
        <p:spPr>
          <a:xfrm>
            <a:off x="6632448"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55" name="Shape 53"/>
          <p:cNvSpPr/>
          <p:nvPr/>
        </p:nvSpPr>
        <p:spPr>
          <a:xfrm>
            <a:off x="4349496" y="5124298"/>
            <a:ext cx="3489960" cy="755294"/>
          </a:xfrm>
          <a:prstGeom prst="rect">
            <a:avLst/>
          </a:prstGeom>
          <a:solidFill>
            <a:srgbClr val="F7F7F7"/>
          </a:solidFill>
          <a:ln/>
        </p:spPr>
      </p:sp>
      <p:sp>
        <p:nvSpPr>
          <p:cNvPr id="56" name="Text 5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5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2.30</a:t>
            </a:r>
            <a:endParaRPr lang="en-US" sz="1400" dirty="0"/>
          </a:p>
        </p:txBody>
      </p:sp>
      <p:sp>
        <p:nvSpPr>
          <p:cNvPr id="58" name="Text 56"/>
          <p:cNvSpPr txBox="1"/>
          <p:nvPr/>
        </p:nvSpPr>
        <p:spPr>
          <a:xfrm>
            <a:off x="6632448" y="5214933"/>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59" name="Text 57"/>
          <p:cNvSpPr txBox="1"/>
          <p:nvPr/>
        </p:nvSpPr>
        <p:spPr>
          <a:xfrm>
            <a:off x="6632448"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−0.07 hrs</a:t>
            </a:r>
            <a:endParaRPr lang="en-US" sz="1300" dirty="0"/>
          </a:p>
        </p:txBody>
      </p:sp>
      <p:sp>
        <p:nvSpPr>
          <p:cNvPr id="60" name="Shape 58"/>
          <p:cNvSpPr/>
          <p:nvPr/>
        </p:nvSpPr>
        <p:spPr>
          <a:xfrm>
            <a:off x="8040624" y="1371600"/>
            <a:ext cx="3489960" cy="45720"/>
          </a:xfrm>
          <a:prstGeom prst="rect">
            <a:avLst/>
          </a:prstGeom>
          <a:solidFill>
            <a:srgbClr val="2587C5"/>
          </a:solidFill>
          <a:ln/>
        </p:spPr>
      </p:sp>
      <p:sp>
        <p:nvSpPr>
          <p:cNvPr id="6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Text 6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63" name="Shape 61"/>
          <p:cNvSpPr/>
          <p:nvPr/>
        </p:nvSpPr>
        <p:spPr>
          <a:xfrm>
            <a:off x="8040624" y="2103120"/>
            <a:ext cx="3489960" cy="755294"/>
          </a:xfrm>
          <a:prstGeom prst="rect">
            <a:avLst/>
          </a:prstGeom>
          <a:solidFill>
            <a:srgbClr val="F7F7F7"/>
          </a:solidFill>
          <a:ln/>
        </p:spPr>
      </p:sp>
      <p:sp>
        <p:nvSpPr>
          <p:cNvPr id="64" name="Text 62"/>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1.65</a:t>
            </a:r>
            <a:endParaRPr lang="en-US" sz="1400" dirty="0"/>
          </a:p>
        </p:txBody>
      </p:sp>
      <p:sp>
        <p:nvSpPr>
          <p:cNvPr id="66" name="Text 64"/>
          <p:cNvSpPr txBox="1"/>
          <p:nvPr/>
        </p:nvSpPr>
        <p:spPr>
          <a:xfrm>
            <a:off x="10323576"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67" name="Text 65"/>
          <p:cNvSpPr txBox="1"/>
          <p:nvPr/>
        </p:nvSpPr>
        <p:spPr>
          <a:xfrm>
            <a:off x="10323576"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68" name="Text 6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70" name="Text 68"/>
          <p:cNvSpPr txBox="1"/>
          <p:nvPr/>
        </p:nvSpPr>
        <p:spPr>
          <a:xfrm>
            <a:off x="10323576"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71" name="Text 69"/>
          <p:cNvSpPr txBox="1"/>
          <p:nvPr/>
        </p:nvSpPr>
        <p:spPr>
          <a:xfrm>
            <a:off x="10323576"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+0.21 hrs</a:t>
            </a:r>
            <a:endParaRPr lang="en-US" sz="1300" dirty="0"/>
          </a:p>
        </p:txBody>
      </p:sp>
      <p:sp>
        <p:nvSpPr>
          <p:cNvPr id="72" name="Shape 70"/>
          <p:cNvSpPr/>
          <p:nvPr/>
        </p:nvSpPr>
        <p:spPr>
          <a:xfrm>
            <a:off x="8040624" y="3613709"/>
            <a:ext cx="3489960" cy="755294"/>
          </a:xfrm>
          <a:prstGeom prst="rect">
            <a:avLst/>
          </a:prstGeom>
          <a:solidFill>
            <a:srgbClr val="F7F7F7"/>
          </a:solidFill>
          <a:ln/>
        </p:spPr>
      </p:sp>
      <p:sp>
        <p:nvSpPr>
          <p:cNvPr id="73" name="Shape 71"/>
          <p:cNvSpPr/>
          <p:nvPr/>
        </p:nvSpPr>
        <p:spPr>
          <a:xfrm>
            <a:off x="11466576" y="3650285"/>
            <a:ext cx="64008" cy="682142"/>
          </a:xfrm>
          <a:prstGeom prst="rect">
            <a:avLst/>
          </a:prstGeom>
          <a:solidFill>
            <a:srgbClr val="12A566"/>
          </a:solidFill>
          <a:ln/>
        </p:spPr>
      </p:sp>
      <p:sp>
        <p:nvSpPr>
          <p:cNvPr id="74" name="Text 72"/>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73"/>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76" name="Text 74"/>
          <p:cNvSpPr txBox="1"/>
          <p:nvPr/>
        </p:nvSpPr>
        <p:spPr>
          <a:xfrm>
            <a:off x="10323576"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77" name="Text 75"/>
          <p:cNvSpPr txBox="1"/>
          <p:nvPr/>
        </p:nvSpPr>
        <p:spPr>
          <a:xfrm>
            <a:off x="10323576"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+0.17 hrs</a:t>
            </a:r>
            <a:endParaRPr lang="en-US" sz="1300" dirty="0"/>
          </a:p>
        </p:txBody>
      </p:sp>
      <p:sp>
        <p:nvSpPr>
          <p:cNvPr id="78" name="Shape 76"/>
          <p:cNvSpPr/>
          <p:nvPr/>
        </p:nvSpPr>
        <p:spPr>
          <a:xfrm>
            <a:off x="11466576" y="4405579"/>
            <a:ext cx="64008" cy="682142"/>
          </a:xfrm>
          <a:prstGeom prst="rect">
            <a:avLst/>
          </a:prstGeom>
          <a:solidFill>
            <a:srgbClr val="12A566"/>
          </a:solidFill>
          <a:ln/>
        </p:spPr>
      </p:sp>
      <p:sp>
        <p:nvSpPr>
          <p:cNvPr id="79" name="Text 77"/>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78"/>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81" name="Text 79"/>
          <p:cNvSpPr txBox="1"/>
          <p:nvPr/>
        </p:nvSpPr>
        <p:spPr>
          <a:xfrm>
            <a:off x="10323576"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+11.8%</a:t>
            </a:r>
            <a:endParaRPr lang="en-US" sz="1600" dirty="0"/>
          </a:p>
        </p:txBody>
      </p:sp>
      <p:sp>
        <p:nvSpPr>
          <p:cNvPr id="82" name="Text 80"/>
          <p:cNvSpPr txBox="1"/>
          <p:nvPr/>
        </p:nvSpPr>
        <p:spPr>
          <a:xfrm>
            <a:off x="10323576"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83" name="Shape 81"/>
          <p:cNvSpPr/>
          <p:nvPr/>
        </p:nvSpPr>
        <p:spPr>
          <a:xfrm>
            <a:off x="8040624" y="5124298"/>
            <a:ext cx="3489960" cy="755294"/>
          </a:xfrm>
          <a:prstGeom prst="rect">
            <a:avLst/>
          </a:prstGeom>
          <a:solidFill>
            <a:srgbClr val="F7F7F7"/>
          </a:solidFill>
          <a:ln/>
        </p:spPr>
      </p:sp>
      <p:sp>
        <p:nvSpPr>
          <p:cNvPr id="84" name="Text 82"/>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83"/>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86" name="Text 84"/>
          <p:cNvSpPr txBox="1"/>
          <p:nvPr/>
        </p:nvSpPr>
        <p:spPr>
          <a:xfrm>
            <a:off x="10323576"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87" name="Text 85"/>
          <p:cNvSpPr txBox="1"/>
          <p:nvPr/>
        </p:nvSpPr>
        <p:spPr>
          <a:xfrm>
            <a:off x="10323576"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+0.14 hrs</a:t>
            </a:r>
            <a:endParaRPr lang="en-US" sz="1300" dirty="0"/>
          </a:p>
        </p:txBody>
      </p:sp>
      <p:sp>
        <p:nvSpPr>
          <p:cNvPr id="88" name="Shape 86"/>
          <p:cNvSpPr/>
          <p:nvPr/>
        </p:nvSpPr>
        <p:spPr>
          <a:xfrm>
            <a:off x="457200" y="6126480"/>
            <a:ext cx="11274552" cy="585216"/>
          </a:xfrm>
          <a:prstGeom prst="rect">
            <a:avLst/>
          </a:prstGeom>
          <a:solidFill>
            <a:srgbClr val="EDF4FA"/>
          </a:solidFill>
          <a:ln/>
        </p:spPr>
      </p:sp>
      <p:sp>
        <p:nvSpPr>
          <p:cNvPr id="89" name="Text 87"/>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Hyundai St George, Subaru St George and Kia St George what changed. Ask LR Reno, VW St George and Volvo what got in the way. Ask Mazda, Hyundai Prescott and Hyundai St George what they started this year.</a:t>
            </a:r>
            <a:endParaRPr lang="en-US" sz="150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average amount we collect for each hour of customer-pay labor we sell.</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what the shop actually collects per hour, and it shows whether a pricing change did what it was meant to do.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Look past the total: by work type and by op code there can be room to raise a rate, or a reason to lower one.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Benchmark: CP ELR at least 70% of door rate.</a:t>
            </a:r>
            <a:endParaRPr lang="en-US" sz="1600" dirty="0"/>
          </a:p>
        </p:txBody>
      </p:sp>
      <p:sp>
        <p:nvSpPr>
          <p:cNvPr id="13" name="Shape 11"/>
          <p:cNvSpPr/>
          <p:nvPr/>
        </p:nvSpPr>
        <p:spPr>
          <a:xfrm>
            <a:off x="5138928" y="2843784"/>
            <a:ext cx="45720" cy="1064924"/>
          </a:xfrm>
          <a:prstGeom prst="rect">
            <a:avLst/>
          </a:prstGeom>
          <a:solidFill>
            <a:srgbClr val="2587C5"/>
          </a:solidFill>
          <a:ln/>
        </p:spPr>
      </p:sp>
      <p:sp>
        <p:nvSpPr>
          <p:cNvPr id="14" name="Text 12"/>
          <p:cNvSpPr txBox="1"/>
          <p:nvPr/>
        </p:nvSpPr>
        <p:spPr>
          <a:xfrm>
            <a:off x="5266944" y="2843784"/>
            <a:ext cx="2962656" cy="106492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is priced above maintenance: repair-heavy shops run a higher ELR, maintenance-heavy lower. Neither is wrong.</a:t>
            </a:r>
            <a:endParaRPr lang="en-US" sz="1400" dirty="0"/>
          </a:p>
        </p:txBody>
      </p:sp>
      <p:sp>
        <p:nvSpPr>
          <p:cNvPr id="15" name="Shape 13"/>
          <p:cNvSpPr/>
          <p:nvPr/>
        </p:nvSpPr>
        <p:spPr>
          <a:xfrm>
            <a:off x="8394192" y="2843784"/>
            <a:ext cx="45720" cy="1064924"/>
          </a:xfrm>
          <a:prstGeom prst="rect">
            <a:avLst/>
          </a:prstGeom>
          <a:solidFill>
            <a:srgbClr val="2587C5"/>
          </a:solidFill>
          <a:ln/>
        </p:spPr>
      </p:sp>
      <p:sp>
        <p:nvSpPr>
          <p:cNvPr id="16" name="Text 14"/>
          <p:cNvSpPr txBox="1"/>
          <p:nvPr/>
        </p:nvSpPr>
        <p:spPr>
          <a:xfrm>
            <a:off x="8522208" y="2843784"/>
            <a:ext cx="2962656" cy="106492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If most of your hours are maintenance, the maintenance rate moves ELR more than the repair rate</a:t>
            </a:r>
            <a:endParaRPr lang="en-US" sz="1400" dirty="0"/>
          </a:p>
        </p:txBody>
      </p:sp>
      <p:sp>
        <p:nvSpPr>
          <p:cNvPr id="17" name="Shape 15"/>
          <p:cNvSpPr/>
          <p:nvPr/>
        </p:nvSpPr>
        <p:spPr>
          <a:xfrm>
            <a:off x="5138928" y="4018436"/>
            <a:ext cx="45720" cy="829994"/>
          </a:xfrm>
          <a:prstGeom prst="rect">
            <a:avLst/>
          </a:prstGeom>
          <a:solidFill>
            <a:srgbClr val="2587C5"/>
          </a:solidFill>
          <a:ln/>
        </p:spPr>
      </p:sp>
      <p:sp>
        <p:nvSpPr>
          <p:cNvPr id="18" name="Text 16"/>
          <p:cNvSpPr txBox="1"/>
          <p:nvPr/>
        </p:nvSpPr>
        <p:spPr>
          <a:xfrm>
            <a:off x="5266944" y="4018436"/>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ELR by labor operation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what every op code collects per hour, not just the store total</a:t>
            </a:r>
            <a:endParaRPr lang="en-US" sz="1400" dirty="0"/>
          </a:p>
        </p:txBody>
      </p:sp>
      <p:sp>
        <p:nvSpPr>
          <p:cNvPr id="19" name="Shape 17"/>
          <p:cNvSpPr/>
          <p:nvPr/>
        </p:nvSpPr>
        <p:spPr>
          <a:xfrm>
            <a:off x="8394192" y="4018436"/>
            <a:ext cx="45720" cy="829994"/>
          </a:xfrm>
          <a:prstGeom prst="rect">
            <a:avLst/>
          </a:prstGeom>
          <a:solidFill>
            <a:srgbClr val="2587C5"/>
          </a:solidFill>
          <a:ln/>
        </p:spPr>
      </p:sp>
      <p:sp>
        <p:nvSpPr>
          <p:cNvPr id="20" name="Text 18"/>
          <p:cNvSpPr txBox="1"/>
          <p:nvPr/>
        </p:nvSpPr>
        <p:spPr>
          <a:xfrm>
            <a:off x="8522208" y="4018436"/>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 and repair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Posted rate from a market labor study, and how repair jobs are priced against it</a:t>
            </a:r>
            <a:endParaRPr lang="en-US" sz="1400" dirty="0"/>
          </a:p>
        </p:txBody>
      </p:sp>
      <p:sp>
        <p:nvSpPr>
          <p:cNvPr id="21" name="Shape 19"/>
          <p:cNvSpPr/>
          <p:nvPr/>
        </p:nvSpPr>
        <p:spPr>
          <a:xfrm>
            <a:off x="5138928" y="4958158"/>
            <a:ext cx="45720" cy="829994"/>
          </a:xfrm>
          <a:prstGeom prst="rect">
            <a:avLst/>
          </a:prstGeom>
          <a:solidFill>
            <a:srgbClr val="2587C5"/>
          </a:solidFill>
          <a:ln/>
        </p:spPr>
      </p:sp>
      <p:sp>
        <p:nvSpPr>
          <p:cNvPr id="22" name="Text 20"/>
          <p:cNvSpPr txBox="1"/>
          <p:nvPr/>
        </p:nvSpPr>
        <p:spPr>
          <a:xfrm>
            <a:off x="5266944" y="4958158"/>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3" name="Shape 21"/>
          <p:cNvSpPr/>
          <p:nvPr/>
        </p:nvSpPr>
        <p:spPr>
          <a:xfrm>
            <a:off x="8394192" y="4958158"/>
            <a:ext cx="45720" cy="829994"/>
          </a:xfrm>
          <a:prstGeom prst="rect">
            <a:avLst/>
          </a:prstGeom>
          <a:solidFill>
            <a:srgbClr val="2587C5"/>
          </a:solidFill>
          <a:ln/>
        </p:spPr>
      </p:sp>
      <p:sp>
        <p:nvSpPr>
          <p:cNvPr id="24" name="Text 22"/>
          <p:cNvSpPr txBox="1"/>
          <p:nvPr/>
        </p:nvSpPr>
        <p:spPr>
          <a:xfrm>
            <a:off x="8522208" y="4958158"/>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labor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hours we set and pay the tech on menu jobs; repair times come from labor guides</a:t>
            </a:r>
            <a:endParaRPr lang="en-US" sz="1400" dirty="0"/>
          </a:p>
        </p:txBody>
      </p:sp>
      <p:sp>
        <p:nvSpPr>
          <p:cNvPr id="25" name="Shape 23"/>
          <p:cNvSpPr/>
          <p:nvPr/>
        </p:nvSpPr>
        <p:spPr>
          <a:xfrm>
            <a:off x="457200" y="6126480"/>
            <a:ext cx="11274552" cy="364236"/>
          </a:xfrm>
          <a:prstGeom prst="rect">
            <a:avLst/>
          </a:prstGeom>
          <a:solidFill>
            <a:srgbClr val="E6F6EE"/>
          </a:solidFill>
          <a:ln/>
        </p:spPr>
      </p:sp>
      <p:sp>
        <p:nvSpPr>
          <p:cNvPr id="26" name="Text 24"/>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Group: $162.42 CP ELR, up $3.56. Jul-Sep it ran 74.7% of door rate; 25 of 33 stores at or above 70%.</a:t>
            </a:r>
            <a:endParaRPr lang="en-US" sz="1550" dirty="0"/>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EFFECTIVE LABOR RATE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$127K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labor if the 8 stores under 70% reached it on the hours they already sell, Jul-Sep: $126,831 a month.</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1" name="Shape 249"/>
          <p:cNvSpPr/>
          <p:nvPr/>
        </p:nvSpPr>
        <p:spPr>
          <a:xfrm>
            <a:off x="457200" y="6126480"/>
            <a:ext cx="11274552" cy="615696"/>
          </a:xfrm>
          <a:prstGeom prst="rect">
            <a:avLst/>
          </a:prstGeom>
          <a:solidFill>
            <a:srgbClr val="EDF4FA"/>
          </a:solidFill>
          <a:ln/>
        </p:spPr>
      </p:sp>
      <p:sp>
        <p:nvSpPr>
          <p:cNvPr id="252" name="Text 2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 Honda Spokane is most customer-pay at 70.3%.</a:t>
            </a:r>
            <a:endParaRPr lang="en-US" sz="1600" dirty="0"/>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$3.56 to $162.42, ahead of 2025 in all nine months.</a:t>
            </a:r>
            <a:endParaRPr lang="en-US" sz="1600" dirty="0"/>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$218</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457852"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9" name="Shape 17"/>
          <p:cNvSpPr/>
          <p:nvPr/>
        </p:nvSpPr>
        <p:spPr>
          <a:xfrm>
            <a:off x="3008376" y="2402586"/>
            <a:ext cx="128674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3" name="Shape 21"/>
          <p:cNvSpPr/>
          <p:nvPr/>
        </p:nvSpPr>
        <p:spPr>
          <a:xfrm>
            <a:off x="3008376" y="2649474"/>
            <a:ext cx="128392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7" name="Shape 25"/>
          <p:cNvSpPr/>
          <p:nvPr/>
        </p:nvSpPr>
        <p:spPr>
          <a:xfrm>
            <a:off x="3008376" y="2896362"/>
            <a:ext cx="1279771"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1" name="Shape 29"/>
          <p:cNvSpPr/>
          <p:nvPr/>
        </p:nvSpPr>
        <p:spPr>
          <a:xfrm>
            <a:off x="3008376" y="3143250"/>
            <a:ext cx="1277948"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1215860" cy="123444"/>
          </a:xfrm>
          <a:prstGeom prst="rect">
            <a:avLst/>
          </a:prstGeom>
          <a:solidFill>
            <a:srgbClr val="12A566"/>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9" name="Shape 37"/>
          <p:cNvSpPr/>
          <p:nvPr/>
        </p:nvSpPr>
        <p:spPr>
          <a:xfrm>
            <a:off x="3008376" y="3637026"/>
            <a:ext cx="1058054"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30641"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7" name="Shape 45"/>
          <p:cNvSpPr/>
          <p:nvPr/>
        </p:nvSpPr>
        <p:spPr>
          <a:xfrm>
            <a:off x="3008376" y="4130802"/>
            <a:ext cx="91763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385836"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2" name="Shape 60"/>
          <p:cNvSpPr/>
          <p:nvPr/>
        </p:nvSpPr>
        <p:spPr>
          <a:xfrm>
            <a:off x="3008376" y="5118354"/>
            <a:ext cx="131136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6" name="Shape 64"/>
          <p:cNvSpPr/>
          <p:nvPr/>
        </p:nvSpPr>
        <p:spPr>
          <a:xfrm>
            <a:off x="3008376" y="5365242"/>
            <a:ext cx="128925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0" name="Shape 68"/>
          <p:cNvSpPr/>
          <p:nvPr/>
        </p:nvSpPr>
        <p:spPr>
          <a:xfrm>
            <a:off x="3008376" y="5612130"/>
            <a:ext cx="1283069"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4" name="Shape 72"/>
          <p:cNvSpPr/>
          <p:nvPr/>
        </p:nvSpPr>
        <p:spPr>
          <a:xfrm>
            <a:off x="3008376" y="5859018"/>
            <a:ext cx="126580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8" name="Shape 76"/>
          <p:cNvSpPr/>
          <p:nvPr/>
        </p:nvSpPr>
        <p:spPr>
          <a:xfrm>
            <a:off x="3008376" y="6105906"/>
            <a:ext cx="125720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4" name="Shape 82"/>
          <p:cNvSpPr/>
          <p:nvPr/>
        </p:nvSpPr>
        <p:spPr>
          <a:xfrm>
            <a:off x="8558784" y="2155698"/>
            <a:ext cx="1255672"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8" name="Shape 86"/>
          <p:cNvSpPr/>
          <p:nvPr/>
        </p:nvSpPr>
        <p:spPr>
          <a:xfrm>
            <a:off x="8558784" y="2402586"/>
            <a:ext cx="1239620"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2" name="Shape 90"/>
          <p:cNvSpPr/>
          <p:nvPr/>
        </p:nvSpPr>
        <p:spPr>
          <a:xfrm>
            <a:off x="8558784" y="2649474"/>
            <a:ext cx="1230530"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6" name="Shape 94"/>
          <p:cNvSpPr/>
          <p:nvPr/>
        </p:nvSpPr>
        <p:spPr>
          <a:xfrm>
            <a:off x="8558784" y="2896362"/>
            <a:ext cx="121733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0" name="Shape 98"/>
          <p:cNvSpPr/>
          <p:nvPr/>
        </p:nvSpPr>
        <p:spPr>
          <a:xfrm>
            <a:off x="8558784" y="3143250"/>
            <a:ext cx="1207702"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1175735"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8" name="Shape 106"/>
          <p:cNvSpPr/>
          <p:nvPr/>
        </p:nvSpPr>
        <p:spPr>
          <a:xfrm>
            <a:off x="8558784" y="3637026"/>
            <a:ext cx="116786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113843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6" name="Shape 114"/>
          <p:cNvSpPr/>
          <p:nvPr/>
        </p:nvSpPr>
        <p:spPr>
          <a:xfrm>
            <a:off x="8558784" y="4130802"/>
            <a:ext cx="113367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8558784" y="4377690"/>
            <a:ext cx="112709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4" name="Shape 122"/>
          <p:cNvSpPr/>
          <p:nvPr/>
        </p:nvSpPr>
        <p:spPr>
          <a:xfrm>
            <a:off x="8558784" y="4624578"/>
            <a:ext cx="1125055"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8" name="Shape 126"/>
          <p:cNvSpPr/>
          <p:nvPr/>
        </p:nvSpPr>
        <p:spPr>
          <a:xfrm>
            <a:off x="8558784" y="4871466"/>
            <a:ext cx="111170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2" name="Shape 130"/>
          <p:cNvSpPr/>
          <p:nvPr/>
        </p:nvSpPr>
        <p:spPr>
          <a:xfrm>
            <a:off x="8558784" y="5118354"/>
            <a:ext cx="1096152"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6" name="Shape 134"/>
          <p:cNvSpPr/>
          <p:nvPr/>
        </p:nvSpPr>
        <p:spPr>
          <a:xfrm>
            <a:off x="8558784" y="5365242"/>
            <a:ext cx="1091062"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1064841"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4" name="Shape 142"/>
          <p:cNvSpPr/>
          <p:nvPr/>
        </p:nvSpPr>
        <p:spPr>
          <a:xfrm>
            <a:off x="8558784" y="5859018"/>
            <a:ext cx="1027823"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58784" y="6105906"/>
            <a:ext cx="993409"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50" name="Shape 148"/>
          <p:cNvSpPr/>
          <p:nvPr/>
        </p:nvSpPr>
        <p:spPr>
          <a:xfrm>
            <a:off x="4193240" y="2093976"/>
            <a:ext cx="14630" cy="2221992"/>
          </a:xfrm>
          <a:prstGeom prst="rect">
            <a:avLst/>
          </a:prstGeom>
          <a:solidFill>
            <a:srgbClr val="0B2C4A"/>
          </a:solidFill>
          <a:ln/>
        </p:spPr>
      </p:sp>
      <p:sp>
        <p:nvSpPr>
          <p:cNvPr id="151" name="Shape 149"/>
          <p:cNvSpPr/>
          <p:nvPr/>
        </p:nvSpPr>
        <p:spPr>
          <a:xfrm>
            <a:off x="4193240" y="4562856"/>
            <a:ext cx="14630" cy="1728216"/>
          </a:xfrm>
          <a:prstGeom prst="rect">
            <a:avLst/>
          </a:prstGeom>
          <a:solidFill>
            <a:srgbClr val="0B2C4A"/>
          </a:solidFill>
          <a:ln/>
        </p:spPr>
      </p:sp>
      <p:sp>
        <p:nvSpPr>
          <p:cNvPr id="152" name="Shape 150"/>
          <p:cNvSpPr/>
          <p:nvPr/>
        </p:nvSpPr>
        <p:spPr>
          <a:xfrm>
            <a:off x="974364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+22.9%</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2" name="Shape 20"/>
          <p:cNvSpPr/>
          <p:nvPr/>
        </p:nvSpPr>
        <p:spPr>
          <a:xfrm>
            <a:off x="3579876" y="2405582"/>
            <a:ext cx="55630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501518"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2" name="Shape 30"/>
          <p:cNvSpPr/>
          <p:nvPr/>
        </p:nvSpPr>
        <p:spPr>
          <a:xfrm>
            <a:off x="3579876" y="2853100"/>
            <a:ext cx="356729"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344102"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2" name="Shape 40"/>
          <p:cNvSpPr/>
          <p:nvPr/>
        </p:nvSpPr>
        <p:spPr>
          <a:xfrm>
            <a:off x="3579876" y="3300618"/>
            <a:ext cx="199895"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7" name="Shape 45"/>
          <p:cNvSpPr/>
          <p:nvPr/>
        </p:nvSpPr>
        <p:spPr>
          <a:xfrm>
            <a:off x="3579876" y="3524377"/>
            <a:ext cx="195635"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+7.8%</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2" name="Shape 50"/>
          <p:cNvSpPr/>
          <p:nvPr/>
        </p:nvSpPr>
        <p:spPr>
          <a:xfrm>
            <a:off x="3579876" y="3748136"/>
            <a:ext cx="16857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579876" y="3971895"/>
            <a:ext cx="162760"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+6.5%</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3579876" y="4195654"/>
            <a:ext cx="12262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7" name="Shape 65"/>
          <p:cNvSpPr/>
          <p:nvPr/>
        </p:nvSpPr>
        <p:spPr>
          <a:xfrm>
            <a:off x="3579876" y="4419414"/>
            <a:ext cx="108212"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2" name="Shape 70"/>
          <p:cNvSpPr/>
          <p:nvPr/>
        </p:nvSpPr>
        <p:spPr>
          <a:xfrm>
            <a:off x="3579876" y="4643173"/>
            <a:ext cx="7639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579876" y="4866932"/>
            <a:ext cx="74877"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2" name="Shape 80"/>
          <p:cNvSpPr/>
          <p:nvPr/>
        </p:nvSpPr>
        <p:spPr>
          <a:xfrm>
            <a:off x="3579876" y="5090691"/>
            <a:ext cx="6154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7" name="Shape 85"/>
          <p:cNvSpPr/>
          <p:nvPr/>
        </p:nvSpPr>
        <p:spPr>
          <a:xfrm>
            <a:off x="3579876" y="5314450"/>
            <a:ext cx="54307"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2" name="Shape 90"/>
          <p:cNvSpPr/>
          <p:nvPr/>
        </p:nvSpPr>
        <p:spPr>
          <a:xfrm>
            <a:off x="3579876" y="5538209"/>
            <a:ext cx="52492"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7" name="Shape 95"/>
          <p:cNvSpPr/>
          <p:nvPr/>
        </p:nvSpPr>
        <p:spPr>
          <a:xfrm>
            <a:off x="3579876" y="5761968"/>
            <a:ext cx="50035"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2" name="Shape 100"/>
          <p:cNvSpPr/>
          <p:nvPr/>
        </p:nvSpPr>
        <p:spPr>
          <a:xfrm>
            <a:off x="9130284" y="2181823"/>
            <a:ext cx="31184"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12802"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2" name="Shape 110"/>
          <p:cNvSpPr/>
          <p:nvPr/>
        </p:nvSpPr>
        <p:spPr>
          <a:xfrm>
            <a:off x="9119806" y="2629341"/>
            <a:ext cx="12802" cy="102929"/>
          </a:xfrm>
          <a:prstGeom prst="rect">
            <a:avLst/>
          </a:prstGeom>
          <a:solidFill>
            <a:srgbClr val="C2352F"/>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116949" y="2853100"/>
            <a:ext cx="13335"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09273" y="3076859"/>
            <a:ext cx="21011"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7" name="Shape 125"/>
          <p:cNvSpPr/>
          <p:nvPr/>
        </p:nvSpPr>
        <p:spPr>
          <a:xfrm>
            <a:off x="9108758" y="3300618"/>
            <a:ext cx="21526"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2" name="Shape 130"/>
          <p:cNvSpPr/>
          <p:nvPr/>
        </p:nvSpPr>
        <p:spPr>
          <a:xfrm>
            <a:off x="9105904" y="3524377"/>
            <a:ext cx="24380"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98216" y="3748136"/>
            <a:ext cx="3206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97911" y="3971895"/>
            <a:ext cx="32373"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7" name="Shape 145"/>
          <p:cNvSpPr/>
          <p:nvPr/>
        </p:nvSpPr>
        <p:spPr>
          <a:xfrm>
            <a:off x="9093245" y="4195654"/>
            <a:ext cx="37039"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2" name="Shape 150"/>
          <p:cNvSpPr/>
          <p:nvPr/>
        </p:nvSpPr>
        <p:spPr>
          <a:xfrm>
            <a:off x="9069022" y="4419414"/>
            <a:ext cx="61262"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7" name="Shape 155"/>
          <p:cNvSpPr/>
          <p:nvPr/>
        </p:nvSpPr>
        <p:spPr>
          <a:xfrm>
            <a:off x="9017316" y="4643173"/>
            <a:ext cx="112968"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62" name="Shape 160"/>
          <p:cNvSpPr/>
          <p:nvPr/>
        </p:nvSpPr>
        <p:spPr>
          <a:xfrm>
            <a:off x="9016211" y="4866932"/>
            <a:ext cx="11407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7" name="Shape 165"/>
          <p:cNvSpPr/>
          <p:nvPr/>
        </p:nvSpPr>
        <p:spPr>
          <a:xfrm>
            <a:off x="9003543" y="5090691"/>
            <a:ext cx="126741"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72" name="Shape 170"/>
          <p:cNvSpPr/>
          <p:nvPr/>
        </p:nvSpPr>
        <p:spPr>
          <a:xfrm>
            <a:off x="8956904" y="5314450"/>
            <a:ext cx="17338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−7.0%</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7" name="Shape 175"/>
          <p:cNvSpPr/>
          <p:nvPr/>
        </p:nvSpPr>
        <p:spPr>
          <a:xfrm>
            <a:off x="8655373" y="5538209"/>
            <a:ext cx="47491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−19.1%</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6F6EE"/>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CP ELR, led by Honda Spokane at +22.9% (+$27) to $144. 14 declined; Kia LV fell most at −19.1%.</a:t>
            </a:r>
            <a:endParaRPr lang="en-US" sz="1600" dirty="0"/>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$236</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$250</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$230</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$200</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$295</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$205</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$267</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$349</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$240</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$137</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$151</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$245</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$140</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13" name="Text 11"/>
          <p:cNvSpPr txBox="1"/>
          <p:nvPr/>
        </p:nvSpPr>
        <p:spPr>
          <a:xfrm>
            <a:off x="2941320"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14" name="Text 12"/>
          <p:cNvSpPr txBox="1"/>
          <p:nvPr/>
        </p:nvSpPr>
        <p:spPr>
          <a:xfrm>
            <a:off x="2941320"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17" name="Text 15"/>
          <p:cNvSpPr txBox="1"/>
          <p:nvPr/>
        </p:nvSpPr>
        <p:spPr>
          <a:xfrm>
            <a:off x="2941320"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18" name="Text 16"/>
          <p:cNvSpPr txBox="1"/>
          <p:nvPr/>
        </p:nvSpPr>
        <p:spPr>
          <a:xfrm>
            <a:off x="2941320"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9" name="Shape 17"/>
          <p:cNvSpPr/>
          <p:nvPr/>
        </p:nvSpPr>
        <p:spPr>
          <a:xfrm>
            <a:off x="658368" y="3613709"/>
            <a:ext cx="3489960" cy="755294"/>
          </a:xfrm>
          <a:prstGeom prst="rect">
            <a:avLst/>
          </a:prstGeom>
          <a:solidFill>
            <a:srgbClr val="F7F7F7"/>
          </a:solidFill>
          <a:ln/>
        </p:spPr>
      </p:sp>
      <p:sp>
        <p:nvSpPr>
          <p:cNvPr id="20" name="Text 18"/>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$168</a:t>
            </a:r>
            <a:endParaRPr lang="en-US" sz="1400" dirty="0"/>
          </a:p>
        </p:txBody>
      </p:sp>
      <p:sp>
        <p:nvSpPr>
          <p:cNvPr id="22" name="Text 20"/>
          <p:cNvSpPr txBox="1"/>
          <p:nvPr/>
        </p:nvSpPr>
        <p:spPr>
          <a:xfrm>
            <a:off x="2941320"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23" name="Text 21"/>
          <p:cNvSpPr txBox="1"/>
          <p:nvPr/>
        </p:nvSpPr>
        <p:spPr>
          <a:xfrm>
            <a:off x="2941320"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24" name="Text 22"/>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26" name="Text 24"/>
          <p:cNvSpPr txBox="1"/>
          <p:nvPr/>
        </p:nvSpPr>
        <p:spPr>
          <a:xfrm>
            <a:off x="2941320"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+14.3%</a:t>
            </a:r>
            <a:endParaRPr lang="en-US" sz="1600" dirty="0"/>
          </a:p>
        </p:txBody>
      </p:sp>
      <p:sp>
        <p:nvSpPr>
          <p:cNvPr id="27" name="Text 25"/>
          <p:cNvSpPr txBox="1"/>
          <p:nvPr/>
        </p:nvSpPr>
        <p:spPr>
          <a:xfrm>
            <a:off x="2941320"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28" name="Shape 26"/>
          <p:cNvSpPr/>
          <p:nvPr/>
        </p:nvSpPr>
        <p:spPr>
          <a:xfrm>
            <a:off x="658368" y="5124298"/>
            <a:ext cx="3489960" cy="755294"/>
          </a:xfrm>
          <a:prstGeom prst="rect">
            <a:avLst/>
          </a:prstGeom>
          <a:solidFill>
            <a:srgbClr val="F7F7F7"/>
          </a:solidFill>
          <a:ln/>
        </p:spPr>
      </p:sp>
      <p:sp>
        <p:nvSpPr>
          <p:cNvPr id="29" name="Text 27"/>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a:t>
            </a:r>
            <a:endParaRPr lang="en-US" sz="1400" dirty="0"/>
          </a:p>
        </p:txBody>
      </p:sp>
      <p:sp>
        <p:nvSpPr>
          <p:cNvPr id="31" name="Text 29"/>
          <p:cNvSpPr txBox="1"/>
          <p:nvPr/>
        </p:nvSpPr>
        <p:spPr>
          <a:xfrm>
            <a:off x="2941320"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32" name="Text 30"/>
          <p:cNvSpPr txBox="1"/>
          <p:nvPr/>
        </p:nvSpPr>
        <p:spPr>
          <a:xfrm>
            <a:off x="2941320"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6" name="Shape 34"/>
          <p:cNvSpPr/>
          <p:nvPr/>
        </p:nvSpPr>
        <p:spPr>
          <a:xfrm>
            <a:off x="4349496" y="2103120"/>
            <a:ext cx="3489960" cy="755294"/>
          </a:xfrm>
          <a:prstGeom prst="rect">
            <a:avLst/>
          </a:prstGeom>
          <a:solidFill>
            <a:srgbClr val="F7F7F7"/>
          </a:solidFill>
          <a:ln/>
        </p:spPr>
      </p:sp>
      <p:sp>
        <p:nvSpPr>
          <p:cNvPr id="37" name="Text 35"/>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6"/>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$149</a:t>
            </a:r>
            <a:endParaRPr lang="en-US" sz="1400" dirty="0"/>
          </a:p>
        </p:txBody>
      </p:sp>
      <p:sp>
        <p:nvSpPr>
          <p:cNvPr id="39" name="Text 37"/>
          <p:cNvSpPr txBox="1"/>
          <p:nvPr/>
        </p:nvSpPr>
        <p:spPr>
          <a:xfrm>
            <a:off x="6632448" y="2193755"/>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−19.1%</a:t>
            </a:r>
            <a:endParaRPr lang="en-US" sz="1600" dirty="0"/>
          </a:p>
        </p:txBody>
      </p:sp>
      <p:sp>
        <p:nvSpPr>
          <p:cNvPr id="40" name="Text 38"/>
          <p:cNvSpPr txBox="1"/>
          <p:nvPr/>
        </p:nvSpPr>
        <p:spPr>
          <a:xfrm>
            <a:off x="6632448"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41" name="Text 39"/>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40"/>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$138</a:t>
            </a:r>
            <a:endParaRPr lang="en-US" sz="1400" dirty="0"/>
          </a:p>
        </p:txBody>
      </p:sp>
      <p:sp>
        <p:nvSpPr>
          <p:cNvPr id="43" name="Text 41"/>
          <p:cNvSpPr txBox="1"/>
          <p:nvPr/>
        </p:nvSpPr>
        <p:spPr>
          <a:xfrm>
            <a:off x="6632448" y="2949050"/>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−7.0%</a:t>
            </a:r>
            <a:endParaRPr lang="en-US" sz="1600" dirty="0"/>
          </a:p>
        </p:txBody>
      </p:sp>
      <p:sp>
        <p:nvSpPr>
          <p:cNvPr id="44" name="Text 42"/>
          <p:cNvSpPr txBox="1"/>
          <p:nvPr/>
        </p:nvSpPr>
        <p:spPr>
          <a:xfrm>
            <a:off x="6632448"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45" name="Shape 43"/>
          <p:cNvSpPr/>
          <p:nvPr/>
        </p:nvSpPr>
        <p:spPr>
          <a:xfrm>
            <a:off x="4349496" y="3613709"/>
            <a:ext cx="3489960" cy="755294"/>
          </a:xfrm>
          <a:prstGeom prst="rect">
            <a:avLst/>
          </a:prstGeom>
          <a:solidFill>
            <a:srgbClr val="F7F7F7"/>
          </a:solidFill>
          <a:ln/>
        </p:spPr>
      </p:sp>
      <p:sp>
        <p:nvSpPr>
          <p:cNvPr id="46" name="Text 44"/>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45"/>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$211</a:t>
            </a:r>
            <a:endParaRPr lang="en-US" sz="1400" dirty="0"/>
          </a:p>
        </p:txBody>
      </p:sp>
      <p:sp>
        <p:nvSpPr>
          <p:cNvPr id="48" name="Text 46"/>
          <p:cNvSpPr txBox="1"/>
          <p:nvPr/>
        </p:nvSpPr>
        <p:spPr>
          <a:xfrm>
            <a:off x="6632448" y="3704344"/>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−5.1%</a:t>
            </a:r>
            <a:endParaRPr lang="en-US" sz="1600" dirty="0"/>
          </a:p>
        </p:txBody>
      </p:sp>
      <p:sp>
        <p:nvSpPr>
          <p:cNvPr id="49" name="Text 47"/>
          <p:cNvSpPr txBox="1"/>
          <p:nvPr/>
        </p:nvSpPr>
        <p:spPr>
          <a:xfrm>
            <a:off x="6632448"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0" name="Text 48"/>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9"/>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a:t>
            </a:r>
            <a:endParaRPr lang="en-US" sz="1400" dirty="0"/>
          </a:p>
        </p:txBody>
      </p:sp>
      <p:sp>
        <p:nvSpPr>
          <p:cNvPr id="52" name="Text 50"/>
          <p:cNvSpPr txBox="1"/>
          <p:nvPr/>
        </p:nvSpPr>
        <p:spPr>
          <a:xfrm>
            <a:off x="6632448" y="4459639"/>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−4.6%</a:t>
            </a:r>
            <a:endParaRPr lang="en-US" sz="1600" dirty="0"/>
          </a:p>
        </p:txBody>
      </p:sp>
      <p:sp>
        <p:nvSpPr>
          <p:cNvPr id="53" name="Text 51"/>
          <p:cNvSpPr txBox="1"/>
          <p:nvPr/>
        </p:nvSpPr>
        <p:spPr>
          <a:xfrm>
            <a:off x="6632448"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54" name="Shape 52"/>
          <p:cNvSpPr/>
          <p:nvPr/>
        </p:nvSpPr>
        <p:spPr>
          <a:xfrm>
            <a:off x="4349496" y="5124298"/>
            <a:ext cx="3489960" cy="755294"/>
          </a:xfrm>
          <a:prstGeom prst="rect">
            <a:avLst/>
          </a:prstGeom>
          <a:solidFill>
            <a:srgbClr val="F7F7F7"/>
          </a:solidFill>
          <a:ln/>
        </p:spPr>
      </p:sp>
      <p:sp>
        <p:nvSpPr>
          <p:cNvPr id="55" name="Text 5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5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$266</a:t>
            </a:r>
            <a:endParaRPr lang="en-US" sz="1400" dirty="0"/>
          </a:p>
        </p:txBody>
      </p:sp>
      <p:sp>
        <p:nvSpPr>
          <p:cNvPr id="57" name="Text 55"/>
          <p:cNvSpPr txBox="1"/>
          <p:nvPr/>
        </p:nvSpPr>
        <p:spPr>
          <a:xfrm>
            <a:off x="6632448" y="5214933"/>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−4.5%</a:t>
            </a:r>
            <a:endParaRPr lang="en-US" sz="1600" dirty="0"/>
          </a:p>
        </p:txBody>
      </p:sp>
      <p:sp>
        <p:nvSpPr>
          <p:cNvPr id="58" name="Text 56"/>
          <p:cNvSpPr txBox="1"/>
          <p:nvPr/>
        </p:nvSpPr>
        <p:spPr>
          <a:xfrm>
            <a:off x="6632448"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59" name="Shape 57"/>
          <p:cNvSpPr/>
          <p:nvPr/>
        </p:nvSpPr>
        <p:spPr>
          <a:xfrm>
            <a:off x="8040624" y="1371600"/>
            <a:ext cx="3489960" cy="45720"/>
          </a:xfrm>
          <a:prstGeom prst="rect">
            <a:avLst/>
          </a:prstGeom>
          <a:solidFill>
            <a:srgbClr val="2587C5"/>
          </a:solidFill>
          <a:ln/>
        </p:spPr>
      </p:sp>
      <p:sp>
        <p:nvSpPr>
          <p:cNvPr id="6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Text 5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62" name="Shape 60"/>
          <p:cNvSpPr/>
          <p:nvPr/>
        </p:nvSpPr>
        <p:spPr>
          <a:xfrm>
            <a:off x="8040624" y="2103120"/>
            <a:ext cx="3489960" cy="755294"/>
          </a:xfrm>
          <a:prstGeom prst="rect">
            <a:avLst/>
          </a:prstGeom>
          <a:solidFill>
            <a:srgbClr val="F7F7F7"/>
          </a:solidFill>
          <a:ln/>
        </p:spPr>
      </p:sp>
      <p:sp>
        <p:nvSpPr>
          <p:cNvPr id="63" name="Text 6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6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a:t>
            </a:r>
            <a:endParaRPr lang="en-US" sz="1400" dirty="0"/>
          </a:p>
        </p:txBody>
      </p:sp>
      <p:sp>
        <p:nvSpPr>
          <p:cNvPr id="65" name="Text 63"/>
          <p:cNvSpPr txBox="1"/>
          <p:nvPr/>
        </p:nvSpPr>
        <p:spPr>
          <a:xfrm>
            <a:off x="10323576"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6" name="Text 64"/>
          <p:cNvSpPr txBox="1"/>
          <p:nvPr/>
        </p:nvSpPr>
        <p:spPr>
          <a:xfrm>
            <a:off x="10323576"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67" name="Text 65"/>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8" name="Text 66"/>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a:t>
            </a:r>
            <a:endParaRPr lang="en-US" sz="1400" dirty="0"/>
          </a:p>
        </p:txBody>
      </p:sp>
      <p:sp>
        <p:nvSpPr>
          <p:cNvPr id="69" name="Text 67"/>
          <p:cNvSpPr txBox="1"/>
          <p:nvPr/>
        </p:nvSpPr>
        <p:spPr>
          <a:xfrm>
            <a:off x="10323576"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70" name="Text 68"/>
          <p:cNvSpPr txBox="1"/>
          <p:nvPr/>
        </p:nvSpPr>
        <p:spPr>
          <a:xfrm>
            <a:off x="10323576"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71" name="Shape 69"/>
          <p:cNvSpPr/>
          <p:nvPr/>
        </p:nvSpPr>
        <p:spPr>
          <a:xfrm>
            <a:off x="8040624" y="3613709"/>
            <a:ext cx="3489960" cy="755294"/>
          </a:xfrm>
          <a:prstGeom prst="rect">
            <a:avLst/>
          </a:prstGeom>
          <a:solidFill>
            <a:srgbClr val="F7F7F7"/>
          </a:solidFill>
          <a:ln/>
        </p:spPr>
      </p:sp>
      <p:sp>
        <p:nvSpPr>
          <p:cNvPr id="72" name="Shape 70"/>
          <p:cNvSpPr/>
          <p:nvPr/>
        </p:nvSpPr>
        <p:spPr>
          <a:xfrm>
            <a:off x="11466576" y="3650285"/>
            <a:ext cx="64008" cy="682142"/>
          </a:xfrm>
          <a:prstGeom prst="rect">
            <a:avLst/>
          </a:prstGeom>
          <a:solidFill>
            <a:srgbClr val="12A566"/>
          </a:solidFill>
          <a:ln/>
        </p:spPr>
      </p:sp>
      <p:sp>
        <p:nvSpPr>
          <p:cNvPr id="73" name="Text 7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7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75" name="Text 73"/>
          <p:cNvSpPr txBox="1"/>
          <p:nvPr/>
        </p:nvSpPr>
        <p:spPr>
          <a:xfrm>
            <a:off x="10323576"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6" name="Text 74"/>
          <p:cNvSpPr txBox="1"/>
          <p:nvPr/>
        </p:nvSpPr>
        <p:spPr>
          <a:xfrm>
            <a:off x="10323576"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77" name="Text 7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7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$151</a:t>
            </a:r>
            <a:endParaRPr lang="en-US" sz="1400" dirty="0"/>
          </a:p>
        </p:txBody>
      </p:sp>
      <p:sp>
        <p:nvSpPr>
          <p:cNvPr id="79" name="Text 77"/>
          <p:cNvSpPr txBox="1"/>
          <p:nvPr/>
        </p:nvSpPr>
        <p:spPr>
          <a:xfrm>
            <a:off x="10323576"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80" name="Text 78"/>
          <p:cNvSpPr txBox="1"/>
          <p:nvPr/>
        </p:nvSpPr>
        <p:spPr>
          <a:xfrm>
            <a:off x="10323576"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81" name="Shape 79"/>
          <p:cNvSpPr/>
          <p:nvPr/>
        </p:nvSpPr>
        <p:spPr>
          <a:xfrm>
            <a:off x="8040624" y="5124298"/>
            <a:ext cx="3489960" cy="755294"/>
          </a:xfrm>
          <a:prstGeom prst="rect">
            <a:avLst/>
          </a:prstGeom>
          <a:solidFill>
            <a:srgbClr val="F7F7F7"/>
          </a:solidFill>
          <a:ln/>
        </p:spPr>
      </p:sp>
      <p:sp>
        <p:nvSpPr>
          <p:cNvPr id="82" name="Text 8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8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a:t>
            </a:r>
            <a:endParaRPr lang="en-US" sz="1400" dirty="0"/>
          </a:p>
        </p:txBody>
      </p:sp>
      <p:sp>
        <p:nvSpPr>
          <p:cNvPr id="84" name="Text 82"/>
          <p:cNvSpPr txBox="1"/>
          <p:nvPr/>
        </p:nvSpPr>
        <p:spPr>
          <a:xfrm>
            <a:off x="10323576"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85" name="Text 83"/>
          <p:cNvSpPr txBox="1"/>
          <p:nvPr/>
        </p:nvSpPr>
        <p:spPr>
          <a:xfrm>
            <a:off x="10323576"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86" name="Shape 84"/>
          <p:cNvSpPr/>
          <p:nvPr/>
        </p:nvSpPr>
        <p:spPr>
          <a:xfrm>
            <a:off x="457200" y="6126480"/>
            <a:ext cx="11274552" cy="615696"/>
          </a:xfrm>
          <a:prstGeom prst="rect">
            <a:avLst/>
          </a:prstGeom>
          <a:solidFill>
            <a:srgbClr val="EDF4FA"/>
          </a:solidFill>
          <a:ln/>
        </p:spPr>
      </p:sp>
      <p:sp>
        <p:nvSpPr>
          <p:cNvPr id="87" name="Text 8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Honda Spokane, Volvo and Lincoln what changed. Ask Kia LV, Subaru St George and Acura what got in the way. Ask VW St George, Audi Reno and Honda Spokane what they started this year.</a:t>
            </a:r>
            <a:endParaRPr lang="en-US" sz="1600" dirty="0"/>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Focus on CP labor dollars per RO and every other metric rises with it.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With additional labor sales come additional parts sales.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single best metric to measure a service advisor's performance.</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Written process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Follow it on every car: a multi-point inspection every time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menu</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the menu and its recommendations, consistently, every customer</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Reward advisors for CP labor sales and gross: what they control, and a true measure of their performance</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 and accountability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gets tracked gets improved: accountability through visibility</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$632</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654662"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64932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452099"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1" name="Shape 29"/>
          <p:cNvSpPr/>
          <p:nvPr/>
        </p:nvSpPr>
        <p:spPr>
          <a:xfrm>
            <a:off x="3008376" y="3143250"/>
            <a:ext cx="1139643"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899356"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9" name="Shape 37"/>
          <p:cNvSpPr/>
          <p:nvPr/>
        </p:nvSpPr>
        <p:spPr>
          <a:xfrm>
            <a:off x="3008376" y="3637026"/>
            <a:ext cx="82515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3" name="Shape 41"/>
          <p:cNvSpPr/>
          <p:nvPr/>
        </p:nvSpPr>
        <p:spPr>
          <a:xfrm>
            <a:off x="3008376" y="3883914"/>
            <a:ext cx="74030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71574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3705"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577968"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5118354"/>
            <a:ext cx="150338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6" name="Shape 64"/>
          <p:cNvSpPr/>
          <p:nvPr/>
        </p:nvSpPr>
        <p:spPr>
          <a:xfrm>
            <a:off x="3008376" y="5365242"/>
            <a:ext cx="141232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0" name="Shape 68"/>
          <p:cNvSpPr/>
          <p:nvPr/>
        </p:nvSpPr>
        <p:spPr>
          <a:xfrm>
            <a:off x="3008376" y="5612130"/>
            <a:ext cx="1353340"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4" name="Shape 72"/>
          <p:cNvSpPr/>
          <p:nvPr/>
        </p:nvSpPr>
        <p:spPr>
          <a:xfrm>
            <a:off x="3008376" y="5859018"/>
            <a:ext cx="1320726"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282619"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4" name="Shape 82"/>
          <p:cNvSpPr/>
          <p:nvPr/>
        </p:nvSpPr>
        <p:spPr>
          <a:xfrm>
            <a:off x="8558784" y="2155698"/>
            <a:ext cx="1272990"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8" name="Shape 86"/>
          <p:cNvSpPr/>
          <p:nvPr/>
        </p:nvSpPr>
        <p:spPr>
          <a:xfrm>
            <a:off x="8558784" y="2402586"/>
            <a:ext cx="1270673"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1227837"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6" name="Shape 94"/>
          <p:cNvSpPr/>
          <p:nvPr/>
        </p:nvSpPr>
        <p:spPr>
          <a:xfrm>
            <a:off x="8558784" y="2896362"/>
            <a:ext cx="119017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8558784" y="3143250"/>
            <a:ext cx="116536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5280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8" name="Shape 106"/>
          <p:cNvSpPr/>
          <p:nvPr/>
        </p:nvSpPr>
        <p:spPr>
          <a:xfrm>
            <a:off x="8558784" y="3637026"/>
            <a:ext cx="1012530"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2" name="Shape 110"/>
          <p:cNvSpPr/>
          <p:nvPr/>
        </p:nvSpPr>
        <p:spPr>
          <a:xfrm>
            <a:off x="8558784" y="3883914"/>
            <a:ext cx="101071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95064"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0" name="Shape 118"/>
          <p:cNvSpPr/>
          <p:nvPr/>
        </p:nvSpPr>
        <p:spPr>
          <a:xfrm>
            <a:off x="8558784" y="4377690"/>
            <a:ext cx="98091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66604"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558784" y="4871466"/>
            <a:ext cx="944704"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2" name="Shape 130"/>
          <p:cNvSpPr/>
          <p:nvPr/>
        </p:nvSpPr>
        <p:spPr>
          <a:xfrm>
            <a:off x="8558784" y="5118354"/>
            <a:ext cx="936986"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6" name="Shape 134"/>
          <p:cNvSpPr/>
          <p:nvPr/>
        </p:nvSpPr>
        <p:spPr>
          <a:xfrm>
            <a:off x="8558784" y="5365242"/>
            <a:ext cx="9069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85297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4" name="Shape 142"/>
          <p:cNvSpPr/>
          <p:nvPr/>
        </p:nvSpPr>
        <p:spPr>
          <a:xfrm>
            <a:off x="8558784" y="5859018"/>
            <a:ext cx="79426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77348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50" name="Shape 148"/>
          <p:cNvSpPr/>
          <p:nvPr/>
        </p:nvSpPr>
        <p:spPr>
          <a:xfrm>
            <a:off x="4123939" y="2093976"/>
            <a:ext cx="14630" cy="2221992"/>
          </a:xfrm>
          <a:prstGeom prst="rect">
            <a:avLst/>
          </a:prstGeom>
          <a:solidFill>
            <a:srgbClr val="0B2C4A"/>
          </a:solidFill>
          <a:ln/>
        </p:spPr>
      </p:sp>
      <p:sp>
        <p:nvSpPr>
          <p:cNvPr id="151" name="Shape 149"/>
          <p:cNvSpPr/>
          <p:nvPr/>
        </p:nvSpPr>
        <p:spPr>
          <a:xfrm>
            <a:off x="4123939" y="4562856"/>
            <a:ext cx="14630" cy="1728216"/>
          </a:xfrm>
          <a:prstGeom prst="rect">
            <a:avLst/>
          </a:prstGeom>
          <a:solidFill>
            <a:srgbClr val="0B2C4A"/>
          </a:solidFill>
          <a:ln/>
        </p:spPr>
      </p:sp>
      <p:sp>
        <p:nvSpPr>
          <p:cNvPr id="152" name="Shape 150"/>
          <p:cNvSpPr/>
          <p:nvPr/>
        </p:nvSpPr>
        <p:spPr>
          <a:xfrm>
            <a:off x="9674347"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+5.9%  ·  +$17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53784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+36.2%</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7" name="Shape 25"/>
          <p:cNvSpPr/>
          <p:nvPr/>
        </p:nvSpPr>
        <p:spPr>
          <a:xfrm>
            <a:off x="3579876" y="2629341"/>
            <a:ext cx="53715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2" name="Shape 30"/>
          <p:cNvSpPr/>
          <p:nvPr/>
        </p:nvSpPr>
        <p:spPr>
          <a:xfrm>
            <a:off x="3579876" y="2853100"/>
            <a:ext cx="43251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+29.1%</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579876" y="3076859"/>
            <a:ext cx="421457"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+28.3%</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3579876" y="3300618"/>
            <a:ext cx="37969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579876" y="3524377"/>
            <a:ext cx="361059"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2" name="Shape 50"/>
          <p:cNvSpPr/>
          <p:nvPr/>
        </p:nvSpPr>
        <p:spPr>
          <a:xfrm>
            <a:off x="3579876" y="3748136"/>
            <a:ext cx="330020"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+22.2%</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579876" y="3971895"/>
            <a:ext cx="251993"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579876" y="4195654"/>
            <a:ext cx="21026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+14.1%</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7" name="Shape 65"/>
          <p:cNvSpPr/>
          <p:nvPr/>
        </p:nvSpPr>
        <p:spPr>
          <a:xfrm>
            <a:off x="3579876" y="4419414"/>
            <a:ext cx="18764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2" name="Shape 70"/>
          <p:cNvSpPr/>
          <p:nvPr/>
        </p:nvSpPr>
        <p:spPr>
          <a:xfrm>
            <a:off x="3579876" y="4643173"/>
            <a:ext cx="183327"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579876" y="4866932"/>
            <a:ext cx="139903"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+9.4%</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2" name="Shape 80"/>
          <p:cNvSpPr/>
          <p:nvPr/>
        </p:nvSpPr>
        <p:spPr>
          <a:xfrm>
            <a:off x="3579876" y="5090691"/>
            <a:ext cx="13760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7" name="Shape 85"/>
          <p:cNvSpPr/>
          <p:nvPr/>
        </p:nvSpPr>
        <p:spPr>
          <a:xfrm>
            <a:off x="3579876" y="5314450"/>
            <a:ext cx="136628"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2" name="Shape 90"/>
          <p:cNvSpPr/>
          <p:nvPr/>
        </p:nvSpPr>
        <p:spPr>
          <a:xfrm>
            <a:off x="3579876" y="5538209"/>
            <a:ext cx="12643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+8.5%</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3579876" y="5761968"/>
            <a:ext cx="11884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2" name="Shape 100"/>
          <p:cNvSpPr/>
          <p:nvPr/>
        </p:nvSpPr>
        <p:spPr>
          <a:xfrm>
            <a:off x="9130284" y="2181823"/>
            <a:ext cx="111647"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+7.5%</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9393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2" name="Shape 110"/>
          <p:cNvSpPr/>
          <p:nvPr/>
        </p:nvSpPr>
        <p:spPr>
          <a:xfrm>
            <a:off x="9130284" y="2629341"/>
            <a:ext cx="67189"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130284" y="2853100"/>
            <a:ext cx="63361"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30284" y="3076859"/>
            <a:ext cx="45988"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7" name="Shape 125"/>
          <p:cNvSpPr/>
          <p:nvPr/>
        </p:nvSpPr>
        <p:spPr>
          <a:xfrm>
            <a:off x="9130284" y="3300618"/>
            <a:ext cx="38683"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2" name="Shape 130"/>
          <p:cNvSpPr/>
          <p:nvPr/>
        </p:nvSpPr>
        <p:spPr>
          <a:xfrm>
            <a:off x="9130284" y="3524377"/>
            <a:ext cx="36503"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7" name="Shape 135"/>
          <p:cNvSpPr/>
          <p:nvPr/>
        </p:nvSpPr>
        <p:spPr>
          <a:xfrm>
            <a:off x="9130284" y="3748136"/>
            <a:ext cx="21613"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2" name="Shape 140"/>
          <p:cNvSpPr/>
          <p:nvPr/>
        </p:nvSpPr>
        <p:spPr>
          <a:xfrm>
            <a:off x="9130284" y="3971895"/>
            <a:ext cx="16585"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7" name="Shape 145"/>
          <p:cNvSpPr/>
          <p:nvPr/>
        </p:nvSpPr>
        <p:spPr>
          <a:xfrm>
            <a:off x="9104961" y="4195654"/>
            <a:ext cx="25323"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2" name="Shape 150"/>
          <p:cNvSpPr/>
          <p:nvPr/>
        </p:nvSpPr>
        <p:spPr>
          <a:xfrm>
            <a:off x="9099325" y="4419414"/>
            <a:ext cx="30959"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7" name="Shape 155"/>
          <p:cNvSpPr/>
          <p:nvPr/>
        </p:nvSpPr>
        <p:spPr>
          <a:xfrm>
            <a:off x="9088763" y="4643173"/>
            <a:ext cx="41521"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62" name="Shape 160"/>
          <p:cNvSpPr/>
          <p:nvPr/>
        </p:nvSpPr>
        <p:spPr>
          <a:xfrm>
            <a:off x="9083990" y="4866932"/>
            <a:ext cx="46294"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7" name="Shape 165"/>
          <p:cNvSpPr/>
          <p:nvPr/>
        </p:nvSpPr>
        <p:spPr>
          <a:xfrm>
            <a:off x="9072494" y="5090691"/>
            <a:ext cx="57790"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2" name="Shape 170"/>
          <p:cNvSpPr/>
          <p:nvPr/>
        </p:nvSpPr>
        <p:spPr>
          <a:xfrm>
            <a:off x="9029300" y="5314450"/>
            <a:ext cx="100984"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7" name="Shape 175"/>
          <p:cNvSpPr/>
          <p:nvPr/>
        </p:nvSpPr>
        <p:spPr>
          <a:xfrm>
            <a:off x="8924331" y="5538209"/>
            <a:ext cx="205953"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−13.8%</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6F6EE"/>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grew CP labor per RO, led by Hyundai St George at +38.4% (+$66) to $238. 7 declined; VW St George fell most at −13.8%.</a:t>
            </a:r>
            <a:endParaRPr lang="en-US" sz="1600" dirty="0"/>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$238</a:t>
            </a:r>
            <a:endParaRPr lang="en-US" sz="1400" dirty="0"/>
          </a:p>
        </p:txBody>
      </p:sp>
      <p:sp>
        <p:nvSpPr>
          <p:cNvPr id="12" name="Text 10"/>
          <p:cNvSpPr txBox="1"/>
          <p:nvPr/>
        </p:nvSpPr>
        <p:spPr>
          <a:xfrm>
            <a:off x="2941320"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+38.4%</a:t>
            </a:r>
            <a:endParaRPr lang="en-US" sz="1600" dirty="0"/>
          </a:p>
        </p:txBody>
      </p:sp>
      <p:sp>
        <p:nvSpPr>
          <p:cNvPr id="13" name="Text 11"/>
          <p:cNvSpPr txBox="1"/>
          <p:nvPr/>
        </p:nvSpPr>
        <p:spPr>
          <a:xfrm>
            <a:off x="2941320"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$416</a:t>
            </a:r>
            <a:endParaRPr lang="en-US" sz="1400" dirty="0"/>
          </a:p>
        </p:txBody>
      </p:sp>
      <p:sp>
        <p:nvSpPr>
          <p:cNvPr id="16" name="Text 14"/>
          <p:cNvSpPr txBox="1"/>
          <p:nvPr/>
        </p:nvSpPr>
        <p:spPr>
          <a:xfrm>
            <a:off x="2941320"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17" name="Text 15"/>
          <p:cNvSpPr txBox="1"/>
          <p:nvPr/>
        </p:nvSpPr>
        <p:spPr>
          <a:xfrm>
            <a:off x="2941320"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8" name="Shape 16"/>
          <p:cNvSpPr/>
          <p:nvPr/>
        </p:nvSpPr>
        <p:spPr>
          <a:xfrm>
            <a:off x="658368" y="3613709"/>
            <a:ext cx="3489960" cy="755294"/>
          </a:xfrm>
          <a:prstGeom prst="rect">
            <a:avLst/>
          </a:prstGeom>
          <a:solidFill>
            <a:srgbClr val="F7F7F7"/>
          </a:solidFill>
          <a:ln/>
        </p:spPr>
      </p:sp>
      <p:sp>
        <p:nvSpPr>
          <p:cNvPr id="19" name="Text 17"/>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21" name="Text 19"/>
          <p:cNvSpPr txBox="1"/>
          <p:nvPr/>
        </p:nvSpPr>
        <p:spPr>
          <a:xfrm>
            <a:off x="2941320"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+36.1%</a:t>
            </a:r>
            <a:endParaRPr lang="en-US" sz="1600" dirty="0"/>
          </a:p>
        </p:txBody>
      </p:sp>
      <p:sp>
        <p:nvSpPr>
          <p:cNvPr id="22" name="Text 20"/>
          <p:cNvSpPr txBox="1"/>
          <p:nvPr/>
        </p:nvSpPr>
        <p:spPr>
          <a:xfrm>
            <a:off x="2941320"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23" name="Shape 21"/>
          <p:cNvSpPr/>
          <p:nvPr/>
        </p:nvSpPr>
        <p:spPr>
          <a:xfrm>
            <a:off x="4084320" y="4405579"/>
            <a:ext cx="64008" cy="682142"/>
          </a:xfrm>
          <a:prstGeom prst="rect">
            <a:avLst/>
          </a:prstGeom>
          <a:solidFill>
            <a:srgbClr val="12A566"/>
          </a:solidFill>
          <a:ln/>
        </p:spPr>
      </p:sp>
      <p:sp>
        <p:nvSpPr>
          <p:cNvPr id="24" name="Text 22"/>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$182</a:t>
            </a:r>
            <a:endParaRPr lang="en-US" sz="1400" dirty="0"/>
          </a:p>
        </p:txBody>
      </p:sp>
      <p:sp>
        <p:nvSpPr>
          <p:cNvPr id="26" name="Text 24"/>
          <p:cNvSpPr txBox="1"/>
          <p:nvPr/>
        </p:nvSpPr>
        <p:spPr>
          <a:xfrm>
            <a:off x="2941320"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27" name="Text 25"/>
          <p:cNvSpPr txBox="1"/>
          <p:nvPr/>
        </p:nvSpPr>
        <p:spPr>
          <a:xfrm>
            <a:off x="2941320"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28" name="Shape 26"/>
          <p:cNvSpPr/>
          <p:nvPr/>
        </p:nvSpPr>
        <p:spPr>
          <a:xfrm>
            <a:off x="658368" y="5124298"/>
            <a:ext cx="3489960" cy="755294"/>
          </a:xfrm>
          <a:prstGeom prst="rect">
            <a:avLst/>
          </a:prstGeom>
          <a:solidFill>
            <a:srgbClr val="F7F7F7"/>
          </a:solidFill>
          <a:ln/>
        </p:spPr>
      </p:sp>
      <p:sp>
        <p:nvSpPr>
          <p:cNvPr id="29" name="Text 27"/>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$371</a:t>
            </a:r>
            <a:endParaRPr lang="en-US" sz="1400" dirty="0"/>
          </a:p>
        </p:txBody>
      </p:sp>
      <p:sp>
        <p:nvSpPr>
          <p:cNvPr id="31" name="Text 29"/>
          <p:cNvSpPr txBox="1"/>
          <p:nvPr/>
        </p:nvSpPr>
        <p:spPr>
          <a:xfrm>
            <a:off x="2941320"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+28.3%</a:t>
            </a:r>
            <a:endParaRPr lang="en-US" sz="1600" dirty="0"/>
          </a:p>
        </p:txBody>
      </p:sp>
      <p:sp>
        <p:nvSpPr>
          <p:cNvPr id="32" name="Text 30"/>
          <p:cNvSpPr txBox="1"/>
          <p:nvPr/>
        </p:nvSpPr>
        <p:spPr>
          <a:xfrm>
            <a:off x="2941320"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6" name="Shape 34"/>
          <p:cNvSpPr/>
          <p:nvPr/>
        </p:nvSpPr>
        <p:spPr>
          <a:xfrm>
            <a:off x="4349496" y="2103120"/>
            <a:ext cx="3489960" cy="755294"/>
          </a:xfrm>
          <a:prstGeom prst="rect">
            <a:avLst/>
          </a:prstGeom>
          <a:solidFill>
            <a:srgbClr val="F7F7F7"/>
          </a:solidFill>
          <a:ln/>
        </p:spPr>
      </p:sp>
      <p:sp>
        <p:nvSpPr>
          <p:cNvPr id="37" name="Text 35"/>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6"/>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$231</a:t>
            </a:r>
            <a:endParaRPr lang="en-US" sz="1400" dirty="0"/>
          </a:p>
        </p:txBody>
      </p:sp>
      <p:sp>
        <p:nvSpPr>
          <p:cNvPr id="39" name="Text 37"/>
          <p:cNvSpPr txBox="1"/>
          <p:nvPr/>
        </p:nvSpPr>
        <p:spPr>
          <a:xfrm>
            <a:off x="6632448" y="2193755"/>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−13.8%</a:t>
            </a:r>
            <a:endParaRPr lang="en-US" sz="1600" dirty="0"/>
          </a:p>
        </p:txBody>
      </p:sp>
      <p:sp>
        <p:nvSpPr>
          <p:cNvPr id="40" name="Text 38"/>
          <p:cNvSpPr txBox="1"/>
          <p:nvPr/>
        </p:nvSpPr>
        <p:spPr>
          <a:xfrm>
            <a:off x="6632448"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−$37</a:t>
            </a:r>
            <a:endParaRPr lang="en-US" sz="1300" dirty="0"/>
          </a:p>
        </p:txBody>
      </p:sp>
      <p:sp>
        <p:nvSpPr>
          <p:cNvPr id="41" name="Text 39"/>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40"/>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$876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$817</a:t>
            </a:r>
            <a:endParaRPr lang="en-US" sz="1400" dirty="0"/>
          </a:p>
        </p:txBody>
      </p:sp>
      <p:sp>
        <p:nvSpPr>
          <p:cNvPr id="43" name="Text 41"/>
          <p:cNvSpPr txBox="1"/>
          <p:nvPr/>
        </p:nvSpPr>
        <p:spPr>
          <a:xfrm>
            <a:off x="6632448" y="2949050"/>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−6.8%</a:t>
            </a:r>
            <a:endParaRPr lang="en-US" sz="1600" dirty="0"/>
          </a:p>
        </p:txBody>
      </p:sp>
      <p:sp>
        <p:nvSpPr>
          <p:cNvPr id="44" name="Text 42"/>
          <p:cNvSpPr txBox="1"/>
          <p:nvPr/>
        </p:nvSpPr>
        <p:spPr>
          <a:xfrm>
            <a:off x="6632448"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45" name="Shape 43"/>
          <p:cNvSpPr/>
          <p:nvPr/>
        </p:nvSpPr>
        <p:spPr>
          <a:xfrm>
            <a:off x="4349496" y="3613709"/>
            <a:ext cx="3489960" cy="755294"/>
          </a:xfrm>
          <a:prstGeom prst="rect">
            <a:avLst/>
          </a:prstGeom>
          <a:solidFill>
            <a:srgbClr val="F7F7F7"/>
          </a:solidFill>
          <a:ln/>
        </p:spPr>
      </p:sp>
      <p:sp>
        <p:nvSpPr>
          <p:cNvPr id="46" name="Text 44"/>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45"/>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$234</a:t>
            </a:r>
            <a:endParaRPr lang="en-US" sz="1400" dirty="0"/>
          </a:p>
        </p:txBody>
      </p:sp>
      <p:sp>
        <p:nvSpPr>
          <p:cNvPr id="48" name="Text 46"/>
          <p:cNvSpPr txBox="1"/>
          <p:nvPr/>
        </p:nvSpPr>
        <p:spPr>
          <a:xfrm>
            <a:off x="6632448" y="3704344"/>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−3.9%</a:t>
            </a:r>
            <a:endParaRPr lang="en-US" sz="1600" dirty="0"/>
          </a:p>
        </p:txBody>
      </p:sp>
      <p:sp>
        <p:nvSpPr>
          <p:cNvPr id="49" name="Text 47"/>
          <p:cNvSpPr txBox="1"/>
          <p:nvPr/>
        </p:nvSpPr>
        <p:spPr>
          <a:xfrm>
            <a:off x="6632448"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0" name="Text 48"/>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9"/>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$271</a:t>
            </a:r>
            <a:endParaRPr lang="en-US" sz="1400" dirty="0"/>
          </a:p>
        </p:txBody>
      </p:sp>
      <p:sp>
        <p:nvSpPr>
          <p:cNvPr id="52" name="Text 50"/>
          <p:cNvSpPr txBox="1"/>
          <p:nvPr/>
        </p:nvSpPr>
        <p:spPr>
          <a:xfrm>
            <a:off x="6632448" y="4459639"/>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53" name="Text 51"/>
          <p:cNvSpPr txBox="1"/>
          <p:nvPr/>
        </p:nvSpPr>
        <p:spPr>
          <a:xfrm>
            <a:off x="6632448"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4" name="Shape 52"/>
          <p:cNvSpPr/>
          <p:nvPr/>
        </p:nvSpPr>
        <p:spPr>
          <a:xfrm>
            <a:off x="4349496" y="5124298"/>
            <a:ext cx="3489960" cy="755294"/>
          </a:xfrm>
          <a:prstGeom prst="rect">
            <a:avLst/>
          </a:prstGeom>
          <a:solidFill>
            <a:srgbClr val="F7F7F7"/>
          </a:solidFill>
          <a:ln/>
        </p:spPr>
      </p:sp>
      <p:sp>
        <p:nvSpPr>
          <p:cNvPr id="55" name="Text 5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5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a:t>
            </a:r>
            <a:endParaRPr lang="en-US" sz="1400" dirty="0"/>
          </a:p>
        </p:txBody>
      </p:sp>
      <p:sp>
        <p:nvSpPr>
          <p:cNvPr id="57" name="Text 55"/>
          <p:cNvSpPr txBox="1"/>
          <p:nvPr/>
        </p:nvSpPr>
        <p:spPr>
          <a:xfrm>
            <a:off x="6632448" y="5214933"/>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−2.8%</a:t>
            </a:r>
            <a:endParaRPr lang="en-US" sz="1600" dirty="0"/>
          </a:p>
        </p:txBody>
      </p:sp>
      <p:sp>
        <p:nvSpPr>
          <p:cNvPr id="58" name="Text 56"/>
          <p:cNvSpPr txBox="1"/>
          <p:nvPr/>
        </p:nvSpPr>
        <p:spPr>
          <a:xfrm>
            <a:off x="6632448"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59" name="Shape 57"/>
          <p:cNvSpPr/>
          <p:nvPr/>
        </p:nvSpPr>
        <p:spPr>
          <a:xfrm>
            <a:off x="8040624" y="1371600"/>
            <a:ext cx="3489960" cy="45720"/>
          </a:xfrm>
          <a:prstGeom prst="rect">
            <a:avLst/>
          </a:prstGeom>
          <a:solidFill>
            <a:srgbClr val="2587C5"/>
          </a:solidFill>
          <a:ln/>
        </p:spPr>
      </p:sp>
      <p:sp>
        <p:nvSpPr>
          <p:cNvPr id="6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Text 5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62" name="Shape 60"/>
          <p:cNvSpPr/>
          <p:nvPr/>
        </p:nvSpPr>
        <p:spPr>
          <a:xfrm>
            <a:off x="8040624" y="2103120"/>
            <a:ext cx="3489960" cy="755294"/>
          </a:xfrm>
          <a:prstGeom prst="rect">
            <a:avLst/>
          </a:prstGeom>
          <a:solidFill>
            <a:srgbClr val="F7F7F7"/>
          </a:solidFill>
          <a:ln/>
        </p:spPr>
      </p:sp>
      <p:sp>
        <p:nvSpPr>
          <p:cNvPr id="63" name="Text 6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6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a:t>
            </a:r>
            <a:endParaRPr lang="en-US" sz="1400" dirty="0"/>
          </a:p>
        </p:txBody>
      </p:sp>
      <p:sp>
        <p:nvSpPr>
          <p:cNvPr id="65" name="Text 63"/>
          <p:cNvSpPr txBox="1"/>
          <p:nvPr/>
        </p:nvSpPr>
        <p:spPr>
          <a:xfrm>
            <a:off x="10323576"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+21.8%</a:t>
            </a:r>
            <a:endParaRPr lang="en-US" sz="1600" dirty="0"/>
          </a:p>
        </p:txBody>
      </p:sp>
      <p:sp>
        <p:nvSpPr>
          <p:cNvPr id="66" name="Text 64"/>
          <p:cNvSpPr txBox="1"/>
          <p:nvPr/>
        </p:nvSpPr>
        <p:spPr>
          <a:xfrm>
            <a:off x="10323576"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7" name="Shape 65"/>
          <p:cNvSpPr/>
          <p:nvPr/>
        </p:nvSpPr>
        <p:spPr>
          <a:xfrm>
            <a:off x="11466576" y="2894990"/>
            <a:ext cx="64008" cy="682142"/>
          </a:xfrm>
          <a:prstGeom prst="rect">
            <a:avLst/>
          </a:prstGeom>
          <a:solidFill>
            <a:srgbClr val="12A566"/>
          </a:solidFill>
          <a:ln/>
        </p:spPr>
      </p:sp>
      <p:sp>
        <p:nvSpPr>
          <p:cNvPr id="68" name="Text 6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a:t>
            </a:r>
            <a:endParaRPr lang="en-US" sz="1400" dirty="0"/>
          </a:p>
        </p:txBody>
      </p:sp>
      <p:sp>
        <p:nvSpPr>
          <p:cNvPr id="70" name="Text 68"/>
          <p:cNvSpPr txBox="1"/>
          <p:nvPr/>
        </p:nvSpPr>
        <p:spPr>
          <a:xfrm>
            <a:off x="10323576"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+17.4%</a:t>
            </a:r>
            <a:endParaRPr lang="en-US" sz="1600" dirty="0"/>
          </a:p>
        </p:txBody>
      </p:sp>
      <p:sp>
        <p:nvSpPr>
          <p:cNvPr id="71" name="Text 69"/>
          <p:cNvSpPr txBox="1"/>
          <p:nvPr/>
        </p:nvSpPr>
        <p:spPr>
          <a:xfrm>
            <a:off x="10323576"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2" name="Shape 70"/>
          <p:cNvSpPr/>
          <p:nvPr/>
        </p:nvSpPr>
        <p:spPr>
          <a:xfrm>
            <a:off x="8040624" y="3613709"/>
            <a:ext cx="3489960" cy="755294"/>
          </a:xfrm>
          <a:prstGeom prst="rect">
            <a:avLst/>
          </a:prstGeom>
          <a:solidFill>
            <a:srgbClr val="F7F7F7"/>
          </a:solidFill>
          <a:ln/>
        </p:spPr>
      </p:sp>
      <p:sp>
        <p:nvSpPr>
          <p:cNvPr id="73" name="Text 7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7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$240</a:t>
            </a:r>
            <a:endParaRPr lang="en-US" sz="1400" dirty="0"/>
          </a:p>
        </p:txBody>
      </p:sp>
      <p:sp>
        <p:nvSpPr>
          <p:cNvPr id="75" name="Text 73"/>
          <p:cNvSpPr txBox="1"/>
          <p:nvPr/>
        </p:nvSpPr>
        <p:spPr>
          <a:xfrm>
            <a:off x="10323576"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+16.3%</a:t>
            </a:r>
            <a:endParaRPr lang="en-US" sz="1600" dirty="0"/>
          </a:p>
        </p:txBody>
      </p:sp>
      <p:sp>
        <p:nvSpPr>
          <p:cNvPr id="76" name="Text 74"/>
          <p:cNvSpPr txBox="1"/>
          <p:nvPr/>
        </p:nvSpPr>
        <p:spPr>
          <a:xfrm>
            <a:off x="10323576"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+$34</a:t>
            </a:r>
            <a:endParaRPr lang="en-US" sz="1300" dirty="0"/>
          </a:p>
        </p:txBody>
      </p:sp>
      <p:sp>
        <p:nvSpPr>
          <p:cNvPr id="77" name="Text 7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7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a:t>
            </a:r>
            <a:endParaRPr lang="en-US" sz="1400" dirty="0"/>
          </a:p>
        </p:txBody>
      </p:sp>
      <p:sp>
        <p:nvSpPr>
          <p:cNvPr id="79" name="Text 77"/>
          <p:cNvSpPr txBox="1"/>
          <p:nvPr/>
        </p:nvSpPr>
        <p:spPr>
          <a:xfrm>
            <a:off x="10323576"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+12.9%</a:t>
            </a:r>
            <a:endParaRPr lang="en-US" sz="1600" dirty="0"/>
          </a:p>
        </p:txBody>
      </p:sp>
      <p:sp>
        <p:nvSpPr>
          <p:cNvPr id="80" name="Text 78"/>
          <p:cNvSpPr txBox="1"/>
          <p:nvPr/>
        </p:nvSpPr>
        <p:spPr>
          <a:xfrm>
            <a:off x="10323576"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81" name="Shape 79"/>
          <p:cNvSpPr/>
          <p:nvPr/>
        </p:nvSpPr>
        <p:spPr>
          <a:xfrm>
            <a:off x="8040624" y="5124298"/>
            <a:ext cx="3489960" cy="755294"/>
          </a:xfrm>
          <a:prstGeom prst="rect">
            <a:avLst/>
          </a:prstGeom>
          <a:solidFill>
            <a:srgbClr val="F7F7F7"/>
          </a:solidFill>
          <a:ln/>
        </p:spPr>
      </p:sp>
      <p:sp>
        <p:nvSpPr>
          <p:cNvPr id="82" name="Text 8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8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$666</a:t>
            </a:r>
            <a:endParaRPr lang="en-US" sz="1400" dirty="0"/>
          </a:p>
        </p:txBody>
      </p:sp>
      <p:sp>
        <p:nvSpPr>
          <p:cNvPr id="84" name="Text 82"/>
          <p:cNvSpPr txBox="1"/>
          <p:nvPr/>
        </p:nvSpPr>
        <p:spPr>
          <a:xfrm>
            <a:off x="10323576"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85" name="Text 83"/>
          <p:cNvSpPr txBox="1"/>
          <p:nvPr/>
        </p:nvSpPr>
        <p:spPr>
          <a:xfrm>
            <a:off x="10323576"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86" name="Shape 84"/>
          <p:cNvSpPr/>
          <p:nvPr/>
        </p:nvSpPr>
        <p:spPr>
          <a:xfrm>
            <a:off x="457200" y="6126480"/>
            <a:ext cx="11274552" cy="615696"/>
          </a:xfrm>
          <a:prstGeom prst="rect">
            <a:avLst/>
          </a:prstGeom>
          <a:solidFill>
            <a:srgbClr val="EDF4FA"/>
          </a:solidFill>
          <a:ln/>
        </p:spPr>
      </p:sp>
      <p:sp>
        <p:nvSpPr>
          <p:cNvPr id="87" name="Text 8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Lincoln and Subaru Prescott what changed. Ask VW St George, LR Reno and Kia LV what got in the way. Ask Mazda, Kia St George and Hyundai Prescott what they started this year.</a:t>
            </a:r>
            <a:endParaRPr lang="en-US" sz="1600" dirty="0"/>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ONE HOUR SOLD</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 1 hour at  </a:t>
            </a:r>
            <a:pPr algn="ctr" indent="0" marL="0">
              <a:buNone/>
            </a:pPr>
            <a:r>
              <a:rPr lang="en-US" sz="1400" b="1" dirty="0">
                <a:solidFill>
                  <a:srgbClr val="0B2C4A"/>
                </a:solidFill>
                <a:latin typeface="Inter" pitchFamily="34" charset="0"/>
                <a:ea typeface="Inter" pitchFamily="34" charset="-122"/>
                <a:cs typeface="Inter" pitchFamily="34" charset="-120"/>
              </a:rPr>
              <a:t>$162</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Pay the tech  </a:t>
            </a:r>
            <a:pPr algn="ctr" indent="0" marL="0">
              <a:buNone/>
            </a:pPr>
            <a:r>
              <a:rPr lang="en-US" sz="1400" b="1" dirty="0">
                <a:solidFill>
                  <a:srgbClr val="0B2C4A"/>
                </a:solidFill>
                <a:latin typeface="Inter" pitchFamily="34" charset="0"/>
                <a:ea typeface="Inter" pitchFamily="34" charset="-122"/>
                <a:cs typeface="Inter" pitchFamily="34" charset="-120"/>
              </a:rPr>
              <a:t>$31</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We keep  </a:t>
            </a:r>
            <a:pPr algn="ctr" indent="0" marL="0">
              <a:buNone/>
            </a:pPr>
            <a:r>
              <a:rPr lang="en-US" sz="1400" b="1" dirty="0">
                <a:solidFill>
                  <a:srgbClr val="0B2C4A"/>
                </a:solidFill>
                <a:latin typeface="Inter" pitchFamily="34" charset="0"/>
                <a:ea typeface="Inter" pitchFamily="34" charset="-122"/>
                <a:cs typeface="Inter" pitchFamily="34" charset="-120"/>
              </a:rPr>
              <a:t>$131</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$131 ÷ $162  </a:t>
            </a:r>
            <a:pPr algn="ctr" indent="0" marL="0">
              <a:buNone/>
            </a:pPr>
            <a:r>
              <a:rPr lang="en-US" sz="1400" b="1" dirty="0">
                <a:solidFill>
                  <a:srgbClr val="0B2C4A"/>
                </a:solidFill>
                <a:latin typeface="Inter" pitchFamily="34" charset="0"/>
                <a:ea typeface="Inter" pitchFamily="34" charset="-122"/>
                <a:cs typeface="Inter" pitchFamily="34" charset="-120"/>
              </a:rPr>
              <a:t>81%</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target range is 78% to 80%: not too high, not too low. Hold it by matching the tech to the work, not by squeezing tech pay.</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our labor price is too low for what we pay the tech, or tech cost is too high for what we charge.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which can cost us technicians and hurt retention.</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4" name="Shape 22"/>
          <p:cNvSpPr/>
          <p:nvPr/>
        </p:nvSpPr>
        <p:spPr>
          <a:xfrm>
            <a:off x="7309104" y="3410712"/>
            <a:ext cx="45720" cy="1133856"/>
          </a:xfrm>
          <a:prstGeom prst="rect">
            <a:avLst/>
          </a:prstGeom>
          <a:solidFill>
            <a:srgbClr val="2587C5"/>
          </a:solidFill>
          <a:ln/>
        </p:spPr>
      </p:sp>
      <p:sp>
        <p:nvSpPr>
          <p:cNvPr id="25" name="Text 23"/>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6" name="Shape 24"/>
          <p:cNvSpPr/>
          <p:nvPr/>
        </p:nvSpPr>
        <p:spPr>
          <a:xfrm>
            <a:off x="9479280" y="3410712"/>
            <a:ext cx="45720" cy="1133856"/>
          </a:xfrm>
          <a:prstGeom prst="rect">
            <a:avLst/>
          </a:prstGeom>
          <a:solidFill>
            <a:srgbClr val="2587C5"/>
          </a:solidFill>
          <a:ln/>
        </p:spPr>
      </p:sp>
      <p:sp>
        <p:nvSpPr>
          <p:cNvPr id="27" name="Text 25"/>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28" name="Shape 26"/>
          <p:cNvSpPr/>
          <p:nvPr/>
        </p:nvSpPr>
        <p:spPr>
          <a:xfrm>
            <a:off x="5138928" y="4654296"/>
            <a:ext cx="45720" cy="1133856"/>
          </a:xfrm>
          <a:prstGeom prst="rect">
            <a:avLst/>
          </a:prstGeom>
          <a:solidFill>
            <a:srgbClr val="2587C5"/>
          </a:solidFill>
          <a:ln/>
        </p:spPr>
      </p:sp>
      <p:sp>
        <p:nvSpPr>
          <p:cNvPr id="29" name="Text 27"/>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Type of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runs a lower margin than repair at full door rate</a:t>
            </a:r>
            <a:endParaRPr lang="en-US" sz="1400" dirty="0"/>
          </a:p>
        </p:txBody>
      </p:sp>
      <p:sp>
        <p:nvSpPr>
          <p:cNvPr id="30" name="Shape 28"/>
          <p:cNvSpPr/>
          <p:nvPr/>
        </p:nvSpPr>
        <p:spPr>
          <a:xfrm>
            <a:off x="7309104" y="4654296"/>
            <a:ext cx="45720" cy="1133856"/>
          </a:xfrm>
          <a:prstGeom prst="rect">
            <a:avLst/>
          </a:prstGeom>
          <a:solidFill>
            <a:srgbClr val="2587C5"/>
          </a:solidFill>
          <a:ln/>
        </p:spPr>
      </p:sp>
      <p:sp>
        <p:nvSpPr>
          <p:cNvPr id="31" name="Text 29"/>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Low-rate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Internal detail and other low-dollar-per-hour work pull the margin down</a:t>
            </a:r>
            <a:endParaRPr lang="en-US" sz="1400" dirty="0"/>
          </a:p>
        </p:txBody>
      </p:sp>
      <p:sp>
        <p:nvSpPr>
          <p:cNvPr id="32" name="Shape 30"/>
          <p:cNvSpPr/>
          <p:nvPr/>
        </p:nvSpPr>
        <p:spPr>
          <a:xfrm>
            <a:off x="9479280" y="4654296"/>
            <a:ext cx="45720" cy="1133856"/>
          </a:xfrm>
          <a:prstGeom prst="rect">
            <a:avLst/>
          </a:prstGeom>
          <a:solidFill>
            <a:srgbClr val="2587C5"/>
          </a:solidFill>
          <a:ln/>
        </p:spPr>
      </p:sp>
      <p:sp>
        <p:nvSpPr>
          <p:cNvPr id="33" name="Text 31"/>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it and keep controls in place</a:t>
            </a:r>
            <a:endParaRPr lang="en-US" sz="1400" dirty="0"/>
          </a:p>
        </p:txBody>
      </p:sp>
      <p:sp>
        <p:nvSpPr>
          <p:cNvPr id="34" name="Shape 32"/>
          <p:cNvSpPr/>
          <p:nvPr/>
        </p:nvSpPr>
        <p:spPr>
          <a:xfrm>
            <a:off x="457200" y="6126480"/>
            <a:ext cx="11274552" cy="371856"/>
          </a:xfrm>
          <a:prstGeom prst="rect">
            <a:avLst/>
          </a:prstGeom>
          <a:solidFill>
            <a:srgbClr val="EDF4FA"/>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 range.</a:t>
            </a:r>
            <a:endParaRPr lang="en-US" sz="1600" dirty="0"/>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graphicFrame>
        <p:nvGraphicFramePr>
          <p:cNvPr id="23" name="Chart 6" descr=""/>
          <p:cNvGraphicFramePr/>
          <p:nvPr/>
        </p:nvGraphicFramePr>
        <p:xfrm>
          <a:off x="621792" y="3218688"/>
          <a:ext cx="10945368" cy="2679192"/>
        </p:xfrm>
        <a:graphic>
          <a:graphicData uri="http://schemas.openxmlformats.org/drawingml/2006/chart">
            <c:chart xmlns:c="http://schemas.openxmlformats.org/drawingml/2006/chart" r:id="rId8"/>
          </a:graphicData>
        </a:graphic>
      </p:graphicFrame>
      <p:graphicFrame>
        <p:nvGraphicFramePr>
          <p:cNvPr id="24" name="Chart 7" descr=""/>
          <p:cNvGraphicFramePr/>
          <p:nvPr/>
        </p:nvGraphicFramePr>
        <p:xfrm>
          <a:off x="621792" y="3218688"/>
          <a:ext cx="10945368" cy="2679192"/>
        </p:xfrm>
        <a:graphic>
          <a:graphicData uri="http://schemas.openxmlformats.org/drawingml/2006/chart">
            <c:chart xmlns:c="http://schemas.openxmlformats.org/drawingml/2006/chart" r:id="rId9"/>
          </a:graphicData>
        </a:graphic>
      </p:graphicFrame>
      <p:sp>
        <p:nvSpPr>
          <p:cNvPr id="25" name="Shape 15"/>
          <p:cNvSpPr/>
          <p:nvPr/>
        </p:nvSpPr>
        <p:spPr>
          <a:xfrm>
            <a:off x="3762756" y="3049524"/>
            <a:ext cx="310896" cy="45720"/>
          </a:xfrm>
          <a:prstGeom prst="rect">
            <a:avLst/>
          </a:prstGeom>
          <a:solidFill>
            <a:srgbClr val="9AA3AD"/>
          </a:solidFill>
          <a:ln/>
        </p:spPr>
      </p:sp>
      <p:sp>
        <p:nvSpPr>
          <p:cNvPr id="26" name="Shape 16"/>
          <p:cNvSpPr/>
          <p:nvPr/>
        </p:nvSpPr>
        <p:spPr>
          <a:xfrm>
            <a:off x="3863340" y="3017520"/>
            <a:ext cx="109728" cy="109728"/>
          </a:xfrm>
          <a:prstGeom prst="ellipse">
            <a:avLst/>
          </a:prstGeom>
          <a:solidFill>
            <a:srgbClr val="9AA3AD"/>
          </a:solidFill>
          <a:ln/>
        </p:spPr>
      </p:sp>
      <p:sp>
        <p:nvSpPr>
          <p:cNvPr id="27"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8" name="Shape 18"/>
          <p:cNvSpPr/>
          <p:nvPr/>
        </p:nvSpPr>
        <p:spPr>
          <a:xfrm>
            <a:off x="4997196" y="3049524"/>
            <a:ext cx="310896" cy="45720"/>
          </a:xfrm>
          <a:prstGeom prst="rect">
            <a:avLst/>
          </a:prstGeom>
          <a:solidFill>
            <a:srgbClr val="2587C5"/>
          </a:solidFill>
          <a:ln/>
        </p:spPr>
      </p:sp>
      <p:sp>
        <p:nvSpPr>
          <p:cNvPr id="29" name="Shape 19"/>
          <p:cNvSpPr/>
          <p:nvPr/>
        </p:nvSpPr>
        <p:spPr>
          <a:xfrm>
            <a:off x="5097780" y="3017520"/>
            <a:ext cx="109728" cy="109728"/>
          </a:xfrm>
          <a:prstGeom prst="ellipse">
            <a:avLst/>
          </a:prstGeom>
          <a:solidFill>
            <a:srgbClr val="2587C5"/>
          </a:solidFill>
          <a:ln/>
        </p:spPr>
      </p:sp>
      <p:sp>
        <p:nvSpPr>
          <p:cNvPr id="30"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31" name="Shape 21"/>
          <p:cNvSpPr/>
          <p:nvPr/>
        </p:nvSpPr>
        <p:spPr>
          <a:xfrm>
            <a:off x="6231636" y="3049524"/>
            <a:ext cx="73152" cy="36576"/>
          </a:xfrm>
          <a:prstGeom prst="rect">
            <a:avLst/>
          </a:prstGeom>
          <a:solidFill>
            <a:srgbClr val="595959"/>
          </a:solidFill>
          <a:ln/>
        </p:spPr>
      </p:sp>
      <p:sp>
        <p:nvSpPr>
          <p:cNvPr id="32" name="Shape 22"/>
          <p:cNvSpPr/>
          <p:nvPr/>
        </p:nvSpPr>
        <p:spPr>
          <a:xfrm>
            <a:off x="6350508" y="3049524"/>
            <a:ext cx="73152" cy="36576"/>
          </a:xfrm>
          <a:prstGeom prst="rect">
            <a:avLst/>
          </a:prstGeom>
          <a:solidFill>
            <a:srgbClr val="595959"/>
          </a:solidFill>
          <a:ln/>
        </p:spPr>
      </p:sp>
      <p:sp>
        <p:nvSpPr>
          <p:cNvPr id="33" name="Shape 23"/>
          <p:cNvSpPr/>
          <p:nvPr/>
        </p:nvSpPr>
        <p:spPr>
          <a:xfrm>
            <a:off x="6469380" y="3049524"/>
            <a:ext cx="73152" cy="36576"/>
          </a:xfrm>
          <a:prstGeom prst="rect">
            <a:avLst/>
          </a:prstGeom>
          <a:solidFill>
            <a:srgbClr val="595959"/>
          </a:solidFill>
          <a:ln/>
        </p:spPr>
      </p:sp>
      <p:sp>
        <p:nvSpPr>
          <p:cNvPr id="34"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Target range 78–80%</a:t>
            </a:r>
            <a:endParaRPr lang="en-US" sz="1400" dirty="0"/>
          </a:p>
        </p:txBody>
      </p:sp>
      <p:sp>
        <p:nvSpPr>
          <p:cNvPr id="35" name="Shape 25"/>
          <p:cNvSpPr/>
          <p:nvPr/>
        </p:nvSpPr>
        <p:spPr>
          <a:xfrm>
            <a:off x="457200" y="6126480"/>
            <a:ext cx="11274552" cy="371856"/>
          </a:xfrm>
          <a:prstGeom prst="rect">
            <a:avLst/>
          </a:prstGeom>
          <a:solidFill>
            <a:srgbClr val="FBEBEA"/>
          </a:solidFill>
          <a:ln/>
        </p:spPr>
      </p:sp>
      <p:sp>
        <p:nvSpPr>
          <p:cNvPr id="36"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The target range is 78–80%.</a:t>
            </a:r>
            <a:endParaRPr lang="en-US" sz="1600" dirty="0"/>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DF4FA"/>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13 of 33 stores at or above the 80.8% group, led by Volvo at 88.6%. Hyundai Prescott is lowest at 67.7%.</a:t>
            </a:r>
            <a:endParaRPr lang="en-US" sz="1500" dirty="0"/>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917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696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4133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167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1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154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872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18079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536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263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1772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396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721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71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520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563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7" name="Shape 75"/>
          <p:cNvSpPr/>
          <p:nvPr/>
        </p:nvSpPr>
        <p:spPr>
          <a:xfrm>
            <a:off x="3785616" y="5750188"/>
            <a:ext cx="3293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2918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5" name="Shape 83"/>
          <p:cNvSpPr/>
          <p:nvPr/>
        </p:nvSpPr>
        <p:spPr>
          <a:xfrm>
            <a:off x="9336024" y="2151755"/>
            <a:ext cx="2849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74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297900" y="2631546"/>
            <a:ext cx="38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84469" y="2871442"/>
            <a:ext cx="51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66787" y="3111337"/>
            <a:ext cx="69237"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18285" y="3351233"/>
            <a:ext cx="11773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6624" y="3591128"/>
            <a:ext cx="15940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4906" y="3831024"/>
            <a:ext cx="21111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0348" y="4070920"/>
            <a:ext cx="21567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2792" y="4310815"/>
            <a:ext cx="22323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036343" y="4550711"/>
            <a:ext cx="29968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3651" y="4790606"/>
            <a:ext cx="3023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896902" y="5030502"/>
            <a:ext cx="43912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4430" y="5270397"/>
            <a:ext cx="701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led by Toyota Prescott at +4.6 pts to 78.5%. 13 declined; Hyundai Prescott fell most at −5.2 pts.</a:t>
            </a:r>
            <a:endParaRPr lang="en-US" sz="1600" dirty="0"/>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78.5%</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Shape 15"/>
          <p:cNvSpPr/>
          <p:nvPr/>
        </p:nvSpPr>
        <p:spPr>
          <a:xfrm>
            <a:off x="4084320" y="3650285"/>
            <a:ext cx="64008" cy="682142"/>
          </a:xfrm>
          <a:prstGeom prst="rect">
            <a:avLst/>
          </a:prstGeom>
          <a:solidFill>
            <a:srgbClr val="12A566"/>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79.4%</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83.2%</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Shape 23"/>
          <p:cNvSpPr/>
          <p:nvPr/>
        </p:nvSpPr>
        <p:spPr>
          <a:xfrm>
            <a:off x="4084320" y="5160874"/>
            <a:ext cx="64008" cy="682142"/>
          </a:xfrm>
          <a:prstGeom prst="rect">
            <a:avLst/>
          </a:prstGeom>
          <a:solidFill>
            <a:srgbClr val="12A566"/>
          </a:solidFill>
          <a:ln/>
        </p:spPr>
      </p:sp>
      <p:sp>
        <p:nvSpPr>
          <p:cNvPr id="26" name="Text 24"/>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79.3%</a:t>
            </a:r>
            <a:endParaRPr lang="en-US" sz="1400" dirty="0"/>
          </a:p>
        </p:txBody>
      </p:sp>
      <p:sp>
        <p:nvSpPr>
          <p:cNvPr id="28" name="Text 26"/>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755294"/>
          </a:xfrm>
          <a:prstGeom prst="rect">
            <a:avLst/>
          </a:prstGeom>
          <a:solidFill>
            <a:srgbClr val="F7F7F7"/>
          </a:solidFill>
          <a:ln/>
        </p:spPr>
      </p:sp>
      <p:sp>
        <p:nvSpPr>
          <p:cNvPr id="33" name="Text 31"/>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67.7%</a:t>
            </a:r>
            <a:endParaRPr lang="en-US" sz="1400" dirty="0"/>
          </a:p>
        </p:txBody>
      </p:sp>
      <p:sp>
        <p:nvSpPr>
          <p:cNvPr id="35" name="Text 33"/>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36" name="Text 34"/>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72.2%</a:t>
            </a:r>
            <a:endParaRPr lang="en-US" sz="1400" dirty="0"/>
          </a:p>
        </p:txBody>
      </p:sp>
      <p:sp>
        <p:nvSpPr>
          <p:cNvPr id="38" name="Text 36"/>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−4.7 pts</a:t>
            </a:r>
            <a:endParaRPr lang="en-US" sz="1600" dirty="0"/>
          </a:p>
        </p:txBody>
      </p:sp>
      <p:sp>
        <p:nvSpPr>
          <p:cNvPr id="39" name="Shape 37"/>
          <p:cNvSpPr/>
          <p:nvPr/>
        </p:nvSpPr>
        <p:spPr>
          <a:xfrm>
            <a:off x="4349496" y="3613709"/>
            <a:ext cx="3489960" cy="755294"/>
          </a:xfrm>
          <a:prstGeom prst="rect">
            <a:avLst/>
          </a:prstGeom>
          <a:solidFill>
            <a:srgbClr val="F7F7F7"/>
          </a:solidFill>
          <a:ln/>
        </p:spPr>
      </p:sp>
      <p:sp>
        <p:nvSpPr>
          <p:cNvPr id="40" name="Text 38"/>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a:t>
            </a:r>
            <a:endParaRPr lang="en-US" sz="1400" dirty="0"/>
          </a:p>
        </p:txBody>
      </p:sp>
      <p:sp>
        <p:nvSpPr>
          <p:cNvPr id="42" name="Text 40"/>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43" name="Text 41"/>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73.9%</a:t>
            </a:r>
            <a:endParaRPr lang="en-US" sz="1400" dirty="0"/>
          </a:p>
        </p:txBody>
      </p:sp>
      <p:sp>
        <p:nvSpPr>
          <p:cNvPr id="45" name="Text 43"/>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46" name="Shape 44"/>
          <p:cNvSpPr/>
          <p:nvPr/>
        </p:nvSpPr>
        <p:spPr>
          <a:xfrm>
            <a:off x="4349496" y="5124298"/>
            <a:ext cx="3489960" cy="755294"/>
          </a:xfrm>
          <a:prstGeom prst="rect">
            <a:avLst/>
          </a:prstGeom>
          <a:solidFill>
            <a:srgbClr val="F7F7F7"/>
          </a:solidFill>
          <a:ln/>
        </p:spPr>
      </p:sp>
      <p:sp>
        <p:nvSpPr>
          <p:cNvPr id="47" name="Text 45"/>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82.9%</a:t>
            </a:r>
            <a:endParaRPr lang="en-US" sz="1400" dirty="0"/>
          </a:p>
        </p:txBody>
      </p:sp>
      <p:sp>
        <p:nvSpPr>
          <p:cNvPr id="49" name="Text 47"/>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755294"/>
          </a:xfrm>
          <a:prstGeom prst="rect">
            <a:avLst/>
          </a:prstGeom>
          <a:solidFill>
            <a:srgbClr val="F7F7F7"/>
          </a:solidFill>
          <a:ln/>
        </p:spPr>
      </p:sp>
      <p:sp>
        <p:nvSpPr>
          <p:cNvPr id="54" name="Text 52"/>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81.0%</a:t>
            </a:r>
            <a:endParaRPr lang="en-US" sz="1400" dirty="0"/>
          </a:p>
        </p:txBody>
      </p:sp>
      <p:sp>
        <p:nvSpPr>
          <p:cNvPr id="56" name="Text 54"/>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57" name="Shape 55"/>
          <p:cNvSpPr/>
          <p:nvPr/>
        </p:nvSpPr>
        <p:spPr>
          <a:xfrm>
            <a:off x="11466576" y="2894990"/>
            <a:ext cx="64008" cy="682142"/>
          </a:xfrm>
          <a:prstGeom prst="rect">
            <a:avLst/>
          </a:prstGeom>
          <a:solidFill>
            <a:srgbClr val="12A566"/>
          </a:solidFill>
          <a:ln/>
        </p:spPr>
      </p:sp>
      <p:sp>
        <p:nvSpPr>
          <p:cNvPr id="58" name="Text 5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80.9%</a:t>
            </a:r>
            <a:endParaRPr lang="en-US" sz="1400" dirty="0"/>
          </a:p>
        </p:txBody>
      </p:sp>
      <p:sp>
        <p:nvSpPr>
          <p:cNvPr id="60" name="Text 58"/>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1" name="Shape 59"/>
          <p:cNvSpPr/>
          <p:nvPr/>
        </p:nvSpPr>
        <p:spPr>
          <a:xfrm>
            <a:off x="8040624" y="3613709"/>
            <a:ext cx="3489960" cy="755294"/>
          </a:xfrm>
          <a:prstGeom prst="rect">
            <a:avLst/>
          </a:prstGeom>
          <a:solidFill>
            <a:srgbClr val="F7F7F7"/>
          </a:solidFill>
          <a:ln/>
        </p:spPr>
      </p:sp>
      <p:sp>
        <p:nvSpPr>
          <p:cNvPr id="62" name="Text 60"/>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80.5%</a:t>
            </a:r>
            <a:endParaRPr lang="en-US" sz="1400" dirty="0"/>
          </a:p>
        </p:txBody>
      </p:sp>
      <p:sp>
        <p:nvSpPr>
          <p:cNvPr id="64" name="Text 62"/>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65" name="Shape 63"/>
          <p:cNvSpPr/>
          <p:nvPr/>
        </p:nvSpPr>
        <p:spPr>
          <a:xfrm>
            <a:off x="11466576" y="4405579"/>
            <a:ext cx="64008" cy="682142"/>
          </a:xfrm>
          <a:prstGeom prst="rect">
            <a:avLst/>
          </a:prstGeom>
          <a:solidFill>
            <a:srgbClr val="12A566"/>
          </a:solidFill>
          <a:ln/>
        </p:spPr>
      </p:sp>
      <p:sp>
        <p:nvSpPr>
          <p:cNvPr id="66" name="Text 64"/>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68" name="Text 66"/>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69" name="Shape 67"/>
          <p:cNvSpPr/>
          <p:nvPr/>
        </p:nvSpPr>
        <p:spPr>
          <a:xfrm>
            <a:off x="8040624" y="5124298"/>
            <a:ext cx="3489960" cy="755294"/>
          </a:xfrm>
          <a:prstGeom prst="rect">
            <a:avLst/>
          </a:prstGeom>
          <a:solidFill>
            <a:srgbClr val="F7F7F7"/>
          </a:solidFill>
          <a:ln/>
        </p:spPr>
      </p:sp>
      <p:sp>
        <p:nvSpPr>
          <p:cNvPr id="70" name="Text 6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86.8%</a:t>
            </a:r>
            <a:endParaRPr lang="en-US" sz="1400" dirty="0"/>
          </a:p>
        </p:txBody>
      </p:sp>
      <p:sp>
        <p:nvSpPr>
          <p:cNvPr id="72" name="Text 70"/>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 pts</a:t>
            </a:r>
            <a:endParaRPr lang="en-US" sz="1600" dirty="0"/>
          </a:p>
        </p:txBody>
      </p:sp>
      <p:sp>
        <p:nvSpPr>
          <p:cNvPr id="73" name="Shape 71"/>
          <p:cNvSpPr/>
          <p:nvPr/>
        </p:nvSpPr>
        <p:spPr>
          <a:xfrm>
            <a:off x="457200" y="6126480"/>
            <a:ext cx="11274552" cy="600456"/>
          </a:xfrm>
          <a:prstGeom prst="rect">
            <a:avLst/>
          </a:prstGeom>
          <a:solidFill>
            <a:srgbClr val="EDF4FA"/>
          </a:solidFill>
          <a:ln/>
        </p:spPr>
      </p:sp>
      <p:sp>
        <p:nvSpPr>
          <p:cNvPr id="74" name="Text 72"/>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Toyota Prescott, Honda Spokane and VW St George what changed. Ask Hyundai Prescott, GMC Prescott and Audi Reno what got in the way. Ask Kia St George, Acura and Cadillac what they started this year.</a:t>
            </a:r>
            <a:endParaRPr lang="en-US" sz="1550" dirty="0"/>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after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More profit from the same parts sales: small gains add up over a year.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whether parts sell at the right price: matrix, markups and discounts.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flags heavy discounting, or cost increases we have not passed on.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CP parts pricing supports the warranty parts reimbursement rate.</a:t>
            </a:r>
            <a:endParaRPr lang="en-US" sz="1500" dirty="0"/>
          </a:p>
        </p:txBody>
      </p:sp>
      <p:sp>
        <p:nvSpPr>
          <p:cNvPr id="13" name="Shape 11"/>
          <p:cNvSpPr/>
          <p:nvPr/>
        </p:nvSpPr>
        <p:spPr>
          <a:xfrm>
            <a:off x="5138928" y="2843784"/>
            <a:ext cx="45720" cy="1121027"/>
          </a:xfrm>
          <a:prstGeom prst="rect">
            <a:avLst/>
          </a:prstGeom>
          <a:solidFill>
            <a:srgbClr val="2587C5"/>
          </a:solidFill>
          <a:ln/>
        </p:spPr>
      </p:sp>
      <p:sp>
        <p:nvSpPr>
          <p:cNvPr id="14" name="Text 12"/>
          <p:cNvSpPr txBox="1"/>
          <p:nvPr/>
        </p:nvSpPr>
        <p:spPr>
          <a:xfrm>
            <a:off x="5266944"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how it is set up, make sure pricing follows the matrix setup, and review it against your gross goals</a:t>
            </a:r>
            <a:endParaRPr lang="en-US" sz="1400" dirty="0"/>
          </a:p>
        </p:txBody>
      </p:sp>
      <p:sp>
        <p:nvSpPr>
          <p:cNvPr id="15" name="Shape 13"/>
          <p:cNvSpPr/>
          <p:nvPr/>
        </p:nvSpPr>
        <p:spPr>
          <a:xfrm>
            <a:off x="8394192" y="2843784"/>
            <a:ext cx="45720" cy="1121027"/>
          </a:xfrm>
          <a:prstGeom prst="rect">
            <a:avLst/>
          </a:prstGeom>
          <a:solidFill>
            <a:srgbClr val="2587C5"/>
          </a:solidFill>
          <a:ln/>
        </p:spPr>
      </p:sp>
      <p:sp>
        <p:nvSpPr>
          <p:cNvPr id="16" name="Text 14"/>
          <p:cNvSpPr txBox="1"/>
          <p:nvPr/>
        </p:nvSpPr>
        <p:spPr>
          <a:xfrm>
            <a:off x="8522208"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 and overrides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discounts and manual price changes; keep safeguards in place</a:t>
            </a:r>
            <a:endParaRPr lang="en-US" sz="1400" dirty="0"/>
          </a:p>
        </p:txBody>
      </p:sp>
      <p:sp>
        <p:nvSpPr>
          <p:cNvPr id="17" name="Shape 15"/>
          <p:cNvSpPr/>
          <p:nvPr/>
        </p:nvSpPr>
        <p:spPr>
          <a:xfrm>
            <a:off x="5138928" y="4074539"/>
            <a:ext cx="45720" cy="801942"/>
          </a:xfrm>
          <a:prstGeom prst="rect">
            <a:avLst/>
          </a:prstGeom>
          <a:solidFill>
            <a:srgbClr val="2587C5"/>
          </a:solidFill>
          <a:ln/>
        </p:spPr>
      </p:sp>
      <p:sp>
        <p:nvSpPr>
          <p:cNvPr id="18" name="Text 16"/>
          <p:cNvSpPr txBox="1"/>
          <p:nvPr/>
        </p:nvSpPr>
        <p:spPr>
          <a:xfrm>
            <a:off x="5266944"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Stay competitive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Balance margin with price, especially on high-cost parts</a:t>
            </a:r>
            <a:endParaRPr lang="en-US" sz="1400" dirty="0"/>
          </a:p>
        </p:txBody>
      </p:sp>
      <p:sp>
        <p:nvSpPr>
          <p:cNvPr id="19" name="Shape 17"/>
          <p:cNvSpPr/>
          <p:nvPr/>
        </p:nvSpPr>
        <p:spPr>
          <a:xfrm>
            <a:off x="8394192" y="4074539"/>
            <a:ext cx="45720" cy="801942"/>
          </a:xfrm>
          <a:prstGeom prst="rect">
            <a:avLst/>
          </a:prstGeom>
          <a:solidFill>
            <a:srgbClr val="2587C5"/>
          </a:solidFill>
          <a:ln/>
        </p:spPr>
      </p:sp>
      <p:sp>
        <p:nvSpPr>
          <p:cNvPr id="20" name="Text 18"/>
          <p:cNvSpPr txBox="1"/>
          <p:nvPr/>
        </p:nvSpPr>
        <p:spPr>
          <a:xfrm>
            <a:off x="8522208"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3" name="Shape 21"/>
          <p:cNvSpPr/>
          <p:nvPr/>
        </p:nvSpPr>
        <p:spPr>
          <a:xfrm>
            <a:off x="457200" y="6126480"/>
            <a:ext cx="11274552" cy="371856"/>
          </a:xfrm>
          <a:prstGeom prst="rect">
            <a:avLst/>
          </a:prstGeom>
          <a:solidFill>
            <a:srgbClr val="E6F6EE"/>
          </a:solidFill>
          <a:ln/>
        </p:spPr>
      </p:sp>
      <p:sp>
        <p:nvSpPr>
          <p:cNvPr id="24"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40.7%, ahead of 2025 in all nine months.</a:t>
            </a:r>
            <a:endParaRPr lang="en-US" sz="1600" dirty="0"/>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19 of 33 stores at or above the 40.7% group, led by Lexus at 49.0%. Audi Henderson is lowest at 33.6%.</a:t>
            </a:r>
            <a:endParaRPr lang="en-US" sz="1550" dirty="0"/>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313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8367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2071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752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9596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7178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5362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1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8771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425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7" name="Shape 55"/>
          <p:cNvSpPr/>
          <p:nvPr/>
        </p:nvSpPr>
        <p:spPr>
          <a:xfrm>
            <a:off x="3785616" y="4550711"/>
            <a:ext cx="22773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2149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540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729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199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249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2133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505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97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666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44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4416"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3134"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9336024" y="3591128"/>
            <a:ext cx="32600"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9336024" y="3831024"/>
            <a:ext cx="28643"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36024" y="4070920"/>
            <a:ext cx="2718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7684"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6212" y="4790606"/>
            <a:ext cx="598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2059" y="5030502"/>
            <a:ext cx="639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23329" y="5270397"/>
            <a:ext cx="11269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5477" y="5510293"/>
            <a:ext cx="27054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led by Acura at +6.1 pts to 44.9%. 5 declined; Audi Henderson fell most at −2.1 pts.</a:t>
            </a:r>
            <a:endParaRPr lang="en-US" sz="1600" dirty="0"/>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44.9%</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42.7%</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37.0%</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44.6%</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33.6%</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44.5%</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39.4%</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36.9%</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42.1%</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Shape 51"/>
          <p:cNvSpPr/>
          <p:nvPr/>
        </p:nvSpPr>
        <p:spPr>
          <a:xfrm>
            <a:off x="11466576" y="2139696"/>
            <a:ext cx="64008" cy="682142"/>
          </a:xfrm>
          <a:prstGeom prst="rect">
            <a:avLst/>
          </a:prstGeom>
          <a:solidFill>
            <a:srgbClr val="12A566"/>
          </a:solidFill>
          <a:ln/>
        </p:spPr>
      </p:sp>
      <p:sp>
        <p:nvSpPr>
          <p:cNvPr id="54" name="Text 52"/>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46.6%</a:t>
            </a:r>
            <a:endParaRPr lang="en-US" sz="1400" dirty="0"/>
          </a:p>
        </p:txBody>
      </p:sp>
      <p:sp>
        <p:nvSpPr>
          <p:cNvPr id="56" name="Text 54"/>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57" name="Text 55"/>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43.8%</a:t>
            </a:r>
            <a:endParaRPr lang="en-US" sz="1400" dirty="0"/>
          </a:p>
        </p:txBody>
      </p:sp>
      <p:sp>
        <p:nvSpPr>
          <p:cNvPr id="59" name="Text 57"/>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60" name="Shape 58"/>
          <p:cNvSpPr/>
          <p:nvPr/>
        </p:nvSpPr>
        <p:spPr>
          <a:xfrm>
            <a:off x="8040624" y="3613709"/>
            <a:ext cx="3489960" cy="755294"/>
          </a:xfrm>
          <a:prstGeom prst="rect">
            <a:avLst/>
          </a:prstGeom>
          <a:solidFill>
            <a:srgbClr val="F7F7F7"/>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39.2%</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44.0%</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41.7%</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Nissan and Subaru Prescott what changed. Ask Audi Henderson, Toyota Spokane and Hyundai Prescott what got in the way. Ask Acura, VW St George and GMC Prescott what they started this year.</a:t>
            </a:r>
            <a:endParaRPr lang="en-US" sz="1600" dirty="0"/>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Walk-around with the customer: hood, tires and wipers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Review history and previously declined items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MPI mandate: every car, every time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Consistency is key: trained, documented and actively managed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We produce hours. A service not recommended is an hour a technician never gets the chance to turn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1.2-1.4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0.7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Basic Maintenance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On-demand maintenance appointments: get cars in quickly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 complete, comprehensive multi-point inspection on every visit, with the right recommendations at that time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Experienced eyes on every car: entry-level staff alone won't know what to look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 quick cleaning that misses the cavity starting to form is a disservice to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More cars in the door is great, and we want both. Capitalize on the opportunities we already have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Processes and policies that make it happen: every car, every time</a:t>
            </a:r>
            <a:endParaRPr lang="en-US" sz="1800" dirty="0"/>
          </a:p>
        </p:txBody>
      </p:sp>
      <p:sp>
        <p:nvSpPr>
          <p:cNvPr id="10" name="Shape 8"/>
          <p:cNvSpPr/>
          <p:nvPr/>
        </p:nvSpPr>
        <p:spPr>
          <a:xfrm>
            <a:off x="7269480" y="1920240"/>
            <a:ext cx="54864" cy="379476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329184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across the group; repair 30.5%. Depending on work mix, maintenance runs 25% to 75% of a store's service.</a:t>
            </a:r>
            <a:endParaRPr lang="en-US" sz="1400" dirty="0"/>
          </a:p>
        </p:txBody>
      </p:sp>
      <p:sp>
        <p:nvSpPr>
          <p:cNvPr id="13" name="Shape 11"/>
          <p:cNvSpPr/>
          <p:nvPr/>
        </p:nvSpPr>
        <p:spPr>
          <a:xfrm>
            <a:off x="457200" y="6126480"/>
            <a:ext cx="11274552" cy="615696"/>
          </a:xfrm>
          <a:prstGeom prst="rect">
            <a:avLst/>
          </a:prstGeom>
          <a:solidFill>
            <a:srgbClr val="EDF4FA"/>
          </a:solidFill>
          <a:ln/>
        </p:spPr>
      </p:sp>
      <p:sp>
        <p:nvSpPr>
          <p:cNvPr id="14" name="Text 1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capitalize on every maintenance visit: in quickly, inspected completely by someone who knows what to look for, and every finding recommended.</a:t>
            </a:r>
            <a:endParaRPr lang="en-US" sz="1600" dirty="0"/>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MPI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MPI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90.0%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81.3%</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 name="Shape 16"/>
          <p:cNvSpPr/>
          <p:nvPr/>
        </p:nvSpPr>
        <p:spPr>
          <a:xfrm>
            <a:off x="3008376" y="2401107"/>
            <a:ext cx="868680"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3" name="Shape 21"/>
          <p:cNvSpPr/>
          <p:nvPr/>
        </p:nvSpPr>
        <p:spPr>
          <a:xfrm>
            <a:off x="3008376" y="2624866"/>
            <a:ext cx="861660"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8" name="Shape 26"/>
          <p:cNvSpPr/>
          <p:nvPr/>
        </p:nvSpPr>
        <p:spPr>
          <a:xfrm>
            <a:off x="3008376" y="2848625"/>
            <a:ext cx="859905"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3" name="Shape 31"/>
          <p:cNvSpPr/>
          <p:nvPr/>
        </p:nvSpPr>
        <p:spPr>
          <a:xfrm>
            <a:off x="3008376" y="3072384"/>
            <a:ext cx="851131"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296143"/>
            <a:ext cx="851131"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843234"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96.1%</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8" name="Shape 46"/>
          <p:cNvSpPr/>
          <p:nvPr/>
        </p:nvSpPr>
        <p:spPr>
          <a:xfrm>
            <a:off x="3008376" y="3743661"/>
            <a:ext cx="830949"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94.7%</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3967420"/>
            <a:ext cx="822175"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8" name="Shape 56"/>
          <p:cNvSpPr/>
          <p:nvPr/>
        </p:nvSpPr>
        <p:spPr>
          <a:xfrm>
            <a:off x="3008376" y="4191179"/>
            <a:ext cx="817788"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3" name="Shape 61"/>
          <p:cNvSpPr/>
          <p:nvPr/>
        </p:nvSpPr>
        <p:spPr>
          <a:xfrm>
            <a:off x="3008376" y="4414938"/>
            <a:ext cx="805503"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8" name="Shape 66"/>
          <p:cNvSpPr/>
          <p:nvPr/>
        </p:nvSpPr>
        <p:spPr>
          <a:xfrm>
            <a:off x="3008376" y="4638697"/>
            <a:ext cx="80462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91.7%</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4862456"/>
            <a:ext cx="780935" cy="111880"/>
          </a:xfrm>
          <a:prstGeom prst="rect">
            <a:avLst/>
          </a:prstGeom>
          <a:solidFill>
            <a:srgbClr val="C2352F"/>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89.0%</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8" name="Shape 76"/>
          <p:cNvSpPr/>
          <p:nvPr/>
        </p:nvSpPr>
        <p:spPr>
          <a:xfrm>
            <a:off x="3008376" y="5086216"/>
            <a:ext cx="768650" cy="111880"/>
          </a:xfrm>
          <a:prstGeom prst="rect">
            <a:avLst/>
          </a:prstGeom>
          <a:solidFill>
            <a:srgbClr val="C2352F"/>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87.6%</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3" name="Shape 81"/>
          <p:cNvSpPr/>
          <p:nvPr/>
        </p:nvSpPr>
        <p:spPr>
          <a:xfrm>
            <a:off x="3008376" y="5309975"/>
            <a:ext cx="757243" cy="111880"/>
          </a:xfrm>
          <a:prstGeom prst="rect">
            <a:avLst/>
          </a:prstGeom>
          <a:solidFill>
            <a:srgbClr val="C2352F"/>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86.3%</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8" name="Shape 86"/>
          <p:cNvSpPr/>
          <p:nvPr/>
        </p:nvSpPr>
        <p:spPr>
          <a:xfrm>
            <a:off x="3008376" y="5533734"/>
            <a:ext cx="741449" cy="111880"/>
          </a:xfrm>
          <a:prstGeom prst="rect">
            <a:avLst/>
          </a:prstGeom>
          <a:solidFill>
            <a:srgbClr val="C2352F"/>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84.5%</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3008376" y="5757493"/>
            <a:ext cx="731797" cy="111880"/>
          </a:xfrm>
          <a:prstGeom prst="rect">
            <a:avLst/>
          </a:prstGeom>
          <a:solidFill>
            <a:srgbClr val="C2352F"/>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83.4%</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8558784" y="2177348"/>
            <a:ext cx="723900"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82.5%</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3" name="Shape 101"/>
          <p:cNvSpPr/>
          <p:nvPr/>
        </p:nvSpPr>
        <p:spPr>
          <a:xfrm>
            <a:off x="8558784" y="2401107"/>
            <a:ext cx="716880"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81.7%</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8" name="Shape 106"/>
          <p:cNvSpPr/>
          <p:nvPr/>
        </p:nvSpPr>
        <p:spPr>
          <a:xfrm>
            <a:off x="8558784" y="2624866"/>
            <a:ext cx="715125"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8558784" y="2848625"/>
            <a:ext cx="714248"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8" name="Shape 116"/>
          <p:cNvSpPr/>
          <p:nvPr/>
        </p:nvSpPr>
        <p:spPr>
          <a:xfrm>
            <a:off x="8558784" y="3072384"/>
            <a:ext cx="713371"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81.3%</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3" name="Shape 121"/>
          <p:cNvSpPr/>
          <p:nvPr/>
        </p:nvSpPr>
        <p:spPr>
          <a:xfrm>
            <a:off x="8558784" y="3296143"/>
            <a:ext cx="693189"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79.0%</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8" name="Shape 126"/>
          <p:cNvSpPr/>
          <p:nvPr/>
        </p:nvSpPr>
        <p:spPr>
          <a:xfrm>
            <a:off x="8558784" y="3519902"/>
            <a:ext cx="667743"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3" name="Shape 131"/>
          <p:cNvSpPr/>
          <p:nvPr/>
        </p:nvSpPr>
        <p:spPr>
          <a:xfrm>
            <a:off x="8558784" y="3743661"/>
            <a:ext cx="64054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73.0%</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8" name="Shape 136"/>
          <p:cNvSpPr/>
          <p:nvPr/>
        </p:nvSpPr>
        <p:spPr>
          <a:xfrm>
            <a:off x="8558784" y="3967420"/>
            <a:ext cx="624748"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3" name="Shape 141"/>
          <p:cNvSpPr/>
          <p:nvPr/>
        </p:nvSpPr>
        <p:spPr>
          <a:xfrm>
            <a:off x="8558784" y="4191179"/>
            <a:ext cx="62387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71.1%</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414938"/>
            <a:ext cx="601056"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8558784" y="4638697"/>
            <a:ext cx="550164"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862456"/>
            <a:ext cx="534370"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60.9%</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3" name="Shape 161"/>
          <p:cNvSpPr/>
          <p:nvPr/>
        </p:nvSpPr>
        <p:spPr>
          <a:xfrm>
            <a:off x="8558784" y="5086216"/>
            <a:ext cx="435217"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68" name="Shape 166"/>
          <p:cNvSpPr/>
          <p:nvPr/>
        </p:nvSpPr>
        <p:spPr>
          <a:xfrm>
            <a:off x="8558784" y="5309975"/>
            <a:ext cx="400997"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45.7%</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3" name="Shape 171"/>
          <p:cNvSpPr/>
          <p:nvPr/>
        </p:nvSpPr>
        <p:spPr>
          <a:xfrm>
            <a:off x="8558784" y="5533734"/>
            <a:ext cx="355369"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40.5%</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790770" y="2121408"/>
            <a:ext cx="14630" cy="3803904"/>
          </a:xfrm>
          <a:prstGeom prst="rect">
            <a:avLst/>
          </a:prstGeom>
          <a:solidFill>
            <a:srgbClr val="0B2C4A"/>
          </a:solidFill>
          <a:ln/>
        </p:spPr>
      </p:sp>
      <p:sp>
        <p:nvSpPr>
          <p:cNvPr id="181" name="Shape 179"/>
          <p:cNvSpPr/>
          <p:nvPr/>
        </p:nvSpPr>
        <p:spPr>
          <a:xfrm>
            <a:off x="9341178"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DF4FA"/>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90.0% benchmark; the group is at 81.3%. LR Reno and VW Henderson lead at 99.0%; Cadillac is lowest at 40.5%.</a:t>
            </a:r>
            <a:endParaRPr lang="en-US" sz="1600" dirty="0"/>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Video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VIDEO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57.8%</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8" name="Shape 16"/>
          <p:cNvSpPr/>
          <p:nvPr/>
        </p:nvSpPr>
        <p:spPr>
          <a:xfrm>
            <a:off x="3008376" y="2401107"/>
            <a:ext cx="832485"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3" name="Shape 21"/>
          <p:cNvSpPr/>
          <p:nvPr/>
        </p:nvSpPr>
        <p:spPr>
          <a:xfrm>
            <a:off x="3008376" y="2624866"/>
            <a:ext cx="825246"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008376" y="2848625"/>
            <a:ext cx="805339"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072384"/>
            <a:ext cx="805339"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8" name="Shape 36"/>
          <p:cNvSpPr/>
          <p:nvPr/>
        </p:nvSpPr>
        <p:spPr>
          <a:xfrm>
            <a:off x="3008376" y="3296143"/>
            <a:ext cx="805339"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786336"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86.9%</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8" name="Shape 46"/>
          <p:cNvSpPr/>
          <p:nvPr/>
        </p:nvSpPr>
        <p:spPr>
          <a:xfrm>
            <a:off x="3008376" y="3743661"/>
            <a:ext cx="773668"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85.5%</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3967420"/>
            <a:ext cx="740188"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191179"/>
            <a:ext cx="735663"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81.3%</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3" name="Shape 61"/>
          <p:cNvSpPr/>
          <p:nvPr/>
        </p:nvSpPr>
        <p:spPr>
          <a:xfrm>
            <a:off x="3008376" y="4414938"/>
            <a:ext cx="718471"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79.4%</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8" name="Shape 66"/>
          <p:cNvSpPr/>
          <p:nvPr/>
        </p:nvSpPr>
        <p:spPr>
          <a:xfrm>
            <a:off x="3008376" y="4638697"/>
            <a:ext cx="71394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3" name="Shape 71"/>
          <p:cNvSpPr/>
          <p:nvPr/>
        </p:nvSpPr>
        <p:spPr>
          <a:xfrm>
            <a:off x="3008376" y="4862456"/>
            <a:ext cx="702183" cy="111880"/>
          </a:xfrm>
          <a:prstGeom prst="rect">
            <a:avLst/>
          </a:prstGeom>
          <a:solidFill>
            <a:srgbClr val="12A566"/>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77.6%</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086216"/>
            <a:ext cx="668703" cy="111880"/>
          </a:xfrm>
          <a:prstGeom prst="rect">
            <a:avLst/>
          </a:prstGeom>
          <a:solidFill>
            <a:srgbClr val="12A566"/>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73.9%</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3" name="Shape 81"/>
          <p:cNvSpPr/>
          <p:nvPr/>
        </p:nvSpPr>
        <p:spPr>
          <a:xfrm>
            <a:off x="3008376" y="5309975"/>
            <a:ext cx="637937" cy="111880"/>
          </a:xfrm>
          <a:prstGeom prst="rect">
            <a:avLst/>
          </a:prstGeom>
          <a:solidFill>
            <a:srgbClr val="12A566"/>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70.5%</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533734"/>
            <a:ext cx="606266" cy="111880"/>
          </a:xfrm>
          <a:prstGeom prst="rect">
            <a:avLst/>
          </a:prstGeom>
          <a:solidFill>
            <a:srgbClr val="12A566"/>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67.0%</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757493"/>
            <a:ext cx="602647" cy="111880"/>
          </a:xfrm>
          <a:prstGeom prst="rect">
            <a:avLst/>
          </a:prstGeom>
          <a:solidFill>
            <a:srgbClr val="12A566"/>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66.6%</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8" name="Shape 96"/>
          <p:cNvSpPr/>
          <p:nvPr/>
        </p:nvSpPr>
        <p:spPr>
          <a:xfrm>
            <a:off x="8558784" y="2177348"/>
            <a:ext cx="490442"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54.2%</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3" name="Shape 101"/>
          <p:cNvSpPr/>
          <p:nvPr/>
        </p:nvSpPr>
        <p:spPr>
          <a:xfrm>
            <a:off x="8558784" y="2401107"/>
            <a:ext cx="480489"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53.1%</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8" name="Shape 106"/>
          <p:cNvSpPr/>
          <p:nvPr/>
        </p:nvSpPr>
        <p:spPr>
          <a:xfrm>
            <a:off x="8558784" y="2624866"/>
            <a:ext cx="475059"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58784" y="2848625"/>
            <a:ext cx="452437"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50.0%</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8" name="Shape 116"/>
          <p:cNvSpPr/>
          <p:nvPr/>
        </p:nvSpPr>
        <p:spPr>
          <a:xfrm>
            <a:off x="8558784" y="3072384"/>
            <a:ext cx="448818"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3296143"/>
            <a:ext cx="438864"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48.5%</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58784" y="3519902"/>
            <a:ext cx="386382"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3743661"/>
            <a:ext cx="38638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8" name="Shape 136"/>
          <p:cNvSpPr/>
          <p:nvPr/>
        </p:nvSpPr>
        <p:spPr>
          <a:xfrm>
            <a:off x="8558784" y="3967420"/>
            <a:ext cx="379143"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41.9%</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3" name="Shape 141"/>
          <p:cNvSpPr/>
          <p:nvPr/>
        </p:nvSpPr>
        <p:spPr>
          <a:xfrm>
            <a:off x="8558784" y="4191179"/>
            <a:ext cx="36376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4414938"/>
            <a:ext cx="317611"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638697"/>
            <a:ext cx="286845"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8" name="Shape 156"/>
          <p:cNvSpPr/>
          <p:nvPr/>
        </p:nvSpPr>
        <p:spPr>
          <a:xfrm>
            <a:off x="8558784" y="4862456"/>
            <a:ext cx="285036"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31.5%</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63" name="Shape 161"/>
          <p:cNvSpPr/>
          <p:nvPr/>
        </p:nvSpPr>
        <p:spPr>
          <a:xfrm>
            <a:off x="8558784" y="5086216"/>
            <a:ext cx="197263"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8" name="Shape 166"/>
          <p:cNvSpPr/>
          <p:nvPr/>
        </p:nvSpPr>
        <p:spPr>
          <a:xfrm>
            <a:off x="8558784" y="5309975"/>
            <a:ext cx="144780"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3" name="Shape 171"/>
          <p:cNvSpPr/>
          <p:nvPr/>
        </p:nvSpPr>
        <p:spPr>
          <a:xfrm>
            <a:off x="8558784" y="5533734"/>
            <a:ext cx="47053"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524446" y="2121408"/>
            <a:ext cx="14630" cy="3803904"/>
          </a:xfrm>
          <a:prstGeom prst="rect">
            <a:avLst/>
          </a:prstGeom>
          <a:solidFill>
            <a:srgbClr val="0B2C4A"/>
          </a:solidFill>
          <a:ln/>
        </p:spPr>
      </p:sp>
      <p:sp>
        <p:nvSpPr>
          <p:cNvPr id="181" name="Shape 179"/>
          <p:cNvSpPr/>
          <p:nvPr/>
        </p:nvSpPr>
        <p:spPr>
          <a:xfrm>
            <a:off x="9074854"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56616"/>
          </a:xfrm>
          <a:prstGeom prst="rect">
            <a:avLst/>
          </a:prstGeom>
          <a:solidFill>
            <a:srgbClr val="EDF4FA"/>
          </a:solidFill>
          <a:ln/>
        </p:spPr>
      </p:sp>
      <p:sp>
        <p:nvSpPr>
          <p:cNvPr id="184" name="Text 18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17 of 33 stores at or above the 57.8% group. VW Henderson leads at 96.0%; Kia St George is lowest at 5.2%.</a:t>
            </a:r>
            <a:endParaRPr lang="en-US" sz="1500" dirty="0"/>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Photo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PHOTO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45.3%</a:t>
            </a:r>
            <a:endParaRPr lang="en-US" sz="2000" dirty="0"/>
          </a:p>
        </p:txBody>
      </p:sp>
      <p:sp>
        <p:nvSpPr>
          <p:cNvPr id="11" name="Text 9"/>
          <p:cNvSpPr txBox="1"/>
          <p:nvPr/>
        </p:nvSpPr>
        <p:spPr>
          <a:xfrm>
            <a:off x="658368"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008376" y="2189335"/>
            <a:ext cx="868680" cy="135854"/>
          </a:xfrm>
          <a:prstGeom prst="rect">
            <a:avLst/>
          </a:prstGeom>
          <a:solidFill>
            <a:srgbClr val="12A566"/>
          </a:solidFill>
          <a:ln/>
        </p:spPr>
      </p:sp>
      <p:sp>
        <p:nvSpPr>
          <p:cNvPr id="14" name="Text 12"/>
          <p:cNvSpPr txBox="1"/>
          <p:nvPr/>
        </p:nvSpPr>
        <p:spPr>
          <a:xfrm>
            <a:off x="3931920" y="212140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15" name="Text 13"/>
          <p:cNvSpPr txBox="1"/>
          <p:nvPr/>
        </p:nvSpPr>
        <p:spPr>
          <a:xfrm>
            <a:off x="4608576"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16" name="Text 14"/>
          <p:cNvSpPr txBox="1"/>
          <p:nvPr/>
        </p:nvSpPr>
        <p:spPr>
          <a:xfrm>
            <a:off x="658368"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 name="Shape 16"/>
          <p:cNvSpPr/>
          <p:nvPr/>
        </p:nvSpPr>
        <p:spPr>
          <a:xfrm>
            <a:off x="3008376" y="2461042"/>
            <a:ext cx="862965" cy="135854"/>
          </a:xfrm>
          <a:prstGeom prst="rect">
            <a:avLst/>
          </a:prstGeom>
          <a:solidFill>
            <a:srgbClr val="12A566"/>
          </a:solidFill>
          <a:ln/>
        </p:spPr>
      </p:sp>
      <p:sp>
        <p:nvSpPr>
          <p:cNvPr id="19" name="Text 17"/>
          <p:cNvSpPr txBox="1"/>
          <p:nvPr/>
        </p:nvSpPr>
        <p:spPr>
          <a:xfrm>
            <a:off x="3931920" y="239311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90.6%</a:t>
            </a:r>
            <a:endParaRPr lang="en-US" sz="1200" dirty="0"/>
          </a:p>
        </p:txBody>
      </p:sp>
      <p:sp>
        <p:nvSpPr>
          <p:cNvPr id="20" name="Text 18"/>
          <p:cNvSpPr txBox="1"/>
          <p:nvPr/>
        </p:nvSpPr>
        <p:spPr>
          <a:xfrm>
            <a:off x="4608576"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21" name="Text 19"/>
          <p:cNvSpPr txBox="1"/>
          <p:nvPr/>
        </p:nvSpPr>
        <p:spPr>
          <a:xfrm>
            <a:off x="658368"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3" name="Shape 21"/>
          <p:cNvSpPr/>
          <p:nvPr/>
        </p:nvSpPr>
        <p:spPr>
          <a:xfrm>
            <a:off x="3008376" y="2732750"/>
            <a:ext cx="847725" cy="135854"/>
          </a:xfrm>
          <a:prstGeom prst="rect">
            <a:avLst/>
          </a:prstGeom>
          <a:solidFill>
            <a:srgbClr val="12A566"/>
          </a:solidFill>
          <a:ln/>
        </p:spPr>
      </p:sp>
      <p:sp>
        <p:nvSpPr>
          <p:cNvPr id="24" name="Text 22"/>
          <p:cNvSpPr txBox="1"/>
          <p:nvPr/>
        </p:nvSpPr>
        <p:spPr>
          <a:xfrm>
            <a:off x="3931920" y="266482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25" name="Text 23"/>
          <p:cNvSpPr txBox="1"/>
          <p:nvPr/>
        </p:nvSpPr>
        <p:spPr>
          <a:xfrm>
            <a:off x="4608576"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8" name="Shape 26"/>
          <p:cNvSpPr/>
          <p:nvPr/>
        </p:nvSpPr>
        <p:spPr>
          <a:xfrm>
            <a:off x="3008376" y="3004457"/>
            <a:ext cx="845820" cy="135854"/>
          </a:xfrm>
          <a:prstGeom prst="rect">
            <a:avLst/>
          </a:prstGeom>
          <a:solidFill>
            <a:srgbClr val="12A566"/>
          </a:solidFill>
          <a:ln/>
        </p:spPr>
      </p:sp>
      <p:sp>
        <p:nvSpPr>
          <p:cNvPr id="29" name="Text 27"/>
          <p:cNvSpPr txBox="1"/>
          <p:nvPr/>
        </p:nvSpPr>
        <p:spPr>
          <a:xfrm>
            <a:off x="3931920" y="293653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88.8%</a:t>
            </a:r>
            <a:endParaRPr lang="en-US" sz="1200" dirty="0"/>
          </a:p>
        </p:txBody>
      </p:sp>
      <p:sp>
        <p:nvSpPr>
          <p:cNvPr id="30" name="Text 28"/>
          <p:cNvSpPr txBox="1"/>
          <p:nvPr/>
        </p:nvSpPr>
        <p:spPr>
          <a:xfrm>
            <a:off x="4608576"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008376" y="3276165"/>
            <a:ext cx="755333" cy="135854"/>
          </a:xfrm>
          <a:prstGeom prst="rect">
            <a:avLst/>
          </a:prstGeom>
          <a:solidFill>
            <a:srgbClr val="12A566"/>
          </a:solidFill>
          <a:ln/>
        </p:spPr>
      </p:sp>
      <p:sp>
        <p:nvSpPr>
          <p:cNvPr id="34" name="Text 32"/>
          <p:cNvSpPr txBox="1"/>
          <p:nvPr/>
        </p:nvSpPr>
        <p:spPr>
          <a:xfrm>
            <a:off x="3931920" y="320823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79.3%</a:t>
            </a:r>
            <a:endParaRPr lang="en-US" sz="1200" dirty="0"/>
          </a:p>
        </p:txBody>
      </p:sp>
      <p:sp>
        <p:nvSpPr>
          <p:cNvPr id="35" name="Text 33"/>
          <p:cNvSpPr txBox="1"/>
          <p:nvPr/>
        </p:nvSpPr>
        <p:spPr>
          <a:xfrm>
            <a:off x="4608576"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547872"/>
            <a:ext cx="687705" cy="135854"/>
          </a:xfrm>
          <a:prstGeom prst="rect">
            <a:avLst/>
          </a:prstGeom>
          <a:solidFill>
            <a:srgbClr val="12A566"/>
          </a:solidFill>
          <a:ln/>
        </p:spPr>
      </p:sp>
      <p:sp>
        <p:nvSpPr>
          <p:cNvPr id="39" name="Text 37"/>
          <p:cNvSpPr txBox="1"/>
          <p:nvPr/>
        </p:nvSpPr>
        <p:spPr>
          <a:xfrm>
            <a:off x="3931920" y="347994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72.2%</a:t>
            </a:r>
            <a:endParaRPr lang="en-US" sz="1200" dirty="0"/>
          </a:p>
        </p:txBody>
      </p:sp>
      <p:sp>
        <p:nvSpPr>
          <p:cNvPr id="40" name="Text 38"/>
          <p:cNvSpPr txBox="1"/>
          <p:nvPr/>
        </p:nvSpPr>
        <p:spPr>
          <a:xfrm>
            <a:off x="4608576"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3" name="Shape 41"/>
          <p:cNvSpPr/>
          <p:nvPr/>
        </p:nvSpPr>
        <p:spPr>
          <a:xfrm>
            <a:off x="3008376" y="3819579"/>
            <a:ext cx="666750" cy="135854"/>
          </a:xfrm>
          <a:prstGeom prst="rect">
            <a:avLst/>
          </a:prstGeom>
          <a:solidFill>
            <a:srgbClr val="12A566"/>
          </a:solidFill>
          <a:ln/>
        </p:spPr>
      </p:sp>
      <p:sp>
        <p:nvSpPr>
          <p:cNvPr id="44" name="Text 42"/>
          <p:cNvSpPr txBox="1"/>
          <p:nvPr/>
        </p:nvSpPr>
        <p:spPr>
          <a:xfrm>
            <a:off x="3931920" y="375165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70.0%</a:t>
            </a:r>
            <a:endParaRPr lang="en-US" sz="1200" dirty="0"/>
          </a:p>
        </p:txBody>
      </p:sp>
      <p:sp>
        <p:nvSpPr>
          <p:cNvPr id="45" name="Text 43"/>
          <p:cNvSpPr txBox="1"/>
          <p:nvPr/>
        </p:nvSpPr>
        <p:spPr>
          <a:xfrm>
            <a:off x="4608576"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46" name="Text 44"/>
          <p:cNvSpPr txBox="1"/>
          <p:nvPr/>
        </p:nvSpPr>
        <p:spPr>
          <a:xfrm>
            <a:off x="658368"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3008376" y="4091287"/>
            <a:ext cx="658178" cy="135854"/>
          </a:xfrm>
          <a:prstGeom prst="rect">
            <a:avLst/>
          </a:prstGeom>
          <a:solidFill>
            <a:srgbClr val="12A566"/>
          </a:solidFill>
          <a:ln/>
        </p:spPr>
      </p:sp>
      <p:sp>
        <p:nvSpPr>
          <p:cNvPr id="49" name="Text 47"/>
          <p:cNvSpPr txBox="1"/>
          <p:nvPr/>
        </p:nvSpPr>
        <p:spPr>
          <a:xfrm>
            <a:off x="3931920" y="402336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69.1%</a:t>
            </a:r>
            <a:endParaRPr lang="en-US" sz="1200" dirty="0"/>
          </a:p>
        </p:txBody>
      </p:sp>
      <p:sp>
        <p:nvSpPr>
          <p:cNvPr id="50" name="Text 48"/>
          <p:cNvSpPr txBox="1"/>
          <p:nvPr/>
        </p:nvSpPr>
        <p:spPr>
          <a:xfrm>
            <a:off x="4608576"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51" name="Text 49"/>
          <p:cNvSpPr txBox="1"/>
          <p:nvPr/>
        </p:nvSpPr>
        <p:spPr>
          <a:xfrm>
            <a:off x="658368"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008376" y="4362994"/>
            <a:ext cx="578168" cy="135854"/>
          </a:xfrm>
          <a:prstGeom prst="rect">
            <a:avLst/>
          </a:prstGeom>
          <a:solidFill>
            <a:srgbClr val="12A566"/>
          </a:solidFill>
          <a:ln/>
        </p:spPr>
      </p:sp>
      <p:sp>
        <p:nvSpPr>
          <p:cNvPr id="54" name="Text 52"/>
          <p:cNvSpPr txBox="1"/>
          <p:nvPr/>
        </p:nvSpPr>
        <p:spPr>
          <a:xfrm>
            <a:off x="3931920" y="4295067"/>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60.7%</a:t>
            </a:r>
            <a:endParaRPr lang="en-US" sz="1200" dirty="0"/>
          </a:p>
        </p:txBody>
      </p:sp>
      <p:sp>
        <p:nvSpPr>
          <p:cNvPr id="55" name="Text 53"/>
          <p:cNvSpPr txBox="1"/>
          <p:nvPr/>
        </p:nvSpPr>
        <p:spPr>
          <a:xfrm>
            <a:off x="4608576"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8" name="Shape 56"/>
          <p:cNvSpPr/>
          <p:nvPr/>
        </p:nvSpPr>
        <p:spPr>
          <a:xfrm>
            <a:off x="3008376" y="4634702"/>
            <a:ext cx="571500" cy="135854"/>
          </a:xfrm>
          <a:prstGeom prst="rect">
            <a:avLst/>
          </a:prstGeom>
          <a:solidFill>
            <a:srgbClr val="12A566"/>
          </a:solidFill>
          <a:ln/>
        </p:spPr>
      </p:sp>
      <p:sp>
        <p:nvSpPr>
          <p:cNvPr id="59" name="Text 57"/>
          <p:cNvSpPr txBox="1"/>
          <p:nvPr/>
        </p:nvSpPr>
        <p:spPr>
          <a:xfrm>
            <a:off x="3931920" y="456677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60.0%</a:t>
            </a:r>
            <a:endParaRPr lang="en-US" sz="1200" dirty="0"/>
          </a:p>
        </p:txBody>
      </p:sp>
      <p:sp>
        <p:nvSpPr>
          <p:cNvPr id="60" name="Text 58"/>
          <p:cNvSpPr txBox="1"/>
          <p:nvPr/>
        </p:nvSpPr>
        <p:spPr>
          <a:xfrm>
            <a:off x="4608576"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3" name="Shape 61"/>
          <p:cNvSpPr/>
          <p:nvPr/>
        </p:nvSpPr>
        <p:spPr>
          <a:xfrm>
            <a:off x="3008376" y="4906409"/>
            <a:ext cx="476250" cy="135854"/>
          </a:xfrm>
          <a:prstGeom prst="rect">
            <a:avLst/>
          </a:prstGeom>
          <a:solidFill>
            <a:srgbClr val="12A566"/>
          </a:solidFill>
          <a:ln/>
        </p:spPr>
      </p:sp>
      <p:sp>
        <p:nvSpPr>
          <p:cNvPr id="64" name="Text 62"/>
          <p:cNvSpPr txBox="1"/>
          <p:nvPr/>
        </p:nvSpPr>
        <p:spPr>
          <a:xfrm>
            <a:off x="3931920" y="4838482"/>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50.0%</a:t>
            </a:r>
            <a:endParaRPr lang="en-US" sz="1200" dirty="0"/>
          </a:p>
        </p:txBody>
      </p:sp>
      <p:sp>
        <p:nvSpPr>
          <p:cNvPr id="65" name="Text 63"/>
          <p:cNvSpPr txBox="1"/>
          <p:nvPr/>
        </p:nvSpPr>
        <p:spPr>
          <a:xfrm>
            <a:off x="4608576"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66" name="Text 64"/>
          <p:cNvSpPr txBox="1"/>
          <p:nvPr/>
        </p:nvSpPr>
        <p:spPr>
          <a:xfrm>
            <a:off x="658368"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8" name="Shape 66"/>
          <p:cNvSpPr/>
          <p:nvPr/>
        </p:nvSpPr>
        <p:spPr>
          <a:xfrm>
            <a:off x="3008376" y="5178117"/>
            <a:ext cx="419100" cy="135854"/>
          </a:xfrm>
          <a:prstGeom prst="rect">
            <a:avLst/>
          </a:prstGeom>
          <a:solidFill>
            <a:srgbClr val="C2352F"/>
          </a:solidFill>
          <a:ln/>
        </p:spPr>
      </p:sp>
      <p:sp>
        <p:nvSpPr>
          <p:cNvPr id="69" name="Text 67"/>
          <p:cNvSpPr txBox="1"/>
          <p:nvPr/>
        </p:nvSpPr>
        <p:spPr>
          <a:xfrm>
            <a:off x="3931920"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44.0%</a:t>
            </a:r>
            <a:endParaRPr lang="en-US" sz="1200" dirty="0"/>
          </a:p>
        </p:txBody>
      </p:sp>
      <p:sp>
        <p:nvSpPr>
          <p:cNvPr id="70" name="Text 68"/>
          <p:cNvSpPr txBox="1"/>
          <p:nvPr/>
        </p:nvSpPr>
        <p:spPr>
          <a:xfrm>
            <a:off x="4608576"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008376" y="5449824"/>
            <a:ext cx="416338" cy="135854"/>
          </a:xfrm>
          <a:prstGeom prst="rect">
            <a:avLst/>
          </a:prstGeom>
          <a:solidFill>
            <a:srgbClr val="C2352F"/>
          </a:solidFill>
          <a:ln/>
        </p:spPr>
      </p:sp>
      <p:sp>
        <p:nvSpPr>
          <p:cNvPr id="74" name="Text 72"/>
          <p:cNvSpPr txBox="1"/>
          <p:nvPr/>
        </p:nvSpPr>
        <p:spPr>
          <a:xfrm>
            <a:off x="3931920"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75" name="Text 73"/>
          <p:cNvSpPr txBox="1"/>
          <p:nvPr/>
        </p:nvSpPr>
        <p:spPr>
          <a:xfrm>
            <a:off x="4608576"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21531"/>
            <a:ext cx="375285" cy="135854"/>
          </a:xfrm>
          <a:prstGeom prst="rect">
            <a:avLst/>
          </a:prstGeom>
          <a:solidFill>
            <a:srgbClr val="C2352F"/>
          </a:solidFill>
          <a:ln/>
        </p:spPr>
      </p:sp>
      <p:sp>
        <p:nvSpPr>
          <p:cNvPr id="79" name="Text 77"/>
          <p:cNvSpPr txBox="1"/>
          <p:nvPr/>
        </p:nvSpPr>
        <p:spPr>
          <a:xfrm>
            <a:off x="3931920"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80" name="Text 78"/>
          <p:cNvSpPr txBox="1"/>
          <p:nvPr/>
        </p:nvSpPr>
        <p:spPr>
          <a:xfrm>
            <a:off x="4608576"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208776"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6565392"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8558784" y="2189335"/>
            <a:ext cx="348615" cy="135854"/>
          </a:xfrm>
          <a:prstGeom prst="rect">
            <a:avLst/>
          </a:prstGeom>
          <a:solidFill>
            <a:srgbClr val="C2352F"/>
          </a:solidFill>
          <a:ln/>
        </p:spPr>
      </p:sp>
      <p:sp>
        <p:nvSpPr>
          <p:cNvPr id="84" name="Text 82"/>
          <p:cNvSpPr txBox="1"/>
          <p:nvPr/>
        </p:nvSpPr>
        <p:spPr>
          <a:xfrm>
            <a:off x="9482328" y="212140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36.6%</a:t>
            </a:r>
            <a:endParaRPr lang="en-US" sz="1200" dirty="0"/>
          </a:p>
        </p:txBody>
      </p:sp>
      <p:sp>
        <p:nvSpPr>
          <p:cNvPr id="85" name="Text 83"/>
          <p:cNvSpPr txBox="1"/>
          <p:nvPr/>
        </p:nvSpPr>
        <p:spPr>
          <a:xfrm>
            <a:off x="10158984"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208776"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6565392"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8" name="Shape 86"/>
          <p:cNvSpPr/>
          <p:nvPr/>
        </p:nvSpPr>
        <p:spPr>
          <a:xfrm>
            <a:off x="8558784" y="2461042"/>
            <a:ext cx="332422" cy="135854"/>
          </a:xfrm>
          <a:prstGeom prst="rect">
            <a:avLst/>
          </a:prstGeom>
          <a:solidFill>
            <a:srgbClr val="C2352F"/>
          </a:solidFill>
          <a:ln/>
        </p:spPr>
      </p:sp>
      <p:sp>
        <p:nvSpPr>
          <p:cNvPr id="89" name="Text 87"/>
          <p:cNvSpPr txBox="1"/>
          <p:nvPr/>
        </p:nvSpPr>
        <p:spPr>
          <a:xfrm>
            <a:off x="9482328" y="239311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34.9%</a:t>
            </a:r>
            <a:endParaRPr lang="en-US" sz="1200" dirty="0"/>
          </a:p>
        </p:txBody>
      </p:sp>
      <p:sp>
        <p:nvSpPr>
          <p:cNvPr id="90" name="Text 88"/>
          <p:cNvSpPr txBox="1"/>
          <p:nvPr/>
        </p:nvSpPr>
        <p:spPr>
          <a:xfrm>
            <a:off x="10158984"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208776"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6565392"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732750"/>
            <a:ext cx="329565" cy="135854"/>
          </a:xfrm>
          <a:prstGeom prst="rect">
            <a:avLst/>
          </a:prstGeom>
          <a:solidFill>
            <a:srgbClr val="C2352F"/>
          </a:solidFill>
          <a:ln/>
        </p:spPr>
      </p:sp>
      <p:sp>
        <p:nvSpPr>
          <p:cNvPr id="94" name="Text 92"/>
          <p:cNvSpPr txBox="1"/>
          <p:nvPr/>
        </p:nvSpPr>
        <p:spPr>
          <a:xfrm>
            <a:off x="9482328" y="266482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34.6%</a:t>
            </a:r>
            <a:endParaRPr lang="en-US" sz="1200" dirty="0"/>
          </a:p>
        </p:txBody>
      </p:sp>
      <p:sp>
        <p:nvSpPr>
          <p:cNvPr id="95" name="Text 93"/>
          <p:cNvSpPr txBox="1"/>
          <p:nvPr/>
        </p:nvSpPr>
        <p:spPr>
          <a:xfrm>
            <a:off x="10158984"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8" name="Shape 96"/>
          <p:cNvSpPr/>
          <p:nvPr/>
        </p:nvSpPr>
        <p:spPr>
          <a:xfrm>
            <a:off x="8558784" y="3004457"/>
            <a:ext cx="304800" cy="135854"/>
          </a:xfrm>
          <a:prstGeom prst="rect">
            <a:avLst/>
          </a:prstGeom>
          <a:solidFill>
            <a:srgbClr val="C2352F"/>
          </a:solidFill>
          <a:ln/>
        </p:spPr>
      </p:sp>
      <p:sp>
        <p:nvSpPr>
          <p:cNvPr id="99" name="Text 97"/>
          <p:cNvSpPr txBox="1"/>
          <p:nvPr/>
        </p:nvSpPr>
        <p:spPr>
          <a:xfrm>
            <a:off x="9482328" y="293653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32.0%</a:t>
            </a:r>
            <a:endParaRPr lang="en-US" sz="1200" dirty="0"/>
          </a:p>
        </p:txBody>
      </p:sp>
      <p:sp>
        <p:nvSpPr>
          <p:cNvPr id="100" name="Text 98"/>
          <p:cNvSpPr txBox="1"/>
          <p:nvPr/>
        </p:nvSpPr>
        <p:spPr>
          <a:xfrm>
            <a:off x="10158984"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1" name="Text 99"/>
          <p:cNvSpPr txBox="1"/>
          <p:nvPr/>
        </p:nvSpPr>
        <p:spPr>
          <a:xfrm>
            <a:off x="6208776"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3" name="Shape 101"/>
          <p:cNvSpPr/>
          <p:nvPr/>
        </p:nvSpPr>
        <p:spPr>
          <a:xfrm>
            <a:off x="8558784" y="3276165"/>
            <a:ext cx="297180" cy="135854"/>
          </a:xfrm>
          <a:prstGeom prst="rect">
            <a:avLst/>
          </a:prstGeom>
          <a:solidFill>
            <a:srgbClr val="C2352F"/>
          </a:solidFill>
          <a:ln/>
        </p:spPr>
      </p:sp>
      <p:sp>
        <p:nvSpPr>
          <p:cNvPr id="104" name="Text 102"/>
          <p:cNvSpPr txBox="1"/>
          <p:nvPr/>
        </p:nvSpPr>
        <p:spPr>
          <a:xfrm>
            <a:off x="9482328" y="320823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31.2%</a:t>
            </a:r>
            <a:endParaRPr lang="en-US" sz="1200" dirty="0"/>
          </a:p>
        </p:txBody>
      </p:sp>
      <p:sp>
        <p:nvSpPr>
          <p:cNvPr id="105" name="Text 103"/>
          <p:cNvSpPr txBox="1"/>
          <p:nvPr/>
        </p:nvSpPr>
        <p:spPr>
          <a:xfrm>
            <a:off x="10158984"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3547872"/>
            <a:ext cx="240983" cy="135854"/>
          </a:xfrm>
          <a:prstGeom prst="rect">
            <a:avLst/>
          </a:prstGeom>
          <a:solidFill>
            <a:srgbClr val="C2352F"/>
          </a:solidFill>
          <a:ln/>
        </p:spPr>
      </p:sp>
      <p:sp>
        <p:nvSpPr>
          <p:cNvPr id="109" name="Text 107"/>
          <p:cNvSpPr txBox="1"/>
          <p:nvPr/>
        </p:nvSpPr>
        <p:spPr>
          <a:xfrm>
            <a:off x="9482328" y="347994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0" name="Text 108"/>
          <p:cNvSpPr txBox="1"/>
          <p:nvPr/>
        </p:nvSpPr>
        <p:spPr>
          <a:xfrm>
            <a:off x="10158984"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11" name="Text 109"/>
          <p:cNvSpPr txBox="1"/>
          <p:nvPr/>
        </p:nvSpPr>
        <p:spPr>
          <a:xfrm>
            <a:off x="6208776"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8558784" y="3819579"/>
            <a:ext cx="222885" cy="135854"/>
          </a:xfrm>
          <a:prstGeom prst="rect">
            <a:avLst/>
          </a:prstGeom>
          <a:solidFill>
            <a:srgbClr val="C2352F"/>
          </a:solidFill>
          <a:ln/>
        </p:spPr>
      </p:sp>
      <p:sp>
        <p:nvSpPr>
          <p:cNvPr id="114" name="Text 112"/>
          <p:cNvSpPr txBox="1"/>
          <p:nvPr/>
        </p:nvSpPr>
        <p:spPr>
          <a:xfrm>
            <a:off x="9482328" y="375165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5" name="Text 113"/>
          <p:cNvSpPr txBox="1"/>
          <p:nvPr/>
        </p:nvSpPr>
        <p:spPr>
          <a:xfrm>
            <a:off x="10158984"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8" name="Shape 116"/>
          <p:cNvSpPr/>
          <p:nvPr/>
        </p:nvSpPr>
        <p:spPr>
          <a:xfrm>
            <a:off x="8558784" y="4091287"/>
            <a:ext cx="216217" cy="135854"/>
          </a:xfrm>
          <a:prstGeom prst="rect">
            <a:avLst/>
          </a:prstGeom>
          <a:solidFill>
            <a:srgbClr val="C2352F"/>
          </a:solidFill>
          <a:ln/>
        </p:spPr>
      </p:sp>
      <p:sp>
        <p:nvSpPr>
          <p:cNvPr id="119" name="Text 117"/>
          <p:cNvSpPr txBox="1"/>
          <p:nvPr/>
        </p:nvSpPr>
        <p:spPr>
          <a:xfrm>
            <a:off x="9482328" y="402336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0" name="Text 118"/>
          <p:cNvSpPr txBox="1"/>
          <p:nvPr/>
        </p:nvSpPr>
        <p:spPr>
          <a:xfrm>
            <a:off x="10158984"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1" name="Text 119"/>
          <p:cNvSpPr txBox="1"/>
          <p:nvPr/>
        </p:nvSpPr>
        <p:spPr>
          <a:xfrm>
            <a:off x="6208776"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3" name="Shape 121"/>
          <p:cNvSpPr/>
          <p:nvPr/>
        </p:nvSpPr>
        <p:spPr>
          <a:xfrm>
            <a:off x="8558784" y="4362994"/>
            <a:ext cx="216217" cy="135854"/>
          </a:xfrm>
          <a:prstGeom prst="rect">
            <a:avLst/>
          </a:prstGeom>
          <a:solidFill>
            <a:srgbClr val="C2352F"/>
          </a:solidFill>
          <a:ln/>
        </p:spPr>
      </p:sp>
      <p:sp>
        <p:nvSpPr>
          <p:cNvPr id="124" name="Text 122"/>
          <p:cNvSpPr txBox="1"/>
          <p:nvPr/>
        </p:nvSpPr>
        <p:spPr>
          <a:xfrm>
            <a:off x="9482328" y="429506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5" name="Text 123"/>
          <p:cNvSpPr txBox="1"/>
          <p:nvPr/>
        </p:nvSpPr>
        <p:spPr>
          <a:xfrm>
            <a:off x="10158984"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558784" y="4634702"/>
            <a:ext cx="183833" cy="135854"/>
          </a:xfrm>
          <a:prstGeom prst="rect">
            <a:avLst/>
          </a:prstGeom>
          <a:solidFill>
            <a:srgbClr val="C2352F"/>
          </a:solidFill>
          <a:ln/>
        </p:spPr>
      </p:sp>
      <p:sp>
        <p:nvSpPr>
          <p:cNvPr id="129" name="Text 127"/>
          <p:cNvSpPr txBox="1"/>
          <p:nvPr/>
        </p:nvSpPr>
        <p:spPr>
          <a:xfrm>
            <a:off x="9482328" y="456677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30" name="Text 128"/>
          <p:cNvSpPr txBox="1"/>
          <p:nvPr/>
        </p:nvSpPr>
        <p:spPr>
          <a:xfrm>
            <a:off x="10158984"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4906409"/>
            <a:ext cx="150495" cy="135854"/>
          </a:xfrm>
          <a:prstGeom prst="rect">
            <a:avLst/>
          </a:prstGeom>
          <a:solidFill>
            <a:srgbClr val="C2352F"/>
          </a:solidFill>
          <a:ln/>
        </p:spPr>
      </p:sp>
      <p:sp>
        <p:nvSpPr>
          <p:cNvPr id="134" name="Text 132"/>
          <p:cNvSpPr txBox="1"/>
          <p:nvPr/>
        </p:nvSpPr>
        <p:spPr>
          <a:xfrm>
            <a:off x="9482328" y="4838482"/>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5" name="Text 133"/>
          <p:cNvSpPr txBox="1"/>
          <p:nvPr/>
        </p:nvSpPr>
        <p:spPr>
          <a:xfrm>
            <a:off x="10158984"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8" name="Shape 136"/>
          <p:cNvSpPr/>
          <p:nvPr/>
        </p:nvSpPr>
        <p:spPr>
          <a:xfrm>
            <a:off x="8558784" y="5178117"/>
            <a:ext cx="137160" cy="135854"/>
          </a:xfrm>
          <a:prstGeom prst="rect">
            <a:avLst/>
          </a:prstGeom>
          <a:solidFill>
            <a:srgbClr val="C2352F"/>
          </a:solidFill>
          <a:ln/>
        </p:spPr>
      </p:sp>
      <p:sp>
        <p:nvSpPr>
          <p:cNvPr id="139" name="Text 137"/>
          <p:cNvSpPr txBox="1"/>
          <p:nvPr/>
        </p:nvSpPr>
        <p:spPr>
          <a:xfrm>
            <a:off x="9482328"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0" name="Text 138"/>
          <p:cNvSpPr txBox="1"/>
          <p:nvPr/>
        </p:nvSpPr>
        <p:spPr>
          <a:xfrm>
            <a:off x="10158984"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3" name="Shape 141"/>
          <p:cNvSpPr/>
          <p:nvPr/>
        </p:nvSpPr>
        <p:spPr>
          <a:xfrm>
            <a:off x="8558784" y="5449824"/>
            <a:ext cx="135255" cy="135854"/>
          </a:xfrm>
          <a:prstGeom prst="rect">
            <a:avLst/>
          </a:prstGeom>
          <a:solidFill>
            <a:srgbClr val="C2352F"/>
          </a:solidFill>
          <a:ln/>
        </p:spPr>
      </p:sp>
      <p:sp>
        <p:nvSpPr>
          <p:cNvPr id="144" name="Text 142"/>
          <p:cNvSpPr txBox="1"/>
          <p:nvPr/>
        </p:nvSpPr>
        <p:spPr>
          <a:xfrm>
            <a:off x="9482328"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45" name="Text 143"/>
          <p:cNvSpPr txBox="1"/>
          <p:nvPr/>
        </p:nvSpPr>
        <p:spPr>
          <a:xfrm>
            <a:off x="10158984"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5721531"/>
            <a:ext cx="112395" cy="135854"/>
          </a:xfrm>
          <a:prstGeom prst="rect">
            <a:avLst/>
          </a:prstGeom>
          <a:solidFill>
            <a:srgbClr val="C2352F"/>
          </a:solidFill>
          <a:ln/>
        </p:spPr>
      </p:sp>
      <p:sp>
        <p:nvSpPr>
          <p:cNvPr id="149" name="Text 147"/>
          <p:cNvSpPr txBox="1"/>
          <p:nvPr/>
        </p:nvSpPr>
        <p:spPr>
          <a:xfrm>
            <a:off x="9482328"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0" name="Text 148"/>
          <p:cNvSpPr txBox="1"/>
          <p:nvPr/>
        </p:nvSpPr>
        <p:spPr>
          <a:xfrm>
            <a:off x="10158984"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2" name="Text 150"/>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3" name="Text 151"/>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4" name="Text 152"/>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5" name="Shape 153"/>
          <p:cNvSpPr/>
          <p:nvPr/>
        </p:nvSpPr>
        <p:spPr>
          <a:xfrm>
            <a:off x="3432502" y="2121408"/>
            <a:ext cx="14630" cy="3803904"/>
          </a:xfrm>
          <a:prstGeom prst="rect">
            <a:avLst/>
          </a:prstGeom>
          <a:solidFill>
            <a:srgbClr val="0B2C4A"/>
          </a:solidFill>
          <a:ln/>
        </p:spPr>
      </p:sp>
      <p:sp>
        <p:nvSpPr>
          <p:cNvPr id="156" name="Shape 154"/>
          <p:cNvSpPr/>
          <p:nvPr/>
        </p:nvSpPr>
        <p:spPr>
          <a:xfrm>
            <a:off x="8982910" y="2121408"/>
            <a:ext cx="14630" cy="3803904"/>
          </a:xfrm>
          <a:prstGeom prst="rect">
            <a:avLst/>
          </a:prstGeom>
          <a:solidFill>
            <a:srgbClr val="0B2C4A"/>
          </a:solidFill>
          <a:ln/>
        </p:spPr>
      </p:sp>
      <p:sp>
        <p:nvSpPr>
          <p:cNvPr id="157" name="Shape 155"/>
          <p:cNvSpPr/>
          <p:nvPr/>
        </p:nvSpPr>
        <p:spPr>
          <a:xfrm>
            <a:off x="6085332" y="2121408"/>
            <a:ext cx="10973" cy="3803904"/>
          </a:xfrm>
          <a:prstGeom prst="rect">
            <a:avLst/>
          </a:prstGeom>
          <a:solidFill>
            <a:srgbClr val="D9D9D9"/>
          </a:solidFill>
          <a:ln/>
        </p:spPr>
      </p:sp>
      <p:sp>
        <p:nvSpPr>
          <p:cNvPr id="158" name="Shape 156"/>
          <p:cNvSpPr/>
          <p:nvPr/>
        </p:nvSpPr>
        <p:spPr>
          <a:xfrm>
            <a:off x="457200" y="6126480"/>
            <a:ext cx="11274552" cy="341376"/>
          </a:xfrm>
          <a:prstGeom prst="rect">
            <a:avLst/>
          </a:prstGeom>
          <a:solidFill>
            <a:srgbClr val="EDF4FA"/>
          </a:solidFill>
          <a:ln/>
        </p:spPr>
      </p:sp>
      <p:sp>
        <p:nvSpPr>
          <p:cNvPr id="159" name="Text 15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11 of 28 stores at or above the 45.3% group. Hyundai Prescott leads at 91.2%; Kia St George is lowest at 11.8%.</a:t>
            </a:r>
            <a:endParaRPr lang="en-US" sz="1400" dirty="0"/>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3794760"/>
          </a:xfrm>
          <a:prstGeom prst="rect">
            <a:avLst/>
          </a:prstGeom>
          <a:solidFill>
            <a:srgbClr val="C2352F"/>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2" name="Text 10"/>
          <p:cNvSpPr txBox="1"/>
          <p:nvPr/>
        </p:nvSpPr>
        <p:spPr>
          <a:xfrm>
            <a:off x="7452360" y="2441448"/>
            <a:ext cx="4023360" cy="329184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a:t>
            </a:r>
            <a:endParaRPr lang="en-US" sz="1400" dirty="0"/>
          </a:p>
        </p:txBody>
      </p:sp>
      <p:sp>
        <p:nvSpPr>
          <p:cNvPr id="13" name="Shape 11"/>
          <p:cNvSpPr/>
          <p:nvPr/>
        </p:nvSpPr>
        <p:spPr>
          <a:xfrm>
            <a:off x="457200" y="6126480"/>
            <a:ext cx="11274552" cy="615696"/>
          </a:xfrm>
          <a:prstGeom prst="rect">
            <a:avLst/>
          </a:prstGeom>
          <a:solidFill>
            <a:srgbClr val="EDF4FA"/>
          </a:solidFill>
          <a:ln/>
        </p:spPr>
      </p:sp>
      <p:sp>
        <p:nvSpPr>
          <p:cNvPr id="14" name="Text 1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Tracked Opcode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cars are already in our service drives: the rate shows how well we use the opportunities we already have.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Like labor dollars per RO, it is a direct reflection of the job we are doing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services across the group.</a:t>
            </a:r>
            <a:endParaRPr lang="en-US" sz="1500" dirty="0"/>
          </a:p>
        </p:txBody>
      </p:sp>
      <p:sp>
        <p:nvSpPr>
          <p:cNvPr id="22" name="Shape 20"/>
          <p:cNvSpPr/>
          <p:nvPr/>
        </p:nvSpPr>
        <p:spPr>
          <a:xfrm>
            <a:off x="5138928" y="3410712"/>
            <a:ext cx="45720" cy="948641"/>
          </a:xfrm>
          <a:prstGeom prst="rect">
            <a:avLst/>
          </a:prstGeom>
          <a:solidFill>
            <a:srgbClr val="2587C5"/>
          </a:solidFill>
          <a:ln/>
        </p:spPr>
      </p:sp>
      <p:sp>
        <p:nvSpPr>
          <p:cNvPr id="23" name="Text 21"/>
          <p:cNvSpPr txBox="1"/>
          <p:nvPr/>
        </p:nvSpPr>
        <p:spPr>
          <a:xfrm>
            <a:off x="5266944"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948641"/>
          </a:xfrm>
          <a:prstGeom prst="rect">
            <a:avLst/>
          </a:prstGeom>
          <a:solidFill>
            <a:srgbClr val="2587C5"/>
          </a:solidFill>
          <a:ln/>
        </p:spPr>
      </p:sp>
      <p:sp>
        <p:nvSpPr>
          <p:cNvPr id="25" name="Text 23"/>
          <p:cNvSpPr txBox="1"/>
          <p:nvPr/>
        </p:nvSpPr>
        <p:spPr>
          <a:xfrm>
            <a:off x="8522208"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469081"/>
            <a:ext cx="45720" cy="1319071"/>
          </a:xfrm>
          <a:prstGeom prst="rect">
            <a:avLst/>
          </a:prstGeom>
          <a:solidFill>
            <a:srgbClr val="2587C5"/>
          </a:solidFill>
          <a:ln/>
        </p:spPr>
      </p:sp>
      <p:sp>
        <p:nvSpPr>
          <p:cNvPr id="27" name="Text 25"/>
          <p:cNvSpPr txBox="1"/>
          <p:nvPr/>
        </p:nvSpPr>
        <p:spPr>
          <a:xfrm>
            <a:off x="5266944"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Consistency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every visit, no exceptions. Say it once and skip it the next time, and we lose credibility</a:t>
            </a:r>
            <a:endParaRPr lang="en-US" sz="1400" dirty="0"/>
          </a:p>
        </p:txBody>
      </p:sp>
      <p:sp>
        <p:nvSpPr>
          <p:cNvPr id="28" name="Shape 26"/>
          <p:cNvSpPr/>
          <p:nvPr/>
        </p:nvSpPr>
        <p:spPr>
          <a:xfrm>
            <a:off x="8394192" y="4469081"/>
            <a:ext cx="45720" cy="1319071"/>
          </a:xfrm>
          <a:prstGeom prst="rect">
            <a:avLst/>
          </a:prstGeom>
          <a:solidFill>
            <a:srgbClr val="2587C5"/>
          </a:solidFill>
          <a:ln/>
        </p:spPr>
      </p:sp>
      <p:sp>
        <p:nvSpPr>
          <p:cNvPr id="29" name="Text 27"/>
          <p:cNvSpPr txBox="1"/>
          <p:nvPr/>
        </p:nvSpPr>
        <p:spPr>
          <a:xfrm>
            <a:off x="8522208"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13.2%, ahead of 2025 in all nine months, but 1.7 pts under the 15% benchmark — 4,821 alignments short.</a:t>
            </a:r>
            <a:endParaRPr lang="en-US" sz="1600" dirty="0"/>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led by Audi Henderson at 27.5%. The group sits at 13.2%.</a:t>
            </a:r>
            <a:endParaRPr lang="en-US" sz="1600" dirty="0"/>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1788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Shape 6"/>
          <p:cNvSpPr/>
          <p:nvPr/>
        </p:nvSpPr>
        <p:spPr>
          <a:xfrm>
            <a:off x="3602724" y="1700784"/>
            <a:ext cx="10973" cy="4224528"/>
          </a:xfrm>
          <a:prstGeom prst="rect">
            <a:avLst/>
          </a:prstGeom>
          <a:solidFill>
            <a:srgbClr val="9AA3AD"/>
          </a:solidFill>
          <a:ln/>
        </p:spPr>
      </p:sp>
      <p:sp>
        <p:nvSpPr>
          <p:cNvPr id="9" name="Text 7"/>
          <p:cNvSpPr txBox="1"/>
          <p:nvPr/>
        </p:nvSpPr>
        <p:spPr>
          <a:xfrm>
            <a:off x="97292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Shape 9"/>
          <p:cNvSpPr/>
          <p:nvPr/>
        </p:nvSpPr>
        <p:spPr>
          <a:xfrm>
            <a:off x="9153132"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608210" y="1756697"/>
            <a:ext cx="515734" cy="136676"/>
          </a:xfrm>
          <a:prstGeom prst="rect">
            <a:avLst/>
          </a:prstGeom>
          <a:solidFill>
            <a:srgbClr val="12A566"/>
          </a:solidFill>
          <a:ln/>
        </p:spPr>
      </p:sp>
      <p:sp>
        <p:nvSpPr>
          <p:cNvPr id="15" name="Text 13"/>
          <p:cNvSpPr txBox="1"/>
          <p:nvPr/>
        </p:nvSpPr>
        <p:spPr>
          <a:xfrm>
            <a:off x="41788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+$229K</a:t>
            </a:r>
            <a:endParaRPr lang="en-US" sz="1300" dirty="0"/>
          </a:p>
        </p:txBody>
      </p:sp>
      <p:sp>
        <p:nvSpPr>
          <p:cNvPr id="16" name="Text 14"/>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21.3%</a:t>
            </a:r>
            <a:endParaRPr lang="en-US" sz="1300" dirty="0"/>
          </a:p>
        </p:txBody>
      </p:sp>
      <p:sp>
        <p:nvSpPr>
          <p:cNvPr id="17" name="Text 15"/>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9" name="Shape 17"/>
          <p:cNvSpPr/>
          <p:nvPr/>
        </p:nvSpPr>
        <p:spPr>
          <a:xfrm>
            <a:off x="3608210" y="2005199"/>
            <a:ext cx="368621" cy="136676"/>
          </a:xfrm>
          <a:prstGeom prst="rect">
            <a:avLst/>
          </a:prstGeom>
          <a:solidFill>
            <a:srgbClr val="12A566"/>
          </a:solidFill>
          <a:ln/>
        </p:spPr>
      </p:sp>
      <p:sp>
        <p:nvSpPr>
          <p:cNvPr id="20" name="Text 18"/>
          <p:cNvSpPr txBox="1"/>
          <p:nvPr/>
        </p:nvSpPr>
        <p:spPr>
          <a:xfrm>
            <a:off x="41788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+$163K</a:t>
            </a:r>
            <a:endParaRPr lang="en-US" sz="1300" dirty="0"/>
          </a:p>
        </p:txBody>
      </p:sp>
      <p:sp>
        <p:nvSpPr>
          <p:cNvPr id="21" name="Text 19"/>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22" name="Text 20"/>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4" name="Shape 22"/>
          <p:cNvSpPr/>
          <p:nvPr/>
        </p:nvSpPr>
        <p:spPr>
          <a:xfrm>
            <a:off x="3608210" y="2253700"/>
            <a:ext cx="93661" cy="136676"/>
          </a:xfrm>
          <a:prstGeom prst="rect">
            <a:avLst/>
          </a:prstGeom>
          <a:solidFill>
            <a:srgbClr val="12A566"/>
          </a:solidFill>
          <a:ln/>
        </p:spPr>
      </p:sp>
      <p:sp>
        <p:nvSpPr>
          <p:cNvPr id="25" name="Text 23"/>
          <p:cNvSpPr txBox="1"/>
          <p:nvPr/>
        </p:nvSpPr>
        <p:spPr>
          <a:xfrm>
            <a:off x="41788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+$42K</a:t>
            </a:r>
            <a:endParaRPr lang="en-US" sz="1300" dirty="0"/>
          </a:p>
        </p:txBody>
      </p:sp>
      <p:sp>
        <p:nvSpPr>
          <p:cNvPr id="26" name="Text 24"/>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27" name="Text 25"/>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9" name="Shape 27"/>
          <p:cNvSpPr/>
          <p:nvPr/>
        </p:nvSpPr>
        <p:spPr>
          <a:xfrm>
            <a:off x="3608210" y="2502202"/>
            <a:ext cx="92519" cy="136676"/>
          </a:xfrm>
          <a:prstGeom prst="rect">
            <a:avLst/>
          </a:prstGeom>
          <a:solidFill>
            <a:srgbClr val="12A566"/>
          </a:solidFill>
          <a:ln/>
        </p:spPr>
      </p:sp>
      <p:sp>
        <p:nvSpPr>
          <p:cNvPr id="30" name="Text 28"/>
          <p:cNvSpPr txBox="1"/>
          <p:nvPr/>
        </p:nvSpPr>
        <p:spPr>
          <a:xfrm>
            <a:off x="41788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+$41K</a:t>
            </a:r>
            <a:endParaRPr lang="en-US" sz="1300" dirty="0"/>
          </a:p>
        </p:txBody>
      </p:sp>
      <p:sp>
        <p:nvSpPr>
          <p:cNvPr id="31" name="Text 29"/>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a:t>
            </a:r>
            <a:endParaRPr lang="en-US" sz="1300" dirty="0"/>
          </a:p>
        </p:txBody>
      </p:sp>
      <p:sp>
        <p:nvSpPr>
          <p:cNvPr id="32" name="Text 30"/>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4" name="Shape 32"/>
          <p:cNvSpPr/>
          <p:nvPr/>
        </p:nvSpPr>
        <p:spPr>
          <a:xfrm>
            <a:off x="3608210" y="2750703"/>
            <a:ext cx="60439" cy="136676"/>
          </a:xfrm>
          <a:prstGeom prst="rect">
            <a:avLst/>
          </a:prstGeom>
          <a:solidFill>
            <a:srgbClr val="12A566"/>
          </a:solidFill>
          <a:ln/>
        </p:spPr>
      </p:sp>
      <p:sp>
        <p:nvSpPr>
          <p:cNvPr id="35" name="Text 33"/>
          <p:cNvSpPr txBox="1"/>
          <p:nvPr/>
        </p:nvSpPr>
        <p:spPr>
          <a:xfrm>
            <a:off x="417880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+$27K</a:t>
            </a:r>
            <a:endParaRPr lang="en-US" sz="1300" dirty="0"/>
          </a:p>
        </p:txBody>
      </p:sp>
      <p:sp>
        <p:nvSpPr>
          <p:cNvPr id="36" name="Text 3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a:t>
            </a:r>
            <a:endParaRPr lang="en-US" sz="1300" dirty="0"/>
          </a:p>
        </p:txBody>
      </p:sp>
      <p:sp>
        <p:nvSpPr>
          <p:cNvPr id="37" name="Text 3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39" name="Shape 37"/>
          <p:cNvSpPr/>
          <p:nvPr/>
        </p:nvSpPr>
        <p:spPr>
          <a:xfrm>
            <a:off x="3608210" y="2999205"/>
            <a:ext cx="52903" cy="136676"/>
          </a:xfrm>
          <a:prstGeom prst="rect">
            <a:avLst/>
          </a:prstGeom>
          <a:solidFill>
            <a:srgbClr val="12A566"/>
          </a:solidFill>
          <a:ln/>
        </p:spPr>
      </p:sp>
      <p:sp>
        <p:nvSpPr>
          <p:cNvPr id="40" name="Text 38"/>
          <p:cNvSpPr txBox="1"/>
          <p:nvPr/>
        </p:nvSpPr>
        <p:spPr>
          <a:xfrm>
            <a:off x="417880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41" name="Text 39"/>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42" name="Text 4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4" name="Shape 42"/>
          <p:cNvSpPr/>
          <p:nvPr/>
        </p:nvSpPr>
        <p:spPr>
          <a:xfrm>
            <a:off x="3608210" y="3247707"/>
            <a:ext cx="38422" cy="136676"/>
          </a:xfrm>
          <a:prstGeom prst="rect">
            <a:avLst/>
          </a:prstGeom>
          <a:solidFill>
            <a:srgbClr val="12A566"/>
          </a:solidFill>
          <a:ln/>
        </p:spPr>
      </p:sp>
      <p:sp>
        <p:nvSpPr>
          <p:cNvPr id="45" name="Text 43"/>
          <p:cNvSpPr txBox="1"/>
          <p:nvPr/>
        </p:nvSpPr>
        <p:spPr>
          <a:xfrm>
            <a:off x="417880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+$17K</a:t>
            </a:r>
            <a:endParaRPr lang="en-US" sz="1300" dirty="0"/>
          </a:p>
        </p:txBody>
      </p:sp>
      <p:sp>
        <p:nvSpPr>
          <p:cNvPr id="46" name="Text 44"/>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47" name="Text 45"/>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49" name="Shape 47"/>
          <p:cNvSpPr/>
          <p:nvPr/>
        </p:nvSpPr>
        <p:spPr>
          <a:xfrm>
            <a:off x="3608210" y="3496208"/>
            <a:ext cx="32407" cy="136676"/>
          </a:xfrm>
          <a:prstGeom prst="rect">
            <a:avLst/>
          </a:prstGeom>
          <a:solidFill>
            <a:srgbClr val="12A566"/>
          </a:solidFill>
          <a:ln/>
        </p:spPr>
      </p:sp>
      <p:sp>
        <p:nvSpPr>
          <p:cNvPr id="50" name="Text 48"/>
          <p:cNvSpPr txBox="1"/>
          <p:nvPr/>
        </p:nvSpPr>
        <p:spPr>
          <a:xfrm>
            <a:off x="4178808" y="344029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+$14K</a:t>
            </a:r>
            <a:endParaRPr lang="en-US" sz="1300" dirty="0"/>
          </a:p>
        </p:txBody>
      </p:sp>
      <p:sp>
        <p:nvSpPr>
          <p:cNvPr id="51" name="Text 49"/>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17.5%</a:t>
            </a:r>
            <a:endParaRPr lang="en-US" sz="1300" dirty="0"/>
          </a:p>
        </p:txBody>
      </p:sp>
      <p:sp>
        <p:nvSpPr>
          <p:cNvPr id="52" name="Text 50"/>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4" name="Shape 52"/>
          <p:cNvSpPr/>
          <p:nvPr/>
        </p:nvSpPr>
        <p:spPr>
          <a:xfrm>
            <a:off x="3606258" y="3744710"/>
            <a:ext cx="18288" cy="136676"/>
          </a:xfrm>
          <a:prstGeom prst="rect">
            <a:avLst/>
          </a:prstGeom>
          <a:solidFill>
            <a:srgbClr val="C2352F"/>
          </a:solidFill>
          <a:ln/>
        </p:spPr>
      </p:sp>
      <p:sp>
        <p:nvSpPr>
          <p:cNvPr id="55" name="Text 53"/>
          <p:cNvSpPr txBox="1"/>
          <p:nvPr/>
        </p:nvSpPr>
        <p:spPr>
          <a:xfrm>
            <a:off x="417880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−$865</a:t>
            </a:r>
            <a:endParaRPr lang="en-US" sz="1300" dirty="0"/>
          </a:p>
        </p:txBody>
      </p:sp>
      <p:sp>
        <p:nvSpPr>
          <p:cNvPr id="56" name="Text 54"/>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57" name="Text 55"/>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9" name="Shape 57"/>
          <p:cNvSpPr/>
          <p:nvPr/>
        </p:nvSpPr>
        <p:spPr>
          <a:xfrm>
            <a:off x="3591832" y="3993212"/>
            <a:ext cx="18288" cy="136676"/>
          </a:xfrm>
          <a:prstGeom prst="rect">
            <a:avLst/>
          </a:prstGeom>
          <a:solidFill>
            <a:srgbClr val="C2352F"/>
          </a:solidFill>
          <a:ln/>
        </p:spPr>
      </p:sp>
      <p:sp>
        <p:nvSpPr>
          <p:cNvPr id="60" name="Text 58"/>
          <p:cNvSpPr txBox="1"/>
          <p:nvPr/>
        </p:nvSpPr>
        <p:spPr>
          <a:xfrm>
            <a:off x="417880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61" name="Text 59"/>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62" name="Text 6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64" name="Shape 62"/>
          <p:cNvSpPr/>
          <p:nvPr/>
        </p:nvSpPr>
        <p:spPr>
          <a:xfrm>
            <a:off x="3587605" y="4241713"/>
            <a:ext cx="20606" cy="136676"/>
          </a:xfrm>
          <a:prstGeom prst="rect">
            <a:avLst/>
          </a:prstGeom>
          <a:solidFill>
            <a:srgbClr val="C2352F"/>
          </a:solidFill>
          <a:ln/>
        </p:spPr>
      </p:sp>
      <p:sp>
        <p:nvSpPr>
          <p:cNvPr id="65" name="Text 63"/>
          <p:cNvSpPr txBox="1"/>
          <p:nvPr/>
        </p:nvSpPr>
        <p:spPr>
          <a:xfrm>
            <a:off x="417880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66" name="Text 64"/>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67" name="Text 65"/>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69" name="Shape 67"/>
          <p:cNvSpPr/>
          <p:nvPr/>
        </p:nvSpPr>
        <p:spPr>
          <a:xfrm>
            <a:off x="3586165" y="4490215"/>
            <a:ext cx="22045" cy="136676"/>
          </a:xfrm>
          <a:prstGeom prst="rect">
            <a:avLst/>
          </a:prstGeom>
          <a:solidFill>
            <a:srgbClr val="C2352F"/>
          </a:solidFill>
          <a:ln/>
        </p:spPr>
      </p:sp>
      <p:sp>
        <p:nvSpPr>
          <p:cNvPr id="70" name="Text 68"/>
          <p:cNvSpPr txBox="1"/>
          <p:nvPr/>
        </p:nvSpPr>
        <p:spPr>
          <a:xfrm>
            <a:off x="417880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71" name="Text 69"/>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72" name="Text 70"/>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74" name="Shape 72"/>
          <p:cNvSpPr/>
          <p:nvPr/>
        </p:nvSpPr>
        <p:spPr>
          <a:xfrm>
            <a:off x="3584721" y="4738717"/>
            <a:ext cx="23489" cy="136676"/>
          </a:xfrm>
          <a:prstGeom prst="rect">
            <a:avLst/>
          </a:prstGeom>
          <a:solidFill>
            <a:srgbClr val="C2352F"/>
          </a:solidFill>
          <a:ln/>
        </p:spPr>
      </p:sp>
      <p:sp>
        <p:nvSpPr>
          <p:cNvPr id="75" name="Text 73"/>
          <p:cNvSpPr txBox="1"/>
          <p:nvPr/>
        </p:nvSpPr>
        <p:spPr>
          <a:xfrm>
            <a:off x="41788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76" name="Text 74"/>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77" name="Text 75"/>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9" name="Shape 77"/>
          <p:cNvSpPr/>
          <p:nvPr/>
        </p:nvSpPr>
        <p:spPr>
          <a:xfrm>
            <a:off x="3582272" y="4987218"/>
            <a:ext cx="25938" cy="136676"/>
          </a:xfrm>
          <a:prstGeom prst="rect">
            <a:avLst/>
          </a:prstGeom>
          <a:solidFill>
            <a:srgbClr val="C2352F"/>
          </a:solidFill>
          <a:ln/>
        </p:spPr>
      </p:sp>
      <p:sp>
        <p:nvSpPr>
          <p:cNvPr id="80" name="Text 78"/>
          <p:cNvSpPr txBox="1"/>
          <p:nvPr/>
        </p:nvSpPr>
        <p:spPr>
          <a:xfrm>
            <a:off x="41788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81" name="Text 79"/>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82" name="Text 80"/>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3580943" y="5235720"/>
            <a:ext cx="27268" cy="136676"/>
          </a:xfrm>
          <a:prstGeom prst="rect">
            <a:avLst/>
          </a:prstGeom>
          <a:solidFill>
            <a:srgbClr val="C2352F"/>
          </a:solidFill>
          <a:ln/>
        </p:spPr>
      </p:sp>
      <p:sp>
        <p:nvSpPr>
          <p:cNvPr id="85" name="Text 83"/>
          <p:cNvSpPr txBox="1"/>
          <p:nvPr/>
        </p:nvSpPr>
        <p:spPr>
          <a:xfrm>
            <a:off x="41788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−$12K</a:t>
            </a:r>
            <a:endParaRPr lang="en-US" sz="1300" dirty="0"/>
          </a:p>
        </p:txBody>
      </p:sp>
      <p:sp>
        <p:nvSpPr>
          <p:cNvPr id="86" name="Text 8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87" name="Text 8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89" name="Shape 87"/>
          <p:cNvSpPr/>
          <p:nvPr/>
        </p:nvSpPr>
        <p:spPr>
          <a:xfrm>
            <a:off x="3568116" y="5484222"/>
            <a:ext cx="40094" cy="136676"/>
          </a:xfrm>
          <a:prstGeom prst="rect">
            <a:avLst/>
          </a:prstGeom>
          <a:solidFill>
            <a:srgbClr val="C2352F"/>
          </a:solidFill>
          <a:ln/>
        </p:spPr>
      </p:sp>
      <p:sp>
        <p:nvSpPr>
          <p:cNvPr id="90" name="Text 88"/>
          <p:cNvSpPr txBox="1"/>
          <p:nvPr/>
        </p:nvSpPr>
        <p:spPr>
          <a:xfrm>
            <a:off x="41788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91" name="Text 89"/>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92" name="Text 9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4" name="Shape 92"/>
          <p:cNvSpPr/>
          <p:nvPr/>
        </p:nvSpPr>
        <p:spPr>
          <a:xfrm>
            <a:off x="3560947" y="5732723"/>
            <a:ext cx="47264" cy="136676"/>
          </a:xfrm>
          <a:prstGeom prst="rect">
            <a:avLst/>
          </a:prstGeom>
          <a:solidFill>
            <a:srgbClr val="C2352F"/>
          </a:solidFill>
          <a:ln/>
        </p:spPr>
      </p:sp>
      <p:sp>
        <p:nvSpPr>
          <p:cNvPr id="95" name="Text 93"/>
          <p:cNvSpPr txBox="1"/>
          <p:nvPr/>
        </p:nvSpPr>
        <p:spPr>
          <a:xfrm>
            <a:off x="41788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96" name="Text 94"/>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97" name="Text 95"/>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8" name="Text 96"/>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9" name="Shape 97"/>
          <p:cNvSpPr/>
          <p:nvPr/>
        </p:nvSpPr>
        <p:spPr>
          <a:xfrm>
            <a:off x="9107541" y="1756697"/>
            <a:ext cx="51077" cy="136676"/>
          </a:xfrm>
          <a:prstGeom prst="rect">
            <a:avLst/>
          </a:prstGeom>
          <a:solidFill>
            <a:srgbClr val="C2352F"/>
          </a:solidFill>
          <a:ln/>
        </p:spPr>
      </p:sp>
      <p:sp>
        <p:nvSpPr>
          <p:cNvPr id="100" name="Text 98"/>
          <p:cNvSpPr txBox="1"/>
          <p:nvPr/>
        </p:nvSpPr>
        <p:spPr>
          <a:xfrm>
            <a:off x="97292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101" name="Text 99"/>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02" name="Text 100"/>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3" name="Text 101"/>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4" name="Shape 102"/>
          <p:cNvSpPr/>
          <p:nvPr/>
        </p:nvSpPr>
        <p:spPr>
          <a:xfrm>
            <a:off x="9105708" y="2005199"/>
            <a:ext cx="52910" cy="136676"/>
          </a:xfrm>
          <a:prstGeom prst="rect">
            <a:avLst/>
          </a:prstGeom>
          <a:solidFill>
            <a:srgbClr val="C2352F"/>
          </a:solidFill>
          <a:ln/>
        </p:spPr>
      </p:sp>
      <p:sp>
        <p:nvSpPr>
          <p:cNvPr id="105" name="Text 103"/>
          <p:cNvSpPr txBox="1"/>
          <p:nvPr/>
        </p:nvSpPr>
        <p:spPr>
          <a:xfrm>
            <a:off x="97292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106" name="Text 104"/>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107" name="Text 105"/>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8" name="Text 106"/>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09" name="Shape 107"/>
          <p:cNvSpPr/>
          <p:nvPr/>
        </p:nvSpPr>
        <p:spPr>
          <a:xfrm>
            <a:off x="9101403" y="2253700"/>
            <a:ext cx="57215" cy="136676"/>
          </a:xfrm>
          <a:prstGeom prst="rect">
            <a:avLst/>
          </a:prstGeom>
          <a:solidFill>
            <a:srgbClr val="C2352F"/>
          </a:solidFill>
          <a:ln/>
        </p:spPr>
      </p:sp>
      <p:sp>
        <p:nvSpPr>
          <p:cNvPr id="110" name="Text 108"/>
          <p:cNvSpPr txBox="1"/>
          <p:nvPr/>
        </p:nvSpPr>
        <p:spPr>
          <a:xfrm>
            <a:off x="97292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11" name="Text 109"/>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12" name="Text 11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4" name="Shape 112"/>
          <p:cNvSpPr/>
          <p:nvPr/>
        </p:nvSpPr>
        <p:spPr>
          <a:xfrm>
            <a:off x="9099265" y="2502202"/>
            <a:ext cx="59354" cy="136676"/>
          </a:xfrm>
          <a:prstGeom prst="rect">
            <a:avLst/>
          </a:prstGeom>
          <a:solidFill>
            <a:srgbClr val="C2352F"/>
          </a:solidFill>
          <a:ln/>
        </p:spPr>
      </p:sp>
      <p:sp>
        <p:nvSpPr>
          <p:cNvPr id="115" name="Text 113"/>
          <p:cNvSpPr txBox="1"/>
          <p:nvPr/>
        </p:nvSpPr>
        <p:spPr>
          <a:xfrm>
            <a:off x="97292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116" name="Text 114"/>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17" name="Text 115"/>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8" name="Text 116"/>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19" name="Shape 117"/>
          <p:cNvSpPr/>
          <p:nvPr/>
        </p:nvSpPr>
        <p:spPr>
          <a:xfrm>
            <a:off x="9084954" y="2750703"/>
            <a:ext cx="73665" cy="136676"/>
          </a:xfrm>
          <a:prstGeom prst="rect">
            <a:avLst/>
          </a:prstGeom>
          <a:solidFill>
            <a:srgbClr val="C2352F"/>
          </a:solidFill>
          <a:ln/>
        </p:spPr>
      </p:sp>
      <p:sp>
        <p:nvSpPr>
          <p:cNvPr id="120" name="Text 118"/>
          <p:cNvSpPr txBox="1"/>
          <p:nvPr/>
        </p:nvSpPr>
        <p:spPr>
          <a:xfrm>
            <a:off x="97292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−$33K</a:t>
            </a:r>
            <a:endParaRPr lang="en-US" sz="1300" dirty="0"/>
          </a:p>
        </p:txBody>
      </p:sp>
      <p:sp>
        <p:nvSpPr>
          <p:cNvPr id="121" name="Text 11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122" name="Text 12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3" name="Text 121"/>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24" name="Shape 122"/>
          <p:cNvSpPr/>
          <p:nvPr/>
        </p:nvSpPr>
        <p:spPr>
          <a:xfrm>
            <a:off x="9083815" y="2999205"/>
            <a:ext cx="74803" cy="136676"/>
          </a:xfrm>
          <a:prstGeom prst="rect">
            <a:avLst/>
          </a:prstGeom>
          <a:solidFill>
            <a:srgbClr val="C2352F"/>
          </a:solidFill>
          <a:ln/>
        </p:spPr>
      </p:sp>
      <p:sp>
        <p:nvSpPr>
          <p:cNvPr id="125" name="Text 123"/>
          <p:cNvSpPr txBox="1"/>
          <p:nvPr/>
        </p:nvSpPr>
        <p:spPr>
          <a:xfrm>
            <a:off x="97292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−$33K</a:t>
            </a:r>
            <a:endParaRPr lang="en-US" sz="1300" dirty="0"/>
          </a:p>
        </p:txBody>
      </p:sp>
      <p:sp>
        <p:nvSpPr>
          <p:cNvPr id="126" name="Text 124"/>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27" name="Text 125"/>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8" name="Text 126"/>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29" name="Shape 127"/>
          <p:cNvSpPr/>
          <p:nvPr/>
        </p:nvSpPr>
        <p:spPr>
          <a:xfrm>
            <a:off x="9081129" y="3247707"/>
            <a:ext cx="77490" cy="136676"/>
          </a:xfrm>
          <a:prstGeom prst="rect">
            <a:avLst/>
          </a:prstGeom>
          <a:solidFill>
            <a:srgbClr val="C2352F"/>
          </a:solidFill>
          <a:ln/>
        </p:spPr>
      </p:sp>
      <p:sp>
        <p:nvSpPr>
          <p:cNvPr id="130" name="Text 128"/>
          <p:cNvSpPr txBox="1"/>
          <p:nvPr/>
        </p:nvSpPr>
        <p:spPr>
          <a:xfrm>
            <a:off x="97292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31" name="Text 12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32" name="Text 13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3" name="Text 131"/>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34" name="Shape 132"/>
          <p:cNvSpPr/>
          <p:nvPr/>
        </p:nvSpPr>
        <p:spPr>
          <a:xfrm>
            <a:off x="9076646" y="3496208"/>
            <a:ext cx="81973" cy="136676"/>
          </a:xfrm>
          <a:prstGeom prst="rect">
            <a:avLst/>
          </a:prstGeom>
          <a:solidFill>
            <a:srgbClr val="C2352F"/>
          </a:solidFill>
          <a:ln/>
        </p:spPr>
      </p:sp>
      <p:sp>
        <p:nvSpPr>
          <p:cNvPr id="135" name="Text 133"/>
          <p:cNvSpPr txBox="1"/>
          <p:nvPr/>
        </p:nvSpPr>
        <p:spPr>
          <a:xfrm>
            <a:off x="97292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136" name="Text 13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37" name="Text 13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8" name="Text 136"/>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39" name="Shape 137"/>
          <p:cNvSpPr/>
          <p:nvPr/>
        </p:nvSpPr>
        <p:spPr>
          <a:xfrm>
            <a:off x="9072387" y="3744710"/>
            <a:ext cx="86231" cy="136676"/>
          </a:xfrm>
          <a:prstGeom prst="rect">
            <a:avLst/>
          </a:prstGeom>
          <a:solidFill>
            <a:srgbClr val="C2352F"/>
          </a:solidFill>
          <a:ln/>
        </p:spPr>
      </p:sp>
      <p:sp>
        <p:nvSpPr>
          <p:cNvPr id="140" name="Text 138"/>
          <p:cNvSpPr txBox="1"/>
          <p:nvPr/>
        </p:nvSpPr>
        <p:spPr>
          <a:xfrm>
            <a:off x="97292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141" name="Text 139"/>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42" name="Text 14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3" name="Text 14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4" name="Shape 142"/>
          <p:cNvSpPr/>
          <p:nvPr/>
        </p:nvSpPr>
        <p:spPr>
          <a:xfrm>
            <a:off x="9047176" y="3993212"/>
            <a:ext cx="111443" cy="136676"/>
          </a:xfrm>
          <a:prstGeom prst="rect">
            <a:avLst/>
          </a:prstGeom>
          <a:solidFill>
            <a:srgbClr val="C2352F"/>
          </a:solidFill>
          <a:ln/>
        </p:spPr>
      </p:sp>
      <p:sp>
        <p:nvSpPr>
          <p:cNvPr id="145" name="Text 143"/>
          <p:cNvSpPr txBox="1"/>
          <p:nvPr/>
        </p:nvSpPr>
        <p:spPr>
          <a:xfrm>
            <a:off x="97292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−$49K</a:t>
            </a:r>
            <a:endParaRPr lang="en-US" sz="1300" dirty="0"/>
          </a:p>
        </p:txBody>
      </p:sp>
      <p:sp>
        <p:nvSpPr>
          <p:cNvPr id="146" name="Text 144"/>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147" name="Text 145"/>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8" name="Text 146"/>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9" name="Shape 147"/>
          <p:cNvSpPr/>
          <p:nvPr/>
        </p:nvSpPr>
        <p:spPr>
          <a:xfrm>
            <a:off x="9029635" y="4241713"/>
            <a:ext cx="128983" cy="136676"/>
          </a:xfrm>
          <a:prstGeom prst="rect">
            <a:avLst/>
          </a:prstGeom>
          <a:solidFill>
            <a:srgbClr val="C2352F"/>
          </a:solidFill>
          <a:ln/>
        </p:spPr>
      </p:sp>
      <p:sp>
        <p:nvSpPr>
          <p:cNvPr id="150" name="Text 148"/>
          <p:cNvSpPr txBox="1"/>
          <p:nvPr/>
        </p:nvSpPr>
        <p:spPr>
          <a:xfrm>
            <a:off x="97292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51" name="Text 149"/>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52" name="Text 150"/>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3" name="Text 151"/>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54" name="Shape 152"/>
          <p:cNvSpPr/>
          <p:nvPr/>
        </p:nvSpPr>
        <p:spPr>
          <a:xfrm>
            <a:off x="8988331" y="4490215"/>
            <a:ext cx="170287" cy="136676"/>
          </a:xfrm>
          <a:prstGeom prst="rect">
            <a:avLst/>
          </a:prstGeom>
          <a:solidFill>
            <a:srgbClr val="C2352F"/>
          </a:solidFill>
          <a:ln/>
        </p:spPr>
      </p:sp>
      <p:sp>
        <p:nvSpPr>
          <p:cNvPr id="155" name="Text 153"/>
          <p:cNvSpPr txBox="1"/>
          <p:nvPr/>
        </p:nvSpPr>
        <p:spPr>
          <a:xfrm>
            <a:off x="97292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−$75K</a:t>
            </a:r>
            <a:endParaRPr lang="en-US" sz="1300" dirty="0"/>
          </a:p>
        </p:txBody>
      </p:sp>
      <p:sp>
        <p:nvSpPr>
          <p:cNvPr id="156" name="Text 154"/>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57" name="Text 155"/>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8" name="Text 156"/>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59" name="Shape 157"/>
          <p:cNvSpPr/>
          <p:nvPr/>
        </p:nvSpPr>
        <p:spPr>
          <a:xfrm>
            <a:off x="8985336" y="4738717"/>
            <a:ext cx="173282" cy="136676"/>
          </a:xfrm>
          <a:prstGeom prst="rect">
            <a:avLst/>
          </a:prstGeom>
          <a:solidFill>
            <a:srgbClr val="C2352F"/>
          </a:solidFill>
          <a:ln/>
        </p:spPr>
      </p:sp>
      <p:sp>
        <p:nvSpPr>
          <p:cNvPr id="160" name="Text 158"/>
          <p:cNvSpPr txBox="1"/>
          <p:nvPr/>
        </p:nvSpPr>
        <p:spPr>
          <a:xfrm>
            <a:off x="97292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161" name="Text 15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162" name="Text 16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3" name="Text 161"/>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64" name="Shape 162"/>
          <p:cNvSpPr/>
          <p:nvPr/>
        </p:nvSpPr>
        <p:spPr>
          <a:xfrm>
            <a:off x="8971042" y="4987218"/>
            <a:ext cx="187577" cy="136676"/>
          </a:xfrm>
          <a:prstGeom prst="rect">
            <a:avLst/>
          </a:prstGeom>
          <a:solidFill>
            <a:srgbClr val="C2352F"/>
          </a:solidFill>
          <a:ln/>
        </p:spPr>
      </p:sp>
      <p:sp>
        <p:nvSpPr>
          <p:cNvPr id="165" name="Text 163"/>
          <p:cNvSpPr txBox="1"/>
          <p:nvPr/>
        </p:nvSpPr>
        <p:spPr>
          <a:xfrm>
            <a:off x="97292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−$83K</a:t>
            </a:r>
            <a:endParaRPr lang="en-US" sz="1300" dirty="0"/>
          </a:p>
        </p:txBody>
      </p:sp>
      <p:sp>
        <p:nvSpPr>
          <p:cNvPr id="166" name="Text 16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167" name="Text 16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8" name="Text 166"/>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9" name="Shape 167"/>
          <p:cNvSpPr/>
          <p:nvPr/>
        </p:nvSpPr>
        <p:spPr>
          <a:xfrm>
            <a:off x="8955629" y="5235720"/>
            <a:ext cx="202990" cy="136676"/>
          </a:xfrm>
          <a:prstGeom prst="rect">
            <a:avLst/>
          </a:prstGeom>
          <a:solidFill>
            <a:srgbClr val="C2352F"/>
          </a:solidFill>
          <a:ln/>
        </p:spPr>
      </p:sp>
      <p:sp>
        <p:nvSpPr>
          <p:cNvPr id="170" name="Text 168"/>
          <p:cNvSpPr txBox="1"/>
          <p:nvPr/>
        </p:nvSpPr>
        <p:spPr>
          <a:xfrm>
            <a:off x="97292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−$90K</a:t>
            </a:r>
            <a:endParaRPr lang="en-US" sz="1300" dirty="0"/>
          </a:p>
        </p:txBody>
      </p:sp>
      <p:sp>
        <p:nvSpPr>
          <p:cNvPr id="171" name="Text 16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172" name="Text 17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3" name="Text 171"/>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4" name="Shape 172"/>
          <p:cNvSpPr/>
          <p:nvPr/>
        </p:nvSpPr>
        <p:spPr>
          <a:xfrm>
            <a:off x="8650224" y="5484222"/>
            <a:ext cx="508394" cy="136676"/>
          </a:xfrm>
          <a:prstGeom prst="rect">
            <a:avLst/>
          </a:prstGeom>
          <a:solidFill>
            <a:srgbClr val="C2352F"/>
          </a:solidFill>
          <a:ln/>
        </p:spPr>
      </p:sp>
      <p:sp>
        <p:nvSpPr>
          <p:cNvPr id="175" name="Text 173"/>
          <p:cNvSpPr txBox="1"/>
          <p:nvPr/>
        </p:nvSpPr>
        <p:spPr>
          <a:xfrm>
            <a:off x="97292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−$225K</a:t>
            </a:r>
            <a:endParaRPr lang="en-US" sz="1300" dirty="0"/>
          </a:p>
        </p:txBody>
      </p:sp>
      <p:sp>
        <p:nvSpPr>
          <p:cNvPr id="176" name="Text 17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77" name="Shape 175"/>
          <p:cNvSpPr/>
          <p:nvPr/>
        </p:nvSpPr>
        <p:spPr>
          <a:xfrm>
            <a:off x="6085332" y="1700784"/>
            <a:ext cx="10973" cy="4224528"/>
          </a:xfrm>
          <a:prstGeom prst="rect">
            <a:avLst/>
          </a:prstGeom>
          <a:solidFill>
            <a:srgbClr val="D9D9D9"/>
          </a:solidFill>
          <a:ln/>
        </p:spPr>
      </p:sp>
      <p:sp>
        <p:nvSpPr>
          <p:cNvPr id="178" name="Shape 176"/>
          <p:cNvSpPr/>
          <p:nvPr/>
        </p:nvSpPr>
        <p:spPr>
          <a:xfrm>
            <a:off x="457200" y="6126480"/>
            <a:ext cx="11274552" cy="341376"/>
          </a:xfrm>
          <a:prstGeom prst="rect">
            <a:avLst/>
          </a:prstGeom>
          <a:solidFill>
            <a:srgbClr val="FBEBEA"/>
          </a:solidFill>
          <a:ln/>
        </p:spPr>
      </p:sp>
      <p:sp>
        <p:nvSpPr>
          <p:cNvPr id="179" name="Text 17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25 stores under 15% leave $1,029,276 a year; 8 are at or above it. Toyota Spokane is furthest below at −$225K.</a:t>
            </a:r>
            <a:endParaRPr lang="en-US" sz="1400" dirty="0"/>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4" name="Shape 12"/>
          <p:cNvSpPr/>
          <p:nvPr/>
        </p:nvSpPr>
        <p:spPr>
          <a:xfrm>
            <a:off x="4084320" y="2894990"/>
            <a:ext cx="64008" cy="682142"/>
          </a:xfrm>
          <a:prstGeom prst="rect">
            <a:avLst/>
          </a:prstGeom>
          <a:solidFill>
            <a:srgbClr val="12A566"/>
          </a:solidFill>
          <a:ln/>
        </p:spPr>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21.7%</a:t>
            </a:r>
            <a:endParaRPr lang="en-US" sz="1400" dirty="0"/>
          </a:p>
        </p:txBody>
      </p:sp>
      <p:sp>
        <p:nvSpPr>
          <p:cNvPr id="17" name="Text 15"/>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18" name="Shape 16"/>
          <p:cNvSpPr/>
          <p:nvPr/>
        </p:nvSpPr>
        <p:spPr>
          <a:xfrm>
            <a:off x="658368" y="3613709"/>
            <a:ext cx="3489960" cy="755294"/>
          </a:xfrm>
          <a:prstGeom prst="rect">
            <a:avLst/>
          </a:prstGeom>
          <a:solidFill>
            <a:srgbClr val="F7F7F7"/>
          </a:solidFill>
          <a:ln/>
        </p:spPr>
      </p:sp>
      <p:sp>
        <p:nvSpPr>
          <p:cNvPr id="19" name="Text 17"/>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21" name="Text 19"/>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2" name="Shape 20"/>
          <p:cNvSpPr/>
          <p:nvPr/>
        </p:nvSpPr>
        <p:spPr>
          <a:xfrm>
            <a:off x="4084320" y="4405579"/>
            <a:ext cx="64008" cy="682142"/>
          </a:xfrm>
          <a:prstGeom prst="rect">
            <a:avLst/>
          </a:prstGeom>
          <a:solidFill>
            <a:srgbClr val="12A566"/>
          </a:solidFill>
          <a:ln/>
        </p:spPr>
      </p:sp>
      <p:sp>
        <p:nvSpPr>
          <p:cNvPr id="23" name="Text 21"/>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5" name="Text 23"/>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6" name="Shape 24"/>
          <p:cNvSpPr/>
          <p:nvPr/>
        </p:nvSpPr>
        <p:spPr>
          <a:xfrm>
            <a:off x="658368" y="5124298"/>
            <a:ext cx="3489960" cy="755294"/>
          </a:xfrm>
          <a:prstGeom prst="rect">
            <a:avLst/>
          </a:prstGeom>
          <a:solidFill>
            <a:srgbClr val="F7F7F7"/>
          </a:solidFill>
          <a:ln/>
        </p:spPr>
      </p:sp>
      <p:sp>
        <p:nvSpPr>
          <p:cNvPr id="27" name="Text 25"/>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17.3%</a:t>
            </a:r>
            <a:endParaRPr lang="en-US" sz="1400" dirty="0"/>
          </a:p>
        </p:txBody>
      </p:sp>
      <p:sp>
        <p:nvSpPr>
          <p:cNvPr id="29" name="Text 27"/>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+5.9 pts</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755294"/>
          </a:xfrm>
          <a:prstGeom prst="rect">
            <a:avLst/>
          </a:prstGeom>
          <a:solidFill>
            <a:srgbClr val="F7F7F7"/>
          </a:solidFill>
          <a:ln/>
        </p:spPr>
      </p:sp>
      <p:sp>
        <p:nvSpPr>
          <p:cNvPr id="34" name="Text 32"/>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sp>
        <p:nvSpPr>
          <p:cNvPr id="36" name="Text 34"/>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−4.9 pts</a:t>
            </a:r>
            <a:endParaRPr lang="en-US" sz="1600" dirty="0"/>
          </a:p>
        </p:txBody>
      </p:sp>
      <p:sp>
        <p:nvSpPr>
          <p:cNvPr id="37" name="Text 35"/>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9.7%</a:t>
            </a:r>
            <a:endParaRPr lang="en-US" sz="1400" dirty="0"/>
          </a:p>
        </p:txBody>
      </p:sp>
      <p:sp>
        <p:nvSpPr>
          <p:cNvPr id="39" name="Text 37"/>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 pts</a:t>
            </a:r>
            <a:endParaRPr lang="en-US" sz="1600" dirty="0"/>
          </a:p>
        </p:txBody>
      </p:sp>
      <p:sp>
        <p:nvSpPr>
          <p:cNvPr id="40" name="Shape 38"/>
          <p:cNvSpPr/>
          <p:nvPr/>
        </p:nvSpPr>
        <p:spPr>
          <a:xfrm>
            <a:off x="4349496" y="3613709"/>
            <a:ext cx="3489960" cy="755294"/>
          </a:xfrm>
          <a:prstGeom prst="rect">
            <a:avLst/>
          </a:prstGeom>
          <a:solidFill>
            <a:srgbClr val="F7F7F7"/>
          </a:solidFill>
          <a:ln/>
        </p:spPr>
      </p:sp>
      <p:sp>
        <p:nvSpPr>
          <p:cNvPr id="41" name="Text 39"/>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43" name="Text 41"/>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44" name="Text 42"/>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a:t>
            </a:r>
            <a:endParaRPr lang="en-US" sz="1400" dirty="0"/>
          </a:p>
        </p:txBody>
      </p:sp>
      <p:sp>
        <p:nvSpPr>
          <p:cNvPr id="46" name="Text 44"/>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47" name="Shape 45"/>
          <p:cNvSpPr/>
          <p:nvPr/>
        </p:nvSpPr>
        <p:spPr>
          <a:xfrm>
            <a:off x="4349496" y="5124298"/>
            <a:ext cx="3489960" cy="755294"/>
          </a:xfrm>
          <a:prstGeom prst="rect">
            <a:avLst/>
          </a:prstGeom>
          <a:solidFill>
            <a:srgbClr val="F7F7F7"/>
          </a:solidFill>
          <a:ln/>
        </p:spPr>
      </p:sp>
      <p:sp>
        <p:nvSpPr>
          <p:cNvPr id="48" name="Text 46"/>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50" name="Text 48"/>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4" name="Shape 52"/>
          <p:cNvSpPr/>
          <p:nvPr/>
        </p:nvSpPr>
        <p:spPr>
          <a:xfrm>
            <a:off x="8040624" y="2103120"/>
            <a:ext cx="3489960" cy="755294"/>
          </a:xfrm>
          <a:prstGeom prst="rect">
            <a:avLst/>
          </a:prstGeom>
          <a:solidFill>
            <a:srgbClr val="F7F7F7"/>
          </a:solidFill>
          <a:ln/>
        </p:spPr>
      </p:sp>
      <p:sp>
        <p:nvSpPr>
          <p:cNvPr id="55" name="Text 53"/>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31.7%</a:t>
            </a:r>
            <a:endParaRPr lang="en-US" sz="1400" dirty="0"/>
          </a:p>
        </p:txBody>
      </p:sp>
      <p:sp>
        <p:nvSpPr>
          <p:cNvPr id="57" name="Text 55"/>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58" name="Shape 56"/>
          <p:cNvSpPr/>
          <p:nvPr/>
        </p:nvSpPr>
        <p:spPr>
          <a:xfrm>
            <a:off x="11466576" y="2894990"/>
            <a:ext cx="64008" cy="682142"/>
          </a:xfrm>
          <a:prstGeom prst="rect">
            <a:avLst/>
          </a:prstGeom>
          <a:solidFill>
            <a:srgbClr val="12A566"/>
          </a:solidFill>
          <a:ln/>
        </p:spPr>
      </p:sp>
      <p:sp>
        <p:nvSpPr>
          <p:cNvPr id="59" name="Text 57"/>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22.8%</a:t>
            </a:r>
            <a:endParaRPr lang="en-US" sz="1400" dirty="0"/>
          </a:p>
        </p:txBody>
      </p:sp>
      <p:sp>
        <p:nvSpPr>
          <p:cNvPr id="61" name="Text 59"/>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+10.2 pts</a:t>
            </a:r>
            <a:endParaRPr lang="en-US" sz="1600" dirty="0"/>
          </a:p>
        </p:txBody>
      </p:sp>
      <p:sp>
        <p:nvSpPr>
          <p:cNvPr id="62" name="Shape 60"/>
          <p:cNvSpPr/>
          <p:nvPr/>
        </p:nvSpPr>
        <p:spPr>
          <a:xfrm>
            <a:off x="8040624" y="3613709"/>
            <a:ext cx="3489960" cy="755294"/>
          </a:xfrm>
          <a:prstGeom prst="rect">
            <a:avLst/>
          </a:prstGeom>
          <a:solidFill>
            <a:srgbClr val="F7F7F7"/>
          </a:solidFill>
          <a:ln/>
        </p:spPr>
      </p:sp>
      <p:sp>
        <p:nvSpPr>
          <p:cNvPr id="63" name="Text 6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5" name="Text 63"/>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66" name="Shape 64"/>
          <p:cNvSpPr/>
          <p:nvPr/>
        </p:nvSpPr>
        <p:spPr>
          <a:xfrm>
            <a:off x="11466576" y="4405579"/>
            <a:ext cx="64008" cy="682142"/>
          </a:xfrm>
          <a:prstGeom prst="rect">
            <a:avLst/>
          </a:prstGeom>
          <a:solidFill>
            <a:srgbClr val="12A566"/>
          </a:solidFill>
          <a:ln/>
        </p:spPr>
      </p:sp>
      <p:sp>
        <p:nvSpPr>
          <p:cNvPr id="67" name="Text 6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25.7%</a:t>
            </a:r>
            <a:endParaRPr lang="en-US" sz="1400" dirty="0"/>
          </a:p>
        </p:txBody>
      </p:sp>
      <p:sp>
        <p:nvSpPr>
          <p:cNvPr id="69" name="Text 67"/>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 pts</a:t>
            </a:r>
            <a:endParaRPr lang="en-US" sz="1600" dirty="0"/>
          </a:p>
        </p:txBody>
      </p:sp>
      <p:sp>
        <p:nvSpPr>
          <p:cNvPr id="70" name="Shape 68"/>
          <p:cNvSpPr/>
          <p:nvPr/>
        </p:nvSpPr>
        <p:spPr>
          <a:xfrm>
            <a:off x="8040624" y="5124298"/>
            <a:ext cx="3489960" cy="755294"/>
          </a:xfrm>
          <a:prstGeom prst="rect">
            <a:avLst/>
          </a:prstGeom>
          <a:solidFill>
            <a:srgbClr val="F7F7F7"/>
          </a:solidFill>
          <a:ln/>
        </p:spPr>
      </p:sp>
      <p:sp>
        <p:nvSpPr>
          <p:cNvPr id="71" name="Shape 69"/>
          <p:cNvSpPr/>
          <p:nvPr/>
        </p:nvSpPr>
        <p:spPr>
          <a:xfrm>
            <a:off x="11466576" y="5160874"/>
            <a:ext cx="64008" cy="682142"/>
          </a:xfrm>
          <a:prstGeom prst="rect">
            <a:avLst/>
          </a:prstGeom>
          <a:solidFill>
            <a:srgbClr val="12A566"/>
          </a:solidFill>
          <a:ln/>
        </p:spPr>
      </p:sp>
      <p:sp>
        <p:nvSpPr>
          <p:cNvPr id="72" name="Text 7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74" name="Text 72"/>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75" name="Shape 73"/>
          <p:cNvSpPr/>
          <p:nvPr/>
        </p:nvSpPr>
        <p:spPr>
          <a:xfrm>
            <a:off x="457200" y="6126480"/>
            <a:ext cx="11274552" cy="615696"/>
          </a:xfrm>
          <a:prstGeom prst="rect">
            <a:avLst/>
          </a:prstGeom>
          <a:solidFill>
            <a:srgbClr val="EDF4FA"/>
          </a:solidFill>
          <a:ln/>
        </p:spPr>
      </p:sp>
      <p:sp>
        <p:nvSpPr>
          <p:cNvPr id="76" name="Text 74"/>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Hyundai Prescott and GMC Prescott what changed. Ask LR Reno, Kia LV and Subaru LV what got in the way. Ask Audi Henderson, Mazda and Kia St George what they started this year.</a:t>
            </a:r>
            <a:endParaRPr lang="en-US" sz="1600" dirty="0"/>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6.6 pts under the 15% benchmark — 18,493 balances short.</a:t>
            </a:r>
            <a:endParaRPr lang="en-US" sz="1600" dirty="0"/>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led by LR Henderson at 27.0%. The group sits at 8.3%.</a:t>
            </a:r>
            <a:endParaRPr lang="en-US" sz="1600" dirty="0"/>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1788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Shape 6"/>
          <p:cNvSpPr/>
          <p:nvPr/>
        </p:nvSpPr>
        <p:spPr>
          <a:xfrm>
            <a:off x="3831949" y="1700784"/>
            <a:ext cx="10973" cy="4224528"/>
          </a:xfrm>
          <a:prstGeom prst="rect">
            <a:avLst/>
          </a:prstGeom>
          <a:solidFill>
            <a:srgbClr val="9AA3AD"/>
          </a:solidFill>
          <a:ln/>
        </p:spPr>
      </p:sp>
      <p:sp>
        <p:nvSpPr>
          <p:cNvPr id="9" name="Text 7"/>
          <p:cNvSpPr txBox="1"/>
          <p:nvPr/>
        </p:nvSpPr>
        <p:spPr>
          <a:xfrm>
            <a:off x="97292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Shape 9"/>
          <p:cNvSpPr/>
          <p:nvPr/>
        </p:nvSpPr>
        <p:spPr>
          <a:xfrm>
            <a:off x="9382357"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837435" y="1756697"/>
            <a:ext cx="286509" cy="136676"/>
          </a:xfrm>
          <a:prstGeom prst="rect">
            <a:avLst/>
          </a:prstGeom>
          <a:solidFill>
            <a:srgbClr val="12A566"/>
          </a:solidFill>
          <a:ln/>
        </p:spPr>
      </p:sp>
      <p:sp>
        <p:nvSpPr>
          <p:cNvPr id="15" name="Text 13"/>
          <p:cNvSpPr txBox="1"/>
          <p:nvPr/>
        </p:nvSpPr>
        <p:spPr>
          <a:xfrm>
            <a:off x="41788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+$70K</a:t>
            </a:r>
            <a:endParaRPr lang="en-US" sz="1300" dirty="0"/>
          </a:p>
        </p:txBody>
      </p:sp>
      <p:sp>
        <p:nvSpPr>
          <p:cNvPr id="16" name="Text 14"/>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17" name="Text 15"/>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9" name="Shape 17"/>
          <p:cNvSpPr/>
          <p:nvPr/>
        </p:nvSpPr>
        <p:spPr>
          <a:xfrm>
            <a:off x="3837435" y="2005199"/>
            <a:ext cx="125398" cy="136676"/>
          </a:xfrm>
          <a:prstGeom prst="rect">
            <a:avLst/>
          </a:prstGeom>
          <a:solidFill>
            <a:srgbClr val="12A566"/>
          </a:solidFill>
          <a:ln/>
        </p:spPr>
      </p:sp>
      <p:sp>
        <p:nvSpPr>
          <p:cNvPr id="20" name="Text 18"/>
          <p:cNvSpPr txBox="1"/>
          <p:nvPr/>
        </p:nvSpPr>
        <p:spPr>
          <a:xfrm>
            <a:off x="41788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21" name="Text 19"/>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27.0%</a:t>
            </a:r>
            <a:endParaRPr lang="en-US" sz="1300" dirty="0"/>
          </a:p>
        </p:txBody>
      </p:sp>
      <p:sp>
        <p:nvSpPr>
          <p:cNvPr id="22" name="Text 20"/>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4" name="Shape 22"/>
          <p:cNvSpPr/>
          <p:nvPr/>
        </p:nvSpPr>
        <p:spPr>
          <a:xfrm>
            <a:off x="3837435" y="2253700"/>
            <a:ext cx="56794" cy="136676"/>
          </a:xfrm>
          <a:prstGeom prst="rect">
            <a:avLst/>
          </a:prstGeom>
          <a:solidFill>
            <a:srgbClr val="12A566"/>
          </a:solidFill>
          <a:ln/>
        </p:spPr>
      </p:sp>
      <p:sp>
        <p:nvSpPr>
          <p:cNvPr id="25" name="Text 23"/>
          <p:cNvSpPr txBox="1"/>
          <p:nvPr/>
        </p:nvSpPr>
        <p:spPr>
          <a:xfrm>
            <a:off x="41788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+$14K</a:t>
            </a:r>
            <a:endParaRPr lang="en-US" sz="1300" dirty="0"/>
          </a:p>
        </p:txBody>
      </p:sp>
      <p:sp>
        <p:nvSpPr>
          <p:cNvPr id="26" name="Text 24"/>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27" name="Text 25"/>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29" name="Shape 27"/>
          <p:cNvSpPr/>
          <p:nvPr/>
        </p:nvSpPr>
        <p:spPr>
          <a:xfrm>
            <a:off x="3837435" y="2502202"/>
            <a:ext cx="22738" cy="136676"/>
          </a:xfrm>
          <a:prstGeom prst="rect">
            <a:avLst/>
          </a:prstGeom>
          <a:solidFill>
            <a:srgbClr val="12A566"/>
          </a:solidFill>
          <a:ln/>
        </p:spPr>
      </p:sp>
      <p:sp>
        <p:nvSpPr>
          <p:cNvPr id="30" name="Text 28"/>
          <p:cNvSpPr txBox="1"/>
          <p:nvPr/>
        </p:nvSpPr>
        <p:spPr>
          <a:xfrm>
            <a:off x="41788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+$6K</a:t>
            </a:r>
            <a:endParaRPr lang="en-US" sz="1300" dirty="0"/>
          </a:p>
        </p:txBody>
      </p:sp>
      <p:sp>
        <p:nvSpPr>
          <p:cNvPr id="31" name="Text 29"/>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32" name="Text 30"/>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34" name="Shape 32"/>
          <p:cNvSpPr/>
          <p:nvPr/>
        </p:nvSpPr>
        <p:spPr>
          <a:xfrm>
            <a:off x="3837294" y="2750703"/>
            <a:ext cx="18288" cy="136676"/>
          </a:xfrm>
          <a:prstGeom prst="rect">
            <a:avLst/>
          </a:prstGeom>
          <a:solidFill>
            <a:srgbClr val="C2352F"/>
          </a:solidFill>
          <a:ln/>
        </p:spPr>
      </p:sp>
      <p:sp>
        <p:nvSpPr>
          <p:cNvPr id="35" name="Text 33"/>
          <p:cNvSpPr txBox="1"/>
          <p:nvPr/>
        </p:nvSpPr>
        <p:spPr>
          <a:xfrm>
            <a:off x="4178808"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a:t>
            </a:r>
            <a:endParaRPr lang="en-US" sz="1300" dirty="0"/>
          </a:p>
        </p:txBody>
      </p:sp>
      <p:sp>
        <p:nvSpPr>
          <p:cNvPr id="36" name="Text 3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37" name="Text 3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9" name="Shape 37"/>
          <p:cNvSpPr/>
          <p:nvPr/>
        </p:nvSpPr>
        <p:spPr>
          <a:xfrm>
            <a:off x="3826086" y="2999205"/>
            <a:ext cx="18288" cy="136676"/>
          </a:xfrm>
          <a:prstGeom prst="rect">
            <a:avLst/>
          </a:prstGeom>
          <a:solidFill>
            <a:srgbClr val="C2352F"/>
          </a:solidFill>
          <a:ln/>
        </p:spPr>
      </p:sp>
      <p:sp>
        <p:nvSpPr>
          <p:cNvPr id="40" name="Text 38"/>
          <p:cNvSpPr txBox="1"/>
          <p:nvPr/>
        </p:nvSpPr>
        <p:spPr>
          <a:xfrm>
            <a:off x="4178808"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41" name="Text 39"/>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42" name="Text 4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4" name="Shape 42"/>
          <p:cNvSpPr/>
          <p:nvPr/>
        </p:nvSpPr>
        <p:spPr>
          <a:xfrm>
            <a:off x="3813350" y="3247707"/>
            <a:ext cx="24085" cy="136676"/>
          </a:xfrm>
          <a:prstGeom prst="rect">
            <a:avLst/>
          </a:prstGeom>
          <a:solidFill>
            <a:srgbClr val="C2352F"/>
          </a:solidFill>
          <a:ln/>
        </p:spPr>
      </p:sp>
      <p:sp>
        <p:nvSpPr>
          <p:cNvPr id="45" name="Text 43"/>
          <p:cNvSpPr txBox="1"/>
          <p:nvPr/>
        </p:nvSpPr>
        <p:spPr>
          <a:xfrm>
            <a:off x="4178808"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−$6K</a:t>
            </a:r>
            <a:endParaRPr lang="en-US" sz="1300" dirty="0"/>
          </a:p>
        </p:txBody>
      </p:sp>
      <p:sp>
        <p:nvSpPr>
          <p:cNvPr id="46" name="Text 44"/>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47" name="Text 45"/>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9" name="Shape 47"/>
          <p:cNvSpPr/>
          <p:nvPr/>
        </p:nvSpPr>
        <p:spPr>
          <a:xfrm>
            <a:off x="3806604" y="3496208"/>
            <a:ext cx="30831" cy="136676"/>
          </a:xfrm>
          <a:prstGeom prst="rect">
            <a:avLst/>
          </a:prstGeom>
          <a:solidFill>
            <a:srgbClr val="C2352F"/>
          </a:solidFill>
          <a:ln/>
        </p:spPr>
      </p:sp>
      <p:sp>
        <p:nvSpPr>
          <p:cNvPr id="50" name="Text 48"/>
          <p:cNvSpPr txBox="1"/>
          <p:nvPr/>
        </p:nvSpPr>
        <p:spPr>
          <a:xfrm>
            <a:off x="417880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51" name="Text 49"/>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52" name="Text 50"/>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54" name="Shape 52"/>
          <p:cNvSpPr/>
          <p:nvPr/>
        </p:nvSpPr>
        <p:spPr>
          <a:xfrm>
            <a:off x="3792816" y="3744710"/>
            <a:ext cx="44619" cy="136676"/>
          </a:xfrm>
          <a:prstGeom prst="rect">
            <a:avLst/>
          </a:prstGeom>
          <a:solidFill>
            <a:srgbClr val="C2352F"/>
          </a:solidFill>
          <a:ln/>
        </p:spPr>
      </p:sp>
      <p:sp>
        <p:nvSpPr>
          <p:cNvPr id="55" name="Text 53"/>
          <p:cNvSpPr txBox="1"/>
          <p:nvPr/>
        </p:nvSpPr>
        <p:spPr>
          <a:xfrm>
            <a:off x="417880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56" name="Text 54"/>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57" name="Text 55"/>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59" name="Shape 57"/>
          <p:cNvSpPr/>
          <p:nvPr/>
        </p:nvSpPr>
        <p:spPr>
          <a:xfrm>
            <a:off x="3778841" y="3993212"/>
            <a:ext cx="58594" cy="136676"/>
          </a:xfrm>
          <a:prstGeom prst="rect">
            <a:avLst/>
          </a:prstGeom>
          <a:solidFill>
            <a:srgbClr val="C2352F"/>
          </a:solidFill>
          <a:ln/>
        </p:spPr>
      </p:sp>
      <p:sp>
        <p:nvSpPr>
          <p:cNvPr id="60" name="Text 58"/>
          <p:cNvSpPr txBox="1"/>
          <p:nvPr/>
        </p:nvSpPr>
        <p:spPr>
          <a:xfrm>
            <a:off x="417880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61" name="Text 59"/>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62" name="Text 6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4" name="Shape 62"/>
          <p:cNvSpPr/>
          <p:nvPr/>
        </p:nvSpPr>
        <p:spPr>
          <a:xfrm>
            <a:off x="3762034" y="4241713"/>
            <a:ext cx="75401" cy="136676"/>
          </a:xfrm>
          <a:prstGeom prst="rect">
            <a:avLst/>
          </a:prstGeom>
          <a:solidFill>
            <a:srgbClr val="C2352F"/>
          </a:solidFill>
          <a:ln/>
        </p:spPr>
      </p:sp>
      <p:sp>
        <p:nvSpPr>
          <p:cNvPr id="65" name="Text 63"/>
          <p:cNvSpPr txBox="1"/>
          <p:nvPr/>
        </p:nvSpPr>
        <p:spPr>
          <a:xfrm>
            <a:off x="417880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66" name="Text 64"/>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67" name="Text 65"/>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9" name="Shape 67"/>
          <p:cNvSpPr/>
          <p:nvPr/>
        </p:nvSpPr>
        <p:spPr>
          <a:xfrm>
            <a:off x="3751798" y="4490215"/>
            <a:ext cx="85637" cy="136676"/>
          </a:xfrm>
          <a:prstGeom prst="rect">
            <a:avLst/>
          </a:prstGeom>
          <a:solidFill>
            <a:srgbClr val="C2352F"/>
          </a:solidFill>
          <a:ln/>
        </p:spPr>
      </p:sp>
      <p:sp>
        <p:nvSpPr>
          <p:cNvPr id="70" name="Text 68"/>
          <p:cNvSpPr txBox="1"/>
          <p:nvPr/>
        </p:nvSpPr>
        <p:spPr>
          <a:xfrm>
            <a:off x="417880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71" name="Text 69"/>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72" name="Text 70"/>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4" name="Shape 72"/>
          <p:cNvSpPr/>
          <p:nvPr/>
        </p:nvSpPr>
        <p:spPr>
          <a:xfrm>
            <a:off x="3727198" y="4738717"/>
            <a:ext cx="110237" cy="136676"/>
          </a:xfrm>
          <a:prstGeom prst="rect">
            <a:avLst/>
          </a:prstGeom>
          <a:solidFill>
            <a:srgbClr val="C2352F"/>
          </a:solidFill>
          <a:ln/>
        </p:spPr>
      </p:sp>
      <p:sp>
        <p:nvSpPr>
          <p:cNvPr id="75" name="Text 73"/>
          <p:cNvSpPr txBox="1"/>
          <p:nvPr/>
        </p:nvSpPr>
        <p:spPr>
          <a:xfrm>
            <a:off x="41788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76" name="Text 74"/>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77" name="Text 75"/>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79" name="Shape 77"/>
          <p:cNvSpPr/>
          <p:nvPr/>
        </p:nvSpPr>
        <p:spPr>
          <a:xfrm>
            <a:off x="3725070" y="4987218"/>
            <a:ext cx="112366" cy="136676"/>
          </a:xfrm>
          <a:prstGeom prst="rect">
            <a:avLst/>
          </a:prstGeom>
          <a:solidFill>
            <a:srgbClr val="C2352F"/>
          </a:solidFill>
          <a:ln/>
        </p:spPr>
      </p:sp>
      <p:sp>
        <p:nvSpPr>
          <p:cNvPr id="80" name="Text 78"/>
          <p:cNvSpPr txBox="1"/>
          <p:nvPr/>
        </p:nvSpPr>
        <p:spPr>
          <a:xfrm>
            <a:off x="41788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81" name="Text 79"/>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82" name="Text 80"/>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84" name="Shape 82"/>
          <p:cNvSpPr/>
          <p:nvPr/>
        </p:nvSpPr>
        <p:spPr>
          <a:xfrm>
            <a:off x="3723194" y="5235720"/>
            <a:ext cx="114242" cy="136676"/>
          </a:xfrm>
          <a:prstGeom prst="rect">
            <a:avLst/>
          </a:prstGeom>
          <a:solidFill>
            <a:srgbClr val="C2352F"/>
          </a:solidFill>
          <a:ln/>
        </p:spPr>
      </p:sp>
      <p:sp>
        <p:nvSpPr>
          <p:cNvPr id="85" name="Text 83"/>
          <p:cNvSpPr txBox="1"/>
          <p:nvPr/>
        </p:nvSpPr>
        <p:spPr>
          <a:xfrm>
            <a:off x="41788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−$28K</a:t>
            </a:r>
            <a:endParaRPr lang="en-US" sz="1300" dirty="0"/>
          </a:p>
        </p:txBody>
      </p:sp>
      <p:sp>
        <p:nvSpPr>
          <p:cNvPr id="86" name="Text 8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87" name="Text 8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9" name="Shape 87"/>
          <p:cNvSpPr/>
          <p:nvPr/>
        </p:nvSpPr>
        <p:spPr>
          <a:xfrm>
            <a:off x="3710862" y="5484222"/>
            <a:ext cx="126574" cy="136676"/>
          </a:xfrm>
          <a:prstGeom prst="rect">
            <a:avLst/>
          </a:prstGeom>
          <a:solidFill>
            <a:srgbClr val="C2352F"/>
          </a:solidFill>
          <a:ln/>
        </p:spPr>
      </p:sp>
      <p:sp>
        <p:nvSpPr>
          <p:cNvPr id="90" name="Text 88"/>
          <p:cNvSpPr txBox="1"/>
          <p:nvPr/>
        </p:nvSpPr>
        <p:spPr>
          <a:xfrm>
            <a:off x="41788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−$31K</a:t>
            </a:r>
            <a:endParaRPr lang="en-US" sz="1300" dirty="0"/>
          </a:p>
        </p:txBody>
      </p:sp>
      <p:sp>
        <p:nvSpPr>
          <p:cNvPr id="91" name="Text 89"/>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92" name="Text 9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94" name="Shape 92"/>
          <p:cNvSpPr/>
          <p:nvPr/>
        </p:nvSpPr>
        <p:spPr>
          <a:xfrm>
            <a:off x="3690964" y="5732723"/>
            <a:ext cx="146471" cy="136676"/>
          </a:xfrm>
          <a:prstGeom prst="rect">
            <a:avLst/>
          </a:prstGeom>
          <a:solidFill>
            <a:srgbClr val="C2352F"/>
          </a:solidFill>
          <a:ln/>
        </p:spPr>
      </p:sp>
      <p:sp>
        <p:nvSpPr>
          <p:cNvPr id="95" name="Text 93"/>
          <p:cNvSpPr txBox="1"/>
          <p:nvPr/>
        </p:nvSpPr>
        <p:spPr>
          <a:xfrm>
            <a:off x="41788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96" name="Text 94"/>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97" name="Text 95"/>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8" name="Text 96"/>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99" name="Shape 97"/>
          <p:cNvSpPr/>
          <p:nvPr/>
        </p:nvSpPr>
        <p:spPr>
          <a:xfrm>
            <a:off x="9230771" y="1756697"/>
            <a:ext cx="157072" cy="136676"/>
          </a:xfrm>
          <a:prstGeom prst="rect">
            <a:avLst/>
          </a:prstGeom>
          <a:solidFill>
            <a:srgbClr val="C2352F"/>
          </a:solidFill>
          <a:ln/>
        </p:spPr>
      </p:sp>
      <p:sp>
        <p:nvSpPr>
          <p:cNvPr id="100" name="Text 98"/>
          <p:cNvSpPr txBox="1"/>
          <p:nvPr/>
        </p:nvSpPr>
        <p:spPr>
          <a:xfrm>
            <a:off x="97292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101" name="Text 99"/>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102" name="Text 100"/>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3" name="Text 101"/>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4" name="Shape 102"/>
          <p:cNvSpPr/>
          <p:nvPr/>
        </p:nvSpPr>
        <p:spPr>
          <a:xfrm>
            <a:off x="9175412" y="2005199"/>
            <a:ext cx="212431" cy="136676"/>
          </a:xfrm>
          <a:prstGeom prst="rect">
            <a:avLst/>
          </a:prstGeom>
          <a:solidFill>
            <a:srgbClr val="C2352F"/>
          </a:solidFill>
          <a:ln/>
        </p:spPr>
      </p:sp>
      <p:sp>
        <p:nvSpPr>
          <p:cNvPr id="105" name="Text 103"/>
          <p:cNvSpPr txBox="1"/>
          <p:nvPr/>
        </p:nvSpPr>
        <p:spPr>
          <a:xfrm>
            <a:off x="97292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−$52K</a:t>
            </a:r>
            <a:endParaRPr lang="en-US" sz="1300" dirty="0"/>
          </a:p>
        </p:txBody>
      </p:sp>
      <p:sp>
        <p:nvSpPr>
          <p:cNvPr id="106" name="Text 104"/>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07" name="Text 105"/>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8" name="Text 106"/>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09" name="Shape 107"/>
          <p:cNvSpPr/>
          <p:nvPr/>
        </p:nvSpPr>
        <p:spPr>
          <a:xfrm>
            <a:off x="9174770" y="2253700"/>
            <a:ext cx="213073" cy="136676"/>
          </a:xfrm>
          <a:prstGeom prst="rect">
            <a:avLst/>
          </a:prstGeom>
          <a:solidFill>
            <a:srgbClr val="C2352F"/>
          </a:solidFill>
          <a:ln/>
        </p:spPr>
      </p:sp>
      <p:sp>
        <p:nvSpPr>
          <p:cNvPr id="110" name="Text 108"/>
          <p:cNvSpPr txBox="1"/>
          <p:nvPr/>
        </p:nvSpPr>
        <p:spPr>
          <a:xfrm>
            <a:off x="97292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−$52K</a:t>
            </a:r>
            <a:endParaRPr lang="en-US" sz="1300" dirty="0"/>
          </a:p>
        </p:txBody>
      </p:sp>
      <p:sp>
        <p:nvSpPr>
          <p:cNvPr id="111" name="Text 109"/>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112" name="Text 11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4" name="Shape 112"/>
          <p:cNvSpPr/>
          <p:nvPr/>
        </p:nvSpPr>
        <p:spPr>
          <a:xfrm>
            <a:off x="9156849" y="2502202"/>
            <a:ext cx="230994" cy="136676"/>
          </a:xfrm>
          <a:prstGeom prst="rect">
            <a:avLst/>
          </a:prstGeom>
          <a:solidFill>
            <a:srgbClr val="C2352F"/>
          </a:solidFill>
          <a:ln/>
        </p:spPr>
      </p:sp>
      <p:sp>
        <p:nvSpPr>
          <p:cNvPr id="115" name="Text 113"/>
          <p:cNvSpPr txBox="1"/>
          <p:nvPr/>
        </p:nvSpPr>
        <p:spPr>
          <a:xfrm>
            <a:off x="97292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16" name="Text 114"/>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17" name="Text 115"/>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8" name="Text 116"/>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19" name="Shape 117"/>
          <p:cNvSpPr/>
          <p:nvPr/>
        </p:nvSpPr>
        <p:spPr>
          <a:xfrm>
            <a:off x="9109512" y="2750703"/>
            <a:ext cx="278331" cy="136676"/>
          </a:xfrm>
          <a:prstGeom prst="rect">
            <a:avLst/>
          </a:prstGeom>
          <a:solidFill>
            <a:srgbClr val="C2352F"/>
          </a:solidFill>
          <a:ln/>
        </p:spPr>
      </p:sp>
      <p:sp>
        <p:nvSpPr>
          <p:cNvPr id="120" name="Text 118"/>
          <p:cNvSpPr txBox="1"/>
          <p:nvPr/>
        </p:nvSpPr>
        <p:spPr>
          <a:xfrm>
            <a:off x="97292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121" name="Text 11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22" name="Text 12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3" name="Text 121"/>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4" name="Shape 122"/>
          <p:cNvSpPr/>
          <p:nvPr/>
        </p:nvSpPr>
        <p:spPr>
          <a:xfrm>
            <a:off x="9109414" y="2999205"/>
            <a:ext cx="278430" cy="136676"/>
          </a:xfrm>
          <a:prstGeom prst="rect">
            <a:avLst/>
          </a:prstGeom>
          <a:solidFill>
            <a:srgbClr val="C2352F"/>
          </a:solidFill>
          <a:ln/>
        </p:spPr>
      </p:sp>
      <p:sp>
        <p:nvSpPr>
          <p:cNvPr id="125" name="Text 123"/>
          <p:cNvSpPr txBox="1"/>
          <p:nvPr/>
        </p:nvSpPr>
        <p:spPr>
          <a:xfrm>
            <a:off x="97292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126" name="Text 124"/>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27" name="Text 125"/>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8" name="Text 126"/>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29" name="Shape 127"/>
          <p:cNvSpPr/>
          <p:nvPr/>
        </p:nvSpPr>
        <p:spPr>
          <a:xfrm>
            <a:off x="9093262" y="3247707"/>
            <a:ext cx="294581" cy="136676"/>
          </a:xfrm>
          <a:prstGeom prst="rect">
            <a:avLst/>
          </a:prstGeom>
          <a:solidFill>
            <a:srgbClr val="C2352F"/>
          </a:solidFill>
          <a:ln/>
        </p:spPr>
      </p:sp>
      <p:sp>
        <p:nvSpPr>
          <p:cNvPr id="130" name="Text 128"/>
          <p:cNvSpPr txBox="1"/>
          <p:nvPr/>
        </p:nvSpPr>
        <p:spPr>
          <a:xfrm>
            <a:off x="97292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−$72K</a:t>
            </a:r>
            <a:endParaRPr lang="en-US" sz="1300" dirty="0"/>
          </a:p>
        </p:txBody>
      </p:sp>
      <p:sp>
        <p:nvSpPr>
          <p:cNvPr id="131" name="Text 12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32" name="Text 13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3" name="Text 131"/>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34" name="Shape 132"/>
          <p:cNvSpPr/>
          <p:nvPr/>
        </p:nvSpPr>
        <p:spPr>
          <a:xfrm>
            <a:off x="9087005" y="3496208"/>
            <a:ext cx="300838" cy="136676"/>
          </a:xfrm>
          <a:prstGeom prst="rect">
            <a:avLst/>
          </a:prstGeom>
          <a:solidFill>
            <a:srgbClr val="C2352F"/>
          </a:solidFill>
          <a:ln/>
        </p:spPr>
      </p:sp>
      <p:sp>
        <p:nvSpPr>
          <p:cNvPr id="135" name="Text 133"/>
          <p:cNvSpPr txBox="1"/>
          <p:nvPr/>
        </p:nvSpPr>
        <p:spPr>
          <a:xfrm>
            <a:off x="97292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−$73K</a:t>
            </a:r>
            <a:endParaRPr lang="en-US" sz="1300" dirty="0"/>
          </a:p>
        </p:txBody>
      </p:sp>
      <p:sp>
        <p:nvSpPr>
          <p:cNvPr id="136" name="Text 13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37" name="Text 13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8" name="Text 136"/>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9" name="Shape 137"/>
          <p:cNvSpPr/>
          <p:nvPr/>
        </p:nvSpPr>
        <p:spPr>
          <a:xfrm>
            <a:off x="9073146" y="3744710"/>
            <a:ext cx="314698" cy="136676"/>
          </a:xfrm>
          <a:prstGeom prst="rect">
            <a:avLst/>
          </a:prstGeom>
          <a:solidFill>
            <a:srgbClr val="C2352F"/>
          </a:solidFill>
          <a:ln/>
        </p:spPr>
      </p:sp>
      <p:sp>
        <p:nvSpPr>
          <p:cNvPr id="140" name="Text 138"/>
          <p:cNvSpPr txBox="1"/>
          <p:nvPr/>
        </p:nvSpPr>
        <p:spPr>
          <a:xfrm>
            <a:off x="97292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141" name="Text 139"/>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42" name="Text 14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3" name="Text 14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44" name="Shape 142"/>
          <p:cNvSpPr/>
          <p:nvPr/>
        </p:nvSpPr>
        <p:spPr>
          <a:xfrm>
            <a:off x="9059221" y="3993212"/>
            <a:ext cx="328622" cy="136676"/>
          </a:xfrm>
          <a:prstGeom prst="rect">
            <a:avLst/>
          </a:prstGeom>
          <a:solidFill>
            <a:srgbClr val="C2352F"/>
          </a:solidFill>
          <a:ln/>
        </p:spPr>
      </p:sp>
      <p:sp>
        <p:nvSpPr>
          <p:cNvPr id="145" name="Text 143"/>
          <p:cNvSpPr txBox="1"/>
          <p:nvPr/>
        </p:nvSpPr>
        <p:spPr>
          <a:xfrm>
            <a:off x="97292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46" name="Text 144"/>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147" name="Text 145"/>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8" name="Text 146"/>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49" name="Shape 147"/>
          <p:cNvSpPr/>
          <p:nvPr/>
        </p:nvSpPr>
        <p:spPr>
          <a:xfrm>
            <a:off x="8951542" y="4241713"/>
            <a:ext cx="436301" cy="136676"/>
          </a:xfrm>
          <a:prstGeom prst="rect">
            <a:avLst/>
          </a:prstGeom>
          <a:solidFill>
            <a:srgbClr val="C2352F"/>
          </a:solidFill>
          <a:ln/>
        </p:spPr>
      </p:sp>
      <p:sp>
        <p:nvSpPr>
          <p:cNvPr id="150" name="Text 148"/>
          <p:cNvSpPr txBox="1"/>
          <p:nvPr/>
        </p:nvSpPr>
        <p:spPr>
          <a:xfrm>
            <a:off x="97292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−$106K</a:t>
            </a:r>
            <a:endParaRPr lang="en-US" sz="1300" dirty="0"/>
          </a:p>
        </p:txBody>
      </p:sp>
      <p:sp>
        <p:nvSpPr>
          <p:cNvPr id="151" name="Text 149"/>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52" name="Text 150"/>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3" name="Text 151"/>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940210" y="4490215"/>
            <a:ext cx="447633" cy="136676"/>
          </a:xfrm>
          <a:prstGeom prst="rect">
            <a:avLst/>
          </a:prstGeom>
          <a:solidFill>
            <a:srgbClr val="C2352F"/>
          </a:solidFill>
          <a:ln/>
        </p:spPr>
      </p:sp>
      <p:sp>
        <p:nvSpPr>
          <p:cNvPr id="155" name="Text 153"/>
          <p:cNvSpPr txBox="1"/>
          <p:nvPr/>
        </p:nvSpPr>
        <p:spPr>
          <a:xfrm>
            <a:off x="97292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−$109K</a:t>
            </a:r>
            <a:endParaRPr lang="en-US" sz="1300" dirty="0"/>
          </a:p>
        </p:txBody>
      </p:sp>
      <p:sp>
        <p:nvSpPr>
          <p:cNvPr id="156" name="Text 154"/>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57" name="Text 155"/>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8" name="Text 156"/>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59" name="Shape 157"/>
          <p:cNvSpPr/>
          <p:nvPr/>
        </p:nvSpPr>
        <p:spPr>
          <a:xfrm>
            <a:off x="8875154" y="4738717"/>
            <a:ext cx="512690" cy="136676"/>
          </a:xfrm>
          <a:prstGeom prst="rect">
            <a:avLst/>
          </a:prstGeom>
          <a:solidFill>
            <a:srgbClr val="C2352F"/>
          </a:solidFill>
          <a:ln/>
        </p:spPr>
      </p:sp>
      <p:sp>
        <p:nvSpPr>
          <p:cNvPr id="160" name="Text 158"/>
          <p:cNvSpPr txBox="1"/>
          <p:nvPr/>
        </p:nvSpPr>
        <p:spPr>
          <a:xfrm>
            <a:off x="97292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−$125K</a:t>
            </a:r>
            <a:endParaRPr lang="en-US" sz="1300" dirty="0"/>
          </a:p>
        </p:txBody>
      </p:sp>
      <p:sp>
        <p:nvSpPr>
          <p:cNvPr id="161" name="Text 15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162" name="Text 16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3" name="Text 161"/>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4" name="Shape 162"/>
          <p:cNvSpPr/>
          <p:nvPr/>
        </p:nvSpPr>
        <p:spPr>
          <a:xfrm>
            <a:off x="8844728" y="4987218"/>
            <a:ext cx="543115" cy="136676"/>
          </a:xfrm>
          <a:prstGeom prst="rect">
            <a:avLst/>
          </a:prstGeom>
          <a:solidFill>
            <a:srgbClr val="C2352F"/>
          </a:solidFill>
          <a:ln/>
        </p:spPr>
      </p:sp>
      <p:sp>
        <p:nvSpPr>
          <p:cNvPr id="165" name="Text 163"/>
          <p:cNvSpPr txBox="1"/>
          <p:nvPr/>
        </p:nvSpPr>
        <p:spPr>
          <a:xfrm>
            <a:off x="97292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−$132K</a:t>
            </a:r>
            <a:endParaRPr lang="en-US" sz="1300" dirty="0"/>
          </a:p>
        </p:txBody>
      </p:sp>
      <p:sp>
        <p:nvSpPr>
          <p:cNvPr id="166" name="Text 16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167" name="Text 16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8" name="Text 166"/>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69" name="Shape 167"/>
          <p:cNvSpPr/>
          <p:nvPr/>
        </p:nvSpPr>
        <p:spPr>
          <a:xfrm>
            <a:off x="8783012" y="5235720"/>
            <a:ext cx="604831" cy="136676"/>
          </a:xfrm>
          <a:prstGeom prst="rect">
            <a:avLst/>
          </a:prstGeom>
          <a:solidFill>
            <a:srgbClr val="C2352F"/>
          </a:solidFill>
          <a:ln/>
        </p:spPr>
      </p:sp>
      <p:sp>
        <p:nvSpPr>
          <p:cNvPr id="170" name="Text 168"/>
          <p:cNvSpPr txBox="1"/>
          <p:nvPr/>
        </p:nvSpPr>
        <p:spPr>
          <a:xfrm>
            <a:off x="97292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−$147K</a:t>
            </a:r>
            <a:endParaRPr lang="en-US" sz="1300" dirty="0"/>
          </a:p>
        </p:txBody>
      </p:sp>
      <p:sp>
        <p:nvSpPr>
          <p:cNvPr id="171" name="Text 16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172" name="Text 17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3" name="Text 171"/>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4" name="Shape 172"/>
          <p:cNvSpPr/>
          <p:nvPr/>
        </p:nvSpPr>
        <p:spPr>
          <a:xfrm>
            <a:off x="8650224" y="5484222"/>
            <a:ext cx="737619" cy="136676"/>
          </a:xfrm>
          <a:prstGeom prst="rect">
            <a:avLst/>
          </a:prstGeom>
          <a:solidFill>
            <a:srgbClr val="C2352F"/>
          </a:solidFill>
          <a:ln/>
        </p:spPr>
      </p:sp>
      <p:sp>
        <p:nvSpPr>
          <p:cNvPr id="175" name="Text 173"/>
          <p:cNvSpPr txBox="1"/>
          <p:nvPr/>
        </p:nvSpPr>
        <p:spPr>
          <a:xfrm>
            <a:off x="97292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−$180K</a:t>
            </a:r>
            <a:endParaRPr lang="en-US" sz="1300" dirty="0"/>
          </a:p>
        </p:txBody>
      </p:sp>
      <p:sp>
        <p:nvSpPr>
          <p:cNvPr id="176" name="Text 17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77" name="Shape 175"/>
          <p:cNvSpPr/>
          <p:nvPr/>
        </p:nvSpPr>
        <p:spPr>
          <a:xfrm>
            <a:off x="6085332" y="1700784"/>
            <a:ext cx="10973" cy="4224528"/>
          </a:xfrm>
          <a:prstGeom prst="rect">
            <a:avLst/>
          </a:prstGeom>
          <a:solidFill>
            <a:srgbClr val="D9D9D9"/>
          </a:solidFill>
          <a:ln/>
        </p:spPr>
      </p:sp>
      <p:sp>
        <p:nvSpPr>
          <p:cNvPr id="178" name="Shape 176"/>
          <p:cNvSpPr/>
          <p:nvPr/>
        </p:nvSpPr>
        <p:spPr>
          <a:xfrm>
            <a:off x="457200" y="6126480"/>
            <a:ext cx="11274552" cy="341376"/>
          </a:xfrm>
          <a:prstGeom prst="rect">
            <a:avLst/>
          </a:prstGeom>
          <a:solidFill>
            <a:srgbClr val="FBEBEA"/>
          </a:solidFill>
          <a:ln/>
        </p:spPr>
      </p:sp>
      <p:sp>
        <p:nvSpPr>
          <p:cNvPr id="179" name="Text 17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29 stores under 15% leave $1,664,385 a year; 4 are at or above it. Toyota Spokane is furthest below at −$180K.</a:t>
            </a:r>
            <a:endParaRPr lang="en-US" sz="1400" dirty="0"/>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+14.9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+13.6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Shape 15"/>
          <p:cNvSpPr/>
          <p:nvPr/>
        </p:nvSpPr>
        <p:spPr>
          <a:xfrm>
            <a:off x="4084320" y="3650285"/>
            <a:ext cx="64008" cy="682142"/>
          </a:xfrm>
          <a:prstGeom prst="rect">
            <a:avLst/>
          </a:prstGeom>
          <a:solidFill>
            <a:srgbClr val="12A566"/>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1" name="Shape 19"/>
          <p:cNvSpPr/>
          <p:nvPr/>
        </p:nvSpPr>
        <p:spPr>
          <a:xfrm>
            <a:off x="4084320" y="4405579"/>
            <a:ext cx="64008" cy="682142"/>
          </a:xfrm>
          <a:prstGeom prst="rect">
            <a:avLst/>
          </a:prstGeom>
          <a:solidFill>
            <a:srgbClr val="12A566"/>
          </a:solidFill>
          <a:ln/>
        </p:spPr>
      </p:sp>
      <p:sp>
        <p:nvSpPr>
          <p:cNvPr id="22" name="Text 20"/>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4" name="Text 22"/>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5" name="Shape 23"/>
          <p:cNvSpPr/>
          <p:nvPr/>
        </p:nvSpPr>
        <p:spPr>
          <a:xfrm>
            <a:off x="658368" y="5124298"/>
            <a:ext cx="3489960" cy="755294"/>
          </a:xfrm>
          <a:prstGeom prst="rect">
            <a:avLst/>
          </a:prstGeom>
          <a:solidFill>
            <a:srgbClr val="F7F7F7"/>
          </a:solidFill>
          <a:ln/>
        </p:spPr>
      </p:sp>
      <p:sp>
        <p:nvSpPr>
          <p:cNvPr id="26" name="Text 24"/>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8" name="Text 26"/>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755294"/>
          </a:xfrm>
          <a:prstGeom prst="rect">
            <a:avLst/>
          </a:prstGeom>
          <a:solidFill>
            <a:srgbClr val="F7F7F7"/>
          </a:solidFill>
          <a:ln/>
        </p:spPr>
      </p:sp>
      <p:sp>
        <p:nvSpPr>
          <p:cNvPr id="33" name="Text 31"/>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a:t>
            </a:r>
            <a:endParaRPr lang="en-US" sz="1400" dirty="0"/>
          </a:p>
        </p:txBody>
      </p:sp>
      <p:sp>
        <p:nvSpPr>
          <p:cNvPr id="35" name="Text 33"/>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−1.6 pts</a:t>
            </a:r>
            <a:endParaRPr lang="en-US" sz="1600" dirty="0"/>
          </a:p>
        </p:txBody>
      </p:sp>
      <p:sp>
        <p:nvSpPr>
          <p:cNvPr id="36" name="Text 34"/>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a:t>
            </a:r>
            <a:endParaRPr lang="en-US" sz="1400" dirty="0"/>
          </a:p>
        </p:txBody>
      </p:sp>
      <p:sp>
        <p:nvSpPr>
          <p:cNvPr id="38" name="Text 36"/>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39" name="Shape 37"/>
          <p:cNvSpPr/>
          <p:nvPr/>
        </p:nvSpPr>
        <p:spPr>
          <a:xfrm>
            <a:off x="4349496" y="3613709"/>
            <a:ext cx="3489960" cy="755294"/>
          </a:xfrm>
          <a:prstGeom prst="rect">
            <a:avLst/>
          </a:prstGeom>
          <a:solidFill>
            <a:srgbClr val="F7F7F7"/>
          </a:solidFill>
          <a:ln/>
        </p:spPr>
      </p:sp>
      <p:sp>
        <p:nvSpPr>
          <p:cNvPr id="40" name="Text 38"/>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42" name="Text 40"/>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 pts</a:t>
            </a:r>
            <a:endParaRPr lang="en-US" sz="1600" dirty="0"/>
          </a:p>
        </p:txBody>
      </p:sp>
      <p:sp>
        <p:nvSpPr>
          <p:cNvPr id="43" name="Text 41"/>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10.2%</a:t>
            </a:r>
            <a:endParaRPr lang="en-US" sz="1400" dirty="0"/>
          </a:p>
        </p:txBody>
      </p:sp>
      <p:sp>
        <p:nvSpPr>
          <p:cNvPr id="45" name="Text 43"/>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46" name="Shape 44"/>
          <p:cNvSpPr/>
          <p:nvPr/>
        </p:nvSpPr>
        <p:spPr>
          <a:xfrm>
            <a:off x="4349496" y="5124298"/>
            <a:ext cx="3489960" cy="755294"/>
          </a:xfrm>
          <a:prstGeom prst="rect">
            <a:avLst/>
          </a:prstGeom>
          <a:solidFill>
            <a:srgbClr val="F7F7F7"/>
          </a:solidFill>
          <a:ln/>
        </p:spPr>
      </p:sp>
      <p:sp>
        <p:nvSpPr>
          <p:cNvPr id="47" name="Text 45"/>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11.2%</a:t>
            </a:r>
            <a:endParaRPr lang="en-US" sz="1400" dirty="0"/>
          </a:p>
        </p:txBody>
      </p:sp>
      <p:sp>
        <p:nvSpPr>
          <p:cNvPr id="49" name="Text 47"/>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755294"/>
          </a:xfrm>
          <a:prstGeom prst="rect">
            <a:avLst/>
          </a:prstGeom>
          <a:solidFill>
            <a:srgbClr val="F7F7F7"/>
          </a:solidFill>
          <a:ln/>
        </p:spPr>
      </p:sp>
      <p:sp>
        <p:nvSpPr>
          <p:cNvPr id="54" name="Shape 52"/>
          <p:cNvSpPr/>
          <p:nvPr/>
        </p:nvSpPr>
        <p:spPr>
          <a:xfrm>
            <a:off x="11466576" y="2139696"/>
            <a:ext cx="64008" cy="682142"/>
          </a:xfrm>
          <a:prstGeom prst="rect">
            <a:avLst/>
          </a:prstGeom>
          <a:solidFill>
            <a:srgbClr val="12A566"/>
          </a:solidFill>
          <a:ln/>
        </p:spPr>
      </p:sp>
      <p:sp>
        <p:nvSpPr>
          <p:cNvPr id="55" name="Text 53"/>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57" name="Text 55"/>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 pts</a:t>
            </a:r>
            <a:endParaRPr lang="en-US" sz="1600" dirty="0"/>
          </a:p>
        </p:txBody>
      </p:sp>
      <p:sp>
        <p:nvSpPr>
          <p:cNvPr id="58" name="Text 5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60" name="Text 58"/>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61" name="Shape 59"/>
          <p:cNvSpPr/>
          <p:nvPr/>
        </p:nvSpPr>
        <p:spPr>
          <a:xfrm>
            <a:off x="8040624" y="3613709"/>
            <a:ext cx="3489960" cy="755294"/>
          </a:xfrm>
          <a:prstGeom prst="rect">
            <a:avLst/>
          </a:prstGeom>
          <a:solidFill>
            <a:srgbClr val="F7F7F7"/>
          </a:solidFill>
          <a:ln/>
        </p:spPr>
      </p:sp>
      <p:sp>
        <p:nvSpPr>
          <p:cNvPr id="62" name="Text 60"/>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a:t>
            </a:r>
            <a:endParaRPr lang="en-US" sz="1400" dirty="0"/>
          </a:p>
        </p:txBody>
      </p:sp>
      <p:sp>
        <p:nvSpPr>
          <p:cNvPr id="64" name="Text 62"/>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65" name="Shape 63"/>
          <p:cNvSpPr/>
          <p:nvPr/>
        </p:nvSpPr>
        <p:spPr>
          <a:xfrm>
            <a:off x="11466576" y="4405579"/>
            <a:ext cx="64008" cy="682142"/>
          </a:xfrm>
          <a:prstGeom prst="rect">
            <a:avLst/>
          </a:prstGeom>
          <a:solidFill>
            <a:srgbClr val="12A566"/>
          </a:solidFill>
          <a:ln/>
        </p:spPr>
      </p:sp>
      <p:sp>
        <p:nvSpPr>
          <p:cNvPr id="66" name="Text 64"/>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a:t>
            </a:r>
            <a:endParaRPr lang="en-US" sz="1400" dirty="0"/>
          </a:p>
        </p:txBody>
      </p:sp>
      <p:sp>
        <p:nvSpPr>
          <p:cNvPr id="68" name="Text 66"/>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9" name="Shape 67"/>
          <p:cNvSpPr/>
          <p:nvPr/>
        </p:nvSpPr>
        <p:spPr>
          <a:xfrm>
            <a:off x="8040624" y="5124298"/>
            <a:ext cx="3489960" cy="755294"/>
          </a:xfrm>
          <a:prstGeom prst="rect">
            <a:avLst/>
          </a:prstGeom>
          <a:solidFill>
            <a:srgbClr val="F7F7F7"/>
          </a:solidFill>
          <a:ln/>
        </p:spPr>
      </p:sp>
      <p:sp>
        <p:nvSpPr>
          <p:cNvPr id="70" name="Text 6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12.2%</a:t>
            </a:r>
            <a:endParaRPr lang="en-US" sz="1400" dirty="0"/>
          </a:p>
        </p:txBody>
      </p:sp>
      <p:sp>
        <p:nvSpPr>
          <p:cNvPr id="72" name="Text 70"/>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73" name="Shape 71"/>
          <p:cNvSpPr/>
          <p:nvPr/>
        </p:nvSpPr>
        <p:spPr>
          <a:xfrm>
            <a:off x="457200" y="6126480"/>
            <a:ext cx="11274552" cy="615696"/>
          </a:xfrm>
          <a:prstGeom prst="rect">
            <a:avLst/>
          </a:prstGeom>
          <a:solidFill>
            <a:srgbClr val="EDF4FA"/>
          </a:solidFill>
          <a:ln/>
        </p:spPr>
      </p:sp>
      <p:sp>
        <p:nvSpPr>
          <p:cNvPr id="74" name="Text 7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Prescott, LR LV and Mazda what changed. Ask Subaru St George, Nissan and Kia LV what got in the way. Ask Mazda, Hyundai Prescott and Honda Spokane what they started this year.</a:t>
            </a:r>
            <a:endParaRPr lang="en-US" sz="1600" dirty="0"/>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10%</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9.2%, ahead of 2025 in all nine months, but 0.7 pts under the 10% benchmark — 1,985 brake fluid services short.</a:t>
            </a:r>
            <a:endParaRPr lang="en-US" sz="1600" dirty="0"/>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led by LR LV at 20.6%. The group sits at 9.2%.</a:t>
            </a:r>
            <a:endParaRPr lang="en-US" sz="1600" dirty="0"/>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1788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Shape 6"/>
          <p:cNvSpPr/>
          <p:nvPr/>
        </p:nvSpPr>
        <p:spPr>
          <a:xfrm>
            <a:off x="3470240" y="1700784"/>
            <a:ext cx="10973" cy="4224528"/>
          </a:xfrm>
          <a:prstGeom prst="rect">
            <a:avLst/>
          </a:prstGeom>
          <a:solidFill>
            <a:srgbClr val="9AA3AD"/>
          </a:solidFill>
          <a:ln/>
        </p:spPr>
      </p:sp>
      <p:sp>
        <p:nvSpPr>
          <p:cNvPr id="9" name="Text 7"/>
          <p:cNvSpPr txBox="1"/>
          <p:nvPr/>
        </p:nvSpPr>
        <p:spPr>
          <a:xfrm>
            <a:off x="97292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Shape 9"/>
          <p:cNvSpPr/>
          <p:nvPr/>
        </p:nvSpPr>
        <p:spPr>
          <a:xfrm>
            <a:off x="9020648"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475726" y="1756697"/>
            <a:ext cx="648218" cy="136676"/>
          </a:xfrm>
          <a:prstGeom prst="rect">
            <a:avLst/>
          </a:prstGeom>
          <a:solidFill>
            <a:srgbClr val="12A566"/>
          </a:solidFill>
          <a:ln/>
        </p:spPr>
      </p:sp>
      <p:sp>
        <p:nvSpPr>
          <p:cNvPr id="15" name="Text 13"/>
          <p:cNvSpPr txBox="1"/>
          <p:nvPr/>
        </p:nvSpPr>
        <p:spPr>
          <a:xfrm>
            <a:off x="41788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+$260K</a:t>
            </a:r>
            <a:endParaRPr lang="en-US" sz="1300" dirty="0"/>
          </a:p>
        </p:txBody>
      </p:sp>
      <p:sp>
        <p:nvSpPr>
          <p:cNvPr id="16" name="Text 14"/>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a:t>
            </a:r>
            <a:endParaRPr lang="en-US" sz="1300" dirty="0"/>
          </a:p>
        </p:txBody>
      </p:sp>
      <p:sp>
        <p:nvSpPr>
          <p:cNvPr id="17" name="Text 15"/>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 name="Shape 17"/>
          <p:cNvSpPr/>
          <p:nvPr/>
        </p:nvSpPr>
        <p:spPr>
          <a:xfrm>
            <a:off x="3475726" y="2005199"/>
            <a:ext cx="467053" cy="136676"/>
          </a:xfrm>
          <a:prstGeom prst="rect">
            <a:avLst/>
          </a:prstGeom>
          <a:solidFill>
            <a:srgbClr val="12A566"/>
          </a:solidFill>
          <a:ln/>
        </p:spPr>
      </p:sp>
      <p:sp>
        <p:nvSpPr>
          <p:cNvPr id="20" name="Text 18"/>
          <p:cNvSpPr txBox="1"/>
          <p:nvPr/>
        </p:nvSpPr>
        <p:spPr>
          <a:xfrm>
            <a:off x="41788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+$187K</a:t>
            </a:r>
            <a:endParaRPr lang="en-US" sz="1300" dirty="0"/>
          </a:p>
        </p:txBody>
      </p:sp>
      <p:sp>
        <p:nvSpPr>
          <p:cNvPr id="21" name="Text 19"/>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a:t>
            </a:r>
            <a:endParaRPr lang="en-US" sz="1300" dirty="0"/>
          </a:p>
        </p:txBody>
      </p:sp>
      <p:sp>
        <p:nvSpPr>
          <p:cNvPr id="22" name="Text 20"/>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4" name="Shape 22"/>
          <p:cNvSpPr/>
          <p:nvPr/>
        </p:nvSpPr>
        <p:spPr>
          <a:xfrm>
            <a:off x="3475726" y="2253700"/>
            <a:ext cx="168095" cy="136676"/>
          </a:xfrm>
          <a:prstGeom prst="rect">
            <a:avLst/>
          </a:prstGeom>
          <a:solidFill>
            <a:srgbClr val="12A566"/>
          </a:solidFill>
          <a:ln/>
        </p:spPr>
      </p:sp>
      <p:sp>
        <p:nvSpPr>
          <p:cNvPr id="25" name="Text 23"/>
          <p:cNvSpPr txBox="1"/>
          <p:nvPr/>
        </p:nvSpPr>
        <p:spPr>
          <a:xfrm>
            <a:off x="41788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+$67K</a:t>
            </a:r>
            <a:endParaRPr lang="en-US" sz="1300" dirty="0"/>
          </a:p>
        </p:txBody>
      </p:sp>
      <p:sp>
        <p:nvSpPr>
          <p:cNvPr id="26" name="Text 24"/>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a:t>
            </a:r>
            <a:endParaRPr lang="en-US" sz="1300" dirty="0"/>
          </a:p>
        </p:txBody>
      </p:sp>
      <p:sp>
        <p:nvSpPr>
          <p:cNvPr id="27" name="Text 25"/>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9" name="Shape 27"/>
          <p:cNvSpPr/>
          <p:nvPr/>
        </p:nvSpPr>
        <p:spPr>
          <a:xfrm>
            <a:off x="3475726" y="2502202"/>
            <a:ext cx="84155" cy="136676"/>
          </a:xfrm>
          <a:prstGeom prst="rect">
            <a:avLst/>
          </a:prstGeom>
          <a:solidFill>
            <a:srgbClr val="12A566"/>
          </a:solidFill>
          <a:ln/>
        </p:spPr>
      </p:sp>
      <p:sp>
        <p:nvSpPr>
          <p:cNvPr id="30" name="Text 28"/>
          <p:cNvSpPr txBox="1"/>
          <p:nvPr/>
        </p:nvSpPr>
        <p:spPr>
          <a:xfrm>
            <a:off x="41788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+$34K</a:t>
            </a:r>
            <a:endParaRPr lang="en-US" sz="1300" dirty="0"/>
          </a:p>
        </p:txBody>
      </p:sp>
      <p:sp>
        <p:nvSpPr>
          <p:cNvPr id="31" name="Text 29"/>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a:t>
            </a:r>
            <a:endParaRPr lang="en-US" sz="1300" dirty="0"/>
          </a:p>
        </p:txBody>
      </p:sp>
      <p:sp>
        <p:nvSpPr>
          <p:cNvPr id="32" name="Text 30"/>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34" name="Shape 32"/>
          <p:cNvSpPr/>
          <p:nvPr/>
        </p:nvSpPr>
        <p:spPr>
          <a:xfrm>
            <a:off x="3475726" y="2750703"/>
            <a:ext cx="81270" cy="136676"/>
          </a:xfrm>
          <a:prstGeom prst="rect">
            <a:avLst/>
          </a:prstGeom>
          <a:solidFill>
            <a:srgbClr val="12A566"/>
          </a:solidFill>
          <a:ln/>
        </p:spPr>
      </p:sp>
      <p:sp>
        <p:nvSpPr>
          <p:cNvPr id="35" name="Text 33"/>
          <p:cNvSpPr txBox="1"/>
          <p:nvPr/>
        </p:nvSpPr>
        <p:spPr>
          <a:xfrm>
            <a:off x="417880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+$33K</a:t>
            </a:r>
            <a:endParaRPr lang="en-US" sz="1300" dirty="0"/>
          </a:p>
        </p:txBody>
      </p:sp>
      <p:sp>
        <p:nvSpPr>
          <p:cNvPr id="36" name="Text 3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a:t>
            </a:r>
            <a:endParaRPr lang="en-US" sz="1300" dirty="0"/>
          </a:p>
        </p:txBody>
      </p:sp>
      <p:sp>
        <p:nvSpPr>
          <p:cNvPr id="37" name="Text 3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39" name="Shape 37"/>
          <p:cNvSpPr/>
          <p:nvPr/>
        </p:nvSpPr>
        <p:spPr>
          <a:xfrm>
            <a:off x="3475726" y="2999205"/>
            <a:ext cx="58927" cy="136676"/>
          </a:xfrm>
          <a:prstGeom prst="rect">
            <a:avLst/>
          </a:prstGeom>
          <a:solidFill>
            <a:srgbClr val="12A566"/>
          </a:solidFill>
          <a:ln/>
        </p:spPr>
      </p:sp>
      <p:sp>
        <p:nvSpPr>
          <p:cNvPr id="40" name="Text 38"/>
          <p:cNvSpPr txBox="1"/>
          <p:nvPr/>
        </p:nvSpPr>
        <p:spPr>
          <a:xfrm>
            <a:off x="417880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+$24K</a:t>
            </a:r>
            <a:endParaRPr lang="en-US" sz="1300" dirty="0"/>
          </a:p>
        </p:txBody>
      </p:sp>
      <p:sp>
        <p:nvSpPr>
          <p:cNvPr id="41" name="Text 39"/>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a:t>
            </a:r>
            <a:endParaRPr lang="en-US" sz="1300" dirty="0"/>
          </a:p>
        </p:txBody>
      </p:sp>
      <p:sp>
        <p:nvSpPr>
          <p:cNvPr id="42" name="Text 4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44" name="Shape 42"/>
          <p:cNvSpPr/>
          <p:nvPr/>
        </p:nvSpPr>
        <p:spPr>
          <a:xfrm>
            <a:off x="3475726" y="3247707"/>
            <a:ext cx="52299" cy="136676"/>
          </a:xfrm>
          <a:prstGeom prst="rect">
            <a:avLst/>
          </a:prstGeom>
          <a:solidFill>
            <a:srgbClr val="12A566"/>
          </a:solidFill>
          <a:ln/>
        </p:spPr>
      </p:sp>
      <p:sp>
        <p:nvSpPr>
          <p:cNvPr id="45" name="Text 43"/>
          <p:cNvSpPr txBox="1"/>
          <p:nvPr/>
        </p:nvSpPr>
        <p:spPr>
          <a:xfrm>
            <a:off x="417880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+$21K</a:t>
            </a:r>
            <a:endParaRPr lang="en-US" sz="1300" dirty="0"/>
          </a:p>
        </p:txBody>
      </p:sp>
      <p:sp>
        <p:nvSpPr>
          <p:cNvPr id="46" name="Text 44"/>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a:t>
            </a:r>
            <a:endParaRPr lang="en-US" sz="1300" dirty="0"/>
          </a:p>
        </p:txBody>
      </p:sp>
      <p:sp>
        <p:nvSpPr>
          <p:cNvPr id="47" name="Text 45"/>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49" name="Shape 47"/>
          <p:cNvSpPr/>
          <p:nvPr/>
        </p:nvSpPr>
        <p:spPr>
          <a:xfrm>
            <a:off x="3475726" y="3496208"/>
            <a:ext cx="48881" cy="136676"/>
          </a:xfrm>
          <a:prstGeom prst="rect">
            <a:avLst/>
          </a:prstGeom>
          <a:solidFill>
            <a:srgbClr val="12A566"/>
          </a:solidFill>
          <a:ln/>
        </p:spPr>
      </p:sp>
      <p:sp>
        <p:nvSpPr>
          <p:cNvPr id="50" name="Text 48"/>
          <p:cNvSpPr txBox="1"/>
          <p:nvPr/>
        </p:nvSpPr>
        <p:spPr>
          <a:xfrm>
            <a:off x="4178808" y="344029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+$20K</a:t>
            </a:r>
            <a:endParaRPr lang="en-US" sz="1300" dirty="0"/>
          </a:p>
        </p:txBody>
      </p:sp>
      <p:sp>
        <p:nvSpPr>
          <p:cNvPr id="51" name="Text 49"/>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a:t>
            </a:r>
            <a:endParaRPr lang="en-US" sz="1300" dirty="0"/>
          </a:p>
        </p:txBody>
      </p:sp>
      <p:sp>
        <p:nvSpPr>
          <p:cNvPr id="52" name="Text 50"/>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3475726" y="3744710"/>
            <a:ext cx="39506" cy="136676"/>
          </a:xfrm>
          <a:prstGeom prst="rect">
            <a:avLst/>
          </a:prstGeom>
          <a:solidFill>
            <a:srgbClr val="12A566"/>
          </a:solidFill>
          <a:ln/>
        </p:spPr>
      </p:sp>
      <p:sp>
        <p:nvSpPr>
          <p:cNvPr id="55" name="Text 53"/>
          <p:cNvSpPr txBox="1"/>
          <p:nvPr/>
        </p:nvSpPr>
        <p:spPr>
          <a:xfrm>
            <a:off x="4178808" y="368879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+$16K</a:t>
            </a:r>
            <a:endParaRPr lang="en-US" sz="1300" dirty="0"/>
          </a:p>
        </p:txBody>
      </p:sp>
      <p:sp>
        <p:nvSpPr>
          <p:cNvPr id="56" name="Text 54"/>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57" name="Text 55"/>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59" name="Shape 57"/>
          <p:cNvSpPr/>
          <p:nvPr/>
        </p:nvSpPr>
        <p:spPr>
          <a:xfrm>
            <a:off x="3475726" y="3993212"/>
            <a:ext cx="22119" cy="136676"/>
          </a:xfrm>
          <a:prstGeom prst="rect">
            <a:avLst/>
          </a:prstGeom>
          <a:solidFill>
            <a:srgbClr val="12A566"/>
          </a:solidFill>
          <a:ln/>
        </p:spPr>
      </p:sp>
      <p:sp>
        <p:nvSpPr>
          <p:cNvPr id="60" name="Text 58"/>
          <p:cNvSpPr txBox="1"/>
          <p:nvPr/>
        </p:nvSpPr>
        <p:spPr>
          <a:xfrm>
            <a:off x="4178808" y="393729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+$9K</a:t>
            </a:r>
            <a:endParaRPr lang="en-US" sz="1300" dirty="0"/>
          </a:p>
        </p:txBody>
      </p:sp>
      <p:sp>
        <p:nvSpPr>
          <p:cNvPr id="61" name="Text 59"/>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62" name="Text 6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4" name="Shape 62"/>
          <p:cNvSpPr/>
          <p:nvPr/>
        </p:nvSpPr>
        <p:spPr>
          <a:xfrm>
            <a:off x="3475726" y="4241713"/>
            <a:ext cx="18288" cy="136676"/>
          </a:xfrm>
          <a:prstGeom prst="rect">
            <a:avLst/>
          </a:prstGeom>
          <a:solidFill>
            <a:srgbClr val="12A566"/>
          </a:solidFill>
          <a:ln/>
        </p:spPr>
      </p:sp>
      <p:sp>
        <p:nvSpPr>
          <p:cNvPr id="65" name="Text 63"/>
          <p:cNvSpPr txBox="1"/>
          <p:nvPr/>
        </p:nvSpPr>
        <p:spPr>
          <a:xfrm>
            <a:off x="4178808" y="4185800"/>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+$7K</a:t>
            </a:r>
            <a:endParaRPr lang="en-US" sz="1300" dirty="0"/>
          </a:p>
        </p:txBody>
      </p:sp>
      <p:sp>
        <p:nvSpPr>
          <p:cNvPr id="66" name="Text 64"/>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67" name="Text 65"/>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9" name="Shape 67"/>
          <p:cNvSpPr/>
          <p:nvPr/>
        </p:nvSpPr>
        <p:spPr>
          <a:xfrm>
            <a:off x="3475726" y="4490215"/>
            <a:ext cx="18288" cy="136676"/>
          </a:xfrm>
          <a:prstGeom prst="rect">
            <a:avLst/>
          </a:prstGeom>
          <a:solidFill>
            <a:srgbClr val="12A566"/>
          </a:solidFill>
          <a:ln/>
        </p:spPr>
      </p:sp>
      <p:sp>
        <p:nvSpPr>
          <p:cNvPr id="70" name="Text 68"/>
          <p:cNvSpPr txBox="1"/>
          <p:nvPr/>
        </p:nvSpPr>
        <p:spPr>
          <a:xfrm>
            <a:off x="4178808" y="443430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+$5K</a:t>
            </a:r>
            <a:endParaRPr lang="en-US" sz="1300" dirty="0"/>
          </a:p>
        </p:txBody>
      </p:sp>
      <p:sp>
        <p:nvSpPr>
          <p:cNvPr id="71" name="Text 69"/>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72" name="Text 70"/>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74" name="Shape 72"/>
          <p:cNvSpPr/>
          <p:nvPr/>
        </p:nvSpPr>
        <p:spPr>
          <a:xfrm>
            <a:off x="3467487" y="4738717"/>
            <a:ext cx="18288" cy="136676"/>
          </a:xfrm>
          <a:prstGeom prst="rect">
            <a:avLst/>
          </a:prstGeom>
          <a:solidFill>
            <a:srgbClr val="C2352F"/>
          </a:solidFill>
          <a:ln/>
        </p:spPr>
      </p:sp>
      <p:sp>
        <p:nvSpPr>
          <p:cNvPr id="75" name="Text 73"/>
          <p:cNvSpPr txBox="1"/>
          <p:nvPr/>
        </p:nvSpPr>
        <p:spPr>
          <a:xfrm>
            <a:off x="41788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76" name="Text 74"/>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77" name="Text 75"/>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79" name="Shape 77"/>
          <p:cNvSpPr/>
          <p:nvPr/>
        </p:nvSpPr>
        <p:spPr>
          <a:xfrm>
            <a:off x="3464806" y="4987218"/>
            <a:ext cx="18288" cy="136676"/>
          </a:xfrm>
          <a:prstGeom prst="rect">
            <a:avLst/>
          </a:prstGeom>
          <a:solidFill>
            <a:srgbClr val="C2352F"/>
          </a:solidFill>
          <a:ln/>
        </p:spPr>
      </p:sp>
      <p:sp>
        <p:nvSpPr>
          <p:cNvPr id="80" name="Text 78"/>
          <p:cNvSpPr txBox="1"/>
          <p:nvPr/>
        </p:nvSpPr>
        <p:spPr>
          <a:xfrm>
            <a:off x="41788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−$4K</a:t>
            </a:r>
            <a:endParaRPr lang="en-US" sz="1300" dirty="0"/>
          </a:p>
        </p:txBody>
      </p:sp>
      <p:sp>
        <p:nvSpPr>
          <p:cNvPr id="81" name="Text 79"/>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82" name="Text 80"/>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4" name="Shape 82"/>
          <p:cNvSpPr/>
          <p:nvPr/>
        </p:nvSpPr>
        <p:spPr>
          <a:xfrm>
            <a:off x="3448532" y="5235720"/>
            <a:ext cx="27195" cy="136676"/>
          </a:xfrm>
          <a:prstGeom prst="rect">
            <a:avLst/>
          </a:prstGeom>
          <a:solidFill>
            <a:srgbClr val="C2352F"/>
          </a:solidFill>
          <a:ln/>
        </p:spPr>
      </p:sp>
      <p:sp>
        <p:nvSpPr>
          <p:cNvPr id="85" name="Text 83"/>
          <p:cNvSpPr txBox="1"/>
          <p:nvPr/>
        </p:nvSpPr>
        <p:spPr>
          <a:xfrm>
            <a:off x="41788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86" name="Text 8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87" name="Text 8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89" name="Shape 87"/>
          <p:cNvSpPr/>
          <p:nvPr/>
        </p:nvSpPr>
        <p:spPr>
          <a:xfrm>
            <a:off x="3443206" y="5484222"/>
            <a:ext cx="32520" cy="136676"/>
          </a:xfrm>
          <a:prstGeom prst="rect">
            <a:avLst/>
          </a:prstGeom>
          <a:solidFill>
            <a:srgbClr val="C2352F"/>
          </a:solidFill>
          <a:ln/>
        </p:spPr>
      </p:sp>
      <p:sp>
        <p:nvSpPr>
          <p:cNvPr id="90" name="Text 88"/>
          <p:cNvSpPr txBox="1"/>
          <p:nvPr/>
        </p:nvSpPr>
        <p:spPr>
          <a:xfrm>
            <a:off x="41788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91" name="Text 89"/>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92" name="Text 9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4" name="Shape 92"/>
          <p:cNvSpPr/>
          <p:nvPr/>
        </p:nvSpPr>
        <p:spPr>
          <a:xfrm>
            <a:off x="3438055" y="5732723"/>
            <a:ext cx="37671" cy="136676"/>
          </a:xfrm>
          <a:prstGeom prst="rect">
            <a:avLst/>
          </a:prstGeom>
          <a:solidFill>
            <a:srgbClr val="C2352F"/>
          </a:solidFill>
          <a:ln/>
        </p:spPr>
      </p:sp>
      <p:sp>
        <p:nvSpPr>
          <p:cNvPr id="95" name="Text 93"/>
          <p:cNvSpPr txBox="1"/>
          <p:nvPr/>
        </p:nvSpPr>
        <p:spPr>
          <a:xfrm>
            <a:off x="41788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96" name="Text 94"/>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97" name="Text 95"/>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8" name="Text 96"/>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99" name="Shape 97"/>
          <p:cNvSpPr/>
          <p:nvPr/>
        </p:nvSpPr>
        <p:spPr>
          <a:xfrm>
            <a:off x="8982059" y="1756697"/>
            <a:ext cx="44076" cy="136676"/>
          </a:xfrm>
          <a:prstGeom prst="rect">
            <a:avLst/>
          </a:prstGeom>
          <a:solidFill>
            <a:srgbClr val="C2352F"/>
          </a:solidFill>
          <a:ln/>
        </p:spPr>
      </p:sp>
      <p:sp>
        <p:nvSpPr>
          <p:cNvPr id="100" name="Text 98"/>
          <p:cNvSpPr txBox="1"/>
          <p:nvPr/>
        </p:nvSpPr>
        <p:spPr>
          <a:xfrm>
            <a:off x="97292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01" name="Text 99"/>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02" name="Text 100"/>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3" name="Text 101"/>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4" name="Shape 102"/>
          <p:cNvSpPr/>
          <p:nvPr/>
        </p:nvSpPr>
        <p:spPr>
          <a:xfrm>
            <a:off x="8977096" y="2005199"/>
            <a:ext cx="49038" cy="136676"/>
          </a:xfrm>
          <a:prstGeom prst="rect">
            <a:avLst/>
          </a:prstGeom>
          <a:solidFill>
            <a:srgbClr val="C2352F"/>
          </a:solidFill>
          <a:ln/>
        </p:spPr>
      </p:sp>
      <p:sp>
        <p:nvSpPr>
          <p:cNvPr id="105" name="Text 103"/>
          <p:cNvSpPr txBox="1"/>
          <p:nvPr/>
        </p:nvSpPr>
        <p:spPr>
          <a:xfrm>
            <a:off x="97292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06" name="Text 104"/>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07" name="Text 105"/>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8" name="Text 106"/>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09" name="Shape 107"/>
          <p:cNvSpPr/>
          <p:nvPr/>
        </p:nvSpPr>
        <p:spPr>
          <a:xfrm>
            <a:off x="8974752" y="2253700"/>
            <a:ext cx="51383" cy="136676"/>
          </a:xfrm>
          <a:prstGeom prst="rect">
            <a:avLst/>
          </a:prstGeom>
          <a:solidFill>
            <a:srgbClr val="C2352F"/>
          </a:solidFill>
          <a:ln/>
        </p:spPr>
      </p:sp>
      <p:sp>
        <p:nvSpPr>
          <p:cNvPr id="110" name="Text 108"/>
          <p:cNvSpPr txBox="1"/>
          <p:nvPr/>
        </p:nvSpPr>
        <p:spPr>
          <a:xfrm>
            <a:off x="97292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11" name="Text 109"/>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112" name="Text 11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14" name="Shape 112"/>
          <p:cNvSpPr/>
          <p:nvPr/>
        </p:nvSpPr>
        <p:spPr>
          <a:xfrm>
            <a:off x="8973015" y="2502202"/>
            <a:ext cx="53119" cy="136676"/>
          </a:xfrm>
          <a:prstGeom prst="rect">
            <a:avLst/>
          </a:prstGeom>
          <a:solidFill>
            <a:srgbClr val="C2352F"/>
          </a:solidFill>
          <a:ln/>
        </p:spPr>
      </p:sp>
      <p:sp>
        <p:nvSpPr>
          <p:cNvPr id="115" name="Text 113"/>
          <p:cNvSpPr txBox="1"/>
          <p:nvPr/>
        </p:nvSpPr>
        <p:spPr>
          <a:xfrm>
            <a:off x="97292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16" name="Text 114"/>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17" name="Text 115"/>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8" name="Text 116"/>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19" name="Shape 117"/>
          <p:cNvSpPr/>
          <p:nvPr/>
        </p:nvSpPr>
        <p:spPr>
          <a:xfrm>
            <a:off x="8970285" y="2750703"/>
            <a:ext cx="55850" cy="136676"/>
          </a:xfrm>
          <a:prstGeom prst="rect">
            <a:avLst/>
          </a:prstGeom>
          <a:solidFill>
            <a:srgbClr val="C2352F"/>
          </a:solidFill>
          <a:ln/>
        </p:spPr>
      </p:sp>
      <p:sp>
        <p:nvSpPr>
          <p:cNvPr id="120" name="Text 118"/>
          <p:cNvSpPr txBox="1"/>
          <p:nvPr/>
        </p:nvSpPr>
        <p:spPr>
          <a:xfrm>
            <a:off x="97292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21" name="Text 11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22" name="Text 12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3" name="Text 121"/>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24" name="Shape 122"/>
          <p:cNvSpPr/>
          <p:nvPr/>
        </p:nvSpPr>
        <p:spPr>
          <a:xfrm>
            <a:off x="8963737" y="2999205"/>
            <a:ext cx="62398" cy="136676"/>
          </a:xfrm>
          <a:prstGeom prst="rect">
            <a:avLst/>
          </a:prstGeom>
          <a:solidFill>
            <a:srgbClr val="C2352F"/>
          </a:solidFill>
          <a:ln/>
        </p:spPr>
      </p:sp>
      <p:sp>
        <p:nvSpPr>
          <p:cNvPr id="125" name="Text 123"/>
          <p:cNvSpPr txBox="1"/>
          <p:nvPr/>
        </p:nvSpPr>
        <p:spPr>
          <a:xfrm>
            <a:off x="97292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26" name="Text 124"/>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27" name="Text 125"/>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8" name="Text 126"/>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9" name="Shape 127"/>
          <p:cNvSpPr/>
          <p:nvPr/>
        </p:nvSpPr>
        <p:spPr>
          <a:xfrm>
            <a:off x="8947585" y="3247707"/>
            <a:ext cx="78550" cy="136676"/>
          </a:xfrm>
          <a:prstGeom prst="rect">
            <a:avLst/>
          </a:prstGeom>
          <a:solidFill>
            <a:srgbClr val="C2352F"/>
          </a:solidFill>
          <a:ln/>
        </p:spPr>
      </p:sp>
      <p:sp>
        <p:nvSpPr>
          <p:cNvPr id="130" name="Text 128"/>
          <p:cNvSpPr txBox="1"/>
          <p:nvPr/>
        </p:nvSpPr>
        <p:spPr>
          <a:xfrm>
            <a:off x="97292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31" name="Text 12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32" name="Text 13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3" name="Text 131"/>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34" name="Shape 132"/>
          <p:cNvSpPr/>
          <p:nvPr/>
        </p:nvSpPr>
        <p:spPr>
          <a:xfrm>
            <a:off x="8946049" y="3496208"/>
            <a:ext cx="80086" cy="136676"/>
          </a:xfrm>
          <a:prstGeom prst="rect">
            <a:avLst/>
          </a:prstGeom>
          <a:solidFill>
            <a:srgbClr val="C2352F"/>
          </a:solidFill>
          <a:ln/>
        </p:spPr>
      </p:sp>
      <p:sp>
        <p:nvSpPr>
          <p:cNvPr id="135" name="Text 133"/>
          <p:cNvSpPr txBox="1"/>
          <p:nvPr/>
        </p:nvSpPr>
        <p:spPr>
          <a:xfrm>
            <a:off x="97292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36" name="Text 13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37" name="Text 13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8" name="Text 136"/>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39" name="Shape 137"/>
          <p:cNvSpPr/>
          <p:nvPr/>
        </p:nvSpPr>
        <p:spPr>
          <a:xfrm>
            <a:off x="8907086" y="3744710"/>
            <a:ext cx="119049" cy="136676"/>
          </a:xfrm>
          <a:prstGeom prst="rect">
            <a:avLst/>
          </a:prstGeom>
          <a:solidFill>
            <a:srgbClr val="C2352F"/>
          </a:solidFill>
          <a:ln/>
        </p:spPr>
      </p:sp>
      <p:sp>
        <p:nvSpPr>
          <p:cNvPr id="140" name="Text 138"/>
          <p:cNvSpPr txBox="1"/>
          <p:nvPr/>
        </p:nvSpPr>
        <p:spPr>
          <a:xfrm>
            <a:off x="97292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41" name="Text 139"/>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42" name="Text 14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3" name="Text 14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4" name="Shape 142"/>
          <p:cNvSpPr/>
          <p:nvPr/>
        </p:nvSpPr>
        <p:spPr>
          <a:xfrm>
            <a:off x="8895233" y="3993212"/>
            <a:ext cx="130901" cy="136676"/>
          </a:xfrm>
          <a:prstGeom prst="rect">
            <a:avLst/>
          </a:prstGeom>
          <a:solidFill>
            <a:srgbClr val="C2352F"/>
          </a:solidFill>
          <a:ln/>
        </p:spPr>
      </p:sp>
      <p:sp>
        <p:nvSpPr>
          <p:cNvPr id="145" name="Text 143"/>
          <p:cNvSpPr txBox="1"/>
          <p:nvPr/>
        </p:nvSpPr>
        <p:spPr>
          <a:xfrm>
            <a:off x="97292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−$53K</a:t>
            </a:r>
            <a:endParaRPr lang="en-US" sz="1300" dirty="0"/>
          </a:p>
        </p:txBody>
      </p:sp>
      <p:sp>
        <p:nvSpPr>
          <p:cNvPr id="146" name="Text 144"/>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47" name="Text 145"/>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8" name="Text 146"/>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49" name="Shape 147"/>
          <p:cNvSpPr/>
          <p:nvPr/>
        </p:nvSpPr>
        <p:spPr>
          <a:xfrm>
            <a:off x="8884789" y="4241713"/>
            <a:ext cx="141346" cy="136676"/>
          </a:xfrm>
          <a:prstGeom prst="rect">
            <a:avLst/>
          </a:prstGeom>
          <a:solidFill>
            <a:srgbClr val="C2352F"/>
          </a:solidFill>
          <a:ln/>
        </p:spPr>
      </p:sp>
      <p:sp>
        <p:nvSpPr>
          <p:cNvPr id="150" name="Text 148"/>
          <p:cNvSpPr txBox="1"/>
          <p:nvPr/>
        </p:nvSpPr>
        <p:spPr>
          <a:xfrm>
            <a:off x="97292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51" name="Text 149"/>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152" name="Text 150"/>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3" name="Text 151"/>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54" name="Shape 152"/>
          <p:cNvSpPr/>
          <p:nvPr/>
        </p:nvSpPr>
        <p:spPr>
          <a:xfrm>
            <a:off x="8858308" y="4490215"/>
            <a:ext cx="167826" cy="136676"/>
          </a:xfrm>
          <a:prstGeom prst="rect">
            <a:avLst/>
          </a:prstGeom>
          <a:solidFill>
            <a:srgbClr val="C2352F"/>
          </a:solidFill>
          <a:ln/>
        </p:spPr>
      </p:sp>
      <p:sp>
        <p:nvSpPr>
          <p:cNvPr id="155" name="Text 153"/>
          <p:cNvSpPr txBox="1"/>
          <p:nvPr/>
        </p:nvSpPr>
        <p:spPr>
          <a:xfrm>
            <a:off x="97292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−$67K</a:t>
            </a:r>
            <a:endParaRPr lang="en-US" sz="1300" dirty="0"/>
          </a:p>
        </p:txBody>
      </p:sp>
      <p:sp>
        <p:nvSpPr>
          <p:cNvPr id="156" name="Text 154"/>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157" name="Text 155"/>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8" name="Text 156"/>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59" name="Shape 157"/>
          <p:cNvSpPr/>
          <p:nvPr/>
        </p:nvSpPr>
        <p:spPr>
          <a:xfrm>
            <a:off x="8840630" y="4738717"/>
            <a:ext cx="185505" cy="136676"/>
          </a:xfrm>
          <a:prstGeom prst="rect">
            <a:avLst/>
          </a:prstGeom>
          <a:solidFill>
            <a:srgbClr val="C2352F"/>
          </a:solidFill>
          <a:ln/>
        </p:spPr>
      </p:sp>
      <p:sp>
        <p:nvSpPr>
          <p:cNvPr id="160" name="Text 158"/>
          <p:cNvSpPr txBox="1"/>
          <p:nvPr/>
        </p:nvSpPr>
        <p:spPr>
          <a:xfrm>
            <a:off x="97292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161" name="Text 15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62" name="Text 16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3" name="Text 161"/>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64" name="Shape 162"/>
          <p:cNvSpPr/>
          <p:nvPr/>
        </p:nvSpPr>
        <p:spPr>
          <a:xfrm>
            <a:off x="8831965" y="4987218"/>
            <a:ext cx="194169" cy="136676"/>
          </a:xfrm>
          <a:prstGeom prst="rect">
            <a:avLst/>
          </a:prstGeom>
          <a:solidFill>
            <a:srgbClr val="C2352F"/>
          </a:solidFill>
          <a:ln/>
        </p:spPr>
      </p:sp>
      <p:sp>
        <p:nvSpPr>
          <p:cNvPr id="165" name="Text 163"/>
          <p:cNvSpPr txBox="1"/>
          <p:nvPr/>
        </p:nvSpPr>
        <p:spPr>
          <a:xfrm>
            <a:off x="97292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−$78K</a:t>
            </a:r>
            <a:endParaRPr lang="en-US" sz="1300" dirty="0"/>
          </a:p>
        </p:txBody>
      </p:sp>
      <p:sp>
        <p:nvSpPr>
          <p:cNvPr id="166" name="Text 16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167" name="Text 16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8" name="Text 166"/>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69" name="Shape 167"/>
          <p:cNvSpPr/>
          <p:nvPr/>
        </p:nvSpPr>
        <p:spPr>
          <a:xfrm>
            <a:off x="8826849" y="5235720"/>
            <a:ext cx="199286" cy="136676"/>
          </a:xfrm>
          <a:prstGeom prst="rect">
            <a:avLst/>
          </a:prstGeom>
          <a:solidFill>
            <a:srgbClr val="C2352F"/>
          </a:solidFill>
          <a:ln/>
        </p:spPr>
      </p:sp>
      <p:sp>
        <p:nvSpPr>
          <p:cNvPr id="170" name="Text 168"/>
          <p:cNvSpPr txBox="1"/>
          <p:nvPr/>
        </p:nvSpPr>
        <p:spPr>
          <a:xfrm>
            <a:off x="97292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71" name="Text 16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72" name="Text 17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3" name="Text 171"/>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74" name="Shape 172"/>
          <p:cNvSpPr/>
          <p:nvPr/>
        </p:nvSpPr>
        <p:spPr>
          <a:xfrm>
            <a:off x="8650224" y="5484222"/>
            <a:ext cx="375910" cy="136676"/>
          </a:xfrm>
          <a:prstGeom prst="rect">
            <a:avLst/>
          </a:prstGeom>
          <a:solidFill>
            <a:srgbClr val="C2352F"/>
          </a:solidFill>
          <a:ln/>
        </p:spPr>
      </p:sp>
      <p:sp>
        <p:nvSpPr>
          <p:cNvPr id="175" name="Text 173"/>
          <p:cNvSpPr txBox="1"/>
          <p:nvPr/>
        </p:nvSpPr>
        <p:spPr>
          <a:xfrm>
            <a:off x="97292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−$151K</a:t>
            </a:r>
            <a:endParaRPr lang="en-US" sz="1300" dirty="0"/>
          </a:p>
        </p:txBody>
      </p:sp>
      <p:sp>
        <p:nvSpPr>
          <p:cNvPr id="176" name="Text 17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177" name="Shape 175"/>
          <p:cNvSpPr/>
          <p:nvPr/>
        </p:nvSpPr>
        <p:spPr>
          <a:xfrm>
            <a:off x="6085332" y="1700784"/>
            <a:ext cx="10973" cy="4224528"/>
          </a:xfrm>
          <a:prstGeom prst="rect">
            <a:avLst/>
          </a:prstGeom>
          <a:solidFill>
            <a:srgbClr val="D9D9D9"/>
          </a:solidFill>
          <a:ln/>
        </p:spPr>
      </p:sp>
      <p:sp>
        <p:nvSpPr>
          <p:cNvPr id="178" name="Shape 176"/>
          <p:cNvSpPr/>
          <p:nvPr/>
        </p:nvSpPr>
        <p:spPr>
          <a:xfrm>
            <a:off x="457200" y="6126480"/>
            <a:ext cx="11274552" cy="356616"/>
          </a:xfrm>
          <a:prstGeom prst="rect">
            <a:avLst/>
          </a:prstGeom>
          <a:solidFill>
            <a:srgbClr val="FBEBEA"/>
          </a:solidFill>
          <a:ln/>
        </p:spPr>
      </p:sp>
      <p:sp>
        <p:nvSpPr>
          <p:cNvPr id="179" name="Text 177"/>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A82B26"/>
                </a:solidFill>
                <a:latin typeface="Inter" pitchFamily="34" charset="0"/>
                <a:ea typeface="Inter" pitchFamily="34" charset="-122"/>
                <a:cs typeface="Inter" pitchFamily="34" charset="-120"/>
              </a:rPr>
              <a:t>21 stores under 10% leave $844,657 a year; 12 are at or above it. Chevy LV is furthest below at −$151K.</a:t>
            </a:r>
            <a:endParaRPr lang="en-US" sz="1500" dirty="0"/>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+5.1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11.9%</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14.1%</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+9.0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Nissan, LR LV and LR Henderson what changed. Ask CDJR Post Falls, Honda North and Subaru St George what got in the way. Ask Mazda, Audi Reno and Kia St George what they started this year.</a:t>
            </a:r>
            <a:endParaRPr lang="en-US" sz="1600" dirty="0"/>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7.5%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5.8%, ahead of 2025 in all nine months, but 1.7 pts under the 7.5% benchmark — 4,731 fuel services short.</a:t>
            </a:r>
            <a:endParaRPr lang="en-US" sz="160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led by Subaru St George at 13.8%. The group sits at 5.8%.</a:t>
            </a:r>
            <a:endParaRPr lang="en-US" sz="1600" dirty="0"/>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1788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Shape 6"/>
          <p:cNvSpPr/>
          <p:nvPr/>
        </p:nvSpPr>
        <p:spPr>
          <a:xfrm>
            <a:off x="3540063" y="1700784"/>
            <a:ext cx="10973" cy="4224528"/>
          </a:xfrm>
          <a:prstGeom prst="rect">
            <a:avLst/>
          </a:prstGeom>
          <a:solidFill>
            <a:srgbClr val="9AA3AD"/>
          </a:solidFill>
          <a:ln/>
        </p:spPr>
      </p:sp>
      <p:sp>
        <p:nvSpPr>
          <p:cNvPr id="9" name="Text 7"/>
          <p:cNvSpPr txBox="1"/>
          <p:nvPr/>
        </p:nvSpPr>
        <p:spPr>
          <a:xfrm>
            <a:off x="97292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Shape 9"/>
          <p:cNvSpPr/>
          <p:nvPr/>
        </p:nvSpPr>
        <p:spPr>
          <a:xfrm>
            <a:off x="9090471"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545549" y="1756697"/>
            <a:ext cx="578395" cy="136676"/>
          </a:xfrm>
          <a:prstGeom prst="rect">
            <a:avLst/>
          </a:prstGeom>
          <a:solidFill>
            <a:srgbClr val="12A566"/>
          </a:solidFill>
          <a:ln/>
        </p:spPr>
      </p:sp>
      <p:sp>
        <p:nvSpPr>
          <p:cNvPr id="15" name="Text 13"/>
          <p:cNvSpPr txBox="1"/>
          <p:nvPr/>
        </p:nvSpPr>
        <p:spPr>
          <a:xfrm>
            <a:off x="41788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+$185K</a:t>
            </a:r>
            <a:endParaRPr lang="en-US" sz="1300" dirty="0"/>
          </a:p>
        </p:txBody>
      </p:sp>
      <p:sp>
        <p:nvSpPr>
          <p:cNvPr id="16" name="Text 14"/>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17" name="Text 15"/>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9" name="Shape 17"/>
          <p:cNvSpPr/>
          <p:nvPr/>
        </p:nvSpPr>
        <p:spPr>
          <a:xfrm>
            <a:off x="3545549" y="2005199"/>
            <a:ext cx="224689" cy="136676"/>
          </a:xfrm>
          <a:prstGeom prst="rect">
            <a:avLst/>
          </a:prstGeom>
          <a:solidFill>
            <a:srgbClr val="12A566"/>
          </a:solidFill>
          <a:ln/>
        </p:spPr>
      </p:sp>
      <p:sp>
        <p:nvSpPr>
          <p:cNvPr id="20" name="Text 18"/>
          <p:cNvSpPr txBox="1"/>
          <p:nvPr/>
        </p:nvSpPr>
        <p:spPr>
          <a:xfrm>
            <a:off x="41788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+$72K</a:t>
            </a:r>
            <a:endParaRPr lang="en-US" sz="1300" dirty="0"/>
          </a:p>
        </p:txBody>
      </p:sp>
      <p:sp>
        <p:nvSpPr>
          <p:cNvPr id="21" name="Text 19"/>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22" name="Text 20"/>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4" name="Shape 22"/>
          <p:cNvSpPr/>
          <p:nvPr/>
        </p:nvSpPr>
        <p:spPr>
          <a:xfrm>
            <a:off x="3545549" y="2253700"/>
            <a:ext cx="160950" cy="136676"/>
          </a:xfrm>
          <a:prstGeom prst="rect">
            <a:avLst/>
          </a:prstGeom>
          <a:solidFill>
            <a:srgbClr val="12A566"/>
          </a:solidFill>
          <a:ln/>
        </p:spPr>
      </p:sp>
      <p:sp>
        <p:nvSpPr>
          <p:cNvPr id="25" name="Text 23"/>
          <p:cNvSpPr txBox="1"/>
          <p:nvPr/>
        </p:nvSpPr>
        <p:spPr>
          <a:xfrm>
            <a:off x="41788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+$51K</a:t>
            </a:r>
            <a:endParaRPr lang="en-US" sz="1300" dirty="0"/>
          </a:p>
        </p:txBody>
      </p:sp>
      <p:sp>
        <p:nvSpPr>
          <p:cNvPr id="26" name="Text 24"/>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7" name="Text 25"/>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9" name="Shape 27"/>
          <p:cNvSpPr/>
          <p:nvPr/>
        </p:nvSpPr>
        <p:spPr>
          <a:xfrm>
            <a:off x="3545549" y="2502202"/>
            <a:ext cx="41697" cy="136676"/>
          </a:xfrm>
          <a:prstGeom prst="rect">
            <a:avLst/>
          </a:prstGeom>
          <a:solidFill>
            <a:srgbClr val="12A566"/>
          </a:solidFill>
          <a:ln/>
        </p:spPr>
      </p:sp>
      <p:sp>
        <p:nvSpPr>
          <p:cNvPr id="30" name="Text 28"/>
          <p:cNvSpPr txBox="1"/>
          <p:nvPr/>
        </p:nvSpPr>
        <p:spPr>
          <a:xfrm>
            <a:off x="41788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+$13K</a:t>
            </a:r>
            <a:endParaRPr lang="en-US" sz="1300" dirty="0"/>
          </a:p>
        </p:txBody>
      </p:sp>
      <p:sp>
        <p:nvSpPr>
          <p:cNvPr id="31" name="Text 29"/>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9.3%</a:t>
            </a:r>
            <a:endParaRPr lang="en-US" sz="1300" dirty="0"/>
          </a:p>
        </p:txBody>
      </p:sp>
      <p:sp>
        <p:nvSpPr>
          <p:cNvPr id="32" name="Text 30"/>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34" name="Shape 32"/>
          <p:cNvSpPr/>
          <p:nvPr/>
        </p:nvSpPr>
        <p:spPr>
          <a:xfrm>
            <a:off x="3545549" y="2750703"/>
            <a:ext cx="36360" cy="136676"/>
          </a:xfrm>
          <a:prstGeom prst="rect">
            <a:avLst/>
          </a:prstGeom>
          <a:solidFill>
            <a:srgbClr val="12A566"/>
          </a:solidFill>
          <a:ln/>
        </p:spPr>
      </p:sp>
      <p:sp>
        <p:nvSpPr>
          <p:cNvPr id="35" name="Text 33"/>
          <p:cNvSpPr txBox="1"/>
          <p:nvPr/>
        </p:nvSpPr>
        <p:spPr>
          <a:xfrm>
            <a:off x="417880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+$12K</a:t>
            </a:r>
            <a:endParaRPr lang="en-US" sz="1300" dirty="0"/>
          </a:p>
        </p:txBody>
      </p:sp>
      <p:sp>
        <p:nvSpPr>
          <p:cNvPr id="36" name="Text 3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a:t>
            </a:r>
            <a:endParaRPr lang="en-US" sz="1300" dirty="0"/>
          </a:p>
        </p:txBody>
      </p:sp>
      <p:sp>
        <p:nvSpPr>
          <p:cNvPr id="37" name="Text 3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39" name="Shape 37"/>
          <p:cNvSpPr/>
          <p:nvPr/>
        </p:nvSpPr>
        <p:spPr>
          <a:xfrm>
            <a:off x="3545549" y="2999205"/>
            <a:ext cx="18288" cy="136676"/>
          </a:xfrm>
          <a:prstGeom prst="rect">
            <a:avLst/>
          </a:prstGeom>
          <a:solidFill>
            <a:srgbClr val="12A566"/>
          </a:solidFill>
          <a:ln/>
        </p:spPr>
      </p:sp>
      <p:sp>
        <p:nvSpPr>
          <p:cNvPr id="40" name="Text 38"/>
          <p:cNvSpPr txBox="1"/>
          <p:nvPr/>
        </p:nvSpPr>
        <p:spPr>
          <a:xfrm>
            <a:off x="417880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41" name="Text 39"/>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42" name="Text 4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4" name="Shape 42"/>
          <p:cNvSpPr/>
          <p:nvPr/>
        </p:nvSpPr>
        <p:spPr>
          <a:xfrm>
            <a:off x="3545549" y="3247707"/>
            <a:ext cx="18288" cy="136676"/>
          </a:xfrm>
          <a:prstGeom prst="rect">
            <a:avLst/>
          </a:prstGeom>
          <a:solidFill>
            <a:srgbClr val="12A566"/>
          </a:solidFill>
          <a:ln/>
        </p:spPr>
      </p:sp>
      <p:sp>
        <p:nvSpPr>
          <p:cNvPr id="45" name="Text 43"/>
          <p:cNvSpPr txBox="1"/>
          <p:nvPr/>
        </p:nvSpPr>
        <p:spPr>
          <a:xfrm>
            <a:off x="417880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46" name="Text 44"/>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47" name="Text 45"/>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9" name="Shape 47"/>
          <p:cNvSpPr/>
          <p:nvPr/>
        </p:nvSpPr>
        <p:spPr>
          <a:xfrm>
            <a:off x="3541770" y="3496208"/>
            <a:ext cx="18288" cy="136676"/>
          </a:xfrm>
          <a:prstGeom prst="rect">
            <a:avLst/>
          </a:prstGeom>
          <a:solidFill>
            <a:srgbClr val="C2352F"/>
          </a:solidFill>
          <a:ln/>
        </p:spPr>
      </p:sp>
      <p:sp>
        <p:nvSpPr>
          <p:cNvPr id="50" name="Text 48"/>
          <p:cNvSpPr txBox="1"/>
          <p:nvPr/>
        </p:nvSpPr>
        <p:spPr>
          <a:xfrm>
            <a:off x="417880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51" name="Text 49"/>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52" name="Text 50"/>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54" name="Shape 52"/>
          <p:cNvSpPr/>
          <p:nvPr/>
        </p:nvSpPr>
        <p:spPr>
          <a:xfrm>
            <a:off x="3513580" y="3744710"/>
            <a:ext cx="31969" cy="136676"/>
          </a:xfrm>
          <a:prstGeom prst="rect">
            <a:avLst/>
          </a:prstGeom>
          <a:solidFill>
            <a:srgbClr val="C2352F"/>
          </a:solidFill>
          <a:ln/>
        </p:spPr>
      </p:sp>
      <p:sp>
        <p:nvSpPr>
          <p:cNvPr id="55" name="Text 53"/>
          <p:cNvSpPr txBox="1"/>
          <p:nvPr/>
        </p:nvSpPr>
        <p:spPr>
          <a:xfrm>
            <a:off x="417880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56" name="Text 54"/>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57" name="Text 55"/>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9" name="Shape 57"/>
          <p:cNvSpPr/>
          <p:nvPr/>
        </p:nvSpPr>
        <p:spPr>
          <a:xfrm>
            <a:off x="3505684" y="3993212"/>
            <a:ext cx="39865" cy="136676"/>
          </a:xfrm>
          <a:prstGeom prst="rect">
            <a:avLst/>
          </a:prstGeom>
          <a:solidFill>
            <a:srgbClr val="C2352F"/>
          </a:solidFill>
          <a:ln/>
        </p:spPr>
      </p:sp>
      <p:sp>
        <p:nvSpPr>
          <p:cNvPr id="60" name="Text 58"/>
          <p:cNvSpPr txBox="1"/>
          <p:nvPr/>
        </p:nvSpPr>
        <p:spPr>
          <a:xfrm>
            <a:off x="417880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61" name="Text 59"/>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62" name="Text 6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4" name="Shape 62"/>
          <p:cNvSpPr/>
          <p:nvPr/>
        </p:nvSpPr>
        <p:spPr>
          <a:xfrm>
            <a:off x="3488418" y="4241713"/>
            <a:ext cx="57131" cy="136676"/>
          </a:xfrm>
          <a:prstGeom prst="rect">
            <a:avLst/>
          </a:prstGeom>
          <a:solidFill>
            <a:srgbClr val="C2352F"/>
          </a:solidFill>
          <a:ln/>
        </p:spPr>
      </p:sp>
      <p:sp>
        <p:nvSpPr>
          <p:cNvPr id="65" name="Text 63"/>
          <p:cNvSpPr txBox="1"/>
          <p:nvPr/>
        </p:nvSpPr>
        <p:spPr>
          <a:xfrm>
            <a:off x="417880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66" name="Text 64"/>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67" name="Text 65"/>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69" name="Shape 67"/>
          <p:cNvSpPr/>
          <p:nvPr/>
        </p:nvSpPr>
        <p:spPr>
          <a:xfrm>
            <a:off x="3486400" y="4490215"/>
            <a:ext cx="59150" cy="136676"/>
          </a:xfrm>
          <a:prstGeom prst="rect">
            <a:avLst/>
          </a:prstGeom>
          <a:solidFill>
            <a:srgbClr val="C2352F"/>
          </a:solidFill>
          <a:ln/>
        </p:spPr>
      </p:sp>
      <p:sp>
        <p:nvSpPr>
          <p:cNvPr id="70" name="Text 68"/>
          <p:cNvSpPr txBox="1"/>
          <p:nvPr/>
        </p:nvSpPr>
        <p:spPr>
          <a:xfrm>
            <a:off x="417880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71" name="Text 69"/>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72" name="Text 70"/>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4" name="Shape 72"/>
          <p:cNvSpPr/>
          <p:nvPr/>
        </p:nvSpPr>
        <p:spPr>
          <a:xfrm>
            <a:off x="3479069" y="4738717"/>
            <a:ext cx="66480" cy="136676"/>
          </a:xfrm>
          <a:prstGeom prst="rect">
            <a:avLst/>
          </a:prstGeom>
          <a:solidFill>
            <a:srgbClr val="C2352F"/>
          </a:solidFill>
          <a:ln/>
        </p:spPr>
      </p:sp>
      <p:sp>
        <p:nvSpPr>
          <p:cNvPr id="75" name="Text 73"/>
          <p:cNvSpPr txBox="1"/>
          <p:nvPr/>
        </p:nvSpPr>
        <p:spPr>
          <a:xfrm>
            <a:off x="41788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76" name="Text 74"/>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77" name="Text 75"/>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79" name="Shape 77"/>
          <p:cNvSpPr/>
          <p:nvPr/>
        </p:nvSpPr>
        <p:spPr>
          <a:xfrm>
            <a:off x="3470893" y="4987218"/>
            <a:ext cx="74656" cy="136676"/>
          </a:xfrm>
          <a:prstGeom prst="rect">
            <a:avLst/>
          </a:prstGeom>
          <a:solidFill>
            <a:srgbClr val="C2352F"/>
          </a:solidFill>
          <a:ln/>
        </p:spPr>
      </p:sp>
      <p:sp>
        <p:nvSpPr>
          <p:cNvPr id="80" name="Text 78"/>
          <p:cNvSpPr txBox="1"/>
          <p:nvPr/>
        </p:nvSpPr>
        <p:spPr>
          <a:xfrm>
            <a:off x="41788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81" name="Text 79"/>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82" name="Text 80"/>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84" name="Shape 82"/>
          <p:cNvSpPr/>
          <p:nvPr/>
        </p:nvSpPr>
        <p:spPr>
          <a:xfrm>
            <a:off x="3467487" y="5235720"/>
            <a:ext cx="78062" cy="136676"/>
          </a:xfrm>
          <a:prstGeom prst="rect">
            <a:avLst/>
          </a:prstGeom>
          <a:solidFill>
            <a:srgbClr val="C2352F"/>
          </a:solidFill>
          <a:ln/>
        </p:spPr>
      </p:sp>
      <p:sp>
        <p:nvSpPr>
          <p:cNvPr id="85" name="Text 83"/>
          <p:cNvSpPr txBox="1"/>
          <p:nvPr/>
        </p:nvSpPr>
        <p:spPr>
          <a:xfrm>
            <a:off x="41788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86" name="Text 8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87" name="Text 8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9" name="Shape 87"/>
          <p:cNvSpPr/>
          <p:nvPr/>
        </p:nvSpPr>
        <p:spPr>
          <a:xfrm>
            <a:off x="3463887" y="5484222"/>
            <a:ext cx="81662" cy="136676"/>
          </a:xfrm>
          <a:prstGeom prst="rect">
            <a:avLst/>
          </a:prstGeom>
          <a:solidFill>
            <a:srgbClr val="C2352F"/>
          </a:solidFill>
          <a:ln/>
        </p:spPr>
      </p:sp>
      <p:sp>
        <p:nvSpPr>
          <p:cNvPr id="90" name="Text 88"/>
          <p:cNvSpPr txBox="1"/>
          <p:nvPr/>
        </p:nvSpPr>
        <p:spPr>
          <a:xfrm>
            <a:off x="41788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91" name="Text 89"/>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92" name="Text 9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4" name="Shape 92"/>
          <p:cNvSpPr/>
          <p:nvPr/>
        </p:nvSpPr>
        <p:spPr>
          <a:xfrm>
            <a:off x="3455112" y="5732723"/>
            <a:ext cx="90437" cy="136676"/>
          </a:xfrm>
          <a:prstGeom prst="rect">
            <a:avLst/>
          </a:prstGeom>
          <a:solidFill>
            <a:srgbClr val="C2352F"/>
          </a:solidFill>
          <a:ln/>
        </p:spPr>
      </p:sp>
      <p:sp>
        <p:nvSpPr>
          <p:cNvPr id="95" name="Text 93"/>
          <p:cNvSpPr txBox="1"/>
          <p:nvPr/>
        </p:nvSpPr>
        <p:spPr>
          <a:xfrm>
            <a:off x="41788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96" name="Text 94"/>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97" name="Text 95"/>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8" name="Text 96"/>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99" name="Shape 97"/>
          <p:cNvSpPr/>
          <p:nvPr/>
        </p:nvSpPr>
        <p:spPr>
          <a:xfrm>
            <a:off x="8990249" y="1756697"/>
            <a:ext cx="105708" cy="136676"/>
          </a:xfrm>
          <a:prstGeom prst="rect">
            <a:avLst/>
          </a:prstGeom>
          <a:solidFill>
            <a:srgbClr val="C2352F"/>
          </a:solidFill>
          <a:ln/>
        </p:spPr>
      </p:sp>
      <p:sp>
        <p:nvSpPr>
          <p:cNvPr id="100" name="Text 98"/>
          <p:cNvSpPr txBox="1"/>
          <p:nvPr/>
        </p:nvSpPr>
        <p:spPr>
          <a:xfrm>
            <a:off x="97292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01" name="Text 99"/>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02" name="Text 100"/>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3" name="Text 101"/>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4" name="Shape 102"/>
          <p:cNvSpPr/>
          <p:nvPr/>
        </p:nvSpPr>
        <p:spPr>
          <a:xfrm>
            <a:off x="8952406" y="2005199"/>
            <a:ext cx="143551" cy="136676"/>
          </a:xfrm>
          <a:prstGeom prst="rect">
            <a:avLst/>
          </a:prstGeom>
          <a:solidFill>
            <a:srgbClr val="C2352F"/>
          </a:solidFill>
          <a:ln/>
        </p:spPr>
      </p:sp>
      <p:sp>
        <p:nvSpPr>
          <p:cNvPr id="105" name="Text 103"/>
          <p:cNvSpPr txBox="1"/>
          <p:nvPr/>
        </p:nvSpPr>
        <p:spPr>
          <a:xfrm>
            <a:off x="97292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−$46K</a:t>
            </a:r>
            <a:endParaRPr lang="en-US" sz="1300" dirty="0"/>
          </a:p>
        </p:txBody>
      </p:sp>
      <p:sp>
        <p:nvSpPr>
          <p:cNvPr id="106" name="Text 104"/>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07" name="Text 105"/>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8" name="Text 106"/>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09" name="Shape 107"/>
          <p:cNvSpPr/>
          <p:nvPr/>
        </p:nvSpPr>
        <p:spPr>
          <a:xfrm>
            <a:off x="8934853" y="2253700"/>
            <a:ext cx="161104" cy="136676"/>
          </a:xfrm>
          <a:prstGeom prst="rect">
            <a:avLst/>
          </a:prstGeom>
          <a:solidFill>
            <a:srgbClr val="C2352F"/>
          </a:solidFill>
          <a:ln/>
        </p:spPr>
      </p:sp>
      <p:sp>
        <p:nvSpPr>
          <p:cNvPr id="110" name="Text 108"/>
          <p:cNvSpPr txBox="1"/>
          <p:nvPr/>
        </p:nvSpPr>
        <p:spPr>
          <a:xfrm>
            <a:off x="97292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11" name="Text 109"/>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112" name="Text 11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14" name="Shape 112"/>
          <p:cNvSpPr/>
          <p:nvPr/>
        </p:nvSpPr>
        <p:spPr>
          <a:xfrm>
            <a:off x="8920647" y="2502202"/>
            <a:ext cx="175310" cy="136676"/>
          </a:xfrm>
          <a:prstGeom prst="rect">
            <a:avLst/>
          </a:prstGeom>
          <a:solidFill>
            <a:srgbClr val="C2352F"/>
          </a:solidFill>
          <a:ln/>
        </p:spPr>
      </p:sp>
      <p:sp>
        <p:nvSpPr>
          <p:cNvPr id="115" name="Text 113"/>
          <p:cNvSpPr txBox="1"/>
          <p:nvPr/>
        </p:nvSpPr>
        <p:spPr>
          <a:xfrm>
            <a:off x="97292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16" name="Text 114"/>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17" name="Text 115"/>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8" name="Text 116"/>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19" name="Shape 117"/>
          <p:cNvSpPr/>
          <p:nvPr/>
        </p:nvSpPr>
        <p:spPr>
          <a:xfrm>
            <a:off x="8920267" y="2750703"/>
            <a:ext cx="175690" cy="136676"/>
          </a:xfrm>
          <a:prstGeom prst="rect">
            <a:avLst/>
          </a:prstGeom>
          <a:solidFill>
            <a:srgbClr val="C2352F"/>
          </a:solidFill>
          <a:ln/>
        </p:spPr>
      </p:sp>
      <p:sp>
        <p:nvSpPr>
          <p:cNvPr id="120" name="Text 118"/>
          <p:cNvSpPr txBox="1"/>
          <p:nvPr/>
        </p:nvSpPr>
        <p:spPr>
          <a:xfrm>
            <a:off x="97292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21" name="Text 11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22" name="Text 12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3" name="Text 121"/>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4" name="Shape 122"/>
          <p:cNvSpPr/>
          <p:nvPr/>
        </p:nvSpPr>
        <p:spPr>
          <a:xfrm>
            <a:off x="8908211" y="2999205"/>
            <a:ext cx="187746" cy="136676"/>
          </a:xfrm>
          <a:prstGeom prst="rect">
            <a:avLst/>
          </a:prstGeom>
          <a:solidFill>
            <a:srgbClr val="C2352F"/>
          </a:solidFill>
          <a:ln/>
        </p:spPr>
      </p:sp>
      <p:sp>
        <p:nvSpPr>
          <p:cNvPr id="125" name="Text 123"/>
          <p:cNvSpPr txBox="1"/>
          <p:nvPr/>
        </p:nvSpPr>
        <p:spPr>
          <a:xfrm>
            <a:off x="97292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126" name="Text 124"/>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127" name="Text 125"/>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8" name="Text 126"/>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29" name="Shape 127"/>
          <p:cNvSpPr/>
          <p:nvPr/>
        </p:nvSpPr>
        <p:spPr>
          <a:xfrm>
            <a:off x="8902495" y="3247707"/>
            <a:ext cx="193462" cy="136676"/>
          </a:xfrm>
          <a:prstGeom prst="rect">
            <a:avLst/>
          </a:prstGeom>
          <a:solidFill>
            <a:srgbClr val="C2352F"/>
          </a:solidFill>
          <a:ln/>
        </p:spPr>
      </p:sp>
      <p:sp>
        <p:nvSpPr>
          <p:cNvPr id="130" name="Text 128"/>
          <p:cNvSpPr txBox="1"/>
          <p:nvPr/>
        </p:nvSpPr>
        <p:spPr>
          <a:xfrm>
            <a:off x="97292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131" name="Text 12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132" name="Text 13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3" name="Text 131"/>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4" name="Shape 132"/>
          <p:cNvSpPr/>
          <p:nvPr/>
        </p:nvSpPr>
        <p:spPr>
          <a:xfrm>
            <a:off x="8901220" y="3496208"/>
            <a:ext cx="194737" cy="136676"/>
          </a:xfrm>
          <a:prstGeom prst="rect">
            <a:avLst/>
          </a:prstGeom>
          <a:solidFill>
            <a:srgbClr val="C2352F"/>
          </a:solidFill>
          <a:ln/>
        </p:spPr>
      </p:sp>
      <p:sp>
        <p:nvSpPr>
          <p:cNvPr id="135" name="Text 133"/>
          <p:cNvSpPr txBox="1"/>
          <p:nvPr/>
        </p:nvSpPr>
        <p:spPr>
          <a:xfrm>
            <a:off x="97292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136" name="Text 13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37" name="Text 13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8" name="Text 136"/>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9" name="Shape 137"/>
          <p:cNvSpPr/>
          <p:nvPr/>
        </p:nvSpPr>
        <p:spPr>
          <a:xfrm>
            <a:off x="8896811" y="3744710"/>
            <a:ext cx="199146" cy="136676"/>
          </a:xfrm>
          <a:prstGeom prst="rect">
            <a:avLst/>
          </a:prstGeom>
          <a:solidFill>
            <a:srgbClr val="C2352F"/>
          </a:solidFill>
          <a:ln/>
        </p:spPr>
      </p:sp>
      <p:sp>
        <p:nvSpPr>
          <p:cNvPr id="140" name="Text 138"/>
          <p:cNvSpPr txBox="1"/>
          <p:nvPr/>
        </p:nvSpPr>
        <p:spPr>
          <a:xfrm>
            <a:off x="97292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−$64K</a:t>
            </a:r>
            <a:endParaRPr lang="en-US" sz="1300" dirty="0"/>
          </a:p>
        </p:txBody>
      </p:sp>
      <p:sp>
        <p:nvSpPr>
          <p:cNvPr id="141" name="Text 139"/>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42" name="Text 14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3" name="Text 14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44" name="Shape 142"/>
          <p:cNvSpPr/>
          <p:nvPr/>
        </p:nvSpPr>
        <p:spPr>
          <a:xfrm>
            <a:off x="8891747" y="3993212"/>
            <a:ext cx="204210" cy="136676"/>
          </a:xfrm>
          <a:prstGeom prst="rect">
            <a:avLst/>
          </a:prstGeom>
          <a:solidFill>
            <a:srgbClr val="C2352F"/>
          </a:solidFill>
          <a:ln/>
        </p:spPr>
      </p:sp>
      <p:sp>
        <p:nvSpPr>
          <p:cNvPr id="145" name="Text 143"/>
          <p:cNvSpPr txBox="1"/>
          <p:nvPr/>
        </p:nvSpPr>
        <p:spPr>
          <a:xfrm>
            <a:off x="97292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−$65K</a:t>
            </a:r>
            <a:endParaRPr lang="en-US" sz="1300" dirty="0"/>
          </a:p>
        </p:txBody>
      </p:sp>
      <p:sp>
        <p:nvSpPr>
          <p:cNvPr id="146" name="Text 144"/>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47" name="Text 145"/>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8" name="Text 146"/>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49" name="Shape 147"/>
          <p:cNvSpPr/>
          <p:nvPr/>
        </p:nvSpPr>
        <p:spPr>
          <a:xfrm>
            <a:off x="8860792" y="4241713"/>
            <a:ext cx="235165" cy="136676"/>
          </a:xfrm>
          <a:prstGeom prst="rect">
            <a:avLst/>
          </a:prstGeom>
          <a:solidFill>
            <a:srgbClr val="C2352F"/>
          </a:solidFill>
          <a:ln/>
        </p:spPr>
      </p:sp>
      <p:sp>
        <p:nvSpPr>
          <p:cNvPr id="150" name="Text 148"/>
          <p:cNvSpPr txBox="1"/>
          <p:nvPr/>
        </p:nvSpPr>
        <p:spPr>
          <a:xfrm>
            <a:off x="97292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−$75K</a:t>
            </a:r>
            <a:endParaRPr lang="en-US" sz="1300" dirty="0"/>
          </a:p>
        </p:txBody>
      </p:sp>
      <p:sp>
        <p:nvSpPr>
          <p:cNvPr id="151" name="Text 149"/>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52" name="Text 150"/>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3" name="Text 151"/>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54" name="Shape 152"/>
          <p:cNvSpPr/>
          <p:nvPr/>
        </p:nvSpPr>
        <p:spPr>
          <a:xfrm>
            <a:off x="8859151" y="4490215"/>
            <a:ext cx="236806" cy="136676"/>
          </a:xfrm>
          <a:prstGeom prst="rect">
            <a:avLst/>
          </a:prstGeom>
          <a:solidFill>
            <a:srgbClr val="C2352F"/>
          </a:solidFill>
          <a:ln/>
        </p:spPr>
      </p:sp>
      <p:sp>
        <p:nvSpPr>
          <p:cNvPr id="155" name="Text 153"/>
          <p:cNvSpPr txBox="1"/>
          <p:nvPr/>
        </p:nvSpPr>
        <p:spPr>
          <a:xfrm>
            <a:off x="97292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156" name="Text 154"/>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57" name="Text 155"/>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8" name="Text 156"/>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9" name="Shape 157"/>
          <p:cNvSpPr/>
          <p:nvPr/>
        </p:nvSpPr>
        <p:spPr>
          <a:xfrm>
            <a:off x="8830828" y="4738717"/>
            <a:ext cx="265129" cy="136676"/>
          </a:xfrm>
          <a:prstGeom prst="rect">
            <a:avLst/>
          </a:prstGeom>
          <a:solidFill>
            <a:srgbClr val="C2352F"/>
          </a:solidFill>
          <a:ln/>
        </p:spPr>
      </p:sp>
      <p:sp>
        <p:nvSpPr>
          <p:cNvPr id="160" name="Text 158"/>
          <p:cNvSpPr txBox="1"/>
          <p:nvPr/>
        </p:nvSpPr>
        <p:spPr>
          <a:xfrm>
            <a:off x="97292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−$85K</a:t>
            </a:r>
            <a:endParaRPr lang="en-US" sz="1300" dirty="0"/>
          </a:p>
        </p:txBody>
      </p:sp>
      <p:sp>
        <p:nvSpPr>
          <p:cNvPr id="161" name="Text 15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62" name="Text 16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3" name="Text 161"/>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4" name="Shape 162"/>
          <p:cNvSpPr/>
          <p:nvPr/>
        </p:nvSpPr>
        <p:spPr>
          <a:xfrm>
            <a:off x="8754888" y="4987218"/>
            <a:ext cx="341069" cy="136676"/>
          </a:xfrm>
          <a:prstGeom prst="rect">
            <a:avLst/>
          </a:prstGeom>
          <a:solidFill>
            <a:srgbClr val="C2352F"/>
          </a:solidFill>
          <a:ln/>
        </p:spPr>
      </p:sp>
      <p:sp>
        <p:nvSpPr>
          <p:cNvPr id="165" name="Text 163"/>
          <p:cNvSpPr txBox="1"/>
          <p:nvPr/>
        </p:nvSpPr>
        <p:spPr>
          <a:xfrm>
            <a:off x="97292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−$109K</a:t>
            </a:r>
            <a:endParaRPr lang="en-US" sz="1300" dirty="0"/>
          </a:p>
        </p:txBody>
      </p:sp>
      <p:sp>
        <p:nvSpPr>
          <p:cNvPr id="166" name="Text 16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67" name="Text 16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8" name="Text 166"/>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69" name="Shape 167"/>
          <p:cNvSpPr/>
          <p:nvPr/>
        </p:nvSpPr>
        <p:spPr>
          <a:xfrm>
            <a:off x="8693205" y="5235720"/>
            <a:ext cx="402752" cy="136676"/>
          </a:xfrm>
          <a:prstGeom prst="rect">
            <a:avLst/>
          </a:prstGeom>
          <a:solidFill>
            <a:srgbClr val="C2352F"/>
          </a:solidFill>
          <a:ln/>
        </p:spPr>
      </p:sp>
      <p:sp>
        <p:nvSpPr>
          <p:cNvPr id="170" name="Text 168"/>
          <p:cNvSpPr txBox="1"/>
          <p:nvPr/>
        </p:nvSpPr>
        <p:spPr>
          <a:xfrm>
            <a:off x="97292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−$129K</a:t>
            </a:r>
            <a:endParaRPr lang="en-US" sz="1300" dirty="0"/>
          </a:p>
        </p:txBody>
      </p:sp>
      <p:sp>
        <p:nvSpPr>
          <p:cNvPr id="171" name="Text 16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172" name="Text 17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3" name="Text 171"/>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74" name="Shape 172"/>
          <p:cNvSpPr/>
          <p:nvPr/>
        </p:nvSpPr>
        <p:spPr>
          <a:xfrm>
            <a:off x="8650224" y="5484222"/>
            <a:ext cx="445733" cy="136676"/>
          </a:xfrm>
          <a:prstGeom prst="rect">
            <a:avLst/>
          </a:prstGeom>
          <a:solidFill>
            <a:srgbClr val="C2352F"/>
          </a:solidFill>
          <a:ln/>
        </p:spPr>
      </p:sp>
      <p:sp>
        <p:nvSpPr>
          <p:cNvPr id="175" name="Text 173"/>
          <p:cNvSpPr txBox="1"/>
          <p:nvPr/>
        </p:nvSpPr>
        <p:spPr>
          <a:xfrm>
            <a:off x="97292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−$142K</a:t>
            </a:r>
            <a:endParaRPr lang="en-US" sz="1300" dirty="0"/>
          </a:p>
        </p:txBody>
      </p:sp>
      <p:sp>
        <p:nvSpPr>
          <p:cNvPr id="176" name="Text 17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77" name="Shape 175"/>
          <p:cNvSpPr/>
          <p:nvPr/>
        </p:nvSpPr>
        <p:spPr>
          <a:xfrm>
            <a:off x="6085332" y="1700784"/>
            <a:ext cx="10973" cy="4224528"/>
          </a:xfrm>
          <a:prstGeom prst="rect">
            <a:avLst/>
          </a:prstGeom>
          <a:solidFill>
            <a:srgbClr val="D9D9D9"/>
          </a:solidFill>
          <a:ln/>
        </p:spPr>
      </p:sp>
      <p:sp>
        <p:nvSpPr>
          <p:cNvPr id="178" name="Shape 176"/>
          <p:cNvSpPr/>
          <p:nvPr/>
        </p:nvSpPr>
        <p:spPr>
          <a:xfrm>
            <a:off x="457200" y="6126480"/>
            <a:ext cx="11274552" cy="356616"/>
          </a:xfrm>
          <a:prstGeom prst="rect">
            <a:avLst/>
          </a:prstGeom>
          <a:solidFill>
            <a:srgbClr val="FBEBEA"/>
          </a:solidFill>
          <a:ln/>
        </p:spPr>
      </p:sp>
      <p:sp>
        <p:nvSpPr>
          <p:cNvPr id="179" name="Text 177"/>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A82B26"/>
                </a:solidFill>
                <a:latin typeface="Inter" pitchFamily="34" charset="0"/>
                <a:ea typeface="Inter" pitchFamily="34" charset="-122"/>
                <a:cs typeface="Inter" pitchFamily="34" charset="-120"/>
              </a:rPr>
              <a:t>26 stores under 7.5% leave $1,356,881 a year; 7 are at or above it. Chevy LV is furthest below at −$142K.</a:t>
            </a:r>
            <a:endParaRPr lang="en-US" sz="1500" dirty="0"/>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 pts</a:t>
            </a:r>
            <a:endParaRPr lang="en-US" sz="1600" dirty="0"/>
          </a:p>
        </p:txBody>
      </p:sp>
      <p:sp>
        <p:nvSpPr>
          <p:cNvPr id="13" name="Shape 11"/>
          <p:cNvSpPr/>
          <p:nvPr/>
        </p:nvSpPr>
        <p:spPr>
          <a:xfrm>
            <a:off x="4084320" y="2894990"/>
            <a:ext cx="64008" cy="682142"/>
          </a:xfrm>
          <a:prstGeom prst="rect">
            <a:avLst/>
          </a:prstGeom>
          <a:solidFill>
            <a:srgbClr val="12A566"/>
          </a:solidFill>
          <a:ln/>
        </p:spPr>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6.0%</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0.0%</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10.6%</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3" name="Shape 61"/>
          <p:cNvSpPr/>
          <p:nvPr/>
        </p:nvSpPr>
        <p:spPr>
          <a:xfrm>
            <a:off x="11466576" y="4405579"/>
            <a:ext cx="64008" cy="682142"/>
          </a:xfrm>
          <a:prstGeom prst="rect">
            <a:avLst/>
          </a:prstGeom>
          <a:solidFill>
            <a:srgbClr val="12A566"/>
          </a:solidFill>
          <a:ln/>
        </p:spPr>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10.0%</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71" name="Shape 69"/>
          <p:cNvSpPr/>
          <p:nvPr/>
        </p:nvSpPr>
        <p:spPr>
          <a:xfrm>
            <a:off x="457200" y="6126480"/>
            <a:ext cx="11274552" cy="600456"/>
          </a:xfrm>
          <a:prstGeom prst="rect">
            <a:avLst/>
          </a:prstGeom>
          <a:solidFill>
            <a:srgbClr val="EDF4FA"/>
          </a:solidFill>
          <a:ln/>
        </p:spPr>
      </p:sp>
      <p:sp>
        <p:nvSpPr>
          <p:cNvPr id="72" name="Text 70"/>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Subaru St George, Lincoln and LR LV what changed. Ask Subaru LV, CDJR Post Falls and Toyota Spokane what got in the way. Ask Mazda, Hyundai St George and Honda Spokane what they started this year.</a:t>
            </a:r>
            <a:endParaRPr lang="en-US" sz="1550" dirty="0"/>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Variance from Benchmark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81888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Shape 5"/>
          <p:cNvSpPr/>
          <p:nvPr/>
        </p:nvSpPr>
        <p:spPr>
          <a:xfrm>
            <a:off x="3795511" y="1700784"/>
            <a:ext cx="10973" cy="4224528"/>
          </a:xfrm>
          <a:prstGeom prst="rect">
            <a:avLst/>
          </a:prstGeom>
          <a:solidFill>
            <a:srgbClr val="9AA3AD"/>
          </a:solidFill>
          <a:ln/>
        </p:spPr>
      </p:sp>
      <p:sp>
        <p:nvSpPr>
          <p:cNvPr id="8" name="Text 6"/>
          <p:cNvSpPr txBox="1"/>
          <p:nvPr/>
        </p:nvSpPr>
        <p:spPr>
          <a:xfrm>
            <a:off x="1036929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9" name="Shape 7"/>
          <p:cNvSpPr/>
          <p:nvPr/>
        </p:nvSpPr>
        <p:spPr>
          <a:xfrm>
            <a:off x="9345919" y="1700784"/>
            <a:ext cx="10973" cy="3976026"/>
          </a:xfrm>
          <a:prstGeom prst="rect">
            <a:avLst/>
          </a:prstGeom>
          <a:solidFill>
            <a:srgbClr val="9AA3AD"/>
          </a:solidFill>
          <a:ln/>
        </p:spPr>
      </p:sp>
      <p:sp>
        <p:nvSpPr>
          <p:cNvPr id="10" name="Text 8"/>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1" name="Text 9"/>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2" name="Shape 10"/>
          <p:cNvSpPr/>
          <p:nvPr/>
        </p:nvSpPr>
        <p:spPr>
          <a:xfrm>
            <a:off x="3800997" y="1756697"/>
            <a:ext cx="963027" cy="136676"/>
          </a:xfrm>
          <a:prstGeom prst="rect">
            <a:avLst/>
          </a:prstGeom>
          <a:solidFill>
            <a:srgbClr val="12A566"/>
          </a:solidFill>
          <a:ln/>
        </p:spPr>
      </p:sp>
      <p:sp>
        <p:nvSpPr>
          <p:cNvPr id="13" name="Text 11"/>
          <p:cNvSpPr txBox="1"/>
          <p:nvPr/>
        </p:nvSpPr>
        <p:spPr>
          <a:xfrm>
            <a:off x="481888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+$743K</a:t>
            </a:r>
            <a:endParaRPr lang="en-US" sz="1300" dirty="0"/>
          </a:p>
        </p:txBody>
      </p:sp>
      <p:sp>
        <p:nvSpPr>
          <p:cNvPr id="14" name="Text 12"/>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5" name="Text 13"/>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 name="Shape 14"/>
          <p:cNvSpPr/>
          <p:nvPr/>
        </p:nvSpPr>
        <p:spPr>
          <a:xfrm>
            <a:off x="3800997" y="2005199"/>
            <a:ext cx="260306" cy="136676"/>
          </a:xfrm>
          <a:prstGeom prst="rect">
            <a:avLst/>
          </a:prstGeom>
          <a:solidFill>
            <a:srgbClr val="12A566"/>
          </a:solidFill>
          <a:ln/>
        </p:spPr>
      </p:sp>
      <p:sp>
        <p:nvSpPr>
          <p:cNvPr id="17" name="Text 15"/>
          <p:cNvSpPr txBox="1"/>
          <p:nvPr/>
        </p:nvSpPr>
        <p:spPr>
          <a:xfrm>
            <a:off x="481888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+$201K</a:t>
            </a:r>
            <a:endParaRPr lang="en-US" sz="1300" dirty="0"/>
          </a:p>
        </p:txBody>
      </p:sp>
      <p:sp>
        <p:nvSpPr>
          <p:cNvPr id="18" name="Text 1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19" name="Text 17"/>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0" name="Shape 18"/>
          <p:cNvSpPr/>
          <p:nvPr/>
        </p:nvSpPr>
        <p:spPr>
          <a:xfrm>
            <a:off x="3800997" y="2253700"/>
            <a:ext cx="92755" cy="136676"/>
          </a:xfrm>
          <a:prstGeom prst="rect">
            <a:avLst/>
          </a:prstGeom>
          <a:solidFill>
            <a:srgbClr val="12A566"/>
          </a:solidFill>
          <a:ln/>
        </p:spPr>
      </p:sp>
      <p:sp>
        <p:nvSpPr>
          <p:cNvPr id="21" name="Text 19"/>
          <p:cNvSpPr txBox="1"/>
          <p:nvPr/>
        </p:nvSpPr>
        <p:spPr>
          <a:xfrm>
            <a:off x="481888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+$72K</a:t>
            </a:r>
            <a:endParaRPr lang="en-US" sz="1300" dirty="0"/>
          </a:p>
        </p:txBody>
      </p:sp>
      <p:sp>
        <p:nvSpPr>
          <p:cNvPr id="22" name="Text 20"/>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4" name="Shape 22"/>
          <p:cNvSpPr/>
          <p:nvPr/>
        </p:nvSpPr>
        <p:spPr>
          <a:xfrm>
            <a:off x="3800997" y="2502202"/>
            <a:ext cx="77707" cy="136676"/>
          </a:xfrm>
          <a:prstGeom prst="rect">
            <a:avLst/>
          </a:prstGeom>
          <a:solidFill>
            <a:srgbClr val="12A566"/>
          </a:solidFill>
          <a:ln/>
        </p:spPr>
      </p:sp>
      <p:sp>
        <p:nvSpPr>
          <p:cNvPr id="25" name="Text 23"/>
          <p:cNvSpPr txBox="1"/>
          <p:nvPr/>
        </p:nvSpPr>
        <p:spPr>
          <a:xfrm>
            <a:off x="481888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+$60K</a:t>
            </a:r>
            <a:endParaRPr lang="en-US" sz="1300" dirty="0"/>
          </a:p>
        </p:txBody>
      </p:sp>
      <p:sp>
        <p:nvSpPr>
          <p:cNvPr id="26" name="Text 2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7" name="Text 25"/>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800997" y="2750703"/>
            <a:ext cx="71427" cy="136676"/>
          </a:xfrm>
          <a:prstGeom prst="rect">
            <a:avLst/>
          </a:prstGeom>
          <a:solidFill>
            <a:srgbClr val="12A566"/>
          </a:solidFill>
          <a:ln/>
        </p:spPr>
      </p:sp>
      <p:sp>
        <p:nvSpPr>
          <p:cNvPr id="29" name="Text 27"/>
          <p:cNvSpPr txBox="1"/>
          <p:nvPr/>
        </p:nvSpPr>
        <p:spPr>
          <a:xfrm>
            <a:off x="481888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+$55K</a:t>
            </a:r>
            <a:endParaRPr lang="en-US" sz="1300" dirty="0"/>
          </a:p>
        </p:txBody>
      </p:sp>
      <p:sp>
        <p:nvSpPr>
          <p:cNvPr id="30" name="Text 28"/>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1" name="Text 29"/>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2" name="Shape 30"/>
          <p:cNvSpPr/>
          <p:nvPr/>
        </p:nvSpPr>
        <p:spPr>
          <a:xfrm>
            <a:off x="3800997" y="2999205"/>
            <a:ext cx="57698" cy="136676"/>
          </a:xfrm>
          <a:prstGeom prst="rect">
            <a:avLst/>
          </a:prstGeom>
          <a:solidFill>
            <a:srgbClr val="12A566"/>
          </a:solidFill>
          <a:ln/>
        </p:spPr>
      </p:sp>
      <p:sp>
        <p:nvSpPr>
          <p:cNvPr id="33" name="Text 31"/>
          <p:cNvSpPr txBox="1"/>
          <p:nvPr/>
        </p:nvSpPr>
        <p:spPr>
          <a:xfrm>
            <a:off x="481888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+$45K</a:t>
            </a:r>
            <a:endParaRPr lang="en-US" sz="1300" dirty="0"/>
          </a:p>
        </p:txBody>
      </p:sp>
      <p:sp>
        <p:nvSpPr>
          <p:cNvPr id="34" name="Text 32"/>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5" name="Text 33"/>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36" name="Shape 34"/>
          <p:cNvSpPr/>
          <p:nvPr/>
        </p:nvSpPr>
        <p:spPr>
          <a:xfrm>
            <a:off x="3800997" y="3247707"/>
            <a:ext cx="40337" cy="136676"/>
          </a:xfrm>
          <a:prstGeom prst="rect">
            <a:avLst/>
          </a:prstGeom>
          <a:solidFill>
            <a:srgbClr val="12A566"/>
          </a:solidFill>
          <a:ln/>
        </p:spPr>
      </p:sp>
      <p:sp>
        <p:nvSpPr>
          <p:cNvPr id="37" name="Text 35"/>
          <p:cNvSpPr txBox="1"/>
          <p:nvPr/>
        </p:nvSpPr>
        <p:spPr>
          <a:xfrm>
            <a:off x="481888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8" name="Text 36"/>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39" name="Text 37"/>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40" name="Shape 38"/>
          <p:cNvSpPr/>
          <p:nvPr/>
        </p:nvSpPr>
        <p:spPr>
          <a:xfrm>
            <a:off x="3762731" y="3496208"/>
            <a:ext cx="38266" cy="136676"/>
          </a:xfrm>
          <a:prstGeom prst="rect">
            <a:avLst/>
          </a:prstGeom>
          <a:solidFill>
            <a:srgbClr val="C2352F"/>
          </a:solidFill>
          <a:ln/>
        </p:spPr>
      </p:sp>
      <p:sp>
        <p:nvSpPr>
          <p:cNvPr id="41" name="Text 39"/>
          <p:cNvSpPr txBox="1"/>
          <p:nvPr/>
        </p:nvSpPr>
        <p:spPr>
          <a:xfrm>
            <a:off x="481888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−$30K</a:t>
            </a:r>
            <a:endParaRPr lang="en-US" sz="1300" dirty="0"/>
          </a:p>
        </p:txBody>
      </p:sp>
      <p:sp>
        <p:nvSpPr>
          <p:cNvPr id="42" name="Text 40"/>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3" name="Text 41"/>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4" name="Shape 42"/>
          <p:cNvSpPr/>
          <p:nvPr/>
        </p:nvSpPr>
        <p:spPr>
          <a:xfrm>
            <a:off x="3752270" y="3744710"/>
            <a:ext cx="48727" cy="136676"/>
          </a:xfrm>
          <a:prstGeom prst="rect">
            <a:avLst/>
          </a:prstGeom>
          <a:solidFill>
            <a:srgbClr val="C2352F"/>
          </a:solidFill>
          <a:ln/>
        </p:spPr>
      </p:sp>
      <p:sp>
        <p:nvSpPr>
          <p:cNvPr id="45" name="Text 43"/>
          <p:cNvSpPr txBox="1"/>
          <p:nvPr/>
        </p:nvSpPr>
        <p:spPr>
          <a:xfrm>
            <a:off x="481888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46" name="Text 4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7" name="Text 45"/>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8" name="Shape 46"/>
          <p:cNvSpPr/>
          <p:nvPr/>
        </p:nvSpPr>
        <p:spPr>
          <a:xfrm>
            <a:off x="3751591" y="3993212"/>
            <a:ext cx="49407" cy="136676"/>
          </a:xfrm>
          <a:prstGeom prst="rect">
            <a:avLst/>
          </a:prstGeom>
          <a:solidFill>
            <a:srgbClr val="C2352F"/>
          </a:solidFill>
          <a:ln/>
        </p:spPr>
      </p:sp>
      <p:sp>
        <p:nvSpPr>
          <p:cNvPr id="49" name="Text 47"/>
          <p:cNvSpPr txBox="1"/>
          <p:nvPr/>
        </p:nvSpPr>
        <p:spPr>
          <a:xfrm>
            <a:off x="481888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50" name="Text 48"/>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1" name="Text 49"/>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52" name="Shape 50"/>
          <p:cNvSpPr/>
          <p:nvPr/>
        </p:nvSpPr>
        <p:spPr>
          <a:xfrm>
            <a:off x="3745550" y="4241713"/>
            <a:ext cx="55448" cy="136676"/>
          </a:xfrm>
          <a:prstGeom prst="rect">
            <a:avLst/>
          </a:prstGeom>
          <a:solidFill>
            <a:srgbClr val="C2352F"/>
          </a:solidFill>
          <a:ln/>
        </p:spPr>
      </p:sp>
      <p:sp>
        <p:nvSpPr>
          <p:cNvPr id="53" name="Text 51"/>
          <p:cNvSpPr txBox="1"/>
          <p:nvPr/>
        </p:nvSpPr>
        <p:spPr>
          <a:xfrm>
            <a:off x="481888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54" name="Text 52"/>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5" name="Text 53"/>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6" name="Shape 54"/>
          <p:cNvSpPr/>
          <p:nvPr/>
        </p:nvSpPr>
        <p:spPr>
          <a:xfrm>
            <a:off x="3729945" y="4490215"/>
            <a:ext cx="71053" cy="136676"/>
          </a:xfrm>
          <a:prstGeom prst="rect">
            <a:avLst/>
          </a:prstGeom>
          <a:solidFill>
            <a:srgbClr val="C2352F"/>
          </a:solidFill>
          <a:ln/>
        </p:spPr>
      </p:sp>
      <p:sp>
        <p:nvSpPr>
          <p:cNvPr id="57" name="Text 55"/>
          <p:cNvSpPr txBox="1"/>
          <p:nvPr/>
        </p:nvSpPr>
        <p:spPr>
          <a:xfrm>
            <a:off x="481888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−$55K</a:t>
            </a:r>
            <a:endParaRPr lang="en-US" sz="1300" dirty="0"/>
          </a:p>
        </p:txBody>
      </p:sp>
      <p:sp>
        <p:nvSpPr>
          <p:cNvPr id="58" name="Text 56"/>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59" name="Text 57"/>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0" name="Shape 58"/>
          <p:cNvSpPr/>
          <p:nvPr/>
        </p:nvSpPr>
        <p:spPr>
          <a:xfrm>
            <a:off x="3718481" y="4738717"/>
            <a:ext cx="82517" cy="136676"/>
          </a:xfrm>
          <a:prstGeom prst="rect">
            <a:avLst/>
          </a:prstGeom>
          <a:solidFill>
            <a:srgbClr val="C2352F"/>
          </a:solidFill>
          <a:ln/>
        </p:spPr>
      </p:sp>
      <p:sp>
        <p:nvSpPr>
          <p:cNvPr id="61" name="Text 59"/>
          <p:cNvSpPr txBox="1"/>
          <p:nvPr/>
        </p:nvSpPr>
        <p:spPr>
          <a:xfrm>
            <a:off x="481888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−$64K</a:t>
            </a:r>
            <a:endParaRPr lang="en-US" sz="1300" dirty="0"/>
          </a:p>
        </p:txBody>
      </p:sp>
      <p:sp>
        <p:nvSpPr>
          <p:cNvPr id="62" name="Text 60"/>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4" name="Shape 62"/>
          <p:cNvSpPr/>
          <p:nvPr/>
        </p:nvSpPr>
        <p:spPr>
          <a:xfrm>
            <a:off x="3710263" y="4987218"/>
            <a:ext cx="90735" cy="136676"/>
          </a:xfrm>
          <a:prstGeom prst="rect">
            <a:avLst/>
          </a:prstGeom>
          <a:solidFill>
            <a:srgbClr val="C2352F"/>
          </a:solidFill>
          <a:ln/>
        </p:spPr>
      </p:sp>
      <p:sp>
        <p:nvSpPr>
          <p:cNvPr id="65" name="Text 63"/>
          <p:cNvSpPr txBox="1"/>
          <p:nvPr/>
        </p:nvSpPr>
        <p:spPr>
          <a:xfrm>
            <a:off x="481888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66" name="Text 6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7" name="Text 65"/>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68" name="Shape 66"/>
          <p:cNvSpPr/>
          <p:nvPr/>
        </p:nvSpPr>
        <p:spPr>
          <a:xfrm>
            <a:off x="3698735" y="5235720"/>
            <a:ext cx="102262" cy="136676"/>
          </a:xfrm>
          <a:prstGeom prst="rect">
            <a:avLst/>
          </a:prstGeom>
          <a:solidFill>
            <a:srgbClr val="C2352F"/>
          </a:solidFill>
          <a:ln/>
        </p:spPr>
      </p:sp>
      <p:sp>
        <p:nvSpPr>
          <p:cNvPr id="69" name="Text 67"/>
          <p:cNvSpPr txBox="1"/>
          <p:nvPr/>
        </p:nvSpPr>
        <p:spPr>
          <a:xfrm>
            <a:off x="481888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−$79K</a:t>
            </a:r>
            <a:endParaRPr lang="en-US" sz="1300" dirty="0"/>
          </a:p>
        </p:txBody>
      </p:sp>
      <p:sp>
        <p:nvSpPr>
          <p:cNvPr id="70" name="Text 68"/>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1" name="Text 69"/>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2" name="Shape 70"/>
          <p:cNvSpPr/>
          <p:nvPr/>
        </p:nvSpPr>
        <p:spPr>
          <a:xfrm>
            <a:off x="3697071" y="5484222"/>
            <a:ext cx="103926" cy="136676"/>
          </a:xfrm>
          <a:prstGeom prst="rect">
            <a:avLst/>
          </a:prstGeom>
          <a:solidFill>
            <a:srgbClr val="C2352F"/>
          </a:solidFill>
          <a:ln/>
        </p:spPr>
      </p:sp>
      <p:sp>
        <p:nvSpPr>
          <p:cNvPr id="73" name="Text 71"/>
          <p:cNvSpPr txBox="1"/>
          <p:nvPr/>
        </p:nvSpPr>
        <p:spPr>
          <a:xfrm>
            <a:off x="481888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74" name="Text 7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76" name="Shape 74"/>
          <p:cNvSpPr/>
          <p:nvPr/>
        </p:nvSpPr>
        <p:spPr>
          <a:xfrm>
            <a:off x="3696290" y="5732723"/>
            <a:ext cx="104707" cy="136676"/>
          </a:xfrm>
          <a:prstGeom prst="rect">
            <a:avLst/>
          </a:prstGeom>
          <a:solidFill>
            <a:srgbClr val="C2352F"/>
          </a:solidFill>
          <a:ln/>
        </p:spPr>
      </p:sp>
      <p:sp>
        <p:nvSpPr>
          <p:cNvPr id="77" name="Text 75"/>
          <p:cNvSpPr txBox="1"/>
          <p:nvPr/>
        </p:nvSpPr>
        <p:spPr>
          <a:xfrm>
            <a:off x="481888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−$81K</a:t>
            </a:r>
            <a:endParaRPr lang="en-US" sz="1300" dirty="0"/>
          </a:p>
        </p:txBody>
      </p:sp>
      <p:sp>
        <p:nvSpPr>
          <p:cNvPr id="78" name="Text 76"/>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79" name="Text 77"/>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80" name="Shape 78"/>
          <p:cNvSpPr/>
          <p:nvPr/>
        </p:nvSpPr>
        <p:spPr>
          <a:xfrm>
            <a:off x="9237983" y="1756697"/>
            <a:ext cx="113423" cy="136676"/>
          </a:xfrm>
          <a:prstGeom prst="rect">
            <a:avLst/>
          </a:prstGeom>
          <a:solidFill>
            <a:srgbClr val="C2352F"/>
          </a:solidFill>
          <a:ln/>
        </p:spPr>
      </p:sp>
      <p:sp>
        <p:nvSpPr>
          <p:cNvPr id="81" name="Text 79"/>
          <p:cNvSpPr txBox="1"/>
          <p:nvPr/>
        </p:nvSpPr>
        <p:spPr>
          <a:xfrm>
            <a:off x="1036929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82" name="Text 80"/>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3" name="Text 81"/>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84" name="Shape 82"/>
          <p:cNvSpPr/>
          <p:nvPr/>
        </p:nvSpPr>
        <p:spPr>
          <a:xfrm>
            <a:off x="9188179" y="2005199"/>
            <a:ext cx="163227" cy="136676"/>
          </a:xfrm>
          <a:prstGeom prst="rect">
            <a:avLst/>
          </a:prstGeom>
          <a:solidFill>
            <a:srgbClr val="C2352F"/>
          </a:solidFill>
          <a:ln/>
        </p:spPr>
      </p:sp>
      <p:sp>
        <p:nvSpPr>
          <p:cNvPr id="85" name="Text 83"/>
          <p:cNvSpPr txBox="1"/>
          <p:nvPr/>
        </p:nvSpPr>
        <p:spPr>
          <a:xfrm>
            <a:off x="1036929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−$126K</a:t>
            </a:r>
            <a:endParaRPr lang="en-US" sz="1300" dirty="0"/>
          </a:p>
        </p:txBody>
      </p:sp>
      <p:sp>
        <p:nvSpPr>
          <p:cNvPr id="86" name="Text 8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7" name="Text 85"/>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88" name="Shape 86"/>
          <p:cNvSpPr/>
          <p:nvPr/>
        </p:nvSpPr>
        <p:spPr>
          <a:xfrm>
            <a:off x="9179400" y="2253700"/>
            <a:ext cx="172006" cy="136676"/>
          </a:xfrm>
          <a:prstGeom prst="rect">
            <a:avLst/>
          </a:prstGeom>
          <a:solidFill>
            <a:srgbClr val="C2352F"/>
          </a:solidFill>
          <a:ln/>
        </p:spPr>
      </p:sp>
      <p:sp>
        <p:nvSpPr>
          <p:cNvPr id="89" name="Text 87"/>
          <p:cNvSpPr txBox="1"/>
          <p:nvPr/>
        </p:nvSpPr>
        <p:spPr>
          <a:xfrm>
            <a:off x="1036929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−$133K</a:t>
            </a:r>
            <a:endParaRPr lang="en-US" sz="1300" dirty="0"/>
          </a:p>
        </p:txBody>
      </p:sp>
      <p:sp>
        <p:nvSpPr>
          <p:cNvPr id="90" name="Text 88"/>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1" name="Text 89"/>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92" name="Shape 90"/>
          <p:cNvSpPr/>
          <p:nvPr/>
        </p:nvSpPr>
        <p:spPr>
          <a:xfrm>
            <a:off x="9170174" y="2502202"/>
            <a:ext cx="181231" cy="136676"/>
          </a:xfrm>
          <a:prstGeom prst="rect">
            <a:avLst/>
          </a:prstGeom>
          <a:solidFill>
            <a:srgbClr val="C2352F"/>
          </a:solidFill>
          <a:ln/>
        </p:spPr>
      </p:sp>
      <p:sp>
        <p:nvSpPr>
          <p:cNvPr id="93" name="Text 91"/>
          <p:cNvSpPr txBox="1"/>
          <p:nvPr/>
        </p:nvSpPr>
        <p:spPr>
          <a:xfrm>
            <a:off x="1036929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−$140K</a:t>
            </a:r>
            <a:endParaRPr lang="en-US" sz="1300" dirty="0"/>
          </a:p>
        </p:txBody>
      </p:sp>
      <p:sp>
        <p:nvSpPr>
          <p:cNvPr id="94" name="Text 92"/>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5" name="Text 93"/>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6" name="Shape 94"/>
          <p:cNvSpPr/>
          <p:nvPr/>
        </p:nvSpPr>
        <p:spPr>
          <a:xfrm>
            <a:off x="9169305" y="2750703"/>
            <a:ext cx="182101" cy="136676"/>
          </a:xfrm>
          <a:prstGeom prst="rect">
            <a:avLst/>
          </a:prstGeom>
          <a:solidFill>
            <a:srgbClr val="C2352F"/>
          </a:solidFill>
          <a:ln/>
        </p:spPr>
      </p:sp>
      <p:sp>
        <p:nvSpPr>
          <p:cNvPr id="97" name="Text 95"/>
          <p:cNvSpPr txBox="1"/>
          <p:nvPr/>
        </p:nvSpPr>
        <p:spPr>
          <a:xfrm>
            <a:off x="1036929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−$141K</a:t>
            </a:r>
            <a:endParaRPr lang="en-US" sz="1300" dirty="0"/>
          </a:p>
        </p:txBody>
      </p:sp>
      <p:sp>
        <p:nvSpPr>
          <p:cNvPr id="98" name="Text 96"/>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99" name="Text 97"/>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00" name="Shape 98"/>
          <p:cNvSpPr/>
          <p:nvPr/>
        </p:nvSpPr>
        <p:spPr>
          <a:xfrm>
            <a:off x="9109792" y="2999205"/>
            <a:ext cx="241613" cy="136676"/>
          </a:xfrm>
          <a:prstGeom prst="rect">
            <a:avLst/>
          </a:prstGeom>
          <a:solidFill>
            <a:srgbClr val="C2352F"/>
          </a:solidFill>
          <a:ln/>
        </p:spPr>
      </p:sp>
      <p:sp>
        <p:nvSpPr>
          <p:cNvPr id="101" name="Text 99"/>
          <p:cNvSpPr txBox="1"/>
          <p:nvPr/>
        </p:nvSpPr>
        <p:spPr>
          <a:xfrm>
            <a:off x="1036929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−$186K</a:t>
            </a:r>
            <a:endParaRPr lang="en-US" sz="1300" dirty="0"/>
          </a:p>
        </p:txBody>
      </p:sp>
      <p:sp>
        <p:nvSpPr>
          <p:cNvPr id="102" name="Text 100"/>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3" name="Text 101"/>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04" name="Shape 102"/>
          <p:cNvSpPr/>
          <p:nvPr/>
        </p:nvSpPr>
        <p:spPr>
          <a:xfrm>
            <a:off x="9092573" y="3247707"/>
            <a:ext cx="258833" cy="136676"/>
          </a:xfrm>
          <a:prstGeom prst="rect">
            <a:avLst/>
          </a:prstGeom>
          <a:solidFill>
            <a:srgbClr val="C2352F"/>
          </a:solidFill>
          <a:ln/>
        </p:spPr>
      </p:sp>
      <p:sp>
        <p:nvSpPr>
          <p:cNvPr id="105" name="Text 103"/>
          <p:cNvSpPr txBox="1"/>
          <p:nvPr/>
        </p:nvSpPr>
        <p:spPr>
          <a:xfrm>
            <a:off x="1036929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−$200K</a:t>
            </a:r>
            <a:endParaRPr lang="en-US" sz="1300" dirty="0"/>
          </a:p>
        </p:txBody>
      </p:sp>
      <p:sp>
        <p:nvSpPr>
          <p:cNvPr id="106" name="Text 10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7" name="Text 105"/>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8" name="Shape 106"/>
          <p:cNvSpPr/>
          <p:nvPr/>
        </p:nvSpPr>
        <p:spPr>
          <a:xfrm>
            <a:off x="9092243" y="3496208"/>
            <a:ext cx="259162" cy="136676"/>
          </a:xfrm>
          <a:prstGeom prst="rect">
            <a:avLst/>
          </a:prstGeom>
          <a:solidFill>
            <a:srgbClr val="C2352F"/>
          </a:solidFill>
          <a:ln/>
        </p:spPr>
      </p:sp>
      <p:sp>
        <p:nvSpPr>
          <p:cNvPr id="109" name="Text 107"/>
          <p:cNvSpPr txBox="1"/>
          <p:nvPr/>
        </p:nvSpPr>
        <p:spPr>
          <a:xfrm>
            <a:off x="1036929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−$200K</a:t>
            </a:r>
            <a:endParaRPr lang="en-US" sz="1300" dirty="0"/>
          </a:p>
        </p:txBody>
      </p:sp>
      <p:sp>
        <p:nvSpPr>
          <p:cNvPr id="110" name="Text 108"/>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12" name="Shape 110"/>
          <p:cNvSpPr/>
          <p:nvPr/>
        </p:nvSpPr>
        <p:spPr>
          <a:xfrm>
            <a:off x="9072005" y="3744710"/>
            <a:ext cx="279401" cy="136676"/>
          </a:xfrm>
          <a:prstGeom prst="rect">
            <a:avLst/>
          </a:prstGeom>
          <a:solidFill>
            <a:srgbClr val="C2352F"/>
          </a:solidFill>
          <a:ln/>
        </p:spPr>
      </p:sp>
      <p:sp>
        <p:nvSpPr>
          <p:cNvPr id="113" name="Text 111"/>
          <p:cNvSpPr txBox="1"/>
          <p:nvPr/>
        </p:nvSpPr>
        <p:spPr>
          <a:xfrm>
            <a:off x="1036929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−$216K</a:t>
            </a:r>
            <a:endParaRPr lang="en-US" sz="1300" dirty="0"/>
          </a:p>
        </p:txBody>
      </p:sp>
      <p:sp>
        <p:nvSpPr>
          <p:cNvPr id="114" name="Text 112"/>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6" name="Shape 114"/>
          <p:cNvSpPr/>
          <p:nvPr/>
        </p:nvSpPr>
        <p:spPr>
          <a:xfrm>
            <a:off x="9049807" y="3993212"/>
            <a:ext cx="301599" cy="136676"/>
          </a:xfrm>
          <a:prstGeom prst="rect">
            <a:avLst/>
          </a:prstGeom>
          <a:solidFill>
            <a:srgbClr val="C2352F"/>
          </a:solidFill>
          <a:ln/>
        </p:spPr>
      </p:sp>
      <p:sp>
        <p:nvSpPr>
          <p:cNvPr id="117" name="Text 115"/>
          <p:cNvSpPr txBox="1"/>
          <p:nvPr/>
        </p:nvSpPr>
        <p:spPr>
          <a:xfrm>
            <a:off x="1036929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−$233K</a:t>
            </a:r>
            <a:endParaRPr lang="en-US" sz="1300" dirty="0"/>
          </a:p>
        </p:txBody>
      </p:sp>
      <p:sp>
        <p:nvSpPr>
          <p:cNvPr id="118" name="Text 116"/>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19" name="Text 117"/>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20" name="Shape 118"/>
          <p:cNvSpPr/>
          <p:nvPr/>
        </p:nvSpPr>
        <p:spPr>
          <a:xfrm>
            <a:off x="9034236" y="4241713"/>
            <a:ext cx="317170" cy="136676"/>
          </a:xfrm>
          <a:prstGeom prst="rect">
            <a:avLst/>
          </a:prstGeom>
          <a:solidFill>
            <a:srgbClr val="C2352F"/>
          </a:solidFill>
          <a:ln/>
        </p:spPr>
      </p:sp>
      <p:sp>
        <p:nvSpPr>
          <p:cNvPr id="121" name="Text 119"/>
          <p:cNvSpPr txBox="1"/>
          <p:nvPr/>
        </p:nvSpPr>
        <p:spPr>
          <a:xfrm>
            <a:off x="1036929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−$245K</a:t>
            </a:r>
            <a:endParaRPr lang="en-US" sz="1300" dirty="0"/>
          </a:p>
        </p:txBody>
      </p:sp>
      <p:sp>
        <p:nvSpPr>
          <p:cNvPr id="122" name="Text 120"/>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3" name="Text 121"/>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24" name="Shape 122"/>
          <p:cNvSpPr/>
          <p:nvPr/>
        </p:nvSpPr>
        <p:spPr>
          <a:xfrm>
            <a:off x="9031867" y="4490215"/>
            <a:ext cx="319539" cy="136676"/>
          </a:xfrm>
          <a:prstGeom prst="rect">
            <a:avLst/>
          </a:prstGeom>
          <a:solidFill>
            <a:srgbClr val="C2352F"/>
          </a:solidFill>
          <a:ln/>
        </p:spPr>
      </p:sp>
      <p:sp>
        <p:nvSpPr>
          <p:cNvPr id="125" name="Text 123"/>
          <p:cNvSpPr txBox="1"/>
          <p:nvPr/>
        </p:nvSpPr>
        <p:spPr>
          <a:xfrm>
            <a:off x="1036929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−$247K</a:t>
            </a:r>
            <a:endParaRPr lang="en-US" sz="1300" dirty="0"/>
          </a:p>
        </p:txBody>
      </p:sp>
      <p:sp>
        <p:nvSpPr>
          <p:cNvPr id="126" name="Text 12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7" name="Text 125"/>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28" name="Shape 126"/>
          <p:cNvSpPr/>
          <p:nvPr/>
        </p:nvSpPr>
        <p:spPr>
          <a:xfrm>
            <a:off x="8959526" y="4738717"/>
            <a:ext cx="391880" cy="136676"/>
          </a:xfrm>
          <a:prstGeom prst="rect">
            <a:avLst/>
          </a:prstGeom>
          <a:solidFill>
            <a:srgbClr val="C2352F"/>
          </a:solidFill>
          <a:ln/>
        </p:spPr>
      </p:sp>
      <p:sp>
        <p:nvSpPr>
          <p:cNvPr id="129" name="Text 127"/>
          <p:cNvSpPr txBox="1"/>
          <p:nvPr/>
        </p:nvSpPr>
        <p:spPr>
          <a:xfrm>
            <a:off x="1036929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−$302K</a:t>
            </a:r>
            <a:endParaRPr lang="en-US" sz="1300" dirty="0"/>
          </a:p>
        </p:txBody>
      </p:sp>
      <p:sp>
        <p:nvSpPr>
          <p:cNvPr id="130" name="Text 128"/>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1" name="Text 129"/>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32" name="Shape 130"/>
          <p:cNvSpPr/>
          <p:nvPr/>
        </p:nvSpPr>
        <p:spPr>
          <a:xfrm>
            <a:off x="8890482" y="4987218"/>
            <a:ext cx="460924" cy="136676"/>
          </a:xfrm>
          <a:prstGeom prst="rect">
            <a:avLst/>
          </a:prstGeom>
          <a:solidFill>
            <a:srgbClr val="C2352F"/>
          </a:solidFill>
          <a:ln/>
        </p:spPr>
      </p:sp>
      <p:sp>
        <p:nvSpPr>
          <p:cNvPr id="133" name="Text 131"/>
          <p:cNvSpPr txBox="1"/>
          <p:nvPr/>
        </p:nvSpPr>
        <p:spPr>
          <a:xfrm>
            <a:off x="1036929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−$356K</a:t>
            </a:r>
            <a:endParaRPr lang="en-US" sz="1300" dirty="0"/>
          </a:p>
        </p:txBody>
      </p:sp>
      <p:sp>
        <p:nvSpPr>
          <p:cNvPr id="134" name="Text 132"/>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5" name="Text 133"/>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6" name="Shape 134"/>
          <p:cNvSpPr/>
          <p:nvPr/>
        </p:nvSpPr>
        <p:spPr>
          <a:xfrm>
            <a:off x="8735965" y="5235720"/>
            <a:ext cx="615441" cy="136676"/>
          </a:xfrm>
          <a:prstGeom prst="rect">
            <a:avLst/>
          </a:prstGeom>
          <a:solidFill>
            <a:srgbClr val="C2352F"/>
          </a:solidFill>
          <a:ln/>
        </p:spPr>
      </p:sp>
      <p:sp>
        <p:nvSpPr>
          <p:cNvPr id="137" name="Text 135"/>
          <p:cNvSpPr txBox="1"/>
          <p:nvPr/>
        </p:nvSpPr>
        <p:spPr>
          <a:xfrm>
            <a:off x="1036929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−$475K</a:t>
            </a:r>
            <a:endParaRPr lang="en-US" sz="1300" dirty="0"/>
          </a:p>
        </p:txBody>
      </p:sp>
      <p:sp>
        <p:nvSpPr>
          <p:cNvPr id="138" name="Text 136"/>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39" name="Text 137"/>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40" name="Shape 138"/>
          <p:cNvSpPr/>
          <p:nvPr/>
        </p:nvSpPr>
        <p:spPr>
          <a:xfrm>
            <a:off x="8650224" y="5484222"/>
            <a:ext cx="701181" cy="136676"/>
          </a:xfrm>
          <a:prstGeom prst="rect">
            <a:avLst/>
          </a:prstGeom>
          <a:solidFill>
            <a:srgbClr val="C2352F"/>
          </a:solidFill>
          <a:ln/>
        </p:spPr>
      </p:sp>
      <p:sp>
        <p:nvSpPr>
          <p:cNvPr id="141" name="Text 139"/>
          <p:cNvSpPr txBox="1"/>
          <p:nvPr/>
        </p:nvSpPr>
        <p:spPr>
          <a:xfrm>
            <a:off x="1036929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−$541K</a:t>
            </a:r>
            <a:endParaRPr lang="en-US" sz="1300" dirty="0"/>
          </a:p>
        </p:txBody>
      </p:sp>
      <p:sp>
        <p:nvSpPr>
          <p:cNvPr id="142" name="Shape 140"/>
          <p:cNvSpPr/>
          <p:nvPr/>
        </p:nvSpPr>
        <p:spPr>
          <a:xfrm>
            <a:off x="6085332" y="1700784"/>
            <a:ext cx="10973" cy="4224528"/>
          </a:xfrm>
          <a:prstGeom prst="rect">
            <a:avLst/>
          </a:prstGeom>
          <a:solidFill>
            <a:srgbClr val="D9D9D9"/>
          </a:solidFill>
          <a:ln/>
        </p:spPr>
      </p:sp>
      <p:sp>
        <p:nvSpPr>
          <p:cNvPr id="143" name="Shape 141"/>
          <p:cNvSpPr/>
          <p:nvPr/>
        </p:nvSpPr>
        <p:spPr>
          <a:xfrm>
            <a:off x="457200" y="6126480"/>
            <a:ext cx="11274552" cy="615696"/>
          </a:xfrm>
          <a:prstGeom prst="rect">
            <a:avLst/>
          </a:prstGeom>
          <a:solidFill>
            <a:srgbClr val="FBEBEA"/>
          </a:solidFill>
          <a:ln/>
        </p:spPr>
      </p:sp>
      <p:sp>
        <p:nvSpPr>
          <p:cNvPr id="144" name="Text 14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Toyota Spokane is furthest below at −$541K a year; 7 of 33 stores are ahead of benchmark across the four services. 15 stores are under all four.</a:t>
            </a:r>
            <a:endParaRPr lang="en-US" sz="1600" dirty="0"/>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about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50,442 more services a year on cars already in our drives. No new customers needed.</a:t>
            </a:r>
            <a:endParaRPr lang="en-US" sz="1600" dirty="0"/>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Yourself First</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Internal work isn't service making money off sales: it is gross the store earns on its own cars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prices a car off what it costs, within reason. A fair internal charge is part of that cost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Service and parts keep far more of every gross dollar than vehicle sales does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gross dollar in sales carries commissions, pay and expense that fixed ops doesn't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Price internal labor and parts like customer pay: pay yourself first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keeps of every gross dollar after its own expenses: $50.4M of $188.8M.</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New, used and F&amp;I keep of every gross dollar: $12.9M of $179.1M, before other income such as doc fees, packs and factory money.</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 vs 62¢</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spent on people and commissions: fixed ops vs vehicle sales.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hold internal labor and parts margins to customer pay. Every internal dollar is gross in the department that keeps the most of it.</a:t>
            </a:r>
            <a:endParaRPr lang="en-US" sz="1600" dirty="0"/>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$130</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21 of 33 stores at or above the $130 group, led by LR Reno at $207. Nissan is lowest at $87.</a:t>
            </a:r>
            <a:endParaRPr lang="en-US" sz="1600" dirty="0"/>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+3.0%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+29.5%</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2" name="Shape 20"/>
          <p:cNvSpPr/>
          <p:nvPr/>
        </p:nvSpPr>
        <p:spPr>
          <a:xfrm>
            <a:off x="3579876" y="2405582"/>
            <a:ext cx="45829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+23.6%</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37898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2" name="Shape 30"/>
          <p:cNvSpPr/>
          <p:nvPr/>
        </p:nvSpPr>
        <p:spPr>
          <a:xfrm>
            <a:off x="3579876" y="2853100"/>
            <a:ext cx="355006"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579876" y="3076859"/>
            <a:ext cx="34672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+17.9%</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2" name="Shape 40"/>
          <p:cNvSpPr/>
          <p:nvPr/>
        </p:nvSpPr>
        <p:spPr>
          <a:xfrm>
            <a:off x="3579876" y="3300618"/>
            <a:ext cx="26663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7" name="Shape 45"/>
          <p:cNvSpPr/>
          <p:nvPr/>
        </p:nvSpPr>
        <p:spPr>
          <a:xfrm>
            <a:off x="3579876" y="3524377"/>
            <a:ext cx="215058"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+11.1%</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2" name="Shape 50"/>
          <p:cNvSpPr/>
          <p:nvPr/>
        </p:nvSpPr>
        <p:spPr>
          <a:xfrm>
            <a:off x="3579876" y="3748136"/>
            <a:ext cx="18554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579876" y="3971895"/>
            <a:ext cx="173131"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579876" y="4195654"/>
            <a:ext cx="8455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7" name="Shape 65"/>
          <p:cNvSpPr/>
          <p:nvPr/>
        </p:nvSpPr>
        <p:spPr>
          <a:xfrm>
            <a:off x="3579876" y="4419414"/>
            <a:ext cx="7973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2" name="Shape 70"/>
          <p:cNvSpPr/>
          <p:nvPr/>
        </p:nvSpPr>
        <p:spPr>
          <a:xfrm>
            <a:off x="3579876" y="4643173"/>
            <a:ext cx="7898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3579876" y="4866932"/>
            <a:ext cx="77026"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2" name="Shape 80"/>
          <p:cNvSpPr/>
          <p:nvPr/>
        </p:nvSpPr>
        <p:spPr>
          <a:xfrm>
            <a:off x="3579876" y="5090691"/>
            <a:ext cx="6312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7" name="Shape 85"/>
          <p:cNvSpPr/>
          <p:nvPr/>
        </p:nvSpPr>
        <p:spPr>
          <a:xfrm>
            <a:off x="3579876" y="5314450"/>
            <a:ext cx="59886"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2" name="Shape 90"/>
          <p:cNvSpPr/>
          <p:nvPr/>
        </p:nvSpPr>
        <p:spPr>
          <a:xfrm>
            <a:off x="3579876" y="5538209"/>
            <a:ext cx="5087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3579876" y="5761968"/>
            <a:ext cx="48098"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2" name="Shape 100"/>
          <p:cNvSpPr/>
          <p:nvPr/>
        </p:nvSpPr>
        <p:spPr>
          <a:xfrm>
            <a:off x="9130284" y="2181823"/>
            <a:ext cx="40236"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405582"/>
            <a:ext cx="2777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2" name="Shape 110"/>
          <p:cNvSpPr/>
          <p:nvPr/>
        </p:nvSpPr>
        <p:spPr>
          <a:xfrm>
            <a:off x="9130284" y="2629341"/>
            <a:ext cx="12802"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9116275" y="2853100"/>
            <a:ext cx="14009"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9109610" y="3076859"/>
            <a:ext cx="20674"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7" name="Shape 125"/>
          <p:cNvSpPr/>
          <p:nvPr/>
        </p:nvSpPr>
        <p:spPr>
          <a:xfrm>
            <a:off x="9102480" y="3300618"/>
            <a:ext cx="27804"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2" name="Shape 130"/>
          <p:cNvSpPr/>
          <p:nvPr/>
        </p:nvSpPr>
        <p:spPr>
          <a:xfrm>
            <a:off x="9068832" y="3524377"/>
            <a:ext cx="61452"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9047246" y="3748136"/>
            <a:ext cx="8303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34692" y="3971895"/>
            <a:ext cx="95592"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7" name="Shape 145"/>
          <p:cNvSpPr/>
          <p:nvPr/>
        </p:nvSpPr>
        <p:spPr>
          <a:xfrm>
            <a:off x="9016533" y="4195654"/>
            <a:ext cx="113751"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52" name="Shape 150"/>
          <p:cNvSpPr/>
          <p:nvPr/>
        </p:nvSpPr>
        <p:spPr>
          <a:xfrm>
            <a:off x="9003546" y="4419414"/>
            <a:ext cx="126738"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7" name="Shape 155"/>
          <p:cNvSpPr/>
          <p:nvPr/>
        </p:nvSpPr>
        <p:spPr>
          <a:xfrm>
            <a:off x="8911359" y="4643173"/>
            <a:ext cx="218925"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−11.3%</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2" name="Shape 160"/>
          <p:cNvSpPr/>
          <p:nvPr/>
        </p:nvSpPr>
        <p:spPr>
          <a:xfrm>
            <a:off x="8896761" y="4866932"/>
            <a:ext cx="23352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−12.0%</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67" name="Shape 165"/>
          <p:cNvSpPr/>
          <p:nvPr/>
        </p:nvSpPr>
        <p:spPr>
          <a:xfrm>
            <a:off x="8696152" y="5090691"/>
            <a:ext cx="434132"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−22.4%</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2" name="Shape 170"/>
          <p:cNvSpPr/>
          <p:nvPr/>
        </p:nvSpPr>
        <p:spPr>
          <a:xfrm>
            <a:off x="8615154" y="5314450"/>
            <a:ext cx="51513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−26.6%</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7" name="Shape 175"/>
          <p:cNvSpPr/>
          <p:nvPr/>
        </p:nvSpPr>
        <p:spPr>
          <a:xfrm>
            <a:off x="8602803" y="5538209"/>
            <a:ext cx="52748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−27.2%</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6F6EE"/>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led by Hyundai St George at +29.5% (+$47) to $205. 13 declined; Nissan fell most at −27.2%.</a:t>
            </a:r>
            <a:endParaRPr lang="en-US" sz="1600" dirty="0"/>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$205</a:t>
            </a:r>
            <a:endParaRPr lang="en-US" sz="1400" dirty="0"/>
          </a:p>
        </p:txBody>
      </p:sp>
      <p:sp>
        <p:nvSpPr>
          <p:cNvPr id="13" name="Text 11"/>
          <p:cNvSpPr txBox="1"/>
          <p:nvPr/>
        </p:nvSpPr>
        <p:spPr>
          <a:xfrm>
            <a:off x="2941320"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4" name="Text 12"/>
          <p:cNvSpPr txBox="1"/>
          <p:nvPr/>
        </p:nvSpPr>
        <p:spPr>
          <a:xfrm>
            <a:off x="2941320"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a:t>
            </a:r>
            <a:endParaRPr lang="en-US" sz="1400" dirty="0"/>
          </a:p>
        </p:txBody>
      </p:sp>
      <p:sp>
        <p:nvSpPr>
          <p:cNvPr id="17" name="Text 15"/>
          <p:cNvSpPr txBox="1"/>
          <p:nvPr/>
        </p:nvSpPr>
        <p:spPr>
          <a:xfrm>
            <a:off x="2941320"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+23.6%</a:t>
            </a:r>
            <a:endParaRPr lang="en-US" sz="1600" dirty="0"/>
          </a:p>
        </p:txBody>
      </p:sp>
      <p:sp>
        <p:nvSpPr>
          <p:cNvPr id="18" name="Text 16"/>
          <p:cNvSpPr txBox="1"/>
          <p:nvPr/>
        </p:nvSpPr>
        <p:spPr>
          <a:xfrm>
            <a:off x="2941320"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19" name="Shape 17"/>
          <p:cNvSpPr/>
          <p:nvPr/>
        </p:nvSpPr>
        <p:spPr>
          <a:xfrm>
            <a:off x="658368" y="3613709"/>
            <a:ext cx="3489960" cy="755294"/>
          </a:xfrm>
          <a:prstGeom prst="rect">
            <a:avLst/>
          </a:prstGeom>
          <a:solidFill>
            <a:srgbClr val="F7F7F7"/>
          </a:solidFill>
          <a:ln/>
        </p:spPr>
      </p:sp>
      <p:sp>
        <p:nvSpPr>
          <p:cNvPr id="20" name="Text 18"/>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2" name="Text 20"/>
          <p:cNvSpPr txBox="1"/>
          <p:nvPr/>
        </p:nvSpPr>
        <p:spPr>
          <a:xfrm>
            <a:off x="2941320"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3" name="Text 21"/>
          <p:cNvSpPr txBox="1"/>
          <p:nvPr/>
        </p:nvSpPr>
        <p:spPr>
          <a:xfrm>
            <a:off x="2941320"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24" name="Text 22"/>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$134</a:t>
            </a:r>
            <a:endParaRPr lang="en-US" sz="1400" dirty="0"/>
          </a:p>
        </p:txBody>
      </p:sp>
      <p:sp>
        <p:nvSpPr>
          <p:cNvPr id="26" name="Text 24"/>
          <p:cNvSpPr txBox="1"/>
          <p:nvPr/>
        </p:nvSpPr>
        <p:spPr>
          <a:xfrm>
            <a:off x="2941320"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+18.3%</a:t>
            </a:r>
            <a:endParaRPr lang="en-US" sz="1600" dirty="0"/>
          </a:p>
        </p:txBody>
      </p:sp>
      <p:sp>
        <p:nvSpPr>
          <p:cNvPr id="27" name="Text 25"/>
          <p:cNvSpPr txBox="1"/>
          <p:nvPr/>
        </p:nvSpPr>
        <p:spPr>
          <a:xfrm>
            <a:off x="2941320"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28" name="Shape 26"/>
          <p:cNvSpPr/>
          <p:nvPr/>
        </p:nvSpPr>
        <p:spPr>
          <a:xfrm>
            <a:off x="658368" y="5124298"/>
            <a:ext cx="3489960" cy="755294"/>
          </a:xfrm>
          <a:prstGeom prst="rect">
            <a:avLst/>
          </a:prstGeom>
          <a:solidFill>
            <a:srgbClr val="F7F7F7"/>
          </a:solidFill>
          <a:ln/>
        </p:spPr>
      </p:sp>
      <p:sp>
        <p:nvSpPr>
          <p:cNvPr id="29" name="Shape 27"/>
          <p:cNvSpPr/>
          <p:nvPr/>
        </p:nvSpPr>
        <p:spPr>
          <a:xfrm>
            <a:off x="4084320" y="5160874"/>
            <a:ext cx="64008" cy="682142"/>
          </a:xfrm>
          <a:prstGeom prst="rect">
            <a:avLst/>
          </a:prstGeom>
          <a:solidFill>
            <a:srgbClr val="12A566"/>
          </a:solidFill>
          <a:ln/>
        </p:spPr>
      </p:sp>
      <p:sp>
        <p:nvSpPr>
          <p:cNvPr id="30" name="Text 28"/>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$115</a:t>
            </a:r>
            <a:endParaRPr lang="en-US" sz="1400" dirty="0"/>
          </a:p>
        </p:txBody>
      </p:sp>
      <p:sp>
        <p:nvSpPr>
          <p:cNvPr id="32" name="Text 30"/>
          <p:cNvSpPr txBox="1"/>
          <p:nvPr/>
        </p:nvSpPr>
        <p:spPr>
          <a:xfrm>
            <a:off x="2941320"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+17.9%</a:t>
            </a:r>
            <a:endParaRPr lang="en-US" sz="1600" dirty="0"/>
          </a:p>
        </p:txBody>
      </p:sp>
      <p:sp>
        <p:nvSpPr>
          <p:cNvPr id="33" name="Text 31"/>
          <p:cNvSpPr txBox="1"/>
          <p:nvPr/>
        </p:nvSpPr>
        <p:spPr>
          <a:xfrm>
            <a:off x="2941320"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7" name="Shape 35"/>
          <p:cNvSpPr/>
          <p:nvPr/>
        </p:nvSpPr>
        <p:spPr>
          <a:xfrm>
            <a:off x="4349496" y="2103120"/>
            <a:ext cx="3489960" cy="755294"/>
          </a:xfrm>
          <a:prstGeom prst="rect">
            <a:avLst/>
          </a:prstGeom>
          <a:solidFill>
            <a:srgbClr val="F7F7F7"/>
          </a:solidFill>
          <a:ln/>
        </p:spPr>
      </p:sp>
      <p:sp>
        <p:nvSpPr>
          <p:cNvPr id="38" name="Text 36"/>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$87</a:t>
            </a:r>
            <a:endParaRPr lang="en-US" sz="1400" dirty="0"/>
          </a:p>
        </p:txBody>
      </p:sp>
      <p:sp>
        <p:nvSpPr>
          <p:cNvPr id="40" name="Text 38"/>
          <p:cNvSpPr txBox="1"/>
          <p:nvPr/>
        </p:nvSpPr>
        <p:spPr>
          <a:xfrm>
            <a:off x="6632448" y="2193755"/>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−27.2%</a:t>
            </a:r>
            <a:endParaRPr lang="en-US" sz="1600" dirty="0"/>
          </a:p>
        </p:txBody>
      </p:sp>
      <p:sp>
        <p:nvSpPr>
          <p:cNvPr id="41" name="Text 39"/>
          <p:cNvSpPr txBox="1"/>
          <p:nvPr/>
        </p:nvSpPr>
        <p:spPr>
          <a:xfrm>
            <a:off x="6632448"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42" name="Text 40"/>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$167</a:t>
            </a:r>
            <a:endParaRPr lang="en-US" sz="1400" dirty="0"/>
          </a:p>
        </p:txBody>
      </p:sp>
      <p:sp>
        <p:nvSpPr>
          <p:cNvPr id="44" name="Text 42"/>
          <p:cNvSpPr txBox="1"/>
          <p:nvPr/>
        </p:nvSpPr>
        <p:spPr>
          <a:xfrm>
            <a:off x="6632448" y="2949050"/>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−26.6%</a:t>
            </a:r>
            <a:endParaRPr lang="en-US" sz="1600" dirty="0"/>
          </a:p>
        </p:txBody>
      </p:sp>
      <p:sp>
        <p:nvSpPr>
          <p:cNvPr id="45" name="Text 43"/>
          <p:cNvSpPr txBox="1"/>
          <p:nvPr/>
        </p:nvSpPr>
        <p:spPr>
          <a:xfrm>
            <a:off x="6632448"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46" name="Shape 44"/>
          <p:cNvSpPr/>
          <p:nvPr/>
        </p:nvSpPr>
        <p:spPr>
          <a:xfrm>
            <a:off x="4349496" y="3613709"/>
            <a:ext cx="3489960" cy="755294"/>
          </a:xfrm>
          <a:prstGeom prst="rect">
            <a:avLst/>
          </a:prstGeom>
          <a:solidFill>
            <a:srgbClr val="F7F7F7"/>
          </a:solidFill>
          <a:ln/>
        </p:spPr>
      </p:sp>
      <p:sp>
        <p:nvSpPr>
          <p:cNvPr id="47" name="Text 45"/>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a:t>
            </a:r>
            <a:endParaRPr lang="en-US" sz="1400" dirty="0"/>
          </a:p>
        </p:txBody>
      </p:sp>
      <p:sp>
        <p:nvSpPr>
          <p:cNvPr id="49" name="Text 47"/>
          <p:cNvSpPr txBox="1"/>
          <p:nvPr/>
        </p:nvSpPr>
        <p:spPr>
          <a:xfrm>
            <a:off x="6632448" y="3704344"/>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−22.4%</a:t>
            </a:r>
            <a:endParaRPr lang="en-US" sz="1600" dirty="0"/>
          </a:p>
        </p:txBody>
      </p:sp>
      <p:sp>
        <p:nvSpPr>
          <p:cNvPr id="50" name="Text 48"/>
          <p:cNvSpPr txBox="1"/>
          <p:nvPr/>
        </p:nvSpPr>
        <p:spPr>
          <a:xfrm>
            <a:off x="6632448"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51" name="Text 4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5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a:t>
            </a:r>
            <a:endParaRPr lang="en-US" sz="1400" dirty="0"/>
          </a:p>
        </p:txBody>
      </p:sp>
      <p:sp>
        <p:nvSpPr>
          <p:cNvPr id="53" name="Text 51"/>
          <p:cNvSpPr txBox="1"/>
          <p:nvPr/>
        </p:nvSpPr>
        <p:spPr>
          <a:xfrm>
            <a:off x="6632448" y="4459639"/>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−12.0%</a:t>
            </a:r>
            <a:endParaRPr lang="en-US" sz="1600" dirty="0"/>
          </a:p>
        </p:txBody>
      </p:sp>
      <p:sp>
        <p:nvSpPr>
          <p:cNvPr id="54" name="Text 52"/>
          <p:cNvSpPr txBox="1"/>
          <p:nvPr/>
        </p:nvSpPr>
        <p:spPr>
          <a:xfrm>
            <a:off x="6632448"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55" name="Shape 53"/>
          <p:cNvSpPr/>
          <p:nvPr/>
        </p:nvSpPr>
        <p:spPr>
          <a:xfrm>
            <a:off x="4349496" y="5124298"/>
            <a:ext cx="3489960" cy="755294"/>
          </a:xfrm>
          <a:prstGeom prst="rect">
            <a:avLst/>
          </a:prstGeom>
          <a:solidFill>
            <a:srgbClr val="F7F7F7"/>
          </a:solidFill>
          <a:ln/>
        </p:spPr>
      </p:sp>
      <p:sp>
        <p:nvSpPr>
          <p:cNvPr id="56" name="Text 5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5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58" name="Text 56"/>
          <p:cNvSpPr txBox="1"/>
          <p:nvPr/>
        </p:nvSpPr>
        <p:spPr>
          <a:xfrm>
            <a:off x="6632448" y="5214933"/>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−11.3%</a:t>
            </a:r>
            <a:endParaRPr lang="en-US" sz="1600" dirty="0"/>
          </a:p>
        </p:txBody>
      </p:sp>
      <p:sp>
        <p:nvSpPr>
          <p:cNvPr id="59" name="Text 57"/>
          <p:cNvSpPr txBox="1"/>
          <p:nvPr/>
        </p:nvSpPr>
        <p:spPr>
          <a:xfrm>
            <a:off x="6632448"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60" name="Shape 58"/>
          <p:cNvSpPr/>
          <p:nvPr/>
        </p:nvSpPr>
        <p:spPr>
          <a:xfrm>
            <a:off x="8040624" y="1371600"/>
            <a:ext cx="3489960" cy="45720"/>
          </a:xfrm>
          <a:prstGeom prst="rect">
            <a:avLst/>
          </a:prstGeom>
          <a:solidFill>
            <a:srgbClr val="2587C5"/>
          </a:solidFill>
          <a:ln/>
        </p:spPr>
      </p:sp>
      <p:sp>
        <p:nvSpPr>
          <p:cNvPr id="6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Text 6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63" name="Shape 61"/>
          <p:cNvSpPr/>
          <p:nvPr/>
        </p:nvSpPr>
        <p:spPr>
          <a:xfrm>
            <a:off x="8040624" y="2103120"/>
            <a:ext cx="3489960" cy="755294"/>
          </a:xfrm>
          <a:prstGeom prst="rect">
            <a:avLst/>
          </a:prstGeom>
          <a:solidFill>
            <a:srgbClr val="F7F7F7"/>
          </a:solidFill>
          <a:ln/>
        </p:spPr>
      </p:sp>
      <p:sp>
        <p:nvSpPr>
          <p:cNvPr id="64" name="Text 62"/>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$183</a:t>
            </a:r>
            <a:endParaRPr lang="en-US" sz="1400" dirty="0"/>
          </a:p>
        </p:txBody>
      </p:sp>
      <p:sp>
        <p:nvSpPr>
          <p:cNvPr id="66" name="Text 64"/>
          <p:cNvSpPr txBox="1"/>
          <p:nvPr/>
        </p:nvSpPr>
        <p:spPr>
          <a:xfrm>
            <a:off x="10323576"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67" name="Text 65"/>
          <p:cNvSpPr txBox="1"/>
          <p:nvPr/>
        </p:nvSpPr>
        <p:spPr>
          <a:xfrm>
            <a:off x="10323576"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8" name="Shape 66"/>
          <p:cNvSpPr/>
          <p:nvPr/>
        </p:nvSpPr>
        <p:spPr>
          <a:xfrm>
            <a:off x="11466576" y="2894990"/>
            <a:ext cx="64008" cy="682142"/>
          </a:xfrm>
          <a:prstGeom prst="rect">
            <a:avLst/>
          </a:prstGeom>
          <a:solidFill>
            <a:srgbClr val="12A566"/>
          </a:solidFill>
          <a:ln/>
        </p:spPr>
      </p:sp>
      <p:sp>
        <p:nvSpPr>
          <p:cNvPr id="69" name="Text 67"/>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0" name="Text 68"/>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$233</a:t>
            </a:r>
            <a:endParaRPr lang="en-US" sz="1400" dirty="0"/>
          </a:p>
        </p:txBody>
      </p:sp>
      <p:sp>
        <p:nvSpPr>
          <p:cNvPr id="71" name="Text 69"/>
          <p:cNvSpPr txBox="1"/>
          <p:nvPr/>
        </p:nvSpPr>
        <p:spPr>
          <a:xfrm>
            <a:off x="10323576"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+31.8%</a:t>
            </a:r>
            <a:endParaRPr lang="en-US" sz="1600" dirty="0"/>
          </a:p>
        </p:txBody>
      </p:sp>
      <p:sp>
        <p:nvSpPr>
          <p:cNvPr id="72" name="Text 70"/>
          <p:cNvSpPr txBox="1"/>
          <p:nvPr/>
        </p:nvSpPr>
        <p:spPr>
          <a:xfrm>
            <a:off x="10323576"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73" name="Shape 71"/>
          <p:cNvSpPr/>
          <p:nvPr/>
        </p:nvSpPr>
        <p:spPr>
          <a:xfrm>
            <a:off x="8040624" y="3613709"/>
            <a:ext cx="3489960" cy="755294"/>
          </a:xfrm>
          <a:prstGeom prst="rect">
            <a:avLst/>
          </a:prstGeom>
          <a:solidFill>
            <a:srgbClr val="F7F7F7"/>
          </a:solidFill>
          <a:ln/>
        </p:spPr>
      </p:sp>
      <p:sp>
        <p:nvSpPr>
          <p:cNvPr id="74" name="Shape 72"/>
          <p:cNvSpPr/>
          <p:nvPr/>
        </p:nvSpPr>
        <p:spPr>
          <a:xfrm>
            <a:off x="11466576" y="3650285"/>
            <a:ext cx="64008" cy="682142"/>
          </a:xfrm>
          <a:prstGeom prst="rect">
            <a:avLst/>
          </a:prstGeom>
          <a:solidFill>
            <a:srgbClr val="12A566"/>
          </a:solidFill>
          <a:ln/>
        </p:spPr>
      </p:sp>
      <p:sp>
        <p:nvSpPr>
          <p:cNvPr id="75" name="Text 73"/>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6" name="Text 74"/>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77" name="Text 75"/>
          <p:cNvSpPr txBox="1"/>
          <p:nvPr/>
        </p:nvSpPr>
        <p:spPr>
          <a:xfrm>
            <a:off x="10323576"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+25.2%</a:t>
            </a:r>
            <a:endParaRPr lang="en-US" sz="1600" dirty="0"/>
          </a:p>
        </p:txBody>
      </p:sp>
      <p:sp>
        <p:nvSpPr>
          <p:cNvPr id="78" name="Text 76"/>
          <p:cNvSpPr txBox="1"/>
          <p:nvPr/>
        </p:nvSpPr>
        <p:spPr>
          <a:xfrm>
            <a:off x="10323576"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+$26</a:t>
            </a:r>
            <a:endParaRPr lang="en-US" sz="1300" dirty="0"/>
          </a:p>
        </p:txBody>
      </p:sp>
      <p:sp>
        <p:nvSpPr>
          <p:cNvPr id="79" name="Text 77"/>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78"/>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$119</a:t>
            </a:r>
            <a:endParaRPr lang="en-US" sz="1400" dirty="0"/>
          </a:p>
        </p:txBody>
      </p:sp>
      <p:sp>
        <p:nvSpPr>
          <p:cNvPr id="81" name="Text 79"/>
          <p:cNvSpPr txBox="1"/>
          <p:nvPr/>
        </p:nvSpPr>
        <p:spPr>
          <a:xfrm>
            <a:off x="10323576"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+23.3%</a:t>
            </a:r>
            <a:endParaRPr lang="en-US" sz="1600" dirty="0"/>
          </a:p>
        </p:txBody>
      </p:sp>
      <p:sp>
        <p:nvSpPr>
          <p:cNvPr id="82" name="Text 80"/>
          <p:cNvSpPr txBox="1"/>
          <p:nvPr/>
        </p:nvSpPr>
        <p:spPr>
          <a:xfrm>
            <a:off x="10323576"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3" name="Shape 81"/>
          <p:cNvSpPr/>
          <p:nvPr/>
        </p:nvSpPr>
        <p:spPr>
          <a:xfrm>
            <a:off x="8040624" y="5124298"/>
            <a:ext cx="3489960" cy="755294"/>
          </a:xfrm>
          <a:prstGeom prst="rect">
            <a:avLst/>
          </a:prstGeom>
          <a:solidFill>
            <a:srgbClr val="F7F7F7"/>
          </a:solidFill>
          <a:ln/>
        </p:spPr>
      </p:sp>
      <p:sp>
        <p:nvSpPr>
          <p:cNvPr id="84" name="Text 82"/>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83"/>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86" name="Text 84"/>
          <p:cNvSpPr txBox="1"/>
          <p:nvPr/>
        </p:nvSpPr>
        <p:spPr>
          <a:xfrm>
            <a:off x="10323576"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+17.6%</a:t>
            </a:r>
            <a:endParaRPr lang="en-US" sz="1600" dirty="0"/>
          </a:p>
        </p:txBody>
      </p:sp>
      <p:sp>
        <p:nvSpPr>
          <p:cNvPr id="87" name="Text 85"/>
          <p:cNvSpPr txBox="1"/>
          <p:nvPr/>
        </p:nvSpPr>
        <p:spPr>
          <a:xfrm>
            <a:off x="10323576"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88" name="Shape 86"/>
          <p:cNvSpPr/>
          <p:nvPr/>
        </p:nvSpPr>
        <p:spPr>
          <a:xfrm>
            <a:off x="457200" y="6126480"/>
            <a:ext cx="11274552" cy="615696"/>
          </a:xfrm>
          <a:prstGeom prst="rect">
            <a:avLst/>
          </a:prstGeom>
          <a:solidFill>
            <a:srgbClr val="EDF4FA"/>
          </a:solidFill>
          <a:ln/>
        </p:spPr>
      </p:sp>
      <p:sp>
        <p:nvSpPr>
          <p:cNvPr id="89" name="Text 87"/>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LR Reno and Lincoln what changed. Ask Nissan, Kia LV and Mazda what got in the way. Ask Acura, Hyundai St George and Toyota Henderson what they started this year.</a:t>
            </a:r>
            <a:endParaRPr lang="en-US" sz="1600" dirty="0"/>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0.3 pts to 78.1%, ahead of 2025 in six of nine months.</a:t>
            </a:r>
            <a:endParaRPr lang="en-US" sz="1600" dirty="0"/>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gap = internal minus own CP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83188"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733596"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2" name="Shape 20"/>
          <p:cNvSpPr/>
          <p:nvPr/>
        </p:nvSpPr>
        <p:spPr>
          <a:xfrm>
            <a:off x="3255264" y="2153708"/>
            <a:ext cx="13011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8" name="Shape 26"/>
          <p:cNvSpPr/>
          <p:nvPr/>
        </p:nvSpPr>
        <p:spPr>
          <a:xfrm>
            <a:off x="3255264" y="2378543"/>
            <a:ext cx="129665"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255264" y="2603377"/>
            <a:ext cx="104292"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39" name="Shape 37"/>
          <p:cNvSpPr/>
          <p:nvPr/>
        </p:nvSpPr>
        <p:spPr>
          <a:xfrm>
            <a:off x="3255264" y="2828212"/>
            <a:ext cx="96492"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4" name="Shape 42"/>
          <p:cNvSpPr/>
          <p:nvPr/>
        </p:nvSpPr>
        <p:spPr>
          <a:xfrm>
            <a:off x="3255264" y="3053047"/>
            <a:ext cx="77376"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Shape 48"/>
          <p:cNvSpPr/>
          <p:nvPr/>
        </p:nvSpPr>
        <p:spPr>
          <a:xfrm>
            <a:off x="3255264" y="3277882"/>
            <a:ext cx="65728"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5" name="Shape 53"/>
          <p:cNvSpPr/>
          <p:nvPr/>
        </p:nvSpPr>
        <p:spPr>
          <a:xfrm>
            <a:off x="3255264" y="3502717"/>
            <a:ext cx="65019"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Shape 59"/>
          <p:cNvSpPr/>
          <p:nvPr/>
        </p:nvSpPr>
        <p:spPr>
          <a:xfrm>
            <a:off x="3255264" y="3727552"/>
            <a:ext cx="2311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6" name="Shape 64"/>
          <p:cNvSpPr/>
          <p:nvPr/>
        </p:nvSpPr>
        <p:spPr>
          <a:xfrm>
            <a:off x="3253849" y="3952386"/>
            <a:ext cx="9144" cy="123659"/>
          </a:xfrm>
          <a:prstGeom prst="rect">
            <a:avLst/>
          </a:prstGeom>
          <a:solidFill>
            <a:srgbClr val="C2352F"/>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−0.1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2" name="Shape 70"/>
          <p:cNvSpPr/>
          <p:nvPr/>
        </p:nvSpPr>
        <p:spPr>
          <a:xfrm>
            <a:off x="3250197" y="4177221"/>
            <a:ext cx="9144" cy="123659"/>
          </a:xfrm>
          <a:prstGeom prst="rect">
            <a:avLst/>
          </a:prstGeom>
          <a:solidFill>
            <a:srgbClr val="C2352F"/>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245953" y="4402056"/>
            <a:ext cx="9311" cy="123659"/>
          </a:xfrm>
          <a:prstGeom prst="rect">
            <a:avLst/>
          </a:prstGeom>
          <a:solidFill>
            <a:srgbClr val="C2352F"/>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−0.3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3" name="Shape 81"/>
          <p:cNvSpPr/>
          <p:nvPr/>
        </p:nvSpPr>
        <p:spPr>
          <a:xfrm>
            <a:off x="3244900" y="4626891"/>
            <a:ext cx="10364"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−0.4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8" name="Shape 86"/>
          <p:cNvSpPr/>
          <p:nvPr/>
        </p:nvSpPr>
        <p:spPr>
          <a:xfrm>
            <a:off x="3221879" y="4851726"/>
            <a:ext cx="33385"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4" name="Shape 92"/>
          <p:cNvSpPr/>
          <p:nvPr/>
        </p:nvSpPr>
        <p:spPr>
          <a:xfrm>
            <a:off x="3198494" y="5076561"/>
            <a:ext cx="56770"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9" name="Shape 97"/>
          <p:cNvSpPr/>
          <p:nvPr/>
        </p:nvSpPr>
        <p:spPr>
          <a:xfrm>
            <a:off x="3198327" y="5301395"/>
            <a:ext cx="56937"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5" name="Shape 103"/>
          <p:cNvSpPr/>
          <p:nvPr/>
        </p:nvSpPr>
        <p:spPr>
          <a:xfrm>
            <a:off x="3197693" y="5526230"/>
            <a:ext cx="5757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0" name="Shape 108"/>
          <p:cNvSpPr/>
          <p:nvPr/>
        </p:nvSpPr>
        <p:spPr>
          <a:xfrm>
            <a:off x="3195970" y="5751065"/>
            <a:ext cx="59294"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5" name="Shape 113"/>
          <p:cNvSpPr/>
          <p:nvPr/>
        </p:nvSpPr>
        <p:spPr>
          <a:xfrm>
            <a:off x="8734848" y="2153708"/>
            <a:ext cx="70824"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730906" y="2378543"/>
            <a:ext cx="74766"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6" name="Shape 124"/>
          <p:cNvSpPr/>
          <p:nvPr/>
        </p:nvSpPr>
        <p:spPr>
          <a:xfrm>
            <a:off x="8716961" y="2603377"/>
            <a:ext cx="88711"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2" name="Shape 130"/>
          <p:cNvSpPr/>
          <p:nvPr/>
        </p:nvSpPr>
        <p:spPr>
          <a:xfrm>
            <a:off x="8711353" y="2828212"/>
            <a:ext cx="94319"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7" name="Shape 135"/>
          <p:cNvSpPr/>
          <p:nvPr/>
        </p:nvSpPr>
        <p:spPr>
          <a:xfrm>
            <a:off x="8703971" y="3053047"/>
            <a:ext cx="101701"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701890" y="3277882"/>
            <a:ext cx="103782"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679444" y="3502717"/>
            <a:ext cx="12622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672194" y="3727552"/>
            <a:ext cx="133478"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9" name="Shape 157"/>
          <p:cNvSpPr/>
          <p:nvPr/>
        </p:nvSpPr>
        <p:spPr>
          <a:xfrm>
            <a:off x="8624168" y="3952386"/>
            <a:ext cx="181504"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65" name="Shape 163"/>
          <p:cNvSpPr/>
          <p:nvPr/>
        </p:nvSpPr>
        <p:spPr>
          <a:xfrm>
            <a:off x="8616775" y="4177221"/>
            <a:ext cx="188897"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0" name="Shape 168"/>
          <p:cNvSpPr/>
          <p:nvPr/>
        </p:nvSpPr>
        <p:spPr>
          <a:xfrm>
            <a:off x="8590345" y="4402056"/>
            <a:ext cx="215327"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6" name="Shape 174"/>
          <p:cNvSpPr/>
          <p:nvPr/>
        </p:nvSpPr>
        <p:spPr>
          <a:xfrm>
            <a:off x="8562958" y="4626891"/>
            <a:ext cx="242714"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81" name="Shape 179"/>
          <p:cNvSpPr/>
          <p:nvPr/>
        </p:nvSpPr>
        <p:spPr>
          <a:xfrm>
            <a:off x="8514572" y="4851726"/>
            <a:ext cx="29110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87" name="Shape 185"/>
          <p:cNvSpPr/>
          <p:nvPr/>
        </p:nvSpPr>
        <p:spPr>
          <a:xfrm>
            <a:off x="8475849" y="5076561"/>
            <a:ext cx="329823"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2" name="Shape 190"/>
          <p:cNvSpPr/>
          <p:nvPr/>
        </p:nvSpPr>
        <p:spPr>
          <a:xfrm>
            <a:off x="8430963" y="5301395"/>
            <a:ext cx="374709"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02" name="Shape 200"/>
          <p:cNvSpPr/>
          <p:nvPr/>
        </p:nvSpPr>
        <p:spPr>
          <a:xfrm>
            <a:off x="457200" y="6126480"/>
            <a:ext cx="11274552" cy="615696"/>
          </a:xfrm>
          <a:prstGeom prst="rect">
            <a:avLst/>
          </a:prstGeom>
          <a:solidFill>
            <a:srgbClr val="EDF4FA"/>
          </a:solidFill>
          <a:ln/>
        </p:spPr>
      </p:sp>
      <p:sp>
        <p:nvSpPr>
          <p:cNvPr id="203" name="Text 20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25 of 33 stores collect less labor margin on internal work than on customer pay; the group is −2.7 pts. Widest: Audi Reno (−20.0 pts), LR LV (−13.9 pts) and LR Henderson (−12.2 pts).</a:t>
            </a:r>
            <a:endParaRPr lang="en-US" sz="1600" dirty="0"/>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495495"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32262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30333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26377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214318"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3" name="Shape 31"/>
          <p:cNvSpPr/>
          <p:nvPr/>
        </p:nvSpPr>
        <p:spPr>
          <a:xfrm>
            <a:off x="3785616" y="3111337"/>
            <a:ext cx="19209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188815"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6057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427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3216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3148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550711"/>
            <a:ext cx="11730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9508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030502"/>
            <a:ext cx="688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270397"/>
            <a:ext cx="3613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3435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2654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490" y="2391651"/>
            <a:ext cx="35534"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51253" y="2631546"/>
            <a:ext cx="8477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26020" y="2871442"/>
            <a:ext cx="110004"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1478" y="3111337"/>
            <a:ext cx="12454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1170" y="3351233"/>
            <a:ext cx="13485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8753" y="3591128"/>
            <a:ext cx="22727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1564" y="3831024"/>
            <a:ext cx="244460"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0005" y="4070920"/>
            <a:ext cx="2760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101" y="4310815"/>
            <a:ext cx="30092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54892" y="4550711"/>
            <a:ext cx="38113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245" y="4790606"/>
            <a:ext cx="40677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65948" y="5030502"/>
            <a:ext cx="470076"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−5.3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2326" y="5270397"/>
            <a:ext cx="49369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internal labor GP%, led by Acura at +5.6 pts to 77.2%. 14 declined; Nissan fell most at −8.8 pts.</a:t>
            </a:r>
            <a:endParaRPr lang="en-US" sz="1600" dirty="0"/>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20" name="Shape 18"/>
          <p:cNvSpPr/>
          <p:nvPr/>
        </p:nvSpPr>
        <p:spPr>
          <a:xfrm>
            <a:off x="4084320" y="4405579"/>
            <a:ext cx="64008" cy="682142"/>
          </a:xfrm>
          <a:prstGeom prst="rect">
            <a:avLst/>
          </a:prstGeom>
          <a:solidFill>
            <a:srgbClr val="12A566"/>
          </a:solidFill>
          <a:ln/>
        </p:spPr>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85.3%</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82.8%</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67.8%</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−8.8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70.0%</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79.7%</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−5.3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73.8%</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72.5%</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72.6%</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+6.4 pts</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82.0%</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Shape 58"/>
          <p:cNvSpPr/>
          <p:nvPr/>
        </p:nvSpPr>
        <p:spPr>
          <a:xfrm>
            <a:off x="11466576" y="3650285"/>
            <a:ext cx="64008" cy="682142"/>
          </a:xfrm>
          <a:prstGeom prst="rect">
            <a:avLst/>
          </a:prstGeom>
          <a:solidFill>
            <a:srgbClr val="12A566"/>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87.1%</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76.4%</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Honda Spokane and LR Reno what changed. Ask Nissan, LR LV and Mazda what got in the way. Ask LR Henderson, Kia St George and Hyundai St George what they started this year.</a:t>
            </a:r>
            <a:endParaRPr lang="en-US" sz="1600" dirty="0"/>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gap = internal minus own CP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25947"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676355"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2" name="Shape 20"/>
          <p:cNvSpPr/>
          <p:nvPr/>
        </p:nvSpPr>
        <p:spPr>
          <a:xfrm>
            <a:off x="3255264" y="2153708"/>
            <a:ext cx="15036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255264" y="2378543"/>
            <a:ext cx="70154"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255264" y="2603377"/>
            <a:ext cx="38107"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9" name="Shape 37"/>
          <p:cNvSpPr/>
          <p:nvPr/>
        </p:nvSpPr>
        <p:spPr>
          <a:xfrm>
            <a:off x="3255264" y="2828212"/>
            <a:ext cx="20517"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4" name="Shape 42"/>
          <p:cNvSpPr/>
          <p:nvPr/>
        </p:nvSpPr>
        <p:spPr>
          <a:xfrm>
            <a:off x="3255264" y="3053047"/>
            <a:ext cx="9144"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0" name="Shape 48"/>
          <p:cNvSpPr/>
          <p:nvPr/>
        </p:nvSpPr>
        <p:spPr>
          <a:xfrm>
            <a:off x="3222182" y="3277882"/>
            <a:ext cx="33082" cy="123659"/>
          </a:xfrm>
          <a:prstGeom prst="rect">
            <a:avLst/>
          </a:prstGeom>
          <a:solidFill>
            <a:srgbClr val="C2352F"/>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3179597" y="3502717"/>
            <a:ext cx="75667" cy="123659"/>
          </a:xfrm>
          <a:prstGeom prst="rect">
            <a:avLst/>
          </a:prstGeom>
          <a:solidFill>
            <a:srgbClr val="C2352F"/>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1" name="Shape 59"/>
          <p:cNvSpPr/>
          <p:nvPr/>
        </p:nvSpPr>
        <p:spPr>
          <a:xfrm>
            <a:off x="3178337" y="3727552"/>
            <a:ext cx="76927" cy="123659"/>
          </a:xfrm>
          <a:prstGeom prst="rect">
            <a:avLst/>
          </a:prstGeom>
          <a:solidFill>
            <a:srgbClr val="C2352F"/>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6" name="Shape 64"/>
          <p:cNvSpPr/>
          <p:nvPr/>
        </p:nvSpPr>
        <p:spPr>
          <a:xfrm>
            <a:off x="3177426" y="3952386"/>
            <a:ext cx="77838" cy="123659"/>
          </a:xfrm>
          <a:prstGeom prst="rect">
            <a:avLst/>
          </a:prstGeom>
          <a:solidFill>
            <a:srgbClr val="C2352F"/>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2" name="Shape 70"/>
          <p:cNvSpPr/>
          <p:nvPr/>
        </p:nvSpPr>
        <p:spPr>
          <a:xfrm>
            <a:off x="3137487" y="4177221"/>
            <a:ext cx="117777" cy="123659"/>
          </a:xfrm>
          <a:prstGeom prst="rect">
            <a:avLst/>
          </a:prstGeom>
          <a:solidFill>
            <a:srgbClr val="C2352F"/>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7" name="Shape 75"/>
          <p:cNvSpPr/>
          <p:nvPr/>
        </p:nvSpPr>
        <p:spPr>
          <a:xfrm>
            <a:off x="3136637" y="4402056"/>
            <a:ext cx="118627" cy="123659"/>
          </a:xfrm>
          <a:prstGeom prst="rect">
            <a:avLst/>
          </a:prstGeom>
          <a:solidFill>
            <a:srgbClr val="C2352F"/>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3" name="Shape 81"/>
          <p:cNvSpPr/>
          <p:nvPr/>
        </p:nvSpPr>
        <p:spPr>
          <a:xfrm>
            <a:off x="3096612" y="4626891"/>
            <a:ext cx="158652"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8" name="Shape 86"/>
          <p:cNvSpPr/>
          <p:nvPr/>
        </p:nvSpPr>
        <p:spPr>
          <a:xfrm>
            <a:off x="3081235" y="4851726"/>
            <a:ext cx="174029"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4" name="Shape 92"/>
          <p:cNvSpPr/>
          <p:nvPr/>
        </p:nvSpPr>
        <p:spPr>
          <a:xfrm>
            <a:off x="3077450" y="5076561"/>
            <a:ext cx="177814"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9" name="Shape 97"/>
          <p:cNvSpPr/>
          <p:nvPr/>
        </p:nvSpPr>
        <p:spPr>
          <a:xfrm>
            <a:off x="3070973" y="5301395"/>
            <a:ext cx="184291"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5" name="Shape 103"/>
          <p:cNvSpPr/>
          <p:nvPr/>
        </p:nvSpPr>
        <p:spPr>
          <a:xfrm>
            <a:off x="3060053" y="5526230"/>
            <a:ext cx="19521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0" name="Shape 108"/>
          <p:cNvSpPr/>
          <p:nvPr/>
        </p:nvSpPr>
        <p:spPr>
          <a:xfrm>
            <a:off x="3033339" y="5751065"/>
            <a:ext cx="221925"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5" name="Shape 113"/>
          <p:cNvSpPr/>
          <p:nvPr/>
        </p:nvSpPr>
        <p:spPr>
          <a:xfrm>
            <a:off x="8575710" y="2153708"/>
            <a:ext cx="229962"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1" name="Shape 119"/>
          <p:cNvSpPr/>
          <p:nvPr/>
        </p:nvSpPr>
        <p:spPr>
          <a:xfrm>
            <a:off x="8565630" y="2378543"/>
            <a:ext cx="240042"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6" name="Shape 124"/>
          <p:cNvSpPr/>
          <p:nvPr/>
        </p:nvSpPr>
        <p:spPr>
          <a:xfrm>
            <a:off x="8564916" y="2603377"/>
            <a:ext cx="240756"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2" name="Shape 130"/>
          <p:cNvSpPr/>
          <p:nvPr/>
        </p:nvSpPr>
        <p:spPr>
          <a:xfrm>
            <a:off x="8545748" y="2828212"/>
            <a:ext cx="259924"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7" name="Shape 135"/>
          <p:cNvSpPr/>
          <p:nvPr/>
        </p:nvSpPr>
        <p:spPr>
          <a:xfrm>
            <a:off x="8541222" y="3053047"/>
            <a:ext cx="264450"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3" name="Shape 141"/>
          <p:cNvSpPr/>
          <p:nvPr/>
        </p:nvSpPr>
        <p:spPr>
          <a:xfrm>
            <a:off x="8534757" y="3277882"/>
            <a:ext cx="270915"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8" name="Shape 146"/>
          <p:cNvSpPr/>
          <p:nvPr/>
        </p:nvSpPr>
        <p:spPr>
          <a:xfrm>
            <a:off x="8499284" y="3502717"/>
            <a:ext cx="30638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4" name="Shape 152"/>
          <p:cNvSpPr/>
          <p:nvPr/>
        </p:nvSpPr>
        <p:spPr>
          <a:xfrm>
            <a:off x="8496238" y="3727552"/>
            <a:ext cx="309434"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9" name="Shape 157"/>
          <p:cNvSpPr/>
          <p:nvPr/>
        </p:nvSpPr>
        <p:spPr>
          <a:xfrm>
            <a:off x="8493166" y="3952386"/>
            <a:ext cx="312506"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65" name="Shape 163"/>
          <p:cNvSpPr/>
          <p:nvPr/>
        </p:nvSpPr>
        <p:spPr>
          <a:xfrm>
            <a:off x="8491434" y="4177221"/>
            <a:ext cx="314238"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0" name="Shape 168"/>
          <p:cNvSpPr/>
          <p:nvPr/>
        </p:nvSpPr>
        <p:spPr>
          <a:xfrm>
            <a:off x="8472728" y="4402056"/>
            <a:ext cx="332944"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76" name="Shape 174"/>
          <p:cNvSpPr/>
          <p:nvPr/>
        </p:nvSpPr>
        <p:spPr>
          <a:xfrm>
            <a:off x="8461553" y="4626891"/>
            <a:ext cx="344119"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1" name="Shape 179"/>
          <p:cNvSpPr/>
          <p:nvPr/>
        </p:nvSpPr>
        <p:spPr>
          <a:xfrm>
            <a:off x="8358802" y="4851726"/>
            <a:ext cx="44687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7" name="Shape 185"/>
          <p:cNvSpPr/>
          <p:nvPr/>
        </p:nvSpPr>
        <p:spPr>
          <a:xfrm>
            <a:off x="8352988" y="5076561"/>
            <a:ext cx="452684"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92" name="Shape 190"/>
          <p:cNvSpPr/>
          <p:nvPr/>
        </p:nvSpPr>
        <p:spPr>
          <a:xfrm>
            <a:off x="8331777" y="5301395"/>
            <a:ext cx="473895"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02" name="Shape 200"/>
          <p:cNvSpPr/>
          <p:nvPr/>
        </p:nvSpPr>
        <p:spPr>
          <a:xfrm>
            <a:off x="457200" y="6126480"/>
            <a:ext cx="11274552" cy="615696"/>
          </a:xfrm>
          <a:prstGeom prst="rect">
            <a:avLst/>
          </a:prstGeom>
          <a:solidFill>
            <a:srgbClr val="EDF4FA"/>
          </a:solidFill>
          <a:ln/>
        </p:spPr>
      </p:sp>
      <p:sp>
        <p:nvSpPr>
          <p:cNvPr id="203" name="Text 20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28 of 33 stores collect less parts margin on internal work than on customer pay; the group is −4.2 pts. Widest: LR LV (−17.6 pts), Honda Flagstaff (−15.4 pts) and Audi Reno (−14.7 pts).</a:t>
            </a:r>
            <a:endParaRPr lang="en-US" sz="1600" dirty="0"/>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746935"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391651"/>
            <a:ext cx="544841"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5" name="Shape 23"/>
          <p:cNvSpPr/>
          <p:nvPr/>
        </p:nvSpPr>
        <p:spPr>
          <a:xfrm>
            <a:off x="3785616" y="2631546"/>
            <a:ext cx="41184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410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36617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216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1" name="Shape 39"/>
          <p:cNvSpPr/>
          <p:nvPr/>
        </p:nvSpPr>
        <p:spPr>
          <a:xfrm>
            <a:off x="3785616" y="3591128"/>
            <a:ext cx="31422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3012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6060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536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550711"/>
            <a:ext cx="21108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19223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908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785616" y="5270397"/>
            <a:ext cx="19084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510293"/>
            <a:ext cx="158978"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5750188"/>
            <a:ext cx="14553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1" name="Shape 79"/>
          <p:cNvSpPr/>
          <p:nvPr/>
        </p:nvSpPr>
        <p:spPr>
          <a:xfrm>
            <a:off x="9336024" y="1911860"/>
            <a:ext cx="118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12861"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391651"/>
            <a:ext cx="5113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631546"/>
            <a:ext cx="4257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06469" y="2871442"/>
            <a:ext cx="29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3325" y="3111337"/>
            <a:ext cx="4269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4515" y="3351233"/>
            <a:ext cx="12150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50201" y="3591128"/>
            <a:ext cx="285823"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1711" y="3831024"/>
            <a:ext cx="324313"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964654" y="4070920"/>
            <a:ext cx="3713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1" name="Shape 119"/>
          <p:cNvSpPr/>
          <p:nvPr/>
        </p:nvSpPr>
        <p:spPr>
          <a:xfrm>
            <a:off x="8964060" y="4310815"/>
            <a:ext cx="37196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8532" y="4550711"/>
            <a:ext cx="37749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881593" y="4790606"/>
            <a:ext cx="45443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3" name="Shape 131"/>
          <p:cNvSpPr/>
          <p:nvPr/>
        </p:nvSpPr>
        <p:spPr>
          <a:xfrm>
            <a:off x="8875241" y="5030502"/>
            <a:ext cx="46078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60254" y="5270397"/>
            <a:ext cx="57577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1990" y="5510293"/>
            <a:ext cx="60403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 of 33 stores raised internal parts GP%, led by Acura at +6.2 pts to 34.0%. 12 declined; VW St George fell most at −4.8 pts.</a:t>
            </a:r>
            <a:endParaRPr lang="en-US" sz="1600" dirty="0"/>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34.0%</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33.4%</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 pts</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29.7%</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26.8%</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45.1%</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31.7%</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−4.8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32.5%</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31.3%</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−3.0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35.6%</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 pts</a:t>
            </a:r>
            <a:endParaRPr lang="en-US" sz="1600" dirty="0"/>
          </a:p>
        </p:txBody>
      </p:sp>
      <p:sp>
        <p:nvSpPr>
          <p:cNvPr id="63" name="Shape 61"/>
          <p:cNvSpPr/>
          <p:nvPr/>
        </p:nvSpPr>
        <p:spPr>
          <a:xfrm>
            <a:off x="11466576" y="4405579"/>
            <a:ext cx="64008" cy="682142"/>
          </a:xfrm>
          <a:prstGeom prst="rect">
            <a:avLst/>
          </a:prstGeom>
          <a:solidFill>
            <a:srgbClr val="12A566"/>
          </a:solidFill>
          <a:ln/>
        </p:spPr>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34.5%</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37.9%</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Hyundai Prescott and Honda Flagstaff what changed. Ask VW St George, Kia LV and LR LV what got in the way. Ask LR Reno, CDJR Post Falls and LR Henderson what they started this year.</a:t>
            </a:r>
            <a:endParaRPr lang="en-US" sz="1600" dirty="0"/>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Our most valuable asset: this is what separates us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Grow your own: apprentice programs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does being short-handed cost? Limited scheduling, lost opportunities, missed MPIs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pay plans, job descriptions and expectations</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 to Sep,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−2.3%</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year to date. Fewer people and fewer cars: the next gain has to come from car count.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the results you are looking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 versus bonus: a 50/50 ratio</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Jan-Sep: 20 of 33 stores at or above 85%. Flat-rate pay rewards what techs produce.</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1,541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−83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DF4FA"/>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 to Sep; CP &amp; W ROs fell 2.3% year to date.</a:t>
            </a:r>
            <a:endParaRPr lang="en-US" sz="1600" dirty="0"/>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led by Mazda (+5); 23 reduced, led by Chevy LV (−21).</a:t>
            </a:r>
            <a:endParaRPr lang="en-US" sz="1600" dirty="0"/>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 led by Audi Henderson at $23,461. Honda Flagstaff is lowest at $9,149.</a:t>
            </a:r>
            <a:endParaRPr lang="en-US" sz="1600" dirty="0"/>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led by Subaru St George at +$4,158 to $15,556. 6 declined; VW St George fell most at −$1,319.</a:t>
            </a:r>
            <a:endParaRPr lang="en-US" sz="1600" dirty="0"/>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$15,556</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+$4,158</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$11,631</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+$2,933</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$10,963</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+$2,545</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$13,289</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+$2,409</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$23,461</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+$2,359</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$9,878</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−$1,319</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$12,103</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−$1,230</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$14,765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$14,260</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−$505</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$12,006</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−$414</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$15,966</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−$121</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$20,761</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+$4,936</a:t>
            </a:r>
            <a:endParaRPr lang="en-US" sz="1600" dirty="0"/>
          </a:p>
        </p:txBody>
      </p:sp>
      <p:sp>
        <p:nvSpPr>
          <p:cNvPr id="56" name="Shape 54"/>
          <p:cNvSpPr/>
          <p:nvPr/>
        </p:nvSpPr>
        <p:spPr>
          <a:xfrm>
            <a:off x="11466576" y="2894990"/>
            <a:ext cx="64008" cy="682142"/>
          </a:xfrm>
          <a:prstGeom prst="rect">
            <a:avLst/>
          </a:prstGeom>
          <a:solidFill>
            <a:srgbClr val="12A566"/>
          </a:solidFill>
          <a:ln/>
        </p:spPr>
      </p:sp>
      <p:sp>
        <p:nvSpPr>
          <p:cNvPr id="57" name="Text 55"/>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59" name="Text 57"/>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+$4,856</a:t>
            </a:r>
            <a:endParaRPr lang="en-US" sz="1600" dirty="0"/>
          </a:p>
        </p:txBody>
      </p:sp>
      <p:sp>
        <p:nvSpPr>
          <p:cNvPr id="60" name="Shape 58"/>
          <p:cNvSpPr/>
          <p:nvPr/>
        </p:nvSpPr>
        <p:spPr>
          <a:xfrm>
            <a:off x="8040624" y="3613709"/>
            <a:ext cx="3489960" cy="755294"/>
          </a:xfrm>
          <a:prstGeom prst="rect">
            <a:avLst/>
          </a:prstGeom>
          <a:solidFill>
            <a:srgbClr val="F7F7F7"/>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$13,709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+$3,587</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$12,004</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+$3,479</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$16,995</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+$2,972</a:t>
            </a:r>
            <a:endParaRPr lang="en-US" sz="1600" dirty="0"/>
          </a:p>
        </p:txBody>
      </p:sp>
      <p:sp>
        <p:nvSpPr>
          <p:cNvPr id="71" name="Shape 69"/>
          <p:cNvSpPr/>
          <p:nvPr/>
        </p:nvSpPr>
        <p:spPr>
          <a:xfrm>
            <a:off x="457200" y="6126480"/>
            <a:ext cx="11274552" cy="585216"/>
          </a:xfrm>
          <a:prstGeom prst="rect">
            <a:avLst/>
          </a:prstGeom>
          <a:solidFill>
            <a:srgbClr val="EDF4FA"/>
          </a:solidFill>
          <a:ln/>
        </p:spPr>
      </p:sp>
      <p:sp>
        <p:nvSpPr>
          <p:cNvPr id="72" name="Text 70"/>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Subaru St George, Hyundai Prescott and Lincoln what changed. Ask VW St George, Kia St George and Cadillac what got in the way. Ask LR Henderson, Subaru St George and LR Reno what they started this year.</a:t>
            </a:r>
            <a:endParaRPr lang="en-US" sz="1500" dirty="0"/>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teams to show techs where they stand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Set clear objectives and give feedback: no one can be held to a goal they don't know. We're responsible for the knowing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(sold hours / worked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set clear goals, show every tech where they stand every week, and give feedback. The best techs in each store already prove 85% is possible.</a:t>
            </a:r>
            <a:endParaRPr lang="en-US" sz="1600" dirty="0"/>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sold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worked (clocked)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Works 40 hours  </a:t>
            </a:r>
            <a:pPr algn="ctr" indent="0" marL="0">
              <a:buNone/>
            </a:pPr>
            <a:r>
              <a:rPr lang="en-US" sz="1400" b="1" dirty="0">
                <a:solidFill>
                  <a:srgbClr val="0B2C4A"/>
                </a:solidFill>
                <a:latin typeface="Inter" pitchFamily="34" charset="0"/>
                <a:ea typeface="Inter" pitchFamily="34" charset="-122"/>
                <a:cs typeface="Inter" pitchFamily="34" charset="-120"/>
              </a:rPr>
              <a:t>sells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 service department is a production facility. What we produce is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Any production floor knows what it made today and what each person made. So should we.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takes someone actively managing production, every day.</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on ROs, not all hours worked</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Sold hours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worked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Matched by tech number, all pay types, Dec 25, 2025 to Oct 9, 2026. Store = total sold hours / total worked hours.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Service technicians, express technicians, service team leaders and shop foremen: everyone whose job is to flag hours on the line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Not counted: body shop, detail and tint</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 removed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45 lines, such as 940 hours keyed on one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codes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Pooled codes (MULT, 999, 77777) aren't credited to anyone</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worked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 led by Honda Henderson at 118.5%; Acura lowest at 67.4%.</a:t>
            </a:r>
            <a:endParaRPr lang="en-US" sz="1600" dirty="0"/>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YTD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583 technicians (45%).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044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30682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23951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7084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5723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8992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56697"/>
            <a:ext cx="594360" cy="136676"/>
          </a:xfrm>
          <a:prstGeom prst="rect">
            <a:avLst/>
          </a:prstGeom>
          <a:solidFill>
            <a:srgbClr val="C2352F"/>
          </a:solidFill>
          <a:ln/>
        </p:spPr>
      </p:sp>
      <p:sp>
        <p:nvSpPr>
          <p:cNvPr id="15" name="Text 13"/>
          <p:cNvSpPr txBox="1"/>
          <p:nvPr/>
        </p:nvSpPr>
        <p:spPr>
          <a:xfrm>
            <a:off x="352044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6" name="Text 14"/>
          <p:cNvSpPr txBox="1"/>
          <p:nvPr/>
        </p:nvSpPr>
        <p:spPr>
          <a:xfrm>
            <a:off x="430682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7" name="Text 15"/>
          <p:cNvSpPr txBox="1"/>
          <p:nvPr/>
        </p:nvSpPr>
        <p:spPr>
          <a:xfrm>
            <a:off x="523951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87.7%</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0" name="Shape 18"/>
          <p:cNvSpPr/>
          <p:nvPr/>
        </p:nvSpPr>
        <p:spPr>
          <a:xfrm>
            <a:off x="2871216" y="2005199"/>
            <a:ext cx="423252" cy="136676"/>
          </a:xfrm>
          <a:prstGeom prst="rect">
            <a:avLst/>
          </a:prstGeom>
          <a:solidFill>
            <a:srgbClr val="C2352F"/>
          </a:solidFill>
          <a:ln/>
        </p:spPr>
      </p:sp>
      <p:sp>
        <p:nvSpPr>
          <p:cNvPr id="21" name="Text 19"/>
          <p:cNvSpPr txBox="1"/>
          <p:nvPr/>
        </p:nvSpPr>
        <p:spPr>
          <a:xfrm>
            <a:off x="352044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2" name="Text 20"/>
          <p:cNvSpPr txBox="1"/>
          <p:nvPr/>
        </p:nvSpPr>
        <p:spPr>
          <a:xfrm>
            <a:off x="430682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3" name="Text 21"/>
          <p:cNvSpPr txBox="1"/>
          <p:nvPr/>
        </p:nvSpPr>
        <p:spPr>
          <a:xfrm>
            <a:off x="523951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68.4%</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6" name="Shape 24"/>
          <p:cNvSpPr/>
          <p:nvPr/>
        </p:nvSpPr>
        <p:spPr>
          <a:xfrm>
            <a:off x="2871216" y="2253700"/>
            <a:ext cx="383101" cy="136676"/>
          </a:xfrm>
          <a:prstGeom prst="rect">
            <a:avLst/>
          </a:prstGeom>
          <a:solidFill>
            <a:srgbClr val="C2352F"/>
          </a:solidFill>
          <a:ln/>
        </p:spPr>
      </p:sp>
      <p:sp>
        <p:nvSpPr>
          <p:cNvPr id="27" name="Text 25"/>
          <p:cNvSpPr txBox="1"/>
          <p:nvPr/>
        </p:nvSpPr>
        <p:spPr>
          <a:xfrm>
            <a:off x="352044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8" name="Text 26"/>
          <p:cNvSpPr txBox="1"/>
          <p:nvPr/>
        </p:nvSpPr>
        <p:spPr>
          <a:xfrm>
            <a:off x="430682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9" name="Text 27"/>
          <p:cNvSpPr txBox="1"/>
          <p:nvPr/>
        </p:nvSpPr>
        <p:spPr>
          <a:xfrm>
            <a:off x="523951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91.0%</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77643" cy="136676"/>
          </a:xfrm>
          <a:prstGeom prst="rect">
            <a:avLst/>
          </a:prstGeom>
          <a:solidFill>
            <a:srgbClr val="C2352F"/>
          </a:solidFill>
          <a:ln/>
        </p:spPr>
      </p:sp>
      <p:sp>
        <p:nvSpPr>
          <p:cNvPr id="33" name="Text 31"/>
          <p:cNvSpPr txBox="1"/>
          <p:nvPr/>
        </p:nvSpPr>
        <p:spPr>
          <a:xfrm>
            <a:off x="352044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4" name="Text 32"/>
          <p:cNvSpPr txBox="1"/>
          <p:nvPr/>
        </p:nvSpPr>
        <p:spPr>
          <a:xfrm>
            <a:off x="430682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5" name="Text 33"/>
          <p:cNvSpPr txBox="1"/>
          <p:nvPr/>
        </p:nvSpPr>
        <p:spPr>
          <a:xfrm>
            <a:off x="523951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71.2%</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8" name="Shape 36"/>
          <p:cNvSpPr/>
          <p:nvPr/>
        </p:nvSpPr>
        <p:spPr>
          <a:xfrm>
            <a:off x="2871216" y="2750703"/>
            <a:ext cx="332905" cy="136676"/>
          </a:xfrm>
          <a:prstGeom prst="rect">
            <a:avLst/>
          </a:prstGeom>
          <a:solidFill>
            <a:srgbClr val="C2352F"/>
          </a:solidFill>
          <a:ln/>
        </p:spPr>
      </p:sp>
      <p:sp>
        <p:nvSpPr>
          <p:cNvPr id="39" name="Text 37"/>
          <p:cNvSpPr txBox="1"/>
          <p:nvPr/>
        </p:nvSpPr>
        <p:spPr>
          <a:xfrm>
            <a:off x="352044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40" name="Text 38"/>
          <p:cNvSpPr txBox="1"/>
          <p:nvPr/>
        </p:nvSpPr>
        <p:spPr>
          <a:xfrm>
            <a:off x="430682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41" name="Text 39"/>
          <p:cNvSpPr txBox="1"/>
          <p:nvPr/>
        </p:nvSpPr>
        <p:spPr>
          <a:xfrm>
            <a:off x="523951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69.0%</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4" name="Shape 42"/>
          <p:cNvSpPr/>
          <p:nvPr/>
        </p:nvSpPr>
        <p:spPr>
          <a:xfrm>
            <a:off x="2871216" y="2999205"/>
            <a:ext cx="329038" cy="136676"/>
          </a:xfrm>
          <a:prstGeom prst="rect">
            <a:avLst/>
          </a:prstGeom>
          <a:solidFill>
            <a:srgbClr val="C2352F"/>
          </a:solidFill>
          <a:ln/>
        </p:spPr>
      </p:sp>
      <p:sp>
        <p:nvSpPr>
          <p:cNvPr id="45" name="Text 43"/>
          <p:cNvSpPr txBox="1"/>
          <p:nvPr/>
        </p:nvSpPr>
        <p:spPr>
          <a:xfrm>
            <a:off x="352044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6" name="Text 44"/>
          <p:cNvSpPr txBox="1"/>
          <p:nvPr/>
        </p:nvSpPr>
        <p:spPr>
          <a:xfrm>
            <a:off x="430682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7" name="Text 45"/>
          <p:cNvSpPr txBox="1"/>
          <p:nvPr/>
        </p:nvSpPr>
        <p:spPr>
          <a:xfrm>
            <a:off x="523951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103.4%</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0" name="Shape 48"/>
          <p:cNvSpPr/>
          <p:nvPr/>
        </p:nvSpPr>
        <p:spPr>
          <a:xfrm>
            <a:off x="2871216" y="3247707"/>
            <a:ext cx="291475" cy="136676"/>
          </a:xfrm>
          <a:prstGeom prst="rect">
            <a:avLst/>
          </a:prstGeom>
          <a:solidFill>
            <a:srgbClr val="C2352F"/>
          </a:solidFill>
          <a:ln/>
        </p:spPr>
      </p:sp>
      <p:sp>
        <p:nvSpPr>
          <p:cNvPr id="51" name="Text 49"/>
          <p:cNvSpPr txBox="1"/>
          <p:nvPr/>
        </p:nvSpPr>
        <p:spPr>
          <a:xfrm>
            <a:off x="352044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2" name="Text 50"/>
          <p:cNvSpPr txBox="1"/>
          <p:nvPr/>
        </p:nvSpPr>
        <p:spPr>
          <a:xfrm>
            <a:off x="430682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53" name="Text 51"/>
          <p:cNvSpPr txBox="1"/>
          <p:nvPr/>
        </p:nvSpPr>
        <p:spPr>
          <a:xfrm>
            <a:off x="523951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83.6%</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6" name="Shape 54"/>
          <p:cNvSpPr/>
          <p:nvPr/>
        </p:nvSpPr>
        <p:spPr>
          <a:xfrm>
            <a:off x="2871216" y="3496208"/>
            <a:ext cx="288910" cy="136676"/>
          </a:xfrm>
          <a:prstGeom prst="rect">
            <a:avLst/>
          </a:prstGeom>
          <a:solidFill>
            <a:srgbClr val="C2352F"/>
          </a:solidFill>
          <a:ln/>
        </p:spPr>
      </p:sp>
      <p:sp>
        <p:nvSpPr>
          <p:cNvPr id="57" name="Text 55"/>
          <p:cNvSpPr txBox="1"/>
          <p:nvPr/>
        </p:nvSpPr>
        <p:spPr>
          <a:xfrm>
            <a:off x="352044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8" name="Text 56"/>
          <p:cNvSpPr txBox="1"/>
          <p:nvPr/>
        </p:nvSpPr>
        <p:spPr>
          <a:xfrm>
            <a:off x="430682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9" name="Text 57"/>
          <p:cNvSpPr txBox="1"/>
          <p:nvPr/>
        </p:nvSpPr>
        <p:spPr>
          <a:xfrm>
            <a:off x="523951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67.5%</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2" name="Shape 60"/>
          <p:cNvSpPr/>
          <p:nvPr/>
        </p:nvSpPr>
        <p:spPr>
          <a:xfrm>
            <a:off x="2871216" y="3744710"/>
            <a:ext cx="286162" cy="136676"/>
          </a:xfrm>
          <a:prstGeom prst="rect">
            <a:avLst/>
          </a:prstGeom>
          <a:solidFill>
            <a:srgbClr val="C2352F"/>
          </a:solidFill>
          <a:ln/>
        </p:spPr>
      </p:sp>
      <p:sp>
        <p:nvSpPr>
          <p:cNvPr id="63" name="Text 61"/>
          <p:cNvSpPr txBox="1"/>
          <p:nvPr/>
        </p:nvSpPr>
        <p:spPr>
          <a:xfrm>
            <a:off x="352044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64" name="Text 62"/>
          <p:cNvSpPr txBox="1"/>
          <p:nvPr/>
        </p:nvSpPr>
        <p:spPr>
          <a:xfrm>
            <a:off x="430682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65" name="Text 63"/>
          <p:cNvSpPr txBox="1"/>
          <p:nvPr/>
        </p:nvSpPr>
        <p:spPr>
          <a:xfrm>
            <a:off x="523951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67.4%</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3993212"/>
            <a:ext cx="280027" cy="136676"/>
          </a:xfrm>
          <a:prstGeom prst="rect">
            <a:avLst/>
          </a:prstGeom>
          <a:solidFill>
            <a:srgbClr val="C2352F"/>
          </a:solidFill>
          <a:ln/>
        </p:spPr>
      </p:sp>
      <p:sp>
        <p:nvSpPr>
          <p:cNvPr id="69" name="Text 67"/>
          <p:cNvSpPr txBox="1"/>
          <p:nvPr/>
        </p:nvSpPr>
        <p:spPr>
          <a:xfrm>
            <a:off x="352044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70" name="Text 68"/>
          <p:cNvSpPr txBox="1"/>
          <p:nvPr/>
        </p:nvSpPr>
        <p:spPr>
          <a:xfrm>
            <a:off x="430682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71" name="Text 69"/>
          <p:cNvSpPr txBox="1"/>
          <p:nvPr/>
        </p:nvSpPr>
        <p:spPr>
          <a:xfrm>
            <a:off x="523951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76.8%</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4" name="Shape 72"/>
          <p:cNvSpPr/>
          <p:nvPr/>
        </p:nvSpPr>
        <p:spPr>
          <a:xfrm>
            <a:off x="2871216" y="4241713"/>
            <a:ext cx="264542" cy="136676"/>
          </a:xfrm>
          <a:prstGeom prst="rect">
            <a:avLst/>
          </a:prstGeom>
          <a:solidFill>
            <a:srgbClr val="C2352F"/>
          </a:solidFill>
          <a:ln/>
        </p:spPr>
      </p:sp>
      <p:sp>
        <p:nvSpPr>
          <p:cNvPr id="75" name="Text 73"/>
          <p:cNvSpPr txBox="1"/>
          <p:nvPr/>
        </p:nvSpPr>
        <p:spPr>
          <a:xfrm>
            <a:off x="352044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76" name="Text 74"/>
          <p:cNvSpPr txBox="1"/>
          <p:nvPr/>
        </p:nvSpPr>
        <p:spPr>
          <a:xfrm>
            <a:off x="430682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77" name="Text 75"/>
          <p:cNvSpPr txBox="1"/>
          <p:nvPr/>
        </p:nvSpPr>
        <p:spPr>
          <a:xfrm>
            <a:off x="523951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104.3%</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0" name="Shape 78"/>
          <p:cNvSpPr/>
          <p:nvPr/>
        </p:nvSpPr>
        <p:spPr>
          <a:xfrm>
            <a:off x="2871216" y="4490215"/>
            <a:ext cx="238147" cy="136676"/>
          </a:xfrm>
          <a:prstGeom prst="rect">
            <a:avLst/>
          </a:prstGeom>
          <a:solidFill>
            <a:srgbClr val="C2352F"/>
          </a:solidFill>
          <a:ln/>
        </p:spPr>
      </p:sp>
      <p:sp>
        <p:nvSpPr>
          <p:cNvPr id="81" name="Text 79"/>
          <p:cNvSpPr txBox="1"/>
          <p:nvPr/>
        </p:nvSpPr>
        <p:spPr>
          <a:xfrm>
            <a:off x="352044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82" name="Text 80"/>
          <p:cNvSpPr txBox="1"/>
          <p:nvPr/>
        </p:nvSpPr>
        <p:spPr>
          <a:xfrm>
            <a:off x="430682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83" name="Text 81"/>
          <p:cNvSpPr txBox="1"/>
          <p:nvPr/>
        </p:nvSpPr>
        <p:spPr>
          <a:xfrm>
            <a:off x="523951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91.2%</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6" name="Shape 84"/>
          <p:cNvSpPr/>
          <p:nvPr/>
        </p:nvSpPr>
        <p:spPr>
          <a:xfrm>
            <a:off x="2871216" y="4738717"/>
            <a:ext cx="233408" cy="136676"/>
          </a:xfrm>
          <a:prstGeom prst="rect">
            <a:avLst/>
          </a:prstGeom>
          <a:solidFill>
            <a:srgbClr val="C2352F"/>
          </a:solidFill>
          <a:ln/>
        </p:spPr>
      </p:sp>
      <p:sp>
        <p:nvSpPr>
          <p:cNvPr id="87" name="Text 85"/>
          <p:cNvSpPr txBox="1"/>
          <p:nvPr/>
        </p:nvSpPr>
        <p:spPr>
          <a:xfrm>
            <a:off x="352044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88" name="Text 86"/>
          <p:cNvSpPr txBox="1"/>
          <p:nvPr/>
        </p:nvSpPr>
        <p:spPr>
          <a:xfrm>
            <a:off x="430682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89" name="Text 87"/>
          <p:cNvSpPr txBox="1"/>
          <p:nvPr/>
        </p:nvSpPr>
        <p:spPr>
          <a:xfrm>
            <a:off x="523951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72.3%</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2" name="Shape 90"/>
          <p:cNvSpPr/>
          <p:nvPr/>
        </p:nvSpPr>
        <p:spPr>
          <a:xfrm>
            <a:off x="2871216" y="4987218"/>
            <a:ext cx="217057" cy="136676"/>
          </a:xfrm>
          <a:prstGeom prst="rect">
            <a:avLst/>
          </a:prstGeom>
          <a:solidFill>
            <a:srgbClr val="C2352F"/>
          </a:solidFill>
          <a:ln/>
        </p:spPr>
      </p:sp>
      <p:sp>
        <p:nvSpPr>
          <p:cNvPr id="93" name="Text 91"/>
          <p:cNvSpPr txBox="1"/>
          <p:nvPr/>
        </p:nvSpPr>
        <p:spPr>
          <a:xfrm>
            <a:off x="352044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94" name="Text 92"/>
          <p:cNvSpPr txBox="1"/>
          <p:nvPr/>
        </p:nvSpPr>
        <p:spPr>
          <a:xfrm>
            <a:off x="430682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95" name="Text 93"/>
          <p:cNvSpPr txBox="1"/>
          <p:nvPr/>
        </p:nvSpPr>
        <p:spPr>
          <a:xfrm>
            <a:off x="523951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98.4%</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8" name="Shape 96"/>
          <p:cNvSpPr/>
          <p:nvPr/>
        </p:nvSpPr>
        <p:spPr>
          <a:xfrm>
            <a:off x="2871216" y="5235720"/>
            <a:ext cx="180426" cy="136676"/>
          </a:xfrm>
          <a:prstGeom prst="rect">
            <a:avLst/>
          </a:prstGeom>
          <a:solidFill>
            <a:srgbClr val="C2352F"/>
          </a:solidFill>
          <a:ln/>
        </p:spPr>
      </p:sp>
      <p:sp>
        <p:nvSpPr>
          <p:cNvPr id="99" name="Text 97"/>
          <p:cNvSpPr txBox="1"/>
          <p:nvPr/>
        </p:nvSpPr>
        <p:spPr>
          <a:xfrm>
            <a:off x="352044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00" name="Text 98"/>
          <p:cNvSpPr txBox="1"/>
          <p:nvPr/>
        </p:nvSpPr>
        <p:spPr>
          <a:xfrm>
            <a:off x="430682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101" name="Text 99"/>
          <p:cNvSpPr txBox="1"/>
          <p:nvPr/>
        </p:nvSpPr>
        <p:spPr>
          <a:xfrm>
            <a:off x="523951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64601" cy="136676"/>
          </a:xfrm>
          <a:prstGeom prst="rect">
            <a:avLst/>
          </a:prstGeom>
          <a:solidFill>
            <a:srgbClr val="C2352F"/>
          </a:solidFill>
          <a:ln/>
        </p:spPr>
      </p:sp>
      <p:sp>
        <p:nvSpPr>
          <p:cNvPr id="105" name="Text 103"/>
          <p:cNvSpPr txBox="1"/>
          <p:nvPr/>
        </p:nvSpPr>
        <p:spPr>
          <a:xfrm>
            <a:off x="352044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106" name="Text 104"/>
          <p:cNvSpPr txBox="1"/>
          <p:nvPr/>
        </p:nvSpPr>
        <p:spPr>
          <a:xfrm>
            <a:off x="430682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107" name="Text 105"/>
          <p:cNvSpPr txBox="1"/>
          <p:nvPr/>
        </p:nvSpPr>
        <p:spPr>
          <a:xfrm>
            <a:off x="523951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96.9%</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0" name="Shape 108"/>
          <p:cNvSpPr/>
          <p:nvPr/>
        </p:nvSpPr>
        <p:spPr>
          <a:xfrm>
            <a:off x="2871216" y="5732723"/>
            <a:ext cx="159807" cy="136676"/>
          </a:xfrm>
          <a:prstGeom prst="rect">
            <a:avLst/>
          </a:prstGeom>
          <a:solidFill>
            <a:srgbClr val="C2352F"/>
          </a:solidFill>
          <a:ln/>
        </p:spPr>
      </p:sp>
      <p:sp>
        <p:nvSpPr>
          <p:cNvPr id="111" name="Text 109"/>
          <p:cNvSpPr txBox="1"/>
          <p:nvPr/>
        </p:nvSpPr>
        <p:spPr>
          <a:xfrm>
            <a:off x="352044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12" name="Text 110"/>
          <p:cNvSpPr txBox="1"/>
          <p:nvPr/>
        </p:nvSpPr>
        <p:spPr>
          <a:xfrm>
            <a:off x="430682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113" name="Text 111"/>
          <p:cNvSpPr txBox="1"/>
          <p:nvPr/>
        </p:nvSpPr>
        <p:spPr>
          <a:xfrm>
            <a:off x="523951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91.1%</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421624" y="1756697"/>
            <a:ext cx="148734" cy="136676"/>
          </a:xfrm>
          <a:prstGeom prst="rect">
            <a:avLst/>
          </a:prstGeom>
          <a:solidFill>
            <a:srgbClr val="C2352F"/>
          </a:solidFill>
          <a:ln/>
        </p:spPr>
      </p:sp>
      <p:sp>
        <p:nvSpPr>
          <p:cNvPr id="117" name="Text 115"/>
          <p:cNvSpPr txBox="1"/>
          <p:nvPr/>
        </p:nvSpPr>
        <p:spPr>
          <a:xfrm>
            <a:off x="907084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18" name="Text 116"/>
          <p:cNvSpPr txBox="1"/>
          <p:nvPr/>
        </p:nvSpPr>
        <p:spPr>
          <a:xfrm>
            <a:off x="985723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19" name="Text 117"/>
          <p:cNvSpPr txBox="1"/>
          <p:nvPr/>
        </p:nvSpPr>
        <p:spPr>
          <a:xfrm>
            <a:off x="1078992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78.5%</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8421624" y="2005199"/>
            <a:ext cx="129329" cy="136676"/>
          </a:xfrm>
          <a:prstGeom prst="rect">
            <a:avLst/>
          </a:prstGeom>
          <a:solidFill>
            <a:srgbClr val="C2352F"/>
          </a:solidFill>
          <a:ln/>
        </p:spPr>
      </p:sp>
      <p:sp>
        <p:nvSpPr>
          <p:cNvPr id="123" name="Text 121"/>
          <p:cNvSpPr txBox="1"/>
          <p:nvPr/>
        </p:nvSpPr>
        <p:spPr>
          <a:xfrm>
            <a:off x="907084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24" name="Text 122"/>
          <p:cNvSpPr txBox="1"/>
          <p:nvPr/>
        </p:nvSpPr>
        <p:spPr>
          <a:xfrm>
            <a:off x="985723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25" name="Text 123"/>
          <p:cNvSpPr txBox="1"/>
          <p:nvPr/>
        </p:nvSpPr>
        <p:spPr>
          <a:xfrm>
            <a:off x="1078992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78.8%</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253700"/>
            <a:ext cx="119109" cy="136676"/>
          </a:xfrm>
          <a:prstGeom prst="rect">
            <a:avLst/>
          </a:prstGeom>
          <a:solidFill>
            <a:srgbClr val="C2352F"/>
          </a:solidFill>
          <a:ln/>
        </p:spPr>
      </p:sp>
      <p:sp>
        <p:nvSpPr>
          <p:cNvPr id="129" name="Text 127"/>
          <p:cNvSpPr txBox="1"/>
          <p:nvPr/>
        </p:nvSpPr>
        <p:spPr>
          <a:xfrm>
            <a:off x="907084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30" name="Text 128"/>
          <p:cNvSpPr txBox="1"/>
          <p:nvPr/>
        </p:nvSpPr>
        <p:spPr>
          <a:xfrm>
            <a:off x="985723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31" name="Text 129"/>
          <p:cNvSpPr txBox="1"/>
          <p:nvPr/>
        </p:nvSpPr>
        <p:spPr>
          <a:xfrm>
            <a:off x="1078992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104.7%</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4" name="Shape 132"/>
          <p:cNvSpPr/>
          <p:nvPr/>
        </p:nvSpPr>
        <p:spPr>
          <a:xfrm>
            <a:off x="8421624" y="2502202"/>
            <a:ext cx="92701" cy="136676"/>
          </a:xfrm>
          <a:prstGeom prst="rect">
            <a:avLst/>
          </a:prstGeom>
          <a:solidFill>
            <a:srgbClr val="C2352F"/>
          </a:solidFill>
          <a:ln/>
        </p:spPr>
      </p:sp>
      <p:sp>
        <p:nvSpPr>
          <p:cNvPr id="135" name="Text 133"/>
          <p:cNvSpPr txBox="1"/>
          <p:nvPr/>
        </p:nvSpPr>
        <p:spPr>
          <a:xfrm>
            <a:off x="907084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36" name="Text 134"/>
          <p:cNvSpPr txBox="1"/>
          <p:nvPr/>
        </p:nvSpPr>
        <p:spPr>
          <a:xfrm>
            <a:off x="985723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37" name="Text 135"/>
          <p:cNvSpPr txBox="1"/>
          <p:nvPr/>
        </p:nvSpPr>
        <p:spPr>
          <a:xfrm>
            <a:off x="1078992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92.2%</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421624" y="2750703"/>
            <a:ext cx="89382" cy="136676"/>
          </a:xfrm>
          <a:prstGeom prst="rect">
            <a:avLst/>
          </a:prstGeom>
          <a:solidFill>
            <a:srgbClr val="C2352F"/>
          </a:solidFill>
          <a:ln/>
        </p:spPr>
      </p:sp>
      <p:sp>
        <p:nvSpPr>
          <p:cNvPr id="141" name="Text 139"/>
          <p:cNvSpPr txBox="1"/>
          <p:nvPr/>
        </p:nvSpPr>
        <p:spPr>
          <a:xfrm>
            <a:off x="907084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2" name="Text 140"/>
          <p:cNvSpPr txBox="1"/>
          <p:nvPr/>
        </p:nvSpPr>
        <p:spPr>
          <a:xfrm>
            <a:off x="985723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43" name="Text 141"/>
          <p:cNvSpPr txBox="1"/>
          <p:nvPr/>
        </p:nvSpPr>
        <p:spPr>
          <a:xfrm>
            <a:off x="1078992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46" name="Shape 144"/>
          <p:cNvSpPr/>
          <p:nvPr/>
        </p:nvSpPr>
        <p:spPr>
          <a:xfrm>
            <a:off x="8421624" y="2999205"/>
            <a:ext cx="83365" cy="136676"/>
          </a:xfrm>
          <a:prstGeom prst="rect">
            <a:avLst/>
          </a:prstGeom>
          <a:solidFill>
            <a:srgbClr val="C2352F"/>
          </a:solidFill>
          <a:ln/>
        </p:spPr>
      </p:sp>
      <p:sp>
        <p:nvSpPr>
          <p:cNvPr id="147" name="Text 145"/>
          <p:cNvSpPr txBox="1"/>
          <p:nvPr/>
        </p:nvSpPr>
        <p:spPr>
          <a:xfrm>
            <a:off x="907084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48" name="Text 146"/>
          <p:cNvSpPr txBox="1"/>
          <p:nvPr/>
        </p:nvSpPr>
        <p:spPr>
          <a:xfrm>
            <a:off x="985723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49" name="Text 147"/>
          <p:cNvSpPr txBox="1"/>
          <p:nvPr/>
        </p:nvSpPr>
        <p:spPr>
          <a:xfrm>
            <a:off x="1078992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109.7%</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2" name="Shape 150"/>
          <p:cNvSpPr/>
          <p:nvPr/>
        </p:nvSpPr>
        <p:spPr>
          <a:xfrm>
            <a:off x="8421624" y="3247707"/>
            <a:ext cx="78085" cy="136676"/>
          </a:xfrm>
          <a:prstGeom prst="rect">
            <a:avLst/>
          </a:prstGeom>
          <a:solidFill>
            <a:srgbClr val="C2352F"/>
          </a:solidFill>
          <a:ln/>
        </p:spPr>
      </p:sp>
      <p:sp>
        <p:nvSpPr>
          <p:cNvPr id="153" name="Text 151"/>
          <p:cNvSpPr txBox="1"/>
          <p:nvPr/>
        </p:nvSpPr>
        <p:spPr>
          <a:xfrm>
            <a:off x="907084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54" name="Text 152"/>
          <p:cNvSpPr txBox="1"/>
          <p:nvPr/>
        </p:nvSpPr>
        <p:spPr>
          <a:xfrm>
            <a:off x="985723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55" name="Text 153"/>
          <p:cNvSpPr txBox="1"/>
          <p:nvPr/>
        </p:nvSpPr>
        <p:spPr>
          <a:xfrm>
            <a:off x="1078992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70.0%</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58" name="Shape 156"/>
          <p:cNvSpPr/>
          <p:nvPr/>
        </p:nvSpPr>
        <p:spPr>
          <a:xfrm>
            <a:off x="8421624" y="3496208"/>
            <a:ext cx="77498" cy="136676"/>
          </a:xfrm>
          <a:prstGeom prst="rect">
            <a:avLst/>
          </a:prstGeom>
          <a:solidFill>
            <a:srgbClr val="C2352F"/>
          </a:solidFill>
          <a:ln/>
        </p:spPr>
      </p:sp>
      <p:sp>
        <p:nvSpPr>
          <p:cNvPr id="159" name="Text 157"/>
          <p:cNvSpPr txBox="1"/>
          <p:nvPr/>
        </p:nvSpPr>
        <p:spPr>
          <a:xfrm>
            <a:off x="907084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60" name="Text 158"/>
          <p:cNvSpPr txBox="1"/>
          <p:nvPr/>
        </p:nvSpPr>
        <p:spPr>
          <a:xfrm>
            <a:off x="985723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61" name="Text 159"/>
          <p:cNvSpPr txBox="1"/>
          <p:nvPr/>
        </p:nvSpPr>
        <p:spPr>
          <a:xfrm>
            <a:off x="1078992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81.4%</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75663" cy="136676"/>
          </a:xfrm>
          <a:prstGeom prst="rect">
            <a:avLst/>
          </a:prstGeom>
          <a:solidFill>
            <a:srgbClr val="C2352F"/>
          </a:solidFill>
          <a:ln/>
        </p:spPr>
      </p:sp>
      <p:sp>
        <p:nvSpPr>
          <p:cNvPr id="165" name="Text 163"/>
          <p:cNvSpPr txBox="1"/>
          <p:nvPr/>
        </p:nvSpPr>
        <p:spPr>
          <a:xfrm>
            <a:off x="907084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66" name="Text 164"/>
          <p:cNvSpPr txBox="1"/>
          <p:nvPr/>
        </p:nvSpPr>
        <p:spPr>
          <a:xfrm>
            <a:off x="985723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67" name="Text 165"/>
          <p:cNvSpPr txBox="1"/>
          <p:nvPr/>
        </p:nvSpPr>
        <p:spPr>
          <a:xfrm>
            <a:off x="1078992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117.1%</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0" name="Shape 168"/>
          <p:cNvSpPr/>
          <p:nvPr/>
        </p:nvSpPr>
        <p:spPr>
          <a:xfrm>
            <a:off x="8421624" y="3993212"/>
            <a:ext cx="56358" cy="136676"/>
          </a:xfrm>
          <a:prstGeom prst="rect">
            <a:avLst/>
          </a:prstGeom>
          <a:solidFill>
            <a:srgbClr val="C2352F"/>
          </a:solidFill>
          <a:ln/>
        </p:spPr>
      </p:sp>
      <p:sp>
        <p:nvSpPr>
          <p:cNvPr id="171" name="Text 169"/>
          <p:cNvSpPr txBox="1"/>
          <p:nvPr/>
        </p:nvSpPr>
        <p:spPr>
          <a:xfrm>
            <a:off x="907084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72" name="Text 170"/>
          <p:cNvSpPr txBox="1"/>
          <p:nvPr/>
        </p:nvSpPr>
        <p:spPr>
          <a:xfrm>
            <a:off x="985723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73" name="Text 171"/>
          <p:cNvSpPr txBox="1"/>
          <p:nvPr/>
        </p:nvSpPr>
        <p:spPr>
          <a:xfrm>
            <a:off x="1078992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106.0%</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6" name="Shape 174"/>
          <p:cNvSpPr/>
          <p:nvPr/>
        </p:nvSpPr>
        <p:spPr>
          <a:xfrm>
            <a:off x="8421624" y="4241713"/>
            <a:ext cx="48801" cy="136676"/>
          </a:xfrm>
          <a:prstGeom prst="rect">
            <a:avLst/>
          </a:prstGeom>
          <a:solidFill>
            <a:srgbClr val="C2352F"/>
          </a:solidFill>
          <a:ln/>
        </p:spPr>
      </p:sp>
      <p:sp>
        <p:nvSpPr>
          <p:cNvPr id="177" name="Text 175"/>
          <p:cNvSpPr txBox="1"/>
          <p:nvPr/>
        </p:nvSpPr>
        <p:spPr>
          <a:xfrm>
            <a:off x="907084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78" name="Text 176"/>
          <p:cNvSpPr txBox="1"/>
          <p:nvPr/>
        </p:nvSpPr>
        <p:spPr>
          <a:xfrm>
            <a:off x="985723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79" name="Text 177"/>
          <p:cNvSpPr txBox="1"/>
          <p:nvPr/>
        </p:nvSpPr>
        <p:spPr>
          <a:xfrm>
            <a:off x="1078992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118.5%</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2" name="Shape 180"/>
          <p:cNvSpPr/>
          <p:nvPr/>
        </p:nvSpPr>
        <p:spPr>
          <a:xfrm>
            <a:off x="8421624" y="4490215"/>
            <a:ext cx="48716" cy="136676"/>
          </a:xfrm>
          <a:prstGeom prst="rect">
            <a:avLst/>
          </a:prstGeom>
          <a:solidFill>
            <a:srgbClr val="C2352F"/>
          </a:solidFill>
          <a:ln/>
        </p:spPr>
      </p:sp>
      <p:sp>
        <p:nvSpPr>
          <p:cNvPr id="183" name="Text 181"/>
          <p:cNvSpPr txBox="1"/>
          <p:nvPr/>
        </p:nvSpPr>
        <p:spPr>
          <a:xfrm>
            <a:off x="907084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84" name="Text 182"/>
          <p:cNvSpPr txBox="1"/>
          <p:nvPr/>
        </p:nvSpPr>
        <p:spPr>
          <a:xfrm>
            <a:off x="985723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85" name="Text 183"/>
          <p:cNvSpPr txBox="1"/>
          <p:nvPr/>
        </p:nvSpPr>
        <p:spPr>
          <a:xfrm>
            <a:off x="1078992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109.3%</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42835" cy="136676"/>
          </a:xfrm>
          <a:prstGeom prst="rect">
            <a:avLst/>
          </a:prstGeom>
          <a:solidFill>
            <a:srgbClr val="C2352F"/>
          </a:solidFill>
          <a:ln/>
        </p:spPr>
      </p:sp>
      <p:sp>
        <p:nvSpPr>
          <p:cNvPr id="189" name="Text 187"/>
          <p:cNvSpPr txBox="1"/>
          <p:nvPr/>
        </p:nvSpPr>
        <p:spPr>
          <a:xfrm>
            <a:off x="907084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90" name="Text 188"/>
          <p:cNvSpPr txBox="1"/>
          <p:nvPr/>
        </p:nvSpPr>
        <p:spPr>
          <a:xfrm>
            <a:off x="985723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91" name="Text 189"/>
          <p:cNvSpPr txBox="1"/>
          <p:nvPr/>
        </p:nvSpPr>
        <p:spPr>
          <a:xfrm>
            <a:off x="1078992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108.0%</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4" name="Shape 192"/>
          <p:cNvSpPr/>
          <p:nvPr/>
        </p:nvSpPr>
        <p:spPr>
          <a:xfrm>
            <a:off x="8421624" y="4987218"/>
            <a:ext cx="39448" cy="136676"/>
          </a:xfrm>
          <a:prstGeom prst="rect">
            <a:avLst/>
          </a:prstGeom>
          <a:solidFill>
            <a:srgbClr val="C2352F"/>
          </a:solidFill>
          <a:ln/>
        </p:spPr>
      </p:sp>
      <p:sp>
        <p:nvSpPr>
          <p:cNvPr id="195" name="Text 193"/>
          <p:cNvSpPr txBox="1"/>
          <p:nvPr/>
        </p:nvSpPr>
        <p:spPr>
          <a:xfrm>
            <a:off x="907084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96" name="Text 194"/>
          <p:cNvSpPr txBox="1"/>
          <p:nvPr/>
        </p:nvSpPr>
        <p:spPr>
          <a:xfrm>
            <a:off x="985723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97" name="Text 195"/>
          <p:cNvSpPr txBox="1"/>
          <p:nvPr/>
        </p:nvSpPr>
        <p:spPr>
          <a:xfrm>
            <a:off x="1078992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00" name="Shape 198"/>
          <p:cNvSpPr/>
          <p:nvPr/>
        </p:nvSpPr>
        <p:spPr>
          <a:xfrm>
            <a:off x="8421624" y="5235720"/>
            <a:ext cx="32291" cy="136676"/>
          </a:xfrm>
          <a:prstGeom prst="rect">
            <a:avLst/>
          </a:prstGeom>
          <a:solidFill>
            <a:srgbClr val="C2352F"/>
          </a:solidFill>
          <a:ln/>
        </p:spPr>
      </p:sp>
      <p:sp>
        <p:nvSpPr>
          <p:cNvPr id="201" name="Text 199"/>
          <p:cNvSpPr txBox="1"/>
          <p:nvPr/>
        </p:nvSpPr>
        <p:spPr>
          <a:xfrm>
            <a:off x="907084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202" name="Text 200"/>
          <p:cNvSpPr txBox="1"/>
          <p:nvPr/>
        </p:nvSpPr>
        <p:spPr>
          <a:xfrm>
            <a:off x="985723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203" name="Text 201"/>
          <p:cNvSpPr txBox="1"/>
          <p:nvPr/>
        </p:nvSpPr>
        <p:spPr>
          <a:xfrm>
            <a:off x="1078992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101.6%</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907084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208" name="Text 206"/>
          <p:cNvSpPr txBox="1"/>
          <p:nvPr/>
        </p:nvSpPr>
        <p:spPr>
          <a:xfrm>
            <a:off x="985723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209" name="Text 207"/>
          <p:cNvSpPr txBox="1"/>
          <p:nvPr/>
        </p:nvSpPr>
        <p:spPr>
          <a:xfrm>
            <a:off x="1078992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109.0%</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348996"/>
          </a:xfrm>
          <a:prstGeom prst="rect">
            <a:avLst/>
          </a:prstGeom>
          <a:solidFill>
            <a:srgbClr val="FBEBEA"/>
          </a:solidFill>
          <a:ln/>
        </p:spPr>
      </p:sp>
      <p:sp>
        <p:nvSpPr>
          <p:cNvPr id="212" name="Text 210"/>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Six stores hold $647K a month, led by Cadillac at $158K. 6 stores at or above 85% still leave $537K a month.</a:t>
            </a:r>
            <a:endParaRPr lang="en-US" sz="1450" dirty="0"/>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9242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788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94283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7292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4" name="Shape 12"/>
          <p:cNvSpPr/>
          <p:nvPr/>
        </p:nvSpPr>
        <p:spPr>
          <a:xfrm>
            <a:off x="2871216" y="1756697"/>
            <a:ext cx="466344" cy="136676"/>
          </a:xfrm>
          <a:prstGeom prst="rect">
            <a:avLst/>
          </a:prstGeom>
          <a:solidFill>
            <a:srgbClr val="C2352F"/>
          </a:solidFill>
          <a:ln/>
        </p:spPr>
      </p:sp>
      <p:sp>
        <p:nvSpPr>
          <p:cNvPr id="15" name="Text 13"/>
          <p:cNvSpPr txBox="1"/>
          <p:nvPr/>
        </p:nvSpPr>
        <p:spPr>
          <a:xfrm>
            <a:off x="339242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31.9%</a:t>
            </a:r>
            <a:endParaRPr lang="en-US" sz="1300" dirty="0"/>
          </a:p>
        </p:txBody>
      </p:sp>
      <p:sp>
        <p:nvSpPr>
          <p:cNvPr id="16" name="Text 14"/>
          <p:cNvSpPr txBox="1"/>
          <p:nvPr/>
        </p:nvSpPr>
        <p:spPr>
          <a:xfrm>
            <a:off x="41788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7" name="Text 15"/>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0" name="Shape 18"/>
          <p:cNvSpPr/>
          <p:nvPr/>
        </p:nvSpPr>
        <p:spPr>
          <a:xfrm>
            <a:off x="2871216" y="2005199"/>
            <a:ext cx="435113" cy="136676"/>
          </a:xfrm>
          <a:prstGeom prst="rect">
            <a:avLst/>
          </a:prstGeom>
          <a:solidFill>
            <a:srgbClr val="C2352F"/>
          </a:solidFill>
          <a:ln/>
        </p:spPr>
      </p:sp>
      <p:sp>
        <p:nvSpPr>
          <p:cNvPr id="21" name="Text 19"/>
          <p:cNvSpPr txBox="1"/>
          <p:nvPr/>
        </p:nvSpPr>
        <p:spPr>
          <a:xfrm>
            <a:off x="339242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29.7%</a:t>
            </a:r>
            <a:endParaRPr lang="en-US" sz="1300" dirty="0"/>
          </a:p>
        </p:txBody>
      </p:sp>
      <p:sp>
        <p:nvSpPr>
          <p:cNvPr id="22" name="Text 20"/>
          <p:cNvSpPr txBox="1"/>
          <p:nvPr/>
        </p:nvSpPr>
        <p:spPr>
          <a:xfrm>
            <a:off x="41788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3" name="Text 21"/>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6" name="Shape 24"/>
          <p:cNvSpPr/>
          <p:nvPr/>
        </p:nvSpPr>
        <p:spPr>
          <a:xfrm>
            <a:off x="2871216" y="2253700"/>
            <a:ext cx="371948" cy="136676"/>
          </a:xfrm>
          <a:prstGeom prst="rect">
            <a:avLst/>
          </a:prstGeom>
          <a:solidFill>
            <a:srgbClr val="C2352F"/>
          </a:solidFill>
          <a:ln/>
        </p:spPr>
      </p:sp>
      <p:sp>
        <p:nvSpPr>
          <p:cNvPr id="27" name="Text 25"/>
          <p:cNvSpPr txBox="1"/>
          <p:nvPr/>
        </p:nvSpPr>
        <p:spPr>
          <a:xfrm>
            <a:off x="339242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25.4%</a:t>
            </a:r>
            <a:endParaRPr lang="en-US" sz="1300" dirty="0"/>
          </a:p>
        </p:txBody>
      </p:sp>
      <p:sp>
        <p:nvSpPr>
          <p:cNvPr id="28" name="Text 26"/>
          <p:cNvSpPr txBox="1"/>
          <p:nvPr/>
        </p:nvSpPr>
        <p:spPr>
          <a:xfrm>
            <a:off x="41788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9" name="Text 27"/>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59385" cy="136676"/>
          </a:xfrm>
          <a:prstGeom prst="rect">
            <a:avLst/>
          </a:prstGeom>
          <a:solidFill>
            <a:srgbClr val="C2352F"/>
          </a:solidFill>
          <a:ln/>
        </p:spPr>
      </p:sp>
      <p:sp>
        <p:nvSpPr>
          <p:cNvPr id="33" name="Text 31"/>
          <p:cNvSpPr txBox="1"/>
          <p:nvPr/>
        </p:nvSpPr>
        <p:spPr>
          <a:xfrm>
            <a:off x="339242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24.6%</a:t>
            </a:r>
            <a:endParaRPr lang="en-US" sz="1300" dirty="0"/>
          </a:p>
        </p:txBody>
      </p:sp>
      <p:sp>
        <p:nvSpPr>
          <p:cNvPr id="34" name="Text 32"/>
          <p:cNvSpPr txBox="1"/>
          <p:nvPr/>
        </p:nvSpPr>
        <p:spPr>
          <a:xfrm>
            <a:off x="41788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5" name="Text 33"/>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8" name="Shape 36"/>
          <p:cNvSpPr/>
          <p:nvPr/>
        </p:nvSpPr>
        <p:spPr>
          <a:xfrm>
            <a:off x="2871216" y="2750703"/>
            <a:ext cx="339754" cy="136676"/>
          </a:xfrm>
          <a:prstGeom prst="rect">
            <a:avLst/>
          </a:prstGeom>
          <a:solidFill>
            <a:srgbClr val="C2352F"/>
          </a:solidFill>
          <a:ln/>
        </p:spPr>
      </p:sp>
      <p:sp>
        <p:nvSpPr>
          <p:cNvPr id="39" name="Text 37"/>
          <p:cNvSpPr txBox="1"/>
          <p:nvPr/>
        </p:nvSpPr>
        <p:spPr>
          <a:xfrm>
            <a:off x="339242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23.2%</a:t>
            </a:r>
            <a:endParaRPr lang="en-US" sz="1300" dirty="0"/>
          </a:p>
        </p:txBody>
      </p:sp>
      <p:sp>
        <p:nvSpPr>
          <p:cNvPr id="40" name="Text 38"/>
          <p:cNvSpPr txBox="1"/>
          <p:nvPr/>
        </p:nvSpPr>
        <p:spPr>
          <a:xfrm>
            <a:off x="41788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41" name="Text 39"/>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4" name="Shape 42"/>
          <p:cNvSpPr/>
          <p:nvPr/>
        </p:nvSpPr>
        <p:spPr>
          <a:xfrm>
            <a:off x="2871216" y="2999205"/>
            <a:ext cx="292285" cy="136676"/>
          </a:xfrm>
          <a:prstGeom prst="rect">
            <a:avLst/>
          </a:prstGeom>
          <a:solidFill>
            <a:srgbClr val="C2352F"/>
          </a:solidFill>
          <a:ln/>
        </p:spPr>
      </p:sp>
      <p:sp>
        <p:nvSpPr>
          <p:cNvPr id="45" name="Text 43"/>
          <p:cNvSpPr txBox="1"/>
          <p:nvPr/>
        </p:nvSpPr>
        <p:spPr>
          <a:xfrm>
            <a:off x="339242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a:t>
            </a:r>
            <a:endParaRPr lang="en-US" sz="1300" dirty="0"/>
          </a:p>
        </p:txBody>
      </p:sp>
      <p:sp>
        <p:nvSpPr>
          <p:cNvPr id="46" name="Text 44"/>
          <p:cNvSpPr txBox="1"/>
          <p:nvPr/>
        </p:nvSpPr>
        <p:spPr>
          <a:xfrm>
            <a:off x="41788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7" name="Text 45"/>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0" name="Shape 48"/>
          <p:cNvSpPr/>
          <p:nvPr/>
        </p:nvSpPr>
        <p:spPr>
          <a:xfrm>
            <a:off x="2871216" y="3247707"/>
            <a:ext cx="286413" cy="136676"/>
          </a:xfrm>
          <a:prstGeom prst="rect">
            <a:avLst/>
          </a:prstGeom>
          <a:solidFill>
            <a:srgbClr val="C2352F"/>
          </a:solidFill>
          <a:ln/>
        </p:spPr>
      </p:sp>
      <p:sp>
        <p:nvSpPr>
          <p:cNvPr id="51" name="Text 49"/>
          <p:cNvSpPr txBox="1"/>
          <p:nvPr/>
        </p:nvSpPr>
        <p:spPr>
          <a:xfrm>
            <a:off x="339242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19.6%</a:t>
            </a:r>
            <a:endParaRPr lang="en-US" sz="1300" dirty="0"/>
          </a:p>
        </p:txBody>
      </p:sp>
      <p:sp>
        <p:nvSpPr>
          <p:cNvPr id="52" name="Text 50"/>
          <p:cNvSpPr txBox="1"/>
          <p:nvPr/>
        </p:nvSpPr>
        <p:spPr>
          <a:xfrm>
            <a:off x="41788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53" name="Text 51"/>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6" name="Shape 54"/>
          <p:cNvSpPr/>
          <p:nvPr/>
        </p:nvSpPr>
        <p:spPr>
          <a:xfrm>
            <a:off x="2871216" y="3496208"/>
            <a:ext cx="277524" cy="136676"/>
          </a:xfrm>
          <a:prstGeom prst="rect">
            <a:avLst/>
          </a:prstGeom>
          <a:solidFill>
            <a:srgbClr val="C2352F"/>
          </a:solidFill>
          <a:ln/>
        </p:spPr>
      </p:sp>
      <p:sp>
        <p:nvSpPr>
          <p:cNvPr id="57" name="Text 55"/>
          <p:cNvSpPr txBox="1"/>
          <p:nvPr/>
        </p:nvSpPr>
        <p:spPr>
          <a:xfrm>
            <a:off x="339242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a:t>
            </a:r>
            <a:endParaRPr lang="en-US" sz="1300" dirty="0"/>
          </a:p>
        </p:txBody>
      </p:sp>
      <p:sp>
        <p:nvSpPr>
          <p:cNvPr id="58" name="Text 56"/>
          <p:cNvSpPr txBox="1"/>
          <p:nvPr/>
        </p:nvSpPr>
        <p:spPr>
          <a:xfrm>
            <a:off x="41788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9" name="Text 57"/>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2" name="Shape 60"/>
          <p:cNvSpPr/>
          <p:nvPr/>
        </p:nvSpPr>
        <p:spPr>
          <a:xfrm>
            <a:off x="2871216" y="3744710"/>
            <a:ext cx="270873" cy="136676"/>
          </a:xfrm>
          <a:prstGeom prst="rect">
            <a:avLst/>
          </a:prstGeom>
          <a:solidFill>
            <a:srgbClr val="C2352F"/>
          </a:solidFill>
          <a:ln/>
        </p:spPr>
      </p:sp>
      <p:sp>
        <p:nvSpPr>
          <p:cNvPr id="63" name="Text 61"/>
          <p:cNvSpPr txBox="1"/>
          <p:nvPr/>
        </p:nvSpPr>
        <p:spPr>
          <a:xfrm>
            <a:off x="339242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a:t>
            </a:r>
            <a:endParaRPr lang="en-US" sz="1300" dirty="0"/>
          </a:p>
        </p:txBody>
      </p:sp>
      <p:sp>
        <p:nvSpPr>
          <p:cNvPr id="64" name="Text 62"/>
          <p:cNvSpPr txBox="1"/>
          <p:nvPr/>
        </p:nvSpPr>
        <p:spPr>
          <a:xfrm>
            <a:off x="41788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65" name="Text 63"/>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8" name="Shape 66"/>
          <p:cNvSpPr/>
          <p:nvPr/>
        </p:nvSpPr>
        <p:spPr>
          <a:xfrm>
            <a:off x="2871216" y="3993212"/>
            <a:ext cx="217136" cy="136676"/>
          </a:xfrm>
          <a:prstGeom prst="rect">
            <a:avLst/>
          </a:prstGeom>
          <a:solidFill>
            <a:srgbClr val="C2352F"/>
          </a:solidFill>
          <a:ln/>
        </p:spPr>
      </p:sp>
      <p:sp>
        <p:nvSpPr>
          <p:cNvPr id="69" name="Text 67"/>
          <p:cNvSpPr txBox="1"/>
          <p:nvPr/>
        </p:nvSpPr>
        <p:spPr>
          <a:xfrm>
            <a:off x="339242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14.8%</a:t>
            </a:r>
            <a:endParaRPr lang="en-US" sz="1300" dirty="0"/>
          </a:p>
        </p:txBody>
      </p:sp>
      <p:sp>
        <p:nvSpPr>
          <p:cNvPr id="70" name="Text 68"/>
          <p:cNvSpPr txBox="1"/>
          <p:nvPr/>
        </p:nvSpPr>
        <p:spPr>
          <a:xfrm>
            <a:off x="41788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71" name="Text 69"/>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4" name="Shape 72"/>
          <p:cNvSpPr/>
          <p:nvPr/>
        </p:nvSpPr>
        <p:spPr>
          <a:xfrm>
            <a:off x="2871216" y="4241713"/>
            <a:ext cx="210283" cy="136676"/>
          </a:xfrm>
          <a:prstGeom prst="rect">
            <a:avLst/>
          </a:prstGeom>
          <a:solidFill>
            <a:srgbClr val="C2352F"/>
          </a:solidFill>
          <a:ln/>
        </p:spPr>
      </p:sp>
      <p:sp>
        <p:nvSpPr>
          <p:cNvPr id="75" name="Text 73"/>
          <p:cNvSpPr txBox="1"/>
          <p:nvPr/>
        </p:nvSpPr>
        <p:spPr>
          <a:xfrm>
            <a:off x="339242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14.4%</a:t>
            </a:r>
            <a:endParaRPr lang="en-US" sz="1300" dirty="0"/>
          </a:p>
        </p:txBody>
      </p:sp>
      <p:sp>
        <p:nvSpPr>
          <p:cNvPr id="76" name="Text 74"/>
          <p:cNvSpPr txBox="1"/>
          <p:nvPr/>
        </p:nvSpPr>
        <p:spPr>
          <a:xfrm>
            <a:off x="41788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77" name="Text 75"/>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0" name="Shape 78"/>
          <p:cNvSpPr/>
          <p:nvPr/>
        </p:nvSpPr>
        <p:spPr>
          <a:xfrm>
            <a:off x="2871216" y="4490215"/>
            <a:ext cx="199373" cy="136676"/>
          </a:xfrm>
          <a:prstGeom prst="rect">
            <a:avLst/>
          </a:prstGeom>
          <a:solidFill>
            <a:srgbClr val="C2352F"/>
          </a:solidFill>
          <a:ln/>
        </p:spPr>
      </p:sp>
      <p:sp>
        <p:nvSpPr>
          <p:cNvPr id="81" name="Text 79"/>
          <p:cNvSpPr txBox="1"/>
          <p:nvPr/>
        </p:nvSpPr>
        <p:spPr>
          <a:xfrm>
            <a:off x="339242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13.6%</a:t>
            </a:r>
            <a:endParaRPr lang="en-US" sz="1300" dirty="0"/>
          </a:p>
        </p:txBody>
      </p:sp>
      <p:sp>
        <p:nvSpPr>
          <p:cNvPr id="82" name="Text 80"/>
          <p:cNvSpPr txBox="1"/>
          <p:nvPr/>
        </p:nvSpPr>
        <p:spPr>
          <a:xfrm>
            <a:off x="41788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83" name="Text 81"/>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6" name="Shape 84"/>
          <p:cNvSpPr/>
          <p:nvPr/>
        </p:nvSpPr>
        <p:spPr>
          <a:xfrm>
            <a:off x="2871216" y="4738717"/>
            <a:ext cx="197385" cy="136676"/>
          </a:xfrm>
          <a:prstGeom prst="rect">
            <a:avLst/>
          </a:prstGeom>
          <a:solidFill>
            <a:srgbClr val="C2352F"/>
          </a:solidFill>
          <a:ln/>
        </p:spPr>
      </p:sp>
      <p:sp>
        <p:nvSpPr>
          <p:cNvPr id="87" name="Text 85"/>
          <p:cNvSpPr txBox="1"/>
          <p:nvPr/>
        </p:nvSpPr>
        <p:spPr>
          <a:xfrm>
            <a:off x="339242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a:t>
            </a:r>
            <a:endParaRPr lang="en-US" sz="1300" dirty="0"/>
          </a:p>
        </p:txBody>
      </p:sp>
      <p:sp>
        <p:nvSpPr>
          <p:cNvPr id="88" name="Text 86"/>
          <p:cNvSpPr txBox="1"/>
          <p:nvPr/>
        </p:nvSpPr>
        <p:spPr>
          <a:xfrm>
            <a:off x="41788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89" name="Text 87"/>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2" name="Shape 90"/>
          <p:cNvSpPr/>
          <p:nvPr/>
        </p:nvSpPr>
        <p:spPr>
          <a:xfrm>
            <a:off x="2871216" y="4987218"/>
            <a:ext cx="169024" cy="136676"/>
          </a:xfrm>
          <a:prstGeom prst="rect">
            <a:avLst/>
          </a:prstGeom>
          <a:solidFill>
            <a:srgbClr val="C2352F"/>
          </a:solidFill>
          <a:ln/>
        </p:spPr>
      </p:sp>
      <p:sp>
        <p:nvSpPr>
          <p:cNvPr id="93" name="Text 91"/>
          <p:cNvSpPr txBox="1"/>
          <p:nvPr/>
        </p:nvSpPr>
        <p:spPr>
          <a:xfrm>
            <a:off x="339242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11.6%</a:t>
            </a:r>
            <a:endParaRPr lang="en-US" sz="1300" dirty="0"/>
          </a:p>
        </p:txBody>
      </p:sp>
      <p:sp>
        <p:nvSpPr>
          <p:cNvPr id="94" name="Text 92"/>
          <p:cNvSpPr txBox="1"/>
          <p:nvPr/>
        </p:nvSpPr>
        <p:spPr>
          <a:xfrm>
            <a:off x="41788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95" name="Text 93"/>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8" name="Shape 96"/>
          <p:cNvSpPr/>
          <p:nvPr/>
        </p:nvSpPr>
        <p:spPr>
          <a:xfrm>
            <a:off x="2871216" y="5235720"/>
            <a:ext cx="131586" cy="136676"/>
          </a:xfrm>
          <a:prstGeom prst="rect">
            <a:avLst/>
          </a:prstGeom>
          <a:solidFill>
            <a:srgbClr val="C2352F"/>
          </a:solidFill>
          <a:ln/>
        </p:spPr>
      </p:sp>
      <p:sp>
        <p:nvSpPr>
          <p:cNvPr id="99" name="Text 97"/>
          <p:cNvSpPr txBox="1"/>
          <p:nvPr/>
        </p:nvSpPr>
        <p:spPr>
          <a:xfrm>
            <a:off x="339242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a:t>
            </a:r>
            <a:endParaRPr lang="en-US" sz="1300" dirty="0"/>
          </a:p>
        </p:txBody>
      </p:sp>
      <p:sp>
        <p:nvSpPr>
          <p:cNvPr id="100" name="Text 98"/>
          <p:cNvSpPr txBox="1"/>
          <p:nvPr/>
        </p:nvSpPr>
        <p:spPr>
          <a:xfrm>
            <a:off x="41788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101" name="Text 99"/>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4" name="Shape 102"/>
          <p:cNvSpPr/>
          <p:nvPr/>
        </p:nvSpPr>
        <p:spPr>
          <a:xfrm>
            <a:off x="2871216" y="5484222"/>
            <a:ext cx="120839" cy="136676"/>
          </a:xfrm>
          <a:prstGeom prst="rect">
            <a:avLst/>
          </a:prstGeom>
          <a:solidFill>
            <a:srgbClr val="C2352F"/>
          </a:solidFill>
          <a:ln/>
        </p:spPr>
      </p:sp>
      <p:sp>
        <p:nvSpPr>
          <p:cNvPr id="105" name="Text 103"/>
          <p:cNvSpPr txBox="1"/>
          <p:nvPr/>
        </p:nvSpPr>
        <p:spPr>
          <a:xfrm>
            <a:off x="339242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a:t>
            </a:r>
            <a:endParaRPr lang="en-US" sz="1300" dirty="0"/>
          </a:p>
        </p:txBody>
      </p:sp>
      <p:sp>
        <p:nvSpPr>
          <p:cNvPr id="106" name="Text 104"/>
          <p:cNvSpPr txBox="1"/>
          <p:nvPr/>
        </p:nvSpPr>
        <p:spPr>
          <a:xfrm>
            <a:off x="41788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107" name="Text 105"/>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0" name="Shape 108"/>
          <p:cNvSpPr/>
          <p:nvPr/>
        </p:nvSpPr>
        <p:spPr>
          <a:xfrm>
            <a:off x="2871216" y="5732723"/>
            <a:ext cx="116857" cy="136676"/>
          </a:xfrm>
          <a:prstGeom prst="rect">
            <a:avLst/>
          </a:prstGeom>
          <a:solidFill>
            <a:srgbClr val="C2352F"/>
          </a:solidFill>
          <a:ln/>
        </p:spPr>
      </p:sp>
      <p:sp>
        <p:nvSpPr>
          <p:cNvPr id="111" name="Text 109"/>
          <p:cNvSpPr txBox="1"/>
          <p:nvPr/>
        </p:nvSpPr>
        <p:spPr>
          <a:xfrm>
            <a:off x="339242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112" name="Text 110"/>
          <p:cNvSpPr txBox="1"/>
          <p:nvPr/>
        </p:nvSpPr>
        <p:spPr>
          <a:xfrm>
            <a:off x="41788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113" name="Text 111"/>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6" name="Shape 114"/>
          <p:cNvSpPr/>
          <p:nvPr/>
        </p:nvSpPr>
        <p:spPr>
          <a:xfrm>
            <a:off x="8421624" y="1756697"/>
            <a:ext cx="116484" cy="136676"/>
          </a:xfrm>
          <a:prstGeom prst="rect">
            <a:avLst/>
          </a:prstGeom>
          <a:solidFill>
            <a:srgbClr val="C2352F"/>
          </a:solidFill>
          <a:ln/>
        </p:spPr>
      </p:sp>
      <p:sp>
        <p:nvSpPr>
          <p:cNvPr id="117" name="Text 115"/>
          <p:cNvSpPr txBox="1"/>
          <p:nvPr/>
        </p:nvSpPr>
        <p:spPr>
          <a:xfrm>
            <a:off x="894283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118" name="Text 116"/>
          <p:cNvSpPr txBox="1"/>
          <p:nvPr/>
        </p:nvSpPr>
        <p:spPr>
          <a:xfrm>
            <a:off x="97292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19" name="Text 117"/>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2" name="Shape 120"/>
          <p:cNvSpPr/>
          <p:nvPr/>
        </p:nvSpPr>
        <p:spPr>
          <a:xfrm>
            <a:off x="8421624" y="2005199"/>
            <a:ext cx="115541" cy="136676"/>
          </a:xfrm>
          <a:prstGeom prst="rect">
            <a:avLst/>
          </a:prstGeom>
          <a:solidFill>
            <a:srgbClr val="C2352F"/>
          </a:solidFill>
          <a:ln/>
        </p:spPr>
      </p:sp>
      <p:sp>
        <p:nvSpPr>
          <p:cNvPr id="123" name="Text 121"/>
          <p:cNvSpPr txBox="1"/>
          <p:nvPr/>
        </p:nvSpPr>
        <p:spPr>
          <a:xfrm>
            <a:off x="894283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endParaRPr lang="en-US" sz="1300" dirty="0"/>
          </a:p>
        </p:txBody>
      </p:sp>
      <p:sp>
        <p:nvSpPr>
          <p:cNvPr id="124" name="Text 122"/>
          <p:cNvSpPr txBox="1"/>
          <p:nvPr/>
        </p:nvSpPr>
        <p:spPr>
          <a:xfrm>
            <a:off x="97292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25" name="Text 123"/>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421624" y="2253700"/>
            <a:ext cx="111161" cy="136676"/>
          </a:xfrm>
          <a:prstGeom prst="rect">
            <a:avLst/>
          </a:prstGeom>
          <a:solidFill>
            <a:srgbClr val="C2352F"/>
          </a:solidFill>
          <a:ln/>
        </p:spPr>
      </p:sp>
      <p:sp>
        <p:nvSpPr>
          <p:cNvPr id="129" name="Text 127"/>
          <p:cNvSpPr txBox="1"/>
          <p:nvPr/>
        </p:nvSpPr>
        <p:spPr>
          <a:xfrm>
            <a:off x="894283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a:t>
            </a:r>
            <a:endParaRPr lang="en-US" sz="1300" dirty="0"/>
          </a:p>
        </p:txBody>
      </p:sp>
      <p:sp>
        <p:nvSpPr>
          <p:cNvPr id="130" name="Text 128"/>
          <p:cNvSpPr txBox="1"/>
          <p:nvPr/>
        </p:nvSpPr>
        <p:spPr>
          <a:xfrm>
            <a:off x="97292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31" name="Text 129"/>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4754" cy="136676"/>
          </a:xfrm>
          <a:prstGeom prst="rect">
            <a:avLst/>
          </a:prstGeom>
          <a:solidFill>
            <a:srgbClr val="C2352F"/>
          </a:solidFill>
          <a:ln/>
        </p:spPr>
      </p:sp>
      <p:sp>
        <p:nvSpPr>
          <p:cNvPr id="135" name="Text 133"/>
          <p:cNvSpPr txBox="1"/>
          <p:nvPr/>
        </p:nvSpPr>
        <p:spPr>
          <a:xfrm>
            <a:off x="894283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a:t>
            </a:r>
            <a:endParaRPr lang="en-US" sz="1300" dirty="0"/>
          </a:p>
        </p:txBody>
      </p:sp>
      <p:sp>
        <p:nvSpPr>
          <p:cNvPr id="136" name="Text 134"/>
          <p:cNvSpPr txBox="1"/>
          <p:nvPr/>
        </p:nvSpPr>
        <p:spPr>
          <a:xfrm>
            <a:off x="97292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37" name="Text 135"/>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421624" y="2750703"/>
            <a:ext cx="75701" cy="136676"/>
          </a:xfrm>
          <a:prstGeom prst="rect">
            <a:avLst/>
          </a:prstGeom>
          <a:solidFill>
            <a:srgbClr val="C2352F"/>
          </a:solidFill>
          <a:ln/>
        </p:spPr>
      </p:sp>
      <p:sp>
        <p:nvSpPr>
          <p:cNvPr id="141" name="Text 139"/>
          <p:cNvSpPr txBox="1"/>
          <p:nvPr/>
        </p:nvSpPr>
        <p:spPr>
          <a:xfrm>
            <a:off x="894283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a:t>
            </a:r>
            <a:endParaRPr lang="en-US" sz="1300" dirty="0"/>
          </a:p>
        </p:txBody>
      </p:sp>
      <p:sp>
        <p:nvSpPr>
          <p:cNvPr id="142" name="Text 140"/>
          <p:cNvSpPr txBox="1"/>
          <p:nvPr/>
        </p:nvSpPr>
        <p:spPr>
          <a:xfrm>
            <a:off x="97292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43" name="Text 141"/>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6" name="Shape 144"/>
          <p:cNvSpPr/>
          <p:nvPr/>
        </p:nvSpPr>
        <p:spPr>
          <a:xfrm>
            <a:off x="8421624" y="2999205"/>
            <a:ext cx="69750" cy="136676"/>
          </a:xfrm>
          <a:prstGeom prst="rect">
            <a:avLst/>
          </a:prstGeom>
          <a:solidFill>
            <a:srgbClr val="C2352F"/>
          </a:solidFill>
          <a:ln/>
        </p:spPr>
      </p:sp>
      <p:sp>
        <p:nvSpPr>
          <p:cNvPr id="147" name="Text 145"/>
          <p:cNvSpPr txBox="1"/>
          <p:nvPr/>
        </p:nvSpPr>
        <p:spPr>
          <a:xfrm>
            <a:off x="894283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a:t>
            </a:r>
            <a:endParaRPr lang="en-US" sz="1300" dirty="0"/>
          </a:p>
        </p:txBody>
      </p:sp>
      <p:sp>
        <p:nvSpPr>
          <p:cNvPr id="148" name="Text 146"/>
          <p:cNvSpPr txBox="1"/>
          <p:nvPr/>
        </p:nvSpPr>
        <p:spPr>
          <a:xfrm>
            <a:off x="97292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49" name="Text 147"/>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2" name="Shape 150"/>
          <p:cNvSpPr/>
          <p:nvPr/>
        </p:nvSpPr>
        <p:spPr>
          <a:xfrm>
            <a:off x="8421624" y="3247707"/>
            <a:ext cx="61333" cy="136676"/>
          </a:xfrm>
          <a:prstGeom prst="rect">
            <a:avLst/>
          </a:prstGeom>
          <a:solidFill>
            <a:srgbClr val="C2352F"/>
          </a:solidFill>
          <a:ln/>
        </p:spPr>
      </p:sp>
      <p:sp>
        <p:nvSpPr>
          <p:cNvPr id="153" name="Text 151"/>
          <p:cNvSpPr txBox="1"/>
          <p:nvPr/>
        </p:nvSpPr>
        <p:spPr>
          <a:xfrm>
            <a:off x="894283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a:t>
            </a:r>
            <a:endParaRPr lang="en-US" sz="1300" dirty="0"/>
          </a:p>
        </p:txBody>
      </p:sp>
      <p:sp>
        <p:nvSpPr>
          <p:cNvPr id="154" name="Text 152"/>
          <p:cNvSpPr txBox="1"/>
          <p:nvPr/>
        </p:nvSpPr>
        <p:spPr>
          <a:xfrm>
            <a:off x="97292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55" name="Text 153"/>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8" name="Shape 156"/>
          <p:cNvSpPr/>
          <p:nvPr/>
        </p:nvSpPr>
        <p:spPr>
          <a:xfrm>
            <a:off x="8421624" y="3496208"/>
            <a:ext cx="59486" cy="136676"/>
          </a:xfrm>
          <a:prstGeom prst="rect">
            <a:avLst/>
          </a:prstGeom>
          <a:solidFill>
            <a:srgbClr val="C2352F"/>
          </a:solidFill>
          <a:ln/>
        </p:spPr>
      </p:sp>
      <p:sp>
        <p:nvSpPr>
          <p:cNvPr id="159" name="Text 157"/>
          <p:cNvSpPr txBox="1"/>
          <p:nvPr/>
        </p:nvSpPr>
        <p:spPr>
          <a:xfrm>
            <a:off x="894283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a:t>
            </a:r>
            <a:endParaRPr lang="en-US" sz="1300" dirty="0"/>
          </a:p>
        </p:txBody>
      </p:sp>
      <p:sp>
        <p:nvSpPr>
          <p:cNvPr id="160" name="Text 158"/>
          <p:cNvSpPr txBox="1"/>
          <p:nvPr/>
        </p:nvSpPr>
        <p:spPr>
          <a:xfrm>
            <a:off x="97292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61" name="Text 159"/>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58291" cy="136676"/>
          </a:xfrm>
          <a:prstGeom prst="rect">
            <a:avLst/>
          </a:prstGeom>
          <a:solidFill>
            <a:srgbClr val="C2352F"/>
          </a:solidFill>
          <a:ln/>
        </p:spPr>
      </p:sp>
      <p:sp>
        <p:nvSpPr>
          <p:cNvPr id="165" name="Text 163"/>
          <p:cNvSpPr txBox="1"/>
          <p:nvPr/>
        </p:nvSpPr>
        <p:spPr>
          <a:xfrm>
            <a:off x="894283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a:t>
            </a:r>
            <a:endParaRPr lang="en-US" sz="1300" dirty="0"/>
          </a:p>
        </p:txBody>
      </p:sp>
      <p:sp>
        <p:nvSpPr>
          <p:cNvPr id="166" name="Text 164"/>
          <p:cNvSpPr txBox="1"/>
          <p:nvPr/>
        </p:nvSpPr>
        <p:spPr>
          <a:xfrm>
            <a:off x="97292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67" name="Text 165"/>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42032" cy="136676"/>
          </a:xfrm>
          <a:prstGeom prst="rect">
            <a:avLst/>
          </a:prstGeom>
          <a:solidFill>
            <a:srgbClr val="C2352F"/>
          </a:solidFill>
          <a:ln/>
        </p:spPr>
      </p:sp>
      <p:sp>
        <p:nvSpPr>
          <p:cNvPr id="171" name="Text 169"/>
          <p:cNvSpPr txBox="1"/>
          <p:nvPr/>
        </p:nvSpPr>
        <p:spPr>
          <a:xfrm>
            <a:off x="894283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a:t>
            </a:r>
            <a:endParaRPr lang="en-US" sz="1300" dirty="0"/>
          </a:p>
        </p:txBody>
      </p:sp>
      <p:sp>
        <p:nvSpPr>
          <p:cNvPr id="172" name="Text 170"/>
          <p:cNvSpPr txBox="1"/>
          <p:nvPr/>
        </p:nvSpPr>
        <p:spPr>
          <a:xfrm>
            <a:off x="97292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73" name="Text 171"/>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76" name="Shape 174"/>
          <p:cNvSpPr/>
          <p:nvPr/>
        </p:nvSpPr>
        <p:spPr>
          <a:xfrm>
            <a:off x="8421624" y="4241713"/>
            <a:ext cx="38916" cy="136676"/>
          </a:xfrm>
          <a:prstGeom prst="rect">
            <a:avLst/>
          </a:prstGeom>
          <a:solidFill>
            <a:srgbClr val="C2352F"/>
          </a:solidFill>
          <a:ln/>
        </p:spPr>
      </p:sp>
      <p:sp>
        <p:nvSpPr>
          <p:cNvPr id="177" name="Text 175"/>
          <p:cNvSpPr txBox="1"/>
          <p:nvPr/>
        </p:nvSpPr>
        <p:spPr>
          <a:xfrm>
            <a:off x="894283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a:t>
            </a:r>
            <a:endParaRPr lang="en-US" sz="1300" dirty="0"/>
          </a:p>
        </p:txBody>
      </p:sp>
      <p:sp>
        <p:nvSpPr>
          <p:cNvPr id="178" name="Text 176"/>
          <p:cNvSpPr txBox="1"/>
          <p:nvPr/>
        </p:nvSpPr>
        <p:spPr>
          <a:xfrm>
            <a:off x="97292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79" name="Text 177"/>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2" name="Shape 180"/>
          <p:cNvSpPr/>
          <p:nvPr/>
        </p:nvSpPr>
        <p:spPr>
          <a:xfrm>
            <a:off x="8421624" y="4490215"/>
            <a:ext cx="28242" cy="136676"/>
          </a:xfrm>
          <a:prstGeom prst="rect">
            <a:avLst/>
          </a:prstGeom>
          <a:solidFill>
            <a:srgbClr val="C2352F"/>
          </a:solidFill>
          <a:ln/>
        </p:spPr>
      </p:sp>
      <p:sp>
        <p:nvSpPr>
          <p:cNvPr id="183" name="Text 181"/>
          <p:cNvSpPr txBox="1"/>
          <p:nvPr/>
        </p:nvSpPr>
        <p:spPr>
          <a:xfrm>
            <a:off x="894283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84" name="Text 182"/>
          <p:cNvSpPr txBox="1"/>
          <p:nvPr/>
        </p:nvSpPr>
        <p:spPr>
          <a:xfrm>
            <a:off x="97292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85" name="Text 183"/>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27287" cy="136676"/>
          </a:xfrm>
          <a:prstGeom prst="rect">
            <a:avLst/>
          </a:prstGeom>
          <a:solidFill>
            <a:srgbClr val="C2352F"/>
          </a:solidFill>
          <a:ln/>
        </p:spPr>
      </p:sp>
      <p:sp>
        <p:nvSpPr>
          <p:cNvPr id="189" name="Text 187"/>
          <p:cNvSpPr txBox="1"/>
          <p:nvPr/>
        </p:nvSpPr>
        <p:spPr>
          <a:xfrm>
            <a:off x="894283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90" name="Text 188"/>
          <p:cNvSpPr txBox="1"/>
          <p:nvPr/>
        </p:nvSpPr>
        <p:spPr>
          <a:xfrm>
            <a:off x="97292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91" name="Text 189"/>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94" name="Shape 192"/>
          <p:cNvSpPr/>
          <p:nvPr/>
        </p:nvSpPr>
        <p:spPr>
          <a:xfrm>
            <a:off x="8421624" y="4987218"/>
            <a:ext cx="19910" cy="136676"/>
          </a:xfrm>
          <a:prstGeom prst="rect">
            <a:avLst/>
          </a:prstGeom>
          <a:solidFill>
            <a:srgbClr val="C2352F"/>
          </a:solidFill>
          <a:ln/>
        </p:spPr>
      </p:sp>
      <p:sp>
        <p:nvSpPr>
          <p:cNvPr id="195" name="Text 193"/>
          <p:cNvSpPr txBox="1"/>
          <p:nvPr/>
        </p:nvSpPr>
        <p:spPr>
          <a:xfrm>
            <a:off x="894283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196" name="Text 194"/>
          <p:cNvSpPr txBox="1"/>
          <p:nvPr/>
        </p:nvSpPr>
        <p:spPr>
          <a:xfrm>
            <a:off x="97292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97" name="Text 195"/>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00" name="Shape 198"/>
          <p:cNvSpPr/>
          <p:nvPr/>
        </p:nvSpPr>
        <p:spPr>
          <a:xfrm>
            <a:off x="8421624" y="5235720"/>
            <a:ext cx="18288" cy="136676"/>
          </a:xfrm>
          <a:prstGeom prst="rect">
            <a:avLst/>
          </a:prstGeom>
          <a:solidFill>
            <a:srgbClr val="C2352F"/>
          </a:solidFill>
          <a:ln/>
        </p:spPr>
      </p:sp>
      <p:sp>
        <p:nvSpPr>
          <p:cNvPr id="201" name="Text 199"/>
          <p:cNvSpPr txBox="1"/>
          <p:nvPr/>
        </p:nvSpPr>
        <p:spPr>
          <a:xfrm>
            <a:off x="894283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0.8%</a:t>
            </a:r>
            <a:endParaRPr lang="en-US" sz="1300" dirty="0"/>
          </a:p>
        </p:txBody>
      </p:sp>
      <p:sp>
        <p:nvSpPr>
          <p:cNvPr id="202" name="Text 200"/>
          <p:cNvSpPr txBox="1"/>
          <p:nvPr/>
        </p:nvSpPr>
        <p:spPr>
          <a:xfrm>
            <a:off x="97292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203" name="Text 201"/>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894283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a:t>
            </a:r>
            <a:endParaRPr lang="en-US" sz="1300" dirty="0"/>
          </a:p>
        </p:txBody>
      </p:sp>
      <p:sp>
        <p:nvSpPr>
          <p:cNvPr id="208" name="Text 206"/>
          <p:cNvSpPr txBox="1"/>
          <p:nvPr/>
        </p:nvSpPr>
        <p:spPr>
          <a:xfrm>
            <a:off x="97292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209" name="Text 207"/>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FBEBEA"/>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5 stores are missing a fifth or more, led by Hyundai St George at 32% ($88K of $277K a month).</a:t>
            </a:r>
            <a:endParaRPr lang="en-US" sz="1600" dirty="0"/>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4572000" cy="4645152"/>
          </a:xfrm>
          <a:prstGeom prst="rect">
            <a:avLst/>
          </a:prstGeom>
          <a:solidFill>
            <a:srgbClr val="FFFFFF"/>
          </a:solidFill>
          <a:ln/>
        </p:spPr>
      </p:sp>
      <p:sp>
        <p:nvSpPr>
          <p:cNvPr id="6" name="Shape 4"/>
          <p:cNvSpPr/>
          <p:nvPr/>
        </p:nvSpPr>
        <p:spPr>
          <a:xfrm>
            <a:off x="5166360" y="1207008"/>
            <a:ext cx="6565392" cy="4645152"/>
          </a:xfrm>
          <a:prstGeom prst="rect">
            <a:avLst/>
          </a:prstGeom>
          <a:solidFill>
            <a:srgbClr val="FFFFFF"/>
          </a:solidFill>
          <a:ln/>
        </p:spPr>
      </p:sp>
      <p:sp>
        <p:nvSpPr>
          <p:cNvPr id="7" name="Text 5"/>
          <p:cNvSpPr txBox="1"/>
          <p:nvPr/>
        </p:nvSpPr>
        <p:spPr>
          <a:xfrm>
            <a:off x="713232" y="14173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HOUR</a:t>
            </a:r>
            <a:endParaRPr lang="en-US" sz="1400" dirty="0"/>
          </a:p>
        </p:txBody>
      </p:sp>
      <p:sp>
        <p:nvSpPr>
          <p:cNvPr id="8" name="Text 6"/>
          <p:cNvSpPr txBox="1"/>
          <p:nvPr/>
        </p:nvSpPr>
        <p:spPr>
          <a:xfrm>
            <a:off x="713232" y="1737360"/>
            <a:ext cx="4114800" cy="822960"/>
          </a:xfrm>
          <a:prstGeom prst="rect">
            <a:avLst/>
          </a:prstGeom>
          <a:noFill/>
          <a:ln/>
        </p:spPr>
        <p:txBody>
          <a:bodyPr wrap="square" lIns="0" tIns="0" rIns="0" bIns="0" rtlCol="0" anchor="ctr"/>
          <a:lstStyle/>
          <a:p>
            <a:pPr indent="0" marL="0">
              <a:buNone/>
            </a:pPr>
            <a:r>
              <a:rPr lang="en-US" sz="5400" b="1" dirty="0">
                <a:solidFill>
                  <a:srgbClr val="0B2C4A"/>
                </a:solidFill>
                <a:latin typeface="Inter" pitchFamily="34" charset="0"/>
                <a:ea typeface="Inter" pitchFamily="34" charset="-122"/>
                <a:cs typeface="Inter" pitchFamily="34" charset="-120"/>
              </a:rPr>
              <a:t>$188</a:t>
            </a:r>
            <a:endParaRPr lang="en-US" sz="5400" dirty="0"/>
          </a:p>
        </p:txBody>
      </p:sp>
      <p:sp>
        <p:nvSpPr>
          <p:cNvPr id="9" name="Text 7"/>
          <p:cNvSpPr txBox="1"/>
          <p:nvPr/>
        </p:nvSpPr>
        <p:spPr>
          <a:xfrm>
            <a:off x="713232" y="2560320"/>
            <a:ext cx="4114800" cy="32918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in labor and parts gross, group average</a:t>
            </a:r>
            <a:endParaRPr lang="en-US" sz="1500" dirty="0"/>
          </a:p>
        </p:txBody>
      </p:sp>
      <p:sp>
        <p:nvSpPr>
          <p:cNvPr id="10" name="Shape 8"/>
          <p:cNvSpPr/>
          <p:nvPr/>
        </p:nvSpPr>
        <p:spPr>
          <a:xfrm>
            <a:off x="713232" y="3063240"/>
            <a:ext cx="4069080" cy="10973"/>
          </a:xfrm>
          <a:prstGeom prst="rect">
            <a:avLst/>
          </a:prstGeom>
          <a:solidFill>
            <a:srgbClr val="D9D9D9"/>
          </a:solidFill>
          <a:ln/>
        </p:spPr>
      </p:sp>
      <p:sp>
        <p:nvSpPr>
          <p:cNvPr id="11" name="Text 9"/>
          <p:cNvSpPr txBox="1"/>
          <p:nvPr/>
        </p:nvSpPr>
        <p:spPr>
          <a:xfrm>
            <a:off x="713232" y="32461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MINUTE</a:t>
            </a:r>
            <a:endParaRPr lang="en-US" sz="1400" dirty="0"/>
          </a:p>
        </p:txBody>
      </p:sp>
      <p:sp>
        <p:nvSpPr>
          <p:cNvPr id="12" name="Text 10"/>
          <p:cNvSpPr txBox="1"/>
          <p:nvPr/>
        </p:nvSpPr>
        <p:spPr>
          <a:xfrm>
            <a:off x="713232" y="3566160"/>
            <a:ext cx="4114800" cy="822960"/>
          </a:xfrm>
          <a:prstGeom prst="rect">
            <a:avLst/>
          </a:prstGeom>
          <a:noFill/>
          <a:ln/>
        </p:spPr>
        <p:txBody>
          <a:bodyPr wrap="square" lIns="0" tIns="0" rIns="0" bIns="0" rtlCol="0" anchor="ctr"/>
          <a:lstStyle/>
          <a:p>
            <a:pPr indent="0" marL="0">
              <a:buNone/>
            </a:pPr>
            <a:r>
              <a:rPr lang="en-US" sz="5400" b="1" dirty="0">
                <a:solidFill>
                  <a:srgbClr val="0B7A4A"/>
                </a:solidFill>
                <a:latin typeface="Inter" pitchFamily="34" charset="0"/>
                <a:ea typeface="Inter" pitchFamily="34" charset="-122"/>
                <a:cs typeface="Inter" pitchFamily="34" charset="-120"/>
              </a:rPr>
              <a:t>$3.13</a:t>
            </a:r>
            <a:endParaRPr lang="en-US" sz="5400" dirty="0"/>
          </a:p>
        </p:txBody>
      </p:sp>
      <p:sp>
        <p:nvSpPr>
          <p:cNvPr id="13" name="Text 11"/>
          <p:cNvSpPr txBox="1"/>
          <p:nvPr/>
        </p:nvSpPr>
        <p:spPr>
          <a:xfrm>
            <a:off x="713232" y="4389120"/>
            <a:ext cx="4114800" cy="64008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About $762 a year for each tech, one minute a day</a:t>
            </a:r>
            <a:endParaRPr lang="en-US" sz="1500" dirty="0"/>
          </a:p>
        </p:txBody>
      </p:sp>
      <p:sp>
        <p:nvSpPr>
          <p:cNvPr id="14" name="Text 12"/>
          <p:cNvSpPr txBox="1"/>
          <p:nvPr/>
        </p:nvSpPr>
        <p:spPr>
          <a:xfrm>
            <a:off x="5422392" y="1417320"/>
            <a:ext cx="612648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MINUTES SAVED PER TECH, EVERY DAY · 583 TECHNICIANS</a:t>
            </a:r>
            <a:endParaRPr lang="en-US" sz="14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422392" y="1828800"/>
          <a:ext cx="6053328" cy="914400"/>
        </p:xfrm>
        <a:graphic>
          <a:graphicData uri="http://schemas.openxmlformats.org/drawingml/2006/table">
            <a:tbl>
              <a:tblPr/>
              <a:tblGrid>
                <a:gridCol w="2212848"/>
                <a:gridCol w="1920240"/>
                <a:gridCol w="1920240"/>
              </a:tblGrid>
              <a:tr h="475488">
                <a:tc>
                  <a:txBody>
                    <a:bodyPr/>
                    <a:lstStyle/>
                    <a:p>
                      <a:pPr algn="l" indent="0" marL="0">
                        <a:buNone/>
                      </a:pPr>
                      <a:r>
                        <a:rPr lang="en-US" sz="2000" b="1" dirty="0">
                          <a:solidFill>
                            <a:srgbClr val="FFFFFF"/>
                          </a:solidFill>
                          <a:latin typeface="Inter" pitchFamily="34" charset="0"/>
                          <a:ea typeface="Inter" pitchFamily="34" charset="-122"/>
                          <a:cs typeface="Inter" pitchFamily="34" charset="-120"/>
                        </a:rPr>
                        <a:t>Minutes a day</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month</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year</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 minute</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$185K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$2.22M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10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$555K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$6.67M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6" name="Text 13"/>
          <p:cNvSpPr txBox="1"/>
          <p:nvPr/>
        </p:nvSpPr>
        <p:spPr>
          <a:xfrm>
            <a:off x="5422392" y="4434840"/>
            <a:ext cx="6053328" cy="123444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Where the minutes go: walking to the parts counter, waiting on dispatch or a customer approval, hunting for tools, chasing a key or a car.</a:t>
            </a:r>
            <a:endParaRPr lang="en-US" sz="1600" dirty="0"/>
          </a:p>
        </p:txBody>
      </p:sp>
      <p:sp>
        <p:nvSpPr>
          <p:cNvPr id="17" name="Shape 14"/>
          <p:cNvSpPr/>
          <p:nvPr/>
        </p:nvSpPr>
        <p:spPr>
          <a:xfrm>
            <a:off x="457200" y="6126480"/>
            <a:ext cx="11274552" cy="364236"/>
          </a:xfrm>
          <a:prstGeom prst="rect">
            <a:avLst/>
          </a:prstGeom>
          <a:solidFill>
            <a:srgbClr val="E6F6EE"/>
          </a:solidFill>
          <a:ln/>
        </p:spPr>
      </p:sp>
      <p:sp>
        <p:nvSpPr>
          <p:cNvPr id="18" name="Text 1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One minute a day for every tech is worth $37,032 a month, $444,380 a year. No new techs, no new bays.</a:t>
            </a:r>
            <a:endParaRPr lang="en-US" sz="1550" dirty="0"/>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813048" y="1316736"/>
            <a:ext cx="786384" cy="329184"/>
          </a:xfrm>
          <a:prstGeom prst="rect">
            <a:avLst/>
          </a:prstGeom>
          <a:noFill/>
          <a:ln/>
        </p:spPr>
        <p:txBody>
          <a:bodyPr wrap="square" lIns="0" tIns="0" rIns="0" bIns="0" rtlCol="0" anchor="ctr"/>
          <a:lstStyle/>
          <a:p>
            <a:pPr algn="r" indent="0" marL="0">
              <a:buNone/>
            </a:pPr>
            <a:endParaRPr lang="en-US" sz="1400" dirty="0"/>
          </a:p>
        </p:txBody>
      </p:sp>
      <p:sp>
        <p:nvSpPr>
          <p:cNvPr id="7" name="Text 5"/>
          <p:cNvSpPr txBox="1"/>
          <p:nvPr/>
        </p:nvSpPr>
        <p:spPr>
          <a:xfrm>
            <a:off x="4599432"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9" name="Text 7"/>
          <p:cNvSpPr txBox="1"/>
          <p:nvPr/>
        </p:nvSpPr>
        <p:spPr>
          <a:xfrm>
            <a:off x="9363456" y="1316736"/>
            <a:ext cx="786384" cy="329184"/>
          </a:xfrm>
          <a:prstGeom prst="rect">
            <a:avLst/>
          </a:prstGeom>
          <a:noFill/>
          <a:ln/>
        </p:spPr>
        <p:txBody>
          <a:bodyPr wrap="square" lIns="0" tIns="0" rIns="0" bIns="0" rtlCol="0" anchor="ctr"/>
          <a:lstStyle/>
          <a:p>
            <a:pPr algn="r" indent="0" marL="0">
              <a:buNone/>
            </a:pPr>
            <a:endParaRPr lang="en-US" sz="1400" dirty="0"/>
          </a:p>
        </p:txBody>
      </p:sp>
      <p:sp>
        <p:nvSpPr>
          <p:cNvPr id="10" name="Text 8"/>
          <p:cNvSpPr txBox="1"/>
          <p:nvPr/>
        </p:nvSpPr>
        <p:spPr>
          <a:xfrm>
            <a:off x="10149840"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2871216" y="1756697"/>
            <a:ext cx="886968" cy="136676"/>
          </a:xfrm>
          <a:prstGeom prst="rect">
            <a:avLst/>
          </a:prstGeom>
          <a:solidFill>
            <a:srgbClr val="2587C5"/>
          </a:solidFill>
          <a:ln/>
        </p:spPr>
      </p:sp>
      <p:sp>
        <p:nvSpPr>
          <p:cNvPr id="15" name="Text 13"/>
          <p:cNvSpPr txBox="1"/>
          <p:nvPr/>
        </p:nvSpPr>
        <p:spPr>
          <a:xfrm>
            <a:off x="3813048" y="170078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$43.3K</a:t>
            </a:r>
            <a:endParaRPr lang="en-US" sz="1300" dirty="0"/>
          </a:p>
        </p:txBody>
      </p:sp>
      <p:sp>
        <p:nvSpPr>
          <p:cNvPr id="16" name="Text 14"/>
          <p:cNvSpPr txBox="1"/>
          <p:nvPr/>
        </p:nvSpPr>
        <p:spPr>
          <a:xfrm>
            <a:off x="4599432"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7" name="Text 15"/>
          <p:cNvSpPr txBox="1"/>
          <p:nvPr/>
        </p:nvSpPr>
        <p:spPr>
          <a:xfrm>
            <a:off x="51663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 name="Shape 18"/>
          <p:cNvSpPr/>
          <p:nvPr/>
        </p:nvSpPr>
        <p:spPr>
          <a:xfrm>
            <a:off x="2871216" y="2005199"/>
            <a:ext cx="692398" cy="136676"/>
          </a:xfrm>
          <a:prstGeom prst="rect">
            <a:avLst/>
          </a:prstGeom>
          <a:solidFill>
            <a:srgbClr val="2587C5"/>
          </a:solidFill>
          <a:ln/>
        </p:spPr>
      </p:sp>
      <p:sp>
        <p:nvSpPr>
          <p:cNvPr id="21" name="Text 19"/>
          <p:cNvSpPr txBox="1"/>
          <p:nvPr/>
        </p:nvSpPr>
        <p:spPr>
          <a:xfrm>
            <a:off x="3813048" y="194928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$33.8K</a:t>
            </a:r>
            <a:endParaRPr lang="en-US" sz="1300" dirty="0"/>
          </a:p>
        </p:txBody>
      </p:sp>
      <p:sp>
        <p:nvSpPr>
          <p:cNvPr id="22" name="Text 20"/>
          <p:cNvSpPr txBox="1"/>
          <p:nvPr/>
        </p:nvSpPr>
        <p:spPr>
          <a:xfrm>
            <a:off x="4599432"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23" name="Text 21"/>
          <p:cNvSpPr txBox="1"/>
          <p:nvPr/>
        </p:nvSpPr>
        <p:spPr>
          <a:xfrm>
            <a:off x="51663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$2.71</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6" name="Shape 24"/>
          <p:cNvSpPr/>
          <p:nvPr/>
        </p:nvSpPr>
        <p:spPr>
          <a:xfrm>
            <a:off x="2871216" y="2253700"/>
            <a:ext cx="581679" cy="136676"/>
          </a:xfrm>
          <a:prstGeom prst="rect">
            <a:avLst/>
          </a:prstGeom>
          <a:solidFill>
            <a:srgbClr val="2587C5"/>
          </a:solidFill>
          <a:ln/>
        </p:spPr>
      </p:sp>
      <p:sp>
        <p:nvSpPr>
          <p:cNvPr id="27" name="Text 25"/>
          <p:cNvSpPr txBox="1"/>
          <p:nvPr/>
        </p:nvSpPr>
        <p:spPr>
          <a:xfrm>
            <a:off x="3813048" y="219778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$28.4K</a:t>
            </a:r>
            <a:endParaRPr lang="en-US" sz="1300" dirty="0"/>
          </a:p>
        </p:txBody>
      </p:sp>
      <p:sp>
        <p:nvSpPr>
          <p:cNvPr id="28" name="Text 26"/>
          <p:cNvSpPr txBox="1"/>
          <p:nvPr/>
        </p:nvSpPr>
        <p:spPr>
          <a:xfrm>
            <a:off x="4599432"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29" name="Text 27"/>
          <p:cNvSpPr txBox="1"/>
          <p:nvPr/>
        </p:nvSpPr>
        <p:spPr>
          <a:xfrm>
            <a:off x="51663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558837" cy="136676"/>
          </a:xfrm>
          <a:prstGeom prst="rect">
            <a:avLst/>
          </a:prstGeom>
          <a:solidFill>
            <a:srgbClr val="2587C5"/>
          </a:solidFill>
          <a:ln/>
        </p:spPr>
      </p:sp>
      <p:sp>
        <p:nvSpPr>
          <p:cNvPr id="33" name="Text 31"/>
          <p:cNvSpPr txBox="1"/>
          <p:nvPr/>
        </p:nvSpPr>
        <p:spPr>
          <a:xfrm>
            <a:off x="3813048" y="244628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$27.3K</a:t>
            </a:r>
            <a:endParaRPr lang="en-US" sz="1300" dirty="0"/>
          </a:p>
        </p:txBody>
      </p:sp>
      <p:sp>
        <p:nvSpPr>
          <p:cNvPr id="34" name="Text 32"/>
          <p:cNvSpPr txBox="1"/>
          <p:nvPr/>
        </p:nvSpPr>
        <p:spPr>
          <a:xfrm>
            <a:off x="4599432"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35" name="Text 33"/>
          <p:cNvSpPr txBox="1"/>
          <p:nvPr/>
        </p:nvSpPr>
        <p:spPr>
          <a:xfrm>
            <a:off x="51663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$4.69</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2871216" y="2750703"/>
            <a:ext cx="510915" cy="136676"/>
          </a:xfrm>
          <a:prstGeom prst="rect">
            <a:avLst/>
          </a:prstGeom>
          <a:solidFill>
            <a:srgbClr val="2587C5"/>
          </a:solidFill>
          <a:ln/>
        </p:spPr>
      </p:sp>
      <p:sp>
        <p:nvSpPr>
          <p:cNvPr id="39" name="Text 37"/>
          <p:cNvSpPr txBox="1"/>
          <p:nvPr/>
        </p:nvSpPr>
        <p:spPr>
          <a:xfrm>
            <a:off x="3813048" y="2694791"/>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$24.9K</a:t>
            </a:r>
            <a:endParaRPr lang="en-US" sz="1300" dirty="0"/>
          </a:p>
        </p:txBody>
      </p:sp>
      <p:sp>
        <p:nvSpPr>
          <p:cNvPr id="40" name="Text 38"/>
          <p:cNvSpPr txBox="1"/>
          <p:nvPr/>
        </p:nvSpPr>
        <p:spPr>
          <a:xfrm>
            <a:off x="4599432"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41" name="Text 39"/>
          <p:cNvSpPr txBox="1"/>
          <p:nvPr/>
        </p:nvSpPr>
        <p:spPr>
          <a:xfrm>
            <a:off x="51663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4" name="Shape 42"/>
          <p:cNvSpPr/>
          <p:nvPr/>
        </p:nvSpPr>
        <p:spPr>
          <a:xfrm>
            <a:off x="2871216" y="2999205"/>
            <a:ext cx="467039" cy="136676"/>
          </a:xfrm>
          <a:prstGeom prst="rect">
            <a:avLst/>
          </a:prstGeom>
          <a:solidFill>
            <a:srgbClr val="2587C5"/>
          </a:solidFill>
          <a:ln/>
        </p:spPr>
      </p:sp>
      <p:sp>
        <p:nvSpPr>
          <p:cNvPr id="45" name="Text 43"/>
          <p:cNvSpPr txBox="1"/>
          <p:nvPr/>
        </p:nvSpPr>
        <p:spPr>
          <a:xfrm>
            <a:off x="3813048" y="294329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$22.8K</a:t>
            </a:r>
            <a:endParaRPr lang="en-US" sz="1300" dirty="0"/>
          </a:p>
        </p:txBody>
      </p:sp>
      <p:sp>
        <p:nvSpPr>
          <p:cNvPr id="46" name="Text 44"/>
          <p:cNvSpPr txBox="1"/>
          <p:nvPr/>
        </p:nvSpPr>
        <p:spPr>
          <a:xfrm>
            <a:off x="4599432"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7" name="Text 45"/>
          <p:cNvSpPr txBox="1"/>
          <p:nvPr/>
        </p:nvSpPr>
        <p:spPr>
          <a:xfrm>
            <a:off x="51663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0" name="Shape 48"/>
          <p:cNvSpPr/>
          <p:nvPr/>
        </p:nvSpPr>
        <p:spPr>
          <a:xfrm>
            <a:off x="2871216" y="3247707"/>
            <a:ext cx="334545" cy="136676"/>
          </a:xfrm>
          <a:prstGeom prst="rect">
            <a:avLst/>
          </a:prstGeom>
          <a:solidFill>
            <a:srgbClr val="2587C5"/>
          </a:solidFill>
          <a:ln/>
        </p:spPr>
      </p:sp>
      <p:sp>
        <p:nvSpPr>
          <p:cNvPr id="51" name="Text 49"/>
          <p:cNvSpPr txBox="1"/>
          <p:nvPr/>
        </p:nvSpPr>
        <p:spPr>
          <a:xfrm>
            <a:off x="3813048" y="319179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$16.3K</a:t>
            </a:r>
            <a:endParaRPr lang="en-US" sz="1300" dirty="0"/>
          </a:p>
        </p:txBody>
      </p:sp>
      <p:sp>
        <p:nvSpPr>
          <p:cNvPr id="52" name="Text 50"/>
          <p:cNvSpPr txBox="1"/>
          <p:nvPr/>
        </p:nvSpPr>
        <p:spPr>
          <a:xfrm>
            <a:off x="4599432"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53" name="Text 51"/>
          <p:cNvSpPr txBox="1"/>
          <p:nvPr/>
        </p:nvSpPr>
        <p:spPr>
          <a:xfrm>
            <a:off x="51663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6" name="Shape 54"/>
          <p:cNvSpPr/>
          <p:nvPr/>
        </p:nvSpPr>
        <p:spPr>
          <a:xfrm>
            <a:off x="2871216" y="3496208"/>
            <a:ext cx="333005" cy="136676"/>
          </a:xfrm>
          <a:prstGeom prst="rect">
            <a:avLst/>
          </a:prstGeom>
          <a:solidFill>
            <a:srgbClr val="2587C5"/>
          </a:solidFill>
          <a:ln/>
        </p:spPr>
      </p:sp>
      <p:sp>
        <p:nvSpPr>
          <p:cNvPr id="57" name="Text 55"/>
          <p:cNvSpPr txBox="1"/>
          <p:nvPr/>
        </p:nvSpPr>
        <p:spPr>
          <a:xfrm>
            <a:off x="3813048" y="344029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$16.2K</a:t>
            </a:r>
            <a:endParaRPr lang="en-US" sz="1300" dirty="0"/>
          </a:p>
        </p:txBody>
      </p:sp>
      <p:sp>
        <p:nvSpPr>
          <p:cNvPr id="58" name="Text 56"/>
          <p:cNvSpPr txBox="1"/>
          <p:nvPr/>
        </p:nvSpPr>
        <p:spPr>
          <a:xfrm>
            <a:off x="4599432"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9" name="Text 57"/>
          <p:cNvSpPr txBox="1"/>
          <p:nvPr/>
        </p:nvSpPr>
        <p:spPr>
          <a:xfrm>
            <a:off x="51663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2" name="Shape 60"/>
          <p:cNvSpPr/>
          <p:nvPr/>
        </p:nvSpPr>
        <p:spPr>
          <a:xfrm>
            <a:off x="2871216" y="3744710"/>
            <a:ext cx="312594" cy="136676"/>
          </a:xfrm>
          <a:prstGeom prst="rect">
            <a:avLst/>
          </a:prstGeom>
          <a:solidFill>
            <a:srgbClr val="2587C5"/>
          </a:solidFill>
          <a:ln/>
        </p:spPr>
      </p:sp>
      <p:sp>
        <p:nvSpPr>
          <p:cNvPr id="63" name="Text 61"/>
          <p:cNvSpPr txBox="1"/>
          <p:nvPr/>
        </p:nvSpPr>
        <p:spPr>
          <a:xfrm>
            <a:off x="3813048" y="368879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$15.2K</a:t>
            </a:r>
            <a:endParaRPr lang="en-US" sz="1300" dirty="0"/>
          </a:p>
        </p:txBody>
      </p:sp>
      <p:sp>
        <p:nvSpPr>
          <p:cNvPr id="64" name="Text 62"/>
          <p:cNvSpPr txBox="1"/>
          <p:nvPr/>
        </p:nvSpPr>
        <p:spPr>
          <a:xfrm>
            <a:off x="4599432"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65" name="Text 63"/>
          <p:cNvSpPr txBox="1"/>
          <p:nvPr/>
        </p:nvSpPr>
        <p:spPr>
          <a:xfrm>
            <a:off x="51663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3993212"/>
            <a:ext cx="302272" cy="136676"/>
          </a:xfrm>
          <a:prstGeom prst="rect">
            <a:avLst/>
          </a:prstGeom>
          <a:solidFill>
            <a:srgbClr val="2587C5"/>
          </a:solidFill>
          <a:ln/>
        </p:spPr>
      </p:sp>
      <p:sp>
        <p:nvSpPr>
          <p:cNvPr id="69" name="Text 67"/>
          <p:cNvSpPr txBox="1"/>
          <p:nvPr/>
        </p:nvSpPr>
        <p:spPr>
          <a:xfrm>
            <a:off x="3813048" y="393729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$14.7K</a:t>
            </a:r>
            <a:endParaRPr lang="en-US" sz="1300" dirty="0"/>
          </a:p>
        </p:txBody>
      </p:sp>
      <p:sp>
        <p:nvSpPr>
          <p:cNvPr id="70" name="Text 68"/>
          <p:cNvSpPr txBox="1"/>
          <p:nvPr/>
        </p:nvSpPr>
        <p:spPr>
          <a:xfrm>
            <a:off x="4599432"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1" name="Text 69"/>
          <p:cNvSpPr txBox="1"/>
          <p:nvPr/>
        </p:nvSpPr>
        <p:spPr>
          <a:xfrm>
            <a:off x="51663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$3.47</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4" name="Shape 72"/>
          <p:cNvSpPr/>
          <p:nvPr/>
        </p:nvSpPr>
        <p:spPr>
          <a:xfrm>
            <a:off x="2871216" y="4241713"/>
            <a:ext cx="288162" cy="136676"/>
          </a:xfrm>
          <a:prstGeom prst="rect">
            <a:avLst/>
          </a:prstGeom>
          <a:solidFill>
            <a:srgbClr val="2587C5"/>
          </a:solidFill>
          <a:ln/>
        </p:spPr>
      </p:sp>
      <p:sp>
        <p:nvSpPr>
          <p:cNvPr id="75" name="Text 73"/>
          <p:cNvSpPr txBox="1"/>
          <p:nvPr/>
        </p:nvSpPr>
        <p:spPr>
          <a:xfrm>
            <a:off x="3813048" y="418580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$14.1K</a:t>
            </a:r>
            <a:endParaRPr lang="en-US" sz="1300" dirty="0"/>
          </a:p>
        </p:txBody>
      </p:sp>
      <p:sp>
        <p:nvSpPr>
          <p:cNvPr id="76" name="Text 74"/>
          <p:cNvSpPr txBox="1"/>
          <p:nvPr/>
        </p:nvSpPr>
        <p:spPr>
          <a:xfrm>
            <a:off x="4599432"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7" name="Text 75"/>
          <p:cNvSpPr txBox="1"/>
          <p:nvPr/>
        </p:nvSpPr>
        <p:spPr>
          <a:xfrm>
            <a:off x="51663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0" name="Shape 78"/>
          <p:cNvSpPr/>
          <p:nvPr/>
        </p:nvSpPr>
        <p:spPr>
          <a:xfrm>
            <a:off x="2871216" y="4490215"/>
            <a:ext cx="260095" cy="136676"/>
          </a:xfrm>
          <a:prstGeom prst="rect">
            <a:avLst/>
          </a:prstGeom>
          <a:solidFill>
            <a:srgbClr val="2587C5"/>
          </a:solidFill>
          <a:ln/>
        </p:spPr>
      </p:sp>
      <p:sp>
        <p:nvSpPr>
          <p:cNvPr id="81" name="Text 79"/>
          <p:cNvSpPr txBox="1"/>
          <p:nvPr/>
        </p:nvSpPr>
        <p:spPr>
          <a:xfrm>
            <a:off x="3813048" y="443430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$12.7K</a:t>
            </a:r>
            <a:endParaRPr lang="en-US" sz="1300" dirty="0"/>
          </a:p>
        </p:txBody>
      </p:sp>
      <p:sp>
        <p:nvSpPr>
          <p:cNvPr id="82" name="Text 80"/>
          <p:cNvSpPr txBox="1"/>
          <p:nvPr/>
        </p:nvSpPr>
        <p:spPr>
          <a:xfrm>
            <a:off x="4599432"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83" name="Text 81"/>
          <p:cNvSpPr txBox="1"/>
          <p:nvPr/>
        </p:nvSpPr>
        <p:spPr>
          <a:xfrm>
            <a:off x="51663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6" name="Shape 84"/>
          <p:cNvSpPr/>
          <p:nvPr/>
        </p:nvSpPr>
        <p:spPr>
          <a:xfrm>
            <a:off x="2871216" y="4738717"/>
            <a:ext cx="257823" cy="136676"/>
          </a:xfrm>
          <a:prstGeom prst="rect">
            <a:avLst/>
          </a:prstGeom>
          <a:solidFill>
            <a:srgbClr val="2587C5"/>
          </a:solidFill>
          <a:ln/>
        </p:spPr>
      </p:sp>
      <p:sp>
        <p:nvSpPr>
          <p:cNvPr id="87" name="Text 85"/>
          <p:cNvSpPr txBox="1"/>
          <p:nvPr/>
        </p:nvSpPr>
        <p:spPr>
          <a:xfrm>
            <a:off x="3813048" y="468280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$12.6K</a:t>
            </a:r>
            <a:endParaRPr lang="en-US" sz="1300" dirty="0"/>
          </a:p>
        </p:txBody>
      </p:sp>
      <p:sp>
        <p:nvSpPr>
          <p:cNvPr id="88" name="Text 86"/>
          <p:cNvSpPr txBox="1"/>
          <p:nvPr/>
        </p:nvSpPr>
        <p:spPr>
          <a:xfrm>
            <a:off x="4599432"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89" name="Text 87"/>
          <p:cNvSpPr txBox="1"/>
          <p:nvPr/>
        </p:nvSpPr>
        <p:spPr>
          <a:xfrm>
            <a:off x="51663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2" name="Shape 90"/>
          <p:cNvSpPr/>
          <p:nvPr/>
        </p:nvSpPr>
        <p:spPr>
          <a:xfrm>
            <a:off x="2871216" y="4987218"/>
            <a:ext cx="252824" cy="136676"/>
          </a:xfrm>
          <a:prstGeom prst="rect">
            <a:avLst/>
          </a:prstGeom>
          <a:solidFill>
            <a:srgbClr val="2587C5"/>
          </a:solidFill>
          <a:ln/>
        </p:spPr>
      </p:sp>
      <p:sp>
        <p:nvSpPr>
          <p:cNvPr id="93" name="Text 91"/>
          <p:cNvSpPr txBox="1"/>
          <p:nvPr/>
        </p:nvSpPr>
        <p:spPr>
          <a:xfrm>
            <a:off x="3813048" y="4931305"/>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$12.3K</a:t>
            </a:r>
            <a:endParaRPr lang="en-US" sz="1300" dirty="0"/>
          </a:p>
        </p:txBody>
      </p:sp>
      <p:sp>
        <p:nvSpPr>
          <p:cNvPr id="94" name="Text 92"/>
          <p:cNvSpPr txBox="1"/>
          <p:nvPr/>
        </p:nvSpPr>
        <p:spPr>
          <a:xfrm>
            <a:off x="4599432"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95" name="Text 93"/>
          <p:cNvSpPr txBox="1"/>
          <p:nvPr/>
        </p:nvSpPr>
        <p:spPr>
          <a:xfrm>
            <a:off x="51663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8" name="Shape 96"/>
          <p:cNvSpPr/>
          <p:nvPr/>
        </p:nvSpPr>
        <p:spPr>
          <a:xfrm>
            <a:off x="2871216" y="5235720"/>
            <a:ext cx="244879" cy="136676"/>
          </a:xfrm>
          <a:prstGeom prst="rect">
            <a:avLst/>
          </a:prstGeom>
          <a:solidFill>
            <a:srgbClr val="2587C5"/>
          </a:solidFill>
          <a:ln/>
        </p:spPr>
      </p:sp>
      <p:sp>
        <p:nvSpPr>
          <p:cNvPr id="99" name="Text 97"/>
          <p:cNvSpPr txBox="1"/>
          <p:nvPr/>
        </p:nvSpPr>
        <p:spPr>
          <a:xfrm>
            <a:off x="3813048" y="517980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$11.9K</a:t>
            </a:r>
            <a:endParaRPr lang="en-US" sz="1300" dirty="0"/>
          </a:p>
        </p:txBody>
      </p:sp>
      <p:sp>
        <p:nvSpPr>
          <p:cNvPr id="100" name="Text 98"/>
          <p:cNvSpPr txBox="1"/>
          <p:nvPr/>
        </p:nvSpPr>
        <p:spPr>
          <a:xfrm>
            <a:off x="4599432"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101" name="Text 99"/>
          <p:cNvSpPr txBox="1"/>
          <p:nvPr/>
        </p:nvSpPr>
        <p:spPr>
          <a:xfrm>
            <a:off x="51663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4" name="Shape 102"/>
          <p:cNvSpPr/>
          <p:nvPr/>
        </p:nvSpPr>
        <p:spPr>
          <a:xfrm>
            <a:off x="2871216" y="5484222"/>
            <a:ext cx="233938" cy="136676"/>
          </a:xfrm>
          <a:prstGeom prst="rect">
            <a:avLst/>
          </a:prstGeom>
          <a:solidFill>
            <a:srgbClr val="2587C5"/>
          </a:solidFill>
          <a:ln/>
        </p:spPr>
      </p:sp>
      <p:sp>
        <p:nvSpPr>
          <p:cNvPr id="105" name="Text 103"/>
          <p:cNvSpPr txBox="1"/>
          <p:nvPr/>
        </p:nvSpPr>
        <p:spPr>
          <a:xfrm>
            <a:off x="3813048" y="542830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$11.4K</a:t>
            </a:r>
            <a:endParaRPr lang="en-US" sz="1300" dirty="0"/>
          </a:p>
        </p:txBody>
      </p:sp>
      <p:sp>
        <p:nvSpPr>
          <p:cNvPr id="106" name="Text 104"/>
          <p:cNvSpPr txBox="1"/>
          <p:nvPr/>
        </p:nvSpPr>
        <p:spPr>
          <a:xfrm>
            <a:off x="4599432"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07" name="Text 105"/>
          <p:cNvSpPr txBox="1"/>
          <p:nvPr/>
        </p:nvSpPr>
        <p:spPr>
          <a:xfrm>
            <a:off x="51663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0" name="Shape 108"/>
          <p:cNvSpPr/>
          <p:nvPr/>
        </p:nvSpPr>
        <p:spPr>
          <a:xfrm>
            <a:off x="2871216" y="5732723"/>
            <a:ext cx="221407" cy="136676"/>
          </a:xfrm>
          <a:prstGeom prst="rect">
            <a:avLst/>
          </a:prstGeom>
          <a:solidFill>
            <a:srgbClr val="2587C5"/>
          </a:solidFill>
          <a:ln/>
        </p:spPr>
      </p:sp>
      <p:sp>
        <p:nvSpPr>
          <p:cNvPr id="111" name="Text 109"/>
          <p:cNvSpPr txBox="1"/>
          <p:nvPr/>
        </p:nvSpPr>
        <p:spPr>
          <a:xfrm>
            <a:off x="3813048" y="567681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$10.8K</a:t>
            </a:r>
            <a:endParaRPr lang="en-US" sz="1300" dirty="0"/>
          </a:p>
        </p:txBody>
      </p:sp>
      <p:sp>
        <p:nvSpPr>
          <p:cNvPr id="112" name="Text 110"/>
          <p:cNvSpPr txBox="1"/>
          <p:nvPr/>
        </p:nvSpPr>
        <p:spPr>
          <a:xfrm>
            <a:off x="4599432" y="567681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13" name="Text 111"/>
          <p:cNvSpPr txBox="1"/>
          <p:nvPr/>
        </p:nvSpPr>
        <p:spPr>
          <a:xfrm>
            <a:off x="516636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6" name="Shape 114"/>
          <p:cNvSpPr/>
          <p:nvPr/>
        </p:nvSpPr>
        <p:spPr>
          <a:xfrm>
            <a:off x="8421624" y="1756697"/>
            <a:ext cx="209398" cy="136676"/>
          </a:xfrm>
          <a:prstGeom prst="rect">
            <a:avLst/>
          </a:prstGeom>
          <a:solidFill>
            <a:srgbClr val="2587C5"/>
          </a:solidFill>
          <a:ln/>
        </p:spPr>
      </p:sp>
      <p:sp>
        <p:nvSpPr>
          <p:cNvPr id="117" name="Text 115"/>
          <p:cNvSpPr txBox="1"/>
          <p:nvPr/>
        </p:nvSpPr>
        <p:spPr>
          <a:xfrm>
            <a:off x="9363456" y="170078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$10.2K</a:t>
            </a:r>
            <a:endParaRPr lang="en-US" sz="1300" dirty="0"/>
          </a:p>
        </p:txBody>
      </p:sp>
      <p:sp>
        <p:nvSpPr>
          <p:cNvPr id="118" name="Text 116"/>
          <p:cNvSpPr txBox="1"/>
          <p:nvPr/>
        </p:nvSpPr>
        <p:spPr>
          <a:xfrm>
            <a:off x="10149840"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119" name="Text 117"/>
          <p:cNvSpPr txBox="1"/>
          <p:nvPr/>
        </p:nvSpPr>
        <p:spPr>
          <a:xfrm>
            <a:off x="1071676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2" name="Shape 120"/>
          <p:cNvSpPr/>
          <p:nvPr/>
        </p:nvSpPr>
        <p:spPr>
          <a:xfrm>
            <a:off x="8421624" y="2005199"/>
            <a:ext cx="187702" cy="136676"/>
          </a:xfrm>
          <a:prstGeom prst="rect">
            <a:avLst/>
          </a:prstGeom>
          <a:solidFill>
            <a:srgbClr val="2587C5"/>
          </a:solidFill>
          <a:ln/>
        </p:spPr>
      </p:sp>
      <p:sp>
        <p:nvSpPr>
          <p:cNvPr id="123" name="Text 121"/>
          <p:cNvSpPr txBox="1"/>
          <p:nvPr/>
        </p:nvSpPr>
        <p:spPr>
          <a:xfrm>
            <a:off x="9363456" y="194928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$9.2K</a:t>
            </a:r>
            <a:endParaRPr lang="en-US" sz="1300" dirty="0"/>
          </a:p>
        </p:txBody>
      </p:sp>
      <p:sp>
        <p:nvSpPr>
          <p:cNvPr id="124" name="Text 122"/>
          <p:cNvSpPr txBox="1"/>
          <p:nvPr/>
        </p:nvSpPr>
        <p:spPr>
          <a:xfrm>
            <a:off x="10149840"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25" name="Text 123"/>
          <p:cNvSpPr txBox="1"/>
          <p:nvPr/>
        </p:nvSpPr>
        <p:spPr>
          <a:xfrm>
            <a:off x="1071676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253700"/>
            <a:ext cx="180536" cy="136676"/>
          </a:xfrm>
          <a:prstGeom prst="rect">
            <a:avLst/>
          </a:prstGeom>
          <a:solidFill>
            <a:srgbClr val="2587C5"/>
          </a:solidFill>
          <a:ln/>
        </p:spPr>
      </p:sp>
      <p:sp>
        <p:nvSpPr>
          <p:cNvPr id="129" name="Text 127"/>
          <p:cNvSpPr txBox="1"/>
          <p:nvPr/>
        </p:nvSpPr>
        <p:spPr>
          <a:xfrm>
            <a:off x="9363456" y="219778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$8.8K</a:t>
            </a:r>
            <a:endParaRPr lang="en-US" sz="1300" dirty="0"/>
          </a:p>
        </p:txBody>
      </p:sp>
      <p:sp>
        <p:nvSpPr>
          <p:cNvPr id="130" name="Text 128"/>
          <p:cNvSpPr txBox="1"/>
          <p:nvPr/>
        </p:nvSpPr>
        <p:spPr>
          <a:xfrm>
            <a:off x="10149840"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1" name="Text 129"/>
          <p:cNvSpPr txBox="1"/>
          <p:nvPr/>
        </p:nvSpPr>
        <p:spPr>
          <a:xfrm>
            <a:off x="1071676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173314" cy="136676"/>
          </a:xfrm>
          <a:prstGeom prst="rect">
            <a:avLst/>
          </a:prstGeom>
          <a:solidFill>
            <a:srgbClr val="2587C5"/>
          </a:solidFill>
          <a:ln/>
        </p:spPr>
      </p:sp>
      <p:sp>
        <p:nvSpPr>
          <p:cNvPr id="135" name="Text 133"/>
          <p:cNvSpPr txBox="1"/>
          <p:nvPr/>
        </p:nvSpPr>
        <p:spPr>
          <a:xfrm>
            <a:off x="9363456" y="244628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$8.5K</a:t>
            </a:r>
            <a:endParaRPr lang="en-US" sz="1300" dirty="0"/>
          </a:p>
        </p:txBody>
      </p:sp>
      <p:sp>
        <p:nvSpPr>
          <p:cNvPr id="136" name="Text 134"/>
          <p:cNvSpPr txBox="1"/>
          <p:nvPr/>
        </p:nvSpPr>
        <p:spPr>
          <a:xfrm>
            <a:off x="10149840"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37" name="Text 135"/>
          <p:cNvSpPr txBox="1"/>
          <p:nvPr/>
        </p:nvSpPr>
        <p:spPr>
          <a:xfrm>
            <a:off x="1071676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0" name="Shape 138"/>
          <p:cNvSpPr/>
          <p:nvPr/>
        </p:nvSpPr>
        <p:spPr>
          <a:xfrm>
            <a:off x="8421624" y="2750703"/>
            <a:ext cx="169896" cy="136676"/>
          </a:xfrm>
          <a:prstGeom prst="rect">
            <a:avLst/>
          </a:prstGeom>
          <a:solidFill>
            <a:srgbClr val="2587C5"/>
          </a:solidFill>
          <a:ln/>
        </p:spPr>
      </p:sp>
      <p:sp>
        <p:nvSpPr>
          <p:cNvPr id="141" name="Text 139"/>
          <p:cNvSpPr txBox="1"/>
          <p:nvPr/>
        </p:nvSpPr>
        <p:spPr>
          <a:xfrm>
            <a:off x="9363456" y="2694791"/>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$8.3K</a:t>
            </a:r>
            <a:endParaRPr lang="en-US" sz="1300" dirty="0"/>
          </a:p>
        </p:txBody>
      </p:sp>
      <p:sp>
        <p:nvSpPr>
          <p:cNvPr id="142" name="Text 140"/>
          <p:cNvSpPr txBox="1"/>
          <p:nvPr/>
        </p:nvSpPr>
        <p:spPr>
          <a:xfrm>
            <a:off x="10149840"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43" name="Text 141"/>
          <p:cNvSpPr txBox="1"/>
          <p:nvPr/>
        </p:nvSpPr>
        <p:spPr>
          <a:xfrm>
            <a:off x="1071676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$3.84</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6" name="Shape 144"/>
          <p:cNvSpPr/>
          <p:nvPr/>
        </p:nvSpPr>
        <p:spPr>
          <a:xfrm>
            <a:off x="8421624" y="2999205"/>
            <a:ext cx="165457" cy="136676"/>
          </a:xfrm>
          <a:prstGeom prst="rect">
            <a:avLst/>
          </a:prstGeom>
          <a:solidFill>
            <a:srgbClr val="2587C5"/>
          </a:solidFill>
          <a:ln/>
        </p:spPr>
      </p:sp>
      <p:sp>
        <p:nvSpPr>
          <p:cNvPr id="147" name="Text 145"/>
          <p:cNvSpPr txBox="1"/>
          <p:nvPr/>
        </p:nvSpPr>
        <p:spPr>
          <a:xfrm>
            <a:off x="9363456" y="294329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$8.1K</a:t>
            </a:r>
            <a:endParaRPr lang="en-US" sz="1300" dirty="0"/>
          </a:p>
        </p:txBody>
      </p:sp>
      <p:sp>
        <p:nvSpPr>
          <p:cNvPr id="148" name="Text 146"/>
          <p:cNvSpPr txBox="1"/>
          <p:nvPr/>
        </p:nvSpPr>
        <p:spPr>
          <a:xfrm>
            <a:off x="10149840"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49" name="Text 147"/>
          <p:cNvSpPr txBox="1"/>
          <p:nvPr/>
        </p:nvSpPr>
        <p:spPr>
          <a:xfrm>
            <a:off x="1071676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$3.03</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247707"/>
            <a:ext cx="154758" cy="136676"/>
          </a:xfrm>
          <a:prstGeom prst="rect">
            <a:avLst/>
          </a:prstGeom>
          <a:solidFill>
            <a:srgbClr val="2587C5"/>
          </a:solidFill>
          <a:ln/>
        </p:spPr>
      </p:sp>
      <p:sp>
        <p:nvSpPr>
          <p:cNvPr id="153" name="Text 151"/>
          <p:cNvSpPr txBox="1"/>
          <p:nvPr/>
        </p:nvSpPr>
        <p:spPr>
          <a:xfrm>
            <a:off x="9363456" y="319179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$7.5K</a:t>
            </a:r>
            <a:endParaRPr lang="en-US" sz="1300" dirty="0"/>
          </a:p>
        </p:txBody>
      </p:sp>
      <p:sp>
        <p:nvSpPr>
          <p:cNvPr id="154" name="Text 152"/>
          <p:cNvSpPr txBox="1"/>
          <p:nvPr/>
        </p:nvSpPr>
        <p:spPr>
          <a:xfrm>
            <a:off x="10149840"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55" name="Text 153"/>
          <p:cNvSpPr txBox="1"/>
          <p:nvPr/>
        </p:nvSpPr>
        <p:spPr>
          <a:xfrm>
            <a:off x="1071676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496208"/>
            <a:ext cx="151615" cy="136676"/>
          </a:xfrm>
          <a:prstGeom prst="rect">
            <a:avLst/>
          </a:prstGeom>
          <a:solidFill>
            <a:srgbClr val="2587C5"/>
          </a:solidFill>
          <a:ln/>
        </p:spPr>
      </p:sp>
      <p:sp>
        <p:nvSpPr>
          <p:cNvPr id="159" name="Text 157"/>
          <p:cNvSpPr txBox="1"/>
          <p:nvPr/>
        </p:nvSpPr>
        <p:spPr>
          <a:xfrm>
            <a:off x="9363456" y="344029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$7.4K</a:t>
            </a:r>
            <a:endParaRPr lang="en-US" sz="1300" dirty="0"/>
          </a:p>
        </p:txBody>
      </p:sp>
      <p:sp>
        <p:nvSpPr>
          <p:cNvPr id="160" name="Text 158"/>
          <p:cNvSpPr txBox="1"/>
          <p:nvPr/>
        </p:nvSpPr>
        <p:spPr>
          <a:xfrm>
            <a:off x="10149840"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61" name="Text 159"/>
          <p:cNvSpPr txBox="1"/>
          <p:nvPr/>
        </p:nvSpPr>
        <p:spPr>
          <a:xfrm>
            <a:off x="1071676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4" name="Shape 162"/>
          <p:cNvSpPr/>
          <p:nvPr/>
        </p:nvSpPr>
        <p:spPr>
          <a:xfrm>
            <a:off x="8421624" y="3744710"/>
            <a:ext cx="148645" cy="136676"/>
          </a:xfrm>
          <a:prstGeom prst="rect">
            <a:avLst/>
          </a:prstGeom>
          <a:solidFill>
            <a:srgbClr val="2587C5"/>
          </a:solidFill>
          <a:ln/>
        </p:spPr>
      </p:sp>
      <p:sp>
        <p:nvSpPr>
          <p:cNvPr id="165" name="Text 163"/>
          <p:cNvSpPr txBox="1"/>
          <p:nvPr/>
        </p:nvSpPr>
        <p:spPr>
          <a:xfrm>
            <a:off x="9363456" y="368879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$7.2K</a:t>
            </a:r>
            <a:endParaRPr lang="en-US" sz="1300" dirty="0"/>
          </a:p>
        </p:txBody>
      </p:sp>
      <p:sp>
        <p:nvSpPr>
          <p:cNvPr id="166" name="Text 164"/>
          <p:cNvSpPr txBox="1"/>
          <p:nvPr/>
        </p:nvSpPr>
        <p:spPr>
          <a:xfrm>
            <a:off x="10149840"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67" name="Text 165"/>
          <p:cNvSpPr txBox="1"/>
          <p:nvPr/>
        </p:nvSpPr>
        <p:spPr>
          <a:xfrm>
            <a:off x="1071676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$2.59</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0" name="Shape 168"/>
          <p:cNvSpPr/>
          <p:nvPr/>
        </p:nvSpPr>
        <p:spPr>
          <a:xfrm>
            <a:off x="8421624" y="3993212"/>
            <a:ext cx="148155" cy="136676"/>
          </a:xfrm>
          <a:prstGeom prst="rect">
            <a:avLst/>
          </a:prstGeom>
          <a:solidFill>
            <a:srgbClr val="2587C5"/>
          </a:solidFill>
          <a:ln/>
        </p:spPr>
      </p:sp>
      <p:sp>
        <p:nvSpPr>
          <p:cNvPr id="171" name="Text 169"/>
          <p:cNvSpPr txBox="1"/>
          <p:nvPr/>
        </p:nvSpPr>
        <p:spPr>
          <a:xfrm>
            <a:off x="9363456" y="393729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$7.2K</a:t>
            </a:r>
            <a:endParaRPr lang="en-US" sz="1300" dirty="0"/>
          </a:p>
        </p:txBody>
      </p:sp>
      <p:sp>
        <p:nvSpPr>
          <p:cNvPr id="172" name="Text 170"/>
          <p:cNvSpPr txBox="1"/>
          <p:nvPr/>
        </p:nvSpPr>
        <p:spPr>
          <a:xfrm>
            <a:off x="10149840"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73" name="Text 171"/>
          <p:cNvSpPr txBox="1"/>
          <p:nvPr/>
        </p:nvSpPr>
        <p:spPr>
          <a:xfrm>
            <a:off x="1071676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6" name="Shape 174"/>
          <p:cNvSpPr/>
          <p:nvPr/>
        </p:nvSpPr>
        <p:spPr>
          <a:xfrm>
            <a:off x="8421624" y="4241713"/>
            <a:ext cx="146434" cy="136676"/>
          </a:xfrm>
          <a:prstGeom prst="rect">
            <a:avLst/>
          </a:prstGeom>
          <a:solidFill>
            <a:srgbClr val="2587C5"/>
          </a:solidFill>
          <a:ln/>
        </p:spPr>
      </p:sp>
      <p:sp>
        <p:nvSpPr>
          <p:cNvPr id="177" name="Text 175"/>
          <p:cNvSpPr txBox="1"/>
          <p:nvPr/>
        </p:nvSpPr>
        <p:spPr>
          <a:xfrm>
            <a:off x="9363456" y="418580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$7.1K</a:t>
            </a:r>
            <a:endParaRPr lang="en-US" sz="1300" dirty="0"/>
          </a:p>
        </p:txBody>
      </p:sp>
      <p:sp>
        <p:nvSpPr>
          <p:cNvPr id="178" name="Text 176"/>
          <p:cNvSpPr txBox="1"/>
          <p:nvPr/>
        </p:nvSpPr>
        <p:spPr>
          <a:xfrm>
            <a:off x="10149840"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9" name="Text 177"/>
          <p:cNvSpPr txBox="1"/>
          <p:nvPr/>
        </p:nvSpPr>
        <p:spPr>
          <a:xfrm>
            <a:off x="1071676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82" name="Shape 180"/>
          <p:cNvSpPr/>
          <p:nvPr/>
        </p:nvSpPr>
        <p:spPr>
          <a:xfrm>
            <a:off x="8421624" y="4490215"/>
            <a:ext cx="134976" cy="136676"/>
          </a:xfrm>
          <a:prstGeom prst="rect">
            <a:avLst/>
          </a:prstGeom>
          <a:solidFill>
            <a:srgbClr val="2587C5"/>
          </a:solidFill>
          <a:ln/>
        </p:spPr>
      </p:sp>
      <p:sp>
        <p:nvSpPr>
          <p:cNvPr id="183" name="Text 181"/>
          <p:cNvSpPr txBox="1"/>
          <p:nvPr/>
        </p:nvSpPr>
        <p:spPr>
          <a:xfrm>
            <a:off x="9363456" y="443430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$6.6K</a:t>
            </a:r>
            <a:endParaRPr lang="en-US" sz="1300" dirty="0"/>
          </a:p>
        </p:txBody>
      </p:sp>
      <p:sp>
        <p:nvSpPr>
          <p:cNvPr id="184" name="Text 182"/>
          <p:cNvSpPr txBox="1"/>
          <p:nvPr/>
        </p:nvSpPr>
        <p:spPr>
          <a:xfrm>
            <a:off x="10149840"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85" name="Text 183"/>
          <p:cNvSpPr txBox="1"/>
          <p:nvPr/>
        </p:nvSpPr>
        <p:spPr>
          <a:xfrm>
            <a:off x="1071676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$4.49</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8" name="Shape 186"/>
          <p:cNvSpPr/>
          <p:nvPr/>
        </p:nvSpPr>
        <p:spPr>
          <a:xfrm>
            <a:off x="8421624" y="4738717"/>
            <a:ext cx="133528" cy="136676"/>
          </a:xfrm>
          <a:prstGeom prst="rect">
            <a:avLst/>
          </a:prstGeom>
          <a:solidFill>
            <a:srgbClr val="2587C5"/>
          </a:solidFill>
          <a:ln/>
        </p:spPr>
      </p:sp>
      <p:sp>
        <p:nvSpPr>
          <p:cNvPr id="189" name="Text 187"/>
          <p:cNvSpPr txBox="1"/>
          <p:nvPr/>
        </p:nvSpPr>
        <p:spPr>
          <a:xfrm>
            <a:off x="9363456" y="468280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$6.5K</a:t>
            </a:r>
            <a:endParaRPr lang="en-US" sz="1300" dirty="0"/>
          </a:p>
        </p:txBody>
      </p:sp>
      <p:sp>
        <p:nvSpPr>
          <p:cNvPr id="190" name="Text 188"/>
          <p:cNvSpPr txBox="1"/>
          <p:nvPr/>
        </p:nvSpPr>
        <p:spPr>
          <a:xfrm>
            <a:off x="10149840"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91" name="Text 189"/>
          <p:cNvSpPr txBox="1"/>
          <p:nvPr/>
        </p:nvSpPr>
        <p:spPr>
          <a:xfrm>
            <a:off x="1071676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$2.76</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4" name="Shape 192"/>
          <p:cNvSpPr/>
          <p:nvPr/>
        </p:nvSpPr>
        <p:spPr>
          <a:xfrm>
            <a:off x="8421624" y="4987218"/>
            <a:ext cx="108545" cy="136676"/>
          </a:xfrm>
          <a:prstGeom prst="rect">
            <a:avLst/>
          </a:prstGeom>
          <a:solidFill>
            <a:srgbClr val="2587C5"/>
          </a:solidFill>
          <a:ln/>
        </p:spPr>
      </p:sp>
      <p:sp>
        <p:nvSpPr>
          <p:cNvPr id="195" name="Text 193"/>
          <p:cNvSpPr txBox="1"/>
          <p:nvPr/>
        </p:nvSpPr>
        <p:spPr>
          <a:xfrm>
            <a:off x="9363456" y="4931305"/>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$5.3K</a:t>
            </a:r>
            <a:endParaRPr lang="en-US" sz="1300" dirty="0"/>
          </a:p>
        </p:txBody>
      </p:sp>
      <p:sp>
        <p:nvSpPr>
          <p:cNvPr id="196" name="Text 194"/>
          <p:cNvSpPr txBox="1"/>
          <p:nvPr/>
        </p:nvSpPr>
        <p:spPr>
          <a:xfrm>
            <a:off x="10149840"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97" name="Text 195"/>
          <p:cNvSpPr txBox="1"/>
          <p:nvPr/>
        </p:nvSpPr>
        <p:spPr>
          <a:xfrm>
            <a:off x="1071676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00" name="Shape 198"/>
          <p:cNvSpPr/>
          <p:nvPr/>
        </p:nvSpPr>
        <p:spPr>
          <a:xfrm>
            <a:off x="8421624" y="5235720"/>
            <a:ext cx="88865" cy="136676"/>
          </a:xfrm>
          <a:prstGeom prst="rect">
            <a:avLst/>
          </a:prstGeom>
          <a:solidFill>
            <a:srgbClr val="2587C5"/>
          </a:solidFill>
          <a:ln/>
        </p:spPr>
      </p:sp>
      <p:sp>
        <p:nvSpPr>
          <p:cNvPr id="201" name="Text 199"/>
          <p:cNvSpPr txBox="1"/>
          <p:nvPr/>
        </p:nvSpPr>
        <p:spPr>
          <a:xfrm>
            <a:off x="9363456" y="517980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$4.3K</a:t>
            </a:r>
            <a:endParaRPr lang="en-US" sz="1300" dirty="0"/>
          </a:p>
        </p:txBody>
      </p:sp>
      <p:sp>
        <p:nvSpPr>
          <p:cNvPr id="202" name="Text 200"/>
          <p:cNvSpPr txBox="1"/>
          <p:nvPr/>
        </p:nvSpPr>
        <p:spPr>
          <a:xfrm>
            <a:off x="10149840"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03" name="Text 201"/>
          <p:cNvSpPr txBox="1"/>
          <p:nvPr/>
        </p:nvSpPr>
        <p:spPr>
          <a:xfrm>
            <a:off x="1071676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$2.82</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06" name="Shape 204"/>
          <p:cNvSpPr/>
          <p:nvPr/>
        </p:nvSpPr>
        <p:spPr>
          <a:xfrm>
            <a:off x="8421624" y="5484222"/>
            <a:ext cx="70911" cy="136676"/>
          </a:xfrm>
          <a:prstGeom prst="rect">
            <a:avLst/>
          </a:prstGeom>
          <a:solidFill>
            <a:srgbClr val="2587C5"/>
          </a:solidFill>
          <a:ln/>
        </p:spPr>
      </p:sp>
      <p:sp>
        <p:nvSpPr>
          <p:cNvPr id="207" name="Text 205"/>
          <p:cNvSpPr txBox="1"/>
          <p:nvPr/>
        </p:nvSpPr>
        <p:spPr>
          <a:xfrm>
            <a:off x="9363456" y="542830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$3.5K</a:t>
            </a:r>
            <a:endParaRPr lang="en-US" sz="1300" dirty="0"/>
          </a:p>
        </p:txBody>
      </p:sp>
      <p:sp>
        <p:nvSpPr>
          <p:cNvPr id="208" name="Text 206"/>
          <p:cNvSpPr txBox="1"/>
          <p:nvPr/>
        </p:nvSpPr>
        <p:spPr>
          <a:xfrm>
            <a:off x="10149840"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209" name="Text 207"/>
          <p:cNvSpPr txBox="1"/>
          <p:nvPr/>
        </p:nvSpPr>
        <p:spPr>
          <a:xfrm>
            <a:off x="1071676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341376"/>
          </a:xfrm>
          <a:prstGeom prst="rect">
            <a:avLst/>
          </a:prstGeom>
          <a:solidFill>
            <a:srgbClr val="EDF4FA"/>
          </a:solidFill>
          <a:ln/>
        </p:spPr>
      </p:sp>
      <p:sp>
        <p:nvSpPr>
          <p:cNvPr id="212" name="Text 210"/>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One minute a day per tech: Toyota Henderson $43,256 a year. Volvo techs are worth the most per minute at $4.99.</a:t>
            </a:r>
            <a:endParaRPr lang="en-US" sz="1400" dirty="0"/>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higher parts reimbursement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44.7%</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parts gross profit, up 2.1 pts and ahead of 2025 in all nine months.</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Rates Are Rising</a:t>
            </a:r>
            <a:endParaRPr lang="en-US" sz="2800" dirty="0"/>
          </a:p>
        </p:txBody>
      </p:sp>
      <p:sp>
        <p:nvSpPr>
          <p:cNvPr id="5" name="Shape 3"/>
          <p:cNvSpPr/>
          <p:nvPr/>
        </p:nvSpPr>
        <p:spPr>
          <a:xfrm>
            <a:off x="457200" y="1207008"/>
            <a:ext cx="5257800" cy="4782312"/>
          </a:xfrm>
          <a:prstGeom prst="rect">
            <a:avLst/>
          </a:prstGeom>
          <a:solidFill>
            <a:srgbClr val="FFFFFF"/>
          </a:solidFill>
          <a:ln/>
        </p:spPr>
      </p:sp>
      <p:sp>
        <p:nvSpPr>
          <p:cNvPr id="6" name="Text 4"/>
          <p:cNvSpPr txBox="1"/>
          <p:nvPr/>
        </p:nvSpPr>
        <p:spPr>
          <a:xfrm>
            <a:off x="658368" y="1316736"/>
            <a:ext cx="329184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RATE INCREASES IN 2026</a:t>
            </a:r>
            <a:endParaRPr lang="en-US" sz="1400" dirty="0"/>
          </a:p>
        </p:txBody>
      </p:sp>
      <p:sp>
        <p:nvSpPr>
          <p:cNvPr id="7" name="Text 5"/>
          <p:cNvSpPr txBox="1"/>
          <p:nvPr/>
        </p:nvSpPr>
        <p:spPr>
          <a:xfrm>
            <a:off x="3886200" y="1280160"/>
            <a:ext cx="1627632" cy="365760"/>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$3.79M GP</a:t>
            </a:r>
            <a:endParaRPr lang="en-US" sz="2000" dirty="0"/>
          </a:p>
        </p:txBody>
      </p:sp>
      <p:sp>
        <p:nvSpPr>
          <p:cNvPr id="8" name="Text 6"/>
          <p:cNvSpPr txBox="1"/>
          <p:nvPr/>
        </p:nvSpPr>
        <p:spPr>
          <a:xfrm>
            <a:off x="658368" y="173736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 name="Shape 7"/>
          <p:cNvSpPr/>
          <p:nvPr/>
        </p:nvSpPr>
        <p:spPr>
          <a:xfrm>
            <a:off x="2697480" y="1785323"/>
            <a:ext cx="1965960" cy="122087"/>
          </a:xfrm>
          <a:prstGeom prst="rect">
            <a:avLst/>
          </a:prstGeom>
          <a:solidFill>
            <a:srgbClr val="2587C5"/>
          </a:solidFill>
          <a:ln/>
        </p:spPr>
      </p:sp>
      <p:sp>
        <p:nvSpPr>
          <p:cNvPr id="10" name="Text 8"/>
          <p:cNvSpPr txBox="1"/>
          <p:nvPr/>
        </p:nvSpPr>
        <p:spPr>
          <a:xfrm>
            <a:off x="4709160" y="173736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$798K</a:t>
            </a:r>
            <a:endParaRPr lang="en-US" sz="1200" dirty="0"/>
          </a:p>
        </p:txBody>
      </p:sp>
      <p:sp>
        <p:nvSpPr>
          <p:cNvPr id="11" name="Text 9"/>
          <p:cNvSpPr txBox="1"/>
          <p:nvPr/>
        </p:nvSpPr>
        <p:spPr>
          <a:xfrm>
            <a:off x="658368" y="1955372"/>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 name="Shape 10"/>
          <p:cNvSpPr/>
          <p:nvPr/>
        </p:nvSpPr>
        <p:spPr>
          <a:xfrm>
            <a:off x="2697480" y="2003335"/>
            <a:ext cx="1141730" cy="122087"/>
          </a:xfrm>
          <a:prstGeom prst="rect">
            <a:avLst/>
          </a:prstGeom>
          <a:solidFill>
            <a:srgbClr val="2587C5"/>
          </a:solidFill>
          <a:ln/>
        </p:spPr>
      </p:sp>
      <p:sp>
        <p:nvSpPr>
          <p:cNvPr id="13" name="Text 11"/>
          <p:cNvSpPr txBox="1"/>
          <p:nvPr/>
        </p:nvSpPr>
        <p:spPr>
          <a:xfrm>
            <a:off x="4709160" y="1955372"/>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$463K</a:t>
            </a:r>
            <a:endParaRPr lang="en-US" sz="1200" dirty="0"/>
          </a:p>
        </p:txBody>
      </p:sp>
      <p:sp>
        <p:nvSpPr>
          <p:cNvPr id="14" name="Text 12"/>
          <p:cNvSpPr txBox="1"/>
          <p:nvPr/>
        </p:nvSpPr>
        <p:spPr>
          <a:xfrm>
            <a:off x="658368" y="2173384"/>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5" name="Shape 13"/>
          <p:cNvSpPr/>
          <p:nvPr/>
        </p:nvSpPr>
        <p:spPr>
          <a:xfrm>
            <a:off x="2697480" y="2221347"/>
            <a:ext cx="847479" cy="122087"/>
          </a:xfrm>
          <a:prstGeom prst="rect">
            <a:avLst/>
          </a:prstGeom>
          <a:solidFill>
            <a:srgbClr val="2587C5"/>
          </a:solidFill>
          <a:ln/>
        </p:spPr>
      </p:sp>
      <p:sp>
        <p:nvSpPr>
          <p:cNvPr id="16" name="Text 14"/>
          <p:cNvSpPr txBox="1"/>
          <p:nvPr/>
        </p:nvSpPr>
        <p:spPr>
          <a:xfrm>
            <a:off x="4709160" y="2173384"/>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$344K</a:t>
            </a:r>
            <a:endParaRPr lang="en-US" sz="1200" dirty="0"/>
          </a:p>
        </p:txBody>
      </p:sp>
      <p:sp>
        <p:nvSpPr>
          <p:cNvPr id="17" name="Text 15"/>
          <p:cNvSpPr txBox="1"/>
          <p:nvPr/>
        </p:nvSpPr>
        <p:spPr>
          <a:xfrm>
            <a:off x="658368" y="2391397"/>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8" name="Shape 16"/>
          <p:cNvSpPr/>
          <p:nvPr/>
        </p:nvSpPr>
        <p:spPr>
          <a:xfrm>
            <a:off x="2697480" y="2439359"/>
            <a:ext cx="802598" cy="122087"/>
          </a:xfrm>
          <a:prstGeom prst="rect">
            <a:avLst/>
          </a:prstGeom>
          <a:solidFill>
            <a:srgbClr val="2587C5"/>
          </a:solidFill>
          <a:ln/>
        </p:spPr>
      </p:sp>
      <p:sp>
        <p:nvSpPr>
          <p:cNvPr id="19" name="Text 17"/>
          <p:cNvSpPr txBox="1"/>
          <p:nvPr/>
        </p:nvSpPr>
        <p:spPr>
          <a:xfrm>
            <a:off x="4709160" y="2391397"/>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$326K</a:t>
            </a:r>
            <a:endParaRPr lang="en-US" sz="1200" dirty="0"/>
          </a:p>
        </p:txBody>
      </p:sp>
      <p:sp>
        <p:nvSpPr>
          <p:cNvPr id="20" name="Text 18"/>
          <p:cNvSpPr txBox="1"/>
          <p:nvPr/>
        </p:nvSpPr>
        <p:spPr>
          <a:xfrm>
            <a:off x="658368" y="2609409"/>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2697480" y="2657372"/>
            <a:ext cx="719577" cy="122087"/>
          </a:xfrm>
          <a:prstGeom prst="rect">
            <a:avLst/>
          </a:prstGeom>
          <a:solidFill>
            <a:srgbClr val="2587C5"/>
          </a:solidFill>
          <a:ln/>
        </p:spPr>
      </p:sp>
      <p:sp>
        <p:nvSpPr>
          <p:cNvPr id="22" name="Text 20"/>
          <p:cNvSpPr txBox="1"/>
          <p:nvPr/>
        </p:nvSpPr>
        <p:spPr>
          <a:xfrm>
            <a:off x="4709160" y="2609409"/>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$292K</a:t>
            </a:r>
            <a:endParaRPr lang="en-US" sz="1200" dirty="0"/>
          </a:p>
        </p:txBody>
      </p:sp>
      <p:sp>
        <p:nvSpPr>
          <p:cNvPr id="23" name="Text 21"/>
          <p:cNvSpPr txBox="1"/>
          <p:nvPr/>
        </p:nvSpPr>
        <p:spPr>
          <a:xfrm>
            <a:off x="658368" y="2827421"/>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4" name="Shape 22"/>
          <p:cNvSpPr/>
          <p:nvPr/>
        </p:nvSpPr>
        <p:spPr>
          <a:xfrm>
            <a:off x="2697480" y="2875384"/>
            <a:ext cx="698703" cy="122087"/>
          </a:xfrm>
          <a:prstGeom prst="rect">
            <a:avLst/>
          </a:prstGeom>
          <a:solidFill>
            <a:srgbClr val="2587C5"/>
          </a:solidFill>
          <a:ln/>
        </p:spPr>
      </p:sp>
      <p:sp>
        <p:nvSpPr>
          <p:cNvPr id="25" name="Text 23"/>
          <p:cNvSpPr txBox="1"/>
          <p:nvPr/>
        </p:nvSpPr>
        <p:spPr>
          <a:xfrm>
            <a:off x="4709160" y="2827421"/>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$284K</a:t>
            </a:r>
            <a:endParaRPr lang="en-US" sz="1200" dirty="0"/>
          </a:p>
        </p:txBody>
      </p:sp>
      <p:sp>
        <p:nvSpPr>
          <p:cNvPr id="26" name="Text 24"/>
          <p:cNvSpPr txBox="1"/>
          <p:nvPr/>
        </p:nvSpPr>
        <p:spPr>
          <a:xfrm>
            <a:off x="658368" y="3045433"/>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2697480" y="3093396"/>
            <a:ext cx="555249" cy="122087"/>
          </a:xfrm>
          <a:prstGeom prst="rect">
            <a:avLst/>
          </a:prstGeom>
          <a:solidFill>
            <a:srgbClr val="2587C5"/>
          </a:solidFill>
          <a:ln/>
        </p:spPr>
      </p:sp>
      <p:sp>
        <p:nvSpPr>
          <p:cNvPr id="28" name="Text 26"/>
          <p:cNvSpPr txBox="1"/>
          <p:nvPr/>
        </p:nvSpPr>
        <p:spPr>
          <a:xfrm>
            <a:off x="4709160" y="3045433"/>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$225K</a:t>
            </a:r>
            <a:endParaRPr lang="en-US" sz="1200" dirty="0"/>
          </a:p>
        </p:txBody>
      </p:sp>
      <p:sp>
        <p:nvSpPr>
          <p:cNvPr id="29" name="Text 27"/>
          <p:cNvSpPr txBox="1"/>
          <p:nvPr/>
        </p:nvSpPr>
        <p:spPr>
          <a:xfrm>
            <a:off x="658368" y="3263445"/>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0" name="Shape 28"/>
          <p:cNvSpPr/>
          <p:nvPr/>
        </p:nvSpPr>
        <p:spPr>
          <a:xfrm>
            <a:off x="2697480" y="3311408"/>
            <a:ext cx="515601" cy="122087"/>
          </a:xfrm>
          <a:prstGeom prst="rect">
            <a:avLst/>
          </a:prstGeom>
          <a:solidFill>
            <a:srgbClr val="2587C5"/>
          </a:solidFill>
          <a:ln/>
        </p:spPr>
      </p:sp>
      <p:sp>
        <p:nvSpPr>
          <p:cNvPr id="31" name="Text 29"/>
          <p:cNvSpPr txBox="1"/>
          <p:nvPr/>
        </p:nvSpPr>
        <p:spPr>
          <a:xfrm>
            <a:off x="4709160" y="3263445"/>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$209K</a:t>
            </a:r>
            <a:endParaRPr lang="en-US" sz="1200" dirty="0"/>
          </a:p>
        </p:txBody>
      </p:sp>
      <p:sp>
        <p:nvSpPr>
          <p:cNvPr id="32" name="Text 30"/>
          <p:cNvSpPr txBox="1"/>
          <p:nvPr/>
        </p:nvSpPr>
        <p:spPr>
          <a:xfrm>
            <a:off x="658368" y="3481458"/>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3" name="Shape 31"/>
          <p:cNvSpPr/>
          <p:nvPr/>
        </p:nvSpPr>
        <p:spPr>
          <a:xfrm>
            <a:off x="2697480" y="3529420"/>
            <a:ext cx="359936" cy="122087"/>
          </a:xfrm>
          <a:prstGeom prst="rect">
            <a:avLst/>
          </a:prstGeom>
          <a:solidFill>
            <a:srgbClr val="2587C5"/>
          </a:solidFill>
          <a:ln/>
        </p:spPr>
      </p:sp>
      <p:sp>
        <p:nvSpPr>
          <p:cNvPr id="34" name="Text 32"/>
          <p:cNvSpPr txBox="1"/>
          <p:nvPr/>
        </p:nvSpPr>
        <p:spPr>
          <a:xfrm>
            <a:off x="4709160" y="3481458"/>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$146K</a:t>
            </a:r>
            <a:endParaRPr lang="en-US" sz="1200" dirty="0"/>
          </a:p>
        </p:txBody>
      </p:sp>
      <p:sp>
        <p:nvSpPr>
          <p:cNvPr id="35" name="Text 33"/>
          <p:cNvSpPr txBox="1"/>
          <p:nvPr/>
        </p:nvSpPr>
        <p:spPr>
          <a:xfrm>
            <a:off x="658368" y="369947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6" name="Shape 34"/>
          <p:cNvSpPr/>
          <p:nvPr/>
        </p:nvSpPr>
        <p:spPr>
          <a:xfrm>
            <a:off x="2697480" y="3747433"/>
            <a:ext cx="329395" cy="122087"/>
          </a:xfrm>
          <a:prstGeom prst="rect">
            <a:avLst/>
          </a:prstGeom>
          <a:solidFill>
            <a:srgbClr val="2587C5"/>
          </a:solidFill>
          <a:ln/>
        </p:spPr>
      </p:sp>
      <p:sp>
        <p:nvSpPr>
          <p:cNvPr id="37" name="Text 35"/>
          <p:cNvSpPr txBox="1"/>
          <p:nvPr/>
        </p:nvSpPr>
        <p:spPr>
          <a:xfrm>
            <a:off x="4709160" y="369947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$134K</a:t>
            </a:r>
            <a:endParaRPr lang="en-US" sz="1200" dirty="0"/>
          </a:p>
        </p:txBody>
      </p:sp>
      <p:sp>
        <p:nvSpPr>
          <p:cNvPr id="38" name="Text 36"/>
          <p:cNvSpPr txBox="1"/>
          <p:nvPr/>
        </p:nvSpPr>
        <p:spPr>
          <a:xfrm>
            <a:off x="658368" y="3917482"/>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9" name="Shape 37"/>
          <p:cNvSpPr/>
          <p:nvPr/>
        </p:nvSpPr>
        <p:spPr>
          <a:xfrm>
            <a:off x="2697480" y="3965445"/>
            <a:ext cx="237178" cy="122087"/>
          </a:xfrm>
          <a:prstGeom prst="rect">
            <a:avLst/>
          </a:prstGeom>
          <a:solidFill>
            <a:srgbClr val="2587C5"/>
          </a:solidFill>
          <a:ln/>
        </p:spPr>
      </p:sp>
      <p:sp>
        <p:nvSpPr>
          <p:cNvPr id="40" name="Text 38"/>
          <p:cNvSpPr txBox="1"/>
          <p:nvPr/>
        </p:nvSpPr>
        <p:spPr>
          <a:xfrm>
            <a:off x="4709160" y="3917482"/>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$96K</a:t>
            </a:r>
            <a:endParaRPr lang="en-US" sz="1200" dirty="0"/>
          </a:p>
        </p:txBody>
      </p:sp>
      <p:sp>
        <p:nvSpPr>
          <p:cNvPr id="41" name="Text 39"/>
          <p:cNvSpPr txBox="1"/>
          <p:nvPr/>
        </p:nvSpPr>
        <p:spPr>
          <a:xfrm>
            <a:off x="658368" y="4135494"/>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2697480" y="4183457"/>
            <a:ext cx="233128" cy="122087"/>
          </a:xfrm>
          <a:prstGeom prst="rect">
            <a:avLst/>
          </a:prstGeom>
          <a:solidFill>
            <a:srgbClr val="2587C5"/>
          </a:solidFill>
          <a:ln/>
        </p:spPr>
      </p:sp>
      <p:sp>
        <p:nvSpPr>
          <p:cNvPr id="43" name="Text 41"/>
          <p:cNvSpPr txBox="1"/>
          <p:nvPr/>
        </p:nvSpPr>
        <p:spPr>
          <a:xfrm>
            <a:off x="4709160" y="4135494"/>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$95K</a:t>
            </a:r>
            <a:endParaRPr lang="en-US" sz="1200" dirty="0"/>
          </a:p>
        </p:txBody>
      </p:sp>
      <p:sp>
        <p:nvSpPr>
          <p:cNvPr id="44" name="Text 42"/>
          <p:cNvSpPr txBox="1"/>
          <p:nvPr/>
        </p:nvSpPr>
        <p:spPr>
          <a:xfrm>
            <a:off x="658368" y="4353507"/>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2697480" y="4401469"/>
            <a:ext cx="229669" cy="122087"/>
          </a:xfrm>
          <a:prstGeom prst="rect">
            <a:avLst/>
          </a:prstGeom>
          <a:solidFill>
            <a:srgbClr val="2587C5"/>
          </a:solidFill>
          <a:ln/>
        </p:spPr>
      </p:sp>
      <p:sp>
        <p:nvSpPr>
          <p:cNvPr id="46" name="Text 44"/>
          <p:cNvSpPr txBox="1"/>
          <p:nvPr/>
        </p:nvSpPr>
        <p:spPr>
          <a:xfrm>
            <a:off x="4709160" y="4353507"/>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$93K</a:t>
            </a:r>
            <a:endParaRPr lang="en-US" sz="1200" dirty="0"/>
          </a:p>
        </p:txBody>
      </p:sp>
      <p:sp>
        <p:nvSpPr>
          <p:cNvPr id="47" name="Text 45"/>
          <p:cNvSpPr txBox="1"/>
          <p:nvPr/>
        </p:nvSpPr>
        <p:spPr>
          <a:xfrm>
            <a:off x="658368" y="4571519"/>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2697480" y="4619481"/>
            <a:ext cx="223401" cy="122087"/>
          </a:xfrm>
          <a:prstGeom prst="rect">
            <a:avLst/>
          </a:prstGeom>
          <a:solidFill>
            <a:srgbClr val="2587C5"/>
          </a:solidFill>
          <a:ln/>
        </p:spPr>
      </p:sp>
      <p:sp>
        <p:nvSpPr>
          <p:cNvPr id="49" name="Text 47"/>
          <p:cNvSpPr txBox="1"/>
          <p:nvPr/>
        </p:nvSpPr>
        <p:spPr>
          <a:xfrm>
            <a:off x="4709160" y="4571519"/>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$91K</a:t>
            </a:r>
            <a:endParaRPr lang="en-US" sz="1200" dirty="0"/>
          </a:p>
        </p:txBody>
      </p:sp>
      <p:sp>
        <p:nvSpPr>
          <p:cNvPr id="50" name="Text 48"/>
          <p:cNvSpPr txBox="1"/>
          <p:nvPr/>
        </p:nvSpPr>
        <p:spPr>
          <a:xfrm>
            <a:off x="658368" y="4789531"/>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1" name="Shape 49"/>
          <p:cNvSpPr/>
          <p:nvPr/>
        </p:nvSpPr>
        <p:spPr>
          <a:xfrm>
            <a:off x="2697480" y="4837494"/>
            <a:ext cx="184669" cy="122087"/>
          </a:xfrm>
          <a:prstGeom prst="rect">
            <a:avLst/>
          </a:prstGeom>
          <a:solidFill>
            <a:srgbClr val="2587C5"/>
          </a:solidFill>
          <a:ln/>
        </p:spPr>
      </p:sp>
      <p:sp>
        <p:nvSpPr>
          <p:cNvPr id="52" name="Text 50"/>
          <p:cNvSpPr txBox="1"/>
          <p:nvPr/>
        </p:nvSpPr>
        <p:spPr>
          <a:xfrm>
            <a:off x="4709160" y="4789531"/>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$75K</a:t>
            </a:r>
            <a:endParaRPr lang="en-US" sz="1200" dirty="0"/>
          </a:p>
        </p:txBody>
      </p:sp>
      <p:sp>
        <p:nvSpPr>
          <p:cNvPr id="53" name="Text 51"/>
          <p:cNvSpPr txBox="1"/>
          <p:nvPr/>
        </p:nvSpPr>
        <p:spPr>
          <a:xfrm>
            <a:off x="658368" y="5007543"/>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4" name="Shape 52"/>
          <p:cNvSpPr/>
          <p:nvPr/>
        </p:nvSpPr>
        <p:spPr>
          <a:xfrm>
            <a:off x="2697480" y="5055506"/>
            <a:ext cx="151614" cy="122087"/>
          </a:xfrm>
          <a:prstGeom prst="rect">
            <a:avLst/>
          </a:prstGeom>
          <a:solidFill>
            <a:srgbClr val="2587C5"/>
          </a:solidFill>
          <a:ln/>
        </p:spPr>
      </p:sp>
      <p:sp>
        <p:nvSpPr>
          <p:cNvPr id="55" name="Text 53"/>
          <p:cNvSpPr txBox="1"/>
          <p:nvPr/>
        </p:nvSpPr>
        <p:spPr>
          <a:xfrm>
            <a:off x="4709160" y="5007543"/>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$62K</a:t>
            </a:r>
            <a:endParaRPr lang="en-US" sz="1200" dirty="0"/>
          </a:p>
        </p:txBody>
      </p:sp>
      <p:sp>
        <p:nvSpPr>
          <p:cNvPr id="56" name="Text 54"/>
          <p:cNvSpPr txBox="1"/>
          <p:nvPr/>
        </p:nvSpPr>
        <p:spPr>
          <a:xfrm>
            <a:off x="658368" y="5225555"/>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2697480" y="5273518"/>
            <a:ext cx="86983" cy="122087"/>
          </a:xfrm>
          <a:prstGeom prst="rect">
            <a:avLst/>
          </a:prstGeom>
          <a:solidFill>
            <a:srgbClr val="2587C5"/>
          </a:solidFill>
          <a:ln/>
        </p:spPr>
      </p:sp>
      <p:sp>
        <p:nvSpPr>
          <p:cNvPr id="58" name="Text 56"/>
          <p:cNvSpPr txBox="1"/>
          <p:nvPr/>
        </p:nvSpPr>
        <p:spPr>
          <a:xfrm>
            <a:off x="4709160" y="5225555"/>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$35K</a:t>
            </a:r>
            <a:endParaRPr lang="en-US" sz="1200" dirty="0"/>
          </a:p>
        </p:txBody>
      </p:sp>
      <p:sp>
        <p:nvSpPr>
          <p:cNvPr id="59" name="Text 57"/>
          <p:cNvSpPr txBox="1"/>
          <p:nvPr/>
        </p:nvSpPr>
        <p:spPr>
          <a:xfrm>
            <a:off x="658368" y="5443568"/>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0" name="Shape 58"/>
          <p:cNvSpPr/>
          <p:nvPr/>
        </p:nvSpPr>
        <p:spPr>
          <a:xfrm>
            <a:off x="2697480" y="5491530"/>
            <a:ext cx="37460" cy="122087"/>
          </a:xfrm>
          <a:prstGeom prst="rect">
            <a:avLst/>
          </a:prstGeom>
          <a:solidFill>
            <a:srgbClr val="2587C5"/>
          </a:solidFill>
          <a:ln/>
        </p:spPr>
      </p:sp>
      <p:sp>
        <p:nvSpPr>
          <p:cNvPr id="61" name="Text 59"/>
          <p:cNvSpPr txBox="1"/>
          <p:nvPr/>
        </p:nvSpPr>
        <p:spPr>
          <a:xfrm>
            <a:off x="4709160" y="5443568"/>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$15K</a:t>
            </a:r>
            <a:endParaRPr lang="en-US" sz="1200" dirty="0"/>
          </a:p>
        </p:txBody>
      </p:sp>
      <p:sp>
        <p:nvSpPr>
          <p:cNvPr id="62" name="Text 60"/>
          <p:cNvSpPr txBox="1"/>
          <p:nvPr/>
        </p:nvSpPr>
        <p:spPr>
          <a:xfrm>
            <a:off x="658368" y="566158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3" name="Shape 61"/>
          <p:cNvSpPr/>
          <p:nvPr/>
        </p:nvSpPr>
        <p:spPr>
          <a:xfrm>
            <a:off x="2697480" y="5709542"/>
            <a:ext cx="18288" cy="122087"/>
          </a:xfrm>
          <a:prstGeom prst="rect">
            <a:avLst/>
          </a:prstGeom>
          <a:solidFill>
            <a:srgbClr val="2587C5"/>
          </a:solidFill>
          <a:ln/>
        </p:spPr>
      </p:sp>
      <p:sp>
        <p:nvSpPr>
          <p:cNvPr id="64" name="Text 62"/>
          <p:cNvSpPr txBox="1"/>
          <p:nvPr/>
        </p:nvSpPr>
        <p:spPr>
          <a:xfrm>
            <a:off x="4709160" y="566158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$5K</a:t>
            </a:r>
            <a:endParaRPr lang="en-US" sz="1200" dirty="0"/>
          </a:p>
        </p:txBody>
      </p:sp>
      <p:sp>
        <p:nvSpPr>
          <p:cNvPr id="65" name="Shape 63"/>
          <p:cNvSpPr/>
          <p:nvPr/>
        </p:nvSpPr>
        <p:spPr>
          <a:xfrm>
            <a:off x="5870448" y="1207008"/>
            <a:ext cx="5861304" cy="2336292"/>
          </a:xfrm>
          <a:prstGeom prst="rect">
            <a:avLst/>
          </a:prstGeom>
          <a:solidFill>
            <a:srgbClr val="FFFFFF"/>
          </a:solidFill>
          <a:ln/>
        </p:spPr>
      </p:sp>
      <p:sp>
        <p:nvSpPr>
          <p:cNvPr id="66" name="Text 64"/>
          <p:cNvSpPr txBox="1"/>
          <p:nvPr/>
        </p:nvSpPr>
        <p:spPr>
          <a:xfrm>
            <a:off x="6053328" y="1280160"/>
            <a:ext cx="5495544" cy="329184"/>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WARRANTY ELR    </a:t>
            </a:r>
            <a:pPr indent="0" marL="0">
              <a:buNone/>
            </a:pPr>
            <a:r>
              <a:rPr lang="en-US" sz="1400" dirty="0">
                <a:solidFill>
                  <a:srgbClr val="9AA3AD"/>
                </a:solidFill>
                <a:latin typeface="Inter" pitchFamily="34" charset="0"/>
                <a:ea typeface="Inter" pitchFamily="34" charset="-122"/>
                <a:cs typeface="Inter" pitchFamily="34" charset="-120"/>
              </a:rPr>
              <a:t>2025 </a:t>
            </a:r>
            <a:pPr indent="0" marL="0">
              <a:buNone/>
            </a:pPr>
            <a:r>
              <a:rPr lang="en-US" sz="1600" b="1" dirty="0">
                <a:solidFill>
                  <a:srgbClr val="9AA3AD"/>
                </a:solidFill>
                <a:latin typeface="Inter" pitchFamily="34" charset="0"/>
                <a:ea typeface="Inter" pitchFamily="34" charset="-122"/>
                <a:cs typeface="Inter" pitchFamily="34" charset="-120"/>
              </a:rPr>
              <a:t>$180    </a:t>
            </a:r>
            <a:pPr indent="0" marL="0">
              <a:buNone/>
            </a:pPr>
            <a:r>
              <a:rPr lang="en-US" sz="1400" dirty="0">
                <a:solidFill>
                  <a:srgbClr val="2587C5"/>
                </a:solidFill>
                <a:latin typeface="Inter" pitchFamily="34" charset="0"/>
                <a:ea typeface="Inter" pitchFamily="34" charset="-122"/>
                <a:cs typeface="Inter" pitchFamily="34" charset="-120"/>
              </a:rPr>
              <a:t>2026 </a:t>
            </a:r>
            <a:pPr indent="0" marL="0">
              <a:buNone/>
            </a:pPr>
            <a:r>
              <a:rPr lang="en-US" sz="1600" b="1" dirty="0">
                <a:solidFill>
                  <a:srgbClr val="2587C5"/>
                </a:solidFill>
                <a:latin typeface="Inter" pitchFamily="34" charset="0"/>
                <a:ea typeface="Inter" pitchFamily="34" charset="-122"/>
                <a:cs typeface="Inter" pitchFamily="34" charset="-120"/>
              </a:rPr>
              <a:t>$197</a:t>
            </a:r>
            <a:endParaRPr lang="en-US" sz="1400" dirty="0"/>
          </a:p>
        </p:txBody>
      </p:sp>
      <p:graphicFrame>
        <p:nvGraphicFramePr>
          <p:cNvPr id="67" name="Chart 0" descr=""/>
          <p:cNvGraphicFramePr/>
          <p:nvPr/>
        </p:nvGraphicFramePr>
        <p:xfrm>
          <a:off x="5916168" y="1591056"/>
          <a:ext cx="5769864" cy="1897380"/>
        </p:xfrm>
        <a:graphic>
          <a:graphicData uri="http://schemas.openxmlformats.org/drawingml/2006/chart">
            <c:chart xmlns:c="http://schemas.openxmlformats.org/drawingml/2006/chart" r:id="rId2"/>
          </a:graphicData>
        </a:graphic>
      </p:graphicFrame>
      <p:sp>
        <p:nvSpPr>
          <p:cNvPr id="68" name="Shape 65"/>
          <p:cNvSpPr/>
          <p:nvPr/>
        </p:nvSpPr>
        <p:spPr>
          <a:xfrm>
            <a:off x="5870448" y="3653028"/>
            <a:ext cx="5861304" cy="2336292"/>
          </a:xfrm>
          <a:prstGeom prst="rect">
            <a:avLst/>
          </a:prstGeom>
          <a:solidFill>
            <a:srgbClr val="FFFFFF"/>
          </a:solidFill>
          <a:ln/>
        </p:spPr>
      </p:sp>
      <p:sp>
        <p:nvSpPr>
          <p:cNvPr id="69" name="Text 66"/>
          <p:cNvSpPr txBox="1"/>
          <p:nvPr/>
        </p:nvSpPr>
        <p:spPr>
          <a:xfrm>
            <a:off x="6053328" y="3726180"/>
            <a:ext cx="5495544" cy="329184"/>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WARRANTY PARTS GP %    </a:t>
            </a:r>
            <a:pPr indent="0" marL="0">
              <a:buNone/>
            </a:pPr>
            <a:r>
              <a:rPr lang="en-US" sz="1400" dirty="0">
                <a:solidFill>
                  <a:srgbClr val="9AA3AD"/>
                </a:solidFill>
                <a:latin typeface="Inter" pitchFamily="34" charset="0"/>
                <a:ea typeface="Inter" pitchFamily="34" charset="-122"/>
                <a:cs typeface="Inter" pitchFamily="34" charset="-120"/>
              </a:rPr>
              <a:t>2025 </a:t>
            </a:r>
            <a:pPr indent="0" marL="0">
              <a:buNone/>
            </a:pPr>
            <a:r>
              <a:rPr lang="en-US" sz="1600" b="1" dirty="0">
                <a:solidFill>
                  <a:srgbClr val="9AA3AD"/>
                </a:solidFill>
                <a:latin typeface="Inter" pitchFamily="34" charset="0"/>
                <a:ea typeface="Inter" pitchFamily="34" charset="-122"/>
                <a:cs typeface="Inter" pitchFamily="34" charset="-120"/>
              </a:rPr>
              <a:t>42.6%    </a:t>
            </a:r>
            <a:pPr indent="0" marL="0">
              <a:buNone/>
            </a:pPr>
            <a:r>
              <a:rPr lang="en-US" sz="1400" dirty="0">
                <a:solidFill>
                  <a:srgbClr val="2587C5"/>
                </a:solidFill>
                <a:latin typeface="Inter" pitchFamily="34" charset="0"/>
                <a:ea typeface="Inter" pitchFamily="34" charset="-122"/>
                <a:cs typeface="Inter" pitchFamily="34" charset="-120"/>
              </a:rPr>
              <a:t>2026 </a:t>
            </a:r>
            <a:pPr indent="0" marL="0">
              <a:buNone/>
            </a:pPr>
            <a:r>
              <a:rPr lang="en-US" sz="1600" b="1" dirty="0">
                <a:solidFill>
                  <a:srgbClr val="2587C5"/>
                </a:solidFill>
                <a:latin typeface="Inter" pitchFamily="34" charset="0"/>
                <a:ea typeface="Inter" pitchFamily="34" charset="-122"/>
                <a:cs typeface="Inter" pitchFamily="34" charset="-120"/>
              </a:rPr>
              <a:t>44.7%</a:t>
            </a:r>
            <a:endParaRPr lang="en-US" sz="1400" dirty="0"/>
          </a:p>
        </p:txBody>
      </p:sp>
      <p:graphicFrame>
        <p:nvGraphicFramePr>
          <p:cNvPr id="70" name="Chart 1" descr=""/>
          <p:cNvGraphicFramePr/>
          <p:nvPr/>
        </p:nvGraphicFramePr>
        <p:xfrm>
          <a:off x="5916168" y="4037076"/>
          <a:ext cx="5769864" cy="1897380"/>
        </p:xfrm>
        <a:graphic>
          <a:graphicData uri="http://schemas.openxmlformats.org/drawingml/2006/chart">
            <c:chart xmlns:c="http://schemas.openxmlformats.org/drawingml/2006/chart" r:id="rId3"/>
          </a:graphicData>
        </a:graphic>
      </p:graphicFrame>
      <p:sp>
        <p:nvSpPr>
          <p:cNvPr id="71" name="Shape 67"/>
          <p:cNvSpPr/>
          <p:nvPr/>
        </p:nvSpPr>
        <p:spPr>
          <a:xfrm>
            <a:off x="457200" y="6126480"/>
            <a:ext cx="11274552" cy="615696"/>
          </a:xfrm>
          <a:prstGeom prst="rect">
            <a:avLst/>
          </a:prstGeom>
          <a:solidFill>
            <a:srgbClr val="EDF4FA"/>
          </a:solidFill>
          <a:ln/>
        </p:spPr>
      </p:sp>
      <p:sp>
        <p:nvSpPr>
          <p:cNvPr id="72"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$3,788,200 in gross profit added by rate increases approved at 19 stores this year. Warranty ELR is up $17 and parts margin 2.1 pts: higher rates draw more audits, so every claim has to hold up.</a:t>
            </a:r>
            <a:endParaRPr lang="en-US" sz="1600" dirty="0"/>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Gets Claims Debited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auditors check: the causes in the six audits, plus supporting evidence</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3496056" cy="1888236"/>
          </a:xfrm>
          <a:prstGeom prst="rect">
            <a:avLst/>
          </a:prstGeom>
          <a:solidFill>
            <a:srgbClr val="F7F7F7"/>
          </a:solidFill>
          <a:ln/>
        </p:spPr>
      </p:sp>
      <p:sp>
        <p:nvSpPr>
          <p:cNvPr id="9" name="Shape 7"/>
          <p:cNvSpPr/>
          <p:nvPr/>
        </p:nvSpPr>
        <p:spPr>
          <a:xfrm>
            <a:off x="685800" y="1865376"/>
            <a:ext cx="54864" cy="1888236"/>
          </a:xfrm>
          <a:prstGeom prst="rect">
            <a:avLst/>
          </a:prstGeom>
          <a:solidFill>
            <a:srgbClr val="C2352F"/>
          </a:solidFill>
          <a:ln/>
        </p:spPr>
      </p:sp>
      <p:sp>
        <p:nvSpPr>
          <p:cNvPr id="10" name="Text 8"/>
          <p:cNvSpPr txBox="1"/>
          <p:nvPr/>
        </p:nvSpPr>
        <p:spPr>
          <a:xfrm>
            <a:off x="886968"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Written documentation</a:t>
            </a:r>
            <a:endParaRPr lang="en-US" sz="1800" dirty="0"/>
          </a:p>
        </p:txBody>
      </p:sp>
      <p:sp>
        <p:nvSpPr>
          <p:cNvPr id="11" name="Text 9"/>
          <p:cNvSpPr txBox="1"/>
          <p:nvPr/>
        </p:nvSpPr>
        <p:spPr>
          <a:xfrm>
            <a:off x="886968"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Complaint, cause and correction written on the RO, and matching what was claimed</a:t>
            </a:r>
            <a:endParaRPr lang="en-US" sz="1500" dirty="0"/>
          </a:p>
        </p:txBody>
      </p:sp>
      <p:sp>
        <p:nvSpPr>
          <p:cNvPr id="12" name="Shape 10"/>
          <p:cNvSpPr/>
          <p:nvPr/>
        </p:nvSpPr>
        <p:spPr>
          <a:xfrm>
            <a:off x="4346448" y="1865376"/>
            <a:ext cx="3496056" cy="1888236"/>
          </a:xfrm>
          <a:prstGeom prst="rect">
            <a:avLst/>
          </a:prstGeom>
          <a:solidFill>
            <a:srgbClr val="F7F7F7"/>
          </a:solidFill>
          <a:ln/>
        </p:spPr>
      </p:sp>
      <p:sp>
        <p:nvSpPr>
          <p:cNvPr id="13" name="Shape 11"/>
          <p:cNvSpPr/>
          <p:nvPr/>
        </p:nvSpPr>
        <p:spPr>
          <a:xfrm>
            <a:off x="4346448" y="1865376"/>
            <a:ext cx="54864" cy="1888236"/>
          </a:xfrm>
          <a:prstGeom prst="rect">
            <a:avLst/>
          </a:prstGeom>
          <a:solidFill>
            <a:srgbClr val="C2352F"/>
          </a:solidFill>
          <a:ln/>
        </p:spPr>
      </p:sp>
      <p:sp>
        <p:nvSpPr>
          <p:cNvPr id="14" name="Text 12"/>
          <p:cNvSpPr txBox="1"/>
          <p:nvPr/>
        </p:nvSpPr>
        <p:spPr>
          <a:xfrm>
            <a:off x="4547616"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Required signatures</a:t>
            </a:r>
            <a:endParaRPr lang="en-US" sz="1800" dirty="0"/>
          </a:p>
        </p:txBody>
      </p:sp>
      <p:sp>
        <p:nvSpPr>
          <p:cNvPr id="15" name="Text 13"/>
          <p:cNvSpPr txBox="1"/>
          <p:nvPr/>
        </p:nvSpPr>
        <p:spPr>
          <a:xfrm>
            <a:off x="4547616"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Manager sign-off on added repairs; customer and manager signatures on in-stock units</a:t>
            </a:r>
            <a:endParaRPr lang="en-US" sz="1500" dirty="0"/>
          </a:p>
        </p:txBody>
      </p:sp>
      <p:sp>
        <p:nvSpPr>
          <p:cNvPr id="16" name="Shape 14"/>
          <p:cNvSpPr/>
          <p:nvPr/>
        </p:nvSpPr>
        <p:spPr>
          <a:xfrm>
            <a:off x="8007096" y="1865376"/>
            <a:ext cx="3496056" cy="1888236"/>
          </a:xfrm>
          <a:prstGeom prst="rect">
            <a:avLst/>
          </a:prstGeom>
          <a:solidFill>
            <a:srgbClr val="F7F7F7"/>
          </a:solidFill>
          <a:ln/>
        </p:spPr>
      </p:sp>
      <p:sp>
        <p:nvSpPr>
          <p:cNvPr id="17" name="Shape 15"/>
          <p:cNvSpPr/>
          <p:nvPr/>
        </p:nvSpPr>
        <p:spPr>
          <a:xfrm>
            <a:off x="8007096" y="1865376"/>
            <a:ext cx="54864" cy="1888236"/>
          </a:xfrm>
          <a:prstGeom prst="rect">
            <a:avLst/>
          </a:prstGeom>
          <a:solidFill>
            <a:srgbClr val="C2352F"/>
          </a:solidFill>
          <a:ln/>
        </p:spPr>
      </p:sp>
      <p:sp>
        <p:nvSpPr>
          <p:cNvPr id="18" name="Text 16"/>
          <p:cNvSpPr txBox="1"/>
          <p:nvPr/>
        </p:nvSpPr>
        <p:spPr>
          <a:xfrm>
            <a:off x="8208264"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Supporting evidence</a:t>
            </a:r>
            <a:endParaRPr lang="en-US" sz="1800" dirty="0"/>
          </a:p>
        </p:txBody>
      </p:sp>
      <p:sp>
        <p:nvSpPr>
          <p:cNvPr id="19" name="Text 17"/>
          <p:cNvSpPr txBox="1"/>
          <p:nvPr/>
        </p:nvSpPr>
        <p:spPr>
          <a:xfrm>
            <a:off x="8208264"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Photos of the failed part, test results and proof the required procedure was followed, where the manufacturer asks for it</a:t>
            </a:r>
            <a:endParaRPr lang="en-US" sz="1500" dirty="0"/>
          </a:p>
        </p:txBody>
      </p:sp>
      <p:sp>
        <p:nvSpPr>
          <p:cNvPr id="20" name="Shape 18"/>
          <p:cNvSpPr/>
          <p:nvPr/>
        </p:nvSpPr>
        <p:spPr>
          <a:xfrm>
            <a:off x="685800" y="3918204"/>
            <a:ext cx="3496056" cy="1888236"/>
          </a:xfrm>
          <a:prstGeom prst="rect">
            <a:avLst/>
          </a:prstGeom>
          <a:solidFill>
            <a:srgbClr val="F7F7F7"/>
          </a:solidFill>
          <a:ln/>
        </p:spPr>
      </p:sp>
      <p:sp>
        <p:nvSpPr>
          <p:cNvPr id="21" name="Shape 19"/>
          <p:cNvSpPr/>
          <p:nvPr/>
        </p:nvSpPr>
        <p:spPr>
          <a:xfrm>
            <a:off x="685800" y="3918204"/>
            <a:ext cx="54864" cy="1888236"/>
          </a:xfrm>
          <a:prstGeom prst="rect">
            <a:avLst/>
          </a:prstGeom>
          <a:solidFill>
            <a:srgbClr val="C2352F"/>
          </a:solidFill>
          <a:ln/>
        </p:spPr>
      </p:sp>
      <p:sp>
        <p:nvSpPr>
          <p:cNvPr id="22" name="Text 20"/>
          <p:cNvSpPr txBox="1"/>
          <p:nvPr/>
        </p:nvSpPr>
        <p:spPr>
          <a:xfrm>
            <a:off x="886968"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Out mileage</a:t>
            </a:r>
            <a:endParaRPr lang="en-US" sz="1800" dirty="0"/>
          </a:p>
        </p:txBody>
      </p:sp>
      <p:sp>
        <p:nvSpPr>
          <p:cNvPr id="23" name="Text 21"/>
          <p:cNvSpPr txBox="1"/>
          <p:nvPr/>
        </p:nvSpPr>
        <p:spPr>
          <a:xfrm>
            <a:off x="886968"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Recorded on every RO and consistent with the mileage in</a:t>
            </a:r>
            <a:endParaRPr lang="en-US" sz="1500" dirty="0"/>
          </a:p>
        </p:txBody>
      </p:sp>
      <p:sp>
        <p:nvSpPr>
          <p:cNvPr id="24" name="Shape 22"/>
          <p:cNvSpPr/>
          <p:nvPr/>
        </p:nvSpPr>
        <p:spPr>
          <a:xfrm>
            <a:off x="4346448" y="3918204"/>
            <a:ext cx="3496056" cy="1888236"/>
          </a:xfrm>
          <a:prstGeom prst="rect">
            <a:avLst/>
          </a:prstGeom>
          <a:solidFill>
            <a:srgbClr val="F7F7F7"/>
          </a:solidFill>
          <a:ln/>
        </p:spPr>
      </p:sp>
      <p:sp>
        <p:nvSpPr>
          <p:cNvPr id="25" name="Shape 23"/>
          <p:cNvSpPr/>
          <p:nvPr/>
        </p:nvSpPr>
        <p:spPr>
          <a:xfrm>
            <a:off x="4346448" y="3918204"/>
            <a:ext cx="54864" cy="1888236"/>
          </a:xfrm>
          <a:prstGeom prst="rect">
            <a:avLst/>
          </a:prstGeom>
          <a:solidFill>
            <a:srgbClr val="C2352F"/>
          </a:solidFill>
          <a:ln/>
        </p:spPr>
      </p:sp>
      <p:sp>
        <p:nvSpPr>
          <p:cNvPr id="26" name="Text 24"/>
          <p:cNvSpPr txBox="1"/>
          <p:nvPr/>
        </p:nvSpPr>
        <p:spPr>
          <a:xfrm>
            <a:off x="4547616"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Punch times</a:t>
            </a:r>
            <a:endParaRPr lang="en-US" sz="1800" dirty="0"/>
          </a:p>
        </p:txBody>
      </p:sp>
      <p:sp>
        <p:nvSpPr>
          <p:cNvPr id="27" name="Text 25"/>
          <p:cNvSpPr txBox="1"/>
          <p:nvPr/>
        </p:nvSpPr>
        <p:spPr>
          <a:xfrm>
            <a:off x="4547616"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Technician clock times on the RO support the hours claimed</a:t>
            </a:r>
            <a:endParaRPr lang="en-US" sz="1500" dirty="0"/>
          </a:p>
        </p:txBody>
      </p:sp>
      <p:sp>
        <p:nvSpPr>
          <p:cNvPr id="28" name="Shape 26"/>
          <p:cNvSpPr/>
          <p:nvPr/>
        </p:nvSpPr>
        <p:spPr>
          <a:xfrm>
            <a:off x="8007096" y="3918204"/>
            <a:ext cx="3496056" cy="1888236"/>
          </a:xfrm>
          <a:prstGeom prst="rect">
            <a:avLst/>
          </a:prstGeom>
          <a:solidFill>
            <a:srgbClr val="F7F7F7"/>
          </a:solidFill>
          <a:ln/>
        </p:spPr>
      </p:sp>
      <p:sp>
        <p:nvSpPr>
          <p:cNvPr id="29" name="Shape 27"/>
          <p:cNvSpPr/>
          <p:nvPr/>
        </p:nvSpPr>
        <p:spPr>
          <a:xfrm>
            <a:off x="8007096" y="3918204"/>
            <a:ext cx="54864" cy="1888236"/>
          </a:xfrm>
          <a:prstGeom prst="rect">
            <a:avLst/>
          </a:prstGeom>
          <a:solidFill>
            <a:srgbClr val="C2352F"/>
          </a:solidFill>
          <a:ln/>
        </p:spPr>
      </p:sp>
      <p:sp>
        <p:nvSpPr>
          <p:cNvPr id="30" name="Text 28"/>
          <p:cNvSpPr txBox="1"/>
          <p:nvPr/>
        </p:nvSpPr>
        <p:spPr>
          <a:xfrm>
            <a:off x="8208264"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Manufacturer authorization</a:t>
            </a:r>
            <a:endParaRPr lang="en-US" sz="1800" dirty="0"/>
          </a:p>
        </p:txBody>
      </p:sp>
      <p:sp>
        <p:nvSpPr>
          <p:cNvPr id="31" name="Text 29"/>
          <p:cNvSpPr txBox="1"/>
          <p:nvPr/>
        </p:nvSpPr>
        <p:spPr>
          <a:xfrm>
            <a:off x="8208264"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Prior approval on file wherever the manufacturer requires it</a:t>
            </a:r>
            <a:endParaRPr lang="en-US" sz="1500" dirty="0"/>
          </a:p>
        </p:txBody>
      </p:sp>
      <p:sp>
        <p:nvSpPr>
          <p:cNvPr id="32" name="Shape 30"/>
          <p:cNvSpPr/>
          <p:nvPr/>
        </p:nvSpPr>
        <p:spPr>
          <a:xfrm>
            <a:off x="457200" y="6126480"/>
            <a:ext cx="11274552" cy="615696"/>
          </a:xfrm>
          <a:prstGeom prst="rect">
            <a:avLst/>
          </a:prstGeom>
          <a:solidFill>
            <a:srgbClr val="FBEBEA"/>
          </a:solidFill>
          <a:ln/>
        </p:spPr>
      </p:sp>
      <p:sp>
        <p:nvSpPr>
          <p:cNvPr id="33" name="Text 3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audits took back over $400,000, more than a tenth of what rate increases brought in this year. Every cause here is documentation the store controls.</a:t>
            </a:r>
            <a:endParaRPr lang="en-US" sz="1600" dirty="0"/>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Keep the Claim Paid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compliance, in five steps</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2031797" cy="3941064"/>
          </a:xfrm>
          <a:prstGeom prst="rect">
            <a:avLst/>
          </a:prstGeom>
          <a:solidFill>
            <a:srgbClr val="F7F7F7"/>
          </a:solidFill>
          <a:ln/>
        </p:spPr>
      </p:sp>
      <p:sp>
        <p:nvSpPr>
          <p:cNvPr id="9" name="Shape 7"/>
          <p:cNvSpPr/>
          <p:nvPr/>
        </p:nvSpPr>
        <p:spPr>
          <a:xfrm>
            <a:off x="685800" y="1865376"/>
            <a:ext cx="54864" cy="3941064"/>
          </a:xfrm>
          <a:prstGeom prst="rect">
            <a:avLst/>
          </a:prstGeom>
          <a:solidFill>
            <a:srgbClr val="2587C5"/>
          </a:solidFill>
          <a:ln/>
        </p:spPr>
      </p:sp>
      <p:sp>
        <p:nvSpPr>
          <p:cNvPr id="10" name="Text 8"/>
          <p:cNvSpPr txBox="1"/>
          <p:nvPr/>
        </p:nvSpPr>
        <p:spPr>
          <a:xfrm>
            <a:off x="886968"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1  Documented policies</a:t>
            </a:r>
            <a:endParaRPr lang="en-US" sz="1800" dirty="0"/>
          </a:p>
        </p:txBody>
      </p:sp>
      <p:sp>
        <p:nvSpPr>
          <p:cNvPr id="11" name="Text 9"/>
          <p:cNvSpPr txBox="1"/>
          <p:nvPr/>
        </p:nvSpPr>
        <p:spPr>
          <a:xfrm>
            <a:off x="886968"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Each manufacturer's current warranty policy manual, where the team can reach it</a:t>
            </a:r>
            <a:endParaRPr lang="en-US" sz="1500" dirty="0"/>
          </a:p>
        </p:txBody>
      </p:sp>
      <p:sp>
        <p:nvSpPr>
          <p:cNvPr id="12" name="Shape 10"/>
          <p:cNvSpPr/>
          <p:nvPr/>
        </p:nvSpPr>
        <p:spPr>
          <a:xfrm>
            <a:off x="2882189" y="1865376"/>
            <a:ext cx="2031797" cy="3941064"/>
          </a:xfrm>
          <a:prstGeom prst="rect">
            <a:avLst/>
          </a:prstGeom>
          <a:solidFill>
            <a:srgbClr val="F7F7F7"/>
          </a:solidFill>
          <a:ln/>
        </p:spPr>
      </p:sp>
      <p:sp>
        <p:nvSpPr>
          <p:cNvPr id="13" name="Shape 11"/>
          <p:cNvSpPr/>
          <p:nvPr/>
        </p:nvSpPr>
        <p:spPr>
          <a:xfrm>
            <a:off x="2882189" y="1865376"/>
            <a:ext cx="54864" cy="3941064"/>
          </a:xfrm>
          <a:prstGeom prst="rect">
            <a:avLst/>
          </a:prstGeom>
          <a:solidFill>
            <a:srgbClr val="2587C5"/>
          </a:solidFill>
          <a:ln/>
        </p:spPr>
      </p:sp>
      <p:sp>
        <p:nvSpPr>
          <p:cNvPr id="14" name="Text 12"/>
          <p:cNvSpPr txBox="1"/>
          <p:nvPr/>
        </p:nvSpPr>
        <p:spPr>
          <a:xfrm>
            <a:off x="3083357"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2  Defined process</a:t>
            </a:r>
            <a:endParaRPr lang="en-US" sz="1800" dirty="0"/>
          </a:p>
        </p:txBody>
      </p:sp>
      <p:sp>
        <p:nvSpPr>
          <p:cNvPr id="15" name="Text 13"/>
          <p:cNvSpPr txBox="1"/>
          <p:nvPr/>
        </p:nvSpPr>
        <p:spPr>
          <a:xfrm>
            <a:off x="3083357"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Who writes, who approves, who submits: every claim handled the same way</a:t>
            </a:r>
            <a:endParaRPr lang="en-US" sz="1500" dirty="0"/>
          </a:p>
        </p:txBody>
      </p:sp>
      <p:sp>
        <p:nvSpPr>
          <p:cNvPr id="16" name="Shape 14"/>
          <p:cNvSpPr/>
          <p:nvPr/>
        </p:nvSpPr>
        <p:spPr>
          <a:xfrm>
            <a:off x="5078578" y="1865376"/>
            <a:ext cx="2031797" cy="3941064"/>
          </a:xfrm>
          <a:prstGeom prst="rect">
            <a:avLst/>
          </a:prstGeom>
          <a:solidFill>
            <a:srgbClr val="F7F7F7"/>
          </a:solidFill>
          <a:ln/>
        </p:spPr>
      </p:sp>
      <p:sp>
        <p:nvSpPr>
          <p:cNvPr id="17" name="Shape 15"/>
          <p:cNvSpPr/>
          <p:nvPr/>
        </p:nvSpPr>
        <p:spPr>
          <a:xfrm>
            <a:off x="5078578" y="1865376"/>
            <a:ext cx="54864" cy="3941064"/>
          </a:xfrm>
          <a:prstGeom prst="rect">
            <a:avLst/>
          </a:prstGeom>
          <a:solidFill>
            <a:srgbClr val="2587C5"/>
          </a:solidFill>
          <a:ln/>
        </p:spPr>
      </p:sp>
      <p:sp>
        <p:nvSpPr>
          <p:cNvPr id="18" name="Text 16"/>
          <p:cNvSpPr txBox="1"/>
          <p:nvPr/>
        </p:nvSpPr>
        <p:spPr>
          <a:xfrm>
            <a:off x="5279746"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3  Create awareness</a:t>
            </a:r>
            <a:endParaRPr lang="en-US" sz="1800" dirty="0"/>
          </a:p>
        </p:txBody>
      </p:sp>
      <p:sp>
        <p:nvSpPr>
          <p:cNvPr id="19" name="Text 17"/>
          <p:cNvSpPr txBox="1"/>
          <p:nvPr/>
        </p:nvSpPr>
        <p:spPr>
          <a:xfrm>
            <a:off x="5279746"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Advisors, technicians and warranty admins know what an auditor checks</a:t>
            </a:r>
            <a:endParaRPr lang="en-US" sz="1500" dirty="0"/>
          </a:p>
        </p:txBody>
      </p:sp>
      <p:sp>
        <p:nvSpPr>
          <p:cNvPr id="20" name="Shape 18"/>
          <p:cNvSpPr/>
          <p:nvPr/>
        </p:nvSpPr>
        <p:spPr>
          <a:xfrm>
            <a:off x="7274966" y="1865376"/>
            <a:ext cx="2031797" cy="3941064"/>
          </a:xfrm>
          <a:prstGeom prst="rect">
            <a:avLst/>
          </a:prstGeom>
          <a:solidFill>
            <a:srgbClr val="F7F7F7"/>
          </a:solidFill>
          <a:ln/>
        </p:spPr>
      </p:sp>
      <p:sp>
        <p:nvSpPr>
          <p:cNvPr id="21" name="Shape 19"/>
          <p:cNvSpPr/>
          <p:nvPr/>
        </p:nvSpPr>
        <p:spPr>
          <a:xfrm>
            <a:off x="7274966" y="1865376"/>
            <a:ext cx="54864" cy="3941064"/>
          </a:xfrm>
          <a:prstGeom prst="rect">
            <a:avLst/>
          </a:prstGeom>
          <a:solidFill>
            <a:srgbClr val="2587C5"/>
          </a:solidFill>
          <a:ln/>
        </p:spPr>
      </p:sp>
      <p:sp>
        <p:nvSpPr>
          <p:cNvPr id="22" name="Text 20"/>
          <p:cNvSpPr txBox="1"/>
          <p:nvPr/>
        </p:nvSpPr>
        <p:spPr>
          <a:xfrm>
            <a:off x="7476134"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4  Safety nets</a:t>
            </a:r>
            <a:endParaRPr lang="en-US" sz="1800" dirty="0"/>
          </a:p>
        </p:txBody>
      </p:sp>
      <p:sp>
        <p:nvSpPr>
          <p:cNvPr id="23" name="Text 21"/>
          <p:cNvSpPr txBox="1"/>
          <p:nvPr/>
        </p:nvSpPr>
        <p:spPr>
          <a:xfrm>
            <a:off x="7476134"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Signatures, out mileage, punch times and authorizations checked before the claim goes in</a:t>
            </a:r>
            <a:endParaRPr lang="en-US" sz="1500" dirty="0"/>
          </a:p>
        </p:txBody>
      </p:sp>
      <p:sp>
        <p:nvSpPr>
          <p:cNvPr id="24" name="Shape 22"/>
          <p:cNvSpPr/>
          <p:nvPr/>
        </p:nvSpPr>
        <p:spPr>
          <a:xfrm>
            <a:off x="9471355" y="1865376"/>
            <a:ext cx="2031797" cy="3941064"/>
          </a:xfrm>
          <a:prstGeom prst="rect">
            <a:avLst/>
          </a:prstGeom>
          <a:solidFill>
            <a:srgbClr val="F7F7F7"/>
          </a:solidFill>
          <a:ln/>
        </p:spPr>
      </p:sp>
      <p:sp>
        <p:nvSpPr>
          <p:cNvPr id="25" name="Shape 23"/>
          <p:cNvSpPr/>
          <p:nvPr/>
        </p:nvSpPr>
        <p:spPr>
          <a:xfrm>
            <a:off x="9471355" y="1865376"/>
            <a:ext cx="54864" cy="3941064"/>
          </a:xfrm>
          <a:prstGeom prst="rect">
            <a:avLst/>
          </a:prstGeom>
          <a:solidFill>
            <a:srgbClr val="2587C5"/>
          </a:solidFill>
          <a:ln/>
        </p:spPr>
      </p:sp>
      <p:sp>
        <p:nvSpPr>
          <p:cNvPr id="26" name="Text 24"/>
          <p:cNvSpPr txBox="1"/>
          <p:nvPr/>
        </p:nvSpPr>
        <p:spPr>
          <a:xfrm>
            <a:off x="9672523"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5  Spot-check and self-audit</a:t>
            </a:r>
            <a:endParaRPr lang="en-US" sz="1800" dirty="0"/>
          </a:p>
        </p:txBody>
      </p:sp>
      <p:sp>
        <p:nvSpPr>
          <p:cNvPr id="27" name="Text 25"/>
          <p:cNvSpPr txBox="1"/>
          <p:nvPr/>
        </p:nvSpPr>
        <p:spPr>
          <a:xfrm>
            <a:off x="9672523"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Pull warranty ROs every month and audit them the way the factory will</a:t>
            </a:r>
            <a:endParaRPr lang="en-US" sz="1500" dirty="0"/>
          </a:p>
        </p:txBody>
      </p:sp>
      <p:sp>
        <p:nvSpPr>
          <p:cNvPr id="28" name="Shape 26"/>
          <p:cNvSpPr/>
          <p:nvPr/>
        </p:nvSpPr>
        <p:spPr>
          <a:xfrm>
            <a:off x="457200" y="6126480"/>
            <a:ext cx="11274552" cy="371856"/>
          </a:xfrm>
          <a:prstGeom prst="rect">
            <a:avLst/>
          </a:prstGeom>
          <a:solidFill>
            <a:srgbClr val="EDF4FA"/>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General Manager is responsible for making sure warranty policies and procedures are followed.</a:t>
            </a:r>
            <a:endParaRPr lang="en-US" sz="1600" dirty="0"/>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$44.78M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$47.07M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+$2.29M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gross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+$2.29M (+5.1%) of warranty gross year to date; 6 of nine months ahead of 2025, best September at +$877K. This is money the manufacturer owes us: process keeps it.</a:t>
            </a:r>
            <a:endParaRPr lang="en-US" sz="1600" dirty="0"/>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$47.07M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$6.13M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575158"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$5.28M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391651"/>
            <a:ext cx="1260145"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$4.23M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2980944" y="2631546"/>
            <a:ext cx="1234738"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$4.14M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916344"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$3.07M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111337"/>
            <a:ext cx="608663"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7" name="Shape 35"/>
          <p:cNvSpPr/>
          <p:nvPr/>
        </p:nvSpPr>
        <p:spPr>
          <a:xfrm>
            <a:off x="2980944" y="3351233"/>
            <a:ext cx="539977"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$1.81M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591128"/>
            <a:ext cx="454485"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$1.52M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2980944" y="3831024"/>
            <a:ext cx="447286"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2980944" y="4070920"/>
            <a:ext cx="326866"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2980944" y="4310815"/>
            <a:ext cx="311228"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550711"/>
            <a:ext cx="305091"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01867"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2980944" y="5030502"/>
            <a:ext cx="298327"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2980944" y="5270397"/>
            <a:ext cx="286844"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$962,206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2980944" y="5510293"/>
            <a:ext cx="274516"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$920,852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7" name="Shape 75"/>
          <p:cNvSpPr/>
          <p:nvPr/>
        </p:nvSpPr>
        <p:spPr>
          <a:xfrm>
            <a:off x="2980944" y="5750188"/>
            <a:ext cx="268967"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$902,240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1" name="Shape 79"/>
          <p:cNvSpPr/>
          <p:nvPr/>
        </p:nvSpPr>
        <p:spPr>
          <a:xfrm>
            <a:off x="8531352" y="1911860"/>
            <a:ext cx="260447"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$873,658</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8531352" y="2151755"/>
            <a:ext cx="257699"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$864,440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31352" y="2391651"/>
            <a:ext cx="249576"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$837,192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31352" y="2631546"/>
            <a:ext cx="242561"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$813,660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8531352" y="2871442"/>
            <a:ext cx="224764"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$753,963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1" name="Shape 99"/>
          <p:cNvSpPr/>
          <p:nvPr/>
        </p:nvSpPr>
        <p:spPr>
          <a:xfrm>
            <a:off x="8531352" y="3111337"/>
            <a:ext cx="209887"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$704,059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31352" y="3351233"/>
            <a:ext cx="197473"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$662,414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31352" y="3591128"/>
            <a:ext cx="172153"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$577,479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3831024"/>
            <a:ext cx="170825"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$573,025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8531352" y="4070920"/>
            <a:ext cx="170412"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$571,642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310815"/>
            <a:ext cx="152644"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$512,039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8531352" y="4550711"/>
            <a:ext cx="14414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$483,524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531352" y="4790606"/>
            <a:ext cx="12012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$402,960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3" name="Shape 131"/>
          <p:cNvSpPr/>
          <p:nvPr/>
        </p:nvSpPr>
        <p:spPr>
          <a:xfrm>
            <a:off x="8531352" y="5030502"/>
            <a:ext cx="113234"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$379,838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270397"/>
            <a:ext cx="65139"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$218,505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31352" y="5510293"/>
            <a:ext cx="40300"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$135,184</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Cadillac leads at $6.13M of the group's $47.07M; Honda Flagstaff is smallest at $135,184.</a:t>
            </a:r>
            <a:endParaRPr lang="en-US" sz="1600" dirty="0"/>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+$2.29M  ·  +5.1%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+$2.03M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+49.5%</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579876" y="2405582"/>
            <a:ext cx="277267"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+$985K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+30.4%</a:t>
            </a:r>
            <a:endParaRPr lang="en-US" sz="1200" dirty="0"/>
          </a:p>
        </p:txBody>
      </p:sp>
      <p:sp>
        <p:nvSpPr>
          <p:cNvPr id="26" name="Shape 24"/>
          <p:cNvSpPr/>
          <p:nvPr/>
        </p:nvSpPr>
        <p:spPr>
          <a:xfrm>
            <a:off x="5907024" y="2390887"/>
            <a:ext cx="54864" cy="132319"/>
          </a:xfrm>
          <a:prstGeom prst="rect">
            <a:avLst/>
          </a:prstGeom>
          <a:solidFill>
            <a:srgbClr val="12A566"/>
          </a:solidFill>
          <a:ln/>
        </p:spPr>
      </p:sp>
      <p:sp>
        <p:nvSpPr>
          <p:cNvPr id="27" name="Text 25"/>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579876" y="2629341"/>
            <a:ext cx="159416" cy="102929"/>
          </a:xfrm>
          <a:prstGeom prst="rect">
            <a:avLst/>
          </a:prstGeom>
          <a:solidFill>
            <a:srgbClr val="12A566"/>
          </a:solidFill>
          <a:ln/>
        </p:spPr>
      </p:sp>
      <p:sp>
        <p:nvSpPr>
          <p:cNvPr id="30" name="Text 28"/>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+$566K</a:t>
            </a:r>
            <a:endParaRPr lang="en-US" sz="1200" dirty="0"/>
          </a:p>
        </p:txBody>
      </p:sp>
      <p:sp>
        <p:nvSpPr>
          <p:cNvPr id="31" name="Text 29"/>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32" name="Text 30"/>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3" name="Text 31"/>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4" name="Shape 32"/>
          <p:cNvSpPr/>
          <p:nvPr/>
        </p:nvSpPr>
        <p:spPr>
          <a:xfrm>
            <a:off x="3579876" y="2853100"/>
            <a:ext cx="142804" cy="102929"/>
          </a:xfrm>
          <a:prstGeom prst="rect">
            <a:avLst/>
          </a:prstGeom>
          <a:solidFill>
            <a:srgbClr val="12A566"/>
          </a:solidFill>
          <a:ln/>
        </p:spPr>
      </p:sp>
      <p:sp>
        <p:nvSpPr>
          <p:cNvPr id="35" name="Text 33"/>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+$507K</a:t>
            </a:r>
            <a:endParaRPr lang="en-US" sz="1200" dirty="0"/>
          </a:p>
        </p:txBody>
      </p:sp>
      <p:sp>
        <p:nvSpPr>
          <p:cNvPr id="36" name="Text 34"/>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37" name="Text 35"/>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579876" y="3076859"/>
            <a:ext cx="89161" cy="102929"/>
          </a:xfrm>
          <a:prstGeom prst="rect">
            <a:avLst/>
          </a:prstGeom>
          <a:solidFill>
            <a:srgbClr val="12A566"/>
          </a:solidFill>
          <a:ln/>
        </p:spPr>
      </p:sp>
      <p:sp>
        <p:nvSpPr>
          <p:cNvPr id="40" name="Text 38"/>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+$317K</a:t>
            </a:r>
            <a:endParaRPr lang="en-US" sz="1200" dirty="0"/>
          </a:p>
        </p:txBody>
      </p:sp>
      <p:sp>
        <p:nvSpPr>
          <p:cNvPr id="41" name="Text 39"/>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4" name="Shape 42"/>
          <p:cNvSpPr/>
          <p:nvPr/>
        </p:nvSpPr>
        <p:spPr>
          <a:xfrm>
            <a:off x="3579876" y="3300618"/>
            <a:ext cx="5458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+38.0%</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0" name="Shape 48"/>
          <p:cNvSpPr/>
          <p:nvPr/>
        </p:nvSpPr>
        <p:spPr>
          <a:xfrm>
            <a:off x="3579876" y="3524377"/>
            <a:ext cx="4774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5" name="Shape 53"/>
          <p:cNvSpPr/>
          <p:nvPr/>
        </p:nvSpPr>
        <p:spPr>
          <a:xfrm>
            <a:off x="3579876" y="3748136"/>
            <a:ext cx="41257"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0" name="Shape 58"/>
          <p:cNvSpPr/>
          <p:nvPr/>
        </p:nvSpPr>
        <p:spPr>
          <a:xfrm>
            <a:off x="3579876" y="3971895"/>
            <a:ext cx="36189"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+$129K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5" name="Shape 63"/>
          <p:cNvSpPr/>
          <p:nvPr/>
        </p:nvSpPr>
        <p:spPr>
          <a:xfrm>
            <a:off x="3579876" y="4195654"/>
            <a:ext cx="33030"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579876" y="4419414"/>
            <a:ext cx="32509"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5" name="Shape 73"/>
          <p:cNvSpPr/>
          <p:nvPr/>
        </p:nvSpPr>
        <p:spPr>
          <a:xfrm>
            <a:off x="3579876" y="4643173"/>
            <a:ext cx="13097"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0" name="Shape 78"/>
          <p:cNvSpPr/>
          <p:nvPr/>
        </p:nvSpPr>
        <p:spPr>
          <a:xfrm>
            <a:off x="3579876" y="4866932"/>
            <a:ext cx="1280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5" name="Shape 83"/>
          <p:cNvSpPr/>
          <p:nvPr/>
        </p:nvSpPr>
        <p:spPr>
          <a:xfrm>
            <a:off x="3579876" y="5090691"/>
            <a:ext cx="12802"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0" name="Shape 88"/>
          <p:cNvSpPr/>
          <p:nvPr/>
        </p:nvSpPr>
        <p:spPr>
          <a:xfrm>
            <a:off x="3579876" y="5314450"/>
            <a:ext cx="12802"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5" name="Shape 93"/>
          <p:cNvSpPr/>
          <p:nvPr/>
        </p:nvSpPr>
        <p:spPr>
          <a:xfrm>
            <a:off x="3579876" y="5538209"/>
            <a:ext cx="12802"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0" name="Shape 98"/>
          <p:cNvSpPr/>
          <p:nvPr/>
        </p:nvSpPr>
        <p:spPr>
          <a:xfrm>
            <a:off x="3579876" y="5761968"/>
            <a:ext cx="1280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130284" y="2181823"/>
            <a:ext cx="12802"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2774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5" name="Shape 113"/>
          <p:cNvSpPr/>
          <p:nvPr/>
        </p:nvSpPr>
        <p:spPr>
          <a:xfrm>
            <a:off x="9127670" y="2629341"/>
            <a:ext cx="12802"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9127631" y="2853100"/>
            <a:ext cx="12802"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121264" y="3076859"/>
            <a:ext cx="12802"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0" name="Shape 128"/>
          <p:cNvSpPr/>
          <p:nvPr/>
        </p:nvSpPr>
        <p:spPr>
          <a:xfrm>
            <a:off x="9119676" y="3300618"/>
            <a:ext cx="12802"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−$38K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5" name="Shape 133"/>
          <p:cNvSpPr/>
          <p:nvPr/>
        </p:nvSpPr>
        <p:spPr>
          <a:xfrm>
            <a:off x="9119152"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9113768" y="3748136"/>
            <a:ext cx="16516"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−21.2%</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5" name="Shape 143"/>
          <p:cNvSpPr/>
          <p:nvPr/>
        </p:nvSpPr>
        <p:spPr>
          <a:xfrm>
            <a:off x="9106887" y="3971895"/>
            <a:ext cx="23397"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1" name="Shape 149"/>
          <p:cNvSpPr/>
          <p:nvPr/>
        </p:nvSpPr>
        <p:spPr>
          <a:xfrm>
            <a:off x="9084919" y="4195654"/>
            <a:ext cx="45365"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−$161K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56" name="Shape 154"/>
          <p:cNvSpPr/>
          <p:nvPr/>
        </p:nvSpPr>
        <p:spPr>
          <a:xfrm>
            <a:off x="9084120" y="4419414"/>
            <a:ext cx="46164"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−$164K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9071585" y="4643173"/>
            <a:ext cx="58699"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9014745" y="4866932"/>
            <a:ext cx="115539"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−$410K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−41.7%</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2" name="Shape 170"/>
          <p:cNvSpPr/>
          <p:nvPr/>
        </p:nvSpPr>
        <p:spPr>
          <a:xfrm>
            <a:off x="8970632" y="5090691"/>
            <a:ext cx="159652"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−$567K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77" name="Shape 175"/>
          <p:cNvSpPr/>
          <p:nvPr/>
        </p:nvSpPr>
        <p:spPr>
          <a:xfrm>
            <a:off x="8965208" y="5314450"/>
            <a:ext cx="165076"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−$586K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2" name="Shape 180"/>
          <p:cNvSpPr/>
          <p:nvPr/>
        </p:nvSpPr>
        <p:spPr>
          <a:xfrm>
            <a:off x="8898849" y="5538209"/>
            <a:ext cx="231435"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−$822K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89" name="Shape 187"/>
          <p:cNvSpPr/>
          <p:nvPr/>
        </p:nvSpPr>
        <p:spPr>
          <a:xfrm>
            <a:off x="457200" y="6126480"/>
            <a:ext cx="11274552" cy="615696"/>
          </a:xfrm>
          <a:prstGeom prst="rect">
            <a:avLst/>
          </a:prstGeom>
          <a:solidFill>
            <a:srgbClr val="E6F6EE"/>
          </a:solidFill>
          <a:ln/>
        </p:spPr>
      </p:sp>
      <p:sp>
        <p:nvSpPr>
          <p:cNvPr id="190" name="Text 18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 of 33 stores grew warranty gross. Cadillac added the most at +$2.03M (+49.5%); VW Henderson fell most at −$822K (−35.0%).</a:t>
            </a:r>
            <a:endParaRPr lang="en-US" sz="1600" dirty="0"/>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$4.10M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$6.13M</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+49.5%</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$510K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$704K</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$4.23M</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+30.4%</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$572K</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$837K</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$573K</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−41.7%</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$218K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$135K</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−38.1%</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$1.52M</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−35.0%</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$1.10M</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−34.8%</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$403K</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−28.9%</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$156K</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+57.0%</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$244K</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+49.6%</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$135K</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+41.6%</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$139K</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+38.2%</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$125K</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Cadillac, Lexus and Audi Henderson what changed. Ask Acura, Honda Flagstaff and VW Henderson what got in the way. Ask Honda North, LR LV and Nissan what they started this year.</a:t>
            </a:r>
            <a:endParaRPr lang="en-US" sz="1600" dirty="0"/>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Better Than Last Year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2026310" cy="45720"/>
          </a:xfrm>
          <a:prstGeom prst="rect">
            <a:avLst/>
          </a:prstGeom>
          <a:solidFill>
            <a:srgbClr val="12A566"/>
          </a:solidFill>
          <a:ln/>
        </p:spPr>
      </p:sp>
      <p:sp>
        <p:nvSpPr>
          <p:cNvPr id="20" name="Text 18"/>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22" name="Text 20"/>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23" name="Text 21"/>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+46.0%</a:t>
            </a:r>
            <a:endParaRPr lang="en-US" sz="1600" dirty="0"/>
          </a:p>
        </p:txBody>
      </p:sp>
      <p:sp>
        <p:nvSpPr>
          <p:cNvPr id="24" name="Text 22"/>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25" name="Text 23"/>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+45.3%</a:t>
            </a:r>
            <a:endParaRPr lang="en-US" sz="1600" dirty="0"/>
          </a:p>
        </p:txBody>
      </p:sp>
      <p:sp>
        <p:nvSpPr>
          <p:cNvPr id="26" name="Text 24"/>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7" name="Text 25"/>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+33.8%</a:t>
            </a:r>
            <a:endParaRPr lang="en-US" sz="1600" dirty="0"/>
          </a:p>
        </p:txBody>
      </p:sp>
      <p:sp>
        <p:nvSpPr>
          <p:cNvPr id="28" name="Text 26"/>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29" name="Text 27"/>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30" name="Text 28"/>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1" name="Text 29"/>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32" name="Text 30"/>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Text 31"/>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−20.1%</a:t>
            </a:r>
            <a:endParaRPr lang="en-US" sz="1600" dirty="0"/>
          </a:p>
        </p:txBody>
      </p:sp>
      <p:sp>
        <p:nvSpPr>
          <p:cNvPr id="34" name="Shape 32"/>
          <p:cNvSpPr/>
          <p:nvPr/>
        </p:nvSpPr>
        <p:spPr>
          <a:xfrm>
            <a:off x="3105302" y="1691640"/>
            <a:ext cx="2026310" cy="45720"/>
          </a:xfrm>
          <a:prstGeom prst="rect">
            <a:avLst/>
          </a:prstGeom>
          <a:solidFill>
            <a:srgbClr val="12A566"/>
          </a:solidFill>
          <a:ln/>
        </p:spPr>
      </p:sp>
      <p:sp>
        <p:nvSpPr>
          <p:cNvPr id="35" name="Text 33"/>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37" name="Text 35"/>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38" name="Text 36"/>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+13.6%</a:t>
            </a:r>
            <a:endParaRPr lang="en-US" sz="1600" dirty="0"/>
          </a:p>
        </p:txBody>
      </p:sp>
      <p:sp>
        <p:nvSpPr>
          <p:cNvPr id="39" name="Text 37"/>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0" name="Text 38"/>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41" name="Text 39"/>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42" name="Text 40"/>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+10.5%</a:t>
            </a:r>
            <a:endParaRPr lang="en-US" sz="1600" dirty="0"/>
          </a:p>
        </p:txBody>
      </p:sp>
      <p:sp>
        <p:nvSpPr>
          <p:cNvPr id="43" name="Text 41"/>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4" name="Text 42"/>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Text 43"/>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−11.4%</a:t>
            </a:r>
            <a:endParaRPr lang="en-US" sz="1600" dirty="0"/>
          </a:p>
        </p:txBody>
      </p:sp>
      <p:sp>
        <p:nvSpPr>
          <p:cNvPr id="47" name="Text 45"/>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Text 46"/>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49" name="Shape 47"/>
          <p:cNvSpPr/>
          <p:nvPr/>
        </p:nvSpPr>
        <p:spPr>
          <a:xfrm>
            <a:off x="5241341" y="1691640"/>
            <a:ext cx="2026310" cy="45720"/>
          </a:xfrm>
          <a:prstGeom prst="rect">
            <a:avLst/>
          </a:prstGeom>
          <a:solidFill>
            <a:srgbClr val="12A566"/>
          </a:solidFill>
          <a:ln/>
        </p:spPr>
      </p:sp>
      <p:sp>
        <p:nvSpPr>
          <p:cNvPr id="50" name="Text 48"/>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52" name="Text 50"/>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3" name="Text 51"/>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+39.1%</a:t>
            </a:r>
            <a:endParaRPr lang="en-US" sz="1600" dirty="0"/>
          </a:p>
        </p:txBody>
      </p:sp>
      <p:sp>
        <p:nvSpPr>
          <p:cNvPr id="54" name="Text 52"/>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5" name="Text 53"/>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56" name="Text 54"/>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57" name="Text 55"/>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+30.7%</a:t>
            </a:r>
            <a:endParaRPr lang="en-US" sz="1600" dirty="0"/>
          </a:p>
        </p:txBody>
      </p:sp>
      <p:sp>
        <p:nvSpPr>
          <p:cNvPr id="58" name="Text 56"/>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59" name="Text 57"/>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60" name="Text 58"/>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1" name="Text 59"/>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62" name="Text 60"/>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63" name="Text 61"/>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64" name="Shape 62"/>
          <p:cNvSpPr/>
          <p:nvPr/>
        </p:nvSpPr>
        <p:spPr>
          <a:xfrm>
            <a:off x="7377379" y="1691640"/>
            <a:ext cx="2026310" cy="45720"/>
          </a:xfrm>
          <a:prstGeom prst="rect">
            <a:avLst/>
          </a:prstGeom>
          <a:solidFill>
            <a:srgbClr val="12A566"/>
          </a:solidFill>
          <a:ln/>
        </p:spPr>
      </p:sp>
      <p:sp>
        <p:nvSpPr>
          <p:cNvPr id="65" name="Text 63"/>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67" name="Text 65"/>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Text 66"/>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69" name="Text 67"/>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70" name="Text 68"/>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71" name="Text 69"/>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72" name="Text 70"/>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73" name="Text 71"/>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4" name="Text 72"/>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−5.0%</a:t>
            </a:r>
            <a:endParaRPr lang="en-US" sz="1600" dirty="0"/>
          </a:p>
        </p:txBody>
      </p:sp>
      <p:sp>
        <p:nvSpPr>
          <p:cNvPr id="75" name="Text 73"/>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6" name="Text 74"/>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−6.9%</a:t>
            </a:r>
            <a:endParaRPr lang="en-US" sz="1600" dirty="0"/>
          </a:p>
        </p:txBody>
      </p:sp>
      <p:sp>
        <p:nvSpPr>
          <p:cNvPr id="77" name="Text 75"/>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78" name="Text 76"/>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−19.0%</a:t>
            </a:r>
            <a:endParaRPr lang="en-US" sz="1600" dirty="0"/>
          </a:p>
        </p:txBody>
      </p:sp>
      <p:sp>
        <p:nvSpPr>
          <p:cNvPr id="79" name="Shape 77"/>
          <p:cNvSpPr/>
          <p:nvPr/>
        </p:nvSpPr>
        <p:spPr>
          <a:xfrm>
            <a:off x="9513418" y="1691640"/>
            <a:ext cx="2026310" cy="45720"/>
          </a:xfrm>
          <a:prstGeom prst="rect">
            <a:avLst/>
          </a:prstGeom>
          <a:solidFill>
            <a:srgbClr val="12A566"/>
          </a:solidFill>
          <a:ln/>
        </p:spPr>
      </p:sp>
      <p:sp>
        <p:nvSpPr>
          <p:cNvPr id="80" name="Text 78"/>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81" name="Text 79"/>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82" name="Text 80"/>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3" name="Text 81"/>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84" name="Text 82"/>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85" name="Text 83"/>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86" name="Text 84"/>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87" name="Text 85"/>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88" name="Text 86"/>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9" name="Text 87"/>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90" name="Text 88"/>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91" name="Text 89"/>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92" name="Text 90"/>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93" name="Text 91"/>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95" name="Shape 92"/>
          <p:cNvSpPr/>
          <p:nvPr/>
        </p:nvSpPr>
        <p:spPr>
          <a:xfrm>
            <a:off x="457200" y="6126480"/>
            <a:ext cx="11274552" cy="615696"/>
          </a:xfrm>
          <a:prstGeom prst="rect">
            <a:avLst/>
          </a:prstGeom>
          <a:solidFill>
            <a:srgbClr val="EDF4FA"/>
          </a:solidFill>
          <a:ln/>
        </p:spPr>
      </p:sp>
      <p:sp>
        <p:nvSpPr>
          <p:cNvPr id="96" name="Text 9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Lincoln, Subaru Prescott and Subaru St George (2 of 5). Most bottom-three: VW St George (3 of 5).</a:t>
            </a:r>
            <a:endParaRPr lang="en-US" sz="1600" dirty="0"/>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(gross and ROs per month).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2026310" cy="45720"/>
          </a:xfrm>
          <a:prstGeom prst="rect">
            <a:avLst/>
          </a:prstGeom>
          <a:solidFill>
            <a:srgbClr val="12A566"/>
          </a:solidFill>
          <a:ln/>
        </p:spPr>
      </p:sp>
      <p:sp>
        <p:nvSpPr>
          <p:cNvPr id="20" name="Text 18"/>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22" name="Text 20"/>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23" name="Text 21"/>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24" name="Text 22"/>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25" name="Text 23"/>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6" name="Text 24"/>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27" name="Text 25"/>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28" name="Text 26"/>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9" name="Text 27"/>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−0.9%</a:t>
            </a:r>
            <a:endParaRPr lang="en-US" sz="1600" dirty="0"/>
          </a:p>
        </p:txBody>
      </p:sp>
      <p:sp>
        <p:nvSpPr>
          <p:cNvPr id="30" name="Text 28"/>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31" name="Text 29"/>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32" name="Text 30"/>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3" name="Text 31"/>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34" name="Shape 32"/>
          <p:cNvSpPr/>
          <p:nvPr/>
        </p:nvSpPr>
        <p:spPr>
          <a:xfrm>
            <a:off x="3105302" y="1691640"/>
            <a:ext cx="2026310" cy="45720"/>
          </a:xfrm>
          <a:prstGeom prst="rect">
            <a:avLst/>
          </a:prstGeom>
          <a:solidFill>
            <a:srgbClr val="12A566"/>
          </a:solidFill>
          <a:ln/>
        </p:spPr>
      </p:sp>
      <p:sp>
        <p:nvSpPr>
          <p:cNvPr id="35" name="Text 33"/>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ROS</a:t>
            </a:r>
            <a:endParaRPr lang="en-US" sz="1300" dirty="0"/>
          </a:p>
        </p:txBody>
      </p:sp>
      <p:sp>
        <p:nvSpPr>
          <p:cNvPr id="36" name="Text 34"/>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+7.5%</a:t>
            </a:r>
            <a:endParaRPr lang="en-US" sz="1300" dirty="0"/>
          </a:p>
        </p:txBody>
      </p:sp>
      <p:sp>
        <p:nvSpPr>
          <p:cNvPr id="37" name="Text 35"/>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38" name="Text 36"/>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39" name="Text 37"/>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40" name="Text 38"/>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41" name="Text 39"/>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42" name="Text 40"/>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43" name="Text 41"/>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4" name="Text 42"/>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45" name="Text 43"/>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47" name="Text 45"/>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48" name="Text 46"/>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9" name="Shape 47"/>
          <p:cNvSpPr/>
          <p:nvPr/>
        </p:nvSpPr>
        <p:spPr>
          <a:xfrm>
            <a:off x="5241341" y="1691640"/>
            <a:ext cx="2026310" cy="45720"/>
          </a:xfrm>
          <a:prstGeom prst="rect">
            <a:avLst/>
          </a:prstGeom>
          <a:solidFill>
            <a:srgbClr val="12A566"/>
          </a:solidFill>
          <a:ln/>
        </p:spPr>
      </p:sp>
      <p:sp>
        <p:nvSpPr>
          <p:cNvPr id="50" name="Text 48"/>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−1.8%</a:t>
            </a:r>
            <a:endParaRPr lang="en-US" sz="1300" dirty="0"/>
          </a:p>
        </p:txBody>
      </p:sp>
      <p:sp>
        <p:nvSpPr>
          <p:cNvPr id="52" name="Text 50"/>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53" name="Text 51"/>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54" name="Text 52"/>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5" name="Text 53"/>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56" name="Text 54"/>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7" name="Text 55"/>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58" name="Text 56"/>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59" name="Text 57"/>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−9.9%</a:t>
            </a:r>
            <a:endParaRPr lang="en-US" sz="1600" dirty="0"/>
          </a:p>
        </p:txBody>
      </p:sp>
      <p:sp>
        <p:nvSpPr>
          <p:cNvPr id="60" name="Text 58"/>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61" name="Text 59"/>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62" name="Text 60"/>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63" name="Text 61"/>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−14.0%</a:t>
            </a:r>
            <a:endParaRPr lang="en-US" sz="1600" dirty="0"/>
          </a:p>
        </p:txBody>
      </p:sp>
      <p:sp>
        <p:nvSpPr>
          <p:cNvPr id="64" name="Shape 62"/>
          <p:cNvSpPr/>
          <p:nvPr/>
        </p:nvSpPr>
        <p:spPr>
          <a:xfrm>
            <a:off x="7377379" y="1691640"/>
            <a:ext cx="2026310" cy="45720"/>
          </a:xfrm>
          <a:prstGeom prst="rect">
            <a:avLst/>
          </a:prstGeom>
          <a:solidFill>
            <a:srgbClr val="12A566"/>
          </a:solidFill>
          <a:ln/>
        </p:spPr>
      </p:sp>
      <p:sp>
        <p:nvSpPr>
          <p:cNvPr id="65" name="Text 63"/>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+1.1%</a:t>
            </a:r>
            <a:endParaRPr lang="en-US" sz="1300" dirty="0"/>
          </a:p>
        </p:txBody>
      </p:sp>
      <p:sp>
        <p:nvSpPr>
          <p:cNvPr id="67" name="Text 65"/>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8" name="Text 66"/>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9" name="Text 67"/>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70" name="Text 68"/>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71" name="Text 69"/>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2" name="Text 70"/>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3" name="Text 71"/>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4" name="Text 72"/>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75" name="Text 73"/>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76" name="Text 74"/>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−4.7%</a:t>
            </a:r>
            <a:endParaRPr lang="en-US" sz="1600" dirty="0"/>
          </a:p>
        </p:txBody>
      </p:sp>
      <p:sp>
        <p:nvSpPr>
          <p:cNvPr id="77" name="Text 75"/>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8" name="Text 76"/>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79" name="Shape 77"/>
          <p:cNvSpPr/>
          <p:nvPr/>
        </p:nvSpPr>
        <p:spPr>
          <a:xfrm>
            <a:off x="9513418" y="1691640"/>
            <a:ext cx="2026310" cy="45720"/>
          </a:xfrm>
          <a:prstGeom prst="rect">
            <a:avLst/>
          </a:prstGeom>
          <a:solidFill>
            <a:srgbClr val="12A566"/>
          </a:solidFill>
          <a:ln/>
        </p:spPr>
      </p:sp>
      <p:sp>
        <p:nvSpPr>
          <p:cNvPr id="80" name="Text 78"/>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81" name="Text 79"/>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82" name="Text 80"/>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3" name="Text 81"/>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84" name="Text 82"/>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85" name="Text 83"/>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86" name="Text 84"/>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87" name="Text 85"/>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88" name="Text 86"/>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89" name="Text 87"/>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 pts</a:t>
            </a:r>
            <a:endParaRPr lang="en-US" sz="1600" dirty="0"/>
          </a:p>
        </p:txBody>
      </p:sp>
      <p:sp>
        <p:nvSpPr>
          <p:cNvPr id="90" name="Text 88"/>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91" name="Text 89"/>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−3.8 pts</a:t>
            </a:r>
            <a:endParaRPr lang="en-US" sz="1600" dirty="0"/>
          </a:p>
        </p:txBody>
      </p:sp>
      <p:sp>
        <p:nvSpPr>
          <p:cNvPr id="92" name="Text 90"/>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93" name="Text 91"/>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−4.2 pts</a:t>
            </a:r>
            <a:endParaRPr lang="en-US" sz="1600" dirty="0"/>
          </a:p>
        </p:txBody>
      </p:sp>
      <p:sp>
        <p:nvSpPr>
          <p:cNvPr id="95" name="Shape 92"/>
          <p:cNvSpPr/>
          <p:nvPr/>
        </p:nvSpPr>
        <p:spPr>
          <a:xfrm>
            <a:off x="457200" y="6126480"/>
            <a:ext cx="11274552" cy="615696"/>
          </a:xfrm>
          <a:prstGeom prst="rect">
            <a:avLst/>
          </a:prstGeom>
          <a:solidFill>
            <a:srgbClr val="EDF4FA"/>
          </a:solidFill>
          <a:ln/>
        </p:spPr>
      </p:sp>
      <p:sp>
        <p:nvSpPr>
          <p:cNvPr id="96" name="Text 9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Mazda, CDJR Post Falls and VW St George (2 of 5). Most bottom-three: Honda Henderson and Cadillac (3 of 5).</a:t>
            </a:r>
            <a:endParaRPr lang="en-US" sz="1600" dirty="0"/>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Two Ways to Read Improvement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Better than last year · Jan–Sep 2026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9" name="Shape 7"/>
          <p:cNvSpPr/>
          <p:nvPr/>
        </p:nvSpPr>
        <p:spPr>
          <a:xfrm>
            <a:off x="621792" y="2176272"/>
            <a:ext cx="5230368" cy="585216"/>
          </a:xfrm>
          <a:prstGeom prst="rect">
            <a:avLst/>
          </a:prstGeom>
          <a:solidFill>
            <a:srgbClr val="F7F7F7"/>
          </a:solidFill>
          <a:ln/>
        </p:spPr>
      </p:sp>
      <p:sp>
        <p:nvSpPr>
          <p:cNvPr id="10" name="Text 8"/>
          <p:cNvSpPr txBox="1"/>
          <p:nvPr/>
        </p:nvSpPr>
        <p:spPr>
          <a:xfrm>
            <a:off x="731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1" name="Text 9"/>
          <p:cNvSpPr txBox="1"/>
          <p:nvPr/>
        </p:nvSpPr>
        <p:spPr>
          <a:xfrm>
            <a:off x="731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 parts GP%</a:t>
            </a:r>
            <a:endParaRPr lang="en-US" sz="1300" dirty="0"/>
          </a:p>
        </p:txBody>
      </p:sp>
      <p:sp>
        <p:nvSpPr>
          <p:cNvPr id="12" name="Shape 10"/>
          <p:cNvSpPr/>
          <p:nvPr/>
        </p:nvSpPr>
        <p:spPr>
          <a:xfrm>
            <a:off x="4343400" y="2351837"/>
            <a:ext cx="960120" cy="234086"/>
          </a:xfrm>
          <a:prstGeom prst="rect">
            <a:avLst/>
          </a:prstGeom>
          <a:solidFill>
            <a:srgbClr val="12A566"/>
          </a:solidFill>
          <a:ln/>
        </p:spPr>
      </p:sp>
      <p:sp>
        <p:nvSpPr>
          <p:cNvPr id="13" name="Text 11"/>
          <p:cNvSpPr txBox="1"/>
          <p:nvPr/>
        </p:nvSpPr>
        <p:spPr>
          <a:xfrm>
            <a:off x="5330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4" name="Text 12"/>
          <p:cNvSpPr txBox="1"/>
          <p:nvPr/>
        </p:nvSpPr>
        <p:spPr>
          <a:xfrm>
            <a:off x="731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5" name="Text 13"/>
          <p:cNvSpPr txBox="1"/>
          <p:nvPr/>
        </p:nvSpPr>
        <p:spPr>
          <a:xfrm>
            <a:off x="731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16" name="Shape 14"/>
          <p:cNvSpPr/>
          <p:nvPr/>
        </p:nvSpPr>
        <p:spPr>
          <a:xfrm>
            <a:off x="4343400" y="2937053"/>
            <a:ext cx="720090" cy="234086"/>
          </a:xfrm>
          <a:prstGeom prst="rect">
            <a:avLst/>
          </a:prstGeom>
          <a:solidFill>
            <a:srgbClr val="12A566"/>
          </a:solidFill>
          <a:ln/>
        </p:spPr>
      </p:sp>
      <p:sp>
        <p:nvSpPr>
          <p:cNvPr id="17" name="Text 15"/>
          <p:cNvSpPr txBox="1"/>
          <p:nvPr/>
        </p:nvSpPr>
        <p:spPr>
          <a:xfrm>
            <a:off x="5330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621792" y="3346704"/>
            <a:ext cx="5230368" cy="585216"/>
          </a:xfrm>
          <a:prstGeom prst="rect">
            <a:avLst/>
          </a:prstGeom>
          <a:solidFill>
            <a:srgbClr val="F7F7F7"/>
          </a:solidFill>
          <a:ln/>
        </p:spPr>
      </p:sp>
      <p:sp>
        <p:nvSpPr>
          <p:cNvPr id="19" name="Text 17"/>
          <p:cNvSpPr txBox="1"/>
          <p:nvPr/>
        </p:nvSpPr>
        <p:spPr>
          <a:xfrm>
            <a:off x="731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0" name="Text 18"/>
          <p:cNvSpPr txBox="1"/>
          <p:nvPr/>
        </p:nvSpPr>
        <p:spPr>
          <a:xfrm>
            <a:off x="731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21" name="Shape 19"/>
          <p:cNvSpPr/>
          <p:nvPr/>
        </p:nvSpPr>
        <p:spPr>
          <a:xfrm>
            <a:off x="4343400" y="3522269"/>
            <a:ext cx="720090" cy="234086"/>
          </a:xfrm>
          <a:prstGeom prst="rect">
            <a:avLst/>
          </a:prstGeom>
          <a:solidFill>
            <a:srgbClr val="12A566"/>
          </a:solidFill>
          <a:ln/>
        </p:spPr>
      </p:sp>
      <p:sp>
        <p:nvSpPr>
          <p:cNvPr id="22" name="Text 20"/>
          <p:cNvSpPr txBox="1"/>
          <p:nvPr/>
        </p:nvSpPr>
        <p:spPr>
          <a:xfrm>
            <a:off x="5330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23" name="Text 21"/>
          <p:cNvSpPr txBox="1"/>
          <p:nvPr/>
        </p:nvSpPr>
        <p:spPr>
          <a:xfrm>
            <a:off x="731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4" name="Text 22"/>
          <p:cNvSpPr txBox="1"/>
          <p:nvPr/>
        </p:nvSpPr>
        <p:spPr>
          <a:xfrm>
            <a:off x="731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25" name="Shape 23"/>
          <p:cNvSpPr/>
          <p:nvPr/>
        </p:nvSpPr>
        <p:spPr>
          <a:xfrm>
            <a:off x="4343400" y="4107485"/>
            <a:ext cx="480060" cy="234086"/>
          </a:xfrm>
          <a:prstGeom prst="rect">
            <a:avLst/>
          </a:prstGeom>
          <a:solidFill>
            <a:srgbClr val="12A566"/>
          </a:solidFill>
          <a:ln/>
        </p:spPr>
      </p:sp>
      <p:sp>
        <p:nvSpPr>
          <p:cNvPr id="26" name="Text 24"/>
          <p:cNvSpPr txBox="1"/>
          <p:nvPr/>
        </p:nvSpPr>
        <p:spPr>
          <a:xfrm>
            <a:off x="5330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27" name="Shape 25"/>
          <p:cNvSpPr/>
          <p:nvPr/>
        </p:nvSpPr>
        <p:spPr>
          <a:xfrm>
            <a:off x="621792" y="4517136"/>
            <a:ext cx="5230368" cy="585216"/>
          </a:xfrm>
          <a:prstGeom prst="rect">
            <a:avLst/>
          </a:prstGeom>
          <a:solidFill>
            <a:srgbClr val="F7F7F7"/>
          </a:solidFill>
          <a:ln/>
        </p:spPr>
      </p:sp>
      <p:sp>
        <p:nvSpPr>
          <p:cNvPr id="28" name="Text 26"/>
          <p:cNvSpPr txBox="1"/>
          <p:nvPr/>
        </p:nvSpPr>
        <p:spPr>
          <a:xfrm>
            <a:off x="731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731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hours/RO</a:t>
            </a:r>
            <a:endParaRPr lang="en-US" sz="1300" dirty="0"/>
          </a:p>
        </p:txBody>
      </p:sp>
      <p:sp>
        <p:nvSpPr>
          <p:cNvPr id="30" name="Shape 28"/>
          <p:cNvSpPr/>
          <p:nvPr/>
        </p:nvSpPr>
        <p:spPr>
          <a:xfrm>
            <a:off x="4343400" y="4692701"/>
            <a:ext cx="480060" cy="234086"/>
          </a:xfrm>
          <a:prstGeom prst="rect">
            <a:avLst/>
          </a:prstGeom>
          <a:solidFill>
            <a:srgbClr val="12A566"/>
          </a:solidFill>
          <a:ln/>
        </p:spPr>
      </p:sp>
      <p:sp>
        <p:nvSpPr>
          <p:cNvPr id="31" name="Text 29"/>
          <p:cNvSpPr txBox="1"/>
          <p:nvPr/>
        </p:nvSpPr>
        <p:spPr>
          <a:xfrm>
            <a:off x="5330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2" name="Text 30"/>
          <p:cNvSpPr txBox="1"/>
          <p:nvPr/>
        </p:nvSpPr>
        <p:spPr>
          <a:xfrm>
            <a:off x="731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33" name="Text 31"/>
          <p:cNvSpPr txBox="1"/>
          <p:nvPr/>
        </p:nvSpPr>
        <p:spPr>
          <a:xfrm>
            <a:off x="731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parts GP%</a:t>
            </a:r>
            <a:endParaRPr lang="en-US" sz="1300" dirty="0"/>
          </a:p>
        </p:txBody>
      </p:sp>
      <p:sp>
        <p:nvSpPr>
          <p:cNvPr id="34" name="Shape 32"/>
          <p:cNvSpPr/>
          <p:nvPr/>
        </p:nvSpPr>
        <p:spPr>
          <a:xfrm>
            <a:off x="4343400" y="5277917"/>
            <a:ext cx="480060" cy="234086"/>
          </a:xfrm>
          <a:prstGeom prst="rect">
            <a:avLst/>
          </a:prstGeom>
          <a:solidFill>
            <a:srgbClr val="12A566"/>
          </a:solidFill>
          <a:ln/>
        </p:spPr>
      </p:sp>
      <p:sp>
        <p:nvSpPr>
          <p:cNvPr id="35" name="Text 33"/>
          <p:cNvSpPr txBox="1"/>
          <p:nvPr/>
        </p:nvSpPr>
        <p:spPr>
          <a:xfrm>
            <a:off x="5330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6" name="Shape 34"/>
          <p:cNvSpPr/>
          <p:nvPr/>
        </p:nvSpPr>
        <p:spPr>
          <a:xfrm>
            <a:off x="6172200" y="1207008"/>
            <a:ext cx="5559552" cy="4645152"/>
          </a:xfrm>
          <a:prstGeom prst="rect">
            <a:avLst/>
          </a:prstGeom>
          <a:solidFill>
            <a:srgbClr val="FFFFFF"/>
          </a:solidFill>
          <a:ln/>
        </p:spPr>
      </p:sp>
      <p:sp>
        <p:nvSpPr>
          <p:cNvPr id="37" name="Text 35"/>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Moving now · Q3 vs Q1, this year</a:t>
            </a:r>
            <a:endParaRPr lang="en-US" sz="1500" dirty="0"/>
          </a:p>
        </p:txBody>
      </p:sp>
      <p:sp>
        <p:nvSpPr>
          <p:cNvPr id="38" name="Shape 36"/>
          <p:cNvSpPr/>
          <p:nvPr/>
        </p:nvSpPr>
        <p:spPr>
          <a:xfrm>
            <a:off x="6400800" y="1691640"/>
            <a:ext cx="5102352" cy="10973"/>
          </a:xfrm>
          <a:prstGeom prst="rect">
            <a:avLst/>
          </a:prstGeom>
          <a:solidFill>
            <a:srgbClr val="1A1A1A"/>
          </a:solidFill>
          <a:ln/>
        </p:spPr>
      </p:sp>
      <p:sp>
        <p:nvSpPr>
          <p:cNvPr id="39" name="Text 37"/>
          <p:cNvSpPr txBox="1"/>
          <p:nvPr/>
        </p:nvSpPr>
        <p:spPr>
          <a:xfrm>
            <a:off x="6400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40" name="Shape 38"/>
          <p:cNvSpPr/>
          <p:nvPr/>
        </p:nvSpPr>
        <p:spPr>
          <a:xfrm>
            <a:off x="6336792" y="2176272"/>
            <a:ext cx="5230368" cy="585216"/>
          </a:xfrm>
          <a:prstGeom prst="rect">
            <a:avLst/>
          </a:prstGeom>
          <a:solidFill>
            <a:srgbClr val="F7F7F7"/>
          </a:solidFill>
          <a:ln/>
        </p:spPr>
      </p:sp>
      <p:sp>
        <p:nvSpPr>
          <p:cNvPr id="41" name="Text 39"/>
          <p:cNvSpPr txBox="1"/>
          <p:nvPr/>
        </p:nvSpPr>
        <p:spPr>
          <a:xfrm>
            <a:off x="6446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2" name="Text 40"/>
          <p:cNvSpPr txBox="1"/>
          <p:nvPr/>
        </p:nvSpPr>
        <p:spPr>
          <a:xfrm>
            <a:off x="6446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43" name="Shape 41"/>
          <p:cNvSpPr/>
          <p:nvPr/>
        </p:nvSpPr>
        <p:spPr>
          <a:xfrm>
            <a:off x="10058400" y="2351837"/>
            <a:ext cx="960120" cy="234086"/>
          </a:xfrm>
          <a:prstGeom prst="rect">
            <a:avLst/>
          </a:prstGeom>
          <a:solidFill>
            <a:srgbClr val="12A566"/>
          </a:solidFill>
          <a:ln/>
        </p:spPr>
      </p:sp>
      <p:sp>
        <p:nvSpPr>
          <p:cNvPr id="44" name="Text 42"/>
          <p:cNvSpPr txBox="1"/>
          <p:nvPr/>
        </p:nvSpPr>
        <p:spPr>
          <a:xfrm>
            <a:off x="11045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5" name="Text 43"/>
          <p:cNvSpPr txBox="1"/>
          <p:nvPr/>
        </p:nvSpPr>
        <p:spPr>
          <a:xfrm>
            <a:off x="6446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44"/>
          <p:cNvSpPr txBox="1"/>
          <p:nvPr/>
        </p:nvSpPr>
        <p:spPr>
          <a:xfrm>
            <a:off x="6446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a:t>
            </a:r>
            <a:endParaRPr lang="en-US" sz="1300" dirty="0"/>
          </a:p>
        </p:txBody>
      </p:sp>
      <p:sp>
        <p:nvSpPr>
          <p:cNvPr id="47" name="Shape 45"/>
          <p:cNvSpPr/>
          <p:nvPr/>
        </p:nvSpPr>
        <p:spPr>
          <a:xfrm>
            <a:off x="10058400" y="2937053"/>
            <a:ext cx="960120" cy="234086"/>
          </a:xfrm>
          <a:prstGeom prst="rect">
            <a:avLst/>
          </a:prstGeom>
          <a:solidFill>
            <a:srgbClr val="12A566"/>
          </a:solidFill>
          <a:ln/>
        </p:spPr>
      </p:sp>
      <p:sp>
        <p:nvSpPr>
          <p:cNvPr id="48" name="Text 46"/>
          <p:cNvSpPr txBox="1"/>
          <p:nvPr/>
        </p:nvSpPr>
        <p:spPr>
          <a:xfrm>
            <a:off x="11045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9" name="Shape 47"/>
          <p:cNvSpPr/>
          <p:nvPr/>
        </p:nvSpPr>
        <p:spPr>
          <a:xfrm>
            <a:off x="6336792" y="3346704"/>
            <a:ext cx="5230368" cy="585216"/>
          </a:xfrm>
          <a:prstGeom prst="rect">
            <a:avLst/>
          </a:prstGeom>
          <a:solidFill>
            <a:srgbClr val="F7F7F7"/>
          </a:solidFill>
          <a:ln/>
        </p:spPr>
      </p:sp>
      <p:sp>
        <p:nvSpPr>
          <p:cNvPr id="50" name="Text 48"/>
          <p:cNvSpPr txBox="1"/>
          <p:nvPr/>
        </p:nvSpPr>
        <p:spPr>
          <a:xfrm>
            <a:off x="6446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51" name="Text 49"/>
          <p:cNvSpPr txBox="1"/>
          <p:nvPr/>
        </p:nvSpPr>
        <p:spPr>
          <a:xfrm>
            <a:off x="6446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52" name="Shape 50"/>
          <p:cNvSpPr/>
          <p:nvPr/>
        </p:nvSpPr>
        <p:spPr>
          <a:xfrm>
            <a:off x="10058400" y="3522269"/>
            <a:ext cx="960120" cy="234086"/>
          </a:xfrm>
          <a:prstGeom prst="rect">
            <a:avLst/>
          </a:prstGeom>
          <a:solidFill>
            <a:srgbClr val="12A566"/>
          </a:solidFill>
          <a:ln/>
        </p:spPr>
      </p:sp>
      <p:sp>
        <p:nvSpPr>
          <p:cNvPr id="53" name="Text 51"/>
          <p:cNvSpPr txBox="1"/>
          <p:nvPr/>
        </p:nvSpPr>
        <p:spPr>
          <a:xfrm>
            <a:off x="11045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446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5" name="Text 53"/>
          <p:cNvSpPr txBox="1"/>
          <p:nvPr/>
        </p:nvSpPr>
        <p:spPr>
          <a:xfrm>
            <a:off x="6446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a:t>
            </a:r>
            <a:endParaRPr lang="en-US" sz="1300" dirty="0"/>
          </a:p>
        </p:txBody>
      </p:sp>
      <p:sp>
        <p:nvSpPr>
          <p:cNvPr id="56" name="Shape 54"/>
          <p:cNvSpPr/>
          <p:nvPr/>
        </p:nvSpPr>
        <p:spPr>
          <a:xfrm>
            <a:off x="10058400" y="4107485"/>
            <a:ext cx="640080" cy="234086"/>
          </a:xfrm>
          <a:prstGeom prst="rect">
            <a:avLst/>
          </a:prstGeom>
          <a:solidFill>
            <a:srgbClr val="12A566"/>
          </a:solidFill>
          <a:ln/>
        </p:spPr>
      </p:sp>
      <p:sp>
        <p:nvSpPr>
          <p:cNvPr id="57" name="Text 55"/>
          <p:cNvSpPr txBox="1"/>
          <p:nvPr/>
        </p:nvSpPr>
        <p:spPr>
          <a:xfrm>
            <a:off x="11045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58" name="Shape 56"/>
          <p:cNvSpPr/>
          <p:nvPr/>
        </p:nvSpPr>
        <p:spPr>
          <a:xfrm>
            <a:off x="6336792" y="4517136"/>
            <a:ext cx="5230368" cy="585216"/>
          </a:xfrm>
          <a:prstGeom prst="rect">
            <a:avLst/>
          </a:prstGeom>
          <a:solidFill>
            <a:srgbClr val="F7F7F7"/>
          </a:solidFill>
          <a:ln/>
        </p:spPr>
      </p:sp>
      <p:sp>
        <p:nvSpPr>
          <p:cNvPr id="59" name="Text 57"/>
          <p:cNvSpPr txBox="1"/>
          <p:nvPr/>
        </p:nvSpPr>
        <p:spPr>
          <a:xfrm>
            <a:off x="6446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60" name="Text 58"/>
          <p:cNvSpPr txBox="1"/>
          <p:nvPr/>
        </p:nvSpPr>
        <p:spPr>
          <a:xfrm>
            <a:off x="6446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61" name="Shape 59"/>
          <p:cNvSpPr/>
          <p:nvPr/>
        </p:nvSpPr>
        <p:spPr>
          <a:xfrm>
            <a:off x="10058400" y="4692701"/>
            <a:ext cx="640080" cy="234086"/>
          </a:xfrm>
          <a:prstGeom prst="rect">
            <a:avLst/>
          </a:prstGeom>
          <a:solidFill>
            <a:srgbClr val="12A566"/>
          </a:solidFill>
          <a:ln/>
        </p:spPr>
      </p:sp>
      <p:sp>
        <p:nvSpPr>
          <p:cNvPr id="62" name="Text 60"/>
          <p:cNvSpPr txBox="1"/>
          <p:nvPr/>
        </p:nvSpPr>
        <p:spPr>
          <a:xfrm>
            <a:off x="11045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3" name="Text 61"/>
          <p:cNvSpPr txBox="1"/>
          <p:nvPr/>
        </p:nvSpPr>
        <p:spPr>
          <a:xfrm>
            <a:off x="6446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4" name="Text 62"/>
          <p:cNvSpPr txBox="1"/>
          <p:nvPr/>
        </p:nvSpPr>
        <p:spPr>
          <a:xfrm>
            <a:off x="6446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ELR, parts GP%</a:t>
            </a:r>
            <a:endParaRPr lang="en-US" sz="1300" dirty="0"/>
          </a:p>
        </p:txBody>
      </p:sp>
      <p:sp>
        <p:nvSpPr>
          <p:cNvPr id="65" name="Shape 63"/>
          <p:cNvSpPr/>
          <p:nvPr/>
        </p:nvSpPr>
        <p:spPr>
          <a:xfrm>
            <a:off x="10058400" y="5277917"/>
            <a:ext cx="640080" cy="234086"/>
          </a:xfrm>
          <a:prstGeom prst="rect">
            <a:avLst/>
          </a:prstGeom>
          <a:solidFill>
            <a:srgbClr val="12A566"/>
          </a:solidFill>
          <a:ln/>
        </p:spPr>
      </p:sp>
      <p:sp>
        <p:nvSpPr>
          <p:cNvPr id="66" name="Text 64"/>
          <p:cNvSpPr txBox="1"/>
          <p:nvPr/>
        </p:nvSpPr>
        <p:spPr>
          <a:xfrm>
            <a:off x="11045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7" name="Shape 65"/>
          <p:cNvSpPr/>
          <p:nvPr/>
        </p:nvSpPr>
        <p:spPr>
          <a:xfrm>
            <a:off x="457200" y="6126480"/>
            <a:ext cx="11274552" cy="371856"/>
          </a:xfrm>
          <a:prstGeom prst="rect">
            <a:avLst/>
          </a:prstGeom>
          <a:solidFill>
            <a:srgbClr val="E6F6EE"/>
          </a:solidFill>
          <a:ln/>
        </p:spPr>
      </p:sp>
      <p:sp>
        <p:nvSpPr>
          <p:cNvPr id="68" name="Text 6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Last year: Subaru Prescott leads. Moving now: Three stores tie. Eight stores make both views.</a:t>
            </a:r>
            <a:endParaRPr lang="en-US" sz="1600" dirty="0"/>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Changed?</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49808"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7" name="Text 5"/>
          <p:cNvSpPr txBox="1"/>
          <p:nvPr/>
        </p:nvSpPr>
        <p:spPr>
          <a:xfrm>
            <a:off x="352044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Moved on</a:t>
            </a:r>
            <a:endParaRPr lang="en-US" sz="1400" dirty="0"/>
          </a:p>
        </p:txBody>
      </p:sp>
      <p:sp>
        <p:nvSpPr>
          <p:cNvPr id="8" name="Text 6"/>
          <p:cNvSpPr txBox="1"/>
          <p:nvPr/>
        </p:nvSpPr>
        <p:spPr>
          <a:xfrm>
            <a:off x="56692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9" name="Text 7"/>
          <p:cNvSpPr txBox="1"/>
          <p:nvPr/>
        </p:nvSpPr>
        <p:spPr>
          <a:xfrm>
            <a:off x="77266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93268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21792" y="1773936"/>
            <a:ext cx="10945368" cy="548640"/>
          </a:xfrm>
          <a:prstGeom prst="rect">
            <a:avLst/>
          </a:prstGeom>
          <a:solidFill>
            <a:srgbClr val="F7F7F7"/>
          </a:solidFill>
          <a:ln/>
        </p:spPr>
      </p:sp>
      <p:sp>
        <p:nvSpPr>
          <p:cNvPr id="12" name="Text 10"/>
          <p:cNvSpPr txBox="1"/>
          <p:nvPr/>
        </p:nvSpPr>
        <p:spPr>
          <a:xfrm>
            <a:off x="749808" y="17739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13" name="Text 11"/>
          <p:cNvSpPr txBox="1"/>
          <p:nvPr/>
        </p:nvSpPr>
        <p:spPr>
          <a:xfrm>
            <a:off x="3520440" y="17739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Gross per Month</a:t>
            </a:r>
            <a:endParaRPr lang="en-US" sz="1500" dirty="0"/>
          </a:p>
        </p:txBody>
      </p:sp>
      <p:sp>
        <p:nvSpPr>
          <p:cNvPr id="14" name="Text 12"/>
          <p:cNvSpPr txBox="1"/>
          <p:nvPr/>
        </p:nvSpPr>
        <p:spPr>
          <a:xfrm>
            <a:off x="5669280" y="17739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$155K → $209K</a:t>
            </a:r>
            <a:endParaRPr lang="en-US" sz="1500" dirty="0"/>
          </a:p>
        </p:txBody>
      </p:sp>
      <p:sp>
        <p:nvSpPr>
          <p:cNvPr id="15" name="Text 13"/>
          <p:cNvSpPr txBox="1"/>
          <p:nvPr/>
        </p:nvSpPr>
        <p:spPr>
          <a:xfrm>
            <a:off x="7726680" y="17739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16" name="Text 14"/>
          <p:cNvSpPr txBox="1"/>
          <p:nvPr/>
        </p:nvSpPr>
        <p:spPr>
          <a:xfrm>
            <a:off x="9326880" y="17739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+34.6%</a:t>
            </a:r>
            <a:endParaRPr lang="en-US" sz="1500" dirty="0"/>
          </a:p>
        </p:txBody>
      </p:sp>
      <p:sp>
        <p:nvSpPr>
          <p:cNvPr id="17" name="Text 15"/>
          <p:cNvSpPr txBox="1"/>
          <p:nvPr/>
        </p:nvSpPr>
        <p:spPr>
          <a:xfrm>
            <a:off x="749808" y="23225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8" name="Text 16"/>
          <p:cNvSpPr txBox="1"/>
          <p:nvPr/>
        </p:nvSpPr>
        <p:spPr>
          <a:xfrm>
            <a:off x="3520440" y="23225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ROs per Month</a:t>
            </a:r>
            <a:endParaRPr lang="en-US" sz="1500" dirty="0"/>
          </a:p>
        </p:txBody>
      </p:sp>
      <p:sp>
        <p:nvSpPr>
          <p:cNvPr id="19" name="Text 17"/>
          <p:cNvSpPr txBox="1"/>
          <p:nvPr/>
        </p:nvSpPr>
        <p:spPr>
          <a:xfrm>
            <a:off x="5669280" y="23225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425 → 570</a:t>
            </a:r>
            <a:endParaRPr lang="en-US" sz="1500" dirty="0"/>
          </a:p>
        </p:txBody>
      </p:sp>
      <p:sp>
        <p:nvSpPr>
          <p:cNvPr id="20" name="Text 18"/>
          <p:cNvSpPr txBox="1"/>
          <p:nvPr/>
        </p:nvSpPr>
        <p:spPr>
          <a:xfrm>
            <a:off x="7726680" y="23225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21" name="Text 19"/>
          <p:cNvSpPr txBox="1"/>
          <p:nvPr/>
        </p:nvSpPr>
        <p:spPr>
          <a:xfrm>
            <a:off x="9326880" y="23225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+34.0%</a:t>
            </a:r>
            <a:endParaRPr lang="en-US" sz="1500" dirty="0"/>
          </a:p>
        </p:txBody>
      </p:sp>
      <p:sp>
        <p:nvSpPr>
          <p:cNvPr id="22" name="Shape 20"/>
          <p:cNvSpPr/>
          <p:nvPr/>
        </p:nvSpPr>
        <p:spPr>
          <a:xfrm>
            <a:off x="621792" y="2871216"/>
            <a:ext cx="10945368" cy="548640"/>
          </a:xfrm>
          <a:prstGeom prst="rect">
            <a:avLst/>
          </a:prstGeom>
          <a:solidFill>
            <a:srgbClr val="F7F7F7"/>
          </a:solidFill>
          <a:ln/>
        </p:spPr>
      </p:sp>
      <p:sp>
        <p:nvSpPr>
          <p:cNvPr id="23" name="Text 21"/>
          <p:cNvSpPr txBox="1"/>
          <p:nvPr/>
        </p:nvSpPr>
        <p:spPr>
          <a:xfrm>
            <a:off x="749808" y="287121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24" name="Text 22"/>
          <p:cNvSpPr txBox="1"/>
          <p:nvPr/>
        </p:nvSpPr>
        <p:spPr>
          <a:xfrm>
            <a:off x="3520440" y="287121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a:t>
            </a:r>
            <a:endParaRPr lang="en-US" sz="1500" dirty="0"/>
          </a:p>
        </p:txBody>
      </p:sp>
      <p:sp>
        <p:nvSpPr>
          <p:cNvPr id="25" name="Text 23"/>
          <p:cNvSpPr txBox="1"/>
          <p:nvPr/>
        </p:nvSpPr>
        <p:spPr>
          <a:xfrm>
            <a:off x="5669280" y="287121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1.35 → 1.65</a:t>
            </a:r>
            <a:endParaRPr lang="en-US" sz="1500" dirty="0"/>
          </a:p>
        </p:txBody>
      </p:sp>
      <p:sp>
        <p:nvSpPr>
          <p:cNvPr id="26" name="Text 24"/>
          <p:cNvSpPr txBox="1"/>
          <p:nvPr/>
        </p:nvSpPr>
        <p:spPr>
          <a:xfrm>
            <a:off x="7726680" y="287121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27" name="Text 25"/>
          <p:cNvSpPr txBox="1"/>
          <p:nvPr/>
        </p:nvSpPr>
        <p:spPr>
          <a:xfrm>
            <a:off x="9326880" y="287121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+22.1%</a:t>
            </a:r>
            <a:endParaRPr lang="en-US" sz="1500" dirty="0"/>
          </a:p>
        </p:txBody>
      </p:sp>
      <p:sp>
        <p:nvSpPr>
          <p:cNvPr id="28" name="Text 26"/>
          <p:cNvSpPr txBox="1"/>
          <p:nvPr/>
        </p:nvSpPr>
        <p:spPr>
          <a:xfrm>
            <a:off x="749808" y="341985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29" name="Text 27"/>
          <p:cNvSpPr txBox="1"/>
          <p:nvPr/>
        </p:nvSpPr>
        <p:spPr>
          <a:xfrm>
            <a:off x="3520440" y="341985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a:t>
            </a:r>
            <a:endParaRPr lang="en-US" sz="1500" dirty="0"/>
          </a:p>
        </p:txBody>
      </p:sp>
      <p:sp>
        <p:nvSpPr>
          <p:cNvPr id="30" name="Text 28"/>
          <p:cNvSpPr txBox="1"/>
          <p:nvPr/>
        </p:nvSpPr>
        <p:spPr>
          <a:xfrm>
            <a:off x="5669280" y="341985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$128.27 → $141.89</a:t>
            </a:r>
            <a:endParaRPr lang="en-US" sz="1500" dirty="0"/>
          </a:p>
        </p:txBody>
      </p:sp>
      <p:sp>
        <p:nvSpPr>
          <p:cNvPr id="31" name="Text 29"/>
          <p:cNvSpPr txBox="1"/>
          <p:nvPr/>
        </p:nvSpPr>
        <p:spPr>
          <a:xfrm>
            <a:off x="7726680" y="341985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2" name="Text 30"/>
          <p:cNvSpPr txBox="1"/>
          <p:nvPr/>
        </p:nvSpPr>
        <p:spPr>
          <a:xfrm>
            <a:off x="9326880" y="341985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+10.6%</a:t>
            </a:r>
            <a:endParaRPr lang="en-US" sz="1500" dirty="0"/>
          </a:p>
        </p:txBody>
      </p:sp>
      <p:sp>
        <p:nvSpPr>
          <p:cNvPr id="33" name="Shape 31"/>
          <p:cNvSpPr/>
          <p:nvPr/>
        </p:nvSpPr>
        <p:spPr>
          <a:xfrm>
            <a:off x="621792" y="3968496"/>
            <a:ext cx="10945368" cy="548640"/>
          </a:xfrm>
          <a:prstGeom prst="rect">
            <a:avLst/>
          </a:prstGeom>
          <a:solidFill>
            <a:srgbClr val="F7F7F7"/>
          </a:solidFill>
          <a:ln/>
        </p:spPr>
      </p:sp>
      <p:sp>
        <p:nvSpPr>
          <p:cNvPr id="34" name="Text 32"/>
          <p:cNvSpPr txBox="1"/>
          <p:nvPr/>
        </p:nvSpPr>
        <p:spPr>
          <a:xfrm>
            <a:off x="749808" y="396849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35" name="Text 33"/>
          <p:cNvSpPr txBox="1"/>
          <p:nvPr/>
        </p:nvSpPr>
        <p:spPr>
          <a:xfrm>
            <a:off x="3520440" y="396849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GP %</a:t>
            </a:r>
            <a:endParaRPr lang="en-US" sz="1500" dirty="0"/>
          </a:p>
        </p:txBody>
      </p:sp>
      <p:sp>
        <p:nvSpPr>
          <p:cNvPr id="36" name="Text 34"/>
          <p:cNvSpPr txBox="1"/>
          <p:nvPr/>
        </p:nvSpPr>
        <p:spPr>
          <a:xfrm>
            <a:off x="5669280" y="396849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39.4% → 46.6%</a:t>
            </a:r>
            <a:endParaRPr lang="en-US" sz="1500" dirty="0"/>
          </a:p>
        </p:txBody>
      </p:sp>
      <p:sp>
        <p:nvSpPr>
          <p:cNvPr id="37" name="Text 35"/>
          <p:cNvSpPr txBox="1"/>
          <p:nvPr/>
        </p:nvSpPr>
        <p:spPr>
          <a:xfrm>
            <a:off x="7726680" y="396849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38" name="Text 36"/>
          <p:cNvSpPr txBox="1"/>
          <p:nvPr/>
        </p:nvSpPr>
        <p:spPr>
          <a:xfrm>
            <a:off x="9326880" y="396849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+7.2 pts</a:t>
            </a:r>
            <a:endParaRPr lang="en-US" sz="1500" dirty="0"/>
          </a:p>
        </p:txBody>
      </p:sp>
      <p:sp>
        <p:nvSpPr>
          <p:cNvPr id="39" name="Text 37"/>
          <p:cNvSpPr txBox="1"/>
          <p:nvPr/>
        </p:nvSpPr>
        <p:spPr>
          <a:xfrm>
            <a:off x="749808" y="45171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40" name="Text 38"/>
          <p:cNvSpPr txBox="1"/>
          <p:nvPr/>
        </p:nvSpPr>
        <p:spPr>
          <a:xfrm>
            <a:off x="3520440" y="45171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Opcodes · alignment</a:t>
            </a:r>
            <a:endParaRPr lang="en-US" sz="1500" dirty="0"/>
          </a:p>
        </p:txBody>
      </p:sp>
      <p:sp>
        <p:nvSpPr>
          <p:cNvPr id="41" name="Text 39"/>
          <p:cNvSpPr txBox="1"/>
          <p:nvPr/>
        </p:nvSpPr>
        <p:spPr>
          <a:xfrm>
            <a:off x="5669280" y="45171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12.6% → 22.8%</a:t>
            </a:r>
            <a:endParaRPr lang="en-US" sz="1500" dirty="0"/>
          </a:p>
        </p:txBody>
      </p:sp>
      <p:sp>
        <p:nvSpPr>
          <p:cNvPr id="42" name="Text 40"/>
          <p:cNvSpPr txBox="1"/>
          <p:nvPr/>
        </p:nvSpPr>
        <p:spPr>
          <a:xfrm>
            <a:off x="7726680" y="45171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43" name="Text 41"/>
          <p:cNvSpPr txBox="1"/>
          <p:nvPr/>
        </p:nvSpPr>
        <p:spPr>
          <a:xfrm>
            <a:off x="9326880" y="45171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+10.1 pts</a:t>
            </a:r>
            <a:endParaRPr lang="en-US" sz="1500" dirty="0"/>
          </a:p>
        </p:txBody>
      </p:sp>
      <p:sp>
        <p:nvSpPr>
          <p:cNvPr id="44" name="Shape 42"/>
          <p:cNvSpPr/>
          <p:nvPr/>
        </p:nvSpPr>
        <p:spPr>
          <a:xfrm>
            <a:off x="457200" y="6126480"/>
            <a:ext cx="11274552" cy="364236"/>
          </a:xfrm>
          <a:prstGeom prst="rect">
            <a:avLst/>
          </a:prstGeom>
          <a:solidFill>
            <a:srgbClr val="EDF4FA"/>
          </a:solidFill>
          <a:ln/>
        </p:spPr>
      </p:sp>
      <p:sp>
        <p:nvSpPr>
          <p:cNvPr id="45" name="Text 43"/>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Four stores, one question each: what did you start doing that month? One sentence, before you leave.</a:t>
            </a:r>
            <a:endParaRPr lang="en-US" sz="1550" dirty="0"/>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Where the Money Is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353312"/>
            <a:ext cx="40233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THE LEVER</a:t>
            </a:r>
            <a:endParaRPr lang="en-US" sz="1400" dirty="0"/>
          </a:p>
        </p:txBody>
      </p:sp>
      <p:sp>
        <p:nvSpPr>
          <p:cNvPr id="7" name="Text 5"/>
          <p:cNvSpPr txBox="1"/>
          <p:nvPr/>
        </p:nvSpPr>
        <p:spPr>
          <a:xfrm>
            <a:off x="4754880" y="1353312"/>
            <a:ext cx="2103120" cy="310896"/>
          </a:xfrm>
          <a:prstGeom prst="rect">
            <a:avLst/>
          </a:prstGeom>
          <a:noFill/>
          <a:ln/>
        </p:spPr>
        <p:txBody>
          <a:bodyPr wrap="square" lIns="0" tIns="0" rIns="0" bIns="0" rtlCol="0" anchor="ctr"/>
          <a:lstStyle/>
          <a:p>
            <a:pPr algn="r" indent="0" marL="0">
              <a:buNone/>
            </a:pPr>
            <a:r>
              <a:rPr lang="en-US" sz="1400" b="1" spc="100" kern="0" dirty="0">
                <a:solidFill>
                  <a:srgbClr val="0B2C4A"/>
                </a:solidFill>
                <a:latin typeface="Inter" pitchFamily="34" charset="0"/>
                <a:ea typeface="Inter" pitchFamily="34" charset="-122"/>
                <a:cs typeface="Inter" pitchFamily="34" charset="-120"/>
              </a:rPr>
              <a:t>GROSS A YEAR</a:t>
            </a:r>
            <a:endParaRPr lang="en-US" sz="1400" dirty="0"/>
          </a:p>
        </p:txBody>
      </p:sp>
      <p:sp>
        <p:nvSpPr>
          <p:cNvPr id="8" name="Text 6"/>
          <p:cNvSpPr txBox="1"/>
          <p:nvPr/>
        </p:nvSpPr>
        <p:spPr>
          <a:xfrm>
            <a:off x="7178040" y="1353312"/>
            <a:ext cx="26517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HOW</a:t>
            </a:r>
            <a:endParaRPr lang="en-US" sz="1400" dirty="0"/>
          </a:p>
        </p:txBody>
      </p:sp>
      <p:sp>
        <p:nvSpPr>
          <p:cNvPr id="9" name="Text 7"/>
          <p:cNvSpPr txBox="1"/>
          <p:nvPr/>
        </p:nvSpPr>
        <p:spPr>
          <a:xfrm>
            <a:off x="9875520" y="1353312"/>
            <a:ext cx="169164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WHO OWNS IT</a:t>
            </a:r>
            <a:endParaRPr lang="en-US" sz="1400" dirty="0"/>
          </a:p>
        </p:txBody>
      </p:sp>
      <p:sp>
        <p:nvSpPr>
          <p:cNvPr id="10" name="Shape 8"/>
          <p:cNvSpPr/>
          <p:nvPr/>
        </p:nvSpPr>
        <p:spPr>
          <a:xfrm>
            <a:off x="548640" y="1755648"/>
            <a:ext cx="11091672" cy="713232"/>
          </a:xfrm>
          <a:prstGeom prst="rect">
            <a:avLst/>
          </a:prstGeom>
          <a:solidFill>
            <a:srgbClr val="F7F7F7"/>
          </a:solidFill>
          <a:ln/>
        </p:spPr>
      </p:sp>
      <p:sp>
        <p:nvSpPr>
          <p:cNvPr id="11" name="Shape 9"/>
          <p:cNvSpPr/>
          <p:nvPr/>
        </p:nvSpPr>
        <p:spPr>
          <a:xfrm>
            <a:off x="548640" y="1755648"/>
            <a:ext cx="64008" cy="713232"/>
          </a:xfrm>
          <a:prstGeom prst="rect">
            <a:avLst/>
          </a:prstGeom>
          <a:solidFill>
            <a:srgbClr val="12A566"/>
          </a:solidFill>
          <a:ln/>
        </p:spPr>
      </p:sp>
      <p:sp>
        <p:nvSpPr>
          <p:cNvPr id="12" name="Text 10"/>
          <p:cNvSpPr txBox="1"/>
          <p:nvPr/>
        </p:nvSpPr>
        <p:spPr>
          <a:xfrm>
            <a:off x="749808" y="1755648"/>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tech under 85% reaches 85%</a:t>
            </a:r>
            <a:endParaRPr lang="en-US" sz="1700" dirty="0"/>
          </a:p>
        </p:txBody>
      </p:sp>
      <p:sp>
        <p:nvSpPr>
          <p:cNvPr id="13" name="Text 11"/>
          <p:cNvSpPr txBox="1"/>
          <p:nvPr/>
        </p:nvSpPr>
        <p:spPr>
          <a:xfrm>
            <a:off x="4754880" y="1755648"/>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$19,763,184</a:t>
            </a:r>
            <a:endParaRPr lang="en-US" sz="2400" dirty="0"/>
          </a:p>
        </p:txBody>
      </p:sp>
      <p:sp>
        <p:nvSpPr>
          <p:cNvPr id="14" name="Text 12"/>
          <p:cNvSpPr txBox="1"/>
          <p:nvPr/>
        </p:nvSpPr>
        <p:spPr>
          <a:xfrm>
            <a:off x="7178040" y="1755648"/>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Dispatch, parts staging, approvals, coaching</a:t>
            </a:r>
            <a:endParaRPr lang="en-US" sz="1400" dirty="0"/>
          </a:p>
        </p:txBody>
      </p:sp>
      <p:sp>
        <p:nvSpPr>
          <p:cNvPr id="15" name="Shape 13"/>
          <p:cNvSpPr/>
          <p:nvPr/>
        </p:nvSpPr>
        <p:spPr>
          <a:xfrm>
            <a:off x="9875520" y="1810512"/>
            <a:ext cx="1691640" cy="274320"/>
          </a:xfrm>
          <a:prstGeom prst="roundRect">
            <a:avLst>
              <a:gd name="adj" fmla="val 20000"/>
            </a:avLst>
          </a:prstGeom>
          <a:solidFill>
            <a:srgbClr val="EDF4FA"/>
          </a:solidFill>
          <a:ln w="9525">
            <a:solidFill>
              <a:srgbClr val="0B2C4A"/>
            </a:solidFill>
            <a:prstDash val="solid"/>
          </a:ln>
        </p:spPr>
      </p:sp>
      <p:sp>
        <p:nvSpPr>
          <p:cNvPr id="16" name="Text 14"/>
          <p:cNvSpPr txBox="1"/>
          <p:nvPr/>
        </p:nvSpPr>
        <p:spPr>
          <a:xfrm>
            <a:off x="9875520" y="181051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17" name="Shape 15"/>
          <p:cNvSpPr/>
          <p:nvPr/>
        </p:nvSpPr>
        <p:spPr>
          <a:xfrm>
            <a:off x="9875520" y="2139696"/>
            <a:ext cx="566928" cy="274320"/>
          </a:xfrm>
          <a:prstGeom prst="roundRect">
            <a:avLst>
              <a:gd name="adj" fmla="val 20000"/>
            </a:avLst>
          </a:prstGeom>
          <a:solidFill>
            <a:srgbClr val="0B2C4A"/>
          </a:solidFill>
          <a:ln w="9525">
            <a:solidFill>
              <a:srgbClr val="0B2C4A"/>
            </a:solidFill>
            <a:prstDash val="solid"/>
          </a:ln>
        </p:spPr>
      </p:sp>
      <p:sp>
        <p:nvSpPr>
          <p:cNvPr id="18" name="Text 16"/>
          <p:cNvSpPr txBox="1"/>
          <p:nvPr/>
        </p:nvSpPr>
        <p:spPr>
          <a:xfrm>
            <a:off x="9875520" y="2139696"/>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19" name="Shape 17"/>
          <p:cNvSpPr/>
          <p:nvPr/>
        </p:nvSpPr>
        <p:spPr>
          <a:xfrm>
            <a:off x="548640" y="2542032"/>
            <a:ext cx="11091672" cy="713232"/>
          </a:xfrm>
          <a:prstGeom prst="rect">
            <a:avLst/>
          </a:prstGeom>
          <a:solidFill>
            <a:srgbClr val="FFFFFF"/>
          </a:solidFill>
          <a:ln/>
        </p:spPr>
      </p:sp>
      <p:sp>
        <p:nvSpPr>
          <p:cNvPr id="20" name="Shape 18"/>
          <p:cNvSpPr/>
          <p:nvPr/>
        </p:nvSpPr>
        <p:spPr>
          <a:xfrm>
            <a:off x="548640" y="2542032"/>
            <a:ext cx="64008" cy="713232"/>
          </a:xfrm>
          <a:prstGeom prst="rect">
            <a:avLst/>
          </a:prstGeom>
          <a:solidFill>
            <a:srgbClr val="12A566"/>
          </a:solidFill>
          <a:ln/>
        </p:spPr>
      </p:sp>
      <p:sp>
        <p:nvSpPr>
          <p:cNvPr id="21" name="Text 19"/>
          <p:cNvSpPr txBox="1"/>
          <p:nvPr/>
        </p:nvSpPr>
        <p:spPr>
          <a:xfrm>
            <a:off x="749808" y="2542032"/>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0.1 more hours on every CP RO</a:t>
            </a:r>
            <a:endParaRPr lang="en-US" sz="1700" dirty="0"/>
          </a:p>
        </p:txBody>
      </p:sp>
      <p:sp>
        <p:nvSpPr>
          <p:cNvPr id="22" name="Text 20"/>
          <p:cNvSpPr txBox="1"/>
          <p:nvPr/>
        </p:nvSpPr>
        <p:spPr>
          <a:xfrm>
            <a:off x="4754880" y="2542032"/>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$6,602,564</a:t>
            </a:r>
            <a:endParaRPr lang="en-US" sz="2400" dirty="0"/>
          </a:p>
        </p:txBody>
      </p:sp>
      <p:sp>
        <p:nvSpPr>
          <p:cNvPr id="23" name="Text 21"/>
          <p:cNvSpPr txBox="1"/>
          <p:nvPr/>
        </p:nvSpPr>
        <p:spPr>
          <a:xfrm>
            <a:off x="7178040" y="2542032"/>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MPI on every car, the menu, Road to the Sale</a:t>
            </a:r>
            <a:endParaRPr lang="en-US" sz="1400" dirty="0"/>
          </a:p>
        </p:txBody>
      </p:sp>
      <p:sp>
        <p:nvSpPr>
          <p:cNvPr id="24" name="Shape 22"/>
          <p:cNvSpPr/>
          <p:nvPr/>
        </p:nvSpPr>
        <p:spPr>
          <a:xfrm>
            <a:off x="9875520" y="2761488"/>
            <a:ext cx="1691640" cy="274320"/>
          </a:xfrm>
          <a:prstGeom prst="roundRect">
            <a:avLst>
              <a:gd name="adj" fmla="val 20000"/>
            </a:avLst>
          </a:prstGeom>
          <a:solidFill>
            <a:srgbClr val="EDF4FA"/>
          </a:solidFill>
          <a:ln w="9525">
            <a:solidFill>
              <a:srgbClr val="0B2C4A"/>
            </a:solidFill>
            <a:prstDash val="solid"/>
          </a:ln>
        </p:spPr>
      </p:sp>
      <p:sp>
        <p:nvSpPr>
          <p:cNvPr id="25" name="Text 23"/>
          <p:cNvSpPr txBox="1"/>
          <p:nvPr/>
        </p:nvSpPr>
        <p:spPr>
          <a:xfrm>
            <a:off x="9875520" y="276148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26" name="Shape 24"/>
          <p:cNvSpPr/>
          <p:nvPr/>
        </p:nvSpPr>
        <p:spPr>
          <a:xfrm>
            <a:off x="548640" y="3328416"/>
            <a:ext cx="11091672" cy="713232"/>
          </a:xfrm>
          <a:prstGeom prst="rect">
            <a:avLst/>
          </a:prstGeom>
          <a:solidFill>
            <a:srgbClr val="F7F7F7"/>
          </a:solidFill>
          <a:ln/>
        </p:spPr>
      </p:sp>
      <p:sp>
        <p:nvSpPr>
          <p:cNvPr id="27" name="Shape 25"/>
          <p:cNvSpPr/>
          <p:nvPr/>
        </p:nvSpPr>
        <p:spPr>
          <a:xfrm>
            <a:off x="548640" y="3328416"/>
            <a:ext cx="64008" cy="713232"/>
          </a:xfrm>
          <a:prstGeom prst="rect">
            <a:avLst/>
          </a:prstGeom>
          <a:solidFill>
            <a:srgbClr val="12A566"/>
          </a:solidFill>
          <a:ln/>
        </p:spPr>
      </p:sp>
      <p:sp>
        <p:nvSpPr>
          <p:cNvPr id="28" name="Text 26"/>
          <p:cNvSpPr txBox="1"/>
          <p:nvPr/>
        </p:nvSpPr>
        <p:spPr>
          <a:xfrm>
            <a:off x="749808" y="3328416"/>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store at the four op code benchmarks</a:t>
            </a:r>
            <a:endParaRPr lang="en-US" sz="1700" dirty="0"/>
          </a:p>
        </p:txBody>
      </p:sp>
      <p:sp>
        <p:nvSpPr>
          <p:cNvPr id="29" name="Text 27"/>
          <p:cNvSpPr txBox="1"/>
          <p:nvPr/>
        </p:nvSpPr>
        <p:spPr>
          <a:xfrm>
            <a:off x="4754880" y="3328416"/>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$4,895,199</a:t>
            </a:r>
            <a:endParaRPr lang="en-US" sz="2400" dirty="0"/>
          </a:p>
        </p:txBody>
      </p:sp>
      <p:sp>
        <p:nvSpPr>
          <p:cNvPr id="30" name="Text 28"/>
          <p:cNvSpPr txBox="1"/>
          <p:nvPr/>
        </p:nvSpPr>
        <p:spPr>
          <a:xfrm>
            <a:off x="7178040" y="3328416"/>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Alignment, balance, brake fluid, fuel service</a:t>
            </a:r>
            <a:endParaRPr lang="en-US" sz="1400" dirty="0"/>
          </a:p>
        </p:txBody>
      </p:sp>
      <p:sp>
        <p:nvSpPr>
          <p:cNvPr id="31" name="Shape 29"/>
          <p:cNvSpPr/>
          <p:nvPr/>
        </p:nvSpPr>
        <p:spPr>
          <a:xfrm>
            <a:off x="9875520" y="3547872"/>
            <a:ext cx="1691640" cy="274320"/>
          </a:xfrm>
          <a:prstGeom prst="roundRect">
            <a:avLst>
              <a:gd name="adj" fmla="val 20000"/>
            </a:avLst>
          </a:prstGeom>
          <a:solidFill>
            <a:srgbClr val="EDF4FA"/>
          </a:solidFill>
          <a:ln w="9525">
            <a:solidFill>
              <a:srgbClr val="0B2C4A"/>
            </a:solidFill>
            <a:prstDash val="solid"/>
          </a:ln>
        </p:spPr>
      </p:sp>
      <p:sp>
        <p:nvSpPr>
          <p:cNvPr id="32" name="Text 30"/>
          <p:cNvSpPr txBox="1"/>
          <p:nvPr/>
        </p:nvSpPr>
        <p:spPr>
          <a:xfrm>
            <a:off x="9875520" y="354787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33" name="Shape 31"/>
          <p:cNvSpPr/>
          <p:nvPr/>
        </p:nvSpPr>
        <p:spPr>
          <a:xfrm>
            <a:off x="548640" y="4114800"/>
            <a:ext cx="11091672" cy="713232"/>
          </a:xfrm>
          <a:prstGeom prst="rect">
            <a:avLst/>
          </a:prstGeom>
          <a:solidFill>
            <a:srgbClr val="FFFFFF"/>
          </a:solidFill>
          <a:ln/>
        </p:spPr>
      </p:sp>
      <p:sp>
        <p:nvSpPr>
          <p:cNvPr id="34" name="Shape 32"/>
          <p:cNvSpPr/>
          <p:nvPr/>
        </p:nvSpPr>
        <p:spPr>
          <a:xfrm>
            <a:off x="548640" y="4114800"/>
            <a:ext cx="64008" cy="713232"/>
          </a:xfrm>
          <a:prstGeom prst="rect">
            <a:avLst/>
          </a:prstGeom>
          <a:solidFill>
            <a:srgbClr val="12A566"/>
          </a:solidFill>
          <a:ln/>
        </p:spPr>
      </p:sp>
      <p:sp>
        <p:nvSpPr>
          <p:cNvPr id="35" name="Text 33"/>
          <p:cNvSpPr txBox="1"/>
          <p:nvPr/>
        </p:nvSpPr>
        <p:spPr>
          <a:xfrm>
            <a:off x="749808" y="4114800"/>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more customer-pay RO a day</a:t>
            </a:r>
            <a:endParaRPr lang="en-US" sz="1700" dirty="0"/>
          </a:p>
        </p:txBody>
      </p:sp>
      <p:sp>
        <p:nvSpPr>
          <p:cNvPr id="36" name="Text 34"/>
          <p:cNvSpPr txBox="1"/>
          <p:nvPr/>
        </p:nvSpPr>
        <p:spPr>
          <a:xfrm>
            <a:off x="4754880" y="4114800"/>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$4,473,284</a:t>
            </a:r>
            <a:endParaRPr lang="en-US" sz="2400" dirty="0"/>
          </a:p>
        </p:txBody>
      </p:sp>
      <p:sp>
        <p:nvSpPr>
          <p:cNvPr id="37" name="Text 35"/>
          <p:cNvSpPr txBox="1"/>
          <p:nvPr/>
        </p:nvSpPr>
        <p:spPr>
          <a:xfrm>
            <a:off x="7178040" y="4114800"/>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Phones, scheduler, retention, marketing</a:t>
            </a:r>
            <a:endParaRPr lang="en-US" sz="1400" dirty="0"/>
          </a:p>
        </p:txBody>
      </p:sp>
      <p:sp>
        <p:nvSpPr>
          <p:cNvPr id="38" name="Shape 36"/>
          <p:cNvSpPr/>
          <p:nvPr/>
        </p:nvSpPr>
        <p:spPr>
          <a:xfrm>
            <a:off x="9875520" y="4169664"/>
            <a:ext cx="566928" cy="274320"/>
          </a:xfrm>
          <a:prstGeom prst="roundRect">
            <a:avLst>
              <a:gd name="adj" fmla="val 20000"/>
            </a:avLst>
          </a:prstGeom>
          <a:solidFill>
            <a:srgbClr val="0B2C4A"/>
          </a:solidFill>
          <a:ln w="9525">
            <a:solidFill>
              <a:srgbClr val="0B2C4A"/>
            </a:solidFill>
            <a:prstDash val="solid"/>
          </a:ln>
        </p:spPr>
      </p:sp>
      <p:sp>
        <p:nvSpPr>
          <p:cNvPr id="39" name="Text 37"/>
          <p:cNvSpPr txBox="1"/>
          <p:nvPr/>
        </p:nvSpPr>
        <p:spPr>
          <a:xfrm>
            <a:off x="9875520" y="4169664"/>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40" name="Shape 38"/>
          <p:cNvSpPr/>
          <p:nvPr/>
        </p:nvSpPr>
        <p:spPr>
          <a:xfrm>
            <a:off x="9875520" y="4498848"/>
            <a:ext cx="1691640" cy="274320"/>
          </a:xfrm>
          <a:prstGeom prst="roundRect">
            <a:avLst>
              <a:gd name="adj" fmla="val 20000"/>
            </a:avLst>
          </a:prstGeom>
          <a:solidFill>
            <a:srgbClr val="EDF4FA"/>
          </a:solidFill>
          <a:ln w="9525">
            <a:solidFill>
              <a:srgbClr val="0B2C4A"/>
            </a:solidFill>
            <a:prstDash val="solid"/>
          </a:ln>
        </p:spPr>
      </p:sp>
      <p:sp>
        <p:nvSpPr>
          <p:cNvPr id="41" name="Text 39"/>
          <p:cNvSpPr txBox="1"/>
          <p:nvPr/>
        </p:nvSpPr>
        <p:spPr>
          <a:xfrm>
            <a:off x="9875520" y="44988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2" name="Shape 40"/>
          <p:cNvSpPr/>
          <p:nvPr/>
        </p:nvSpPr>
        <p:spPr>
          <a:xfrm>
            <a:off x="548640" y="4901184"/>
            <a:ext cx="11091672" cy="713232"/>
          </a:xfrm>
          <a:prstGeom prst="rect">
            <a:avLst/>
          </a:prstGeom>
          <a:solidFill>
            <a:srgbClr val="F7F7F7"/>
          </a:solidFill>
          <a:ln/>
        </p:spPr>
      </p:sp>
      <p:sp>
        <p:nvSpPr>
          <p:cNvPr id="43" name="Shape 41"/>
          <p:cNvSpPr/>
          <p:nvPr/>
        </p:nvSpPr>
        <p:spPr>
          <a:xfrm>
            <a:off x="548640" y="4901184"/>
            <a:ext cx="64008" cy="713232"/>
          </a:xfrm>
          <a:prstGeom prst="rect">
            <a:avLst/>
          </a:prstGeom>
          <a:solidFill>
            <a:srgbClr val="12A566"/>
          </a:solidFill>
          <a:ln/>
        </p:spPr>
      </p:sp>
      <p:sp>
        <p:nvSpPr>
          <p:cNvPr id="44" name="Text 42"/>
          <p:cNvSpPr txBox="1"/>
          <p:nvPr/>
        </p:nvSpPr>
        <p:spPr>
          <a:xfrm>
            <a:off x="749808" y="4901184"/>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minute a day saved for every tech</a:t>
            </a:r>
            <a:endParaRPr lang="en-US" sz="1700" dirty="0"/>
          </a:p>
        </p:txBody>
      </p:sp>
      <p:sp>
        <p:nvSpPr>
          <p:cNvPr id="45" name="Text 43"/>
          <p:cNvSpPr txBox="1"/>
          <p:nvPr/>
        </p:nvSpPr>
        <p:spPr>
          <a:xfrm>
            <a:off x="4754880" y="4901184"/>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$444,380</a:t>
            </a:r>
            <a:endParaRPr lang="en-US" sz="2400" dirty="0"/>
          </a:p>
        </p:txBody>
      </p:sp>
      <p:sp>
        <p:nvSpPr>
          <p:cNvPr id="46" name="Text 44"/>
          <p:cNvSpPr txBox="1"/>
          <p:nvPr/>
        </p:nvSpPr>
        <p:spPr>
          <a:xfrm>
            <a:off x="7178040" y="4901184"/>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Parts to the bay, tools and keys in place</a:t>
            </a:r>
            <a:endParaRPr lang="en-US" sz="1400" dirty="0"/>
          </a:p>
        </p:txBody>
      </p:sp>
      <p:sp>
        <p:nvSpPr>
          <p:cNvPr id="47" name="Shape 45"/>
          <p:cNvSpPr/>
          <p:nvPr/>
        </p:nvSpPr>
        <p:spPr>
          <a:xfrm>
            <a:off x="9875520" y="4956048"/>
            <a:ext cx="1691640" cy="274320"/>
          </a:xfrm>
          <a:prstGeom prst="roundRect">
            <a:avLst>
              <a:gd name="adj" fmla="val 20000"/>
            </a:avLst>
          </a:prstGeom>
          <a:solidFill>
            <a:srgbClr val="EDF4FA"/>
          </a:solidFill>
          <a:ln w="9525">
            <a:solidFill>
              <a:srgbClr val="0B2C4A"/>
            </a:solidFill>
            <a:prstDash val="solid"/>
          </a:ln>
        </p:spPr>
      </p:sp>
      <p:sp>
        <p:nvSpPr>
          <p:cNvPr id="48" name="Text 46"/>
          <p:cNvSpPr txBox="1"/>
          <p:nvPr/>
        </p:nvSpPr>
        <p:spPr>
          <a:xfrm>
            <a:off x="9875520" y="49560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9" name="Shape 47"/>
          <p:cNvSpPr/>
          <p:nvPr/>
        </p:nvSpPr>
        <p:spPr>
          <a:xfrm>
            <a:off x="9875520" y="5285232"/>
            <a:ext cx="566928" cy="274320"/>
          </a:xfrm>
          <a:prstGeom prst="roundRect">
            <a:avLst>
              <a:gd name="adj" fmla="val 20000"/>
            </a:avLst>
          </a:prstGeom>
          <a:solidFill>
            <a:srgbClr val="0B2C4A"/>
          </a:solidFill>
          <a:ln w="9525">
            <a:solidFill>
              <a:srgbClr val="0B2C4A"/>
            </a:solidFill>
            <a:prstDash val="solid"/>
          </a:ln>
        </p:spPr>
      </p:sp>
      <p:sp>
        <p:nvSpPr>
          <p:cNvPr id="50" name="Text 48"/>
          <p:cNvSpPr txBox="1"/>
          <p:nvPr/>
        </p:nvSpPr>
        <p:spPr>
          <a:xfrm>
            <a:off x="9875520" y="5285232"/>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51" name="Shape 49"/>
          <p:cNvSpPr/>
          <p:nvPr/>
        </p:nvSpPr>
        <p:spPr>
          <a:xfrm>
            <a:off x="457200" y="6126480"/>
            <a:ext cx="11274552" cy="615696"/>
          </a:xfrm>
          <a:prstGeom prst="rect">
            <a:avLst/>
          </a:prstGeom>
          <a:solidFill>
            <a:srgbClr val="E6F6EE"/>
          </a:solidFill>
          <a:ln/>
        </p:spPr>
      </p:sp>
      <p:sp>
        <p:nvSpPr>
          <p:cNvPr id="52" name="Text 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Every number is gross on cars, bays and techs we already have, except one more RO a day. They overlap, so read each on its own.</a:t>
            </a:r>
            <a:endParaRPr lang="en-US" sz="1600" dirty="0"/>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you want to do this again?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$4,543,691 of labor at today's ELR.</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 balances</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The largest benchmark gap, at 8.3% against 15%.</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STORE DOOR RATES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$349</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$295</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$240</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$236</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$229</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$205</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$180</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$250</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$245</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$200</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8996"/>
          </a:xfrm>
          <a:prstGeom prst="rect">
            <a:avLst/>
          </a:prstGeom>
          <a:solidFill>
            <a:srgbClr val="EDF4FA"/>
          </a:solidFill>
          <a:ln/>
        </p:spPr>
      </p:sp>
      <p:sp>
        <p:nvSpPr>
          <p:cNvPr id="119" name="Text 117"/>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17 stores price labor on a grid, 16 at a flat door rate. Hours-weighted door rate: $229 grid, $203 no grid.</a:t>
            </a:r>
            <a:endParaRPr lang="en-US" sz="1450" dirty="0"/>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ELR % OF DOOR RATE, BARS ONLY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 Audi Reno leads at 103.4%; Cadillac is lowest at 61.5%.</a:t>
            </a:r>
            <a:endParaRPr lang="en-US" sz="1600" dirty="0"/>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GROSS PER EMPLOYEE GAP</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5584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79976"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8" name="Text 6"/>
          <p:cNvSpPr txBox="1"/>
          <p:nvPr/>
        </p:nvSpPr>
        <p:spPr>
          <a:xfrm>
            <a:off x="5148072"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9" name="Text 7"/>
          <p:cNvSpPr txBox="1"/>
          <p:nvPr/>
        </p:nvSpPr>
        <p:spPr>
          <a:xfrm>
            <a:off x="8906256"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30384"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11" name="Text 9"/>
          <p:cNvSpPr txBox="1"/>
          <p:nvPr/>
        </p:nvSpPr>
        <p:spPr>
          <a:xfrm>
            <a:off x="10698480"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2" name="Text 10"/>
          <p:cNvSpPr txBox="1"/>
          <p:nvPr/>
        </p:nvSpPr>
        <p:spPr>
          <a:xfrm>
            <a:off x="658368" y="170078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87195"/>
            <a:ext cx="429768" cy="211226"/>
          </a:xfrm>
          <a:prstGeom prst="rect">
            <a:avLst/>
          </a:prstGeom>
          <a:solidFill>
            <a:srgbClr val="C2352F"/>
          </a:solidFill>
          <a:ln/>
        </p:spPr>
      </p:sp>
      <p:sp>
        <p:nvSpPr>
          <p:cNvPr id="15" name="Text 13"/>
          <p:cNvSpPr txBox="1"/>
          <p:nvPr/>
        </p:nvSpPr>
        <p:spPr>
          <a:xfrm>
            <a:off x="3355848"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$2,456,862</a:t>
            </a:r>
            <a:endParaRPr lang="en-US" sz="1300" dirty="0"/>
          </a:p>
        </p:txBody>
      </p:sp>
      <p:sp>
        <p:nvSpPr>
          <p:cNvPr id="16" name="Text 14"/>
          <p:cNvSpPr txBox="1"/>
          <p:nvPr/>
        </p:nvSpPr>
        <p:spPr>
          <a:xfrm>
            <a:off x="4379976"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17" name="Text 15"/>
          <p:cNvSpPr txBox="1"/>
          <p:nvPr/>
        </p:nvSpPr>
        <p:spPr>
          <a:xfrm>
            <a:off x="5148072"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8" name="Text 16"/>
          <p:cNvSpPr txBox="1"/>
          <p:nvPr/>
        </p:nvSpPr>
        <p:spPr>
          <a:xfrm>
            <a:off x="658368" y="208483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08483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0" name="Shape 18"/>
          <p:cNvSpPr/>
          <p:nvPr/>
        </p:nvSpPr>
        <p:spPr>
          <a:xfrm>
            <a:off x="2871216" y="2171243"/>
            <a:ext cx="382835" cy="211226"/>
          </a:xfrm>
          <a:prstGeom prst="rect">
            <a:avLst/>
          </a:prstGeom>
          <a:solidFill>
            <a:srgbClr val="C2352F"/>
          </a:solidFill>
          <a:ln/>
        </p:spPr>
      </p:sp>
      <p:sp>
        <p:nvSpPr>
          <p:cNvPr id="21" name="Text 19"/>
          <p:cNvSpPr txBox="1"/>
          <p:nvPr/>
        </p:nvSpPr>
        <p:spPr>
          <a:xfrm>
            <a:off x="3355848"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$2,188,561</a:t>
            </a:r>
            <a:endParaRPr lang="en-US" sz="1300" dirty="0"/>
          </a:p>
        </p:txBody>
      </p:sp>
      <p:sp>
        <p:nvSpPr>
          <p:cNvPr id="22" name="Text 20"/>
          <p:cNvSpPr txBox="1"/>
          <p:nvPr/>
        </p:nvSpPr>
        <p:spPr>
          <a:xfrm>
            <a:off x="4379976"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23" name="Text 21"/>
          <p:cNvSpPr txBox="1"/>
          <p:nvPr/>
        </p:nvSpPr>
        <p:spPr>
          <a:xfrm>
            <a:off x="5148072"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24" name="Text 22"/>
          <p:cNvSpPr txBox="1"/>
          <p:nvPr/>
        </p:nvSpPr>
        <p:spPr>
          <a:xfrm>
            <a:off x="658368" y="246888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46888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6" name="Shape 24"/>
          <p:cNvSpPr/>
          <p:nvPr/>
        </p:nvSpPr>
        <p:spPr>
          <a:xfrm>
            <a:off x="2871216" y="2555291"/>
            <a:ext cx="236238" cy="211226"/>
          </a:xfrm>
          <a:prstGeom prst="rect">
            <a:avLst/>
          </a:prstGeom>
          <a:solidFill>
            <a:srgbClr val="C2352F"/>
          </a:solidFill>
          <a:ln/>
        </p:spPr>
      </p:sp>
      <p:sp>
        <p:nvSpPr>
          <p:cNvPr id="27" name="Text 25"/>
          <p:cNvSpPr txBox="1"/>
          <p:nvPr/>
        </p:nvSpPr>
        <p:spPr>
          <a:xfrm>
            <a:off x="3355848"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$1,350,504</a:t>
            </a:r>
            <a:endParaRPr lang="en-US" sz="1300" dirty="0"/>
          </a:p>
        </p:txBody>
      </p:sp>
      <p:sp>
        <p:nvSpPr>
          <p:cNvPr id="28" name="Text 26"/>
          <p:cNvSpPr txBox="1"/>
          <p:nvPr/>
        </p:nvSpPr>
        <p:spPr>
          <a:xfrm>
            <a:off x="4379976"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29" name="Text 27"/>
          <p:cNvSpPr txBox="1"/>
          <p:nvPr/>
        </p:nvSpPr>
        <p:spPr>
          <a:xfrm>
            <a:off x="5148072"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0" name="Text 28"/>
          <p:cNvSpPr txBox="1"/>
          <p:nvPr/>
        </p:nvSpPr>
        <p:spPr>
          <a:xfrm>
            <a:off x="658368" y="285292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85292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939339"/>
            <a:ext cx="229928" cy="211226"/>
          </a:xfrm>
          <a:prstGeom prst="rect">
            <a:avLst/>
          </a:prstGeom>
          <a:solidFill>
            <a:srgbClr val="C2352F"/>
          </a:solidFill>
          <a:ln/>
        </p:spPr>
      </p:sp>
      <p:sp>
        <p:nvSpPr>
          <p:cNvPr id="33" name="Text 31"/>
          <p:cNvSpPr txBox="1"/>
          <p:nvPr/>
        </p:nvSpPr>
        <p:spPr>
          <a:xfrm>
            <a:off x="3355848"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$1,314,435</a:t>
            </a:r>
            <a:endParaRPr lang="en-US" sz="1300" dirty="0"/>
          </a:p>
        </p:txBody>
      </p:sp>
      <p:sp>
        <p:nvSpPr>
          <p:cNvPr id="34" name="Text 32"/>
          <p:cNvSpPr txBox="1"/>
          <p:nvPr/>
        </p:nvSpPr>
        <p:spPr>
          <a:xfrm>
            <a:off x="4379976"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35" name="Text 33"/>
          <p:cNvSpPr txBox="1"/>
          <p:nvPr/>
        </p:nvSpPr>
        <p:spPr>
          <a:xfrm>
            <a:off x="5148072"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6" name="Text 34"/>
          <p:cNvSpPr txBox="1"/>
          <p:nvPr/>
        </p:nvSpPr>
        <p:spPr>
          <a:xfrm>
            <a:off x="658368" y="323697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23697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8" name="Shape 36"/>
          <p:cNvSpPr/>
          <p:nvPr/>
        </p:nvSpPr>
        <p:spPr>
          <a:xfrm>
            <a:off x="2871216" y="3323387"/>
            <a:ext cx="215568" cy="211226"/>
          </a:xfrm>
          <a:prstGeom prst="rect">
            <a:avLst/>
          </a:prstGeom>
          <a:solidFill>
            <a:srgbClr val="C2352F"/>
          </a:solidFill>
          <a:ln/>
        </p:spPr>
      </p:sp>
      <p:sp>
        <p:nvSpPr>
          <p:cNvPr id="39" name="Text 37"/>
          <p:cNvSpPr txBox="1"/>
          <p:nvPr/>
        </p:nvSpPr>
        <p:spPr>
          <a:xfrm>
            <a:off x="3355848"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$1,232,343</a:t>
            </a:r>
            <a:endParaRPr lang="en-US" sz="1300" dirty="0"/>
          </a:p>
        </p:txBody>
      </p:sp>
      <p:sp>
        <p:nvSpPr>
          <p:cNvPr id="40" name="Text 38"/>
          <p:cNvSpPr txBox="1"/>
          <p:nvPr/>
        </p:nvSpPr>
        <p:spPr>
          <a:xfrm>
            <a:off x="4379976"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41" name="Text 39"/>
          <p:cNvSpPr txBox="1"/>
          <p:nvPr/>
        </p:nvSpPr>
        <p:spPr>
          <a:xfrm>
            <a:off x="5148072"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2" name="Text 40"/>
          <p:cNvSpPr txBox="1"/>
          <p:nvPr/>
        </p:nvSpPr>
        <p:spPr>
          <a:xfrm>
            <a:off x="658368" y="362102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62102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4" name="Shape 42"/>
          <p:cNvSpPr/>
          <p:nvPr/>
        </p:nvSpPr>
        <p:spPr>
          <a:xfrm>
            <a:off x="2871216" y="3707435"/>
            <a:ext cx="197159" cy="211226"/>
          </a:xfrm>
          <a:prstGeom prst="rect">
            <a:avLst/>
          </a:prstGeom>
          <a:solidFill>
            <a:srgbClr val="C2352F"/>
          </a:solidFill>
          <a:ln/>
        </p:spPr>
      </p:sp>
      <p:sp>
        <p:nvSpPr>
          <p:cNvPr id="45" name="Text 43"/>
          <p:cNvSpPr txBox="1"/>
          <p:nvPr/>
        </p:nvSpPr>
        <p:spPr>
          <a:xfrm>
            <a:off x="3355848"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$1,127,104</a:t>
            </a:r>
            <a:endParaRPr lang="en-US" sz="1300" dirty="0"/>
          </a:p>
        </p:txBody>
      </p:sp>
      <p:sp>
        <p:nvSpPr>
          <p:cNvPr id="46" name="Text 44"/>
          <p:cNvSpPr txBox="1"/>
          <p:nvPr/>
        </p:nvSpPr>
        <p:spPr>
          <a:xfrm>
            <a:off x="4379976"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47" name="Text 45"/>
          <p:cNvSpPr txBox="1"/>
          <p:nvPr/>
        </p:nvSpPr>
        <p:spPr>
          <a:xfrm>
            <a:off x="5148072"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8" name="Text 46"/>
          <p:cNvSpPr txBox="1"/>
          <p:nvPr/>
        </p:nvSpPr>
        <p:spPr>
          <a:xfrm>
            <a:off x="658368" y="400507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400507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0" name="Shape 48"/>
          <p:cNvSpPr/>
          <p:nvPr/>
        </p:nvSpPr>
        <p:spPr>
          <a:xfrm>
            <a:off x="2871216" y="4091483"/>
            <a:ext cx="185442" cy="211226"/>
          </a:xfrm>
          <a:prstGeom prst="rect">
            <a:avLst/>
          </a:prstGeom>
          <a:solidFill>
            <a:srgbClr val="C2352F"/>
          </a:solidFill>
          <a:ln/>
        </p:spPr>
      </p:sp>
      <p:sp>
        <p:nvSpPr>
          <p:cNvPr id="51" name="Text 49"/>
          <p:cNvSpPr txBox="1"/>
          <p:nvPr/>
        </p:nvSpPr>
        <p:spPr>
          <a:xfrm>
            <a:off x="3355848"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$1,060,118</a:t>
            </a:r>
            <a:endParaRPr lang="en-US" sz="1300" dirty="0"/>
          </a:p>
        </p:txBody>
      </p:sp>
      <p:sp>
        <p:nvSpPr>
          <p:cNvPr id="52" name="Text 50"/>
          <p:cNvSpPr txBox="1"/>
          <p:nvPr/>
        </p:nvSpPr>
        <p:spPr>
          <a:xfrm>
            <a:off x="4379976"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53" name="Text 51"/>
          <p:cNvSpPr txBox="1"/>
          <p:nvPr/>
        </p:nvSpPr>
        <p:spPr>
          <a:xfrm>
            <a:off x="5148072"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4" name="Text 52"/>
          <p:cNvSpPr txBox="1"/>
          <p:nvPr/>
        </p:nvSpPr>
        <p:spPr>
          <a:xfrm>
            <a:off x="658368" y="438912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438912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6" name="Shape 54"/>
          <p:cNvSpPr/>
          <p:nvPr/>
        </p:nvSpPr>
        <p:spPr>
          <a:xfrm>
            <a:off x="2871216" y="4475531"/>
            <a:ext cx="179286" cy="211226"/>
          </a:xfrm>
          <a:prstGeom prst="rect">
            <a:avLst/>
          </a:prstGeom>
          <a:solidFill>
            <a:srgbClr val="C2352F"/>
          </a:solidFill>
          <a:ln/>
        </p:spPr>
      </p:sp>
      <p:sp>
        <p:nvSpPr>
          <p:cNvPr id="57" name="Text 55"/>
          <p:cNvSpPr txBox="1"/>
          <p:nvPr/>
        </p:nvSpPr>
        <p:spPr>
          <a:xfrm>
            <a:off x="3355848"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$1,024,925</a:t>
            </a:r>
            <a:endParaRPr lang="en-US" sz="1300" dirty="0"/>
          </a:p>
        </p:txBody>
      </p:sp>
      <p:sp>
        <p:nvSpPr>
          <p:cNvPr id="58" name="Text 56"/>
          <p:cNvSpPr txBox="1"/>
          <p:nvPr/>
        </p:nvSpPr>
        <p:spPr>
          <a:xfrm>
            <a:off x="4379976"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59" name="Text 57"/>
          <p:cNvSpPr txBox="1"/>
          <p:nvPr/>
        </p:nvSpPr>
        <p:spPr>
          <a:xfrm>
            <a:off x="5148072"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0" name="Text 58"/>
          <p:cNvSpPr txBox="1"/>
          <p:nvPr/>
        </p:nvSpPr>
        <p:spPr>
          <a:xfrm>
            <a:off x="658368" y="477316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477316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2871216" y="4859579"/>
            <a:ext cx="179186" cy="211226"/>
          </a:xfrm>
          <a:prstGeom prst="rect">
            <a:avLst/>
          </a:prstGeom>
          <a:solidFill>
            <a:srgbClr val="C2352F"/>
          </a:solidFill>
          <a:ln/>
        </p:spPr>
      </p:sp>
      <p:sp>
        <p:nvSpPr>
          <p:cNvPr id="63" name="Text 61"/>
          <p:cNvSpPr txBox="1"/>
          <p:nvPr/>
        </p:nvSpPr>
        <p:spPr>
          <a:xfrm>
            <a:off x="3355848"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$1,024,357</a:t>
            </a:r>
            <a:endParaRPr lang="en-US" sz="1300" dirty="0"/>
          </a:p>
        </p:txBody>
      </p:sp>
      <p:sp>
        <p:nvSpPr>
          <p:cNvPr id="64" name="Text 62"/>
          <p:cNvSpPr txBox="1"/>
          <p:nvPr/>
        </p:nvSpPr>
        <p:spPr>
          <a:xfrm>
            <a:off x="4379976"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65" name="Text 63"/>
          <p:cNvSpPr txBox="1"/>
          <p:nvPr/>
        </p:nvSpPr>
        <p:spPr>
          <a:xfrm>
            <a:off x="5148072"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6" name="Text 64"/>
          <p:cNvSpPr txBox="1"/>
          <p:nvPr/>
        </p:nvSpPr>
        <p:spPr>
          <a:xfrm>
            <a:off x="658368" y="515721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515721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8" name="Shape 66"/>
          <p:cNvSpPr/>
          <p:nvPr/>
        </p:nvSpPr>
        <p:spPr>
          <a:xfrm>
            <a:off x="2871216" y="5243627"/>
            <a:ext cx="145201" cy="211226"/>
          </a:xfrm>
          <a:prstGeom prst="rect">
            <a:avLst/>
          </a:prstGeom>
          <a:solidFill>
            <a:srgbClr val="C2352F"/>
          </a:solidFill>
          <a:ln/>
        </p:spPr>
      </p:sp>
      <p:sp>
        <p:nvSpPr>
          <p:cNvPr id="69" name="Text 67"/>
          <p:cNvSpPr txBox="1"/>
          <p:nvPr/>
        </p:nvSpPr>
        <p:spPr>
          <a:xfrm>
            <a:off x="3355848"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$830,073</a:t>
            </a:r>
            <a:endParaRPr lang="en-US" sz="1300" dirty="0"/>
          </a:p>
        </p:txBody>
      </p:sp>
      <p:sp>
        <p:nvSpPr>
          <p:cNvPr id="70" name="Text 68"/>
          <p:cNvSpPr txBox="1"/>
          <p:nvPr/>
        </p:nvSpPr>
        <p:spPr>
          <a:xfrm>
            <a:off x="4379976"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71" name="Text 69"/>
          <p:cNvSpPr txBox="1"/>
          <p:nvPr/>
        </p:nvSpPr>
        <p:spPr>
          <a:xfrm>
            <a:off x="5148072"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72" name="Text 70"/>
          <p:cNvSpPr txBox="1"/>
          <p:nvPr/>
        </p:nvSpPr>
        <p:spPr>
          <a:xfrm>
            <a:off x="658368" y="554126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554126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4" name="Shape 72"/>
          <p:cNvSpPr/>
          <p:nvPr/>
        </p:nvSpPr>
        <p:spPr>
          <a:xfrm>
            <a:off x="2871216" y="5627675"/>
            <a:ext cx="144678" cy="211226"/>
          </a:xfrm>
          <a:prstGeom prst="rect">
            <a:avLst/>
          </a:prstGeom>
          <a:solidFill>
            <a:srgbClr val="C2352F"/>
          </a:solidFill>
          <a:ln/>
        </p:spPr>
      </p:sp>
      <p:sp>
        <p:nvSpPr>
          <p:cNvPr id="75" name="Text 73"/>
          <p:cNvSpPr txBox="1"/>
          <p:nvPr/>
        </p:nvSpPr>
        <p:spPr>
          <a:xfrm>
            <a:off x="3355848" y="554126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$827,082</a:t>
            </a:r>
            <a:endParaRPr lang="en-US" sz="1300" dirty="0"/>
          </a:p>
        </p:txBody>
      </p:sp>
      <p:sp>
        <p:nvSpPr>
          <p:cNvPr id="76" name="Text 74"/>
          <p:cNvSpPr txBox="1"/>
          <p:nvPr/>
        </p:nvSpPr>
        <p:spPr>
          <a:xfrm>
            <a:off x="4379976"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77" name="Text 75"/>
          <p:cNvSpPr txBox="1"/>
          <p:nvPr/>
        </p:nvSpPr>
        <p:spPr>
          <a:xfrm>
            <a:off x="5148072"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8" name="Text 76"/>
          <p:cNvSpPr txBox="1"/>
          <p:nvPr/>
        </p:nvSpPr>
        <p:spPr>
          <a:xfrm>
            <a:off x="6208776" y="170078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565392" y="170078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8421624" y="1787195"/>
            <a:ext cx="70607" cy="211226"/>
          </a:xfrm>
          <a:prstGeom prst="rect">
            <a:avLst/>
          </a:prstGeom>
          <a:solidFill>
            <a:srgbClr val="C2352F"/>
          </a:solidFill>
          <a:ln/>
        </p:spPr>
      </p:sp>
      <p:sp>
        <p:nvSpPr>
          <p:cNvPr id="81" name="Text 79"/>
          <p:cNvSpPr txBox="1"/>
          <p:nvPr/>
        </p:nvSpPr>
        <p:spPr>
          <a:xfrm>
            <a:off x="8906256"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$403,638</a:t>
            </a:r>
            <a:endParaRPr lang="en-US" sz="1300" dirty="0"/>
          </a:p>
        </p:txBody>
      </p:sp>
      <p:sp>
        <p:nvSpPr>
          <p:cNvPr id="82" name="Text 80"/>
          <p:cNvSpPr txBox="1"/>
          <p:nvPr/>
        </p:nvSpPr>
        <p:spPr>
          <a:xfrm>
            <a:off x="9930384"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83" name="Text 81"/>
          <p:cNvSpPr txBox="1"/>
          <p:nvPr/>
        </p:nvSpPr>
        <p:spPr>
          <a:xfrm>
            <a:off x="10698480"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84" name="Text 82"/>
          <p:cNvSpPr txBox="1"/>
          <p:nvPr/>
        </p:nvSpPr>
        <p:spPr>
          <a:xfrm>
            <a:off x="6208776" y="208483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6565392" y="208483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6" name="Shape 84"/>
          <p:cNvSpPr/>
          <p:nvPr/>
        </p:nvSpPr>
        <p:spPr>
          <a:xfrm>
            <a:off x="8421624" y="2171243"/>
            <a:ext cx="65929" cy="211226"/>
          </a:xfrm>
          <a:prstGeom prst="rect">
            <a:avLst/>
          </a:prstGeom>
          <a:solidFill>
            <a:srgbClr val="C2352F"/>
          </a:solidFill>
          <a:ln/>
        </p:spPr>
      </p:sp>
      <p:sp>
        <p:nvSpPr>
          <p:cNvPr id="87" name="Text 85"/>
          <p:cNvSpPr txBox="1"/>
          <p:nvPr/>
        </p:nvSpPr>
        <p:spPr>
          <a:xfrm>
            <a:off x="8906256"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$376,895</a:t>
            </a:r>
            <a:endParaRPr lang="en-US" sz="1300" dirty="0"/>
          </a:p>
        </p:txBody>
      </p:sp>
      <p:sp>
        <p:nvSpPr>
          <p:cNvPr id="88" name="Text 86"/>
          <p:cNvSpPr txBox="1"/>
          <p:nvPr/>
        </p:nvSpPr>
        <p:spPr>
          <a:xfrm>
            <a:off x="9930384"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89" name="Text 87"/>
          <p:cNvSpPr txBox="1"/>
          <p:nvPr/>
        </p:nvSpPr>
        <p:spPr>
          <a:xfrm>
            <a:off x="10698480"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0" name="Text 88"/>
          <p:cNvSpPr txBox="1"/>
          <p:nvPr/>
        </p:nvSpPr>
        <p:spPr>
          <a:xfrm>
            <a:off x="6208776" y="246888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565392" y="246888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92" name="Shape 90"/>
          <p:cNvSpPr/>
          <p:nvPr/>
        </p:nvSpPr>
        <p:spPr>
          <a:xfrm>
            <a:off x="8421624" y="2555291"/>
            <a:ext cx="64833" cy="211226"/>
          </a:xfrm>
          <a:prstGeom prst="rect">
            <a:avLst/>
          </a:prstGeom>
          <a:solidFill>
            <a:srgbClr val="C2352F"/>
          </a:solidFill>
          <a:ln/>
        </p:spPr>
      </p:sp>
      <p:sp>
        <p:nvSpPr>
          <p:cNvPr id="93" name="Text 91"/>
          <p:cNvSpPr txBox="1"/>
          <p:nvPr/>
        </p:nvSpPr>
        <p:spPr>
          <a:xfrm>
            <a:off x="8906256"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$370,634</a:t>
            </a:r>
            <a:endParaRPr lang="en-US" sz="1300" dirty="0"/>
          </a:p>
        </p:txBody>
      </p:sp>
      <p:sp>
        <p:nvSpPr>
          <p:cNvPr id="94" name="Text 92"/>
          <p:cNvSpPr txBox="1"/>
          <p:nvPr/>
        </p:nvSpPr>
        <p:spPr>
          <a:xfrm>
            <a:off x="9930384"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95" name="Text 93"/>
          <p:cNvSpPr txBox="1"/>
          <p:nvPr/>
        </p:nvSpPr>
        <p:spPr>
          <a:xfrm>
            <a:off x="10698480"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6" name="Text 94"/>
          <p:cNvSpPr txBox="1"/>
          <p:nvPr/>
        </p:nvSpPr>
        <p:spPr>
          <a:xfrm>
            <a:off x="6208776" y="285292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6565392" y="285292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8" name="Shape 96"/>
          <p:cNvSpPr/>
          <p:nvPr/>
        </p:nvSpPr>
        <p:spPr>
          <a:xfrm>
            <a:off x="8421624" y="2939339"/>
            <a:ext cx="59917" cy="211226"/>
          </a:xfrm>
          <a:prstGeom prst="rect">
            <a:avLst/>
          </a:prstGeom>
          <a:solidFill>
            <a:srgbClr val="C2352F"/>
          </a:solidFill>
          <a:ln/>
        </p:spPr>
      </p:sp>
      <p:sp>
        <p:nvSpPr>
          <p:cNvPr id="99" name="Text 97"/>
          <p:cNvSpPr txBox="1"/>
          <p:nvPr/>
        </p:nvSpPr>
        <p:spPr>
          <a:xfrm>
            <a:off x="8906256"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$342,526</a:t>
            </a:r>
            <a:endParaRPr lang="en-US" sz="1300" dirty="0"/>
          </a:p>
        </p:txBody>
      </p:sp>
      <p:sp>
        <p:nvSpPr>
          <p:cNvPr id="100" name="Text 98"/>
          <p:cNvSpPr txBox="1"/>
          <p:nvPr/>
        </p:nvSpPr>
        <p:spPr>
          <a:xfrm>
            <a:off x="9930384"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101" name="Text 99"/>
          <p:cNvSpPr txBox="1"/>
          <p:nvPr/>
        </p:nvSpPr>
        <p:spPr>
          <a:xfrm>
            <a:off x="10698480"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02" name="Text 100"/>
          <p:cNvSpPr txBox="1"/>
          <p:nvPr/>
        </p:nvSpPr>
        <p:spPr>
          <a:xfrm>
            <a:off x="6208776" y="323697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6565392" y="323697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4" name="Shape 102"/>
          <p:cNvSpPr/>
          <p:nvPr/>
        </p:nvSpPr>
        <p:spPr>
          <a:xfrm>
            <a:off x="8421624" y="3323387"/>
            <a:ext cx="54171" cy="211226"/>
          </a:xfrm>
          <a:prstGeom prst="rect">
            <a:avLst/>
          </a:prstGeom>
          <a:solidFill>
            <a:srgbClr val="C2352F"/>
          </a:solidFill>
          <a:ln/>
        </p:spPr>
      </p:sp>
      <p:sp>
        <p:nvSpPr>
          <p:cNvPr id="105" name="Text 103"/>
          <p:cNvSpPr txBox="1"/>
          <p:nvPr/>
        </p:nvSpPr>
        <p:spPr>
          <a:xfrm>
            <a:off x="8906256"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$309,678</a:t>
            </a:r>
            <a:endParaRPr lang="en-US" sz="1300" dirty="0"/>
          </a:p>
        </p:txBody>
      </p:sp>
      <p:sp>
        <p:nvSpPr>
          <p:cNvPr id="106" name="Text 104"/>
          <p:cNvSpPr txBox="1"/>
          <p:nvPr/>
        </p:nvSpPr>
        <p:spPr>
          <a:xfrm>
            <a:off x="9930384"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107" name="Text 105"/>
          <p:cNvSpPr txBox="1"/>
          <p:nvPr/>
        </p:nvSpPr>
        <p:spPr>
          <a:xfrm>
            <a:off x="10698480"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8" name="Text 106"/>
          <p:cNvSpPr txBox="1"/>
          <p:nvPr/>
        </p:nvSpPr>
        <p:spPr>
          <a:xfrm>
            <a:off x="6208776" y="362102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6565392" y="362102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0" name="Shape 108"/>
          <p:cNvSpPr/>
          <p:nvPr/>
        </p:nvSpPr>
        <p:spPr>
          <a:xfrm>
            <a:off x="8421624" y="3707435"/>
            <a:ext cx="33354" cy="211226"/>
          </a:xfrm>
          <a:prstGeom prst="rect">
            <a:avLst/>
          </a:prstGeom>
          <a:solidFill>
            <a:srgbClr val="C2352F"/>
          </a:solidFill>
          <a:ln/>
        </p:spPr>
      </p:sp>
      <p:sp>
        <p:nvSpPr>
          <p:cNvPr id="111" name="Text 109"/>
          <p:cNvSpPr txBox="1"/>
          <p:nvPr/>
        </p:nvSpPr>
        <p:spPr>
          <a:xfrm>
            <a:off x="8906256"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$190,674</a:t>
            </a:r>
            <a:endParaRPr lang="en-US" sz="1300" dirty="0"/>
          </a:p>
        </p:txBody>
      </p:sp>
      <p:sp>
        <p:nvSpPr>
          <p:cNvPr id="112" name="Text 110"/>
          <p:cNvSpPr txBox="1"/>
          <p:nvPr/>
        </p:nvSpPr>
        <p:spPr>
          <a:xfrm>
            <a:off x="9930384"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113" name="Text 111"/>
          <p:cNvSpPr txBox="1"/>
          <p:nvPr/>
        </p:nvSpPr>
        <p:spPr>
          <a:xfrm>
            <a:off x="10698480"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14" name="Text 112"/>
          <p:cNvSpPr txBox="1"/>
          <p:nvPr/>
        </p:nvSpPr>
        <p:spPr>
          <a:xfrm>
            <a:off x="6208776" y="400507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400507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6" name="Shape 114"/>
          <p:cNvSpPr/>
          <p:nvPr/>
        </p:nvSpPr>
        <p:spPr>
          <a:xfrm>
            <a:off x="8421624" y="4091483"/>
            <a:ext cx="27497" cy="211226"/>
          </a:xfrm>
          <a:prstGeom prst="rect">
            <a:avLst/>
          </a:prstGeom>
          <a:solidFill>
            <a:srgbClr val="C2352F"/>
          </a:solidFill>
          <a:ln/>
        </p:spPr>
      </p:sp>
      <p:sp>
        <p:nvSpPr>
          <p:cNvPr id="117" name="Text 115"/>
          <p:cNvSpPr txBox="1"/>
          <p:nvPr/>
        </p:nvSpPr>
        <p:spPr>
          <a:xfrm>
            <a:off x="8906256"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$157,193</a:t>
            </a:r>
            <a:endParaRPr lang="en-US" sz="1300" dirty="0"/>
          </a:p>
        </p:txBody>
      </p:sp>
      <p:sp>
        <p:nvSpPr>
          <p:cNvPr id="118" name="Text 116"/>
          <p:cNvSpPr txBox="1"/>
          <p:nvPr/>
        </p:nvSpPr>
        <p:spPr>
          <a:xfrm>
            <a:off x="9930384"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19" name="Text 117"/>
          <p:cNvSpPr txBox="1"/>
          <p:nvPr/>
        </p:nvSpPr>
        <p:spPr>
          <a:xfrm>
            <a:off x="10698480"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20" name="Text 118"/>
          <p:cNvSpPr txBox="1"/>
          <p:nvPr/>
        </p:nvSpPr>
        <p:spPr>
          <a:xfrm>
            <a:off x="6208776" y="438912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438912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2" name="Shape 120"/>
          <p:cNvSpPr/>
          <p:nvPr/>
        </p:nvSpPr>
        <p:spPr>
          <a:xfrm>
            <a:off x="8421624" y="4475531"/>
            <a:ext cx="19120" cy="211226"/>
          </a:xfrm>
          <a:prstGeom prst="rect">
            <a:avLst/>
          </a:prstGeom>
          <a:solidFill>
            <a:srgbClr val="C2352F"/>
          </a:solidFill>
          <a:ln/>
        </p:spPr>
      </p:sp>
      <p:sp>
        <p:nvSpPr>
          <p:cNvPr id="123" name="Text 121"/>
          <p:cNvSpPr txBox="1"/>
          <p:nvPr/>
        </p:nvSpPr>
        <p:spPr>
          <a:xfrm>
            <a:off x="8906256"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$109,303</a:t>
            </a:r>
            <a:endParaRPr lang="en-US" sz="1300" dirty="0"/>
          </a:p>
        </p:txBody>
      </p:sp>
      <p:sp>
        <p:nvSpPr>
          <p:cNvPr id="124" name="Text 122"/>
          <p:cNvSpPr txBox="1"/>
          <p:nvPr/>
        </p:nvSpPr>
        <p:spPr>
          <a:xfrm>
            <a:off x="9930384"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25" name="Text 123"/>
          <p:cNvSpPr txBox="1"/>
          <p:nvPr/>
        </p:nvSpPr>
        <p:spPr>
          <a:xfrm>
            <a:off x="10698480"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26" name="Text 124"/>
          <p:cNvSpPr txBox="1"/>
          <p:nvPr/>
        </p:nvSpPr>
        <p:spPr>
          <a:xfrm>
            <a:off x="6208776" y="477316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477316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421624" y="4859579"/>
            <a:ext cx="18288" cy="211226"/>
          </a:xfrm>
          <a:prstGeom prst="rect">
            <a:avLst/>
          </a:prstGeom>
          <a:solidFill>
            <a:srgbClr val="C2352F"/>
          </a:solidFill>
          <a:ln/>
        </p:spPr>
      </p:sp>
      <p:sp>
        <p:nvSpPr>
          <p:cNvPr id="129" name="Text 127"/>
          <p:cNvSpPr txBox="1"/>
          <p:nvPr/>
        </p:nvSpPr>
        <p:spPr>
          <a:xfrm>
            <a:off x="8906256"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$61,379</a:t>
            </a:r>
            <a:endParaRPr lang="en-US" sz="1300" dirty="0"/>
          </a:p>
        </p:txBody>
      </p:sp>
      <p:sp>
        <p:nvSpPr>
          <p:cNvPr id="130" name="Text 128"/>
          <p:cNvSpPr txBox="1"/>
          <p:nvPr/>
        </p:nvSpPr>
        <p:spPr>
          <a:xfrm>
            <a:off x="9930384"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31" name="Text 129"/>
          <p:cNvSpPr txBox="1"/>
          <p:nvPr/>
        </p:nvSpPr>
        <p:spPr>
          <a:xfrm>
            <a:off x="10698480"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32" name="Text 130"/>
          <p:cNvSpPr txBox="1"/>
          <p:nvPr/>
        </p:nvSpPr>
        <p:spPr>
          <a:xfrm>
            <a:off x="6208776" y="515721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515721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4" name="Shape 132"/>
          <p:cNvSpPr/>
          <p:nvPr/>
        </p:nvSpPr>
        <p:spPr>
          <a:xfrm>
            <a:off x="8421624" y="5243627"/>
            <a:ext cx="18288" cy="211226"/>
          </a:xfrm>
          <a:prstGeom prst="rect">
            <a:avLst/>
          </a:prstGeom>
          <a:solidFill>
            <a:srgbClr val="C2352F"/>
          </a:solidFill>
          <a:ln/>
        </p:spPr>
      </p:sp>
      <p:sp>
        <p:nvSpPr>
          <p:cNvPr id="135" name="Text 133"/>
          <p:cNvSpPr txBox="1"/>
          <p:nvPr/>
        </p:nvSpPr>
        <p:spPr>
          <a:xfrm>
            <a:off x="8906256"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$25,739</a:t>
            </a:r>
            <a:endParaRPr lang="en-US" sz="1300" dirty="0"/>
          </a:p>
        </p:txBody>
      </p:sp>
      <p:sp>
        <p:nvSpPr>
          <p:cNvPr id="136" name="Text 134"/>
          <p:cNvSpPr txBox="1"/>
          <p:nvPr/>
        </p:nvSpPr>
        <p:spPr>
          <a:xfrm>
            <a:off x="9930384"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37" name="Text 135"/>
          <p:cNvSpPr txBox="1"/>
          <p:nvPr/>
        </p:nvSpPr>
        <p:spPr>
          <a:xfrm>
            <a:off x="10698480"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38" name="Shape 136"/>
          <p:cNvSpPr/>
          <p:nvPr/>
        </p:nvSpPr>
        <p:spPr>
          <a:xfrm>
            <a:off x="6085332" y="1700784"/>
            <a:ext cx="10973" cy="4224528"/>
          </a:xfrm>
          <a:prstGeom prst="rect">
            <a:avLst/>
          </a:prstGeom>
          <a:solidFill>
            <a:srgbClr val="D9D9D9"/>
          </a:solidFill>
          <a:ln/>
        </p:spPr>
      </p:sp>
      <p:sp>
        <p:nvSpPr>
          <p:cNvPr id="139" name="Shape 137"/>
          <p:cNvSpPr/>
          <p:nvPr/>
        </p:nvSpPr>
        <p:spPr>
          <a:xfrm>
            <a:off x="457200" y="6126480"/>
            <a:ext cx="11274552" cy="615696"/>
          </a:xfrm>
          <a:prstGeom prst="rect">
            <a:avLst/>
          </a:prstGeom>
          <a:solidFill>
            <a:srgbClr val="FBEBEA"/>
          </a:solidFill>
          <a:ln/>
        </p:spPr>
      </p:sp>
      <p:sp>
        <p:nvSpPr>
          <p:cNvPr id="140" name="Text 13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Luxury stores are compared with $16,998 a month, non-luxury with $12,714. 21 stores below their average leave $16,784,025 a year with the same staff.</a:t>
            </a:r>
            <a:endParaRPr lang="en-US" sz="1600" dirty="0"/>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5% MORE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5% More per Employee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0215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1655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9" name="Text 7"/>
          <p:cNvSpPr txBox="1"/>
          <p:nvPr/>
        </p:nvSpPr>
        <p:spPr>
          <a:xfrm>
            <a:off x="905256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669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2871216" y="1756697"/>
            <a:ext cx="576072" cy="136676"/>
          </a:xfrm>
          <a:prstGeom prst="rect">
            <a:avLst/>
          </a:prstGeom>
          <a:solidFill>
            <a:srgbClr val="2587C5"/>
          </a:solidFill>
          <a:ln/>
        </p:spPr>
      </p:sp>
      <p:sp>
        <p:nvSpPr>
          <p:cNvPr id="15" name="Text 13"/>
          <p:cNvSpPr txBox="1"/>
          <p:nvPr/>
        </p:nvSpPr>
        <p:spPr>
          <a:xfrm>
            <a:off x="3502152"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$1.51M</a:t>
            </a:r>
            <a:endParaRPr lang="en-US" sz="1300" dirty="0"/>
          </a:p>
        </p:txBody>
      </p:sp>
      <p:sp>
        <p:nvSpPr>
          <p:cNvPr id="16" name="Text 14"/>
          <p:cNvSpPr txBox="1"/>
          <p:nvPr/>
        </p:nvSpPr>
        <p:spPr>
          <a:xfrm>
            <a:off x="4416552"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$14.2K</a:t>
            </a:r>
            <a:endParaRPr lang="en-US" sz="1300" dirty="0"/>
          </a:p>
        </p:txBody>
      </p:sp>
      <p:sp>
        <p:nvSpPr>
          <p:cNvPr id="17" name="Text 15"/>
          <p:cNvSpPr txBox="1"/>
          <p:nvPr/>
        </p:nvSpPr>
        <p:spPr>
          <a:xfrm>
            <a:off x="51663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 name="Shape 18"/>
          <p:cNvSpPr/>
          <p:nvPr/>
        </p:nvSpPr>
        <p:spPr>
          <a:xfrm>
            <a:off x="2871216" y="2005199"/>
            <a:ext cx="421856" cy="136676"/>
          </a:xfrm>
          <a:prstGeom prst="rect">
            <a:avLst/>
          </a:prstGeom>
          <a:solidFill>
            <a:srgbClr val="2587C5"/>
          </a:solidFill>
          <a:ln/>
        </p:spPr>
      </p:sp>
      <p:sp>
        <p:nvSpPr>
          <p:cNvPr id="21" name="Text 19"/>
          <p:cNvSpPr txBox="1"/>
          <p:nvPr/>
        </p:nvSpPr>
        <p:spPr>
          <a:xfrm>
            <a:off x="3502152"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$1.10M</a:t>
            </a:r>
            <a:endParaRPr lang="en-US" sz="1300" dirty="0"/>
          </a:p>
        </p:txBody>
      </p:sp>
      <p:sp>
        <p:nvSpPr>
          <p:cNvPr id="22" name="Text 20"/>
          <p:cNvSpPr txBox="1"/>
          <p:nvPr/>
        </p:nvSpPr>
        <p:spPr>
          <a:xfrm>
            <a:off x="4416552"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23" name="Text 21"/>
          <p:cNvSpPr txBox="1"/>
          <p:nvPr/>
        </p:nvSpPr>
        <p:spPr>
          <a:xfrm>
            <a:off x="51663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6" name="Shape 24"/>
          <p:cNvSpPr/>
          <p:nvPr/>
        </p:nvSpPr>
        <p:spPr>
          <a:xfrm>
            <a:off x="2871216" y="2253700"/>
            <a:ext cx="367749" cy="136676"/>
          </a:xfrm>
          <a:prstGeom prst="rect">
            <a:avLst/>
          </a:prstGeom>
          <a:solidFill>
            <a:srgbClr val="2587C5"/>
          </a:solidFill>
          <a:ln/>
        </p:spPr>
      </p:sp>
      <p:sp>
        <p:nvSpPr>
          <p:cNvPr id="27" name="Text 25"/>
          <p:cNvSpPr txBox="1"/>
          <p:nvPr/>
        </p:nvSpPr>
        <p:spPr>
          <a:xfrm>
            <a:off x="3502152"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$962K</a:t>
            </a:r>
            <a:endParaRPr lang="en-US" sz="1300" dirty="0"/>
          </a:p>
        </p:txBody>
      </p:sp>
      <p:sp>
        <p:nvSpPr>
          <p:cNvPr id="28" name="Text 26"/>
          <p:cNvSpPr txBox="1"/>
          <p:nvPr/>
        </p:nvSpPr>
        <p:spPr>
          <a:xfrm>
            <a:off x="4416552"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$16.1K</a:t>
            </a:r>
            <a:endParaRPr lang="en-US" sz="1300" dirty="0"/>
          </a:p>
        </p:txBody>
      </p:sp>
      <p:sp>
        <p:nvSpPr>
          <p:cNvPr id="29" name="Text 27"/>
          <p:cNvSpPr txBox="1"/>
          <p:nvPr/>
        </p:nvSpPr>
        <p:spPr>
          <a:xfrm>
            <a:off x="51663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314644" cy="136676"/>
          </a:xfrm>
          <a:prstGeom prst="rect">
            <a:avLst/>
          </a:prstGeom>
          <a:solidFill>
            <a:srgbClr val="2587C5"/>
          </a:solidFill>
          <a:ln/>
        </p:spPr>
      </p:sp>
      <p:sp>
        <p:nvSpPr>
          <p:cNvPr id="33" name="Text 31"/>
          <p:cNvSpPr txBox="1"/>
          <p:nvPr/>
        </p:nvSpPr>
        <p:spPr>
          <a:xfrm>
            <a:off x="3502152"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$823K</a:t>
            </a:r>
            <a:endParaRPr lang="en-US" sz="1300" dirty="0"/>
          </a:p>
        </p:txBody>
      </p:sp>
      <p:sp>
        <p:nvSpPr>
          <p:cNvPr id="34" name="Text 32"/>
          <p:cNvSpPr txBox="1"/>
          <p:nvPr/>
        </p:nvSpPr>
        <p:spPr>
          <a:xfrm>
            <a:off x="4416552"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$23.5K</a:t>
            </a:r>
            <a:endParaRPr lang="en-US" sz="1300" dirty="0"/>
          </a:p>
        </p:txBody>
      </p:sp>
      <p:sp>
        <p:nvSpPr>
          <p:cNvPr id="35" name="Text 33"/>
          <p:cNvSpPr txBox="1"/>
          <p:nvPr/>
        </p:nvSpPr>
        <p:spPr>
          <a:xfrm>
            <a:off x="51663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$24.6K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8" name="Shape 36"/>
          <p:cNvSpPr/>
          <p:nvPr/>
        </p:nvSpPr>
        <p:spPr>
          <a:xfrm>
            <a:off x="2871216" y="2750703"/>
            <a:ext cx="257024" cy="136676"/>
          </a:xfrm>
          <a:prstGeom prst="rect">
            <a:avLst/>
          </a:prstGeom>
          <a:solidFill>
            <a:srgbClr val="2587C5"/>
          </a:solidFill>
          <a:ln/>
        </p:spPr>
      </p:sp>
      <p:sp>
        <p:nvSpPr>
          <p:cNvPr id="39" name="Text 37"/>
          <p:cNvSpPr txBox="1"/>
          <p:nvPr/>
        </p:nvSpPr>
        <p:spPr>
          <a:xfrm>
            <a:off x="3502152"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$672K</a:t>
            </a:r>
            <a:endParaRPr lang="en-US" sz="1300" dirty="0"/>
          </a:p>
        </p:txBody>
      </p:sp>
      <p:sp>
        <p:nvSpPr>
          <p:cNvPr id="40" name="Text 38"/>
          <p:cNvSpPr txBox="1"/>
          <p:nvPr/>
        </p:nvSpPr>
        <p:spPr>
          <a:xfrm>
            <a:off x="4416552"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41" name="Text 39"/>
          <p:cNvSpPr txBox="1"/>
          <p:nvPr/>
        </p:nvSpPr>
        <p:spPr>
          <a:xfrm>
            <a:off x="51663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2871216" y="2999205"/>
            <a:ext cx="244698" cy="136676"/>
          </a:xfrm>
          <a:prstGeom prst="rect">
            <a:avLst/>
          </a:prstGeom>
          <a:solidFill>
            <a:srgbClr val="2587C5"/>
          </a:solidFill>
          <a:ln/>
        </p:spPr>
      </p:sp>
      <p:sp>
        <p:nvSpPr>
          <p:cNvPr id="45" name="Text 43"/>
          <p:cNvSpPr txBox="1"/>
          <p:nvPr/>
        </p:nvSpPr>
        <p:spPr>
          <a:xfrm>
            <a:off x="3502152"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$640K</a:t>
            </a:r>
            <a:endParaRPr lang="en-US" sz="1300" dirty="0"/>
          </a:p>
        </p:txBody>
      </p:sp>
      <p:sp>
        <p:nvSpPr>
          <p:cNvPr id="46" name="Text 44"/>
          <p:cNvSpPr txBox="1"/>
          <p:nvPr/>
        </p:nvSpPr>
        <p:spPr>
          <a:xfrm>
            <a:off x="4416552"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47" name="Text 45"/>
          <p:cNvSpPr txBox="1"/>
          <p:nvPr/>
        </p:nvSpPr>
        <p:spPr>
          <a:xfrm>
            <a:off x="51663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0" name="Shape 48"/>
          <p:cNvSpPr/>
          <p:nvPr/>
        </p:nvSpPr>
        <p:spPr>
          <a:xfrm>
            <a:off x="2871216" y="3247707"/>
            <a:ext cx="219695" cy="136676"/>
          </a:xfrm>
          <a:prstGeom prst="rect">
            <a:avLst/>
          </a:prstGeom>
          <a:solidFill>
            <a:srgbClr val="2587C5"/>
          </a:solidFill>
          <a:ln/>
        </p:spPr>
      </p:sp>
      <p:sp>
        <p:nvSpPr>
          <p:cNvPr id="51" name="Text 49"/>
          <p:cNvSpPr txBox="1"/>
          <p:nvPr/>
        </p:nvSpPr>
        <p:spPr>
          <a:xfrm>
            <a:off x="3502152"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$574K</a:t>
            </a:r>
            <a:endParaRPr lang="en-US" sz="1300" dirty="0"/>
          </a:p>
        </p:txBody>
      </p:sp>
      <p:sp>
        <p:nvSpPr>
          <p:cNvPr id="52" name="Text 50"/>
          <p:cNvSpPr txBox="1"/>
          <p:nvPr/>
        </p:nvSpPr>
        <p:spPr>
          <a:xfrm>
            <a:off x="4416552"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$14.6K</a:t>
            </a:r>
            <a:endParaRPr lang="en-US" sz="1300" dirty="0"/>
          </a:p>
        </p:txBody>
      </p:sp>
      <p:sp>
        <p:nvSpPr>
          <p:cNvPr id="53" name="Text 51"/>
          <p:cNvSpPr txBox="1"/>
          <p:nvPr/>
        </p:nvSpPr>
        <p:spPr>
          <a:xfrm>
            <a:off x="51663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6" name="Shape 54"/>
          <p:cNvSpPr/>
          <p:nvPr/>
        </p:nvSpPr>
        <p:spPr>
          <a:xfrm>
            <a:off x="2871216" y="3496208"/>
            <a:ext cx="168437" cy="136676"/>
          </a:xfrm>
          <a:prstGeom prst="rect">
            <a:avLst/>
          </a:prstGeom>
          <a:solidFill>
            <a:srgbClr val="2587C5"/>
          </a:solidFill>
          <a:ln/>
        </p:spPr>
      </p:sp>
      <p:sp>
        <p:nvSpPr>
          <p:cNvPr id="57" name="Text 55"/>
          <p:cNvSpPr txBox="1"/>
          <p:nvPr/>
        </p:nvSpPr>
        <p:spPr>
          <a:xfrm>
            <a:off x="3502152"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$440K</a:t>
            </a:r>
            <a:endParaRPr lang="en-US" sz="1300" dirty="0"/>
          </a:p>
        </p:txBody>
      </p:sp>
      <p:sp>
        <p:nvSpPr>
          <p:cNvPr id="58" name="Text 56"/>
          <p:cNvSpPr txBox="1"/>
          <p:nvPr/>
        </p:nvSpPr>
        <p:spPr>
          <a:xfrm>
            <a:off x="4416552"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$18.1K</a:t>
            </a:r>
            <a:endParaRPr lang="en-US" sz="1300" dirty="0"/>
          </a:p>
        </p:txBody>
      </p:sp>
      <p:sp>
        <p:nvSpPr>
          <p:cNvPr id="59" name="Text 57"/>
          <p:cNvSpPr txBox="1"/>
          <p:nvPr/>
        </p:nvSpPr>
        <p:spPr>
          <a:xfrm>
            <a:off x="51663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$19.1K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2" name="Shape 60"/>
          <p:cNvSpPr/>
          <p:nvPr/>
        </p:nvSpPr>
        <p:spPr>
          <a:xfrm>
            <a:off x="2871216" y="3744710"/>
            <a:ext cx="156885" cy="136676"/>
          </a:xfrm>
          <a:prstGeom prst="rect">
            <a:avLst/>
          </a:prstGeom>
          <a:solidFill>
            <a:srgbClr val="2587C5"/>
          </a:solidFill>
          <a:ln/>
        </p:spPr>
      </p:sp>
      <p:sp>
        <p:nvSpPr>
          <p:cNvPr id="63" name="Text 61"/>
          <p:cNvSpPr txBox="1"/>
          <p:nvPr/>
        </p:nvSpPr>
        <p:spPr>
          <a:xfrm>
            <a:off x="3502152"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64" name="Text 62"/>
          <p:cNvSpPr txBox="1"/>
          <p:nvPr/>
        </p:nvSpPr>
        <p:spPr>
          <a:xfrm>
            <a:off x="4416552"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$13.3K</a:t>
            </a:r>
            <a:endParaRPr lang="en-US" sz="1300" dirty="0"/>
          </a:p>
        </p:txBody>
      </p:sp>
      <p:sp>
        <p:nvSpPr>
          <p:cNvPr id="65" name="Text 63"/>
          <p:cNvSpPr txBox="1"/>
          <p:nvPr/>
        </p:nvSpPr>
        <p:spPr>
          <a:xfrm>
            <a:off x="51663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8" name="Shape 66"/>
          <p:cNvSpPr/>
          <p:nvPr/>
        </p:nvSpPr>
        <p:spPr>
          <a:xfrm>
            <a:off x="2871216" y="3993212"/>
            <a:ext cx="151234" cy="136676"/>
          </a:xfrm>
          <a:prstGeom prst="rect">
            <a:avLst/>
          </a:prstGeom>
          <a:solidFill>
            <a:srgbClr val="2587C5"/>
          </a:solidFill>
          <a:ln/>
        </p:spPr>
      </p:sp>
      <p:sp>
        <p:nvSpPr>
          <p:cNvPr id="69" name="Text 67"/>
          <p:cNvSpPr txBox="1"/>
          <p:nvPr/>
        </p:nvSpPr>
        <p:spPr>
          <a:xfrm>
            <a:off x="3502152"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$395K</a:t>
            </a:r>
            <a:endParaRPr lang="en-US" sz="1300" dirty="0"/>
          </a:p>
        </p:txBody>
      </p:sp>
      <p:sp>
        <p:nvSpPr>
          <p:cNvPr id="70" name="Text 68"/>
          <p:cNvSpPr txBox="1"/>
          <p:nvPr/>
        </p:nvSpPr>
        <p:spPr>
          <a:xfrm>
            <a:off x="4416552"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$11.1K</a:t>
            </a:r>
            <a:endParaRPr lang="en-US" sz="1300" dirty="0"/>
          </a:p>
        </p:txBody>
      </p:sp>
      <p:sp>
        <p:nvSpPr>
          <p:cNvPr id="71" name="Text 69"/>
          <p:cNvSpPr txBox="1"/>
          <p:nvPr/>
        </p:nvSpPr>
        <p:spPr>
          <a:xfrm>
            <a:off x="51663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4" name="Shape 72"/>
          <p:cNvSpPr/>
          <p:nvPr/>
        </p:nvSpPr>
        <p:spPr>
          <a:xfrm>
            <a:off x="2871216" y="4241713"/>
            <a:ext cx="129534" cy="136676"/>
          </a:xfrm>
          <a:prstGeom prst="rect">
            <a:avLst/>
          </a:prstGeom>
          <a:solidFill>
            <a:srgbClr val="2587C5"/>
          </a:solidFill>
          <a:ln/>
        </p:spPr>
      </p:sp>
      <p:sp>
        <p:nvSpPr>
          <p:cNvPr id="75" name="Text 73"/>
          <p:cNvSpPr txBox="1"/>
          <p:nvPr/>
        </p:nvSpPr>
        <p:spPr>
          <a:xfrm>
            <a:off x="3502152"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76" name="Text 74"/>
          <p:cNvSpPr txBox="1"/>
          <p:nvPr/>
        </p:nvSpPr>
        <p:spPr>
          <a:xfrm>
            <a:off x="4416552"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77" name="Text 75"/>
          <p:cNvSpPr txBox="1"/>
          <p:nvPr/>
        </p:nvSpPr>
        <p:spPr>
          <a:xfrm>
            <a:off x="51663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0" name="Shape 78"/>
          <p:cNvSpPr/>
          <p:nvPr/>
        </p:nvSpPr>
        <p:spPr>
          <a:xfrm>
            <a:off x="2871216" y="4490215"/>
            <a:ext cx="122140" cy="136676"/>
          </a:xfrm>
          <a:prstGeom prst="rect">
            <a:avLst/>
          </a:prstGeom>
          <a:solidFill>
            <a:srgbClr val="2587C5"/>
          </a:solidFill>
          <a:ln/>
        </p:spPr>
      </p:sp>
      <p:sp>
        <p:nvSpPr>
          <p:cNvPr id="81" name="Text 79"/>
          <p:cNvSpPr txBox="1"/>
          <p:nvPr/>
        </p:nvSpPr>
        <p:spPr>
          <a:xfrm>
            <a:off x="3502152"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82" name="Text 80"/>
          <p:cNvSpPr txBox="1"/>
          <p:nvPr/>
        </p:nvSpPr>
        <p:spPr>
          <a:xfrm>
            <a:off x="4416552"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83" name="Text 81"/>
          <p:cNvSpPr txBox="1"/>
          <p:nvPr/>
        </p:nvSpPr>
        <p:spPr>
          <a:xfrm>
            <a:off x="51663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6" name="Shape 84"/>
          <p:cNvSpPr/>
          <p:nvPr/>
        </p:nvSpPr>
        <p:spPr>
          <a:xfrm>
            <a:off x="2871216" y="4738717"/>
            <a:ext cx="121953" cy="136676"/>
          </a:xfrm>
          <a:prstGeom prst="rect">
            <a:avLst/>
          </a:prstGeom>
          <a:solidFill>
            <a:srgbClr val="2587C5"/>
          </a:solidFill>
          <a:ln/>
        </p:spPr>
      </p:sp>
      <p:sp>
        <p:nvSpPr>
          <p:cNvPr id="87" name="Text 85"/>
          <p:cNvSpPr txBox="1"/>
          <p:nvPr/>
        </p:nvSpPr>
        <p:spPr>
          <a:xfrm>
            <a:off x="3502152"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88" name="Text 86"/>
          <p:cNvSpPr txBox="1"/>
          <p:nvPr/>
        </p:nvSpPr>
        <p:spPr>
          <a:xfrm>
            <a:off x="4416552"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89" name="Text 87"/>
          <p:cNvSpPr txBox="1"/>
          <p:nvPr/>
        </p:nvSpPr>
        <p:spPr>
          <a:xfrm>
            <a:off x="51663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2871216" y="4987218"/>
            <a:ext cx="115516" cy="136676"/>
          </a:xfrm>
          <a:prstGeom prst="rect">
            <a:avLst/>
          </a:prstGeom>
          <a:solidFill>
            <a:srgbClr val="2587C5"/>
          </a:solidFill>
          <a:ln/>
        </p:spPr>
      </p:sp>
      <p:sp>
        <p:nvSpPr>
          <p:cNvPr id="93" name="Text 91"/>
          <p:cNvSpPr txBox="1"/>
          <p:nvPr/>
        </p:nvSpPr>
        <p:spPr>
          <a:xfrm>
            <a:off x="3502152"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$302K</a:t>
            </a:r>
            <a:endParaRPr lang="en-US" sz="1300" dirty="0"/>
          </a:p>
        </p:txBody>
      </p:sp>
      <p:sp>
        <p:nvSpPr>
          <p:cNvPr id="94" name="Text 92"/>
          <p:cNvSpPr txBox="1"/>
          <p:nvPr/>
        </p:nvSpPr>
        <p:spPr>
          <a:xfrm>
            <a:off x="4416552"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95" name="Text 93"/>
          <p:cNvSpPr txBox="1"/>
          <p:nvPr/>
        </p:nvSpPr>
        <p:spPr>
          <a:xfrm>
            <a:off x="51663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8" name="Shape 96"/>
          <p:cNvSpPr/>
          <p:nvPr/>
        </p:nvSpPr>
        <p:spPr>
          <a:xfrm>
            <a:off x="2871216" y="5235720"/>
            <a:ext cx="113938" cy="136676"/>
          </a:xfrm>
          <a:prstGeom prst="rect">
            <a:avLst/>
          </a:prstGeom>
          <a:solidFill>
            <a:srgbClr val="2587C5"/>
          </a:solidFill>
          <a:ln/>
        </p:spPr>
      </p:sp>
      <p:sp>
        <p:nvSpPr>
          <p:cNvPr id="99" name="Text 97"/>
          <p:cNvSpPr txBox="1"/>
          <p:nvPr/>
        </p:nvSpPr>
        <p:spPr>
          <a:xfrm>
            <a:off x="3502152"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$298K</a:t>
            </a:r>
            <a:endParaRPr lang="en-US" sz="1300" dirty="0"/>
          </a:p>
        </p:txBody>
      </p:sp>
      <p:sp>
        <p:nvSpPr>
          <p:cNvPr id="100" name="Text 98"/>
          <p:cNvSpPr txBox="1"/>
          <p:nvPr/>
        </p:nvSpPr>
        <p:spPr>
          <a:xfrm>
            <a:off x="4416552"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$10.8K</a:t>
            </a:r>
            <a:endParaRPr lang="en-US" sz="1300" dirty="0"/>
          </a:p>
        </p:txBody>
      </p:sp>
      <p:sp>
        <p:nvSpPr>
          <p:cNvPr id="101" name="Text 99"/>
          <p:cNvSpPr txBox="1"/>
          <p:nvPr/>
        </p:nvSpPr>
        <p:spPr>
          <a:xfrm>
            <a:off x="51663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4" name="Shape 102"/>
          <p:cNvSpPr/>
          <p:nvPr/>
        </p:nvSpPr>
        <p:spPr>
          <a:xfrm>
            <a:off x="2871216" y="5484222"/>
            <a:ext cx="113714" cy="136676"/>
          </a:xfrm>
          <a:prstGeom prst="rect">
            <a:avLst/>
          </a:prstGeom>
          <a:solidFill>
            <a:srgbClr val="2587C5"/>
          </a:solidFill>
          <a:ln/>
        </p:spPr>
      </p:sp>
      <p:sp>
        <p:nvSpPr>
          <p:cNvPr id="105" name="Text 103"/>
          <p:cNvSpPr txBox="1"/>
          <p:nvPr/>
        </p:nvSpPr>
        <p:spPr>
          <a:xfrm>
            <a:off x="3502152"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$297K</a:t>
            </a:r>
            <a:endParaRPr lang="en-US" sz="1300" dirty="0"/>
          </a:p>
        </p:txBody>
      </p:sp>
      <p:sp>
        <p:nvSpPr>
          <p:cNvPr id="106" name="Text 104"/>
          <p:cNvSpPr txBox="1"/>
          <p:nvPr/>
        </p:nvSpPr>
        <p:spPr>
          <a:xfrm>
            <a:off x="4416552"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07" name="Text 105"/>
          <p:cNvSpPr txBox="1"/>
          <p:nvPr/>
        </p:nvSpPr>
        <p:spPr>
          <a:xfrm>
            <a:off x="51663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$15.7K</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2871216" y="5732723"/>
            <a:ext cx="106654" cy="136676"/>
          </a:xfrm>
          <a:prstGeom prst="rect">
            <a:avLst/>
          </a:prstGeom>
          <a:solidFill>
            <a:srgbClr val="2587C5"/>
          </a:solidFill>
          <a:ln/>
        </p:spPr>
      </p:sp>
      <p:sp>
        <p:nvSpPr>
          <p:cNvPr id="111" name="Text 109"/>
          <p:cNvSpPr txBox="1"/>
          <p:nvPr/>
        </p:nvSpPr>
        <p:spPr>
          <a:xfrm>
            <a:off x="3502152"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$279K</a:t>
            </a:r>
            <a:endParaRPr lang="en-US" sz="1300" dirty="0"/>
          </a:p>
        </p:txBody>
      </p:sp>
      <p:sp>
        <p:nvSpPr>
          <p:cNvPr id="112" name="Text 110"/>
          <p:cNvSpPr txBox="1"/>
          <p:nvPr/>
        </p:nvSpPr>
        <p:spPr>
          <a:xfrm>
            <a:off x="4416552"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113" name="Text 111"/>
          <p:cNvSpPr txBox="1"/>
          <p:nvPr/>
        </p:nvSpPr>
        <p:spPr>
          <a:xfrm>
            <a:off x="516636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16" name="Shape 114"/>
          <p:cNvSpPr/>
          <p:nvPr/>
        </p:nvSpPr>
        <p:spPr>
          <a:xfrm>
            <a:off x="8421624" y="1756697"/>
            <a:ext cx="105692" cy="136676"/>
          </a:xfrm>
          <a:prstGeom prst="rect">
            <a:avLst/>
          </a:prstGeom>
          <a:solidFill>
            <a:srgbClr val="2587C5"/>
          </a:solidFill>
          <a:ln/>
        </p:spPr>
      </p:sp>
      <p:sp>
        <p:nvSpPr>
          <p:cNvPr id="117" name="Text 115"/>
          <p:cNvSpPr txBox="1"/>
          <p:nvPr/>
        </p:nvSpPr>
        <p:spPr>
          <a:xfrm>
            <a:off x="9052560"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$276K</a:t>
            </a:r>
            <a:endParaRPr lang="en-US" sz="1300" dirty="0"/>
          </a:p>
        </p:txBody>
      </p:sp>
      <p:sp>
        <p:nvSpPr>
          <p:cNvPr id="118" name="Text 116"/>
          <p:cNvSpPr txBox="1"/>
          <p:nvPr/>
        </p:nvSpPr>
        <p:spPr>
          <a:xfrm>
            <a:off x="99669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119" name="Text 117"/>
          <p:cNvSpPr txBox="1"/>
          <p:nvPr/>
        </p:nvSpPr>
        <p:spPr>
          <a:xfrm>
            <a:off x="1071676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$17.8K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2" name="Shape 120"/>
          <p:cNvSpPr/>
          <p:nvPr/>
        </p:nvSpPr>
        <p:spPr>
          <a:xfrm>
            <a:off x="8421624" y="2005199"/>
            <a:ext cx="99790" cy="136676"/>
          </a:xfrm>
          <a:prstGeom prst="rect">
            <a:avLst/>
          </a:prstGeom>
          <a:solidFill>
            <a:srgbClr val="2587C5"/>
          </a:solidFill>
          <a:ln/>
        </p:spPr>
      </p:sp>
      <p:sp>
        <p:nvSpPr>
          <p:cNvPr id="123" name="Text 121"/>
          <p:cNvSpPr txBox="1"/>
          <p:nvPr/>
        </p:nvSpPr>
        <p:spPr>
          <a:xfrm>
            <a:off x="9052560"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$261K</a:t>
            </a:r>
            <a:endParaRPr lang="en-US" sz="1300" dirty="0"/>
          </a:p>
        </p:txBody>
      </p:sp>
      <p:sp>
        <p:nvSpPr>
          <p:cNvPr id="124" name="Text 122"/>
          <p:cNvSpPr txBox="1"/>
          <p:nvPr/>
        </p:nvSpPr>
        <p:spPr>
          <a:xfrm>
            <a:off x="99669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125" name="Text 123"/>
          <p:cNvSpPr txBox="1"/>
          <p:nvPr/>
        </p:nvSpPr>
        <p:spPr>
          <a:xfrm>
            <a:off x="1071676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421624" y="2253700"/>
            <a:ext cx="90596" cy="136676"/>
          </a:xfrm>
          <a:prstGeom prst="rect">
            <a:avLst/>
          </a:prstGeom>
          <a:solidFill>
            <a:srgbClr val="2587C5"/>
          </a:solidFill>
          <a:ln/>
        </p:spPr>
      </p:sp>
      <p:sp>
        <p:nvSpPr>
          <p:cNvPr id="129" name="Text 127"/>
          <p:cNvSpPr txBox="1"/>
          <p:nvPr/>
        </p:nvSpPr>
        <p:spPr>
          <a:xfrm>
            <a:off x="9052560"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$237K</a:t>
            </a:r>
            <a:endParaRPr lang="en-US" sz="1300" dirty="0"/>
          </a:p>
        </p:txBody>
      </p:sp>
      <p:sp>
        <p:nvSpPr>
          <p:cNvPr id="130" name="Text 128"/>
          <p:cNvSpPr txBox="1"/>
          <p:nvPr/>
        </p:nvSpPr>
        <p:spPr>
          <a:xfrm>
            <a:off x="99669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31" name="Text 129"/>
          <p:cNvSpPr txBox="1"/>
          <p:nvPr/>
        </p:nvSpPr>
        <p:spPr>
          <a:xfrm>
            <a:off x="1071676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9638" cy="136676"/>
          </a:xfrm>
          <a:prstGeom prst="rect">
            <a:avLst/>
          </a:prstGeom>
          <a:solidFill>
            <a:srgbClr val="2587C5"/>
          </a:solidFill>
          <a:ln/>
        </p:spPr>
      </p:sp>
      <p:sp>
        <p:nvSpPr>
          <p:cNvPr id="135" name="Text 133"/>
          <p:cNvSpPr txBox="1"/>
          <p:nvPr/>
        </p:nvSpPr>
        <p:spPr>
          <a:xfrm>
            <a:off x="9052560"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$234K</a:t>
            </a:r>
            <a:endParaRPr lang="en-US" sz="1300" dirty="0"/>
          </a:p>
        </p:txBody>
      </p:sp>
      <p:sp>
        <p:nvSpPr>
          <p:cNvPr id="136" name="Text 134"/>
          <p:cNvSpPr txBox="1"/>
          <p:nvPr/>
        </p:nvSpPr>
        <p:spPr>
          <a:xfrm>
            <a:off x="99669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$15.6K</a:t>
            </a:r>
            <a:endParaRPr lang="en-US" sz="1300" dirty="0"/>
          </a:p>
        </p:txBody>
      </p:sp>
      <p:sp>
        <p:nvSpPr>
          <p:cNvPr id="137" name="Text 135"/>
          <p:cNvSpPr txBox="1"/>
          <p:nvPr/>
        </p:nvSpPr>
        <p:spPr>
          <a:xfrm>
            <a:off x="1071676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0" name="Shape 138"/>
          <p:cNvSpPr/>
          <p:nvPr/>
        </p:nvSpPr>
        <p:spPr>
          <a:xfrm>
            <a:off x="8421624" y="2750703"/>
            <a:ext cx="87103" cy="136676"/>
          </a:xfrm>
          <a:prstGeom prst="rect">
            <a:avLst/>
          </a:prstGeom>
          <a:solidFill>
            <a:srgbClr val="2587C5"/>
          </a:solidFill>
          <a:ln/>
        </p:spPr>
      </p:sp>
      <p:sp>
        <p:nvSpPr>
          <p:cNvPr id="141" name="Text 139"/>
          <p:cNvSpPr txBox="1"/>
          <p:nvPr/>
        </p:nvSpPr>
        <p:spPr>
          <a:xfrm>
            <a:off x="9052560"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$228K</a:t>
            </a:r>
            <a:endParaRPr lang="en-US" sz="1300" dirty="0"/>
          </a:p>
        </p:txBody>
      </p:sp>
      <p:sp>
        <p:nvSpPr>
          <p:cNvPr id="142" name="Text 140"/>
          <p:cNvSpPr txBox="1"/>
          <p:nvPr/>
        </p:nvSpPr>
        <p:spPr>
          <a:xfrm>
            <a:off x="99669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$18.3K</a:t>
            </a:r>
            <a:endParaRPr lang="en-US" sz="1300" dirty="0"/>
          </a:p>
        </p:txBody>
      </p:sp>
      <p:sp>
        <p:nvSpPr>
          <p:cNvPr id="143" name="Text 141"/>
          <p:cNvSpPr txBox="1"/>
          <p:nvPr/>
        </p:nvSpPr>
        <p:spPr>
          <a:xfrm>
            <a:off x="1071676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$19.2K</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6" name="Shape 144"/>
          <p:cNvSpPr/>
          <p:nvPr/>
        </p:nvSpPr>
        <p:spPr>
          <a:xfrm>
            <a:off x="8421624" y="2999205"/>
            <a:ext cx="84269" cy="136676"/>
          </a:xfrm>
          <a:prstGeom prst="rect">
            <a:avLst/>
          </a:prstGeom>
          <a:solidFill>
            <a:srgbClr val="2587C5"/>
          </a:solidFill>
          <a:ln/>
        </p:spPr>
      </p:sp>
      <p:sp>
        <p:nvSpPr>
          <p:cNvPr id="147" name="Text 145"/>
          <p:cNvSpPr txBox="1"/>
          <p:nvPr/>
        </p:nvSpPr>
        <p:spPr>
          <a:xfrm>
            <a:off x="9052560"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$220K</a:t>
            </a:r>
            <a:endParaRPr lang="en-US" sz="1300" dirty="0"/>
          </a:p>
        </p:txBody>
      </p:sp>
      <p:sp>
        <p:nvSpPr>
          <p:cNvPr id="148" name="Text 146"/>
          <p:cNvSpPr txBox="1"/>
          <p:nvPr/>
        </p:nvSpPr>
        <p:spPr>
          <a:xfrm>
            <a:off x="99669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49" name="Text 147"/>
          <p:cNvSpPr txBox="1"/>
          <p:nvPr/>
        </p:nvSpPr>
        <p:spPr>
          <a:xfrm>
            <a:off x="1071676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$16.8K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52" name="Shape 150"/>
          <p:cNvSpPr/>
          <p:nvPr/>
        </p:nvSpPr>
        <p:spPr>
          <a:xfrm>
            <a:off x="8421624" y="3247707"/>
            <a:ext cx="76034" cy="136676"/>
          </a:xfrm>
          <a:prstGeom prst="rect">
            <a:avLst/>
          </a:prstGeom>
          <a:solidFill>
            <a:srgbClr val="2587C5"/>
          </a:solidFill>
          <a:ln/>
        </p:spPr>
      </p:sp>
      <p:sp>
        <p:nvSpPr>
          <p:cNvPr id="153" name="Text 151"/>
          <p:cNvSpPr txBox="1"/>
          <p:nvPr/>
        </p:nvSpPr>
        <p:spPr>
          <a:xfrm>
            <a:off x="9052560"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$199K</a:t>
            </a:r>
            <a:endParaRPr lang="en-US" sz="1300" dirty="0"/>
          </a:p>
        </p:txBody>
      </p:sp>
      <p:sp>
        <p:nvSpPr>
          <p:cNvPr id="154" name="Text 152"/>
          <p:cNvSpPr txBox="1"/>
          <p:nvPr/>
        </p:nvSpPr>
        <p:spPr>
          <a:xfrm>
            <a:off x="99669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155" name="Text 153"/>
          <p:cNvSpPr txBox="1"/>
          <p:nvPr/>
        </p:nvSpPr>
        <p:spPr>
          <a:xfrm>
            <a:off x="1071676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58" name="Shape 156"/>
          <p:cNvSpPr/>
          <p:nvPr/>
        </p:nvSpPr>
        <p:spPr>
          <a:xfrm>
            <a:off x="8421624" y="3496208"/>
            <a:ext cx="73768" cy="136676"/>
          </a:xfrm>
          <a:prstGeom prst="rect">
            <a:avLst/>
          </a:prstGeom>
          <a:solidFill>
            <a:srgbClr val="2587C5"/>
          </a:solidFill>
          <a:ln/>
        </p:spPr>
      </p:sp>
      <p:sp>
        <p:nvSpPr>
          <p:cNvPr id="159" name="Text 157"/>
          <p:cNvSpPr txBox="1"/>
          <p:nvPr/>
        </p:nvSpPr>
        <p:spPr>
          <a:xfrm>
            <a:off x="9052560"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$193K</a:t>
            </a:r>
            <a:endParaRPr lang="en-US" sz="1300" dirty="0"/>
          </a:p>
        </p:txBody>
      </p:sp>
      <p:sp>
        <p:nvSpPr>
          <p:cNvPr id="160" name="Text 158"/>
          <p:cNvSpPr txBox="1"/>
          <p:nvPr/>
        </p:nvSpPr>
        <p:spPr>
          <a:xfrm>
            <a:off x="99669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$12.4K</a:t>
            </a:r>
            <a:endParaRPr lang="en-US" sz="1300" dirty="0"/>
          </a:p>
        </p:txBody>
      </p:sp>
      <p:sp>
        <p:nvSpPr>
          <p:cNvPr id="161" name="Text 159"/>
          <p:cNvSpPr txBox="1"/>
          <p:nvPr/>
        </p:nvSpPr>
        <p:spPr>
          <a:xfrm>
            <a:off x="1071676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$13.0K</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4" name="Shape 162"/>
          <p:cNvSpPr/>
          <p:nvPr/>
        </p:nvSpPr>
        <p:spPr>
          <a:xfrm>
            <a:off x="8421624" y="3744710"/>
            <a:ext cx="68849" cy="136676"/>
          </a:xfrm>
          <a:prstGeom prst="rect">
            <a:avLst/>
          </a:prstGeom>
          <a:solidFill>
            <a:srgbClr val="2587C5"/>
          </a:solidFill>
          <a:ln/>
        </p:spPr>
      </p:sp>
      <p:sp>
        <p:nvSpPr>
          <p:cNvPr id="165" name="Text 163"/>
          <p:cNvSpPr txBox="1"/>
          <p:nvPr/>
        </p:nvSpPr>
        <p:spPr>
          <a:xfrm>
            <a:off x="9052560"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$180K</a:t>
            </a:r>
            <a:endParaRPr lang="en-US" sz="1300" dirty="0"/>
          </a:p>
        </p:txBody>
      </p:sp>
      <p:sp>
        <p:nvSpPr>
          <p:cNvPr id="166" name="Text 164"/>
          <p:cNvSpPr txBox="1"/>
          <p:nvPr/>
        </p:nvSpPr>
        <p:spPr>
          <a:xfrm>
            <a:off x="99669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$12.5K</a:t>
            </a:r>
            <a:endParaRPr lang="en-US" sz="1300" dirty="0"/>
          </a:p>
        </p:txBody>
      </p:sp>
      <p:sp>
        <p:nvSpPr>
          <p:cNvPr id="167" name="Text 165"/>
          <p:cNvSpPr txBox="1"/>
          <p:nvPr/>
        </p:nvSpPr>
        <p:spPr>
          <a:xfrm>
            <a:off x="1071676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0" name="Shape 168"/>
          <p:cNvSpPr/>
          <p:nvPr/>
        </p:nvSpPr>
        <p:spPr>
          <a:xfrm>
            <a:off x="8421624" y="3993212"/>
            <a:ext cx="59561" cy="136676"/>
          </a:xfrm>
          <a:prstGeom prst="rect">
            <a:avLst/>
          </a:prstGeom>
          <a:solidFill>
            <a:srgbClr val="2587C5"/>
          </a:solidFill>
          <a:ln/>
        </p:spPr>
      </p:sp>
      <p:sp>
        <p:nvSpPr>
          <p:cNvPr id="171" name="Text 169"/>
          <p:cNvSpPr txBox="1"/>
          <p:nvPr/>
        </p:nvSpPr>
        <p:spPr>
          <a:xfrm>
            <a:off x="9052560"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172" name="Text 170"/>
          <p:cNvSpPr txBox="1"/>
          <p:nvPr/>
        </p:nvSpPr>
        <p:spPr>
          <a:xfrm>
            <a:off x="99669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73" name="Text 171"/>
          <p:cNvSpPr txBox="1"/>
          <p:nvPr/>
        </p:nvSpPr>
        <p:spPr>
          <a:xfrm>
            <a:off x="1071676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6" name="Shape 174"/>
          <p:cNvSpPr/>
          <p:nvPr/>
        </p:nvSpPr>
        <p:spPr>
          <a:xfrm>
            <a:off x="8421624" y="4241713"/>
            <a:ext cx="58266" cy="136676"/>
          </a:xfrm>
          <a:prstGeom prst="rect">
            <a:avLst/>
          </a:prstGeom>
          <a:solidFill>
            <a:srgbClr val="2587C5"/>
          </a:solidFill>
          <a:ln/>
        </p:spPr>
      </p:sp>
      <p:sp>
        <p:nvSpPr>
          <p:cNvPr id="177" name="Text 175"/>
          <p:cNvSpPr txBox="1"/>
          <p:nvPr/>
        </p:nvSpPr>
        <p:spPr>
          <a:xfrm>
            <a:off x="9052560"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178" name="Text 176"/>
          <p:cNvSpPr txBox="1"/>
          <p:nvPr/>
        </p:nvSpPr>
        <p:spPr>
          <a:xfrm>
            <a:off x="99669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79" name="Text 177"/>
          <p:cNvSpPr txBox="1"/>
          <p:nvPr/>
        </p:nvSpPr>
        <p:spPr>
          <a:xfrm>
            <a:off x="1071676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2" name="Shape 180"/>
          <p:cNvSpPr/>
          <p:nvPr/>
        </p:nvSpPr>
        <p:spPr>
          <a:xfrm>
            <a:off x="8421624" y="4490215"/>
            <a:ext cx="57879" cy="136676"/>
          </a:xfrm>
          <a:prstGeom prst="rect">
            <a:avLst/>
          </a:prstGeom>
          <a:solidFill>
            <a:srgbClr val="2587C5"/>
          </a:solidFill>
          <a:ln/>
        </p:spPr>
      </p:sp>
      <p:sp>
        <p:nvSpPr>
          <p:cNvPr id="183" name="Text 181"/>
          <p:cNvSpPr txBox="1"/>
          <p:nvPr/>
        </p:nvSpPr>
        <p:spPr>
          <a:xfrm>
            <a:off x="9052560"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$151K</a:t>
            </a:r>
            <a:endParaRPr lang="en-US" sz="1300" dirty="0"/>
          </a:p>
        </p:txBody>
      </p:sp>
      <p:sp>
        <p:nvSpPr>
          <p:cNvPr id="184" name="Text 182"/>
          <p:cNvSpPr txBox="1"/>
          <p:nvPr/>
        </p:nvSpPr>
        <p:spPr>
          <a:xfrm>
            <a:off x="99669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85" name="Text 183"/>
          <p:cNvSpPr txBox="1"/>
          <p:nvPr/>
        </p:nvSpPr>
        <p:spPr>
          <a:xfrm>
            <a:off x="1071676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88" name="Shape 186"/>
          <p:cNvSpPr/>
          <p:nvPr/>
        </p:nvSpPr>
        <p:spPr>
          <a:xfrm>
            <a:off x="8421624" y="4738717"/>
            <a:ext cx="56293" cy="136676"/>
          </a:xfrm>
          <a:prstGeom prst="rect">
            <a:avLst/>
          </a:prstGeom>
          <a:solidFill>
            <a:srgbClr val="2587C5"/>
          </a:solidFill>
          <a:ln/>
        </p:spPr>
      </p:sp>
      <p:sp>
        <p:nvSpPr>
          <p:cNvPr id="189" name="Text 187"/>
          <p:cNvSpPr txBox="1"/>
          <p:nvPr/>
        </p:nvSpPr>
        <p:spPr>
          <a:xfrm>
            <a:off x="9052560"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$147K</a:t>
            </a:r>
            <a:endParaRPr lang="en-US" sz="1300" dirty="0"/>
          </a:p>
        </p:txBody>
      </p:sp>
      <p:sp>
        <p:nvSpPr>
          <p:cNvPr id="190" name="Text 188"/>
          <p:cNvSpPr txBox="1"/>
          <p:nvPr/>
        </p:nvSpPr>
        <p:spPr>
          <a:xfrm>
            <a:off x="99669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$15.2K</a:t>
            </a:r>
            <a:endParaRPr lang="en-US" sz="1300" dirty="0"/>
          </a:p>
        </p:txBody>
      </p:sp>
      <p:sp>
        <p:nvSpPr>
          <p:cNvPr id="191" name="Text 189"/>
          <p:cNvSpPr txBox="1"/>
          <p:nvPr/>
        </p:nvSpPr>
        <p:spPr>
          <a:xfrm>
            <a:off x="1071676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94" name="Shape 192"/>
          <p:cNvSpPr/>
          <p:nvPr/>
        </p:nvSpPr>
        <p:spPr>
          <a:xfrm>
            <a:off x="8421624" y="4987218"/>
            <a:ext cx="40591" cy="136676"/>
          </a:xfrm>
          <a:prstGeom prst="rect">
            <a:avLst/>
          </a:prstGeom>
          <a:solidFill>
            <a:srgbClr val="2587C5"/>
          </a:solidFill>
          <a:ln/>
        </p:spPr>
      </p:sp>
      <p:sp>
        <p:nvSpPr>
          <p:cNvPr id="195" name="Text 193"/>
          <p:cNvSpPr txBox="1"/>
          <p:nvPr/>
        </p:nvSpPr>
        <p:spPr>
          <a:xfrm>
            <a:off x="9052560"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$106K</a:t>
            </a:r>
            <a:endParaRPr lang="en-US" sz="1300" dirty="0"/>
          </a:p>
        </p:txBody>
      </p:sp>
      <p:sp>
        <p:nvSpPr>
          <p:cNvPr id="196" name="Text 194"/>
          <p:cNvSpPr txBox="1"/>
          <p:nvPr/>
        </p:nvSpPr>
        <p:spPr>
          <a:xfrm>
            <a:off x="99669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97" name="Text 195"/>
          <p:cNvSpPr txBox="1"/>
          <p:nvPr/>
        </p:nvSpPr>
        <p:spPr>
          <a:xfrm>
            <a:off x="1071676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00" name="Shape 198"/>
          <p:cNvSpPr/>
          <p:nvPr/>
        </p:nvSpPr>
        <p:spPr>
          <a:xfrm>
            <a:off x="8421624" y="5235720"/>
            <a:ext cx="39145" cy="136676"/>
          </a:xfrm>
          <a:prstGeom prst="rect">
            <a:avLst/>
          </a:prstGeom>
          <a:solidFill>
            <a:srgbClr val="2587C5"/>
          </a:solidFill>
          <a:ln/>
        </p:spPr>
      </p:sp>
      <p:sp>
        <p:nvSpPr>
          <p:cNvPr id="201" name="Text 199"/>
          <p:cNvSpPr txBox="1"/>
          <p:nvPr/>
        </p:nvSpPr>
        <p:spPr>
          <a:xfrm>
            <a:off x="9052560"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202" name="Text 200"/>
          <p:cNvSpPr txBox="1"/>
          <p:nvPr/>
        </p:nvSpPr>
        <p:spPr>
          <a:xfrm>
            <a:off x="99669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203" name="Text 201"/>
          <p:cNvSpPr txBox="1"/>
          <p:nvPr/>
        </p:nvSpPr>
        <p:spPr>
          <a:xfrm>
            <a:off x="1071676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$12.2K</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06" name="Shape 204"/>
          <p:cNvSpPr/>
          <p:nvPr/>
        </p:nvSpPr>
        <p:spPr>
          <a:xfrm>
            <a:off x="8421624" y="5484222"/>
            <a:ext cx="24682" cy="136676"/>
          </a:xfrm>
          <a:prstGeom prst="rect">
            <a:avLst/>
          </a:prstGeom>
          <a:solidFill>
            <a:srgbClr val="2587C5"/>
          </a:solidFill>
          <a:ln/>
        </p:spPr>
      </p:sp>
      <p:sp>
        <p:nvSpPr>
          <p:cNvPr id="207" name="Text 205"/>
          <p:cNvSpPr txBox="1"/>
          <p:nvPr/>
        </p:nvSpPr>
        <p:spPr>
          <a:xfrm>
            <a:off x="9052560"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$65K</a:t>
            </a:r>
            <a:endParaRPr lang="en-US" sz="1300" dirty="0"/>
          </a:p>
        </p:txBody>
      </p:sp>
      <p:sp>
        <p:nvSpPr>
          <p:cNvPr id="208" name="Text 206"/>
          <p:cNvSpPr txBox="1"/>
          <p:nvPr/>
        </p:nvSpPr>
        <p:spPr>
          <a:xfrm>
            <a:off x="99669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$9.9K</a:t>
            </a:r>
            <a:endParaRPr lang="en-US" sz="1300" dirty="0"/>
          </a:p>
        </p:txBody>
      </p:sp>
      <p:sp>
        <p:nvSpPr>
          <p:cNvPr id="209" name="Text 207"/>
          <p:cNvSpPr txBox="1"/>
          <p:nvPr/>
        </p:nvSpPr>
        <p:spPr>
          <a:xfrm>
            <a:off x="1071676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 more gross from the people already on staff is worth $12,586,648 a year. For the average employee that is $681 more a month, about $27 a working day.</a:t>
            </a:r>
            <a:endParaRPr lang="en-US" sz="1600" dirty="0"/>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123</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9" name="Shape 17"/>
          <p:cNvSpPr/>
          <p:nvPr/>
        </p:nvSpPr>
        <p:spPr>
          <a:xfrm>
            <a:off x="3008376" y="2402586"/>
            <a:ext cx="1636341"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373312"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008376" y="2896362"/>
            <a:ext cx="113639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062404"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5" name="Shape 33"/>
          <p:cNvSpPr/>
          <p:nvPr/>
        </p:nvSpPr>
        <p:spPr>
          <a:xfrm>
            <a:off x="3008376" y="3390138"/>
            <a:ext cx="949294"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76224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883914"/>
            <a:ext cx="72895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605092"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008376" y="4624578"/>
            <a:ext cx="1503240"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871466"/>
            <a:ext cx="1447357"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373578"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6" name="Shape 64"/>
          <p:cNvSpPr/>
          <p:nvPr/>
        </p:nvSpPr>
        <p:spPr>
          <a:xfrm>
            <a:off x="3008376" y="5365242"/>
            <a:ext cx="1343443"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0" name="Shape 68"/>
          <p:cNvSpPr/>
          <p:nvPr/>
        </p:nvSpPr>
        <p:spPr>
          <a:xfrm>
            <a:off x="3008376" y="5612130"/>
            <a:ext cx="1341602"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4" name="Shape 72"/>
          <p:cNvSpPr/>
          <p:nvPr/>
        </p:nvSpPr>
        <p:spPr>
          <a:xfrm>
            <a:off x="3008376" y="5859018"/>
            <a:ext cx="1333815"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164283"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4" name="Shape 82"/>
          <p:cNvSpPr/>
          <p:nvPr/>
        </p:nvSpPr>
        <p:spPr>
          <a:xfrm>
            <a:off x="8558784" y="2155698"/>
            <a:ext cx="113426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8" name="Shape 86"/>
          <p:cNvSpPr/>
          <p:nvPr/>
        </p:nvSpPr>
        <p:spPr>
          <a:xfrm>
            <a:off x="8558784" y="2402586"/>
            <a:ext cx="1095681"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07317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6" name="Shape 94"/>
          <p:cNvSpPr/>
          <p:nvPr/>
        </p:nvSpPr>
        <p:spPr>
          <a:xfrm>
            <a:off x="8558784" y="2896362"/>
            <a:ext cx="1070012"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105728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04201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8" name="Shape 106"/>
          <p:cNvSpPr/>
          <p:nvPr/>
        </p:nvSpPr>
        <p:spPr>
          <a:xfrm>
            <a:off x="8558784" y="3637026"/>
            <a:ext cx="1021645"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98175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43933"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0" name="Shape 118"/>
          <p:cNvSpPr/>
          <p:nvPr/>
        </p:nvSpPr>
        <p:spPr>
          <a:xfrm>
            <a:off x="8558784" y="4377690"/>
            <a:ext cx="91208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4" name="Shape 122"/>
          <p:cNvSpPr/>
          <p:nvPr/>
        </p:nvSpPr>
        <p:spPr>
          <a:xfrm>
            <a:off x="8558784" y="4624578"/>
            <a:ext cx="84888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8" name="Shape 126"/>
          <p:cNvSpPr/>
          <p:nvPr/>
        </p:nvSpPr>
        <p:spPr>
          <a:xfrm>
            <a:off x="8558784" y="4871466"/>
            <a:ext cx="823202"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2" name="Shape 130"/>
          <p:cNvSpPr/>
          <p:nvPr/>
        </p:nvSpPr>
        <p:spPr>
          <a:xfrm>
            <a:off x="8558784" y="5118354"/>
            <a:ext cx="75953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7297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0" name="Shape 138"/>
          <p:cNvSpPr/>
          <p:nvPr/>
        </p:nvSpPr>
        <p:spPr>
          <a:xfrm>
            <a:off x="8558784" y="5612130"/>
            <a:ext cx="709976"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4" name="Shape 142"/>
          <p:cNvSpPr/>
          <p:nvPr/>
        </p:nvSpPr>
        <p:spPr>
          <a:xfrm>
            <a:off x="8558784" y="5859018"/>
            <a:ext cx="703612"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8" name="Shape 146"/>
          <p:cNvSpPr/>
          <p:nvPr/>
        </p:nvSpPr>
        <p:spPr>
          <a:xfrm>
            <a:off x="8558784" y="6105906"/>
            <a:ext cx="692411"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50" name="Shape 148"/>
          <p:cNvSpPr/>
          <p:nvPr/>
        </p:nvSpPr>
        <p:spPr>
          <a:xfrm>
            <a:off x="4047207" y="2093976"/>
            <a:ext cx="14630" cy="2221992"/>
          </a:xfrm>
          <a:prstGeom prst="rect">
            <a:avLst/>
          </a:prstGeom>
          <a:solidFill>
            <a:srgbClr val="0B2C4A"/>
          </a:solidFill>
          <a:ln/>
        </p:spPr>
      </p:sp>
      <p:sp>
        <p:nvSpPr>
          <p:cNvPr id="151" name="Shape 149"/>
          <p:cNvSpPr/>
          <p:nvPr/>
        </p:nvSpPr>
        <p:spPr>
          <a:xfrm>
            <a:off x="4047207" y="4562856"/>
            <a:ext cx="14630" cy="1728216"/>
          </a:xfrm>
          <a:prstGeom prst="rect">
            <a:avLst/>
          </a:prstGeom>
          <a:solidFill>
            <a:srgbClr val="0B2C4A"/>
          </a:solidFill>
          <a:ln/>
        </p:spPr>
      </p:sp>
      <p:sp>
        <p:nvSpPr>
          <p:cNvPr id="152" name="Shape 150"/>
          <p:cNvSpPr/>
          <p:nvPr/>
        </p:nvSpPr>
        <p:spPr>
          <a:xfrm>
            <a:off x="9597615"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led by Honda Flagstaff at +40 to 175. 16 declined; Toyota Spokane fell most at −59.</a:t>
            </a:r>
            <a:endParaRPr lang="en-US" sz="1600" dirty="0"/>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194</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244</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123</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161</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237</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186</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9" name="Shape 67"/>
          <p:cNvSpPr/>
          <p:nvPr/>
        </p:nvSpPr>
        <p:spPr>
          <a:xfrm>
            <a:off x="457200" y="6126480"/>
            <a:ext cx="11274552" cy="585216"/>
          </a:xfrm>
          <a:prstGeom prst="rect">
            <a:avLst/>
          </a:prstGeom>
          <a:solidFill>
            <a:srgbClr val="EDF4FA"/>
          </a:solidFill>
          <a:ln/>
        </p:spPr>
      </p:sp>
      <p:sp>
        <p:nvSpPr>
          <p:cNvPr id="70" name="Text 68"/>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Honda Flagstaff, Hyundai Prescott and Toyota Flagstaff what changed. Ask Toyota Spokane, VW St George and Nissan what got in the way. Ask Mazda, Honda North and Honda Spokane what they started this year.</a:t>
            </a:r>
            <a:endParaRPr lang="en-US" sz="1500" dirty="0"/>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276</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208610"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9" name="Shape 17"/>
          <p:cNvSpPr/>
          <p:nvPr/>
        </p:nvSpPr>
        <p:spPr>
          <a:xfrm>
            <a:off x="3008376" y="2402586"/>
            <a:ext cx="90248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3" name="Shape 21"/>
          <p:cNvSpPr/>
          <p:nvPr/>
        </p:nvSpPr>
        <p:spPr>
          <a:xfrm>
            <a:off x="3008376" y="2649474"/>
            <a:ext cx="81937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7" name="Shape 25"/>
          <p:cNvSpPr/>
          <p:nvPr/>
        </p:nvSpPr>
        <p:spPr>
          <a:xfrm>
            <a:off x="3008376" y="2896362"/>
            <a:ext cx="717480"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1" name="Shape 29"/>
          <p:cNvSpPr/>
          <p:nvPr/>
        </p:nvSpPr>
        <p:spPr>
          <a:xfrm>
            <a:off x="3008376" y="3143250"/>
            <a:ext cx="707906"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619947"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488532"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3" name="Shape 41"/>
          <p:cNvSpPr/>
          <p:nvPr/>
        </p:nvSpPr>
        <p:spPr>
          <a:xfrm>
            <a:off x="3008376" y="3883914"/>
            <a:ext cx="3490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7" name="Shape 45"/>
          <p:cNvSpPr/>
          <p:nvPr/>
        </p:nvSpPr>
        <p:spPr>
          <a:xfrm>
            <a:off x="3008376" y="4130802"/>
            <a:ext cx="291998"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8" name="Shape 56"/>
          <p:cNvSpPr/>
          <p:nvPr/>
        </p:nvSpPr>
        <p:spPr>
          <a:xfrm>
            <a:off x="3008376" y="4871466"/>
            <a:ext cx="124195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008376" y="5118354"/>
            <a:ext cx="1113250"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6" name="Shape 64"/>
          <p:cNvSpPr/>
          <p:nvPr/>
        </p:nvSpPr>
        <p:spPr>
          <a:xfrm>
            <a:off x="3008376" y="5365242"/>
            <a:ext cx="106636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008376" y="5612130"/>
            <a:ext cx="95845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4" name="Shape 72"/>
          <p:cNvSpPr/>
          <p:nvPr/>
        </p:nvSpPr>
        <p:spPr>
          <a:xfrm>
            <a:off x="3008376" y="5859018"/>
            <a:ext cx="908517"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8" name="Shape 76"/>
          <p:cNvSpPr/>
          <p:nvPr/>
        </p:nvSpPr>
        <p:spPr>
          <a:xfrm>
            <a:off x="3008376" y="6105906"/>
            <a:ext cx="693414"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4" name="Shape 82"/>
          <p:cNvSpPr/>
          <p:nvPr/>
        </p:nvSpPr>
        <p:spPr>
          <a:xfrm>
            <a:off x="8558784" y="2155698"/>
            <a:ext cx="647677" cy="123444"/>
          </a:xfrm>
          <a:prstGeom prst="rect">
            <a:avLst/>
          </a:prstGeom>
          <a:solidFill>
            <a:srgbClr val="C2352F"/>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636291" cy="123444"/>
          </a:xfrm>
          <a:prstGeom prst="rect">
            <a:avLst/>
          </a:prstGeom>
          <a:solidFill>
            <a:srgbClr val="C2352F"/>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610998" cy="123444"/>
          </a:xfrm>
          <a:prstGeom prst="rect">
            <a:avLst/>
          </a:prstGeom>
          <a:solidFill>
            <a:srgbClr val="C2352F"/>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6" name="Shape 94"/>
          <p:cNvSpPr/>
          <p:nvPr/>
        </p:nvSpPr>
        <p:spPr>
          <a:xfrm>
            <a:off x="8558784" y="2896362"/>
            <a:ext cx="599576"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577815"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57017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8" name="Shape 106"/>
          <p:cNvSpPr/>
          <p:nvPr/>
        </p:nvSpPr>
        <p:spPr>
          <a:xfrm>
            <a:off x="8558784" y="3637026"/>
            <a:ext cx="530626"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2" name="Shape 110"/>
          <p:cNvSpPr/>
          <p:nvPr/>
        </p:nvSpPr>
        <p:spPr>
          <a:xfrm>
            <a:off x="8558784" y="3883914"/>
            <a:ext cx="500448"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6" name="Shape 114"/>
          <p:cNvSpPr/>
          <p:nvPr/>
        </p:nvSpPr>
        <p:spPr>
          <a:xfrm>
            <a:off x="8558784" y="4130802"/>
            <a:ext cx="485961"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0" name="Shape 118"/>
          <p:cNvSpPr/>
          <p:nvPr/>
        </p:nvSpPr>
        <p:spPr>
          <a:xfrm>
            <a:off x="8558784" y="4377690"/>
            <a:ext cx="44291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4" name="Shape 122"/>
          <p:cNvSpPr/>
          <p:nvPr/>
        </p:nvSpPr>
        <p:spPr>
          <a:xfrm>
            <a:off x="8558784" y="4624578"/>
            <a:ext cx="441477"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558784" y="4871466"/>
            <a:ext cx="37723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2" name="Shape 130"/>
          <p:cNvSpPr/>
          <p:nvPr/>
        </p:nvSpPr>
        <p:spPr>
          <a:xfrm>
            <a:off x="8558784" y="5118354"/>
            <a:ext cx="373849"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35707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32991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4" name="Shape 142"/>
          <p:cNvSpPr/>
          <p:nvPr/>
        </p:nvSpPr>
        <p:spPr>
          <a:xfrm>
            <a:off x="8558784" y="5859018"/>
            <a:ext cx="312404"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249232"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50" name="Shape 148"/>
          <p:cNvSpPr/>
          <p:nvPr/>
        </p:nvSpPr>
        <p:spPr>
          <a:xfrm>
            <a:off x="3679521" y="2093976"/>
            <a:ext cx="14630" cy="2221992"/>
          </a:xfrm>
          <a:prstGeom prst="rect">
            <a:avLst/>
          </a:prstGeom>
          <a:solidFill>
            <a:srgbClr val="0B2C4A"/>
          </a:solidFill>
          <a:ln/>
        </p:spPr>
      </p:sp>
      <p:sp>
        <p:nvSpPr>
          <p:cNvPr id="151" name="Shape 149"/>
          <p:cNvSpPr/>
          <p:nvPr/>
        </p:nvSpPr>
        <p:spPr>
          <a:xfrm>
            <a:off x="3679521" y="4562856"/>
            <a:ext cx="14630" cy="1728216"/>
          </a:xfrm>
          <a:prstGeom prst="rect">
            <a:avLst/>
          </a:prstGeom>
          <a:solidFill>
            <a:srgbClr val="0B2C4A"/>
          </a:solidFill>
          <a:ln/>
        </p:spPr>
      </p:sp>
      <p:sp>
        <p:nvSpPr>
          <p:cNvPr id="152" name="Shape 150"/>
          <p:cNvSpPr/>
          <p:nvPr/>
        </p:nvSpPr>
        <p:spPr>
          <a:xfrm>
            <a:off x="9229929"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led by Toyota Henderson at +182 to 1,022. 11 declined; Mazda fell most at −281.</a:t>
            </a:r>
            <a:endParaRPr lang="en-US" sz="1600" dirty="0"/>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1,022</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+182</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686</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Shape 16"/>
          <p:cNvSpPr/>
          <p:nvPr/>
        </p:nvSpPr>
        <p:spPr>
          <a:xfrm>
            <a:off x="4084320" y="3650285"/>
            <a:ext cx="64008" cy="682142"/>
          </a:xfrm>
          <a:prstGeom prst="rect">
            <a:avLst/>
          </a:prstGeom>
          <a:solidFill>
            <a:srgbClr val="12A566"/>
          </a:solidFill>
          <a:ln/>
        </p:spPr>
      </p:sp>
      <p:sp>
        <p:nvSpPr>
          <p:cNvPr id="19" name="Text 17"/>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657</a:t>
            </a:r>
            <a:endParaRPr lang="en-US" sz="1400" dirty="0"/>
          </a:p>
        </p:txBody>
      </p:sp>
      <p:sp>
        <p:nvSpPr>
          <p:cNvPr id="21" name="Text 19"/>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+121</a:t>
            </a:r>
            <a:endParaRPr lang="en-US" sz="1600" dirty="0"/>
          </a:p>
        </p:txBody>
      </p:sp>
      <p:sp>
        <p:nvSpPr>
          <p:cNvPr id="22" name="Text 20"/>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591</a:t>
            </a:r>
            <a:endParaRPr lang="en-US" sz="1400" dirty="0"/>
          </a:p>
        </p:txBody>
      </p:sp>
      <p:sp>
        <p:nvSpPr>
          <p:cNvPr id="24" name="Text 22"/>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a:t>
            </a:r>
            <a:endParaRPr lang="en-US" sz="1600" dirty="0"/>
          </a:p>
        </p:txBody>
      </p:sp>
      <p:sp>
        <p:nvSpPr>
          <p:cNvPr id="25" name="Shape 23"/>
          <p:cNvSpPr/>
          <p:nvPr/>
        </p:nvSpPr>
        <p:spPr>
          <a:xfrm>
            <a:off x="658368" y="5124298"/>
            <a:ext cx="3489960" cy="755294"/>
          </a:xfrm>
          <a:prstGeom prst="rect">
            <a:avLst/>
          </a:prstGeom>
          <a:solidFill>
            <a:srgbClr val="F7F7F7"/>
          </a:solidFill>
          <a:ln/>
        </p:spPr>
      </p:sp>
      <p:sp>
        <p:nvSpPr>
          <p:cNvPr id="26" name="Shape 24"/>
          <p:cNvSpPr/>
          <p:nvPr/>
        </p:nvSpPr>
        <p:spPr>
          <a:xfrm>
            <a:off x="4084320" y="5160874"/>
            <a:ext cx="64008" cy="682142"/>
          </a:xfrm>
          <a:prstGeom prst="rect">
            <a:avLst/>
          </a:prstGeom>
          <a:solidFill>
            <a:srgbClr val="12A566"/>
          </a:solidFill>
          <a:ln/>
        </p:spPr>
      </p:sp>
      <p:sp>
        <p:nvSpPr>
          <p:cNvPr id="27" name="Text 25"/>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765</a:t>
            </a:r>
            <a:endParaRPr lang="en-US" sz="1400" dirty="0"/>
          </a:p>
        </p:txBody>
      </p:sp>
      <p:sp>
        <p:nvSpPr>
          <p:cNvPr id="29" name="Text 27"/>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+116</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755294"/>
          </a:xfrm>
          <a:prstGeom prst="rect">
            <a:avLst/>
          </a:prstGeom>
          <a:solidFill>
            <a:srgbClr val="F7F7F7"/>
          </a:solidFill>
          <a:ln/>
        </p:spPr>
      </p:sp>
      <p:sp>
        <p:nvSpPr>
          <p:cNvPr id="34" name="Text 32"/>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560</a:t>
            </a:r>
            <a:endParaRPr lang="en-US" sz="1400" dirty="0"/>
          </a:p>
        </p:txBody>
      </p:sp>
      <p:sp>
        <p:nvSpPr>
          <p:cNvPr id="36" name="Text 34"/>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−281</a:t>
            </a:r>
            <a:endParaRPr lang="en-US" sz="1600" dirty="0"/>
          </a:p>
        </p:txBody>
      </p:sp>
      <p:sp>
        <p:nvSpPr>
          <p:cNvPr id="37" name="Text 35"/>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39" name="Text 37"/>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−94</a:t>
            </a:r>
            <a:endParaRPr lang="en-US" sz="1600" dirty="0"/>
          </a:p>
        </p:txBody>
      </p:sp>
      <p:sp>
        <p:nvSpPr>
          <p:cNvPr id="40" name="Shape 38"/>
          <p:cNvSpPr/>
          <p:nvPr/>
        </p:nvSpPr>
        <p:spPr>
          <a:xfrm>
            <a:off x="4349496" y="3613709"/>
            <a:ext cx="3489960" cy="755294"/>
          </a:xfrm>
          <a:prstGeom prst="rect">
            <a:avLst/>
          </a:prstGeom>
          <a:solidFill>
            <a:srgbClr val="F7F7F7"/>
          </a:solidFill>
          <a:ln/>
        </p:spPr>
      </p:sp>
      <p:sp>
        <p:nvSpPr>
          <p:cNvPr id="41" name="Text 39"/>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376</a:t>
            </a:r>
            <a:endParaRPr lang="en-US" sz="1400" dirty="0"/>
          </a:p>
        </p:txBody>
      </p:sp>
      <p:sp>
        <p:nvSpPr>
          <p:cNvPr id="43" name="Text 41"/>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−72</a:t>
            </a:r>
            <a:endParaRPr lang="en-US" sz="1600" dirty="0"/>
          </a:p>
        </p:txBody>
      </p:sp>
      <p:sp>
        <p:nvSpPr>
          <p:cNvPr id="44" name="Text 42"/>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392</a:t>
            </a:r>
            <a:endParaRPr lang="en-US" sz="1400" dirty="0"/>
          </a:p>
        </p:txBody>
      </p:sp>
      <p:sp>
        <p:nvSpPr>
          <p:cNvPr id="46" name="Text 44"/>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47" name="Shape 45"/>
          <p:cNvSpPr/>
          <p:nvPr/>
        </p:nvSpPr>
        <p:spPr>
          <a:xfrm>
            <a:off x="4349496" y="5124298"/>
            <a:ext cx="3489960" cy="755294"/>
          </a:xfrm>
          <a:prstGeom prst="rect">
            <a:avLst/>
          </a:prstGeom>
          <a:solidFill>
            <a:srgbClr val="F7F7F7"/>
          </a:solidFill>
          <a:ln/>
        </p:spPr>
      </p:sp>
      <p:sp>
        <p:nvSpPr>
          <p:cNvPr id="48" name="Text 46"/>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351</a:t>
            </a:r>
            <a:endParaRPr lang="en-US" sz="1400" dirty="0"/>
          </a:p>
        </p:txBody>
      </p:sp>
      <p:sp>
        <p:nvSpPr>
          <p:cNvPr id="50" name="Text 48"/>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4" name="Shape 52"/>
          <p:cNvSpPr/>
          <p:nvPr/>
        </p:nvSpPr>
        <p:spPr>
          <a:xfrm>
            <a:off x="8040624" y="2103120"/>
            <a:ext cx="3489960" cy="755294"/>
          </a:xfrm>
          <a:prstGeom prst="rect">
            <a:avLst/>
          </a:prstGeom>
          <a:solidFill>
            <a:srgbClr val="F7F7F7"/>
          </a:solidFill>
          <a:ln/>
        </p:spPr>
      </p:sp>
      <p:sp>
        <p:nvSpPr>
          <p:cNvPr id="55" name="Shape 53"/>
          <p:cNvSpPr/>
          <p:nvPr/>
        </p:nvSpPr>
        <p:spPr>
          <a:xfrm>
            <a:off x="11466576" y="2139696"/>
            <a:ext cx="64008" cy="682142"/>
          </a:xfrm>
          <a:prstGeom prst="rect">
            <a:avLst/>
          </a:prstGeom>
          <a:solidFill>
            <a:srgbClr val="12A566"/>
          </a:solidFill>
          <a:ln/>
        </p:spPr>
      </p:sp>
      <p:sp>
        <p:nvSpPr>
          <p:cNvPr id="56" name="Text 54"/>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7" name="Text 55"/>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854</a:t>
            </a:r>
            <a:endParaRPr lang="en-US" sz="1400" dirty="0"/>
          </a:p>
        </p:txBody>
      </p:sp>
      <p:sp>
        <p:nvSpPr>
          <p:cNvPr id="58" name="Text 56"/>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59" name="Shape 57"/>
          <p:cNvSpPr/>
          <p:nvPr/>
        </p:nvSpPr>
        <p:spPr>
          <a:xfrm>
            <a:off x="11466576" y="2894990"/>
            <a:ext cx="64008" cy="682142"/>
          </a:xfrm>
          <a:prstGeom prst="rect">
            <a:avLst/>
          </a:prstGeom>
          <a:solidFill>
            <a:srgbClr val="12A566"/>
          </a:solidFill>
          <a:ln/>
        </p:spPr>
      </p:sp>
      <p:sp>
        <p:nvSpPr>
          <p:cNvPr id="60" name="Text 58"/>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1" name="Text 59"/>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1,134</a:t>
            </a:r>
            <a:endParaRPr lang="en-US" sz="1400" dirty="0"/>
          </a:p>
        </p:txBody>
      </p:sp>
      <p:sp>
        <p:nvSpPr>
          <p:cNvPr id="62" name="Text 60"/>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a:t>
            </a:r>
            <a:endParaRPr lang="en-US" sz="1600" dirty="0"/>
          </a:p>
        </p:txBody>
      </p:sp>
      <p:sp>
        <p:nvSpPr>
          <p:cNvPr id="63" name="Shape 61"/>
          <p:cNvSpPr/>
          <p:nvPr/>
        </p:nvSpPr>
        <p:spPr>
          <a:xfrm>
            <a:off x="8040624" y="3613709"/>
            <a:ext cx="3489960" cy="755294"/>
          </a:xfrm>
          <a:prstGeom prst="rect">
            <a:avLst/>
          </a:prstGeom>
          <a:solidFill>
            <a:srgbClr val="F7F7F7"/>
          </a:solidFill>
          <a:ln/>
        </p:spPr>
      </p:sp>
      <p:sp>
        <p:nvSpPr>
          <p:cNvPr id="64" name="Text 62"/>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5" name="Text 63"/>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326</a:t>
            </a:r>
            <a:endParaRPr lang="en-US" sz="1400" dirty="0"/>
          </a:p>
        </p:txBody>
      </p:sp>
      <p:sp>
        <p:nvSpPr>
          <p:cNvPr id="66" name="Text 64"/>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a:t>
            </a:r>
            <a:endParaRPr lang="en-US" sz="1600" dirty="0"/>
          </a:p>
        </p:txBody>
      </p:sp>
      <p:sp>
        <p:nvSpPr>
          <p:cNvPr id="67" name="Text 6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69" name="Text 67"/>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70" name="Shape 68"/>
          <p:cNvSpPr/>
          <p:nvPr/>
        </p:nvSpPr>
        <p:spPr>
          <a:xfrm>
            <a:off x="8040624" y="5124298"/>
            <a:ext cx="3489960" cy="755294"/>
          </a:xfrm>
          <a:prstGeom prst="rect">
            <a:avLst/>
          </a:prstGeom>
          <a:solidFill>
            <a:srgbClr val="F7F7F7"/>
          </a:solidFill>
          <a:ln/>
        </p:spPr>
      </p:sp>
      <p:sp>
        <p:nvSpPr>
          <p:cNvPr id="71" name="Shape 69"/>
          <p:cNvSpPr/>
          <p:nvPr/>
        </p:nvSpPr>
        <p:spPr>
          <a:xfrm>
            <a:off x="11466576" y="5160874"/>
            <a:ext cx="64008" cy="682142"/>
          </a:xfrm>
          <a:prstGeom prst="rect">
            <a:avLst/>
          </a:prstGeom>
          <a:solidFill>
            <a:srgbClr val="12A566"/>
          </a:solidFill>
          <a:ln/>
        </p:spPr>
      </p:sp>
      <p:sp>
        <p:nvSpPr>
          <p:cNvPr id="72" name="Text 7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814</a:t>
            </a:r>
            <a:endParaRPr lang="en-US" sz="1400" dirty="0"/>
          </a:p>
        </p:txBody>
      </p:sp>
      <p:sp>
        <p:nvSpPr>
          <p:cNvPr id="74" name="Text 72"/>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a:t>
            </a:r>
            <a:endParaRPr lang="en-US" sz="1600" dirty="0"/>
          </a:p>
        </p:txBody>
      </p:sp>
      <p:sp>
        <p:nvSpPr>
          <p:cNvPr id="75" name="Shape 73"/>
          <p:cNvSpPr/>
          <p:nvPr/>
        </p:nvSpPr>
        <p:spPr>
          <a:xfrm>
            <a:off x="457200" y="6126480"/>
            <a:ext cx="11274552" cy="554736"/>
          </a:xfrm>
          <a:prstGeom prst="rect">
            <a:avLst/>
          </a:prstGeom>
          <a:solidFill>
            <a:srgbClr val="EDF4FA"/>
          </a:solidFill>
          <a:ln/>
        </p:spPr>
      </p:sp>
      <p:sp>
        <p:nvSpPr>
          <p:cNvPr id="76" name="Text 74"/>
          <p:cNvSpPr txBox="1"/>
          <p:nvPr/>
        </p:nvSpPr>
        <p:spPr>
          <a:xfrm>
            <a:off x="658368" y="6144768"/>
            <a:ext cx="10927080" cy="51816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Ask Toyota Henderson, Toyota Spokane and Toyota Prescott what changed. Ask Mazda, Subaru St George and Honda Spokane what got in the way. Ask Toyota Prescott, Toyota Henderson and VW St George what they started this year.</a:t>
            </a:r>
            <a:endParaRPr lang="en-US" sz="1400" dirty="0"/>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17.4</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9" name="Shape 17"/>
          <p:cNvSpPr/>
          <p:nvPr/>
        </p:nvSpPr>
        <p:spPr>
          <a:xfrm>
            <a:off x="3008376" y="2402586"/>
            <a:ext cx="1631155"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29216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008376" y="2896362"/>
            <a:ext cx="126936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120679"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5" name="Shape 33"/>
          <p:cNvSpPr/>
          <p:nvPr/>
        </p:nvSpPr>
        <p:spPr>
          <a:xfrm>
            <a:off x="3008376" y="3390138"/>
            <a:ext cx="982182"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981891"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81057"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910335"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4" name="Shape 52"/>
          <p:cNvSpPr/>
          <p:nvPr/>
        </p:nvSpPr>
        <p:spPr>
          <a:xfrm>
            <a:off x="3008376" y="4624578"/>
            <a:ext cx="1584948"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8" name="Shape 56"/>
          <p:cNvSpPr/>
          <p:nvPr/>
        </p:nvSpPr>
        <p:spPr>
          <a:xfrm>
            <a:off x="3008376" y="4871466"/>
            <a:ext cx="153194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008376" y="5118354"/>
            <a:ext cx="1488739"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5365242"/>
            <a:ext cx="1465284"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0" name="Shape 68"/>
          <p:cNvSpPr/>
          <p:nvPr/>
        </p:nvSpPr>
        <p:spPr>
          <a:xfrm>
            <a:off x="3008376" y="5612130"/>
            <a:ext cx="1453454"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92914"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8" name="Shape 76"/>
          <p:cNvSpPr/>
          <p:nvPr/>
        </p:nvSpPr>
        <p:spPr>
          <a:xfrm>
            <a:off x="3008376" y="6105906"/>
            <a:ext cx="138209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4" name="Shape 82"/>
          <p:cNvSpPr/>
          <p:nvPr/>
        </p:nvSpPr>
        <p:spPr>
          <a:xfrm>
            <a:off x="8558784" y="2155698"/>
            <a:ext cx="1290776"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1250314"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24990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6" name="Shape 94"/>
          <p:cNvSpPr/>
          <p:nvPr/>
        </p:nvSpPr>
        <p:spPr>
          <a:xfrm>
            <a:off x="8558784" y="2896362"/>
            <a:ext cx="124940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0" name="Shape 98"/>
          <p:cNvSpPr/>
          <p:nvPr/>
        </p:nvSpPr>
        <p:spPr>
          <a:xfrm>
            <a:off x="8558784" y="3143250"/>
            <a:ext cx="1244020"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4" name="Shape 102"/>
          <p:cNvSpPr/>
          <p:nvPr/>
        </p:nvSpPr>
        <p:spPr>
          <a:xfrm>
            <a:off x="8558784" y="3390138"/>
            <a:ext cx="123759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8" name="Shape 106"/>
          <p:cNvSpPr/>
          <p:nvPr/>
        </p:nvSpPr>
        <p:spPr>
          <a:xfrm>
            <a:off x="8558784" y="3637026"/>
            <a:ext cx="1215849" cy="123444"/>
          </a:xfrm>
          <a:prstGeom prst="rect">
            <a:avLst/>
          </a:prstGeom>
          <a:solidFill>
            <a:srgbClr val="12A566"/>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2" name="Shape 110"/>
          <p:cNvSpPr/>
          <p:nvPr/>
        </p:nvSpPr>
        <p:spPr>
          <a:xfrm>
            <a:off x="8558784" y="3883914"/>
            <a:ext cx="114686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558784" y="4130802"/>
            <a:ext cx="112293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0" name="Shape 118"/>
          <p:cNvSpPr/>
          <p:nvPr/>
        </p:nvSpPr>
        <p:spPr>
          <a:xfrm>
            <a:off x="8558784" y="4377690"/>
            <a:ext cx="1013406"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4" name="Shape 122"/>
          <p:cNvSpPr/>
          <p:nvPr/>
        </p:nvSpPr>
        <p:spPr>
          <a:xfrm>
            <a:off x="8558784" y="4624578"/>
            <a:ext cx="94075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558784" y="4871466"/>
            <a:ext cx="90075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2" name="Shape 130"/>
          <p:cNvSpPr/>
          <p:nvPr/>
        </p:nvSpPr>
        <p:spPr>
          <a:xfrm>
            <a:off x="8558784" y="5118354"/>
            <a:ext cx="880007"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83228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558784" y="5612130"/>
            <a:ext cx="808680"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4" name="Shape 142"/>
          <p:cNvSpPr/>
          <p:nvPr/>
        </p:nvSpPr>
        <p:spPr>
          <a:xfrm>
            <a:off x="8558784" y="5859018"/>
            <a:ext cx="763360"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690045"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50" name="Shape 148"/>
          <p:cNvSpPr/>
          <p:nvPr/>
        </p:nvSpPr>
        <p:spPr>
          <a:xfrm>
            <a:off x="4164984" y="2093976"/>
            <a:ext cx="14630" cy="2221992"/>
          </a:xfrm>
          <a:prstGeom prst="rect">
            <a:avLst/>
          </a:prstGeom>
          <a:solidFill>
            <a:srgbClr val="0B2C4A"/>
          </a:solidFill>
          <a:ln/>
        </p:spPr>
      </p:sp>
      <p:sp>
        <p:nvSpPr>
          <p:cNvPr id="151" name="Shape 149"/>
          <p:cNvSpPr/>
          <p:nvPr/>
        </p:nvSpPr>
        <p:spPr>
          <a:xfrm>
            <a:off x="4164984" y="4562856"/>
            <a:ext cx="14630" cy="1728216"/>
          </a:xfrm>
          <a:prstGeom prst="rect">
            <a:avLst/>
          </a:prstGeom>
          <a:solidFill>
            <a:srgbClr val="0B2C4A"/>
          </a:solidFill>
          <a:ln/>
        </p:spPr>
      </p:sp>
      <p:sp>
        <p:nvSpPr>
          <p:cNvPr id="152" name="Shape 150"/>
          <p:cNvSpPr/>
          <p:nvPr/>
        </p:nvSpPr>
        <p:spPr>
          <a:xfrm>
            <a:off x="9715392"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led by Hyundai Prescott at +6.9 to 31.4. 11 declined; Kia St George fell most at −6.6.</a:t>
            </a:r>
            <a:endParaRPr lang="en-US" sz="1600" dirty="0"/>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31.4</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28.8</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30.6</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21" name="Shape 19"/>
          <p:cNvSpPr/>
          <p:nvPr/>
        </p:nvSpPr>
        <p:spPr>
          <a:xfrm>
            <a:off x="4084320" y="4405579"/>
            <a:ext cx="64008" cy="682142"/>
          </a:xfrm>
          <a:prstGeom prst="rect">
            <a:avLst/>
          </a:prstGeom>
          <a:solidFill>
            <a:srgbClr val="12A566"/>
          </a:solidFill>
          <a:ln/>
        </p:spPr>
      </p:sp>
      <p:sp>
        <p:nvSpPr>
          <p:cNvPr id="22" name="Text 20"/>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36.8</a:t>
            </a:r>
            <a:endParaRPr lang="en-US" sz="1400" dirty="0"/>
          </a:p>
        </p:txBody>
      </p:sp>
      <p:sp>
        <p:nvSpPr>
          <p:cNvPr id="24" name="Text 22"/>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a:t>
            </a:r>
            <a:endParaRPr lang="en-US" sz="1600" dirty="0"/>
          </a:p>
        </p:txBody>
      </p:sp>
      <p:sp>
        <p:nvSpPr>
          <p:cNvPr id="25" name="Shape 23"/>
          <p:cNvSpPr/>
          <p:nvPr/>
        </p:nvSpPr>
        <p:spPr>
          <a:xfrm>
            <a:off x="658368" y="5124298"/>
            <a:ext cx="3489960" cy="755294"/>
          </a:xfrm>
          <a:prstGeom prst="rect">
            <a:avLst/>
          </a:prstGeom>
          <a:solidFill>
            <a:srgbClr val="F7F7F7"/>
          </a:solidFill>
          <a:ln/>
        </p:spPr>
      </p:sp>
      <p:sp>
        <p:nvSpPr>
          <p:cNvPr id="26" name="Text 24"/>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28" name="Text 26"/>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755294"/>
          </a:xfrm>
          <a:prstGeom prst="rect">
            <a:avLst/>
          </a:prstGeom>
          <a:solidFill>
            <a:srgbClr val="F7F7F7"/>
          </a:solidFill>
          <a:ln/>
        </p:spPr>
      </p:sp>
      <p:sp>
        <p:nvSpPr>
          <p:cNvPr id="33" name="Text 31"/>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46.4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39.8</a:t>
            </a:r>
            <a:endParaRPr lang="en-US" sz="1400" dirty="0"/>
          </a:p>
        </p:txBody>
      </p:sp>
      <p:sp>
        <p:nvSpPr>
          <p:cNvPr id="35" name="Text 33"/>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−6.6</a:t>
            </a:r>
            <a:endParaRPr lang="en-US" sz="1600" dirty="0"/>
          </a:p>
        </p:txBody>
      </p:sp>
      <p:sp>
        <p:nvSpPr>
          <p:cNvPr id="36" name="Text 34"/>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32.4</a:t>
            </a:r>
            <a:endParaRPr lang="en-US" sz="1400" dirty="0"/>
          </a:p>
        </p:txBody>
      </p:sp>
      <p:sp>
        <p:nvSpPr>
          <p:cNvPr id="38" name="Text 36"/>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9" name="Shape 37"/>
          <p:cNvSpPr/>
          <p:nvPr/>
        </p:nvSpPr>
        <p:spPr>
          <a:xfrm>
            <a:off x="4349496" y="3613709"/>
            <a:ext cx="3489960" cy="755294"/>
          </a:xfrm>
          <a:prstGeom prst="rect">
            <a:avLst/>
          </a:prstGeom>
          <a:solidFill>
            <a:srgbClr val="F7F7F7"/>
          </a:solidFill>
          <a:ln/>
        </p:spPr>
      </p:sp>
      <p:sp>
        <p:nvSpPr>
          <p:cNvPr id="40" name="Text 38"/>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31.1</a:t>
            </a:r>
            <a:endParaRPr lang="en-US" sz="1400" dirty="0"/>
          </a:p>
        </p:txBody>
      </p:sp>
      <p:sp>
        <p:nvSpPr>
          <p:cNvPr id="42" name="Text 40"/>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a:t>
            </a:r>
            <a:endParaRPr lang="en-US" sz="1600" dirty="0"/>
          </a:p>
        </p:txBody>
      </p:sp>
      <p:sp>
        <p:nvSpPr>
          <p:cNvPr id="43" name="Text 41"/>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31.4</a:t>
            </a:r>
            <a:endParaRPr lang="en-US" sz="1400" dirty="0"/>
          </a:p>
        </p:txBody>
      </p:sp>
      <p:sp>
        <p:nvSpPr>
          <p:cNvPr id="45" name="Text 43"/>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46" name="Shape 44"/>
          <p:cNvSpPr/>
          <p:nvPr/>
        </p:nvSpPr>
        <p:spPr>
          <a:xfrm>
            <a:off x="4349496" y="5124298"/>
            <a:ext cx="3489960" cy="755294"/>
          </a:xfrm>
          <a:prstGeom prst="rect">
            <a:avLst/>
          </a:prstGeom>
          <a:solidFill>
            <a:srgbClr val="F7F7F7"/>
          </a:solidFill>
          <a:ln/>
        </p:spPr>
      </p:sp>
      <p:sp>
        <p:nvSpPr>
          <p:cNvPr id="47" name="Text 45"/>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24.5</a:t>
            </a:r>
            <a:endParaRPr lang="en-US" sz="1400" dirty="0"/>
          </a:p>
        </p:txBody>
      </p:sp>
      <p:sp>
        <p:nvSpPr>
          <p:cNvPr id="49" name="Text 47"/>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755294"/>
          </a:xfrm>
          <a:prstGeom prst="rect">
            <a:avLst/>
          </a:prstGeom>
          <a:solidFill>
            <a:srgbClr val="F7F7F7"/>
          </a:solidFill>
          <a:ln/>
        </p:spPr>
      </p:sp>
      <p:sp>
        <p:nvSpPr>
          <p:cNvPr id="54" name="Shape 52"/>
          <p:cNvSpPr/>
          <p:nvPr/>
        </p:nvSpPr>
        <p:spPr>
          <a:xfrm>
            <a:off x="11466576" y="2139696"/>
            <a:ext cx="64008" cy="682142"/>
          </a:xfrm>
          <a:prstGeom prst="rect">
            <a:avLst/>
          </a:prstGeom>
          <a:solidFill>
            <a:srgbClr val="12A566"/>
          </a:solidFill>
          <a:ln/>
        </p:spPr>
      </p:sp>
      <p:sp>
        <p:nvSpPr>
          <p:cNvPr id="55" name="Text 53"/>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40.3</a:t>
            </a:r>
            <a:endParaRPr lang="en-US" sz="1400" dirty="0"/>
          </a:p>
        </p:txBody>
      </p:sp>
      <p:sp>
        <p:nvSpPr>
          <p:cNvPr id="57" name="Text 55"/>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+10.4</a:t>
            </a:r>
            <a:endParaRPr lang="en-US" sz="1600" dirty="0"/>
          </a:p>
        </p:txBody>
      </p:sp>
      <p:sp>
        <p:nvSpPr>
          <p:cNvPr id="58" name="Text 5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28.3</a:t>
            </a:r>
            <a:endParaRPr lang="en-US" sz="1400" dirty="0"/>
          </a:p>
        </p:txBody>
      </p:sp>
      <p:sp>
        <p:nvSpPr>
          <p:cNvPr id="60" name="Text 58"/>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+9.4</a:t>
            </a:r>
            <a:endParaRPr lang="en-US" sz="1600" dirty="0"/>
          </a:p>
        </p:txBody>
      </p:sp>
      <p:sp>
        <p:nvSpPr>
          <p:cNvPr id="61" name="Shape 59"/>
          <p:cNvSpPr/>
          <p:nvPr/>
        </p:nvSpPr>
        <p:spPr>
          <a:xfrm>
            <a:off x="8040624" y="3613709"/>
            <a:ext cx="3489960" cy="755294"/>
          </a:xfrm>
          <a:prstGeom prst="rect">
            <a:avLst/>
          </a:prstGeom>
          <a:solidFill>
            <a:srgbClr val="F7F7F7"/>
          </a:solidFill>
          <a:ln/>
        </p:spPr>
      </p:sp>
      <p:sp>
        <p:nvSpPr>
          <p:cNvPr id="62" name="Shape 60"/>
          <p:cNvSpPr/>
          <p:nvPr/>
        </p:nvSpPr>
        <p:spPr>
          <a:xfrm>
            <a:off x="11466576" y="3650285"/>
            <a:ext cx="64008" cy="682142"/>
          </a:xfrm>
          <a:prstGeom prst="rect">
            <a:avLst/>
          </a:prstGeom>
          <a:solidFill>
            <a:srgbClr val="12A566"/>
          </a:solidFill>
          <a:ln/>
        </p:spPr>
      </p:sp>
      <p:sp>
        <p:nvSpPr>
          <p:cNvPr id="63" name="Text 6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33.1</a:t>
            </a:r>
            <a:endParaRPr lang="en-US" sz="1400" dirty="0"/>
          </a:p>
        </p:txBody>
      </p:sp>
      <p:sp>
        <p:nvSpPr>
          <p:cNvPr id="65" name="Text 63"/>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a:t>
            </a:r>
            <a:endParaRPr lang="en-US" sz="1600" dirty="0"/>
          </a:p>
        </p:txBody>
      </p:sp>
      <p:sp>
        <p:nvSpPr>
          <p:cNvPr id="66" name="Text 64"/>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37.4</a:t>
            </a:r>
            <a:endParaRPr lang="en-US" sz="1400" dirty="0"/>
          </a:p>
        </p:txBody>
      </p:sp>
      <p:sp>
        <p:nvSpPr>
          <p:cNvPr id="68" name="Text 66"/>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69" name="Shape 67"/>
          <p:cNvSpPr/>
          <p:nvPr/>
        </p:nvSpPr>
        <p:spPr>
          <a:xfrm>
            <a:off x="8040624" y="5124298"/>
            <a:ext cx="3489960" cy="755294"/>
          </a:xfrm>
          <a:prstGeom prst="rect">
            <a:avLst/>
          </a:prstGeom>
          <a:solidFill>
            <a:srgbClr val="F7F7F7"/>
          </a:solidFill>
          <a:ln/>
        </p:spPr>
      </p:sp>
      <p:sp>
        <p:nvSpPr>
          <p:cNvPr id="70" name="Text 6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a:t>
            </a:r>
            <a:endParaRPr lang="en-US" sz="1400" dirty="0"/>
          </a:p>
        </p:txBody>
      </p:sp>
      <p:sp>
        <p:nvSpPr>
          <p:cNvPr id="72" name="Text 70"/>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73" name="Shape 71"/>
          <p:cNvSpPr/>
          <p:nvPr/>
        </p:nvSpPr>
        <p:spPr>
          <a:xfrm>
            <a:off x="457200" y="6126480"/>
            <a:ext cx="11274552" cy="569976"/>
          </a:xfrm>
          <a:prstGeom prst="rect">
            <a:avLst/>
          </a:prstGeom>
          <a:solidFill>
            <a:srgbClr val="EDF4FA"/>
          </a:solidFill>
          <a:ln/>
        </p:spPr>
      </p:sp>
      <p:sp>
        <p:nvSpPr>
          <p:cNvPr id="74" name="Text 72"/>
          <p:cNvSpPr txBox="1"/>
          <p:nvPr/>
        </p:nvSpPr>
        <p:spPr>
          <a:xfrm>
            <a:off x="658368" y="6144768"/>
            <a:ext cx="10927080" cy="53340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Ask Hyundai Prescott, Kia LV and Hyundai St George what changed. Ask Kia St George, Mazda and VW St George what got in the way. Ask Subaru St George, CDJR Post Falls and Hyundai Prescott what they started this year.</a:t>
            </a:r>
            <a:endParaRPr lang="en-US" sz="1450" dirty="0"/>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TECHNICIAN PROFICIENCY · YOUR BEST TECHS PROVE 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$202K → $246K</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+21.9%</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$311K → $375K</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+20.4%</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$148K → $177K</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$100K → $119K</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$294K → $345K</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+17.3%</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545 → 617</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+13.0%</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1,561 → 1,759</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330 → 370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1,788 → 1,992</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582 → 641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1.29 → 1.40</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+8.2%</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1.33 → 1.40</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2.19 → 2.30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2.60 → 2.73</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3.25 → 3.41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$172.35 → $180.14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$140.89 → $146.92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$216.72 → $225.50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$155.72 → $161.80</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$169.51 → $175.47</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+5.1%: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$136 → $156</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+14.6%</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$257 → $292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$728 → $811</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$897 → $988</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$235 → $258</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$224 to $298, stepping up in June. Ask what changed that month.</a:t>
            </a:r>
            <a:endParaRPr lang="en-US" sz="1600" dirty="0"/>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40.1% → 42.4%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34.4% → 36.3%</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40.9% → 42.2%</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44.4% → 45.7%</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36.8% → 37.9%</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 pts</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570</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415</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578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669</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459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1.65</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1.76</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1.54</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$128.27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$141.89</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$227.34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$244.12</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$139.40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$147.93</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$142.56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$150.72</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$139.09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$146.04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46.6%</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43.8%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39.2%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44.0%</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41.7%</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$209K</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$112K</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$218K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$279K</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$66K</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$49K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$60K</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Alignment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12.9% → 13.1%, +0.1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31.7%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22.8%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11.8%</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Audi Henderson went 21.1% to 31.7%, stepping up in May. Ask what changed that month.</a:t>
            </a:r>
            <a:endParaRPr lang="en-US" sz="1600" dirty="0"/>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Balance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8.2% → 8.3%,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19.3%</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4.0%</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8.5%</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12.2%</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10.1% to 19.3%, stepping up in August. Ask what changed that month.</a:t>
            </a:r>
            <a:endParaRPr lang="en-US" sz="1600" dirty="0"/>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Brake Fluid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9.1% → 9.1%,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5.3%</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10.3%</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5.2% to 14.1%, stepping up in August. Ask what changed that month.</a:t>
            </a:r>
            <a:endParaRPr lang="en-US" sz="1600" dirty="0"/>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Fuel Service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5.8% → 5.6%, −0.2 pts: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10.1%</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2.5% to 10.7%, stepping up in August. Ask what changed that month.</a:t>
            </a:r>
            <a:endParaRPr lang="en-US" sz="1600" dirty="0"/>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January–September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vs Jan–Sep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+46.0%</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+45.3%</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+33.8%</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+13.6%</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+12.6%</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+10.5%</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+39.1%</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+31.3%</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+30.7%</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+20.1%</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+28.9%</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+21.0%</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+6.1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+3.8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makes three of six lists; three stores make two.</a:t>
            </a:r>
            <a:endParaRPr lang="en-US" sz="1600" dirty="0"/>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Last 90 Days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Jul–Sep vs Jul–Sep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+72.1%</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+41.5%</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+41.0%</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+2.0%</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+20.4%</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+19.2%</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+17.4%</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+3.1%</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+44.7%</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+41.1%</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+27.5%</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+2.5%</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+22.5%</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+3.8%</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+40.0%</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+24.6%</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+7.7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and Kia St George each make three of six lists.</a:t>
            </a:r>
            <a:endParaRPr lang="en-US" sz="1600" dirty="0"/>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Who Shows Up Most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292608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Top-3 finishes of 12</a:t>
            </a:r>
            <a:endParaRPr lang="en-US" sz="1400" dirty="0"/>
          </a:p>
        </p:txBody>
      </p:sp>
      <p:sp>
        <p:nvSpPr>
          <p:cNvPr id="7" name="Text 5"/>
          <p:cNvSpPr txBox="1"/>
          <p:nvPr/>
        </p:nvSpPr>
        <p:spPr>
          <a:xfrm>
            <a:off x="617220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8" name="Text 6"/>
          <p:cNvSpPr txBox="1"/>
          <p:nvPr/>
        </p:nvSpPr>
        <p:spPr>
          <a:xfrm>
            <a:off x="882396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Last 90 days</a:t>
            </a:r>
            <a:endParaRPr lang="en-US" sz="1400" dirty="0"/>
          </a:p>
        </p:txBody>
      </p:sp>
      <p:sp>
        <p:nvSpPr>
          <p:cNvPr id="9" name="Shape 7"/>
          <p:cNvSpPr/>
          <p:nvPr/>
        </p:nvSpPr>
        <p:spPr>
          <a:xfrm>
            <a:off x="621792" y="1792224"/>
            <a:ext cx="10945368" cy="484632"/>
          </a:xfrm>
          <a:prstGeom prst="rect">
            <a:avLst/>
          </a:prstGeom>
          <a:solidFill>
            <a:srgbClr val="F7F7F7"/>
          </a:solidFill>
          <a:ln/>
        </p:spPr>
      </p:sp>
      <p:sp>
        <p:nvSpPr>
          <p:cNvPr id="10" name="Text 8"/>
          <p:cNvSpPr txBox="1"/>
          <p:nvPr/>
        </p:nvSpPr>
        <p:spPr>
          <a:xfrm>
            <a:off x="713232" y="179222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Shape 9"/>
          <p:cNvSpPr/>
          <p:nvPr/>
        </p:nvSpPr>
        <p:spPr>
          <a:xfrm>
            <a:off x="2926080" y="1913382"/>
            <a:ext cx="2651760" cy="242316"/>
          </a:xfrm>
          <a:prstGeom prst="rect">
            <a:avLst/>
          </a:prstGeom>
          <a:solidFill>
            <a:srgbClr val="12A566"/>
          </a:solidFill>
          <a:ln/>
        </p:spPr>
      </p:sp>
      <p:sp>
        <p:nvSpPr>
          <p:cNvPr id="12" name="Text 10"/>
          <p:cNvSpPr txBox="1"/>
          <p:nvPr/>
        </p:nvSpPr>
        <p:spPr>
          <a:xfrm>
            <a:off x="5486400" y="179222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a:t>
            </a:r>
            <a:endParaRPr lang="en-US" sz="1600" dirty="0"/>
          </a:p>
        </p:txBody>
      </p:sp>
      <p:sp>
        <p:nvSpPr>
          <p:cNvPr id="13" name="Text 11"/>
          <p:cNvSpPr txBox="1"/>
          <p:nvPr/>
        </p:nvSpPr>
        <p:spPr>
          <a:xfrm>
            <a:off x="617220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4" name="Text 12"/>
          <p:cNvSpPr txBox="1"/>
          <p:nvPr/>
        </p:nvSpPr>
        <p:spPr>
          <a:xfrm>
            <a:off x="882396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5" name="Text 13"/>
          <p:cNvSpPr txBox="1"/>
          <p:nvPr/>
        </p:nvSpPr>
        <p:spPr>
          <a:xfrm>
            <a:off x="713232" y="227685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6" name="Shape 14"/>
          <p:cNvSpPr/>
          <p:nvPr/>
        </p:nvSpPr>
        <p:spPr>
          <a:xfrm>
            <a:off x="2926080" y="2398014"/>
            <a:ext cx="1767840" cy="242316"/>
          </a:xfrm>
          <a:prstGeom prst="rect">
            <a:avLst/>
          </a:prstGeom>
          <a:solidFill>
            <a:srgbClr val="12A566"/>
          </a:solidFill>
          <a:ln/>
        </p:spPr>
      </p:sp>
      <p:sp>
        <p:nvSpPr>
          <p:cNvPr id="17" name="Text 15"/>
          <p:cNvSpPr txBox="1"/>
          <p:nvPr/>
        </p:nvSpPr>
        <p:spPr>
          <a:xfrm>
            <a:off x="5486400" y="227685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a:t>
            </a:r>
            <a:endParaRPr lang="en-US" sz="1600" dirty="0"/>
          </a:p>
        </p:txBody>
      </p:sp>
      <p:sp>
        <p:nvSpPr>
          <p:cNvPr id="18" name="Text 16"/>
          <p:cNvSpPr txBox="1"/>
          <p:nvPr/>
        </p:nvSpPr>
        <p:spPr>
          <a:xfrm>
            <a:off x="617220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19" name="Text 17"/>
          <p:cNvSpPr txBox="1"/>
          <p:nvPr/>
        </p:nvSpPr>
        <p:spPr>
          <a:xfrm>
            <a:off x="882396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hours/RO, parts GP%</a:t>
            </a:r>
            <a:endParaRPr lang="en-US" sz="1300" dirty="0"/>
          </a:p>
        </p:txBody>
      </p:sp>
      <p:sp>
        <p:nvSpPr>
          <p:cNvPr id="20" name="Shape 18"/>
          <p:cNvSpPr/>
          <p:nvPr/>
        </p:nvSpPr>
        <p:spPr>
          <a:xfrm>
            <a:off x="621792" y="2761488"/>
            <a:ext cx="10945368" cy="484632"/>
          </a:xfrm>
          <a:prstGeom prst="rect">
            <a:avLst/>
          </a:prstGeom>
          <a:solidFill>
            <a:srgbClr val="F7F7F7"/>
          </a:solidFill>
          <a:ln/>
        </p:spPr>
      </p:sp>
      <p:sp>
        <p:nvSpPr>
          <p:cNvPr id="21" name="Text 19"/>
          <p:cNvSpPr txBox="1"/>
          <p:nvPr/>
        </p:nvSpPr>
        <p:spPr>
          <a:xfrm>
            <a:off x="713232" y="276148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2" name="Shape 20"/>
          <p:cNvSpPr/>
          <p:nvPr/>
        </p:nvSpPr>
        <p:spPr>
          <a:xfrm>
            <a:off x="2926080" y="2882646"/>
            <a:ext cx="1325880" cy="242316"/>
          </a:xfrm>
          <a:prstGeom prst="rect">
            <a:avLst/>
          </a:prstGeom>
          <a:solidFill>
            <a:srgbClr val="12A566"/>
          </a:solidFill>
          <a:ln/>
        </p:spPr>
      </p:sp>
      <p:sp>
        <p:nvSpPr>
          <p:cNvPr id="23" name="Text 21"/>
          <p:cNvSpPr txBox="1"/>
          <p:nvPr/>
        </p:nvSpPr>
        <p:spPr>
          <a:xfrm>
            <a:off x="5486400" y="276148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4" name="Text 22"/>
          <p:cNvSpPr txBox="1"/>
          <p:nvPr/>
        </p:nvSpPr>
        <p:spPr>
          <a:xfrm>
            <a:off x="617220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parts GP%</a:t>
            </a:r>
            <a:endParaRPr lang="en-US" sz="1300" dirty="0"/>
          </a:p>
        </p:txBody>
      </p:sp>
      <p:sp>
        <p:nvSpPr>
          <p:cNvPr id="25" name="Text 23"/>
          <p:cNvSpPr txBox="1"/>
          <p:nvPr/>
        </p:nvSpPr>
        <p:spPr>
          <a:xfrm>
            <a:off x="882396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a:t>
            </a:r>
            <a:endParaRPr lang="en-US" sz="1300" dirty="0"/>
          </a:p>
        </p:txBody>
      </p:sp>
      <p:sp>
        <p:nvSpPr>
          <p:cNvPr id="26" name="Text 24"/>
          <p:cNvSpPr txBox="1"/>
          <p:nvPr/>
        </p:nvSpPr>
        <p:spPr>
          <a:xfrm>
            <a:off x="713232" y="3246120"/>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Shape 25"/>
          <p:cNvSpPr/>
          <p:nvPr/>
        </p:nvSpPr>
        <p:spPr>
          <a:xfrm>
            <a:off x="2926080" y="3367278"/>
            <a:ext cx="1325880" cy="242316"/>
          </a:xfrm>
          <a:prstGeom prst="rect">
            <a:avLst/>
          </a:prstGeom>
          <a:solidFill>
            <a:srgbClr val="12A566"/>
          </a:solidFill>
          <a:ln/>
        </p:spPr>
      </p:sp>
      <p:sp>
        <p:nvSpPr>
          <p:cNvPr id="28" name="Text 26"/>
          <p:cNvSpPr txBox="1"/>
          <p:nvPr/>
        </p:nvSpPr>
        <p:spPr>
          <a:xfrm>
            <a:off x="5486400" y="3246120"/>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9" name="Text 27"/>
          <p:cNvSpPr txBox="1"/>
          <p:nvPr/>
        </p:nvSpPr>
        <p:spPr>
          <a:xfrm>
            <a:off x="617220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 parts $/RO</a:t>
            </a:r>
            <a:endParaRPr lang="en-US" sz="1300" dirty="0"/>
          </a:p>
        </p:txBody>
      </p:sp>
      <p:sp>
        <p:nvSpPr>
          <p:cNvPr id="30" name="Text 28"/>
          <p:cNvSpPr txBox="1"/>
          <p:nvPr/>
        </p:nvSpPr>
        <p:spPr>
          <a:xfrm>
            <a:off x="882396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31" name="Shape 29"/>
          <p:cNvSpPr/>
          <p:nvPr/>
        </p:nvSpPr>
        <p:spPr>
          <a:xfrm>
            <a:off x="621792" y="3730752"/>
            <a:ext cx="10945368" cy="484632"/>
          </a:xfrm>
          <a:prstGeom prst="rect">
            <a:avLst/>
          </a:prstGeom>
          <a:solidFill>
            <a:srgbClr val="F7F7F7"/>
          </a:solidFill>
          <a:ln/>
        </p:spPr>
      </p:sp>
      <p:sp>
        <p:nvSpPr>
          <p:cNvPr id="32" name="Text 30"/>
          <p:cNvSpPr txBox="1"/>
          <p:nvPr/>
        </p:nvSpPr>
        <p:spPr>
          <a:xfrm>
            <a:off x="713232" y="3730752"/>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Shape 31"/>
          <p:cNvSpPr/>
          <p:nvPr/>
        </p:nvSpPr>
        <p:spPr>
          <a:xfrm>
            <a:off x="2926080" y="3851910"/>
            <a:ext cx="883920" cy="242316"/>
          </a:xfrm>
          <a:prstGeom prst="rect">
            <a:avLst/>
          </a:prstGeom>
          <a:solidFill>
            <a:srgbClr val="12A566"/>
          </a:solidFill>
          <a:ln/>
        </p:spPr>
      </p:sp>
      <p:sp>
        <p:nvSpPr>
          <p:cNvPr id="34" name="Text 32"/>
          <p:cNvSpPr txBox="1"/>
          <p:nvPr/>
        </p:nvSpPr>
        <p:spPr>
          <a:xfrm>
            <a:off x="5486400" y="3730752"/>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617220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882396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7" name="Text 35"/>
          <p:cNvSpPr txBox="1"/>
          <p:nvPr/>
        </p:nvSpPr>
        <p:spPr>
          <a:xfrm>
            <a:off x="713232" y="421538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38" name="Shape 36"/>
          <p:cNvSpPr/>
          <p:nvPr/>
        </p:nvSpPr>
        <p:spPr>
          <a:xfrm>
            <a:off x="2926080" y="4336542"/>
            <a:ext cx="883920" cy="242316"/>
          </a:xfrm>
          <a:prstGeom prst="rect">
            <a:avLst/>
          </a:prstGeom>
          <a:solidFill>
            <a:srgbClr val="12A566"/>
          </a:solidFill>
          <a:ln/>
        </p:spPr>
      </p:sp>
      <p:sp>
        <p:nvSpPr>
          <p:cNvPr id="39" name="Text 37"/>
          <p:cNvSpPr txBox="1"/>
          <p:nvPr/>
        </p:nvSpPr>
        <p:spPr>
          <a:xfrm>
            <a:off x="5486400" y="421538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0" name="Text 38"/>
          <p:cNvSpPr txBox="1"/>
          <p:nvPr/>
        </p:nvSpPr>
        <p:spPr>
          <a:xfrm>
            <a:off x="617220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1" name="Text 39"/>
          <p:cNvSpPr txBox="1"/>
          <p:nvPr/>
        </p:nvSpPr>
        <p:spPr>
          <a:xfrm>
            <a:off x="882396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2" name="Shape 40"/>
          <p:cNvSpPr/>
          <p:nvPr/>
        </p:nvSpPr>
        <p:spPr>
          <a:xfrm>
            <a:off x="621792" y="4700016"/>
            <a:ext cx="10945368" cy="484632"/>
          </a:xfrm>
          <a:prstGeom prst="rect">
            <a:avLst/>
          </a:prstGeom>
          <a:solidFill>
            <a:srgbClr val="F7F7F7"/>
          </a:solidFill>
          <a:ln/>
        </p:spPr>
      </p:sp>
      <p:sp>
        <p:nvSpPr>
          <p:cNvPr id="43" name="Text 41"/>
          <p:cNvSpPr txBox="1"/>
          <p:nvPr/>
        </p:nvSpPr>
        <p:spPr>
          <a:xfrm>
            <a:off x="713232" y="470001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4" name="Shape 42"/>
          <p:cNvSpPr/>
          <p:nvPr/>
        </p:nvSpPr>
        <p:spPr>
          <a:xfrm>
            <a:off x="2926080" y="4821174"/>
            <a:ext cx="883920" cy="242316"/>
          </a:xfrm>
          <a:prstGeom prst="rect">
            <a:avLst/>
          </a:prstGeom>
          <a:solidFill>
            <a:srgbClr val="12A566"/>
          </a:solidFill>
          <a:ln/>
        </p:spPr>
      </p:sp>
      <p:sp>
        <p:nvSpPr>
          <p:cNvPr id="45" name="Text 43"/>
          <p:cNvSpPr txBox="1"/>
          <p:nvPr/>
        </p:nvSpPr>
        <p:spPr>
          <a:xfrm>
            <a:off x="5486400" y="470001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6" name="Text 44"/>
          <p:cNvSpPr txBox="1"/>
          <p:nvPr/>
        </p:nvSpPr>
        <p:spPr>
          <a:xfrm>
            <a:off x="617220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7" name="Text 45"/>
          <p:cNvSpPr txBox="1"/>
          <p:nvPr/>
        </p:nvSpPr>
        <p:spPr>
          <a:xfrm>
            <a:off x="882396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8" name="Text 46"/>
          <p:cNvSpPr txBox="1"/>
          <p:nvPr/>
        </p:nvSpPr>
        <p:spPr>
          <a:xfrm>
            <a:off x="713232" y="518464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9" name="Shape 47"/>
          <p:cNvSpPr/>
          <p:nvPr/>
        </p:nvSpPr>
        <p:spPr>
          <a:xfrm>
            <a:off x="2926080" y="5305806"/>
            <a:ext cx="883920" cy="242316"/>
          </a:xfrm>
          <a:prstGeom prst="rect">
            <a:avLst/>
          </a:prstGeom>
          <a:solidFill>
            <a:srgbClr val="12A566"/>
          </a:solidFill>
          <a:ln/>
        </p:spPr>
      </p:sp>
      <p:sp>
        <p:nvSpPr>
          <p:cNvPr id="50" name="Text 48"/>
          <p:cNvSpPr txBox="1"/>
          <p:nvPr/>
        </p:nvSpPr>
        <p:spPr>
          <a:xfrm>
            <a:off x="5486400" y="518464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51" name="Text 49"/>
          <p:cNvSpPr txBox="1"/>
          <p:nvPr/>
        </p:nvSpPr>
        <p:spPr>
          <a:xfrm>
            <a:off x="617220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2" name="Text 50"/>
          <p:cNvSpPr txBox="1"/>
          <p:nvPr/>
        </p:nvSpPr>
        <p:spPr>
          <a:xfrm>
            <a:off x="882396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3" name="Shape 51"/>
          <p:cNvSpPr/>
          <p:nvPr/>
        </p:nvSpPr>
        <p:spPr>
          <a:xfrm>
            <a:off x="457200" y="6126480"/>
            <a:ext cx="11274552" cy="371856"/>
          </a:xfrm>
          <a:prstGeom prst="rect">
            <a:avLst/>
          </a:prstGeom>
          <a:solidFill>
            <a:srgbClr val="E6F6EE"/>
          </a:solidFill>
          <a:ln/>
        </p:spPr>
      </p:sp>
      <p:sp>
        <p:nvSpPr>
          <p:cNvPr id="54" name="Text 5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has 6 top-3 finishes of 12. 8 stores make a top-3 list in both periods.</a:t>
            </a:r>
            <a:endParaRPr lang="en-US" sz="1600" dirty="0"/>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Gross</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+6.4% · 27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+46.0%</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Shape 16"/>
          <p:cNvSpPr/>
          <p:nvPr/>
        </p:nvSpPr>
        <p:spPr>
          <a:xfrm>
            <a:off x="3383280" y="3127248"/>
            <a:ext cx="126095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4" name="Shape 22"/>
          <p:cNvSpPr/>
          <p:nvPr/>
        </p:nvSpPr>
        <p:spPr>
          <a:xfrm>
            <a:off x="3383280" y="3785616"/>
            <a:ext cx="939340"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+33.8%</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$657K → $862K</a:t>
            </a:r>
            <a:endParaRPr lang="en-US" sz="1300" dirty="0"/>
          </a:p>
        </p:txBody>
      </p:sp>
      <p:sp>
        <p:nvSpPr>
          <p:cNvPr id="29" name="Shape 27"/>
          <p:cNvSpPr/>
          <p:nvPr/>
        </p:nvSpPr>
        <p:spPr>
          <a:xfrm>
            <a:off x="3383280" y="4443984"/>
            <a:ext cx="862566"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+31.0%</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$1.63M → $2.10M</a:t>
            </a:r>
            <a:endParaRPr lang="en-US" sz="1300" dirty="0"/>
          </a:p>
        </p:txBody>
      </p:sp>
      <p:sp>
        <p:nvSpPr>
          <p:cNvPr id="35" name="Shape 33"/>
          <p:cNvSpPr/>
          <p:nvPr/>
        </p:nvSpPr>
        <p:spPr>
          <a:xfrm>
            <a:off x="3383280" y="5102352"/>
            <a:ext cx="80027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+8.4% · 29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+72.1%</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50" name="Shape 48"/>
          <p:cNvSpPr/>
          <p:nvPr/>
        </p:nvSpPr>
        <p:spPr>
          <a:xfrm>
            <a:off x="9098280" y="3127248"/>
            <a:ext cx="738338"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+41.5%</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56" name="Shape 54"/>
          <p:cNvSpPr/>
          <p:nvPr/>
        </p:nvSpPr>
        <p:spPr>
          <a:xfrm>
            <a:off x="9098280" y="3785616"/>
            <a:ext cx="72918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+41.0%</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$268K → $358K</a:t>
            </a:r>
            <a:endParaRPr lang="en-US" sz="1300" dirty="0"/>
          </a:p>
        </p:txBody>
      </p:sp>
      <p:sp>
        <p:nvSpPr>
          <p:cNvPr id="61" name="Shape 59"/>
          <p:cNvSpPr/>
          <p:nvPr/>
        </p:nvSpPr>
        <p:spPr>
          <a:xfrm>
            <a:off x="9098280" y="4443984"/>
            <a:ext cx="592350"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+33.3%</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$473K → $626K</a:t>
            </a:r>
            <a:endParaRPr lang="en-US" sz="1300" dirty="0"/>
          </a:p>
        </p:txBody>
      </p:sp>
      <p:sp>
        <p:nvSpPr>
          <p:cNvPr id="67" name="Shape 65"/>
          <p:cNvSpPr/>
          <p:nvPr/>
        </p:nvSpPr>
        <p:spPr>
          <a:xfrm>
            <a:off x="9098280" y="5102352"/>
            <a:ext cx="57469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+32.3%</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RO Count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+0.1% · 20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+13.6%</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18" name="Shape 16"/>
          <p:cNvSpPr/>
          <p:nvPr/>
        </p:nvSpPr>
        <p:spPr>
          <a:xfrm>
            <a:off x="3383280" y="3127248"/>
            <a:ext cx="118782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+12.6%</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24" name="Shape 22"/>
          <p:cNvSpPr/>
          <p:nvPr/>
        </p:nvSpPr>
        <p:spPr>
          <a:xfrm>
            <a:off x="3383280" y="3785616"/>
            <a:ext cx="9910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+10.5%</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5,042 → 5,553</a:t>
            </a:r>
            <a:endParaRPr lang="en-US" sz="1300" dirty="0"/>
          </a:p>
        </p:txBody>
      </p:sp>
      <p:sp>
        <p:nvSpPr>
          <p:cNvPr id="29" name="Shape 27"/>
          <p:cNvSpPr/>
          <p:nvPr/>
        </p:nvSpPr>
        <p:spPr>
          <a:xfrm>
            <a:off x="3383280" y="4443984"/>
            <a:ext cx="95029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+10.1%</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1,303 → 1,421</a:t>
            </a:r>
            <a:endParaRPr lang="en-US" sz="1300" dirty="0"/>
          </a:p>
        </p:txBody>
      </p:sp>
      <p:sp>
        <p:nvSpPr>
          <p:cNvPr id="35" name="Shape 33"/>
          <p:cNvSpPr/>
          <p:nvPr/>
        </p:nvSpPr>
        <p:spPr>
          <a:xfrm>
            <a:off x="3383280" y="5102352"/>
            <a:ext cx="84913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+9.0%</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+2.0% · 20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+20.4%</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50" name="Shape 48"/>
          <p:cNvSpPr/>
          <p:nvPr/>
        </p:nvSpPr>
        <p:spPr>
          <a:xfrm>
            <a:off x="9098280" y="3127248"/>
            <a:ext cx="1205264"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+19.2%</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56" name="Shape 54"/>
          <p:cNvSpPr/>
          <p:nvPr/>
        </p:nvSpPr>
        <p:spPr>
          <a:xfrm>
            <a:off x="9098280" y="3785616"/>
            <a:ext cx="1091864"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+17.4%</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AUDI HENDERSON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1,144 → 1,304</a:t>
            </a:r>
            <a:endParaRPr lang="en-US" sz="1300" dirty="0"/>
          </a:p>
        </p:txBody>
      </p:sp>
      <p:sp>
        <p:nvSpPr>
          <p:cNvPr id="61" name="Shape 59"/>
          <p:cNvSpPr/>
          <p:nvPr/>
        </p:nvSpPr>
        <p:spPr>
          <a:xfrm>
            <a:off x="9098280" y="4443984"/>
            <a:ext cx="87580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+13.9%</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2,374 → 2,700</a:t>
            </a:r>
            <a:endParaRPr lang="en-US" sz="1300" dirty="0"/>
          </a:p>
        </p:txBody>
      </p:sp>
      <p:sp>
        <p:nvSpPr>
          <p:cNvPr id="67" name="Shape 65"/>
          <p:cNvSpPr/>
          <p:nvPr/>
        </p:nvSpPr>
        <p:spPr>
          <a:xfrm>
            <a:off x="9098280" y="5102352"/>
            <a:ext cx="859902"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Kia LV leads Jan–Sep; LR Reno leads the last 90 days. Three stores are top five in both.</a:t>
            </a:r>
            <a:endParaRPr lang="en-US" sz="1600" dirty="0"/>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Hours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+3.6% · 26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+39.1%</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18" name="Shape 16"/>
          <p:cNvSpPr/>
          <p:nvPr/>
        </p:nvSpPr>
        <p:spPr>
          <a:xfrm>
            <a:off x="3383280" y="3127248"/>
            <a:ext cx="102382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24" name="Shape 22"/>
          <p:cNvSpPr/>
          <p:nvPr/>
        </p:nvSpPr>
        <p:spPr>
          <a:xfrm>
            <a:off x="3383280" y="3785616"/>
            <a:ext cx="1005399"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+30.7%</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 → 1.60</a:t>
            </a:r>
            <a:endParaRPr lang="en-US" sz="1300" dirty="0"/>
          </a:p>
        </p:txBody>
      </p:sp>
      <p:sp>
        <p:nvSpPr>
          <p:cNvPr id="29" name="Shape 27"/>
          <p:cNvSpPr/>
          <p:nvPr/>
        </p:nvSpPr>
        <p:spPr>
          <a:xfrm>
            <a:off x="3383280" y="4443984"/>
            <a:ext cx="6405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+19.5%</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1.32 → 1.57</a:t>
            </a:r>
            <a:endParaRPr lang="en-US" sz="1300" dirty="0"/>
          </a:p>
        </p:txBody>
      </p:sp>
      <p:sp>
        <p:nvSpPr>
          <p:cNvPr id="35" name="Shape 33"/>
          <p:cNvSpPr/>
          <p:nvPr/>
        </p:nvSpPr>
        <p:spPr>
          <a:xfrm>
            <a:off x="3383280" y="5102352"/>
            <a:ext cx="612671"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+3.1% · 23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+44.7%</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Shape 48"/>
          <p:cNvSpPr/>
          <p:nvPr/>
        </p:nvSpPr>
        <p:spPr>
          <a:xfrm>
            <a:off x="9098280" y="3127248"/>
            <a:ext cx="1177847"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+41.1%</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6" name="Shape 54"/>
          <p:cNvSpPr/>
          <p:nvPr/>
        </p:nvSpPr>
        <p:spPr>
          <a:xfrm>
            <a:off x="9098280" y="3785616"/>
            <a:ext cx="78850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+27.5%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3.39 → 4.07</a:t>
            </a:r>
            <a:endParaRPr lang="en-US" sz="1300" dirty="0"/>
          </a:p>
        </p:txBody>
      </p:sp>
      <p:sp>
        <p:nvSpPr>
          <p:cNvPr id="61" name="Shape 59"/>
          <p:cNvSpPr/>
          <p:nvPr/>
        </p:nvSpPr>
        <p:spPr>
          <a:xfrm>
            <a:off x="9098280" y="4443984"/>
            <a:ext cx="576271"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2.07 → 2.44</a:t>
            </a:r>
            <a:endParaRPr lang="en-US" sz="1300" dirty="0"/>
          </a:p>
        </p:txBody>
      </p:sp>
      <p:sp>
        <p:nvSpPr>
          <p:cNvPr id="67" name="Shape 65"/>
          <p:cNvSpPr/>
          <p:nvPr/>
        </p:nvSpPr>
        <p:spPr>
          <a:xfrm>
            <a:off x="9098280" y="5102352"/>
            <a:ext cx="50434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Hyundai St George leads both periods. Hyundai St George and Kia St George are top five in both.</a:t>
            </a:r>
            <a:endParaRPr lang="en-US" sz="1600" dirty="0"/>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ELR</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+2.2% · 19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18" name="Shape 16"/>
          <p:cNvSpPr/>
          <p:nvPr/>
        </p:nvSpPr>
        <p:spPr>
          <a:xfrm>
            <a:off x="3383280" y="3127248"/>
            <a:ext cx="1246113"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24" name="Shape 22"/>
          <p:cNvSpPr/>
          <p:nvPr/>
        </p:nvSpPr>
        <p:spPr>
          <a:xfrm>
            <a:off x="3383280" y="3785616"/>
            <a:ext cx="1123401"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$153.87 → $175.90</a:t>
            </a:r>
            <a:endParaRPr lang="en-US" sz="1300" dirty="0"/>
          </a:p>
        </p:txBody>
      </p:sp>
      <p:sp>
        <p:nvSpPr>
          <p:cNvPr id="29" name="Shape 27"/>
          <p:cNvSpPr/>
          <p:nvPr/>
        </p:nvSpPr>
        <p:spPr>
          <a:xfrm>
            <a:off x="3383280" y="4443984"/>
            <a:ext cx="7990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+14.3%</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$122.25 → $139.13</a:t>
            </a:r>
            <a:endParaRPr lang="en-US" sz="1300" dirty="0"/>
          </a:p>
        </p:txBody>
      </p:sp>
      <p:sp>
        <p:nvSpPr>
          <p:cNvPr id="35" name="Shape 33"/>
          <p:cNvSpPr/>
          <p:nvPr/>
        </p:nvSpPr>
        <p:spPr>
          <a:xfrm>
            <a:off x="3383280" y="5102352"/>
            <a:ext cx="770788"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+2.5% · 22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+23.9%</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50" name="Shape 48"/>
          <p:cNvSpPr/>
          <p:nvPr/>
        </p:nvSpPr>
        <p:spPr>
          <a:xfrm>
            <a:off x="9098280" y="3127248"/>
            <a:ext cx="1244425"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+23.3%</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56" name="Shape 54"/>
          <p:cNvSpPr/>
          <p:nvPr/>
        </p:nvSpPr>
        <p:spPr>
          <a:xfrm>
            <a:off x="9098280" y="3785616"/>
            <a:ext cx="1205012"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$160.07 → $180.14</a:t>
            </a:r>
            <a:endParaRPr lang="en-US" sz="1300" dirty="0"/>
          </a:p>
        </p:txBody>
      </p:sp>
      <p:sp>
        <p:nvSpPr>
          <p:cNvPr id="61" name="Shape 59"/>
          <p:cNvSpPr/>
          <p:nvPr/>
        </p:nvSpPr>
        <p:spPr>
          <a:xfrm>
            <a:off x="9098280" y="4443984"/>
            <a:ext cx="669135"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+12.5%</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$125.74 → $139.81</a:t>
            </a:r>
            <a:endParaRPr lang="en-US" sz="1300" dirty="0"/>
          </a:p>
        </p:txBody>
      </p:sp>
      <p:sp>
        <p:nvSpPr>
          <p:cNvPr id="67" name="Shape 65"/>
          <p:cNvSpPr/>
          <p:nvPr/>
        </p:nvSpPr>
        <p:spPr>
          <a:xfrm>
            <a:off x="9098280" y="5102352"/>
            <a:ext cx="596701"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+11.1%</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Honda Spokane leads Jan–Sep; Lincoln leads the last 90 days. Five stores are top five in both.</a:t>
            </a:r>
            <a:endParaRPr lang="en-US" sz="1600" dirty="0"/>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+4.1% · 24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18" name="Shape 16"/>
          <p:cNvSpPr/>
          <p:nvPr/>
        </p:nvSpPr>
        <p:spPr>
          <a:xfrm>
            <a:off x="3383280" y="3127248"/>
            <a:ext cx="109553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+24.7%</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24" name="Shape 22"/>
          <p:cNvSpPr/>
          <p:nvPr/>
        </p:nvSpPr>
        <p:spPr>
          <a:xfrm>
            <a:off x="3383280" y="3785616"/>
            <a:ext cx="9305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+21.0%</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$179 → $212</a:t>
            </a:r>
            <a:endParaRPr lang="en-US" sz="1300" dirty="0"/>
          </a:p>
        </p:txBody>
      </p:sp>
      <p:sp>
        <p:nvSpPr>
          <p:cNvPr id="29" name="Shape 27"/>
          <p:cNvSpPr/>
          <p:nvPr/>
        </p:nvSpPr>
        <p:spPr>
          <a:xfrm>
            <a:off x="3383280" y="4443984"/>
            <a:ext cx="829801"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$238 → $280</a:t>
            </a:r>
            <a:endParaRPr lang="en-US" sz="1300" dirty="0"/>
          </a:p>
        </p:txBody>
      </p:sp>
      <p:sp>
        <p:nvSpPr>
          <p:cNvPr id="35" name="Shape 33"/>
          <p:cNvSpPr/>
          <p:nvPr/>
        </p:nvSpPr>
        <p:spPr>
          <a:xfrm>
            <a:off x="3383280" y="5102352"/>
            <a:ext cx="78160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+3.8% · 24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+40.0%</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50" name="Shape 48"/>
          <p:cNvSpPr/>
          <p:nvPr/>
        </p:nvSpPr>
        <p:spPr>
          <a:xfrm>
            <a:off x="9098280" y="3127248"/>
            <a:ext cx="919791"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+28.7%</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HENDERSON</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56" name="Shape 54"/>
          <p:cNvSpPr/>
          <p:nvPr/>
        </p:nvSpPr>
        <p:spPr>
          <a:xfrm>
            <a:off x="9098280" y="3785616"/>
            <a:ext cx="786898"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+24.6%</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$234 → $285</a:t>
            </a:r>
            <a:endParaRPr lang="en-US" sz="1300" dirty="0"/>
          </a:p>
        </p:txBody>
      </p:sp>
      <p:sp>
        <p:nvSpPr>
          <p:cNvPr id="61" name="Shape 59"/>
          <p:cNvSpPr/>
          <p:nvPr/>
        </p:nvSpPr>
        <p:spPr>
          <a:xfrm>
            <a:off x="9098280" y="4443984"/>
            <a:ext cx="69781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+21.8%</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$197 → $234</a:t>
            </a:r>
            <a:endParaRPr lang="en-US" sz="1300" dirty="0"/>
          </a:p>
        </p:txBody>
      </p:sp>
      <p:sp>
        <p:nvSpPr>
          <p:cNvPr id="67" name="Shape 65"/>
          <p:cNvSpPr/>
          <p:nvPr/>
        </p:nvSpPr>
        <p:spPr>
          <a:xfrm>
            <a:off x="9098280" y="5102352"/>
            <a:ext cx="597749"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GP %</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28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+6.1 pts</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18" name="Shape 16"/>
          <p:cNvSpPr/>
          <p:nvPr/>
        </p:nvSpPr>
        <p:spPr>
          <a:xfrm>
            <a:off x="3383280" y="3127248"/>
            <a:ext cx="943982"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 pts</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24" name="Shape 22"/>
          <p:cNvSpPr/>
          <p:nvPr/>
        </p:nvSpPr>
        <p:spPr>
          <a:xfrm>
            <a:off x="3383280" y="3785616"/>
            <a:ext cx="796646"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33.7% → 37.0%</a:t>
            </a:r>
            <a:endParaRPr lang="en-US" sz="1300" dirty="0"/>
          </a:p>
        </p:txBody>
      </p:sp>
      <p:sp>
        <p:nvSpPr>
          <p:cNvPr id="29" name="Shape 27"/>
          <p:cNvSpPr/>
          <p:nvPr/>
        </p:nvSpPr>
        <p:spPr>
          <a:xfrm>
            <a:off x="3383280" y="4443984"/>
            <a:ext cx="692935"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41.3% → 44.6%</a:t>
            </a:r>
            <a:endParaRPr lang="en-US" sz="1300" dirty="0"/>
          </a:p>
        </p:txBody>
      </p:sp>
      <p:sp>
        <p:nvSpPr>
          <p:cNvPr id="35" name="Shape 33"/>
          <p:cNvSpPr/>
          <p:nvPr/>
        </p:nvSpPr>
        <p:spPr>
          <a:xfrm>
            <a:off x="3383280" y="5102352"/>
            <a:ext cx="68768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 pts</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27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+7.7 pts</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50" name="Shape 48"/>
          <p:cNvSpPr/>
          <p:nvPr/>
        </p:nvSpPr>
        <p:spPr>
          <a:xfrm>
            <a:off x="9098280" y="3127248"/>
            <a:ext cx="686566"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 pts</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56" name="Shape 54"/>
          <p:cNvSpPr/>
          <p:nvPr/>
        </p:nvSpPr>
        <p:spPr>
          <a:xfrm>
            <a:off x="9098280" y="3785616"/>
            <a:ext cx="670906"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 pts</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34.9%</a:t>
            </a:r>
            <a:endParaRPr lang="en-US" sz="1300" dirty="0"/>
          </a:p>
        </p:txBody>
      </p:sp>
      <p:sp>
        <p:nvSpPr>
          <p:cNvPr id="61" name="Shape 59"/>
          <p:cNvSpPr/>
          <p:nvPr/>
        </p:nvSpPr>
        <p:spPr>
          <a:xfrm>
            <a:off x="9098280" y="4443984"/>
            <a:ext cx="632324"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39.3% → 42.6%</a:t>
            </a:r>
            <a:endParaRPr lang="en-US" sz="1300" dirty="0"/>
          </a:p>
        </p:txBody>
      </p:sp>
      <p:sp>
        <p:nvSpPr>
          <p:cNvPr id="67" name="Shape 65"/>
          <p:cNvSpPr/>
          <p:nvPr/>
        </p:nvSpPr>
        <p:spPr>
          <a:xfrm>
            <a:off x="9098280" y="5102352"/>
            <a:ext cx="546860"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leads both periods. Acura and Subaru Prescott are top five in both.</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2026-10-26T20:24:03Z</dcterms:created>
  <dcterms:modified xsi:type="dcterms:W3CDTF">2026-10-26T20:24:03Z</dcterms:modified>
</cp:coreProperties>
</file>