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which stand in for available hours.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available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17320"/>
            <a:ext cx="3453384" cy="2926080"/>
          </a:xfrm>
          <a:prstGeom prst="rect">
            <a:avLst/>
          </a:prstGeom>
          <a:solidFill>
            <a:srgbClr val="F7F7F7"/>
          </a:solidFill>
          <a:ln/>
        </p:spPr>
      </p:sp>
      <p:sp>
        <p:nvSpPr>
          <p:cNvPr id="7" name="Shape 5"/>
          <p:cNvSpPr/>
          <p:nvPr/>
        </p:nvSpPr>
        <p:spPr>
          <a:xfrm>
            <a:off x="713232" y="1417320"/>
            <a:ext cx="3453384" cy="64008"/>
          </a:xfrm>
          <a:prstGeom prst="rect">
            <a:avLst/>
          </a:prstGeom>
          <a:solidFill>
            <a:srgbClr val="2587C5"/>
          </a:solidFill>
          <a:ln/>
        </p:spPr>
      </p:sp>
      <p:sp>
        <p:nvSpPr>
          <p:cNvPr id="8" name="Text 6"/>
          <p:cNvSpPr txBox="1"/>
          <p:nvPr/>
        </p:nvSpPr>
        <p:spPr>
          <a:xfrm>
            <a:off x="896112" y="160020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20240"/>
            <a:ext cx="3087624" cy="685800"/>
          </a:xfrm>
          <a:prstGeom prst="rect">
            <a:avLst/>
          </a:prstGeom>
          <a:noFill/>
          <a:ln/>
        </p:spPr>
        <p:txBody>
          <a:bodyPr wrap="square" lIns="0" tIns="0" rIns="0" bIns="0" rtlCol="0" anchor="t"/>
          <a:lstStyle/>
          <a:p>
            <a:pPr indent="0" marL="0">
              <a:buNone/>
            </a:pPr>
            <a:r>
              <a:rPr lang="en-US" sz="1800" b="1" dirty="0">
                <a:solidFill>
                  <a:srgbClr val="0B2C4A"/>
                </a:solidFill>
                <a:latin typeface="Inter" pitchFamily="34" charset="0"/>
                <a:ea typeface="Inter" pitchFamily="34" charset="-122"/>
                <a:cs typeface="Inter" pitchFamily="34" charset="-120"/>
              </a:rPr>
              <a:t>Hours clocked to repair orders ÷ available hours</a:t>
            </a:r>
            <a:endParaRPr lang="en-US" sz="1800" dirty="0"/>
          </a:p>
        </p:txBody>
      </p:sp>
      <p:sp>
        <p:nvSpPr>
          <p:cNvPr id="10" name="Text 8"/>
          <p:cNvSpPr txBox="1"/>
          <p:nvPr/>
        </p:nvSpPr>
        <p:spPr>
          <a:xfrm>
            <a:off x="896112" y="2679192"/>
            <a:ext cx="3087624" cy="86868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much of the technician's available time was spent on repair orders?</a:t>
            </a:r>
            <a:endParaRPr lang="en-US" sz="1500" dirty="0"/>
          </a:p>
        </p:txBody>
      </p:sp>
      <p:sp>
        <p:nvSpPr>
          <p:cNvPr id="11" name="Shape 9"/>
          <p:cNvSpPr/>
          <p:nvPr/>
        </p:nvSpPr>
        <p:spPr>
          <a:xfrm>
            <a:off x="896112" y="3584448"/>
            <a:ext cx="3087624" cy="10973"/>
          </a:xfrm>
          <a:prstGeom prst="rect">
            <a:avLst/>
          </a:prstGeom>
          <a:solidFill>
            <a:srgbClr val="D9D9D9"/>
          </a:solidFill>
          <a:ln/>
        </p:spPr>
      </p:sp>
      <p:sp>
        <p:nvSpPr>
          <p:cNvPr id="12" name="Text 10"/>
          <p:cNvSpPr txBox="1"/>
          <p:nvPr/>
        </p:nvSpPr>
        <p:spPr>
          <a:xfrm>
            <a:off x="896112" y="3657600"/>
            <a:ext cx="3087624" cy="310896"/>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Example: 6 ÷ 8 = 75%</a:t>
            </a:r>
            <a:endParaRPr lang="en-US" sz="1600" dirty="0"/>
          </a:p>
        </p:txBody>
      </p:sp>
      <p:sp>
        <p:nvSpPr>
          <p:cNvPr id="13" name="Text 11"/>
          <p:cNvSpPr txBox="1"/>
          <p:nvPr/>
        </p:nvSpPr>
        <p:spPr>
          <a:xfrm>
            <a:off x="896112" y="3977640"/>
            <a:ext cx="3087624"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Not measured in our data</a:t>
            </a:r>
            <a:endParaRPr lang="en-US" sz="1400" dirty="0"/>
          </a:p>
        </p:txBody>
      </p:sp>
      <p:sp>
        <p:nvSpPr>
          <p:cNvPr id="14" name="Shape 12"/>
          <p:cNvSpPr/>
          <p:nvPr/>
        </p:nvSpPr>
        <p:spPr>
          <a:xfrm>
            <a:off x="4367784" y="1417320"/>
            <a:ext cx="3453384" cy="2926080"/>
          </a:xfrm>
          <a:prstGeom prst="rect">
            <a:avLst/>
          </a:prstGeom>
          <a:solidFill>
            <a:srgbClr val="F7F7F7"/>
          </a:solidFill>
          <a:ln/>
        </p:spPr>
      </p:sp>
      <p:sp>
        <p:nvSpPr>
          <p:cNvPr id="15" name="Shape 13"/>
          <p:cNvSpPr/>
          <p:nvPr/>
        </p:nvSpPr>
        <p:spPr>
          <a:xfrm>
            <a:off x="4367784" y="1417320"/>
            <a:ext cx="3453384" cy="64008"/>
          </a:xfrm>
          <a:prstGeom prst="rect">
            <a:avLst/>
          </a:prstGeom>
          <a:solidFill>
            <a:srgbClr val="2587C5"/>
          </a:solidFill>
          <a:ln/>
        </p:spPr>
      </p:sp>
      <p:sp>
        <p:nvSpPr>
          <p:cNvPr id="16" name="Text 14"/>
          <p:cNvSpPr txBox="1"/>
          <p:nvPr/>
        </p:nvSpPr>
        <p:spPr>
          <a:xfrm>
            <a:off x="4550664" y="160020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7" name="Text 15"/>
          <p:cNvSpPr txBox="1"/>
          <p:nvPr/>
        </p:nvSpPr>
        <p:spPr>
          <a:xfrm>
            <a:off x="4550664" y="1920240"/>
            <a:ext cx="3087624" cy="685800"/>
          </a:xfrm>
          <a:prstGeom prst="rect">
            <a:avLst/>
          </a:prstGeom>
          <a:noFill/>
          <a:ln/>
        </p:spPr>
        <p:txBody>
          <a:bodyPr wrap="square" lIns="0" tIns="0" rIns="0" bIns="0" rtlCol="0" anchor="t"/>
          <a:lstStyle/>
          <a:p>
            <a:pPr indent="0" marL="0">
              <a:buNone/>
            </a:pPr>
            <a:r>
              <a:rPr lang="en-US" sz="1800" b="1" dirty="0">
                <a:solidFill>
                  <a:srgbClr val="0B2C4A"/>
                </a:solidFill>
                <a:latin typeface="Inter" pitchFamily="34" charset="0"/>
                <a:ea typeface="Inter" pitchFamily="34" charset="-122"/>
                <a:cs typeface="Inter" pitchFamily="34" charset="-120"/>
              </a:rPr>
              <a:t>Hours flagged ÷ hours clocked to repair orders</a:t>
            </a:r>
            <a:endParaRPr lang="en-US" sz="1800" dirty="0"/>
          </a:p>
        </p:txBody>
      </p:sp>
      <p:sp>
        <p:nvSpPr>
          <p:cNvPr id="18" name="Text 16"/>
          <p:cNvSpPr txBox="1"/>
          <p:nvPr/>
        </p:nvSpPr>
        <p:spPr>
          <a:xfrm>
            <a:off x="4550664" y="2679192"/>
            <a:ext cx="3087624" cy="86868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500" dirty="0"/>
          </a:p>
        </p:txBody>
      </p:sp>
      <p:sp>
        <p:nvSpPr>
          <p:cNvPr id="19" name="Shape 17"/>
          <p:cNvSpPr/>
          <p:nvPr/>
        </p:nvSpPr>
        <p:spPr>
          <a:xfrm>
            <a:off x="4550664" y="3584448"/>
            <a:ext cx="3087624" cy="10973"/>
          </a:xfrm>
          <a:prstGeom prst="rect">
            <a:avLst/>
          </a:prstGeom>
          <a:solidFill>
            <a:srgbClr val="D9D9D9"/>
          </a:solidFill>
          <a:ln/>
        </p:spPr>
      </p:sp>
      <p:sp>
        <p:nvSpPr>
          <p:cNvPr id="20" name="Text 18"/>
          <p:cNvSpPr txBox="1"/>
          <p:nvPr/>
        </p:nvSpPr>
        <p:spPr>
          <a:xfrm>
            <a:off x="4550664" y="3657600"/>
            <a:ext cx="3087624" cy="310896"/>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Example: 7.5 ÷ 6 = 125%</a:t>
            </a:r>
            <a:endParaRPr lang="en-US" sz="1600" dirty="0"/>
          </a:p>
        </p:txBody>
      </p:sp>
      <p:sp>
        <p:nvSpPr>
          <p:cNvPr id="21" name="Text 19"/>
          <p:cNvSpPr txBox="1"/>
          <p:nvPr/>
        </p:nvSpPr>
        <p:spPr>
          <a:xfrm>
            <a:off x="4550664" y="3977640"/>
            <a:ext cx="3087624"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Not measured in our data</a:t>
            </a:r>
            <a:endParaRPr lang="en-US" sz="1400" dirty="0"/>
          </a:p>
        </p:txBody>
      </p:sp>
      <p:sp>
        <p:nvSpPr>
          <p:cNvPr id="22" name="Shape 20"/>
          <p:cNvSpPr/>
          <p:nvPr/>
        </p:nvSpPr>
        <p:spPr>
          <a:xfrm>
            <a:off x="8022336" y="1417320"/>
            <a:ext cx="3453384" cy="2926080"/>
          </a:xfrm>
          <a:prstGeom prst="rect">
            <a:avLst/>
          </a:prstGeom>
          <a:solidFill>
            <a:srgbClr val="F7F7F7"/>
          </a:solidFill>
          <a:ln/>
        </p:spPr>
      </p:sp>
      <p:sp>
        <p:nvSpPr>
          <p:cNvPr id="23" name="Shape 21"/>
          <p:cNvSpPr/>
          <p:nvPr/>
        </p:nvSpPr>
        <p:spPr>
          <a:xfrm>
            <a:off x="8022336" y="1417320"/>
            <a:ext cx="3453384" cy="64008"/>
          </a:xfrm>
          <a:prstGeom prst="rect">
            <a:avLst/>
          </a:prstGeom>
          <a:solidFill>
            <a:srgbClr val="2587C5"/>
          </a:solidFill>
          <a:ln/>
        </p:spPr>
      </p:sp>
      <p:sp>
        <p:nvSpPr>
          <p:cNvPr id="24" name="Text 22"/>
          <p:cNvSpPr txBox="1"/>
          <p:nvPr/>
        </p:nvSpPr>
        <p:spPr>
          <a:xfrm>
            <a:off x="8205216" y="160020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5" name="Text 23"/>
          <p:cNvSpPr txBox="1"/>
          <p:nvPr/>
        </p:nvSpPr>
        <p:spPr>
          <a:xfrm>
            <a:off x="8205216" y="1920240"/>
            <a:ext cx="3087624" cy="685800"/>
          </a:xfrm>
          <a:prstGeom prst="rect">
            <a:avLst/>
          </a:prstGeom>
          <a:noFill/>
          <a:ln/>
        </p:spPr>
        <p:txBody>
          <a:bodyPr wrap="square" lIns="0" tIns="0" rIns="0" bIns="0" rtlCol="0" anchor="t"/>
          <a:lstStyle/>
          <a:p>
            <a:pPr indent="0" marL="0">
              <a:buNone/>
            </a:pPr>
            <a:r>
              <a:rPr lang="en-US" sz="1800" b="1" dirty="0">
                <a:solidFill>
                  <a:srgbClr val="0B2C4A"/>
                </a:solidFill>
                <a:latin typeface="Inter" pitchFamily="34" charset="0"/>
                <a:ea typeface="Inter" pitchFamily="34" charset="-122"/>
                <a:cs typeface="Inter" pitchFamily="34" charset="-120"/>
              </a:rPr>
              <a:t>Hours flagged ÷ available hours</a:t>
            </a:r>
            <a:endParaRPr lang="en-US" sz="1800" dirty="0"/>
          </a:p>
        </p:txBody>
      </p:sp>
      <p:sp>
        <p:nvSpPr>
          <p:cNvPr id="26" name="Text 24"/>
          <p:cNvSpPr txBox="1"/>
          <p:nvPr/>
        </p:nvSpPr>
        <p:spPr>
          <a:xfrm>
            <a:off x="8205216" y="2679192"/>
            <a:ext cx="3087624" cy="86868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many labor hours did the technician produce compared with their total available time?</a:t>
            </a:r>
            <a:endParaRPr lang="en-US" sz="1500" dirty="0"/>
          </a:p>
        </p:txBody>
      </p:sp>
      <p:sp>
        <p:nvSpPr>
          <p:cNvPr id="27" name="Shape 25"/>
          <p:cNvSpPr/>
          <p:nvPr/>
        </p:nvSpPr>
        <p:spPr>
          <a:xfrm>
            <a:off x="8205216" y="3584448"/>
            <a:ext cx="3087624" cy="10973"/>
          </a:xfrm>
          <a:prstGeom prst="rect">
            <a:avLst/>
          </a:prstGeom>
          <a:solidFill>
            <a:srgbClr val="D9D9D9"/>
          </a:solidFill>
          <a:ln/>
        </p:spPr>
      </p:sp>
      <p:sp>
        <p:nvSpPr>
          <p:cNvPr id="28" name="Text 26"/>
          <p:cNvSpPr txBox="1"/>
          <p:nvPr/>
        </p:nvSpPr>
        <p:spPr>
          <a:xfrm>
            <a:off x="8205216" y="3657600"/>
            <a:ext cx="3087624" cy="310896"/>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Example: 7.5 ÷ 8 = 93.75%</a:t>
            </a:r>
            <a:endParaRPr lang="en-US" sz="1600" dirty="0"/>
          </a:p>
        </p:txBody>
      </p:sp>
      <p:sp>
        <p:nvSpPr>
          <p:cNvPr id="29" name="Text 27"/>
          <p:cNvSpPr txBox="1"/>
          <p:nvPr/>
        </p:nvSpPr>
        <p:spPr>
          <a:xfrm>
            <a:off x="8205216" y="3977640"/>
            <a:ext cx="3087624"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Target 85% · group 94.7%</a:t>
            </a:r>
            <a:endParaRPr lang="en-US" sz="1400" dirty="0"/>
          </a:p>
        </p:txBody>
      </p:sp>
      <p:sp>
        <p:nvSpPr>
          <p:cNvPr id="30" name="Shape 28"/>
          <p:cNvSpPr/>
          <p:nvPr/>
        </p:nvSpPr>
        <p:spPr>
          <a:xfrm>
            <a:off x="713232" y="4526280"/>
            <a:ext cx="10762488" cy="1097280"/>
          </a:xfrm>
          <a:prstGeom prst="rect">
            <a:avLst/>
          </a:prstGeom>
          <a:solidFill>
            <a:srgbClr val="EDF4FA"/>
          </a:solidFill>
          <a:ln/>
        </p:spPr>
      </p:sp>
      <p:sp>
        <p:nvSpPr>
          <p:cNvPr id="31" name="Text 29"/>
          <p:cNvSpPr txBox="1"/>
          <p:nvPr/>
        </p:nvSpPr>
        <p:spPr>
          <a:xfrm>
            <a:off x="896112" y="4654296"/>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ILLUSTRATIVE EXAMPLE</a:t>
            </a:r>
            <a:endParaRPr lang="en-US" sz="1400" dirty="0"/>
          </a:p>
        </p:txBody>
      </p:sp>
      <p:sp>
        <p:nvSpPr>
          <p:cNvPr id="32" name="Text 30"/>
          <p:cNvSpPr txBox="1"/>
          <p:nvPr/>
        </p:nvSpPr>
        <p:spPr>
          <a:xfrm>
            <a:off x="896112" y="4946904"/>
            <a:ext cx="10396728" cy="292608"/>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A technician has 8 available hours, clocks 6 hours to repair orders and flags 7.5 hours.</a:t>
            </a:r>
            <a:endParaRPr lang="en-US" sz="1600" dirty="0"/>
          </a:p>
        </p:txBody>
      </p:sp>
      <p:sp>
        <p:nvSpPr>
          <p:cNvPr id="33" name="Text 31"/>
          <p:cNvSpPr txBox="1"/>
          <p:nvPr/>
        </p:nvSpPr>
        <p:spPr>
          <a:xfrm>
            <a:off x="896112" y="5257800"/>
            <a:ext cx="10396728" cy="292608"/>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Productivity × efficiency = proficiency:  75% × 125% = 93.75%</a:t>
            </a:r>
            <a:endParaRPr lang="en-US" sz="1600" dirty="0"/>
          </a:p>
        </p:txBody>
      </p:sp>
      <p:sp>
        <p:nvSpPr>
          <p:cNvPr id="34" name="Shape 32"/>
          <p:cNvSpPr/>
          <p:nvPr/>
        </p:nvSpPr>
        <p:spPr>
          <a:xfrm>
            <a:off x="457200" y="6126480"/>
            <a:ext cx="11274552" cy="615696"/>
          </a:xfrm>
          <a:prstGeom prst="rect">
            <a:avLst/>
          </a:prstGeom>
          <a:solidFill>
            <a:srgbClr val="EDF4FA"/>
          </a:solidFill>
          <a:ln/>
        </p:spPr>
      </p:sp>
      <p:sp>
        <p:nvSpPr>
          <p:cNvPr id="35" name="Text 3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Productivity measures time spent on repair orders; efficiency measures hours flagged against time on repair orders; proficiency measures total hours flagged against available time.</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