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260" r:id="rId6"/>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261" r:id="rId7"/>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262" r:id="rId8"/>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263" r:id="rId9"/>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82</c:v>
                </c:pt>
                <c:pt idx="1">
                  <c:v>82</c:v>
                </c:pt>
                <c:pt idx="2">
                  <c:v>82</c:v>
                </c:pt>
                <c:pt idx="3">
                  <c:v>82</c:v>
                </c:pt>
                <c:pt idx="4">
                  <c:v>82</c:v>
                </c:pt>
                <c:pt idx="5">
                  <c:v>82</c:v>
                </c:pt>
                <c:pt idx="6">
                  <c:v>82</c:v>
                </c:pt>
                <c:pt idx="7">
                  <c:v>82</c:v>
                </c:pt>
                <c:pt idx="8">
                  <c:v>82</c:v>
                </c:pt>
                <c:pt idx="9">
                  <c:v>82</c:v>
                </c:pt>
                <c:pt idx="10">
                  <c:v>82</c:v>
                </c:pt>
                <c:pt idx="11">
                  <c:v>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A green cell with a dot only: the combined record came without a service or parts record that month.Records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 Fixed Expenses line by account class, every department of the store; categories reconcile to the line to the cent ($242,850,782).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$50.19M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$32.05M.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GROUP MONTH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Jul 2026</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$22.73M of fixed gross across the group, the most in any month on file.</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BROKE IT, THEN BROKE IT AGAIN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beat it again later in the year.</a:t>
            </a:r>
            <a:endParaRPr lang="en-US" sz="1500" dirty="0"/>
          </a:p>
        </p:txBody>
      </p:sp>
      <p:sp>
        <p:nvSpPr>
          <p:cNvPr id="26" name="Shape 24"/>
          <p:cNvSpPr/>
          <p:nvPr/>
        </p:nvSpPr>
        <p:spPr>
          <a:xfrm>
            <a:off x="457200" y="6126480"/>
            <a:ext cx="11274552" cy="348996"/>
          </a:xfrm>
          <a:prstGeom prst="rect">
            <a:avLst/>
          </a:prstGeom>
          <a:solidFill>
            <a:srgbClr val="E6F6EE"/>
          </a:solidFill>
          <a:ln/>
        </p:spPr>
      </p:sp>
      <p:sp>
        <p:nvSpPr>
          <p:cNvPr id="27" name="Text 2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 Months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298448"/>
            <a:ext cx="10515600" cy="21945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 = service record   P = parts record   green cell = best combined month ever</a:t>
            </a:r>
            <a:endParaRPr lang="en-US" sz="1400" dirty="0"/>
          </a:p>
        </p:txBody>
      </p:sp>
      <p:sp>
        <p:nvSpPr>
          <p:cNvPr id="7" name="Text 5"/>
          <p:cNvSpPr txBox="1"/>
          <p:nvPr/>
        </p:nvSpPr>
        <p:spPr>
          <a:xfrm>
            <a:off x="2944368"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JAN</a:t>
            </a:r>
            <a:endParaRPr lang="en-US" sz="1400" dirty="0"/>
          </a:p>
        </p:txBody>
      </p:sp>
      <p:sp>
        <p:nvSpPr>
          <p:cNvPr id="8" name="Text 6"/>
          <p:cNvSpPr txBox="1"/>
          <p:nvPr/>
        </p:nvSpPr>
        <p:spPr>
          <a:xfrm>
            <a:off x="3840480"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FEB</a:t>
            </a:r>
            <a:endParaRPr lang="en-US" sz="1400" dirty="0"/>
          </a:p>
        </p:txBody>
      </p:sp>
      <p:sp>
        <p:nvSpPr>
          <p:cNvPr id="9" name="Text 7"/>
          <p:cNvSpPr txBox="1"/>
          <p:nvPr/>
        </p:nvSpPr>
        <p:spPr>
          <a:xfrm>
            <a:off x="4736592"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MAR</a:t>
            </a:r>
            <a:endParaRPr lang="en-US" sz="1400" dirty="0"/>
          </a:p>
        </p:txBody>
      </p:sp>
      <p:sp>
        <p:nvSpPr>
          <p:cNvPr id="10" name="Text 8"/>
          <p:cNvSpPr txBox="1"/>
          <p:nvPr/>
        </p:nvSpPr>
        <p:spPr>
          <a:xfrm>
            <a:off x="5632704"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APR</a:t>
            </a:r>
            <a:endParaRPr lang="en-US" sz="1400" dirty="0"/>
          </a:p>
        </p:txBody>
      </p:sp>
      <p:sp>
        <p:nvSpPr>
          <p:cNvPr id="11" name="Text 9"/>
          <p:cNvSpPr txBox="1"/>
          <p:nvPr/>
        </p:nvSpPr>
        <p:spPr>
          <a:xfrm>
            <a:off x="6528816"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MAY</a:t>
            </a:r>
            <a:endParaRPr lang="en-US" sz="1400" dirty="0"/>
          </a:p>
        </p:txBody>
      </p:sp>
      <p:sp>
        <p:nvSpPr>
          <p:cNvPr id="12" name="Text 10"/>
          <p:cNvSpPr txBox="1"/>
          <p:nvPr/>
        </p:nvSpPr>
        <p:spPr>
          <a:xfrm>
            <a:off x="7424928"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JUN</a:t>
            </a:r>
            <a:endParaRPr lang="en-US" sz="1400" dirty="0"/>
          </a:p>
        </p:txBody>
      </p:sp>
      <p:sp>
        <p:nvSpPr>
          <p:cNvPr id="13" name="Text 11"/>
          <p:cNvSpPr txBox="1"/>
          <p:nvPr/>
        </p:nvSpPr>
        <p:spPr>
          <a:xfrm>
            <a:off x="8321040"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JUL</a:t>
            </a:r>
            <a:endParaRPr lang="en-US" sz="1400" dirty="0"/>
          </a:p>
        </p:txBody>
      </p:sp>
      <p:sp>
        <p:nvSpPr>
          <p:cNvPr id="14" name="Text 12"/>
          <p:cNvSpPr txBox="1"/>
          <p:nvPr/>
        </p:nvSpPr>
        <p:spPr>
          <a:xfrm>
            <a:off x="9217152"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AUG</a:t>
            </a:r>
            <a:endParaRPr lang="en-US" sz="1400" dirty="0"/>
          </a:p>
        </p:txBody>
      </p:sp>
      <p:sp>
        <p:nvSpPr>
          <p:cNvPr id="15" name="Text 13"/>
          <p:cNvSpPr txBox="1"/>
          <p:nvPr/>
        </p:nvSpPr>
        <p:spPr>
          <a:xfrm>
            <a:off x="10113264"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SEP</a:t>
            </a:r>
            <a:endParaRPr lang="en-US" sz="1400" dirty="0"/>
          </a:p>
        </p:txBody>
      </p:sp>
      <p:sp>
        <p:nvSpPr>
          <p:cNvPr id="16" name="Shape 14"/>
          <p:cNvSpPr/>
          <p:nvPr/>
        </p:nvSpPr>
        <p:spPr>
          <a:xfrm>
            <a:off x="585216" y="1773936"/>
            <a:ext cx="10424160" cy="179302"/>
          </a:xfrm>
          <a:prstGeom prst="rect">
            <a:avLst/>
          </a:prstGeom>
          <a:solidFill>
            <a:srgbClr val="F7F7F7"/>
          </a:solidFill>
          <a:ln/>
        </p:spPr>
      </p:sp>
      <p:sp>
        <p:nvSpPr>
          <p:cNvPr id="17" name="Text 15"/>
          <p:cNvSpPr txBox="1"/>
          <p:nvPr/>
        </p:nvSpPr>
        <p:spPr>
          <a:xfrm>
            <a:off x="658368" y="177393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8" name="Shape 16"/>
          <p:cNvSpPr/>
          <p:nvPr/>
        </p:nvSpPr>
        <p:spPr>
          <a:xfrm>
            <a:off x="5705856" y="1787652"/>
            <a:ext cx="749808" cy="151870"/>
          </a:xfrm>
          <a:prstGeom prst="rect">
            <a:avLst/>
          </a:prstGeom>
          <a:solidFill>
            <a:srgbClr val="E6F6EE"/>
          </a:solidFill>
          <a:ln w="9525">
            <a:solidFill>
              <a:srgbClr val="12A566"/>
            </a:solidFill>
            <a:prstDash val="solid"/>
          </a:ln>
        </p:spPr>
      </p:sp>
      <p:sp>
        <p:nvSpPr>
          <p:cNvPr id="19" name="Text 17"/>
          <p:cNvSpPr txBox="1"/>
          <p:nvPr/>
        </p:nvSpPr>
        <p:spPr>
          <a:xfrm>
            <a:off x="5632704"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0" name="Shape 18"/>
          <p:cNvSpPr/>
          <p:nvPr/>
        </p:nvSpPr>
        <p:spPr>
          <a:xfrm>
            <a:off x="7498080" y="1787652"/>
            <a:ext cx="749808" cy="151870"/>
          </a:xfrm>
          <a:prstGeom prst="rect">
            <a:avLst/>
          </a:prstGeom>
          <a:solidFill>
            <a:srgbClr val="E6F6EE"/>
          </a:solidFill>
          <a:ln w="9525">
            <a:solidFill>
              <a:srgbClr val="12A566"/>
            </a:solidFill>
            <a:prstDash val="solid"/>
          </a:ln>
        </p:spPr>
      </p:sp>
      <p:sp>
        <p:nvSpPr>
          <p:cNvPr id="21" name="Text 19"/>
          <p:cNvSpPr txBox="1"/>
          <p:nvPr/>
        </p:nvSpPr>
        <p:spPr>
          <a:xfrm>
            <a:off x="7424928"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22" name="Shape 20"/>
          <p:cNvSpPr/>
          <p:nvPr/>
        </p:nvSpPr>
        <p:spPr>
          <a:xfrm>
            <a:off x="8394192" y="1787652"/>
            <a:ext cx="749808" cy="151870"/>
          </a:xfrm>
          <a:prstGeom prst="rect">
            <a:avLst/>
          </a:prstGeom>
          <a:solidFill>
            <a:srgbClr val="E6F6EE"/>
          </a:solidFill>
          <a:ln w="9525">
            <a:solidFill>
              <a:srgbClr val="12A566"/>
            </a:solidFill>
            <a:prstDash val="solid"/>
          </a:ln>
        </p:spPr>
      </p:sp>
      <p:sp>
        <p:nvSpPr>
          <p:cNvPr id="23" name="Text 21"/>
          <p:cNvSpPr txBox="1"/>
          <p:nvPr/>
        </p:nvSpPr>
        <p:spPr>
          <a:xfrm>
            <a:off x="8321040"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4" name="Text 22"/>
          <p:cNvSpPr txBox="1"/>
          <p:nvPr/>
        </p:nvSpPr>
        <p:spPr>
          <a:xfrm>
            <a:off x="9217152" y="1773936"/>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25" name="Text 23"/>
          <p:cNvSpPr txBox="1"/>
          <p:nvPr/>
        </p:nvSpPr>
        <p:spPr>
          <a:xfrm>
            <a:off x="10113264" y="1773936"/>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26" name="Text 24"/>
          <p:cNvSpPr txBox="1"/>
          <p:nvPr/>
        </p:nvSpPr>
        <p:spPr>
          <a:xfrm>
            <a:off x="658368" y="1953238"/>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7" name="Shape 25"/>
          <p:cNvSpPr/>
          <p:nvPr/>
        </p:nvSpPr>
        <p:spPr>
          <a:xfrm>
            <a:off x="4809744" y="1966954"/>
            <a:ext cx="749808" cy="151870"/>
          </a:xfrm>
          <a:prstGeom prst="rect">
            <a:avLst/>
          </a:prstGeom>
          <a:solidFill>
            <a:srgbClr val="E6F6EE"/>
          </a:solidFill>
          <a:ln w="9525">
            <a:solidFill>
              <a:srgbClr val="12A566"/>
            </a:solidFill>
            <a:prstDash val="solid"/>
          </a:ln>
        </p:spPr>
      </p:sp>
      <p:sp>
        <p:nvSpPr>
          <p:cNvPr id="28" name="Text 26"/>
          <p:cNvSpPr txBox="1"/>
          <p:nvPr/>
        </p:nvSpPr>
        <p:spPr>
          <a:xfrm>
            <a:off x="4736592"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9" name="Shape 27"/>
          <p:cNvSpPr/>
          <p:nvPr/>
        </p:nvSpPr>
        <p:spPr>
          <a:xfrm>
            <a:off x="5705856" y="1966954"/>
            <a:ext cx="749808" cy="151870"/>
          </a:xfrm>
          <a:prstGeom prst="rect">
            <a:avLst/>
          </a:prstGeom>
          <a:solidFill>
            <a:srgbClr val="E6F6EE"/>
          </a:solidFill>
          <a:ln w="9525">
            <a:solidFill>
              <a:srgbClr val="12A566"/>
            </a:solidFill>
            <a:prstDash val="solid"/>
          </a:ln>
        </p:spPr>
      </p:sp>
      <p:sp>
        <p:nvSpPr>
          <p:cNvPr id="30" name="Text 28"/>
          <p:cNvSpPr txBox="1"/>
          <p:nvPr/>
        </p:nvSpPr>
        <p:spPr>
          <a:xfrm>
            <a:off x="5632704"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1" name="Shape 29"/>
          <p:cNvSpPr/>
          <p:nvPr/>
        </p:nvSpPr>
        <p:spPr>
          <a:xfrm>
            <a:off x="7498080" y="1966954"/>
            <a:ext cx="749808" cy="151870"/>
          </a:xfrm>
          <a:prstGeom prst="rect">
            <a:avLst/>
          </a:prstGeom>
          <a:solidFill>
            <a:srgbClr val="E6F6EE"/>
          </a:solidFill>
          <a:ln w="9525">
            <a:solidFill>
              <a:srgbClr val="12A566"/>
            </a:solidFill>
            <a:prstDash val="solid"/>
          </a:ln>
        </p:spPr>
      </p:sp>
      <p:sp>
        <p:nvSpPr>
          <p:cNvPr id="32" name="Text 30"/>
          <p:cNvSpPr txBox="1"/>
          <p:nvPr/>
        </p:nvSpPr>
        <p:spPr>
          <a:xfrm>
            <a:off x="7424928"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3" name="Shape 31"/>
          <p:cNvSpPr/>
          <p:nvPr/>
        </p:nvSpPr>
        <p:spPr>
          <a:xfrm>
            <a:off x="8394192" y="1966954"/>
            <a:ext cx="749808" cy="151870"/>
          </a:xfrm>
          <a:prstGeom prst="rect">
            <a:avLst/>
          </a:prstGeom>
          <a:solidFill>
            <a:srgbClr val="E6F6EE"/>
          </a:solidFill>
          <a:ln w="9525">
            <a:solidFill>
              <a:srgbClr val="12A566"/>
            </a:solidFill>
            <a:prstDash val="solid"/>
          </a:ln>
        </p:spPr>
      </p:sp>
      <p:sp>
        <p:nvSpPr>
          <p:cNvPr id="34" name="Text 32"/>
          <p:cNvSpPr txBox="1"/>
          <p:nvPr/>
        </p:nvSpPr>
        <p:spPr>
          <a:xfrm>
            <a:off x="8321040"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35" name="Shape 33"/>
          <p:cNvSpPr/>
          <p:nvPr/>
        </p:nvSpPr>
        <p:spPr>
          <a:xfrm>
            <a:off x="585216" y="2132540"/>
            <a:ext cx="10424160" cy="179302"/>
          </a:xfrm>
          <a:prstGeom prst="rect">
            <a:avLst/>
          </a:prstGeom>
          <a:solidFill>
            <a:srgbClr val="F7F7F7"/>
          </a:solidFill>
          <a:ln/>
        </p:spPr>
      </p:sp>
      <p:sp>
        <p:nvSpPr>
          <p:cNvPr id="36" name="Text 34"/>
          <p:cNvSpPr txBox="1"/>
          <p:nvPr/>
        </p:nvSpPr>
        <p:spPr>
          <a:xfrm>
            <a:off x="658368" y="2132540"/>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4809744" y="2146256"/>
            <a:ext cx="749808" cy="151870"/>
          </a:xfrm>
          <a:prstGeom prst="rect">
            <a:avLst/>
          </a:prstGeom>
          <a:solidFill>
            <a:srgbClr val="E6F6EE"/>
          </a:solidFill>
          <a:ln w="9525">
            <a:solidFill>
              <a:srgbClr val="12A566"/>
            </a:solidFill>
            <a:prstDash val="solid"/>
          </a:ln>
        </p:spPr>
      </p:sp>
      <p:sp>
        <p:nvSpPr>
          <p:cNvPr id="38" name="Text 36"/>
          <p:cNvSpPr txBox="1"/>
          <p:nvPr/>
        </p:nvSpPr>
        <p:spPr>
          <a:xfrm>
            <a:off x="4736592"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9" name="Shape 37"/>
          <p:cNvSpPr/>
          <p:nvPr/>
        </p:nvSpPr>
        <p:spPr>
          <a:xfrm>
            <a:off x="7498080" y="2146256"/>
            <a:ext cx="749808" cy="151870"/>
          </a:xfrm>
          <a:prstGeom prst="rect">
            <a:avLst/>
          </a:prstGeom>
          <a:solidFill>
            <a:srgbClr val="E6F6EE"/>
          </a:solidFill>
          <a:ln w="9525">
            <a:solidFill>
              <a:srgbClr val="12A566"/>
            </a:solidFill>
            <a:prstDash val="solid"/>
          </a:ln>
        </p:spPr>
      </p:sp>
      <p:sp>
        <p:nvSpPr>
          <p:cNvPr id="40" name="Text 38"/>
          <p:cNvSpPr txBox="1"/>
          <p:nvPr/>
        </p:nvSpPr>
        <p:spPr>
          <a:xfrm>
            <a:off x="7424928"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41" name="Shape 39"/>
          <p:cNvSpPr/>
          <p:nvPr/>
        </p:nvSpPr>
        <p:spPr>
          <a:xfrm>
            <a:off x="8394192" y="2146256"/>
            <a:ext cx="749808" cy="151870"/>
          </a:xfrm>
          <a:prstGeom prst="rect">
            <a:avLst/>
          </a:prstGeom>
          <a:solidFill>
            <a:srgbClr val="E6F6EE"/>
          </a:solidFill>
          <a:ln w="9525">
            <a:solidFill>
              <a:srgbClr val="12A566"/>
            </a:solidFill>
            <a:prstDash val="solid"/>
          </a:ln>
        </p:spPr>
      </p:sp>
      <p:sp>
        <p:nvSpPr>
          <p:cNvPr id="42" name="Text 40"/>
          <p:cNvSpPr txBox="1"/>
          <p:nvPr/>
        </p:nvSpPr>
        <p:spPr>
          <a:xfrm>
            <a:off x="8321040"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43" name="Shape 41"/>
          <p:cNvSpPr/>
          <p:nvPr/>
        </p:nvSpPr>
        <p:spPr>
          <a:xfrm>
            <a:off x="10186416" y="2146256"/>
            <a:ext cx="749808" cy="151870"/>
          </a:xfrm>
          <a:prstGeom prst="rect">
            <a:avLst/>
          </a:prstGeom>
          <a:solidFill>
            <a:srgbClr val="E6F6EE"/>
          </a:solidFill>
          <a:ln w="9525">
            <a:solidFill>
              <a:srgbClr val="12A566"/>
            </a:solidFill>
            <a:prstDash val="solid"/>
          </a:ln>
        </p:spPr>
      </p:sp>
      <p:sp>
        <p:nvSpPr>
          <p:cNvPr id="44" name="Text 42"/>
          <p:cNvSpPr txBox="1"/>
          <p:nvPr/>
        </p:nvSpPr>
        <p:spPr>
          <a:xfrm>
            <a:off x="10113264"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45" name="Text 43"/>
          <p:cNvSpPr txBox="1"/>
          <p:nvPr/>
        </p:nvSpPr>
        <p:spPr>
          <a:xfrm>
            <a:off x="658368" y="2311842"/>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6" name="Text 44"/>
          <p:cNvSpPr txBox="1"/>
          <p:nvPr/>
        </p:nvSpPr>
        <p:spPr>
          <a:xfrm>
            <a:off x="2944368" y="2311842"/>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47" name="Shape 45"/>
          <p:cNvSpPr/>
          <p:nvPr/>
        </p:nvSpPr>
        <p:spPr>
          <a:xfrm>
            <a:off x="4809744" y="2325558"/>
            <a:ext cx="749808" cy="151870"/>
          </a:xfrm>
          <a:prstGeom prst="rect">
            <a:avLst/>
          </a:prstGeom>
          <a:solidFill>
            <a:srgbClr val="E6F6EE"/>
          </a:solidFill>
          <a:ln w="9525">
            <a:solidFill>
              <a:srgbClr val="12A566"/>
            </a:solidFill>
            <a:prstDash val="solid"/>
          </a:ln>
        </p:spPr>
      </p:sp>
      <p:sp>
        <p:nvSpPr>
          <p:cNvPr id="48" name="Text 46"/>
          <p:cNvSpPr txBox="1"/>
          <p:nvPr/>
        </p:nvSpPr>
        <p:spPr>
          <a:xfrm>
            <a:off x="4736592" y="231184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49" name="Text 47"/>
          <p:cNvSpPr txBox="1"/>
          <p:nvPr/>
        </p:nvSpPr>
        <p:spPr>
          <a:xfrm>
            <a:off x="5632704" y="2311842"/>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50" name="Shape 48"/>
          <p:cNvSpPr/>
          <p:nvPr/>
        </p:nvSpPr>
        <p:spPr>
          <a:xfrm>
            <a:off x="7498080" y="2325558"/>
            <a:ext cx="749808" cy="151870"/>
          </a:xfrm>
          <a:prstGeom prst="rect">
            <a:avLst/>
          </a:prstGeom>
          <a:solidFill>
            <a:srgbClr val="E6F6EE"/>
          </a:solidFill>
          <a:ln w="9525">
            <a:solidFill>
              <a:srgbClr val="12A566"/>
            </a:solidFill>
            <a:prstDash val="solid"/>
          </a:ln>
        </p:spPr>
      </p:sp>
      <p:sp>
        <p:nvSpPr>
          <p:cNvPr id="51" name="Text 49"/>
          <p:cNvSpPr txBox="1"/>
          <p:nvPr/>
        </p:nvSpPr>
        <p:spPr>
          <a:xfrm>
            <a:off x="7424928" y="231184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52" name="Shape 50"/>
          <p:cNvSpPr/>
          <p:nvPr/>
        </p:nvSpPr>
        <p:spPr>
          <a:xfrm>
            <a:off x="585216" y="2491144"/>
            <a:ext cx="10424160" cy="179302"/>
          </a:xfrm>
          <a:prstGeom prst="rect">
            <a:avLst/>
          </a:prstGeom>
          <a:solidFill>
            <a:srgbClr val="F7F7F7"/>
          </a:solidFill>
          <a:ln/>
        </p:spPr>
      </p:sp>
      <p:sp>
        <p:nvSpPr>
          <p:cNvPr id="53" name="Text 51"/>
          <p:cNvSpPr txBox="1"/>
          <p:nvPr/>
        </p:nvSpPr>
        <p:spPr>
          <a:xfrm>
            <a:off x="658368" y="2491144"/>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4" name="Text 52"/>
          <p:cNvSpPr txBox="1"/>
          <p:nvPr/>
        </p:nvSpPr>
        <p:spPr>
          <a:xfrm>
            <a:off x="2944368"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5" name="Text 53"/>
          <p:cNvSpPr txBox="1"/>
          <p:nvPr/>
        </p:nvSpPr>
        <p:spPr>
          <a:xfrm>
            <a:off x="4736592"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6" name="Text 54"/>
          <p:cNvSpPr txBox="1"/>
          <p:nvPr/>
        </p:nvSpPr>
        <p:spPr>
          <a:xfrm>
            <a:off x="8321040"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7" name="Text 55"/>
          <p:cNvSpPr txBox="1"/>
          <p:nvPr/>
        </p:nvSpPr>
        <p:spPr>
          <a:xfrm>
            <a:off x="10113264"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8" name="Text 56"/>
          <p:cNvSpPr txBox="1"/>
          <p:nvPr/>
        </p:nvSpPr>
        <p:spPr>
          <a:xfrm>
            <a:off x="658368" y="267044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9" name="Shape 57"/>
          <p:cNvSpPr/>
          <p:nvPr/>
        </p:nvSpPr>
        <p:spPr>
          <a:xfrm>
            <a:off x="4809744" y="2684162"/>
            <a:ext cx="749808" cy="151870"/>
          </a:xfrm>
          <a:prstGeom prst="rect">
            <a:avLst/>
          </a:prstGeom>
          <a:solidFill>
            <a:srgbClr val="E6F6EE"/>
          </a:solidFill>
          <a:ln w="9525">
            <a:solidFill>
              <a:srgbClr val="12A566"/>
            </a:solidFill>
            <a:prstDash val="solid"/>
          </a:ln>
        </p:spPr>
      </p:sp>
      <p:sp>
        <p:nvSpPr>
          <p:cNvPr id="60" name="Text 58"/>
          <p:cNvSpPr txBox="1"/>
          <p:nvPr/>
        </p:nvSpPr>
        <p:spPr>
          <a:xfrm>
            <a:off x="4736592"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61" name="Shape 59"/>
          <p:cNvSpPr/>
          <p:nvPr/>
        </p:nvSpPr>
        <p:spPr>
          <a:xfrm>
            <a:off x="7498080" y="2684162"/>
            <a:ext cx="749808" cy="151870"/>
          </a:xfrm>
          <a:prstGeom prst="rect">
            <a:avLst/>
          </a:prstGeom>
          <a:solidFill>
            <a:srgbClr val="E6F6EE"/>
          </a:solidFill>
          <a:ln w="9525">
            <a:solidFill>
              <a:srgbClr val="12A566"/>
            </a:solidFill>
            <a:prstDash val="solid"/>
          </a:ln>
        </p:spPr>
      </p:sp>
      <p:sp>
        <p:nvSpPr>
          <p:cNvPr id="62" name="Text 60"/>
          <p:cNvSpPr txBox="1"/>
          <p:nvPr/>
        </p:nvSpPr>
        <p:spPr>
          <a:xfrm>
            <a:off x="7424928"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63" name="Shape 61"/>
          <p:cNvSpPr/>
          <p:nvPr/>
        </p:nvSpPr>
        <p:spPr>
          <a:xfrm>
            <a:off x="8394192" y="2684162"/>
            <a:ext cx="749808" cy="151870"/>
          </a:xfrm>
          <a:prstGeom prst="rect">
            <a:avLst/>
          </a:prstGeom>
          <a:solidFill>
            <a:srgbClr val="E6F6EE"/>
          </a:solidFill>
          <a:ln w="9525">
            <a:solidFill>
              <a:srgbClr val="12A566"/>
            </a:solidFill>
            <a:prstDash val="solid"/>
          </a:ln>
        </p:spPr>
      </p:sp>
      <p:sp>
        <p:nvSpPr>
          <p:cNvPr id="64" name="Text 62"/>
          <p:cNvSpPr txBox="1"/>
          <p:nvPr/>
        </p:nvSpPr>
        <p:spPr>
          <a:xfrm>
            <a:off x="8321040"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65" name="Shape 63"/>
          <p:cNvSpPr/>
          <p:nvPr/>
        </p:nvSpPr>
        <p:spPr>
          <a:xfrm>
            <a:off x="585216" y="2849747"/>
            <a:ext cx="10424160" cy="179302"/>
          </a:xfrm>
          <a:prstGeom prst="rect">
            <a:avLst/>
          </a:prstGeom>
          <a:solidFill>
            <a:srgbClr val="F7F7F7"/>
          </a:solidFill>
          <a:ln/>
        </p:spPr>
      </p:sp>
      <p:sp>
        <p:nvSpPr>
          <p:cNvPr id="66" name="Text 64"/>
          <p:cNvSpPr txBox="1"/>
          <p:nvPr/>
        </p:nvSpPr>
        <p:spPr>
          <a:xfrm>
            <a:off x="658368" y="284974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7" name="Shape 65"/>
          <p:cNvSpPr/>
          <p:nvPr/>
        </p:nvSpPr>
        <p:spPr>
          <a:xfrm>
            <a:off x="3913632" y="2863463"/>
            <a:ext cx="749808" cy="151870"/>
          </a:xfrm>
          <a:prstGeom prst="rect">
            <a:avLst/>
          </a:prstGeom>
          <a:solidFill>
            <a:srgbClr val="E6F6EE"/>
          </a:solidFill>
          <a:ln w="9525">
            <a:solidFill>
              <a:srgbClr val="12A566"/>
            </a:solidFill>
            <a:prstDash val="solid"/>
          </a:ln>
        </p:spPr>
      </p:sp>
      <p:sp>
        <p:nvSpPr>
          <p:cNvPr id="68" name="Text 66"/>
          <p:cNvSpPr txBox="1"/>
          <p:nvPr/>
        </p:nvSpPr>
        <p:spPr>
          <a:xfrm>
            <a:off x="3840480"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69" name="Shape 67"/>
          <p:cNvSpPr/>
          <p:nvPr/>
        </p:nvSpPr>
        <p:spPr>
          <a:xfrm>
            <a:off x="4809744" y="2863463"/>
            <a:ext cx="749808" cy="151870"/>
          </a:xfrm>
          <a:prstGeom prst="rect">
            <a:avLst/>
          </a:prstGeom>
          <a:solidFill>
            <a:srgbClr val="E6F6EE"/>
          </a:solidFill>
          <a:ln w="9525">
            <a:solidFill>
              <a:srgbClr val="12A566"/>
            </a:solidFill>
            <a:prstDash val="solid"/>
          </a:ln>
        </p:spPr>
      </p:sp>
      <p:sp>
        <p:nvSpPr>
          <p:cNvPr id="70" name="Text 68"/>
          <p:cNvSpPr txBox="1"/>
          <p:nvPr/>
        </p:nvSpPr>
        <p:spPr>
          <a:xfrm>
            <a:off x="4736592"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1" name="Shape 69"/>
          <p:cNvSpPr/>
          <p:nvPr/>
        </p:nvSpPr>
        <p:spPr>
          <a:xfrm>
            <a:off x="8394192" y="2863463"/>
            <a:ext cx="749808" cy="151870"/>
          </a:xfrm>
          <a:prstGeom prst="rect">
            <a:avLst/>
          </a:prstGeom>
          <a:solidFill>
            <a:srgbClr val="E6F6EE"/>
          </a:solidFill>
          <a:ln w="9525">
            <a:solidFill>
              <a:srgbClr val="12A566"/>
            </a:solidFill>
            <a:prstDash val="solid"/>
          </a:ln>
        </p:spPr>
      </p:sp>
      <p:sp>
        <p:nvSpPr>
          <p:cNvPr id="72" name="Text 70"/>
          <p:cNvSpPr txBox="1"/>
          <p:nvPr/>
        </p:nvSpPr>
        <p:spPr>
          <a:xfrm>
            <a:off x="8321040"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3" name="Text 71"/>
          <p:cNvSpPr txBox="1"/>
          <p:nvPr/>
        </p:nvSpPr>
        <p:spPr>
          <a:xfrm>
            <a:off x="658368" y="302904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4" name="Shape 72"/>
          <p:cNvSpPr/>
          <p:nvPr/>
        </p:nvSpPr>
        <p:spPr>
          <a:xfrm>
            <a:off x="4809744" y="3042765"/>
            <a:ext cx="749808" cy="151870"/>
          </a:xfrm>
          <a:prstGeom prst="rect">
            <a:avLst/>
          </a:prstGeom>
          <a:solidFill>
            <a:srgbClr val="E6F6EE"/>
          </a:solidFill>
          <a:ln w="9525">
            <a:solidFill>
              <a:srgbClr val="12A566"/>
            </a:solidFill>
            <a:prstDash val="solid"/>
          </a:ln>
        </p:spPr>
      </p:sp>
      <p:sp>
        <p:nvSpPr>
          <p:cNvPr id="75" name="Text 73"/>
          <p:cNvSpPr txBox="1"/>
          <p:nvPr/>
        </p:nvSpPr>
        <p:spPr>
          <a:xfrm>
            <a:off x="4736592"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76" name="Shape 74"/>
          <p:cNvSpPr/>
          <p:nvPr/>
        </p:nvSpPr>
        <p:spPr>
          <a:xfrm>
            <a:off x="9290304" y="3042765"/>
            <a:ext cx="749808" cy="151870"/>
          </a:xfrm>
          <a:prstGeom prst="rect">
            <a:avLst/>
          </a:prstGeom>
          <a:solidFill>
            <a:srgbClr val="E6F6EE"/>
          </a:solidFill>
          <a:ln w="9525">
            <a:solidFill>
              <a:srgbClr val="12A566"/>
            </a:solidFill>
            <a:prstDash val="solid"/>
          </a:ln>
        </p:spPr>
      </p:sp>
      <p:sp>
        <p:nvSpPr>
          <p:cNvPr id="77" name="Text 75"/>
          <p:cNvSpPr txBox="1"/>
          <p:nvPr/>
        </p:nvSpPr>
        <p:spPr>
          <a:xfrm>
            <a:off x="9217152"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8" name="Shape 76"/>
          <p:cNvSpPr/>
          <p:nvPr/>
        </p:nvSpPr>
        <p:spPr>
          <a:xfrm>
            <a:off x="10186416" y="3042765"/>
            <a:ext cx="749808" cy="151870"/>
          </a:xfrm>
          <a:prstGeom prst="rect">
            <a:avLst/>
          </a:prstGeom>
          <a:solidFill>
            <a:srgbClr val="E6F6EE"/>
          </a:solidFill>
          <a:ln w="9525">
            <a:solidFill>
              <a:srgbClr val="12A566"/>
            </a:solidFill>
            <a:prstDash val="solid"/>
          </a:ln>
        </p:spPr>
      </p:sp>
      <p:sp>
        <p:nvSpPr>
          <p:cNvPr id="79" name="Text 77"/>
          <p:cNvSpPr txBox="1"/>
          <p:nvPr/>
        </p:nvSpPr>
        <p:spPr>
          <a:xfrm>
            <a:off x="10113264"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80" name="Shape 78"/>
          <p:cNvSpPr/>
          <p:nvPr/>
        </p:nvSpPr>
        <p:spPr>
          <a:xfrm>
            <a:off x="585216" y="3208351"/>
            <a:ext cx="10424160" cy="179302"/>
          </a:xfrm>
          <a:prstGeom prst="rect">
            <a:avLst/>
          </a:prstGeom>
          <a:solidFill>
            <a:srgbClr val="F7F7F7"/>
          </a:solidFill>
          <a:ln/>
        </p:spPr>
      </p:sp>
      <p:sp>
        <p:nvSpPr>
          <p:cNvPr id="81" name="Text 79"/>
          <p:cNvSpPr txBox="1"/>
          <p:nvPr/>
        </p:nvSpPr>
        <p:spPr>
          <a:xfrm>
            <a:off x="658368" y="3208351"/>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2" name="Shape 80"/>
          <p:cNvSpPr/>
          <p:nvPr/>
        </p:nvSpPr>
        <p:spPr>
          <a:xfrm>
            <a:off x="8394192" y="3222067"/>
            <a:ext cx="749808" cy="151870"/>
          </a:xfrm>
          <a:prstGeom prst="rect">
            <a:avLst/>
          </a:prstGeom>
          <a:solidFill>
            <a:srgbClr val="E6F6EE"/>
          </a:solidFill>
          <a:ln w="9525">
            <a:solidFill>
              <a:srgbClr val="12A566"/>
            </a:solidFill>
            <a:prstDash val="solid"/>
          </a:ln>
        </p:spPr>
      </p:sp>
      <p:sp>
        <p:nvSpPr>
          <p:cNvPr id="83" name="Text 81"/>
          <p:cNvSpPr txBox="1"/>
          <p:nvPr/>
        </p:nvSpPr>
        <p:spPr>
          <a:xfrm>
            <a:off x="8321040" y="3208351"/>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84" name="Text 82"/>
          <p:cNvSpPr txBox="1"/>
          <p:nvPr/>
        </p:nvSpPr>
        <p:spPr>
          <a:xfrm>
            <a:off x="9217152" y="320835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85" name="Text 83"/>
          <p:cNvSpPr txBox="1"/>
          <p:nvPr/>
        </p:nvSpPr>
        <p:spPr>
          <a:xfrm>
            <a:off x="10113264" y="320835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86" name="Text 84"/>
          <p:cNvSpPr txBox="1"/>
          <p:nvPr/>
        </p:nvSpPr>
        <p:spPr>
          <a:xfrm>
            <a:off x="658368" y="3387653"/>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4809744" y="3401369"/>
            <a:ext cx="749808" cy="151870"/>
          </a:xfrm>
          <a:prstGeom prst="rect">
            <a:avLst/>
          </a:prstGeom>
          <a:solidFill>
            <a:srgbClr val="E6F6EE"/>
          </a:solidFill>
          <a:ln w="9525">
            <a:solidFill>
              <a:srgbClr val="12A566"/>
            </a:solidFill>
            <a:prstDash val="solid"/>
          </a:ln>
        </p:spPr>
      </p:sp>
      <p:sp>
        <p:nvSpPr>
          <p:cNvPr id="88" name="Text 86"/>
          <p:cNvSpPr txBox="1"/>
          <p:nvPr/>
        </p:nvSpPr>
        <p:spPr>
          <a:xfrm>
            <a:off x="4736592" y="3387653"/>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89" name="Text 87"/>
          <p:cNvSpPr txBox="1"/>
          <p:nvPr/>
        </p:nvSpPr>
        <p:spPr>
          <a:xfrm>
            <a:off x="5632704" y="338765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90" name="Text 88"/>
          <p:cNvSpPr txBox="1"/>
          <p:nvPr/>
        </p:nvSpPr>
        <p:spPr>
          <a:xfrm>
            <a:off x="6528816" y="338765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91" name="Shape 89"/>
          <p:cNvSpPr/>
          <p:nvPr/>
        </p:nvSpPr>
        <p:spPr>
          <a:xfrm>
            <a:off x="585216" y="3566955"/>
            <a:ext cx="10424160" cy="179302"/>
          </a:xfrm>
          <a:prstGeom prst="rect">
            <a:avLst/>
          </a:prstGeom>
          <a:solidFill>
            <a:srgbClr val="F7F7F7"/>
          </a:solidFill>
          <a:ln/>
        </p:spPr>
      </p:sp>
      <p:sp>
        <p:nvSpPr>
          <p:cNvPr id="92" name="Text 90"/>
          <p:cNvSpPr txBox="1"/>
          <p:nvPr/>
        </p:nvSpPr>
        <p:spPr>
          <a:xfrm>
            <a:off x="658368" y="3566955"/>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3" name="Shape 91"/>
          <p:cNvSpPr/>
          <p:nvPr/>
        </p:nvSpPr>
        <p:spPr>
          <a:xfrm>
            <a:off x="5705856" y="3580671"/>
            <a:ext cx="749808" cy="151870"/>
          </a:xfrm>
          <a:prstGeom prst="rect">
            <a:avLst/>
          </a:prstGeom>
          <a:solidFill>
            <a:srgbClr val="E6F6EE"/>
          </a:solidFill>
          <a:ln w="9525">
            <a:solidFill>
              <a:srgbClr val="12A566"/>
            </a:solidFill>
            <a:prstDash val="solid"/>
          </a:ln>
        </p:spPr>
      </p:sp>
      <p:sp>
        <p:nvSpPr>
          <p:cNvPr id="94" name="Text 92"/>
          <p:cNvSpPr txBox="1"/>
          <p:nvPr/>
        </p:nvSpPr>
        <p:spPr>
          <a:xfrm>
            <a:off x="5632704" y="3566955"/>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a:t>
            </a:r>
            <a:endParaRPr lang="en-US" sz="1200" dirty="0"/>
          </a:p>
        </p:txBody>
      </p:sp>
      <p:sp>
        <p:nvSpPr>
          <p:cNvPr id="95" name="Shape 93"/>
          <p:cNvSpPr/>
          <p:nvPr/>
        </p:nvSpPr>
        <p:spPr>
          <a:xfrm>
            <a:off x="8394192" y="3580671"/>
            <a:ext cx="749808" cy="151870"/>
          </a:xfrm>
          <a:prstGeom prst="rect">
            <a:avLst/>
          </a:prstGeom>
          <a:solidFill>
            <a:srgbClr val="E6F6EE"/>
          </a:solidFill>
          <a:ln w="9525">
            <a:solidFill>
              <a:srgbClr val="12A566"/>
            </a:solidFill>
            <a:prstDash val="solid"/>
          </a:ln>
        </p:spPr>
      </p:sp>
      <p:sp>
        <p:nvSpPr>
          <p:cNvPr id="96" name="Text 94"/>
          <p:cNvSpPr txBox="1"/>
          <p:nvPr/>
        </p:nvSpPr>
        <p:spPr>
          <a:xfrm>
            <a:off x="8321040" y="3566955"/>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97" name="Text 95"/>
          <p:cNvSpPr txBox="1"/>
          <p:nvPr/>
        </p:nvSpPr>
        <p:spPr>
          <a:xfrm>
            <a:off x="658368" y="374625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8" name="Shape 96"/>
          <p:cNvSpPr/>
          <p:nvPr/>
        </p:nvSpPr>
        <p:spPr>
          <a:xfrm>
            <a:off x="9290304" y="3759973"/>
            <a:ext cx="749808" cy="151870"/>
          </a:xfrm>
          <a:prstGeom prst="rect">
            <a:avLst/>
          </a:prstGeom>
          <a:solidFill>
            <a:srgbClr val="E6F6EE"/>
          </a:solidFill>
          <a:ln w="9525">
            <a:solidFill>
              <a:srgbClr val="12A566"/>
            </a:solidFill>
            <a:prstDash val="solid"/>
          </a:ln>
        </p:spPr>
      </p:sp>
      <p:sp>
        <p:nvSpPr>
          <p:cNvPr id="99" name="Text 97"/>
          <p:cNvSpPr txBox="1"/>
          <p:nvPr/>
        </p:nvSpPr>
        <p:spPr>
          <a:xfrm>
            <a:off x="9217152" y="374625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00" name="Shape 98"/>
          <p:cNvSpPr/>
          <p:nvPr/>
        </p:nvSpPr>
        <p:spPr>
          <a:xfrm>
            <a:off x="10186416" y="3759973"/>
            <a:ext cx="749808" cy="151870"/>
          </a:xfrm>
          <a:prstGeom prst="rect">
            <a:avLst/>
          </a:prstGeom>
          <a:solidFill>
            <a:srgbClr val="E6F6EE"/>
          </a:solidFill>
          <a:ln w="9525">
            <a:solidFill>
              <a:srgbClr val="12A566"/>
            </a:solidFill>
            <a:prstDash val="solid"/>
          </a:ln>
        </p:spPr>
      </p:sp>
      <p:sp>
        <p:nvSpPr>
          <p:cNvPr id="101" name="Text 99"/>
          <p:cNvSpPr txBox="1"/>
          <p:nvPr/>
        </p:nvSpPr>
        <p:spPr>
          <a:xfrm>
            <a:off x="10113264" y="374625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02" name="Shape 100"/>
          <p:cNvSpPr/>
          <p:nvPr/>
        </p:nvSpPr>
        <p:spPr>
          <a:xfrm>
            <a:off x="585216" y="3925559"/>
            <a:ext cx="10424160" cy="179302"/>
          </a:xfrm>
          <a:prstGeom prst="rect">
            <a:avLst/>
          </a:prstGeom>
          <a:solidFill>
            <a:srgbClr val="F7F7F7"/>
          </a:solidFill>
          <a:ln/>
        </p:spPr>
      </p:sp>
      <p:sp>
        <p:nvSpPr>
          <p:cNvPr id="103" name="Text 101"/>
          <p:cNvSpPr txBox="1"/>
          <p:nvPr/>
        </p:nvSpPr>
        <p:spPr>
          <a:xfrm>
            <a:off x="658368" y="392555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4" name="Text 102"/>
          <p:cNvSpPr txBox="1"/>
          <p:nvPr/>
        </p:nvSpPr>
        <p:spPr>
          <a:xfrm>
            <a:off x="5632704" y="3925559"/>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05" name="Shape 103"/>
          <p:cNvSpPr/>
          <p:nvPr/>
        </p:nvSpPr>
        <p:spPr>
          <a:xfrm>
            <a:off x="8394192" y="3939275"/>
            <a:ext cx="749808" cy="151870"/>
          </a:xfrm>
          <a:prstGeom prst="rect">
            <a:avLst/>
          </a:prstGeom>
          <a:solidFill>
            <a:srgbClr val="E6F6EE"/>
          </a:solidFill>
          <a:ln w="9525">
            <a:solidFill>
              <a:srgbClr val="12A566"/>
            </a:solidFill>
            <a:prstDash val="solid"/>
          </a:ln>
        </p:spPr>
      </p:sp>
      <p:sp>
        <p:nvSpPr>
          <p:cNvPr id="106" name="Text 104"/>
          <p:cNvSpPr txBox="1"/>
          <p:nvPr/>
        </p:nvSpPr>
        <p:spPr>
          <a:xfrm>
            <a:off x="8321040" y="392555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07" name="Text 105"/>
          <p:cNvSpPr txBox="1"/>
          <p:nvPr/>
        </p:nvSpPr>
        <p:spPr>
          <a:xfrm>
            <a:off x="658368" y="4104861"/>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8" name="Text 106"/>
          <p:cNvSpPr txBox="1"/>
          <p:nvPr/>
        </p:nvSpPr>
        <p:spPr>
          <a:xfrm>
            <a:off x="4736592" y="410486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09" name="Shape 107"/>
          <p:cNvSpPr/>
          <p:nvPr/>
        </p:nvSpPr>
        <p:spPr>
          <a:xfrm>
            <a:off x="6601968" y="4118577"/>
            <a:ext cx="749808" cy="151870"/>
          </a:xfrm>
          <a:prstGeom prst="rect">
            <a:avLst/>
          </a:prstGeom>
          <a:solidFill>
            <a:srgbClr val="E6F6EE"/>
          </a:solidFill>
          <a:ln w="9525">
            <a:solidFill>
              <a:srgbClr val="12A566"/>
            </a:solidFill>
            <a:prstDash val="solid"/>
          </a:ln>
        </p:spPr>
      </p:sp>
      <p:sp>
        <p:nvSpPr>
          <p:cNvPr id="110" name="Text 108"/>
          <p:cNvSpPr txBox="1"/>
          <p:nvPr/>
        </p:nvSpPr>
        <p:spPr>
          <a:xfrm>
            <a:off x="6528816" y="4104861"/>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11" name="Shape 109"/>
          <p:cNvSpPr/>
          <p:nvPr/>
        </p:nvSpPr>
        <p:spPr>
          <a:xfrm>
            <a:off x="585216" y="4284163"/>
            <a:ext cx="10424160" cy="179302"/>
          </a:xfrm>
          <a:prstGeom prst="rect">
            <a:avLst/>
          </a:prstGeom>
          <a:solidFill>
            <a:srgbClr val="F7F7F7"/>
          </a:solidFill>
          <a:ln/>
        </p:spPr>
      </p:sp>
      <p:sp>
        <p:nvSpPr>
          <p:cNvPr id="112" name="Text 110"/>
          <p:cNvSpPr txBox="1"/>
          <p:nvPr/>
        </p:nvSpPr>
        <p:spPr>
          <a:xfrm>
            <a:off x="658368" y="4284163"/>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Text 111"/>
          <p:cNvSpPr txBox="1"/>
          <p:nvPr/>
        </p:nvSpPr>
        <p:spPr>
          <a:xfrm>
            <a:off x="4736592" y="428416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4" name="Shape 112"/>
          <p:cNvSpPr/>
          <p:nvPr/>
        </p:nvSpPr>
        <p:spPr>
          <a:xfrm>
            <a:off x="5705856" y="4297879"/>
            <a:ext cx="749808" cy="151870"/>
          </a:xfrm>
          <a:prstGeom prst="rect">
            <a:avLst/>
          </a:prstGeom>
          <a:solidFill>
            <a:srgbClr val="E6F6EE"/>
          </a:solidFill>
          <a:ln w="9525">
            <a:solidFill>
              <a:srgbClr val="12A566"/>
            </a:solidFill>
            <a:prstDash val="solid"/>
          </a:ln>
        </p:spPr>
      </p:sp>
      <p:sp>
        <p:nvSpPr>
          <p:cNvPr id="115" name="Text 113"/>
          <p:cNvSpPr txBox="1"/>
          <p:nvPr/>
        </p:nvSpPr>
        <p:spPr>
          <a:xfrm>
            <a:off x="5632704" y="4284163"/>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16" name="Text 114"/>
          <p:cNvSpPr txBox="1"/>
          <p:nvPr/>
        </p:nvSpPr>
        <p:spPr>
          <a:xfrm>
            <a:off x="658368" y="4463465"/>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Text 115"/>
          <p:cNvSpPr txBox="1"/>
          <p:nvPr/>
        </p:nvSpPr>
        <p:spPr>
          <a:xfrm>
            <a:off x="5632704" y="4463465"/>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8" name="Text 116"/>
          <p:cNvSpPr txBox="1"/>
          <p:nvPr/>
        </p:nvSpPr>
        <p:spPr>
          <a:xfrm>
            <a:off x="7424928" y="4463465"/>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9" name="Shape 117"/>
          <p:cNvSpPr/>
          <p:nvPr/>
        </p:nvSpPr>
        <p:spPr>
          <a:xfrm>
            <a:off x="585216" y="4642767"/>
            <a:ext cx="10424160" cy="179302"/>
          </a:xfrm>
          <a:prstGeom prst="rect">
            <a:avLst/>
          </a:prstGeom>
          <a:solidFill>
            <a:srgbClr val="F7F7F7"/>
          </a:solidFill>
          <a:ln/>
        </p:spPr>
      </p:sp>
      <p:sp>
        <p:nvSpPr>
          <p:cNvPr id="120" name="Text 118"/>
          <p:cNvSpPr txBox="1"/>
          <p:nvPr/>
        </p:nvSpPr>
        <p:spPr>
          <a:xfrm>
            <a:off x="658368" y="464276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394192" y="4656483"/>
            <a:ext cx="749808" cy="151870"/>
          </a:xfrm>
          <a:prstGeom prst="rect">
            <a:avLst/>
          </a:prstGeom>
          <a:solidFill>
            <a:srgbClr val="E6F6EE"/>
          </a:solidFill>
          <a:ln w="9525">
            <a:solidFill>
              <a:srgbClr val="12A566"/>
            </a:solidFill>
            <a:prstDash val="solid"/>
          </a:ln>
        </p:spPr>
      </p:sp>
      <p:sp>
        <p:nvSpPr>
          <p:cNvPr id="122" name="Text 120"/>
          <p:cNvSpPr txBox="1"/>
          <p:nvPr/>
        </p:nvSpPr>
        <p:spPr>
          <a:xfrm>
            <a:off x="8321040" y="464276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23" name="Text 121"/>
          <p:cNvSpPr txBox="1"/>
          <p:nvPr/>
        </p:nvSpPr>
        <p:spPr>
          <a:xfrm>
            <a:off x="658368" y="482206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4" name="Shape 122"/>
          <p:cNvSpPr/>
          <p:nvPr/>
        </p:nvSpPr>
        <p:spPr>
          <a:xfrm>
            <a:off x="5705856" y="4835785"/>
            <a:ext cx="749808" cy="151870"/>
          </a:xfrm>
          <a:prstGeom prst="rect">
            <a:avLst/>
          </a:prstGeom>
          <a:solidFill>
            <a:srgbClr val="E6F6EE"/>
          </a:solidFill>
          <a:ln w="9525">
            <a:solidFill>
              <a:srgbClr val="12A566"/>
            </a:solidFill>
            <a:prstDash val="solid"/>
          </a:ln>
        </p:spPr>
      </p:sp>
      <p:sp>
        <p:nvSpPr>
          <p:cNvPr id="125" name="Text 123"/>
          <p:cNvSpPr txBox="1"/>
          <p:nvPr/>
        </p:nvSpPr>
        <p:spPr>
          <a:xfrm>
            <a:off x="5632704" y="482206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126" name="Shape 124"/>
          <p:cNvSpPr/>
          <p:nvPr/>
        </p:nvSpPr>
        <p:spPr>
          <a:xfrm>
            <a:off x="585216" y="5001370"/>
            <a:ext cx="10424160" cy="179302"/>
          </a:xfrm>
          <a:prstGeom prst="rect">
            <a:avLst/>
          </a:prstGeom>
          <a:solidFill>
            <a:srgbClr val="F7F7F7"/>
          </a:solidFill>
          <a:ln/>
        </p:spPr>
      </p:sp>
      <p:sp>
        <p:nvSpPr>
          <p:cNvPr id="127" name="Text 125"/>
          <p:cNvSpPr txBox="1"/>
          <p:nvPr/>
        </p:nvSpPr>
        <p:spPr>
          <a:xfrm>
            <a:off x="658368" y="5001370"/>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8" name="Shape 126"/>
          <p:cNvSpPr/>
          <p:nvPr/>
        </p:nvSpPr>
        <p:spPr>
          <a:xfrm>
            <a:off x="8394192" y="5015086"/>
            <a:ext cx="749808" cy="151870"/>
          </a:xfrm>
          <a:prstGeom prst="rect">
            <a:avLst/>
          </a:prstGeom>
          <a:solidFill>
            <a:srgbClr val="E6F6EE"/>
          </a:solidFill>
          <a:ln w="9525">
            <a:solidFill>
              <a:srgbClr val="12A566"/>
            </a:solidFill>
            <a:prstDash val="solid"/>
          </a:ln>
        </p:spPr>
      </p:sp>
      <p:sp>
        <p:nvSpPr>
          <p:cNvPr id="129" name="Text 127"/>
          <p:cNvSpPr txBox="1"/>
          <p:nvPr/>
        </p:nvSpPr>
        <p:spPr>
          <a:xfrm>
            <a:off x="8321040" y="500137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30" name="Text 128"/>
          <p:cNvSpPr txBox="1"/>
          <p:nvPr/>
        </p:nvSpPr>
        <p:spPr>
          <a:xfrm>
            <a:off x="658368" y="5180672"/>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1" name="Shape 129"/>
          <p:cNvSpPr/>
          <p:nvPr/>
        </p:nvSpPr>
        <p:spPr>
          <a:xfrm>
            <a:off x="9290304" y="5194388"/>
            <a:ext cx="749808" cy="151870"/>
          </a:xfrm>
          <a:prstGeom prst="rect">
            <a:avLst/>
          </a:prstGeom>
          <a:solidFill>
            <a:srgbClr val="E6F6EE"/>
          </a:solidFill>
          <a:ln w="9525">
            <a:solidFill>
              <a:srgbClr val="12A566"/>
            </a:solidFill>
            <a:prstDash val="solid"/>
          </a:ln>
        </p:spPr>
      </p:sp>
      <p:sp>
        <p:nvSpPr>
          <p:cNvPr id="132" name="Text 130"/>
          <p:cNvSpPr txBox="1"/>
          <p:nvPr/>
        </p:nvSpPr>
        <p:spPr>
          <a:xfrm>
            <a:off x="9217152" y="518067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33" name="Shape 131"/>
          <p:cNvSpPr/>
          <p:nvPr/>
        </p:nvSpPr>
        <p:spPr>
          <a:xfrm>
            <a:off x="585216" y="5359974"/>
            <a:ext cx="10424160" cy="179302"/>
          </a:xfrm>
          <a:prstGeom prst="rect">
            <a:avLst/>
          </a:prstGeom>
          <a:solidFill>
            <a:srgbClr val="F7F7F7"/>
          </a:solidFill>
          <a:ln/>
        </p:spPr>
      </p:sp>
      <p:sp>
        <p:nvSpPr>
          <p:cNvPr id="134" name="Text 132"/>
          <p:cNvSpPr txBox="1"/>
          <p:nvPr/>
        </p:nvSpPr>
        <p:spPr>
          <a:xfrm>
            <a:off x="658368" y="5359974"/>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5" name="Shape 133"/>
          <p:cNvSpPr/>
          <p:nvPr/>
        </p:nvSpPr>
        <p:spPr>
          <a:xfrm>
            <a:off x="5705856" y="5373690"/>
            <a:ext cx="749808" cy="151870"/>
          </a:xfrm>
          <a:prstGeom prst="rect">
            <a:avLst/>
          </a:prstGeom>
          <a:solidFill>
            <a:srgbClr val="E6F6EE"/>
          </a:solidFill>
          <a:ln w="9525">
            <a:solidFill>
              <a:srgbClr val="12A566"/>
            </a:solidFill>
            <a:prstDash val="solid"/>
          </a:ln>
        </p:spPr>
      </p:sp>
      <p:sp>
        <p:nvSpPr>
          <p:cNvPr id="136" name="Text 134"/>
          <p:cNvSpPr txBox="1"/>
          <p:nvPr/>
        </p:nvSpPr>
        <p:spPr>
          <a:xfrm>
            <a:off x="5632704" y="5359974"/>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a:t>
            </a:r>
            <a:endParaRPr lang="en-US" sz="1200" dirty="0"/>
          </a:p>
        </p:txBody>
      </p:sp>
      <p:sp>
        <p:nvSpPr>
          <p:cNvPr id="137" name="Text 135"/>
          <p:cNvSpPr txBox="1"/>
          <p:nvPr/>
        </p:nvSpPr>
        <p:spPr>
          <a:xfrm>
            <a:off x="658368" y="553927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8" name="Shape 136"/>
          <p:cNvSpPr/>
          <p:nvPr/>
        </p:nvSpPr>
        <p:spPr>
          <a:xfrm>
            <a:off x="8394192" y="5552992"/>
            <a:ext cx="749808" cy="151870"/>
          </a:xfrm>
          <a:prstGeom prst="rect">
            <a:avLst/>
          </a:prstGeom>
          <a:solidFill>
            <a:srgbClr val="E6F6EE"/>
          </a:solidFill>
          <a:ln w="9525">
            <a:solidFill>
              <a:srgbClr val="12A566"/>
            </a:solidFill>
            <a:prstDash val="solid"/>
          </a:ln>
        </p:spPr>
      </p:sp>
      <p:sp>
        <p:nvSpPr>
          <p:cNvPr id="139" name="Text 137"/>
          <p:cNvSpPr txBox="1"/>
          <p:nvPr/>
        </p:nvSpPr>
        <p:spPr>
          <a:xfrm>
            <a:off x="8321040" y="553927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40" name="Shape 138"/>
          <p:cNvSpPr/>
          <p:nvPr/>
        </p:nvSpPr>
        <p:spPr>
          <a:xfrm>
            <a:off x="585216" y="5718578"/>
            <a:ext cx="10424160" cy="179302"/>
          </a:xfrm>
          <a:prstGeom prst="rect">
            <a:avLst/>
          </a:prstGeom>
          <a:solidFill>
            <a:srgbClr val="F7F7F7"/>
          </a:solidFill>
          <a:ln/>
        </p:spPr>
      </p:sp>
      <p:sp>
        <p:nvSpPr>
          <p:cNvPr id="141" name="Text 139"/>
          <p:cNvSpPr txBox="1"/>
          <p:nvPr/>
        </p:nvSpPr>
        <p:spPr>
          <a:xfrm>
            <a:off x="658368" y="5718578"/>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2" name="Text 140"/>
          <p:cNvSpPr txBox="1"/>
          <p:nvPr/>
        </p:nvSpPr>
        <p:spPr>
          <a:xfrm>
            <a:off x="10113264" y="5718578"/>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43" name="Shape 141"/>
          <p:cNvSpPr/>
          <p:nvPr/>
        </p:nvSpPr>
        <p:spPr>
          <a:xfrm>
            <a:off x="457200" y="6126480"/>
            <a:ext cx="11274552" cy="615696"/>
          </a:xfrm>
          <a:prstGeom prst="rect">
            <a:avLst/>
          </a:prstGeom>
          <a:solidFill>
            <a:srgbClr val="E6F6EE"/>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Toyota Henderson, Honda Spokane and Nissan broke their records more than once this year. Ask them what they changed.</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transferred calls were not picked up by a person.</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over the last 90 days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82%: luxury stores run toward the top, domestic stores toward the bottom.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inside the 78-82% target range.</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78–82%</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78–82%.</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2026-10-25T23:10:58Z</dcterms:created>
  <dcterms:modified xsi:type="dcterms:W3CDTF">2026-10-25T23:10:58Z</dcterms:modified>
</cp:coreProperties>
</file>