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260" r:id="rId6"/>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261" r:id="rId7"/>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262" r:id="rId8"/>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263" r:id="rId9"/>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266" r:id="rId12"/>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82</c:v>
                </c:pt>
                <c:pt idx="1">
                  <c:v>82</c:v>
                </c:pt>
                <c:pt idx="2">
                  <c:v>82</c:v>
                </c:pt>
                <c:pt idx="3">
                  <c:v>82</c:v>
                </c:pt>
                <c:pt idx="4">
                  <c:v>82</c:v>
                </c:pt>
                <c:pt idx="5">
                  <c:v>82</c:v>
                </c:pt>
                <c:pt idx="6">
                  <c:v>82</c:v>
                </c:pt>
                <c:pt idx="7">
                  <c:v>82</c:v>
                </c:pt>
                <c:pt idx="8">
                  <c:v>82</c:v>
                </c:pt>
                <c:pt idx="9">
                  <c:v>82</c:v>
                </c:pt>
                <c:pt idx="10">
                  <c:v>82</c:v>
                </c:pt>
                <c:pt idx="11">
                  <c:v>82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three.OPTION A. 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 Fixed Expenses line by account class, every department of the store; categories reconcile to the line to the cent ($242,850,782).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$50.19M</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department profit. New, used, F&amp;I and the rest of the store together: $32.05M.</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Adding that same $1 through sales takes about $6.89 of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in this deck: ROs, hours, ELR,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policy and comebacks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BROKE IT, THEN BROKE IT AGAIN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beat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838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4270248"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773168" y="1316736"/>
            <a:ext cx="5486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321808" y="1316736"/>
            <a:ext cx="5943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90342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11" name="Text 9"/>
          <p:cNvSpPr txBox="1"/>
          <p:nvPr/>
        </p:nvSpPr>
        <p:spPr>
          <a:xfrm>
            <a:off x="9820656"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323576" y="1316736"/>
            <a:ext cx="5486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872216" y="1316736"/>
            <a:ext cx="5943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557784" cy="193624"/>
          </a:xfrm>
          <a:prstGeom prst="rect">
            <a:avLst/>
          </a:prstGeom>
          <a:solidFill>
            <a:srgbClr val="12A566"/>
          </a:solidFill>
          <a:ln/>
        </p:spPr>
      </p:sp>
      <p:sp>
        <p:nvSpPr>
          <p:cNvPr id="17" name="Text 15"/>
          <p:cNvSpPr txBox="1"/>
          <p:nvPr/>
        </p:nvSpPr>
        <p:spPr>
          <a:xfrm>
            <a:off x="34838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4270248" y="1700784"/>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773168" y="1700784"/>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321808" y="1700784"/>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557784" cy="193624"/>
          </a:xfrm>
          <a:prstGeom prst="rect">
            <a:avLst/>
          </a:prstGeom>
          <a:solidFill>
            <a:srgbClr val="12A566"/>
          </a:solidFill>
          <a:ln/>
        </p:spPr>
      </p:sp>
      <p:sp>
        <p:nvSpPr>
          <p:cNvPr id="24" name="Text 22"/>
          <p:cNvSpPr txBox="1"/>
          <p:nvPr/>
        </p:nvSpPr>
        <p:spPr>
          <a:xfrm>
            <a:off x="34838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4270248" y="2052828"/>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773168" y="2052828"/>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321808" y="2052828"/>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495808" cy="193624"/>
          </a:xfrm>
          <a:prstGeom prst="rect">
            <a:avLst/>
          </a:prstGeom>
          <a:solidFill>
            <a:srgbClr val="12A566"/>
          </a:solidFill>
          <a:ln/>
        </p:spPr>
      </p:sp>
      <p:sp>
        <p:nvSpPr>
          <p:cNvPr id="31" name="Text 29"/>
          <p:cNvSpPr txBox="1"/>
          <p:nvPr/>
        </p:nvSpPr>
        <p:spPr>
          <a:xfrm>
            <a:off x="34838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4270248" y="2404872"/>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773168" y="2404872"/>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321808" y="2404872"/>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433832" cy="193624"/>
          </a:xfrm>
          <a:prstGeom prst="rect">
            <a:avLst/>
          </a:prstGeom>
          <a:solidFill>
            <a:srgbClr val="12A566"/>
          </a:solidFill>
          <a:ln/>
        </p:spPr>
      </p:sp>
      <p:sp>
        <p:nvSpPr>
          <p:cNvPr id="38" name="Text 36"/>
          <p:cNvSpPr txBox="1"/>
          <p:nvPr/>
        </p:nvSpPr>
        <p:spPr>
          <a:xfrm>
            <a:off x="34838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4270248" y="2756916"/>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773168" y="2756916"/>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321808" y="2756916"/>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433832" cy="193624"/>
          </a:xfrm>
          <a:prstGeom prst="rect">
            <a:avLst/>
          </a:prstGeom>
          <a:solidFill>
            <a:srgbClr val="12A566"/>
          </a:solidFill>
          <a:ln/>
        </p:spPr>
      </p:sp>
      <p:sp>
        <p:nvSpPr>
          <p:cNvPr id="45" name="Text 43"/>
          <p:cNvSpPr txBox="1"/>
          <p:nvPr/>
        </p:nvSpPr>
        <p:spPr>
          <a:xfrm>
            <a:off x="34838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4270248" y="3108960"/>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773168" y="3108960"/>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321808" y="3108960"/>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371856" cy="193624"/>
          </a:xfrm>
          <a:prstGeom prst="rect">
            <a:avLst/>
          </a:prstGeom>
          <a:solidFill>
            <a:srgbClr val="12A566"/>
          </a:solidFill>
          <a:ln/>
        </p:spPr>
      </p:sp>
      <p:sp>
        <p:nvSpPr>
          <p:cNvPr id="52" name="Text 50"/>
          <p:cNvSpPr txBox="1"/>
          <p:nvPr/>
        </p:nvSpPr>
        <p:spPr>
          <a:xfrm>
            <a:off x="34838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4270248" y="3461004"/>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773168" y="3461004"/>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321808" y="3461004"/>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371856" cy="193624"/>
          </a:xfrm>
          <a:prstGeom prst="rect">
            <a:avLst/>
          </a:prstGeom>
          <a:solidFill>
            <a:srgbClr val="12A566"/>
          </a:solidFill>
          <a:ln/>
        </p:spPr>
      </p:sp>
      <p:sp>
        <p:nvSpPr>
          <p:cNvPr id="59" name="Text 57"/>
          <p:cNvSpPr txBox="1"/>
          <p:nvPr/>
        </p:nvSpPr>
        <p:spPr>
          <a:xfrm>
            <a:off x="34838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4270248" y="3813048"/>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773168" y="3813048"/>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321808" y="3813048"/>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309880" cy="193624"/>
          </a:xfrm>
          <a:prstGeom prst="rect">
            <a:avLst/>
          </a:prstGeom>
          <a:solidFill>
            <a:srgbClr val="12A566"/>
          </a:solidFill>
          <a:ln/>
        </p:spPr>
      </p:sp>
      <p:sp>
        <p:nvSpPr>
          <p:cNvPr id="66" name="Text 64"/>
          <p:cNvSpPr txBox="1"/>
          <p:nvPr/>
        </p:nvSpPr>
        <p:spPr>
          <a:xfrm>
            <a:off x="34838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4270248" y="4165092"/>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773168" y="4165092"/>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321808" y="4165092"/>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247904" cy="193624"/>
          </a:xfrm>
          <a:prstGeom prst="rect">
            <a:avLst/>
          </a:prstGeom>
          <a:solidFill>
            <a:srgbClr val="12A566"/>
          </a:solidFill>
          <a:ln/>
        </p:spPr>
      </p:sp>
      <p:sp>
        <p:nvSpPr>
          <p:cNvPr id="73" name="Text 71"/>
          <p:cNvSpPr txBox="1"/>
          <p:nvPr/>
        </p:nvSpPr>
        <p:spPr>
          <a:xfrm>
            <a:off x="34838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4270248" y="4517136"/>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773168" y="4517136"/>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321808" y="4517136"/>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247904" cy="193624"/>
          </a:xfrm>
          <a:prstGeom prst="rect">
            <a:avLst/>
          </a:prstGeom>
          <a:solidFill>
            <a:srgbClr val="12A566"/>
          </a:solidFill>
          <a:ln/>
        </p:spPr>
      </p:sp>
      <p:sp>
        <p:nvSpPr>
          <p:cNvPr id="80" name="Text 78"/>
          <p:cNvSpPr txBox="1"/>
          <p:nvPr/>
        </p:nvSpPr>
        <p:spPr>
          <a:xfrm>
            <a:off x="34838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4270248" y="4869180"/>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773168" y="4869180"/>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321808" y="4869180"/>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247904" cy="193624"/>
          </a:xfrm>
          <a:prstGeom prst="rect">
            <a:avLst/>
          </a:prstGeom>
          <a:solidFill>
            <a:srgbClr val="12A566"/>
          </a:solidFill>
          <a:ln/>
        </p:spPr>
      </p:sp>
      <p:sp>
        <p:nvSpPr>
          <p:cNvPr id="87" name="Text 85"/>
          <p:cNvSpPr txBox="1"/>
          <p:nvPr/>
        </p:nvSpPr>
        <p:spPr>
          <a:xfrm>
            <a:off x="34838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4270248" y="5221224"/>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773168" y="5221224"/>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321808" y="5221224"/>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247904" cy="193624"/>
          </a:xfrm>
          <a:prstGeom prst="rect">
            <a:avLst/>
          </a:prstGeom>
          <a:solidFill>
            <a:srgbClr val="12A566"/>
          </a:solidFill>
          <a:ln/>
        </p:spPr>
      </p:sp>
      <p:sp>
        <p:nvSpPr>
          <p:cNvPr id="94" name="Text 92"/>
          <p:cNvSpPr txBox="1"/>
          <p:nvPr/>
        </p:nvSpPr>
        <p:spPr>
          <a:xfrm>
            <a:off x="34838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4270248" y="5573268"/>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773168" y="5573268"/>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321808" y="5573268"/>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247904" cy="193624"/>
          </a:xfrm>
          <a:prstGeom prst="rect">
            <a:avLst/>
          </a:prstGeom>
          <a:solidFill>
            <a:srgbClr val="12A566"/>
          </a:solidFill>
          <a:ln/>
        </p:spPr>
      </p:sp>
      <p:sp>
        <p:nvSpPr>
          <p:cNvPr id="101" name="Text 99"/>
          <p:cNvSpPr txBox="1"/>
          <p:nvPr/>
        </p:nvSpPr>
        <p:spPr>
          <a:xfrm>
            <a:off x="90342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820656" y="1700784"/>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323576" y="1700784"/>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872216" y="1700784"/>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247904" cy="193624"/>
          </a:xfrm>
          <a:prstGeom prst="rect">
            <a:avLst/>
          </a:prstGeom>
          <a:solidFill>
            <a:srgbClr val="12A566"/>
          </a:solidFill>
          <a:ln/>
        </p:spPr>
      </p:sp>
      <p:sp>
        <p:nvSpPr>
          <p:cNvPr id="108" name="Text 106"/>
          <p:cNvSpPr txBox="1"/>
          <p:nvPr/>
        </p:nvSpPr>
        <p:spPr>
          <a:xfrm>
            <a:off x="90342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820656" y="2052828"/>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323576" y="2052828"/>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872216" y="2052828"/>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185928" cy="193624"/>
          </a:xfrm>
          <a:prstGeom prst="rect">
            <a:avLst/>
          </a:prstGeom>
          <a:solidFill>
            <a:srgbClr val="12A566"/>
          </a:solidFill>
          <a:ln/>
        </p:spPr>
      </p:sp>
      <p:sp>
        <p:nvSpPr>
          <p:cNvPr id="115" name="Text 113"/>
          <p:cNvSpPr txBox="1"/>
          <p:nvPr/>
        </p:nvSpPr>
        <p:spPr>
          <a:xfrm>
            <a:off x="90342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820656" y="2404872"/>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323576" y="2404872"/>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872216" y="2404872"/>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123952" cy="193624"/>
          </a:xfrm>
          <a:prstGeom prst="rect">
            <a:avLst/>
          </a:prstGeom>
          <a:solidFill>
            <a:srgbClr val="12A566"/>
          </a:solidFill>
          <a:ln/>
        </p:spPr>
      </p:sp>
      <p:sp>
        <p:nvSpPr>
          <p:cNvPr id="122" name="Text 120"/>
          <p:cNvSpPr txBox="1"/>
          <p:nvPr/>
        </p:nvSpPr>
        <p:spPr>
          <a:xfrm>
            <a:off x="90342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820656" y="2756916"/>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323576" y="2756916"/>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872216" y="2756916"/>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123952" cy="193624"/>
          </a:xfrm>
          <a:prstGeom prst="rect">
            <a:avLst/>
          </a:prstGeom>
          <a:solidFill>
            <a:srgbClr val="12A566"/>
          </a:solidFill>
          <a:ln/>
        </p:spPr>
      </p:sp>
      <p:sp>
        <p:nvSpPr>
          <p:cNvPr id="129" name="Text 127"/>
          <p:cNvSpPr txBox="1"/>
          <p:nvPr/>
        </p:nvSpPr>
        <p:spPr>
          <a:xfrm>
            <a:off x="90342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820656" y="3108960"/>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323576" y="3108960"/>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872216" y="3108960"/>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123952" cy="193624"/>
          </a:xfrm>
          <a:prstGeom prst="rect">
            <a:avLst/>
          </a:prstGeom>
          <a:solidFill>
            <a:srgbClr val="12A566"/>
          </a:solidFill>
          <a:ln/>
        </p:spPr>
      </p:sp>
      <p:sp>
        <p:nvSpPr>
          <p:cNvPr id="136" name="Text 134"/>
          <p:cNvSpPr txBox="1"/>
          <p:nvPr/>
        </p:nvSpPr>
        <p:spPr>
          <a:xfrm>
            <a:off x="90342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820656" y="3461004"/>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323576" y="3461004"/>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872216" y="3461004"/>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123952" cy="193624"/>
          </a:xfrm>
          <a:prstGeom prst="rect">
            <a:avLst/>
          </a:prstGeom>
          <a:solidFill>
            <a:srgbClr val="12A566"/>
          </a:solidFill>
          <a:ln/>
        </p:spPr>
      </p:sp>
      <p:sp>
        <p:nvSpPr>
          <p:cNvPr id="143" name="Text 141"/>
          <p:cNvSpPr txBox="1"/>
          <p:nvPr/>
        </p:nvSpPr>
        <p:spPr>
          <a:xfrm>
            <a:off x="90342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820656" y="3813048"/>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323576" y="3813048"/>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872216" y="3813048"/>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123952" cy="193624"/>
          </a:xfrm>
          <a:prstGeom prst="rect">
            <a:avLst/>
          </a:prstGeom>
          <a:solidFill>
            <a:srgbClr val="12A566"/>
          </a:solidFill>
          <a:ln/>
        </p:spPr>
      </p:sp>
      <p:sp>
        <p:nvSpPr>
          <p:cNvPr id="150" name="Text 148"/>
          <p:cNvSpPr txBox="1"/>
          <p:nvPr/>
        </p:nvSpPr>
        <p:spPr>
          <a:xfrm>
            <a:off x="90342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820656" y="4165092"/>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323576" y="4165092"/>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872216" y="4165092"/>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123952" cy="193624"/>
          </a:xfrm>
          <a:prstGeom prst="rect">
            <a:avLst/>
          </a:prstGeom>
          <a:solidFill>
            <a:srgbClr val="12A566"/>
          </a:solidFill>
          <a:ln/>
        </p:spPr>
      </p:sp>
      <p:sp>
        <p:nvSpPr>
          <p:cNvPr id="157" name="Text 155"/>
          <p:cNvSpPr txBox="1"/>
          <p:nvPr/>
        </p:nvSpPr>
        <p:spPr>
          <a:xfrm>
            <a:off x="90342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820656" y="4517136"/>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323576" y="4517136"/>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872216" y="4517136"/>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61976" cy="193624"/>
          </a:xfrm>
          <a:prstGeom prst="rect">
            <a:avLst/>
          </a:prstGeom>
          <a:solidFill>
            <a:srgbClr val="12A566"/>
          </a:solidFill>
          <a:ln/>
        </p:spPr>
      </p:sp>
      <p:sp>
        <p:nvSpPr>
          <p:cNvPr id="164" name="Text 162"/>
          <p:cNvSpPr txBox="1"/>
          <p:nvPr/>
        </p:nvSpPr>
        <p:spPr>
          <a:xfrm>
            <a:off x="90342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820656" y="4869180"/>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323576" y="4869180"/>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872216" y="4869180"/>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61976" cy="193624"/>
          </a:xfrm>
          <a:prstGeom prst="rect">
            <a:avLst/>
          </a:prstGeom>
          <a:solidFill>
            <a:srgbClr val="12A566"/>
          </a:solidFill>
          <a:ln/>
        </p:spPr>
      </p:sp>
      <p:sp>
        <p:nvSpPr>
          <p:cNvPr id="171" name="Text 169"/>
          <p:cNvSpPr txBox="1"/>
          <p:nvPr/>
        </p:nvSpPr>
        <p:spPr>
          <a:xfrm>
            <a:off x="90342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820656" y="5221224"/>
            <a:ext cx="5029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323576" y="5221224"/>
            <a:ext cx="54864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872216" y="5221224"/>
            <a:ext cx="59436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6" name="Shape 174"/>
          <p:cNvSpPr/>
          <p:nvPr/>
        </p:nvSpPr>
        <p:spPr>
          <a:xfrm>
            <a:off x="457200" y="6126480"/>
            <a:ext cx="11274552" cy="371856"/>
          </a:xfrm>
          <a:prstGeom prst="rect">
            <a:avLst/>
          </a:prstGeom>
          <a:solidFill>
            <a:srgbClr val="E6F6EE"/>
          </a:solidFill>
          <a:ln/>
        </p:spPr>
      </p:sp>
      <p:sp>
        <p:nvSpPr>
          <p:cNvPr id="177"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 Honda Spokane and Nissan lead with 9 each.</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296063"/>
          </a:xfrm>
          <a:prstGeom prst="rect">
            <a:avLst/>
          </a:prstGeom>
          <a:solidFill>
            <a:srgbClr val="2587C5"/>
          </a:solidFill>
          <a:ln/>
        </p:spPr>
      </p:sp>
      <p:sp>
        <p:nvSpPr>
          <p:cNvPr id="19" name="Text 17"/>
          <p:cNvSpPr txBox="1"/>
          <p:nvPr/>
        </p:nvSpPr>
        <p:spPr>
          <a:xfrm>
            <a:off x="5266944"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296063"/>
          </a:xfrm>
          <a:prstGeom prst="rect">
            <a:avLst/>
          </a:prstGeom>
          <a:solidFill>
            <a:srgbClr val="2587C5"/>
          </a:solidFill>
          <a:ln/>
        </p:spPr>
      </p:sp>
      <p:sp>
        <p:nvSpPr>
          <p:cNvPr id="21" name="Text 19"/>
          <p:cNvSpPr txBox="1"/>
          <p:nvPr/>
        </p:nvSpPr>
        <p:spPr>
          <a:xfrm>
            <a:off x="8522208"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department's people, rent and systems, carried whether or not a car sells</a:t>
            </a:r>
            <a:endParaRPr lang="en-US" sz="1400" dirty="0"/>
          </a:p>
        </p:txBody>
      </p:sp>
      <p:sp>
        <p:nvSpPr>
          <p:cNvPr id="22" name="Shape 20"/>
          <p:cNvSpPr/>
          <p:nvPr/>
        </p:nvSpPr>
        <p:spPr>
          <a:xfrm>
            <a:off x="5138928" y="4816503"/>
            <a:ext cx="45720" cy="971649"/>
          </a:xfrm>
          <a:prstGeom prst="rect">
            <a:avLst/>
          </a:prstGeom>
          <a:solidFill>
            <a:srgbClr val="2587C5"/>
          </a:solidFill>
          <a:ln/>
        </p:spPr>
      </p:sp>
      <p:sp>
        <p:nvSpPr>
          <p:cNvPr id="23" name="Text 21"/>
          <p:cNvSpPr txBox="1"/>
          <p:nvPr/>
        </p:nvSpPr>
        <p:spPr>
          <a:xfrm>
            <a:off x="5266944"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816503"/>
            <a:ext cx="45720" cy="971649"/>
          </a:xfrm>
          <a:prstGeom prst="rect">
            <a:avLst/>
          </a:prstGeom>
          <a:solidFill>
            <a:srgbClr val="2587C5"/>
          </a:solidFill>
          <a:ln/>
        </p:spPr>
      </p:sp>
      <p:sp>
        <p:nvSpPr>
          <p:cNvPr id="25" name="Text 23"/>
          <p:cNvSpPr txBox="1"/>
          <p:nvPr/>
        </p:nvSpPr>
        <p:spPr>
          <a:xfrm>
            <a:off x="8522208"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in 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Service calls answered by Flai, our voice AI, over the last 90 days (Jul 26 – Oct 26, 2026). The AI books and routes the call; the store still has to answer the transfer and close every callback in the Flai dashboard.</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41069"/>
          </a:xfrm>
          <a:prstGeom prst="rect">
            <a:avLst/>
          </a:prstGeom>
          <a:solidFill>
            <a:srgbClr val="12A566"/>
          </a:solidFill>
          <a:ln/>
        </p:spPr>
      </p:sp>
      <p:sp>
        <p:nvSpPr>
          <p:cNvPr id="16" name="Text 14"/>
          <p:cNvSpPr txBox="1"/>
          <p:nvPr/>
        </p:nvSpPr>
        <p:spPr>
          <a:xfrm>
            <a:off x="62179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32146"/>
            <a:ext cx="54864" cy="241069"/>
          </a:xfrm>
          <a:prstGeom prst="rect">
            <a:avLst/>
          </a:prstGeom>
          <a:solidFill>
            <a:srgbClr val="12A566"/>
          </a:solidFill>
          <a:ln/>
        </p:spPr>
      </p:sp>
      <p:sp>
        <p:nvSpPr>
          <p:cNvPr id="23" name="Text 21"/>
          <p:cNvSpPr txBox="1"/>
          <p:nvPr/>
        </p:nvSpPr>
        <p:spPr>
          <a:xfrm>
            <a:off x="62179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146367"/>
            <a:ext cx="54864" cy="241069"/>
          </a:xfrm>
          <a:prstGeom prst="rect">
            <a:avLst/>
          </a:prstGeom>
          <a:solidFill>
            <a:srgbClr val="12A566"/>
          </a:solidFill>
          <a:ln/>
        </p:spPr>
      </p:sp>
      <p:sp>
        <p:nvSpPr>
          <p:cNvPr id="27" name="Text 25"/>
          <p:cNvSpPr txBox="1"/>
          <p:nvPr/>
        </p:nvSpPr>
        <p:spPr>
          <a:xfrm>
            <a:off x="62179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460588"/>
            <a:ext cx="54864" cy="241069"/>
          </a:xfrm>
          <a:prstGeom prst="rect">
            <a:avLst/>
          </a:prstGeom>
          <a:solidFill>
            <a:srgbClr val="12A566"/>
          </a:solidFill>
          <a:ln/>
        </p:spPr>
      </p:sp>
      <p:sp>
        <p:nvSpPr>
          <p:cNvPr id="31" name="Shape 29"/>
          <p:cNvSpPr/>
          <p:nvPr/>
        </p:nvSpPr>
        <p:spPr>
          <a:xfrm>
            <a:off x="621792" y="4070743"/>
            <a:ext cx="3355848" cy="22860"/>
          </a:xfrm>
          <a:prstGeom prst="rect">
            <a:avLst/>
          </a:prstGeom>
          <a:solidFill>
            <a:srgbClr val="C2352F"/>
          </a:solidFill>
          <a:ln/>
        </p:spPr>
      </p:sp>
      <p:sp>
        <p:nvSpPr>
          <p:cNvPr id="32" name="Text 30"/>
          <p:cNvSpPr txBox="1"/>
          <p:nvPr/>
        </p:nvSpPr>
        <p:spPr>
          <a:xfrm>
            <a:off x="62179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63351"/>
            <a:ext cx="54864" cy="241069"/>
          </a:xfrm>
          <a:prstGeom prst="rect">
            <a:avLst/>
          </a:prstGeom>
          <a:solidFill>
            <a:srgbClr val="C2352F"/>
          </a:solidFill>
          <a:ln/>
        </p:spPr>
      </p:sp>
      <p:sp>
        <p:nvSpPr>
          <p:cNvPr id="39" name="Text 37"/>
          <p:cNvSpPr txBox="1"/>
          <p:nvPr/>
        </p:nvSpPr>
        <p:spPr>
          <a:xfrm>
            <a:off x="62179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677572"/>
            <a:ext cx="54864" cy="241069"/>
          </a:xfrm>
          <a:prstGeom prst="rect">
            <a:avLst/>
          </a:prstGeom>
          <a:solidFill>
            <a:srgbClr val="C2352F"/>
          </a:solidFill>
          <a:ln/>
        </p:spPr>
      </p:sp>
      <p:sp>
        <p:nvSpPr>
          <p:cNvPr id="43" name="Text 41"/>
          <p:cNvSpPr txBox="1"/>
          <p:nvPr/>
        </p:nvSpPr>
        <p:spPr>
          <a:xfrm>
            <a:off x="62179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306014"/>
            <a:ext cx="54864" cy="241069"/>
          </a:xfrm>
          <a:prstGeom prst="rect">
            <a:avLst/>
          </a:prstGeom>
          <a:solidFill>
            <a:srgbClr val="C2352F"/>
          </a:solidFill>
          <a:ln/>
        </p:spPr>
      </p:sp>
      <p:sp>
        <p:nvSpPr>
          <p:cNvPr id="50" name="Text 48"/>
          <p:cNvSpPr txBox="1"/>
          <p:nvPr/>
        </p:nvSpPr>
        <p:spPr>
          <a:xfrm>
            <a:off x="62179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620235"/>
            <a:ext cx="54864" cy="241069"/>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41069"/>
          </a:xfrm>
          <a:prstGeom prst="rect">
            <a:avLst/>
          </a:prstGeom>
          <a:solidFill>
            <a:srgbClr val="12A566"/>
          </a:solidFill>
          <a:ln/>
        </p:spPr>
      </p:sp>
      <p:sp>
        <p:nvSpPr>
          <p:cNvPr id="65" name="Text 63"/>
          <p:cNvSpPr txBox="1"/>
          <p:nvPr/>
        </p:nvSpPr>
        <p:spPr>
          <a:xfrm>
            <a:off x="441655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17925"/>
            <a:ext cx="54864" cy="241069"/>
          </a:xfrm>
          <a:prstGeom prst="rect">
            <a:avLst/>
          </a:prstGeom>
          <a:solidFill>
            <a:srgbClr val="12A566"/>
          </a:solidFill>
          <a:ln/>
        </p:spPr>
      </p:sp>
      <p:sp>
        <p:nvSpPr>
          <p:cNvPr id="69" name="Text 67"/>
          <p:cNvSpPr txBox="1"/>
          <p:nvPr/>
        </p:nvSpPr>
        <p:spPr>
          <a:xfrm>
            <a:off x="441655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32146"/>
            <a:ext cx="54864" cy="241069"/>
          </a:xfrm>
          <a:prstGeom prst="rect">
            <a:avLst/>
          </a:prstGeom>
          <a:solidFill>
            <a:srgbClr val="12A566"/>
          </a:solidFill>
          <a:ln/>
        </p:spPr>
      </p:sp>
      <p:sp>
        <p:nvSpPr>
          <p:cNvPr id="73" name="Text 71"/>
          <p:cNvSpPr txBox="1"/>
          <p:nvPr/>
        </p:nvSpPr>
        <p:spPr>
          <a:xfrm>
            <a:off x="441655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146367"/>
            <a:ext cx="54864" cy="241069"/>
          </a:xfrm>
          <a:prstGeom prst="rect">
            <a:avLst/>
          </a:prstGeom>
          <a:solidFill>
            <a:srgbClr val="12A566"/>
          </a:solidFill>
          <a:ln/>
        </p:spPr>
      </p:sp>
      <p:sp>
        <p:nvSpPr>
          <p:cNvPr id="77" name="Text 75"/>
          <p:cNvSpPr txBox="1"/>
          <p:nvPr/>
        </p:nvSpPr>
        <p:spPr>
          <a:xfrm>
            <a:off x="441655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70743"/>
            <a:ext cx="3355848" cy="22860"/>
          </a:xfrm>
          <a:prstGeom prst="rect">
            <a:avLst/>
          </a:prstGeom>
          <a:solidFill>
            <a:srgbClr val="C2352F"/>
          </a:solidFill>
          <a:ln/>
        </p:spPr>
      </p:sp>
      <p:sp>
        <p:nvSpPr>
          <p:cNvPr id="81" name="Text 79"/>
          <p:cNvSpPr txBox="1"/>
          <p:nvPr/>
        </p:nvSpPr>
        <p:spPr>
          <a:xfrm>
            <a:off x="441655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63351"/>
            <a:ext cx="54864" cy="241069"/>
          </a:xfrm>
          <a:prstGeom prst="rect">
            <a:avLst/>
          </a:prstGeom>
          <a:solidFill>
            <a:srgbClr val="C2352F"/>
          </a:solidFill>
          <a:ln/>
        </p:spPr>
      </p:sp>
      <p:sp>
        <p:nvSpPr>
          <p:cNvPr id="88" name="Text 86"/>
          <p:cNvSpPr txBox="1"/>
          <p:nvPr/>
        </p:nvSpPr>
        <p:spPr>
          <a:xfrm>
            <a:off x="441655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306014"/>
            <a:ext cx="54864" cy="241069"/>
          </a:xfrm>
          <a:prstGeom prst="rect">
            <a:avLst/>
          </a:prstGeom>
          <a:solidFill>
            <a:srgbClr val="C2352F"/>
          </a:solidFill>
          <a:ln/>
        </p:spPr>
      </p:sp>
      <p:sp>
        <p:nvSpPr>
          <p:cNvPr id="98" name="Text 96"/>
          <p:cNvSpPr txBox="1"/>
          <p:nvPr/>
        </p:nvSpPr>
        <p:spPr>
          <a:xfrm>
            <a:off x="441655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620235"/>
            <a:ext cx="54864" cy="241069"/>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AT 100% (6)</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09" name="Text 107"/>
          <p:cNvSpPr txBox="1"/>
          <p:nvPr/>
        </p:nvSpPr>
        <p:spPr>
          <a:xfrm>
            <a:off x="821131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2" name="Text 110"/>
          <p:cNvSpPr txBox="1"/>
          <p:nvPr/>
        </p:nvSpPr>
        <p:spPr>
          <a:xfrm>
            <a:off x="821131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3" name="Text 111"/>
          <p:cNvSpPr txBox="1"/>
          <p:nvPr/>
        </p:nvSpPr>
        <p:spPr>
          <a:xfrm>
            <a:off x="990295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821131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6" name="Text 114"/>
          <p:cNvSpPr txBox="1"/>
          <p:nvPr/>
        </p:nvSpPr>
        <p:spPr>
          <a:xfrm>
            <a:off x="990295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8" name="Text 116"/>
          <p:cNvSpPr txBox="1"/>
          <p:nvPr/>
        </p:nvSpPr>
        <p:spPr>
          <a:xfrm>
            <a:off x="821131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19" name="Text 117"/>
          <p:cNvSpPr txBox="1"/>
          <p:nvPr/>
        </p:nvSpPr>
        <p:spPr>
          <a:xfrm>
            <a:off x="990295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1" name="Text 119"/>
          <p:cNvSpPr txBox="1"/>
          <p:nvPr/>
        </p:nvSpPr>
        <p:spPr>
          <a:xfrm>
            <a:off x="821131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22" name="Text 120"/>
          <p:cNvSpPr txBox="1"/>
          <p:nvPr/>
        </p:nvSpPr>
        <p:spPr>
          <a:xfrm>
            <a:off x="990295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4" name="Text 122"/>
          <p:cNvSpPr txBox="1"/>
          <p:nvPr/>
        </p:nvSpPr>
        <p:spPr>
          <a:xfrm>
            <a:off x="8211312" y="3738233"/>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9902952" y="3738233"/>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6" name="Text 124"/>
          <p:cNvSpPr txBox="1"/>
          <p:nvPr/>
        </p:nvSpPr>
        <p:spPr>
          <a:xfrm>
            <a:off x="10652760" y="3738233"/>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7" name="Shape 125"/>
          <p:cNvSpPr/>
          <p:nvPr/>
        </p:nvSpPr>
        <p:spPr>
          <a:xfrm>
            <a:off x="8211312" y="4070743"/>
            <a:ext cx="3355848" cy="22860"/>
          </a:xfrm>
          <a:prstGeom prst="rect">
            <a:avLst/>
          </a:prstGeom>
          <a:solidFill>
            <a:srgbClr val="C2352F"/>
          </a:solidFill>
          <a:ln/>
        </p:spPr>
      </p:sp>
      <p:sp>
        <p:nvSpPr>
          <p:cNvPr id="128" name="Text 126"/>
          <p:cNvSpPr txBox="1"/>
          <p:nvPr/>
        </p:nvSpPr>
        <p:spPr>
          <a:xfrm>
            <a:off x="821131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9" name="Text 127"/>
          <p:cNvSpPr txBox="1"/>
          <p:nvPr/>
        </p:nvSpPr>
        <p:spPr>
          <a:xfrm>
            <a:off x="990295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0" name="Text 128"/>
          <p:cNvSpPr txBox="1"/>
          <p:nvPr/>
        </p:nvSpPr>
        <p:spPr>
          <a:xfrm>
            <a:off x="1065276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31" name="Text 129"/>
          <p:cNvSpPr txBox="1"/>
          <p:nvPr/>
        </p:nvSpPr>
        <p:spPr>
          <a:xfrm>
            <a:off x="821131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Text 130"/>
          <p:cNvSpPr txBox="1"/>
          <p:nvPr/>
        </p:nvSpPr>
        <p:spPr>
          <a:xfrm>
            <a:off x="990295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3" name="Text 131"/>
          <p:cNvSpPr txBox="1"/>
          <p:nvPr/>
        </p:nvSpPr>
        <p:spPr>
          <a:xfrm>
            <a:off x="1065276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4" name="Text 132"/>
          <p:cNvSpPr txBox="1"/>
          <p:nvPr/>
        </p:nvSpPr>
        <p:spPr>
          <a:xfrm>
            <a:off x="821131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5" name="Text 133"/>
          <p:cNvSpPr txBox="1"/>
          <p:nvPr/>
        </p:nvSpPr>
        <p:spPr>
          <a:xfrm>
            <a:off x="990295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6" name="Text 134"/>
          <p:cNvSpPr txBox="1"/>
          <p:nvPr/>
        </p:nvSpPr>
        <p:spPr>
          <a:xfrm>
            <a:off x="1065276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7" name="Text 135"/>
          <p:cNvSpPr txBox="1"/>
          <p:nvPr/>
        </p:nvSpPr>
        <p:spPr>
          <a:xfrm>
            <a:off x="821131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8" name="Text 136"/>
          <p:cNvSpPr txBox="1"/>
          <p:nvPr/>
        </p:nvSpPr>
        <p:spPr>
          <a:xfrm>
            <a:off x="990295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9" name="Text 137"/>
          <p:cNvSpPr txBox="1"/>
          <p:nvPr/>
        </p:nvSpPr>
        <p:spPr>
          <a:xfrm>
            <a:off x="1065276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40" name="Shape 138"/>
          <p:cNvSpPr/>
          <p:nvPr/>
        </p:nvSpPr>
        <p:spPr>
          <a:xfrm>
            <a:off x="11612880" y="4991793"/>
            <a:ext cx="54864" cy="241069"/>
          </a:xfrm>
          <a:prstGeom prst="rect">
            <a:avLst/>
          </a:prstGeom>
          <a:solidFill>
            <a:srgbClr val="C2352F"/>
          </a:solidFill>
          <a:ln/>
        </p:spPr>
      </p:sp>
      <p:sp>
        <p:nvSpPr>
          <p:cNvPr id="141" name="Text 139"/>
          <p:cNvSpPr txBox="1"/>
          <p:nvPr/>
        </p:nvSpPr>
        <p:spPr>
          <a:xfrm>
            <a:off x="821131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42" name="Text 140"/>
          <p:cNvSpPr txBox="1"/>
          <p:nvPr/>
        </p:nvSpPr>
        <p:spPr>
          <a:xfrm>
            <a:off x="990295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3" name="Text 141"/>
          <p:cNvSpPr txBox="1"/>
          <p:nvPr/>
        </p:nvSpPr>
        <p:spPr>
          <a:xfrm>
            <a:off x="1065276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4" name="Shape 142"/>
          <p:cNvSpPr/>
          <p:nvPr/>
        </p:nvSpPr>
        <p:spPr>
          <a:xfrm>
            <a:off x="11612880" y="5306014"/>
            <a:ext cx="54864" cy="241069"/>
          </a:xfrm>
          <a:prstGeom prst="rect">
            <a:avLst/>
          </a:prstGeom>
          <a:solidFill>
            <a:srgbClr val="C2352F"/>
          </a:solidFill>
          <a:ln/>
        </p:spPr>
      </p:sp>
      <p:sp>
        <p:nvSpPr>
          <p:cNvPr id="145" name="Text 143"/>
          <p:cNvSpPr txBox="1"/>
          <p:nvPr/>
        </p:nvSpPr>
        <p:spPr>
          <a:xfrm>
            <a:off x="821131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6" name="Text 144"/>
          <p:cNvSpPr txBox="1"/>
          <p:nvPr/>
        </p:nvSpPr>
        <p:spPr>
          <a:xfrm>
            <a:off x="990295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7" name="Text 145"/>
          <p:cNvSpPr txBox="1"/>
          <p:nvPr/>
        </p:nvSpPr>
        <p:spPr>
          <a:xfrm>
            <a:off x="1065276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8" name="Shape 146"/>
          <p:cNvSpPr/>
          <p:nvPr/>
        </p:nvSpPr>
        <p:spPr>
          <a:xfrm>
            <a:off x="457200" y="6126480"/>
            <a:ext cx="11274552" cy="615696"/>
          </a:xfrm>
          <a:prstGeom prst="rect">
            <a:avLst/>
          </a:prstGeom>
          <a:solidFill>
            <a:srgbClr val="EDF4FA"/>
          </a:solidFill>
          <a:ln/>
        </p:spPr>
      </p:sp>
      <p:sp>
        <p:nvSpPr>
          <p:cNvPr id="149" name="Text 14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82%: luxury stores run toward the top, domestic stores toward the bottom.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inside the 78-82% target range.</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78–82%</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78–82%.</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A service not recommended is an hour a technician never gets the chance to turn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with the right recommendations at that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quick cleaning that misses the cavity starting to form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and we want both. Capitalize on the opportunities we already have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379476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81304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9943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6345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4984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886968" cy="136676"/>
          </a:xfrm>
          <a:prstGeom prst="rect">
            <a:avLst/>
          </a:prstGeom>
          <a:solidFill>
            <a:srgbClr val="2587C5"/>
          </a:solidFill>
          <a:ln/>
        </p:spPr>
      </p:sp>
      <p:sp>
        <p:nvSpPr>
          <p:cNvPr id="15" name="Text 13"/>
          <p:cNvSpPr txBox="1"/>
          <p:nvPr/>
        </p:nvSpPr>
        <p:spPr>
          <a:xfrm>
            <a:off x="381304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6" name="Text 14"/>
          <p:cNvSpPr txBox="1"/>
          <p:nvPr/>
        </p:nvSpPr>
        <p:spPr>
          <a:xfrm>
            <a:off x="459943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692398" cy="136676"/>
          </a:xfrm>
          <a:prstGeom prst="rect">
            <a:avLst/>
          </a:prstGeom>
          <a:solidFill>
            <a:srgbClr val="2587C5"/>
          </a:solidFill>
          <a:ln/>
        </p:spPr>
      </p:sp>
      <p:sp>
        <p:nvSpPr>
          <p:cNvPr id="21" name="Text 19"/>
          <p:cNvSpPr txBox="1"/>
          <p:nvPr/>
        </p:nvSpPr>
        <p:spPr>
          <a:xfrm>
            <a:off x="381304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2" name="Text 20"/>
          <p:cNvSpPr txBox="1"/>
          <p:nvPr/>
        </p:nvSpPr>
        <p:spPr>
          <a:xfrm>
            <a:off x="459943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581679" cy="136676"/>
          </a:xfrm>
          <a:prstGeom prst="rect">
            <a:avLst/>
          </a:prstGeom>
          <a:solidFill>
            <a:srgbClr val="2587C5"/>
          </a:solidFill>
          <a:ln/>
        </p:spPr>
      </p:sp>
      <p:sp>
        <p:nvSpPr>
          <p:cNvPr id="27" name="Text 25"/>
          <p:cNvSpPr txBox="1"/>
          <p:nvPr/>
        </p:nvSpPr>
        <p:spPr>
          <a:xfrm>
            <a:off x="381304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8" name="Text 26"/>
          <p:cNvSpPr txBox="1"/>
          <p:nvPr/>
        </p:nvSpPr>
        <p:spPr>
          <a:xfrm>
            <a:off x="459943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58837" cy="136676"/>
          </a:xfrm>
          <a:prstGeom prst="rect">
            <a:avLst/>
          </a:prstGeom>
          <a:solidFill>
            <a:srgbClr val="2587C5"/>
          </a:solidFill>
          <a:ln/>
        </p:spPr>
      </p:sp>
      <p:sp>
        <p:nvSpPr>
          <p:cNvPr id="33" name="Text 31"/>
          <p:cNvSpPr txBox="1"/>
          <p:nvPr/>
        </p:nvSpPr>
        <p:spPr>
          <a:xfrm>
            <a:off x="381304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4" name="Text 32"/>
          <p:cNvSpPr txBox="1"/>
          <p:nvPr/>
        </p:nvSpPr>
        <p:spPr>
          <a:xfrm>
            <a:off x="459943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510915" cy="136676"/>
          </a:xfrm>
          <a:prstGeom prst="rect">
            <a:avLst/>
          </a:prstGeom>
          <a:solidFill>
            <a:srgbClr val="2587C5"/>
          </a:solidFill>
          <a:ln/>
        </p:spPr>
      </p:sp>
      <p:sp>
        <p:nvSpPr>
          <p:cNvPr id="39" name="Text 37"/>
          <p:cNvSpPr txBox="1"/>
          <p:nvPr/>
        </p:nvSpPr>
        <p:spPr>
          <a:xfrm>
            <a:off x="381304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40" name="Text 38"/>
          <p:cNvSpPr txBox="1"/>
          <p:nvPr/>
        </p:nvSpPr>
        <p:spPr>
          <a:xfrm>
            <a:off x="459943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467039" cy="136676"/>
          </a:xfrm>
          <a:prstGeom prst="rect">
            <a:avLst/>
          </a:prstGeom>
          <a:solidFill>
            <a:srgbClr val="2587C5"/>
          </a:solidFill>
          <a:ln/>
        </p:spPr>
      </p:sp>
      <p:sp>
        <p:nvSpPr>
          <p:cNvPr id="45" name="Text 43"/>
          <p:cNvSpPr txBox="1"/>
          <p:nvPr/>
        </p:nvSpPr>
        <p:spPr>
          <a:xfrm>
            <a:off x="381304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6" name="Text 44"/>
          <p:cNvSpPr txBox="1"/>
          <p:nvPr/>
        </p:nvSpPr>
        <p:spPr>
          <a:xfrm>
            <a:off x="459943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334545" cy="136676"/>
          </a:xfrm>
          <a:prstGeom prst="rect">
            <a:avLst/>
          </a:prstGeom>
          <a:solidFill>
            <a:srgbClr val="2587C5"/>
          </a:solidFill>
          <a:ln/>
        </p:spPr>
      </p:sp>
      <p:sp>
        <p:nvSpPr>
          <p:cNvPr id="51" name="Text 49"/>
          <p:cNvSpPr txBox="1"/>
          <p:nvPr/>
        </p:nvSpPr>
        <p:spPr>
          <a:xfrm>
            <a:off x="381304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459943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333005" cy="136676"/>
          </a:xfrm>
          <a:prstGeom prst="rect">
            <a:avLst/>
          </a:prstGeom>
          <a:solidFill>
            <a:srgbClr val="2587C5"/>
          </a:solidFill>
          <a:ln/>
        </p:spPr>
      </p:sp>
      <p:sp>
        <p:nvSpPr>
          <p:cNvPr id="57" name="Text 55"/>
          <p:cNvSpPr txBox="1"/>
          <p:nvPr/>
        </p:nvSpPr>
        <p:spPr>
          <a:xfrm>
            <a:off x="381304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8" name="Text 56"/>
          <p:cNvSpPr txBox="1"/>
          <p:nvPr/>
        </p:nvSpPr>
        <p:spPr>
          <a:xfrm>
            <a:off x="459943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312594" cy="136676"/>
          </a:xfrm>
          <a:prstGeom prst="rect">
            <a:avLst/>
          </a:prstGeom>
          <a:solidFill>
            <a:srgbClr val="2587C5"/>
          </a:solidFill>
          <a:ln/>
        </p:spPr>
      </p:sp>
      <p:sp>
        <p:nvSpPr>
          <p:cNvPr id="63" name="Text 61"/>
          <p:cNvSpPr txBox="1"/>
          <p:nvPr/>
        </p:nvSpPr>
        <p:spPr>
          <a:xfrm>
            <a:off x="381304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64" name="Text 62"/>
          <p:cNvSpPr txBox="1"/>
          <p:nvPr/>
        </p:nvSpPr>
        <p:spPr>
          <a:xfrm>
            <a:off x="459943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302272" cy="136676"/>
          </a:xfrm>
          <a:prstGeom prst="rect">
            <a:avLst/>
          </a:prstGeom>
          <a:solidFill>
            <a:srgbClr val="2587C5"/>
          </a:solidFill>
          <a:ln/>
        </p:spPr>
      </p:sp>
      <p:sp>
        <p:nvSpPr>
          <p:cNvPr id="69" name="Text 67"/>
          <p:cNvSpPr txBox="1"/>
          <p:nvPr/>
        </p:nvSpPr>
        <p:spPr>
          <a:xfrm>
            <a:off x="381304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70" name="Text 68"/>
          <p:cNvSpPr txBox="1"/>
          <p:nvPr/>
        </p:nvSpPr>
        <p:spPr>
          <a:xfrm>
            <a:off x="459943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288162" cy="136676"/>
          </a:xfrm>
          <a:prstGeom prst="rect">
            <a:avLst/>
          </a:prstGeom>
          <a:solidFill>
            <a:srgbClr val="2587C5"/>
          </a:solidFill>
          <a:ln/>
        </p:spPr>
      </p:sp>
      <p:sp>
        <p:nvSpPr>
          <p:cNvPr id="75" name="Text 73"/>
          <p:cNvSpPr txBox="1"/>
          <p:nvPr/>
        </p:nvSpPr>
        <p:spPr>
          <a:xfrm>
            <a:off x="381304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76" name="Text 74"/>
          <p:cNvSpPr txBox="1"/>
          <p:nvPr/>
        </p:nvSpPr>
        <p:spPr>
          <a:xfrm>
            <a:off x="459943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260095" cy="136676"/>
          </a:xfrm>
          <a:prstGeom prst="rect">
            <a:avLst/>
          </a:prstGeom>
          <a:solidFill>
            <a:srgbClr val="2587C5"/>
          </a:solidFill>
          <a:ln/>
        </p:spPr>
      </p:sp>
      <p:sp>
        <p:nvSpPr>
          <p:cNvPr id="81" name="Text 79"/>
          <p:cNvSpPr txBox="1"/>
          <p:nvPr/>
        </p:nvSpPr>
        <p:spPr>
          <a:xfrm>
            <a:off x="381304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82" name="Text 80"/>
          <p:cNvSpPr txBox="1"/>
          <p:nvPr/>
        </p:nvSpPr>
        <p:spPr>
          <a:xfrm>
            <a:off x="459943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257823" cy="136676"/>
          </a:xfrm>
          <a:prstGeom prst="rect">
            <a:avLst/>
          </a:prstGeom>
          <a:solidFill>
            <a:srgbClr val="2587C5"/>
          </a:solidFill>
          <a:ln/>
        </p:spPr>
      </p:sp>
      <p:sp>
        <p:nvSpPr>
          <p:cNvPr id="87" name="Text 85"/>
          <p:cNvSpPr txBox="1"/>
          <p:nvPr/>
        </p:nvSpPr>
        <p:spPr>
          <a:xfrm>
            <a:off x="381304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88" name="Text 86"/>
          <p:cNvSpPr txBox="1"/>
          <p:nvPr/>
        </p:nvSpPr>
        <p:spPr>
          <a:xfrm>
            <a:off x="459943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252824" cy="136676"/>
          </a:xfrm>
          <a:prstGeom prst="rect">
            <a:avLst/>
          </a:prstGeom>
          <a:solidFill>
            <a:srgbClr val="2587C5"/>
          </a:solidFill>
          <a:ln/>
        </p:spPr>
      </p:sp>
      <p:sp>
        <p:nvSpPr>
          <p:cNvPr id="93" name="Text 91"/>
          <p:cNvSpPr txBox="1"/>
          <p:nvPr/>
        </p:nvSpPr>
        <p:spPr>
          <a:xfrm>
            <a:off x="381304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94" name="Text 92"/>
          <p:cNvSpPr txBox="1"/>
          <p:nvPr/>
        </p:nvSpPr>
        <p:spPr>
          <a:xfrm>
            <a:off x="459943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244879" cy="136676"/>
          </a:xfrm>
          <a:prstGeom prst="rect">
            <a:avLst/>
          </a:prstGeom>
          <a:solidFill>
            <a:srgbClr val="2587C5"/>
          </a:solidFill>
          <a:ln/>
        </p:spPr>
      </p:sp>
      <p:sp>
        <p:nvSpPr>
          <p:cNvPr id="99" name="Text 97"/>
          <p:cNvSpPr txBox="1"/>
          <p:nvPr/>
        </p:nvSpPr>
        <p:spPr>
          <a:xfrm>
            <a:off x="381304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100" name="Text 98"/>
          <p:cNvSpPr txBox="1"/>
          <p:nvPr/>
        </p:nvSpPr>
        <p:spPr>
          <a:xfrm>
            <a:off x="459943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233938" cy="136676"/>
          </a:xfrm>
          <a:prstGeom prst="rect">
            <a:avLst/>
          </a:prstGeom>
          <a:solidFill>
            <a:srgbClr val="2587C5"/>
          </a:solidFill>
          <a:ln/>
        </p:spPr>
      </p:sp>
      <p:sp>
        <p:nvSpPr>
          <p:cNvPr id="105" name="Text 103"/>
          <p:cNvSpPr txBox="1"/>
          <p:nvPr/>
        </p:nvSpPr>
        <p:spPr>
          <a:xfrm>
            <a:off x="381304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106" name="Text 104"/>
          <p:cNvSpPr txBox="1"/>
          <p:nvPr/>
        </p:nvSpPr>
        <p:spPr>
          <a:xfrm>
            <a:off x="459943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221407" cy="136676"/>
          </a:xfrm>
          <a:prstGeom prst="rect">
            <a:avLst/>
          </a:prstGeom>
          <a:solidFill>
            <a:srgbClr val="2587C5"/>
          </a:solidFill>
          <a:ln/>
        </p:spPr>
      </p:sp>
      <p:sp>
        <p:nvSpPr>
          <p:cNvPr id="111" name="Text 109"/>
          <p:cNvSpPr txBox="1"/>
          <p:nvPr/>
        </p:nvSpPr>
        <p:spPr>
          <a:xfrm>
            <a:off x="381304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112" name="Text 110"/>
          <p:cNvSpPr txBox="1"/>
          <p:nvPr/>
        </p:nvSpPr>
        <p:spPr>
          <a:xfrm>
            <a:off x="459943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209398" cy="136676"/>
          </a:xfrm>
          <a:prstGeom prst="rect">
            <a:avLst/>
          </a:prstGeom>
          <a:solidFill>
            <a:srgbClr val="2587C5"/>
          </a:solidFill>
          <a:ln/>
        </p:spPr>
      </p:sp>
      <p:sp>
        <p:nvSpPr>
          <p:cNvPr id="117" name="Text 115"/>
          <p:cNvSpPr txBox="1"/>
          <p:nvPr/>
        </p:nvSpPr>
        <p:spPr>
          <a:xfrm>
            <a:off x="936345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18" name="Text 116"/>
          <p:cNvSpPr txBox="1"/>
          <p:nvPr/>
        </p:nvSpPr>
        <p:spPr>
          <a:xfrm>
            <a:off x="1014984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87702" cy="136676"/>
          </a:xfrm>
          <a:prstGeom prst="rect">
            <a:avLst/>
          </a:prstGeom>
          <a:solidFill>
            <a:srgbClr val="2587C5"/>
          </a:solidFill>
          <a:ln/>
        </p:spPr>
      </p:sp>
      <p:sp>
        <p:nvSpPr>
          <p:cNvPr id="123" name="Text 121"/>
          <p:cNvSpPr txBox="1"/>
          <p:nvPr/>
        </p:nvSpPr>
        <p:spPr>
          <a:xfrm>
            <a:off x="936345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24" name="Text 122"/>
          <p:cNvSpPr txBox="1"/>
          <p:nvPr/>
        </p:nvSpPr>
        <p:spPr>
          <a:xfrm>
            <a:off x="1014984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80536" cy="136676"/>
          </a:xfrm>
          <a:prstGeom prst="rect">
            <a:avLst/>
          </a:prstGeom>
          <a:solidFill>
            <a:srgbClr val="2587C5"/>
          </a:solidFill>
          <a:ln/>
        </p:spPr>
      </p:sp>
      <p:sp>
        <p:nvSpPr>
          <p:cNvPr id="129" name="Text 127"/>
          <p:cNvSpPr txBox="1"/>
          <p:nvPr/>
        </p:nvSpPr>
        <p:spPr>
          <a:xfrm>
            <a:off x="936345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30" name="Text 128"/>
          <p:cNvSpPr txBox="1"/>
          <p:nvPr/>
        </p:nvSpPr>
        <p:spPr>
          <a:xfrm>
            <a:off x="1014984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73314" cy="136676"/>
          </a:xfrm>
          <a:prstGeom prst="rect">
            <a:avLst/>
          </a:prstGeom>
          <a:solidFill>
            <a:srgbClr val="2587C5"/>
          </a:solidFill>
          <a:ln/>
        </p:spPr>
      </p:sp>
      <p:sp>
        <p:nvSpPr>
          <p:cNvPr id="135" name="Text 133"/>
          <p:cNvSpPr txBox="1"/>
          <p:nvPr/>
        </p:nvSpPr>
        <p:spPr>
          <a:xfrm>
            <a:off x="936345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36" name="Text 134"/>
          <p:cNvSpPr txBox="1"/>
          <p:nvPr/>
        </p:nvSpPr>
        <p:spPr>
          <a:xfrm>
            <a:off x="1014984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69896" cy="136676"/>
          </a:xfrm>
          <a:prstGeom prst="rect">
            <a:avLst/>
          </a:prstGeom>
          <a:solidFill>
            <a:srgbClr val="2587C5"/>
          </a:solidFill>
          <a:ln/>
        </p:spPr>
      </p:sp>
      <p:sp>
        <p:nvSpPr>
          <p:cNvPr id="141" name="Text 139"/>
          <p:cNvSpPr txBox="1"/>
          <p:nvPr/>
        </p:nvSpPr>
        <p:spPr>
          <a:xfrm>
            <a:off x="936345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42" name="Text 140"/>
          <p:cNvSpPr txBox="1"/>
          <p:nvPr/>
        </p:nvSpPr>
        <p:spPr>
          <a:xfrm>
            <a:off x="1014984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65457" cy="136676"/>
          </a:xfrm>
          <a:prstGeom prst="rect">
            <a:avLst/>
          </a:prstGeom>
          <a:solidFill>
            <a:srgbClr val="2587C5"/>
          </a:solidFill>
          <a:ln/>
        </p:spPr>
      </p:sp>
      <p:sp>
        <p:nvSpPr>
          <p:cNvPr id="147" name="Text 145"/>
          <p:cNvSpPr txBox="1"/>
          <p:nvPr/>
        </p:nvSpPr>
        <p:spPr>
          <a:xfrm>
            <a:off x="936345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48" name="Text 146"/>
          <p:cNvSpPr txBox="1"/>
          <p:nvPr/>
        </p:nvSpPr>
        <p:spPr>
          <a:xfrm>
            <a:off x="1014984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4758" cy="136676"/>
          </a:xfrm>
          <a:prstGeom prst="rect">
            <a:avLst/>
          </a:prstGeom>
          <a:solidFill>
            <a:srgbClr val="2587C5"/>
          </a:solidFill>
          <a:ln/>
        </p:spPr>
      </p:sp>
      <p:sp>
        <p:nvSpPr>
          <p:cNvPr id="153" name="Text 151"/>
          <p:cNvSpPr txBox="1"/>
          <p:nvPr/>
        </p:nvSpPr>
        <p:spPr>
          <a:xfrm>
            <a:off x="936345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54" name="Text 152"/>
          <p:cNvSpPr txBox="1"/>
          <p:nvPr/>
        </p:nvSpPr>
        <p:spPr>
          <a:xfrm>
            <a:off x="1014984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1615" cy="136676"/>
          </a:xfrm>
          <a:prstGeom prst="rect">
            <a:avLst/>
          </a:prstGeom>
          <a:solidFill>
            <a:srgbClr val="2587C5"/>
          </a:solidFill>
          <a:ln/>
        </p:spPr>
      </p:sp>
      <p:sp>
        <p:nvSpPr>
          <p:cNvPr id="159" name="Text 157"/>
          <p:cNvSpPr txBox="1"/>
          <p:nvPr/>
        </p:nvSpPr>
        <p:spPr>
          <a:xfrm>
            <a:off x="936345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60" name="Text 158"/>
          <p:cNvSpPr txBox="1"/>
          <p:nvPr/>
        </p:nvSpPr>
        <p:spPr>
          <a:xfrm>
            <a:off x="1014984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148645" cy="136676"/>
          </a:xfrm>
          <a:prstGeom prst="rect">
            <a:avLst/>
          </a:prstGeom>
          <a:solidFill>
            <a:srgbClr val="2587C5"/>
          </a:solidFill>
          <a:ln/>
        </p:spPr>
      </p:sp>
      <p:sp>
        <p:nvSpPr>
          <p:cNvPr id="165" name="Text 163"/>
          <p:cNvSpPr txBox="1"/>
          <p:nvPr/>
        </p:nvSpPr>
        <p:spPr>
          <a:xfrm>
            <a:off x="936345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66" name="Text 164"/>
          <p:cNvSpPr txBox="1"/>
          <p:nvPr/>
        </p:nvSpPr>
        <p:spPr>
          <a:xfrm>
            <a:off x="1014984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148155" cy="136676"/>
          </a:xfrm>
          <a:prstGeom prst="rect">
            <a:avLst/>
          </a:prstGeom>
          <a:solidFill>
            <a:srgbClr val="2587C5"/>
          </a:solidFill>
          <a:ln/>
        </p:spPr>
      </p:sp>
      <p:sp>
        <p:nvSpPr>
          <p:cNvPr id="171" name="Text 169"/>
          <p:cNvSpPr txBox="1"/>
          <p:nvPr/>
        </p:nvSpPr>
        <p:spPr>
          <a:xfrm>
            <a:off x="936345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72" name="Text 170"/>
          <p:cNvSpPr txBox="1"/>
          <p:nvPr/>
        </p:nvSpPr>
        <p:spPr>
          <a:xfrm>
            <a:off x="1014984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146434" cy="136676"/>
          </a:xfrm>
          <a:prstGeom prst="rect">
            <a:avLst/>
          </a:prstGeom>
          <a:solidFill>
            <a:srgbClr val="2587C5"/>
          </a:solidFill>
          <a:ln/>
        </p:spPr>
      </p:sp>
      <p:sp>
        <p:nvSpPr>
          <p:cNvPr id="177" name="Text 175"/>
          <p:cNvSpPr txBox="1"/>
          <p:nvPr/>
        </p:nvSpPr>
        <p:spPr>
          <a:xfrm>
            <a:off x="936345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78" name="Text 176"/>
          <p:cNvSpPr txBox="1"/>
          <p:nvPr/>
        </p:nvSpPr>
        <p:spPr>
          <a:xfrm>
            <a:off x="1014984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134976" cy="136676"/>
          </a:xfrm>
          <a:prstGeom prst="rect">
            <a:avLst/>
          </a:prstGeom>
          <a:solidFill>
            <a:srgbClr val="2587C5"/>
          </a:solidFill>
          <a:ln/>
        </p:spPr>
      </p:sp>
      <p:sp>
        <p:nvSpPr>
          <p:cNvPr id="183" name="Text 181"/>
          <p:cNvSpPr txBox="1"/>
          <p:nvPr/>
        </p:nvSpPr>
        <p:spPr>
          <a:xfrm>
            <a:off x="936345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84" name="Text 182"/>
          <p:cNvSpPr txBox="1"/>
          <p:nvPr/>
        </p:nvSpPr>
        <p:spPr>
          <a:xfrm>
            <a:off x="1014984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133528" cy="136676"/>
          </a:xfrm>
          <a:prstGeom prst="rect">
            <a:avLst/>
          </a:prstGeom>
          <a:solidFill>
            <a:srgbClr val="2587C5"/>
          </a:solidFill>
          <a:ln/>
        </p:spPr>
      </p:sp>
      <p:sp>
        <p:nvSpPr>
          <p:cNvPr id="189" name="Text 187"/>
          <p:cNvSpPr txBox="1"/>
          <p:nvPr/>
        </p:nvSpPr>
        <p:spPr>
          <a:xfrm>
            <a:off x="936345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90" name="Text 188"/>
          <p:cNvSpPr txBox="1"/>
          <p:nvPr/>
        </p:nvSpPr>
        <p:spPr>
          <a:xfrm>
            <a:off x="1014984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108545" cy="136676"/>
          </a:xfrm>
          <a:prstGeom prst="rect">
            <a:avLst/>
          </a:prstGeom>
          <a:solidFill>
            <a:srgbClr val="2587C5"/>
          </a:solidFill>
          <a:ln/>
        </p:spPr>
      </p:sp>
      <p:sp>
        <p:nvSpPr>
          <p:cNvPr id="195" name="Text 193"/>
          <p:cNvSpPr txBox="1"/>
          <p:nvPr/>
        </p:nvSpPr>
        <p:spPr>
          <a:xfrm>
            <a:off x="936345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96" name="Text 194"/>
          <p:cNvSpPr txBox="1"/>
          <p:nvPr/>
        </p:nvSpPr>
        <p:spPr>
          <a:xfrm>
            <a:off x="1014984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88865" cy="136676"/>
          </a:xfrm>
          <a:prstGeom prst="rect">
            <a:avLst/>
          </a:prstGeom>
          <a:solidFill>
            <a:srgbClr val="2587C5"/>
          </a:solidFill>
          <a:ln/>
        </p:spPr>
      </p:sp>
      <p:sp>
        <p:nvSpPr>
          <p:cNvPr id="201" name="Text 199"/>
          <p:cNvSpPr txBox="1"/>
          <p:nvPr/>
        </p:nvSpPr>
        <p:spPr>
          <a:xfrm>
            <a:off x="936345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202" name="Text 200"/>
          <p:cNvSpPr txBox="1"/>
          <p:nvPr/>
        </p:nvSpPr>
        <p:spPr>
          <a:xfrm>
            <a:off x="1014984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70911" cy="136676"/>
          </a:xfrm>
          <a:prstGeom prst="rect">
            <a:avLst/>
          </a:prstGeom>
          <a:solidFill>
            <a:srgbClr val="2587C5"/>
          </a:solidFill>
          <a:ln/>
        </p:spPr>
      </p:sp>
      <p:sp>
        <p:nvSpPr>
          <p:cNvPr id="207" name="Text 205"/>
          <p:cNvSpPr txBox="1"/>
          <p:nvPr/>
        </p:nvSpPr>
        <p:spPr>
          <a:xfrm>
            <a:off x="936345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208" name="Text 206"/>
          <p:cNvSpPr txBox="1"/>
          <p:nvPr/>
        </p:nvSpPr>
        <p:spPr>
          <a:xfrm>
            <a:off x="1014984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2026-10-25T23:10:58Z</dcterms:created>
  <dcterms:modified xsi:type="dcterms:W3CDTF">2026-10-25T23:10:58Z</dcterms:modified>
</cp:coreProperties>
</file>