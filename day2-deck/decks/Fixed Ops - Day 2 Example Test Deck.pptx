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59" r:id="rId5"/>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60" r:id="rId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261" r:id="rId7"/>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262" r:id="rId8"/>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263" r:id="rId9"/>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264" r:id="rId10"/>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65" r:id="rId11"/>
    <p:sldId id="442" r:id="rId193"/>
    <p:sldId id="443" r:id="rId194"/>
    <p:sldId id="444" r:id="rId195"/>
    <p:sldId id="445" r:id="rId196"/>
    <p:sldId id="446" r:id="rId197"/>
    <p:sldId id="447" r:id="rId198"/>
    <p:sldId id="266" r:id="rId12"/>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196.34</c:v>
                </c:pt>
                <c:pt idx="1">
                  <c:v>197.6</c:v>
                </c:pt>
                <c:pt idx="2">
                  <c:v>196.73</c:v>
                </c:pt>
                <c:pt idx="3">
                  <c:v>199.07</c:v>
                </c:pt>
                <c:pt idx="4">
                  <c:v>194.28</c:v>
                </c:pt>
                <c:pt idx="5">
                  <c:v>194.35</c:v>
                </c:pt>
                <c:pt idx="6">
                  <c:v>198.7</c:v>
                </c:pt>
                <c:pt idx="7">
                  <c:v>198.48</c:v>
                </c:pt>
                <c:pt idx="8">
                  <c:v>198.65</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c:v>
                </c:pt>
                <c:pt idx="1">
                  <c:v>174.7</c:v>
                </c:pt>
                <c:pt idx="2">
                  <c:v>172.93</c:v>
                </c:pt>
                <c:pt idx="3">
                  <c:v>175.61</c:v>
                </c:pt>
                <c:pt idx="4">
                  <c:v>181.76</c:v>
                </c:pt>
                <c:pt idx="5">
                  <c:v>185.29</c:v>
                </c:pt>
                <c:pt idx="6">
                  <c:v>186.84</c:v>
                </c:pt>
                <c:pt idx="7">
                  <c:v>186.04</c:v>
                </c:pt>
                <c:pt idx="8">
                  <c:v>186.63</c:v>
                </c:pt>
                <c:pt idx="9">
                  <c:v>187.82</c:v>
                </c:pt>
                <c:pt idx="10">
                  <c:v>188.55</c:v>
                </c:pt>
                <c:pt idx="11">
                  <c:v>193.03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Top and bottom five stores by change in CP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Top and bottom five stores by change in Customer Pay Share of Labor Sale,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Top and bottom five stores by change in Warranty ELR,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Top and bottom five stores by change in warranty RO count (percent, so store size does not drive the ranking),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2025.Conversation starter: each top store says one thing they started doing; each bottom store says what got in the way and what they would try. The room trades ideas.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$120.57M → $126.87M (+5.2%).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$993K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$2.95M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$3.01M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$1.89M</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$724K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$588K</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$6.61M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$5.92M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$3.23M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$3.04M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$60.76M → $61.93M (+1.9%).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$896K</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$2.42M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$3.11M</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$1.04M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$1.31M</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$932K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$1.09M</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$1.10M</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$827K</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$1.42M</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$1.29M</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$1.40M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$1.26M</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$2.27M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$2.10M</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76.0% → 78.1% (+2.1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86.1%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54.1%</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65.8%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93.5%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83.8%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103.6%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63.1%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18.9% → 21.8% (+2.9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18.1%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37.1% → 36.7% (−0.4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44.4%</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Work it in order: ROs first, then hours per RO, the rate (ELR), the mix and the margin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279,300 → 279,756 (+0.2%).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8,133</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1,784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2,010</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3,107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5,042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1,421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1,919</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3,349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4,379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3,917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8,930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504,019 → 523,142 (+3.8%).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12,757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5,045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8,154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3,287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4,394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3,276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12,611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10,684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7,749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17,926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48,486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44,883</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 → 1.87 (+0.07).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+0.55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+0.40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+0.30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1.71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St George and Kia St George what changed. Ask LR Reno, Volvo and VW St George what got in the way.</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$158.86 → $162.42 (+$3.56).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$222.12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+$40.53</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$167.64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+$28.08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$143.89</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+$26.84</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+$17.41</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$184.36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$149.23</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−$35.13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$266.32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−$12.64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$221.78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$210.50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−$11.28</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$148.84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$138.48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−$10.35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−$6.26</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Volvo, Lincoln and Honda Spokane what changed. Ask Kia LV, Audi Henderson and Acura what got in the way.</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$287 → $304 (+$17).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$928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$234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Lincoln, Nissan and Lexus what changed. Ask LR Reno, VW St George and Audi Henderson what got in the way.</a:t>
            </a:r>
            <a:endParaRPr lang="en-US" sz="145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$228 → $238 (+$9).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$926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$363</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$240</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$219</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$876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$814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$542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$504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LR Henderson, Lincoln and Lexus what changed. Ask LR Reno, Audi Reno and Kia LV what got in the way.</a:t>
            </a:r>
            <a:endParaRPr lang="en-US" sz="15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80.9% → 80.8% (−0.1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78.5%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79.4%</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83.2%</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72.9%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82.9%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39.4% → 40.7% (+1.2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42.7%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31.0%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34.8%</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37.0%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44.6%</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44.5%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39.4%</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52.8% → 52.5%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45.8%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56.6%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47.2%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48.7%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59.0%</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50.8%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69.6%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61.5%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28.5%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−6.8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57.3%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34.1%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−5.7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27.9%</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Mazda, VW Henderson and Acura what changed. Ask LR Reno, Hyundai Prescott and Toyota Henderson what got in the way.</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$126.09 → $129.84 (+$3.75).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$158.44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$205.15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+$46.71</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$167.46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$207.05</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+$39.59</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$138.70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$165.81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+$27.12</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$134.46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+$20.81</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$114.97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$166.97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−$60.43</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$182.66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$141.76</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−$40.91</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$119.81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$87.21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−$32.60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$172.28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$151.53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−$20.75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$157.10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$139.36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−$17.74</a:t>
            </a:r>
            <a:endParaRPr lang="en-US" sz="1600" dirty="0"/>
          </a:p>
        </p:txBody>
      </p:sp>
      <p:sp>
        <p:nvSpPr>
          <p:cNvPr id="61" name="Shape 59"/>
          <p:cNvSpPr/>
          <p:nvPr/>
        </p:nvSpPr>
        <p:spPr>
          <a:xfrm>
            <a:off x="457200" y="6126480"/>
            <a:ext cx="11274552" cy="356616"/>
          </a:xfrm>
          <a:prstGeom prst="rect">
            <a:avLst/>
          </a:prstGeom>
          <a:solidFill>
            <a:srgbClr val="EDF4FA"/>
          </a:solidFill>
          <a:ln/>
        </p:spPr>
      </p:sp>
      <p:sp>
        <p:nvSpPr>
          <p:cNvPr id="62" name="Text 60"/>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LR Reno and Lincoln what changed. Ask Kia LV, Mazda and Nissan what got in the way.</a:t>
            </a:r>
            <a:endParaRPr lang="en-US" sz="15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77.9% → 78.1% (+0.3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80.4%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82.8%</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75.6%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79.7%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78.4%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73.8%</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76.9%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1" name="Shape 59"/>
          <p:cNvSpPr/>
          <p:nvPr/>
        </p:nvSpPr>
        <p:spPr>
          <a:xfrm>
            <a:off x="457200" y="6126480"/>
            <a:ext cx="11274552" cy="371856"/>
          </a:xfrm>
          <a:prstGeom prst="rect">
            <a:avLst/>
          </a:prstGeom>
          <a:solidFill>
            <a:srgbClr val="EDF4FA"/>
          </a:solidFill>
          <a:ln/>
        </p:spPr>
      </p:sp>
      <p:sp>
        <p:nvSpPr>
          <p:cNvPr id="62" name="Text 6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36.0% → 36.5% (+0.5 pts).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33.4%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29.7%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31.7%</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32.5%</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28.9%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31.3%</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11.9% → 13.2%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21.7%</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16.6%</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9.7%</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6.9% → 8.3%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14.9%</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16.9%</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7.7%</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3.6%</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5.2%</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11.2%</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1" name="Shape 59"/>
          <p:cNvSpPr/>
          <p:nvPr/>
        </p:nvSpPr>
        <p:spPr>
          <a:xfrm>
            <a:off x="457200" y="6126480"/>
            <a:ext cx="11274552" cy="341376"/>
          </a:xfrm>
          <a:prstGeom prst="rect">
            <a:avLst/>
          </a:prstGeom>
          <a:solidFill>
            <a:srgbClr val="EDF4FA"/>
          </a:solidFill>
          <a:ln/>
        </p:spPr>
      </p:sp>
      <p:sp>
        <p:nvSpPr>
          <p:cNvPr id="62" name="Text 6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a:t>
            </a:r>
            <a:endParaRPr lang="en-US" sz="14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7.9% → 9.2% (+1.4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4.2%</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10.7%</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11.9%</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4.5% → 5.8% (+1.2 pts). Ranked by change in points.</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9.3%</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LV</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5.8%</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0.0%</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$180.25 → $197.17 (+$16.93).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$217.17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$274.91</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+$57.74</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$269.02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$308.88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+$39.85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$207.14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$234.51</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+$27.37</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$236.81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$263.19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+$26.38</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$150.71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$171.25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+$20.55</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$142.73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$130.48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−$12.25</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$229.98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$228.39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$212.46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$212.39</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−$0.07</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$120.55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$121.50</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+$0.95</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$154.85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$155.88</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+$1.03</a:t>
            </a:r>
            <a:endParaRPr lang="en-US" sz="1600" dirty="0"/>
          </a:p>
        </p:txBody>
      </p:sp>
      <p:sp>
        <p:nvSpPr>
          <p:cNvPr id="61" name="Shape 59"/>
          <p:cNvSpPr/>
          <p:nvPr/>
        </p:nvSpPr>
        <p:spPr>
          <a:xfrm>
            <a:off x="457200" y="6126480"/>
            <a:ext cx="11274552" cy="348996"/>
          </a:xfrm>
          <a:prstGeom prst="rect">
            <a:avLst/>
          </a:prstGeom>
          <a:solidFill>
            <a:srgbClr val="EDF4FA"/>
          </a:solidFill>
          <a:ln/>
        </p:spPr>
      </p:sp>
      <p:sp>
        <p:nvSpPr>
          <p:cNvPr id="62" name="Text 6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LR LV, Audi Henderson and Volvo what changed. Ask Honda North, LR Reno and Cadillac what got in the way.</a:t>
            </a:r>
            <a:endParaRPr lang="en-US" sz="145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135,764 → 126,891 (−6.5%). Ranked by percent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1,895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2,802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2,012</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2,482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3,655</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+47.3%</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2,263</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11,211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2,545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1,365</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−46.4%</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1,512</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−43.7%</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13,040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7,885</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−39.5%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1,997</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−35.3%</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1,757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−29.7%</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Lexus and Hyundai St George what changed. Ask Acura, Mazda and Honda Henderson what got in the way.</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$12,410 → $13,617 (+$1,207).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$11,398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$15,556</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$8,698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$11,631</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$10,963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$13,289</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$21,102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$23,461</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$9,878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$13,334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$12,103</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$14,765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$14,260</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$12,419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$12,006</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$16,088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$15,966</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173 → 166 (−7).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175</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118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253</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174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180</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244</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197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139</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166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123</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202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161</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260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225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26.0 → 26.8 (+0.8).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31.4</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28.8</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26.8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30.6</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33.2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36.8</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19.2</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46.4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39.8</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38.2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32.4</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31.1</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34.3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31.4</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24.5</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Jan–Sep 2026 against Jan–Sep 2025. Group 377 → 390 (+13). Ranked by change.</a:t>
            </a:r>
            <a:endParaRPr lang="en-US" sz="1400" dirty="0"/>
          </a:p>
        </p:txBody>
      </p:sp>
      <p:sp>
        <p:nvSpPr>
          <p:cNvPr id="7" name="Shape 5"/>
          <p:cNvSpPr/>
          <p:nvPr/>
        </p:nvSpPr>
        <p:spPr>
          <a:xfrm>
            <a:off x="658368" y="1737360"/>
            <a:ext cx="5321808" cy="45720"/>
          </a:xfrm>
          <a:prstGeom prst="rect">
            <a:avLst/>
          </a:prstGeom>
          <a:solidFill>
            <a:srgbClr val="12A566"/>
          </a:solidFill>
          <a:ln/>
        </p:spPr>
      </p:sp>
      <p:sp>
        <p:nvSpPr>
          <p:cNvPr id="8" name="Text 6"/>
          <p:cNvSpPr txBox="1"/>
          <p:nvPr/>
        </p:nvSpPr>
        <p:spPr>
          <a:xfrm>
            <a:off x="749808" y="1810512"/>
            <a:ext cx="1828800" cy="274320"/>
          </a:xfrm>
          <a:prstGeom prst="rect">
            <a:avLst/>
          </a:prstGeom>
          <a:noFill/>
          <a:ln/>
        </p:spPr>
        <p:txBody>
          <a:bodyPr wrap="square" lIns="0" tIns="0" rIns="0" bIns="0" rtlCol="0" anchor="ctr"/>
          <a:lstStyle/>
          <a:p>
            <a:pPr indent="0" marL="0">
              <a:buNone/>
            </a:pPr>
            <a:r>
              <a:rPr lang="en-US" sz="1400" b="1" spc="100" kern="0" dirty="0">
                <a:solidFill>
                  <a:srgbClr val="0B7A4A"/>
                </a:solidFill>
                <a:latin typeface="Inter" pitchFamily="34" charset="0"/>
                <a:ea typeface="Inter" pitchFamily="34" charset="-122"/>
                <a:cs typeface="Inter" pitchFamily="34" charset="-120"/>
              </a:rPr>
              <a:t>TOP 5</a:t>
            </a:r>
            <a:endParaRPr lang="en-US" sz="1400" dirty="0"/>
          </a:p>
        </p:txBody>
      </p:sp>
      <p:sp>
        <p:nvSpPr>
          <p:cNvPr id="9" name="Text 7"/>
          <p:cNvSpPr txBox="1"/>
          <p:nvPr/>
        </p:nvSpPr>
        <p:spPr>
          <a:xfrm>
            <a:off x="2898648"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10" name="Text 8"/>
          <p:cNvSpPr txBox="1"/>
          <p:nvPr/>
        </p:nvSpPr>
        <p:spPr>
          <a:xfrm>
            <a:off x="4864608"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58368" y="2121408"/>
            <a:ext cx="5321808" cy="751637"/>
          </a:xfrm>
          <a:prstGeom prst="rect">
            <a:avLst/>
          </a:prstGeom>
          <a:solidFill>
            <a:srgbClr val="F7F7F7"/>
          </a:solidFill>
          <a:ln/>
        </p:spPr>
      </p:sp>
      <p:sp>
        <p:nvSpPr>
          <p:cNvPr id="12" name="Text 10"/>
          <p:cNvSpPr txBox="1"/>
          <p:nvPr/>
        </p:nvSpPr>
        <p:spPr>
          <a:xfrm>
            <a:off x="749808"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115568"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14" name="Text 12"/>
          <p:cNvSpPr txBox="1"/>
          <p:nvPr/>
        </p:nvSpPr>
        <p:spPr>
          <a:xfrm>
            <a:off x="2898648"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1,022</a:t>
            </a:r>
            <a:endParaRPr lang="en-US" sz="1400" dirty="0"/>
          </a:p>
        </p:txBody>
      </p:sp>
      <p:sp>
        <p:nvSpPr>
          <p:cNvPr id="15" name="Text 13"/>
          <p:cNvSpPr txBox="1"/>
          <p:nvPr/>
        </p:nvSpPr>
        <p:spPr>
          <a:xfrm>
            <a:off x="4864608" y="212140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6" name="Text 14"/>
          <p:cNvSpPr txBox="1"/>
          <p:nvPr/>
        </p:nvSpPr>
        <p:spPr>
          <a:xfrm>
            <a:off x="749808"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5"/>
          <p:cNvSpPr txBox="1"/>
          <p:nvPr/>
        </p:nvSpPr>
        <p:spPr>
          <a:xfrm>
            <a:off x="1115568"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18" name="Text 16"/>
          <p:cNvSpPr txBox="1"/>
          <p:nvPr/>
        </p:nvSpPr>
        <p:spPr>
          <a:xfrm>
            <a:off x="2898648"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516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686</a:t>
            </a:r>
            <a:endParaRPr lang="en-US" sz="1400" dirty="0"/>
          </a:p>
        </p:txBody>
      </p:sp>
      <p:sp>
        <p:nvSpPr>
          <p:cNvPr id="19" name="Text 17"/>
          <p:cNvSpPr txBox="1"/>
          <p:nvPr/>
        </p:nvSpPr>
        <p:spPr>
          <a:xfrm>
            <a:off x="4864608" y="287304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0" name="Shape 18"/>
          <p:cNvSpPr/>
          <p:nvPr/>
        </p:nvSpPr>
        <p:spPr>
          <a:xfrm>
            <a:off x="658368" y="3624682"/>
            <a:ext cx="5321808" cy="751637"/>
          </a:xfrm>
          <a:prstGeom prst="rect">
            <a:avLst/>
          </a:prstGeom>
          <a:solidFill>
            <a:srgbClr val="F7F7F7"/>
          </a:solidFill>
          <a:ln/>
        </p:spPr>
      </p:sp>
      <p:sp>
        <p:nvSpPr>
          <p:cNvPr id="21" name="Text 19"/>
          <p:cNvSpPr txBox="1"/>
          <p:nvPr/>
        </p:nvSpPr>
        <p:spPr>
          <a:xfrm>
            <a:off x="749808"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115568"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23" name="Text 21"/>
          <p:cNvSpPr txBox="1"/>
          <p:nvPr/>
        </p:nvSpPr>
        <p:spPr>
          <a:xfrm>
            <a:off x="2898648"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657</a:t>
            </a:r>
            <a:endParaRPr lang="en-US" sz="1400" dirty="0"/>
          </a:p>
        </p:txBody>
      </p:sp>
      <p:sp>
        <p:nvSpPr>
          <p:cNvPr id="24" name="Text 22"/>
          <p:cNvSpPr txBox="1"/>
          <p:nvPr/>
        </p:nvSpPr>
        <p:spPr>
          <a:xfrm>
            <a:off x="4864608" y="3624682"/>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5" name="Text 23"/>
          <p:cNvSpPr txBox="1"/>
          <p:nvPr/>
        </p:nvSpPr>
        <p:spPr>
          <a:xfrm>
            <a:off x="749808"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115568"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p:txBody>
      </p:sp>
      <p:sp>
        <p:nvSpPr>
          <p:cNvPr id="27" name="Text 25"/>
          <p:cNvSpPr txBox="1"/>
          <p:nvPr/>
        </p:nvSpPr>
        <p:spPr>
          <a:xfrm>
            <a:off x="2898648"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471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591</a:t>
            </a:r>
            <a:endParaRPr lang="en-US" sz="1400" dirty="0"/>
          </a:p>
        </p:txBody>
      </p:sp>
      <p:sp>
        <p:nvSpPr>
          <p:cNvPr id="28" name="Text 26"/>
          <p:cNvSpPr txBox="1"/>
          <p:nvPr/>
        </p:nvSpPr>
        <p:spPr>
          <a:xfrm>
            <a:off x="4864608" y="4376318"/>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9" name="Shape 27"/>
          <p:cNvSpPr/>
          <p:nvPr/>
        </p:nvSpPr>
        <p:spPr>
          <a:xfrm>
            <a:off x="658368" y="5127955"/>
            <a:ext cx="5321808" cy="751637"/>
          </a:xfrm>
          <a:prstGeom prst="rect">
            <a:avLst/>
          </a:prstGeom>
          <a:solidFill>
            <a:srgbClr val="F7F7F7"/>
          </a:solidFill>
          <a:ln/>
        </p:spPr>
      </p:sp>
      <p:sp>
        <p:nvSpPr>
          <p:cNvPr id="30" name="Text 28"/>
          <p:cNvSpPr txBox="1"/>
          <p:nvPr/>
        </p:nvSpPr>
        <p:spPr>
          <a:xfrm>
            <a:off x="749808"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115568"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32" name="Text 30"/>
          <p:cNvSpPr txBox="1"/>
          <p:nvPr/>
        </p:nvSpPr>
        <p:spPr>
          <a:xfrm>
            <a:off x="2898648"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649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765</a:t>
            </a:r>
            <a:endParaRPr lang="en-US" sz="1400" dirty="0"/>
          </a:p>
        </p:txBody>
      </p:sp>
      <p:sp>
        <p:nvSpPr>
          <p:cNvPr id="33" name="Text 31"/>
          <p:cNvSpPr txBox="1"/>
          <p:nvPr/>
        </p:nvSpPr>
        <p:spPr>
          <a:xfrm>
            <a:off x="4864608" y="5127955"/>
            <a:ext cx="1051560" cy="751637"/>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4" name="Shape 32"/>
          <p:cNvSpPr/>
          <p:nvPr/>
        </p:nvSpPr>
        <p:spPr>
          <a:xfrm>
            <a:off x="6208776" y="1737360"/>
            <a:ext cx="5321808" cy="45720"/>
          </a:xfrm>
          <a:prstGeom prst="rect">
            <a:avLst/>
          </a:prstGeom>
          <a:solidFill>
            <a:srgbClr val="C2352F"/>
          </a:solidFill>
          <a:ln/>
        </p:spPr>
      </p:sp>
      <p:sp>
        <p:nvSpPr>
          <p:cNvPr id="35" name="Text 33"/>
          <p:cNvSpPr txBox="1"/>
          <p:nvPr/>
        </p:nvSpPr>
        <p:spPr>
          <a:xfrm>
            <a:off x="6300216" y="1810512"/>
            <a:ext cx="1828800" cy="274320"/>
          </a:xfrm>
          <a:prstGeom prst="rect">
            <a:avLst/>
          </a:prstGeom>
          <a:noFill/>
          <a:ln/>
        </p:spPr>
        <p:txBody>
          <a:bodyPr wrap="square" lIns="0" tIns="0" rIns="0" bIns="0" rtlCol="0" anchor="ctr"/>
          <a:lstStyle/>
          <a:p>
            <a:pPr indent="0" marL="0">
              <a:buNone/>
            </a:pPr>
            <a:r>
              <a:rPr lang="en-US" sz="1400" b="1" spc="100" kern="0" dirty="0">
                <a:solidFill>
                  <a:srgbClr val="A82B26"/>
                </a:solidFill>
                <a:latin typeface="Inter" pitchFamily="34" charset="0"/>
                <a:ea typeface="Inter" pitchFamily="34" charset="-122"/>
                <a:cs typeface="Inter" pitchFamily="34" charset="-120"/>
              </a:rPr>
              <a:t>BOTTOM 5</a:t>
            </a:r>
            <a:endParaRPr lang="en-US" sz="1400" dirty="0"/>
          </a:p>
        </p:txBody>
      </p:sp>
      <p:sp>
        <p:nvSpPr>
          <p:cNvPr id="36" name="Text 34"/>
          <p:cNvSpPr txBox="1"/>
          <p:nvPr/>
        </p:nvSpPr>
        <p:spPr>
          <a:xfrm>
            <a:off x="8449056" y="1810512"/>
            <a:ext cx="1828800" cy="27432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2025 → 2026</a:t>
            </a:r>
            <a:endParaRPr lang="en-US" sz="1400" dirty="0"/>
          </a:p>
        </p:txBody>
      </p:sp>
      <p:sp>
        <p:nvSpPr>
          <p:cNvPr id="37" name="Text 35"/>
          <p:cNvSpPr txBox="1"/>
          <p:nvPr/>
        </p:nvSpPr>
        <p:spPr>
          <a:xfrm>
            <a:off x="10415016" y="1810512"/>
            <a:ext cx="105156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38" name="Shape 36"/>
          <p:cNvSpPr/>
          <p:nvPr/>
        </p:nvSpPr>
        <p:spPr>
          <a:xfrm>
            <a:off x="6208776" y="2121408"/>
            <a:ext cx="5321808" cy="751637"/>
          </a:xfrm>
          <a:prstGeom prst="rect">
            <a:avLst/>
          </a:prstGeom>
          <a:solidFill>
            <a:srgbClr val="F7F7F7"/>
          </a:solidFill>
          <a:ln/>
        </p:spPr>
      </p:sp>
      <p:sp>
        <p:nvSpPr>
          <p:cNvPr id="39" name="Text 37"/>
          <p:cNvSpPr txBox="1"/>
          <p:nvPr/>
        </p:nvSpPr>
        <p:spPr>
          <a:xfrm>
            <a:off x="6300216" y="212140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6665976" y="212140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1" name="Text 39"/>
          <p:cNvSpPr txBox="1"/>
          <p:nvPr/>
        </p:nvSpPr>
        <p:spPr>
          <a:xfrm>
            <a:off x="8449056" y="212140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841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560</a:t>
            </a:r>
            <a:endParaRPr lang="en-US" sz="1400" dirty="0"/>
          </a:p>
        </p:txBody>
      </p:sp>
      <p:sp>
        <p:nvSpPr>
          <p:cNvPr id="42" name="Text 40"/>
          <p:cNvSpPr txBox="1"/>
          <p:nvPr/>
        </p:nvSpPr>
        <p:spPr>
          <a:xfrm>
            <a:off x="10415016" y="212140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43" name="Text 41"/>
          <p:cNvSpPr txBox="1"/>
          <p:nvPr/>
        </p:nvSpPr>
        <p:spPr>
          <a:xfrm>
            <a:off x="6300216" y="287304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6665976" y="287304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5" name="Text 43"/>
          <p:cNvSpPr txBox="1"/>
          <p:nvPr/>
        </p:nvSpPr>
        <p:spPr>
          <a:xfrm>
            <a:off x="8449056" y="287304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308</a:t>
            </a:r>
            <a:endParaRPr lang="en-US" sz="1400" dirty="0"/>
          </a:p>
        </p:txBody>
      </p:sp>
      <p:sp>
        <p:nvSpPr>
          <p:cNvPr id="46" name="Text 44"/>
          <p:cNvSpPr txBox="1"/>
          <p:nvPr/>
        </p:nvSpPr>
        <p:spPr>
          <a:xfrm>
            <a:off x="10415016" y="287304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7" name="Shape 45"/>
          <p:cNvSpPr/>
          <p:nvPr/>
        </p:nvSpPr>
        <p:spPr>
          <a:xfrm>
            <a:off x="6208776" y="3624682"/>
            <a:ext cx="5321808" cy="751637"/>
          </a:xfrm>
          <a:prstGeom prst="rect">
            <a:avLst/>
          </a:prstGeom>
          <a:solidFill>
            <a:srgbClr val="F7F7F7"/>
          </a:solidFill>
          <a:ln/>
        </p:spPr>
      </p:sp>
      <p:sp>
        <p:nvSpPr>
          <p:cNvPr id="48" name="Text 46"/>
          <p:cNvSpPr txBox="1"/>
          <p:nvPr/>
        </p:nvSpPr>
        <p:spPr>
          <a:xfrm>
            <a:off x="6300216" y="3624682"/>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6665976" y="3624682"/>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50" name="Text 48"/>
          <p:cNvSpPr txBox="1"/>
          <p:nvPr/>
        </p:nvSpPr>
        <p:spPr>
          <a:xfrm>
            <a:off x="8449056" y="3624682"/>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376</a:t>
            </a:r>
            <a:endParaRPr lang="en-US" sz="1400" dirty="0"/>
          </a:p>
        </p:txBody>
      </p:sp>
      <p:sp>
        <p:nvSpPr>
          <p:cNvPr id="51" name="Text 49"/>
          <p:cNvSpPr txBox="1"/>
          <p:nvPr/>
        </p:nvSpPr>
        <p:spPr>
          <a:xfrm>
            <a:off x="10415016" y="3624682"/>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52" name="Text 50"/>
          <p:cNvSpPr txBox="1"/>
          <p:nvPr/>
        </p:nvSpPr>
        <p:spPr>
          <a:xfrm>
            <a:off x="6300216" y="4376318"/>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6665976" y="4376318"/>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p:txBody>
      </p:sp>
      <p:sp>
        <p:nvSpPr>
          <p:cNvPr id="54" name="Text 52"/>
          <p:cNvSpPr txBox="1"/>
          <p:nvPr/>
        </p:nvSpPr>
        <p:spPr>
          <a:xfrm>
            <a:off x="8449056" y="4376318"/>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448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392</a:t>
            </a:r>
            <a:endParaRPr lang="en-US" sz="1400" dirty="0"/>
          </a:p>
        </p:txBody>
      </p:sp>
      <p:sp>
        <p:nvSpPr>
          <p:cNvPr id="55" name="Text 53"/>
          <p:cNvSpPr txBox="1"/>
          <p:nvPr/>
        </p:nvSpPr>
        <p:spPr>
          <a:xfrm>
            <a:off x="10415016" y="4376318"/>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56" name="Shape 54"/>
          <p:cNvSpPr/>
          <p:nvPr/>
        </p:nvSpPr>
        <p:spPr>
          <a:xfrm>
            <a:off x="6208776" y="5127955"/>
            <a:ext cx="5321808" cy="751637"/>
          </a:xfrm>
          <a:prstGeom prst="rect">
            <a:avLst/>
          </a:prstGeom>
          <a:solidFill>
            <a:srgbClr val="F7F7F7"/>
          </a:solidFill>
          <a:ln/>
        </p:spPr>
      </p:sp>
      <p:sp>
        <p:nvSpPr>
          <p:cNvPr id="57" name="Text 55"/>
          <p:cNvSpPr txBox="1"/>
          <p:nvPr/>
        </p:nvSpPr>
        <p:spPr>
          <a:xfrm>
            <a:off x="6300216" y="5127955"/>
            <a:ext cx="320040" cy="751637"/>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6665976" y="5127955"/>
            <a:ext cx="1737360" cy="751637"/>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59" name="Text 57"/>
          <p:cNvSpPr txBox="1"/>
          <p:nvPr/>
        </p:nvSpPr>
        <p:spPr>
          <a:xfrm>
            <a:off x="8449056" y="5127955"/>
            <a:ext cx="1920240" cy="751637"/>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403  </a:t>
            </a:r>
            <a:pPr indent="0" marL="0">
              <a:buNone/>
            </a:pPr>
            <a:r>
              <a:rPr lang="en-US" sz="1400" b="1" dirty="0">
                <a:solidFill>
                  <a:srgbClr val="A82B26"/>
                </a:solidFill>
                <a:latin typeface="Inter" pitchFamily="34" charset="0"/>
                <a:ea typeface="Inter" pitchFamily="34" charset="-122"/>
                <a:cs typeface="Inter" pitchFamily="34" charset="-120"/>
              </a:rPr>
              <a:t>→  </a:t>
            </a:r>
            <a:pPr indent="0" marL="0">
              <a:buNone/>
            </a:pPr>
            <a:r>
              <a:rPr lang="en-US" sz="1400" b="1" dirty="0">
                <a:solidFill>
                  <a:srgbClr val="A82B26"/>
                </a:solidFill>
                <a:latin typeface="Inter" pitchFamily="34" charset="0"/>
                <a:ea typeface="Inter" pitchFamily="34" charset="-122"/>
                <a:cs typeface="Inter" pitchFamily="34" charset="-120"/>
              </a:rPr>
              <a:t>351</a:t>
            </a:r>
            <a:endParaRPr lang="en-US" sz="1400" dirty="0"/>
          </a:p>
        </p:txBody>
      </p:sp>
      <p:sp>
        <p:nvSpPr>
          <p:cNvPr id="60" name="Text 58"/>
          <p:cNvSpPr txBox="1"/>
          <p:nvPr/>
        </p:nvSpPr>
        <p:spPr>
          <a:xfrm>
            <a:off x="10415016" y="5127955"/>
            <a:ext cx="1051560" cy="751637"/>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61" name="Shape 59"/>
          <p:cNvSpPr/>
          <p:nvPr/>
        </p:nvSpPr>
        <p:spPr>
          <a:xfrm>
            <a:off x="457200" y="6126480"/>
            <a:ext cx="11274552" cy="615696"/>
          </a:xfrm>
          <a:prstGeom prst="rect">
            <a:avLst/>
          </a:prstGeom>
          <a:solidFill>
            <a:srgbClr val="EDF4FA"/>
          </a:solidFill>
          <a:ln/>
        </p:spPr>
      </p:sp>
      <p:sp>
        <p:nvSpPr>
          <p:cNvPr id="62" name="Text 6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2026-10-22T22:21:26Z</dcterms:created>
  <dcterms:modified xsi:type="dcterms:W3CDTF">2026-10-22T22:21:26Z</dcterms:modified>
</cp:coreProperties>
</file>