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261" r:id="rId7"/>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262" r:id="rId8"/>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263" r:id="rId9"/>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264" r:id="rId10"/>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265" r:id="rId11"/>
    <p:sldId id="427" r:id="rId178"/>
    <p:sldId id="428" r:id="rId179"/>
    <p:sldId id="429" r:id="rId180"/>
    <p:sldId id="430" r:id="rId181"/>
    <p:sldId id="431" r:id="rId182"/>
    <p:sldId id="432" r:id="rId183"/>
    <p:sldId id="266" r:id="rId12"/>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−0.04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Customer Pay section, after Pricing Strategy and before the pay type slides (moved from Labor Mix, Oct 23).</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+$1.85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−$2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+$5.20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end of the Internal section (renamed from Labor Mix, Oct 23; Noah may move it).</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 Moving now: Jul-Sep 2026 vs Jan-Mar 2026, each store against itself; the group moved +$1.73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chart" Target="../charts/chart44.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5.xml"/><Relationship Id="rId3" Type="http://schemas.openxmlformats.org/officeDocument/2006/relationships/chart" Target="../charts/chart46.xml"/><Relationship Id="rId4" Type="http://schemas.openxmlformats.org/officeDocument/2006/relationships/chart" Target="../charts/chart47.xml"/><Relationship Id="rId5" Type="http://schemas.openxmlformats.org/officeDocument/2006/relationships/chart" Target="../charts/chart48.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9.xml"/><Relationship Id="rId3" Type="http://schemas.openxmlformats.org/officeDocument/2006/relationships/chart" Target="../charts/chart50.xml"/><Relationship Id="rId4" Type="http://schemas.openxmlformats.org/officeDocument/2006/relationships/chart" Target="../charts/chart51.xml"/><Relationship Id="rId5" Type="http://schemas.openxmlformats.org/officeDocument/2006/relationships/chart" Target="../charts/chart52.xml"/><Relationship Id="rId6" Type="http://schemas.openxmlformats.org/officeDocument/2006/relationships/chart" Target="../charts/chart53.xml"/><Relationship Id="rId7" Type="http://schemas.openxmlformats.org/officeDocument/2006/relationships/chart" Target="../charts/chart5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5.xml"/><Relationship Id="rId3" Type="http://schemas.openxmlformats.org/officeDocument/2006/relationships/chart" Target="../charts/chart56.xml"/><Relationship Id="rId4" Type="http://schemas.openxmlformats.org/officeDocument/2006/relationships/chart" Target="../charts/chart57.xml"/><Relationship Id="rId5" Type="http://schemas.openxmlformats.org/officeDocument/2006/relationships/chart" Target="../charts/chart58.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chart" Target="../charts/chart68.xml"/><Relationship Id="rId8"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9.xml"/><Relationship Id="rId3" Type="http://schemas.openxmlformats.org/officeDocument/2006/relationships/chart" Target="../charts/chart70.xml"/><Relationship Id="rId4" Type="http://schemas.openxmlformats.org/officeDocument/2006/relationships/chart" Target="../charts/chart71.xml"/><Relationship Id="rId5" Type="http://schemas.openxmlformats.org/officeDocument/2006/relationships/chart" Target="../charts/chart72.xml"/><Relationship Id="rId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3.xml"/><Relationship Id="rId3" Type="http://schemas.openxmlformats.org/officeDocument/2006/relationships/chart" Target="../charts/chart74.xml"/><Relationship Id="rId4" Type="http://schemas.openxmlformats.org/officeDocument/2006/relationships/chart" Target="../charts/chart75.xml"/><Relationship Id="rId5" Type="http://schemas.openxmlformats.org/officeDocument/2006/relationships/chart" Target="../charts/chart76.xml"/><Relationship Id="rId6"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7.xml"/><Relationship Id="rId3" Type="http://schemas.openxmlformats.org/officeDocument/2006/relationships/chart" Target="../charts/chart78.xml"/><Relationship Id="rId4" Type="http://schemas.openxmlformats.org/officeDocument/2006/relationships/chart" Target="../charts/chart79.xml"/><Relationship Id="rId5" Type="http://schemas.openxmlformats.org/officeDocument/2006/relationships/chart" Target="../charts/chart80.xml"/><Relationship Id="rId6"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5.xml"/><Relationship Id="rId3" Type="http://schemas.openxmlformats.org/officeDocument/2006/relationships/chart" Target="../charts/chart86.xml"/><Relationship Id="rId4" Type="http://schemas.openxmlformats.org/officeDocument/2006/relationships/chart" Target="../charts/chart87.xml"/><Relationship Id="rId5" Type="http://schemas.openxmlformats.org/officeDocument/2006/relationships/chart" Target="../charts/chart88.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9.xml"/><Relationship Id="rId3" Type="http://schemas.openxmlformats.org/officeDocument/2006/relationships/chart" Target="../charts/chart90.xml"/><Relationship Id="rId4" Type="http://schemas.openxmlformats.org/officeDocument/2006/relationships/chart" Target="../charts/chart91.xml"/><Relationship Id="rId5" Type="http://schemas.openxmlformats.org/officeDocument/2006/relationships/chart" Target="../charts/chart92.xml"/><Relationship Id="rId6" Type="http://schemas.openxmlformats.org/officeDocument/2006/relationships/chart" Target="../charts/chart93.xml"/><Relationship Id="rId7" Type="http://schemas.openxmlformats.org/officeDocument/2006/relationships/chart" Target="../charts/chart94.xml"/><Relationship Id="rId8"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5.xml"/><Relationship Id="rId3" Type="http://schemas.openxmlformats.org/officeDocument/2006/relationships/chart" Target="../charts/chart96.xml"/><Relationship Id="rId4" Type="http://schemas.openxmlformats.org/officeDocument/2006/relationships/chart" Target="../charts/chart97.xml"/><Relationship Id="rId5" Type="http://schemas.openxmlformats.org/officeDocument/2006/relationships/chart" Target="../charts/chart98.xml"/><Relationship Id="rId6" Type="http://schemas.openxmlformats.org/officeDocument/2006/relationships/chart" Target="../charts/chart99.xml"/><Relationship Id="rId7" Type="http://schemas.openxmlformats.org/officeDocument/2006/relationships/chart" Target="../charts/chart100.xml"/><Relationship Id="rId8"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chart" Target="../charts/chart128.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chart" Target="../charts/chart135.xml"/><Relationship Id="rId5" Type="http://schemas.openxmlformats.org/officeDocument/2006/relationships/chart" Target="../charts/chart136.xml"/><Relationship Id="rId6"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7.xml"/><Relationship Id="rId3" Type="http://schemas.openxmlformats.org/officeDocument/2006/relationships/chart" Target="../charts/chart138.xml"/><Relationship Id="rId4" Type="http://schemas.openxmlformats.org/officeDocument/2006/relationships/chart" Target="../charts/chart139.xml"/><Relationship Id="rId5" Type="http://schemas.openxmlformats.org/officeDocument/2006/relationships/chart" Target="../charts/chart140.xml"/><Relationship Id="rId6"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chart" Target="../charts/chart153.xml"/><Relationship Id="rId9" Type="http://schemas.openxmlformats.org/officeDocument/2006/relationships/chart" Target="../charts/chart154.xml"/><Relationship Id="rId10" Type="http://schemas.openxmlformats.org/officeDocument/2006/relationships/chart" Target="../charts/chart155.xml"/><Relationship Id="rId11" Type="http://schemas.openxmlformats.org/officeDocument/2006/relationships/chart" Target="../charts/chart156.xml"/><Relationship Id="rId1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7.xml"/><Relationship Id="rId3" Type="http://schemas.openxmlformats.org/officeDocument/2006/relationships/chart" Target="../charts/chart158.xml"/><Relationship Id="rId4" Type="http://schemas.openxmlformats.org/officeDocument/2006/relationships/chart" Target="../charts/chart159.xml"/><Relationship Id="rId5" Type="http://schemas.openxmlformats.org/officeDocument/2006/relationships/chart" Target="../charts/chart160.xml"/><Relationship Id="rId6" Type="http://schemas.openxmlformats.org/officeDocument/2006/relationships/chart" Target="../charts/chart161.xml"/><Relationship Id="rId7" Type="http://schemas.openxmlformats.org/officeDocument/2006/relationships/chart" Target="../charts/chart162.xml"/><Relationship Id="rId8" Type="http://schemas.openxmlformats.org/officeDocument/2006/relationships/chart" Target="../charts/chart163.xml"/><Relationship Id="rId9" Type="http://schemas.openxmlformats.org/officeDocument/2006/relationships/chart" Target="../charts/chart164.xml"/><Relationship Id="rId10" Type="http://schemas.openxmlformats.org/officeDocument/2006/relationships/chart" Target="../charts/chart165.xml"/><Relationship Id="rId11" Type="http://schemas.openxmlformats.org/officeDocument/2006/relationships/chart" Target="../charts/chart166.xml"/><Relationship Id="rId1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7.xml"/><Relationship Id="rId3" Type="http://schemas.openxmlformats.org/officeDocument/2006/relationships/chart" Target="../charts/chart168.xml"/><Relationship Id="rId4" Type="http://schemas.openxmlformats.org/officeDocument/2006/relationships/chart" Target="../charts/chart169.xml"/><Relationship Id="rId5" Type="http://schemas.openxmlformats.org/officeDocument/2006/relationships/chart" Target="../charts/chart170.xml"/><Relationship Id="rId6" Type="http://schemas.openxmlformats.org/officeDocument/2006/relationships/chart" Target="../charts/chart171.xml"/><Relationship Id="rId7" Type="http://schemas.openxmlformats.org/officeDocument/2006/relationships/chart" Target="../charts/chart172.xml"/><Relationship Id="rId8" Type="http://schemas.openxmlformats.org/officeDocument/2006/relationships/chart" Target="../charts/chart173.xml"/><Relationship Id="rId9" Type="http://schemas.openxmlformats.org/officeDocument/2006/relationships/chart" Target="../charts/chart174.xml"/><Relationship Id="rId10" Type="http://schemas.openxmlformats.org/officeDocument/2006/relationships/chart" Target="../charts/chart175.xml"/><Relationship Id="rId11" Type="http://schemas.openxmlformats.org/officeDocument/2006/relationships/chart" Target="../charts/chart176.xml"/><Relationship Id="rId1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7.xml"/><Relationship Id="rId3" Type="http://schemas.openxmlformats.org/officeDocument/2006/relationships/chart" Target="../charts/chart178.xml"/><Relationship Id="rId4" Type="http://schemas.openxmlformats.org/officeDocument/2006/relationships/chart" Target="../charts/chart179.xml"/><Relationship Id="rId5" Type="http://schemas.openxmlformats.org/officeDocument/2006/relationships/chart" Target="../charts/chart180.xml"/><Relationship Id="rId6" Type="http://schemas.openxmlformats.org/officeDocument/2006/relationships/chart" Target="../charts/chart181.xml"/><Relationship Id="rId7" Type="http://schemas.openxmlformats.org/officeDocument/2006/relationships/chart" Target="../charts/chart182.xml"/><Relationship Id="rId8" Type="http://schemas.openxmlformats.org/officeDocument/2006/relationships/chart" Target="../charts/chart183.xml"/><Relationship Id="rId9" Type="http://schemas.openxmlformats.org/officeDocument/2006/relationships/chart" Target="../charts/chart184.xml"/><Relationship Id="rId10" Type="http://schemas.openxmlformats.org/officeDocument/2006/relationships/chart" Target="../charts/chart185.xml"/><Relationship Id="rId11" Type="http://schemas.openxmlformats.org/officeDocument/2006/relationships/chart" Target="../charts/chart186.xml"/><Relationship Id="rId1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7.xml"/><Relationship Id="rId3" Type="http://schemas.openxmlformats.org/officeDocument/2006/relationships/chart" Target="../charts/chart188.xml"/><Relationship Id="rId4" Type="http://schemas.openxmlformats.org/officeDocument/2006/relationships/chart" Target="../charts/chart189.xml"/><Relationship Id="rId5" Type="http://schemas.openxmlformats.org/officeDocument/2006/relationships/chart" Target="../charts/chart190.xml"/><Relationship Id="rId6" Type="http://schemas.openxmlformats.org/officeDocument/2006/relationships/chart" Target="../charts/chart191.xml"/><Relationship Id="rId7" Type="http://schemas.openxmlformats.org/officeDocument/2006/relationships/chart" Target="../charts/chart192.xml"/><Relationship Id="rId8" Type="http://schemas.openxmlformats.org/officeDocument/2006/relationships/chart" Target="../charts/chart193.xml"/><Relationship Id="rId9" Type="http://schemas.openxmlformats.org/officeDocument/2006/relationships/chart" Target="../charts/chart194.xml"/><Relationship Id="rId10" Type="http://schemas.openxmlformats.org/officeDocument/2006/relationships/chart" Target="../charts/chart195.xml"/><Relationship Id="rId11" Type="http://schemas.openxmlformats.org/officeDocument/2006/relationships/chart" Target="../charts/chart196.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chart" Target="../charts/chart201.xml"/><Relationship Id="rId7" Type="http://schemas.openxmlformats.org/officeDocument/2006/relationships/chart" Target="../charts/chart202.xml"/><Relationship Id="rId8" Type="http://schemas.openxmlformats.org/officeDocument/2006/relationships/chart" Target="../charts/chart203.xml"/><Relationship Id="rId9" Type="http://schemas.openxmlformats.org/officeDocument/2006/relationships/chart" Target="../charts/chart204.xml"/><Relationship Id="rId10" Type="http://schemas.openxmlformats.org/officeDocument/2006/relationships/chart" Target="../charts/chart205.xml"/><Relationship Id="rId11" Type="http://schemas.openxmlformats.org/officeDocument/2006/relationships/chart" Target="../charts/chart206.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chart" Target="../charts/chart208.xml"/><Relationship Id="rId4" Type="http://schemas.openxmlformats.org/officeDocument/2006/relationships/chart" Target="../charts/chart209.xml"/><Relationship Id="rId5" Type="http://schemas.openxmlformats.org/officeDocument/2006/relationships/chart" Target="../charts/chart210.xml"/><Relationship Id="rId6" Type="http://schemas.openxmlformats.org/officeDocument/2006/relationships/chart" Target="../charts/chart211.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7.xml"/><Relationship Id="rId3" Type="http://schemas.openxmlformats.org/officeDocument/2006/relationships/chart" Target="../charts/chart218.xml"/><Relationship Id="rId4" Type="http://schemas.openxmlformats.org/officeDocument/2006/relationships/chart" Target="../charts/chart219.xml"/><Relationship Id="rId5" Type="http://schemas.openxmlformats.org/officeDocument/2006/relationships/chart" Target="../charts/chart220.xml"/><Relationship Id="rId6" Type="http://schemas.openxmlformats.org/officeDocument/2006/relationships/chart" Target="../charts/chart221.xml"/><Relationship Id="rId7"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7.xml"/><Relationship Id="rId3" Type="http://schemas.openxmlformats.org/officeDocument/2006/relationships/chart" Target="../charts/chart228.xml"/><Relationship Id="rId4" Type="http://schemas.openxmlformats.org/officeDocument/2006/relationships/chart" Target="../charts/chart229.xml"/><Relationship Id="rId5" Type="http://schemas.openxmlformats.org/officeDocument/2006/relationships/chart" Target="../charts/chart230.xml"/><Relationship Id="rId6" Type="http://schemas.openxmlformats.org/officeDocument/2006/relationships/chart" Target="../charts/chart231.xml"/><Relationship Id="rId7"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7.xml"/><Relationship Id="rId3" Type="http://schemas.openxmlformats.org/officeDocument/2006/relationships/chart" Target="../charts/chart238.xml"/><Relationship Id="rId4" Type="http://schemas.openxmlformats.org/officeDocument/2006/relationships/chart" Target="../charts/chart239.xml"/><Relationship Id="rId5" Type="http://schemas.openxmlformats.org/officeDocument/2006/relationships/chart" Target="../charts/chart240.xml"/><Relationship Id="rId6" Type="http://schemas.openxmlformats.org/officeDocument/2006/relationships/chart" Target="../charts/chart241.xml"/><Relationship Id="rId7"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7.xml"/><Relationship Id="rId3" Type="http://schemas.openxmlformats.org/officeDocument/2006/relationships/chart" Target="../charts/chart248.xml"/><Relationship Id="rId4" Type="http://schemas.openxmlformats.org/officeDocument/2006/relationships/chart" Target="../charts/chart249.xml"/><Relationship Id="rId5" Type="http://schemas.openxmlformats.org/officeDocument/2006/relationships/chart" Target="../charts/chart250.xml"/><Relationship Id="rId6" Type="http://schemas.openxmlformats.org/officeDocument/2006/relationships/chart" Target="../charts/chart251.xml"/><Relationship Id="rId7"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pricing and labor mix,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 then tracking and accountability.</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   ·   Tracking</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599253"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597857"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396154"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395716"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2" name="Shape 30"/>
          <p:cNvSpPr/>
          <p:nvPr/>
        </p:nvSpPr>
        <p:spPr>
          <a:xfrm>
            <a:off x="3008376" y="3269742"/>
            <a:ext cx="1094195"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1092999"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0" name="Shape 38"/>
          <p:cNvSpPr/>
          <p:nvPr/>
        </p:nvSpPr>
        <p:spPr>
          <a:xfrm>
            <a:off x="3008376" y="3686302"/>
            <a:ext cx="995599"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3008376" y="3894582"/>
            <a:ext cx="9128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834814"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727702"/>
            <a:ext cx="1530972"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530733"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144262"/>
            <a:ext cx="1465702"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352542"/>
            <a:ext cx="140516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4516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5769102"/>
            <a:ext cx="1336576"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2" name="Shape 80"/>
          <p:cNvSpPr/>
          <p:nvPr/>
        </p:nvSpPr>
        <p:spPr>
          <a:xfrm>
            <a:off x="8558784" y="2228342"/>
            <a:ext cx="131062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6" name="Shape 84"/>
          <p:cNvSpPr/>
          <p:nvPr/>
        </p:nvSpPr>
        <p:spPr>
          <a:xfrm>
            <a:off x="8558784" y="2436622"/>
            <a:ext cx="1303142"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0" name="Shape 88"/>
          <p:cNvSpPr/>
          <p:nvPr/>
        </p:nvSpPr>
        <p:spPr>
          <a:xfrm>
            <a:off x="8558784" y="2644902"/>
            <a:ext cx="129643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4" name="Shape 92"/>
          <p:cNvSpPr/>
          <p:nvPr/>
        </p:nvSpPr>
        <p:spPr>
          <a:xfrm>
            <a:off x="8558784" y="2853182"/>
            <a:ext cx="1160151"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8" name="Shape 96"/>
          <p:cNvSpPr/>
          <p:nvPr/>
        </p:nvSpPr>
        <p:spPr>
          <a:xfrm>
            <a:off x="8558784" y="3061462"/>
            <a:ext cx="1136807"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08783"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6" name="Shape 104"/>
          <p:cNvSpPr/>
          <p:nvPr/>
        </p:nvSpPr>
        <p:spPr>
          <a:xfrm>
            <a:off x="8558784" y="3478022"/>
            <a:ext cx="108894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0" name="Shape 108"/>
          <p:cNvSpPr/>
          <p:nvPr/>
        </p:nvSpPr>
        <p:spPr>
          <a:xfrm>
            <a:off x="8558784" y="3686302"/>
            <a:ext cx="1063571"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1044439"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4102862"/>
            <a:ext cx="98668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79901"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6" name="Shape 124"/>
          <p:cNvSpPr/>
          <p:nvPr/>
        </p:nvSpPr>
        <p:spPr>
          <a:xfrm>
            <a:off x="8558784" y="4519422"/>
            <a:ext cx="96919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0" name="Shape 128"/>
          <p:cNvSpPr/>
          <p:nvPr/>
        </p:nvSpPr>
        <p:spPr>
          <a:xfrm>
            <a:off x="8558784" y="4727702"/>
            <a:ext cx="95115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94551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935633"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2" name="Shape 140"/>
          <p:cNvSpPr/>
          <p:nvPr/>
        </p:nvSpPr>
        <p:spPr>
          <a:xfrm>
            <a:off x="8558784" y="5352542"/>
            <a:ext cx="92087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85862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48" name="Shape 146"/>
          <p:cNvSpPr/>
          <p:nvPr/>
        </p:nvSpPr>
        <p:spPr>
          <a:xfrm>
            <a:off x="4163400" y="2176272"/>
            <a:ext cx="14630" cy="3749040"/>
          </a:xfrm>
          <a:prstGeom prst="rect">
            <a:avLst/>
          </a:prstGeom>
          <a:solidFill>
            <a:srgbClr val="0B2C4A"/>
          </a:solidFill>
          <a:ln/>
        </p:spPr>
      </p:sp>
      <p:sp>
        <p:nvSpPr>
          <p:cNvPr id="149" name="Shape 147"/>
          <p:cNvSpPr/>
          <p:nvPr/>
        </p:nvSpPr>
        <p:spPr>
          <a:xfrm>
            <a:off x="971380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3.99</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+0.17</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+0.15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 Ask Mazda, Hyundai Prescott and LR LV what they started this year.</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$217.79</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457852"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 name="Shape 18"/>
          <p:cNvSpPr/>
          <p:nvPr/>
        </p:nvSpPr>
        <p:spPr>
          <a:xfrm>
            <a:off x="3008376" y="2644902"/>
            <a:ext cx="128674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4" name="Shape 22"/>
          <p:cNvSpPr/>
          <p:nvPr/>
        </p:nvSpPr>
        <p:spPr>
          <a:xfrm>
            <a:off x="3008376" y="2853182"/>
            <a:ext cx="128392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8" name="Shape 26"/>
          <p:cNvSpPr/>
          <p:nvPr/>
        </p:nvSpPr>
        <p:spPr>
          <a:xfrm>
            <a:off x="3008376" y="3061462"/>
            <a:ext cx="1279771"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2" name="Shape 30"/>
          <p:cNvSpPr/>
          <p:nvPr/>
        </p:nvSpPr>
        <p:spPr>
          <a:xfrm>
            <a:off x="3008376" y="3269742"/>
            <a:ext cx="1277948"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1215860" cy="104140"/>
          </a:xfrm>
          <a:prstGeom prst="rect">
            <a:avLst/>
          </a:prstGeom>
          <a:solidFill>
            <a:srgbClr val="12A566"/>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0" name="Shape 38"/>
          <p:cNvSpPr/>
          <p:nvPr/>
        </p:nvSpPr>
        <p:spPr>
          <a:xfrm>
            <a:off x="3008376" y="3686302"/>
            <a:ext cx="1058054"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30641"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008376" y="4102862"/>
            <a:ext cx="91763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$151.32</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385836"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4935982"/>
            <a:ext cx="131136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144262"/>
            <a:ext cx="128925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352542"/>
            <a:ext cx="1283069"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560822"/>
            <a:ext cx="1265801"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5769102"/>
            <a:ext cx="125720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2" name="Shape 80"/>
          <p:cNvSpPr/>
          <p:nvPr/>
        </p:nvSpPr>
        <p:spPr>
          <a:xfrm>
            <a:off x="8558784" y="2228342"/>
            <a:ext cx="1255672"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6" name="Shape 84"/>
          <p:cNvSpPr/>
          <p:nvPr/>
        </p:nvSpPr>
        <p:spPr>
          <a:xfrm>
            <a:off x="8558784" y="2436622"/>
            <a:ext cx="1239620"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0" name="Shape 88"/>
          <p:cNvSpPr/>
          <p:nvPr/>
        </p:nvSpPr>
        <p:spPr>
          <a:xfrm>
            <a:off x="8558784" y="2644902"/>
            <a:ext cx="1230530"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4" name="Shape 92"/>
          <p:cNvSpPr/>
          <p:nvPr/>
        </p:nvSpPr>
        <p:spPr>
          <a:xfrm>
            <a:off x="8558784" y="2853182"/>
            <a:ext cx="121733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3061462"/>
            <a:ext cx="1207702"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1175735"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6" name="Shape 104"/>
          <p:cNvSpPr/>
          <p:nvPr/>
        </p:nvSpPr>
        <p:spPr>
          <a:xfrm>
            <a:off x="8558784" y="3478022"/>
            <a:ext cx="1167864"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113843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4" name="Shape 112"/>
          <p:cNvSpPr/>
          <p:nvPr/>
        </p:nvSpPr>
        <p:spPr>
          <a:xfrm>
            <a:off x="8558784" y="3894582"/>
            <a:ext cx="113367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4102862"/>
            <a:ext cx="112709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2" name="Shape 120"/>
          <p:cNvSpPr/>
          <p:nvPr/>
        </p:nvSpPr>
        <p:spPr>
          <a:xfrm>
            <a:off x="8558784" y="4311142"/>
            <a:ext cx="1125055"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6" name="Shape 124"/>
          <p:cNvSpPr/>
          <p:nvPr/>
        </p:nvSpPr>
        <p:spPr>
          <a:xfrm>
            <a:off x="8558784" y="4519422"/>
            <a:ext cx="1111707"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0" name="Shape 128"/>
          <p:cNvSpPr/>
          <p:nvPr/>
        </p:nvSpPr>
        <p:spPr>
          <a:xfrm>
            <a:off x="8558784" y="4727702"/>
            <a:ext cx="1096152"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558784" y="4935982"/>
            <a:ext cx="1091062"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1064841"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2" name="Shape 140"/>
          <p:cNvSpPr/>
          <p:nvPr/>
        </p:nvSpPr>
        <p:spPr>
          <a:xfrm>
            <a:off x="8558784" y="5352542"/>
            <a:ext cx="1027823"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6" name="Shape 144"/>
          <p:cNvSpPr/>
          <p:nvPr/>
        </p:nvSpPr>
        <p:spPr>
          <a:xfrm>
            <a:off x="8558784" y="5560822"/>
            <a:ext cx="993409"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48" name="Shape 146"/>
          <p:cNvSpPr/>
          <p:nvPr/>
        </p:nvSpPr>
        <p:spPr>
          <a:xfrm>
            <a:off x="4193240" y="2176272"/>
            <a:ext cx="14630" cy="3749040"/>
          </a:xfrm>
          <a:prstGeom prst="rect">
            <a:avLst/>
          </a:prstGeom>
          <a:solidFill>
            <a:srgbClr val="0B2C4A"/>
          </a:solidFill>
          <a:ln/>
        </p:spPr>
      </p:sp>
      <p:sp>
        <p:nvSpPr>
          <p:cNvPr id="149" name="Shape 147"/>
          <p:cNvSpPr/>
          <p:nvPr/>
        </p:nvSpPr>
        <p:spPr>
          <a:xfrm>
            <a:off x="9743648"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$222.12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$167.64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$143.89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$184.36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$149.23</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$266.32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$221.78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$210.50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$148.84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$138.48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$244.12</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+$16.78</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$141.89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+$13.62</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$225.50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+$8.78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$147.93</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+$8.53</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+$8.17</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 Ask Audi Reno, VW St George and Volvo what they started this year.</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 more labor and more parts come with it: parts per RO rose $9 to $238 alongside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3008376" y="2644902"/>
            <a:ext cx="1654662"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4" name="Shape 22"/>
          <p:cNvSpPr/>
          <p:nvPr/>
        </p:nvSpPr>
        <p:spPr>
          <a:xfrm>
            <a:off x="3008376" y="2853182"/>
            <a:ext cx="164932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8" name="Shape 26"/>
          <p:cNvSpPr/>
          <p:nvPr/>
        </p:nvSpPr>
        <p:spPr>
          <a:xfrm>
            <a:off x="3008376" y="3061462"/>
            <a:ext cx="1452099"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2" name="Shape 30"/>
          <p:cNvSpPr/>
          <p:nvPr/>
        </p:nvSpPr>
        <p:spPr>
          <a:xfrm>
            <a:off x="3008376" y="3269742"/>
            <a:ext cx="1139643"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6" name="Shape 34"/>
          <p:cNvSpPr/>
          <p:nvPr/>
        </p:nvSpPr>
        <p:spPr>
          <a:xfrm>
            <a:off x="3008376" y="3478022"/>
            <a:ext cx="899356"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0" name="Shape 38"/>
          <p:cNvSpPr/>
          <p:nvPr/>
        </p:nvSpPr>
        <p:spPr>
          <a:xfrm>
            <a:off x="3008376" y="3686302"/>
            <a:ext cx="82515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008376" y="3894582"/>
            <a:ext cx="74030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8" name="Shape 46"/>
          <p:cNvSpPr/>
          <p:nvPr/>
        </p:nvSpPr>
        <p:spPr>
          <a:xfrm>
            <a:off x="3008376" y="4102862"/>
            <a:ext cx="715741"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519422"/>
            <a:ext cx="1653705"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727702"/>
            <a:ext cx="1577968"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4935982"/>
            <a:ext cx="1503381"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144262"/>
            <a:ext cx="141232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352542"/>
            <a:ext cx="1353340"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560822"/>
            <a:ext cx="1320726"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282619"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2" name="Shape 80"/>
          <p:cNvSpPr/>
          <p:nvPr/>
        </p:nvSpPr>
        <p:spPr>
          <a:xfrm>
            <a:off x="8558784" y="2228342"/>
            <a:ext cx="1272990"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6" name="Shape 84"/>
          <p:cNvSpPr/>
          <p:nvPr/>
        </p:nvSpPr>
        <p:spPr>
          <a:xfrm>
            <a:off x="8558784" y="2436622"/>
            <a:ext cx="1270673"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1227837"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4" name="Shape 92"/>
          <p:cNvSpPr/>
          <p:nvPr/>
        </p:nvSpPr>
        <p:spPr>
          <a:xfrm>
            <a:off x="8558784" y="2853182"/>
            <a:ext cx="119017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8" name="Shape 96"/>
          <p:cNvSpPr/>
          <p:nvPr/>
        </p:nvSpPr>
        <p:spPr>
          <a:xfrm>
            <a:off x="8558784" y="3061462"/>
            <a:ext cx="116536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15280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6" name="Shape 104"/>
          <p:cNvSpPr/>
          <p:nvPr/>
        </p:nvSpPr>
        <p:spPr>
          <a:xfrm>
            <a:off x="8558784" y="3478022"/>
            <a:ext cx="1012530"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0" name="Shape 108"/>
          <p:cNvSpPr/>
          <p:nvPr/>
        </p:nvSpPr>
        <p:spPr>
          <a:xfrm>
            <a:off x="8558784" y="3686302"/>
            <a:ext cx="101071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95064"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8" name="Shape 116"/>
          <p:cNvSpPr/>
          <p:nvPr/>
        </p:nvSpPr>
        <p:spPr>
          <a:xfrm>
            <a:off x="8558784" y="4102862"/>
            <a:ext cx="980911"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2" name="Shape 120"/>
          <p:cNvSpPr/>
          <p:nvPr/>
        </p:nvSpPr>
        <p:spPr>
          <a:xfrm>
            <a:off x="8558784" y="4311142"/>
            <a:ext cx="966604"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6" name="Shape 124"/>
          <p:cNvSpPr/>
          <p:nvPr/>
        </p:nvSpPr>
        <p:spPr>
          <a:xfrm>
            <a:off x="8558784" y="4519422"/>
            <a:ext cx="944704"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0" name="Shape 128"/>
          <p:cNvSpPr/>
          <p:nvPr/>
        </p:nvSpPr>
        <p:spPr>
          <a:xfrm>
            <a:off x="8558784" y="4727702"/>
            <a:ext cx="936986"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4" name="Shape 132"/>
          <p:cNvSpPr/>
          <p:nvPr/>
        </p:nvSpPr>
        <p:spPr>
          <a:xfrm>
            <a:off x="8558784" y="4935982"/>
            <a:ext cx="9069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8" name="Shape 136"/>
          <p:cNvSpPr/>
          <p:nvPr/>
        </p:nvSpPr>
        <p:spPr>
          <a:xfrm>
            <a:off x="8558784" y="5144262"/>
            <a:ext cx="85297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2" name="Shape 140"/>
          <p:cNvSpPr/>
          <p:nvPr/>
        </p:nvSpPr>
        <p:spPr>
          <a:xfrm>
            <a:off x="8558784" y="5352542"/>
            <a:ext cx="794261"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6" name="Shape 144"/>
          <p:cNvSpPr/>
          <p:nvPr/>
        </p:nvSpPr>
        <p:spPr>
          <a:xfrm>
            <a:off x="8558784" y="5560822"/>
            <a:ext cx="773488"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48" name="Shape 146"/>
          <p:cNvSpPr/>
          <p:nvPr/>
        </p:nvSpPr>
        <p:spPr>
          <a:xfrm>
            <a:off x="4123939" y="2176272"/>
            <a:ext cx="14630" cy="3749040"/>
          </a:xfrm>
          <a:prstGeom prst="rect">
            <a:avLst/>
          </a:prstGeom>
          <a:solidFill>
            <a:srgbClr val="0B2C4A"/>
          </a:solidFill>
          <a:ln/>
        </p:spPr>
      </p:sp>
      <p:sp>
        <p:nvSpPr>
          <p:cNvPr id="149" name="Shape 147"/>
          <p:cNvSpPr/>
          <p:nvPr/>
        </p:nvSpPr>
        <p:spPr>
          <a:xfrm>
            <a:off x="9674347"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$928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 Ask Audi Reno, LR Reno and Mazda what they started this year.</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the Roundtable target is 78% to 80%.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$158.44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$205.15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$167.46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$207.05</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$138.70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$165.81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$134.46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$114.97</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$166.97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$141.76</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$119.81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$87.21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$172.28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$139.36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$176.79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$233.00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+$56.21</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$182.97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+$48.61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$187.46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$128.57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+$25.85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$119.28</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 Ask Hyundai St George, Acura and Audi Reno what they started this year.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3008376" y="2644902"/>
            <a:ext cx="1636341"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373312"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8" name="Shape 26"/>
          <p:cNvSpPr/>
          <p:nvPr/>
        </p:nvSpPr>
        <p:spPr>
          <a:xfrm>
            <a:off x="3008376" y="3061462"/>
            <a:ext cx="113639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062404"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6" name="Shape 34"/>
          <p:cNvSpPr/>
          <p:nvPr/>
        </p:nvSpPr>
        <p:spPr>
          <a:xfrm>
            <a:off x="3008376" y="3478022"/>
            <a:ext cx="949294"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762245"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4" name="Shape 42"/>
          <p:cNvSpPr/>
          <p:nvPr/>
        </p:nvSpPr>
        <p:spPr>
          <a:xfrm>
            <a:off x="3008376" y="3894582"/>
            <a:ext cx="728956"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605092"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519422"/>
            <a:ext cx="1503240"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727702"/>
            <a:ext cx="1447357"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4935982"/>
            <a:ext cx="1373578"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144262"/>
            <a:ext cx="1343443"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352542"/>
            <a:ext cx="1341602"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560822"/>
            <a:ext cx="1333815"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69102"/>
            <a:ext cx="1164283"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8558784" y="2228342"/>
            <a:ext cx="1134268"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6" name="Shape 84"/>
          <p:cNvSpPr/>
          <p:nvPr/>
        </p:nvSpPr>
        <p:spPr>
          <a:xfrm>
            <a:off x="8558784" y="2436622"/>
            <a:ext cx="1095681"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07317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4" name="Shape 92"/>
          <p:cNvSpPr/>
          <p:nvPr/>
        </p:nvSpPr>
        <p:spPr>
          <a:xfrm>
            <a:off x="8558784" y="2853182"/>
            <a:ext cx="1070012"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1057284"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2" name="Shape 100"/>
          <p:cNvSpPr/>
          <p:nvPr/>
        </p:nvSpPr>
        <p:spPr>
          <a:xfrm>
            <a:off x="8558784" y="3269742"/>
            <a:ext cx="104201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6" name="Shape 104"/>
          <p:cNvSpPr/>
          <p:nvPr/>
        </p:nvSpPr>
        <p:spPr>
          <a:xfrm>
            <a:off x="8558784" y="3478022"/>
            <a:ext cx="1021645"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0" name="Shape 108"/>
          <p:cNvSpPr/>
          <p:nvPr/>
        </p:nvSpPr>
        <p:spPr>
          <a:xfrm>
            <a:off x="8558784" y="3686302"/>
            <a:ext cx="981754"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4" name="Shape 112"/>
          <p:cNvSpPr/>
          <p:nvPr/>
        </p:nvSpPr>
        <p:spPr>
          <a:xfrm>
            <a:off x="8558784" y="3894582"/>
            <a:ext cx="943933"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8" name="Shape 116"/>
          <p:cNvSpPr/>
          <p:nvPr/>
        </p:nvSpPr>
        <p:spPr>
          <a:xfrm>
            <a:off x="8558784" y="4102862"/>
            <a:ext cx="91208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8558784" y="4311142"/>
            <a:ext cx="84888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6" name="Shape 124"/>
          <p:cNvSpPr/>
          <p:nvPr/>
        </p:nvSpPr>
        <p:spPr>
          <a:xfrm>
            <a:off x="8558784" y="4519422"/>
            <a:ext cx="823202"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0" name="Shape 128"/>
          <p:cNvSpPr/>
          <p:nvPr/>
        </p:nvSpPr>
        <p:spPr>
          <a:xfrm>
            <a:off x="8558784" y="4727702"/>
            <a:ext cx="759533"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72974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8" name="Shape 136"/>
          <p:cNvSpPr/>
          <p:nvPr/>
        </p:nvSpPr>
        <p:spPr>
          <a:xfrm>
            <a:off x="8558784" y="5144262"/>
            <a:ext cx="709976"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2" name="Shape 140"/>
          <p:cNvSpPr/>
          <p:nvPr/>
        </p:nvSpPr>
        <p:spPr>
          <a:xfrm>
            <a:off x="8558784" y="5352542"/>
            <a:ext cx="703612"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6" name="Shape 144"/>
          <p:cNvSpPr/>
          <p:nvPr/>
        </p:nvSpPr>
        <p:spPr>
          <a:xfrm>
            <a:off x="8558784" y="5560822"/>
            <a:ext cx="692411"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48" name="Shape 146"/>
          <p:cNvSpPr/>
          <p:nvPr/>
        </p:nvSpPr>
        <p:spPr>
          <a:xfrm>
            <a:off x="4047207" y="2176272"/>
            <a:ext cx="14630" cy="3749040"/>
          </a:xfrm>
          <a:prstGeom prst="rect">
            <a:avLst/>
          </a:prstGeom>
          <a:solidFill>
            <a:srgbClr val="0B2C4A"/>
          </a:solidFill>
          <a:ln/>
        </p:spPr>
      </p:sp>
      <p:sp>
        <p:nvSpPr>
          <p:cNvPr id="149" name="Shape 147"/>
          <p:cNvSpPr/>
          <p:nvPr/>
        </p:nvSpPr>
        <p:spPr>
          <a:xfrm>
            <a:off x="9597615"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 name="Shape 14"/>
          <p:cNvSpPr/>
          <p:nvPr/>
        </p:nvSpPr>
        <p:spPr>
          <a:xfrm>
            <a:off x="3008376" y="2436622"/>
            <a:ext cx="1658471"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0" name="Shape 18"/>
          <p:cNvSpPr/>
          <p:nvPr/>
        </p:nvSpPr>
        <p:spPr>
          <a:xfrm>
            <a:off x="3008376" y="2644902"/>
            <a:ext cx="1631155"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3008376" y="2853182"/>
            <a:ext cx="1292169"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8" name="Shape 26"/>
          <p:cNvSpPr/>
          <p:nvPr/>
        </p:nvSpPr>
        <p:spPr>
          <a:xfrm>
            <a:off x="3008376" y="3061462"/>
            <a:ext cx="1269367"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008376" y="3269742"/>
            <a:ext cx="1120679" cy="104140"/>
          </a:xfrm>
          <a:prstGeom prst="rect">
            <a:avLst/>
          </a:prstGeom>
          <a:solidFill>
            <a:srgbClr val="C2352F"/>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6" name="Shape 34"/>
          <p:cNvSpPr/>
          <p:nvPr/>
        </p:nvSpPr>
        <p:spPr>
          <a:xfrm>
            <a:off x="3008376" y="3478022"/>
            <a:ext cx="982182"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981891"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008376" y="3894582"/>
            <a:ext cx="981057"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8" name="Shape 46"/>
          <p:cNvSpPr/>
          <p:nvPr/>
        </p:nvSpPr>
        <p:spPr>
          <a:xfrm>
            <a:off x="3008376" y="4102862"/>
            <a:ext cx="910335"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519422"/>
            <a:ext cx="1584948"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727702"/>
            <a:ext cx="153194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4935982"/>
            <a:ext cx="1488739"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144262"/>
            <a:ext cx="1465284"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352542"/>
            <a:ext cx="1453454"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560822"/>
            <a:ext cx="1392914"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5769102"/>
            <a:ext cx="1382090"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2" name="Shape 80"/>
          <p:cNvSpPr/>
          <p:nvPr/>
        </p:nvSpPr>
        <p:spPr>
          <a:xfrm>
            <a:off x="8558784" y="2228342"/>
            <a:ext cx="1290776" cy="104140"/>
          </a:xfrm>
          <a:prstGeom prst="rect">
            <a:avLst/>
          </a:prstGeom>
          <a:solidFill>
            <a:srgbClr val="12A566"/>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1250314" cy="104140"/>
          </a:xfrm>
          <a:prstGeom prst="rect">
            <a:avLst/>
          </a:prstGeom>
          <a:solidFill>
            <a:srgbClr val="12A566"/>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0" name="Shape 88"/>
          <p:cNvSpPr/>
          <p:nvPr/>
        </p:nvSpPr>
        <p:spPr>
          <a:xfrm>
            <a:off x="8558784" y="2644902"/>
            <a:ext cx="1249903" cy="104140"/>
          </a:xfrm>
          <a:prstGeom prst="rect">
            <a:avLst/>
          </a:prstGeom>
          <a:solidFill>
            <a:srgbClr val="12A566"/>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4" name="Shape 92"/>
          <p:cNvSpPr/>
          <p:nvPr/>
        </p:nvSpPr>
        <p:spPr>
          <a:xfrm>
            <a:off x="8558784" y="2853182"/>
            <a:ext cx="1249400" cy="104140"/>
          </a:xfrm>
          <a:prstGeom prst="rect">
            <a:avLst/>
          </a:prstGeom>
          <a:solidFill>
            <a:srgbClr val="12A566"/>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8558784" y="3061462"/>
            <a:ext cx="1244020" cy="104140"/>
          </a:xfrm>
          <a:prstGeom prst="rect">
            <a:avLst/>
          </a:prstGeom>
          <a:solidFill>
            <a:srgbClr val="12A566"/>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8558784" y="3269742"/>
            <a:ext cx="1237592" cy="104140"/>
          </a:xfrm>
          <a:prstGeom prst="rect">
            <a:avLst/>
          </a:prstGeom>
          <a:solidFill>
            <a:srgbClr val="12A566"/>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6" name="Shape 104"/>
          <p:cNvSpPr/>
          <p:nvPr/>
        </p:nvSpPr>
        <p:spPr>
          <a:xfrm>
            <a:off x="8558784" y="3478022"/>
            <a:ext cx="1215849" cy="104140"/>
          </a:xfrm>
          <a:prstGeom prst="rect">
            <a:avLst/>
          </a:prstGeom>
          <a:solidFill>
            <a:srgbClr val="12A566"/>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8558784" y="3686302"/>
            <a:ext cx="1146869"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4" name="Shape 112"/>
          <p:cNvSpPr/>
          <p:nvPr/>
        </p:nvSpPr>
        <p:spPr>
          <a:xfrm>
            <a:off x="8558784" y="3894582"/>
            <a:ext cx="1122936"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8" name="Shape 116"/>
          <p:cNvSpPr/>
          <p:nvPr/>
        </p:nvSpPr>
        <p:spPr>
          <a:xfrm>
            <a:off x="8558784" y="4102862"/>
            <a:ext cx="1013406"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2" name="Shape 120"/>
          <p:cNvSpPr/>
          <p:nvPr/>
        </p:nvSpPr>
        <p:spPr>
          <a:xfrm>
            <a:off x="8558784" y="4311142"/>
            <a:ext cx="940756"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6" name="Shape 124"/>
          <p:cNvSpPr/>
          <p:nvPr/>
        </p:nvSpPr>
        <p:spPr>
          <a:xfrm>
            <a:off x="8558784" y="4519422"/>
            <a:ext cx="90075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0" name="Shape 128"/>
          <p:cNvSpPr/>
          <p:nvPr/>
        </p:nvSpPr>
        <p:spPr>
          <a:xfrm>
            <a:off x="8558784" y="4727702"/>
            <a:ext cx="880007"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4" name="Shape 132"/>
          <p:cNvSpPr/>
          <p:nvPr/>
        </p:nvSpPr>
        <p:spPr>
          <a:xfrm>
            <a:off x="8558784" y="4935982"/>
            <a:ext cx="832284"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5144262"/>
            <a:ext cx="808680"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5352542"/>
            <a:ext cx="763360"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690045"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48" name="Shape 146"/>
          <p:cNvSpPr/>
          <p:nvPr/>
        </p:nvSpPr>
        <p:spPr>
          <a:xfrm>
            <a:off x="4164984" y="2176272"/>
            <a:ext cx="14630" cy="3749040"/>
          </a:xfrm>
          <a:prstGeom prst="rect">
            <a:avLst/>
          </a:prstGeom>
          <a:solidFill>
            <a:srgbClr val="0B2C4A"/>
          </a:solidFill>
          <a:ln/>
        </p:spPr>
      </p:sp>
      <p:sp>
        <p:nvSpPr>
          <p:cNvPr id="149" name="Shape 147"/>
          <p:cNvSpPr/>
          <p:nvPr/>
        </p:nvSpPr>
        <p:spPr>
          <a:xfrm>
            <a:off x="9715392"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9" name="Shape 67"/>
          <p:cNvSpPr/>
          <p:nvPr/>
        </p:nvSpPr>
        <p:spPr>
          <a:xfrm>
            <a:off x="457200" y="6126480"/>
            <a:ext cx="11274552" cy="569976"/>
          </a:xfrm>
          <a:prstGeom prst="rect">
            <a:avLst/>
          </a:prstGeom>
          <a:solidFill>
            <a:srgbClr val="EDF4FA"/>
          </a:solidFill>
          <a:ln/>
        </p:spPr>
      </p:sp>
      <p:sp>
        <p:nvSpPr>
          <p:cNvPr id="70" name="Text 68"/>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Each segment ranked on its own. Navy line = each segment's average; green at or above it.</a:t>
            </a:r>
            <a:endParaRPr lang="en-US" sz="1400" dirty="0"/>
          </a:p>
        </p:txBody>
      </p:sp>
      <p:sp>
        <p:nvSpPr>
          <p:cNvPr id="12" name="Text 10"/>
          <p:cNvSpPr txBox="1"/>
          <p:nvPr/>
        </p:nvSpPr>
        <p:spPr>
          <a:xfrm>
            <a:off x="658368" y="21762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3" name="Shape 11"/>
          <p:cNvSpPr/>
          <p:nvPr/>
        </p:nvSpPr>
        <p:spPr>
          <a:xfrm>
            <a:off x="658368" y="2366264"/>
            <a:ext cx="5303520" cy="18288"/>
          </a:xfrm>
          <a:prstGeom prst="rect">
            <a:avLst/>
          </a:prstGeom>
          <a:solidFill>
            <a:srgbClr val="0B2C4A"/>
          </a:solidFill>
          <a:ln/>
        </p:spPr>
      </p:sp>
      <p:sp>
        <p:nvSpPr>
          <p:cNvPr id="14" name="Text 12"/>
          <p:cNvSpPr txBox="1"/>
          <p:nvPr/>
        </p:nvSpPr>
        <p:spPr>
          <a:xfrm>
            <a:off x="658368"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 name="Shape 14"/>
          <p:cNvSpPr/>
          <p:nvPr/>
        </p:nvSpPr>
        <p:spPr>
          <a:xfrm>
            <a:off x="3008376" y="2436622"/>
            <a:ext cx="1208610" cy="104140"/>
          </a:xfrm>
          <a:prstGeom prst="rect">
            <a:avLst/>
          </a:prstGeom>
          <a:solidFill>
            <a:srgbClr val="12A566"/>
          </a:solidFill>
          <a:ln/>
        </p:spPr>
      </p:sp>
      <p:sp>
        <p:nvSpPr>
          <p:cNvPr id="17" name="Text 15"/>
          <p:cNvSpPr txBox="1"/>
          <p:nvPr/>
        </p:nvSpPr>
        <p:spPr>
          <a:xfrm>
            <a:off x="4754880" y="23845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8" name="Text 16"/>
          <p:cNvSpPr txBox="1"/>
          <p:nvPr/>
        </p:nvSpPr>
        <p:spPr>
          <a:xfrm>
            <a:off x="658368"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 name="Shape 18"/>
          <p:cNvSpPr/>
          <p:nvPr/>
        </p:nvSpPr>
        <p:spPr>
          <a:xfrm>
            <a:off x="3008376" y="2644902"/>
            <a:ext cx="902480" cy="104140"/>
          </a:xfrm>
          <a:prstGeom prst="rect">
            <a:avLst/>
          </a:prstGeom>
          <a:solidFill>
            <a:srgbClr val="12A566"/>
          </a:solidFill>
          <a:ln/>
        </p:spPr>
      </p:sp>
      <p:sp>
        <p:nvSpPr>
          <p:cNvPr id="21" name="Text 19"/>
          <p:cNvSpPr txBox="1"/>
          <p:nvPr/>
        </p:nvSpPr>
        <p:spPr>
          <a:xfrm>
            <a:off x="4754880" y="25928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2" name="Text 20"/>
          <p:cNvSpPr txBox="1"/>
          <p:nvPr/>
        </p:nvSpPr>
        <p:spPr>
          <a:xfrm>
            <a:off x="658368"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4" name="Shape 22"/>
          <p:cNvSpPr/>
          <p:nvPr/>
        </p:nvSpPr>
        <p:spPr>
          <a:xfrm>
            <a:off x="3008376" y="2853182"/>
            <a:ext cx="819371" cy="104140"/>
          </a:xfrm>
          <a:prstGeom prst="rect">
            <a:avLst/>
          </a:prstGeom>
          <a:solidFill>
            <a:srgbClr val="12A566"/>
          </a:solidFill>
          <a:ln/>
        </p:spPr>
      </p:sp>
      <p:sp>
        <p:nvSpPr>
          <p:cNvPr id="25" name="Text 23"/>
          <p:cNvSpPr txBox="1"/>
          <p:nvPr/>
        </p:nvSpPr>
        <p:spPr>
          <a:xfrm>
            <a:off x="4754880" y="28011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6" name="Text 24"/>
          <p:cNvSpPr txBox="1"/>
          <p:nvPr/>
        </p:nvSpPr>
        <p:spPr>
          <a:xfrm>
            <a:off x="658368"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8" name="Shape 26"/>
          <p:cNvSpPr/>
          <p:nvPr/>
        </p:nvSpPr>
        <p:spPr>
          <a:xfrm>
            <a:off x="3008376" y="3061462"/>
            <a:ext cx="717480" cy="104140"/>
          </a:xfrm>
          <a:prstGeom prst="rect">
            <a:avLst/>
          </a:prstGeom>
          <a:solidFill>
            <a:srgbClr val="12A566"/>
          </a:solidFill>
          <a:ln/>
        </p:spPr>
      </p:sp>
      <p:sp>
        <p:nvSpPr>
          <p:cNvPr id="29" name="Text 27"/>
          <p:cNvSpPr txBox="1"/>
          <p:nvPr/>
        </p:nvSpPr>
        <p:spPr>
          <a:xfrm>
            <a:off x="4754880" y="30093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30" name="Text 28"/>
          <p:cNvSpPr txBox="1"/>
          <p:nvPr/>
        </p:nvSpPr>
        <p:spPr>
          <a:xfrm>
            <a:off x="658368"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1" name="Text 29"/>
          <p:cNvSpPr txBox="1"/>
          <p:nvPr/>
        </p:nvSpPr>
        <p:spPr>
          <a:xfrm>
            <a:off x="1014984"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2" name="Shape 30"/>
          <p:cNvSpPr/>
          <p:nvPr/>
        </p:nvSpPr>
        <p:spPr>
          <a:xfrm>
            <a:off x="3008376" y="3269742"/>
            <a:ext cx="707906" cy="104140"/>
          </a:xfrm>
          <a:prstGeom prst="rect">
            <a:avLst/>
          </a:prstGeom>
          <a:solidFill>
            <a:srgbClr val="12A566"/>
          </a:solidFill>
          <a:ln/>
        </p:spPr>
      </p:sp>
      <p:sp>
        <p:nvSpPr>
          <p:cNvPr id="33" name="Text 31"/>
          <p:cNvSpPr txBox="1"/>
          <p:nvPr/>
        </p:nvSpPr>
        <p:spPr>
          <a:xfrm>
            <a:off x="4754880" y="32176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4" name="Text 32"/>
          <p:cNvSpPr txBox="1"/>
          <p:nvPr/>
        </p:nvSpPr>
        <p:spPr>
          <a:xfrm>
            <a:off x="658368"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5" name="Text 33"/>
          <p:cNvSpPr txBox="1"/>
          <p:nvPr/>
        </p:nvSpPr>
        <p:spPr>
          <a:xfrm>
            <a:off x="1014984"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6" name="Shape 34"/>
          <p:cNvSpPr/>
          <p:nvPr/>
        </p:nvSpPr>
        <p:spPr>
          <a:xfrm>
            <a:off x="3008376" y="3478022"/>
            <a:ext cx="619947" cy="104140"/>
          </a:xfrm>
          <a:prstGeom prst="rect">
            <a:avLst/>
          </a:prstGeom>
          <a:solidFill>
            <a:srgbClr val="C2352F"/>
          </a:solidFill>
          <a:ln/>
        </p:spPr>
      </p:sp>
      <p:sp>
        <p:nvSpPr>
          <p:cNvPr id="37" name="Text 35"/>
          <p:cNvSpPr txBox="1"/>
          <p:nvPr/>
        </p:nvSpPr>
        <p:spPr>
          <a:xfrm>
            <a:off x="4754880"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8" name="Text 36"/>
          <p:cNvSpPr txBox="1"/>
          <p:nvPr/>
        </p:nvSpPr>
        <p:spPr>
          <a:xfrm>
            <a:off x="658368"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9" name="Text 37"/>
          <p:cNvSpPr txBox="1"/>
          <p:nvPr/>
        </p:nvSpPr>
        <p:spPr>
          <a:xfrm>
            <a:off x="1014984"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0" name="Shape 38"/>
          <p:cNvSpPr/>
          <p:nvPr/>
        </p:nvSpPr>
        <p:spPr>
          <a:xfrm>
            <a:off x="3008376" y="3686302"/>
            <a:ext cx="488532" cy="104140"/>
          </a:xfrm>
          <a:prstGeom prst="rect">
            <a:avLst/>
          </a:prstGeom>
          <a:solidFill>
            <a:srgbClr val="C2352F"/>
          </a:solidFill>
          <a:ln/>
        </p:spPr>
      </p:sp>
      <p:sp>
        <p:nvSpPr>
          <p:cNvPr id="41" name="Text 39"/>
          <p:cNvSpPr txBox="1"/>
          <p:nvPr/>
        </p:nvSpPr>
        <p:spPr>
          <a:xfrm>
            <a:off x="4754880"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2" name="Text 40"/>
          <p:cNvSpPr txBox="1"/>
          <p:nvPr/>
        </p:nvSpPr>
        <p:spPr>
          <a:xfrm>
            <a:off x="658368"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3" name="Text 41"/>
          <p:cNvSpPr txBox="1"/>
          <p:nvPr/>
        </p:nvSpPr>
        <p:spPr>
          <a:xfrm>
            <a:off x="1014984"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4" name="Shape 42"/>
          <p:cNvSpPr/>
          <p:nvPr/>
        </p:nvSpPr>
        <p:spPr>
          <a:xfrm>
            <a:off x="3008376" y="3894582"/>
            <a:ext cx="349030" cy="104140"/>
          </a:xfrm>
          <a:prstGeom prst="rect">
            <a:avLst/>
          </a:prstGeom>
          <a:solidFill>
            <a:srgbClr val="C2352F"/>
          </a:solidFill>
          <a:ln/>
        </p:spPr>
      </p:sp>
      <p:sp>
        <p:nvSpPr>
          <p:cNvPr id="45" name="Text 43"/>
          <p:cNvSpPr txBox="1"/>
          <p:nvPr/>
        </p:nvSpPr>
        <p:spPr>
          <a:xfrm>
            <a:off x="4754880"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6" name="Text 44"/>
          <p:cNvSpPr txBox="1"/>
          <p:nvPr/>
        </p:nvSpPr>
        <p:spPr>
          <a:xfrm>
            <a:off x="658368"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7" name="Text 45"/>
          <p:cNvSpPr txBox="1"/>
          <p:nvPr/>
        </p:nvSpPr>
        <p:spPr>
          <a:xfrm>
            <a:off x="1014984"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8" name="Shape 46"/>
          <p:cNvSpPr/>
          <p:nvPr/>
        </p:nvSpPr>
        <p:spPr>
          <a:xfrm>
            <a:off x="3008376" y="4102862"/>
            <a:ext cx="291998" cy="104140"/>
          </a:xfrm>
          <a:prstGeom prst="rect">
            <a:avLst/>
          </a:prstGeom>
          <a:solidFill>
            <a:srgbClr val="C2352F"/>
          </a:solidFill>
          <a:ln/>
        </p:spPr>
      </p:sp>
      <p:sp>
        <p:nvSpPr>
          <p:cNvPr id="49" name="Text 47"/>
          <p:cNvSpPr txBox="1"/>
          <p:nvPr/>
        </p:nvSpPr>
        <p:spPr>
          <a:xfrm>
            <a:off x="4754880"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50" name="Text 48"/>
          <p:cNvSpPr txBox="1"/>
          <p:nvPr/>
        </p:nvSpPr>
        <p:spPr>
          <a:xfrm>
            <a:off x="658368" y="4259072"/>
            <a:ext cx="5303520" cy="208280"/>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449064"/>
            <a:ext cx="5303520" cy="18288"/>
          </a:xfrm>
          <a:prstGeom prst="rect">
            <a:avLst/>
          </a:prstGeom>
          <a:solidFill>
            <a:srgbClr val="0B2C4A"/>
          </a:solidFill>
          <a:ln/>
        </p:spPr>
      </p:sp>
      <p:sp>
        <p:nvSpPr>
          <p:cNvPr id="52" name="Text 50"/>
          <p:cNvSpPr txBox="1"/>
          <p:nvPr/>
        </p:nvSpPr>
        <p:spPr>
          <a:xfrm>
            <a:off x="658368"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519422"/>
            <a:ext cx="1658471" cy="104140"/>
          </a:xfrm>
          <a:prstGeom prst="rect">
            <a:avLst/>
          </a:prstGeom>
          <a:solidFill>
            <a:srgbClr val="12A566"/>
          </a:solidFill>
          <a:ln/>
        </p:spPr>
      </p:sp>
      <p:sp>
        <p:nvSpPr>
          <p:cNvPr id="55" name="Text 53"/>
          <p:cNvSpPr txBox="1"/>
          <p:nvPr/>
        </p:nvSpPr>
        <p:spPr>
          <a:xfrm>
            <a:off x="4754880" y="44673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727702"/>
            <a:ext cx="1241954" cy="104140"/>
          </a:xfrm>
          <a:prstGeom prst="rect">
            <a:avLst/>
          </a:prstGeom>
          <a:solidFill>
            <a:srgbClr val="12A566"/>
          </a:solidFill>
          <a:ln/>
        </p:spPr>
      </p:sp>
      <p:sp>
        <p:nvSpPr>
          <p:cNvPr id="59" name="Text 57"/>
          <p:cNvSpPr txBox="1"/>
          <p:nvPr/>
        </p:nvSpPr>
        <p:spPr>
          <a:xfrm>
            <a:off x="4754880" y="46756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4935982"/>
            <a:ext cx="1113250" cy="104140"/>
          </a:xfrm>
          <a:prstGeom prst="rect">
            <a:avLst/>
          </a:prstGeom>
          <a:solidFill>
            <a:srgbClr val="12A566"/>
          </a:solidFill>
          <a:ln/>
        </p:spPr>
      </p:sp>
      <p:sp>
        <p:nvSpPr>
          <p:cNvPr id="63" name="Text 61"/>
          <p:cNvSpPr txBox="1"/>
          <p:nvPr/>
        </p:nvSpPr>
        <p:spPr>
          <a:xfrm>
            <a:off x="4754880" y="488391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144262"/>
            <a:ext cx="1066361" cy="104140"/>
          </a:xfrm>
          <a:prstGeom prst="rect">
            <a:avLst/>
          </a:prstGeom>
          <a:solidFill>
            <a:srgbClr val="12A566"/>
          </a:solidFill>
          <a:ln/>
        </p:spPr>
      </p:sp>
      <p:sp>
        <p:nvSpPr>
          <p:cNvPr id="67" name="Text 65"/>
          <p:cNvSpPr txBox="1"/>
          <p:nvPr/>
        </p:nvSpPr>
        <p:spPr>
          <a:xfrm>
            <a:off x="4754880" y="509219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352542"/>
            <a:ext cx="958457" cy="104140"/>
          </a:xfrm>
          <a:prstGeom prst="rect">
            <a:avLst/>
          </a:prstGeom>
          <a:solidFill>
            <a:srgbClr val="12A566"/>
          </a:solidFill>
          <a:ln/>
        </p:spPr>
      </p:sp>
      <p:sp>
        <p:nvSpPr>
          <p:cNvPr id="71" name="Text 69"/>
          <p:cNvSpPr txBox="1"/>
          <p:nvPr/>
        </p:nvSpPr>
        <p:spPr>
          <a:xfrm>
            <a:off x="4754880" y="530047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560822"/>
            <a:ext cx="908517" cy="104140"/>
          </a:xfrm>
          <a:prstGeom prst="rect">
            <a:avLst/>
          </a:prstGeom>
          <a:solidFill>
            <a:srgbClr val="12A566"/>
          </a:solidFill>
          <a:ln/>
        </p:spPr>
      </p:sp>
      <p:sp>
        <p:nvSpPr>
          <p:cNvPr id="75" name="Text 73"/>
          <p:cNvSpPr txBox="1"/>
          <p:nvPr/>
        </p:nvSpPr>
        <p:spPr>
          <a:xfrm>
            <a:off x="4754880" y="550875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57170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57170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5769102"/>
            <a:ext cx="693414" cy="104140"/>
          </a:xfrm>
          <a:prstGeom prst="rect">
            <a:avLst/>
          </a:prstGeom>
          <a:solidFill>
            <a:srgbClr val="12A566"/>
          </a:solidFill>
          <a:ln/>
        </p:spPr>
      </p:sp>
      <p:sp>
        <p:nvSpPr>
          <p:cNvPr id="79" name="Text 77"/>
          <p:cNvSpPr txBox="1"/>
          <p:nvPr/>
        </p:nvSpPr>
        <p:spPr>
          <a:xfrm>
            <a:off x="4754880" y="5717032"/>
            <a:ext cx="1143000" cy="208280"/>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21762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1" name="Text 79"/>
          <p:cNvSpPr txBox="1"/>
          <p:nvPr/>
        </p:nvSpPr>
        <p:spPr>
          <a:xfrm>
            <a:off x="6565392" y="21762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8558784" y="2228342"/>
            <a:ext cx="647677" cy="104140"/>
          </a:xfrm>
          <a:prstGeom prst="rect">
            <a:avLst/>
          </a:prstGeom>
          <a:solidFill>
            <a:srgbClr val="C2352F"/>
          </a:solidFill>
          <a:ln/>
        </p:spPr>
      </p:sp>
      <p:sp>
        <p:nvSpPr>
          <p:cNvPr id="83" name="Text 81"/>
          <p:cNvSpPr txBox="1"/>
          <p:nvPr/>
        </p:nvSpPr>
        <p:spPr>
          <a:xfrm>
            <a:off x="10305288" y="21762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4" name="Text 82"/>
          <p:cNvSpPr txBox="1"/>
          <p:nvPr/>
        </p:nvSpPr>
        <p:spPr>
          <a:xfrm>
            <a:off x="6208776" y="23845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5" name="Text 83"/>
          <p:cNvSpPr txBox="1"/>
          <p:nvPr/>
        </p:nvSpPr>
        <p:spPr>
          <a:xfrm>
            <a:off x="6565392" y="23845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6" name="Shape 84"/>
          <p:cNvSpPr/>
          <p:nvPr/>
        </p:nvSpPr>
        <p:spPr>
          <a:xfrm>
            <a:off x="8558784" y="2436622"/>
            <a:ext cx="636291" cy="104140"/>
          </a:xfrm>
          <a:prstGeom prst="rect">
            <a:avLst/>
          </a:prstGeom>
          <a:solidFill>
            <a:srgbClr val="C2352F"/>
          </a:solidFill>
          <a:ln/>
        </p:spPr>
      </p:sp>
      <p:sp>
        <p:nvSpPr>
          <p:cNvPr id="87" name="Text 85"/>
          <p:cNvSpPr txBox="1"/>
          <p:nvPr/>
        </p:nvSpPr>
        <p:spPr>
          <a:xfrm>
            <a:off x="10305288" y="23845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88" name="Text 86"/>
          <p:cNvSpPr txBox="1"/>
          <p:nvPr/>
        </p:nvSpPr>
        <p:spPr>
          <a:xfrm>
            <a:off x="6208776" y="25928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89" name="Text 87"/>
          <p:cNvSpPr txBox="1"/>
          <p:nvPr/>
        </p:nvSpPr>
        <p:spPr>
          <a:xfrm>
            <a:off x="6565392" y="25928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0" name="Shape 88"/>
          <p:cNvSpPr/>
          <p:nvPr/>
        </p:nvSpPr>
        <p:spPr>
          <a:xfrm>
            <a:off x="8558784" y="2644902"/>
            <a:ext cx="610998" cy="104140"/>
          </a:xfrm>
          <a:prstGeom prst="rect">
            <a:avLst/>
          </a:prstGeom>
          <a:solidFill>
            <a:srgbClr val="C2352F"/>
          </a:solidFill>
          <a:ln/>
        </p:spPr>
      </p:sp>
      <p:sp>
        <p:nvSpPr>
          <p:cNvPr id="91" name="Text 89"/>
          <p:cNvSpPr txBox="1"/>
          <p:nvPr/>
        </p:nvSpPr>
        <p:spPr>
          <a:xfrm>
            <a:off x="10305288" y="25928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2" name="Text 90"/>
          <p:cNvSpPr txBox="1"/>
          <p:nvPr/>
        </p:nvSpPr>
        <p:spPr>
          <a:xfrm>
            <a:off x="6208776" y="28011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3" name="Text 91"/>
          <p:cNvSpPr txBox="1"/>
          <p:nvPr/>
        </p:nvSpPr>
        <p:spPr>
          <a:xfrm>
            <a:off x="6565392" y="28011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8558784" y="2853182"/>
            <a:ext cx="599576" cy="104140"/>
          </a:xfrm>
          <a:prstGeom prst="rect">
            <a:avLst/>
          </a:prstGeom>
          <a:solidFill>
            <a:srgbClr val="C2352F"/>
          </a:solidFill>
          <a:ln/>
        </p:spPr>
      </p:sp>
      <p:sp>
        <p:nvSpPr>
          <p:cNvPr id="95" name="Text 93"/>
          <p:cNvSpPr txBox="1"/>
          <p:nvPr/>
        </p:nvSpPr>
        <p:spPr>
          <a:xfrm>
            <a:off x="10305288" y="28011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6" name="Text 94"/>
          <p:cNvSpPr txBox="1"/>
          <p:nvPr/>
        </p:nvSpPr>
        <p:spPr>
          <a:xfrm>
            <a:off x="6208776" y="30093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7" name="Text 95"/>
          <p:cNvSpPr txBox="1"/>
          <p:nvPr/>
        </p:nvSpPr>
        <p:spPr>
          <a:xfrm>
            <a:off x="6565392" y="30093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8" name="Shape 96"/>
          <p:cNvSpPr/>
          <p:nvPr/>
        </p:nvSpPr>
        <p:spPr>
          <a:xfrm>
            <a:off x="8558784" y="3061462"/>
            <a:ext cx="577815" cy="104140"/>
          </a:xfrm>
          <a:prstGeom prst="rect">
            <a:avLst/>
          </a:prstGeom>
          <a:solidFill>
            <a:srgbClr val="C2352F"/>
          </a:solidFill>
          <a:ln/>
        </p:spPr>
      </p:sp>
      <p:sp>
        <p:nvSpPr>
          <p:cNvPr id="99" name="Text 97"/>
          <p:cNvSpPr txBox="1"/>
          <p:nvPr/>
        </p:nvSpPr>
        <p:spPr>
          <a:xfrm>
            <a:off x="10305288" y="30093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0" name="Text 98"/>
          <p:cNvSpPr txBox="1"/>
          <p:nvPr/>
        </p:nvSpPr>
        <p:spPr>
          <a:xfrm>
            <a:off x="6208776" y="32176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1" name="Text 99"/>
          <p:cNvSpPr txBox="1"/>
          <p:nvPr/>
        </p:nvSpPr>
        <p:spPr>
          <a:xfrm>
            <a:off x="6565392" y="32176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2" name="Shape 100"/>
          <p:cNvSpPr/>
          <p:nvPr/>
        </p:nvSpPr>
        <p:spPr>
          <a:xfrm>
            <a:off x="8558784" y="3269742"/>
            <a:ext cx="570170" cy="104140"/>
          </a:xfrm>
          <a:prstGeom prst="rect">
            <a:avLst/>
          </a:prstGeom>
          <a:solidFill>
            <a:srgbClr val="C2352F"/>
          </a:solidFill>
          <a:ln/>
        </p:spPr>
      </p:sp>
      <p:sp>
        <p:nvSpPr>
          <p:cNvPr id="103" name="Text 101"/>
          <p:cNvSpPr txBox="1"/>
          <p:nvPr/>
        </p:nvSpPr>
        <p:spPr>
          <a:xfrm>
            <a:off x="10305288" y="32176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4" name="Text 102"/>
          <p:cNvSpPr txBox="1"/>
          <p:nvPr/>
        </p:nvSpPr>
        <p:spPr>
          <a:xfrm>
            <a:off x="6208776" y="34259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5" name="Text 103"/>
          <p:cNvSpPr txBox="1"/>
          <p:nvPr/>
        </p:nvSpPr>
        <p:spPr>
          <a:xfrm>
            <a:off x="6565392" y="34259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6" name="Shape 104"/>
          <p:cNvSpPr/>
          <p:nvPr/>
        </p:nvSpPr>
        <p:spPr>
          <a:xfrm>
            <a:off x="8558784" y="3478022"/>
            <a:ext cx="530626" cy="104140"/>
          </a:xfrm>
          <a:prstGeom prst="rect">
            <a:avLst/>
          </a:prstGeom>
          <a:solidFill>
            <a:srgbClr val="C2352F"/>
          </a:solidFill>
          <a:ln/>
        </p:spPr>
      </p:sp>
      <p:sp>
        <p:nvSpPr>
          <p:cNvPr id="107" name="Text 105"/>
          <p:cNvSpPr txBox="1"/>
          <p:nvPr/>
        </p:nvSpPr>
        <p:spPr>
          <a:xfrm>
            <a:off x="10305288" y="34259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8" name="Text 106"/>
          <p:cNvSpPr txBox="1"/>
          <p:nvPr/>
        </p:nvSpPr>
        <p:spPr>
          <a:xfrm>
            <a:off x="6208776" y="36342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9" name="Text 107"/>
          <p:cNvSpPr txBox="1"/>
          <p:nvPr/>
        </p:nvSpPr>
        <p:spPr>
          <a:xfrm>
            <a:off x="6565392" y="36342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0" name="Shape 108"/>
          <p:cNvSpPr/>
          <p:nvPr/>
        </p:nvSpPr>
        <p:spPr>
          <a:xfrm>
            <a:off x="8558784" y="3686302"/>
            <a:ext cx="500448" cy="104140"/>
          </a:xfrm>
          <a:prstGeom prst="rect">
            <a:avLst/>
          </a:prstGeom>
          <a:solidFill>
            <a:srgbClr val="C2352F"/>
          </a:solidFill>
          <a:ln/>
        </p:spPr>
      </p:sp>
      <p:sp>
        <p:nvSpPr>
          <p:cNvPr id="111" name="Text 109"/>
          <p:cNvSpPr txBox="1"/>
          <p:nvPr/>
        </p:nvSpPr>
        <p:spPr>
          <a:xfrm>
            <a:off x="10305288" y="36342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2" name="Text 110"/>
          <p:cNvSpPr txBox="1"/>
          <p:nvPr/>
        </p:nvSpPr>
        <p:spPr>
          <a:xfrm>
            <a:off x="6208776" y="38425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3" name="Text 111"/>
          <p:cNvSpPr txBox="1"/>
          <p:nvPr/>
        </p:nvSpPr>
        <p:spPr>
          <a:xfrm>
            <a:off x="6565392" y="38425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4" name="Shape 112"/>
          <p:cNvSpPr/>
          <p:nvPr/>
        </p:nvSpPr>
        <p:spPr>
          <a:xfrm>
            <a:off x="8558784" y="3894582"/>
            <a:ext cx="485961" cy="104140"/>
          </a:xfrm>
          <a:prstGeom prst="rect">
            <a:avLst/>
          </a:prstGeom>
          <a:solidFill>
            <a:srgbClr val="C2352F"/>
          </a:solidFill>
          <a:ln/>
        </p:spPr>
      </p:sp>
      <p:sp>
        <p:nvSpPr>
          <p:cNvPr id="115" name="Text 113"/>
          <p:cNvSpPr txBox="1"/>
          <p:nvPr/>
        </p:nvSpPr>
        <p:spPr>
          <a:xfrm>
            <a:off x="10305288" y="38425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6" name="Text 114"/>
          <p:cNvSpPr txBox="1"/>
          <p:nvPr/>
        </p:nvSpPr>
        <p:spPr>
          <a:xfrm>
            <a:off x="6208776" y="40507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7" name="Text 115"/>
          <p:cNvSpPr txBox="1"/>
          <p:nvPr/>
        </p:nvSpPr>
        <p:spPr>
          <a:xfrm>
            <a:off x="6565392" y="40507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8" name="Shape 116"/>
          <p:cNvSpPr/>
          <p:nvPr/>
        </p:nvSpPr>
        <p:spPr>
          <a:xfrm>
            <a:off x="8558784" y="4102862"/>
            <a:ext cx="442919" cy="104140"/>
          </a:xfrm>
          <a:prstGeom prst="rect">
            <a:avLst/>
          </a:prstGeom>
          <a:solidFill>
            <a:srgbClr val="C2352F"/>
          </a:solidFill>
          <a:ln/>
        </p:spPr>
      </p:sp>
      <p:sp>
        <p:nvSpPr>
          <p:cNvPr id="119" name="Text 117"/>
          <p:cNvSpPr txBox="1"/>
          <p:nvPr/>
        </p:nvSpPr>
        <p:spPr>
          <a:xfrm>
            <a:off x="10305288" y="40507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0" name="Text 118"/>
          <p:cNvSpPr txBox="1"/>
          <p:nvPr/>
        </p:nvSpPr>
        <p:spPr>
          <a:xfrm>
            <a:off x="6208776" y="42590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42590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558784" y="4311142"/>
            <a:ext cx="441477" cy="104140"/>
          </a:xfrm>
          <a:prstGeom prst="rect">
            <a:avLst/>
          </a:prstGeom>
          <a:solidFill>
            <a:srgbClr val="C2352F"/>
          </a:solidFill>
          <a:ln/>
        </p:spPr>
      </p:sp>
      <p:sp>
        <p:nvSpPr>
          <p:cNvPr id="123" name="Text 121"/>
          <p:cNvSpPr txBox="1"/>
          <p:nvPr/>
        </p:nvSpPr>
        <p:spPr>
          <a:xfrm>
            <a:off x="10305288" y="42590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4" name="Text 122"/>
          <p:cNvSpPr txBox="1"/>
          <p:nvPr/>
        </p:nvSpPr>
        <p:spPr>
          <a:xfrm>
            <a:off x="6208776" y="44673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5" name="Text 123"/>
          <p:cNvSpPr txBox="1"/>
          <p:nvPr/>
        </p:nvSpPr>
        <p:spPr>
          <a:xfrm>
            <a:off x="6565392" y="44673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6" name="Shape 124"/>
          <p:cNvSpPr/>
          <p:nvPr/>
        </p:nvSpPr>
        <p:spPr>
          <a:xfrm>
            <a:off x="8558784" y="4519422"/>
            <a:ext cx="377230" cy="104140"/>
          </a:xfrm>
          <a:prstGeom prst="rect">
            <a:avLst/>
          </a:prstGeom>
          <a:solidFill>
            <a:srgbClr val="C2352F"/>
          </a:solidFill>
          <a:ln/>
        </p:spPr>
      </p:sp>
      <p:sp>
        <p:nvSpPr>
          <p:cNvPr id="127" name="Text 125"/>
          <p:cNvSpPr txBox="1"/>
          <p:nvPr/>
        </p:nvSpPr>
        <p:spPr>
          <a:xfrm>
            <a:off x="10305288" y="44673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28" name="Text 126"/>
          <p:cNvSpPr txBox="1"/>
          <p:nvPr/>
        </p:nvSpPr>
        <p:spPr>
          <a:xfrm>
            <a:off x="6208776" y="467563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9" name="Text 127"/>
          <p:cNvSpPr txBox="1"/>
          <p:nvPr/>
        </p:nvSpPr>
        <p:spPr>
          <a:xfrm>
            <a:off x="6565392" y="467563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0" name="Shape 128"/>
          <p:cNvSpPr/>
          <p:nvPr/>
        </p:nvSpPr>
        <p:spPr>
          <a:xfrm>
            <a:off x="8558784" y="4727702"/>
            <a:ext cx="373849" cy="104140"/>
          </a:xfrm>
          <a:prstGeom prst="rect">
            <a:avLst/>
          </a:prstGeom>
          <a:solidFill>
            <a:srgbClr val="C2352F"/>
          </a:solidFill>
          <a:ln/>
        </p:spPr>
      </p:sp>
      <p:sp>
        <p:nvSpPr>
          <p:cNvPr id="131" name="Text 129"/>
          <p:cNvSpPr txBox="1"/>
          <p:nvPr/>
        </p:nvSpPr>
        <p:spPr>
          <a:xfrm>
            <a:off x="10305288" y="467563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2" name="Text 130"/>
          <p:cNvSpPr txBox="1"/>
          <p:nvPr/>
        </p:nvSpPr>
        <p:spPr>
          <a:xfrm>
            <a:off x="6208776" y="488391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488391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4" name="Shape 132"/>
          <p:cNvSpPr/>
          <p:nvPr/>
        </p:nvSpPr>
        <p:spPr>
          <a:xfrm>
            <a:off x="8558784" y="4935982"/>
            <a:ext cx="357077" cy="104140"/>
          </a:xfrm>
          <a:prstGeom prst="rect">
            <a:avLst/>
          </a:prstGeom>
          <a:solidFill>
            <a:srgbClr val="C2352F"/>
          </a:solidFill>
          <a:ln/>
        </p:spPr>
      </p:sp>
      <p:sp>
        <p:nvSpPr>
          <p:cNvPr id="135" name="Text 133"/>
          <p:cNvSpPr txBox="1"/>
          <p:nvPr/>
        </p:nvSpPr>
        <p:spPr>
          <a:xfrm>
            <a:off x="10305288" y="488391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6" name="Text 134"/>
          <p:cNvSpPr txBox="1"/>
          <p:nvPr/>
        </p:nvSpPr>
        <p:spPr>
          <a:xfrm>
            <a:off x="6208776" y="509219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7" name="Text 135"/>
          <p:cNvSpPr txBox="1"/>
          <p:nvPr/>
        </p:nvSpPr>
        <p:spPr>
          <a:xfrm>
            <a:off x="6565392" y="509219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8" name="Shape 136"/>
          <p:cNvSpPr/>
          <p:nvPr/>
        </p:nvSpPr>
        <p:spPr>
          <a:xfrm>
            <a:off x="8558784" y="5144262"/>
            <a:ext cx="329917" cy="104140"/>
          </a:xfrm>
          <a:prstGeom prst="rect">
            <a:avLst/>
          </a:prstGeom>
          <a:solidFill>
            <a:srgbClr val="C2352F"/>
          </a:solidFill>
          <a:ln/>
        </p:spPr>
      </p:sp>
      <p:sp>
        <p:nvSpPr>
          <p:cNvPr id="139" name="Text 137"/>
          <p:cNvSpPr txBox="1"/>
          <p:nvPr/>
        </p:nvSpPr>
        <p:spPr>
          <a:xfrm>
            <a:off x="10305288" y="509219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0" name="Text 138"/>
          <p:cNvSpPr txBox="1"/>
          <p:nvPr/>
        </p:nvSpPr>
        <p:spPr>
          <a:xfrm>
            <a:off x="6208776" y="530047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1" name="Text 139"/>
          <p:cNvSpPr txBox="1"/>
          <p:nvPr/>
        </p:nvSpPr>
        <p:spPr>
          <a:xfrm>
            <a:off x="6565392" y="530047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2" name="Shape 140"/>
          <p:cNvSpPr/>
          <p:nvPr/>
        </p:nvSpPr>
        <p:spPr>
          <a:xfrm>
            <a:off x="8558784" y="5352542"/>
            <a:ext cx="312404" cy="104140"/>
          </a:xfrm>
          <a:prstGeom prst="rect">
            <a:avLst/>
          </a:prstGeom>
          <a:solidFill>
            <a:srgbClr val="C2352F"/>
          </a:solidFill>
          <a:ln/>
        </p:spPr>
      </p:sp>
      <p:sp>
        <p:nvSpPr>
          <p:cNvPr id="143" name="Text 141"/>
          <p:cNvSpPr txBox="1"/>
          <p:nvPr/>
        </p:nvSpPr>
        <p:spPr>
          <a:xfrm>
            <a:off x="10305288" y="530047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4" name="Text 142"/>
          <p:cNvSpPr txBox="1"/>
          <p:nvPr/>
        </p:nvSpPr>
        <p:spPr>
          <a:xfrm>
            <a:off x="6208776" y="5508752"/>
            <a:ext cx="310896" cy="208280"/>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5" name="Text 143"/>
          <p:cNvSpPr txBox="1"/>
          <p:nvPr/>
        </p:nvSpPr>
        <p:spPr>
          <a:xfrm>
            <a:off x="6565392" y="5508752"/>
            <a:ext cx="1920240" cy="208280"/>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6" name="Shape 144"/>
          <p:cNvSpPr/>
          <p:nvPr/>
        </p:nvSpPr>
        <p:spPr>
          <a:xfrm>
            <a:off x="8558784" y="5560822"/>
            <a:ext cx="249232" cy="104140"/>
          </a:xfrm>
          <a:prstGeom prst="rect">
            <a:avLst/>
          </a:prstGeom>
          <a:solidFill>
            <a:srgbClr val="C2352F"/>
          </a:solidFill>
          <a:ln/>
        </p:spPr>
      </p:sp>
      <p:sp>
        <p:nvSpPr>
          <p:cNvPr id="147" name="Text 145"/>
          <p:cNvSpPr txBox="1"/>
          <p:nvPr/>
        </p:nvSpPr>
        <p:spPr>
          <a:xfrm>
            <a:off x="10305288" y="5508752"/>
            <a:ext cx="1143000" cy="208280"/>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8" name="Shape 146"/>
          <p:cNvSpPr/>
          <p:nvPr/>
        </p:nvSpPr>
        <p:spPr>
          <a:xfrm>
            <a:off x="3679521" y="2176272"/>
            <a:ext cx="14630" cy="3749040"/>
          </a:xfrm>
          <a:prstGeom prst="rect">
            <a:avLst/>
          </a:prstGeom>
          <a:solidFill>
            <a:srgbClr val="0B2C4A"/>
          </a:solidFill>
          <a:ln/>
        </p:spPr>
      </p:sp>
      <p:sp>
        <p:nvSpPr>
          <p:cNvPr id="149" name="Shape 147"/>
          <p:cNvSpPr/>
          <p:nvPr/>
        </p:nvSpPr>
        <p:spPr>
          <a:xfrm>
            <a:off x="9229929" y="2176272"/>
            <a:ext cx="14630" cy="3749040"/>
          </a:xfrm>
          <a:prstGeom prst="rect">
            <a:avLst/>
          </a:prstGeom>
          <a:solidFill>
            <a:srgbClr val="0B2C4A"/>
          </a:solidFill>
          <a:ln/>
        </p:spPr>
      </p:sp>
      <p:sp>
        <p:nvSpPr>
          <p:cNvPr id="150" name="Shape 148"/>
          <p:cNvSpPr/>
          <p:nvPr/>
        </p:nvSpPr>
        <p:spPr>
          <a:xfrm>
            <a:off x="6085332" y="2176272"/>
            <a:ext cx="10973" cy="3749040"/>
          </a:xfrm>
          <a:prstGeom prst="rect">
            <a:avLst/>
          </a:prstGeom>
          <a:solidFill>
            <a:srgbClr val="D9D9D9"/>
          </a:solidFill>
          <a:ln/>
        </p:spPr>
      </p:sp>
      <p:sp>
        <p:nvSpPr>
          <p:cNvPr id="151" name="Shape 149"/>
          <p:cNvSpPr/>
          <p:nvPr/>
        </p:nvSpPr>
        <p:spPr>
          <a:xfrm>
            <a:off x="457200" y="6126480"/>
            <a:ext cx="11274552" cy="615696"/>
          </a:xfrm>
          <a:prstGeom prst="rect">
            <a:avLst/>
          </a:prstGeom>
          <a:solidFill>
            <a:srgbClr val="EDF4FA"/>
          </a:solidFill>
          <a:ln/>
        </p:spPr>
      </p:sp>
      <p:sp>
        <p:nvSpPr>
          <p:cNvPr id="152" name="Text 1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69" name="Shape 67"/>
          <p:cNvSpPr/>
          <p:nvPr/>
        </p:nvSpPr>
        <p:spPr>
          <a:xfrm>
            <a:off x="457200" y="6126480"/>
            <a:ext cx="11274552" cy="554736"/>
          </a:xfrm>
          <a:prstGeom prst="rect">
            <a:avLst/>
          </a:prstGeom>
          <a:solidFill>
            <a:srgbClr val="EDF4FA"/>
          </a:solidFill>
          <a:ln/>
        </p:spPr>
      </p:sp>
      <p:sp>
        <p:nvSpPr>
          <p:cNvPr id="70" name="Text 68"/>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2587C5"/>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2587C5"/>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2587C5"/>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2587C5"/>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2587C5"/>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2587C5"/>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2587C5"/>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2587C5"/>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2587C5"/>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2587C5"/>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2587C5"/>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2587C5"/>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2587C5"/>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2587C5"/>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2587C5"/>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2587C5"/>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2587C5"/>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2587C5"/>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2587C5"/>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DF4FA"/>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$274.91</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$269.02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$308.88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$234.51</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$263.19</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$171.25</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$142.73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$130.48</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$212.46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$212.39</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$120.55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$121.50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$154.85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$155.88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$190.66</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+$33.25</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$246.88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$270.18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+$23.31</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$180.92</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$140.08</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$206.44</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+$14.88</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 Ask Nissan, LR Henderson and Honda Flagstaff what they started this year.</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2026-10-23T19:22:43Z</dcterms:created>
  <dcterms:modified xsi:type="dcterms:W3CDTF">2026-10-23T19:22:43Z</dcterms:modified>
</cp:coreProperties>
</file>