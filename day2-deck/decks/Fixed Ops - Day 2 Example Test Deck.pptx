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78.2</c:v>
                </c:pt>
                <c:pt idx="3">
                  <c:v>79.2</c:v>
                </c:pt>
                <c:pt idx="4">
                  <c:v>75.2</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78.2</c:v>
                </c:pt>
                <c:pt idx="3">
                  <c:v>79.2</c:v>
                </c:pt>
                <c:pt idx="4">
                  <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
                </c:pt>
                <c:pt idx="3">
                  <c:v/>
                </c:pt>
                <c:pt idx="4">
                  <c:v>75.2</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
                </c:pt>
                <c:pt idx="3">
                  <c:v/>
                </c:pt>
                <c:pt idx="4">
                  <c:v>76.7</c:v>
                </c:pt>
                <c:pt idx="5">
                  <c:v/>
                </c:pt>
                <c:pt idx="6">
                  <c:v/>
                </c:pt>
                <c:pt idx="7">
                  <c:v/>
                </c:pt>
                <c:pt idx="8">
                  <c:v/>
                </c:pt>
                <c:pt idx="9">
                  <c:v>81.6</c:v>
                </c:pt>
                <c:pt idx="10">
                  <c:v/>
                </c:pt>
                <c:pt idx="11">
                  <c:v>74.5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c:v>
                </c:pt>
                <c:pt idx="3">
                  <c:v>76</c:v>
                </c:pt>
                <c:pt idx="4">
                  <c:v/>
                </c:pt>
                <c:pt idx="5">
                  <c:v>77.6</c:v>
                </c:pt>
                <c:pt idx="6">
                  <c:v>78.2</c:v>
                </c:pt>
                <c:pt idx="7">
                  <c:v>75.6</c:v>
                </c:pt>
                <c:pt idx="8">
                  <c:v>72.4</c:v>
                </c:pt>
                <c:pt idx="9">
                  <c:v/>
                </c:pt>
                <c:pt idx="10">
                  <c:v>73.1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74</c:v>
                </c:pt>
                <c:pt idx="3">
                  <c:v>76</c:v>
                </c:pt>
                <c:pt idx="4">
                  <c:v>76.7</c:v>
                </c:pt>
                <c:pt idx="5">
                  <c:v>77.6</c:v>
                </c:pt>
                <c:pt idx="6">
                  <c:v>78.2</c:v>
                </c:pt>
                <c:pt idx="7">
                  <c:v>75.6</c:v>
                </c:pt>
                <c:pt idx="8">
                  <c:v>72.4</c:v>
                </c:pt>
                <c:pt idx="9">
                  <c:v>81.6</c:v>
                </c:pt>
                <c:pt idx="10">
                  <c:v>73.1</c:v>
                </c:pt>
                <c:pt idx="11">
                  <c:v>74.5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GMC Prescott body shop out.PLACE: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and parts; the GMC Prescott body shop is taken out, as everywhere in the deck)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$242,385,781 of fixed expenses out of $304,576,351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body shop taken out (its gross and its body shop fixed expenses), as everywhere in the deck (Noah, Oct 28).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77.9% group, led by Audi Henderson at 106.6%. Hyundai Prescott is lowest at 46.2%.Source: Qlik - Profit &amp; Loss. Jan-Sep. Same-store, INEOS excluded (opened 2026). P&amp;L line Fixed Ops Absorption % = Total Gross Profit - Fixed Ops / Fixed Expenses. GMC Prescott body shop taken out (its gross and its body shop fixed expenses), as everywhere in the deck (Noah, Oct 28).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body shop taken out (its gross and its body shop fixed expenses), as everywhere in the deck (Noah, Oct 28). Top and bottom five stores by change in Fixed Ops Absorption %, Jan-Sep 2026 vs 2025. Moving now: Jul-Sep 2026 vs Jan-Mar 2026, each store against itself; the group moved +4.4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GMC Prescott body shop out.PLACE: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77.9%</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77.9% absorption, up 2.1 pts. Fixed gross grew 4.1%; fixed expenses 1.4%.</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75.8%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77.9%, ahead of 2025 in six of nine months. Fixed gross grew 4.1%; fixed expenses 1.4%.</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77.9%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1007915"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9751"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8558784" y="2146957"/>
            <a:ext cx="95643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89755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903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58784" y="2866644"/>
            <a:ext cx="88351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1" name="Shape 99"/>
          <p:cNvSpPr/>
          <p:nvPr/>
        </p:nvSpPr>
        <p:spPr>
          <a:xfrm>
            <a:off x="8558784" y="3106540"/>
            <a:ext cx="86012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58784" y="3346435"/>
            <a:ext cx="79139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7743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8558784" y="3826226"/>
            <a:ext cx="743729"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58784" y="4066122"/>
            <a:ext cx="730224"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58784" y="4306017"/>
            <a:ext cx="69829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59032" y="1847088"/>
            <a:ext cx="14630" cy="4078224"/>
          </a:xfrm>
          <a:prstGeom prst="rect">
            <a:avLst/>
          </a:prstGeom>
          <a:solidFill>
            <a:srgbClr val="0B2C4A"/>
          </a:solidFill>
          <a:ln/>
        </p:spPr>
      </p:sp>
      <p:sp>
        <p:nvSpPr>
          <p:cNvPr id="144" name="Shape 142"/>
          <p:cNvSpPr/>
          <p:nvPr/>
        </p:nvSpPr>
        <p:spPr>
          <a:xfrm>
            <a:off x="96094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77.9%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567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64236"/>
          </a:xfrm>
          <a:prstGeom prst="rect">
            <a:avLst/>
          </a:prstGeom>
          <a:solidFill>
            <a:srgbClr val="FBEBEA"/>
          </a:solidFill>
          <a:ln/>
        </p:spPr>
      </p:sp>
      <p:sp>
        <p:nvSpPr>
          <p:cNvPr id="186" name="Text 18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7 of 33 stores are ahead of benchmark on net across the four services. 15 stores are under all four.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2026-10-28T15:29:21Z</dcterms:created>
  <dcterms:modified xsi:type="dcterms:W3CDTF">2026-10-28T15:29:21Z</dcterms:modified>
</cp:coreProperties>
</file>