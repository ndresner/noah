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58" r:id="rId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59" r:id="rId5"/>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260" r:id="rId6"/>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261" r:id="rId7"/>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262" r:id="rId8"/>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263" r:id="rId9"/>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264" r:id="rId10"/>
    <p:sldId id="413" r:id="rId164"/>
    <p:sldId id="414" r:id="rId165"/>
    <p:sldId id="415" r:id="rId166"/>
    <p:sldId id="416" r:id="rId167"/>
    <p:sldId id="417" r:id="rId168"/>
    <p:sldId id="418" r:id="rId169"/>
    <p:sldId id="419" r:id="rId170"/>
    <p:sldId id="420" r:id="rId171"/>
    <p:sldId id="265" r:id="rId1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20.xml"/><Relationship Id="rId5" Type="http://schemas.openxmlformats.org/officeDocument/2006/relationships/slide" Target="slides/slide35.xml"/><Relationship Id="rId6" Type="http://schemas.openxmlformats.org/officeDocument/2006/relationships/slide" Target="slides/slide50.xml"/><Relationship Id="rId7" Type="http://schemas.openxmlformats.org/officeDocument/2006/relationships/slide" Target="slides/slide95.xml"/><Relationship Id="rId8" Type="http://schemas.openxmlformats.org/officeDocument/2006/relationships/slide" Target="slides/slide121.xml"/><Relationship Id="rId9" Type="http://schemas.openxmlformats.org/officeDocument/2006/relationships/slide" Target="slides/slide135.xml"/><Relationship Id="rId10" Type="http://schemas.openxmlformats.org/officeDocument/2006/relationships/slide" Target="slides/slide155.xml"/><Relationship Id="rId11" Type="http://schemas.openxmlformats.org/officeDocument/2006/relationships/slide" Target="slides/slide16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 Id="rId107" Type="http://schemas.openxmlformats.org/officeDocument/2006/relationships/slide" Target="slides/slide96.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2.xml"/><Relationship Id="rId114" Type="http://schemas.openxmlformats.org/officeDocument/2006/relationships/slide" Target="slides/slide103.xml"/><Relationship Id="rId115" Type="http://schemas.openxmlformats.org/officeDocument/2006/relationships/slide" Target="slides/slide104.xml"/><Relationship Id="rId116" Type="http://schemas.openxmlformats.org/officeDocument/2006/relationships/slide" Target="slides/slide105.xml"/><Relationship Id="rId117" Type="http://schemas.openxmlformats.org/officeDocument/2006/relationships/slide" Target="slides/slide106.xml"/><Relationship Id="rId118" Type="http://schemas.openxmlformats.org/officeDocument/2006/relationships/slide" Target="slides/slide107.xml"/><Relationship Id="rId119" Type="http://schemas.openxmlformats.org/officeDocument/2006/relationships/slide" Target="slides/slide108.xml"/><Relationship Id="rId120" Type="http://schemas.openxmlformats.org/officeDocument/2006/relationships/slide" Target="slides/slide109.xml"/><Relationship Id="rId121" Type="http://schemas.openxmlformats.org/officeDocument/2006/relationships/slide" Target="slides/slide110.xml"/><Relationship Id="rId122" Type="http://schemas.openxmlformats.org/officeDocument/2006/relationships/slide" Target="slides/slide111.xml"/><Relationship Id="rId123" Type="http://schemas.openxmlformats.org/officeDocument/2006/relationships/slide" Target="slides/slide112.xml"/><Relationship Id="rId124" Type="http://schemas.openxmlformats.org/officeDocument/2006/relationships/slide" Target="slides/slide113.xml"/><Relationship Id="rId125" Type="http://schemas.openxmlformats.org/officeDocument/2006/relationships/slide" Target="slides/slide114.xml"/><Relationship Id="rId126" Type="http://schemas.openxmlformats.org/officeDocument/2006/relationships/slide" Target="slides/slide115.xml"/><Relationship Id="rId127" Type="http://schemas.openxmlformats.org/officeDocument/2006/relationships/slide" Target="slides/slide116.xml"/><Relationship Id="rId128" Type="http://schemas.openxmlformats.org/officeDocument/2006/relationships/slide" Target="slides/slide117.xml"/><Relationship Id="rId129" Type="http://schemas.openxmlformats.org/officeDocument/2006/relationships/slide" Target="slides/slide118.xml"/><Relationship Id="rId130" Type="http://schemas.openxmlformats.org/officeDocument/2006/relationships/slide" Target="slides/slide119.xml"/><Relationship Id="rId131" Type="http://schemas.openxmlformats.org/officeDocument/2006/relationships/slide" Target="slides/slide120.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 Id="rId140" Type="http://schemas.openxmlformats.org/officeDocument/2006/relationships/slide" Target="slides/slide130.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3.xml"/><Relationship Id="rId144" Type="http://schemas.openxmlformats.org/officeDocument/2006/relationships/slide" Target="slides/slide134.xml"/><Relationship Id="rId145" Type="http://schemas.openxmlformats.org/officeDocument/2006/relationships/slide" Target="slides/slide136.xml"/><Relationship Id="rId146" Type="http://schemas.openxmlformats.org/officeDocument/2006/relationships/slide" Target="slides/slide137.xml"/><Relationship Id="rId147" Type="http://schemas.openxmlformats.org/officeDocument/2006/relationships/slide" Target="slides/slide138.xml"/><Relationship Id="rId148" Type="http://schemas.openxmlformats.org/officeDocument/2006/relationships/slide" Target="slides/slide139.xml"/><Relationship Id="rId149" Type="http://schemas.openxmlformats.org/officeDocument/2006/relationships/slide" Target="slides/slide140.xml"/><Relationship Id="rId150" Type="http://schemas.openxmlformats.org/officeDocument/2006/relationships/slide" Target="slides/slide141.xml"/><Relationship Id="rId151" Type="http://schemas.openxmlformats.org/officeDocument/2006/relationships/slide" Target="slides/slide142.xml"/><Relationship Id="rId152" Type="http://schemas.openxmlformats.org/officeDocument/2006/relationships/slide" Target="slides/slide143.xml"/><Relationship Id="rId153" Type="http://schemas.openxmlformats.org/officeDocument/2006/relationships/slide" Target="slides/slide144.xml"/><Relationship Id="rId154" Type="http://schemas.openxmlformats.org/officeDocument/2006/relationships/slide" Target="slides/slide145.xml"/><Relationship Id="rId155" Type="http://schemas.openxmlformats.org/officeDocument/2006/relationships/slide" Target="slides/slide146.xml"/><Relationship Id="rId156" Type="http://schemas.openxmlformats.org/officeDocument/2006/relationships/slide" Target="slides/slide147.xml"/><Relationship Id="rId157" Type="http://schemas.openxmlformats.org/officeDocument/2006/relationships/slide" Target="slides/slide148.xml"/><Relationship Id="rId158" Type="http://schemas.openxmlformats.org/officeDocument/2006/relationships/slide" Target="slides/slide149.xml"/><Relationship Id="rId159" Type="http://schemas.openxmlformats.org/officeDocument/2006/relationships/slide" Target="slides/slide150.xml"/><Relationship Id="rId160" Type="http://schemas.openxmlformats.org/officeDocument/2006/relationships/slide" Target="slides/slide151.xml"/><Relationship Id="rId161" Type="http://schemas.openxmlformats.org/officeDocument/2006/relationships/slide" Target="slides/slide152.xml"/><Relationship Id="rId162" Type="http://schemas.openxmlformats.org/officeDocument/2006/relationships/slide" Target="slides/slide153.xml"/><Relationship Id="rId163" Type="http://schemas.openxmlformats.org/officeDocument/2006/relationships/slide" Target="slides/slide154.xml"/><Relationship Id="rId164" Type="http://schemas.openxmlformats.org/officeDocument/2006/relationships/slide" Target="slides/slide156.xml"/><Relationship Id="rId165" Type="http://schemas.openxmlformats.org/officeDocument/2006/relationships/slide" Target="slides/slide157.xml"/><Relationship Id="rId166" Type="http://schemas.openxmlformats.org/officeDocument/2006/relationships/slide" Target="slides/slide158.xml"/><Relationship Id="rId167" Type="http://schemas.openxmlformats.org/officeDocument/2006/relationships/slide" Target="slides/slide159.xml"/><Relationship Id="rId168" Type="http://schemas.openxmlformats.org/officeDocument/2006/relationships/slide" Target="slides/slide160.xml"/><Relationship Id="rId169" Type="http://schemas.openxmlformats.org/officeDocument/2006/relationships/slide" Target="slides/slide161.xml"/><Relationship Id="rId170" Type="http://schemas.openxmlformats.org/officeDocument/2006/relationships/slide" Target="slides/slide162.xml"/><Relationship Id="rId171" Type="http://schemas.openxmlformats.org/officeDocument/2006/relationships/slide" Target="slides/slide163.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same-store (INEOS excluded, opened 2026), as on the Fixed Ops Net Profit slides.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Group net = Net Profit Or Loss on the GM statement (P&amp;L summary), same-store: INEOS (opened 2026) is out of both lines, as on the Fixed Ops Net Profit slides (Noah, Oct 29; all stores in, it was $50.19M of $82.24M).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Net: best January–September fixed ops net profit ever = service + parts department profit (Qlik - Profit &amp; Loss, Detail statement), Jan-Sep 2026 above every Jan-Sep 2021-2025 on file; Honda Spokane and Nissan from 2024.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Fixed Ops Accounting TB, combined service + parts fixed gross, Jan-Sep 2026 above every Jan-Sep on file (2021-2025). Net: best January–September fixed ops net profit ever = service + parts department profit (Qlik - Profit &amp; Loss, Detail statement), Jan-Sep 2026 above every Jan-Sep 2021-2025 on file; Honda Spokane and Nissan from 2024.Net profit, Jan-Sep 2026 vs the best prior Jan-Sep:</a:t>
            </a:r>
          </a:p>
          <a:p>
            <a:r>
              <a:t>Acura: $476K vs $259K (2025)</a:t>
            </a:r>
          </a:p>
          <a:p>
            <a:r>
              <a:t>Audi Henderson: $4.94M vs $4.11M (2025)</a:t>
            </a:r>
          </a:p>
          <a:p>
            <a:r>
              <a:t>Cadillac: $2.60M vs $1.83M (2025)</a:t>
            </a:r>
          </a:p>
          <a:p>
            <a:r>
              <a:t>CDJR Post Falls: $800K vs $747K (2025)</a:t>
            </a:r>
          </a:p>
          <a:p>
            <a:r>
              <a:t>Chevy GMC Bullhead: $1.12M vs $784K (2025)</a:t>
            </a:r>
          </a:p>
          <a:p>
            <a:r>
              <a:t>Honda Henderson: $6.08M vs $5.84M (2024)</a:t>
            </a:r>
          </a:p>
          <a:p>
            <a:r>
              <a:t>Honda Spokane: $1.32M vs $1.32M (2025)</a:t>
            </a:r>
          </a:p>
          <a:p>
            <a:r>
              <a:t>Kia LV: $1.80M vs $1.38M (2025)</a:t>
            </a:r>
          </a:p>
          <a:p>
            <a:r>
              <a:t>Lexus: $1.20M vs $993K (2025)</a:t>
            </a:r>
          </a:p>
          <a:p>
            <a:r>
              <a:t>Lincoln: $94K vs −$61K (2023)</a:t>
            </a:r>
          </a:p>
          <a:p>
            <a:r>
              <a:t>LR Henderson: $705K vs $607K (2025)</a:t>
            </a:r>
          </a:p>
          <a:p>
            <a:r>
              <a:t>LR LV: $2.04M vs $1.89M (2025)</a:t>
            </a:r>
          </a:p>
          <a:p>
            <a:r>
              <a:t>LR Reno: $428K vs $244K (2023)</a:t>
            </a:r>
          </a:p>
          <a:p>
            <a:r>
              <a:t>Nissan: $677K vs $543K (2025)</a:t>
            </a:r>
          </a:p>
          <a:p>
            <a:r>
              <a:t>Subaru LV: $2.94M vs $2.93M (2025)</a:t>
            </a:r>
          </a:p>
          <a:p>
            <a:r>
              <a:t>Subaru Prescott: $129K vs $110K (2023)</a:t>
            </a:r>
          </a:p>
          <a:p>
            <a:r>
              <a:t>Subaru St George: $1.17M vs $1.06M (2025)</a:t>
            </a:r>
          </a:p>
          <a:p>
            <a:r>
              <a:t>Toyota Flagstaff: $902K vs $771K (2025)</a:t>
            </a:r>
          </a:p>
          <a:p>
            <a:r>
              <a:t>Toyota Henderson: $7.83M vs $6.41M (2025)</a:t>
            </a:r>
          </a:p>
          <a:p>
            <a:r>
              <a:t>Toyota Prescott: $1.17M vs $881K (2025)</a:t>
            </a:r>
          </a:p>
          <a:p>
            <a:r>
              <a:t>Volvo: $1.33M vs $1.18M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Two stores tie. Moving now: KIA ST GEORGE leads.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eight measures (parts $ per RO dropped, Oct 23); CP labor $ per RO (percent), fixed absorption and the four opcodes combined (points) added Oct 29; fixed ops net profit left out (ranked in dollars, it favors larger stores);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0.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3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2.xml"/></Relationships>
</file>

<file path=ppt/slides/_rels/slide3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4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6.xml"/></Relationships>
</file>

<file path=ppt/slides/_rels/slide50.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7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9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100.xml"/></Relationships>
</file>

<file path=ppt/slides/_rels/slide9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1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2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30.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5.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8.xml"/></Relationships>
</file>

<file path=ppt/slides/_rels/slide13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5.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5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5.xml"/></Relationships>
</file>

<file path=ppt/slides/_rels/slide16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1991563" cy="3017520"/>
          </a:xfrm>
          <a:prstGeom prst="rect">
            <a:avLst/>
          </a:prstGeom>
          <a:solidFill>
            <a:srgbClr val="F7F7F7"/>
          </a:solidFill>
          <a:ln/>
        </p:spPr>
      </p:sp>
      <p:sp>
        <p:nvSpPr>
          <p:cNvPr id="7" name="Shape 5"/>
          <p:cNvSpPr/>
          <p:nvPr/>
        </p:nvSpPr>
        <p:spPr>
          <a:xfrm>
            <a:off x="713232" y="1481328"/>
            <a:ext cx="1991563" cy="64008"/>
          </a:xfrm>
          <a:prstGeom prst="rect">
            <a:avLst/>
          </a:prstGeom>
          <a:solidFill>
            <a:srgbClr val="12A566"/>
          </a:solidFill>
          <a:ln/>
        </p:spPr>
      </p:sp>
      <p:sp>
        <p:nvSpPr>
          <p:cNvPr id="8" name="Text 6"/>
          <p:cNvSpPr txBox="1"/>
          <p:nvPr/>
        </p:nvSpPr>
        <p:spPr>
          <a:xfrm>
            <a:off x="896112"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 RECORD MONTH</a:t>
            </a:r>
            <a:endParaRPr lang="en-US" sz="1400" dirty="0"/>
          </a:p>
        </p:txBody>
      </p:sp>
      <p:sp>
        <p:nvSpPr>
          <p:cNvPr id="9" name="Text 7"/>
          <p:cNvSpPr txBox="1"/>
          <p:nvPr/>
        </p:nvSpPr>
        <p:spPr>
          <a:xfrm>
            <a:off x="896112"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had their best gross profit month ever in 2026.</a:t>
            </a:r>
            <a:endParaRPr lang="en-US" sz="1500" dirty="0"/>
          </a:p>
        </p:txBody>
      </p:sp>
      <p:sp>
        <p:nvSpPr>
          <p:cNvPr id="11" name="Shape 9"/>
          <p:cNvSpPr/>
          <p:nvPr/>
        </p:nvSpPr>
        <p:spPr>
          <a:xfrm>
            <a:off x="2905963" y="1481328"/>
            <a:ext cx="1991563" cy="3017520"/>
          </a:xfrm>
          <a:prstGeom prst="rect">
            <a:avLst/>
          </a:prstGeom>
          <a:solidFill>
            <a:srgbClr val="F7F7F7"/>
          </a:solidFill>
          <a:ln/>
        </p:spPr>
      </p:sp>
      <p:sp>
        <p:nvSpPr>
          <p:cNvPr id="12" name="Shape 10"/>
          <p:cNvSpPr/>
          <p:nvPr/>
        </p:nvSpPr>
        <p:spPr>
          <a:xfrm>
            <a:off x="2905963" y="1481328"/>
            <a:ext cx="1991563" cy="64008"/>
          </a:xfrm>
          <a:prstGeom prst="rect">
            <a:avLst/>
          </a:prstGeom>
          <a:solidFill>
            <a:srgbClr val="12A566"/>
          </a:solidFill>
          <a:ln/>
        </p:spPr>
      </p:sp>
      <p:sp>
        <p:nvSpPr>
          <p:cNvPr id="13" name="Text 11"/>
          <p:cNvSpPr txBox="1"/>
          <p:nvPr/>
        </p:nvSpPr>
        <p:spPr>
          <a:xfrm>
            <a:off x="3088843"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088843"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088843"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gross profit records in service, parts and combined.</a:t>
            </a:r>
            <a:endParaRPr lang="en-US" sz="1500" dirty="0"/>
          </a:p>
        </p:txBody>
      </p:sp>
      <p:sp>
        <p:nvSpPr>
          <p:cNvPr id="16" name="Shape 14"/>
          <p:cNvSpPr/>
          <p:nvPr/>
        </p:nvSpPr>
        <p:spPr>
          <a:xfrm>
            <a:off x="5098694" y="1481328"/>
            <a:ext cx="1991563" cy="3017520"/>
          </a:xfrm>
          <a:prstGeom prst="rect">
            <a:avLst/>
          </a:prstGeom>
          <a:solidFill>
            <a:srgbClr val="F7F7F7"/>
          </a:solidFill>
          <a:ln/>
        </p:spPr>
      </p:sp>
      <p:sp>
        <p:nvSpPr>
          <p:cNvPr id="17" name="Shape 15"/>
          <p:cNvSpPr/>
          <p:nvPr/>
        </p:nvSpPr>
        <p:spPr>
          <a:xfrm>
            <a:off x="5098694" y="1481328"/>
            <a:ext cx="1991563" cy="64008"/>
          </a:xfrm>
          <a:prstGeom prst="rect">
            <a:avLst/>
          </a:prstGeom>
          <a:solidFill>
            <a:srgbClr val="12A566"/>
          </a:solidFill>
          <a:ln/>
        </p:spPr>
      </p:sp>
      <p:sp>
        <p:nvSpPr>
          <p:cNvPr id="18" name="Text 16"/>
          <p:cNvSpPr txBox="1"/>
          <p:nvPr/>
        </p:nvSpPr>
        <p:spPr>
          <a:xfrm>
            <a:off x="5281574"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GROSS PROFIT EVER</a:t>
            </a:r>
            <a:endParaRPr lang="en-US" sz="1400" dirty="0"/>
          </a:p>
        </p:txBody>
      </p:sp>
      <p:sp>
        <p:nvSpPr>
          <p:cNvPr id="19" name="Text 17"/>
          <p:cNvSpPr txBox="1"/>
          <p:nvPr/>
        </p:nvSpPr>
        <p:spPr>
          <a:xfrm>
            <a:off x="5281574"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5281574"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service and parts combined.</a:t>
            </a:r>
            <a:endParaRPr lang="en-US" sz="1500" dirty="0"/>
          </a:p>
        </p:txBody>
      </p:sp>
      <p:sp>
        <p:nvSpPr>
          <p:cNvPr id="21" name="Shape 19"/>
          <p:cNvSpPr/>
          <p:nvPr/>
        </p:nvSpPr>
        <p:spPr>
          <a:xfrm>
            <a:off x="7291426" y="1481328"/>
            <a:ext cx="1991563" cy="3017520"/>
          </a:xfrm>
          <a:prstGeom prst="rect">
            <a:avLst/>
          </a:prstGeom>
          <a:solidFill>
            <a:srgbClr val="F7F7F7"/>
          </a:solidFill>
          <a:ln/>
        </p:spPr>
      </p:sp>
      <p:sp>
        <p:nvSpPr>
          <p:cNvPr id="22" name="Shape 20"/>
          <p:cNvSpPr/>
          <p:nvPr/>
        </p:nvSpPr>
        <p:spPr>
          <a:xfrm>
            <a:off x="7291426" y="1481328"/>
            <a:ext cx="1991563" cy="64008"/>
          </a:xfrm>
          <a:prstGeom prst="rect">
            <a:avLst/>
          </a:prstGeom>
          <a:solidFill>
            <a:srgbClr val="12A566"/>
          </a:solidFill>
          <a:ln/>
        </p:spPr>
      </p:sp>
      <p:sp>
        <p:nvSpPr>
          <p:cNvPr id="23" name="Text 21"/>
          <p:cNvSpPr txBox="1"/>
          <p:nvPr/>
        </p:nvSpPr>
        <p:spPr>
          <a:xfrm>
            <a:off x="7474306"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BROKEN TWICE</a:t>
            </a:r>
            <a:endParaRPr lang="en-US" sz="1400" dirty="0"/>
          </a:p>
        </p:txBody>
      </p:sp>
      <p:sp>
        <p:nvSpPr>
          <p:cNvPr id="24" name="Text 22"/>
          <p:cNvSpPr txBox="1"/>
          <p:nvPr/>
        </p:nvSpPr>
        <p:spPr>
          <a:xfrm>
            <a:off x="7474306"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7474306"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gross profit record, then beat it again.</a:t>
            </a:r>
            <a:endParaRPr lang="en-US" sz="1500" dirty="0"/>
          </a:p>
        </p:txBody>
      </p:sp>
      <p:sp>
        <p:nvSpPr>
          <p:cNvPr id="26" name="Shape 24"/>
          <p:cNvSpPr/>
          <p:nvPr/>
        </p:nvSpPr>
        <p:spPr>
          <a:xfrm>
            <a:off x="9484157" y="1481328"/>
            <a:ext cx="1991563" cy="3017520"/>
          </a:xfrm>
          <a:prstGeom prst="rect">
            <a:avLst/>
          </a:prstGeom>
          <a:solidFill>
            <a:srgbClr val="F7F7F7"/>
          </a:solidFill>
          <a:ln/>
        </p:spPr>
      </p:sp>
      <p:sp>
        <p:nvSpPr>
          <p:cNvPr id="27" name="Shape 25"/>
          <p:cNvSpPr/>
          <p:nvPr/>
        </p:nvSpPr>
        <p:spPr>
          <a:xfrm>
            <a:off x="9484157" y="1481328"/>
            <a:ext cx="1991563" cy="64008"/>
          </a:xfrm>
          <a:prstGeom prst="rect">
            <a:avLst/>
          </a:prstGeom>
          <a:solidFill>
            <a:srgbClr val="12A566"/>
          </a:solidFill>
          <a:ln/>
        </p:spPr>
      </p:sp>
      <p:sp>
        <p:nvSpPr>
          <p:cNvPr id="28" name="Text 26"/>
          <p:cNvSpPr txBox="1"/>
          <p:nvPr/>
        </p:nvSpPr>
        <p:spPr>
          <a:xfrm>
            <a:off x="9667037"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NET PROFIT EVER</a:t>
            </a:r>
            <a:endParaRPr lang="en-US" sz="1400" dirty="0"/>
          </a:p>
        </p:txBody>
      </p:sp>
      <p:sp>
        <p:nvSpPr>
          <p:cNvPr id="29" name="Text 27"/>
          <p:cNvSpPr txBox="1"/>
          <p:nvPr/>
        </p:nvSpPr>
        <p:spPr>
          <a:xfrm>
            <a:off x="9667037"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21</a:t>
            </a:r>
            <a:endParaRPr lang="en-US" sz="4000" dirty="0"/>
          </a:p>
        </p:txBody>
      </p:sp>
      <p:sp>
        <p:nvSpPr>
          <p:cNvPr id="30" name="Text 28"/>
          <p:cNvSpPr txBox="1"/>
          <p:nvPr/>
        </p:nvSpPr>
        <p:spPr>
          <a:xfrm>
            <a:off x="9667037"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18 also set the gross profit record.</a:t>
            </a:r>
            <a:endParaRPr lang="en-US" sz="1500" dirty="0"/>
          </a:p>
        </p:txBody>
      </p:sp>
      <p:sp>
        <p:nvSpPr>
          <p:cNvPr id="31" name="Text 29"/>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32" name="Shape 30"/>
          <p:cNvSpPr/>
          <p:nvPr/>
        </p:nvSpPr>
        <p:spPr>
          <a:xfrm>
            <a:off x="457200" y="6126480"/>
            <a:ext cx="11274552" cy="371856"/>
          </a:xfrm>
          <a:prstGeom prst="rect">
            <a:avLst/>
          </a:prstGeom>
          <a:solidFill>
            <a:srgbClr val="E6F6EE"/>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5234940" cy="45720"/>
          </a:xfrm>
          <a:prstGeom prst="rect">
            <a:avLst/>
          </a:prstGeom>
          <a:solidFill>
            <a:srgbClr val="12A566"/>
          </a:solidFill>
          <a:ln/>
        </p:spPr>
      </p:sp>
      <p:sp>
        <p:nvSpPr>
          <p:cNvPr id="7" name="Text 5"/>
          <p:cNvSpPr txBox="1"/>
          <p:nvPr/>
        </p:nvSpPr>
        <p:spPr>
          <a:xfrm>
            <a:off x="749808" y="1463040"/>
            <a:ext cx="4549140" cy="292608"/>
          </a:xfrm>
          <a:prstGeom prst="rect">
            <a:avLst/>
          </a:prstGeom>
          <a:noFill/>
          <a:ln/>
        </p:spPr>
        <p:txBody>
          <a:bodyPr wrap="none" lIns="0" tIns="0" rIns="0" bIns="0" rtlCol="0" anchor="ctr"/>
          <a:lstStyle/>
          <a:p>
            <a:pPr indent="0" marL="0">
              <a:buNone/>
            </a:pPr>
            <a:r>
              <a:rPr lang="en-US" sz="1500" b="1" spc="40" kern="0" dirty="0">
                <a:solidFill>
                  <a:srgbClr val="0B7A4A"/>
                </a:solidFill>
                <a:latin typeface="Inter" pitchFamily="34" charset="0"/>
                <a:ea typeface="Inter" pitchFamily="34" charset="-122"/>
                <a:cs typeface="Inter" pitchFamily="34" charset="-120"/>
              </a:rPr>
              <a:t>GROSS AND NET PROFIT</a:t>
            </a:r>
            <a:endParaRPr lang="en-US" sz="1500" dirty="0"/>
          </a:p>
        </p:txBody>
      </p:sp>
      <p:sp>
        <p:nvSpPr>
          <p:cNvPr id="8" name="Text 6"/>
          <p:cNvSpPr txBox="1"/>
          <p:nvPr/>
        </p:nvSpPr>
        <p:spPr>
          <a:xfrm>
            <a:off x="5326380" y="1408176"/>
            <a:ext cx="502920" cy="402336"/>
          </a:xfrm>
          <a:prstGeom prst="rect">
            <a:avLst/>
          </a:prstGeom>
          <a:noFill/>
          <a:ln/>
        </p:spPr>
        <p:txBody>
          <a:bodyPr wrap="square" lIns="0" tIns="0" rIns="0" bIns="0" rtlCol="0" anchor="ctr"/>
          <a:lstStyle/>
          <a:p>
            <a:pPr algn="r" indent="0" marL="0">
              <a:buNone/>
            </a:pPr>
            <a:r>
              <a:rPr lang="en-US" sz="2600" b="1" dirty="0">
                <a:solidFill>
                  <a:srgbClr val="0B7A4A"/>
                </a:solidFill>
                <a:latin typeface="Inter" pitchFamily="34" charset="0"/>
                <a:ea typeface="Inter" pitchFamily="34" charset="-122"/>
                <a:cs typeface="Inter" pitchFamily="34" charset="-120"/>
              </a:rPr>
              <a:t>18</a:t>
            </a:r>
            <a:endParaRPr lang="en-US" sz="2600" dirty="0"/>
          </a:p>
        </p:txBody>
      </p:sp>
      <p:sp>
        <p:nvSpPr>
          <p:cNvPr id="9" name="Text 7"/>
          <p:cNvSpPr txBox="1"/>
          <p:nvPr/>
        </p:nvSpPr>
        <p:spPr>
          <a:xfrm>
            <a:off x="74980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CADILLAC</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LEXUS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LINCOLN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HENDERSON</a:t>
            </a:r>
            <a:endParaRPr lang="en-US" sz="1400" dirty="0"/>
          </a:p>
        </p:txBody>
      </p:sp>
      <p:sp>
        <p:nvSpPr>
          <p:cNvPr id="10" name="Text 8"/>
          <p:cNvSpPr txBox="1"/>
          <p:nvPr/>
        </p:nvSpPr>
        <p:spPr>
          <a:xfrm>
            <a:off x="327583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LR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RENO</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NISSAN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VOLVO</a:t>
            </a:r>
            <a:endParaRPr lang="en-US" sz="1400" dirty="0"/>
          </a:p>
        </p:txBody>
      </p:sp>
      <p:sp>
        <p:nvSpPr>
          <p:cNvPr id="11" name="Shape 9"/>
          <p:cNvSpPr/>
          <p:nvPr/>
        </p:nvSpPr>
        <p:spPr>
          <a:xfrm>
            <a:off x="6094476" y="1371600"/>
            <a:ext cx="2617470" cy="45720"/>
          </a:xfrm>
          <a:prstGeom prst="rect">
            <a:avLst/>
          </a:prstGeom>
          <a:solidFill>
            <a:srgbClr val="2587C5"/>
          </a:solidFill>
          <a:ln/>
        </p:spPr>
      </p:sp>
      <p:sp>
        <p:nvSpPr>
          <p:cNvPr id="12" name="Text 10"/>
          <p:cNvSpPr txBox="1"/>
          <p:nvPr/>
        </p:nvSpPr>
        <p:spPr>
          <a:xfrm>
            <a:off x="6185916"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GROSS PROFIT ONLY</a:t>
            </a:r>
            <a:endParaRPr lang="en-US" sz="1500" dirty="0"/>
          </a:p>
        </p:txBody>
      </p:sp>
      <p:sp>
        <p:nvSpPr>
          <p:cNvPr id="13" name="Shape 11"/>
          <p:cNvSpPr/>
          <p:nvPr/>
        </p:nvSpPr>
        <p:spPr>
          <a:xfrm>
            <a:off x="5993892" y="1371600"/>
            <a:ext cx="0" cy="4526280"/>
          </a:xfrm>
          <a:prstGeom prst="line">
            <a:avLst/>
          </a:prstGeom>
          <a:noFill/>
          <a:ln w="9525">
            <a:solidFill>
              <a:srgbClr val="BFBFBF"/>
            </a:solidFill>
            <a:prstDash val="solid"/>
          </a:ln>
        </p:spPr>
      </p:sp>
      <p:sp>
        <p:nvSpPr>
          <p:cNvPr id="14" name="Text 12"/>
          <p:cNvSpPr txBox="1"/>
          <p:nvPr/>
        </p:nvSpPr>
        <p:spPr>
          <a:xfrm>
            <a:off x="8145018"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7</a:t>
            </a:r>
            <a:endParaRPr lang="en-US" sz="2600" dirty="0"/>
          </a:p>
        </p:txBody>
      </p:sp>
      <p:sp>
        <p:nvSpPr>
          <p:cNvPr id="15" name="Text 13"/>
          <p:cNvSpPr txBox="1"/>
          <p:nvPr/>
        </p:nvSpPr>
        <p:spPr>
          <a:xfrm>
            <a:off x="6185916"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MAZDA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SPOKANE</a:t>
            </a:r>
            <a:endParaRPr lang="en-US" sz="1400" dirty="0"/>
          </a:p>
        </p:txBody>
      </p:sp>
      <p:sp>
        <p:nvSpPr>
          <p:cNvPr id="16" name="Shape 14"/>
          <p:cNvSpPr/>
          <p:nvPr/>
        </p:nvSpPr>
        <p:spPr>
          <a:xfrm>
            <a:off x="8913114" y="1371600"/>
            <a:ext cx="2617470" cy="45720"/>
          </a:xfrm>
          <a:prstGeom prst="rect">
            <a:avLst/>
          </a:prstGeom>
          <a:solidFill>
            <a:srgbClr val="2587C5"/>
          </a:solidFill>
          <a:ln/>
        </p:spPr>
      </p:sp>
      <p:sp>
        <p:nvSpPr>
          <p:cNvPr id="17" name="Text 15"/>
          <p:cNvSpPr txBox="1"/>
          <p:nvPr/>
        </p:nvSpPr>
        <p:spPr>
          <a:xfrm>
            <a:off x="9004554"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NET PROFIT ONLY</a:t>
            </a:r>
            <a:endParaRPr lang="en-US" sz="1500" dirty="0"/>
          </a:p>
        </p:txBody>
      </p:sp>
      <p:sp>
        <p:nvSpPr>
          <p:cNvPr id="18" name="Shape 16"/>
          <p:cNvSpPr/>
          <p:nvPr/>
        </p:nvSpPr>
        <p:spPr>
          <a:xfrm>
            <a:off x="8812530" y="1371600"/>
            <a:ext cx="0" cy="4526280"/>
          </a:xfrm>
          <a:prstGeom prst="line">
            <a:avLst/>
          </a:prstGeom>
          <a:noFill/>
          <a:ln w="9525">
            <a:solidFill>
              <a:srgbClr val="BFBFBF"/>
            </a:solidFill>
            <a:prstDash val="solid"/>
          </a:ln>
        </p:spPr>
      </p:sp>
      <p:sp>
        <p:nvSpPr>
          <p:cNvPr id="19" name="Text 17"/>
          <p:cNvSpPr txBox="1"/>
          <p:nvPr/>
        </p:nvSpPr>
        <p:spPr>
          <a:xfrm>
            <a:off x="10963656"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3</a:t>
            </a:r>
            <a:endParaRPr lang="en-US" sz="2600" dirty="0"/>
          </a:p>
        </p:txBody>
      </p:sp>
      <p:sp>
        <p:nvSpPr>
          <p:cNvPr id="20" name="Text 18"/>
          <p:cNvSpPr txBox="1"/>
          <p:nvPr/>
        </p:nvSpPr>
        <p:spPr>
          <a:xfrm>
            <a:off x="9004554"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ACURA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LV</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stores set a January–September record in gross profit and 21 in net profit; 18 did both.</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1.3-1.4 pts and beat 2025 every month. Balance is furthest off, at 8.3%: 18,493 short of 15%.</a:t>
            </a:r>
            <a:endParaRPr lang="en-US" sz="14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50,443 more services a year on cars already in our drives. No new customers needed.</a:t>
            </a:r>
            <a:endParaRPr lang="en-US" sz="16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 labor/RO, absorption, opcodes</a:t>
            </a:r>
            <a:endParaRPr lang="en-US" sz="1300" dirty="0"/>
          </a:p>
        </p:txBody>
      </p:sp>
      <p:sp>
        <p:nvSpPr>
          <p:cNvPr id="12" name="Shape 10"/>
          <p:cNvSpPr/>
          <p:nvPr/>
        </p:nvSpPr>
        <p:spPr>
          <a:xfrm>
            <a:off x="4892040" y="2351837"/>
            <a:ext cx="36576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parts GP, labor/RO, opcodes</a:t>
            </a:r>
            <a:endParaRPr lang="en-US" sz="1300" dirty="0"/>
          </a:p>
        </p:txBody>
      </p:sp>
      <p:sp>
        <p:nvSpPr>
          <p:cNvPr id="16" name="Shape 14"/>
          <p:cNvSpPr/>
          <p:nvPr/>
        </p:nvSpPr>
        <p:spPr>
          <a:xfrm>
            <a:off x="4892040" y="2937053"/>
            <a:ext cx="36576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8"/>
          <p:cNvSpPr txBox="1"/>
          <p:nvPr/>
        </p:nvSpPr>
        <p:spPr>
          <a:xfrm>
            <a:off x="731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21" name="Shape 19"/>
          <p:cNvSpPr/>
          <p:nvPr/>
        </p:nvSpPr>
        <p:spPr>
          <a:xfrm>
            <a:off x="4892040" y="3522269"/>
            <a:ext cx="24384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Shape 21"/>
          <p:cNvSpPr/>
          <p:nvPr/>
        </p:nvSpPr>
        <p:spPr>
          <a:xfrm>
            <a:off x="5788152" y="3383280"/>
            <a:ext cx="64008" cy="512064"/>
          </a:xfrm>
          <a:prstGeom prst="rect">
            <a:avLst/>
          </a:prstGeom>
          <a:solidFill>
            <a:srgbClr val="12A566"/>
          </a:solidFill>
          <a:ln/>
        </p:spPr>
      </p:sp>
      <p:sp>
        <p:nvSpPr>
          <p:cNvPr id="24" name="Text 22"/>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5" name="Text 23"/>
          <p:cNvSpPr txBox="1"/>
          <p:nvPr/>
        </p:nvSpPr>
        <p:spPr>
          <a:xfrm>
            <a:off x="731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a:t>
            </a:r>
            <a:endParaRPr lang="en-US" sz="1300" dirty="0"/>
          </a:p>
        </p:txBody>
      </p:sp>
      <p:sp>
        <p:nvSpPr>
          <p:cNvPr id="26" name="Shape 24"/>
          <p:cNvSpPr/>
          <p:nvPr/>
        </p:nvSpPr>
        <p:spPr>
          <a:xfrm>
            <a:off x="4892040" y="4107485"/>
            <a:ext cx="182880" cy="234086"/>
          </a:xfrm>
          <a:prstGeom prst="rect">
            <a:avLst/>
          </a:prstGeom>
          <a:solidFill>
            <a:srgbClr val="12A566"/>
          </a:solidFill>
          <a:ln/>
        </p:spPr>
      </p:sp>
      <p:sp>
        <p:nvSpPr>
          <p:cNvPr id="27" name="Text 25"/>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0" name="Text 28"/>
          <p:cNvSpPr txBox="1"/>
          <p:nvPr/>
        </p:nvSpPr>
        <p:spPr>
          <a:xfrm>
            <a:off x="731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ROs, parts GP, absorption</a:t>
            </a:r>
            <a:endParaRPr lang="en-US" sz="1300" dirty="0"/>
          </a:p>
        </p:txBody>
      </p:sp>
      <p:sp>
        <p:nvSpPr>
          <p:cNvPr id="31" name="Shape 29"/>
          <p:cNvSpPr/>
          <p:nvPr/>
        </p:nvSpPr>
        <p:spPr>
          <a:xfrm>
            <a:off x="4892040" y="4692701"/>
            <a:ext cx="18288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4" name="Text 32"/>
          <p:cNvSpPr txBox="1"/>
          <p:nvPr/>
        </p:nvSpPr>
        <p:spPr>
          <a:xfrm>
            <a:off x="731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35" name="Shape 33"/>
          <p:cNvSpPr/>
          <p:nvPr/>
        </p:nvSpPr>
        <p:spPr>
          <a:xfrm>
            <a:off x="4892040" y="5277917"/>
            <a:ext cx="18288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3" name="Text 41"/>
          <p:cNvSpPr txBox="1"/>
          <p:nvPr/>
        </p:nvSpPr>
        <p:spPr>
          <a:xfrm>
            <a:off x="6446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labor/RO, absorption, opcodes</a:t>
            </a:r>
            <a:endParaRPr lang="en-US" sz="1300" dirty="0"/>
          </a:p>
        </p:txBody>
      </p:sp>
      <p:sp>
        <p:nvSpPr>
          <p:cNvPr id="44" name="Shape 42"/>
          <p:cNvSpPr/>
          <p:nvPr/>
        </p:nvSpPr>
        <p:spPr>
          <a:xfrm>
            <a:off x="10607040" y="2351837"/>
            <a:ext cx="36576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46" name="Shape 44"/>
          <p:cNvSpPr/>
          <p:nvPr/>
        </p:nvSpPr>
        <p:spPr>
          <a:xfrm>
            <a:off x="11503152" y="2212848"/>
            <a:ext cx="64008" cy="512064"/>
          </a:xfrm>
          <a:prstGeom prst="rect">
            <a:avLst/>
          </a:prstGeom>
          <a:solidFill>
            <a:srgbClr val="12A566"/>
          </a:solidFill>
          <a:ln/>
        </p:spPr>
      </p:sp>
      <p:sp>
        <p:nvSpPr>
          <p:cNvPr id="47" name="Text 45"/>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8" name="Text 46"/>
          <p:cNvSpPr txBox="1"/>
          <p:nvPr/>
        </p:nvSpPr>
        <p:spPr>
          <a:xfrm>
            <a:off x="6446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 labor/RO, opcodes</a:t>
            </a:r>
            <a:endParaRPr lang="en-US" sz="1300" dirty="0"/>
          </a:p>
        </p:txBody>
      </p:sp>
      <p:sp>
        <p:nvSpPr>
          <p:cNvPr id="49" name="Shape 47"/>
          <p:cNvSpPr/>
          <p:nvPr/>
        </p:nvSpPr>
        <p:spPr>
          <a:xfrm>
            <a:off x="10607040" y="2937053"/>
            <a:ext cx="304800" cy="234086"/>
          </a:xfrm>
          <a:prstGeom prst="rect">
            <a:avLst/>
          </a:prstGeom>
          <a:solidFill>
            <a:srgbClr val="12A566"/>
          </a:solidFill>
          <a:ln/>
        </p:spPr>
      </p:sp>
      <p:sp>
        <p:nvSpPr>
          <p:cNvPr id="50" name="Text 48"/>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5</a:t>
            </a:r>
            <a:endParaRPr lang="en-US" sz="1800" dirty="0"/>
          </a:p>
        </p:txBody>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3" name="Text 51"/>
          <p:cNvSpPr txBox="1"/>
          <p:nvPr/>
        </p:nvSpPr>
        <p:spPr>
          <a:xfrm>
            <a:off x="6446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54" name="Shape 52"/>
          <p:cNvSpPr/>
          <p:nvPr/>
        </p:nvSpPr>
        <p:spPr>
          <a:xfrm>
            <a:off x="10607040" y="3522269"/>
            <a:ext cx="24384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7" name="Text 55"/>
          <p:cNvSpPr txBox="1"/>
          <p:nvPr/>
        </p:nvSpPr>
        <p:spPr>
          <a:xfrm>
            <a:off x="6446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a:t>
            </a:r>
            <a:endParaRPr lang="en-US" sz="1300" dirty="0"/>
          </a:p>
        </p:txBody>
      </p:sp>
      <p:sp>
        <p:nvSpPr>
          <p:cNvPr id="58" name="Shape 56"/>
          <p:cNvSpPr/>
          <p:nvPr/>
        </p:nvSpPr>
        <p:spPr>
          <a:xfrm>
            <a:off x="10607040" y="4107485"/>
            <a:ext cx="1828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2" name="Text 60"/>
          <p:cNvSpPr txBox="1"/>
          <p:nvPr/>
        </p:nvSpPr>
        <p:spPr>
          <a:xfrm>
            <a:off x="6446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63" name="Shape 61"/>
          <p:cNvSpPr/>
          <p:nvPr/>
        </p:nvSpPr>
        <p:spPr>
          <a:xfrm>
            <a:off x="10607040" y="4692701"/>
            <a:ext cx="1828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66" name="Text 64"/>
          <p:cNvSpPr txBox="1"/>
          <p:nvPr/>
        </p:nvSpPr>
        <p:spPr>
          <a:xfrm>
            <a:off x="6446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a:t>
            </a:r>
            <a:endParaRPr lang="en-US" sz="1300" dirty="0"/>
          </a:p>
        </p:txBody>
      </p:sp>
      <p:sp>
        <p:nvSpPr>
          <p:cNvPr id="67" name="Shape 65"/>
          <p:cNvSpPr/>
          <p:nvPr/>
        </p:nvSpPr>
        <p:spPr>
          <a:xfrm>
            <a:off x="10607040" y="5277917"/>
            <a:ext cx="12192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Two stores tie. One store is on both lists (green bar). Also tied at 2 moving now: Hyundai St George and Chevy GMC Bullhead.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2026-10-29T06:41:44Z</dcterms:created>
  <dcterms:modified xsi:type="dcterms:W3CDTF">2026-10-29T06:41:44Z</dcterms:modified>
</cp:coreProperties>
</file>